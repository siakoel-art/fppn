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ngesInfos/changesInfo1.xml" ContentType="application/vnd.ms-powerpoint.changesinfo+xml"/>
  <Override PartName="/ppt/charts/chart1.xml" ContentType="application/vnd.openxmlformats-officedocument.drawingml.chart+xml"/>
  <Override PartName="/ppt/charts/chart10.xml" ContentType="application/vnd.openxmlformats-officedocument.drawingml.chart+xml"/>
  <Override PartName="/ppt/charts/chart11.xml" ContentType="application/vnd.openxmlformats-officedocument.drawingml.chart+xml"/>
  <Override PartName="/ppt/charts/chart12.xml" ContentType="application/vnd.openxmlformats-officedocument.drawingml.chart+xml"/>
  <Override PartName="/ppt/charts/chart13.xml" ContentType="application/vnd.openxmlformats-officedocument.drawingml.chart+xml"/>
  <Override PartName="/ppt/charts/chart14.xml" ContentType="application/vnd.openxmlformats-officedocument.drawingml.chart+xml"/>
  <Override PartName="/ppt/charts/chart15.xml" ContentType="application/vnd.openxmlformats-officedocument.drawingml.chart+xml"/>
  <Override PartName="/ppt/charts/chart16.xml" ContentType="application/vnd.openxmlformats-officedocument.drawingml.chart+xml"/>
  <Override PartName="/ppt/charts/chart17.xml" ContentType="application/vnd.openxmlformats-officedocument.drawingml.chart+xml"/>
  <Override PartName="/ppt/charts/chart18.xml" ContentType="application/vnd.openxmlformats-officedocument.drawingml.chart+xml"/>
  <Override PartName="/ppt/charts/chart19.xml" ContentType="application/vnd.openxmlformats-officedocument.drawingml.chart+xml"/>
  <Override PartName="/ppt/charts/chart2.xml" ContentType="application/vnd.openxmlformats-officedocument.drawingml.chart+xml"/>
  <Override PartName="/ppt/charts/chart20.xml" ContentType="application/vnd.openxmlformats-officedocument.drawingml.chart+xml"/>
  <Override PartName="/ppt/charts/chart21.xml" ContentType="application/vnd.openxmlformats-officedocument.drawingml.chart+xml"/>
  <Override PartName="/ppt/charts/chart22.xml" ContentType="application/vnd.openxmlformats-officedocument.drawingml.chart+xml"/>
  <Override PartName="/ppt/charts/chart23.xml" ContentType="application/vnd.openxmlformats-officedocument.drawingml.chart+xml"/>
  <Override PartName="/ppt/charts/chart24.xml" ContentType="application/vnd.openxmlformats-officedocument.drawingml.chart+xml"/>
  <Override PartName="/ppt/charts/chart25.xml" ContentType="application/vnd.openxmlformats-officedocument.drawingml.chart+xml"/>
  <Override PartName="/ppt/charts/chart26.xml" ContentType="application/vnd.openxmlformats-officedocument.drawingml.chart+xml"/>
  <Override PartName="/ppt/charts/chart27.xml" ContentType="application/vnd.openxmlformats-officedocument.drawingml.chart+xml"/>
  <Override PartName="/ppt/charts/chart28.xml" ContentType="application/vnd.openxmlformats-officedocument.drawingml.chart+xml"/>
  <Override PartName="/ppt/charts/chart29.xml" ContentType="application/vnd.openxmlformats-officedocument.drawingml.chart+xml"/>
  <Override PartName="/ppt/charts/chart3.xml" ContentType="application/vnd.openxmlformats-officedocument.drawingml.chart+xml"/>
  <Override PartName="/ppt/charts/chart30.xml" ContentType="application/vnd.openxmlformats-officedocument.drawingml.chart+xml"/>
  <Override PartName="/ppt/charts/chart31.xml" ContentType="application/vnd.openxmlformats-officedocument.drawingml.chart+xml"/>
  <Override PartName="/ppt/charts/chart32.xml" ContentType="application/vnd.openxmlformats-officedocument.drawingml.chart+xml"/>
  <Override PartName="/ppt/charts/chart33.xml" ContentType="application/vnd.openxmlformats-officedocument.drawingml.chart+xml"/>
  <Override PartName="/ppt/charts/chart34.xml" ContentType="application/vnd.openxmlformats-officedocument.drawingml.chart+xml"/>
  <Override PartName="/ppt/charts/chart35.xml" ContentType="application/vnd.openxmlformats-officedocument.drawingml.chart+xml"/>
  <Override PartName="/ppt/charts/chart36.xml" ContentType="application/vnd.openxmlformats-officedocument.drawingml.chart+xml"/>
  <Override PartName="/ppt/charts/chart37.xml" ContentType="application/vnd.openxmlformats-officedocument.drawingml.chart+xml"/>
  <Override PartName="/ppt/charts/chart38.xml" ContentType="application/vnd.openxmlformats-officedocument.drawingml.chart+xml"/>
  <Override PartName="/ppt/charts/chart39.xml" ContentType="application/vnd.openxmlformats-officedocument.drawingml.chart+xml"/>
  <Override PartName="/ppt/charts/chart4.xml" ContentType="application/vnd.openxmlformats-officedocument.drawingml.chart+xml"/>
  <Override PartName="/ppt/charts/chart5.xml" ContentType="application/vnd.openxmlformats-officedocument.drawingml.chart+xml"/>
  <Override PartName="/ppt/charts/chart6.xml" ContentType="application/vnd.openxmlformats-officedocument.drawingml.chart+xml"/>
  <Override PartName="/ppt/charts/chart7.xml" ContentType="application/vnd.openxmlformats-officedocument.drawingml.chart+xml"/>
  <Override PartName="/ppt/charts/chart8.xml" ContentType="application/vnd.openxmlformats-officedocument.drawingml.chart+xml"/>
  <Override PartName="/ppt/charts/chart9.xml" ContentType="application/vnd.openxmlformats-officedocument.drawingml.chart+xml"/>
  <Override PartName="/ppt/charts/colors11.xml" ContentType="application/vnd.ms-office.chartcolorstyle+xml"/>
  <Override PartName="/ppt/charts/colors12.xml" ContentType="application/vnd.ms-office.chartcolorstyle+xml"/>
  <Override PartName="/ppt/charts/colors13.xml" ContentType="application/vnd.ms-office.chartcolorstyle+xml"/>
  <Override PartName="/ppt/charts/colors14.xml" ContentType="application/vnd.ms-office.chartcolorstyle+xml"/>
  <Override PartName="/ppt/charts/style11.xml" ContentType="application/vnd.ms-office.chartstyle+xml"/>
  <Override PartName="/ppt/charts/style12.xml" ContentType="application/vnd.ms-office.chartstyle+xml"/>
  <Override PartName="/ppt/charts/style13.xml" ContentType="application/vnd.ms-office.chartstyle+xml"/>
  <Override PartName="/ppt/charts/style14.xml" ContentType="application/vnd.ms-office.chartstyle+xml"/>
  <Override PartName="/ppt/embeddings/oleObject1.bin" ContentType="application/vnd.openxmlformats-officedocument.oleObject"/>
  <Override PartName="/ppt/embeddings/oleObject2.bin" ContentType="application/vnd.openxmlformats-officedocument.oleObject"/>
  <Override PartName="/ppt/embeddings/oleObject3.bin" ContentType="application/vnd.openxmlformats-officedocument.oleObject"/>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06.xml" ContentType="application/vnd.openxmlformats-officedocument.presentationml.notesSlide+xml"/>
  <Override PartName="/ppt/notesSlides/notesSlide107.xml" ContentType="application/vnd.openxmlformats-officedocument.presentationml.notesSlide+xml"/>
  <Override PartName="/ppt/notesSlides/notesSlide108.xml" ContentType="application/vnd.openxmlformats-officedocument.presentationml.notesSlide+xml"/>
  <Override PartName="/ppt/notesSlides/notesSlide109.xml" ContentType="application/vnd.openxmlformats-officedocument.presentationml.notesSlide+xml"/>
  <Override PartName="/ppt/notesSlides/notesSlide11.xml" ContentType="application/vnd.openxmlformats-officedocument.presentationml.notesSlide+xml"/>
  <Override PartName="/ppt/notesSlides/notesSlide110.xml" ContentType="application/vnd.openxmlformats-officedocument.presentationml.notesSlide+xml"/>
  <Override PartName="/ppt/notesSlides/notesSlide111.xml" ContentType="application/vnd.openxmlformats-officedocument.presentationml.notesSlide+xml"/>
  <Override PartName="/ppt/notesSlides/notesSlide112.xml" ContentType="application/vnd.openxmlformats-officedocument.presentationml.notesSlide+xml"/>
  <Override PartName="/ppt/notesSlides/notesSlide113.xml" ContentType="application/vnd.openxmlformats-officedocument.presentationml.notesSlide+xml"/>
  <Override PartName="/ppt/notesSlides/notesSlide114.xml" ContentType="application/vnd.openxmlformats-officedocument.presentationml.notesSlide+xml"/>
  <Override PartName="/ppt/notesSlides/notesSlide115.xml" ContentType="application/vnd.openxmlformats-officedocument.presentationml.notesSlide+xml"/>
  <Override PartName="/ppt/notesSlides/notesSlide116.xml" ContentType="application/vnd.openxmlformats-officedocument.presentationml.notesSlide+xml"/>
  <Override PartName="/ppt/notesSlides/notesSlide117.xml" ContentType="application/vnd.openxmlformats-officedocument.presentationml.notesSlide+xml"/>
  <Override PartName="/ppt/notesSlides/notesSlide118.xml" ContentType="application/vnd.openxmlformats-officedocument.presentationml.notesSlide+xml"/>
  <Override PartName="/ppt/notesSlides/notesSlide119.xml" ContentType="application/vnd.openxmlformats-officedocument.presentationml.notesSlide+xml"/>
  <Override PartName="/ppt/notesSlides/notesSlide12.xml" ContentType="application/vnd.openxmlformats-officedocument.presentationml.notesSlide+xml"/>
  <Override PartName="/ppt/notesSlides/notesSlide120.xml" ContentType="application/vnd.openxmlformats-officedocument.presentationml.notesSlide+xml"/>
  <Override PartName="/ppt/notesSlides/notesSlide121.xml" ContentType="application/vnd.openxmlformats-officedocument.presentationml.notesSlide+xml"/>
  <Override PartName="/ppt/notesSlides/notesSlide122.xml" ContentType="application/vnd.openxmlformats-officedocument.presentationml.notesSlide+xml"/>
  <Override PartName="/ppt/notesSlides/notesSlide123.xml" ContentType="application/vnd.openxmlformats-officedocument.presentationml.notesSlide+xml"/>
  <Override PartName="/ppt/notesSlides/notesSlide124.xml" ContentType="application/vnd.openxmlformats-officedocument.presentationml.notesSlide+xml"/>
  <Override PartName="/ppt/notesSlides/notesSlide125.xml" ContentType="application/vnd.openxmlformats-officedocument.presentationml.notesSlide+xml"/>
  <Override PartName="/ppt/notesSlides/notesSlide126.xml" ContentType="application/vnd.openxmlformats-officedocument.presentationml.notesSlide+xml"/>
  <Override PartName="/ppt/notesSlides/notesSlide127.xml" ContentType="application/vnd.openxmlformats-officedocument.presentationml.notesSlide+xml"/>
  <Override PartName="/ppt/notesSlides/notesSlide128.xml" ContentType="application/vnd.openxmlformats-officedocument.presentationml.notesSlide+xml"/>
  <Override PartName="/ppt/notesSlides/notesSlide129.xml" ContentType="application/vnd.openxmlformats-officedocument.presentationml.notesSlide+xml"/>
  <Override PartName="/ppt/notesSlides/notesSlide13.xml" ContentType="application/vnd.openxmlformats-officedocument.presentationml.notesSlide+xml"/>
  <Override PartName="/ppt/notesSlides/notesSlide130.xml" ContentType="application/vnd.openxmlformats-officedocument.presentationml.notesSlide+xml"/>
  <Override PartName="/ppt/notesSlides/notesSlide131.xml" ContentType="application/vnd.openxmlformats-officedocument.presentationml.notesSlide+xml"/>
  <Override PartName="/ppt/notesSlides/notesSlide132.xml" ContentType="application/vnd.openxmlformats-officedocument.presentationml.notesSlide+xml"/>
  <Override PartName="/ppt/notesSlides/notesSlide13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2.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5" r:id="rId2"/>
  </p:sldMasterIdLst>
  <p:notesMasterIdLst>
    <p:notesMasterId r:id="rId117"/>
  </p:notesMasterIdLst>
  <p:sldIdLst>
    <p:sldId id="256" r:id="rId3"/>
    <p:sldId id="313" r:id="rId7"/>
    <p:sldId id="260" r:id="rId4"/>
    <p:sldId id="404" r:id="rId124"/>
    <p:sldId id="335" r:id="rId51"/>
    <p:sldId id="405" r:id="rId125"/>
    <p:sldId id="325" r:id="rId25"/>
    <p:sldId id="406" r:id="rId126"/>
    <p:sldId id="407" r:id="rId127"/>
    <p:sldId id="408" r:id="rId128"/>
    <p:sldId id="369" r:id="rId109"/>
    <p:sldId id="361" r:id="rId85"/>
    <p:sldId id="409" r:id="rId129"/>
    <p:sldId id="330" r:id="rId41"/>
    <p:sldId id="410" r:id="rId130"/>
    <p:sldId id="411" r:id="rId131"/>
    <p:sldId id="412" r:id="rId132"/>
    <p:sldId id="413" r:id="rId133"/>
    <p:sldId id="414" r:id="rId134"/>
    <p:sldId id="415" r:id="rId135"/>
    <p:sldId id="416" r:id="rId136"/>
    <p:sldId id="417" r:id="rId137"/>
    <p:sldId id="332" r:id="rId43"/>
    <p:sldId id="418" r:id="rId138"/>
    <p:sldId id="312" r:id="rId11"/>
    <p:sldId id="419" r:id="rId139"/>
    <p:sldId id="420" r:id="rId140"/>
    <p:sldId id="421" r:id="rId141"/>
    <p:sldId id="422" r:id="rId142"/>
    <p:sldId id="423" r:id="rId143"/>
    <p:sldId id="424" r:id="rId144"/>
    <p:sldId id="316" r:id="rId15"/>
    <p:sldId id="425" r:id="rId145"/>
    <p:sldId id="426" r:id="rId146"/>
    <p:sldId id="427" r:id="rId147"/>
    <p:sldId id="428" r:id="rId148"/>
    <p:sldId id="429" r:id="rId149"/>
    <p:sldId id="430" r:id="rId150"/>
    <p:sldId id="431" r:id="rId151"/>
    <p:sldId id="432" r:id="rId152"/>
    <p:sldId id="433" r:id="rId153"/>
    <p:sldId id="434" r:id="rId154"/>
    <p:sldId id="435" r:id="rId155"/>
    <p:sldId id="436" r:id="rId156"/>
    <p:sldId id="437" r:id="rId157"/>
    <p:sldId id="438" r:id="rId158"/>
    <p:sldId id="439" r:id="rId159"/>
    <p:sldId id="440" r:id="rId160"/>
    <p:sldId id="441" r:id="rId161"/>
    <p:sldId id="442" r:id="rId162"/>
    <p:sldId id="443" r:id="rId163"/>
    <p:sldId id="444" r:id="rId164"/>
    <p:sldId id="445" r:id="rId165"/>
    <p:sldId id="446" r:id="rId166"/>
    <p:sldId id="447" r:id="rId167"/>
    <p:sldId id="448" r:id="rId168"/>
    <p:sldId id="449" r:id="rId169"/>
    <p:sldId id="450" r:id="rId170"/>
    <p:sldId id="451" r:id="rId171"/>
    <p:sldId id="452" r:id="rId172"/>
    <p:sldId id="453" r:id="rId173"/>
    <p:sldId id="454" r:id="rId174"/>
    <p:sldId id="455" r:id="rId175"/>
    <p:sldId id="456" r:id="rId176"/>
    <p:sldId id="457" r:id="rId177"/>
    <p:sldId id="458" r:id="rId178"/>
    <p:sldId id="459" r:id="rId179"/>
    <p:sldId id="460" r:id="rId180"/>
    <p:sldId id="461" r:id="rId181"/>
    <p:sldId id="462" r:id="rId182"/>
    <p:sldId id="463" r:id="rId183"/>
    <p:sldId id="464" r:id="rId184"/>
    <p:sldId id="465" r:id="rId185"/>
    <p:sldId id="466" r:id="rId186"/>
    <p:sldId id="467" r:id="rId187"/>
    <p:sldId id="468" r:id="rId188"/>
    <p:sldId id="469" r:id="rId189"/>
    <p:sldId id="470" r:id="rId190"/>
    <p:sldId id="471" r:id="rId191"/>
    <p:sldId id="472" r:id="rId192"/>
    <p:sldId id="473" r:id="rId193"/>
    <p:sldId id="474" r:id="rId194"/>
    <p:sldId id="475" r:id="rId195"/>
    <p:sldId id="476" r:id="rId196"/>
    <p:sldId id="399" r:id="rId33"/>
    <p:sldId id="477" r:id="rId197"/>
    <p:sldId id="478" r:id="rId198"/>
    <p:sldId id="329" r:id="rId31"/>
    <p:sldId id="479" r:id="rId199"/>
    <p:sldId id="480" r:id="rId200"/>
    <p:sldId id="481" r:id="rId201"/>
    <p:sldId id="482" r:id="rId202"/>
    <p:sldId id="483" r:id="rId203"/>
    <p:sldId id="484" r:id="rId204"/>
    <p:sldId id="485" r:id="rId205"/>
    <p:sldId id="486" r:id="rId206"/>
    <p:sldId id="487" r:id="rId207"/>
    <p:sldId id="488" r:id="rId208"/>
    <p:sldId id="489" r:id="rId209"/>
    <p:sldId id="490" r:id="rId210"/>
    <p:sldId id="491" r:id="rId211"/>
    <p:sldId id="492" r:id="rId212"/>
    <p:sldId id="493" r:id="rId213"/>
    <p:sldId id="494" r:id="rId214"/>
    <p:sldId id="495" r:id="rId215"/>
    <p:sldId id="496" r:id="rId216"/>
    <p:sldId id="497" r:id="rId217"/>
    <p:sldId id="498" r:id="rId218"/>
    <p:sldId id="499" r:id="rId219"/>
    <p:sldId id="500" r:id="rId220"/>
    <p:sldId id="501" r:id="rId221"/>
    <p:sldId id="502" r:id="rId222"/>
    <p:sldId id="503" r:id="rId223"/>
    <p:sldId id="504" r:id="rId224"/>
    <p:sldId id="505" r:id="rId225"/>
    <p:sldId id="506" r:id="rId226"/>
    <p:sldId id="507" r:id="rId227"/>
    <p:sldId id="508" r:id="rId228"/>
    <p:sldId id="509" r:id="rId229"/>
    <p:sldId id="510" r:id="rId230"/>
    <p:sldId id="511" r:id="rId231"/>
    <p:sldId id="512" r:id="rId232"/>
    <p:sldId id="513" r:id="rId233"/>
    <p:sldId id="514" r:id="rId234"/>
    <p:sldId id="515" r:id="rId235"/>
    <p:sldId id="516" r:id="rId236"/>
    <p:sldId id="517" r:id="rId237"/>
    <p:sldId id="518" r:id="rId238"/>
    <p:sldId id="519" r:id="rId239"/>
    <p:sldId id="520" r:id="rId240"/>
    <p:sldId id="521" r:id="rId241"/>
    <p:sldId id="522" r:id="rId242"/>
    <p:sldId id="523" r:id="rId243"/>
    <p:sldId id="524" r:id="rId244"/>
    <p:sldId id="525" r:id="rId245"/>
    <p:sldId id="526" r:id="rId246"/>
    <p:sldId id="527" r:id="rId247"/>
    <p:sldId id="528" r:id="rId248"/>
    <p:sldId id="529" r:id="rId249"/>
    <p:sldId id="530" r:id="rId250"/>
    <p:sldId id="531" r:id="rId251"/>
    <p:sldId id="532" r:id="rId252"/>
    <p:sldId id="533" r:id="rId253"/>
    <p:sldId id="534" r:id="rId254"/>
    <p:sldId id="535" r:id="rId255"/>
    <p:sldId id="536" r:id="rId256"/>
    <p:sldId id="537" r:id="rId257"/>
    <p:sldId id="538" r:id="rId258"/>
    <p:sldId id="539" r:id="rId259"/>
    <p:sldId id="540" r:id="rId260"/>
    <p:sldId id="328" r:id="rId112"/>
  </p:sldIdLst>
  <p:sldSz cx="12192000" cy="6858000"/>
  <p:notesSz cx="6858000" cy="9144000"/>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Couverture" id="{9C8FC9B7-AD45-409C-8017-02DEBDF9C938}">
          <p14:sldIdLst>
            <p14:sldId id="256"/>
          </p14:sldIdLst>
        </p14:section>
        <p14:section name="Contenu" id="{41430ABC-712C-4A41-8691-5284113E2CD9}">
          <p14:sldIdLst>
            <p14:sldId id="260"/>
            <p14:sldId id="261"/>
            <p14:sldId id="310"/>
            <p14:sldId id="313"/>
            <p14:sldId id="403"/>
            <p14:sldId id="402"/>
            <p14:sldId id="291"/>
            <p14:sldId id="312"/>
            <p14:sldId id="314"/>
            <p14:sldId id="317"/>
            <p14:sldId id="315"/>
            <p14:sldId id="316"/>
            <p14:sldId id="323"/>
            <p14:sldId id="324"/>
            <p14:sldId id="321"/>
            <p14:sldId id="322"/>
            <p14:sldId id="264"/>
            <p14:sldId id="318"/>
            <p14:sldId id="319"/>
            <p14:sldId id="320"/>
            <p14:sldId id="326"/>
            <p14:sldId id="325"/>
            <p14:sldId id="266"/>
            <p14:sldId id="327"/>
            <p14:sldId id="268"/>
            <p14:sldId id="271"/>
            <p14:sldId id="287"/>
            <p14:sldId id="329"/>
            <p14:sldId id="398"/>
            <p14:sldId id="399"/>
            <p14:sldId id="391"/>
            <p14:sldId id="397"/>
            <p14:sldId id="395"/>
            <p14:sldId id="396"/>
            <p14:sldId id="393"/>
            <p14:sldId id="392"/>
            <p14:sldId id="270"/>
            <p14:sldId id="330"/>
            <p14:sldId id="331"/>
            <p14:sldId id="332"/>
            <p14:sldId id="272"/>
            <p14:sldId id="333"/>
            <p14:sldId id="289"/>
            <p14:sldId id="334"/>
            <p14:sldId id="277"/>
            <p14:sldId id="278"/>
            <p14:sldId id="274"/>
            <p14:sldId id="335"/>
            <p14:sldId id="336"/>
            <p14:sldId id="348"/>
            <p14:sldId id="341"/>
            <p14:sldId id="349"/>
            <p14:sldId id="342"/>
            <p14:sldId id="350"/>
            <p14:sldId id="343"/>
            <p14:sldId id="351"/>
            <p14:sldId id="344"/>
            <p14:sldId id="352"/>
            <p14:sldId id="345"/>
            <p14:sldId id="353"/>
            <p14:sldId id="346"/>
            <p14:sldId id="354"/>
            <p14:sldId id="347"/>
            <p14:sldId id="355"/>
            <p14:sldId id="338"/>
            <p14:sldId id="356"/>
            <p14:sldId id="337"/>
            <p14:sldId id="357"/>
            <p14:sldId id="276"/>
            <p14:sldId id="358"/>
            <p14:sldId id="339"/>
            <p14:sldId id="359"/>
            <p14:sldId id="381"/>
            <p14:sldId id="385"/>
            <p14:sldId id="382"/>
            <p14:sldId id="400"/>
            <p14:sldId id="294"/>
            <p14:sldId id="360"/>
            <p14:sldId id="285"/>
            <p14:sldId id="286"/>
            <p14:sldId id="299"/>
            <p14:sldId id="361"/>
            <p14:sldId id="362"/>
            <p14:sldId id="283"/>
            <p14:sldId id="297"/>
            <p14:sldId id="365"/>
            <p14:sldId id="364"/>
            <p14:sldId id="363"/>
            <p14:sldId id="366"/>
            <p14:sldId id="367"/>
            <p14:sldId id="368"/>
            <p14:sldId id="370"/>
            <p14:sldId id="374"/>
            <p14:sldId id="375"/>
          </p14:sldIdLst>
        </p14:section>
        <p14:section name="Graphs" id="{551B27DB-FB3B-4066-9154-1B46F0A65216}">
          <p14:sldIdLst>
            <p14:sldId id="301"/>
            <p14:sldId id="304"/>
            <p14:sldId id="303"/>
            <p14:sldId id="302"/>
            <p14:sldId id="305"/>
            <p14:sldId id="306"/>
            <p14:sldId id="378"/>
            <p14:sldId id="376"/>
            <p14:sldId id="379"/>
            <p14:sldId id="388"/>
            <p14:sldId id="307"/>
            <p14:sldId id="369"/>
            <p14:sldId id="389"/>
            <p14:sldId id="390"/>
          </p14:sldIdLst>
        </p14:section>
        <p14:section name="Merci" id="{DE1A67E5-D1FE-41AF-88BB-A85595BA690B}">
          <p14:sldIdLst>
            <p14:sldId id="328"/>
          </p14:sldIdLst>
        </p14:section>
        <p14:section name="Symboles" id="{49175908-295D-4406-8512-BB62EA88444D}">
          <p14:sldIdLst>
            <p14:sldId id="371"/>
            <p14:sldId id="373"/>
            <p14:sldId id="401"/>
            <p14:sldId id="372"/>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EFAC62"/>
    <a:srgbClr val="060606"/>
    <a:srgbClr val="112A40"/>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C4BD68B-DEB5-4C72-B758-AA0E2A02C403}" v="4" dt="2026-09-23T09:25:47.776"/>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5" d="100"/>
          <a:sy n="75" d="100"/>
        </p:scale>
        <p:origin x="874" y="4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Master" Target="slideMasters/slideMaster2.xml"/><Relationship Id="rId3" Type="http://schemas.openxmlformats.org/officeDocument/2006/relationships/slide" Target="slides/slide1.xml"/><Relationship Id="rId4" Type="http://schemas.openxmlformats.org/officeDocument/2006/relationships/slide" Target="slides/slide3.xml"/><Relationship Id="rId7" Type="http://schemas.openxmlformats.org/officeDocument/2006/relationships/slide" Target="slides/slide2.xml"/><Relationship Id="rId11" Type="http://schemas.openxmlformats.org/officeDocument/2006/relationships/slide" Target="slides/slide25.xml"/><Relationship Id="rId15" Type="http://schemas.openxmlformats.org/officeDocument/2006/relationships/slide" Target="slides/slide32.xml"/><Relationship Id="rId25" Type="http://schemas.openxmlformats.org/officeDocument/2006/relationships/slide" Target="slides/slide7.xml"/><Relationship Id="rId31" Type="http://schemas.openxmlformats.org/officeDocument/2006/relationships/slide" Target="slides/slide88.xml"/><Relationship Id="rId33" Type="http://schemas.openxmlformats.org/officeDocument/2006/relationships/slide" Target="slides/slide85.xml"/><Relationship Id="rId41" Type="http://schemas.openxmlformats.org/officeDocument/2006/relationships/slide" Target="slides/slide14.xml"/><Relationship Id="rId43" Type="http://schemas.openxmlformats.org/officeDocument/2006/relationships/slide" Target="slides/slide23.xml"/><Relationship Id="rId51" Type="http://schemas.openxmlformats.org/officeDocument/2006/relationships/slide" Target="slides/slide5.xml"/><Relationship Id="rId85" Type="http://schemas.openxmlformats.org/officeDocument/2006/relationships/slide" Target="slides/slide12.xml"/><Relationship Id="rId109" Type="http://schemas.openxmlformats.org/officeDocument/2006/relationships/slide" Target="slides/slide11.xml"/><Relationship Id="rId112" Type="http://schemas.openxmlformats.org/officeDocument/2006/relationships/slide" Target="slides/slide151.xml"/><Relationship Id="rId117" Type="http://schemas.openxmlformats.org/officeDocument/2006/relationships/notesMaster" Target="notesMasters/notesMaster1.xml"/><Relationship Id="rId118" Type="http://schemas.openxmlformats.org/officeDocument/2006/relationships/presProps" Target="presProps.xml"/><Relationship Id="rId119" Type="http://schemas.openxmlformats.org/officeDocument/2006/relationships/viewProps" Target="viewProps.xml"/><Relationship Id="rId120" Type="http://schemas.openxmlformats.org/officeDocument/2006/relationships/theme" Target="theme/theme1.xml"/><Relationship Id="rId121" Type="http://schemas.openxmlformats.org/officeDocument/2006/relationships/tableStyles" Target="tableStyles.xml"/><Relationship Id="rId122" Type="http://schemas.microsoft.com/office/2016/11/relationships/changesInfo" Target="changesInfos/changesInfo1.xml"/><Relationship Id="rId123" Type="http://schemas.microsoft.com/office/2015/10/relationships/revisionInfo" Target="revisionInfo.xml"/><Relationship Id="rId124" Type="http://schemas.openxmlformats.org/officeDocument/2006/relationships/slide" Target="slides/slide4.xml"/><Relationship Id="rId125" Type="http://schemas.openxmlformats.org/officeDocument/2006/relationships/slide" Target="slides/slide6.xml"/><Relationship Id="rId126" Type="http://schemas.openxmlformats.org/officeDocument/2006/relationships/slide" Target="slides/slide8.xml"/><Relationship Id="rId127" Type="http://schemas.openxmlformats.org/officeDocument/2006/relationships/slide" Target="slides/slide9.xml"/><Relationship Id="rId128" Type="http://schemas.openxmlformats.org/officeDocument/2006/relationships/slide" Target="slides/slide10.xml"/><Relationship Id="rId129" Type="http://schemas.openxmlformats.org/officeDocument/2006/relationships/slide" Target="slides/slide13.xml"/><Relationship Id="rId130" Type="http://schemas.openxmlformats.org/officeDocument/2006/relationships/slide" Target="slides/slide15.xml"/><Relationship Id="rId131" Type="http://schemas.openxmlformats.org/officeDocument/2006/relationships/slide" Target="slides/slide16.xml"/><Relationship Id="rId132" Type="http://schemas.openxmlformats.org/officeDocument/2006/relationships/slide" Target="slides/slide17.xml"/><Relationship Id="rId133" Type="http://schemas.openxmlformats.org/officeDocument/2006/relationships/slide" Target="slides/slide18.xml"/><Relationship Id="rId134" Type="http://schemas.openxmlformats.org/officeDocument/2006/relationships/slide" Target="slides/slide19.xml"/><Relationship Id="rId135" Type="http://schemas.openxmlformats.org/officeDocument/2006/relationships/slide" Target="slides/slide20.xml"/><Relationship Id="rId136" Type="http://schemas.openxmlformats.org/officeDocument/2006/relationships/slide" Target="slides/slide21.xml"/><Relationship Id="rId137" Type="http://schemas.openxmlformats.org/officeDocument/2006/relationships/slide" Target="slides/slide22.xml"/><Relationship Id="rId138" Type="http://schemas.openxmlformats.org/officeDocument/2006/relationships/slide" Target="slides/slide24.xml"/><Relationship Id="rId139" Type="http://schemas.openxmlformats.org/officeDocument/2006/relationships/slide" Target="slides/slide26.xml"/><Relationship Id="rId140" Type="http://schemas.openxmlformats.org/officeDocument/2006/relationships/slide" Target="slides/slide27.xml"/><Relationship Id="rId141" Type="http://schemas.openxmlformats.org/officeDocument/2006/relationships/slide" Target="slides/slide28.xml"/><Relationship Id="rId142" Type="http://schemas.openxmlformats.org/officeDocument/2006/relationships/slide" Target="slides/slide29.xml"/><Relationship Id="rId143" Type="http://schemas.openxmlformats.org/officeDocument/2006/relationships/slide" Target="slides/slide30.xml"/><Relationship Id="rId144" Type="http://schemas.openxmlformats.org/officeDocument/2006/relationships/slide" Target="slides/slide31.xml"/><Relationship Id="rId145" Type="http://schemas.openxmlformats.org/officeDocument/2006/relationships/slide" Target="slides/slide33.xml"/><Relationship Id="rId146" Type="http://schemas.openxmlformats.org/officeDocument/2006/relationships/slide" Target="slides/slide34.xml"/><Relationship Id="rId147" Type="http://schemas.openxmlformats.org/officeDocument/2006/relationships/slide" Target="slides/slide35.xml"/><Relationship Id="rId148" Type="http://schemas.openxmlformats.org/officeDocument/2006/relationships/slide" Target="slides/slide36.xml"/><Relationship Id="rId149" Type="http://schemas.openxmlformats.org/officeDocument/2006/relationships/slide" Target="slides/slide37.xml"/><Relationship Id="rId150" Type="http://schemas.openxmlformats.org/officeDocument/2006/relationships/slide" Target="slides/slide38.xml"/><Relationship Id="rId151" Type="http://schemas.openxmlformats.org/officeDocument/2006/relationships/slide" Target="slides/slide39.xml"/><Relationship Id="rId152" Type="http://schemas.openxmlformats.org/officeDocument/2006/relationships/slide" Target="slides/slide40.xml"/><Relationship Id="rId153" Type="http://schemas.openxmlformats.org/officeDocument/2006/relationships/slide" Target="slides/slide41.xml"/><Relationship Id="rId154" Type="http://schemas.openxmlformats.org/officeDocument/2006/relationships/slide" Target="slides/slide42.xml"/><Relationship Id="rId155" Type="http://schemas.openxmlformats.org/officeDocument/2006/relationships/slide" Target="slides/slide43.xml"/><Relationship Id="rId156" Type="http://schemas.openxmlformats.org/officeDocument/2006/relationships/slide" Target="slides/slide44.xml"/><Relationship Id="rId157" Type="http://schemas.openxmlformats.org/officeDocument/2006/relationships/slide" Target="slides/slide45.xml"/><Relationship Id="rId158" Type="http://schemas.openxmlformats.org/officeDocument/2006/relationships/slide" Target="slides/slide46.xml"/><Relationship Id="rId159" Type="http://schemas.openxmlformats.org/officeDocument/2006/relationships/slide" Target="slides/slide47.xml"/><Relationship Id="rId160" Type="http://schemas.openxmlformats.org/officeDocument/2006/relationships/slide" Target="slides/slide48.xml"/><Relationship Id="rId161" Type="http://schemas.openxmlformats.org/officeDocument/2006/relationships/slide" Target="slides/slide49.xml"/><Relationship Id="rId162" Type="http://schemas.openxmlformats.org/officeDocument/2006/relationships/slide" Target="slides/slide50.xml"/><Relationship Id="rId163" Type="http://schemas.openxmlformats.org/officeDocument/2006/relationships/slide" Target="slides/slide51.xml"/><Relationship Id="rId164" Type="http://schemas.openxmlformats.org/officeDocument/2006/relationships/slide" Target="slides/slide52.xml"/><Relationship Id="rId165" Type="http://schemas.openxmlformats.org/officeDocument/2006/relationships/slide" Target="slides/slide53.xml"/><Relationship Id="rId166" Type="http://schemas.openxmlformats.org/officeDocument/2006/relationships/slide" Target="slides/slide54.xml"/><Relationship Id="rId167" Type="http://schemas.openxmlformats.org/officeDocument/2006/relationships/slide" Target="slides/slide55.xml"/><Relationship Id="rId168" Type="http://schemas.openxmlformats.org/officeDocument/2006/relationships/slide" Target="slides/slide56.xml"/><Relationship Id="rId169" Type="http://schemas.openxmlformats.org/officeDocument/2006/relationships/slide" Target="slides/slide57.xml"/><Relationship Id="rId170" Type="http://schemas.openxmlformats.org/officeDocument/2006/relationships/slide" Target="slides/slide58.xml"/><Relationship Id="rId171" Type="http://schemas.openxmlformats.org/officeDocument/2006/relationships/slide" Target="slides/slide59.xml"/><Relationship Id="rId172" Type="http://schemas.openxmlformats.org/officeDocument/2006/relationships/slide" Target="slides/slide60.xml"/><Relationship Id="rId173" Type="http://schemas.openxmlformats.org/officeDocument/2006/relationships/slide" Target="slides/slide61.xml"/><Relationship Id="rId174" Type="http://schemas.openxmlformats.org/officeDocument/2006/relationships/slide" Target="slides/slide62.xml"/><Relationship Id="rId175" Type="http://schemas.openxmlformats.org/officeDocument/2006/relationships/slide" Target="slides/slide63.xml"/><Relationship Id="rId176" Type="http://schemas.openxmlformats.org/officeDocument/2006/relationships/slide" Target="slides/slide64.xml"/><Relationship Id="rId177" Type="http://schemas.openxmlformats.org/officeDocument/2006/relationships/slide" Target="slides/slide65.xml"/><Relationship Id="rId178" Type="http://schemas.openxmlformats.org/officeDocument/2006/relationships/slide" Target="slides/slide66.xml"/><Relationship Id="rId179" Type="http://schemas.openxmlformats.org/officeDocument/2006/relationships/slide" Target="slides/slide67.xml"/><Relationship Id="rId180" Type="http://schemas.openxmlformats.org/officeDocument/2006/relationships/slide" Target="slides/slide68.xml"/><Relationship Id="rId181" Type="http://schemas.openxmlformats.org/officeDocument/2006/relationships/slide" Target="slides/slide69.xml"/><Relationship Id="rId182" Type="http://schemas.openxmlformats.org/officeDocument/2006/relationships/slide" Target="slides/slide70.xml"/><Relationship Id="rId183" Type="http://schemas.openxmlformats.org/officeDocument/2006/relationships/slide" Target="slides/slide71.xml"/><Relationship Id="rId184" Type="http://schemas.openxmlformats.org/officeDocument/2006/relationships/slide" Target="slides/slide72.xml"/><Relationship Id="rId185" Type="http://schemas.openxmlformats.org/officeDocument/2006/relationships/slide" Target="slides/slide73.xml"/><Relationship Id="rId186" Type="http://schemas.openxmlformats.org/officeDocument/2006/relationships/slide" Target="slides/slide74.xml"/><Relationship Id="rId187" Type="http://schemas.openxmlformats.org/officeDocument/2006/relationships/slide" Target="slides/slide75.xml"/><Relationship Id="rId188" Type="http://schemas.openxmlformats.org/officeDocument/2006/relationships/slide" Target="slides/slide76.xml"/><Relationship Id="rId189" Type="http://schemas.openxmlformats.org/officeDocument/2006/relationships/slide" Target="slides/slide77.xml"/><Relationship Id="rId190" Type="http://schemas.openxmlformats.org/officeDocument/2006/relationships/slide" Target="slides/slide78.xml"/><Relationship Id="rId191" Type="http://schemas.openxmlformats.org/officeDocument/2006/relationships/slide" Target="slides/slide79.xml"/><Relationship Id="rId192" Type="http://schemas.openxmlformats.org/officeDocument/2006/relationships/slide" Target="slides/slide80.xml"/><Relationship Id="rId193" Type="http://schemas.openxmlformats.org/officeDocument/2006/relationships/slide" Target="slides/slide81.xml"/><Relationship Id="rId194" Type="http://schemas.openxmlformats.org/officeDocument/2006/relationships/slide" Target="slides/slide82.xml"/><Relationship Id="rId195" Type="http://schemas.openxmlformats.org/officeDocument/2006/relationships/slide" Target="slides/slide83.xml"/><Relationship Id="rId196" Type="http://schemas.openxmlformats.org/officeDocument/2006/relationships/slide" Target="slides/slide84.xml"/><Relationship Id="rId197" Type="http://schemas.openxmlformats.org/officeDocument/2006/relationships/slide" Target="slides/slide86.xml"/><Relationship Id="rId198" Type="http://schemas.openxmlformats.org/officeDocument/2006/relationships/slide" Target="slides/slide87.xml"/><Relationship Id="rId199" Type="http://schemas.openxmlformats.org/officeDocument/2006/relationships/slide" Target="slides/slide89.xml"/><Relationship Id="rId200" Type="http://schemas.openxmlformats.org/officeDocument/2006/relationships/slide" Target="slides/slide90.xml"/><Relationship Id="rId201" Type="http://schemas.openxmlformats.org/officeDocument/2006/relationships/slide" Target="slides/slide91.xml"/><Relationship Id="rId202" Type="http://schemas.openxmlformats.org/officeDocument/2006/relationships/slide" Target="slides/slide92.xml"/><Relationship Id="rId203" Type="http://schemas.openxmlformats.org/officeDocument/2006/relationships/slide" Target="slides/slide93.xml"/><Relationship Id="rId204" Type="http://schemas.openxmlformats.org/officeDocument/2006/relationships/slide" Target="slides/slide94.xml"/><Relationship Id="rId205" Type="http://schemas.openxmlformats.org/officeDocument/2006/relationships/slide" Target="slides/slide95.xml"/><Relationship Id="rId206" Type="http://schemas.openxmlformats.org/officeDocument/2006/relationships/slide" Target="slides/slide96.xml"/><Relationship Id="rId207" Type="http://schemas.openxmlformats.org/officeDocument/2006/relationships/slide" Target="slides/slide97.xml"/><Relationship Id="rId208" Type="http://schemas.openxmlformats.org/officeDocument/2006/relationships/slide" Target="slides/slide98.xml"/><Relationship Id="rId209" Type="http://schemas.openxmlformats.org/officeDocument/2006/relationships/slide" Target="slides/slide99.xml"/><Relationship Id="rId210" Type="http://schemas.openxmlformats.org/officeDocument/2006/relationships/slide" Target="slides/slide100.xml"/><Relationship Id="rId211" Type="http://schemas.openxmlformats.org/officeDocument/2006/relationships/slide" Target="slides/slide101.xml"/><Relationship Id="rId212" Type="http://schemas.openxmlformats.org/officeDocument/2006/relationships/slide" Target="slides/slide102.xml"/><Relationship Id="rId213" Type="http://schemas.openxmlformats.org/officeDocument/2006/relationships/slide" Target="slides/slide103.xml"/><Relationship Id="rId214" Type="http://schemas.openxmlformats.org/officeDocument/2006/relationships/slide" Target="slides/slide104.xml"/><Relationship Id="rId215" Type="http://schemas.openxmlformats.org/officeDocument/2006/relationships/slide" Target="slides/slide105.xml"/><Relationship Id="rId216" Type="http://schemas.openxmlformats.org/officeDocument/2006/relationships/slide" Target="slides/slide106.xml"/><Relationship Id="rId217" Type="http://schemas.openxmlformats.org/officeDocument/2006/relationships/slide" Target="slides/slide107.xml"/><Relationship Id="rId218" Type="http://schemas.openxmlformats.org/officeDocument/2006/relationships/slide" Target="slides/slide108.xml"/><Relationship Id="rId219" Type="http://schemas.openxmlformats.org/officeDocument/2006/relationships/slide" Target="slides/slide109.xml"/><Relationship Id="rId220" Type="http://schemas.openxmlformats.org/officeDocument/2006/relationships/slide" Target="slides/slide110.xml"/><Relationship Id="rId221" Type="http://schemas.openxmlformats.org/officeDocument/2006/relationships/slide" Target="slides/slide111.xml"/><Relationship Id="rId222" Type="http://schemas.openxmlformats.org/officeDocument/2006/relationships/slide" Target="slides/slide112.xml"/><Relationship Id="rId223" Type="http://schemas.openxmlformats.org/officeDocument/2006/relationships/slide" Target="slides/slide113.xml"/><Relationship Id="rId224" Type="http://schemas.openxmlformats.org/officeDocument/2006/relationships/slide" Target="slides/slide114.xml"/><Relationship Id="rId225" Type="http://schemas.openxmlformats.org/officeDocument/2006/relationships/slide" Target="slides/slide115.xml"/><Relationship Id="rId226" Type="http://schemas.openxmlformats.org/officeDocument/2006/relationships/slide" Target="slides/slide116.xml"/><Relationship Id="rId227" Type="http://schemas.openxmlformats.org/officeDocument/2006/relationships/slide" Target="slides/slide117.xml"/><Relationship Id="rId228" Type="http://schemas.openxmlformats.org/officeDocument/2006/relationships/slide" Target="slides/slide118.xml"/><Relationship Id="rId229" Type="http://schemas.openxmlformats.org/officeDocument/2006/relationships/slide" Target="slides/slide119.xml"/><Relationship Id="rId230" Type="http://schemas.openxmlformats.org/officeDocument/2006/relationships/slide" Target="slides/slide120.xml"/><Relationship Id="rId231" Type="http://schemas.openxmlformats.org/officeDocument/2006/relationships/slide" Target="slides/slide121.xml"/><Relationship Id="rId232" Type="http://schemas.openxmlformats.org/officeDocument/2006/relationships/slide" Target="slides/slide122.xml"/><Relationship Id="rId233" Type="http://schemas.openxmlformats.org/officeDocument/2006/relationships/slide" Target="slides/slide123.xml"/><Relationship Id="rId234" Type="http://schemas.openxmlformats.org/officeDocument/2006/relationships/slide" Target="slides/slide124.xml"/><Relationship Id="rId235" Type="http://schemas.openxmlformats.org/officeDocument/2006/relationships/slide" Target="slides/slide125.xml"/><Relationship Id="rId236" Type="http://schemas.openxmlformats.org/officeDocument/2006/relationships/slide" Target="slides/slide126.xml"/><Relationship Id="rId237" Type="http://schemas.openxmlformats.org/officeDocument/2006/relationships/slide" Target="slides/slide127.xml"/><Relationship Id="rId238" Type="http://schemas.openxmlformats.org/officeDocument/2006/relationships/slide" Target="slides/slide128.xml"/><Relationship Id="rId239" Type="http://schemas.openxmlformats.org/officeDocument/2006/relationships/slide" Target="slides/slide129.xml"/><Relationship Id="rId240" Type="http://schemas.openxmlformats.org/officeDocument/2006/relationships/slide" Target="slides/slide130.xml"/><Relationship Id="rId241" Type="http://schemas.openxmlformats.org/officeDocument/2006/relationships/slide" Target="slides/slide131.xml"/><Relationship Id="rId242" Type="http://schemas.openxmlformats.org/officeDocument/2006/relationships/slide" Target="slides/slide132.xml"/><Relationship Id="rId243" Type="http://schemas.openxmlformats.org/officeDocument/2006/relationships/slide" Target="slides/slide133.xml"/><Relationship Id="rId244" Type="http://schemas.openxmlformats.org/officeDocument/2006/relationships/slide" Target="slides/slide134.xml"/><Relationship Id="rId245" Type="http://schemas.openxmlformats.org/officeDocument/2006/relationships/slide" Target="slides/slide135.xml"/><Relationship Id="rId246" Type="http://schemas.openxmlformats.org/officeDocument/2006/relationships/slide" Target="slides/slide136.xml"/><Relationship Id="rId247" Type="http://schemas.openxmlformats.org/officeDocument/2006/relationships/slide" Target="slides/slide137.xml"/><Relationship Id="rId248" Type="http://schemas.openxmlformats.org/officeDocument/2006/relationships/slide" Target="slides/slide138.xml"/><Relationship Id="rId249" Type="http://schemas.openxmlformats.org/officeDocument/2006/relationships/slide" Target="slides/slide139.xml"/><Relationship Id="rId250" Type="http://schemas.openxmlformats.org/officeDocument/2006/relationships/slide" Target="slides/slide140.xml"/><Relationship Id="rId251" Type="http://schemas.openxmlformats.org/officeDocument/2006/relationships/slide" Target="slides/slide141.xml"/><Relationship Id="rId252" Type="http://schemas.openxmlformats.org/officeDocument/2006/relationships/slide" Target="slides/slide142.xml"/><Relationship Id="rId253" Type="http://schemas.openxmlformats.org/officeDocument/2006/relationships/slide" Target="slides/slide143.xml"/><Relationship Id="rId254" Type="http://schemas.openxmlformats.org/officeDocument/2006/relationships/slide" Target="slides/slide144.xml"/><Relationship Id="rId255" Type="http://schemas.openxmlformats.org/officeDocument/2006/relationships/slide" Target="slides/slide145.xml"/><Relationship Id="rId256" Type="http://schemas.openxmlformats.org/officeDocument/2006/relationships/slide" Target="slides/slide146.xml"/><Relationship Id="rId257" Type="http://schemas.openxmlformats.org/officeDocument/2006/relationships/slide" Target="slides/slide147.xml"/><Relationship Id="rId258" Type="http://schemas.openxmlformats.org/officeDocument/2006/relationships/slide" Target="slides/slide148.xml"/><Relationship Id="rId259" Type="http://schemas.openxmlformats.org/officeDocument/2006/relationships/slide" Target="slides/slide149.xml"/><Relationship Id="rId260" Type="http://schemas.openxmlformats.org/officeDocument/2006/relationships/slide" Target="slides/slide150.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Jean-Noel Sialou" userId="08acc5d2-3819-4be4-97e6-d593a92e8e16" providerId="ADAL" clId="{DC5A2AD4-2AC1-4F5C-A6BF-541681F7EFA2}"/>
    <pc:docChg chg="undo custSel modSld">
      <pc:chgData name="Jean-Noel Sialou" userId="08acc5d2-3819-4be4-97e6-d593a92e8e16" providerId="ADAL" clId="{DC5A2AD4-2AC1-4F5C-A6BF-541681F7EFA2}" dt="2026-09-07T10:18:25.187" v="38" actId="571"/>
      <pc:docMkLst>
        <pc:docMk/>
      </pc:docMkLst>
      <pc:sldChg chg="addSp delSp modSp mod">
        <pc:chgData name="Jean-Noel Sialou" userId="08acc5d2-3819-4be4-97e6-d593a92e8e16" providerId="ADAL" clId="{DC5A2AD4-2AC1-4F5C-A6BF-541681F7EFA2}" dt="2026-09-07T10:18:25.187" v="38" actId="571"/>
        <pc:sldMkLst>
          <pc:docMk/>
          <pc:sldMk cId="2102837376" sldId="358"/>
        </pc:sldMkLst>
        <pc:spChg chg="mod">
          <ac:chgData name="Jean-Noel Sialou" userId="08acc5d2-3819-4be4-97e6-d593a92e8e16" providerId="ADAL" clId="{DC5A2AD4-2AC1-4F5C-A6BF-541681F7EFA2}" dt="2026-09-07T10:18:15.089" v="35" actId="164"/>
          <ac:spMkLst>
            <pc:docMk/>
            <pc:sldMk cId="2102837376" sldId="358"/>
            <ac:spMk id="48" creationId="{00000000-0000-0000-0000-000000000000}"/>
          </ac:spMkLst>
        </pc:spChg>
        <pc:spChg chg="mod">
          <ac:chgData name="Jean-Noel Sialou" userId="08acc5d2-3819-4be4-97e6-d593a92e8e16" providerId="ADAL" clId="{DC5A2AD4-2AC1-4F5C-A6BF-541681F7EFA2}" dt="2026-09-07T10:18:15.089" v="35" actId="164"/>
          <ac:spMkLst>
            <pc:docMk/>
            <pc:sldMk cId="2102837376" sldId="358"/>
            <ac:spMk id="49" creationId="{00000000-0000-0000-0000-000000000000}"/>
          </ac:spMkLst>
        </pc:spChg>
        <pc:spChg chg="mod">
          <ac:chgData name="Jean-Noel Sialou" userId="08acc5d2-3819-4be4-97e6-d593a92e8e16" providerId="ADAL" clId="{DC5A2AD4-2AC1-4F5C-A6BF-541681F7EFA2}" dt="2026-09-07T10:18:15.089" v="35" actId="164"/>
          <ac:spMkLst>
            <pc:docMk/>
            <pc:sldMk cId="2102837376" sldId="358"/>
            <ac:spMk id="61" creationId="{00000000-0000-0000-0000-000000000000}"/>
          </ac:spMkLst>
        </pc:spChg>
        <pc:spChg chg="mod">
          <ac:chgData name="Jean-Noel Sialou" userId="08acc5d2-3819-4be4-97e6-d593a92e8e16" providerId="ADAL" clId="{DC5A2AD4-2AC1-4F5C-A6BF-541681F7EFA2}" dt="2026-09-07T10:18:15.089" v="35" actId="164"/>
          <ac:spMkLst>
            <pc:docMk/>
            <pc:sldMk cId="2102837376" sldId="358"/>
            <ac:spMk id="64" creationId="{00000000-0000-0000-0000-000000000000}"/>
          </ac:spMkLst>
        </pc:spChg>
        <pc:grpChg chg="add mod">
          <ac:chgData name="Jean-Noel Sialou" userId="08acc5d2-3819-4be4-97e6-d593a92e8e16" providerId="ADAL" clId="{DC5A2AD4-2AC1-4F5C-A6BF-541681F7EFA2}" dt="2026-09-07T10:18:17.535" v="36" actId="164"/>
          <ac:grpSpMkLst>
            <pc:docMk/>
            <pc:sldMk cId="2102837376" sldId="358"/>
            <ac:grpSpMk id="3" creationId="{C9290073-F4B9-4E89-EC47-0D4815D405F9}"/>
          </ac:grpSpMkLst>
        </pc:grpChg>
        <pc:grpChg chg="add mod">
          <ac:chgData name="Jean-Noel Sialou" userId="08acc5d2-3819-4be4-97e6-d593a92e8e16" providerId="ADAL" clId="{DC5A2AD4-2AC1-4F5C-A6BF-541681F7EFA2}" dt="2026-09-07T10:18:17.535" v="36" actId="164"/>
          <ac:grpSpMkLst>
            <pc:docMk/>
            <pc:sldMk cId="2102837376" sldId="358"/>
            <ac:grpSpMk id="7" creationId="{D520CB44-6CB8-26BA-C481-1E6C90DCE023}"/>
          </ac:grpSpMkLst>
        </pc:grpChg>
        <pc:picChg chg="add mod">
          <ac:chgData name="Jean-Noel Sialou" userId="08acc5d2-3819-4be4-97e6-d593a92e8e16" providerId="ADAL" clId="{DC5A2AD4-2AC1-4F5C-A6BF-541681F7EFA2}" dt="2026-09-07T10:18:17.535" v="36" actId="164"/>
          <ac:picMkLst>
            <pc:docMk/>
            <pc:sldMk cId="2102837376" sldId="358"/>
            <ac:picMk id="5" creationId="{A59C829E-ED12-0019-96D2-4C72AF995693}"/>
          </ac:picMkLst>
        </pc:picChg>
        <pc:picChg chg="mod">
          <ac:chgData name="Jean-Noel Sialou" userId="08acc5d2-3819-4be4-97e6-d593a92e8e16" providerId="ADAL" clId="{DC5A2AD4-2AC1-4F5C-A6BF-541681F7EFA2}" dt="2026-09-07T10:18:15.089" v="35" actId="164"/>
          <ac:picMkLst>
            <pc:docMk/>
            <pc:sldMk cId="2102837376" sldId="358"/>
            <ac:picMk id="31" creationId="{00000000-0000-0000-0000-000000000000}"/>
          </ac:picMkLst>
        </pc:picChg>
        <pc:picChg chg="mod">
          <ac:chgData name="Jean-Noel Sialou" userId="08acc5d2-3819-4be4-97e6-d593a92e8e16" providerId="ADAL" clId="{DC5A2AD4-2AC1-4F5C-A6BF-541681F7EFA2}" dt="2026-09-07T10:18:17.535" v="36" actId="164"/>
          <ac:picMkLst>
            <pc:docMk/>
            <pc:sldMk cId="2102837376" sldId="358"/>
            <ac:picMk id="47" creationId="{00000000-0000-0000-0000-000000000000}"/>
          </ac:picMkLst>
        </pc:picChg>
        <pc:picChg chg="mod">
          <ac:chgData name="Jean-Noel Sialou" userId="08acc5d2-3819-4be4-97e6-d593a92e8e16" providerId="ADAL" clId="{DC5A2AD4-2AC1-4F5C-A6BF-541681F7EFA2}" dt="2026-09-07T10:18:15.089" v="35" actId="164"/>
          <ac:picMkLst>
            <pc:docMk/>
            <pc:sldMk cId="2102837376" sldId="358"/>
            <ac:picMk id="50" creationId="{00000000-0000-0000-0000-000000000000}"/>
          </ac:picMkLst>
        </pc:picChg>
        <pc:picChg chg="mod">
          <ac:chgData name="Jean-Noel Sialou" userId="08acc5d2-3819-4be4-97e6-d593a92e8e16" providerId="ADAL" clId="{DC5A2AD4-2AC1-4F5C-A6BF-541681F7EFA2}" dt="2026-09-07T10:18:15.089" v="35" actId="164"/>
          <ac:picMkLst>
            <pc:docMk/>
            <pc:sldMk cId="2102837376" sldId="358"/>
            <ac:picMk id="54" creationId="{00000000-0000-0000-0000-000000000000}"/>
          </ac:picMkLst>
        </pc:picChg>
        <pc:picChg chg="mod">
          <ac:chgData name="Jean-Noel Sialou" userId="08acc5d2-3819-4be4-97e6-d593a92e8e16" providerId="ADAL" clId="{DC5A2AD4-2AC1-4F5C-A6BF-541681F7EFA2}" dt="2026-09-07T10:18:15.089" v="35" actId="164"/>
          <ac:picMkLst>
            <pc:docMk/>
            <pc:sldMk cId="2102837376" sldId="358"/>
            <ac:picMk id="65" creationId="{00000000-0000-0000-0000-000000000000}"/>
          </ac:picMkLst>
        </pc:picChg>
      </pc:sldChg>
    </pc:docChg>
  </pc:docChgLst>
  <pc:docChgLst>
    <pc:chgData name="Jean-Noel Sialou" userId="08acc5d2-3819-4be4-97e6-d593a92e8e16" providerId="ADAL" clId="{3E2E487B-B21A-43C3-A4E4-C31B8823D31F}"/>
    <pc:docChg chg="modSld">
      <pc:chgData name="Jean-Noel Sialou" userId="08acc5d2-3819-4be4-97e6-d593a92e8e16" providerId="ADAL" clId="{3E2E487B-B21A-43C3-A4E4-C31B8823D31F}" dt="2026-09-23T09:25:47.775" v="6" actId="164"/>
      <pc:docMkLst>
        <pc:docMk/>
      </pc:docMkLst>
      <pc:sldChg chg="modSp mod modAnim">
        <pc:chgData name="Jean-Noel Sialou" userId="08acc5d2-3819-4be4-97e6-d593a92e8e16" providerId="ADAL" clId="{3E2E487B-B21A-43C3-A4E4-C31B8823D31F}" dt="2026-09-15T10:14:35.637" v="5" actId="208"/>
        <pc:sldMkLst>
          <pc:docMk/>
          <pc:sldMk cId="2102837376" sldId="358"/>
        </pc:sldMkLst>
        <pc:spChg chg="mod">
          <ac:chgData name="Jean-Noel Sialou" userId="08acc5d2-3819-4be4-97e6-d593a92e8e16" providerId="ADAL" clId="{3E2E487B-B21A-43C3-A4E4-C31B8823D31F}" dt="2026-09-15T10:14:31.481" v="4" actId="207"/>
          <ac:spMkLst>
            <pc:docMk/>
            <pc:sldMk cId="2102837376" sldId="358"/>
            <ac:spMk id="40" creationId="{00000000-0000-0000-0000-000000000000}"/>
          </ac:spMkLst>
        </pc:spChg>
        <pc:spChg chg="mod">
          <ac:chgData name="Jean-Noel Sialou" userId="08acc5d2-3819-4be4-97e6-d593a92e8e16" providerId="ADAL" clId="{3E2E487B-B21A-43C3-A4E4-C31B8823D31F}" dt="2026-09-15T10:14:31.481" v="4" actId="207"/>
          <ac:spMkLst>
            <pc:docMk/>
            <pc:sldMk cId="2102837376" sldId="358"/>
            <ac:spMk id="41" creationId="{00000000-0000-0000-0000-000000000000}"/>
          </ac:spMkLst>
        </pc:spChg>
        <pc:grpChg chg="mod">
          <ac:chgData name="Jean-Noel Sialou" userId="08acc5d2-3819-4be4-97e6-d593a92e8e16" providerId="ADAL" clId="{3E2E487B-B21A-43C3-A4E4-C31B8823D31F}" dt="2026-09-15T10:14:06.017" v="1" actId="1076"/>
          <ac:grpSpMkLst>
            <pc:docMk/>
            <pc:sldMk cId="2102837376" sldId="358"/>
            <ac:grpSpMk id="7" creationId="{D520CB44-6CB8-26BA-C481-1E6C90DCE023}"/>
          </ac:grpSpMkLst>
        </pc:grpChg>
        <pc:cxnChg chg="mod">
          <ac:chgData name="Jean-Noel Sialou" userId="08acc5d2-3819-4be4-97e6-d593a92e8e16" providerId="ADAL" clId="{3E2E487B-B21A-43C3-A4E4-C31B8823D31F}" dt="2026-09-15T10:14:35.637" v="5" actId="208"/>
          <ac:cxnSpMkLst>
            <pc:docMk/>
            <pc:sldMk cId="2102837376" sldId="358"/>
            <ac:cxnSpMk id="77" creationId="{00000000-0000-0000-0000-000000000000}"/>
          </ac:cxnSpMkLst>
        </pc:cxnChg>
      </pc:sldChg>
      <pc:sldChg chg="addSp modSp modAnim">
        <pc:chgData name="Jean-Noel Sialou" userId="08acc5d2-3819-4be4-97e6-d593a92e8e16" providerId="ADAL" clId="{3E2E487B-B21A-43C3-A4E4-C31B8823D31F}" dt="2026-09-23T09:25:47.775" v="6" actId="164"/>
        <pc:sldMkLst>
          <pc:docMk/>
          <pc:sldMk cId="135173498" sldId="359"/>
        </pc:sldMkLst>
        <pc:spChg chg="mod">
          <ac:chgData name="Jean-Noel Sialou" userId="08acc5d2-3819-4be4-97e6-d593a92e8e16" providerId="ADAL" clId="{3E2E487B-B21A-43C3-A4E4-C31B8823D31F}" dt="2026-09-23T09:25:47.775" v="6" actId="164"/>
          <ac:spMkLst>
            <pc:docMk/>
            <pc:sldMk cId="135173498" sldId="359"/>
            <ac:spMk id="34" creationId="{00000000-0000-0000-0000-000000000000}"/>
          </ac:spMkLst>
        </pc:spChg>
        <pc:spChg chg="mod">
          <ac:chgData name="Jean-Noel Sialou" userId="08acc5d2-3819-4be4-97e6-d593a92e8e16" providerId="ADAL" clId="{3E2E487B-B21A-43C3-A4E4-C31B8823D31F}" dt="2026-09-23T09:25:47.775" v="6" actId="164"/>
          <ac:spMkLst>
            <pc:docMk/>
            <pc:sldMk cId="135173498" sldId="359"/>
            <ac:spMk id="36" creationId="{00000000-0000-0000-0000-000000000000}"/>
          </ac:spMkLst>
        </pc:spChg>
        <pc:spChg chg="mod">
          <ac:chgData name="Jean-Noel Sialou" userId="08acc5d2-3819-4be4-97e6-d593a92e8e16" providerId="ADAL" clId="{3E2E487B-B21A-43C3-A4E4-C31B8823D31F}" dt="2026-09-23T09:25:47.775" v="6" actId="164"/>
          <ac:spMkLst>
            <pc:docMk/>
            <pc:sldMk cId="135173498" sldId="359"/>
            <ac:spMk id="37" creationId="{00000000-0000-0000-0000-000000000000}"/>
          </ac:spMkLst>
        </pc:spChg>
        <pc:spChg chg="mod">
          <ac:chgData name="Jean-Noel Sialou" userId="08acc5d2-3819-4be4-97e6-d593a92e8e16" providerId="ADAL" clId="{3E2E487B-B21A-43C3-A4E4-C31B8823D31F}" dt="2026-09-23T09:25:47.775" v="6" actId="164"/>
          <ac:spMkLst>
            <pc:docMk/>
            <pc:sldMk cId="135173498" sldId="359"/>
            <ac:spMk id="40" creationId="{00000000-0000-0000-0000-000000000000}"/>
          </ac:spMkLst>
        </pc:spChg>
        <pc:spChg chg="mod">
          <ac:chgData name="Jean-Noel Sialou" userId="08acc5d2-3819-4be4-97e6-d593a92e8e16" providerId="ADAL" clId="{3E2E487B-B21A-43C3-A4E4-C31B8823D31F}" dt="2026-09-23T09:25:47.775" v="6" actId="164"/>
          <ac:spMkLst>
            <pc:docMk/>
            <pc:sldMk cId="135173498" sldId="359"/>
            <ac:spMk id="41" creationId="{00000000-0000-0000-0000-000000000000}"/>
          </ac:spMkLst>
        </pc:spChg>
        <pc:spChg chg="mod">
          <ac:chgData name="Jean-Noel Sialou" userId="08acc5d2-3819-4be4-97e6-d593a92e8e16" providerId="ADAL" clId="{3E2E487B-B21A-43C3-A4E4-C31B8823D31F}" dt="2026-09-23T09:25:47.775" v="6" actId="164"/>
          <ac:spMkLst>
            <pc:docMk/>
            <pc:sldMk cId="135173498" sldId="359"/>
            <ac:spMk id="44" creationId="{00000000-0000-0000-0000-000000000000}"/>
          </ac:spMkLst>
        </pc:spChg>
        <pc:spChg chg="mod">
          <ac:chgData name="Jean-Noel Sialou" userId="08acc5d2-3819-4be4-97e6-d593a92e8e16" providerId="ADAL" clId="{3E2E487B-B21A-43C3-A4E4-C31B8823D31F}" dt="2026-09-23T09:25:47.775" v="6" actId="164"/>
          <ac:spMkLst>
            <pc:docMk/>
            <pc:sldMk cId="135173498" sldId="359"/>
            <ac:spMk id="49" creationId="{00000000-0000-0000-0000-000000000000}"/>
          </ac:spMkLst>
        </pc:spChg>
        <pc:spChg chg="mod">
          <ac:chgData name="Jean-Noel Sialou" userId="08acc5d2-3819-4be4-97e6-d593a92e8e16" providerId="ADAL" clId="{3E2E487B-B21A-43C3-A4E4-C31B8823D31F}" dt="2026-09-23T09:25:47.775" v="6" actId="164"/>
          <ac:spMkLst>
            <pc:docMk/>
            <pc:sldMk cId="135173498" sldId="359"/>
            <ac:spMk id="51" creationId="{00000000-0000-0000-0000-000000000000}"/>
          </ac:spMkLst>
        </pc:spChg>
        <pc:spChg chg="mod">
          <ac:chgData name="Jean-Noel Sialou" userId="08acc5d2-3819-4be4-97e6-d593a92e8e16" providerId="ADAL" clId="{3E2E487B-B21A-43C3-A4E4-C31B8823D31F}" dt="2026-09-23T09:25:47.775" v="6" actId="164"/>
          <ac:spMkLst>
            <pc:docMk/>
            <pc:sldMk cId="135173498" sldId="359"/>
            <ac:spMk id="52" creationId="{00000000-0000-0000-0000-000000000000}"/>
          </ac:spMkLst>
        </pc:spChg>
        <pc:spChg chg="mod">
          <ac:chgData name="Jean-Noel Sialou" userId="08acc5d2-3819-4be4-97e6-d593a92e8e16" providerId="ADAL" clId="{3E2E487B-B21A-43C3-A4E4-C31B8823D31F}" dt="2026-09-23T09:25:47.775" v="6" actId="164"/>
          <ac:spMkLst>
            <pc:docMk/>
            <pc:sldMk cId="135173498" sldId="359"/>
            <ac:spMk id="66" creationId="{00000000-0000-0000-0000-000000000000}"/>
          </ac:spMkLst>
        </pc:spChg>
      </pc:sldChg>
    </pc:docChg>
  </pc:docChgLst>
</pc:chgInfo>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6.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15.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Sheet14.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Sheet13.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6.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_rels/chart7.xml.rels><?xml version='1.0' encoding='UTF-8' standalone='yes'?>
<Relationships xmlns="http://schemas.openxmlformats.org/package/2006/relationships"><Relationship Id="rId1" Type="http://schemas.openxmlformats.org/officeDocument/2006/relationships/package" Target="../embeddings/Microsoft_Excel_Sheet3.xlsx"/></Relationships>
</file>

<file path=ppt/charts/_rels/chart8.xml.rels><?xml version='1.0' encoding='UTF-8' standalone='yes'?>
<Relationships xmlns="http://schemas.openxmlformats.org/package/2006/relationships"><Relationship Id="rId1" Type="http://schemas.openxmlformats.org/officeDocument/2006/relationships/package" Target="../embeddings/Microsoft_Excel_Sheet4.xlsx"/></Relationships>
</file>

<file path=ppt/charts/_rels/chart9.xml.rels><?xml version='1.0' encoding='UTF-8' standalone='yes'?>
<Relationships xmlns="http://schemas.openxmlformats.org/package/2006/relationships"><Relationship Id="rId1" Type="http://schemas.openxmlformats.org/officeDocument/2006/relationships/package" Target="../embeddings/Microsoft_Excel_Sheet5.xlsx"/></Relationships>
</file>

<file path=ppt/charts/_rels/chart10.xml.rels><?xml version='1.0' encoding='UTF-8' standalone='yes'?>
<Relationships xmlns="http://schemas.openxmlformats.org/package/2006/relationships"><Relationship Id="rId1" Type="http://schemas.openxmlformats.org/officeDocument/2006/relationships/package" Target="../embeddings/Microsoft_Excel_Sheet6.xlsx"/></Relationships>
</file>

<file path=ppt/charts/_rels/chart11.xml.rels><?xml version='1.0' encoding='UTF-8' standalone='yes'?>
<Relationships xmlns="http://schemas.openxmlformats.org/package/2006/relationships"><Relationship Id="rId1" Type="http://schemas.openxmlformats.org/officeDocument/2006/relationships/package" Target="../embeddings/Microsoft_Excel_Sheet7.xlsx"/></Relationships>
</file>

<file path=ppt/charts/_rels/chart12.xml.rels><?xml version='1.0' encoding='UTF-8' standalone='yes'?>
<Relationships xmlns="http://schemas.openxmlformats.org/package/2006/relationships"><Relationship Id="rId1" Type="http://schemas.openxmlformats.org/officeDocument/2006/relationships/package" Target="../embeddings/Microsoft_Excel_Sheet8.xlsx"/></Relationships>
</file>

<file path=ppt/charts/_rels/chart13.xml.rels><?xml version='1.0' encoding='UTF-8' standalone='yes'?>
<Relationships xmlns="http://schemas.openxmlformats.org/package/2006/relationships"><Relationship Id="rId1" Type="http://schemas.openxmlformats.org/officeDocument/2006/relationships/package" Target="../embeddings/Microsoft_Excel_Sheet9.xlsx"/></Relationships>
</file>

<file path=ppt/charts/_rels/chart14.xml.rels><?xml version='1.0' encoding='UTF-8' standalone='yes'?>
<Relationships xmlns="http://schemas.openxmlformats.org/package/2006/relationships"><Relationship Id="rId1" Type="http://schemas.openxmlformats.org/officeDocument/2006/relationships/package" Target="../embeddings/Microsoft_Excel_Sheet10.xlsx"/></Relationships>
</file>

<file path=ppt/charts/_rels/chart15.xml.rels><?xml version='1.0' encoding='UTF-8' standalone='yes'?>
<Relationships xmlns="http://schemas.openxmlformats.org/package/2006/relationships"><Relationship Id="rId1" Type="http://schemas.openxmlformats.org/officeDocument/2006/relationships/package" Target="../embeddings/Microsoft_Excel_Sheet11.xlsx"/></Relationships>
</file>

<file path=ppt/charts/_rels/chart16.xml.rels><?xml version='1.0' encoding='UTF-8' standalone='yes'?>
<Relationships xmlns="http://schemas.openxmlformats.org/package/2006/relationships"><Relationship Id="rId1" Type="http://schemas.openxmlformats.org/officeDocument/2006/relationships/package" Target="../embeddings/Microsoft_Excel_Sheet12.xlsx"/></Relationships>
</file>

<file path=ppt/charts/_rels/chart17.xml.rels><?xml version='1.0' encoding='UTF-8' standalone='yes'?>
<Relationships xmlns="http://schemas.openxmlformats.org/package/2006/relationships"><Relationship Id="rId1" Type="http://schemas.microsoft.com/office/2011/relationships/chartStyle" Target="style11.xml"/><Relationship Id="rId2" Type="http://schemas.microsoft.com/office/2011/relationships/chartColorStyle" Target="colors11.xml"/><Relationship Id="rId3" Type="http://schemas.openxmlformats.org/officeDocument/2006/relationships/package" Target="../embeddings/Microsoft_Excel_Worksheet16.xlsx"/></Relationships>
</file>

<file path=ppt/charts/_rels/chart18.xml.rels><?xml version='1.0' encoding='UTF-8' standalone='yes'?>
<Relationships xmlns="http://schemas.openxmlformats.org/package/2006/relationships"><Relationship Id="rId1" Type="http://schemas.microsoft.com/office/2011/relationships/chartStyle" Target="style12.xml"/><Relationship Id="rId2" Type="http://schemas.microsoft.com/office/2011/relationships/chartColorStyle" Target="colors12.xml"/><Relationship Id="rId3" Type="http://schemas.openxmlformats.org/officeDocument/2006/relationships/package" Target="../embeddings/Microsoft_Excel_Worksheet17.xlsx"/></Relationships>
</file>

<file path=ppt/charts/_rels/chart19.xml.rels><?xml version='1.0' encoding='UTF-8' standalone='yes'?>
<Relationships xmlns="http://schemas.openxmlformats.org/package/2006/relationships"><Relationship Id="rId1" Type="http://schemas.microsoft.com/office/2011/relationships/chartStyle" Target="style13.xml"/><Relationship Id="rId2" Type="http://schemas.microsoft.com/office/2011/relationships/chartColorStyle" Target="colors13.xml"/><Relationship Id="rId3" Type="http://schemas.openxmlformats.org/officeDocument/2006/relationships/package" Target="../embeddings/Microsoft_Excel_Worksheet18.xlsx"/></Relationships>
</file>

<file path=ppt/charts/_rels/chart20.xml.rels><?xml version='1.0' encoding='UTF-8' standalone='yes'?>
<Relationships xmlns="http://schemas.openxmlformats.org/package/2006/relationships"><Relationship Id="rId1" Type="http://schemas.microsoft.com/office/2011/relationships/chartStyle" Target="style14.xml"/><Relationship Id="rId2" Type="http://schemas.microsoft.com/office/2011/relationships/chartColorStyle" Target="colors14.xml"/><Relationship Id="rId3" Type="http://schemas.openxmlformats.org/officeDocument/2006/relationships/package" Target="../embeddings/Microsoft_Excel_Worksheet19.xlsx"/></Relationships>
</file>

<file path=ppt/charts/_rels/chart21.xml.rels><?xml version='1.0' encoding='UTF-8' standalone='yes'?>
<Relationships xmlns="http://schemas.openxmlformats.org/package/2006/relationships"><Relationship Id="rId1" Type="http://schemas.openxmlformats.org/officeDocument/2006/relationships/package" Target="../embeddings/Microsoft_Excel_Sheet17.xlsx"/></Relationships>
</file>

<file path=ppt/charts/_rels/chart22.xml.rels><?xml version='1.0' encoding='UTF-8' standalone='yes'?>
<Relationships xmlns="http://schemas.openxmlformats.org/package/2006/relationships"><Relationship Id="rId1" Type="http://schemas.openxmlformats.org/officeDocument/2006/relationships/package" Target="../embeddings/Microsoft_Excel_Sheet18.xlsx"/></Relationships>
</file>

<file path=ppt/charts/_rels/chart23.xml.rels><?xml version='1.0' encoding='UTF-8' standalone='yes'?>
<Relationships xmlns="http://schemas.openxmlformats.org/package/2006/relationships"><Relationship Id="rId1" Type="http://schemas.openxmlformats.org/officeDocument/2006/relationships/package" Target="../embeddings/Microsoft_Excel_Sheet19.xlsx"/></Relationships>
</file>

<file path=ppt/charts/_rels/chart24.xml.rels><?xml version='1.0' encoding='UTF-8' standalone='yes'?>
<Relationships xmlns="http://schemas.openxmlformats.org/package/2006/relationships"><Relationship Id="rId1" Type="http://schemas.openxmlformats.org/officeDocument/2006/relationships/package" Target="../embeddings/Microsoft_Excel_Sheet20.xlsx"/></Relationships>
</file>

<file path=ppt/charts/_rels/chart25.xml.rels><?xml version='1.0' encoding='UTF-8' standalone='yes'?>
<Relationships xmlns="http://schemas.openxmlformats.org/package/2006/relationships"><Relationship Id="rId1" Type="http://schemas.openxmlformats.org/officeDocument/2006/relationships/package" Target="../embeddings/Microsoft_Excel_Sheet21.xlsx"/></Relationships>
</file>

<file path=ppt/charts/_rels/chart26.xml.rels><?xml version='1.0' encoding='UTF-8' standalone='yes'?>
<Relationships xmlns="http://schemas.openxmlformats.org/package/2006/relationships"><Relationship Id="rId1" Type="http://schemas.openxmlformats.org/officeDocument/2006/relationships/package" Target="../embeddings/Microsoft_Excel_Sheet22.xlsx"/></Relationships>
</file>

<file path=ppt/charts/_rels/chart27.xml.rels><?xml version='1.0' encoding='UTF-8' standalone='yes'?>
<Relationships xmlns="http://schemas.openxmlformats.org/package/2006/relationships"><Relationship Id="rId1" Type="http://schemas.openxmlformats.org/officeDocument/2006/relationships/package" Target="../embeddings/Microsoft_Excel_Sheet23.xlsx"/></Relationships>
</file>

<file path=ppt/charts/_rels/chart28.xml.rels><?xml version='1.0' encoding='UTF-8' standalone='yes'?>
<Relationships xmlns="http://schemas.openxmlformats.org/package/2006/relationships"><Relationship Id="rId1" Type="http://schemas.openxmlformats.org/officeDocument/2006/relationships/package" Target="../embeddings/Microsoft_Excel_Sheet24.xlsx"/></Relationships>
</file>

<file path=ppt/charts/_rels/chart29.xml.rels><?xml version='1.0' encoding='UTF-8' standalone='yes'?>
<Relationships xmlns="http://schemas.openxmlformats.org/package/2006/relationships"><Relationship Id="rId1" Type="http://schemas.openxmlformats.org/officeDocument/2006/relationships/package" Target="../embeddings/Microsoft_Excel_Sheet25.xlsx"/></Relationships>
</file>

<file path=ppt/charts/_rels/chart30.xml.rels><?xml version='1.0' encoding='UTF-8' standalone='yes'?>
<Relationships xmlns="http://schemas.openxmlformats.org/package/2006/relationships"><Relationship Id="rId1" Type="http://schemas.openxmlformats.org/officeDocument/2006/relationships/package" Target="../embeddings/Microsoft_Excel_Sheet26.xlsx"/></Relationships>
</file>

<file path=ppt/charts/_rels/chart31.xml.rels><?xml version='1.0' encoding='UTF-8' standalone='yes'?>
<Relationships xmlns="http://schemas.openxmlformats.org/package/2006/relationships"><Relationship Id="rId1" Type="http://schemas.openxmlformats.org/officeDocument/2006/relationships/package" Target="../embeddings/Microsoft_Excel_Sheet27.xlsx"/></Relationships>
</file>

<file path=ppt/charts/_rels/chart32.xml.rels><?xml version='1.0' encoding='UTF-8' standalone='yes'?>
<Relationships xmlns="http://schemas.openxmlformats.org/package/2006/relationships"><Relationship Id="rId1" Type="http://schemas.openxmlformats.org/officeDocument/2006/relationships/package" Target="../embeddings/Microsoft_Excel_Sheet28.xlsx"/></Relationships>
</file>

<file path=ppt/charts/_rels/chart33.xml.rels><?xml version='1.0' encoding='UTF-8' standalone='yes'?>
<Relationships xmlns="http://schemas.openxmlformats.org/package/2006/relationships"><Relationship Id="rId1" Type="http://schemas.openxmlformats.org/officeDocument/2006/relationships/package" Target="../embeddings/Microsoft_Excel_Sheet29.xlsx"/></Relationships>
</file>

<file path=ppt/charts/_rels/chart34.xml.rels><?xml version='1.0' encoding='UTF-8' standalone='yes'?>
<Relationships xmlns="http://schemas.openxmlformats.org/package/2006/relationships"><Relationship Id="rId1" Type="http://schemas.openxmlformats.org/officeDocument/2006/relationships/package" Target="../embeddings/Microsoft_Excel_Sheet30.xlsx"/></Relationships>
</file>

<file path=ppt/charts/_rels/chart35.xml.rels><?xml version='1.0' encoding='UTF-8' standalone='yes'?>
<Relationships xmlns="http://schemas.openxmlformats.org/package/2006/relationships"><Relationship Id="rId1" Type="http://schemas.openxmlformats.org/officeDocument/2006/relationships/package" Target="../embeddings/Microsoft_Excel_Sheet31.xlsx"/></Relationships>
</file>

<file path=ppt/charts/_rels/chart36.xml.rels><?xml version='1.0' encoding='UTF-8' standalone='yes'?>
<Relationships xmlns="http://schemas.openxmlformats.org/package/2006/relationships"><Relationship Id="rId1" Type="http://schemas.openxmlformats.org/officeDocument/2006/relationships/package" Target="../embeddings/Microsoft_Excel_Sheet32.xlsx"/></Relationships>
</file>

<file path=ppt/charts/_rels/chart37.xml.rels><?xml version='1.0' encoding='UTF-8' standalone='yes'?>
<Relationships xmlns="http://schemas.openxmlformats.org/package/2006/relationships"><Relationship Id="rId1" Type="http://schemas.openxmlformats.org/officeDocument/2006/relationships/package" Target="../embeddings/Microsoft_Excel_Sheet33.xlsx"/></Relationships>
</file>

<file path=ppt/charts/_rels/chart38.xml.rels><?xml version='1.0' encoding='UTF-8' standalone='yes'?>
<Relationships xmlns="http://schemas.openxmlformats.org/package/2006/relationships"><Relationship Id="rId1" Type="http://schemas.openxmlformats.org/officeDocument/2006/relationships/package" Target="../embeddings/Microsoft_Excel_Sheet34.xlsx"/></Relationships>
</file>

<file path=ppt/charts/_rels/chart39.xml.rels><?xml version='1.0' encoding='UTF-8' standalone='yes'?>
<Relationships xmlns="http://schemas.openxmlformats.org/package/2006/relationships"><Relationship Id="rId1" Type="http://schemas.openxmlformats.org/officeDocument/2006/relationships/package" Target="../embeddings/Microsoft_Excel_Sheet35.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ser>
          <c:idx val="0"/>
          <c:order val="0"/>
          <c:tx>
            <c:strRef>
              <c:f>Sheet1!$B$1</c:f>
              <c:strCache>
                <c:ptCount val="1"/>
                <c:pt idx="0">
                  <c:v>Pharmacie</c:v>
                </c:pt>
              </c:strCache>
            </c:strRef>
          </c:tx>
          <c:spPr>
            <a:solidFill>
              <a:srgbClr val="112A40"/>
            </a:solidFill>
          </c:spPr>
          <c:cat>
            <c:strRef>
              <c:f>Sheet1!$A$2:$A$8</c:f>
              <c:strCache>
                <c:ptCount val="7"/>
                <c:pt idx="0">
                  <c:v>2020</c:v>
                </c:pt>
                <c:pt idx="1">
                  <c:v>2021</c:v>
                </c:pt>
                <c:pt idx="2">
                  <c:v>2022</c:v>
                </c:pt>
                <c:pt idx="3">
                  <c:v>2023</c:v>
                </c:pt>
                <c:pt idx="4">
                  <c:v>2024</c:v>
                </c:pt>
                <c:pt idx="5">
                  <c:v>2025</c:v>
                </c:pt>
                <c:pt idx="6">
                  <c:v>2026 (8 mois)</c:v>
                </c:pt>
              </c:strCache>
            </c:strRef>
          </c:cat>
          <c:val>
            <c:numRef>
              <c:f>Sheet1!$B$2:$B$8</c:f>
              <c:numCache>
                <c:formatCode># ##0,,</c:formatCode>
                <c:ptCount val="7"/>
                <c:pt idx="0">
                  <c:v>26107586</c:v>
                </c:pt>
                <c:pt idx="1">
                  <c:v>25313112</c:v>
                </c:pt>
                <c:pt idx="2">
                  <c:v>13055215</c:v>
                </c:pt>
                <c:pt idx="3">
                  <c:v>22869440</c:v>
                </c:pt>
                <c:pt idx="4">
                  <c:v>32549138</c:v>
                </c:pt>
                <c:pt idx="5">
                  <c:v>38076031</c:v>
                </c:pt>
                <c:pt idx="6">
                  <c:v>85750869</c:v>
                </c:pt>
              </c:numCache>
            </c:numRef>
          </c:val>
        </c:ser>
        <c:ser>
          <c:idx val="1"/>
          <c:order val="1"/>
          <c:tx>
            <c:strRef>
              <c:f>Sheet1!$C$1</c:f>
              <c:strCache>
                <c:ptCount val="1"/>
                <c:pt idx="0">
                  <c:v>Consultations</c:v>
                </c:pt>
              </c:strCache>
            </c:strRef>
          </c:tx>
          <c:spPr>
            <a:solidFill>
              <a:srgbClr val="EFAC62"/>
            </a:solidFill>
          </c:spPr>
          <c:cat>
            <c:strRef>
              <c:f>Sheet1!$A$2:$A$8</c:f>
              <c:strCache>
                <c:ptCount val="7"/>
                <c:pt idx="0">
                  <c:v>2020</c:v>
                </c:pt>
                <c:pt idx="1">
                  <c:v>2021</c:v>
                </c:pt>
                <c:pt idx="2">
                  <c:v>2022</c:v>
                </c:pt>
                <c:pt idx="3">
                  <c:v>2023</c:v>
                </c:pt>
                <c:pt idx="4">
                  <c:v>2024</c:v>
                </c:pt>
                <c:pt idx="5">
                  <c:v>2025</c:v>
                </c:pt>
                <c:pt idx="6">
                  <c:v>2026 (8 mois)</c:v>
                </c:pt>
              </c:strCache>
            </c:strRef>
          </c:cat>
          <c:val>
            <c:numRef>
              <c:f>Sheet1!$C$2:$C$8</c:f>
              <c:numCache>
                <c:formatCode># ##0,,</c:formatCode>
                <c:ptCount val="7"/>
                <c:pt idx="0">
                  <c:v>9838300</c:v>
                </c:pt>
                <c:pt idx="1">
                  <c:v>9569200</c:v>
                </c:pt>
                <c:pt idx="2">
                  <c:v>4288328</c:v>
                </c:pt>
                <c:pt idx="3">
                  <c:v>53402204</c:v>
                </c:pt>
                <c:pt idx="4">
                  <c:v>154053302</c:v>
                </c:pt>
                <c:pt idx="5">
                  <c:v>173759919</c:v>
                </c:pt>
                <c:pt idx="6">
                  <c:v>223956736</c:v>
                </c:pt>
              </c:numCache>
            </c:numRef>
          </c:val>
        </c:ser>
        <c:ser>
          <c:idx val="2"/>
          <c:order val="2"/>
          <c:tx>
            <c:strRef>
              <c:f>Sheet1!$D$1</c:f>
              <c:strCache>
                <c:ptCount val="1"/>
                <c:pt idx="0">
                  <c:v>Hospitalisations</c:v>
                </c:pt>
              </c:strCache>
            </c:strRef>
          </c:tx>
          <c:spPr>
            <a:solidFill>
              <a:srgbClr val="BBBCBC"/>
            </a:solidFill>
          </c:spPr>
          <c:cat>
            <c:strRef>
              <c:f>Sheet1!$A$2:$A$8</c:f>
              <c:strCache>
                <c:ptCount val="7"/>
                <c:pt idx="0">
                  <c:v>2020</c:v>
                </c:pt>
                <c:pt idx="1">
                  <c:v>2021</c:v>
                </c:pt>
                <c:pt idx="2">
                  <c:v>2022</c:v>
                </c:pt>
                <c:pt idx="3">
                  <c:v>2023</c:v>
                </c:pt>
                <c:pt idx="4">
                  <c:v>2024</c:v>
                </c:pt>
                <c:pt idx="5">
                  <c:v>2025</c:v>
                </c:pt>
                <c:pt idx="6">
                  <c:v>2026 (8 mois)</c:v>
                </c:pt>
              </c:strCache>
            </c:strRef>
          </c:cat>
          <c:val>
            <c:numRef>
              <c:f>Sheet1!$D$2:$D$8</c:f>
              <c:numCache>
                <c:formatCode># ##0,,</c:formatCode>
                <c:ptCount val="7"/>
                <c:pt idx="0">
                  <c:v>11748500</c:v>
                </c:pt>
                <c:pt idx="1">
                  <c:v>12702282</c:v>
                </c:pt>
                <c:pt idx="2">
                  <c:v>6383100</c:v>
                </c:pt>
                <c:pt idx="3">
                  <c:v>32598428</c:v>
                </c:pt>
                <c:pt idx="4">
                  <c:v>10815234</c:v>
                </c:pt>
                <c:pt idx="5">
                  <c:v>23247618</c:v>
                </c:pt>
                <c:pt idx="6">
                  <c:v>36938840</c:v>
                </c:pt>
              </c:numCache>
            </c:numRef>
          </c:val>
        </c:ser>
        <c:ser>
          <c:idx val="3"/>
          <c:order val="3"/>
          <c:tx>
            <c:strRef>
              <c:f>Sheet1!$E$1</c:f>
              <c:strCache>
                <c:ptCount val="1"/>
                <c:pt idx="0">
                  <c:v>Analyses médicales</c:v>
                </c:pt>
              </c:strCache>
            </c:strRef>
          </c:tx>
          <c:spPr>
            <a:solidFill>
              <a:srgbClr val="060606"/>
            </a:solidFill>
          </c:spPr>
          <c:cat>
            <c:strRef>
              <c:f>Sheet1!$A$2:$A$8</c:f>
              <c:strCache>
                <c:ptCount val="7"/>
                <c:pt idx="0">
                  <c:v>2020</c:v>
                </c:pt>
                <c:pt idx="1">
                  <c:v>2021</c:v>
                </c:pt>
                <c:pt idx="2">
                  <c:v>2022</c:v>
                </c:pt>
                <c:pt idx="3">
                  <c:v>2023</c:v>
                </c:pt>
                <c:pt idx="4">
                  <c:v>2024</c:v>
                </c:pt>
                <c:pt idx="5">
                  <c:v>2025</c:v>
                </c:pt>
                <c:pt idx="6">
                  <c:v>2026 (8 mois)</c:v>
                </c:pt>
              </c:strCache>
            </c:strRef>
          </c:cat>
          <c:val>
            <c:numRef>
              <c:f>Sheet1!$E$2:$E$8</c:f>
              <c:numCache>
                <c:formatCode># ##0,,</c:formatCode>
                <c:ptCount val="7"/>
                <c:pt idx="0">
                  <c:v>23155760</c:v>
                </c:pt>
                <c:pt idx="1">
                  <c:v>15394010</c:v>
                </c:pt>
                <c:pt idx="2">
                  <c:v>10313251</c:v>
                </c:pt>
                <c:pt idx="3">
                  <c:v>73194458</c:v>
                </c:pt>
                <c:pt idx="4">
                  <c:v>142781059</c:v>
                </c:pt>
                <c:pt idx="5">
                  <c:v>234266144</c:v>
                </c:pt>
                <c:pt idx="6">
                  <c:v>214752158</c:v>
                </c:pt>
              </c:numCache>
            </c:numRef>
          </c:val>
        </c:ser>
        <c:ser>
          <c:idx val="4"/>
          <c:order val="4"/>
          <c:tx>
            <c:strRef>
              <c:f>Sheet1!$F$1</c:f>
              <c:strCache>
                <c:ptCount val="1"/>
                <c:pt idx="0">
                  <c:v>Radio et imagerie</c:v>
                </c:pt>
              </c:strCache>
            </c:strRef>
          </c:tx>
          <c:spPr>
            <a:solidFill>
              <a:srgbClr val="53565A"/>
            </a:solidFill>
          </c:spPr>
          <c:cat>
            <c:strRef>
              <c:f>Sheet1!$A$2:$A$8</c:f>
              <c:strCache>
                <c:ptCount val="7"/>
                <c:pt idx="0">
                  <c:v>2020</c:v>
                </c:pt>
                <c:pt idx="1">
                  <c:v>2021</c:v>
                </c:pt>
                <c:pt idx="2">
                  <c:v>2022</c:v>
                </c:pt>
                <c:pt idx="3">
                  <c:v>2023</c:v>
                </c:pt>
                <c:pt idx="4">
                  <c:v>2024</c:v>
                </c:pt>
                <c:pt idx="5">
                  <c:v>2025</c:v>
                </c:pt>
                <c:pt idx="6">
                  <c:v>2026 (8 mois)</c:v>
                </c:pt>
              </c:strCache>
            </c:strRef>
          </c:cat>
          <c:val>
            <c:numRef>
              <c:f>Sheet1!$F$2:$F$8</c:f>
              <c:numCache>
                <c:formatCode># ##0,,</c:formatCode>
                <c:ptCount val="7"/>
                <c:pt idx="0">
                  <c:v>11304893</c:v>
                </c:pt>
                <c:pt idx="1">
                  <c:v>6463050</c:v>
                </c:pt>
                <c:pt idx="2">
                  <c:v>15365475</c:v>
                </c:pt>
                <c:pt idx="3">
                  <c:v>65166228</c:v>
                </c:pt>
                <c:pt idx="4">
                  <c:v>147686479</c:v>
                </c:pt>
                <c:pt idx="5">
                  <c:v>249812169</c:v>
                </c:pt>
                <c:pt idx="6">
                  <c:v>391563218</c:v>
                </c:pt>
              </c:numCache>
            </c:numRef>
          </c:val>
        </c:ser>
        <c:ser>
          <c:idx val="5"/>
          <c:order val="5"/>
          <c:tx>
            <c:strRef>
              <c:f>Sheet1!$G$1</c:f>
              <c:strCache>
                <c:ptCount val="1"/>
                <c:pt idx="0">
                  <c:v>Autres prestations maladie</c:v>
                </c:pt>
              </c:strCache>
            </c:strRef>
          </c:tx>
          <c:spPr>
            <a:solidFill>
              <a:srgbClr val="F6D3A8"/>
            </a:solidFill>
          </c:spPr>
          <c:cat>
            <c:strRef>
              <c:f>Sheet1!$A$2:$A$8</c:f>
              <c:strCache>
                <c:ptCount val="7"/>
                <c:pt idx="0">
                  <c:v>2020</c:v>
                </c:pt>
                <c:pt idx="1">
                  <c:v>2021</c:v>
                </c:pt>
                <c:pt idx="2">
                  <c:v>2022</c:v>
                </c:pt>
                <c:pt idx="3">
                  <c:v>2023</c:v>
                </c:pt>
                <c:pt idx="4">
                  <c:v>2024</c:v>
                </c:pt>
                <c:pt idx="5">
                  <c:v>2025</c:v>
                </c:pt>
                <c:pt idx="6">
                  <c:v>2026 (8 mois)</c:v>
                </c:pt>
              </c:strCache>
            </c:strRef>
          </c:cat>
          <c:val>
            <c:numRef>
              <c:f>Sheet1!$G$2:$G$8</c:f>
              <c:numCache>
                <c:formatCode># ##0,,</c:formatCode>
                <c:ptCount val="7"/>
                <c:pt idx="0">
                  <c:v>110679822</c:v>
                </c:pt>
                <c:pt idx="1">
                  <c:v>23379217</c:v>
                </c:pt>
                <c:pt idx="2">
                  <c:v>50185972</c:v>
                </c:pt>
                <c:pt idx="3">
                  <c:v>241125951</c:v>
                </c:pt>
                <c:pt idx="4">
                  <c:v>508863835</c:v>
                </c:pt>
                <c:pt idx="5">
                  <c:v>995311355</c:v>
                </c:pt>
                <c:pt idx="6">
                  <c:v>584656222</c:v>
                </c:pt>
              </c:numCache>
            </c:numRef>
          </c:val>
        </c:ser>
        <c:ser>
          <c:idx val="6"/>
          <c:order val="6"/>
          <c:tx>
            <c:strRef>
              <c:f>Sheet1!$H$1</c:f>
              <c:strCache>
                <c:ptCount val="1"/>
                <c:pt idx="0">
                  <c:v>Autres (transport, rééducation, bons)</c:v>
                </c:pt>
              </c:strCache>
            </c:strRef>
          </c:tx>
          <c:spPr>
            <a:solidFill>
              <a:srgbClr val="5B7A99"/>
            </a:solidFill>
          </c:spPr>
          <c:cat>
            <c:strRef>
              <c:f>Sheet1!$A$2:$A$8</c:f>
              <c:strCache>
                <c:ptCount val="7"/>
                <c:pt idx="0">
                  <c:v>2020</c:v>
                </c:pt>
                <c:pt idx="1">
                  <c:v>2021</c:v>
                </c:pt>
                <c:pt idx="2">
                  <c:v>2022</c:v>
                </c:pt>
                <c:pt idx="3">
                  <c:v>2023</c:v>
                </c:pt>
                <c:pt idx="4">
                  <c:v>2024</c:v>
                </c:pt>
                <c:pt idx="5">
                  <c:v>2025</c:v>
                </c:pt>
                <c:pt idx="6">
                  <c:v>2026 (8 mois)</c:v>
                </c:pt>
              </c:strCache>
            </c:strRef>
          </c:cat>
          <c:val>
            <c:numRef>
              <c:f>Sheet1!$H$2:$H$8</c:f>
              <c:numCache>
                <c:formatCode># ##0,,</c:formatCode>
                <c:ptCount val="7"/>
                <c:pt idx="0">
                  <c:v>12977195</c:v>
                </c:pt>
                <c:pt idx="1">
                  <c:v>8632300</c:v>
                </c:pt>
                <c:pt idx="2">
                  <c:v>15646432</c:v>
                </c:pt>
                <c:pt idx="3">
                  <c:v>32647653</c:v>
                </c:pt>
                <c:pt idx="4">
                  <c:v>63670580</c:v>
                </c:pt>
                <c:pt idx="5">
                  <c:v>57162125</c:v>
                </c:pt>
                <c:pt idx="6">
                  <c:v>108421074</c:v>
                </c:pt>
              </c:numCache>
            </c:numRef>
          </c:val>
        </c:ser>
        <c:gapWidth val="60"/>
        <c:overlap val="100"/>
        <c:axId val="-2068027336"/>
        <c:axId val="-2113994440"/>
      </c:barChart>
      <c:catAx>
        <c:axId val="-2068027336"/>
        <c:scaling>
          <c:orientation val="minMax"/>
        </c:scaling>
        <c:delete val="0"/>
        <c:axPos val="b"/>
        <c:majorTickMark val="out"/>
        <c:minorTickMark val="none"/>
        <c:tickLblPos val="nextTo"/>
        <c:spPr>
          <a:ln>
            <a:solidFill>
              <a:srgbClr val="BBBCBC"/>
            </a:solidFill>
          </a:ln>
        </c:spPr>
        <c:txPr>
          <a:bodyPr/>
          <a:lstStyle/>
          <a:p>
            <a:pPr>
              <a:defRPr sz="1000"/>
            </a:pPr>
          </a:p>
        </c:txPr>
        <c:crossAx val="-2113994440"/>
        <c:crosses val="autoZero"/>
        <c:auto val="1"/>
        <c:lblAlgn val="ctr"/>
        <c:lblOffset val="100"/>
        <c:noMultiLvlLbl val="0"/>
      </c:catAx>
      <c:valAx>
        <c:axId val="-2113994440"/>
        <c:scaling/>
        <c:delete val="0"/>
        <c:axPos val="l"/>
        <c:numFmt formatCode="# ##0,," sourceLinked="0"/>
        <c:majorTickMark val="out"/>
        <c:minorTickMark val="none"/>
        <c:tickLblPos val="nextTo"/>
        <c:spPr>
          <a:ln>
            <a:noFill/>
          </a:ln>
        </c:spPr>
        <c:txPr>
          <a:bodyPr/>
          <a:lstStyle/>
          <a:p>
            <a:pPr>
              <a:defRPr sz="1000"/>
            </a:pPr>
          </a:p>
        </c:txPr>
        <c:crossAx val="-2068027336"/>
        <c:crosses val="autoZero"/>
      </c:valAx>
    </c:plotArea>
    <c:legend>
      <c:legendPos/>
      <c:overlay val="0"/>
      <c:txPr>
        <a:bodyPr/>
        <a:lstStyle/>
        <a:p>
          <a:pPr>
            <a:defRPr sz="1000"/>
          </a:pPr>
        </a:p>
      </c:txPr>
    </c:legend>
    <c:dispBlanksAs val="gap"/>
  </c:chart>
  <c:txPr>
    <a:bodyPr/>
    <a:lstStyle/>
    <a:p>
      <a:pPr>
        <a:defRPr sz="1000">
          <a:latin typeface="Helvetica"/>
        </a:defRPr>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chart>
    <c:autoTitleDeleted val="1"/>
    <c:plotArea>
      <c:lineChart>
        <c:grouping val="standard"/>
        <c:varyColors val="0"/>
        <c:ser>
          <c:idx val="0"/>
          <c:order val="0"/>
          <c:tx>
            <c:strRef>
              <c:f>Sheet1!$B$1</c:f>
              <c:strCache>
                <c:ptCount val="1"/>
                <c:pt idx="0">
                  <c:v>Maladie</c:v>
                </c:pt>
              </c:strCache>
            </c:strRef>
          </c:tx>
          <c:spPr>
            <a:ln w="28575">
              <a:solidFill>
                <a:srgbClr val="112A40"/>
              </a:solidFill>
            </a:ln>
          </c:spPr>
          <c:marker>
            <c:spPr>
              <a:solidFill>
                <a:srgbClr val="112A40"/>
              </a:solidFill>
              <a:ln>
                <a:solidFill>
                  <a:srgbClr val="112A40"/>
                </a:solidFill>
              </a:ln>
            </c:spPr>
          </c:marker>
          <c:cat>
            <c:strRef>
              <c:f>Sheet1!$A$2:$A$8</c:f>
              <c:strCache>
                <c:ptCount val="7"/>
                <c:pt idx="0">
                  <c:v>2020</c:v>
                </c:pt>
                <c:pt idx="1">
                  <c:v>2021</c:v>
                </c:pt>
                <c:pt idx="2">
                  <c:v>2022</c:v>
                </c:pt>
                <c:pt idx="3">
                  <c:v>2023</c:v>
                </c:pt>
                <c:pt idx="4">
                  <c:v>2024</c:v>
                </c:pt>
                <c:pt idx="5">
                  <c:v>2025</c:v>
                </c:pt>
                <c:pt idx="6">
                  <c:v>2026 (8 mois)</c:v>
                </c:pt>
              </c:strCache>
            </c:strRef>
          </c:cat>
          <c:val>
            <c:numRef>
              <c:f>Sheet1!$B$2:$B$8</c:f>
              <c:numCache>
                <c:formatCode>0.00</c:formatCode>
                <c:ptCount val="7"/>
                <c:pt idx="0">
                  <c:v>12.54</c:v>
                </c:pt>
                <c:pt idx="1">
                  <c:v>6.0</c:v>
                </c:pt>
                <c:pt idx="2">
                  <c:v>6.47</c:v>
                </c:pt>
                <c:pt idx="3">
                  <c:v>26.91</c:v>
                </c:pt>
                <c:pt idx="4">
                  <c:v>48.13</c:v>
                </c:pt>
                <c:pt idx="5">
                  <c:v>73.53</c:v>
                </c:pt>
                <c:pt idx="6">
                  <c:v>97.4</c:v>
                </c:pt>
              </c:numCache>
            </c:numRef>
          </c:val>
          <c:smooth val="0"/>
        </c:ser>
        <c:ser>
          <c:idx val="1"/>
          <c:order val="1"/>
          <c:tx>
            <c:strRef>
              <c:f>Sheet1!$C$1</c:f>
              <c:strCache>
                <c:ptCount val="1"/>
                <c:pt idx="0">
                  <c:v>Décès (prime d'assurance incluse en 2020)</c:v>
                </c:pt>
              </c:strCache>
            </c:strRef>
          </c:tx>
          <c:spPr>
            <a:ln w="28575">
              <a:solidFill>
                <a:srgbClr val="EFAC62"/>
              </a:solidFill>
            </a:ln>
          </c:spPr>
          <c:marker>
            <c:spPr>
              <a:solidFill>
                <a:srgbClr val="EFAC62"/>
              </a:solidFill>
              <a:ln>
                <a:solidFill>
                  <a:srgbClr val="EFAC62"/>
                </a:solidFill>
              </a:ln>
            </c:spPr>
          </c:marker>
          <c:cat>
            <c:strRef>
              <c:f>Sheet1!$A$2:$A$8</c:f>
              <c:strCache>
                <c:ptCount val="7"/>
                <c:pt idx="0">
                  <c:v>2020</c:v>
                </c:pt>
                <c:pt idx="1">
                  <c:v>2021</c:v>
                </c:pt>
                <c:pt idx="2">
                  <c:v>2022</c:v>
                </c:pt>
                <c:pt idx="3">
                  <c:v>2023</c:v>
                </c:pt>
                <c:pt idx="4">
                  <c:v>2024</c:v>
                </c:pt>
                <c:pt idx="5">
                  <c:v>2025</c:v>
                </c:pt>
                <c:pt idx="6">
                  <c:v>2026 (8 mois)</c:v>
                </c:pt>
              </c:strCache>
            </c:strRef>
          </c:cat>
          <c:val>
            <c:numRef>
              <c:f>Sheet1!$C$2:$C$8</c:f>
              <c:numCache>
                <c:formatCode>0.00</c:formatCode>
                <c:ptCount val="7"/>
                <c:pt idx="0">
                  <c:v>82.23</c:v>
                </c:pt>
                <c:pt idx="1">
                  <c:v>55.42</c:v>
                </c:pt>
                <c:pt idx="2">
                  <c:v>15.21</c:v>
                </c:pt>
                <c:pt idx="3">
                  <c:v>17.05</c:v>
                </c:pt>
                <c:pt idx="4">
                  <c:v>21.81</c:v>
                </c:pt>
                <c:pt idx="5">
                  <c:v>19.16</c:v>
                </c:pt>
                <c:pt idx="6">
                  <c:v>21.76</c:v>
                </c:pt>
              </c:numCache>
            </c:numRef>
          </c:val>
          <c:smooth val="0"/>
        </c:ser>
        <c:dLbls>
          <c:numFmt formatCode="0.00" sourceLinked="0"/>
          <c:txPr>
            <a:bodyPr/>
            <a:lstStyle/>
            <a:p>
              <a:pPr>
                <a:defRPr sz="1000"/>
              </a:pPr>
            </a:p>
          </c:txPr>
          <c:showLegendKey val="0"/>
          <c:showVal val="1"/>
          <c:showCatName val="0"/>
          <c:showSerName val="0"/>
          <c:showPercent val="0"/>
          <c:showBubbleSize val="0"/>
          <c:showLeaderLines val="1"/>
        </c:dLbls>
        <c:marker val="1"/>
        <c:smooth val="0"/>
        <c:axId val="2118791784"/>
        <c:axId val="2140495176"/>
      </c:lineChart>
      <c:catAx>
        <c:axId val="2118791784"/>
        <c:scaling>
          <c:orientation val="minMax"/>
        </c:scaling>
        <c:delete val="0"/>
        <c:axPos val="b"/>
        <c:majorTickMark val="out"/>
        <c:minorTickMark val="none"/>
        <c:tickLblPos val="nextTo"/>
        <c:spPr>
          <a:ln>
            <a:solidFill>
              <a:srgbClr val="BBBCBC"/>
            </a:solidFill>
          </a:ln>
        </c:spPr>
        <c:txPr>
          <a:bodyPr/>
          <a:lstStyle/>
          <a:p>
            <a:pPr>
              <a:defRPr sz="1000"/>
            </a:pPr>
          </a:p>
        </c:txPr>
        <c:crossAx val="2140495176"/>
        <c:crosses val="autoZero"/>
        <c:auto val="1"/>
        <c:lblAlgn val="ctr"/>
        <c:lblOffset val="100"/>
        <c:noMultiLvlLbl val="0"/>
      </c:catAx>
      <c:valAx>
        <c:axId val="2140495176"/>
        <c:scaling/>
        <c:delete/>
        <c:axPos val="l"/>
        <c:numFmt formatCode="0.00" sourceLinked="0"/>
        <c:majorTickMark val="out"/>
        <c:minorTickMark val="none"/>
        <c:tickLblPos val="nextTo"/>
        <c:spPr>
          <a:ln>
            <a:noFill/>
          </a:ln>
        </c:spPr>
        <c:txPr>
          <a:bodyPr/>
          <a:lstStyle/>
          <a:p>
            <a:pPr>
              <a:defRPr sz="1000"/>
            </a:pPr>
          </a:p>
        </c:txPr>
        <c:crossAx val="2118791784"/>
        <c:crosses val="autoZero"/>
      </c:valAx>
    </c:plotArea>
    <c:legend>
      <c:legendPos val="b"/>
      <c:layout/>
      <c:overlay val="0"/>
      <c:txPr>
        <a:bodyPr/>
        <a:lstStyle/>
        <a:p>
          <a:pPr>
            <a:defRPr sz="1000"/>
          </a:pPr>
        </a:p>
      </c:txPr>
    </c:legend>
    <c:plotVisOnly val="1"/>
    <c:dispBlanksAs val="gap"/>
    <c:showDLblsOverMax val="0"/>
  </c:chart>
  <c:txPr>
    <a:bodyPr/>
    <a:lstStyle/>
    <a:p>
      <a:pPr>
        <a:defRPr sz="1000">
          <a:latin typeface="Helvetica"/>
        </a:defRPr>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ser>
          <c:idx val="0"/>
          <c:order val="0"/>
          <c:tx>
            <c:strRef>
              <c:f>Sheet1!$B$1</c:f>
              <c:strCache>
                <c:ptCount val="1"/>
                <c:pt idx="0">
                  <c:v>Maladie</c:v>
                </c:pt>
              </c:strCache>
            </c:strRef>
          </c:tx>
          <c:spPr>
            <a:solidFill>
              <a:srgbClr val="112A40"/>
            </a:solidFill>
          </c:spPr>
          <c:cat>
            <c:strRef>
              <c:f>Sheet1!$A$2:$A$8</c:f>
              <c:strCache>
                <c:ptCount val="7"/>
                <c:pt idx="0">
                  <c:v>2020</c:v>
                </c:pt>
                <c:pt idx="1">
                  <c:v>2021</c:v>
                </c:pt>
                <c:pt idx="2">
                  <c:v>2022</c:v>
                </c:pt>
                <c:pt idx="3">
                  <c:v>2023</c:v>
                </c:pt>
                <c:pt idx="4">
                  <c:v>2024</c:v>
                </c:pt>
                <c:pt idx="5">
                  <c:v>2025</c:v>
                </c:pt>
                <c:pt idx="6">
                  <c:v>2026 (8 mois)</c:v>
                </c:pt>
              </c:strCache>
            </c:strRef>
          </c:cat>
          <c:val>
            <c:numRef>
              <c:f>Sheet1!$B$2:$B$8</c:f>
              <c:numCache>
                <c:formatCode># ##0,,</c:formatCode>
                <c:ptCount val="7"/>
                <c:pt idx="0">
                  <c:v>1641320172</c:v>
                </c:pt>
                <c:pt idx="1">
                  <c:v>1691332910</c:v>
                </c:pt>
                <c:pt idx="2">
                  <c:v>1781124043</c:v>
                </c:pt>
                <c:pt idx="3">
                  <c:v>1935844374</c:v>
                </c:pt>
                <c:pt idx="4">
                  <c:v>2203312180</c:v>
                </c:pt>
                <c:pt idx="5">
                  <c:v>2409281030</c:v>
                </c:pt>
                <c:pt idx="6">
                  <c:v>1690007290</c:v>
                </c:pt>
              </c:numCache>
            </c:numRef>
          </c:val>
        </c:ser>
        <c:ser>
          <c:idx val="1"/>
          <c:order val="1"/>
          <c:tx>
            <c:strRef>
              <c:f>Sheet1!$C$1</c:f>
              <c:strCache>
                <c:ptCount val="1"/>
                <c:pt idx="0">
                  <c:v>Décès</c:v>
                </c:pt>
              </c:strCache>
            </c:strRef>
          </c:tx>
          <c:spPr>
            <a:solidFill>
              <a:srgbClr val="EFAC62"/>
            </a:solidFill>
          </c:spPr>
          <c:cat>
            <c:strRef>
              <c:f>Sheet1!$A$2:$A$8</c:f>
              <c:strCache>
                <c:ptCount val="7"/>
                <c:pt idx="0">
                  <c:v>2020</c:v>
                </c:pt>
                <c:pt idx="1">
                  <c:v>2021</c:v>
                </c:pt>
                <c:pt idx="2">
                  <c:v>2022</c:v>
                </c:pt>
                <c:pt idx="3">
                  <c:v>2023</c:v>
                </c:pt>
                <c:pt idx="4">
                  <c:v>2024</c:v>
                </c:pt>
                <c:pt idx="5">
                  <c:v>2025</c:v>
                </c:pt>
                <c:pt idx="6">
                  <c:v>2026 (8 mois)</c:v>
                </c:pt>
              </c:strCache>
            </c:strRef>
          </c:cat>
          <c:val>
            <c:numRef>
              <c:f>Sheet1!$C$2:$C$8</c:f>
              <c:numCache>
                <c:formatCode># ##0,,</c:formatCode>
                <c:ptCount val="7"/>
                <c:pt idx="0">
                  <c:v>703298329</c:v>
                </c:pt>
                <c:pt idx="1">
                  <c:v>725124908</c:v>
                </c:pt>
                <c:pt idx="2">
                  <c:v>763338861</c:v>
                </c:pt>
                <c:pt idx="3">
                  <c:v>829647591</c:v>
                </c:pt>
                <c:pt idx="4">
                  <c:v>934555069</c:v>
                </c:pt>
                <c:pt idx="5">
                  <c:v>1008270692</c:v>
                </c:pt>
                <c:pt idx="6">
                  <c:v>702190056</c:v>
                </c:pt>
              </c:numCache>
            </c:numRef>
          </c:val>
        </c:ser>
        <c:dLbls>
          <c:numFmt formatCode="# ##0,," sourceLinked="0"/>
          <c:txPr>
            <a:bodyPr/>
            <a:lstStyle/>
            <a:p>
              <a:pPr>
                <a:defRPr sz="1000">
                  <a:solidFill>
                    <a:srgbClr val="FFFFFF"/>
                  </a:solidFill>
                </a:defRPr>
              </a:pPr>
            </a:p>
          </c:txPr>
          <c:showLegendKey val="0"/>
          <c:showVal val="1"/>
          <c:showCatName val="0"/>
          <c:showSerName val="0"/>
          <c:showPercent val="0"/>
          <c:showBubbleSize val="0"/>
          <c:showLeaderLines val="1"/>
        </c:dLbls>
        <c:gapWidth val="60"/>
        <c:overlap val="100"/>
        <c:axId val="-2068027336"/>
        <c:axId val="-2113994440"/>
      </c:barChart>
      <c:catAx>
        <c:axId val="-2068027336"/>
        <c:scaling>
          <c:orientation val="minMax"/>
        </c:scaling>
        <c:delete val="0"/>
        <c:axPos val="b"/>
        <c:majorTickMark val="out"/>
        <c:minorTickMark val="none"/>
        <c:tickLblPos val="nextTo"/>
        <c:spPr>
          <a:ln>
            <a:solidFill>
              <a:srgbClr val="BBBCBC"/>
            </a:solidFill>
          </a:ln>
        </c:spPr>
        <c:txPr>
          <a:bodyPr/>
          <a:lstStyle/>
          <a:p>
            <a:pPr>
              <a:defRPr sz="1000"/>
            </a:pPr>
          </a:p>
        </c:txPr>
        <c:crossAx val="-2113994440"/>
        <c:crosses val="autoZero"/>
        <c:auto val="1"/>
        <c:lblAlgn val="ctr"/>
        <c:lblOffset val="100"/>
        <c:noMultiLvlLbl val="0"/>
      </c:catAx>
      <c:valAx>
        <c:axId val="-2113994440"/>
        <c:scaling/>
        <c:delete/>
        <c:axPos val="l"/>
        <c:numFmt formatCode="# ##0,," sourceLinked="0"/>
        <c:majorTickMark val="out"/>
        <c:minorTickMark val="none"/>
        <c:tickLblPos val="nextTo"/>
        <c:spPr>
          <a:ln>
            <a:noFill/>
          </a:ln>
        </c:spPr>
        <c:txPr>
          <a:bodyPr/>
          <a:lstStyle/>
          <a:p>
            <a:pPr>
              <a:defRPr sz="1000"/>
            </a:pPr>
          </a:p>
        </c:txPr>
        <c:crossAx val="-2068027336"/>
        <c:crosses val="autoZero"/>
      </c:valAx>
    </c:plotArea>
    <c:legend>
      <c:legendPos val="b"/>
      <c:overlay val="0"/>
      <c:txPr>
        <a:bodyPr/>
        <a:lstStyle/>
        <a:p>
          <a:pPr>
            <a:defRPr sz="1000"/>
          </a:pPr>
        </a:p>
      </c:txPr>
    </c:legend>
    <c:dispBlanksAs val="gap"/>
  </c:chart>
  <c:txPr>
    <a:bodyPr/>
    <a:lstStyle/>
    <a:p>
      <a:pPr>
        <a:defRPr sz="1000">
          <a:latin typeface="Helvetica"/>
        </a:defRPr>
      </a:pPr>
      <a:endParaRPr lang="en-US"/>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chart>
    <c:autoTitleDeleted val="1"/>
    <c:plotArea>
      <c:lineChart>
        <c:grouping val="standard"/>
        <c:varyColors val="0"/>
        <c:ser>
          <c:idx val="0"/>
          <c:order val="0"/>
          <c:tx>
            <c:strRef>
              <c:f>Sheet1!$B$1</c:f>
              <c:strCache>
                <c:ptCount val="1"/>
                <c:pt idx="0">
                  <c:v>Nominales</c:v>
                </c:pt>
              </c:strCache>
            </c:strRef>
          </c:tx>
          <c:spPr>
            <a:ln w="28575">
              <a:solidFill>
                <a:srgbClr val="112A40"/>
              </a:solidFill>
            </a:ln>
          </c:spPr>
          <c:marker>
            <c:spPr>
              <a:solidFill>
                <a:srgbClr val="112A40"/>
              </a:solidFill>
              <a:ln>
                <a:solidFill>
                  <a:srgbClr val="112A40"/>
                </a:solidFill>
              </a:ln>
            </c:spPr>
          </c:marker>
          <c:cat>
            <c:strRef>
              <c:f>Sheet1!$A$2:$A$7</c:f>
              <c:strCache>
                <c:ptCount val="6"/>
                <c:pt idx="0">
                  <c:v>2020</c:v>
                </c:pt>
                <c:pt idx="1">
                  <c:v>2021</c:v>
                </c:pt>
                <c:pt idx="2">
                  <c:v>2022</c:v>
                </c:pt>
                <c:pt idx="3">
                  <c:v>2023</c:v>
                </c:pt>
                <c:pt idx="4">
                  <c:v>2024</c:v>
                </c:pt>
                <c:pt idx="5">
                  <c:v>2025</c:v>
                </c:pt>
              </c:strCache>
            </c:strRef>
          </c:cat>
          <c:val>
            <c:numRef>
              <c:f>Sheet1!$B$2:$B$7</c:f>
              <c:numCache>
                <c:formatCode># ##0,,</c:formatCode>
                <c:ptCount val="6"/>
                <c:pt idx="0">
                  <c:v>2344618501</c:v>
                </c:pt>
                <c:pt idx="1">
                  <c:v>2416457818</c:v>
                </c:pt>
                <c:pt idx="2">
                  <c:v>2544462904</c:v>
                </c:pt>
                <c:pt idx="3">
                  <c:v>2765491965</c:v>
                </c:pt>
                <c:pt idx="4">
                  <c:v>3137867249</c:v>
                </c:pt>
                <c:pt idx="5">
                  <c:v>3417551722</c:v>
                </c:pt>
              </c:numCache>
            </c:numRef>
          </c:val>
          <c:smooth val="0"/>
        </c:ser>
        <c:ser>
          <c:idx val="1"/>
          <c:order val="1"/>
          <c:tx>
            <c:strRef>
              <c:f>Sheet1!$C$1</c:f>
              <c:strCache>
                <c:ptCount val="1"/>
                <c:pt idx="0">
                  <c:v>Réelles (francs de 2020)</c:v>
                </c:pt>
              </c:strCache>
            </c:strRef>
          </c:tx>
          <c:spPr>
            <a:ln w="28575">
              <a:solidFill>
                <a:srgbClr val="EFAC62"/>
              </a:solidFill>
            </a:ln>
          </c:spPr>
          <c:marker>
            <c:spPr>
              <a:solidFill>
                <a:srgbClr val="EFAC62"/>
              </a:solidFill>
              <a:ln>
                <a:solidFill>
                  <a:srgbClr val="EFAC62"/>
                </a:solidFill>
              </a:ln>
            </c:spPr>
          </c:marker>
          <c:cat>
            <c:strRef>
              <c:f>Sheet1!$A$2:$A$7</c:f>
              <c:strCache>
                <c:ptCount val="6"/>
                <c:pt idx="0">
                  <c:v>2020</c:v>
                </c:pt>
                <c:pt idx="1">
                  <c:v>2021</c:v>
                </c:pt>
                <c:pt idx="2">
                  <c:v>2022</c:v>
                </c:pt>
                <c:pt idx="3">
                  <c:v>2023</c:v>
                </c:pt>
                <c:pt idx="4">
                  <c:v>2024</c:v>
                </c:pt>
                <c:pt idx="5">
                  <c:v>2025</c:v>
                </c:pt>
              </c:strCache>
            </c:strRef>
          </c:cat>
          <c:val>
            <c:numRef>
              <c:f>Sheet1!$C$2:$C$7</c:f>
              <c:numCache>
                <c:formatCode># ##0,,</c:formatCode>
                <c:ptCount val="6"/>
                <c:pt idx="0">
                  <c:v>2344618501</c:v>
                </c:pt>
                <c:pt idx="1">
                  <c:v>2319965877</c:v>
                </c:pt>
                <c:pt idx="2">
                  <c:v>2321370010</c:v>
                </c:pt>
                <c:pt idx="3">
                  <c:v>2417386641</c:v>
                </c:pt>
                <c:pt idx="4">
                  <c:v>2651401893</c:v>
                </c:pt>
                <c:pt idx="5">
                  <c:v>2884120453</c:v>
                </c:pt>
              </c:numCache>
            </c:numRef>
          </c:val>
          <c:smooth val="0"/>
        </c:ser>
        <c:dLbls>
          <c:numFmt formatCode="# ##0,," sourceLinked="0"/>
          <c:txPr>
            <a:bodyPr/>
            <a:lstStyle/>
            <a:p>
              <a:pPr>
                <a:defRPr sz="1000"/>
              </a:pPr>
            </a:p>
          </c:txPr>
          <c:showLegendKey val="0"/>
          <c:showVal val="1"/>
          <c:showCatName val="0"/>
          <c:showSerName val="0"/>
          <c:showPercent val="0"/>
          <c:showBubbleSize val="0"/>
          <c:showLeaderLines val="1"/>
        </c:dLbls>
        <c:marker val="1"/>
        <c:smooth val="0"/>
        <c:axId val="2118791784"/>
        <c:axId val="2140495176"/>
      </c:lineChart>
      <c:catAx>
        <c:axId val="2118791784"/>
        <c:scaling>
          <c:orientation val="minMax"/>
        </c:scaling>
        <c:delete val="0"/>
        <c:axPos val="b"/>
        <c:majorTickMark val="out"/>
        <c:minorTickMark val="none"/>
        <c:tickLblPos val="nextTo"/>
        <c:spPr>
          <a:ln>
            <a:solidFill>
              <a:srgbClr val="BBBCBC"/>
            </a:solidFill>
          </a:ln>
        </c:spPr>
        <c:txPr>
          <a:bodyPr/>
          <a:lstStyle/>
          <a:p>
            <a:pPr>
              <a:defRPr sz="1000"/>
            </a:pPr>
          </a:p>
        </c:txPr>
        <c:crossAx val="2140495176"/>
        <c:crosses val="autoZero"/>
        <c:auto val="1"/>
        <c:lblAlgn val="ctr"/>
        <c:lblOffset val="100"/>
        <c:noMultiLvlLbl val="0"/>
      </c:catAx>
      <c:valAx>
        <c:axId val="2140495176"/>
        <c:scaling/>
        <c:delete/>
        <c:axPos val="l"/>
        <c:numFmt formatCode="# ##0,," sourceLinked="0"/>
        <c:majorTickMark val="out"/>
        <c:minorTickMark val="none"/>
        <c:tickLblPos val="nextTo"/>
        <c:spPr>
          <a:ln>
            <a:noFill/>
          </a:ln>
        </c:spPr>
        <c:txPr>
          <a:bodyPr/>
          <a:lstStyle/>
          <a:p>
            <a:pPr>
              <a:defRPr sz="1000"/>
            </a:pPr>
          </a:p>
        </c:txPr>
        <c:crossAx val="2118791784"/>
        <c:crosses val="autoZero"/>
      </c:valAx>
    </c:plotArea>
    <c:legend>
      <c:legendPos val="b"/>
      <c:layout/>
      <c:overlay val="0"/>
      <c:txPr>
        <a:bodyPr/>
        <a:lstStyle/>
        <a:p>
          <a:pPr>
            <a:defRPr sz="1000"/>
          </a:pPr>
        </a:p>
      </c:txPr>
    </c:legend>
    <c:plotVisOnly val="1"/>
    <c:dispBlanksAs val="gap"/>
    <c:showDLblsOverMax val="0"/>
  </c:chart>
  <c:txPr>
    <a:bodyPr/>
    <a:lstStyle/>
    <a:p>
      <a:pPr>
        <a:defRPr sz="1000">
          <a:latin typeface="Helvetica"/>
        </a:defRPr>
      </a:pPr>
      <a:endParaRPr lang="en-US"/>
    </a:p>
  </c:tx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chart>
    <c:autoTitleDeleted val="1"/>
    <c:plotArea>
      <c:lineChart>
        <c:grouping val="standard"/>
        <c:varyColors val="0"/>
        <c:ser>
          <c:idx val="0"/>
          <c:order val="0"/>
          <c:tx>
            <c:strRef>
              <c:f>Sheet1!$B$1</c:f>
              <c:strCache>
                <c:ptCount val="1"/>
                <c:pt idx="0">
                  <c:v>S/C maladie</c:v>
                </c:pt>
              </c:strCache>
            </c:strRef>
          </c:tx>
          <c:spPr>
            <a:ln w="28575">
              <a:solidFill>
                <a:srgbClr val="112A40"/>
              </a:solidFill>
            </a:ln>
          </c:spPr>
          <c:marker>
            <c:spPr>
              <a:solidFill>
                <a:srgbClr val="112A40"/>
              </a:solidFill>
              <a:ln>
                <a:solidFill>
                  <a:srgbClr val="112A40"/>
                </a:solidFill>
              </a:ln>
            </c:spPr>
          </c:marker>
          <c:cat>
            <c:strRef>
              <c:f>Sheet1!$A$2:$A$8</c:f>
              <c:strCache>
                <c:ptCount val="7"/>
                <c:pt idx="0">
                  <c:v>2020</c:v>
                </c:pt>
                <c:pt idx="1">
                  <c:v>2021</c:v>
                </c:pt>
                <c:pt idx="2">
                  <c:v>2022</c:v>
                </c:pt>
                <c:pt idx="3">
                  <c:v>2023</c:v>
                </c:pt>
                <c:pt idx="4">
                  <c:v>2024</c:v>
                </c:pt>
                <c:pt idx="5">
                  <c:v>2025</c:v>
                </c:pt>
                <c:pt idx="6">
                  <c:v>2026 (8 mois)</c:v>
                </c:pt>
              </c:strCache>
            </c:strRef>
          </c:cat>
          <c:val>
            <c:numRef>
              <c:f>Sheet1!$B$2:$B$8</c:f>
              <c:numCache>
                <c:formatCode>0.00</c:formatCode>
                <c:ptCount val="7"/>
                <c:pt idx="0">
                  <c:v>12.54</c:v>
                </c:pt>
                <c:pt idx="1">
                  <c:v>6.0</c:v>
                </c:pt>
                <c:pt idx="2">
                  <c:v>6.47</c:v>
                </c:pt>
                <c:pt idx="3">
                  <c:v>26.91</c:v>
                </c:pt>
                <c:pt idx="4">
                  <c:v>48.13</c:v>
                </c:pt>
                <c:pt idx="5">
                  <c:v>73.53</c:v>
                </c:pt>
                <c:pt idx="6">
                  <c:v>97.4</c:v>
                </c:pt>
              </c:numCache>
            </c:numRef>
          </c:val>
          <c:smooth val="0"/>
        </c:ser>
        <c:dLbls>
          <c:numFmt formatCode="0.00" sourceLinked="0"/>
          <c:txPr>
            <a:bodyPr/>
            <a:lstStyle/>
            <a:p>
              <a:pPr>
                <a:defRPr sz="1000"/>
              </a:pPr>
            </a:p>
          </c:txPr>
          <c:showLegendKey val="0"/>
          <c:showVal val="1"/>
          <c:showCatName val="0"/>
          <c:showSerName val="0"/>
          <c:showPercent val="0"/>
          <c:showBubbleSize val="0"/>
          <c:showLeaderLines val="1"/>
        </c:dLbls>
        <c:marker val="1"/>
        <c:smooth val="0"/>
        <c:axId val="2118791784"/>
        <c:axId val="2140495176"/>
      </c:lineChart>
      <c:catAx>
        <c:axId val="2118791784"/>
        <c:scaling>
          <c:orientation val="minMax"/>
        </c:scaling>
        <c:delete val="0"/>
        <c:axPos val="b"/>
        <c:majorTickMark val="out"/>
        <c:minorTickMark val="none"/>
        <c:tickLblPos val="nextTo"/>
        <c:spPr>
          <a:ln>
            <a:solidFill>
              <a:srgbClr val="BBBCBC"/>
            </a:solidFill>
          </a:ln>
        </c:spPr>
        <c:txPr>
          <a:bodyPr/>
          <a:lstStyle/>
          <a:p>
            <a:pPr>
              <a:defRPr sz="1000"/>
            </a:pPr>
          </a:p>
        </c:txPr>
        <c:crossAx val="2140495176"/>
        <c:crosses val="autoZero"/>
        <c:auto val="1"/>
        <c:lblAlgn val="ctr"/>
        <c:lblOffset val="100"/>
        <c:noMultiLvlLbl val="0"/>
      </c:catAx>
      <c:valAx>
        <c:axId val="2140495176"/>
        <c:scaling/>
        <c:delete/>
        <c:axPos val="l"/>
        <c:numFmt formatCode="0.00" sourceLinked="0"/>
        <c:majorTickMark val="out"/>
        <c:minorTickMark val="none"/>
        <c:tickLblPos val="nextTo"/>
        <c:spPr>
          <a:ln>
            <a:noFill/>
          </a:ln>
        </c:spPr>
        <c:txPr>
          <a:bodyPr/>
          <a:lstStyle/>
          <a:p>
            <a:pPr>
              <a:defRPr sz="1000"/>
            </a:pPr>
          </a:p>
        </c:txPr>
        <c:crossAx val="2118791784"/>
        <c:crosses val="autoZero"/>
      </c:valAx>
    </c:plotArea>
    <c:plotVisOnly val="1"/>
    <c:dispBlanksAs val="gap"/>
    <c:showDLblsOverMax val="0"/>
  </c:chart>
  <c:txPr>
    <a:bodyPr/>
    <a:lstStyle/>
    <a:p>
      <a:pPr>
        <a:defRPr sz="1000">
          <a:latin typeface="Helvetica"/>
        </a:defRPr>
      </a:pPr>
      <a:endParaRPr lang="en-US"/>
    </a:p>
  </c:tx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Épargne PEP et EFC</c:v>
                </c:pt>
              </c:strCache>
            </c:strRef>
          </c:tx>
          <c:spPr>
            <a:solidFill>
              <a:srgbClr val="112A40"/>
            </a:solidFill>
          </c:spPr>
          <c:cat>
            <c:strRef>
              <c:f>Sheet1!$A$2:$A$8</c:f>
              <c:strCache>
                <c:ptCount val="7"/>
                <c:pt idx="0">
                  <c:v>2020</c:v>
                </c:pt>
                <c:pt idx="1">
                  <c:v>2021</c:v>
                </c:pt>
                <c:pt idx="2">
                  <c:v>2022</c:v>
                </c:pt>
                <c:pt idx="3">
                  <c:v>2023</c:v>
                </c:pt>
                <c:pt idx="4">
                  <c:v>2024</c:v>
                </c:pt>
                <c:pt idx="5">
                  <c:v>2025</c:v>
                </c:pt>
                <c:pt idx="6">
                  <c:v>31/08/2026</c:v>
                </c:pt>
              </c:strCache>
            </c:strRef>
          </c:cat>
          <c:val>
            <c:numRef>
              <c:f>Sheet1!$B$2:$B$8</c:f>
              <c:numCache>
                <c:formatCode># ##0,,</c:formatCode>
                <c:ptCount val="7"/>
                <c:pt idx="0">
                  <c:v>10828205640</c:v>
                </c:pt>
                <c:pt idx="1">
                  <c:v>10147421276</c:v>
                </c:pt>
                <c:pt idx="2">
                  <c:v>9364845293</c:v>
                </c:pt>
                <c:pt idx="3">
                  <c:v>9121576576</c:v>
                </c:pt>
                <c:pt idx="4">
                  <c:v>10785064432</c:v>
                </c:pt>
                <c:pt idx="5">
                  <c:v>13814066964</c:v>
                </c:pt>
                <c:pt idx="6">
                  <c:v>15743516391</c:v>
                </c:pt>
              </c:numCache>
            </c:numRef>
          </c:val>
        </c:ser>
        <c:ser>
          <c:idx val="1"/>
          <c:order val="1"/>
          <c:tx>
            <c:strRef>
              <c:f>Sheet1!$C$1</c:f>
              <c:strCache>
                <c:ptCount val="1"/>
                <c:pt idx="0">
                  <c:v>Actifs réservés</c:v>
                </c:pt>
              </c:strCache>
            </c:strRef>
          </c:tx>
          <c:spPr>
            <a:solidFill>
              <a:srgbClr val="EFAC62"/>
            </a:solidFill>
          </c:spPr>
          <c:cat>
            <c:strRef>
              <c:f>Sheet1!$A$2:$A$8</c:f>
              <c:strCache>
                <c:ptCount val="7"/>
                <c:pt idx="0">
                  <c:v>2020</c:v>
                </c:pt>
                <c:pt idx="1">
                  <c:v>2021</c:v>
                </c:pt>
                <c:pt idx="2">
                  <c:v>2022</c:v>
                </c:pt>
                <c:pt idx="3">
                  <c:v>2023</c:v>
                </c:pt>
                <c:pt idx="4">
                  <c:v>2024</c:v>
                </c:pt>
                <c:pt idx="5">
                  <c:v>2025</c:v>
                </c:pt>
                <c:pt idx="6">
                  <c:v>31/08/2026</c:v>
                </c:pt>
              </c:strCache>
            </c:strRef>
          </c:cat>
          <c:val>
            <c:numRef>
              <c:f>Sheet1!$C$2:$C$8</c:f>
              <c:numCache>
                <c:formatCode># ##0,,</c:formatCode>
                <c:ptCount val="7"/>
                <c:pt idx="0">
                  <c:v>714042784</c:v>
                </c:pt>
                <c:pt idx="1">
                  <c:v>1957211038</c:v>
                </c:pt>
                <c:pt idx="2">
                  <c:v>888844233</c:v>
                </c:pt>
                <c:pt idx="3">
                  <c:v>839212069</c:v>
                </c:pt>
                <c:pt idx="4">
                  <c:v>699925787</c:v>
                </c:pt>
                <c:pt idx="5">
                  <c:v>1608155525</c:v>
                </c:pt>
                <c:pt idx="6">
                  <c:v>2562885661</c:v>
                </c:pt>
              </c:numCache>
            </c:numRef>
          </c:val>
        </c:ser>
        <c:dLbls>
          <c:numFmt formatCode="# ##0,," sourceLinked="0"/>
          <c:txPr>
            <a:bodyPr/>
            <a:lstStyle/>
            <a:p>
              <a:pPr>
                <a:defRPr sz="1000"/>
              </a:pPr>
            </a:p>
          </c:txPr>
          <c:showLegendKey val="0"/>
          <c:showVal val="1"/>
          <c:showCatName val="0"/>
          <c:showSerName val="0"/>
          <c:showPercent val="0"/>
          <c:showBubbleSize val="0"/>
          <c:showLeaderLines val="1"/>
        </c:dLbls>
        <c:gapWidth val="60"/>
        <c:axId val="-2068027336"/>
        <c:axId val="-2113994440"/>
      </c:barChart>
      <c:catAx>
        <c:axId val="-2068027336"/>
        <c:scaling>
          <c:orientation val="minMax"/>
        </c:scaling>
        <c:delete val="0"/>
        <c:axPos val="b"/>
        <c:majorTickMark val="out"/>
        <c:minorTickMark val="none"/>
        <c:tickLblPos val="nextTo"/>
        <c:spPr>
          <a:ln>
            <a:solidFill>
              <a:srgbClr val="BBBCBC"/>
            </a:solidFill>
          </a:ln>
        </c:spPr>
        <c:txPr>
          <a:bodyPr/>
          <a:lstStyle/>
          <a:p>
            <a:pPr>
              <a:defRPr sz="1000"/>
            </a:pPr>
          </a:p>
        </c:txPr>
        <c:crossAx val="-2113994440"/>
        <c:crosses val="autoZero"/>
        <c:auto val="1"/>
        <c:lblAlgn val="ctr"/>
        <c:lblOffset val="100"/>
        <c:noMultiLvlLbl val="0"/>
      </c:catAx>
      <c:valAx>
        <c:axId val="-2113994440"/>
        <c:scaling/>
        <c:delete/>
        <c:axPos val="l"/>
        <c:numFmt formatCode="# ##0,," sourceLinked="0"/>
        <c:majorTickMark val="out"/>
        <c:minorTickMark val="none"/>
        <c:tickLblPos val="nextTo"/>
        <c:spPr>
          <a:ln>
            <a:noFill/>
          </a:ln>
        </c:spPr>
        <c:txPr>
          <a:bodyPr/>
          <a:lstStyle/>
          <a:p>
            <a:pPr>
              <a:defRPr sz="1000"/>
            </a:pPr>
          </a:p>
        </c:txPr>
        <c:crossAx val="-2068027336"/>
        <c:crosses val="autoZero"/>
      </c:valAx>
    </c:plotArea>
    <c:legend>
      <c:legendPos val="b"/>
      <c:overlay val="0"/>
      <c:txPr>
        <a:bodyPr/>
        <a:lstStyle/>
        <a:p>
          <a:pPr>
            <a:defRPr sz="1000"/>
          </a:pPr>
        </a:p>
      </c:txPr>
    </c:legend>
    <c:dispBlanksAs val="gap"/>
  </c:chart>
  <c:txPr>
    <a:bodyPr/>
    <a:lstStyle/>
    <a:p>
      <a:pPr>
        <a:defRPr sz="1000">
          <a:latin typeface="Helvetica"/>
        </a:defRPr>
      </a:pPr>
      <a:endParaRPr lang="en-US"/>
    </a:p>
  </c:tx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Fonds propres</c:v>
                </c:pt>
              </c:strCache>
            </c:strRef>
          </c:tx>
          <c:spPr>
            <a:solidFill>
              <a:srgbClr val="112A40"/>
            </a:solidFill>
          </c:spPr>
          <c:cat>
            <c:strRef>
              <c:f>Sheet1!$A$2:$A$8</c:f>
              <c:strCache>
                <c:ptCount val="7"/>
                <c:pt idx="0">
                  <c:v>2020</c:v>
                </c:pt>
                <c:pt idx="1">
                  <c:v>2021</c:v>
                </c:pt>
                <c:pt idx="2">
                  <c:v>2022</c:v>
                </c:pt>
                <c:pt idx="3">
                  <c:v>2023</c:v>
                </c:pt>
                <c:pt idx="4">
                  <c:v>2024</c:v>
                </c:pt>
                <c:pt idx="5">
                  <c:v>2025</c:v>
                </c:pt>
                <c:pt idx="6">
                  <c:v>31/08/2026</c:v>
                </c:pt>
              </c:strCache>
            </c:strRef>
          </c:cat>
          <c:val>
            <c:numRef>
              <c:f>Sheet1!$B$2:$B$8</c:f>
              <c:numCache>
                <c:formatCode># ##0,,</c:formatCode>
                <c:ptCount val="7"/>
                <c:pt idx="0">
                  <c:v>-6743081733</c:v>
                </c:pt>
                <c:pt idx="1">
                  <c:v>-4659173531</c:v>
                </c:pt>
                <c:pt idx="2">
                  <c:v>-2598840854</c:v>
                </c:pt>
                <c:pt idx="3">
                  <c:v>-1668211752</c:v>
                </c:pt>
                <c:pt idx="4">
                  <c:v>-876142111</c:v>
                </c:pt>
                <c:pt idx="5">
                  <c:v>-438242200</c:v>
                </c:pt>
                <c:pt idx="6">
                  <c:v>-879498700</c:v>
                </c:pt>
              </c:numCache>
            </c:numRef>
          </c:val>
        </c:ser>
        <c:dLbls>
          <c:numFmt formatCode="# ##0,," sourceLinked="0"/>
          <c:txPr>
            <a:bodyPr/>
            <a:lstStyle/>
            <a:p>
              <a:pPr>
                <a:defRPr sz="1000"/>
              </a:pPr>
            </a:p>
          </c:txPr>
          <c:showLegendKey val="0"/>
          <c:showVal val="1"/>
          <c:showCatName val="0"/>
          <c:showSerName val="0"/>
          <c:showPercent val="0"/>
          <c:showBubbleSize val="0"/>
          <c:showLeaderLines val="1"/>
        </c:dLbls>
        <c:gapWidth val="60"/>
        <c:axId val="-2068027336"/>
        <c:axId val="-2113994440"/>
      </c:barChart>
      <c:catAx>
        <c:axId val="-2068027336"/>
        <c:scaling>
          <c:orientation val="minMax"/>
        </c:scaling>
        <c:delete val="0"/>
        <c:axPos val="b"/>
        <c:majorTickMark val="out"/>
        <c:minorTickMark val="none"/>
        <c:tickLblPos val="low"/>
        <c:spPr>
          <a:ln>
            <a:solidFill>
              <a:srgbClr val="BBBCBC"/>
            </a:solidFill>
          </a:ln>
        </c:spPr>
        <c:txPr>
          <a:bodyPr/>
          <a:lstStyle/>
          <a:p>
            <a:pPr>
              <a:defRPr sz="1000"/>
            </a:pPr>
          </a:p>
        </c:txPr>
        <c:crossAx val="-2113994440"/>
        <c:crosses val="autoZero"/>
        <c:auto val="1"/>
        <c:lblAlgn val="ctr"/>
        <c:lblOffset val="100"/>
        <c:noMultiLvlLbl val="0"/>
      </c:catAx>
      <c:valAx>
        <c:axId val="-2113994440"/>
        <c:scaling/>
        <c:delete/>
        <c:axPos val="l"/>
        <c:numFmt formatCode="# ##0,," sourceLinked="0"/>
        <c:majorTickMark val="out"/>
        <c:minorTickMark val="none"/>
        <c:tickLblPos val="nextTo"/>
        <c:spPr>
          <a:ln>
            <a:noFill/>
          </a:ln>
        </c:spPr>
        <c:txPr>
          <a:bodyPr/>
          <a:lstStyle/>
          <a:p>
            <a:pPr>
              <a:defRPr sz="1000"/>
            </a:pPr>
          </a:p>
        </c:txPr>
        <c:crossAx val="-2068027336"/>
        <c:crosses val="autoZero"/>
      </c:valAx>
    </c:plotArea>
    <c:dispBlanksAs val="gap"/>
  </c:chart>
  <c:txPr>
    <a:bodyPr/>
    <a:lstStyle/>
    <a:p>
      <a:pPr>
        <a:defRPr sz="1000">
          <a:latin typeface="Helvetica"/>
        </a:defRPr>
      </a:pPr>
      <a:endParaRPr lang="en-US"/>
    </a:p>
  </c:txPr>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Encours</c:v>
                </c:pt>
              </c:strCache>
            </c:strRef>
          </c:tx>
          <c:spPr>
            <a:solidFill>
              <a:srgbClr val="EFAC62"/>
            </a:solidFill>
          </c:spPr>
          <c:cat>
            <c:strRef>
              <c:f>Sheet1!$A$2:$A$7</c:f>
              <c:strCache>
                <c:ptCount val="6"/>
                <c:pt idx="0">
                  <c:v>31/12/2021</c:v>
                </c:pt>
                <c:pt idx="1">
                  <c:v>31/12/2022</c:v>
                </c:pt>
                <c:pt idx="2">
                  <c:v>31/12/2023</c:v>
                </c:pt>
                <c:pt idx="3">
                  <c:v>31/12/2024</c:v>
                </c:pt>
                <c:pt idx="4">
                  <c:v>31/12/2025</c:v>
                </c:pt>
                <c:pt idx="5">
                  <c:v>31/08/2026</c:v>
                </c:pt>
              </c:strCache>
            </c:strRef>
          </c:cat>
          <c:val>
            <c:numRef>
              <c:f>Sheet1!$B$2:$B$7</c:f>
              <c:numCache>
                <c:formatCode># ##0,,</c:formatCode>
                <c:ptCount val="6"/>
                <c:pt idx="0">
                  <c:v>7900000</c:v>
                </c:pt>
                <c:pt idx="1">
                  <c:v>182555907</c:v>
                </c:pt>
                <c:pt idx="2">
                  <c:v>375172174</c:v>
                </c:pt>
                <c:pt idx="3">
                  <c:v>566643134</c:v>
                </c:pt>
                <c:pt idx="4">
                  <c:v>829623319</c:v>
                </c:pt>
                <c:pt idx="5">
                  <c:v>1044302107</c:v>
                </c:pt>
              </c:numCache>
            </c:numRef>
          </c:val>
        </c:ser>
        <c:dLbls>
          <c:numFmt formatCode="# ##0,," sourceLinked="0"/>
          <c:txPr>
            <a:bodyPr/>
            <a:lstStyle/>
            <a:p>
              <a:pPr>
                <a:defRPr sz="1000"/>
              </a:pPr>
            </a:p>
          </c:txPr>
          <c:showLegendKey val="0"/>
          <c:showVal val="1"/>
          <c:showCatName val="0"/>
          <c:showSerName val="0"/>
          <c:showPercent val="0"/>
          <c:showBubbleSize val="0"/>
          <c:showLeaderLines val="1"/>
        </c:dLbls>
        <c:gapWidth val="60"/>
        <c:axId val="-2068027336"/>
        <c:axId val="-2113994440"/>
      </c:barChart>
      <c:catAx>
        <c:axId val="-2068027336"/>
        <c:scaling>
          <c:orientation val="minMax"/>
        </c:scaling>
        <c:delete val="0"/>
        <c:axPos val="b"/>
        <c:majorTickMark val="out"/>
        <c:minorTickMark val="none"/>
        <c:tickLblPos val="nextTo"/>
        <c:spPr>
          <a:ln>
            <a:solidFill>
              <a:srgbClr val="BBBCBC"/>
            </a:solidFill>
          </a:ln>
        </c:spPr>
        <c:txPr>
          <a:bodyPr/>
          <a:lstStyle/>
          <a:p>
            <a:pPr>
              <a:defRPr sz="1000"/>
            </a:pPr>
          </a:p>
        </c:txPr>
        <c:crossAx val="-2113994440"/>
        <c:crosses val="autoZero"/>
        <c:auto val="1"/>
        <c:lblAlgn val="ctr"/>
        <c:lblOffset val="100"/>
        <c:noMultiLvlLbl val="0"/>
      </c:catAx>
      <c:valAx>
        <c:axId val="-2113994440"/>
        <c:scaling/>
        <c:delete/>
        <c:axPos val="l"/>
        <c:numFmt formatCode="# ##0,," sourceLinked="0"/>
        <c:majorTickMark val="out"/>
        <c:minorTickMark val="none"/>
        <c:tickLblPos val="nextTo"/>
        <c:spPr>
          <a:ln>
            <a:noFill/>
          </a:ln>
        </c:spPr>
        <c:txPr>
          <a:bodyPr/>
          <a:lstStyle/>
          <a:p>
            <a:pPr>
              <a:defRPr sz="1000"/>
            </a:pPr>
          </a:p>
        </c:txPr>
        <c:crossAx val="-2068027336"/>
        <c:crosses val="autoZero"/>
      </c:valAx>
    </c:plotArea>
    <c:dispBlanksAs val="gap"/>
  </c:chart>
  <c:txPr>
    <a:bodyPr/>
    <a:lstStyle/>
    <a:p>
      <a:pPr>
        <a:defRPr sz="1000">
          <a:latin typeface="Helvetica"/>
        </a:defRPr>
      </a:pPr>
      <a:endParaRPr lang="en-US"/>
    </a:p>
  </c:txPr>
  <c:externalData r:id="rId1">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2025</c:v>
                </c:pt>
              </c:strCache>
            </c:strRef>
          </c:tx>
          <c:spPr>
            <a:solidFill>
              <a:srgbClr val="112A40"/>
            </a:solidFill>
          </c:spPr>
          <c:cat>
            <c:strRef>
              <c:f>Sheet1!$A$2:$A$7</c:f>
              <c:strCache>
                <c:ptCount val="6"/>
                <c:pt idx="0">
                  <c:v>Cotisations maladie</c:v>
                </c:pt>
                <c:pt idx="1">
                  <c:v>Cotisations décès</c:v>
                </c:pt>
                <c:pt idx="2">
                  <c:v>Prestations maladie</c:v>
                </c:pt>
                <c:pt idx="3">
                  <c:v>Prestations décès</c:v>
                </c:pt>
                <c:pt idx="4">
                  <c:v>Frais de gestion</c:v>
                </c:pt>
                <c:pt idx="5">
                  <c:v>Résultat</c:v>
                </c:pt>
              </c:strCache>
            </c:strRef>
          </c:cat>
          <c:val>
            <c:numRef>
              <c:f>Sheet1!$B$2:$B$7</c:f>
              <c:numCache>
                <c:formatCode># ##0,,</c:formatCode>
                <c:ptCount val="6"/>
                <c:pt idx="0">
                  <c:v>2409281030</c:v>
                </c:pt>
                <c:pt idx="1">
                  <c:v>1008270692</c:v>
                </c:pt>
                <c:pt idx="2">
                  <c:v>1771635361</c:v>
                </c:pt>
                <c:pt idx="3">
                  <c:v>193136666</c:v>
                </c:pt>
                <c:pt idx="4">
                  <c:v>1101350021</c:v>
                </c:pt>
                <c:pt idx="5">
                  <c:v>437899911</c:v>
                </c:pt>
              </c:numCache>
            </c:numRef>
          </c:val>
        </c:ser>
        <c:dLbls>
          <c:numFmt formatCode="# ##0,," sourceLinked="0"/>
          <c:txPr>
            <a:bodyPr/>
            <a:lstStyle/>
            <a:p>
              <a:pPr>
                <a:defRPr sz="1000"/>
              </a:pPr>
            </a:p>
          </c:txPr>
          <c:showLegendKey val="0"/>
          <c:showVal val="1"/>
          <c:showCatName val="0"/>
          <c:showSerName val="0"/>
          <c:showPercent val="0"/>
          <c:showBubbleSize val="0"/>
          <c:showLeaderLines val="1"/>
        </c:dLbls>
        <c:gapWidth val="60"/>
        <c:axId val="-2068027336"/>
        <c:axId val="-2113994440"/>
      </c:barChart>
      <c:catAx>
        <c:axId val="-2068027336"/>
        <c:scaling>
          <c:orientation val="minMax"/>
        </c:scaling>
        <c:delete val="0"/>
        <c:axPos val="b"/>
        <c:majorTickMark val="out"/>
        <c:minorTickMark val="none"/>
        <c:tickLblPos val="nextTo"/>
        <c:spPr>
          <a:ln>
            <a:solidFill>
              <a:srgbClr val="BBBCBC"/>
            </a:solidFill>
          </a:ln>
        </c:spPr>
        <c:txPr>
          <a:bodyPr/>
          <a:lstStyle/>
          <a:p>
            <a:pPr>
              <a:defRPr sz="1000"/>
            </a:pPr>
          </a:p>
        </c:txPr>
        <c:crossAx val="-2113994440"/>
        <c:crosses val="autoZero"/>
        <c:auto val="1"/>
        <c:lblAlgn val="ctr"/>
        <c:lblOffset val="100"/>
        <c:noMultiLvlLbl val="0"/>
      </c:catAx>
      <c:valAx>
        <c:axId val="-2113994440"/>
        <c:scaling/>
        <c:delete/>
        <c:axPos val="l"/>
        <c:numFmt formatCode="# ##0,," sourceLinked="0"/>
        <c:majorTickMark val="out"/>
        <c:minorTickMark val="none"/>
        <c:tickLblPos val="nextTo"/>
        <c:spPr>
          <a:ln>
            <a:noFill/>
          </a:ln>
        </c:spPr>
        <c:txPr>
          <a:bodyPr/>
          <a:lstStyle/>
          <a:p>
            <a:pPr>
              <a:defRPr sz="1000"/>
            </a:pPr>
          </a:p>
        </c:txPr>
        <c:crossAx val="-2068027336"/>
        <c:crosses val="autoZero"/>
      </c:valAx>
    </c:plotArea>
    <c:dispBlanksAs val="gap"/>
  </c:chart>
  <c:txPr>
    <a:bodyPr/>
    <a:lstStyle/>
    <a:p>
      <a:pPr>
        <a:defRPr sz="1000">
          <a:latin typeface="Helvetica"/>
        </a:defRPr>
      </a:pPr>
      <a:endParaRPr lang="en-US"/>
    </a:p>
  </c:txPr>
  <c:externalData r:id="rId1">
    <c:autoUpdate val="0"/>
  </c:externalData>
</c:chartSpace>
</file>

<file path=ppt/charts/chart10.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ser>
          <c:idx val="0"/>
          <c:order val="0"/>
          <c:tx>
            <c:strRef>
              <c:f>Sheet1!$B$1</c:f>
              <c:strCache>
                <c:ptCount val="1"/>
                <c:pt idx="0">
                  <c:v>Mois reçus</c:v>
                </c:pt>
              </c:strCache>
            </c:strRef>
          </c:tx>
          <c:spPr>
            <a:solidFill>
              <a:srgbClr val="112A40"/>
            </a:solidFill>
          </c:spPr>
          <c:cat>
            <c:strRef>
              <c:f>Sheet1!$A$2:$A$11</c:f>
              <c:strCache>
                <c:ptCount val="10"/>
                <c:pt idx="0">
                  <c:v>Prestations décès et santé</c:v>
                </c:pt>
                <c:pt idx="1">
                  <c:v>MEDOC 8Z7 retour</c:v>
                </c:pt>
                <c:pt idx="2">
                  <c:v>Décès 8Z6</c:v>
                </c:pt>
                <c:pt idx="3">
                  <c:v>Retraités CGRAE retour</c:v>
                </c:pt>
                <c:pt idx="4">
                  <c:v>Maladie 936</c:v>
                </c:pt>
                <c:pt idx="5">
                  <c:v>Flotte 9W3 retour</c:v>
                </c:pt>
                <c:pt idx="6">
                  <c:v>Grenier 9X4 retour</c:v>
                </c:pt>
                <c:pt idx="7">
                  <c:v>EFC 870 retour</c:v>
                </c:pt>
                <c:pt idx="8">
                  <c:v>PEP 998 retour</c:v>
                </c:pt>
                <c:pt idx="9">
                  <c:v>Comptabilité (balances)</c:v>
                </c:pt>
              </c:strCache>
            </c:strRef>
          </c:cat>
          <c:val>
            <c:numRef>
              <c:f>Sheet1!$B$2:$B$11</c:f>
              <c:numCache>
                <c:formatCode>0</c:formatCode>
                <c:ptCount val="10"/>
                <c:pt idx="0">
                  <c:v>0</c:v>
                </c:pt>
                <c:pt idx="1">
                  <c:v>6</c:v>
                </c:pt>
                <c:pt idx="2">
                  <c:v>24</c:v>
                </c:pt>
                <c:pt idx="3">
                  <c:v>30</c:v>
                </c:pt>
                <c:pt idx="4">
                  <c:v>31</c:v>
                </c:pt>
                <c:pt idx="5">
                  <c:v>37</c:v>
                </c:pt>
                <c:pt idx="6">
                  <c:v>43</c:v>
                </c:pt>
                <c:pt idx="7">
                  <c:v>43</c:v>
                </c:pt>
                <c:pt idx="8">
                  <c:v>80</c:v>
                </c:pt>
                <c:pt idx="9">
                  <c:v>80</c:v>
                </c:pt>
              </c:numCache>
            </c:numRef>
          </c:val>
        </c:ser>
        <c:dLbls>
          <c:numFmt formatCode="0" sourceLinked="0"/>
          <c:txPr>
            <a:bodyPr/>
            <a:lstStyle/>
            <a:p>
              <a:pPr>
                <a:defRPr sz="1000"/>
              </a:pPr>
            </a:p>
          </c:txPr>
          <c:showLegendKey val="0"/>
          <c:showVal val="1"/>
          <c:showCatName val="0"/>
          <c:showSerName val="0"/>
          <c:showPercent val="0"/>
          <c:showBubbleSize val="0"/>
          <c:showLeaderLines val="1"/>
        </c:dLbls>
        <c:gapWidth val="60"/>
        <c:axId val="-2068027336"/>
        <c:axId val="-2113994440"/>
      </c:barChart>
      <c:catAx>
        <c:axId val="-2068027336"/>
        <c:scaling>
          <c:orientation val="minMax"/>
        </c:scaling>
        <c:delete val="0"/>
        <c:axPos val="l"/>
        <c:majorTickMark val="out"/>
        <c:minorTickMark val="none"/>
        <c:tickLblPos val="nextTo"/>
        <c:spPr>
          <a:ln>
            <a:solidFill>
              <a:srgbClr val="BBBCBC"/>
            </a:solidFill>
          </a:ln>
        </c:spPr>
        <c:txPr>
          <a:bodyPr/>
          <a:lstStyle/>
          <a:p>
            <a:pPr>
              <a:defRPr sz="1000"/>
            </a:pPr>
          </a:p>
        </c:txPr>
        <c:crossAx val="-2113994440"/>
        <c:crosses val="autoZero"/>
        <c:auto val="1"/>
        <c:lblAlgn val="ctr"/>
        <c:lblOffset val="100"/>
        <c:noMultiLvlLbl val="0"/>
      </c:catAx>
      <c:valAx>
        <c:axId val="-2113994440"/>
        <c:scaling/>
        <c:delete/>
        <c:axPos val="b"/>
        <c:numFmt formatCode="0" sourceLinked="0"/>
        <c:majorTickMark val="out"/>
        <c:minorTickMark val="none"/>
        <c:tickLblPos val="nextTo"/>
        <c:spPr>
          <a:ln>
            <a:noFill/>
          </a:ln>
        </c:spPr>
        <c:txPr>
          <a:bodyPr/>
          <a:lstStyle/>
          <a:p>
            <a:pPr>
              <a:defRPr sz="1000"/>
            </a:pPr>
          </a:p>
        </c:txPr>
        <c:crossAx val="-2068027336"/>
        <c:crosses val="autoZero"/>
      </c:valAx>
    </c:plotArea>
    <c:dispBlanksAs val="gap"/>
  </c:chart>
  <c:txPr>
    <a:bodyPr/>
    <a:lstStyle/>
    <a:p>
      <a:pPr>
        <a:defRPr sz="1000">
          <a:latin typeface="Helvetica"/>
        </a:defRPr>
      </a:pPr>
      <a:endParaRPr lang="en-US"/>
    </a:p>
  </c:txPr>
  <c:externalData r:id="rId1">
    <c:autoUpdate val="0"/>
  </c:externalData>
</c:chartSpace>
</file>

<file path=ppt/charts/chart11.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Taux moyen</c:v>
                </c:pt>
              </c:strCache>
            </c:strRef>
          </c:tx>
          <c:spPr>
            <a:solidFill>
              <a:srgbClr val="112A40"/>
            </a:solidFill>
          </c:spPr>
          <c:cat>
            <c:strRef>
              <c:f>Sheet1!$A$2:$A$7</c:f>
              <c:strCache>
                <c:ptCount val="6"/>
                <c:pt idx="0">
                  <c:v>EFC 870</c:v>
                </c:pt>
                <c:pt idx="1">
                  <c:v>PEP 998</c:v>
                </c:pt>
                <c:pt idx="2">
                  <c:v>Grenier 9X4</c:v>
                </c:pt>
                <c:pt idx="3">
                  <c:v>Flotte 9W3</c:v>
                </c:pt>
                <c:pt idx="4">
                  <c:v>Retraités CGRAE</c:v>
                </c:pt>
                <c:pt idx="5">
                  <c:v>MEDOC 8Z7</c:v>
                </c:pt>
              </c:strCache>
            </c:strRef>
          </c:cat>
          <c:val>
            <c:numRef>
              <c:f>Sheet1!$B$2:$B$7</c:f>
              <c:numCache>
                <c:formatCode>0.00</c:formatCode>
                <c:ptCount val="6"/>
                <c:pt idx="0">
                  <c:v>97.58</c:v>
                </c:pt>
                <c:pt idx="1">
                  <c:v>97.73</c:v>
                </c:pt>
                <c:pt idx="2">
                  <c:v>98.15</c:v>
                </c:pt>
                <c:pt idx="3">
                  <c:v>98.86</c:v>
                </c:pt>
                <c:pt idx="4">
                  <c:v>100.19</c:v>
                </c:pt>
                <c:pt idx="5">
                  <c:v>97.41</c:v>
                </c:pt>
              </c:numCache>
            </c:numRef>
          </c:val>
        </c:ser>
        <c:ser>
          <c:idx val="1"/>
          <c:order val="1"/>
          <c:tx>
            <c:strRef>
              <c:f>Sheet1!$C$1</c:f>
              <c:strCache>
                <c:ptCount val="1"/>
                <c:pt idx="0">
                  <c:v>Mois le plus bas</c:v>
                </c:pt>
              </c:strCache>
            </c:strRef>
          </c:tx>
          <c:spPr>
            <a:solidFill>
              <a:srgbClr val="EFAC62"/>
            </a:solidFill>
          </c:spPr>
          <c:cat>
            <c:strRef>
              <c:f>Sheet1!$A$2:$A$7</c:f>
              <c:strCache>
                <c:ptCount val="6"/>
                <c:pt idx="0">
                  <c:v>EFC 870</c:v>
                </c:pt>
                <c:pt idx="1">
                  <c:v>PEP 998</c:v>
                </c:pt>
                <c:pt idx="2">
                  <c:v>Grenier 9X4</c:v>
                </c:pt>
                <c:pt idx="3">
                  <c:v>Flotte 9W3</c:v>
                </c:pt>
                <c:pt idx="4">
                  <c:v>Retraités CGRAE</c:v>
                </c:pt>
                <c:pt idx="5">
                  <c:v>MEDOC 8Z7</c:v>
                </c:pt>
              </c:strCache>
            </c:strRef>
          </c:cat>
          <c:val>
            <c:numRef>
              <c:f>Sheet1!$C$2:$C$7</c:f>
              <c:numCache>
                <c:formatCode>0.00</c:formatCode>
                <c:ptCount val="6"/>
                <c:pt idx="0">
                  <c:v>95.97</c:v>
                </c:pt>
                <c:pt idx="1">
                  <c:v>76.96</c:v>
                </c:pt>
                <c:pt idx="2">
                  <c:v>69.19</c:v>
                </c:pt>
                <c:pt idx="3">
                  <c:v>82.2</c:v>
                </c:pt>
                <c:pt idx="4">
                  <c:v>96.62</c:v>
                </c:pt>
                <c:pt idx="5">
                  <c:v>96.64</c:v>
                </c:pt>
              </c:numCache>
            </c:numRef>
          </c:val>
        </c:ser>
        <c:dLbls>
          <c:numFmt formatCode="0.00" sourceLinked="0"/>
          <c:txPr>
            <a:bodyPr/>
            <a:lstStyle/>
            <a:p>
              <a:pPr>
                <a:defRPr sz="1000"/>
              </a:pPr>
            </a:p>
          </c:txPr>
          <c:showLegendKey val="0"/>
          <c:showVal val="1"/>
          <c:showCatName val="0"/>
          <c:showSerName val="0"/>
          <c:showPercent val="0"/>
          <c:showBubbleSize val="0"/>
          <c:showLeaderLines val="1"/>
        </c:dLbls>
        <c:gapWidth val="60"/>
        <c:axId val="-2068027336"/>
        <c:axId val="-2113994440"/>
      </c:barChart>
      <c:catAx>
        <c:axId val="-2068027336"/>
        <c:scaling>
          <c:orientation val="minMax"/>
        </c:scaling>
        <c:delete val="0"/>
        <c:axPos val="b"/>
        <c:majorTickMark val="out"/>
        <c:minorTickMark val="none"/>
        <c:tickLblPos val="nextTo"/>
        <c:spPr>
          <a:ln>
            <a:solidFill>
              <a:srgbClr val="BBBCBC"/>
            </a:solidFill>
          </a:ln>
        </c:spPr>
        <c:txPr>
          <a:bodyPr/>
          <a:lstStyle/>
          <a:p>
            <a:pPr>
              <a:defRPr sz="1000"/>
            </a:pPr>
          </a:p>
        </c:txPr>
        <c:crossAx val="-2113994440"/>
        <c:crosses val="autoZero"/>
        <c:auto val="1"/>
        <c:lblAlgn val="ctr"/>
        <c:lblOffset val="100"/>
        <c:noMultiLvlLbl val="0"/>
      </c:catAx>
      <c:valAx>
        <c:axId val="-2113994440"/>
        <c:scaling/>
        <c:delete/>
        <c:axPos val="l"/>
        <c:numFmt formatCode="0.00" sourceLinked="0"/>
        <c:majorTickMark val="out"/>
        <c:minorTickMark val="none"/>
        <c:tickLblPos val="nextTo"/>
        <c:spPr>
          <a:ln>
            <a:noFill/>
          </a:ln>
        </c:spPr>
        <c:txPr>
          <a:bodyPr/>
          <a:lstStyle/>
          <a:p>
            <a:pPr>
              <a:defRPr sz="1000"/>
            </a:pPr>
          </a:p>
        </c:txPr>
        <c:crossAx val="-2068027336"/>
        <c:crosses val="autoZero"/>
      </c:valAx>
    </c:plotArea>
    <c:legend>
      <c:legendPos val="b"/>
      <c:overlay val="0"/>
      <c:txPr>
        <a:bodyPr/>
        <a:lstStyle/>
        <a:p>
          <a:pPr>
            <a:defRPr sz="1000"/>
          </a:pPr>
        </a:p>
      </c:txPr>
    </c:legend>
    <c:dispBlanksAs val="gap"/>
  </c:chart>
  <c:txPr>
    <a:bodyPr/>
    <a:lstStyle/>
    <a:p>
      <a:pPr>
        <a:defRPr sz="1000">
          <a:latin typeface="Helvetica"/>
        </a:defRPr>
      </a:pPr>
      <a:endParaRPr lang="en-US"/>
    </a:p>
  </c:txPr>
  <c:externalData r:id="rId1">
    <c:autoUpdate val="0"/>
  </c:externalData>
</c:chartSpace>
</file>

<file path=ppt/charts/chart12.xml><?xml version="1.0" encoding="utf-8"?>
<c:chartSpace xmlns:c="http://schemas.openxmlformats.org/drawingml/2006/chart" xmlns:a="http://schemas.openxmlformats.org/drawingml/2006/main" xmlns:r="http://schemas.openxmlformats.org/officeDocument/2006/relationships">
  <c:date1904 val="0"/>
  <c:chart>
    <c:autoTitleDeleted val="1"/>
    <c:plotArea>
      <c:lineChart>
        <c:grouping val="standard"/>
        <c:varyColors val="0"/>
        <c:ser>
          <c:idx val="0"/>
          <c:order val="0"/>
          <c:tx>
            <c:strRef>
              <c:f>Sheet1!$B$1</c:f>
              <c:strCache>
                <c:ptCount val="1"/>
                <c:pt idx="0">
                  <c:v>Cotisants</c:v>
                </c:pt>
              </c:strCache>
            </c:strRef>
          </c:tx>
          <c:spPr>
            <a:ln w="28575">
              <a:solidFill>
                <a:srgbClr val="112A40"/>
              </a:solidFill>
            </a:ln>
          </c:spPr>
          <c:marker>
            <c:spPr>
              <a:solidFill>
                <a:srgbClr val="112A40"/>
              </a:solidFill>
              <a:ln>
                <a:solidFill>
                  <a:srgbClr val="112A40"/>
                </a:solidFill>
              </a:ln>
            </c:spPr>
          </c:marker>
          <c:cat>
            <c:strRef>
              <c:f>Sheet1!$A$2:$A$33</c:f>
              <c:strCache>
                <c:ptCount val="32"/>
                <c:pt idx="0">
                  <c:v>janv. 24</c:v>
                </c:pt>
                <c:pt idx="1">
                  <c:v>févr. 24</c:v>
                </c:pt>
                <c:pt idx="2">
                  <c:v>mars 24</c:v>
                </c:pt>
                <c:pt idx="3">
                  <c:v>avr. 24</c:v>
                </c:pt>
                <c:pt idx="4">
                  <c:v>mai 24</c:v>
                </c:pt>
                <c:pt idx="5">
                  <c:v>juin 24</c:v>
                </c:pt>
                <c:pt idx="6">
                  <c:v>juil. 24</c:v>
                </c:pt>
                <c:pt idx="7">
                  <c:v>août 24</c:v>
                </c:pt>
                <c:pt idx="8">
                  <c:v>sept. 24</c:v>
                </c:pt>
                <c:pt idx="9">
                  <c:v>oct. 24</c:v>
                </c:pt>
                <c:pt idx="10">
                  <c:v>nov. 24</c:v>
                </c:pt>
                <c:pt idx="11">
                  <c:v>déc. 24</c:v>
                </c:pt>
                <c:pt idx="12">
                  <c:v>janv. 25</c:v>
                </c:pt>
                <c:pt idx="13">
                  <c:v>févr. 25</c:v>
                </c:pt>
                <c:pt idx="14">
                  <c:v>mars 25</c:v>
                </c:pt>
                <c:pt idx="15">
                  <c:v>avr. 25</c:v>
                </c:pt>
                <c:pt idx="16">
                  <c:v>mai 25</c:v>
                </c:pt>
                <c:pt idx="17">
                  <c:v>juin 25</c:v>
                </c:pt>
                <c:pt idx="18">
                  <c:v>juil. 25</c:v>
                </c:pt>
                <c:pt idx="19">
                  <c:v>août 25</c:v>
                </c:pt>
                <c:pt idx="20">
                  <c:v>sept. 25</c:v>
                </c:pt>
                <c:pt idx="21">
                  <c:v>oct. 25</c:v>
                </c:pt>
                <c:pt idx="22">
                  <c:v>nov. 25</c:v>
                </c:pt>
                <c:pt idx="23">
                  <c:v>déc. 25</c:v>
                </c:pt>
                <c:pt idx="24">
                  <c:v>janv. 26</c:v>
                </c:pt>
                <c:pt idx="25">
                  <c:v>févr. 26</c:v>
                </c:pt>
                <c:pt idx="26">
                  <c:v>mars 26</c:v>
                </c:pt>
                <c:pt idx="27">
                  <c:v>avr. 26</c:v>
                </c:pt>
                <c:pt idx="28">
                  <c:v>mai 26</c:v>
                </c:pt>
                <c:pt idx="29">
                  <c:v>juin 26</c:v>
                </c:pt>
                <c:pt idx="30">
                  <c:v>juil. 26</c:v>
                </c:pt>
                <c:pt idx="31">
                  <c:v>août 26</c:v>
                </c:pt>
              </c:strCache>
            </c:strRef>
          </c:cat>
          <c:val>
            <c:numRef>
              <c:f>Sheet1!$B$2:$B$33</c:f>
              <c:numCache>
                <c:formatCode># ##0</c:formatCode>
                <c:ptCount val="32"/>
                <c:pt idx="0">
                  <c:v>23119.0</c:v>
                </c:pt>
                <c:pt idx="1">
                  <c:v>23129.0</c:v>
                </c:pt>
                <c:pt idx="2">
                  <c:v>23123.0</c:v>
                </c:pt>
                <c:pt idx="3">
                  <c:v>23126.0</c:v>
                </c:pt>
                <c:pt idx="4">
                  <c:v>23416.0</c:v>
                </c:pt>
                <c:pt idx="5">
                  <c:v>23411.0</c:v>
                </c:pt>
                <c:pt idx="6">
                  <c:v>27698.0</c:v>
                </c:pt>
                <c:pt idx="7">
                  <c:v>27682.0</c:v>
                </c:pt>
                <c:pt idx="8">
                  <c:v>27670.0</c:v>
                </c:pt>
                <c:pt idx="9">
                  <c:v>28168.0</c:v>
                </c:pt>
                <c:pt idx="10">
                  <c:v>27606.0</c:v>
                </c:pt>
                <c:pt idx="12">
                  <c:v>27866.0</c:v>
                </c:pt>
                <c:pt idx="13">
                  <c:v>27858.0</c:v>
                </c:pt>
                <c:pt idx="14">
                  <c:v>27851.0</c:v>
                </c:pt>
                <c:pt idx="15">
                  <c:v>27758.0</c:v>
                </c:pt>
                <c:pt idx="16">
                  <c:v>27702.0</c:v>
                </c:pt>
                <c:pt idx="17">
                  <c:v>27642.0</c:v>
                </c:pt>
                <c:pt idx="18">
                  <c:v>31724.0</c:v>
                </c:pt>
                <c:pt idx="19">
                  <c:v>31716.0</c:v>
                </c:pt>
                <c:pt idx="20">
                  <c:v>31683.0</c:v>
                </c:pt>
                <c:pt idx="21">
                  <c:v>31683.0</c:v>
                </c:pt>
                <c:pt idx="22">
                  <c:v>31647.0</c:v>
                </c:pt>
                <c:pt idx="23">
                  <c:v>31676.0</c:v>
                </c:pt>
                <c:pt idx="24">
                  <c:v>31269.0</c:v>
                </c:pt>
                <c:pt idx="25">
                  <c:v>31260.0</c:v>
                </c:pt>
                <c:pt idx="26">
                  <c:v>31248.0</c:v>
                </c:pt>
                <c:pt idx="27">
                  <c:v>31238.0</c:v>
                </c:pt>
                <c:pt idx="28">
                  <c:v>31242.0</c:v>
                </c:pt>
                <c:pt idx="29">
                  <c:v>31232.0</c:v>
                </c:pt>
                <c:pt idx="30">
                  <c:v>31221.0</c:v>
                </c:pt>
                <c:pt idx="31">
                  <c:v>31198.0</c:v>
                </c:pt>
              </c:numCache>
            </c:numRef>
          </c:val>
          <c:smooth val="0"/>
        </c:ser>
        <c:marker val="1"/>
        <c:smooth val="0"/>
        <c:axId val="2118791784"/>
        <c:axId val="2140495176"/>
      </c:lineChart>
      <c:catAx>
        <c:axId val="2118791784"/>
        <c:scaling>
          <c:orientation val="minMax"/>
        </c:scaling>
        <c:delete val="0"/>
        <c:axPos val="b"/>
        <c:majorTickMark val="out"/>
        <c:minorTickMark val="none"/>
        <c:tickLblPos val="nextTo"/>
        <c:spPr>
          <a:ln>
            <a:solidFill>
              <a:srgbClr val="BBBCBC"/>
            </a:solidFill>
          </a:ln>
        </c:spPr>
        <c:txPr>
          <a:bodyPr/>
          <a:lstStyle/>
          <a:p>
            <a:pPr>
              <a:defRPr sz="1000"/>
            </a:pPr>
          </a:p>
        </c:txPr>
        <c:crossAx val="2140495176"/>
        <c:crosses val="autoZero"/>
        <c:auto val="1"/>
        <c:lblAlgn val="ctr"/>
        <c:lblOffset val="100"/>
        <c:noMultiLvlLbl val="0"/>
      </c:catAx>
      <c:valAx>
        <c:axId val="2140495176"/>
        <c:scaling>
          <c:min val="20000.0"/>
        </c:scaling>
        <c:delete val="0"/>
        <c:axPos val="l"/>
        <c:numFmt formatCode="# ##0" sourceLinked="0"/>
        <c:majorTickMark val="out"/>
        <c:minorTickMark val="none"/>
        <c:tickLblPos val="nextTo"/>
        <c:spPr>
          <a:ln>
            <a:noFill/>
          </a:ln>
        </c:spPr>
        <c:txPr>
          <a:bodyPr/>
          <a:lstStyle/>
          <a:p>
            <a:pPr>
              <a:defRPr sz="1000"/>
            </a:pPr>
          </a:p>
        </c:txPr>
        <c:crossAx val="2118791784"/>
        <c:crosses val="autoZero"/>
      </c:valAx>
    </c:plotArea>
    <c:plotVisOnly val="1"/>
    <c:dispBlanksAs val="gap"/>
    <c:showDLblsOverMax val="0"/>
  </c:chart>
  <c:txPr>
    <a:bodyPr/>
    <a:lstStyle/>
    <a:p>
      <a:pPr>
        <a:defRPr sz="1000">
          <a:latin typeface="Helvetica"/>
        </a:defRPr>
      </a:pPr>
      <a:endParaRPr lang="en-US"/>
    </a:p>
  </c:txPr>
  <c:externalData r:id="rId1">
    <c:autoUpdate val="0"/>
  </c:externalData>
</c:chartSpace>
</file>

<file path=ppt/charts/chart13.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Entrées</c:v>
                </c:pt>
              </c:strCache>
            </c:strRef>
          </c:tx>
          <c:spPr>
            <a:solidFill>
              <a:srgbClr val="112A40"/>
            </a:solidFill>
          </c:spPr>
          <c:cat>
            <c:strRef>
              <c:f>Sheet1!$A$2:$A$30</c:f>
              <c:strCache>
                <c:ptCount val="29"/>
                <c:pt idx="0">
                  <c:v>févr. 24</c:v>
                </c:pt>
                <c:pt idx="1">
                  <c:v>mars 24</c:v>
                </c:pt>
                <c:pt idx="2">
                  <c:v>avr. 24</c:v>
                </c:pt>
                <c:pt idx="3">
                  <c:v>mai 24</c:v>
                </c:pt>
                <c:pt idx="4">
                  <c:v>juin 24</c:v>
                </c:pt>
                <c:pt idx="5">
                  <c:v>juil. 24</c:v>
                </c:pt>
                <c:pt idx="6">
                  <c:v>août 24</c:v>
                </c:pt>
                <c:pt idx="7">
                  <c:v>sept. 24</c:v>
                </c:pt>
                <c:pt idx="8">
                  <c:v>oct. 24</c:v>
                </c:pt>
                <c:pt idx="9">
                  <c:v>nov. 24</c:v>
                </c:pt>
                <c:pt idx="10">
                  <c:v>févr. 25</c:v>
                </c:pt>
                <c:pt idx="11">
                  <c:v>mars 25</c:v>
                </c:pt>
                <c:pt idx="12">
                  <c:v>avr. 25</c:v>
                </c:pt>
                <c:pt idx="13">
                  <c:v>mai 25</c:v>
                </c:pt>
                <c:pt idx="14">
                  <c:v>juin 25</c:v>
                </c:pt>
                <c:pt idx="15">
                  <c:v>juil. 25</c:v>
                </c:pt>
                <c:pt idx="16">
                  <c:v>août 25</c:v>
                </c:pt>
                <c:pt idx="17">
                  <c:v>sept. 25</c:v>
                </c:pt>
                <c:pt idx="18">
                  <c:v>oct. 25</c:v>
                </c:pt>
                <c:pt idx="19">
                  <c:v>nov. 25</c:v>
                </c:pt>
                <c:pt idx="20">
                  <c:v>déc. 25</c:v>
                </c:pt>
                <c:pt idx="21">
                  <c:v>janv. 26</c:v>
                </c:pt>
                <c:pt idx="22">
                  <c:v>févr. 26</c:v>
                </c:pt>
                <c:pt idx="23">
                  <c:v>mars 26</c:v>
                </c:pt>
                <c:pt idx="24">
                  <c:v>avr. 26</c:v>
                </c:pt>
                <c:pt idx="25">
                  <c:v>mai 26</c:v>
                </c:pt>
                <c:pt idx="26">
                  <c:v>juin 26</c:v>
                </c:pt>
                <c:pt idx="27">
                  <c:v>juil. 26</c:v>
                </c:pt>
                <c:pt idx="28">
                  <c:v>août 26</c:v>
                </c:pt>
              </c:strCache>
            </c:strRef>
          </c:cat>
          <c:val>
            <c:numRef>
              <c:f>Sheet1!$B$2:$B$30</c:f>
              <c:numCache>
                <c:formatCode># ##0</c:formatCode>
                <c:ptCount val="29"/>
                <c:pt idx="0">
                  <c:v>26</c:v>
                </c:pt>
                <c:pt idx="1">
                  <c:v>4</c:v>
                </c:pt>
                <c:pt idx="2">
                  <c:v>17</c:v>
                </c:pt>
                <c:pt idx="3">
                  <c:v>640</c:v>
                </c:pt>
                <c:pt idx="4">
                  <c:v>3</c:v>
                </c:pt>
                <c:pt idx="5">
                  <c:v>4926</c:v>
                </c:pt>
                <c:pt idx="6">
                  <c:v>4</c:v>
                </c:pt>
                <c:pt idx="7">
                  <c:v>3</c:v>
                </c:pt>
                <c:pt idx="8">
                  <c:v>583</c:v>
                </c:pt>
                <c:pt idx="9">
                  <c:v>34</c:v>
                </c:pt>
                <c:pt idx="10">
                  <c:v>4</c:v>
                </c:pt>
                <c:pt idx="11">
                  <c:v>5</c:v>
                </c:pt>
                <c:pt idx="12">
                  <c:v>8</c:v>
                </c:pt>
                <c:pt idx="13">
                  <c:v>2</c:v>
                </c:pt>
                <c:pt idx="14">
                  <c:v>4</c:v>
                </c:pt>
                <c:pt idx="15">
                  <c:v>4127</c:v>
                </c:pt>
                <c:pt idx="16">
                  <c:v>13</c:v>
                </c:pt>
                <c:pt idx="17">
                  <c:v>9</c:v>
                </c:pt>
                <c:pt idx="18">
                  <c:v>33</c:v>
                </c:pt>
                <c:pt idx="19">
                  <c:v>19</c:v>
                </c:pt>
                <c:pt idx="20">
                  <c:v>50</c:v>
                </c:pt>
                <c:pt idx="21">
                  <c:v>35</c:v>
                </c:pt>
                <c:pt idx="22">
                  <c:v>9</c:v>
                </c:pt>
                <c:pt idx="23">
                  <c:v>1</c:v>
                </c:pt>
                <c:pt idx="24">
                  <c:v>14</c:v>
                </c:pt>
                <c:pt idx="25">
                  <c:v>22</c:v>
                </c:pt>
                <c:pt idx="26">
                  <c:v>10</c:v>
                </c:pt>
                <c:pt idx="27">
                  <c:v>7</c:v>
                </c:pt>
                <c:pt idx="28">
                  <c:v>1</c:v>
                </c:pt>
              </c:numCache>
            </c:numRef>
          </c:val>
        </c:ser>
        <c:ser>
          <c:idx val="1"/>
          <c:order val="1"/>
          <c:tx>
            <c:strRef>
              <c:f>Sheet1!$C$1</c:f>
              <c:strCache>
                <c:ptCount val="1"/>
                <c:pt idx="0">
                  <c:v>Sorties</c:v>
                </c:pt>
              </c:strCache>
            </c:strRef>
          </c:tx>
          <c:spPr>
            <a:solidFill>
              <a:srgbClr val="EFAC62"/>
            </a:solidFill>
          </c:spPr>
          <c:cat>
            <c:strRef>
              <c:f>Sheet1!$A$2:$A$30</c:f>
              <c:strCache>
                <c:ptCount val="29"/>
                <c:pt idx="0">
                  <c:v>févr. 24</c:v>
                </c:pt>
                <c:pt idx="1">
                  <c:v>mars 24</c:v>
                </c:pt>
                <c:pt idx="2">
                  <c:v>avr. 24</c:v>
                </c:pt>
                <c:pt idx="3">
                  <c:v>mai 24</c:v>
                </c:pt>
                <c:pt idx="4">
                  <c:v>juin 24</c:v>
                </c:pt>
                <c:pt idx="5">
                  <c:v>juil. 24</c:v>
                </c:pt>
                <c:pt idx="6">
                  <c:v>août 24</c:v>
                </c:pt>
                <c:pt idx="7">
                  <c:v>sept. 24</c:v>
                </c:pt>
                <c:pt idx="8">
                  <c:v>oct. 24</c:v>
                </c:pt>
                <c:pt idx="9">
                  <c:v>nov. 24</c:v>
                </c:pt>
                <c:pt idx="10">
                  <c:v>févr. 25</c:v>
                </c:pt>
                <c:pt idx="11">
                  <c:v>mars 25</c:v>
                </c:pt>
                <c:pt idx="12">
                  <c:v>avr. 25</c:v>
                </c:pt>
                <c:pt idx="13">
                  <c:v>mai 25</c:v>
                </c:pt>
                <c:pt idx="14">
                  <c:v>juin 25</c:v>
                </c:pt>
                <c:pt idx="15">
                  <c:v>juil. 25</c:v>
                </c:pt>
                <c:pt idx="16">
                  <c:v>août 25</c:v>
                </c:pt>
                <c:pt idx="17">
                  <c:v>sept. 25</c:v>
                </c:pt>
                <c:pt idx="18">
                  <c:v>oct. 25</c:v>
                </c:pt>
                <c:pt idx="19">
                  <c:v>nov. 25</c:v>
                </c:pt>
                <c:pt idx="20">
                  <c:v>déc. 25</c:v>
                </c:pt>
                <c:pt idx="21">
                  <c:v>janv. 26</c:v>
                </c:pt>
                <c:pt idx="22">
                  <c:v>févr. 26</c:v>
                </c:pt>
                <c:pt idx="23">
                  <c:v>mars 26</c:v>
                </c:pt>
                <c:pt idx="24">
                  <c:v>avr. 26</c:v>
                </c:pt>
                <c:pt idx="25">
                  <c:v>mai 26</c:v>
                </c:pt>
                <c:pt idx="26">
                  <c:v>juin 26</c:v>
                </c:pt>
                <c:pt idx="27">
                  <c:v>juil. 26</c:v>
                </c:pt>
                <c:pt idx="28">
                  <c:v>août 26</c:v>
                </c:pt>
              </c:strCache>
            </c:strRef>
          </c:cat>
          <c:val>
            <c:numRef>
              <c:f>Sheet1!$C$2:$C$30</c:f>
              <c:numCache>
                <c:formatCode># ##0</c:formatCode>
                <c:ptCount val="29"/>
                <c:pt idx="0">
                  <c:v>16</c:v>
                </c:pt>
                <c:pt idx="1">
                  <c:v>10</c:v>
                </c:pt>
                <c:pt idx="2">
                  <c:v>14</c:v>
                </c:pt>
                <c:pt idx="3">
                  <c:v>350</c:v>
                </c:pt>
                <c:pt idx="4">
                  <c:v>8</c:v>
                </c:pt>
                <c:pt idx="5">
                  <c:v>639</c:v>
                </c:pt>
                <c:pt idx="6">
                  <c:v>20</c:v>
                </c:pt>
                <c:pt idx="7">
                  <c:v>15</c:v>
                </c:pt>
                <c:pt idx="8">
                  <c:v>85</c:v>
                </c:pt>
                <c:pt idx="9">
                  <c:v>596</c:v>
                </c:pt>
                <c:pt idx="10">
                  <c:v>12</c:v>
                </c:pt>
                <c:pt idx="11">
                  <c:v>12</c:v>
                </c:pt>
                <c:pt idx="12">
                  <c:v>101</c:v>
                </c:pt>
                <c:pt idx="13">
                  <c:v>58</c:v>
                </c:pt>
                <c:pt idx="14">
                  <c:v>64</c:v>
                </c:pt>
                <c:pt idx="15">
                  <c:v>45</c:v>
                </c:pt>
                <c:pt idx="16">
                  <c:v>21</c:v>
                </c:pt>
                <c:pt idx="17">
                  <c:v>42</c:v>
                </c:pt>
                <c:pt idx="18">
                  <c:v>33</c:v>
                </c:pt>
                <c:pt idx="19">
                  <c:v>55</c:v>
                </c:pt>
                <c:pt idx="20">
                  <c:v>21</c:v>
                </c:pt>
                <c:pt idx="21">
                  <c:v>442</c:v>
                </c:pt>
                <c:pt idx="22">
                  <c:v>18</c:v>
                </c:pt>
                <c:pt idx="23">
                  <c:v>13</c:v>
                </c:pt>
                <c:pt idx="24">
                  <c:v>24</c:v>
                </c:pt>
                <c:pt idx="25">
                  <c:v>18</c:v>
                </c:pt>
                <c:pt idx="26">
                  <c:v>20</c:v>
                </c:pt>
                <c:pt idx="27">
                  <c:v>18</c:v>
                </c:pt>
                <c:pt idx="28">
                  <c:v>24</c:v>
                </c:pt>
              </c:numCache>
            </c:numRef>
          </c:val>
        </c:ser>
        <c:gapWidth val="60"/>
        <c:axId val="-2068027336"/>
        <c:axId val="-2113994440"/>
      </c:barChart>
      <c:catAx>
        <c:axId val="-2068027336"/>
        <c:scaling>
          <c:orientation val="minMax"/>
        </c:scaling>
        <c:delete val="0"/>
        <c:axPos val="b"/>
        <c:majorTickMark val="out"/>
        <c:minorTickMark val="none"/>
        <c:tickLblPos val="nextTo"/>
        <c:spPr>
          <a:ln>
            <a:solidFill>
              <a:srgbClr val="BBBCBC"/>
            </a:solidFill>
          </a:ln>
        </c:spPr>
        <c:txPr>
          <a:bodyPr/>
          <a:lstStyle/>
          <a:p>
            <a:pPr>
              <a:defRPr sz="1000"/>
            </a:pPr>
          </a:p>
        </c:txPr>
        <c:crossAx val="-2113994440"/>
        <c:crosses val="autoZero"/>
        <c:auto val="1"/>
        <c:lblAlgn val="ctr"/>
        <c:lblOffset val="100"/>
        <c:noMultiLvlLbl val="0"/>
      </c:catAx>
      <c:valAx>
        <c:axId val="-2113994440"/>
        <c:scaling/>
        <c:delete val="0"/>
        <c:axPos val="l"/>
        <c:numFmt formatCode="# ##0" sourceLinked="0"/>
        <c:majorTickMark val="out"/>
        <c:minorTickMark val="none"/>
        <c:tickLblPos val="nextTo"/>
        <c:spPr>
          <a:ln>
            <a:noFill/>
          </a:ln>
        </c:spPr>
        <c:txPr>
          <a:bodyPr/>
          <a:lstStyle/>
          <a:p>
            <a:pPr>
              <a:defRPr sz="1000"/>
            </a:pPr>
          </a:p>
        </c:txPr>
        <c:crossAx val="-2068027336"/>
        <c:crosses val="autoZero"/>
      </c:valAx>
    </c:plotArea>
    <c:legend>
      <c:legendPos val="b"/>
      <c:overlay val="0"/>
      <c:txPr>
        <a:bodyPr/>
        <a:lstStyle/>
        <a:p>
          <a:pPr>
            <a:defRPr sz="1000"/>
          </a:pPr>
        </a:p>
      </c:txPr>
    </c:legend>
    <c:dispBlanksAs val="gap"/>
  </c:chart>
  <c:txPr>
    <a:bodyPr/>
    <a:lstStyle/>
    <a:p>
      <a:pPr>
        <a:defRPr sz="1000">
          <a:latin typeface="Helvetica"/>
        </a:defRPr>
      </a:pPr>
      <a:endParaRPr lang="en-US"/>
    </a:p>
  </c:txPr>
  <c:externalData r:id="rId1">
    <c:autoUpdate val="0"/>
  </c:externalData>
</c:chartSpace>
</file>

<file path=ppt/charts/chart14.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Agents</c:v>
                </c:pt>
              </c:strCache>
            </c:strRef>
          </c:tx>
          <c:spPr>
            <a:solidFill>
              <a:srgbClr val="112A40"/>
            </a:solidFill>
          </c:spPr>
          <c:cat>
            <c:strRef>
              <c:f>Sheet1!$A$2:$A$9</c:f>
              <c:strCache>
                <c:ptCount val="8"/>
                <c:pt idx="0">
                  <c:v>0-5 ans</c:v>
                </c:pt>
                <c:pt idx="1">
                  <c:v>5-10</c:v>
                </c:pt>
                <c:pt idx="2">
                  <c:v>10-15</c:v>
                </c:pt>
                <c:pt idx="3">
                  <c:v>15-20</c:v>
                </c:pt>
                <c:pt idx="4">
                  <c:v>20-25</c:v>
                </c:pt>
                <c:pt idx="5">
                  <c:v>25-30</c:v>
                </c:pt>
                <c:pt idx="6">
                  <c:v>30-35</c:v>
                </c:pt>
                <c:pt idx="7">
                  <c:v>35 ans et +</c:v>
                </c:pt>
              </c:strCache>
            </c:strRef>
          </c:cat>
          <c:val>
            <c:numRef>
              <c:f>Sheet1!$B$2:$B$9</c:f>
              <c:numCache>
                <c:formatCode># ##0</c:formatCode>
                <c:ptCount val="8"/>
                <c:pt idx="0">
                  <c:v>11103</c:v>
                </c:pt>
                <c:pt idx="1">
                  <c:v>4735</c:v>
                </c:pt>
                <c:pt idx="2">
                  <c:v>1496</c:v>
                </c:pt>
                <c:pt idx="3">
                  <c:v>4585</c:v>
                </c:pt>
                <c:pt idx="4">
                  <c:v>3998</c:v>
                </c:pt>
                <c:pt idx="5">
                  <c:v>1817</c:v>
                </c:pt>
                <c:pt idx="6">
                  <c:v>139</c:v>
                </c:pt>
                <c:pt idx="7">
                  <c:v>2</c:v>
                </c:pt>
              </c:numCache>
            </c:numRef>
          </c:val>
        </c:ser>
        <c:dLbls>
          <c:numFmt formatCode="# ##0" sourceLinked="0"/>
          <c:txPr>
            <a:bodyPr/>
            <a:lstStyle/>
            <a:p>
              <a:pPr>
                <a:defRPr sz="1000"/>
              </a:pPr>
            </a:p>
          </c:txPr>
          <c:showLegendKey val="0"/>
          <c:showVal val="1"/>
          <c:showCatName val="0"/>
          <c:showSerName val="0"/>
          <c:showPercent val="0"/>
          <c:showBubbleSize val="0"/>
          <c:showLeaderLines val="1"/>
        </c:dLbls>
        <c:gapWidth val="60"/>
        <c:axId val="-2068027336"/>
        <c:axId val="-2113994440"/>
      </c:barChart>
      <c:catAx>
        <c:axId val="-2068027336"/>
        <c:scaling>
          <c:orientation val="minMax"/>
        </c:scaling>
        <c:delete val="0"/>
        <c:axPos val="b"/>
        <c:majorTickMark val="out"/>
        <c:minorTickMark val="none"/>
        <c:tickLblPos val="nextTo"/>
        <c:spPr>
          <a:ln>
            <a:solidFill>
              <a:srgbClr val="BBBCBC"/>
            </a:solidFill>
          </a:ln>
        </c:spPr>
        <c:txPr>
          <a:bodyPr/>
          <a:lstStyle/>
          <a:p>
            <a:pPr>
              <a:defRPr sz="1000"/>
            </a:pPr>
          </a:p>
        </c:txPr>
        <c:crossAx val="-2113994440"/>
        <c:crosses val="autoZero"/>
        <c:auto val="1"/>
        <c:lblAlgn val="ctr"/>
        <c:lblOffset val="100"/>
        <c:noMultiLvlLbl val="0"/>
      </c:catAx>
      <c:valAx>
        <c:axId val="-2113994440"/>
        <c:scaling/>
        <c:delete/>
        <c:axPos val="l"/>
        <c:numFmt formatCode="# ##0" sourceLinked="0"/>
        <c:majorTickMark val="out"/>
        <c:minorTickMark val="none"/>
        <c:tickLblPos val="nextTo"/>
        <c:spPr>
          <a:ln>
            <a:noFill/>
          </a:ln>
        </c:spPr>
        <c:txPr>
          <a:bodyPr/>
          <a:lstStyle/>
          <a:p>
            <a:pPr>
              <a:defRPr sz="1000"/>
            </a:pPr>
          </a:p>
        </c:txPr>
        <c:crossAx val="-2068027336"/>
        <c:crosses val="autoZero"/>
      </c:valAx>
    </c:plotArea>
    <c:dispBlanksAs val="gap"/>
  </c:chart>
  <c:txPr>
    <a:bodyPr/>
    <a:lstStyle/>
    <a:p>
      <a:pPr>
        <a:defRPr sz="1000">
          <a:latin typeface="Helvetica"/>
        </a:defRPr>
      </a:pPr>
      <a:endParaRPr lang="en-US"/>
    </a:p>
  </c:txPr>
  <c:externalData r:id="rId1">
    <c:autoUpdate val="0"/>
  </c:externalData>
</c:chartSpace>
</file>

<file path=ppt/charts/chart15.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ser>
          <c:idx val="0"/>
          <c:order val="0"/>
          <c:tx>
            <c:strRef>
              <c:f>Sheet1!$B$1</c:f>
              <c:strCache>
                <c:ptCount val="1"/>
                <c:pt idx="0">
                  <c:v>Maladie</c:v>
                </c:pt>
              </c:strCache>
            </c:strRef>
          </c:tx>
          <c:spPr>
            <a:solidFill>
              <a:srgbClr val="112A40"/>
            </a:solidFill>
          </c:spPr>
          <c:cat>
            <c:strRef>
              <c:f>Sheet1!$A$2:$A$4</c:f>
              <c:strCache>
                <c:ptCount val="3"/>
                <c:pt idx="0">
                  <c:v>Barème indiqué en entretien</c:v>
                </c:pt>
                <c:pt idx="1">
                  <c:v>Précompte Solde</c:v>
                </c:pt>
                <c:pt idx="2">
                  <c:v>Comptabilité 2025</c:v>
                </c:pt>
              </c:strCache>
            </c:strRef>
          </c:cat>
          <c:val>
            <c:numRef>
              <c:f>Sheet1!$B$2:$B$4</c:f>
              <c:numCache>
                <c:formatCode>0.00</c:formatCode>
                <c:ptCount val="3"/>
                <c:pt idx="0">
                  <c:v>3.5</c:v>
                </c:pt>
                <c:pt idx="1">
                  <c:v>3.77</c:v>
                </c:pt>
                <c:pt idx="2">
                  <c:v>3.52</c:v>
                </c:pt>
              </c:numCache>
            </c:numRef>
          </c:val>
        </c:ser>
        <c:ser>
          <c:idx val="1"/>
          <c:order val="1"/>
          <c:tx>
            <c:strRef>
              <c:f>Sheet1!$C$1</c:f>
              <c:strCache>
                <c:ptCount val="1"/>
                <c:pt idx="0">
                  <c:v>Décès</c:v>
                </c:pt>
              </c:strCache>
            </c:strRef>
          </c:tx>
          <c:spPr>
            <a:solidFill>
              <a:srgbClr val="EFAC62"/>
            </a:solidFill>
          </c:spPr>
          <c:cat>
            <c:strRef>
              <c:f>Sheet1!$A$2:$A$4</c:f>
              <c:strCache>
                <c:ptCount val="3"/>
                <c:pt idx="0">
                  <c:v>Barème indiqué en entretien</c:v>
                </c:pt>
                <c:pt idx="1">
                  <c:v>Précompte Solde</c:v>
                </c:pt>
                <c:pt idx="2">
                  <c:v>Comptabilité 2025</c:v>
                </c:pt>
              </c:strCache>
            </c:strRef>
          </c:cat>
          <c:val>
            <c:numRef>
              <c:f>Sheet1!$C$2:$C$4</c:f>
              <c:numCache>
                <c:formatCode>0.00</c:formatCode>
                <c:ptCount val="3"/>
                <c:pt idx="0">
                  <c:v>1.5</c:v>
                </c:pt>
                <c:pt idx="1">
                  <c:v>1.23</c:v>
                </c:pt>
                <c:pt idx="2">
                  <c:v>1.48</c:v>
                </c:pt>
              </c:numCache>
            </c:numRef>
          </c:val>
        </c:ser>
        <c:dLbls>
          <c:numFmt formatCode="0.00" sourceLinked="0"/>
          <c:txPr>
            <a:bodyPr/>
            <a:lstStyle/>
            <a:p>
              <a:pPr>
                <a:defRPr sz="1000">
                  <a:solidFill>
                    <a:srgbClr val="FFFFFF"/>
                  </a:solidFill>
                </a:defRPr>
              </a:pPr>
            </a:p>
          </c:txPr>
          <c:showLegendKey val="0"/>
          <c:showVal val="1"/>
          <c:showCatName val="0"/>
          <c:showSerName val="0"/>
          <c:showPercent val="0"/>
          <c:showBubbleSize val="0"/>
          <c:showLeaderLines val="1"/>
        </c:dLbls>
        <c:gapWidth val="60"/>
        <c:overlap val="100"/>
        <c:axId val="-2068027336"/>
        <c:axId val="-2113994440"/>
      </c:barChart>
      <c:catAx>
        <c:axId val="-2068027336"/>
        <c:scaling>
          <c:orientation val="minMax"/>
        </c:scaling>
        <c:delete val="0"/>
        <c:axPos val="b"/>
        <c:majorTickMark val="out"/>
        <c:minorTickMark val="none"/>
        <c:tickLblPos val="nextTo"/>
        <c:spPr>
          <a:ln>
            <a:solidFill>
              <a:srgbClr val="BBBCBC"/>
            </a:solidFill>
          </a:ln>
        </c:spPr>
        <c:txPr>
          <a:bodyPr/>
          <a:lstStyle/>
          <a:p>
            <a:pPr>
              <a:defRPr sz="1000"/>
            </a:pPr>
          </a:p>
        </c:txPr>
        <c:crossAx val="-2113994440"/>
        <c:crosses val="autoZero"/>
        <c:auto val="1"/>
        <c:lblAlgn val="ctr"/>
        <c:lblOffset val="100"/>
        <c:noMultiLvlLbl val="0"/>
      </c:catAx>
      <c:valAx>
        <c:axId val="-2113994440"/>
        <c:scaling/>
        <c:delete/>
        <c:axPos val="l"/>
        <c:numFmt formatCode="0.00" sourceLinked="0"/>
        <c:majorTickMark val="out"/>
        <c:minorTickMark val="none"/>
        <c:tickLblPos val="nextTo"/>
        <c:spPr>
          <a:ln>
            <a:noFill/>
          </a:ln>
        </c:spPr>
        <c:txPr>
          <a:bodyPr/>
          <a:lstStyle/>
          <a:p>
            <a:pPr>
              <a:defRPr sz="1000"/>
            </a:pPr>
          </a:p>
        </c:txPr>
        <c:crossAx val="-2068027336"/>
        <c:crosses val="autoZero"/>
      </c:valAx>
    </c:plotArea>
    <c:legend>
      <c:legendPos val="b"/>
      <c:overlay val="0"/>
      <c:txPr>
        <a:bodyPr/>
        <a:lstStyle/>
        <a:p>
          <a:pPr>
            <a:defRPr sz="1000"/>
          </a:pPr>
        </a:p>
      </c:txPr>
    </c:legend>
    <c:dispBlanksAs val="gap"/>
  </c:chart>
  <c:txPr>
    <a:bodyPr/>
    <a:lstStyle/>
    <a:p>
      <a:pPr>
        <a:defRPr sz="1000">
          <a:latin typeface="Helvetica"/>
        </a:defRPr>
      </a:pPr>
      <a:endParaRPr lang="en-US"/>
    </a:p>
  </c:txPr>
  <c:externalData r:id="rId1">
    <c:autoUpdate val="0"/>
  </c:externalData>
</c:chartSpace>
</file>

<file path=ppt/charts/chart16.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S/C maladie</c:v>
                </c:pt>
              </c:strCache>
            </c:strRef>
          </c:tx>
          <c:spPr>
            <a:solidFill>
              <a:srgbClr val="112A40"/>
            </a:solidFill>
          </c:spPr>
          <c:cat>
            <c:strRef>
              <c:f>Sheet1!$A$2:$A$4</c:f>
              <c:strCache>
                <c:ptCount val="3"/>
                <c:pt idx="0">
                  <c:v>Clé comptable</c:v>
                </c:pt>
                <c:pt idx="1">
                  <c:v>Clé de la Solde (3,77 / 1,23)</c:v>
                </c:pt>
                <c:pt idx="2">
                  <c:v>Barème indiqué (3,5 / 1,5)</c:v>
                </c:pt>
              </c:strCache>
            </c:strRef>
          </c:cat>
          <c:val>
            <c:numRef>
              <c:f>Sheet1!$B$2:$B$4</c:f>
              <c:numCache>
                <c:formatCode>0.00</c:formatCode>
                <c:ptCount val="3"/>
                <c:pt idx="0">
                  <c:v>73.53</c:v>
                </c:pt>
                <c:pt idx="1">
                  <c:v>68.75</c:v>
                </c:pt>
                <c:pt idx="2">
                  <c:v>74.06</c:v>
                </c:pt>
              </c:numCache>
            </c:numRef>
          </c:val>
        </c:ser>
        <c:ser>
          <c:idx val="1"/>
          <c:order val="1"/>
          <c:tx>
            <c:strRef>
              <c:f>Sheet1!$C$1</c:f>
              <c:strCache>
                <c:ptCount val="1"/>
                <c:pt idx="0">
                  <c:v>S/C décès</c:v>
                </c:pt>
              </c:strCache>
            </c:strRef>
          </c:tx>
          <c:spPr>
            <a:solidFill>
              <a:srgbClr val="EFAC62"/>
            </a:solidFill>
          </c:spPr>
          <c:cat>
            <c:strRef>
              <c:f>Sheet1!$A$2:$A$4</c:f>
              <c:strCache>
                <c:ptCount val="3"/>
                <c:pt idx="0">
                  <c:v>Clé comptable</c:v>
                </c:pt>
                <c:pt idx="1">
                  <c:v>Clé de la Solde (3,77 / 1,23)</c:v>
                </c:pt>
                <c:pt idx="2">
                  <c:v>Barème indiqué (3,5 / 1,5)</c:v>
                </c:pt>
              </c:strCache>
            </c:strRef>
          </c:cat>
          <c:val>
            <c:numRef>
              <c:f>Sheet1!$C$2:$C$4</c:f>
              <c:numCache>
                <c:formatCode>0.00</c:formatCode>
                <c:ptCount val="3"/>
                <c:pt idx="0">
                  <c:v>19.16</c:v>
                </c:pt>
                <c:pt idx="1">
                  <c:v>22.97</c:v>
                </c:pt>
                <c:pt idx="2">
                  <c:v>18.84</c:v>
                </c:pt>
              </c:numCache>
            </c:numRef>
          </c:val>
        </c:ser>
        <c:dLbls>
          <c:numFmt formatCode="0.00" sourceLinked="0"/>
          <c:txPr>
            <a:bodyPr/>
            <a:lstStyle/>
            <a:p>
              <a:pPr>
                <a:defRPr sz="1000"/>
              </a:pPr>
            </a:p>
          </c:txPr>
          <c:showLegendKey val="0"/>
          <c:showVal val="1"/>
          <c:showCatName val="0"/>
          <c:showSerName val="0"/>
          <c:showPercent val="0"/>
          <c:showBubbleSize val="0"/>
          <c:showLeaderLines val="1"/>
        </c:dLbls>
        <c:gapWidth val="60"/>
        <c:axId val="-2068027336"/>
        <c:axId val="-2113994440"/>
      </c:barChart>
      <c:catAx>
        <c:axId val="-2068027336"/>
        <c:scaling>
          <c:orientation val="minMax"/>
        </c:scaling>
        <c:delete val="0"/>
        <c:axPos val="b"/>
        <c:majorTickMark val="out"/>
        <c:minorTickMark val="none"/>
        <c:tickLblPos val="nextTo"/>
        <c:spPr>
          <a:ln>
            <a:solidFill>
              <a:srgbClr val="BBBCBC"/>
            </a:solidFill>
          </a:ln>
        </c:spPr>
        <c:txPr>
          <a:bodyPr/>
          <a:lstStyle/>
          <a:p>
            <a:pPr>
              <a:defRPr sz="1000"/>
            </a:pPr>
          </a:p>
        </c:txPr>
        <c:crossAx val="-2113994440"/>
        <c:crosses val="autoZero"/>
        <c:auto val="1"/>
        <c:lblAlgn val="ctr"/>
        <c:lblOffset val="100"/>
        <c:noMultiLvlLbl val="0"/>
      </c:catAx>
      <c:valAx>
        <c:axId val="-2113994440"/>
        <c:scaling/>
        <c:delete/>
        <c:axPos val="l"/>
        <c:numFmt formatCode="0.00" sourceLinked="0"/>
        <c:majorTickMark val="out"/>
        <c:minorTickMark val="none"/>
        <c:tickLblPos val="nextTo"/>
        <c:spPr>
          <a:ln>
            <a:noFill/>
          </a:ln>
        </c:spPr>
        <c:txPr>
          <a:bodyPr/>
          <a:lstStyle/>
          <a:p>
            <a:pPr>
              <a:defRPr sz="1000"/>
            </a:pPr>
          </a:p>
        </c:txPr>
        <c:crossAx val="-2068027336"/>
        <c:crosses val="autoZero"/>
      </c:valAx>
    </c:plotArea>
    <c:legend>
      <c:legendPos val="b"/>
      <c:overlay val="0"/>
      <c:txPr>
        <a:bodyPr/>
        <a:lstStyle/>
        <a:p>
          <a:pPr>
            <a:defRPr sz="1000"/>
          </a:pPr>
        </a:p>
      </c:txPr>
    </c:legend>
    <c:dispBlanksAs val="gap"/>
  </c:chart>
  <c:txPr>
    <a:bodyPr/>
    <a:lstStyle/>
    <a:p>
      <a:pPr>
        <a:defRPr sz="1000">
          <a:latin typeface="Helvetica"/>
        </a:defRPr>
      </a:pPr>
      <a:endParaRPr lang="en-US"/>
    </a:p>
  </c:txPr>
  <c:externalData r:id="rId1">
    <c:autoUpdate val="0"/>
  </c:externalData>
</c:chartSpace>
</file>

<file path=ppt/charts/chart1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fr-FR"/>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5.2884615384615398E-2"/>
          <c:y val="0.102380773316306"/>
          <c:w val="0.89423076923076905"/>
          <c:h val="0.58056971629208098"/>
        </c:manualLayout>
      </c:layout>
      <c:doughnutChart>
        <c:varyColors val="1"/>
        <c:ser>
          <c:idx val="0"/>
          <c:order val="0"/>
          <c:tx>
            <c:strRef>
              <c:f>Sheet1!$B$1</c:f>
              <c:strCache>
                <c:ptCount val="1"/>
                <c:pt idx="0">
                  <c:v>Série</c:v>
                </c:pt>
              </c:strCache>
            </c:strRef>
          </c:tx>
          <c:spPr>
            <a:ln>
              <a:noFill/>
            </a:ln>
          </c:spPr>
          <c:dPt>
            <c:idx val="0"/>
            <c:bubble3D val="0"/>
            <c:spPr>
              <a:solidFill>
                <a:srgbClr val="EFAC62"/>
              </a:solidFill>
              <a:ln w="19050">
                <a:noFill/>
              </a:ln>
              <a:effectLst/>
            </c:spPr>
            <c:extLst>
              <c:ext xmlns:c16="http://schemas.microsoft.com/office/drawing/2014/chart" uri="{C3380CC4-5D6E-409C-BE32-E72D297353CC}">
                <c16:uniqueId val="{00000001-021A-48FF-9FB3-982F078F5DD6}"/>
              </c:ext>
            </c:extLst>
          </c:dPt>
          <c:dPt>
            <c:idx val="1"/>
            <c:bubble3D val="0"/>
            <c:spPr>
              <a:solidFill>
                <a:srgbClr val="112A40"/>
              </a:solidFill>
              <a:ln w="19050">
                <a:noFill/>
              </a:ln>
              <a:effectLst/>
            </c:spPr>
            <c:extLst>
              <c:ext xmlns:c16="http://schemas.microsoft.com/office/drawing/2014/chart" uri="{C3380CC4-5D6E-409C-BE32-E72D297353CC}">
                <c16:uniqueId val="{00000003-021A-48FF-9FB3-982F078F5DD6}"/>
              </c:ext>
            </c:extLst>
          </c:dPt>
          <c:cat>
            <c:strRef>
              <c:f>Sheet1!$A$2:$A$3</c:f>
              <c:strCache>
                <c:ptCount val="2"/>
                <c:pt idx="0">
                  <c:v>Valeur</c:v>
                </c:pt>
                <c:pt idx="1">
                  <c:v>Reste</c:v>
                </c:pt>
              </c:strCache>
            </c:strRef>
          </c:cat>
          <c:val>
            <c:numRef>
              <c:f>Sheet1!$B$2:$B$3</c:f>
              <c:numCache>
                <c:formatCode>General</c:formatCode>
                <c:ptCount val="2"/>
                <c:pt idx="0">
                  <c:v>73.53</c:v>
                </c:pt>
                <c:pt idx="1">
                  <c:v>26.47</c:v>
                </c:pt>
              </c:numCache>
            </c:numRef>
          </c:val>
          <c:extLst>
            <c:ext xmlns:c16="http://schemas.microsoft.com/office/drawing/2014/chart" uri="{C3380CC4-5D6E-409C-BE32-E72D297353CC}">
              <c16:uniqueId val="{00000004-021A-48FF-9FB3-982F078F5DD6}"/>
            </c:ext>
          </c:extLst>
        </c:ser>
        <c:dLbls>
          <c:showLegendKey val="0"/>
          <c:showVal val="0"/>
          <c:showCatName val="0"/>
          <c:showSerName val="0"/>
          <c:showPercent val="0"/>
          <c:showBubbleSize val="0"/>
          <c:showLeaderLines val="1"/>
        </c:dLbls>
        <c:firstSliceAng val="0"/>
        <c:holeSize val="75"/>
      </c:doughnutChart>
      <c:spPr>
        <a:noFill/>
        <a:ln>
          <a:noFill/>
        </a:ln>
        <a:effectLst/>
      </c:spPr>
    </c:plotArea>
    <c:plotVisOnly val="1"/>
    <c:dispBlanksAs val="gap"/>
    <c:showDLblsOverMax val="0"/>
  </c:chart>
  <c:spPr>
    <a:noFill/>
    <a:ln>
      <a:noFill/>
    </a:ln>
    <a:effectLst/>
  </c:spPr>
  <c:txPr>
    <a:bodyPr/>
    <a:lstStyle/>
    <a:p>
      <a:pPr>
        <a:defRPr/>
      </a:pPr>
      <a:endParaRPr lang="fr-FR"/>
    </a:p>
  </c:txPr>
  <c:externalData r:id="rId3">
    <c:autoUpdate val="0"/>
  </c:externalData>
</c:chartSpace>
</file>

<file path=ppt/charts/chart1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fr-FR"/>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5.2884615384615398E-2"/>
          <c:y val="0.102380773316306"/>
          <c:w val="0.89423076923076905"/>
          <c:h val="0.58056971629208098"/>
        </c:manualLayout>
      </c:layout>
      <c:doughnutChart>
        <c:varyColors val="1"/>
        <c:ser>
          <c:idx val="0"/>
          <c:order val="0"/>
          <c:tx>
            <c:strRef>
              <c:f>Sheet1!$B$1</c:f>
              <c:strCache>
                <c:ptCount val="1"/>
                <c:pt idx="0">
                  <c:v>Série</c:v>
                </c:pt>
              </c:strCache>
            </c:strRef>
          </c:tx>
          <c:spPr>
            <a:ln>
              <a:noFill/>
            </a:ln>
          </c:spPr>
          <c:dPt>
            <c:idx val="0"/>
            <c:bubble3D val="0"/>
            <c:spPr>
              <a:solidFill>
                <a:srgbClr val="EFAC62"/>
              </a:solidFill>
              <a:ln w="19050">
                <a:noFill/>
              </a:ln>
              <a:effectLst/>
            </c:spPr>
            <c:extLst>
              <c:ext xmlns:c16="http://schemas.microsoft.com/office/drawing/2014/chart" uri="{C3380CC4-5D6E-409C-BE32-E72D297353CC}">
                <c16:uniqueId val="{00000001-706D-4F64-BD6B-61C00E14F388}"/>
              </c:ext>
            </c:extLst>
          </c:dPt>
          <c:dPt>
            <c:idx val="1"/>
            <c:bubble3D val="0"/>
            <c:spPr>
              <a:solidFill>
                <a:srgbClr val="112A40"/>
              </a:solidFill>
              <a:ln w="19050">
                <a:noFill/>
              </a:ln>
              <a:effectLst/>
            </c:spPr>
            <c:extLst>
              <c:ext xmlns:c16="http://schemas.microsoft.com/office/drawing/2014/chart" uri="{C3380CC4-5D6E-409C-BE32-E72D297353CC}">
                <c16:uniqueId val="{00000003-706D-4F64-BD6B-61C00E14F388}"/>
              </c:ext>
            </c:extLst>
          </c:dPt>
          <c:cat>
            <c:strRef>
              <c:f>Sheet1!$A$2:$A$3</c:f>
              <c:strCache>
                <c:ptCount val="2"/>
                <c:pt idx="0">
                  <c:v>Valeur</c:v>
                </c:pt>
                <c:pt idx="1">
                  <c:v>Reste</c:v>
                </c:pt>
              </c:strCache>
            </c:strRef>
          </c:cat>
          <c:val>
            <c:numRef>
              <c:f>Sheet1!$B$2:$B$3</c:f>
              <c:numCache>
                <c:formatCode>General</c:formatCode>
                <c:ptCount val="2"/>
                <c:pt idx="0">
                  <c:v>16.28</c:v>
                </c:pt>
                <c:pt idx="1">
                  <c:v>83.72</c:v>
                </c:pt>
              </c:numCache>
            </c:numRef>
          </c:val>
          <c:extLst>
            <c:ext xmlns:c16="http://schemas.microsoft.com/office/drawing/2014/chart" uri="{C3380CC4-5D6E-409C-BE32-E72D297353CC}">
              <c16:uniqueId val="{00000004-706D-4F64-BD6B-61C00E14F388}"/>
            </c:ext>
          </c:extLst>
        </c:ser>
        <c:dLbls>
          <c:showLegendKey val="0"/>
          <c:showVal val="0"/>
          <c:showCatName val="0"/>
          <c:showSerName val="0"/>
          <c:showPercent val="0"/>
          <c:showBubbleSize val="0"/>
          <c:showLeaderLines val="1"/>
        </c:dLbls>
        <c:firstSliceAng val="0"/>
        <c:holeSize val="75"/>
      </c:doughnutChart>
      <c:spPr>
        <a:noFill/>
        <a:ln>
          <a:noFill/>
        </a:ln>
        <a:effectLst/>
      </c:spPr>
    </c:plotArea>
    <c:plotVisOnly val="1"/>
    <c:dispBlanksAs val="gap"/>
    <c:showDLblsOverMax val="0"/>
  </c:chart>
  <c:spPr>
    <a:noFill/>
    <a:ln>
      <a:noFill/>
    </a:ln>
    <a:effectLst/>
  </c:spPr>
  <c:txPr>
    <a:bodyPr/>
    <a:lstStyle/>
    <a:p>
      <a:pPr>
        <a:defRPr/>
      </a:pPr>
      <a:endParaRPr lang="fr-FR"/>
    </a:p>
  </c:txPr>
  <c:externalData r:id="rId3">
    <c:autoUpdate val="0"/>
  </c:externalData>
</c:chartSpace>
</file>

<file path=ppt/charts/chart1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fr-FR"/>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5.2884615384615398E-2"/>
          <c:y val="0.102380773316306"/>
          <c:w val="0.89423076923076905"/>
          <c:h val="0.58056971629208098"/>
        </c:manualLayout>
      </c:layout>
      <c:doughnutChart>
        <c:varyColors val="1"/>
        <c:ser>
          <c:idx val="0"/>
          <c:order val="0"/>
          <c:tx>
            <c:strRef>
              <c:f>Sheet1!$B$1</c:f>
              <c:strCache>
                <c:ptCount val="1"/>
                <c:pt idx="0">
                  <c:v>Série</c:v>
                </c:pt>
              </c:strCache>
            </c:strRef>
          </c:tx>
          <c:spPr>
            <a:ln>
              <a:noFill/>
            </a:ln>
          </c:spPr>
          <c:dPt>
            <c:idx val="0"/>
            <c:bubble3D val="0"/>
            <c:spPr>
              <a:solidFill>
                <a:srgbClr val="EFAC62"/>
              </a:solidFill>
              <a:ln w="19050">
                <a:noFill/>
              </a:ln>
              <a:effectLst/>
            </c:spPr>
            <c:extLst>
              <c:ext xmlns:c16="http://schemas.microsoft.com/office/drawing/2014/chart" uri="{C3380CC4-5D6E-409C-BE32-E72D297353CC}">
                <c16:uniqueId val="{00000001-750D-4441-85D1-EEC67D758551}"/>
              </c:ext>
            </c:extLst>
          </c:dPt>
          <c:dPt>
            <c:idx val="1"/>
            <c:bubble3D val="0"/>
            <c:spPr>
              <a:solidFill>
                <a:srgbClr val="112A40"/>
              </a:solidFill>
              <a:ln w="19050">
                <a:noFill/>
              </a:ln>
              <a:effectLst/>
            </c:spPr>
            <c:extLst>
              <c:ext xmlns:c16="http://schemas.microsoft.com/office/drawing/2014/chart" uri="{C3380CC4-5D6E-409C-BE32-E72D297353CC}">
                <c16:uniqueId val="{00000003-750D-4441-85D1-EEC67D758551}"/>
              </c:ext>
            </c:extLst>
          </c:dPt>
          <c:cat>
            <c:strRef>
              <c:f>Sheet1!$A$2:$A$3</c:f>
              <c:strCache>
                <c:ptCount val="2"/>
                <c:pt idx="0">
                  <c:v>Valeur</c:v>
                </c:pt>
                <c:pt idx="1">
                  <c:v>Reste</c:v>
                </c:pt>
              </c:strCache>
            </c:strRef>
          </c:cat>
          <c:val>
            <c:numRef>
              <c:f>Sheet1!$B$2:$B$3</c:f>
              <c:numCache>
                <c:formatCode>General</c:formatCode>
                <c:ptCount val="2"/>
                <c:pt idx="0">
                  <c:v>5.07</c:v>
                </c:pt>
                <c:pt idx="1">
                  <c:v>94.93</c:v>
                </c:pt>
              </c:numCache>
            </c:numRef>
          </c:val>
          <c:extLst>
            <c:ext xmlns:c16="http://schemas.microsoft.com/office/drawing/2014/chart" uri="{C3380CC4-5D6E-409C-BE32-E72D297353CC}">
              <c16:uniqueId val="{00000004-750D-4441-85D1-EEC67D758551}"/>
            </c:ext>
          </c:extLst>
        </c:ser>
        <c:dLbls>
          <c:showLegendKey val="0"/>
          <c:showVal val="0"/>
          <c:showCatName val="0"/>
          <c:showSerName val="0"/>
          <c:showPercent val="0"/>
          <c:showBubbleSize val="0"/>
          <c:showLeaderLines val="1"/>
        </c:dLbls>
        <c:firstSliceAng val="0"/>
        <c:holeSize val="75"/>
      </c:doughnutChart>
      <c:spPr>
        <a:noFill/>
        <a:ln>
          <a:noFill/>
        </a:ln>
        <a:effectLst/>
      </c:spPr>
    </c:plotArea>
    <c:plotVisOnly val="1"/>
    <c:dispBlanksAs val="gap"/>
    <c:showDLblsOverMax val="0"/>
  </c:chart>
  <c:spPr>
    <a:noFill/>
    <a:ln>
      <a:noFill/>
    </a:ln>
    <a:effectLst/>
  </c:spPr>
  <c:txPr>
    <a:bodyPr/>
    <a:lstStyle/>
    <a:p>
      <a:pPr>
        <a:defRPr/>
      </a:pPr>
      <a:endParaRPr lang="fr-FR"/>
    </a:p>
  </c:txPr>
  <c:externalData r:id="rId3">
    <c:autoUpdate val="0"/>
  </c:externalData>
</c:chartSpace>
</file>

<file path=ppt/charts/chart2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fr-FR"/>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5.2884615384615398E-2"/>
          <c:y val="0.102380773316306"/>
          <c:w val="0.89423076923076905"/>
          <c:h val="0.58056971629208098"/>
        </c:manualLayout>
      </c:layout>
      <c:doughnutChart>
        <c:varyColors val="1"/>
        <c:ser>
          <c:idx val="0"/>
          <c:order val="0"/>
          <c:tx>
            <c:strRef>
              <c:f>Sheet1!$B$1</c:f>
              <c:strCache>
                <c:ptCount val="1"/>
                <c:pt idx="0">
                  <c:v>Série</c:v>
                </c:pt>
              </c:strCache>
            </c:strRef>
          </c:tx>
          <c:spPr>
            <a:ln>
              <a:noFill/>
            </a:ln>
          </c:spPr>
          <c:dPt>
            <c:idx val="0"/>
            <c:bubble3D val="0"/>
            <c:spPr>
              <a:solidFill>
                <a:srgbClr val="EFAC62"/>
              </a:solidFill>
              <a:ln w="19050">
                <a:noFill/>
              </a:ln>
              <a:effectLst/>
            </c:spPr>
            <c:extLst>
              <c:ext xmlns:c16="http://schemas.microsoft.com/office/drawing/2014/chart" uri="{C3380CC4-5D6E-409C-BE32-E72D297353CC}">
                <c16:uniqueId val="{00000001-82E9-4DDD-8BC6-295B0F874A85}"/>
              </c:ext>
            </c:extLst>
          </c:dPt>
          <c:dPt>
            <c:idx val="1"/>
            <c:bubble3D val="0"/>
            <c:spPr>
              <a:solidFill>
                <a:srgbClr val="112A40"/>
              </a:solidFill>
              <a:ln w="19050">
                <a:noFill/>
              </a:ln>
              <a:effectLst/>
            </c:spPr>
            <c:extLst>
              <c:ext xmlns:c16="http://schemas.microsoft.com/office/drawing/2014/chart" uri="{C3380CC4-5D6E-409C-BE32-E72D297353CC}">
                <c16:uniqueId val="{00000003-82E9-4DDD-8BC6-295B0F874A85}"/>
              </c:ext>
            </c:extLst>
          </c:dPt>
          <c:cat>
            <c:strRef>
              <c:f>Sheet1!$A$2:$A$3</c:f>
              <c:strCache>
                <c:ptCount val="2"/>
                <c:pt idx="0">
                  <c:v>Valeur</c:v>
                </c:pt>
                <c:pt idx="1">
                  <c:v>Reste</c:v>
                </c:pt>
              </c:strCache>
            </c:strRef>
          </c:cat>
          <c:val>
            <c:numRef>
              <c:f>Sheet1!$B$2:$B$3</c:f>
              <c:numCache>
                <c:formatCode>General</c:formatCode>
                <c:ptCount val="2"/>
                <c:pt idx="0">
                  <c:v>21.34</c:v>
                </c:pt>
                <c:pt idx="1">
                  <c:v>78.66</c:v>
                </c:pt>
              </c:numCache>
            </c:numRef>
          </c:val>
          <c:extLst>
            <c:ext xmlns:c16="http://schemas.microsoft.com/office/drawing/2014/chart" uri="{C3380CC4-5D6E-409C-BE32-E72D297353CC}">
              <c16:uniqueId val="{00000004-82E9-4DDD-8BC6-295B0F874A85}"/>
            </c:ext>
          </c:extLst>
        </c:ser>
        <c:dLbls>
          <c:showLegendKey val="0"/>
          <c:showVal val="0"/>
          <c:showCatName val="0"/>
          <c:showSerName val="0"/>
          <c:showPercent val="0"/>
          <c:showBubbleSize val="0"/>
          <c:showLeaderLines val="1"/>
        </c:dLbls>
        <c:firstSliceAng val="0"/>
        <c:holeSize val="75"/>
      </c:doughnutChart>
      <c:spPr>
        <a:noFill/>
        <a:ln>
          <a:noFill/>
        </a:ln>
        <a:effectLst/>
      </c:spPr>
    </c:plotArea>
    <c:plotVisOnly val="1"/>
    <c:dispBlanksAs val="gap"/>
    <c:showDLblsOverMax val="0"/>
  </c:chart>
  <c:spPr>
    <a:noFill/>
    <a:ln>
      <a:noFill/>
    </a:ln>
    <a:effectLst/>
  </c:spPr>
  <c:txPr>
    <a:bodyPr/>
    <a:lstStyle/>
    <a:p>
      <a:pPr>
        <a:defRPr/>
      </a:pPr>
      <a:endParaRPr lang="fr-FR"/>
    </a:p>
  </c:txPr>
  <c:externalData r:id="rId3">
    <c:autoUpdate val="0"/>
  </c:externalData>
</c:chartSpace>
</file>

<file path=ppt/charts/chart21.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Frais de gestion</c:v>
                </c:pt>
              </c:strCache>
            </c:strRef>
          </c:tx>
          <c:spPr>
            <a:solidFill>
              <a:srgbClr val="BBBCBC"/>
            </a:solidFill>
          </c:spPr>
          <c:cat>
            <c:strRef>
              <c:f>Sheet1!$A$2:$A$8</c:f>
              <c:strCache>
                <c:ptCount val="7"/>
                <c:pt idx="0">
                  <c:v>2020</c:v>
                </c:pt>
                <c:pt idx="1">
                  <c:v>2021</c:v>
                </c:pt>
                <c:pt idx="2">
                  <c:v>2022</c:v>
                </c:pt>
                <c:pt idx="3">
                  <c:v>2023</c:v>
                </c:pt>
                <c:pt idx="4">
                  <c:v>2024</c:v>
                </c:pt>
                <c:pt idx="5">
                  <c:v>2025</c:v>
                </c:pt>
                <c:pt idx="6">
                  <c:v>2026 (8 mois)</c:v>
                </c:pt>
              </c:strCache>
            </c:strRef>
          </c:cat>
          <c:val>
            <c:numRef>
              <c:f>Sheet1!$B$2:$B$8</c:f>
              <c:numCache>
                <c:formatCode># ##0,,</c:formatCode>
                <c:ptCount val="7"/>
                <c:pt idx="0">
                  <c:v>1210624559</c:v>
                </c:pt>
                <c:pt idx="1">
                  <c:v>961975477</c:v>
                </c:pt>
                <c:pt idx="2">
                  <c:v>1020461388</c:v>
                </c:pt>
                <c:pt idx="3">
                  <c:v>1039977199</c:v>
                </c:pt>
                <c:pt idx="4">
                  <c:v>987308865</c:v>
                </c:pt>
                <c:pt idx="5">
                  <c:v>1101350021</c:v>
                </c:pt>
                <c:pt idx="6">
                  <c:v>1055460837</c:v>
                </c:pt>
              </c:numCache>
            </c:numRef>
          </c:val>
        </c:ser>
        <c:ser>
          <c:idx val="1"/>
          <c:order val="1"/>
          <c:tx>
            <c:strRef>
              <c:f>Sheet1!$C$1</c:f>
              <c:strCache>
                <c:ptCount val="1"/>
                <c:pt idx="0">
                  <c:v>Résultat net</c:v>
                </c:pt>
              </c:strCache>
            </c:strRef>
          </c:tx>
          <c:spPr>
            <a:solidFill>
              <a:srgbClr val="112A40"/>
            </a:solidFill>
          </c:spPr>
          <c:cat>
            <c:strRef>
              <c:f>Sheet1!$A$2:$A$8</c:f>
              <c:strCache>
                <c:ptCount val="7"/>
                <c:pt idx="0">
                  <c:v>2020</c:v>
                </c:pt>
                <c:pt idx="1">
                  <c:v>2021</c:v>
                </c:pt>
                <c:pt idx="2">
                  <c:v>2022</c:v>
                </c:pt>
                <c:pt idx="3">
                  <c:v>2023</c:v>
                </c:pt>
                <c:pt idx="4">
                  <c:v>2024</c:v>
                </c:pt>
                <c:pt idx="5">
                  <c:v>2025</c:v>
                </c:pt>
                <c:pt idx="6">
                  <c:v>2026 (8 mois)</c:v>
                </c:pt>
              </c:strCache>
            </c:strRef>
          </c:cat>
          <c:val>
            <c:numRef>
              <c:f>Sheet1!$C$2:$C$8</c:f>
              <c:numCache>
                <c:formatCode># ##0,,</c:formatCode>
                <c:ptCount val="7"/>
                <c:pt idx="0">
                  <c:v>1018579699</c:v>
                </c:pt>
                <c:pt idx="1">
                  <c:v>2083908202</c:v>
                </c:pt>
                <c:pt idx="2">
                  <c:v>2060332677</c:v>
                </c:pt>
                <c:pt idx="3">
                  <c:v>930629102</c:v>
                </c:pt>
                <c:pt idx="4">
                  <c:v>792069641</c:v>
                </c:pt>
                <c:pt idx="5">
                  <c:v>437899911</c:v>
                </c:pt>
                <c:pt idx="6">
                  <c:v>-441256500</c:v>
                </c:pt>
              </c:numCache>
            </c:numRef>
          </c:val>
        </c:ser>
        <c:dLbls>
          <c:numFmt formatCode="# ##0,," sourceLinked="0"/>
          <c:txPr>
            <a:bodyPr/>
            <a:lstStyle/>
            <a:p>
              <a:pPr>
                <a:defRPr sz="1000"/>
              </a:pPr>
            </a:p>
          </c:txPr>
          <c:showLegendKey val="0"/>
          <c:showVal val="1"/>
          <c:showCatName val="0"/>
          <c:showSerName val="0"/>
          <c:showPercent val="0"/>
          <c:showBubbleSize val="0"/>
          <c:showLeaderLines val="1"/>
        </c:dLbls>
        <c:gapWidth val="60"/>
        <c:axId val="-2068027336"/>
        <c:axId val="-2113994440"/>
      </c:barChart>
      <c:catAx>
        <c:axId val="-2068027336"/>
        <c:scaling>
          <c:orientation val="minMax"/>
        </c:scaling>
        <c:delete val="0"/>
        <c:axPos val="b"/>
        <c:majorTickMark val="out"/>
        <c:minorTickMark val="none"/>
        <c:tickLblPos val="low"/>
        <c:spPr>
          <a:ln>
            <a:solidFill>
              <a:srgbClr val="BBBCBC"/>
            </a:solidFill>
          </a:ln>
        </c:spPr>
        <c:txPr>
          <a:bodyPr/>
          <a:lstStyle/>
          <a:p>
            <a:pPr>
              <a:defRPr sz="1000"/>
            </a:pPr>
          </a:p>
        </c:txPr>
        <c:crossAx val="-2113994440"/>
        <c:crosses val="autoZero"/>
        <c:auto val="1"/>
        <c:lblAlgn val="ctr"/>
        <c:lblOffset val="100"/>
        <c:noMultiLvlLbl val="0"/>
      </c:catAx>
      <c:valAx>
        <c:axId val="-2113994440"/>
        <c:scaling/>
        <c:delete/>
        <c:axPos val="l"/>
        <c:numFmt formatCode="# ##0,," sourceLinked="0"/>
        <c:majorTickMark val="out"/>
        <c:minorTickMark val="none"/>
        <c:tickLblPos val="nextTo"/>
        <c:spPr>
          <a:ln>
            <a:noFill/>
          </a:ln>
        </c:spPr>
        <c:txPr>
          <a:bodyPr/>
          <a:lstStyle/>
          <a:p>
            <a:pPr>
              <a:defRPr sz="1000"/>
            </a:pPr>
          </a:p>
        </c:txPr>
        <c:crossAx val="-2068027336"/>
        <c:crosses val="autoZero"/>
      </c:valAx>
    </c:plotArea>
    <c:legend>
      <c:legendPos val="b"/>
      <c:overlay val="0"/>
      <c:txPr>
        <a:bodyPr/>
        <a:lstStyle/>
        <a:p>
          <a:pPr>
            <a:defRPr sz="1000"/>
          </a:pPr>
        </a:p>
      </c:txPr>
    </c:legend>
    <c:dispBlanksAs val="gap"/>
  </c:chart>
  <c:txPr>
    <a:bodyPr/>
    <a:lstStyle/>
    <a:p>
      <a:pPr>
        <a:defRPr sz="1000">
          <a:latin typeface="Helvetica"/>
        </a:defRPr>
      </a:pPr>
      <a:endParaRPr lang="en-US"/>
    </a:p>
  </c:txPr>
  <c:externalData r:id="rId1">
    <c:autoUpdate val="0"/>
  </c:externalData>
</c:chartSpace>
</file>

<file path=ppt/charts/chart22.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Épargne PEP et EFC</c:v>
                </c:pt>
              </c:strCache>
            </c:strRef>
          </c:tx>
          <c:spPr>
            <a:solidFill>
              <a:srgbClr val="112A40"/>
            </a:solidFill>
          </c:spPr>
          <c:cat>
            <c:strRef>
              <c:f>Sheet1!$A$2:$A$8</c:f>
              <c:strCache>
                <c:ptCount val="7"/>
                <c:pt idx="0">
                  <c:v>2020</c:v>
                </c:pt>
                <c:pt idx="1">
                  <c:v>2021</c:v>
                </c:pt>
                <c:pt idx="2">
                  <c:v>2022</c:v>
                </c:pt>
                <c:pt idx="3">
                  <c:v>2023</c:v>
                </c:pt>
                <c:pt idx="4">
                  <c:v>2024</c:v>
                </c:pt>
                <c:pt idx="5">
                  <c:v>2025</c:v>
                </c:pt>
                <c:pt idx="6">
                  <c:v>31/08/2026</c:v>
                </c:pt>
              </c:strCache>
            </c:strRef>
          </c:cat>
          <c:val>
            <c:numRef>
              <c:f>Sheet1!$B$2:$B$8</c:f>
              <c:numCache>
                <c:formatCode># ##0,,</c:formatCode>
                <c:ptCount val="7"/>
                <c:pt idx="0">
                  <c:v>10828205640</c:v>
                </c:pt>
                <c:pt idx="1">
                  <c:v>10147421276</c:v>
                </c:pt>
                <c:pt idx="2">
                  <c:v>9364845293</c:v>
                </c:pt>
                <c:pt idx="3">
                  <c:v>9121576576</c:v>
                </c:pt>
                <c:pt idx="4">
                  <c:v>10785064432</c:v>
                </c:pt>
                <c:pt idx="5">
                  <c:v>13814066964</c:v>
                </c:pt>
                <c:pt idx="6">
                  <c:v>15743516391</c:v>
                </c:pt>
              </c:numCache>
            </c:numRef>
          </c:val>
        </c:ser>
        <c:ser>
          <c:idx val="1"/>
          <c:order val="1"/>
          <c:tx>
            <c:strRef>
              <c:f>Sheet1!$C$1</c:f>
              <c:strCache>
                <c:ptCount val="1"/>
                <c:pt idx="0">
                  <c:v>Actifs réservés</c:v>
                </c:pt>
              </c:strCache>
            </c:strRef>
          </c:tx>
          <c:spPr>
            <a:solidFill>
              <a:srgbClr val="EFAC62"/>
            </a:solidFill>
          </c:spPr>
          <c:cat>
            <c:strRef>
              <c:f>Sheet1!$A$2:$A$8</c:f>
              <c:strCache>
                <c:ptCount val="7"/>
                <c:pt idx="0">
                  <c:v>2020</c:v>
                </c:pt>
                <c:pt idx="1">
                  <c:v>2021</c:v>
                </c:pt>
                <c:pt idx="2">
                  <c:v>2022</c:v>
                </c:pt>
                <c:pt idx="3">
                  <c:v>2023</c:v>
                </c:pt>
                <c:pt idx="4">
                  <c:v>2024</c:v>
                </c:pt>
                <c:pt idx="5">
                  <c:v>2025</c:v>
                </c:pt>
                <c:pt idx="6">
                  <c:v>31/08/2026</c:v>
                </c:pt>
              </c:strCache>
            </c:strRef>
          </c:cat>
          <c:val>
            <c:numRef>
              <c:f>Sheet1!$C$2:$C$8</c:f>
              <c:numCache>
                <c:formatCode># ##0,,</c:formatCode>
                <c:ptCount val="7"/>
                <c:pt idx="0">
                  <c:v>714042784</c:v>
                </c:pt>
                <c:pt idx="1">
                  <c:v>1957211038</c:v>
                </c:pt>
                <c:pt idx="2">
                  <c:v>888844233</c:v>
                </c:pt>
                <c:pt idx="3">
                  <c:v>839212069</c:v>
                </c:pt>
                <c:pt idx="4">
                  <c:v>699925787</c:v>
                </c:pt>
                <c:pt idx="5">
                  <c:v>1608155525</c:v>
                </c:pt>
                <c:pt idx="6">
                  <c:v>2562885661</c:v>
                </c:pt>
              </c:numCache>
            </c:numRef>
          </c:val>
        </c:ser>
        <c:dLbls>
          <c:numFmt formatCode="# ##0,," sourceLinked="0"/>
          <c:txPr>
            <a:bodyPr/>
            <a:lstStyle/>
            <a:p>
              <a:pPr>
                <a:defRPr sz="1000"/>
              </a:pPr>
            </a:p>
          </c:txPr>
          <c:showLegendKey val="0"/>
          <c:showVal val="1"/>
          <c:showCatName val="0"/>
          <c:showSerName val="0"/>
          <c:showPercent val="0"/>
          <c:showBubbleSize val="0"/>
          <c:showLeaderLines val="1"/>
        </c:dLbls>
        <c:gapWidth val="60"/>
        <c:axId val="-2068027336"/>
        <c:axId val="-2113994440"/>
      </c:barChart>
      <c:catAx>
        <c:axId val="-2068027336"/>
        <c:scaling>
          <c:orientation val="minMax"/>
        </c:scaling>
        <c:delete val="0"/>
        <c:axPos val="b"/>
        <c:majorTickMark val="out"/>
        <c:minorTickMark val="none"/>
        <c:tickLblPos val="nextTo"/>
        <c:spPr>
          <a:ln>
            <a:solidFill>
              <a:srgbClr val="BBBCBC"/>
            </a:solidFill>
          </a:ln>
        </c:spPr>
        <c:txPr>
          <a:bodyPr/>
          <a:lstStyle/>
          <a:p>
            <a:pPr>
              <a:defRPr sz="1000"/>
            </a:pPr>
          </a:p>
        </c:txPr>
        <c:crossAx val="-2113994440"/>
        <c:crosses val="autoZero"/>
        <c:auto val="1"/>
        <c:lblAlgn val="ctr"/>
        <c:lblOffset val="100"/>
        <c:noMultiLvlLbl val="0"/>
      </c:catAx>
      <c:valAx>
        <c:axId val="-2113994440"/>
        <c:scaling/>
        <c:delete/>
        <c:axPos val="l"/>
        <c:numFmt formatCode="# ##0,," sourceLinked="0"/>
        <c:majorTickMark val="out"/>
        <c:minorTickMark val="none"/>
        <c:tickLblPos val="nextTo"/>
        <c:spPr>
          <a:ln>
            <a:noFill/>
          </a:ln>
        </c:spPr>
        <c:txPr>
          <a:bodyPr/>
          <a:lstStyle/>
          <a:p>
            <a:pPr>
              <a:defRPr sz="1000"/>
            </a:pPr>
          </a:p>
        </c:txPr>
        <c:crossAx val="-2068027336"/>
        <c:crosses val="autoZero"/>
      </c:valAx>
    </c:plotArea>
    <c:legend>
      <c:legendPos val="b"/>
      <c:overlay val="0"/>
      <c:txPr>
        <a:bodyPr/>
        <a:lstStyle/>
        <a:p>
          <a:pPr>
            <a:defRPr sz="1000"/>
          </a:pPr>
        </a:p>
      </c:txPr>
    </c:legend>
    <c:dispBlanksAs val="gap"/>
  </c:chart>
  <c:txPr>
    <a:bodyPr/>
    <a:lstStyle/>
    <a:p>
      <a:pPr>
        <a:defRPr sz="1000">
          <a:latin typeface="Helvetica"/>
        </a:defRPr>
      </a:pPr>
      <a:endParaRPr lang="en-US"/>
    </a:p>
  </c:txPr>
  <c:externalData r:id="rId1">
    <c:autoUpdate val="0"/>
  </c:externalData>
</c:chartSpace>
</file>

<file path=ppt/charts/chart23.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PEP 998</c:v>
                </c:pt>
              </c:strCache>
            </c:strRef>
          </c:tx>
          <c:spPr>
            <a:solidFill>
              <a:srgbClr val="112A40"/>
            </a:solidFill>
          </c:spPr>
          <c:cat>
            <c:strRef>
              <c:f>Sheet1!$A$2:$A$8</c:f>
              <c:strCache>
                <c:ptCount val="7"/>
                <c:pt idx="0">
                  <c:v>2020</c:v>
                </c:pt>
                <c:pt idx="1">
                  <c:v>2021</c:v>
                </c:pt>
                <c:pt idx="2">
                  <c:v>2022</c:v>
                </c:pt>
                <c:pt idx="3">
                  <c:v>2023</c:v>
                </c:pt>
                <c:pt idx="4">
                  <c:v>2024</c:v>
                </c:pt>
                <c:pt idx="5">
                  <c:v>2025</c:v>
                </c:pt>
                <c:pt idx="6">
                  <c:v>2026 (8 mois)</c:v>
                </c:pt>
              </c:strCache>
            </c:strRef>
          </c:cat>
          <c:val>
            <c:numRef>
              <c:f>Sheet1!$B$2:$B$8</c:f>
              <c:numCache>
                <c:formatCode># ##0,,</c:formatCode>
                <c:ptCount val="7"/>
                <c:pt idx="0">
                  <c:v>293756537</c:v>
                </c:pt>
                <c:pt idx="1">
                  <c:v>322774529</c:v>
                </c:pt>
                <c:pt idx="2">
                  <c:v>509643904</c:v>
                </c:pt>
                <c:pt idx="3">
                  <c:v>927826515</c:v>
                </c:pt>
                <c:pt idx="4">
                  <c:v>1456063820</c:v>
                </c:pt>
                <c:pt idx="5">
                  <c:v>2029929725</c:v>
                </c:pt>
                <c:pt idx="6">
                  <c:v>1606835144</c:v>
                </c:pt>
              </c:numCache>
            </c:numRef>
          </c:val>
        </c:ser>
        <c:ser>
          <c:idx val="1"/>
          <c:order val="1"/>
          <c:tx>
            <c:strRef>
              <c:f>Sheet1!$C$1</c:f>
              <c:strCache>
                <c:ptCount val="1"/>
                <c:pt idx="0">
                  <c:v>EFC 870</c:v>
                </c:pt>
              </c:strCache>
            </c:strRef>
          </c:tx>
          <c:spPr>
            <a:solidFill>
              <a:srgbClr val="EFAC62"/>
            </a:solidFill>
          </c:spPr>
          <c:cat>
            <c:strRef>
              <c:f>Sheet1!$A$2:$A$8</c:f>
              <c:strCache>
                <c:ptCount val="7"/>
                <c:pt idx="0">
                  <c:v>2020</c:v>
                </c:pt>
                <c:pt idx="1">
                  <c:v>2021</c:v>
                </c:pt>
                <c:pt idx="2">
                  <c:v>2022</c:v>
                </c:pt>
                <c:pt idx="3">
                  <c:v>2023</c:v>
                </c:pt>
                <c:pt idx="4">
                  <c:v>2024</c:v>
                </c:pt>
                <c:pt idx="5">
                  <c:v>2025</c:v>
                </c:pt>
                <c:pt idx="6">
                  <c:v>2026 (8 mois)</c:v>
                </c:pt>
              </c:strCache>
            </c:strRef>
          </c:cat>
          <c:val>
            <c:numRef>
              <c:f>Sheet1!$C$2:$C$8</c:f>
              <c:numCache>
                <c:formatCode># ##0,,</c:formatCode>
                <c:ptCount val="7"/>
                <c:pt idx="3">
                  <c:v>1414649440</c:v>
                </c:pt>
                <c:pt idx="4">
                  <c:v>1833953120</c:v>
                </c:pt>
                <c:pt idx="5">
                  <c:v>2160317640</c:v>
                </c:pt>
                <c:pt idx="6">
                  <c:v>1786620720</c:v>
                </c:pt>
              </c:numCache>
            </c:numRef>
          </c:val>
        </c:ser>
        <c:dLbls>
          <c:numFmt formatCode="# ##0,," sourceLinked="0"/>
          <c:txPr>
            <a:bodyPr/>
            <a:lstStyle/>
            <a:p>
              <a:pPr>
                <a:defRPr sz="1000"/>
              </a:pPr>
            </a:p>
          </c:txPr>
          <c:showLegendKey val="0"/>
          <c:showVal val="1"/>
          <c:showCatName val="0"/>
          <c:showSerName val="0"/>
          <c:showPercent val="0"/>
          <c:showBubbleSize val="0"/>
          <c:showLeaderLines val="1"/>
        </c:dLbls>
        <c:gapWidth val="60"/>
        <c:axId val="-2068027336"/>
        <c:axId val="-2113994440"/>
      </c:barChart>
      <c:catAx>
        <c:axId val="-2068027336"/>
        <c:scaling>
          <c:orientation val="minMax"/>
        </c:scaling>
        <c:delete val="0"/>
        <c:axPos val="b"/>
        <c:majorTickMark val="out"/>
        <c:minorTickMark val="none"/>
        <c:tickLblPos val="nextTo"/>
        <c:spPr>
          <a:ln>
            <a:solidFill>
              <a:srgbClr val="BBBCBC"/>
            </a:solidFill>
          </a:ln>
        </c:spPr>
        <c:txPr>
          <a:bodyPr/>
          <a:lstStyle/>
          <a:p>
            <a:pPr>
              <a:defRPr sz="1000"/>
            </a:pPr>
          </a:p>
        </c:txPr>
        <c:crossAx val="-2113994440"/>
        <c:crosses val="autoZero"/>
        <c:auto val="1"/>
        <c:lblAlgn val="ctr"/>
        <c:lblOffset val="100"/>
        <c:noMultiLvlLbl val="0"/>
      </c:catAx>
      <c:valAx>
        <c:axId val="-2113994440"/>
        <c:scaling/>
        <c:delete/>
        <c:axPos val="l"/>
        <c:numFmt formatCode="# ##0,," sourceLinked="0"/>
        <c:majorTickMark val="out"/>
        <c:minorTickMark val="none"/>
        <c:tickLblPos val="nextTo"/>
        <c:spPr>
          <a:ln>
            <a:noFill/>
          </a:ln>
        </c:spPr>
        <c:txPr>
          <a:bodyPr/>
          <a:lstStyle/>
          <a:p>
            <a:pPr>
              <a:defRPr sz="1000"/>
            </a:pPr>
          </a:p>
        </c:txPr>
        <c:crossAx val="-2068027336"/>
        <c:crosses val="autoZero"/>
      </c:valAx>
    </c:plotArea>
    <c:legend>
      <c:legendPos val="b"/>
      <c:overlay val="0"/>
      <c:txPr>
        <a:bodyPr/>
        <a:lstStyle/>
        <a:p>
          <a:pPr>
            <a:defRPr sz="1000"/>
          </a:pPr>
        </a:p>
      </c:txPr>
    </c:legend>
    <c:dispBlanksAs val="gap"/>
  </c:chart>
  <c:txPr>
    <a:bodyPr/>
    <a:lstStyle/>
    <a:p>
      <a:pPr>
        <a:defRPr sz="1000">
          <a:latin typeface="Helvetica"/>
        </a:defRPr>
      </a:pPr>
      <a:endParaRPr lang="en-US"/>
    </a:p>
  </c:txPr>
  <c:externalData r:id="rId1">
    <c:autoUpdate val="0"/>
  </c:externalData>
</c:chartSpace>
</file>

<file path=ppt/charts/chart24.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Montant à rembourser</c:v>
                </c:pt>
              </c:strCache>
            </c:strRef>
          </c:tx>
          <c:spPr>
            <a:solidFill>
              <a:srgbClr val="112A40"/>
            </a:solidFill>
          </c:spPr>
          <c:cat>
            <c:strRef>
              <c:f>Sheet1!$A$2:$A$5</c:f>
              <c:strCache>
                <c:ptCount val="4"/>
                <c:pt idx="0">
                  <c:v>5,00 %</c:v>
                </c:pt>
                <c:pt idx="1">
                  <c:v>10,00 %</c:v>
                </c:pt>
                <c:pt idx="2">
                  <c:v>20,00 %</c:v>
                </c:pt>
                <c:pt idx="3">
                  <c:v>30,00 %</c:v>
                </c:pt>
              </c:strCache>
            </c:strRef>
          </c:cat>
          <c:val>
            <c:numRef>
              <c:f>Sheet1!$B$2:$B$5</c:f>
              <c:numCache>
                <c:formatCode># ##0,,</c:formatCode>
                <c:ptCount val="4"/>
                <c:pt idx="0">
                  <c:v>787175820</c:v>
                </c:pt>
                <c:pt idx="1">
                  <c:v>1574351639</c:v>
                </c:pt>
                <c:pt idx="2">
                  <c:v>3148703278</c:v>
                </c:pt>
                <c:pt idx="3">
                  <c:v>4723054917</c:v>
                </c:pt>
              </c:numCache>
            </c:numRef>
          </c:val>
        </c:ser>
        <c:ser>
          <c:idx val="1"/>
          <c:order val="1"/>
          <c:tx>
            <c:strRef>
              <c:f>Sheet1!$C$1</c:f>
              <c:strCache>
                <c:ptCount val="1"/>
                <c:pt idx="0">
                  <c:v>Actifs réservés</c:v>
                </c:pt>
              </c:strCache>
            </c:strRef>
          </c:tx>
          <c:spPr>
            <a:solidFill>
              <a:srgbClr val="EFAC62"/>
            </a:solidFill>
          </c:spPr>
          <c:cat>
            <c:strRef>
              <c:f>Sheet1!$A$2:$A$5</c:f>
              <c:strCache>
                <c:ptCount val="4"/>
                <c:pt idx="0">
                  <c:v>5,00 %</c:v>
                </c:pt>
                <c:pt idx="1">
                  <c:v>10,00 %</c:v>
                </c:pt>
                <c:pt idx="2">
                  <c:v>20,00 %</c:v>
                </c:pt>
                <c:pt idx="3">
                  <c:v>30,00 %</c:v>
                </c:pt>
              </c:strCache>
            </c:strRef>
          </c:cat>
          <c:val>
            <c:numRef>
              <c:f>Sheet1!$C$2:$C$5</c:f>
              <c:numCache>
                <c:formatCode># ##0,,</c:formatCode>
                <c:ptCount val="4"/>
                <c:pt idx="0">
                  <c:v>2562885661</c:v>
                </c:pt>
                <c:pt idx="1">
                  <c:v>2562885661</c:v>
                </c:pt>
                <c:pt idx="2">
                  <c:v>2562885661</c:v>
                </c:pt>
                <c:pt idx="3">
                  <c:v>2562885661</c:v>
                </c:pt>
              </c:numCache>
            </c:numRef>
          </c:val>
        </c:ser>
        <c:ser>
          <c:idx val="2"/>
          <c:order val="2"/>
          <c:tx>
            <c:strRef>
              <c:f>Sheet1!$D$1</c:f>
              <c:strCache>
                <c:ptCount val="1"/>
                <c:pt idx="0">
                  <c:v>Trésorerie totale</c:v>
                </c:pt>
              </c:strCache>
            </c:strRef>
          </c:tx>
          <c:spPr>
            <a:solidFill>
              <a:srgbClr val="BBBCBC"/>
            </a:solidFill>
          </c:spPr>
          <c:cat>
            <c:strRef>
              <c:f>Sheet1!$A$2:$A$5</c:f>
              <c:strCache>
                <c:ptCount val="4"/>
                <c:pt idx="0">
                  <c:v>5,00 %</c:v>
                </c:pt>
                <c:pt idx="1">
                  <c:v>10,00 %</c:v>
                </c:pt>
                <c:pt idx="2">
                  <c:v>20,00 %</c:v>
                </c:pt>
                <c:pt idx="3">
                  <c:v>30,00 %</c:v>
                </c:pt>
              </c:strCache>
            </c:strRef>
          </c:cat>
          <c:val>
            <c:numRef>
              <c:f>Sheet1!$D$2:$D$5</c:f>
              <c:numCache>
                <c:formatCode># ##0,,</c:formatCode>
                <c:ptCount val="4"/>
                <c:pt idx="0">
                  <c:v>3359100618</c:v>
                </c:pt>
                <c:pt idx="1">
                  <c:v>3359100618</c:v>
                </c:pt>
                <c:pt idx="2">
                  <c:v>3359100618</c:v>
                </c:pt>
                <c:pt idx="3">
                  <c:v>3359100618</c:v>
                </c:pt>
              </c:numCache>
            </c:numRef>
          </c:val>
        </c:ser>
        <c:dLbls>
          <c:numFmt formatCode="# ##0,," sourceLinked="0"/>
          <c:txPr>
            <a:bodyPr/>
            <a:lstStyle/>
            <a:p>
              <a:pPr>
                <a:defRPr sz="1000"/>
              </a:pPr>
            </a:p>
          </c:txPr>
          <c:showLegendKey val="0"/>
          <c:showVal val="1"/>
          <c:showCatName val="0"/>
          <c:showSerName val="0"/>
          <c:showPercent val="0"/>
          <c:showBubbleSize val="0"/>
          <c:showLeaderLines val="1"/>
        </c:dLbls>
        <c:gapWidth val="60"/>
        <c:axId val="-2068027336"/>
        <c:axId val="-2113994440"/>
      </c:barChart>
      <c:catAx>
        <c:axId val="-2068027336"/>
        <c:scaling>
          <c:orientation val="minMax"/>
        </c:scaling>
        <c:delete val="0"/>
        <c:axPos val="b"/>
        <c:majorTickMark val="out"/>
        <c:minorTickMark val="none"/>
        <c:tickLblPos val="nextTo"/>
        <c:spPr>
          <a:ln>
            <a:solidFill>
              <a:srgbClr val="BBBCBC"/>
            </a:solidFill>
          </a:ln>
        </c:spPr>
        <c:txPr>
          <a:bodyPr/>
          <a:lstStyle/>
          <a:p>
            <a:pPr>
              <a:defRPr sz="1000"/>
            </a:pPr>
          </a:p>
        </c:txPr>
        <c:crossAx val="-2113994440"/>
        <c:crosses val="autoZero"/>
        <c:auto val="1"/>
        <c:lblAlgn val="ctr"/>
        <c:lblOffset val="100"/>
        <c:noMultiLvlLbl val="0"/>
      </c:catAx>
      <c:valAx>
        <c:axId val="-2113994440"/>
        <c:scaling/>
        <c:delete/>
        <c:axPos val="l"/>
        <c:numFmt formatCode="# ##0,," sourceLinked="0"/>
        <c:majorTickMark val="out"/>
        <c:minorTickMark val="none"/>
        <c:tickLblPos val="nextTo"/>
        <c:spPr>
          <a:ln>
            <a:noFill/>
          </a:ln>
        </c:spPr>
        <c:txPr>
          <a:bodyPr/>
          <a:lstStyle/>
          <a:p>
            <a:pPr>
              <a:defRPr sz="1000"/>
            </a:pPr>
          </a:p>
        </c:txPr>
        <c:crossAx val="-2068027336"/>
        <c:crosses val="autoZero"/>
      </c:valAx>
    </c:plotArea>
    <c:legend>
      <c:legendPos val="b"/>
      <c:overlay val="0"/>
      <c:txPr>
        <a:bodyPr/>
        <a:lstStyle/>
        <a:p>
          <a:pPr>
            <a:defRPr sz="1000"/>
          </a:pPr>
        </a:p>
      </c:txPr>
    </c:legend>
    <c:dispBlanksAs val="gap"/>
  </c:chart>
  <c:txPr>
    <a:bodyPr/>
    <a:lstStyle/>
    <a:p>
      <a:pPr>
        <a:defRPr sz="1000">
          <a:latin typeface="Helvetica"/>
        </a:defRPr>
      </a:pPr>
      <a:endParaRPr lang="en-US"/>
    </a:p>
  </c:txPr>
  <c:externalData r:id="rId1">
    <c:autoUpdate val="0"/>
  </c:externalData>
</c:chartSpace>
</file>

<file path=ppt/charts/chart25.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Encours</c:v>
                </c:pt>
              </c:strCache>
            </c:strRef>
          </c:tx>
          <c:spPr>
            <a:solidFill>
              <a:srgbClr val="112A40"/>
            </a:solidFill>
          </c:spPr>
          <c:cat>
            <c:strRef>
              <c:f>Sheet1!$A$2:$A$7</c:f>
              <c:strCache>
                <c:ptCount val="6"/>
                <c:pt idx="0">
                  <c:v>31/12/2021</c:v>
                </c:pt>
                <c:pt idx="1">
                  <c:v>31/12/2022</c:v>
                </c:pt>
                <c:pt idx="2">
                  <c:v>31/12/2023</c:v>
                </c:pt>
                <c:pt idx="3">
                  <c:v>31/12/2024</c:v>
                </c:pt>
                <c:pt idx="4">
                  <c:v>31/12/2025</c:v>
                </c:pt>
                <c:pt idx="5">
                  <c:v>31/08/2026</c:v>
                </c:pt>
              </c:strCache>
            </c:strRef>
          </c:cat>
          <c:val>
            <c:numRef>
              <c:f>Sheet1!$B$2:$B$7</c:f>
              <c:numCache>
                <c:formatCode># ##0,,</c:formatCode>
                <c:ptCount val="6"/>
                <c:pt idx="0">
                  <c:v>7900000</c:v>
                </c:pt>
                <c:pt idx="1">
                  <c:v>182555907</c:v>
                </c:pt>
                <c:pt idx="2">
                  <c:v>375172174</c:v>
                </c:pt>
                <c:pt idx="3">
                  <c:v>566643134</c:v>
                </c:pt>
                <c:pt idx="4">
                  <c:v>829623319</c:v>
                </c:pt>
                <c:pt idx="5">
                  <c:v>1044302107</c:v>
                </c:pt>
              </c:numCache>
            </c:numRef>
          </c:val>
        </c:ser>
        <c:ser>
          <c:idx val="1"/>
          <c:order val="1"/>
          <c:tx>
            <c:strRef>
              <c:f>Sheet1!$C$1</c:f>
              <c:strCache>
                <c:ptCount val="1"/>
                <c:pt idx="0">
                  <c:v>Financement FPPN</c:v>
                </c:pt>
              </c:strCache>
            </c:strRef>
          </c:tx>
          <c:spPr>
            <a:solidFill>
              <a:srgbClr val="EFAC62"/>
            </a:solidFill>
          </c:spPr>
          <c:cat>
            <c:strRef>
              <c:f>Sheet1!$A$2:$A$7</c:f>
              <c:strCache>
                <c:ptCount val="6"/>
                <c:pt idx="0">
                  <c:v>31/12/2021</c:v>
                </c:pt>
                <c:pt idx="1">
                  <c:v>31/12/2022</c:v>
                </c:pt>
                <c:pt idx="2">
                  <c:v>31/12/2023</c:v>
                </c:pt>
                <c:pt idx="3">
                  <c:v>31/12/2024</c:v>
                </c:pt>
                <c:pt idx="4">
                  <c:v>31/12/2025</c:v>
                </c:pt>
                <c:pt idx="5">
                  <c:v>31/08/2026</c:v>
                </c:pt>
              </c:strCache>
            </c:strRef>
          </c:cat>
          <c:val>
            <c:numRef>
              <c:f>Sheet1!$C$2:$C$7</c:f>
              <c:numCache>
                <c:formatCode># ##0,,</c:formatCode>
                <c:ptCount val="6"/>
                <c:pt idx="0">
                  <c:v>27030000</c:v>
                </c:pt>
                <c:pt idx="1">
                  <c:v>458483900</c:v>
                </c:pt>
                <c:pt idx="2">
                  <c:v>504192100</c:v>
                </c:pt>
                <c:pt idx="3">
                  <c:v>650882600</c:v>
                </c:pt>
                <c:pt idx="4">
                  <c:v>817121335</c:v>
                </c:pt>
                <c:pt idx="5">
                  <c:v>915477260</c:v>
                </c:pt>
              </c:numCache>
            </c:numRef>
          </c:val>
        </c:ser>
        <c:dLbls>
          <c:numFmt formatCode="# ##0,," sourceLinked="0"/>
          <c:txPr>
            <a:bodyPr/>
            <a:lstStyle/>
            <a:p>
              <a:pPr>
                <a:defRPr sz="1000"/>
              </a:pPr>
            </a:p>
          </c:txPr>
          <c:showLegendKey val="0"/>
          <c:showVal val="1"/>
          <c:showCatName val="0"/>
          <c:showSerName val="0"/>
          <c:showPercent val="0"/>
          <c:showBubbleSize val="0"/>
          <c:showLeaderLines val="1"/>
        </c:dLbls>
        <c:gapWidth val="60"/>
        <c:axId val="-2068027336"/>
        <c:axId val="-2113994440"/>
      </c:barChart>
      <c:catAx>
        <c:axId val="-2068027336"/>
        <c:scaling>
          <c:orientation val="minMax"/>
        </c:scaling>
        <c:delete val="0"/>
        <c:axPos val="b"/>
        <c:majorTickMark val="out"/>
        <c:minorTickMark val="none"/>
        <c:tickLblPos val="nextTo"/>
        <c:spPr>
          <a:ln>
            <a:solidFill>
              <a:srgbClr val="BBBCBC"/>
            </a:solidFill>
          </a:ln>
        </c:spPr>
        <c:txPr>
          <a:bodyPr/>
          <a:lstStyle/>
          <a:p>
            <a:pPr>
              <a:defRPr sz="1000"/>
            </a:pPr>
          </a:p>
        </c:txPr>
        <c:crossAx val="-2113994440"/>
        <c:crosses val="autoZero"/>
        <c:auto val="1"/>
        <c:lblAlgn val="ctr"/>
        <c:lblOffset val="100"/>
        <c:noMultiLvlLbl val="0"/>
      </c:catAx>
      <c:valAx>
        <c:axId val="-2113994440"/>
        <c:scaling/>
        <c:delete/>
        <c:axPos val="l"/>
        <c:numFmt formatCode="# ##0,," sourceLinked="0"/>
        <c:majorTickMark val="out"/>
        <c:minorTickMark val="none"/>
        <c:tickLblPos val="nextTo"/>
        <c:spPr>
          <a:ln>
            <a:noFill/>
          </a:ln>
        </c:spPr>
        <c:txPr>
          <a:bodyPr/>
          <a:lstStyle/>
          <a:p>
            <a:pPr>
              <a:defRPr sz="1000"/>
            </a:pPr>
          </a:p>
        </c:txPr>
        <c:crossAx val="-2068027336"/>
        <c:crosses val="autoZero"/>
      </c:valAx>
    </c:plotArea>
    <c:legend>
      <c:legendPos val="b"/>
      <c:overlay val="0"/>
      <c:txPr>
        <a:bodyPr/>
        <a:lstStyle/>
        <a:p>
          <a:pPr>
            <a:defRPr sz="1000"/>
          </a:pPr>
        </a:p>
      </c:txPr>
    </c:legend>
    <c:dispBlanksAs val="gap"/>
  </c:chart>
  <c:txPr>
    <a:bodyPr/>
    <a:lstStyle/>
    <a:p>
      <a:pPr>
        <a:defRPr sz="1000">
          <a:latin typeface="Helvetica"/>
        </a:defRPr>
      </a:pPr>
      <a:endParaRPr lang="en-US"/>
    </a:p>
  </c:txPr>
  <c:externalData r:id="rId1">
    <c:autoUpdate val="0"/>
  </c:externalData>
</c:chartSpace>
</file>

<file path=ppt/charts/chart26.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ser>
          <c:idx val="0"/>
          <c:order val="0"/>
          <c:tx>
            <c:strRef>
              <c:f>Sheet1!$B$1</c:f>
              <c:strCache>
                <c:ptCount val="1"/>
                <c:pt idx="0">
                  <c:v>Activites generatrice de revenus</c:v>
                </c:pt>
              </c:strCache>
            </c:strRef>
          </c:tx>
          <c:spPr>
            <a:solidFill>
              <a:srgbClr val="112A40"/>
            </a:solidFill>
          </c:spPr>
          <c:cat>
            <c:strRef>
              <c:f>Sheet1!$A$2:$A$7</c:f>
              <c:strCache>
                <c:ptCount val="6"/>
                <c:pt idx="0">
                  <c:v>2021</c:v>
                </c:pt>
                <c:pt idx="1">
                  <c:v>2022</c:v>
                </c:pt>
                <c:pt idx="2">
                  <c:v>2023</c:v>
                </c:pt>
                <c:pt idx="3">
                  <c:v>2024</c:v>
                </c:pt>
                <c:pt idx="4">
                  <c:v>2025</c:v>
                </c:pt>
                <c:pt idx="5">
                  <c:v>2026 (8 mois)</c:v>
                </c:pt>
              </c:strCache>
            </c:strRef>
          </c:cat>
          <c:val>
            <c:numRef>
              <c:f>Sheet1!$B$2:$B$7</c:f>
              <c:numCache>
                <c:formatCode># ##0,,</c:formatCode>
                <c:ptCount val="6"/>
                <c:pt idx="0">
                  <c:v>0</c:v>
                </c:pt>
                <c:pt idx="1">
                  <c:v>42260000</c:v>
                </c:pt>
                <c:pt idx="2">
                  <c:v>44235000</c:v>
                </c:pt>
                <c:pt idx="3">
                  <c:v>50835000</c:v>
                </c:pt>
                <c:pt idx="4">
                  <c:v>66625000</c:v>
                </c:pt>
                <c:pt idx="5">
                  <c:v>79280000</c:v>
                </c:pt>
              </c:numCache>
            </c:numRef>
          </c:val>
        </c:ser>
        <c:ser>
          <c:idx val="1"/>
          <c:order val="1"/>
          <c:tx>
            <c:strRef>
              <c:f>Sheet1!$C$1</c:f>
              <c:strCache>
                <c:ptCount val="1"/>
                <c:pt idx="0">
                  <c:v>Credit de sante</c:v>
                </c:pt>
              </c:strCache>
            </c:strRef>
          </c:tx>
          <c:spPr>
            <a:solidFill>
              <a:srgbClr val="EFAC62"/>
            </a:solidFill>
          </c:spPr>
          <c:cat>
            <c:strRef>
              <c:f>Sheet1!$A$2:$A$7</c:f>
              <c:strCache>
                <c:ptCount val="6"/>
                <c:pt idx="0">
                  <c:v>2021</c:v>
                </c:pt>
                <c:pt idx="1">
                  <c:v>2022</c:v>
                </c:pt>
                <c:pt idx="2">
                  <c:v>2023</c:v>
                </c:pt>
                <c:pt idx="3">
                  <c:v>2024</c:v>
                </c:pt>
                <c:pt idx="4">
                  <c:v>2025</c:v>
                </c:pt>
                <c:pt idx="5">
                  <c:v>2026 (8 mois)</c:v>
                </c:pt>
              </c:strCache>
            </c:strRef>
          </c:cat>
          <c:val>
            <c:numRef>
              <c:f>Sheet1!$C$2:$C$7</c:f>
              <c:numCache>
                <c:formatCode># ##0,,</c:formatCode>
                <c:ptCount val="6"/>
                <c:pt idx="0">
                  <c:v>500000</c:v>
                </c:pt>
                <c:pt idx="1">
                  <c:v>20500000</c:v>
                </c:pt>
                <c:pt idx="2">
                  <c:v>55265000</c:v>
                </c:pt>
                <c:pt idx="3">
                  <c:v>111885000</c:v>
                </c:pt>
                <c:pt idx="4">
                  <c:v>170425000</c:v>
                </c:pt>
                <c:pt idx="5">
                  <c:v>199205000</c:v>
                </c:pt>
              </c:numCache>
            </c:numRef>
          </c:val>
        </c:ser>
        <c:ser>
          <c:idx val="2"/>
          <c:order val="2"/>
          <c:tx>
            <c:strRef>
              <c:f>Sheet1!$D$1</c:f>
              <c:strCache>
                <c:ptCount val="1"/>
                <c:pt idx="0">
                  <c:v>Credit grenier shop</c:v>
                </c:pt>
              </c:strCache>
            </c:strRef>
          </c:tx>
          <c:spPr>
            <a:solidFill>
              <a:srgbClr val="BBBCBC"/>
            </a:solidFill>
          </c:spPr>
          <c:cat>
            <c:strRef>
              <c:f>Sheet1!$A$2:$A$7</c:f>
              <c:strCache>
                <c:ptCount val="6"/>
                <c:pt idx="0">
                  <c:v>2021</c:v>
                </c:pt>
                <c:pt idx="1">
                  <c:v>2022</c:v>
                </c:pt>
                <c:pt idx="2">
                  <c:v>2023</c:v>
                </c:pt>
                <c:pt idx="3">
                  <c:v>2024</c:v>
                </c:pt>
                <c:pt idx="4">
                  <c:v>2025</c:v>
                </c:pt>
                <c:pt idx="5">
                  <c:v>2026 (8 mois)</c:v>
                </c:pt>
              </c:strCache>
            </c:strRef>
          </c:cat>
          <c:val>
            <c:numRef>
              <c:f>Sheet1!$D$2:$D$7</c:f>
              <c:numCache>
                <c:formatCode># ##0,,</c:formatCode>
                <c:ptCount val="6"/>
                <c:pt idx="0">
                  <c:v>0</c:v>
                </c:pt>
                <c:pt idx="1">
                  <c:v>0</c:v>
                </c:pt>
                <c:pt idx="2">
                  <c:v>0</c:v>
                </c:pt>
                <c:pt idx="3">
                  <c:v>2217888</c:v>
                </c:pt>
                <c:pt idx="4">
                  <c:v>5009675</c:v>
                </c:pt>
                <c:pt idx="5">
                  <c:v>892175</c:v>
                </c:pt>
              </c:numCache>
            </c:numRef>
          </c:val>
        </c:ser>
        <c:ser>
          <c:idx val="3"/>
          <c:order val="3"/>
          <c:tx>
            <c:strRef>
              <c:f>Sheet1!$E$1</c:f>
              <c:strCache>
                <c:ptCount val="1"/>
                <c:pt idx="0">
                  <c:v>Credit habitat</c:v>
                </c:pt>
              </c:strCache>
            </c:strRef>
          </c:tx>
          <c:spPr>
            <a:solidFill>
              <a:srgbClr val="060606"/>
            </a:solidFill>
          </c:spPr>
          <c:cat>
            <c:strRef>
              <c:f>Sheet1!$A$2:$A$7</c:f>
              <c:strCache>
                <c:ptCount val="6"/>
                <c:pt idx="0">
                  <c:v>2021</c:v>
                </c:pt>
                <c:pt idx="1">
                  <c:v>2022</c:v>
                </c:pt>
                <c:pt idx="2">
                  <c:v>2023</c:v>
                </c:pt>
                <c:pt idx="3">
                  <c:v>2024</c:v>
                </c:pt>
                <c:pt idx="4">
                  <c:v>2025</c:v>
                </c:pt>
                <c:pt idx="5">
                  <c:v>2026 (8 mois)</c:v>
                </c:pt>
              </c:strCache>
            </c:strRef>
          </c:cat>
          <c:val>
            <c:numRef>
              <c:f>Sheet1!$E$2:$E$7</c:f>
              <c:numCache>
                <c:formatCode># ##0,,</c:formatCode>
                <c:ptCount val="6"/>
                <c:pt idx="0">
                  <c:v>0</c:v>
                </c:pt>
                <c:pt idx="1">
                  <c:v>55820000</c:v>
                </c:pt>
                <c:pt idx="2">
                  <c:v>150605000</c:v>
                </c:pt>
                <c:pt idx="3">
                  <c:v>252625000</c:v>
                </c:pt>
                <c:pt idx="4">
                  <c:v>508842669</c:v>
                </c:pt>
                <c:pt idx="5">
                  <c:v>540495000</c:v>
                </c:pt>
              </c:numCache>
            </c:numRef>
          </c:val>
        </c:ser>
        <c:ser>
          <c:idx val="4"/>
          <c:order val="4"/>
          <c:tx>
            <c:strRef>
              <c:f>Sheet1!$F$1</c:f>
              <c:strCache>
                <c:ptCount val="1"/>
                <c:pt idx="0">
                  <c:v>Credit mariage</c:v>
                </c:pt>
              </c:strCache>
            </c:strRef>
          </c:tx>
          <c:spPr>
            <a:solidFill>
              <a:srgbClr val="53565A"/>
            </a:solidFill>
          </c:spPr>
          <c:cat>
            <c:strRef>
              <c:f>Sheet1!$A$2:$A$7</c:f>
              <c:strCache>
                <c:ptCount val="6"/>
                <c:pt idx="0">
                  <c:v>2021</c:v>
                </c:pt>
                <c:pt idx="1">
                  <c:v>2022</c:v>
                </c:pt>
                <c:pt idx="2">
                  <c:v>2023</c:v>
                </c:pt>
                <c:pt idx="3">
                  <c:v>2024</c:v>
                </c:pt>
                <c:pt idx="4">
                  <c:v>2025</c:v>
                </c:pt>
                <c:pt idx="5">
                  <c:v>2026 (8 mois)</c:v>
                </c:pt>
              </c:strCache>
            </c:strRef>
          </c:cat>
          <c:val>
            <c:numRef>
              <c:f>Sheet1!$F$2:$F$7</c:f>
              <c:numCache>
                <c:formatCode># ##0,,</c:formatCode>
                <c:ptCount val="6"/>
                <c:pt idx="0">
                  <c:v>0</c:v>
                </c:pt>
                <c:pt idx="1">
                  <c:v>3690000</c:v>
                </c:pt>
                <c:pt idx="2">
                  <c:v>7825000</c:v>
                </c:pt>
                <c:pt idx="3">
                  <c:v>15480000</c:v>
                </c:pt>
                <c:pt idx="4">
                  <c:v>21750000</c:v>
                </c:pt>
                <c:pt idx="5">
                  <c:v>19450000</c:v>
                </c:pt>
              </c:numCache>
            </c:numRef>
          </c:val>
        </c:ser>
        <c:ser>
          <c:idx val="5"/>
          <c:order val="5"/>
          <c:tx>
            <c:strRef>
              <c:f>Sheet1!$G$1</c:f>
              <c:strCache>
                <c:ptCount val="1"/>
                <c:pt idx="0">
                  <c:v>Crédit flash</c:v>
                </c:pt>
              </c:strCache>
            </c:strRef>
          </c:tx>
          <c:spPr>
            <a:solidFill>
              <a:srgbClr val="F6D3A8"/>
            </a:solidFill>
          </c:spPr>
          <c:cat>
            <c:strRef>
              <c:f>Sheet1!$A$2:$A$7</c:f>
              <c:strCache>
                <c:ptCount val="6"/>
                <c:pt idx="0">
                  <c:v>2021</c:v>
                </c:pt>
                <c:pt idx="1">
                  <c:v>2022</c:v>
                </c:pt>
                <c:pt idx="2">
                  <c:v>2023</c:v>
                </c:pt>
                <c:pt idx="3">
                  <c:v>2024</c:v>
                </c:pt>
                <c:pt idx="4">
                  <c:v>2025</c:v>
                </c:pt>
                <c:pt idx="5">
                  <c:v>2026 (8 mois)</c:v>
                </c:pt>
              </c:strCache>
            </c:strRef>
          </c:cat>
          <c:val>
            <c:numRef>
              <c:f>Sheet1!$G$2:$G$7</c:f>
              <c:numCache>
                <c:formatCode># ##0,,</c:formatCode>
                <c:ptCount val="6"/>
                <c:pt idx="0">
                  <c:v>0</c:v>
                </c:pt>
                <c:pt idx="1">
                  <c:v>22440100</c:v>
                </c:pt>
                <c:pt idx="2">
                  <c:v>143012090</c:v>
                </c:pt>
                <c:pt idx="3">
                  <c:v>209941000</c:v>
                </c:pt>
                <c:pt idx="4">
                  <c:v>268242800</c:v>
                </c:pt>
                <c:pt idx="5">
                  <c:v>151510000</c:v>
                </c:pt>
              </c:numCache>
            </c:numRef>
          </c:val>
        </c:ser>
        <c:ser>
          <c:idx val="6"/>
          <c:order val="6"/>
          <c:tx>
            <c:strRef>
              <c:f>Sheet1!$H$1</c:f>
              <c:strCache>
                <c:ptCount val="1"/>
                <c:pt idx="0">
                  <c:v>Crédit scolaire</c:v>
                </c:pt>
              </c:strCache>
            </c:strRef>
          </c:tx>
          <c:spPr>
            <a:solidFill>
              <a:srgbClr val="5B7A99"/>
            </a:solidFill>
          </c:spPr>
          <c:cat>
            <c:strRef>
              <c:f>Sheet1!$A$2:$A$7</c:f>
              <c:strCache>
                <c:ptCount val="6"/>
                <c:pt idx="0">
                  <c:v>2021</c:v>
                </c:pt>
                <c:pt idx="1">
                  <c:v>2022</c:v>
                </c:pt>
                <c:pt idx="2">
                  <c:v>2023</c:v>
                </c:pt>
                <c:pt idx="3">
                  <c:v>2024</c:v>
                </c:pt>
                <c:pt idx="4">
                  <c:v>2025</c:v>
                </c:pt>
                <c:pt idx="5">
                  <c:v>2026 (8 mois)</c:v>
                </c:pt>
              </c:strCache>
            </c:strRef>
          </c:cat>
          <c:val>
            <c:numRef>
              <c:f>Sheet1!$H$2:$H$7</c:f>
              <c:numCache>
                <c:formatCode># ##0,,</c:formatCode>
                <c:ptCount val="6"/>
                <c:pt idx="0">
                  <c:v>3700000</c:v>
                </c:pt>
                <c:pt idx="1">
                  <c:v>106550000</c:v>
                </c:pt>
                <c:pt idx="2">
                  <c:v>236870000</c:v>
                </c:pt>
                <c:pt idx="3">
                  <c:v>509425010</c:v>
                </c:pt>
                <c:pt idx="4">
                  <c:v>555305000</c:v>
                </c:pt>
                <c:pt idx="5">
                  <c:v>370515000</c:v>
                </c:pt>
              </c:numCache>
            </c:numRef>
          </c:val>
        </c:ser>
        <c:ser>
          <c:idx val="7"/>
          <c:order val="7"/>
          <c:tx>
            <c:strRef>
              <c:f>Sheet1!$I$1</c:f>
              <c:strCache>
                <c:ptCount val="1"/>
                <c:pt idx="0">
                  <c:v>Equipement domestique</c:v>
                </c:pt>
              </c:strCache>
            </c:strRef>
          </c:tx>
          <c:spPr>
            <a:solidFill>
              <a:srgbClr val="112A40"/>
            </a:solidFill>
          </c:spPr>
          <c:cat>
            <c:strRef>
              <c:f>Sheet1!$A$2:$A$7</c:f>
              <c:strCache>
                <c:ptCount val="6"/>
                <c:pt idx="0">
                  <c:v>2021</c:v>
                </c:pt>
                <c:pt idx="1">
                  <c:v>2022</c:v>
                </c:pt>
                <c:pt idx="2">
                  <c:v>2023</c:v>
                </c:pt>
                <c:pt idx="3">
                  <c:v>2024</c:v>
                </c:pt>
                <c:pt idx="4">
                  <c:v>2025</c:v>
                </c:pt>
                <c:pt idx="5">
                  <c:v>2026 (8 mois)</c:v>
                </c:pt>
              </c:strCache>
            </c:strRef>
          </c:cat>
          <c:val>
            <c:numRef>
              <c:f>Sheet1!$I$2:$I$7</c:f>
              <c:numCache>
                <c:formatCode># ##0,,</c:formatCode>
                <c:ptCount val="6"/>
                <c:pt idx="0">
                  <c:v>3700000</c:v>
                </c:pt>
                <c:pt idx="1">
                  <c:v>18515000</c:v>
                </c:pt>
                <c:pt idx="2">
                  <c:v>28080000</c:v>
                </c:pt>
                <c:pt idx="3">
                  <c:v>32665000</c:v>
                </c:pt>
                <c:pt idx="4">
                  <c:v>13200000</c:v>
                </c:pt>
                <c:pt idx="5">
                  <c:v>22455000</c:v>
                </c:pt>
              </c:numCache>
            </c:numRef>
          </c:val>
        </c:ser>
        <c:gapWidth val="60"/>
        <c:overlap val="100"/>
        <c:axId val="-2068027336"/>
        <c:axId val="-2113994440"/>
      </c:barChart>
      <c:catAx>
        <c:axId val="-2068027336"/>
        <c:scaling>
          <c:orientation val="minMax"/>
        </c:scaling>
        <c:delete val="0"/>
        <c:axPos val="b"/>
        <c:majorTickMark val="out"/>
        <c:minorTickMark val="none"/>
        <c:tickLblPos val="nextTo"/>
        <c:spPr>
          <a:ln>
            <a:solidFill>
              <a:srgbClr val="BBBCBC"/>
            </a:solidFill>
          </a:ln>
        </c:spPr>
        <c:txPr>
          <a:bodyPr/>
          <a:lstStyle/>
          <a:p>
            <a:pPr>
              <a:defRPr sz="1000"/>
            </a:pPr>
          </a:p>
        </c:txPr>
        <c:crossAx val="-2113994440"/>
        <c:crosses val="autoZero"/>
        <c:auto val="1"/>
        <c:lblAlgn val="ctr"/>
        <c:lblOffset val="100"/>
        <c:noMultiLvlLbl val="0"/>
      </c:catAx>
      <c:valAx>
        <c:axId val="-2113994440"/>
        <c:scaling/>
        <c:delete val="0"/>
        <c:axPos val="l"/>
        <c:numFmt formatCode="# ##0,," sourceLinked="0"/>
        <c:majorTickMark val="out"/>
        <c:minorTickMark val="none"/>
        <c:tickLblPos val="nextTo"/>
        <c:spPr>
          <a:ln>
            <a:noFill/>
          </a:ln>
        </c:spPr>
        <c:txPr>
          <a:bodyPr/>
          <a:lstStyle/>
          <a:p>
            <a:pPr>
              <a:defRPr sz="1000"/>
            </a:pPr>
          </a:p>
        </c:txPr>
        <c:crossAx val="-2068027336"/>
        <c:crosses val="autoZero"/>
      </c:valAx>
    </c:plotArea>
    <c:legend>
      <c:legendPos/>
      <c:overlay val="0"/>
      <c:txPr>
        <a:bodyPr/>
        <a:lstStyle/>
        <a:p>
          <a:pPr>
            <a:defRPr sz="1000"/>
          </a:pPr>
        </a:p>
      </c:txPr>
    </c:legend>
    <c:dispBlanksAs val="gap"/>
  </c:chart>
  <c:txPr>
    <a:bodyPr/>
    <a:lstStyle/>
    <a:p>
      <a:pPr>
        <a:defRPr sz="1000">
          <a:latin typeface="Helvetica"/>
        </a:defRPr>
      </a:pPr>
      <a:endParaRPr lang="en-US"/>
    </a:p>
  </c:txPr>
  <c:externalData r:id="rId1">
    <c:autoUpdate val="0"/>
  </c:externalData>
</c:chartSpace>
</file>

<file path=ppt/charts/chart27.xml><?xml version="1.0" encoding="utf-8"?>
<c:chartSpace xmlns:c="http://schemas.openxmlformats.org/drawingml/2006/chart" xmlns:a="http://schemas.openxmlformats.org/drawingml/2006/main" xmlns:r="http://schemas.openxmlformats.org/officeDocument/2006/relationships">
  <c:date1904 val="0"/>
  <c:chart>
    <c:autoTitleDeleted val="1"/>
    <c:plotArea>
      <c:lineChart>
        <c:grouping val="standard"/>
        <c:varyColors val="0"/>
        <c:ser>
          <c:idx val="0"/>
          <c:order val="0"/>
          <c:tx>
            <c:strRef>
              <c:f>Sheet1!$B$1</c:f>
              <c:strCache>
                <c:ptCount val="1"/>
                <c:pt idx="0">
                  <c:v>Plus de 30 jours</c:v>
                </c:pt>
              </c:strCache>
            </c:strRef>
          </c:tx>
          <c:spPr>
            <a:ln w="28575">
              <a:solidFill>
                <a:srgbClr val="112A40"/>
              </a:solidFill>
            </a:ln>
          </c:spPr>
          <c:marker>
            <c:spPr>
              <a:solidFill>
                <a:srgbClr val="112A40"/>
              </a:solidFill>
              <a:ln>
                <a:solidFill>
                  <a:srgbClr val="112A40"/>
                </a:solidFill>
              </a:ln>
            </c:spPr>
          </c:marker>
          <c:cat>
            <c:strRef>
              <c:f>Sheet1!$A$2:$A$13</c:f>
              <c:strCache>
                <c:ptCount val="12"/>
                <c:pt idx="0">
                  <c:v>31/12/2021</c:v>
                </c:pt>
                <c:pt idx="1">
                  <c:v>31/12/2022</c:v>
                </c:pt>
                <c:pt idx="2">
                  <c:v>31/12/2023</c:v>
                </c:pt>
                <c:pt idx="3">
                  <c:v>31/12/2024</c:v>
                </c:pt>
                <c:pt idx="4">
                  <c:v>31/12/2025</c:v>
                </c:pt>
                <c:pt idx="5">
                  <c:v>31/01/2026</c:v>
                </c:pt>
                <c:pt idx="6">
                  <c:v>31/03/2026</c:v>
                </c:pt>
                <c:pt idx="7">
                  <c:v>30/04/2026</c:v>
                </c:pt>
                <c:pt idx="8">
                  <c:v>31/05/2026</c:v>
                </c:pt>
                <c:pt idx="9">
                  <c:v>30/06/2026</c:v>
                </c:pt>
                <c:pt idx="10">
                  <c:v>31/07/2026</c:v>
                </c:pt>
                <c:pt idx="11">
                  <c:v>31/08/2026</c:v>
                </c:pt>
              </c:strCache>
            </c:strRef>
          </c:cat>
          <c:val>
            <c:numRef>
              <c:f>Sheet1!$B$2:$B$13</c:f>
              <c:numCache>
                <c:formatCode>0.00</c:formatCode>
                <c:ptCount val="12"/>
                <c:pt idx="0">
                  <c:v>0.0</c:v>
                </c:pt>
                <c:pt idx="1">
                  <c:v>8.74</c:v>
                </c:pt>
                <c:pt idx="2">
                  <c:v>0.24</c:v>
                </c:pt>
                <c:pt idx="3">
                  <c:v>1.72</c:v>
                </c:pt>
                <c:pt idx="4">
                  <c:v>3.8</c:v>
                </c:pt>
                <c:pt idx="5">
                  <c:v>61.96</c:v>
                </c:pt>
                <c:pt idx="6">
                  <c:v>35.37</c:v>
                </c:pt>
                <c:pt idx="7">
                  <c:v>21.99</c:v>
                </c:pt>
                <c:pt idx="8">
                  <c:v>13.99</c:v>
                </c:pt>
                <c:pt idx="9">
                  <c:v>8.52</c:v>
                </c:pt>
                <c:pt idx="10">
                  <c:v>3.96</c:v>
                </c:pt>
                <c:pt idx="11">
                  <c:v>1.83</c:v>
                </c:pt>
              </c:numCache>
            </c:numRef>
          </c:val>
          <c:smooth val="0"/>
        </c:ser>
        <c:ser>
          <c:idx val="1"/>
          <c:order val="1"/>
          <c:tx>
            <c:strRef>
              <c:f>Sheet1!$C$1</c:f>
              <c:strCache>
                <c:ptCount val="1"/>
                <c:pt idx="0">
                  <c:v>Plus de 90 jours</c:v>
                </c:pt>
              </c:strCache>
            </c:strRef>
          </c:tx>
          <c:spPr>
            <a:ln w="28575">
              <a:solidFill>
                <a:srgbClr val="EFAC62"/>
              </a:solidFill>
            </a:ln>
          </c:spPr>
          <c:marker>
            <c:spPr>
              <a:solidFill>
                <a:srgbClr val="EFAC62"/>
              </a:solidFill>
              <a:ln>
                <a:solidFill>
                  <a:srgbClr val="EFAC62"/>
                </a:solidFill>
              </a:ln>
            </c:spPr>
          </c:marker>
          <c:cat>
            <c:strRef>
              <c:f>Sheet1!$A$2:$A$13</c:f>
              <c:strCache>
                <c:ptCount val="12"/>
                <c:pt idx="0">
                  <c:v>31/12/2021</c:v>
                </c:pt>
                <c:pt idx="1">
                  <c:v>31/12/2022</c:v>
                </c:pt>
                <c:pt idx="2">
                  <c:v>31/12/2023</c:v>
                </c:pt>
                <c:pt idx="3">
                  <c:v>31/12/2024</c:v>
                </c:pt>
                <c:pt idx="4">
                  <c:v>31/12/2025</c:v>
                </c:pt>
                <c:pt idx="5">
                  <c:v>31/01/2026</c:v>
                </c:pt>
                <c:pt idx="6">
                  <c:v>31/03/2026</c:v>
                </c:pt>
                <c:pt idx="7">
                  <c:v>30/04/2026</c:v>
                </c:pt>
                <c:pt idx="8">
                  <c:v>31/05/2026</c:v>
                </c:pt>
                <c:pt idx="9">
                  <c:v>30/06/2026</c:v>
                </c:pt>
                <c:pt idx="10">
                  <c:v>31/07/2026</c:v>
                </c:pt>
                <c:pt idx="11">
                  <c:v>31/08/2026</c:v>
                </c:pt>
              </c:strCache>
            </c:strRef>
          </c:cat>
          <c:val>
            <c:numRef>
              <c:f>Sheet1!$C$2:$C$13</c:f>
              <c:numCache>
                <c:formatCode>0.00</c:formatCode>
                <c:ptCount val="12"/>
                <c:pt idx="0">
                  <c:v>0.0</c:v>
                </c:pt>
                <c:pt idx="1">
                  <c:v>8.74</c:v>
                </c:pt>
                <c:pt idx="2">
                  <c:v>0.24</c:v>
                </c:pt>
                <c:pt idx="3">
                  <c:v>1.32</c:v>
                </c:pt>
                <c:pt idx="4">
                  <c:v>0.85</c:v>
                </c:pt>
                <c:pt idx="5">
                  <c:v>0.93</c:v>
                </c:pt>
                <c:pt idx="6">
                  <c:v>35.23</c:v>
                </c:pt>
                <c:pt idx="7">
                  <c:v>21.93</c:v>
                </c:pt>
                <c:pt idx="8">
                  <c:v>13.78</c:v>
                </c:pt>
                <c:pt idx="9">
                  <c:v>8.17</c:v>
                </c:pt>
                <c:pt idx="10">
                  <c:v>3.79</c:v>
                </c:pt>
                <c:pt idx="11">
                  <c:v>1.71</c:v>
                </c:pt>
              </c:numCache>
            </c:numRef>
          </c:val>
          <c:smooth val="0"/>
        </c:ser>
        <c:marker val="1"/>
        <c:smooth val="0"/>
        <c:axId val="2118791784"/>
        <c:axId val="2140495176"/>
      </c:lineChart>
      <c:catAx>
        <c:axId val="2118791784"/>
        <c:scaling>
          <c:orientation val="minMax"/>
        </c:scaling>
        <c:delete val="0"/>
        <c:axPos val="b"/>
        <c:majorTickMark val="out"/>
        <c:minorTickMark val="none"/>
        <c:tickLblPos val="nextTo"/>
        <c:spPr>
          <a:ln>
            <a:solidFill>
              <a:srgbClr val="BBBCBC"/>
            </a:solidFill>
          </a:ln>
        </c:spPr>
        <c:txPr>
          <a:bodyPr/>
          <a:lstStyle/>
          <a:p>
            <a:pPr>
              <a:defRPr sz="1000"/>
            </a:pPr>
          </a:p>
        </c:txPr>
        <c:crossAx val="2140495176"/>
        <c:crosses val="autoZero"/>
        <c:auto val="1"/>
        <c:lblAlgn val="ctr"/>
        <c:lblOffset val="100"/>
        <c:noMultiLvlLbl val="0"/>
      </c:catAx>
      <c:valAx>
        <c:axId val="2140495176"/>
        <c:scaling/>
        <c:delete val="0"/>
        <c:axPos val="l"/>
        <c:numFmt formatCode="0.00" sourceLinked="0"/>
        <c:majorTickMark val="out"/>
        <c:minorTickMark val="none"/>
        <c:tickLblPos val="nextTo"/>
        <c:spPr>
          <a:ln>
            <a:noFill/>
          </a:ln>
        </c:spPr>
        <c:txPr>
          <a:bodyPr/>
          <a:lstStyle/>
          <a:p>
            <a:pPr>
              <a:defRPr sz="1000"/>
            </a:pPr>
          </a:p>
        </c:txPr>
        <c:crossAx val="2118791784"/>
        <c:crosses val="autoZero"/>
      </c:valAx>
    </c:plotArea>
    <c:legend>
      <c:legendPos val="b"/>
      <c:layout/>
      <c:overlay val="0"/>
      <c:txPr>
        <a:bodyPr/>
        <a:lstStyle/>
        <a:p>
          <a:pPr>
            <a:defRPr sz="1000"/>
          </a:pPr>
        </a:p>
      </c:txPr>
    </c:legend>
    <c:plotVisOnly val="1"/>
    <c:dispBlanksAs val="gap"/>
    <c:showDLblsOverMax val="0"/>
  </c:chart>
  <c:txPr>
    <a:bodyPr/>
    <a:lstStyle/>
    <a:p>
      <a:pPr>
        <a:defRPr sz="1000">
          <a:latin typeface="Helvetica"/>
        </a:defRPr>
      </a:pPr>
      <a:endParaRPr lang="en-US"/>
    </a:p>
  </c:txPr>
  <c:externalData r:id="rId1">
    <c:autoUpdate val="0"/>
  </c:externalData>
</c:chartSpace>
</file>

<file path=ppt/charts/chart28.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Échéances</c:v>
                </c:pt>
              </c:strCache>
            </c:strRef>
          </c:tx>
          <c:spPr>
            <a:solidFill>
              <a:srgbClr val="112A40"/>
            </a:solidFill>
          </c:spPr>
          <c:cat>
            <c:strRef>
              <c:f>Sheet1!$A$2:$A$8</c:f>
              <c:strCache>
                <c:ptCount val="7"/>
                <c:pt idx="0">
                  <c:v>janv. 26</c:v>
                </c:pt>
                <c:pt idx="1">
                  <c:v>mars 26</c:v>
                </c:pt>
                <c:pt idx="2">
                  <c:v>avr. 26</c:v>
                </c:pt>
                <c:pt idx="3">
                  <c:v>mai 26</c:v>
                </c:pt>
                <c:pt idx="4">
                  <c:v>juin 26</c:v>
                </c:pt>
                <c:pt idx="5">
                  <c:v>juil. 26</c:v>
                </c:pt>
                <c:pt idx="6">
                  <c:v>août 26</c:v>
                </c:pt>
              </c:strCache>
            </c:strRef>
          </c:cat>
          <c:val>
            <c:numRef>
              <c:f>Sheet1!$B$2:$B$8</c:f>
              <c:numCache>
                <c:formatCode># ##0,,</c:formatCode>
                <c:ptCount val="7"/>
                <c:pt idx="0">
                  <c:v>167784430</c:v>
                </c:pt>
                <c:pt idx="1">
                  <c:v>184076769</c:v>
                </c:pt>
                <c:pt idx="2">
                  <c:v>168474822</c:v>
                </c:pt>
                <c:pt idx="3">
                  <c:v>169652320</c:v>
                </c:pt>
                <c:pt idx="4">
                  <c:v>172760779</c:v>
                </c:pt>
                <c:pt idx="5">
                  <c:v>182530820</c:v>
                </c:pt>
                <c:pt idx="6">
                  <c:v>184892374</c:v>
                </c:pt>
              </c:numCache>
            </c:numRef>
          </c:val>
        </c:ser>
        <c:ser>
          <c:idx val="1"/>
          <c:order val="1"/>
          <c:tx>
            <c:strRef>
              <c:f>Sheet1!$C$1</c:f>
              <c:strCache>
                <c:ptCount val="1"/>
                <c:pt idx="0">
                  <c:v>Précomptes 9X4</c:v>
                </c:pt>
              </c:strCache>
            </c:strRef>
          </c:tx>
          <c:spPr>
            <a:solidFill>
              <a:srgbClr val="EFAC62"/>
            </a:solidFill>
          </c:spPr>
          <c:cat>
            <c:strRef>
              <c:f>Sheet1!$A$2:$A$8</c:f>
              <c:strCache>
                <c:ptCount val="7"/>
                <c:pt idx="0">
                  <c:v>janv. 26</c:v>
                </c:pt>
                <c:pt idx="1">
                  <c:v>mars 26</c:v>
                </c:pt>
                <c:pt idx="2">
                  <c:v>avr. 26</c:v>
                </c:pt>
                <c:pt idx="3">
                  <c:v>mai 26</c:v>
                </c:pt>
                <c:pt idx="4">
                  <c:v>juin 26</c:v>
                </c:pt>
                <c:pt idx="5">
                  <c:v>juil. 26</c:v>
                </c:pt>
                <c:pt idx="6">
                  <c:v>août 26</c:v>
                </c:pt>
              </c:strCache>
            </c:strRef>
          </c:cat>
          <c:val>
            <c:numRef>
              <c:f>Sheet1!$C$2:$C$8</c:f>
              <c:numCache>
                <c:formatCode># ##0,,</c:formatCode>
                <c:ptCount val="7"/>
                <c:pt idx="0">
                  <c:v>142557746</c:v>
                </c:pt>
                <c:pt idx="1">
                  <c:v>139420845</c:v>
                </c:pt>
                <c:pt idx="2">
                  <c:v>138410953</c:v>
                </c:pt>
                <c:pt idx="3">
                  <c:v>143081813</c:v>
                </c:pt>
                <c:pt idx="4">
                  <c:v>147496219</c:v>
                </c:pt>
                <c:pt idx="5">
                  <c:v>150817238</c:v>
                </c:pt>
                <c:pt idx="6">
                  <c:v>156330374</c:v>
                </c:pt>
              </c:numCache>
            </c:numRef>
          </c:val>
        </c:ser>
        <c:dLbls>
          <c:numFmt formatCode="# ##0,," sourceLinked="0"/>
          <c:txPr>
            <a:bodyPr/>
            <a:lstStyle/>
            <a:p>
              <a:pPr>
                <a:defRPr sz="1000"/>
              </a:pPr>
            </a:p>
          </c:txPr>
          <c:showLegendKey val="0"/>
          <c:showVal val="1"/>
          <c:showCatName val="0"/>
          <c:showSerName val="0"/>
          <c:showPercent val="0"/>
          <c:showBubbleSize val="0"/>
          <c:showLeaderLines val="1"/>
        </c:dLbls>
        <c:gapWidth val="60"/>
        <c:axId val="-2068027336"/>
        <c:axId val="-2113994440"/>
      </c:barChart>
      <c:catAx>
        <c:axId val="-2068027336"/>
        <c:scaling>
          <c:orientation val="minMax"/>
        </c:scaling>
        <c:delete val="0"/>
        <c:axPos val="b"/>
        <c:majorTickMark val="out"/>
        <c:minorTickMark val="none"/>
        <c:tickLblPos val="nextTo"/>
        <c:spPr>
          <a:ln>
            <a:solidFill>
              <a:srgbClr val="BBBCBC"/>
            </a:solidFill>
          </a:ln>
        </c:spPr>
        <c:txPr>
          <a:bodyPr/>
          <a:lstStyle/>
          <a:p>
            <a:pPr>
              <a:defRPr sz="1000"/>
            </a:pPr>
          </a:p>
        </c:txPr>
        <c:crossAx val="-2113994440"/>
        <c:crosses val="autoZero"/>
        <c:auto val="1"/>
        <c:lblAlgn val="ctr"/>
        <c:lblOffset val="100"/>
        <c:noMultiLvlLbl val="0"/>
      </c:catAx>
      <c:valAx>
        <c:axId val="-2113994440"/>
        <c:scaling/>
        <c:delete/>
        <c:axPos val="l"/>
        <c:numFmt formatCode="# ##0,," sourceLinked="0"/>
        <c:majorTickMark val="out"/>
        <c:minorTickMark val="none"/>
        <c:tickLblPos val="nextTo"/>
        <c:spPr>
          <a:ln>
            <a:noFill/>
          </a:ln>
        </c:spPr>
        <c:txPr>
          <a:bodyPr/>
          <a:lstStyle/>
          <a:p>
            <a:pPr>
              <a:defRPr sz="1000"/>
            </a:pPr>
          </a:p>
        </c:txPr>
        <c:crossAx val="-2068027336"/>
        <c:crosses val="autoZero"/>
      </c:valAx>
    </c:plotArea>
    <c:legend>
      <c:legendPos val="b"/>
      <c:overlay val="0"/>
      <c:txPr>
        <a:bodyPr/>
        <a:lstStyle/>
        <a:p>
          <a:pPr>
            <a:defRPr sz="1000"/>
          </a:pPr>
        </a:p>
      </c:txPr>
    </c:legend>
    <c:dispBlanksAs val="gap"/>
  </c:chart>
  <c:txPr>
    <a:bodyPr/>
    <a:lstStyle/>
    <a:p>
      <a:pPr>
        <a:defRPr sz="1000">
          <a:latin typeface="Helvetica"/>
        </a:defRPr>
      </a:pPr>
      <a:endParaRPr lang="en-US"/>
    </a:p>
  </c:txPr>
  <c:externalData r:id="rId1">
    <c:autoUpdate val="0"/>
  </c:externalData>
</c:chartSpace>
</file>

<file path=ppt/charts/chart29.xml><?xml version="1.0" encoding="utf-8"?>
<c:chartSpace xmlns:c="http://schemas.openxmlformats.org/drawingml/2006/chart" xmlns:a="http://schemas.openxmlformats.org/drawingml/2006/main" xmlns:r="http://schemas.openxmlformats.org/officeDocument/2006/relationships">
  <c:date1904 val="0"/>
  <c:chart>
    <c:autoTitleDeleted val="1"/>
    <c:plotArea>
      <c:lineChart>
        <c:grouping val="standard"/>
        <c:varyColors val="0"/>
        <c:ser>
          <c:idx val="0"/>
          <c:order val="0"/>
          <c:tx>
            <c:strRef>
              <c:f>Sheet1!$B$1</c:f>
              <c:strCache>
                <c:ptCount val="1"/>
                <c:pt idx="0">
                  <c:v>Retraités</c:v>
                </c:pt>
              </c:strCache>
            </c:strRef>
          </c:tx>
          <c:spPr>
            <a:ln w="28575">
              <a:solidFill>
                <a:srgbClr val="112A40"/>
              </a:solidFill>
            </a:ln>
          </c:spPr>
          <c:marker>
            <c:spPr>
              <a:solidFill>
                <a:srgbClr val="112A40"/>
              </a:solidFill>
              <a:ln>
                <a:solidFill>
                  <a:srgbClr val="112A40"/>
                </a:solidFill>
              </a:ln>
            </c:spPr>
          </c:marker>
          <c:cat>
            <c:strRef>
              <c:f>Sheet1!$A$2:$A$31</c:f>
              <c:strCache>
                <c:ptCount val="30"/>
                <c:pt idx="0">
                  <c:v>févr. 24</c:v>
                </c:pt>
                <c:pt idx="1">
                  <c:v>mars 24</c:v>
                </c:pt>
                <c:pt idx="2">
                  <c:v>avr. 24</c:v>
                </c:pt>
                <c:pt idx="3">
                  <c:v>mai 24</c:v>
                </c:pt>
                <c:pt idx="4">
                  <c:v>juil. 24</c:v>
                </c:pt>
                <c:pt idx="5">
                  <c:v>août 24</c:v>
                </c:pt>
                <c:pt idx="6">
                  <c:v>sept. 24</c:v>
                </c:pt>
                <c:pt idx="7">
                  <c:v>oct. 24</c:v>
                </c:pt>
                <c:pt idx="8">
                  <c:v>nov. 24</c:v>
                </c:pt>
                <c:pt idx="9">
                  <c:v>déc. 24</c:v>
                </c:pt>
                <c:pt idx="10">
                  <c:v>janv. 25</c:v>
                </c:pt>
                <c:pt idx="11">
                  <c:v>févr. 25</c:v>
                </c:pt>
                <c:pt idx="12">
                  <c:v>mars 25</c:v>
                </c:pt>
                <c:pt idx="13">
                  <c:v>avr. 25</c:v>
                </c:pt>
                <c:pt idx="14">
                  <c:v>mai 25</c:v>
                </c:pt>
                <c:pt idx="15">
                  <c:v>juin 25</c:v>
                </c:pt>
                <c:pt idx="16">
                  <c:v>juil. 25</c:v>
                </c:pt>
                <c:pt idx="17">
                  <c:v>août 25</c:v>
                </c:pt>
                <c:pt idx="18">
                  <c:v>sept. 25</c:v>
                </c:pt>
                <c:pt idx="19">
                  <c:v>oct. 25</c:v>
                </c:pt>
                <c:pt idx="20">
                  <c:v>nov. 25</c:v>
                </c:pt>
                <c:pt idx="21">
                  <c:v>déc. 25</c:v>
                </c:pt>
                <c:pt idx="22">
                  <c:v>janv. 26</c:v>
                </c:pt>
                <c:pt idx="23">
                  <c:v>févr. 26</c:v>
                </c:pt>
                <c:pt idx="24">
                  <c:v>mars 26</c:v>
                </c:pt>
                <c:pt idx="25">
                  <c:v>avr. 26</c:v>
                </c:pt>
                <c:pt idx="26">
                  <c:v>mai 26</c:v>
                </c:pt>
                <c:pt idx="27">
                  <c:v>juin 26</c:v>
                </c:pt>
                <c:pt idx="28">
                  <c:v>juil. 26</c:v>
                </c:pt>
                <c:pt idx="29">
                  <c:v>août 26</c:v>
                </c:pt>
              </c:strCache>
            </c:strRef>
          </c:cat>
          <c:val>
            <c:numRef>
              <c:f>Sheet1!$B$2:$B$31</c:f>
              <c:numCache>
                <c:formatCode>0</c:formatCode>
                <c:ptCount val="30"/>
                <c:pt idx="0">
                  <c:v>16</c:v>
                </c:pt>
                <c:pt idx="1">
                  <c:v>84</c:v>
                </c:pt>
                <c:pt idx="2">
                  <c:v>105</c:v>
                </c:pt>
                <c:pt idx="3">
                  <c:v>134</c:v>
                </c:pt>
                <c:pt idx="4">
                  <c:v>176</c:v>
                </c:pt>
                <c:pt idx="5">
                  <c:v>196</c:v>
                </c:pt>
                <c:pt idx="6">
                  <c:v>237</c:v>
                </c:pt>
                <c:pt idx="7">
                  <c:v>255</c:v>
                </c:pt>
                <c:pt idx="8">
                  <c:v>280</c:v>
                </c:pt>
                <c:pt idx="9">
                  <c:v>291</c:v>
                </c:pt>
                <c:pt idx="10">
                  <c:v>306</c:v>
                </c:pt>
                <c:pt idx="11">
                  <c:v>314</c:v>
                </c:pt>
                <c:pt idx="12">
                  <c:v>322</c:v>
                </c:pt>
                <c:pt idx="13">
                  <c:v>336</c:v>
                </c:pt>
                <c:pt idx="14">
                  <c:v>358</c:v>
                </c:pt>
                <c:pt idx="15">
                  <c:v>368</c:v>
                </c:pt>
                <c:pt idx="16">
                  <c:v>386</c:v>
                </c:pt>
                <c:pt idx="17">
                  <c:v>409</c:v>
                </c:pt>
                <c:pt idx="18">
                  <c:v>468</c:v>
                </c:pt>
                <c:pt idx="19">
                  <c:v>495</c:v>
                </c:pt>
                <c:pt idx="20">
                  <c:v>506</c:v>
                </c:pt>
                <c:pt idx="21">
                  <c:v>532</c:v>
                </c:pt>
                <c:pt idx="22">
                  <c:v>592</c:v>
                </c:pt>
                <c:pt idx="23">
                  <c:v>587</c:v>
                </c:pt>
                <c:pt idx="24">
                  <c:v>584</c:v>
                </c:pt>
                <c:pt idx="25">
                  <c:v>580</c:v>
                </c:pt>
                <c:pt idx="26">
                  <c:v>584</c:v>
                </c:pt>
                <c:pt idx="27">
                  <c:v>591</c:v>
                </c:pt>
                <c:pt idx="28">
                  <c:v>600</c:v>
                </c:pt>
                <c:pt idx="29">
                  <c:v>610</c:v>
                </c:pt>
              </c:numCache>
            </c:numRef>
          </c:val>
          <c:smooth val="0"/>
        </c:ser>
        <c:marker val="1"/>
        <c:smooth val="0"/>
        <c:axId val="2118791784"/>
        <c:axId val="2140495176"/>
      </c:lineChart>
      <c:catAx>
        <c:axId val="2118791784"/>
        <c:scaling>
          <c:orientation val="minMax"/>
        </c:scaling>
        <c:delete val="0"/>
        <c:axPos val="b"/>
        <c:majorTickMark val="out"/>
        <c:minorTickMark val="none"/>
        <c:tickLblPos val="nextTo"/>
        <c:spPr>
          <a:ln>
            <a:solidFill>
              <a:srgbClr val="BBBCBC"/>
            </a:solidFill>
          </a:ln>
        </c:spPr>
        <c:txPr>
          <a:bodyPr/>
          <a:lstStyle/>
          <a:p>
            <a:pPr>
              <a:defRPr sz="1000"/>
            </a:pPr>
          </a:p>
        </c:txPr>
        <c:crossAx val="2140495176"/>
        <c:crosses val="autoZero"/>
        <c:auto val="1"/>
        <c:lblAlgn val="ctr"/>
        <c:lblOffset val="100"/>
        <c:noMultiLvlLbl val="0"/>
      </c:catAx>
      <c:valAx>
        <c:axId val="2140495176"/>
        <c:scaling/>
        <c:delete val="0"/>
        <c:axPos val="l"/>
        <c:numFmt formatCode="0" sourceLinked="0"/>
        <c:majorTickMark val="out"/>
        <c:minorTickMark val="none"/>
        <c:tickLblPos val="nextTo"/>
        <c:spPr>
          <a:ln>
            <a:noFill/>
          </a:ln>
        </c:spPr>
        <c:txPr>
          <a:bodyPr/>
          <a:lstStyle/>
          <a:p>
            <a:pPr>
              <a:defRPr sz="1000"/>
            </a:pPr>
          </a:p>
        </c:txPr>
        <c:crossAx val="2118791784"/>
        <c:crosses val="autoZero"/>
      </c:valAx>
    </c:plotArea>
    <c:plotVisOnly val="1"/>
    <c:dispBlanksAs val="gap"/>
    <c:showDLblsOverMax val="0"/>
  </c:chart>
  <c:txPr>
    <a:bodyPr/>
    <a:lstStyle/>
    <a:p>
      <a:pPr>
        <a:defRPr sz="1000">
          <a:latin typeface="Helvetica"/>
        </a:defRPr>
      </a:pPr>
      <a:endParaRPr lang="en-US"/>
    </a:p>
  </c:txPr>
  <c:externalData r:id="rId1">
    <c:autoUpdate val="0"/>
  </c:externalData>
</c:chartSpace>
</file>

<file path=ppt/charts/chart30.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Mois couverts</c:v>
                </c:pt>
              </c:strCache>
            </c:strRef>
          </c:tx>
          <c:spPr>
            <a:solidFill>
              <a:srgbClr val="112A40"/>
            </a:solidFill>
          </c:spPr>
          <c:cat>
            <c:strRef>
              <c:f>Sheet1!$A$2:$A$8</c:f>
              <c:strCache>
                <c:ptCount val="7"/>
                <c:pt idx="0">
                  <c:v>2020</c:v>
                </c:pt>
                <c:pt idx="1">
                  <c:v>2021</c:v>
                </c:pt>
                <c:pt idx="2">
                  <c:v>2022</c:v>
                </c:pt>
                <c:pt idx="3">
                  <c:v>2023</c:v>
                </c:pt>
                <c:pt idx="4">
                  <c:v>2024</c:v>
                </c:pt>
                <c:pt idx="5">
                  <c:v>2025</c:v>
                </c:pt>
                <c:pt idx="6">
                  <c:v>2026 (8 mois)</c:v>
                </c:pt>
              </c:strCache>
            </c:strRef>
          </c:cat>
          <c:val>
            <c:numRef>
              <c:f>Sheet1!$B$2:$B$8</c:f>
              <c:numCache>
                <c:formatCode>0.00</c:formatCode>
                <c:ptCount val="7"/>
                <c:pt idx="0">
                  <c:v>276.29</c:v>
                </c:pt>
                <c:pt idx="1">
                  <c:v>115.14</c:v>
                </c:pt>
                <c:pt idx="2">
                  <c:v>250.52</c:v>
                </c:pt>
                <c:pt idx="3">
                  <c:v>87.47</c:v>
                </c:pt>
                <c:pt idx="4">
                  <c:v>45.84</c:v>
                </c:pt>
                <c:pt idx="5">
                  <c:v>29.5</c:v>
                </c:pt>
                <c:pt idx="6">
                  <c:v>21.48</c:v>
                </c:pt>
              </c:numCache>
            </c:numRef>
          </c:val>
        </c:ser>
        <c:dLbls>
          <c:numFmt formatCode="0.00" sourceLinked="0"/>
          <c:txPr>
            <a:bodyPr/>
            <a:lstStyle/>
            <a:p>
              <a:pPr>
                <a:defRPr sz="1000"/>
              </a:pPr>
            </a:p>
          </c:txPr>
          <c:showLegendKey val="0"/>
          <c:showVal val="1"/>
          <c:showCatName val="0"/>
          <c:showSerName val="0"/>
          <c:showPercent val="0"/>
          <c:showBubbleSize val="0"/>
          <c:showLeaderLines val="1"/>
        </c:dLbls>
        <c:gapWidth val="60"/>
        <c:axId val="-2068027336"/>
        <c:axId val="-2113994440"/>
      </c:barChart>
      <c:catAx>
        <c:axId val="-2068027336"/>
        <c:scaling>
          <c:orientation val="minMax"/>
        </c:scaling>
        <c:delete val="0"/>
        <c:axPos val="b"/>
        <c:majorTickMark val="out"/>
        <c:minorTickMark val="none"/>
        <c:tickLblPos val="nextTo"/>
        <c:spPr>
          <a:ln>
            <a:solidFill>
              <a:srgbClr val="BBBCBC"/>
            </a:solidFill>
          </a:ln>
        </c:spPr>
        <c:txPr>
          <a:bodyPr/>
          <a:lstStyle/>
          <a:p>
            <a:pPr>
              <a:defRPr sz="1000"/>
            </a:pPr>
          </a:p>
        </c:txPr>
        <c:crossAx val="-2113994440"/>
        <c:crosses val="autoZero"/>
        <c:auto val="1"/>
        <c:lblAlgn val="ctr"/>
        <c:lblOffset val="100"/>
        <c:noMultiLvlLbl val="0"/>
      </c:catAx>
      <c:valAx>
        <c:axId val="-2113994440"/>
        <c:scaling/>
        <c:delete/>
        <c:axPos val="l"/>
        <c:numFmt formatCode="0.00" sourceLinked="0"/>
        <c:majorTickMark val="out"/>
        <c:minorTickMark val="none"/>
        <c:tickLblPos val="nextTo"/>
        <c:spPr>
          <a:ln>
            <a:noFill/>
          </a:ln>
        </c:spPr>
        <c:txPr>
          <a:bodyPr/>
          <a:lstStyle/>
          <a:p>
            <a:pPr>
              <a:defRPr sz="1000"/>
            </a:pPr>
          </a:p>
        </c:txPr>
        <c:crossAx val="-2068027336"/>
        <c:crosses val="autoZero"/>
      </c:valAx>
    </c:plotArea>
    <c:dispBlanksAs val="gap"/>
  </c:chart>
  <c:txPr>
    <a:bodyPr/>
    <a:lstStyle/>
    <a:p>
      <a:pPr>
        <a:defRPr sz="1000">
          <a:latin typeface="Helvetica"/>
        </a:defRPr>
      </a:pPr>
      <a:endParaRPr lang="en-US"/>
    </a:p>
  </c:txPr>
  <c:externalData r:id="rId1">
    <c:autoUpdate val="0"/>
  </c:externalData>
</c:chartSpace>
</file>

<file path=ppt/charts/chart31.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ser>
          <c:idx val="0"/>
          <c:order val="0"/>
          <c:tx>
            <c:strRef>
              <c:f>Sheet1!$B$1</c:f>
              <c:strCache>
                <c:ptCount val="1"/>
                <c:pt idx="0">
                  <c:v>Investissements CMP</c:v>
                </c:pt>
              </c:strCache>
            </c:strRef>
          </c:tx>
          <c:spPr>
            <a:solidFill>
              <a:srgbClr val="112A40"/>
            </a:solidFill>
          </c:spPr>
          <c:cat>
            <c:strRef>
              <c:f>Sheet1!$A$2:$A$8</c:f>
              <c:strCache>
                <c:ptCount val="7"/>
                <c:pt idx="0">
                  <c:v>2020</c:v>
                </c:pt>
                <c:pt idx="1">
                  <c:v>2021</c:v>
                </c:pt>
                <c:pt idx="2">
                  <c:v>2022</c:v>
                </c:pt>
                <c:pt idx="3">
                  <c:v>2023</c:v>
                </c:pt>
                <c:pt idx="4">
                  <c:v>2024</c:v>
                </c:pt>
                <c:pt idx="5">
                  <c:v>2025</c:v>
                </c:pt>
                <c:pt idx="6">
                  <c:v>31/08/2026</c:v>
                </c:pt>
              </c:strCache>
            </c:strRef>
          </c:cat>
          <c:val>
            <c:numRef>
              <c:f>Sheet1!$B$2:$B$8</c:f>
              <c:numCache>
                <c:formatCode># ##0,,</c:formatCode>
                <c:ptCount val="7"/>
                <c:pt idx="0">
                  <c:v>2984680712</c:v>
                </c:pt>
                <c:pt idx="1">
                  <c:v>3521598249</c:v>
                </c:pt>
                <c:pt idx="2">
                  <c:v>3785598221</c:v>
                </c:pt>
                <c:pt idx="3">
                  <c:v>4069396329</c:v>
                </c:pt>
                <c:pt idx="4">
                  <c:v>4944656429</c:v>
                </c:pt>
                <c:pt idx="5">
                  <c:v>6002976947</c:v>
                </c:pt>
                <c:pt idx="6">
                  <c:v>7083534565</c:v>
                </c:pt>
              </c:numCache>
            </c:numRef>
          </c:val>
        </c:ser>
        <c:ser>
          <c:idx val="1"/>
          <c:order val="1"/>
          <c:tx>
            <c:strRef>
              <c:f>Sheet1!$C$1</c:f>
              <c:strCache>
                <c:ptCount val="1"/>
                <c:pt idx="0">
                  <c:v>Terrains</c:v>
                </c:pt>
              </c:strCache>
            </c:strRef>
          </c:tx>
          <c:spPr>
            <a:solidFill>
              <a:srgbClr val="53565A"/>
            </a:solidFill>
          </c:spPr>
          <c:cat>
            <c:strRef>
              <c:f>Sheet1!$A$2:$A$8</c:f>
              <c:strCache>
                <c:ptCount val="7"/>
                <c:pt idx="0">
                  <c:v>2020</c:v>
                </c:pt>
                <c:pt idx="1">
                  <c:v>2021</c:v>
                </c:pt>
                <c:pt idx="2">
                  <c:v>2022</c:v>
                </c:pt>
                <c:pt idx="3">
                  <c:v>2023</c:v>
                </c:pt>
                <c:pt idx="4">
                  <c:v>2024</c:v>
                </c:pt>
                <c:pt idx="5">
                  <c:v>2025</c:v>
                </c:pt>
                <c:pt idx="6">
                  <c:v>31/08/2026</c:v>
                </c:pt>
              </c:strCache>
            </c:strRef>
          </c:cat>
          <c:val>
            <c:numRef>
              <c:f>Sheet1!$C$2:$C$8</c:f>
              <c:numCache>
                <c:formatCode># ##0,,</c:formatCode>
                <c:ptCount val="7"/>
                <c:pt idx="0">
                  <c:v>3931156624</c:v>
                </c:pt>
                <c:pt idx="1">
                  <c:v>3443682500</c:v>
                </c:pt>
                <c:pt idx="2">
                  <c:v>3443682500</c:v>
                </c:pt>
                <c:pt idx="3">
                  <c:v>3443682500</c:v>
                </c:pt>
                <c:pt idx="4">
                  <c:v>3443682500</c:v>
                </c:pt>
                <c:pt idx="5">
                  <c:v>5245896750</c:v>
                </c:pt>
                <c:pt idx="6">
                  <c:v>5245896750</c:v>
                </c:pt>
              </c:numCache>
            </c:numRef>
          </c:val>
        </c:ser>
        <c:ser>
          <c:idx val="2"/>
          <c:order val="2"/>
          <c:tx>
            <c:strRef>
              <c:f>Sheet1!$D$1</c:f>
              <c:strCache>
                <c:ptCount val="1"/>
                <c:pt idx="0">
                  <c:v>Créance Hôpital de la Police</c:v>
                </c:pt>
              </c:strCache>
            </c:strRef>
          </c:tx>
          <c:spPr>
            <a:solidFill>
              <a:srgbClr val="BBBCBC"/>
            </a:solidFill>
          </c:spPr>
          <c:cat>
            <c:strRef>
              <c:f>Sheet1!$A$2:$A$8</c:f>
              <c:strCache>
                <c:ptCount val="7"/>
                <c:pt idx="0">
                  <c:v>2020</c:v>
                </c:pt>
                <c:pt idx="1">
                  <c:v>2021</c:v>
                </c:pt>
                <c:pt idx="2">
                  <c:v>2022</c:v>
                </c:pt>
                <c:pt idx="3">
                  <c:v>2023</c:v>
                </c:pt>
                <c:pt idx="4">
                  <c:v>2024</c:v>
                </c:pt>
                <c:pt idx="5">
                  <c:v>2025</c:v>
                </c:pt>
                <c:pt idx="6">
                  <c:v>31/08/2026</c:v>
                </c:pt>
              </c:strCache>
            </c:strRef>
          </c:cat>
          <c:val>
            <c:numRef>
              <c:f>Sheet1!$D$2:$D$8</c:f>
              <c:numCache>
                <c:formatCode># ##0,,</c:formatCode>
                <c:ptCount val="7"/>
                <c:pt idx="0">
                  <c:v>3407519850</c:v>
                </c:pt>
                <c:pt idx="1">
                  <c:v>3407519850</c:v>
                </c:pt>
                <c:pt idx="2">
                  <c:v>3407519850</c:v>
                </c:pt>
                <c:pt idx="3">
                  <c:v>3407519850</c:v>
                </c:pt>
                <c:pt idx="4">
                  <c:v>3407519850</c:v>
                </c:pt>
                <c:pt idx="5">
                  <c:v>3407519850</c:v>
                </c:pt>
                <c:pt idx="6">
                  <c:v>3407519850</c:v>
                </c:pt>
              </c:numCache>
            </c:numRef>
          </c:val>
        </c:ser>
        <c:ser>
          <c:idx val="3"/>
          <c:order val="3"/>
          <c:tx>
            <c:strRef>
              <c:f>Sheet1!$E$1</c:f>
              <c:strCache>
                <c:ptCount val="1"/>
                <c:pt idx="0">
                  <c:v>Financement du Grenier</c:v>
                </c:pt>
              </c:strCache>
            </c:strRef>
          </c:tx>
          <c:spPr>
            <a:solidFill>
              <a:srgbClr val="EFAC62"/>
            </a:solidFill>
          </c:spPr>
          <c:cat>
            <c:strRef>
              <c:f>Sheet1!$A$2:$A$8</c:f>
              <c:strCache>
                <c:ptCount val="7"/>
                <c:pt idx="0">
                  <c:v>2020</c:v>
                </c:pt>
                <c:pt idx="1">
                  <c:v>2021</c:v>
                </c:pt>
                <c:pt idx="2">
                  <c:v>2022</c:v>
                </c:pt>
                <c:pt idx="3">
                  <c:v>2023</c:v>
                </c:pt>
                <c:pt idx="4">
                  <c:v>2024</c:v>
                </c:pt>
                <c:pt idx="5">
                  <c:v>2025</c:v>
                </c:pt>
                <c:pt idx="6">
                  <c:v>31/08/2026</c:v>
                </c:pt>
              </c:strCache>
            </c:strRef>
          </c:cat>
          <c:val>
            <c:numRef>
              <c:f>Sheet1!$E$2:$E$8</c:f>
              <c:numCache>
                <c:formatCode># ##0,,</c:formatCode>
                <c:ptCount val="7"/>
                <c:pt idx="0">
                  <c:v>0</c:v>
                </c:pt>
                <c:pt idx="1">
                  <c:v>27030000</c:v>
                </c:pt>
                <c:pt idx="2">
                  <c:v>458483900</c:v>
                </c:pt>
                <c:pt idx="3">
                  <c:v>504192100</c:v>
                </c:pt>
                <c:pt idx="4">
                  <c:v>650882600</c:v>
                </c:pt>
                <c:pt idx="5">
                  <c:v>817121335</c:v>
                </c:pt>
                <c:pt idx="6">
                  <c:v>915477260</c:v>
                </c:pt>
              </c:numCache>
            </c:numRef>
          </c:val>
        </c:ser>
        <c:ser>
          <c:idx val="4"/>
          <c:order val="4"/>
          <c:tx>
            <c:strRef>
              <c:f>Sheet1!$F$1</c:f>
              <c:strCache>
                <c:ptCount val="1"/>
                <c:pt idx="0">
                  <c:v>Trésorerie</c:v>
                </c:pt>
              </c:strCache>
            </c:strRef>
          </c:tx>
          <c:spPr>
            <a:solidFill>
              <a:srgbClr val="060606"/>
            </a:solidFill>
          </c:spPr>
          <c:cat>
            <c:strRef>
              <c:f>Sheet1!$A$2:$A$8</c:f>
              <c:strCache>
                <c:ptCount val="7"/>
                <c:pt idx="0">
                  <c:v>2020</c:v>
                </c:pt>
                <c:pt idx="1">
                  <c:v>2021</c:v>
                </c:pt>
                <c:pt idx="2">
                  <c:v>2022</c:v>
                </c:pt>
                <c:pt idx="3">
                  <c:v>2023</c:v>
                </c:pt>
                <c:pt idx="4">
                  <c:v>2024</c:v>
                </c:pt>
                <c:pt idx="5">
                  <c:v>2025</c:v>
                </c:pt>
                <c:pt idx="6">
                  <c:v>31/08/2026</c:v>
                </c:pt>
              </c:strCache>
            </c:strRef>
          </c:cat>
          <c:val>
            <c:numRef>
              <c:f>Sheet1!$F$2:$F$8</c:f>
              <c:numCache>
                <c:formatCode># ##0,,</c:formatCode>
                <c:ptCount val="7"/>
                <c:pt idx="0">
                  <c:v>630462899</c:v>
                </c:pt>
                <c:pt idx="1">
                  <c:v>2300331943</c:v>
                </c:pt>
                <c:pt idx="2">
                  <c:v>1233051977</c:v>
                </c:pt>
                <c:pt idx="3">
                  <c:v>1116267103</c:v>
                </c:pt>
                <c:pt idx="4">
                  <c:v>979838445</c:v>
                </c:pt>
                <c:pt idx="5">
                  <c:v>1964171543</c:v>
                </c:pt>
                <c:pt idx="6">
                  <c:v>3359100618</c:v>
                </c:pt>
              </c:numCache>
            </c:numRef>
          </c:val>
        </c:ser>
        <c:gapWidth val="60"/>
        <c:overlap val="100"/>
        <c:axId val="-2068027336"/>
        <c:axId val="-2113994440"/>
      </c:barChart>
      <c:catAx>
        <c:axId val="-2068027336"/>
        <c:scaling>
          <c:orientation val="minMax"/>
        </c:scaling>
        <c:delete val="0"/>
        <c:axPos val="b"/>
        <c:majorTickMark val="out"/>
        <c:minorTickMark val="none"/>
        <c:tickLblPos val="nextTo"/>
        <c:spPr>
          <a:ln>
            <a:solidFill>
              <a:srgbClr val="BBBCBC"/>
            </a:solidFill>
          </a:ln>
        </c:spPr>
        <c:txPr>
          <a:bodyPr/>
          <a:lstStyle/>
          <a:p>
            <a:pPr>
              <a:defRPr sz="1000"/>
            </a:pPr>
          </a:p>
        </c:txPr>
        <c:crossAx val="-2113994440"/>
        <c:crosses val="autoZero"/>
        <c:auto val="1"/>
        <c:lblAlgn val="ctr"/>
        <c:lblOffset val="100"/>
        <c:noMultiLvlLbl val="0"/>
      </c:catAx>
      <c:valAx>
        <c:axId val="-2113994440"/>
        <c:scaling/>
        <c:delete val="0"/>
        <c:axPos val="l"/>
        <c:numFmt formatCode="# ##0,," sourceLinked="0"/>
        <c:majorTickMark val="out"/>
        <c:minorTickMark val="none"/>
        <c:tickLblPos val="nextTo"/>
        <c:spPr>
          <a:ln>
            <a:noFill/>
          </a:ln>
        </c:spPr>
        <c:txPr>
          <a:bodyPr/>
          <a:lstStyle/>
          <a:p>
            <a:pPr>
              <a:defRPr sz="1000"/>
            </a:pPr>
          </a:p>
        </c:txPr>
        <c:crossAx val="-2068027336"/>
        <c:crosses val="autoZero"/>
      </c:valAx>
    </c:plotArea>
    <c:legend>
      <c:legendPos/>
      <c:overlay val="0"/>
      <c:txPr>
        <a:bodyPr/>
        <a:lstStyle/>
        <a:p>
          <a:pPr>
            <a:defRPr sz="1000"/>
          </a:pPr>
        </a:p>
      </c:txPr>
    </c:legend>
    <c:dispBlanksAs val="gap"/>
  </c:chart>
  <c:txPr>
    <a:bodyPr/>
    <a:lstStyle/>
    <a:p>
      <a:pPr>
        <a:defRPr sz="1000">
          <a:latin typeface="Helvetica"/>
        </a:defRPr>
      </a:pPr>
      <a:endParaRPr lang="en-US"/>
    </a:p>
  </c:txPr>
  <c:externalData r:id="rId1">
    <c:autoUpdate val="0"/>
  </c:externalData>
</c:chartSpace>
</file>

<file path=ppt/charts/chart32.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ser>
          <c:idx val="0"/>
          <c:order val="0"/>
          <c:tx>
            <c:strRef>
              <c:f>Sheet1!$B$1</c:f>
              <c:strCache>
                <c:ptCount val="1"/>
                <c:pt idx="0">
                  <c:v>Actif immédiat</c:v>
                </c:pt>
              </c:strCache>
            </c:strRef>
          </c:tx>
          <c:spPr>
            <a:solidFill>
              <a:srgbClr val="060606"/>
            </a:solidFill>
          </c:spPr>
          <c:cat>
            <c:strRef>
              <c:f>Sheet1!$A$2:$A$5</c:f>
              <c:strCache>
                <c:ptCount val="4"/>
                <c:pt idx="0">
                  <c:v>Actif 31/12/2025</c:v>
                </c:pt>
                <c:pt idx="1">
                  <c:v>Passif 31/12/2025</c:v>
                </c:pt>
                <c:pt idx="2">
                  <c:v>Actif 31/08/2026</c:v>
                </c:pt>
                <c:pt idx="3">
                  <c:v>Passif 31/08/2026</c:v>
                </c:pt>
              </c:strCache>
            </c:strRef>
          </c:cat>
          <c:val>
            <c:numRef>
              <c:f>Sheet1!$B$2:$B$5</c:f>
              <c:numCache>
                <c:formatCode># ##0,,</c:formatCode>
                <c:ptCount val="4"/>
                <c:pt idx="0">
                  <c:v>1464171543</c:v>
                </c:pt>
                <c:pt idx="2">
                  <c:v>2373558814</c:v>
                </c:pt>
              </c:numCache>
            </c:numRef>
          </c:val>
        </c:ser>
        <c:ser>
          <c:idx val="1"/>
          <c:order val="1"/>
          <c:tx>
            <c:strRef>
              <c:f>Sheet1!$C$1</c:f>
              <c:strCache>
                <c:ptCount val="1"/>
                <c:pt idx="0">
                  <c:v>Actif à moins d'un an</c:v>
                </c:pt>
              </c:strCache>
            </c:strRef>
          </c:tx>
          <c:spPr>
            <a:solidFill>
              <a:srgbClr val="53565A"/>
            </a:solidFill>
          </c:spPr>
          <c:cat>
            <c:strRef>
              <c:f>Sheet1!$A$2:$A$5</c:f>
              <c:strCache>
                <c:ptCount val="4"/>
                <c:pt idx="0">
                  <c:v>Actif 31/12/2025</c:v>
                </c:pt>
                <c:pt idx="1">
                  <c:v>Passif 31/12/2025</c:v>
                </c:pt>
                <c:pt idx="2">
                  <c:v>Actif 31/08/2026</c:v>
                </c:pt>
                <c:pt idx="3">
                  <c:v>Passif 31/08/2026</c:v>
                </c:pt>
              </c:strCache>
            </c:strRef>
          </c:cat>
          <c:val>
            <c:numRef>
              <c:f>Sheet1!$C$2:$C$5</c:f>
              <c:numCache>
                <c:formatCode># ##0,,</c:formatCode>
                <c:ptCount val="4"/>
                <c:pt idx="0">
                  <c:v>1250837284</c:v>
                </c:pt>
                <c:pt idx="2">
                  <c:v>1084308137</c:v>
                </c:pt>
              </c:numCache>
            </c:numRef>
          </c:val>
        </c:ser>
        <c:ser>
          <c:idx val="2"/>
          <c:order val="2"/>
          <c:tx>
            <c:strRef>
              <c:f>Sheet1!$D$1</c:f>
              <c:strCache>
                <c:ptCount val="1"/>
                <c:pt idx="0">
                  <c:v>Actif à 1 à 5 ans</c:v>
                </c:pt>
              </c:strCache>
            </c:strRef>
          </c:tx>
          <c:spPr>
            <a:solidFill>
              <a:srgbClr val="EFAC62"/>
            </a:solidFill>
          </c:spPr>
          <c:cat>
            <c:strRef>
              <c:f>Sheet1!$A$2:$A$5</c:f>
              <c:strCache>
                <c:ptCount val="4"/>
                <c:pt idx="0">
                  <c:v>Actif 31/12/2025</c:v>
                </c:pt>
                <c:pt idx="1">
                  <c:v>Passif 31/12/2025</c:v>
                </c:pt>
                <c:pt idx="2">
                  <c:v>Actif 31/08/2026</c:v>
                </c:pt>
                <c:pt idx="3">
                  <c:v>Passif 31/08/2026</c:v>
                </c:pt>
              </c:strCache>
            </c:strRef>
          </c:cat>
          <c:val>
            <c:numRef>
              <c:f>Sheet1!$D$2:$D$5</c:f>
              <c:numCache>
                <c:formatCode># ##0,,</c:formatCode>
                <c:ptCount val="4"/>
                <c:pt idx="0">
                  <c:v>1198959085</c:v>
                </c:pt>
                <c:pt idx="2">
                  <c:v>1297315010</c:v>
                </c:pt>
              </c:numCache>
            </c:numRef>
          </c:val>
        </c:ser>
        <c:ser>
          <c:idx val="3"/>
          <c:order val="3"/>
          <c:tx>
            <c:strRef>
              <c:f>Sheet1!$E$1</c:f>
              <c:strCache>
                <c:ptCount val="1"/>
                <c:pt idx="0">
                  <c:v>Actif à plus de 5 ans ou incertain</c:v>
                </c:pt>
              </c:strCache>
            </c:strRef>
          </c:tx>
          <c:spPr>
            <a:solidFill>
              <a:srgbClr val="BBBCBC"/>
            </a:solidFill>
          </c:spPr>
          <c:cat>
            <c:strRef>
              <c:f>Sheet1!$A$2:$A$5</c:f>
              <c:strCache>
                <c:ptCount val="4"/>
                <c:pt idx="0">
                  <c:v>Actif 31/12/2025</c:v>
                </c:pt>
                <c:pt idx="1">
                  <c:v>Passif 31/12/2025</c:v>
                </c:pt>
                <c:pt idx="2">
                  <c:v>Actif 31/08/2026</c:v>
                </c:pt>
                <c:pt idx="3">
                  <c:v>Passif 31/08/2026</c:v>
                </c:pt>
              </c:strCache>
            </c:strRef>
          </c:cat>
          <c:val>
            <c:numRef>
              <c:f>Sheet1!$E$2:$E$5</c:f>
              <c:numCache>
                <c:formatCode># ##0,,</c:formatCode>
                <c:ptCount val="4"/>
                <c:pt idx="0">
                  <c:v>16040901123</c:v>
                </c:pt>
                <c:pt idx="2">
                  <c:v>17170238905</c:v>
                </c:pt>
              </c:numCache>
            </c:numRef>
          </c:val>
        </c:ser>
        <c:ser>
          <c:idx val="4"/>
          <c:order val="4"/>
          <c:tx>
            <c:strRef>
              <c:f>Sheet1!$F$1</c:f>
              <c:strCache>
                <c:ptCount val="1"/>
                <c:pt idx="0">
                  <c:v>Passif à moins d'un an</c:v>
                </c:pt>
              </c:strCache>
            </c:strRef>
          </c:tx>
          <c:spPr>
            <a:solidFill>
              <a:srgbClr val="112A40"/>
            </a:solidFill>
          </c:spPr>
          <c:cat>
            <c:strRef>
              <c:f>Sheet1!$A$2:$A$5</c:f>
              <c:strCache>
                <c:ptCount val="4"/>
                <c:pt idx="0">
                  <c:v>Actif 31/12/2025</c:v>
                </c:pt>
                <c:pt idx="1">
                  <c:v>Passif 31/12/2025</c:v>
                </c:pt>
                <c:pt idx="2">
                  <c:v>Actif 31/08/2026</c:v>
                </c:pt>
                <c:pt idx="3">
                  <c:v>Passif 31/08/2026</c:v>
                </c:pt>
              </c:strCache>
            </c:strRef>
          </c:cat>
          <c:val>
            <c:numRef>
              <c:f>Sheet1!$F$2:$F$5</c:f>
              <c:numCache>
                <c:formatCode># ##0,,</c:formatCode>
                <c:ptCount val="4"/>
                <c:pt idx="1">
                  <c:v>6535377593</c:v>
                </c:pt>
                <c:pt idx="3">
                  <c:v>7017736497</c:v>
                </c:pt>
              </c:numCache>
            </c:numRef>
          </c:val>
        </c:ser>
        <c:ser>
          <c:idx val="5"/>
          <c:order val="5"/>
          <c:tx>
            <c:strRef>
              <c:f>Sheet1!$G$1</c:f>
              <c:strCache>
                <c:ptCount val="1"/>
                <c:pt idx="0">
                  <c:v>Épargne, échéance à établir</c:v>
                </c:pt>
              </c:strCache>
            </c:strRef>
          </c:tx>
          <c:spPr>
            <a:solidFill>
              <a:srgbClr val="C00000"/>
            </a:solidFill>
          </c:spPr>
          <c:cat>
            <c:strRef>
              <c:f>Sheet1!$A$2:$A$5</c:f>
              <c:strCache>
                <c:ptCount val="4"/>
                <c:pt idx="0">
                  <c:v>Actif 31/12/2025</c:v>
                </c:pt>
                <c:pt idx="1">
                  <c:v>Passif 31/12/2025</c:v>
                </c:pt>
                <c:pt idx="2">
                  <c:v>Actif 31/08/2026</c:v>
                </c:pt>
                <c:pt idx="3">
                  <c:v>Passif 31/08/2026</c:v>
                </c:pt>
              </c:strCache>
            </c:strRef>
          </c:cat>
          <c:val>
            <c:numRef>
              <c:f>Sheet1!$G$2:$G$5</c:f>
              <c:numCache>
                <c:formatCode># ##0,,</c:formatCode>
                <c:ptCount val="4"/>
                <c:pt idx="1">
                  <c:v>13814066964</c:v>
                </c:pt>
                <c:pt idx="3">
                  <c:v>15743516391</c:v>
                </c:pt>
              </c:numCache>
            </c:numRef>
          </c:val>
        </c:ser>
        <c:gapWidth val="60"/>
        <c:overlap val="100"/>
        <c:axId val="-2068027336"/>
        <c:axId val="-2113994440"/>
      </c:barChart>
      <c:catAx>
        <c:axId val="-2068027336"/>
        <c:scaling>
          <c:orientation val="minMax"/>
        </c:scaling>
        <c:delete val="0"/>
        <c:axPos val="b"/>
        <c:majorTickMark val="out"/>
        <c:minorTickMark val="none"/>
        <c:tickLblPos val="nextTo"/>
        <c:spPr>
          <a:ln>
            <a:solidFill>
              <a:srgbClr val="BBBCBC"/>
            </a:solidFill>
          </a:ln>
        </c:spPr>
        <c:txPr>
          <a:bodyPr/>
          <a:lstStyle/>
          <a:p>
            <a:pPr>
              <a:defRPr sz="1000"/>
            </a:pPr>
          </a:p>
        </c:txPr>
        <c:crossAx val="-2113994440"/>
        <c:crosses val="autoZero"/>
        <c:auto val="1"/>
        <c:lblAlgn val="ctr"/>
        <c:lblOffset val="100"/>
        <c:noMultiLvlLbl val="0"/>
      </c:catAx>
      <c:valAx>
        <c:axId val="-2113994440"/>
        <c:scaling/>
        <c:delete val="0"/>
        <c:axPos val="l"/>
        <c:numFmt formatCode="# ##0,," sourceLinked="0"/>
        <c:majorTickMark val="out"/>
        <c:minorTickMark val="none"/>
        <c:tickLblPos val="nextTo"/>
        <c:spPr>
          <a:ln>
            <a:noFill/>
          </a:ln>
        </c:spPr>
        <c:txPr>
          <a:bodyPr/>
          <a:lstStyle/>
          <a:p>
            <a:pPr>
              <a:defRPr sz="1000"/>
            </a:pPr>
          </a:p>
        </c:txPr>
        <c:crossAx val="-2068027336"/>
        <c:crosses val="autoZero"/>
      </c:valAx>
    </c:plotArea>
    <c:legend>
      <c:legendPos/>
      <c:overlay val="0"/>
      <c:txPr>
        <a:bodyPr/>
        <a:lstStyle/>
        <a:p>
          <a:pPr>
            <a:defRPr sz="1000"/>
          </a:pPr>
        </a:p>
      </c:txPr>
    </c:legend>
    <c:dispBlanksAs val="gap"/>
  </c:chart>
  <c:txPr>
    <a:bodyPr/>
    <a:lstStyle/>
    <a:p>
      <a:pPr>
        <a:defRPr sz="1000">
          <a:latin typeface="Helvetica"/>
        </a:defRPr>
      </a:pPr>
      <a:endParaRPr lang="en-US"/>
    </a:p>
  </c:txPr>
  <c:externalData r:id="rId1">
    <c:autoUpdate val="0"/>
  </c:externalData>
</c:chartSpace>
</file>

<file path=ppt/charts/chart33.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Fonds propres</c:v>
                </c:pt>
              </c:strCache>
            </c:strRef>
          </c:tx>
          <c:spPr>
            <a:solidFill>
              <a:srgbClr val="112A40"/>
            </a:solidFill>
          </c:spPr>
          <c:cat>
            <c:strRef>
              <c:f>Sheet1!$A$2:$A$8</c:f>
              <c:strCache>
                <c:ptCount val="7"/>
                <c:pt idx="0">
                  <c:v>2020</c:v>
                </c:pt>
                <c:pt idx="1">
                  <c:v>2021</c:v>
                </c:pt>
                <c:pt idx="2">
                  <c:v>2022</c:v>
                </c:pt>
                <c:pt idx="3">
                  <c:v>2023</c:v>
                </c:pt>
                <c:pt idx="4">
                  <c:v>2024</c:v>
                </c:pt>
                <c:pt idx="5">
                  <c:v>2025</c:v>
                </c:pt>
                <c:pt idx="6">
                  <c:v>31/08/2026</c:v>
                </c:pt>
              </c:strCache>
            </c:strRef>
          </c:cat>
          <c:val>
            <c:numRef>
              <c:f>Sheet1!$B$2:$B$8</c:f>
              <c:numCache>
                <c:formatCode># ##0,,</c:formatCode>
                <c:ptCount val="7"/>
                <c:pt idx="0">
                  <c:v>-6743081733</c:v>
                </c:pt>
                <c:pt idx="1">
                  <c:v>-4659173531</c:v>
                </c:pt>
                <c:pt idx="2">
                  <c:v>-2598840854</c:v>
                </c:pt>
                <c:pt idx="3">
                  <c:v>-1668211752</c:v>
                </c:pt>
                <c:pt idx="4">
                  <c:v>-876142111</c:v>
                </c:pt>
                <c:pt idx="5">
                  <c:v>-438242200</c:v>
                </c:pt>
                <c:pt idx="6">
                  <c:v>-879498700</c:v>
                </c:pt>
              </c:numCache>
            </c:numRef>
          </c:val>
        </c:ser>
        <c:ser>
          <c:idx val="1"/>
          <c:order val="1"/>
          <c:tx>
            <c:strRef>
              <c:f>Sheet1!$C$1</c:f>
              <c:strCache>
                <c:ptCount val="1"/>
                <c:pt idx="0">
                  <c:v>Résultat de l'exercice</c:v>
                </c:pt>
              </c:strCache>
            </c:strRef>
          </c:tx>
          <c:spPr>
            <a:solidFill>
              <a:srgbClr val="EFAC62"/>
            </a:solidFill>
          </c:spPr>
          <c:cat>
            <c:strRef>
              <c:f>Sheet1!$A$2:$A$8</c:f>
              <c:strCache>
                <c:ptCount val="7"/>
                <c:pt idx="0">
                  <c:v>2020</c:v>
                </c:pt>
                <c:pt idx="1">
                  <c:v>2021</c:v>
                </c:pt>
                <c:pt idx="2">
                  <c:v>2022</c:v>
                </c:pt>
                <c:pt idx="3">
                  <c:v>2023</c:v>
                </c:pt>
                <c:pt idx="4">
                  <c:v>2024</c:v>
                </c:pt>
                <c:pt idx="5">
                  <c:v>2025</c:v>
                </c:pt>
                <c:pt idx="6">
                  <c:v>31/08/2026</c:v>
                </c:pt>
              </c:strCache>
            </c:strRef>
          </c:cat>
          <c:val>
            <c:numRef>
              <c:f>Sheet1!$C$2:$C$8</c:f>
              <c:numCache>
                <c:formatCode># ##0,,</c:formatCode>
                <c:ptCount val="7"/>
                <c:pt idx="0">
                  <c:v>1018579699</c:v>
                </c:pt>
                <c:pt idx="1">
                  <c:v>2083908202</c:v>
                </c:pt>
                <c:pt idx="2">
                  <c:v>2060332677</c:v>
                </c:pt>
                <c:pt idx="3">
                  <c:v>930629102</c:v>
                </c:pt>
                <c:pt idx="4">
                  <c:v>792069641</c:v>
                </c:pt>
                <c:pt idx="5">
                  <c:v>437899911</c:v>
                </c:pt>
                <c:pt idx="6">
                  <c:v>-441256500</c:v>
                </c:pt>
              </c:numCache>
            </c:numRef>
          </c:val>
        </c:ser>
        <c:dLbls>
          <c:numFmt formatCode="# ##0,," sourceLinked="0"/>
          <c:txPr>
            <a:bodyPr/>
            <a:lstStyle/>
            <a:p>
              <a:pPr>
                <a:defRPr sz="1000"/>
              </a:pPr>
            </a:p>
          </c:txPr>
          <c:showLegendKey val="0"/>
          <c:showVal val="1"/>
          <c:showCatName val="0"/>
          <c:showSerName val="0"/>
          <c:showPercent val="0"/>
          <c:showBubbleSize val="0"/>
          <c:showLeaderLines val="1"/>
        </c:dLbls>
        <c:gapWidth val="60"/>
        <c:axId val="-2068027336"/>
        <c:axId val="-2113994440"/>
      </c:barChart>
      <c:catAx>
        <c:axId val="-2068027336"/>
        <c:scaling>
          <c:orientation val="minMax"/>
        </c:scaling>
        <c:delete val="0"/>
        <c:axPos val="b"/>
        <c:majorTickMark val="out"/>
        <c:minorTickMark val="none"/>
        <c:tickLblPos val="low"/>
        <c:spPr>
          <a:ln>
            <a:solidFill>
              <a:srgbClr val="BBBCBC"/>
            </a:solidFill>
          </a:ln>
        </c:spPr>
        <c:txPr>
          <a:bodyPr/>
          <a:lstStyle/>
          <a:p>
            <a:pPr>
              <a:defRPr sz="1000"/>
            </a:pPr>
          </a:p>
        </c:txPr>
        <c:crossAx val="-2113994440"/>
        <c:crosses val="autoZero"/>
        <c:auto val="1"/>
        <c:lblAlgn val="ctr"/>
        <c:lblOffset val="100"/>
        <c:noMultiLvlLbl val="0"/>
      </c:catAx>
      <c:valAx>
        <c:axId val="-2113994440"/>
        <c:scaling/>
        <c:delete/>
        <c:axPos val="l"/>
        <c:numFmt formatCode="# ##0,," sourceLinked="0"/>
        <c:majorTickMark val="out"/>
        <c:minorTickMark val="none"/>
        <c:tickLblPos val="nextTo"/>
        <c:spPr>
          <a:ln>
            <a:noFill/>
          </a:ln>
        </c:spPr>
        <c:txPr>
          <a:bodyPr/>
          <a:lstStyle/>
          <a:p>
            <a:pPr>
              <a:defRPr sz="1000"/>
            </a:pPr>
          </a:p>
        </c:txPr>
        <c:crossAx val="-2068027336"/>
        <c:crosses val="autoZero"/>
      </c:valAx>
    </c:plotArea>
    <c:legend>
      <c:legendPos val="b"/>
      <c:overlay val="0"/>
      <c:txPr>
        <a:bodyPr/>
        <a:lstStyle/>
        <a:p>
          <a:pPr>
            <a:defRPr sz="1000"/>
          </a:pPr>
        </a:p>
      </c:txPr>
    </c:legend>
    <c:dispBlanksAs val="gap"/>
  </c:chart>
  <c:txPr>
    <a:bodyPr/>
    <a:lstStyle/>
    <a:p>
      <a:pPr>
        <a:defRPr sz="1000">
          <a:latin typeface="Helvetica"/>
        </a:defRPr>
      </a:pPr>
      <a:endParaRPr lang="en-US"/>
    </a:p>
  </c:txPr>
  <c:externalData r:id="rId1">
    <c:autoUpdate val="0"/>
  </c:externalData>
</c:chartSpace>
</file>

<file path=ppt/charts/chart34.xml><?xml version="1.0" encoding="utf-8"?>
<c:chartSpace xmlns:c="http://schemas.openxmlformats.org/drawingml/2006/chart" xmlns:a="http://schemas.openxmlformats.org/drawingml/2006/main" xmlns:r="http://schemas.openxmlformats.org/officeDocument/2006/relationships">
  <c:date1904 val="0"/>
  <c:chart>
    <c:autoTitleDeleted val="1"/>
    <c:plotArea>
      <c:lineChart>
        <c:grouping val="standard"/>
        <c:varyColors val="0"/>
        <c:ser>
          <c:idx val="0"/>
          <c:order val="0"/>
          <c:tx>
            <c:strRef>
              <c:f>Sheet1!$B$1</c:f>
              <c:strCache>
                <c:ptCount val="1"/>
                <c:pt idx="0">
                  <c:v>Taux directeur</c:v>
                </c:pt>
              </c:strCache>
            </c:strRef>
          </c:tx>
          <c:spPr>
            <a:ln w="28575">
              <a:solidFill>
                <a:srgbClr val="112A40"/>
              </a:solidFill>
            </a:ln>
          </c:spPr>
          <c:marker>
            <c:spPr>
              <a:solidFill>
                <a:srgbClr val="112A40"/>
              </a:solidFill>
              <a:ln>
                <a:solidFill>
                  <a:srgbClr val="112A40"/>
                </a:solidFill>
              </a:ln>
            </c:spPr>
          </c:marker>
          <c:cat>
            <c:strRef>
              <c:f>Sheet1!$A$2:$A$10</c:f>
              <c:strCache>
                <c:ptCount val="9"/>
                <c:pt idx="0">
                  <c:v>01/01/2020</c:v>
                </c:pt>
                <c:pt idx="1">
                  <c:v>24/06/2020</c:v>
                </c:pt>
                <c:pt idx="2">
                  <c:v>16/06/2022</c:v>
                </c:pt>
                <c:pt idx="3">
                  <c:v>16/09/2022</c:v>
                </c:pt>
                <c:pt idx="4">
                  <c:v>16/12/2022</c:v>
                </c:pt>
                <c:pt idx="5">
                  <c:v>16/03/2023</c:v>
                </c:pt>
                <c:pt idx="6">
                  <c:v>16/09/2023</c:v>
                </c:pt>
                <c:pt idx="7">
                  <c:v>16/12/2023</c:v>
                </c:pt>
                <c:pt idx="8">
                  <c:v>16/06/2025</c:v>
                </c:pt>
              </c:strCache>
            </c:strRef>
          </c:cat>
          <c:val>
            <c:numRef>
              <c:f>Sheet1!$B$2:$B$10</c:f>
              <c:numCache>
                <c:formatCode>0.00</c:formatCode>
                <c:ptCount val="9"/>
                <c:pt idx="0">
                  <c:v>2.5</c:v>
                </c:pt>
                <c:pt idx="1">
                  <c:v>2.0</c:v>
                </c:pt>
                <c:pt idx="2">
                  <c:v>2.25</c:v>
                </c:pt>
                <c:pt idx="3">
                  <c:v>2.5</c:v>
                </c:pt>
                <c:pt idx="4">
                  <c:v>2.75</c:v>
                </c:pt>
                <c:pt idx="5">
                  <c:v>3.0</c:v>
                </c:pt>
                <c:pt idx="6">
                  <c:v>3.25</c:v>
                </c:pt>
                <c:pt idx="7">
                  <c:v>3.5</c:v>
                </c:pt>
                <c:pt idx="8">
                  <c:v>3.25</c:v>
                </c:pt>
              </c:numCache>
            </c:numRef>
          </c:val>
          <c:smooth val="0"/>
        </c:ser>
        <c:dLbls>
          <c:numFmt formatCode="0.00" sourceLinked="0"/>
          <c:txPr>
            <a:bodyPr/>
            <a:lstStyle/>
            <a:p>
              <a:pPr>
                <a:defRPr sz="1000"/>
              </a:pPr>
            </a:p>
          </c:txPr>
          <c:showLegendKey val="0"/>
          <c:showVal val="1"/>
          <c:showCatName val="0"/>
          <c:showSerName val="0"/>
          <c:showPercent val="0"/>
          <c:showBubbleSize val="0"/>
          <c:showLeaderLines val="1"/>
        </c:dLbls>
        <c:marker val="1"/>
        <c:smooth val="0"/>
        <c:axId val="2118791784"/>
        <c:axId val="2140495176"/>
      </c:lineChart>
      <c:catAx>
        <c:axId val="2118791784"/>
        <c:scaling>
          <c:orientation val="minMax"/>
        </c:scaling>
        <c:delete val="0"/>
        <c:axPos val="b"/>
        <c:majorTickMark val="out"/>
        <c:minorTickMark val="none"/>
        <c:tickLblPos val="nextTo"/>
        <c:spPr>
          <a:ln>
            <a:solidFill>
              <a:srgbClr val="BBBCBC"/>
            </a:solidFill>
          </a:ln>
        </c:spPr>
        <c:txPr>
          <a:bodyPr/>
          <a:lstStyle/>
          <a:p>
            <a:pPr>
              <a:defRPr sz="1000"/>
            </a:pPr>
          </a:p>
        </c:txPr>
        <c:crossAx val="2140495176"/>
        <c:crosses val="autoZero"/>
        <c:auto val="1"/>
        <c:lblAlgn val="ctr"/>
        <c:lblOffset val="100"/>
        <c:noMultiLvlLbl val="0"/>
      </c:catAx>
      <c:valAx>
        <c:axId val="2140495176"/>
        <c:scaling/>
        <c:delete/>
        <c:axPos val="l"/>
        <c:numFmt formatCode="0.00" sourceLinked="0"/>
        <c:majorTickMark val="out"/>
        <c:minorTickMark val="none"/>
        <c:tickLblPos val="nextTo"/>
        <c:spPr>
          <a:ln>
            <a:noFill/>
          </a:ln>
        </c:spPr>
        <c:txPr>
          <a:bodyPr/>
          <a:lstStyle/>
          <a:p>
            <a:pPr>
              <a:defRPr sz="1000"/>
            </a:pPr>
          </a:p>
        </c:txPr>
        <c:crossAx val="2118791784"/>
        <c:crosses val="autoZero"/>
      </c:valAx>
    </c:plotArea>
    <c:plotVisOnly val="1"/>
    <c:dispBlanksAs val="gap"/>
    <c:showDLblsOverMax val="0"/>
  </c:chart>
  <c:txPr>
    <a:bodyPr/>
    <a:lstStyle/>
    <a:p>
      <a:pPr>
        <a:defRPr sz="1000">
          <a:latin typeface="Helvetica"/>
        </a:defRPr>
      </a:pPr>
      <a:endParaRPr lang="en-US"/>
    </a:p>
  </c:txPr>
  <c:externalData r:id="rId1">
    <c:autoUpdate val="0"/>
  </c:externalData>
</c:chartSpace>
</file>

<file path=ppt/charts/chart35.xml><?xml version="1.0" encoding="utf-8"?>
<c:chartSpace xmlns:c="http://schemas.openxmlformats.org/drawingml/2006/chart" xmlns:a="http://schemas.openxmlformats.org/drawingml/2006/main" xmlns:r="http://schemas.openxmlformats.org/officeDocument/2006/relationships">
  <c:date1904 val="0"/>
  <c:chart>
    <c:autoTitleDeleted val="1"/>
    <c:plotArea>
      <c:lineChart>
        <c:grouping val="standard"/>
        <c:varyColors val="0"/>
        <c:ser>
          <c:idx val="0"/>
          <c:order val="0"/>
          <c:tx>
            <c:strRef>
              <c:f>Sheet1!$B$1</c:f>
              <c:strCache>
                <c:ptCount val="1"/>
                <c:pt idx="0">
                  <c:v>Liquidité comme le FPPN</c:v>
                </c:pt>
              </c:strCache>
            </c:strRef>
          </c:tx>
          <c:spPr>
            <a:ln w="28575">
              <a:solidFill>
                <a:srgbClr val="112A40"/>
              </a:solidFill>
            </a:ln>
          </c:spPr>
          <c:marker>
            <c:spPr>
              <a:solidFill>
                <a:srgbClr val="112A40"/>
              </a:solidFill>
              <a:ln>
                <a:solidFill>
                  <a:srgbClr val="112A40"/>
                </a:solidFill>
              </a:ln>
            </c:spPr>
          </c:marker>
          <c:cat>
            <c:strRef>
              <c:f>Sheet1!$A$2:$A$7</c:f>
              <c:strCache>
                <c:ptCount val="6"/>
                <c:pt idx="0">
                  <c:v>2021</c:v>
                </c:pt>
                <c:pt idx="1">
                  <c:v>2022</c:v>
                </c:pt>
                <c:pt idx="2">
                  <c:v>2023</c:v>
                </c:pt>
                <c:pt idx="3">
                  <c:v>2024</c:v>
                </c:pt>
                <c:pt idx="4">
                  <c:v>2025</c:v>
                </c:pt>
                <c:pt idx="5">
                  <c:v>2026</c:v>
                </c:pt>
              </c:strCache>
            </c:strRef>
          </c:cat>
          <c:val>
            <c:numRef>
              <c:f>Sheet1!$B$2:$B$7</c:f>
              <c:numCache>
                <c:formatCode>0.00</c:formatCode>
                <c:ptCount val="6"/>
                <c:pt idx="0">
                  <c:v>0.19</c:v>
                </c:pt>
                <c:pt idx="1">
                  <c:v>0.1</c:v>
                </c:pt>
                <c:pt idx="2">
                  <c:v>0.11</c:v>
                </c:pt>
                <c:pt idx="3">
                  <c:v>0.07</c:v>
                </c:pt>
                <c:pt idx="4">
                  <c:v>0.13</c:v>
                </c:pt>
                <c:pt idx="5">
                  <c:v>0.19</c:v>
                </c:pt>
              </c:numCache>
            </c:numRef>
          </c:val>
          <c:smooth val="0"/>
        </c:ser>
        <c:ser>
          <c:idx val="1"/>
          <c:order val="1"/>
          <c:tx>
            <c:strRef>
              <c:f>Sheet1!$C$1</c:f>
              <c:strCache>
                <c:ptCount val="1"/>
                <c:pt idx="0">
                  <c:v>Liquidité retraitée</c:v>
                </c:pt>
              </c:strCache>
            </c:strRef>
          </c:tx>
          <c:spPr>
            <a:ln w="28575">
              <a:solidFill>
                <a:srgbClr val="EFAC62"/>
              </a:solidFill>
            </a:ln>
          </c:spPr>
          <c:marker>
            <c:spPr>
              <a:solidFill>
                <a:srgbClr val="EFAC62"/>
              </a:solidFill>
              <a:ln>
                <a:solidFill>
                  <a:srgbClr val="EFAC62"/>
                </a:solidFill>
              </a:ln>
            </c:spPr>
          </c:marker>
          <c:cat>
            <c:strRef>
              <c:f>Sheet1!$A$2:$A$7</c:f>
              <c:strCache>
                <c:ptCount val="6"/>
                <c:pt idx="0">
                  <c:v>2021</c:v>
                </c:pt>
                <c:pt idx="1">
                  <c:v>2022</c:v>
                </c:pt>
                <c:pt idx="2">
                  <c:v>2023</c:v>
                </c:pt>
                <c:pt idx="3">
                  <c:v>2024</c:v>
                </c:pt>
                <c:pt idx="4">
                  <c:v>2025</c:v>
                </c:pt>
                <c:pt idx="5">
                  <c:v>2026</c:v>
                </c:pt>
              </c:strCache>
            </c:strRef>
          </c:cat>
          <c:val>
            <c:numRef>
              <c:f>Sheet1!$C$2:$C$7</c:f>
              <c:numCache>
                <c:formatCode>0.00</c:formatCode>
                <c:ptCount val="6"/>
                <c:pt idx="0">
                  <c:v>0.64</c:v>
                </c:pt>
                <c:pt idx="1">
                  <c:v>0.51</c:v>
                </c:pt>
                <c:pt idx="2">
                  <c:v>0.54</c:v>
                </c:pt>
                <c:pt idx="3">
                  <c:v>0.33</c:v>
                </c:pt>
                <c:pt idx="4">
                  <c:v>1.15</c:v>
                </c:pt>
                <c:pt idx="5">
                  <c:v>1.53</c:v>
                </c:pt>
              </c:numCache>
            </c:numRef>
          </c:val>
          <c:smooth val="0"/>
        </c:ser>
        <c:ser>
          <c:idx val="2"/>
          <c:order val="2"/>
          <c:tx>
            <c:strRef>
              <c:f>Sheet1!$D$1</c:f>
              <c:strCache>
                <c:ptCount val="1"/>
                <c:pt idx="0">
                  <c:v>Équilibre stable retraité</c:v>
                </c:pt>
              </c:strCache>
            </c:strRef>
          </c:tx>
          <c:spPr>
            <a:ln w="28575">
              <a:solidFill>
                <a:srgbClr val="53565A"/>
              </a:solidFill>
            </a:ln>
          </c:spPr>
          <c:marker>
            <c:spPr>
              <a:solidFill>
                <a:srgbClr val="53565A"/>
              </a:solidFill>
              <a:ln>
                <a:solidFill>
                  <a:srgbClr val="53565A"/>
                </a:solidFill>
              </a:ln>
            </c:spPr>
          </c:marker>
          <c:cat>
            <c:strRef>
              <c:f>Sheet1!$A$2:$A$7</c:f>
              <c:strCache>
                <c:ptCount val="6"/>
                <c:pt idx="0">
                  <c:v>2021</c:v>
                </c:pt>
                <c:pt idx="1">
                  <c:v>2022</c:v>
                </c:pt>
                <c:pt idx="2">
                  <c:v>2023</c:v>
                </c:pt>
                <c:pt idx="3">
                  <c:v>2024</c:v>
                </c:pt>
                <c:pt idx="4">
                  <c:v>2025</c:v>
                </c:pt>
                <c:pt idx="5">
                  <c:v>2026</c:v>
                </c:pt>
              </c:strCache>
            </c:strRef>
          </c:cat>
          <c:val>
            <c:numRef>
              <c:f>Sheet1!$D$2:$D$7</c:f>
              <c:numCache>
                <c:formatCode>0.00</c:formatCode>
                <c:ptCount val="6"/>
                <c:pt idx="0">
                  <c:v>1.14</c:v>
                </c:pt>
                <c:pt idx="1">
                  <c:v>1.09</c:v>
                </c:pt>
                <c:pt idx="2">
                  <c:v>1.08</c:v>
                </c:pt>
                <c:pt idx="3">
                  <c:v>1.08</c:v>
                </c:pt>
                <c:pt idx="4">
                  <c:v>0.94</c:v>
                </c:pt>
                <c:pt idx="5">
                  <c:v>0.94</c:v>
                </c:pt>
              </c:numCache>
            </c:numRef>
          </c:val>
          <c:smooth val="0"/>
        </c:ser>
        <c:ser>
          <c:idx val="3"/>
          <c:order val="3"/>
          <c:tx>
            <c:strRef>
              <c:f>Sheet1!$E$1</c:f>
              <c:strCache>
                <c:ptCount val="1"/>
                <c:pt idx="0">
                  <c:v>Norme (1)</c:v>
                </c:pt>
              </c:strCache>
            </c:strRef>
          </c:tx>
          <c:spPr>
            <a:ln w="28575">
              <a:solidFill>
                <a:srgbClr val="C00000"/>
              </a:solidFill>
            </a:ln>
          </c:spPr>
          <c:marker>
            <c:spPr>
              <a:solidFill>
                <a:srgbClr val="C00000"/>
              </a:solidFill>
              <a:ln>
                <a:solidFill>
                  <a:srgbClr val="C00000"/>
                </a:solidFill>
              </a:ln>
            </c:spPr>
          </c:marker>
          <c:cat>
            <c:strRef>
              <c:f>Sheet1!$A$2:$A$7</c:f>
              <c:strCache>
                <c:ptCount val="6"/>
                <c:pt idx="0">
                  <c:v>2021</c:v>
                </c:pt>
                <c:pt idx="1">
                  <c:v>2022</c:v>
                </c:pt>
                <c:pt idx="2">
                  <c:v>2023</c:v>
                </c:pt>
                <c:pt idx="3">
                  <c:v>2024</c:v>
                </c:pt>
                <c:pt idx="4">
                  <c:v>2025</c:v>
                </c:pt>
                <c:pt idx="5">
                  <c:v>2026</c:v>
                </c:pt>
              </c:strCache>
            </c:strRef>
          </c:cat>
          <c:val>
            <c:numRef>
              <c:f>Sheet1!$E$2:$E$7</c:f>
              <c:numCache>
                <c:formatCode>0.00</c:formatCode>
                <c:ptCount val="6"/>
                <c:pt idx="0">
                  <c:v>1.0</c:v>
                </c:pt>
                <c:pt idx="1">
                  <c:v>1.0</c:v>
                </c:pt>
                <c:pt idx="2">
                  <c:v>1.0</c:v>
                </c:pt>
                <c:pt idx="3">
                  <c:v>1.0</c:v>
                </c:pt>
                <c:pt idx="4">
                  <c:v>1.0</c:v>
                </c:pt>
                <c:pt idx="5">
                  <c:v>1.0</c:v>
                </c:pt>
              </c:numCache>
            </c:numRef>
          </c:val>
          <c:smooth val="0"/>
        </c:ser>
        <c:dLbls>
          <c:numFmt formatCode="0.00" sourceLinked="0"/>
          <c:txPr>
            <a:bodyPr/>
            <a:lstStyle/>
            <a:p>
              <a:pPr>
                <a:defRPr sz="1000"/>
              </a:pPr>
            </a:p>
          </c:txPr>
          <c:showLegendKey val="0"/>
          <c:showVal val="1"/>
          <c:showCatName val="0"/>
          <c:showSerName val="0"/>
          <c:showPercent val="0"/>
          <c:showBubbleSize val="0"/>
          <c:showLeaderLines val="1"/>
        </c:dLbls>
        <c:marker val="1"/>
        <c:smooth val="0"/>
        <c:axId val="2118791784"/>
        <c:axId val="2140495176"/>
      </c:lineChart>
      <c:catAx>
        <c:axId val="2118791784"/>
        <c:scaling>
          <c:orientation val="minMax"/>
        </c:scaling>
        <c:delete val="0"/>
        <c:axPos val="b"/>
        <c:majorTickMark val="out"/>
        <c:minorTickMark val="none"/>
        <c:tickLblPos val="nextTo"/>
        <c:spPr>
          <a:ln>
            <a:solidFill>
              <a:srgbClr val="BBBCBC"/>
            </a:solidFill>
          </a:ln>
        </c:spPr>
        <c:txPr>
          <a:bodyPr/>
          <a:lstStyle/>
          <a:p>
            <a:pPr>
              <a:defRPr sz="1000"/>
            </a:pPr>
          </a:p>
        </c:txPr>
        <c:crossAx val="2140495176"/>
        <c:crosses val="autoZero"/>
        <c:auto val="1"/>
        <c:lblAlgn val="ctr"/>
        <c:lblOffset val="100"/>
        <c:noMultiLvlLbl val="0"/>
      </c:catAx>
      <c:valAx>
        <c:axId val="2140495176"/>
        <c:scaling/>
        <c:delete/>
        <c:axPos val="l"/>
        <c:numFmt formatCode="0.00" sourceLinked="0"/>
        <c:majorTickMark val="out"/>
        <c:minorTickMark val="none"/>
        <c:tickLblPos val="nextTo"/>
        <c:spPr>
          <a:ln>
            <a:noFill/>
          </a:ln>
        </c:spPr>
        <c:txPr>
          <a:bodyPr/>
          <a:lstStyle/>
          <a:p>
            <a:pPr>
              <a:defRPr sz="1000"/>
            </a:pPr>
          </a:p>
        </c:txPr>
        <c:crossAx val="2118791784"/>
        <c:crosses val="autoZero"/>
      </c:valAx>
    </c:plotArea>
    <c:legend>
      <c:legendPos val="b"/>
      <c:layout/>
      <c:overlay val="0"/>
      <c:txPr>
        <a:bodyPr/>
        <a:lstStyle/>
        <a:p>
          <a:pPr>
            <a:defRPr sz="1000"/>
          </a:pPr>
        </a:p>
      </c:txPr>
    </c:legend>
    <c:plotVisOnly val="1"/>
    <c:dispBlanksAs val="gap"/>
    <c:showDLblsOverMax val="0"/>
  </c:chart>
  <c:txPr>
    <a:bodyPr/>
    <a:lstStyle/>
    <a:p>
      <a:pPr>
        <a:defRPr sz="1000">
          <a:latin typeface="Helvetica"/>
        </a:defRPr>
      </a:pPr>
      <a:endParaRPr lang="en-US"/>
    </a:p>
  </c:txPr>
  <c:externalData r:id="rId1">
    <c:autoUpdate val="0"/>
  </c:externalData>
</c:chartSpace>
</file>

<file path=ppt/charts/chart36.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Maladie</c:v>
                </c:pt>
              </c:strCache>
            </c:strRef>
          </c:tx>
          <c:spPr>
            <a:solidFill>
              <a:srgbClr val="112A40"/>
            </a:solidFill>
          </c:spPr>
          <c:cat>
            <c:strRef>
              <c:f>Sheet1!$A$2:$A$8</c:f>
              <c:strCache>
                <c:ptCount val="7"/>
                <c:pt idx="0">
                  <c:v>2020</c:v>
                </c:pt>
                <c:pt idx="1">
                  <c:v>2021</c:v>
                </c:pt>
                <c:pt idx="2">
                  <c:v>2022</c:v>
                </c:pt>
                <c:pt idx="3">
                  <c:v>2023</c:v>
                </c:pt>
                <c:pt idx="4">
                  <c:v>2024</c:v>
                </c:pt>
                <c:pt idx="5">
                  <c:v>2025</c:v>
                </c:pt>
                <c:pt idx="6">
                  <c:v>2026 (8 mois)</c:v>
                </c:pt>
              </c:strCache>
            </c:strRef>
          </c:cat>
          <c:val>
            <c:numRef>
              <c:f>Sheet1!$B$2:$B$8</c:f>
              <c:numCache>
                <c:formatCode># ##0,,</c:formatCode>
                <c:ptCount val="7"/>
                <c:pt idx="0">
                  <c:v>450556166</c:v>
                </c:pt>
                <c:pt idx="1">
                  <c:v>775696432</c:v>
                </c:pt>
                <c:pt idx="2">
                  <c:v>818990532</c:v>
                </c:pt>
                <c:pt idx="3">
                  <c:v>544608847</c:v>
                </c:pt>
                <c:pt idx="4">
                  <c:v>346250445</c:v>
                </c:pt>
                <c:pt idx="5">
                  <c:v>-237774567</c:v>
                </c:pt>
                <c:pt idx="6">
                  <c:v>-701679552</c:v>
                </c:pt>
              </c:numCache>
            </c:numRef>
          </c:val>
        </c:ser>
        <c:ser>
          <c:idx val="1"/>
          <c:order val="1"/>
          <c:tx>
            <c:strRef>
              <c:f>Sheet1!$C$1</c:f>
              <c:strCache>
                <c:ptCount val="1"/>
                <c:pt idx="0">
                  <c:v>Décès</c:v>
                </c:pt>
              </c:strCache>
            </c:strRef>
          </c:tx>
          <c:spPr>
            <a:solidFill>
              <a:srgbClr val="EFAC62"/>
            </a:solidFill>
          </c:spPr>
          <c:cat>
            <c:strRef>
              <c:f>Sheet1!$A$2:$A$8</c:f>
              <c:strCache>
                <c:ptCount val="7"/>
                <c:pt idx="0">
                  <c:v>2020</c:v>
                </c:pt>
                <c:pt idx="1">
                  <c:v>2021</c:v>
                </c:pt>
                <c:pt idx="2">
                  <c:v>2022</c:v>
                </c:pt>
                <c:pt idx="3">
                  <c:v>2023</c:v>
                </c:pt>
                <c:pt idx="4">
                  <c:v>2024</c:v>
                </c:pt>
                <c:pt idx="5">
                  <c:v>2025</c:v>
                </c:pt>
                <c:pt idx="6">
                  <c:v>2026 (8 mois)</c:v>
                </c:pt>
              </c:strCache>
            </c:strRef>
          </c:cat>
          <c:val>
            <c:numRef>
              <c:f>Sheet1!$C$2:$C$8</c:f>
              <c:numCache>
                <c:formatCode># ##0,,</c:formatCode>
                <c:ptCount val="7"/>
                <c:pt idx="0">
                  <c:v>-297076358</c:v>
                </c:pt>
                <c:pt idx="1">
                  <c:v>-25796447</c:v>
                </c:pt>
                <c:pt idx="2">
                  <c:v>284293552</c:v>
                </c:pt>
                <c:pt idx="3">
                  <c:v>315201377</c:v>
                </c:pt>
                <c:pt idx="4">
                  <c:v>392850349</c:v>
                </c:pt>
                <c:pt idx="5">
                  <c:v>449151155</c:v>
                </c:pt>
                <c:pt idx="6">
                  <c:v>239560278</c:v>
                </c:pt>
              </c:numCache>
            </c:numRef>
          </c:val>
        </c:ser>
        <c:dLbls>
          <c:numFmt formatCode="# ##0,," sourceLinked="0"/>
          <c:txPr>
            <a:bodyPr/>
            <a:lstStyle/>
            <a:p>
              <a:pPr>
                <a:defRPr sz="1000"/>
              </a:pPr>
            </a:p>
          </c:txPr>
          <c:showLegendKey val="0"/>
          <c:showVal val="1"/>
          <c:showCatName val="0"/>
          <c:showSerName val="0"/>
          <c:showPercent val="0"/>
          <c:showBubbleSize val="0"/>
          <c:showLeaderLines val="1"/>
        </c:dLbls>
        <c:gapWidth val="60"/>
        <c:axId val="-2068027336"/>
        <c:axId val="-2113994440"/>
      </c:barChart>
      <c:catAx>
        <c:axId val="-2068027336"/>
        <c:scaling>
          <c:orientation val="minMax"/>
        </c:scaling>
        <c:delete val="0"/>
        <c:axPos val="b"/>
        <c:majorTickMark val="out"/>
        <c:minorTickMark val="none"/>
        <c:tickLblPos val="low"/>
        <c:spPr>
          <a:ln>
            <a:solidFill>
              <a:srgbClr val="BBBCBC"/>
            </a:solidFill>
          </a:ln>
        </c:spPr>
        <c:txPr>
          <a:bodyPr/>
          <a:lstStyle/>
          <a:p>
            <a:pPr>
              <a:defRPr sz="1000"/>
            </a:pPr>
          </a:p>
        </c:txPr>
        <c:crossAx val="-2113994440"/>
        <c:crosses val="autoZero"/>
        <c:auto val="1"/>
        <c:lblAlgn val="ctr"/>
        <c:lblOffset val="100"/>
        <c:noMultiLvlLbl val="0"/>
      </c:catAx>
      <c:valAx>
        <c:axId val="-2113994440"/>
        <c:scaling/>
        <c:delete/>
        <c:axPos val="l"/>
        <c:numFmt formatCode="# ##0,," sourceLinked="0"/>
        <c:majorTickMark val="out"/>
        <c:minorTickMark val="none"/>
        <c:tickLblPos val="nextTo"/>
        <c:spPr>
          <a:ln>
            <a:noFill/>
          </a:ln>
        </c:spPr>
        <c:txPr>
          <a:bodyPr/>
          <a:lstStyle/>
          <a:p>
            <a:pPr>
              <a:defRPr sz="1000"/>
            </a:pPr>
          </a:p>
        </c:txPr>
        <c:crossAx val="-2068027336"/>
        <c:crosses val="autoZero"/>
      </c:valAx>
    </c:plotArea>
    <c:legend>
      <c:legendPos val="b"/>
      <c:overlay val="0"/>
      <c:txPr>
        <a:bodyPr/>
        <a:lstStyle/>
        <a:p>
          <a:pPr>
            <a:defRPr sz="1000"/>
          </a:pPr>
        </a:p>
      </c:txPr>
    </c:legend>
    <c:dispBlanksAs val="gap"/>
  </c:chart>
  <c:txPr>
    <a:bodyPr/>
    <a:lstStyle/>
    <a:p>
      <a:pPr>
        <a:defRPr sz="1000">
          <a:latin typeface="Helvetica"/>
        </a:defRPr>
      </a:pPr>
      <a:endParaRPr lang="en-US"/>
    </a:p>
  </c:txPr>
  <c:externalData r:id="rId1">
    <c:autoUpdate val="0"/>
  </c:externalData>
</c:chartSpace>
</file>

<file path=ppt/charts/chart37.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Marge exigée</c:v>
                </c:pt>
              </c:strCache>
            </c:strRef>
          </c:tx>
          <c:spPr>
            <a:solidFill>
              <a:srgbClr val="BBBCBC"/>
            </a:solidFill>
          </c:spPr>
          <c:cat>
            <c:strRef>
              <c:f>Sheet1!$A$2:$A$7</c:f>
              <c:strCache>
                <c:ptCount val="6"/>
                <c:pt idx="0">
                  <c:v>2021</c:v>
                </c:pt>
                <c:pt idx="1">
                  <c:v>2022</c:v>
                </c:pt>
                <c:pt idx="2">
                  <c:v>2023</c:v>
                </c:pt>
                <c:pt idx="3">
                  <c:v>2024</c:v>
                </c:pt>
                <c:pt idx="4">
                  <c:v>2025</c:v>
                </c:pt>
                <c:pt idx="5">
                  <c:v>31/08/2026</c:v>
                </c:pt>
              </c:strCache>
            </c:strRef>
          </c:cat>
          <c:val>
            <c:numRef>
              <c:f>Sheet1!$B$2:$B$7</c:f>
              <c:numCache>
                <c:formatCode># ##0,,</c:formatCode>
                <c:ptCount val="6"/>
                <c:pt idx="0">
                  <c:v>423039138</c:v>
                </c:pt>
                <c:pt idx="1">
                  <c:v>436176762</c:v>
                </c:pt>
                <c:pt idx="2">
                  <c:v>459907226</c:v>
                </c:pt>
                <c:pt idx="3">
                  <c:v>499226913</c:v>
                </c:pt>
                <c:pt idx="4">
                  <c:v>566209845</c:v>
                </c:pt>
                <c:pt idx="5">
                  <c:v>615265510</c:v>
                </c:pt>
              </c:numCache>
            </c:numRef>
          </c:val>
        </c:ser>
        <c:ser>
          <c:idx val="1"/>
          <c:order val="1"/>
          <c:tx>
            <c:strRef>
              <c:f>Sheet1!$C$1</c:f>
              <c:strCache>
                <c:ptCount val="1"/>
                <c:pt idx="0">
                  <c:v>Disponible comme le FPPN</c:v>
                </c:pt>
              </c:strCache>
            </c:strRef>
          </c:tx>
          <c:spPr>
            <a:solidFill>
              <a:srgbClr val="112A40"/>
            </a:solidFill>
          </c:spPr>
          <c:cat>
            <c:strRef>
              <c:f>Sheet1!$A$2:$A$7</c:f>
              <c:strCache>
                <c:ptCount val="6"/>
                <c:pt idx="0">
                  <c:v>2021</c:v>
                </c:pt>
                <c:pt idx="1">
                  <c:v>2022</c:v>
                </c:pt>
                <c:pt idx="2">
                  <c:v>2023</c:v>
                </c:pt>
                <c:pt idx="3">
                  <c:v>2024</c:v>
                </c:pt>
                <c:pt idx="4">
                  <c:v>2025</c:v>
                </c:pt>
                <c:pt idx="5">
                  <c:v>31/08/2026</c:v>
                </c:pt>
              </c:strCache>
            </c:strRef>
          </c:cat>
          <c:val>
            <c:numRef>
              <c:f>Sheet1!$C$2:$C$7</c:f>
              <c:numCache>
                <c:formatCode># ##0,,</c:formatCode>
                <c:ptCount val="6"/>
                <c:pt idx="0">
                  <c:v>2899400000</c:v>
                </c:pt>
                <c:pt idx="1">
                  <c:v>2899400000</c:v>
                </c:pt>
                <c:pt idx="2">
                  <c:v>3083619879</c:v>
                </c:pt>
                <c:pt idx="3">
                  <c:v>3604772176</c:v>
                </c:pt>
                <c:pt idx="4">
                  <c:v>4396841817</c:v>
                </c:pt>
                <c:pt idx="5">
                  <c:v>4396841817</c:v>
                </c:pt>
              </c:numCache>
            </c:numRef>
          </c:val>
        </c:ser>
        <c:ser>
          <c:idx val="2"/>
          <c:order val="2"/>
          <c:tx>
            <c:strRef>
              <c:f>Sheet1!$D$1</c:f>
              <c:strCache>
                <c:ptCount val="1"/>
                <c:pt idx="0">
                  <c:v>Disponible nette des pertes</c:v>
                </c:pt>
              </c:strCache>
            </c:strRef>
          </c:tx>
          <c:spPr>
            <a:solidFill>
              <a:srgbClr val="EFAC62"/>
            </a:solidFill>
          </c:spPr>
          <c:cat>
            <c:strRef>
              <c:f>Sheet1!$A$2:$A$7</c:f>
              <c:strCache>
                <c:ptCount val="6"/>
                <c:pt idx="0">
                  <c:v>2021</c:v>
                </c:pt>
                <c:pt idx="1">
                  <c:v>2022</c:v>
                </c:pt>
                <c:pt idx="2">
                  <c:v>2023</c:v>
                </c:pt>
                <c:pt idx="3">
                  <c:v>2024</c:v>
                </c:pt>
                <c:pt idx="4">
                  <c:v>2025</c:v>
                </c:pt>
                <c:pt idx="5">
                  <c:v>31/08/2026</c:v>
                </c:pt>
              </c:strCache>
            </c:strRef>
          </c:cat>
          <c:val>
            <c:numRef>
              <c:f>Sheet1!$D$2:$D$7</c:f>
              <c:numCache>
                <c:formatCode># ##0,,</c:formatCode>
                <c:ptCount val="6"/>
                <c:pt idx="0">
                  <c:v>-4659173531</c:v>
                </c:pt>
                <c:pt idx="1">
                  <c:v>-2598840854</c:v>
                </c:pt>
                <c:pt idx="2">
                  <c:v>-1668211752</c:v>
                </c:pt>
                <c:pt idx="3">
                  <c:v>-876142111</c:v>
                </c:pt>
                <c:pt idx="4">
                  <c:v>-438242200</c:v>
                </c:pt>
                <c:pt idx="5">
                  <c:v>-879498700</c:v>
                </c:pt>
              </c:numCache>
            </c:numRef>
          </c:val>
        </c:ser>
        <c:dLbls>
          <c:numFmt formatCode="# ##0,," sourceLinked="0"/>
          <c:txPr>
            <a:bodyPr/>
            <a:lstStyle/>
            <a:p>
              <a:pPr>
                <a:defRPr sz="1000"/>
              </a:pPr>
            </a:p>
          </c:txPr>
          <c:showLegendKey val="0"/>
          <c:showVal val="1"/>
          <c:showCatName val="0"/>
          <c:showSerName val="0"/>
          <c:showPercent val="0"/>
          <c:showBubbleSize val="0"/>
          <c:showLeaderLines val="1"/>
        </c:dLbls>
        <c:gapWidth val="60"/>
        <c:axId val="-2068027336"/>
        <c:axId val="-2113994440"/>
      </c:barChart>
      <c:catAx>
        <c:axId val="-2068027336"/>
        <c:scaling>
          <c:orientation val="minMax"/>
        </c:scaling>
        <c:delete val="0"/>
        <c:axPos val="b"/>
        <c:majorTickMark val="out"/>
        <c:minorTickMark val="none"/>
        <c:tickLblPos val="low"/>
        <c:spPr>
          <a:ln>
            <a:solidFill>
              <a:srgbClr val="BBBCBC"/>
            </a:solidFill>
          </a:ln>
        </c:spPr>
        <c:txPr>
          <a:bodyPr/>
          <a:lstStyle/>
          <a:p>
            <a:pPr>
              <a:defRPr sz="1000"/>
            </a:pPr>
          </a:p>
        </c:txPr>
        <c:crossAx val="-2113994440"/>
        <c:crosses val="autoZero"/>
        <c:auto val="1"/>
        <c:lblAlgn val="ctr"/>
        <c:lblOffset val="100"/>
        <c:noMultiLvlLbl val="0"/>
      </c:catAx>
      <c:valAx>
        <c:axId val="-2113994440"/>
        <c:scaling/>
        <c:delete/>
        <c:axPos val="l"/>
        <c:numFmt formatCode="# ##0,," sourceLinked="0"/>
        <c:majorTickMark val="out"/>
        <c:minorTickMark val="none"/>
        <c:tickLblPos val="nextTo"/>
        <c:spPr>
          <a:ln>
            <a:noFill/>
          </a:ln>
        </c:spPr>
        <c:txPr>
          <a:bodyPr/>
          <a:lstStyle/>
          <a:p>
            <a:pPr>
              <a:defRPr sz="1000"/>
            </a:pPr>
          </a:p>
        </c:txPr>
        <c:crossAx val="-2068027336"/>
        <c:crosses val="autoZero"/>
      </c:valAx>
    </c:plotArea>
    <c:legend>
      <c:legendPos val="b"/>
      <c:overlay val="0"/>
      <c:txPr>
        <a:bodyPr/>
        <a:lstStyle/>
        <a:p>
          <a:pPr>
            <a:defRPr sz="1000"/>
          </a:pPr>
        </a:p>
      </c:txPr>
    </c:legend>
    <c:dispBlanksAs val="gap"/>
  </c:chart>
  <c:txPr>
    <a:bodyPr/>
    <a:lstStyle/>
    <a:p>
      <a:pPr>
        <a:defRPr sz="1000">
          <a:latin typeface="Helvetica"/>
        </a:defRPr>
      </a:pPr>
      <a:endParaRPr lang="en-US"/>
    </a:p>
  </c:txPr>
  <c:externalData r:id="rId1">
    <c:autoUpdate val="0"/>
  </c:externalData>
</c:chartSpace>
</file>

<file path=ppt/charts/chart38.xml><?xml version="1.0" encoding="utf-8"?>
<c:chartSpace xmlns:c="http://schemas.openxmlformats.org/drawingml/2006/chart" xmlns:a="http://schemas.openxmlformats.org/drawingml/2006/main" xmlns:r="http://schemas.openxmlformats.org/officeDocument/2006/relationships">
  <c:date1904 val="0"/>
  <c:chart>
    <c:autoTitleDeleted val="1"/>
    <c:plotArea>
      <c:lineChart>
        <c:grouping val="standard"/>
        <c:varyColors val="0"/>
        <c:ser>
          <c:idx val="0"/>
          <c:order val="0"/>
          <c:tx>
            <c:strRef>
              <c:f>Sheet1!$B$1</c:f>
              <c:strCache>
                <c:ptCount val="1"/>
                <c:pt idx="0">
                  <c:v>CIMA H</c:v>
                </c:pt>
              </c:strCache>
            </c:strRef>
          </c:tx>
          <c:spPr>
            <a:ln w="28575">
              <a:solidFill>
                <a:srgbClr val="112A40"/>
              </a:solidFill>
            </a:ln>
          </c:spPr>
          <c:marker>
            <c:spPr>
              <a:solidFill>
                <a:srgbClr val="112A40"/>
              </a:solidFill>
              <a:ln>
                <a:solidFill>
                  <a:srgbClr val="112A40"/>
                </a:solidFill>
              </a:ln>
            </c:spPr>
          </c:marker>
          <c:cat>
            <c:strRef>
              <c:f>Sheet1!$A$2:$A$24</c:f>
              <c:strCache>
                <c:ptCount val="23"/>
                <c:pt idx="0">
                  <c:v>0</c:v>
                </c:pt>
                <c:pt idx="1">
                  <c:v>5</c:v>
                </c:pt>
                <c:pt idx="2">
                  <c:v>10</c:v>
                </c:pt>
                <c:pt idx="3">
                  <c:v>15</c:v>
                </c:pt>
                <c:pt idx="4">
                  <c:v>20</c:v>
                </c:pt>
                <c:pt idx="5">
                  <c:v>25</c:v>
                </c:pt>
                <c:pt idx="6">
                  <c:v>30</c:v>
                </c:pt>
                <c:pt idx="7">
                  <c:v>35</c:v>
                </c:pt>
                <c:pt idx="8">
                  <c:v>40</c:v>
                </c:pt>
                <c:pt idx="9">
                  <c:v>45</c:v>
                </c:pt>
                <c:pt idx="10">
                  <c:v>50</c:v>
                </c:pt>
                <c:pt idx="11">
                  <c:v>55</c:v>
                </c:pt>
                <c:pt idx="12">
                  <c:v>60</c:v>
                </c:pt>
                <c:pt idx="13">
                  <c:v>65</c:v>
                </c:pt>
                <c:pt idx="14">
                  <c:v>70</c:v>
                </c:pt>
                <c:pt idx="15">
                  <c:v>75</c:v>
                </c:pt>
                <c:pt idx="16">
                  <c:v>80</c:v>
                </c:pt>
                <c:pt idx="17">
                  <c:v>85</c:v>
                </c:pt>
                <c:pt idx="18">
                  <c:v>90</c:v>
                </c:pt>
                <c:pt idx="19">
                  <c:v>95</c:v>
                </c:pt>
                <c:pt idx="20">
                  <c:v>100</c:v>
                </c:pt>
                <c:pt idx="21">
                  <c:v>105</c:v>
                </c:pt>
                <c:pt idx="22">
                  <c:v>110</c:v>
                </c:pt>
              </c:strCache>
            </c:strRef>
          </c:cat>
          <c:val>
            <c:numRef>
              <c:f>Sheet1!$B$2:$B$24</c:f>
              <c:numCache>
                <c:formatCode>0.00</c:formatCode>
                <c:ptCount val="23"/>
                <c:pt idx="0">
                  <c:v>100.0</c:v>
                </c:pt>
                <c:pt idx="1">
                  <c:v>99.25</c:v>
                </c:pt>
                <c:pt idx="2">
                  <c:v>99.09</c:v>
                </c:pt>
                <c:pt idx="3">
                  <c:v>98.89</c:v>
                </c:pt>
                <c:pt idx="4">
                  <c:v>98.34</c:v>
                </c:pt>
                <c:pt idx="5">
                  <c:v>97.53</c:v>
                </c:pt>
                <c:pt idx="6">
                  <c:v>96.63</c:v>
                </c:pt>
                <c:pt idx="7">
                  <c:v>95.6</c:v>
                </c:pt>
                <c:pt idx="8">
                  <c:v>94.25</c:v>
                </c:pt>
                <c:pt idx="9">
                  <c:v>92.31</c:v>
                </c:pt>
                <c:pt idx="10">
                  <c:v>89.56</c:v>
                </c:pt>
                <c:pt idx="11">
                  <c:v>86.04</c:v>
                </c:pt>
                <c:pt idx="12">
                  <c:v>81.51</c:v>
                </c:pt>
                <c:pt idx="13">
                  <c:v>75.11</c:v>
                </c:pt>
                <c:pt idx="14">
                  <c:v>66.44</c:v>
                </c:pt>
                <c:pt idx="15">
                  <c:v>55.74</c:v>
                </c:pt>
                <c:pt idx="16">
                  <c:v>43.23</c:v>
                </c:pt>
                <c:pt idx="17">
                  <c:v>29.22</c:v>
                </c:pt>
                <c:pt idx="18">
                  <c:v>15.94</c:v>
                </c:pt>
                <c:pt idx="19">
                  <c:v>5.26</c:v>
                </c:pt>
                <c:pt idx="20">
                  <c:v>0.3</c:v>
                </c:pt>
                <c:pt idx="21">
                  <c:v>0.0</c:v>
                </c:pt>
                <c:pt idx="22">
                  <c:v>0.0</c:v>
                </c:pt>
              </c:numCache>
            </c:numRef>
          </c:val>
          <c:smooth val="0"/>
        </c:ser>
        <c:ser>
          <c:idx val="1"/>
          <c:order val="1"/>
          <c:tx>
            <c:strRef>
              <c:f>Sheet1!$C$1</c:f>
              <c:strCache>
                <c:ptCount val="1"/>
                <c:pt idx="0">
                  <c:v>CIMA F</c:v>
                </c:pt>
              </c:strCache>
            </c:strRef>
          </c:tx>
          <c:spPr>
            <a:ln w="28575">
              <a:solidFill>
                <a:srgbClr val="EFAC62"/>
              </a:solidFill>
            </a:ln>
          </c:spPr>
          <c:marker>
            <c:spPr>
              <a:solidFill>
                <a:srgbClr val="EFAC62"/>
              </a:solidFill>
              <a:ln>
                <a:solidFill>
                  <a:srgbClr val="EFAC62"/>
                </a:solidFill>
              </a:ln>
            </c:spPr>
          </c:marker>
          <c:cat>
            <c:strRef>
              <c:f>Sheet1!$A$2:$A$24</c:f>
              <c:strCache>
                <c:ptCount val="23"/>
                <c:pt idx="0">
                  <c:v>0</c:v>
                </c:pt>
                <c:pt idx="1">
                  <c:v>5</c:v>
                </c:pt>
                <c:pt idx="2">
                  <c:v>10</c:v>
                </c:pt>
                <c:pt idx="3">
                  <c:v>15</c:v>
                </c:pt>
                <c:pt idx="4">
                  <c:v>20</c:v>
                </c:pt>
                <c:pt idx="5">
                  <c:v>25</c:v>
                </c:pt>
                <c:pt idx="6">
                  <c:v>30</c:v>
                </c:pt>
                <c:pt idx="7">
                  <c:v>35</c:v>
                </c:pt>
                <c:pt idx="8">
                  <c:v>40</c:v>
                </c:pt>
                <c:pt idx="9">
                  <c:v>45</c:v>
                </c:pt>
                <c:pt idx="10">
                  <c:v>50</c:v>
                </c:pt>
                <c:pt idx="11">
                  <c:v>55</c:v>
                </c:pt>
                <c:pt idx="12">
                  <c:v>60</c:v>
                </c:pt>
                <c:pt idx="13">
                  <c:v>65</c:v>
                </c:pt>
                <c:pt idx="14">
                  <c:v>70</c:v>
                </c:pt>
                <c:pt idx="15">
                  <c:v>75</c:v>
                </c:pt>
                <c:pt idx="16">
                  <c:v>80</c:v>
                </c:pt>
                <c:pt idx="17">
                  <c:v>85</c:v>
                </c:pt>
                <c:pt idx="18">
                  <c:v>90</c:v>
                </c:pt>
                <c:pt idx="19">
                  <c:v>95</c:v>
                </c:pt>
                <c:pt idx="20">
                  <c:v>100</c:v>
                </c:pt>
                <c:pt idx="21">
                  <c:v>105</c:v>
                </c:pt>
                <c:pt idx="22">
                  <c:v>110</c:v>
                </c:pt>
              </c:strCache>
            </c:strRef>
          </c:cat>
          <c:val>
            <c:numRef>
              <c:f>Sheet1!$C$2:$C$24</c:f>
              <c:numCache>
                <c:formatCode>0.00</c:formatCode>
                <c:ptCount val="23"/>
                <c:pt idx="0">
                  <c:v>100.0</c:v>
                </c:pt>
                <c:pt idx="1">
                  <c:v>99.6</c:v>
                </c:pt>
                <c:pt idx="2">
                  <c:v>99.51</c:v>
                </c:pt>
                <c:pt idx="3">
                  <c:v>99.41</c:v>
                </c:pt>
                <c:pt idx="4">
                  <c:v>99.12</c:v>
                </c:pt>
                <c:pt idx="5">
                  <c:v>98.68</c:v>
                </c:pt>
                <c:pt idx="6">
                  <c:v>98.19</c:v>
                </c:pt>
                <c:pt idx="7">
                  <c:v>97.62</c:v>
                </c:pt>
                <c:pt idx="8">
                  <c:v>96.88</c:v>
                </c:pt>
                <c:pt idx="9">
                  <c:v>95.79</c:v>
                </c:pt>
                <c:pt idx="10">
                  <c:v>94.24</c:v>
                </c:pt>
                <c:pt idx="11">
                  <c:v>92.22</c:v>
                </c:pt>
                <c:pt idx="12">
                  <c:v>89.58</c:v>
                </c:pt>
                <c:pt idx="13">
                  <c:v>85.81</c:v>
                </c:pt>
                <c:pt idx="14">
                  <c:v>80.52</c:v>
                </c:pt>
                <c:pt idx="15">
                  <c:v>73.52</c:v>
                </c:pt>
                <c:pt idx="16">
                  <c:v>64.46</c:v>
                </c:pt>
                <c:pt idx="17">
                  <c:v>52.62</c:v>
                </c:pt>
                <c:pt idx="18">
                  <c:v>38.44</c:v>
                </c:pt>
                <c:pt idx="19">
                  <c:v>21.64</c:v>
                </c:pt>
                <c:pt idx="20">
                  <c:v>4.87</c:v>
                </c:pt>
                <c:pt idx="21">
                  <c:v>0.1</c:v>
                </c:pt>
                <c:pt idx="22">
                  <c:v>0.0</c:v>
                </c:pt>
              </c:numCache>
            </c:numRef>
          </c:val>
          <c:smooth val="0"/>
        </c:ser>
        <c:ser>
          <c:idx val="2"/>
          <c:order val="2"/>
          <c:tx>
            <c:strRef>
              <c:f>Sheet1!$D$1</c:f>
              <c:strCache>
                <c:ptCount val="1"/>
                <c:pt idx="0">
                  <c:v>TD CIMA</c:v>
                </c:pt>
              </c:strCache>
            </c:strRef>
          </c:tx>
          <c:spPr>
            <a:ln w="28575">
              <a:solidFill>
                <a:srgbClr val="53565A"/>
              </a:solidFill>
            </a:ln>
          </c:spPr>
          <c:marker>
            <c:spPr>
              <a:solidFill>
                <a:srgbClr val="53565A"/>
              </a:solidFill>
              <a:ln>
                <a:solidFill>
                  <a:srgbClr val="53565A"/>
                </a:solidFill>
              </a:ln>
            </c:spPr>
          </c:marker>
          <c:cat>
            <c:strRef>
              <c:f>Sheet1!$A$2:$A$24</c:f>
              <c:strCache>
                <c:ptCount val="23"/>
                <c:pt idx="0">
                  <c:v>0</c:v>
                </c:pt>
                <c:pt idx="1">
                  <c:v>5</c:v>
                </c:pt>
                <c:pt idx="2">
                  <c:v>10</c:v>
                </c:pt>
                <c:pt idx="3">
                  <c:v>15</c:v>
                </c:pt>
                <c:pt idx="4">
                  <c:v>20</c:v>
                </c:pt>
                <c:pt idx="5">
                  <c:v>25</c:v>
                </c:pt>
                <c:pt idx="6">
                  <c:v>30</c:v>
                </c:pt>
                <c:pt idx="7">
                  <c:v>35</c:v>
                </c:pt>
                <c:pt idx="8">
                  <c:v>40</c:v>
                </c:pt>
                <c:pt idx="9">
                  <c:v>45</c:v>
                </c:pt>
                <c:pt idx="10">
                  <c:v>50</c:v>
                </c:pt>
                <c:pt idx="11">
                  <c:v>55</c:v>
                </c:pt>
                <c:pt idx="12">
                  <c:v>60</c:v>
                </c:pt>
                <c:pt idx="13">
                  <c:v>65</c:v>
                </c:pt>
                <c:pt idx="14">
                  <c:v>70</c:v>
                </c:pt>
                <c:pt idx="15">
                  <c:v>75</c:v>
                </c:pt>
                <c:pt idx="16">
                  <c:v>80</c:v>
                </c:pt>
                <c:pt idx="17">
                  <c:v>85</c:v>
                </c:pt>
                <c:pt idx="18">
                  <c:v>90</c:v>
                </c:pt>
                <c:pt idx="19">
                  <c:v>95</c:v>
                </c:pt>
                <c:pt idx="20">
                  <c:v>100</c:v>
                </c:pt>
                <c:pt idx="21">
                  <c:v>105</c:v>
                </c:pt>
                <c:pt idx="22">
                  <c:v>110</c:v>
                </c:pt>
              </c:strCache>
            </c:strRef>
          </c:cat>
          <c:val>
            <c:numRef>
              <c:f>Sheet1!$D$2:$D$24</c:f>
              <c:numCache>
                <c:formatCode>0.00</c:formatCode>
                <c:ptCount val="23"/>
                <c:pt idx="0">
                  <c:v>100.0</c:v>
                </c:pt>
                <c:pt idx="1">
                  <c:v>97.1</c:v>
                </c:pt>
                <c:pt idx="2">
                  <c:v>96.88</c:v>
                </c:pt>
                <c:pt idx="3">
                  <c:v>96.67</c:v>
                </c:pt>
                <c:pt idx="4">
                  <c:v>96.2</c:v>
                </c:pt>
                <c:pt idx="5">
                  <c:v>95.49</c:v>
                </c:pt>
                <c:pt idx="6">
                  <c:v>94.7</c:v>
                </c:pt>
                <c:pt idx="7">
                  <c:v>93.7</c:v>
                </c:pt>
                <c:pt idx="8">
                  <c:v>92.26</c:v>
                </c:pt>
                <c:pt idx="9">
                  <c:v>90.14</c:v>
                </c:pt>
                <c:pt idx="10">
                  <c:v>87.03</c:v>
                </c:pt>
                <c:pt idx="11">
                  <c:v>82.48</c:v>
                </c:pt>
                <c:pt idx="12">
                  <c:v>75.93</c:v>
                </c:pt>
                <c:pt idx="13">
                  <c:v>66.8</c:v>
                </c:pt>
                <c:pt idx="14">
                  <c:v>54.76</c:v>
                </c:pt>
                <c:pt idx="15">
                  <c:v>40.19</c:v>
                </c:pt>
                <c:pt idx="16">
                  <c:v>24.83</c:v>
                </c:pt>
                <c:pt idx="17">
                  <c:v>11.72</c:v>
                </c:pt>
                <c:pt idx="18">
                  <c:v>3.64</c:v>
                </c:pt>
                <c:pt idx="19">
                  <c:v>0.59</c:v>
                </c:pt>
                <c:pt idx="20">
                  <c:v>0.03</c:v>
                </c:pt>
                <c:pt idx="21">
                  <c:v>0.0</c:v>
                </c:pt>
                <c:pt idx="22">
                  <c:v>0.0</c:v>
                </c:pt>
              </c:numCache>
            </c:numRef>
          </c:val>
          <c:smooth val="0"/>
        </c:ser>
        <c:ser>
          <c:idx val="3"/>
          <c:order val="3"/>
          <c:tx>
            <c:strRef>
              <c:f>Sheet1!$E$1</c:f>
              <c:strCache>
                <c:ptCount val="1"/>
                <c:pt idx="0">
                  <c:v>TV CIMA</c:v>
                </c:pt>
              </c:strCache>
            </c:strRef>
          </c:tx>
          <c:spPr>
            <a:ln w="28575">
              <a:solidFill>
                <a:srgbClr val="BBBCBC"/>
              </a:solidFill>
            </a:ln>
          </c:spPr>
          <c:marker>
            <c:spPr>
              <a:solidFill>
                <a:srgbClr val="BBBCBC"/>
              </a:solidFill>
              <a:ln>
                <a:solidFill>
                  <a:srgbClr val="BBBCBC"/>
                </a:solidFill>
              </a:ln>
            </c:spPr>
          </c:marker>
          <c:cat>
            <c:strRef>
              <c:f>Sheet1!$A$2:$A$24</c:f>
              <c:strCache>
                <c:ptCount val="23"/>
                <c:pt idx="0">
                  <c:v>0</c:v>
                </c:pt>
                <c:pt idx="1">
                  <c:v>5</c:v>
                </c:pt>
                <c:pt idx="2">
                  <c:v>10</c:v>
                </c:pt>
                <c:pt idx="3">
                  <c:v>15</c:v>
                </c:pt>
                <c:pt idx="4">
                  <c:v>20</c:v>
                </c:pt>
                <c:pt idx="5">
                  <c:v>25</c:v>
                </c:pt>
                <c:pt idx="6">
                  <c:v>30</c:v>
                </c:pt>
                <c:pt idx="7">
                  <c:v>35</c:v>
                </c:pt>
                <c:pt idx="8">
                  <c:v>40</c:v>
                </c:pt>
                <c:pt idx="9">
                  <c:v>45</c:v>
                </c:pt>
                <c:pt idx="10">
                  <c:v>50</c:v>
                </c:pt>
                <c:pt idx="11">
                  <c:v>55</c:v>
                </c:pt>
                <c:pt idx="12">
                  <c:v>60</c:v>
                </c:pt>
                <c:pt idx="13">
                  <c:v>65</c:v>
                </c:pt>
                <c:pt idx="14">
                  <c:v>70</c:v>
                </c:pt>
                <c:pt idx="15">
                  <c:v>75</c:v>
                </c:pt>
                <c:pt idx="16">
                  <c:v>80</c:v>
                </c:pt>
                <c:pt idx="17">
                  <c:v>85</c:v>
                </c:pt>
                <c:pt idx="18">
                  <c:v>90</c:v>
                </c:pt>
                <c:pt idx="19">
                  <c:v>95</c:v>
                </c:pt>
                <c:pt idx="20">
                  <c:v>100</c:v>
                </c:pt>
                <c:pt idx="21">
                  <c:v>105</c:v>
                </c:pt>
                <c:pt idx="22">
                  <c:v>110</c:v>
                </c:pt>
              </c:strCache>
            </c:strRef>
          </c:cat>
          <c:val>
            <c:numRef>
              <c:f>Sheet1!$E$2:$E$24</c:f>
              <c:numCache>
                <c:formatCode>0.00</c:formatCode>
                <c:ptCount val="23"/>
                <c:pt idx="0">
                  <c:v>100.0</c:v>
                </c:pt>
                <c:pt idx="1">
                  <c:v>97.75</c:v>
                </c:pt>
                <c:pt idx="2">
                  <c:v>97.6</c:v>
                </c:pt>
                <c:pt idx="3">
                  <c:v>97.47</c:v>
                </c:pt>
                <c:pt idx="4">
                  <c:v>97.23</c:v>
                </c:pt>
                <c:pt idx="5">
                  <c:v>96.91</c:v>
                </c:pt>
                <c:pt idx="6">
                  <c:v>96.48</c:v>
                </c:pt>
                <c:pt idx="7">
                  <c:v>95.94</c:v>
                </c:pt>
                <c:pt idx="8">
                  <c:v>95.22</c:v>
                </c:pt>
                <c:pt idx="9">
                  <c:v>94.21</c:v>
                </c:pt>
                <c:pt idx="10">
                  <c:v>92.73</c:v>
                </c:pt>
                <c:pt idx="11">
                  <c:v>90.46</c:v>
                </c:pt>
                <c:pt idx="12">
                  <c:v>86.94</c:v>
                </c:pt>
                <c:pt idx="13">
                  <c:v>81.48</c:v>
                </c:pt>
                <c:pt idx="14">
                  <c:v>73.17</c:v>
                </c:pt>
                <c:pt idx="15">
                  <c:v>61.15</c:v>
                </c:pt>
                <c:pt idx="16">
                  <c:v>45.26</c:v>
                </c:pt>
                <c:pt idx="17">
                  <c:v>27.28</c:v>
                </c:pt>
                <c:pt idx="18">
                  <c:v>11.64</c:v>
                </c:pt>
                <c:pt idx="19">
                  <c:v>2.77</c:v>
                </c:pt>
                <c:pt idx="20">
                  <c:v>0.24</c:v>
                </c:pt>
                <c:pt idx="21">
                  <c:v>0.0</c:v>
                </c:pt>
                <c:pt idx="22">
                  <c:v>0.0</c:v>
                </c:pt>
              </c:numCache>
            </c:numRef>
          </c:val>
          <c:smooth val="0"/>
        </c:ser>
        <c:marker val="1"/>
        <c:smooth val="0"/>
        <c:axId val="2118791784"/>
        <c:axId val="2140495176"/>
      </c:lineChart>
      <c:catAx>
        <c:axId val="2118791784"/>
        <c:scaling>
          <c:orientation val="minMax"/>
        </c:scaling>
        <c:delete val="0"/>
        <c:axPos val="b"/>
        <c:majorTickMark val="out"/>
        <c:minorTickMark val="none"/>
        <c:tickLblPos val="nextTo"/>
        <c:spPr>
          <a:ln>
            <a:solidFill>
              <a:srgbClr val="BBBCBC"/>
            </a:solidFill>
          </a:ln>
        </c:spPr>
        <c:txPr>
          <a:bodyPr/>
          <a:lstStyle/>
          <a:p>
            <a:pPr>
              <a:defRPr sz="1000"/>
            </a:pPr>
          </a:p>
        </c:txPr>
        <c:crossAx val="2140495176"/>
        <c:crosses val="autoZero"/>
        <c:auto val="1"/>
        <c:lblAlgn val="ctr"/>
        <c:lblOffset val="100"/>
        <c:noMultiLvlLbl val="0"/>
      </c:catAx>
      <c:valAx>
        <c:axId val="2140495176"/>
        <c:scaling/>
        <c:delete val="0"/>
        <c:axPos val="l"/>
        <c:numFmt formatCode="0.00" sourceLinked="0"/>
        <c:majorTickMark val="out"/>
        <c:minorTickMark val="none"/>
        <c:tickLblPos val="nextTo"/>
        <c:spPr>
          <a:ln>
            <a:noFill/>
          </a:ln>
        </c:spPr>
        <c:txPr>
          <a:bodyPr/>
          <a:lstStyle/>
          <a:p>
            <a:pPr>
              <a:defRPr sz="1000"/>
            </a:pPr>
          </a:p>
        </c:txPr>
        <c:crossAx val="2118791784"/>
        <c:crosses val="autoZero"/>
      </c:valAx>
    </c:plotArea>
    <c:legend>
      <c:legendPos val="b"/>
      <c:layout/>
      <c:overlay val="0"/>
      <c:txPr>
        <a:bodyPr/>
        <a:lstStyle/>
        <a:p>
          <a:pPr>
            <a:defRPr sz="1000"/>
          </a:pPr>
        </a:p>
      </c:txPr>
    </c:legend>
    <c:plotVisOnly val="1"/>
    <c:dispBlanksAs val="gap"/>
    <c:showDLblsOverMax val="0"/>
  </c:chart>
  <c:txPr>
    <a:bodyPr/>
    <a:lstStyle/>
    <a:p>
      <a:pPr>
        <a:defRPr sz="1000">
          <a:latin typeface="Helvetica"/>
        </a:defRPr>
      </a:pPr>
      <a:endParaRPr lang="en-US"/>
    </a:p>
  </c:txPr>
  <c:externalData r:id="rId1">
    <c:autoUpdate val="0"/>
  </c:externalData>
</c:chartSpace>
</file>

<file path=ppt/charts/chart39.xml><?xml version="1.0" encoding="utf-8"?>
<c:chartSpace xmlns:c="http://schemas.openxmlformats.org/drawingml/2006/chart" xmlns:a="http://schemas.openxmlformats.org/drawingml/2006/main" xmlns:r="http://schemas.openxmlformats.org/officeDocument/2006/relationships">
  <c:date1904 val="0"/>
  <c:chart>
    <c:autoTitleDeleted val="1"/>
    <c:plotArea>
      <c:lineChart>
        <c:grouping val="standard"/>
        <c:varyColors val="0"/>
        <c:ser>
          <c:idx val="0"/>
          <c:order val="0"/>
          <c:tx>
            <c:strRef>
              <c:f>Sheet1!$B$1</c:f>
              <c:strCache>
                <c:ptCount val="1"/>
                <c:pt idx="0">
                  <c:v>CIMA H</c:v>
                </c:pt>
              </c:strCache>
            </c:strRef>
          </c:tx>
          <c:spPr>
            <a:ln w="28575">
              <a:solidFill>
                <a:srgbClr val="112A40"/>
              </a:solidFill>
            </a:ln>
          </c:spPr>
          <c:marker>
            <c:spPr>
              <a:solidFill>
                <a:srgbClr val="112A40"/>
              </a:solidFill>
              <a:ln>
                <a:solidFill>
                  <a:srgbClr val="112A40"/>
                </a:solidFill>
              </a:ln>
            </c:spPr>
          </c:marker>
          <c:cat>
            <c:strRef>
              <c:f>Sheet1!$A$2:$A$14</c:f>
              <c:strCache>
                <c:ptCount val="13"/>
                <c:pt idx="0">
                  <c:v>20</c:v>
                </c:pt>
                <c:pt idx="1">
                  <c:v>25</c:v>
                </c:pt>
                <c:pt idx="2">
                  <c:v>30</c:v>
                </c:pt>
                <c:pt idx="3">
                  <c:v>35</c:v>
                </c:pt>
                <c:pt idx="4">
                  <c:v>40</c:v>
                </c:pt>
                <c:pt idx="5">
                  <c:v>45</c:v>
                </c:pt>
                <c:pt idx="6">
                  <c:v>50</c:v>
                </c:pt>
                <c:pt idx="7">
                  <c:v>55</c:v>
                </c:pt>
                <c:pt idx="8">
                  <c:v>60</c:v>
                </c:pt>
                <c:pt idx="9">
                  <c:v>65</c:v>
                </c:pt>
                <c:pt idx="10">
                  <c:v>70</c:v>
                </c:pt>
                <c:pt idx="11">
                  <c:v>75</c:v>
                </c:pt>
                <c:pt idx="12">
                  <c:v>80</c:v>
                </c:pt>
              </c:strCache>
            </c:strRef>
          </c:cat>
          <c:val>
            <c:numRef>
              <c:f>Sheet1!$B$2:$B$14</c:f>
              <c:numCache>
                <c:formatCode>0.00</c:formatCode>
                <c:ptCount val="13"/>
                <c:pt idx="0">
                  <c:v>1.58</c:v>
                </c:pt>
                <c:pt idx="1">
                  <c:v>1.75</c:v>
                </c:pt>
                <c:pt idx="2">
                  <c:v>1.99</c:v>
                </c:pt>
                <c:pt idx="3">
                  <c:v>2.48</c:v>
                </c:pt>
                <c:pt idx="4">
                  <c:v>3.5</c:v>
                </c:pt>
                <c:pt idx="5">
                  <c:v>5.27</c:v>
                </c:pt>
                <c:pt idx="6">
                  <c:v>7.14</c:v>
                </c:pt>
                <c:pt idx="7">
                  <c:v>9.38</c:v>
                </c:pt>
                <c:pt idx="8">
                  <c:v>13.53</c:v>
                </c:pt>
                <c:pt idx="9">
                  <c:v>20.78</c:v>
                </c:pt>
                <c:pt idx="10">
                  <c:v>29.82</c:v>
                </c:pt>
                <c:pt idx="11">
                  <c:v>42.42</c:v>
                </c:pt>
                <c:pt idx="12">
                  <c:v>62.56</c:v>
                </c:pt>
              </c:numCache>
            </c:numRef>
          </c:val>
          <c:smooth val="0"/>
        </c:ser>
        <c:ser>
          <c:idx val="1"/>
          <c:order val="1"/>
          <c:tx>
            <c:strRef>
              <c:f>Sheet1!$C$1</c:f>
              <c:strCache>
                <c:ptCount val="1"/>
                <c:pt idx="0">
                  <c:v>CIMA F</c:v>
                </c:pt>
              </c:strCache>
            </c:strRef>
          </c:tx>
          <c:spPr>
            <a:ln w="28575">
              <a:solidFill>
                <a:srgbClr val="EFAC62"/>
              </a:solidFill>
            </a:ln>
          </c:spPr>
          <c:marker>
            <c:spPr>
              <a:solidFill>
                <a:srgbClr val="EFAC62"/>
              </a:solidFill>
              <a:ln>
                <a:solidFill>
                  <a:srgbClr val="EFAC62"/>
                </a:solidFill>
              </a:ln>
            </c:spPr>
          </c:marker>
          <c:cat>
            <c:strRef>
              <c:f>Sheet1!$A$2:$A$14</c:f>
              <c:strCache>
                <c:ptCount val="13"/>
                <c:pt idx="0">
                  <c:v>20</c:v>
                </c:pt>
                <c:pt idx="1">
                  <c:v>25</c:v>
                </c:pt>
                <c:pt idx="2">
                  <c:v>30</c:v>
                </c:pt>
                <c:pt idx="3">
                  <c:v>35</c:v>
                </c:pt>
                <c:pt idx="4">
                  <c:v>40</c:v>
                </c:pt>
                <c:pt idx="5">
                  <c:v>45</c:v>
                </c:pt>
                <c:pt idx="6">
                  <c:v>50</c:v>
                </c:pt>
                <c:pt idx="7">
                  <c:v>55</c:v>
                </c:pt>
                <c:pt idx="8">
                  <c:v>60</c:v>
                </c:pt>
                <c:pt idx="9">
                  <c:v>65</c:v>
                </c:pt>
                <c:pt idx="10">
                  <c:v>70</c:v>
                </c:pt>
                <c:pt idx="11">
                  <c:v>75</c:v>
                </c:pt>
                <c:pt idx="12">
                  <c:v>80</c:v>
                </c:pt>
              </c:strCache>
            </c:strRef>
          </c:cat>
          <c:val>
            <c:numRef>
              <c:f>Sheet1!$C$2:$C$14</c:f>
              <c:numCache>
                <c:formatCode>0.00</c:formatCode>
                <c:ptCount val="13"/>
                <c:pt idx="0">
                  <c:v>0.84</c:v>
                </c:pt>
                <c:pt idx="1">
                  <c:v>0.94</c:v>
                </c:pt>
                <c:pt idx="2">
                  <c:v>1.08</c:v>
                </c:pt>
                <c:pt idx="3">
                  <c:v>1.34</c:v>
                </c:pt>
                <c:pt idx="4">
                  <c:v>1.89</c:v>
                </c:pt>
                <c:pt idx="5">
                  <c:v>2.85</c:v>
                </c:pt>
                <c:pt idx="6">
                  <c:v>3.87</c:v>
                </c:pt>
                <c:pt idx="7">
                  <c:v>5.09</c:v>
                </c:pt>
                <c:pt idx="8">
                  <c:v>7.2</c:v>
                </c:pt>
                <c:pt idx="9">
                  <c:v>10.86</c:v>
                </c:pt>
                <c:pt idx="10">
                  <c:v>15.56</c:v>
                </c:pt>
                <c:pt idx="11">
                  <c:v>22.2</c:v>
                </c:pt>
                <c:pt idx="12">
                  <c:v>32.91</c:v>
                </c:pt>
              </c:numCache>
            </c:numRef>
          </c:val>
          <c:smooth val="0"/>
        </c:ser>
        <c:ser>
          <c:idx val="2"/>
          <c:order val="2"/>
          <c:tx>
            <c:strRef>
              <c:f>Sheet1!$D$1</c:f>
              <c:strCache>
                <c:ptCount val="1"/>
                <c:pt idx="0">
                  <c:v>TD CIMA</c:v>
                </c:pt>
              </c:strCache>
            </c:strRef>
          </c:tx>
          <c:spPr>
            <a:ln w="28575">
              <a:solidFill>
                <a:srgbClr val="53565A"/>
              </a:solidFill>
            </a:ln>
          </c:spPr>
          <c:marker>
            <c:spPr>
              <a:solidFill>
                <a:srgbClr val="53565A"/>
              </a:solidFill>
              <a:ln>
                <a:solidFill>
                  <a:srgbClr val="53565A"/>
                </a:solidFill>
              </a:ln>
            </c:spPr>
          </c:marker>
          <c:cat>
            <c:strRef>
              <c:f>Sheet1!$A$2:$A$14</c:f>
              <c:strCache>
                <c:ptCount val="13"/>
                <c:pt idx="0">
                  <c:v>20</c:v>
                </c:pt>
                <c:pt idx="1">
                  <c:v>25</c:v>
                </c:pt>
                <c:pt idx="2">
                  <c:v>30</c:v>
                </c:pt>
                <c:pt idx="3">
                  <c:v>35</c:v>
                </c:pt>
                <c:pt idx="4">
                  <c:v>40</c:v>
                </c:pt>
                <c:pt idx="5">
                  <c:v>45</c:v>
                </c:pt>
                <c:pt idx="6">
                  <c:v>50</c:v>
                </c:pt>
                <c:pt idx="7">
                  <c:v>55</c:v>
                </c:pt>
                <c:pt idx="8">
                  <c:v>60</c:v>
                </c:pt>
                <c:pt idx="9">
                  <c:v>65</c:v>
                </c:pt>
                <c:pt idx="10">
                  <c:v>70</c:v>
                </c:pt>
                <c:pt idx="11">
                  <c:v>75</c:v>
                </c:pt>
                <c:pt idx="12">
                  <c:v>80</c:v>
                </c:pt>
              </c:strCache>
            </c:strRef>
          </c:cat>
          <c:val>
            <c:numRef>
              <c:f>Sheet1!$D$2:$D$14</c:f>
              <c:numCache>
                <c:formatCode>0.00</c:formatCode>
                <c:ptCount val="13"/>
                <c:pt idx="0">
                  <c:v>1.35</c:v>
                </c:pt>
                <c:pt idx="1">
                  <c:v>1.6</c:v>
                </c:pt>
                <c:pt idx="2">
                  <c:v>1.83</c:v>
                </c:pt>
                <c:pt idx="3">
                  <c:v>2.64</c:v>
                </c:pt>
                <c:pt idx="4">
                  <c:v>3.9</c:v>
                </c:pt>
                <c:pt idx="5">
                  <c:v>5.87</c:v>
                </c:pt>
                <c:pt idx="6">
                  <c:v>8.94</c:v>
                </c:pt>
                <c:pt idx="7">
                  <c:v>13.71</c:v>
                </c:pt>
                <c:pt idx="8">
                  <c:v>21.11</c:v>
                </c:pt>
                <c:pt idx="9">
                  <c:v>32.55</c:v>
                </c:pt>
                <c:pt idx="10">
                  <c:v>50.12</c:v>
                </c:pt>
                <c:pt idx="11">
                  <c:v>76.92</c:v>
                </c:pt>
                <c:pt idx="12">
                  <c:v>117.24</c:v>
                </c:pt>
              </c:numCache>
            </c:numRef>
          </c:val>
          <c:smooth val="0"/>
        </c:ser>
        <c:ser>
          <c:idx val="3"/>
          <c:order val="3"/>
          <c:tx>
            <c:strRef>
              <c:f>Sheet1!$E$1</c:f>
              <c:strCache>
                <c:ptCount val="1"/>
                <c:pt idx="0">
                  <c:v>TV CIMA</c:v>
                </c:pt>
              </c:strCache>
            </c:strRef>
          </c:tx>
          <c:spPr>
            <a:ln w="28575">
              <a:solidFill>
                <a:srgbClr val="BBBCBC"/>
              </a:solidFill>
            </a:ln>
          </c:spPr>
          <c:marker>
            <c:spPr>
              <a:solidFill>
                <a:srgbClr val="BBBCBC"/>
              </a:solidFill>
              <a:ln>
                <a:solidFill>
                  <a:srgbClr val="BBBCBC"/>
                </a:solidFill>
              </a:ln>
            </c:spPr>
          </c:marker>
          <c:cat>
            <c:strRef>
              <c:f>Sheet1!$A$2:$A$14</c:f>
              <c:strCache>
                <c:ptCount val="13"/>
                <c:pt idx="0">
                  <c:v>20</c:v>
                </c:pt>
                <c:pt idx="1">
                  <c:v>25</c:v>
                </c:pt>
                <c:pt idx="2">
                  <c:v>30</c:v>
                </c:pt>
                <c:pt idx="3">
                  <c:v>35</c:v>
                </c:pt>
                <c:pt idx="4">
                  <c:v>40</c:v>
                </c:pt>
                <c:pt idx="5">
                  <c:v>45</c:v>
                </c:pt>
                <c:pt idx="6">
                  <c:v>50</c:v>
                </c:pt>
                <c:pt idx="7">
                  <c:v>55</c:v>
                </c:pt>
                <c:pt idx="8">
                  <c:v>60</c:v>
                </c:pt>
                <c:pt idx="9">
                  <c:v>65</c:v>
                </c:pt>
                <c:pt idx="10">
                  <c:v>70</c:v>
                </c:pt>
                <c:pt idx="11">
                  <c:v>75</c:v>
                </c:pt>
                <c:pt idx="12">
                  <c:v>80</c:v>
                </c:pt>
              </c:strCache>
            </c:strRef>
          </c:cat>
          <c:val>
            <c:numRef>
              <c:f>Sheet1!$E$2:$E$14</c:f>
              <c:numCache>
                <c:formatCode>0.00</c:formatCode>
                <c:ptCount val="13"/>
                <c:pt idx="0">
                  <c:v>0.62</c:v>
                </c:pt>
                <c:pt idx="1">
                  <c:v>0.78</c:v>
                </c:pt>
                <c:pt idx="2">
                  <c:v>1.03</c:v>
                </c:pt>
                <c:pt idx="3">
                  <c:v>1.32</c:v>
                </c:pt>
                <c:pt idx="4">
                  <c:v>1.82</c:v>
                </c:pt>
                <c:pt idx="5">
                  <c:v>2.66</c:v>
                </c:pt>
                <c:pt idx="6">
                  <c:v>4.08</c:v>
                </c:pt>
                <c:pt idx="7">
                  <c:v>6.46</c:v>
                </c:pt>
                <c:pt idx="8">
                  <c:v>10.48</c:v>
                </c:pt>
                <c:pt idx="9">
                  <c:v>17.22</c:v>
                </c:pt>
                <c:pt idx="10">
                  <c:v>28.5</c:v>
                </c:pt>
                <c:pt idx="11">
                  <c:v>47.25</c:v>
                </c:pt>
                <c:pt idx="12">
                  <c:v>78.09</c:v>
                </c:pt>
              </c:numCache>
            </c:numRef>
          </c:val>
          <c:smooth val="0"/>
        </c:ser>
        <c:marker val="1"/>
        <c:smooth val="0"/>
        <c:axId val="2118791784"/>
        <c:axId val="2140495176"/>
      </c:lineChart>
      <c:catAx>
        <c:axId val="2118791784"/>
        <c:scaling>
          <c:orientation val="minMax"/>
        </c:scaling>
        <c:delete val="0"/>
        <c:axPos val="b"/>
        <c:majorTickMark val="out"/>
        <c:minorTickMark val="none"/>
        <c:tickLblPos val="nextTo"/>
        <c:spPr>
          <a:ln>
            <a:solidFill>
              <a:srgbClr val="BBBCBC"/>
            </a:solidFill>
          </a:ln>
        </c:spPr>
        <c:txPr>
          <a:bodyPr/>
          <a:lstStyle/>
          <a:p>
            <a:pPr>
              <a:defRPr sz="1000"/>
            </a:pPr>
          </a:p>
        </c:txPr>
        <c:crossAx val="2140495176"/>
        <c:crosses val="autoZero"/>
        <c:auto val="1"/>
        <c:lblAlgn val="ctr"/>
        <c:lblOffset val="100"/>
        <c:noMultiLvlLbl val="0"/>
      </c:catAx>
      <c:valAx>
        <c:axId val="2140495176"/>
        <c:scaling/>
        <c:delete val="0"/>
        <c:axPos val="l"/>
        <c:numFmt formatCode="0.00" sourceLinked="0"/>
        <c:majorTickMark val="out"/>
        <c:minorTickMark val="none"/>
        <c:tickLblPos val="nextTo"/>
        <c:spPr>
          <a:ln>
            <a:noFill/>
          </a:ln>
        </c:spPr>
        <c:txPr>
          <a:bodyPr/>
          <a:lstStyle/>
          <a:p>
            <a:pPr>
              <a:defRPr sz="1000"/>
            </a:pPr>
          </a:p>
        </c:txPr>
        <c:crossAx val="2118791784"/>
        <c:crosses val="autoZero"/>
      </c:valAx>
    </c:plotArea>
    <c:legend>
      <c:legendPos val="b"/>
      <c:layout/>
      <c:overlay val="0"/>
      <c:txPr>
        <a:bodyPr/>
        <a:lstStyle/>
        <a:p>
          <a:pPr>
            <a:defRPr sz="1000"/>
          </a:pPr>
        </a:p>
      </c:txPr>
    </c:legend>
    <c:plotVisOnly val="1"/>
    <c:dispBlanksAs val="gap"/>
    <c:showDLblsOverMax val="0"/>
  </c:chart>
  <c:txPr>
    <a:bodyPr/>
    <a:lstStyle/>
    <a:p>
      <a:pPr>
        <a:defRPr sz="1000">
          <a:latin typeface="Helvetica"/>
        </a:defRPr>
      </a:pPr>
      <a:endParaRPr lang="en-US"/>
    </a:p>
  </c:txPr>
  <c:externalData r:id="rId1">
    <c:autoUpdate val="0"/>
  </c:externalData>
</c:chartSpace>
</file>

<file path=ppt/charts/colors1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1.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12.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13.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14.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fr-FR"/>
          </a:p>
        </p:txBody>
      </p:sp>
      <p:sp>
        <p:nvSpPr>
          <p:cNvPr id="3" name="Espace réservé de la date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8E2DAE2-9FC7-48A6-84A5-82A6F426499B}" type="datetimeFigureOut">
              <a:rPr lang="fr-FR" smtClean="0"/>
              <a:t>22/09/2026</a:t>
            </a:fld>
            <a:endParaRPr lang="fr-FR"/>
          </a:p>
        </p:txBody>
      </p:sp>
      <p:sp>
        <p:nvSpPr>
          <p:cNvPr id="4" name="Espace réservé de l'image des diapositives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fr-FR"/>
          </a:p>
        </p:txBody>
      </p:sp>
      <p:sp>
        <p:nvSpPr>
          <p:cNvPr id="5" name="Espace réservé des not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6" name="Espace réservé du pied de page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fr-FR"/>
          </a:p>
        </p:txBody>
      </p:sp>
      <p:sp>
        <p:nvSpPr>
          <p:cNvPr id="7" name="Espace réservé du numéro de diapositiv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2AB2686-849E-4084-A991-5071DA2BBBBD}" type="slidenum">
              <a:rPr lang="fr-FR" smtClean="0"/>
              <a:t>‹N°›</a:t>
            </a:fld>
            <a:endParaRPr lang="fr-FR"/>
          </a:p>
        </p:txBody>
      </p:sp>
    </p:spTree>
    <p:extLst>
      <p:ext uri="{BB962C8B-B14F-4D97-AF65-F5344CB8AC3E}">
        <p14:creationId xmlns:p14="http://schemas.microsoft.com/office/powerpoint/2010/main" val="71072814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2.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3.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4.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5.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6.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7.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8.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0.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1.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3.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4.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5.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6.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7.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8.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9.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0.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1.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2.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3.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4.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5.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6.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7.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8.xml"/></Relationships>
</file>

<file path=ppt/notesSlides/_rels/notesSlide8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9.xml"/></Relationships>
</file>

<file path=ppt/notesSlides/_rels/notesSlide8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0.xml"/></Relationships>
</file>

<file path=ppt/notesSlides/_rels/notesSlide8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1.xml"/></Relationships>
</file>

<file path=ppt/notesSlides/_rels/notesSlide8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2.xml"/></Relationships>
</file>

<file path=ppt/notesSlides/_rels/notesSlide8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3.xml"/></Relationships>
</file>

<file path=ppt/notesSlides/_rels/notesSlide8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4.xml"/></Relationships>
</file>

<file path=ppt/notesSlides/_rels/notesSlide8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5.xml"/></Relationships>
</file>

<file path=ppt/notesSlides/_rels/notesSlide8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6.xml"/></Relationships>
</file>

<file path=ppt/notesSlides/_rels/notesSlide8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7.xml"/></Relationships>
</file>

<file path=ppt/notesSlides/_rels/notesSlide9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8.xml"/></Relationships>
</file>

<file path=ppt/notesSlides/_rels/notesSlide9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9.xml"/></Relationships>
</file>

<file path=ppt/notesSlides/_rels/notesSlide9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0.xml"/></Relationships>
</file>

<file path=ppt/notesSlides/_rels/notesSlide9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1.xml"/></Relationships>
</file>

<file path=ppt/notesSlides/_rels/notesSlide9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2.xml"/></Relationships>
</file>

<file path=ppt/notesSlides/_rels/notesSlide9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3.xml"/></Relationships>
</file>

<file path=ppt/notesSlides/_rels/notesSlide9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4.xml"/></Relationships>
</file>

<file path=ppt/notesSlides/_rels/notesSlide9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5.xml"/></Relationships>
</file>

<file path=ppt/notesSlides/_rels/notesSlide9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6.xml"/></Relationships>
</file>

<file path=ppt/notesSlides/_rels/notesSlide9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7.xml"/></Relationships>
</file>

<file path=ppt/notesSlides/_rels/notesSlide10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8.xml"/></Relationships>
</file>

<file path=ppt/notesSlides/_rels/notesSlide10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9.xml"/></Relationships>
</file>

<file path=ppt/notesSlides/_rels/notesSlide10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0.xml"/></Relationships>
</file>

<file path=ppt/notesSlides/_rels/notesSlide10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2.xml"/></Relationships>
</file>

<file path=ppt/notesSlides/_rels/notesSlide10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3.xml"/></Relationships>
</file>

<file path=ppt/notesSlides/_rels/notesSlide10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4.xml"/></Relationships>
</file>

<file path=ppt/notesSlides/_rels/notesSlide10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5.xml"/></Relationships>
</file>

<file path=ppt/notesSlides/_rels/notesSlide10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6.xml"/></Relationships>
</file>

<file path=ppt/notesSlides/_rels/notesSlide10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7.xml"/></Relationships>
</file>

<file path=ppt/notesSlides/_rels/notesSlide10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9.xml"/></Relationships>
</file>

<file path=ppt/notesSlides/_rels/notesSlide1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0.xml"/></Relationships>
</file>

<file path=ppt/notesSlides/_rels/notesSlide1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1.xml"/></Relationships>
</file>

<file path=ppt/notesSlides/_rels/notesSlide1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2.xml"/></Relationships>
</file>

<file path=ppt/notesSlides/_rels/notesSlide1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3.xml"/></Relationships>
</file>

<file path=ppt/notesSlides/_rels/notesSlide1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4.xml"/></Relationships>
</file>

<file path=ppt/notesSlides/_rels/notesSlide1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6.xml"/></Relationships>
</file>

<file path=ppt/notesSlides/_rels/notesSlide1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7.xml"/></Relationships>
</file>

<file path=ppt/notesSlides/_rels/notesSlide1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8.xml"/></Relationships>
</file>

<file path=ppt/notesSlides/_rels/notesSlide1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9.xml"/></Relationships>
</file>

<file path=ppt/notesSlides/_rels/notesSlide1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0.xml"/></Relationships>
</file>

<file path=ppt/notesSlides/_rels/notesSlide1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1.xml"/></Relationships>
</file>

<file path=ppt/notesSlides/_rels/notesSlide1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2.xml"/></Relationships>
</file>

<file path=ppt/notesSlides/_rels/notesSlide1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3.xml"/></Relationships>
</file>

<file path=ppt/notesSlides/_rels/notesSlide1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4.xml"/></Relationships>
</file>

<file path=ppt/notesSlides/_rels/notesSlide1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5.xml"/></Relationships>
</file>

<file path=ppt/notesSlides/_rels/notesSlide1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6.xml"/></Relationships>
</file>

<file path=ppt/notesSlides/_rels/notesSlide1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7.xml"/></Relationships>
</file>

<file path=ppt/notesSlides/_rels/notesSlide1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8.xml"/></Relationships>
</file>

<file path=ppt/notesSlides/_rels/notesSlide1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9.xml"/></Relationships>
</file>

<file path=ppt/notesSlides/_rels/notesSlide1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0.xml"/></Relationships>
</file>

<file path=ppt/notesSlides/_rels/notesSlide1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2.xml"/></Relationships>
</file>

<file path=ppt/notesSlides/_rels/notesSlide1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3.xml"/></Relationships>
</file>

<file path=ppt/notesSlides/_rels/notesSlide1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5.xml"/></Relationships>
</file>

<file path=ppt/notesSlides/_rels/notesSlide1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9.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 question de la clé de répartition est la plus importante de cette partie : elle change le résultat de chaque garantie.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Une mutuelle sociale n'est pas une compagnie d'assurance : elle est régie par le règlement UEMOA de 2009, pas par le Code CIMA. Le Code CIMA sert ici seulement de référence technique (tables de mortalité, taux d'actualisation), faute de règle équivalente dans les textes de la mutualité. Le répertoire de l'AIRMS mis à jour le 15/10/2026 cite le FPPN au n° 05 des mutuelles agréées et immatriculées ; le numéro et la date de son agrément restent à obtenir.</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Rapport d'étape au 15/10/2026, version 3. Données arrêtées à l'envoi du FPPN reçu le 15/10/2026, complétées le 18/10/2026 (grands livres PDF, inflation Banque mondiale, tables CIMA, documentation publique de l'AIRMS).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 rapport suit l'ordre : résumé exécutif, compréhension du FPPN, démarche, données, analyses par thème, conformité prudentielle, tables de mortalité, méthodes à venir, outils, analyses en attente, annexes.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Cette partie peut être présentée seule : elle reprend les messages essentiels du rapport, avec les chiffres et les renvois aux parties détaillées.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Questions probables. Pourquoi « fragile » malgré des excédents ? Parce que les excédents annuels ne suffisent pas encore à effacer les pertes passées (fonds propres négatifs) et que l'épargne due aux mutualistes n'est pas couverte par des actifs disponibles. Pourquoi « peu documenté » ? Aucune base de prestations, pas de date de naissance des mutualistes, pas de barème officiel transmis. Pourquoi « hors normes » ? Les ratios de la Décision n° 05/2022/COM/UEMOA, appliqués aux balances, ne sont pas respectés pour la réserve obligatoire, les fonds propres, la liquidité et les frais. Chaque ligne renvoie à une partie détaillée du rapport.</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Comment lire : chaque ligne donne un indicateur, sa valeur et sa définition. Les quatre valeurs sont calculées sur les fichiers du FPPN et détaillées dans les parties 5, 6, 7 et 4. Le précompte des prêts mesure la part des échéances effectivement retenue sur salaire ; l'écart peut être payé autrement (caisse, banque), ce que le Grenier doit confirmer.</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Ce schéma résume les flux d'argent. Les mutualistes cotisent par précompte sur salaire (Solde) ou sur pension (CGRAE). Le FPPN paie les prestations maladie (cliniques, pharmacies) et décès (familles), gère l'épargne (PEP, EFC), finance les prêts du Grenier et des investissements (CMP, terrains). Les montants sont ceux de la comptabilité 2025 et du bilan au 31/08/2026.</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Les six constats sont classés du plus général (données) au plus réglementaire (normes). Les chiffres sont exacts et proviennent des balances comptables et des précomptes. Le constat « actifs peu liquides » repose sur la nature des comptes (investissements, terrains, créances) ; leur valeur réelle n'a pas été expertisée.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Graphique de gauche : rapport entre prestations et cotisations maladie comptabilisées, par exercice. Graphique de droite : épargne due aux mutualistes (passif) et actifs qui lui sont réservés. Les deux graphiques sont détaillés dans les parties 5 et 6.</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Gauche : fonds propres (résultat compris) à chaque clôture. Droite : encours des prêts du Grenier en fin d'année et au 31/08/2026. Détails dans les parties 9 et 7.</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 statut est jugé sur les exercices 2022 à 2025, la Décision étant entrée en vigueur le 1er juin 2022. « Comme le FPPN » : comptes pris tels qu'ils sont tenus. « Retraité » : épargne des adhérents classée en ressource longue et avances au CMP, au Grenier et à l'Hôpital de la Police classées en emplois longs. Détail dans la partie 10.</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Ordre de priorité : sans les données (actions 1 à 3), les provisions et les engagements ne peuvent pas être calculés. Les actions 4 à 7 relèvent de la direction du FPPN et du conseil d'administration. Les numéros entre parenthèses renvoient à la liste des documents demandés (PBC).</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 feuille de route ne fixe pas de dates : elles dépendent du délai de transmission des données par le FPPN. Chaque étape produit une mise à jour de ce rapport.</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Cette partie donne au lecteur les clés pour comprendre la suite, sans connaissance préalable en actuariat.</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11"/>
        <p:cNvGrpSpPr/>
        <p:nvPr/>
      </p:nvGrpSpPr>
      <p:grpSpPr>
        <a:xfrm>
          <a:off x="0" y="0"/>
          <a:ext cx="0" cy="0"/>
          <a:chOff x="0" y="0"/>
          <a:chExt cx="0" cy="0"/>
        </a:xfrm>
      </p:grpSpPr>
      <p:sp>
        <p:nvSpPr>
          <p:cNvPr id="9212" name="Google Shape;9212;g1230f352834_0_8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fr-CI"/>
          </a:p>
        </p:txBody>
      </p:sp>
      <p:sp>
        <p:nvSpPr>
          <p:cNvPr id="9213" name="Google Shape;9213;g1230f352834_0_8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r>
              <a:t>Lecture : chaque colonne relie une cause (en haut) à son effet (en bas). Les causes sont démontrées par les données ; les effets sont des risques, c'est-à-dire des conséquences possibles, à confirmer par les analyses en attente.</a:t>
            </a:r>
          </a:p>
        </p:txBody>
      </p:sp>
    </p:spTree>
    <p:extLst>
      <p:ext uri="{BB962C8B-B14F-4D97-AF65-F5344CB8AC3E}">
        <p14:creationId xmlns:p14="http://schemas.microsoft.com/office/powerpoint/2010/main" val="3069930257"/>
      </p:ext>
    </p:extLst>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Chaque produit a un code de poste sur la fiche de paie (Solde) : 936 maladie, 8Z6 décès, 870 EFC, 998 PEP, 9X4 Grenier, 9W3 flotte, 8Z7 MEDOC. Les retraités sont précomptés par la CGRAE sur leur pension. Les montants moyens sont observés dans les fichiers de précomptes, pas tirés d'un barème (non reçu).</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 fichier aller dit ce que le FPPN demande de retenir ; le fichier retour dit ce qui a été réellement retenu. L'écart entre les deux révèle des rejets (agent sorti, montant erroné, plafond atteint). Ce rapprochement est la base du contrôle des cotisations (partie 3).</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 résultat de l'exercice est la différence entre produits et charges (y compris les éléments exceptionnels, dits hors activités ordinaires). En 2025, il reste positif, mais il diminue depuis 2021 (partie 5).</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Ces définitions sont volontairement simples. Les formules exactes figurent dans les diapositives « méthode » de chaque partie et dans l'annexe des méthodes.</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Les quatre questions viennent du dossier de préparation de la mission ; les trois axes complémentaires (données, conformité, équilibre) en découlent. La colonne « état » dit honnêtement ce qui est fait et ce qui attend des données.</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Ce schéma est modifiable dans PowerPoint et sera complété au fil des entretiens. Chaque étape correspond à un script Python conservé dans le dossier de la mission ; le contrôle indiqué est automatique.</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Exhaustivité : rien n'est perdu entre le fichier reçu et la base. Cohérence : les totaux imprimés par les logiciels sont retrouvés. Rapprochement : deux sources qui décrivent le même flux doivent concorder. Limite : la fidélité aux fichiers n'est pas l'exactitude des fichiers.</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Un mois est compté comme reçu quand au moins un fichier lisible le couvre. Les balances comptables couvrent l'année entière en totaux annuels ; le détail des écritures de janvier à août 2020 manque.</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Lecture : (1) la colonne matricule de la dernière ligne contient un nombre de lignes, pas un matricule ; (2) le montant est la somme de toutes les lignes au-dessus ; (3) compter cette ligne aurait doublé le total du mois. Règle appliquée : une ligne dont le montant égale la somme des autres (à 1 % près) est écartée. Au total, 87 lignes de ce type ont été écartées. Noms et matricules masqués.</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Lecture : (1) le montant source répète deux fois la même suite de chiffres ; (2) un précompte décès de plusieurs milliards de FCFA par agent est impossible (médiane du poste : environ 2 300 FCFA) ; (3) le montant retenu est la première moitié. Correction appliquée seulement au poste décès, au-delà d'un million de FCFA, et signalée au FPPN.</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Taux de précompte = montant retour / montant aller sur les mois où les deux fichiers existent. Un taux supérieur à 100 % signifie que le fichier aller était incomplet (cas du PEP en juillet 2024).</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Janvier 2025 : le fichier retour compte moins de lignes que le fichier aller, des précomptes n'ont pas été faits. Juillet 2024 : le fichier retour compte plus de lignes que le fichier aller, le fichier aller n'incluait pas les nouveaux épargnants (le fichier aller d'août 2024 en compte nettement plus).</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Un fichier vide (0 octet) ne contient aucune donnée ; un fichier endommagé a une partie de ses données détruite (souvent lors d'une copie ou d'un transfert). Aucun de ces défauts ne vient du traitement d'Adenka : les empreintes prouvent que les fichiers sont identiques à ceux reçus.</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Message pour le client : la qualité de l'analyse dépend désormais de la transmission des données manquantes, pas du traitement.</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Effectif du mois m = nombre de matricules distincts du fichier maladie 936 du mois m. Entrée = matricule présent en m et absent en m-1 ; sortie = l'inverse. Taux de cotisation = précompte du mois / salaire de base du mois.</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 droite de tendance estimée par moindres carrés donne une hausse de 296,28 cotisants par mois (intervalle de confiance à 95 % : 241,31 à 351,25). La probabilité d'observer une telle pente si la vraie pente était nulle est inférieure à 0,01 % (p-valeur 6.91e-12). La hausse se fait par paliers en juillet, ce qui rend la droite seulement approximative (R² = 0,81).</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Les mois sans mois précédent disponible (janvier 2024, janvier 2025 après le fichier vide de décembre 2024) n'ont pas de flux calculé. Les sorties de novembre 2024 et janvier 2026 sont plus nombreuses : leur motif doit être demandé au FPPN (départs à la retraite de fin d'année probables, non vérifiés).</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L'ancienneté est calculée à partir de la date de recrutement du fichier détaillé de janvier 2025. Elle ne donne pas l'âge : deux agents de même ancienneté peuvent avoir des âges différents. Pour cette raison, aucune hypothèse d'âge n'a été faite.</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Calcul pour le premier agent : 11 354 / 301 159 = 3,77 % (maladie) ; 3 704 / 301 159 = 1,23 % (décès) ; total 5,00 %. Le barème indiqué par le responsable des sinistres et prestations lors de l'entretien du 16/10/2026 est de 3,5 % et 1,5 %. Le total est donc bon mais la répartition diffère. Matricules masqués.</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 clé comptable est la part des cotisations maladie (compte 70100000) dans le total des cotisations maladie et décès (comptes 70100000 et 70210000) de 2025, multipliée par 5 %. Elle est proche du barème indiqué en entretien, pas de la clé de la Solde.</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Calcul : S/C maladie = prestations maladie / (cotisations totales × part maladie). Avec la clé de la Solde (75,40 %), la part des cotisations affectée à la maladie augmente, donc le ratio maladie baisse et le ratio décès monte. Les prestations ne changent pas : seule l'affectation des cotisations change.</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Méthode : indice des prix base 100 en 2020, construit en cumulant l'inflation annuelle de la Banque mondiale (2021 : 4,16 % ; 2022 : 5,23 % ; 2023 : 4,37 % ; 2024 : 3,45 % ; 2025 : 0,13 %). Cotisations réelles = cotisations nominales × 100 / indice. Elles mesurent le pouvoir d'achat des cotisations en francs de 2020.</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Rapprochement 2025 : cotisations maladie comptabilisées comparées aux précomptes maladie (12 mois) et retraités CGRAE (12 mois). Les cotisations à recevoir du Trésor (compte 41111000) mesurent ce que l'État doit encore au FPPN à la clôture.</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8788" y="720725"/>
            <a:ext cx="6397625" cy="3598863"/>
          </a:xfrm>
        </p:spPr>
        <p:txBody>
          <a:bodyPr/>
          <a:lstStyle/>
          <a:p>
            <a:endParaRPr lang="fr-CI"/>
          </a:p>
        </p:txBody>
      </p:sp>
      <p:sp>
        <p:nvSpPr>
          <p:cNvPr id="3" name="Notes Placeholder 2"/>
          <p:cNvSpPr>
            <a:spLocks noGrp="1"/>
          </p:cNvSpPr>
          <p:nvPr>
            <p:ph type="body" idx="1"/>
          </p:nvPr>
        </p:nvSpPr>
        <p:spPr/>
        <p:txBody>
          <a:bodyPr/>
          <a:lstStyle/>
          <a:p>
            <a:r>
              <a:t>Chaque anneau donne un pourcentage. La trésorerie totale (toutes banques et caisses) ne représente qu'une petite part de l'épargne due. Les prêts en retard sont mesurés ici en nombre de prêts ; en montant d'encours, la part est plus faible (voir partie 7).</a:t>
            </a:r>
          </a:p>
        </p:txBody>
      </p:sp>
      <p:sp>
        <p:nvSpPr>
          <p:cNvPr id="4" name="Slide Number Placeholder 3"/>
          <p:cNvSpPr>
            <a:spLocks noGrp="1"/>
          </p:cNvSpPr>
          <p:nvPr>
            <p:ph type="sldNum" sz="quarter" idx="10"/>
          </p:nvPr>
        </p:nvSpPr>
        <p:spPr/>
        <p:txBody>
          <a:bodyPr/>
          <a:lstStyle/>
          <a:p>
            <a:pPr>
              <a:defRPr/>
            </a:pPr>
            <a:fld id="{DB19E439-0A36-4389-B1D4-036D35E9F4EA}" type="slidenum">
              <a:rPr lang="en-US" smtClean="0"/>
              <a:pPr>
                <a:defRPr/>
              </a:pPr>
              <a:t>107</a:t>
            </a:fld>
            <a:endParaRPr lang="en-US"/>
          </a:p>
        </p:txBody>
      </p:sp>
    </p:spTree>
    <p:extLst>
      <p:ext uri="{BB962C8B-B14F-4D97-AF65-F5344CB8AC3E}">
        <p14:creationId xmlns:p14="http://schemas.microsoft.com/office/powerpoint/2010/main" val="1278848441"/>
      </p:ext>
    </p:extLst>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 ratio comptable mélange les soins de l'année et les factures d'années antérieures payées ou comptabilisées dans l'année. Le vrai ratio (par année de survenance des soins) demande la base des prestations avec la date des soins.</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 compte 60120000 « Charges de prestations maladie » porte à lui seul plus de la moitié du total : il regroupe des prestations sans détail de nature, ce qui empêche l'analyse par type de soins. Montants exacts lus dans la balance 2025.</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Test de tendance (moindres carrés sur 2020 à 2025) : le S/C maladie progresse de 12,91 points par an (IC 95 % : 3,85 à 21,97 ; p-valeur 0,0167). Avec six points seulement, la tendance est significative au seuil de 5 % mais son rythme est imprécis.</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 taux de croissance annuel moyen (TCAM) est le taux constant qui mène de la valeur de départ à la valeur d'arrivée : TCAM = (V_fin / V_début)^(1/n) - 1. Une régression du logarithme des prestations sur le temps donne une croissance annuelle moyenne de 121,21 % (IC 95 % : 56,12 % à 213,44 %), estimation plus robuste aux valeurs extrêmes que le TCAM.</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Lecture : chaque couleur est une nature de soins. La catégorie « autres prestations maladie » correspond aux comptes 6012x, dont le compte global 60120000. Imagerie, analyses et consultations sont les natures détaillées qui progressent le plus.</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Frais de gestion = comptes 61 à 66, hors prime d'assurance décès. Résultat = produits - charges + résultat hors activités ordinaires (classe 8). Les huit mois de 2026 n'intègrent pas les écritures de fin d'année (amortissements, provisions).</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 hausse rapide du ratio maladie est le principal risque technique : à ce rythme, les cotisations maladie ne couvriront plus les prestations.</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L'épargne PEP et EFC appartient aux mutualistes : c'est une dette du FPPN. Un bon adossement suppose des actifs liquides et réservés d'un montant au moins égal à la part exigible.</a:t>
            </a:r>
          </a:p>
        </p:txBody>
      </p:sp>
      <p:sp>
        <p:nvSpPr>
          <p:cNvPr id="4" name="Slide Number Placeholder 3"/>
          <p:cNvSpPr>
            <a:spLocks noGrp="1"/>
          </p:cNvSpPr>
          <p:nvPr>
            <p:ph type="sldNum" idx="5" sz="quarter"/>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Montants lus dans la balance au 31/08/2026 (provisoire). Les soldes créditeurs du passif sont affichés en valeur positive. Le fonds commun de placement est compté comme actif réservé bien que sa destination ne soit pas précisée : la couverture réelle est donc au plus de ce niveau.</a:t>
            </a:r>
          </a:p>
        </p:txBody>
      </p:sp>
      <p:sp>
        <p:nvSpPr>
          <p:cNvPr id="4" name="Slide Number Placeholder 3"/>
          <p:cNvSpPr>
            <a:spLocks noGrp="1"/>
          </p:cNvSpPr>
          <p:nvPr>
            <p:ph type="sldNum" idx="5" sz="quarter"/>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L'épargne non couverte finance d'autres emplois : investissements au CMP, terrains, créance sur l'Hôpital de la Police, prêts du Grenier. Ces emplois ne sont pas mobilisables rapidement.</a:t>
            </a:r>
          </a:p>
        </p:txBody>
      </p:sp>
      <p:sp>
        <p:nvSpPr>
          <p:cNvPr id="4" name="Slide Number Placeholder 3"/>
          <p:cNvSpPr>
            <a:spLocks noGrp="1"/>
          </p:cNvSpPr>
          <p:nvPr>
            <p:ph type="sldNum" idx="5" sz="quarter"/>
          </p:nvPr>
        </p:nvSpPr>
        <p:spPr/>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Les versements sont les précomptes retour de la Solde. La différence entre versements de l'année et variation du compte d'épargne mesure les sorties de l'année (échéances, retraits, transferts), sans pouvoir les détailler faute de comptes individuels.</a:t>
            </a:r>
          </a:p>
        </p:txBody>
      </p:sp>
      <p:sp>
        <p:nvSpPr>
          <p:cNvPr id="4" name="Slide Number Placeholder 3"/>
          <p:cNvSpPr>
            <a:spLocks noGrp="1"/>
          </p:cNvSpPr>
          <p:nvPr>
            <p:ph type="sldNum" idx="5" sz="quarter"/>
          </p:nvPr>
        </p:nvSpPr>
        <p:spPr/>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Scénarios théoriques, pas des prévisions : on suppose qu'une part de l'épargne est demandée en une fois et on la compare aux actifs réservés puis à toute la trésorerie (banques et caisses). Les conditions réelles de retrait (délais, pénalités, échéances) ne sont pas connues.</a:t>
            </a:r>
          </a:p>
        </p:txBody>
      </p:sp>
      <p:sp>
        <p:nvSpPr>
          <p:cNvPr id="4" name="Slide Number Placeholder 3"/>
          <p:cNvSpPr>
            <a:spLocks noGrp="1"/>
          </p:cNvSpPr>
          <p:nvPr>
            <p:ph type="sldNum" idx="5" sz="quarter"/>
          </p:nvPr>
        </p:nvSpPr>
        <p:spPr/>
      </p:sp>
    </p:spTree>
  </p:cSld>
  <p:clrMapOvr>
    <a:masterClrMapping/>
  </p:clrMapOvr>
</p:notes>
</file>

<file path=ppt/notesSlides/notesSlide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 référence est le code qui accompagne chaque précompte (exemple : PEP0522 = PEP souscrit en mai 2022). Les références PTI ont des montants mensuels importants et peu de mutualistes : elles pourraient correspondre à des remboursements de prêts, ce que le FPPN doit confirmer.</a:t>
            </a:r>
          </a:p>
        </p:txBody>
      </p:sp>
      <p:sp>
        <p:nvSpPr>
          <p:cNvPr id="4" name="Slide Number Placeholder 3"/>
          <p:cNvSpPr>
            <a:spLocks noGrp="1"/>
          </p:cNvSpPr>
          <p:nvPr>
            <p:ph type="sldNum" idx="5" sz="quarter"/>
          </p:nvPr>
        </p:nvSpPr>
        <p:spPr/>
      </p:sp>
    </p:spTree>
  </p:cSld>
  <p:clrMapOvr>
    <a:masterClrMapping/>
  </p:clrMapOvr>
</p:notes>
</file>

<file path=ppt/notesSlides/notesSlide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L'adossement de l'épargne est le principal risque financier relevé.</a:t>
            </a:r>
          </a:p>
        </p:txBody>
      </p:sp>
      <p:sp>
        <p:nvSpPr>
          <p:cNvPr id="4" name="Slide Number Placeholder 3"/>
          <p:cNvSpPr>
            <a:spLocks noGrp="1"/>
          </p:cNvSpPr>
          <p:nvPr>
            <p:ph type="sldNum" idx="5" sz="quarter"/>
          </p:nvPr>
        </p:nvSpPr>
        <p:spPr/>
      </p:sp>
    </p:spTree>
  </p:cSld>
  <p:clrMapOvr>
    <a:masterClrMapping/>
  </p:clrMapOvr>
</p:notes>
</file>

<file path=ppt/notesSlides/notesSlide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L'encours est le capital restant dû. Le retard (en jours) est celui imprimé par le logiciel de prêts. On mesure la part en nombre de prêts et en montant d'encours.</a:t>
            </a:r>
          </a:p>
        </p:txBody>
      </p:sp>
      <p:sp>
        <p:nvSpPr>
          <p:cNvPr id="4" name="Slide Number Placeholder 3"/>
          <p:cNvSpPr>
            <a:spLocks noGrp="1"/>
          </p:cNvSpPr>
          <p:nvPr>
            <p:ph type="sldNum" idx="5" sz="quarter"/>
          </p:nvPr>
        </p:nvSpPr>
        <p:spPr/>
      </p:sp>
    </p:spTree>
  </p:cSld>
  <p:clrMapOvr>
    <a:masterClrMapping/>
  </p:clrMapOvr>
</p:notes>
</file>

<file path=ppt/notesSlides/notesSlide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Taux de croissance annuel moyen de l'encours de fin 2022 à fin 2025 : 65,64 %. La créance du FPPN sur le Grenier (compte 47111102) mesure le financement apporté.</a:t>
            </a:r>
          </a:p>
        </p:txBody>
      </p:sp>
      <p:sp>
        <p:nvSpPr>
          <p:cNvPr id="4" name="Slide Number Placeholder 3"/>
          <p:cNvSpPr>
            <a:spLocks noGrp="1"/>
          </p:cNvSpPr>
          <p:nvPr>
            <p:ph type="sldNum" idx="5" sz="quarter"/>
          </p:nvPr>
        </p:nvSpPr>
        <p:spPr/>
      </p:sp>
    </p:spTree>
  </p:cSld>
  <p:clrMapOvr>
    <a:masterClrMapping/>
  </p:clrMapOvr>
</p:notes>
</file>

<file path=ppt/notesSlides/notesSlide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Production = montants débloqués sur la période (fichiers annuels de 2021 à 2025, mensuels par sous-portefeuille en 2026). La politique de crédit de 2021 est au format Word ancien et doit être renvoyée lisible pour vérifier taux, durées et plafonds.</a:t>
            </a:r>
          </a:p>
        </p:txBody>
      </p:sp>
      <p:sp>
        <p:nvSpPr>
          <p:cNvPr id="4" name="Slide Number Placeholder 3"/>
          <p:cNvSpPr>
            <a:spLocks noGrp="1"/>
          </p:cNvSpPr>
          <p:nvPr>
            <p:ph type="sldNum" idx="5" sz="quarter"/>
          </p:nvPr>
        </p:nvSpPr>
        <p:spPr/>
      </p:sp>
    </p:spTree>
  </p:cSld>
  <p:clrMapOvr>
    <a:masterClrMapping/>
  </p:clrMapOvr>
</p:notes>
</file>

<file path=ppt/notesSlides/notesSlide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Au 31/08/2026, 150 prêts sur 2 959 ont plus de 30 jours de retard, soit 5,07 % des prêts (IC de Wilson à 95 % : 4,34 % à 5,92 %). En montant, la part est plus faible (1,83 %) : les prêts en retard sont de petits encours.</a:t>
            </a:r>
          </a:p>
        </p:txBody>
      </p:sp>
      <p:sp>
        <p:nvSpPr>
          <p:cNvPr id="4" name="Slide Number Placeholder 3"/>
          <p:cNvSpPr>
            <a:spLocks noGrp="1"/>
          </p:cNvSpPr>
          <p:nvPr>
            <p:ph type="sldNum" idx="5" sz="quarter"/>
          </p:nvPr>
        </p:nvSpPr>
        <p:spPr/>
      </p:sp>
    </p:spTree>
  </p:cSld>
  <p:clrMapOvr>
    <a:masterClrMapping/>
  </p:clrMapOvr>
</p:notes>
</file>

<file path=ppt/notesSlides/notesSlide5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Lecture : (1) le retard est imprimé en jours par le logiciel ; (2) trois de ces prêts ont un « mécano » de 2 ou 3 chiffres (142, 87, 166), alors qu'un mécano en compte 6 : ce sont des anomalies de saisie ; (3) ces prêts anciens ont encore un encours et doivent être provisionnés ou passés en perte. Noms masqués.</a:t>
            </a:r>
          </a:p>
        </p:txBody>
      </p:sp>
      <p:sp>
        <p:nvSpPr>
          <p:cNvPr id="4" name="Slide Number Placeholder 3"/>
          <p:cNvSpPr>
            <a:spLocks noGrp="1"/>
          </p:cNvSpPr>
          <p:nvPr>
            <p:ph type="sldNum" idx="5" sz="quarter"/>
          </p:nvPr>
        </p:nvSpPr>
        <p:spPr/>
      </p:sp>
    </p:spTree>
  </p:cSld>
  <p:clrMapOvr>
    <a:masterClrMapping/>
  </p:clrMapOvr>
</p:notes>
</file>

<file path=ppt/notesSlides/notesSlide6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Échéances = somme des montants d'échéance des prêts ayant un encours dans la balance âgée du mois. Précomptes = précomptes 9X4 retour du même mois. L'écart peut être payé hors Solde (caisse, banque) ou correspondre à des rejets.</a:t>
            </a:r>
          </a:p>
        </p:txBody>
      </p:sp>
      <p:sp>
        <p:nvSpPr>
          <p:cNvPr id="4" name="Slide Number Placeholder 3"/>
          <p:cNvSpPr>
            <a:spLocks noGrp="1"/>
          </p:cNvSpPr>
          <p:nvPr>
            <p:ph type="sldNum" idx="5" sz="quarter"/>
          </p:nvPr>
        </p:nvSpPr>
        <p:spPr/>
      </p:sp>
    </p:spTree>
  </p:cSld>
  <p:clrMapOvr>
    <a:masterClrMapping/>
  </p:clrMapOvr>
</p:notes>
</file>

<file path=ppt/notesSlides/notesSlide6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Trois taux de perte théoriques (25 %, 50 %, 100 %) appliqués à l'encours en retard. Ce ne sont pas des estimations de perte, mais des ordres de grandeur pour fixer une provision. La politique de provisionnement doit être fixée par le FPPN.</a:t>
            </a:r>
          </a:p>
        </p:txBody>
      </p:sp>
      <p:sp>
        <p:nvSpPr>
          <p:cNvPr id="4" name="Slide Number Placeholder 3"/>
          <p:cNvSpPr>
            <a:spLocks noGrp="1"/>
          </p:cNvSpPr>
          <p:nvPr>
            <p:ph type="sldNum" idx="5" sz="quarter"/>
          </p:nvPr>
        </p:nvSpPr>
        <p:spPr/>
      </p:sp>
    </p:spTree>
  </p:cSld>
  <p:clrMapOvr>
    <a:masterClrMapping/>
  </p:clrMapOvr>
</p:notes>
</file>

<file path=ppt/notesSlides/notesSlide6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 risque principal n'est pas la perte sur prêts, limitée, mais la mobilisation de l'épargne des mutualistes pour financer cette croissance.</a:t>
            </a:r>
          </a:p>
        </p:txBody>
      </p:sp>
      <p:sp>
        <p:nvSpPr>
          <p:cNvPr id="4" name="Slide Number Placeholder 3"/>
          <p:cNvSpPr>
            <a:spLocks noGrp="1"/>
          </p:cNvSpPr>
          <p:nvPr>
            <p:ph type="sldNum" idx="5" sz="quarter"/>
          </p:nvPr>
        </p:nvSpPr>
        <p:spPr/>
      </p:sp>
    </p:spTree>
  </p:cSld>
  <p:clrMapOvr>
    <a:masterClrMapping/>
  </p:clrMapOvr>
</p:notes>
</file>

<file path=ppt/notesSlides/notesSlide6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Les retraités cotisent sur leur pension par la CGRAE. Leur coût santé, supérieur à celui des actifs, devra être comparé à leur cotisation dès réception des factures. La convention avec la CGRAE n'a pas été reçue.</a:t>
            </a:r>
          </a:p>
        </p:txBody>
      </p:sp>
      <p:sp>
        <p:nvSpPr>
          <p:cNvPr id="4" name="Slide Number Placeholder 3"/>
          <p:cNvSpPr>
            <a:spLocks noGrp="1"/>
          </p:cNvSpPr>
          <p:nvPr>
            <p:ph type="sldNum" idx="5" sz="quarter"/>
          </p:nvPr>
        </p:nvSpPr>
        <p:spPr/>
      </p:sp>
    </p:spTree>
  </p:cSld>
  <p:clrMapOvr>
    <a:masterClrMapping/>
  </p:clrMapOvr>
</p:notes>
</file>

<file path=ppt/notesSlides/notesSlide6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Ces produits ne relèvent pas directement des garanties de base, mais ils transitent par le FPPN et engagent sa responsabilité vis-à-vis des adhérents. Aucun compte n'est intitulé « SCI » dans les balances ; les projets immobiliers figurent en comptes 4711120x.</a:t>
            </a:r>
          </a:p>
        </p:txBody>
      </p:sp>
      <p:sp>
        <p:nvSpPr>
          <p:cNvPr id="4" name="Slide Number Placeholder 3"/>
          <p:cNvSpPr>
            <a:spLocks noGrp="1"/>
          </p:cNvSpPr>
          <p:nvPr>
            <p:ph type="sldNum" idx="5" sz="quarter"/>
          </p:nvPr>
        </p:nvSpPr>
        <p:spPr/>
      </p:sp>
    </p:spTree>
  </p:cSld>
  <p:clrMapOvr>
    <a:masterClrMapping/>
  </p:clrMapOvr>
</p:notes>
</file>

<file path=ppt/notesSlides/notesSlide6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 bilan n'a pas été transmis : il est reconstitué à partir des soldes des balances. Fonds propres = réserves + report à nouveau + pertes reportées + résultat de l'exercice.</a:t>
            </a:r>
          </a:p>
        </p:txBody>
      </p:sp>
      <p:sp>
        <p:nvSpPr>
          <p:cNvPr id="4" name="Slide Number Placeholder 3"/>
          <p:cNvSpPr>
            <a:spLocks noGrp="1"/>
          </p:cNvSpPr>
          <p:nvPr>
            <p:ph type="sldNum" idx="5" sz="quarter"/>
          </p:nvPr>
        </p:nvSpPr>
        <p:spPr/>
      </p:sp>
    </p:spTree>
  </p:cSld>
  <p:clrMapOvr>
    <a:masterClrMapping/>
  </p:clrMapOvr>
</p:notes>
</file>

<file path=ppt/notesSlides/notesSlide6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Lecture : (1) même montant au franc près de 2020 à 2026 ; (2) seul le numéro de compte change en 2024 (reclassement du compte 19 vers le compte 158) ; (3) une estimation recalculée chaque année varierait avec les dossiers en attente. La provision n'est donc pas une estimation actuelle.</a:t>
            </a:r>
          </a:p>
        </p:txBody>
      </p:sp>
      <p:sp>
        <p:nvSpPr>
          <p:cNvPr id="4" name="Slide Number Placeholder 3"/>
          <p:cNvSpPr>
            <a:spLocks noGrp="1"/>
          </p:cNvSpPr>
          <p:nvPr>
            <p:ph type="sldNum" idx="5" sz="quarter"/>
          </p:nvPr>
        </p:nvSpPr>
        <p:spPr/>
      </p:sp>
    </p:spTree>
  </p:cSld>
  <p:clrMapOvr>
    <a:masterClrMapping/>
  </p:clrMapOvr>
</p:notes>
</file>

<file path=ppt/notesSlides/notesSlide6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 nombre de mois couverts n'est pas une norme : c'est un indicateur de cohérence. Une provision figée perd son sens quand les prestations changent : elle était très supérieure aux besoins en 2021 et diminue en proportion depuis. Seul un calcul fondé sur les dossiers dira si elle est suffisante.</a:t>
            </a:r>
          </a:p>
        </p:txBody>
      </p:sp>
      <p:sp>
        <p:nvSpPr>
          <p:cNvPr id="4" name="Slide Number Placeholder 3"/>
          <p:cNvSpPr>
            <a:spLocks noGrp="1"/>
          </p:cNvSpPr>
          <p:nvPr>
            <p:ph type="sldNum" idx="5" sz="quarter"/>
          </p:nvPr>
        </p:nvSpPr>
        <p:spPr/>
      </p:sp>
    </p:spTree>
  </p:cSld>
  <p:clrMapOvr>
    <a:masterClrMapping/>
  </p:clrMapOvr>
</p:notes>
</file>

<file path=ppt/notesSlides/notesSlide6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Les montants « CMP » regroupent les comptes 47111101 (« Polyclinique du FPPN »), 47111104 (« Investissements au CMP ») et 47111105 (« Charges de fonctionnement au CMP ») ; la signification du sigle CMP reste à confirmer par le FPPN. La créance sur l'Hôpital de la Police (47111100) est inchangée depuis 2020.</a:t>
            </a:r>
          </a:p>
        </p:txBody>
      </p:sp>
      <p:sp>
        <p:nvSpPr>
          <p:cNvPr id="4" name="Slide Number Placeholder 3"/>
          <p:cNvSpPr>
            <a:spLocks noGrp="1"/>
          </p:cNvSpPr>
          <p:nvPr>
            <p:ph type="sldNum" idx="5" sz="quarter"/>
          </p:nvPr>
        </p:nvSpPr>
        <p:spPr/>
      </p:sp>
    </p:spTree>
  </p:cSld>
  <p:clrMapOvr>
    <a:masterClrMapping/>
  </p:clrMapOvr>
</p:notes>
</file>

<file path=ppt/notesSlides/notesSlide6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Étapes 1 à 3 de la méthode d'adossement du dossier de préparation : classer l'actif par délai de mobilisation, classer le passif par échéance, comparer tranche par tranche. Actif immédiat : caisse et comptes à vue. Moins d'un an : dépôts à terme, fonds commun de placement, créances à court terme. 1 à 5 ans : prêts PEP et financement du Grenier (durée médiane des prêts de 10 mois). Plus de 5 ans ou incertain : immobilisations, terrains, avances au CMP, créance sur l'Hôpital de la Police. Passif à moins d'un an : dettes à court terme hors épargne et provisions pour prestations à payer. L'épargne est présentée à part : son échéance dépend des âges et des conditions de retrait.</a:t>
            </a:r>
          </a:p>
        </p:txBody>
      </p:sp>
      <p:sp>
        <p:nvSpPr>
          <p:cNvPr id="4" name="Slide Number Placeholder 3"/>
          <p:cNvSpPr>
            <a:spLocks noGrp="1"/>
          </p:cNvSpPr>
          <p:nvPr>
            <p:ph type="sldNum" idx="5" sz="quarter"/>
          </p:nvPr>
        </p:nvSpPr>
        <p:spPr/>
      </p:sp>
    </p:spTree>
  </p:cSld>
  <p:clrMapOvr>
    <a:masterClrMapping/>
  </p:clrMapOvr>
</p:notes>
</file>

<file path=ppt/notesSlides/notesSlide7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Les comptes de capitaux propres ont un solde créditeur (positif pour le FPPN), sauf le report à nouveau débiteur (pertes passées), affiché ici en négatif. Libellés exacts de la balance 2025.</a:t>
            </a:r>
          </a:p>
        </p:txBody>
      </p:sp>
      <p:sp>
        <p:nvSpPr>
          <p:cNvPr id="4" name="Slide Number Placeholder 3"/>
          <p:cNvSpPr>
            <a:spLocks noGrp="1"/>
          </p:cNvSpPr>
          <p:nvPr>
            <p:ph type="sldNum" idx="5" sz="quarter"/>
          </p:nvPr>
        </p:nvSpPr>
        <p:spPr/>
      </p:sp>
    </p:spTree>
  </p:cSld>
  <p:clrMapOvr>
    <a:masterClrMapping/>
  </p:clrMapOvr>
</p:notes>
</file>

<file path=ppt/notesSlides/notesSlide7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Des fonds propres négatifs signifient que les dettes dépassent les actifs comptables. Les ratios de fonds propres et de marge de solvabilité de la Décision n° 05/2022 sont calculés dans la partie 10.</a:t>
            </a:r>
          </a:p>
        </p:txBody>
      </p:sp>
      <p:sp>
        <p:nvSpPr>
          <p:cNvPr id="4" name="Slide Number Placeholder 3"/>
          <p:cNvSpPr>
            <a:spLocks noGrp="1"/>
          </p:cNvSpPr>
          <p:nvPr>
            <p:ph type="sldNum" idx="5" sz="quarter"/>
          </p:nvPr>
        </p:nvSpPr>
        <p:spPr/>
      </p:sp>
    </p:spTree>
  </p:cSld>
  <p:clrMapOvr>
    <a:masterClrMapping/>
  </p:clrMapOvr>
</p:notes>
</file>

<file path=ppt/notesSlides/notesSlide7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Rendement apparent = produits financiers (classe 77) / encours moyen des placements (52 à 53). Il est irrégulier : l'essentiel des intérêts est comptabilisé en 2025 à la clôture d'un dépôt à terme. Taux directeurs : communiqués du Comité de politique monétaire de la BCEAO (validés).</a:t>
            </a:r>
          </a:p>
        </p:txBody>
      </p:sp>
      <p:sp>
        <p:nvSpPr>
          <p:cNvPr id="4" name="Slide Number Placeholder 3"/>
          <p:cNvSpPr>
            <a:spLocks noGrp="1"/>
          </p:cNvSpPr>
          <p:nvPr>
            <p:ph type="sldNum" idx="5" sz="quarter"/>
          </p:nvPr>
        </p:nvSpPr>
        <p:spPr/>
      </p:sp>
    </p:spTree>
  </p:cSld>
  <p:clrMapOvr>
    <a:masterClrMapping/>
  </p:clrMapOvr>
</p:notes>
</file>

<file path=ppt/notesSlides/notesSlide7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Ces constats appellent une décision de gouvernance : politique de provisionnement, politique de placement, encadrement des investissements dans les structures liées.</a:t>
            </a:r>
          </a:p>
        </p:txBody>
      </p:sp>
      <p:sp>
        <p:nvSpPr>
          <p:cNvPr id="4" name="Slide Number Placeholder 3"/>
          <p:cNvSpPr>
            <a:spLocks noGrp="1"/>
          </p:cNvSpPr>
          <p:nvPr>
            <p:ph type="sldNum" idx="5" sz="quarter"/>
          </p:nvPr>
        </p:nvSpPr>
        <p:spPr/>
      </p:sp>
    </p:spTree>
  </p:cSld>
  <p:clrMapOvr>
    <a:masterClrMapping/>
  </p:clrMapOvr>
</p:notes>
</file>

<file path=ppt/notesSlides/notesSlide7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Cette partie applique aux comptes du FPPN les normes de la mutualité sociale UEMOA. Les textes viennent de la documentation publique de l'AIRMS fournie le 18/10/2026 et validée comme source.</a:t>
            </a:r>
          </a:p>
        </p:txBody>
      </p:sp>
      <p:sp>
        <p:nvSpPr>
          <p:cNvPr id="4" name="Slide Number Placeholder 3"/>
          <p:cNvSpPr>
            <a:spLocks noGrp="1"/>
          </p:cNvSpPr>
          <p:nvPr>
            <p:ph type="sldNum" idx="5" sz="quarter"/>
          </p:nvPr>
        </p:nvSpPr>
        <p:spPr/>
      </p:sp>
    </p:spTree>
  </p:cSld>
  <p:clrMapOvr>
    <a:masterClrMapping/>
  </p:clrMapOvr>
</p:notes>
</file>

<file path=ppt/notesSlides/notesSlide7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Hiérarchie : le règlement de 2009 fixe les principes et renvoie au règlement d'exécution pour les règles prudentielles (art. 58) ; la Décision de 2022 chiffre les normes ; l'arrêté de 2023 fixe les sanctions en Côte d'Ivoire. Le PCMS donne les numéros de comptes que la Décision utilise dans ses formules.</a:t>
            </a:r>
          </a:p>
        </p:txBody>
      </p:sp>
      <p:sp>
        <p:nvSpPr>
          <p:cNvPr id="4" name="Slide Number Placeholder 3"/>
          <p:cNvSpPr>
            <a:spLocks noGrp="1"/>
          </p:cNvSpPr>
          <p:nvPr>
            <p:ph type="sldNum" idx="5" sz="quarter"/>
          </p:nvPr>
        </p:nvSpPr>
        <p:spPr/>
      </p:sp>
    </p:spTree>
  </p:cSld>
  <p:clrMapOvr>
    <a:masterClrMapping/>
  </p:clrMapOvr>
</p:notes>
</file>

<file path=ppt/notesSlides/notesSlide7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Définitions de l'article 1 du règlement d'exécution : risque court quand l'écart entre l'encaissement des cotisations et le versement des prestations est d'un an au plus ; risque long au-delà. L'article 3 classe la vieillesse et le décès lié à un mécanisme de capitalisation parmi les risques longs. La qualification retenue ici doit être confirmée par l'AIRMS ou par l'agrément du FPPN, non transmis.</a:t>
            </a:r>
          </a:p>
        </p:txBody>
      </p:sp>
      <p:sp>
        <p:nvSpPr>
          <p:cNvPr id="4" name="Slide Number Placeholder 3"/>
          <p:cNvSpPr>
            <a:spLocks noGrp="1"/>
          </p:cNvSpPr>
          <p:nvPr>
            <p:ph type="sldNum" idx="5" sz="quarter"/>
          </p:nvPr>
        </p:nvSpPr>
        <p:spPr/>
      </p:sp>
    </p:spTree>
  </p:cSld>
  <p:clrMapOvr>
    <a:masterClrMapping/>
  </p:clrMapOvr>
</p:notes>
</file>

<file path=ppt/notesSlides/notesSlide7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utilisée pour un lecteur non spécialiste : le bilan est une commode à tiroirs. Le plan comptable (PCMS) donne à chaque compte un numéro qui indique son tiroir : classe 1 pour les ressources longues, classe 2 pour les emplois longs, classe 4 pour les tiers, classe 5 pour la trésorerie. Un ratio de liquidité compare le tiroir « trésorerie » au tiroir « dettes à court terme ». Si un compte est rangé dans le mauvais tiroir, le ratio change sans que la réalité change. C'est pourquoi la suite présente chaque ratio deux fois : avec les comptes rangés comme le FPPN les tient, puis rangés selon leur nature.</a:t>
            </a:r>
          </a:p>
        </p:txBody>
      </p:sp>
      <p:sp>
        <p:nvSpPr>
          <p:cNvPr id="4" name="Slide Number Placeholder 3"/>
          <p:cNvSpPr>
            <a:spLocks noGrp="1"/>
          </p:cNvSpPr>
          <p:nvPr>
            <p:ph type="sldNum" idx="5" sz="quarter"/>
          </p:nvPr>
        </p:nvSpPr>
        <p:spPr/>
      </p:sp>
    </p:spTree>
  </p:cSld>
  <p:clrMapOvr>
    <a:masterClrMapping/>
  </p:clrMapOvr>
</p:notes>
</file>

<file path=ppt/notesSlides/notesSlide7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 classement « comme le FPPN » suit les numéros de comptes cités par la Décision n° 05/2022 dans ses formules. Le classement retraité ne modifie aucun montant : il déplace seulement des comptes d'un tiroir à un autre, pour une raison écrite. Le détail compte par compte (246 comptes) figure dans l'onglet « 10_classement_comptes » du classeur des calculs.</a:t>
            </a:r>
          </a:p>
        </p:txBody>
      </p:sp>
      <p:sp>
        <p:nvSpPr>
          <p:cNvPr id="4" name="Slide Number Placeholder 3"/>
          <p:cNvSpPr>
            <a:spLocks noGrp="1"/>
          </p:cNvSpPr>
          <p:nvPr>
            <p:ph type="sldNum" idx="5" sz="quarter"/>
          </p:nvPr>
        </p:nvSpPr>
        <p:spPr/>
      </p:sp>
    </p:spTree>
  </p:cSld>
  <p:clrMapOvr>
    <a:masterClrMapping/>
  </p:clrMapOvr>
</p:notes>
</file>

<file path=ppt/notesSlides/notesSlide7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 statut ne juge pas la gestion du FPPN : il constate l'écart entre un chiffre et une norme. Le statut global d'un ratio est non conforme s'il est non conforme au moins une année de 2022 à 2025.</a:t>
            </a:r>
          </a:p>
        </p:txBody>
      </p:sp>
      <p:sp>
        <p:nvSpPr>
          <p:cNvPr id="4" name="Slide Number Placeholder 3"/>
          <p:cNvSpPr>
            <a:spLocks noGrp="1"/>
          </p:cNvSpPr>
          <p:nvPr>
            <p:ph type="sldNum" idx="5" sz="quarter"/>
          </p:nvPr>
        </p:nvSpPr>
        <p:spPr/>
      </p:sp>
    </p:spTree>
  </p:cSld>
  <p:clrMapOvr>
    <a:masterClrMapping/>
  </p:clrMapOvr>
</p:notes>
</file>

<file path=ppt/notesSlides/notesSlide8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Les familles reprennent les catégories de l'annexe de la Décision n° 05/2022 (performance, viabilité, pérennité, risques longs), réordonnées selon la priorité actuarielle demandée pour ce rapport.</a:t>
            </a:r>
          </a:p>
        </p:txBody>
      </p:sp>
      <p:sp>
        <p:nvSpPr>
          <p:cNvPr id="4" name="Slide Number Placeholder 3"/>
          <p:cNvSpPr>
            <a:spLocks noGrp="1"/>
          </p:cNvSpPr>
          <p:nvPr>
            <p:ph type="sldNum" idx="5" sz="quarter"/>
          </p:nvPr>
        </p:nvSpPr>
        <p:spPr/>
      </p:sp>
    </p:spTree>
  </p:cSld>
  <p:clrMapOvr>
    <a:masterClrMapping/>
  </p:clrMapOvr>
</p:notes>
</file>

<file path=ppt/notesSlides/notesSlide8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Valeurs calculées sur les balances, avec les comptes cités par la Décision n° 05/2022. La sinistralité réglementaire est globale (maladie et décès) : elle est sous la fourchette de 70 % à 80 % parce que la garantie décès consomme peu de cotisations. La marge de solvabilité est conforme dans la lecture comme le FPPN, mais pas une fois les pertes reportées déduites (diapositives suivantes).</a:t>
            </a:r>
          </a:p>
        </p:txBody>
      </p:sp>
      <p:sp>
        <p:nvSpPr>
          <p:cNvPr id="4" name="Slide Number Placeholder 3"/>
          <p:cNvSpPr>
            <a:spLocks noGrp="1"/>
          </p:cNvSpPr>
          <p:nvPr>
            <p:ph type="sldNum" idx="5" sz="quarter"/>
          </p:nvPr>
        </p:nvSpPr>
        <p:spPr/>
      </p:sp>
    </p:spTree>
  </p:cSld>
  <p:clrMapOvr>
    <a:masterClrMapping/>
  </p:clrMapOvr>
</p:notes>
</file>

<file path=ppt/notesSlides/notesSlide8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Section II de l'annexe de la Décision n° 05/2022 et articles 19 et 21 du règlement d'exécution. Le ratio de solvabilité de l'épargne reprend la couverture calculée en partie 6. La réserve de trésorerie vaut zéro car aucun compte de réserve de trésorerie n'existe dans les balances.</a:t>
            </a:r>
          </a:p>
        </p:txBody>
      </p:sp>
      <p:sp>
        <p:nvSpPr>
          <p:cNvPr id="4" name="Slide Number Placeholder 3"/>
          <p:cNvSpPr>
            <a:spLocks noGrp="1"/>
          </p:cNvSpPr>
          <p:nvPr>
            <p:ph type="sldNum" idx="5" sz="quarter"/>
          </p:nvPr>
        </p:nvSpPr>
        <p:spPr/>
      </p:sp>
    </p:spTree>
  </p:cSld>
  <p:clrMapOvr>
    <a:masterClrMapping/>
  </p:clrMapOvr>
</p:notes>
</file>

<file path=ppt/notesSlides/notesSlide8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Les charges de fonctionnement suivent la liste de comptes de l'annexe (612, 613, 618, 62 à 68). La fidélisation compare les matricules précomptés au poste 936 d'une année à l'autre. Le délai de paiement des prestataires est à apprécier, car les délais contractuels des conventions n'ont pas été transmis.</a:t>
            </a:r>
          </a:p>
        </p:txBody>
      </p:sp>
      <p:sp>
        <p:nvSpPr>
          <p:cNvPr id="4" name="Slide Number Placeholder 3"/>
          <p:cNvSpPr>
            <a:spLocks noGrp="1"/>
          </p:cNvSpPr>
          <p:nvPr>
            <p:ph type="sldNum" idx="5" sz="quarter"/>
          </p:nvPr>
        </p:nvSpPr>
        <p:spPr/>
      </p:sp>
    </p:spTree>
  </p:cSld>
  <p:clrMapOvr>
    <a:masterClrMapping/>
  </p:clrMapOvr>
</p:notes>
</file>

<file path=ppt/notesSlides/notesSlide8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Les indicateurs de gouvernance sont placés en dernier, conformément à la priorité actuarielle du rapport. Chaque pièce manquante est ajoutée à la liste des documents demandés (PBC) et aux guides d'entretien.</a:t>
            </a:r>
          </a:p>
        </p:txBody>
      </p:sp>
      <p:sp>
        <p:nvSpPr>
          <p:cNvPr id="4" name="Slide Number Placeholder 3"/>
          <p:cNvSpPr>
            <a:spLocks noGrp="1"/>
          </p:cNvSpPr>
          <p:nvPr>
            <p:ph type="sldNum" idx="5" sz="quarter"/>
          </p:nvPr>
        </p:nvSpPr>
        <p:spPr/>
      </p:sp>
    </p:spTree>
  </p:cSld>
  <p:clrMapOvr>
    <a:masterClrMapping/>
  </p:clrMapOvr>
</p:notes>
</file>

<file path=ppt/notesSlides/notesSlide8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Liquidité : norme d'au moins 1. Équilibre stable : norme d'au plus 1. Lecture retraitée : épargne en ressource longue, avances durables en emplois longs (diapositive « Deux lectures »). En 2020, les ressources longues comme le FPPN sont négatives : le ratio d'équilibre stable n'a pas de sens et n'est pas représenté.</a:t>
            </a:r>
          </a:p>
        </p:txBody>
      </p:sp>
      <p:sp>
        <p:nvSpPr>
          <p:cNvPr id="4" name="Slide Number Placeholder 3"/>
          <p:cNvSpPr>
            <a:spLocks noGrp="1"/>
          </p:cNvSpPr>
          <p:nvPr>
            <p:ph type="sldNum" idx="5" sz="quarter"/>
          </p:nvPr>
        </p:nvSpPr>
        <p:spPr/>
      </p:sp>
    </p:spTree>
  </p:cSld>
  <p:clrMapOvr>
    <a:masterClrMapping/>
  </p:clrMapOvr>
</p:notes>
</file>

<file path=ppt/notesSlides/notesSlide8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Formule de la Décision (§ 1.2.1.2.5) : comptes 60 + 6901 - 7901 au numérateur, comptes 70 + 7906 - 6906 au dénominateur. Le FPPN n'a pas de compte 6901, 7901, 6906 ni 7906 : les provisions techniques ne varient pas. Le compte 704 « cartes d'accès aux soins » appartient à la classe 70 et entre donc dans les cotisations acquises.</a:t>
            </a:r>
          </a:p>
        </p:txBody>
      </p:sp>
      <p:sp>
        <p:nvSpPr>
          <p:cNvPr id="4" name="Slide Number Placeholder 3"/>
          <p:cNvSpPr>
            <a:spLocks noGrp="1"/>
          </p:cNvSpPr>
          <p:nvPr>
            <p:ph type="sldNum" idx="5" sz="quarter"/>
          </p:nvPr>
        </p:nvSpPr>
        <p:spPr/>
      </p:sp>
    </p:spTree>
  </p:cSld>
  <p:clrMapOvr>
    <a:masterClrMapping/>
  </p:clrMapOvr>
</p:notes>
</file>

<file path=ppt/notesSlides/notesSlide8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Formule (Décision, § 1.1.1) : marge exigée = le maximum entre 18 % des cotisations acquises de l'exercice précédent et de 26 % de la moyenne des prestations maladie des trois derniers exercices. Marge disponible = fonds de réserve obligatoire + fonds d'établissement + réserves libres + droits d'adhésion + dons et legs non affectés. Le texte ne mentionne pas les pertes reportées ; la lecture retraitée les déduit, car le PCMS définit les réserves comme des excédents laissés à la disposition de la mutuelle (fiche n° 2).</a:t>
            </a:r>
          </a:p>
        </p:txBody>
      </p:sp>
      <p:sp>
        <p:nvSpPr>
          <p:cNvPr id="4" name="Slide Number Placeholder 3"/>
          <p:cNvSpPr>
            <a:spLocks noGrp="1"/>
          </p:cNvSpPr>
          <p:nvPr>
            <p:ph type="sldNum" idx="5" sz="quarter"/>
          </p:nvPr>
        </p:nvSpPr>
        <p:spPr/>
      </p:sp>
    </p:spTree>
  </p:cSld>
  <p:clrMapOvr>
    <a:masterClrMapping/>
  </p:clrMapOvr>
</p:notes>
</file>

<file path=ppt/notesSlides/notesSlide8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Formule (Décision, tableau 1, ligne 10) : réserves obligatoires x 12 / charges de prestations, norme de 6 à 9 mois ; le § 1.2.2.5.4 de l'annexe indique 9 mois. La réserve obligatoire est le compte 111 « Réserves légales ». Réserve nécessaire pour 6 mois = charges de prestations x 6 / 12.</a:t>
            </a:r>
          </a:p>
        </p:txBody>
      </p:sp>
      <p:sp>
        <p:nvSpPr>
          <p:cNvPr id="4" name="Slide Number Placeholder 3"/>
          <p:cNvSpPr>
            <a:spLocks noGrp="1"/>
          </p:cNvSpPr>
          <p:nvPr>
            <p:ph type="sldNum" idx="5" sz="quarter"/>
          </p:nvPr>
        </p:nvSpPr>
        <p:spPr/>
      </p:sp>
    </p:spTree>
  </p:cSld>
  <p:clrMapOvr>
    <a:masterClrMapping/>
  </p:clrMapOvr>
</p:notes>
</file>

<file path=ppt/notesSlides/notesSlide8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Formule (Décision, § 1.2.2.5.3) : fonds propres et assimilés (comptes 10 à 14, 190 et 15) / dettes, provisions techniques comprises. Le texte place les provisions techniques à la fois au numérateur et au dénominateur ; Adenka applique la formule à la lettre. Les dettes comprennent toute la classe 4 créditrice, dont l'épargne, les emprunts et les soldes bancaires créditeurs.</a:t>
            </a:r>
          </a:p>
        </p:txBody>
      </p:sp>
      <p:sp>
        <p:nvSpPr>
          <p:cNvPr id="4" name="Slide Number Placeholder 3"/>
          <p:cNvSpPr>
            <a:spLocks noGrp="1"/>
          </p:cNvSpPr>
          <p:nvPr>
            <p:ph type="sldNum" idx="5" sz="quarter"/>
          </p:nvPr>
        </p:nvSpPr>
        <p:spPr/>
      </p:sp>
    </p:spTree>
  </p:cSld>
  <p:clrMapOvr>
    <a:masterClrMapping/>
  </p:clrMapOvr>
</p:notes>
</file>

<file path=ppt/notesSlides/notesSlide9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Formules : liquidité = trésorerie actif / (dettes à court terme + variation des provisions techniques) (Décision, § 1.2.2.5.2) ; trésorerie à échéance = (valeurs réalisables + disponibles) / dettes à court terme (section II, § 2.2) ; trésorerie immédiate = disponibles / dettes à court terme (§ 2.3), égale ici à la liquidité car les provisions ne varient pas.</a:t>
            </a:r>
          </a:p>
        </p:txBody>
      </p:sp>
      <p:sp>
        <p:nvSpPr>
          <p:cNvPr id="4" name="Slide Number Placeholder 3"/>
          <p:cNvSpPr>
            <a:spLocks noGrp="1"/>
          </p:cNvSpPr>
          <p:nvPr>
            <p:ph type="sldNum" idx="5" sz="quarter"/>
          </p:nvPr>
        </p:nvSpPr>
        <p:spPr/>
      </p:sp>
    </p:spTree>
  </p:cSld>
  <p:clrMapOvr>
    <a:masterClrMapping/>
  </p:clrMapOvr>
</p:notes>
</file>

<file path=ppt/notesSlides/notesSlide9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Formule (Décision, § 1.2.3.1) : emplois moyens et longs / ressources moyennes et longues. Comme le FPPN : classe 2 nette / classes 10 à 19. Retraité : on ajoute aux emplois les avances durables suivies en classe 4 (CMP, Grenier, Hôpital de la Police, projets immobiliers, créance de cession) et aux ressources l'épargne PEP et EFC.</a:t>
            </a:r>
          </a:p>
        </p:txBody>
      </p:sp>
      <p:sp>
        <p:nvSpPr>
          <p:cNvPr id="4" name="Slide Number Placeholder 3"/>
          <p:cNvSpPr>
            <a:spLocks noGrp="1"/>
          </p:cNvSpPr>
          <p:nvPr>
            <p:ph type="sldNum" idx="5" sz="quarter"/>
          </p:nvPr>
        </p:nvSpPr>
        <p:spPr/>
      </p:sp>
    </p:spTree>
  </p:cSld>
  <p:clrMapOvr>
    <a:masterClrMapping/>
  </p:clrMapOvr>
</p:notes>
</file>

<file path=ppt/notesSlides/notesSlide9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Formule (Décision, § 1.2.2.5.5) : excédent net de l'exercice / cotisations acquises, norme d'au plus 5 %. Ce plafond vise à éviter qu'une mutuelle prélève sur ses membres plus que nécessaire. Il est en tension avec les normes de fonds propres quand ceux-ci sont négatifs.</a:t>
            </a:r>
          </a:p>
        </p:txBody>
      </p:sp>
      <p:sp>
        <p:nvSpPr>
          <p:cNvPr id="4" name="Slide Number Placeholder 3"/>
          <p:cNvSpPr>
            <a:spLocks noGrp="1"/>
          </p:cNvSpPr>
          <p:nvPr>
            <p:ph type="sldNum" idx="5" sz="quarter"/>
          </p:nvPr>
        </p:nvSpPr>
        <p:spPr/>
      </p:sp>
    </p:spTree>
  </p:cSld>
  <p:clrMapOvr>
    <a:masterClrMapping/>
  </p:clrMapOvr>
</p:notes>
</file>

<file path=ppt/notesSlides/notesSlide9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Formules (Décision, § 1.2.1.2.1 à 1.2.1.2.4). Charges de fonctionnement : comptes 612, 613, 618, 62 à 68. Charges de fonctionnement brut : comptes 61 à 68, 691 et 697. Le compte 65180000 (prime d'assurance décès de 2020) entre dans la classe 65 et donc dans les charges de fonctionnement de 2020.</a:t>
            </a:r>
          </a:p>
        </p:txBody>
      </p:sp>
      <p:sp>
        <p:nvSpPr>
          <p:cNvPr id="4" name="Slide Number Placeholder 3"/>
          <p:cNvSpPr>
            <a:spLocks noGrp="1"/>
          </p:cNvSpPr>
          <p:nvPr>
            <p:ph type="sldNum" idx="5" sz="quarter"/>
          </p:nvPr>
        </p:nvSpPr>
        <p:spPr/>
      </p:sp>
    </p:spTree>
  </p:cSld>
  <p:clrMapOvr>
    <a:masterClrMapping/>
  </p:clrMapOvr>
</p:notes>
</file>

<file path=ppt/notesSlides/notesSlide9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Règlement d'exécution, art. 19 : une réserve de trésorerie ou fonds de roulement au moins égale à un trimestre d'engagements et de charges de fonctionnement, pour chaque risque long. Engagements : débits des comptes 41195100 et 41195200 (sorties d'épargne). Charges de fonctionnement : quote-part au prorata de l'épargne dans le total épargne + cotisations. Art. 21 : fonds propres au moins égaux aux prestations des risques longs des deux derniers exercices.</a:t>
            </a:r>
          </a:p>
        </p:txBody>
      </p:sp>
      <p:sp>
        <p:nvSpPr>
          <p:cNvPr id="4" name="Slide Number Placeholder 3"/>
          <p:cNvSpPr>
            <a:spLocks noGrp="1"/>
          </p:cNvSpPr>
          <p:nvPr>
            <p:ph type="sldNum" idx="5" sz="quarter"/>
          </p:nvPr>
        </p:nvSpPr>
        <p:spPr/>
      </p:sp>
    </p:spTree>
  </p:cSld>
  <p:clrMapOvr>
    <a:masterClrMapping/>
  </p:clrMapOvr>
</p:notes>
</file>

<file path=ppt/notesSlides/notesSlide9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 répartition au prorata des cotisations est une hypothèse : une autre clé (nombre de dossiers, temps passé) donnerait d'autres excédents. Le FPPN est invité à fournir sa propre clé, qui remplacera celle-ci.</a:t>
            </a:r>
          </a:p>
        </p:txBody>
      </p:sp>
      <p:sp>
        <p:nvSpPr>
          <p:cNvPr id="4" name="Slide Number Placeholder 3"/>
          <p:cNvSpPr>
            <a:spLocks noGrp="1"/>
          </p:cNvSpPr>
          <p:nvPr>
            <p:ph type="sldNum" idx="5" sz="quarter"/>
          </p:nvPr>
        </p:nvSpPr>
        <p:spPr/>
      </p:sp>
    </p:spTree>
  </p:cSld>
  <p:clrMapOvr>
    <a:masterClrMapping/>
  </p:clrMapOvr>
</p:notes>
</file>

<file path=ppt/notesSlides/notesSlide9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Excédent d'un risque = cotisations du risque - prestations du risque - frais attribués au prorata des cotisations. La prime d'assurance décès de 2020 (65180000) est rattachée au décès. Les autres éléments (produits financiers, transferts de charges, hors activités ordinaires) ne sont pas répartis et figurent dans la colonne « autres » du classeur des calculs.</a:t>
            </a:r>
          </a:p>
        </p:txBody>
      </p:sp>
      <p:sp>
        <p:nvSpPr>
          <p:cNvPr id="4" name="Slide Number Placeholder 3"/>
          <p:cNvSpPr>
            <a:spLocks noGrp="1"/>
          </p:cNvSpPr>
          <p:nvPr>
            <p:ph type="sldNum" idx="5" sz="quarter"/>
          </p:nvPr>
        </p:nvSpPr>
        <p:spPr/>
      </p:sp>
    </p:spTree>
  </p:cSld>
  <p:clrMapOvr>
    <a:masterClrMapping/>
  </p:clrMapOvr>
</p:notes>
</file>

<file path=ppt/notesSlides/notesSlide9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Lecture : la colonne « dotation réelle » est l'augmentation du compte 111 entre deux clôtures ; elle traduit l'affectation décidée par l'assemblée générale. Le minimum du règlement d'exécution est de 20 % du résultat excédentaire de l'exercice précédent (art. 18), exigible dans un délai de trois ans après le 1er juin 2022. Le minimum par risque applique 30 % à l'excédent maladie et 50 % à l'excédent décès (Décision, § 1.1.1).</a:t>
            </a:r>
          </a:p>
        </p:txBody>
      </p:sp>
      <p:sp>
        <p:nvSpPr>
          <p:cNvPr id="4" name="Slide Number Placeholder 3"/>
          <p:cNvSpPr>
            <a:spLocks noGrp="1"/>
          </p:cNvSpPr>
          <p:nvPr>
            <p:ph type="sldNum" idx="5" sz="quarter"/>
          </p:nvPr>
        </p:nvSpPr>
        <p:spPr/>
      </p:sp>
    </p:spTree>
  </p:cSld>
  <p:clrMapOvr>
    <a:masterClrMapping/>
  </p:clrMapOvr>
</p:notes>
</file>

<file path=ppt/notesSlides/notesSlide9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Marge exigée = le maximum entre 18 % des cotisations acquises de l'exercice précédent et de 26 % de la moyenne des prestations maladie des trois derniers exercices (Décision, § 1.1.1). L'exercice 2020 n'est pas calculé, faute de balances 2018 et 2019.</a:t>
            </a:r>
          </a:p>
        </p:txBody>
      </p:sp>
      <p:sp>
        <p:nvSpPr>
          <p:cNvPr id="4" name="Slide Number Placeholder 3"/>
          <p:cNvSpPr>
            <a:spLocks noGrp="1"/>
          </p:cNvSpPr>
          <p:nvPr>
            <p:ph type="sldNum" idx="5" sz="quarter"/>
          </p:nvPr>
        </p:nvSpPr>
        <p:spPr/>
      </p:sp>
    </p:spTree>
  </p:cSld>
  <p:clrMapOvr>
    <a:masterClrMapping/>
  </p:clrMapOvr>
</p:notes>
</file>

<file path=ppt/notesSlides/notesSlide9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 contrôle ne constitue pas une revue comptable complète : il vérifie seulement que les comptes utilisés dans ce rapport sont rangés comme le prévoit le PCMS, et mesure l'effet d'un écart sur les ratios.</a:t>
            </a:r>
          </a:p>
        </p:txBody>
      </p:sp>
      <p:sp>
        <p:nvSpPr>
          <p:cNvPr id="4" name="Slide Number Placeholder 3"/>
          <p:cNvSpPr>
            <a:spLocks noGrp="1"/>
          </p:cNvSpPr>
          <p:nvPr>
            <p:ph type="sldNum" idx="5" sz="quarter"/>
          </p:nvPr>
        </p:nvSpPr>
        <p:spPr/>
      </p:sp>
    </p:spTree>
  </p:cSld>
  <p:clrMapOvr>
    <a:masterClrMapping/>
  </p:clrMapOvr>
</p:notes>
</file>

<file path=ppt/notesSlides/notesSlide10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Ces exigences complètent les ratios. Elles relèvent du cadre actuariel quand elles portent sur les provisions, les risques longs, les placements et les réserves. Elles sont reprises dans les guides d'entretien.</a:t>
            </a:r>
          </a:p>
        </p:txBody>
      </p:sp>
      <p:sp>
        <p:nvSpPr>
          <p:cNvPr id="4" name="Slide Number Placeholder 3"/>
          <p:cNvSpPr>
            <a:spLocks noGrp="1"/>
          </p:cNvSpPr>
          <p:nvPr>
            <p:ph type="sldNum" idx="5" sz="quarter"/>
          </p:nvPr>
        </p:nvSpPr>
        <p:spPr/>
      </p:sp>
    </p:spTree>
  </p:cSld>
  <p:clrMapOvr>
    <a:masterClrMapping/>
  </p:clrMapOvr>
</p:notes>
</file>

<file path=ppt/notesSlides/notesSlide10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Les sanctions sont prononcées par le ministre chargé de la mutualité sociale, sur rapport ou avis motivé de l'AIRMS, après que la mutuelle a été entendue (règlement d'exécution, art. 38 et 39). Ce tableau décrit une exposition théorique : la décision appartient à l'autorité de contrôle.</a:t>
            </a:r>
          </a:p>
        </p:txBody>
      </p:sp>
      <p:sp>
        <p:nvSpPr>
          <p:cNvPr id="4" name="Slide Number Placeholder 3"/>
          <p:cNvSpPr>
            <a:spLocks noGrp="1"/>
          </p:cNvSpPr>
          <p:nvPr>
            <p:ph type="sldNum" idx="5" sz="quarter"/>
          </p:nvPr>
        </p:nvSpPr>
        <p:spPr/>
      </p:sp>
    </p:spTree>
  </p:cSld>
  <p:clrMapOvr>
    <a:masterClrMapping/>
  </p:clrMapOvr>
</p:notes>
</file>

<file path=ppt/notesSlides/notesSlide10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Les ratios sont calculés sur les balances : leur conclusion ne dépend pas des données manquantes, sauf pour la liquidité, qui dépend de l'échéancier de l'épargne.</a:t>
            </a:r>
          </a:p>
        </p:txBody>
      </p:sp>
      <p:sp>
        <p:nvSpPr>
          <p:cNvPr id="4" name="Slide Number Placeholder 3"/>
          <p:cNvSpPr>
            <a:spLocks noGrp="1"/>
          </p:cNvSpPr>
          <p:nvPr>
            <p:ph type="sldNum" idx="5" sz="quarter"/>
          </p:nvPr>
        </p:nvSpPr>
        <p:spPr/>
      </p:sp>
    </p:spTree>
  </p:cSld>
  <p:clrMapOvr>
    <a:masterClrMapping/>
  </p:clrMapOvr>
</p:notes>
</file>

<file path=ppt/notesSlides/notesSlide10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Ces deux analyses demandent les dates de naissance (PBC, items 9 et 28). Le règlement d'exécution n° 004/2022 définit la table de mortalité comme un tableau qui donne les probabilités de décès ou de survie et l'espérance de vie selon l'âge et le sexe (art. 1).</a:t>
            </a:r>
          </a:p>
        </p:txBody>
      </p:sp>
      <p:sp>
        <p:nvSpPr>
          <p:cNvPr id="4" name="Slide Number Placeholder 3"/>
          <p:cNvSpPr>
            <a:spLocks noGrp="1"/>
          </p:cNvSpPr>
          <p:nvPr>
            <p:ph type="sldNum" idx="5" sz="quarter"/>
          </p:nvPr>
        </p:nvSpPr>
        <p:spPr/>
      </p:sp>
    </p:spTree>
  </p:cSld>
  <p:clrMapOvr>
    <a:masterClrMapping/>
  </p:clrMapOvr>
</p:notes>
</file>

<file path=ppt/notesSlides/notesSlide10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Principe de prudence : on choisit la table qui défavorise l'organisme. Pour un risque décès (le FPPN paie au décès), une table qui prévoit plus de décès est prudente : CIMA H. Pour un risque de survie (le FPPN paie tant que la personne vit), une table qui prévoit des vies plus longues est prudente : CIMA F. Les fichiers fournis portent eux-mêmes cet usage dans le nom de leur feuille. Les tables TD et TV sont les anciennes tables réglementaires remplacées en 2012 (Code CIMA, article 338 modifié).</a:t>
            </a:r>
          </a:p>
        </p:txBody>
      </p:sp>
      <p:sp>
        <p:nvSpPr>
          <p:cNvPr id="4" name="Slide Number Placeholder 3"/>
          <p:cNvSpPr>
            <a:spLocks noGrp="1"/>
          </p:cNvSpPr>
          <p:nvPr>
            <p:ph type="sldNum" idx="5" sz="quarter"/>
          </p:nvPr>
        </p:nvSpPr>
        <p:spPr/>
      </p:sp>
    </p:spTree>
  </p:cSld>
  <p:clrMapOvr>
    <a:masterClrMapping/>
  </p:clrMapOvr>
</p:notes>
</file>

<file path=ppt/notesSlides/notesSlide10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Une courbe de survie donne la part des personnes encore en vie à chaque âge. L'écart entre les courbes mesure l'écart de prudence entre une table de décès et une table de survie.</a:t>
            </a:r>
          </a:p>
        </p:txBody>
      </p:sp>
      <p:sp>
        <p:nvSpPr>
          <p:cNvPr id="4" name="Slide Number Placeholder 3"/>
          <p:cNvSpPr>
            <a:spLocks noGrp="1"/>
          </p:cNvSpPr>
          <p:nvPr>
            <p:ph type="sldNum" idx="5" sz="quarter"/>
          </p:nvPr>
        </p:nvSpPr>
        <p:spPr/>
      </p:sp>
    </p:spTree>
  </p:cSld>
  <p:clrMapOvr>
    <a:masterClrMapping/>
  </p:clrMapOvr>
</p:notes>
</file>

<file path=ppt/notesSlides/notesSlide10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qx en pour mille aux âges de 20 à 80 ans. Ce sont les âges de la population du FPPN (actifs puis retraités). La comparaison avec la mortalité observée se fera par le rapport décès observés / décès attendus (voir partie 12).</a:t>
            </a:r>
          </a:p>
        </p:txBody>
      </p:sp>
      <p:sp>
        <p:nvSpPr>
          <p:cNvPr id="4" name="Slide Number Placeholder 3"/>
          <p:cNvSpPr>
            <a:spLocks noGrp="1"/>
          </p:cNvSpPr>
          <p:nvPr>
            <p:ph type="sldNum" idx="5" sz="quarter"/>
          </p:nvPr>
        </p:nvSpPr>
        <p:spPr/>
      </p:sp>
    </p:spTree>
  </p:cSld>
  <p:clrMapOvr>
    <a:masterClrMapping/>
  </p:clrMapOvr>
</p:notes>
</file>

<file path=ppt/notesSlides/notesSlide10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Rente viagère : valeur aujourd'hui de 1 FCFA payé chaque année, au début de l'année, tant que la personne vit, actualisé au taux de 3,5 % (plafond du Code CIMA). Formule : ä_x = Σ (L_(x+k) / L_x) × v^k, avec v = 1 / 1,035. Exemple : si le FPPN prenait en charge 100 000 FCFA par an de soins pour un retraité de 60 ans, l'engagement vaudrait environ 100 000 × ä_60. Ce sont des valeurs de référence, pas des engagements du FPPN.</a:t>
            </a:r>
          </a:p>
        </p:txBody>
      </p:sp>
      <p:sp>
        <p:nvSpPr>
          <p:cNvPr id="4" name="Slide Number Placeholder 3"/>
          <p:cNvSpPr>
            <a:spLocks noGrp="1"/>
          </p:cNvSpPr>
          <p:nvPr>
            <p:ph type="sldNum" idx="5" sz="quarter"/>
          </p:nvPr>
        </p:nvSpPr>
        <p:spPr/>
      </p:sp>
    </p:spTree>
  </p:cSld>
  <p:clrMapOvr>
    <a:masterClrMapping/>
  </p:clrMapOvr>
</p:notes>
</file>

<file path=ppt/notesSlides/notesSlide10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Les indicateurs présentés sont des références techniques. Ils deviendront des engagements chiffrés du FPPN dès réception des données.</a:t>
            </a:r>
          </a:p>
        </p:txBody>
      </p:sp>
      <p:sp>
        <p:nvSpPr>
          <p:cNvPr id="4" name="Slide Number Placeholder 3"/>
          <p:cNvSpPr>
            <a:spLocks noGrp="1"/>
          </p:cNvSpPr>
          <p:nvPr>
            <p:ph type="sldNum" idx="5" sz="quarter"/>
          </p:nvPr>
        </p:nvSpPr>
        <p:spPr/>
      </p:sp>
    </p:spTree>
  </p:cSld>
  <p:clrMapOvr>
    <a:masterClrMapping/>
  </p:clrMapOvr>
</p:notes>
</file>

<file path=ppt/notesSlides/notesSlide10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Les dossiers connus non payés se comptent dossier par dossier. Les sinistres non déclarés (tardifs) s'estiment à partir des délais observés dans le passé : c'est le rôle de la méthode Chain Ladder.</a:t>
            </a:r>
          </a:p>
        </p:txBody>
      </p:sp>
      <p:sp>
        <p:nvSpPr>
          <p:cNvPr id="4" name="Slide Number Placeholder 3"/>
          <p:cNvSpPr>
            <a:spLocks noGrp="1"/>
          </p:cNvSpPr>
          <p:nvPr>
            <p:ph type="sldNum" idx="5" sz="quarter"/>
          </p:nvPr>
        </p:nvSpPr>
        <p:spPr/>
      </p:sp>
    </p:spTree>
  </p:cSld>
  <p:clrMapOvr>
    <a:masterClrMapping/>
  </p:clrMapOvr>
</p:notes>
</file>

<file path=ppt/notesSlides/notesSlide1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Hypothèse : le rythme de règlement passé se répète. Aucun chiffre n'est présenté : les données ne sont pas encore reçues.</a:t>
            </a:r>
          </a:p>
        </p:txBody>
      </p:sp>
      <p:sp>
        <p:nvSpPr>
          <p:cNvPr id="4" name="Slide Number Placeholder 3"/>
          <p:cNvSpPr>
            <a:spLocks noGrp="1"/>
          </p:cNvSpPr>
          <p:nvPr>
            <p:ph type="sldNum" idx="5" sz="quarter"/>
          </p:nvPr>
        </p:nvSpPr>
        <p:spPr/>
      </p:sp>
    </p:spTree>
  </p:cSld>
  <p:clrMapOvr>
    <a:masterClrMapping/>
  </p:clrMapOvr>
</p:notes>
</file>

<file path=ppt/notesSlides/notesSlide1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Principe : on range les paiements cumulés dans un triangle (année de survenance × délai). Le facteur de développement mesure la progression moyenne d'un délai au suivant. On complète le triangle avec ces facteurs ; la charge ultime moins les paiements déjà faits donne la provision. Hypothèse : le rythme de règlement passé se répète. Aucun chiffre n'est présenté : les données ne sont pas encore reçues.</a:t>
            </a:r>
          </a:p>
        </p:txBody>
      </p:sp>
      <p:sp>
        <p:nvSpPr>
          <p:cNvPr id="4" name="Slide Number Placeholder 3"/>
          <p:cNvSpPr>
            <a:spLocks noGrp="1"/>
          </p:cNvSpPr>
          <p:nvPr>
            <p:ph type="sldNum" idx="5" sz="quarter"/>
          </p:nvPr>
        </p:nvSpPr>
        <p:spPr/>
      </p:sp>
    </p:spTree>
  </p:cSld>
  <p:clrMapOvr>
    <a:masterClrMapping/>
  </p:clrMapOvr>
</p:notes>
</file>

<file path=ppt/notesSlides/notesSlide1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Exposition : nombre d'années-personnes passées à chaque âge pendant la période. Décès attendus : exposition × qx de la table CIMA H. Données : base des décès (PBC 28), mutualistes avec dates (PBC 9, 10, 11).</a:t>
            </a:r>
          </a:p>
        </p:txBody>
      </p:sp>
      <p:sp>
        <p:nvSpPr>
          <p:cNvPr id="4" name="Slide Number Placeholder 3"/>
          <p:cNvSpPr>
            <a:spLocks noGrp="1"/>
          </p:cNvSpPr>
          <p:nvPr>
            <p:ph type="sldNum" idx="5" sz="quarter"/>
          </p:nvPr>
        </p:nvSpPr>
        <p:spPr/>
      </p:sp>
    </p:spTree>
  </p:cSld>
  <p:clrMapOvr>
    <a:masterClrMapping/>
  </p:clrMapOvr>
</p:notes>
</file>

<file path=ppt/notesSlides/notesSlide1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Données nécessaires : âges, coût des soins par âge, barèmes, hypothèses de recrutement. Aucune projection chiffrée n'est présentée.</a:t>
            </a:r>
          </a:p>
        </p:txBody>
      </p:sp>
      <p:sp>
        <p:nvSpPr>
          <p:cNvPr id="4" name="Slide Number Placeholder 3"/>
          <p:cNvSpPr>
            <a:spLocks noGrp="1"/>
          </p:cNvSpPr>
          <p:nvPr>
            <p:ph type="sldNum" idx="5" sz="quarter"/>
          </p:nvPr>
        </p:nvSpPr>
        <p:spPr/>
      </p:sp>
    </p:spTree>
  </p:cSld>
  <p:clrMapOvr>
    <a:masterClrMapping/>
  </p:clrMapOvr>
</p:notes>
</file>

<file path=ppt/notesSlides/notesSlide1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Aucun chiffre n'est présenté pour ces méthodes : les appliquer sans les données conduirait à des résultats sans valeur. Chaque méthode est reliée aux numéros de la liste des documents demandés.</a:t>
            </a:r>
          </a:p>
        </p:txBody>
      </p:sp>
      <p:sp>
        <p:nvSpPr>
          <p:cNvPr id="4" name="Slide Number Placeholder 3"/>
          <p:cNvSpPr>
            <a:spLocks noGrp="1"/>
          </p:cNvSpPr>
          <p:nvPr>
            <p:ph type="sldNum" idx="5" sz="quarter"/>
          </p:nvPr>
        </p:nvSpPr>
        <p:spPr/>
      </p:sp>
    </p:spTree>
  </p:cSld>
  <p:clrMapOvr>
    <a:masterClrMapping/>
  </p:clrMapOvr>
</p:notes>
</file>

<file path=ppt/notesSlides/notesSlide1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Les images des diapositives suivantes reproduisent la fenêtre de VS Code sous Windows et y placent des extraits réels des scripts de la mission. Ce sont des reconstitutions, pas des captures d'écran ; le terminal n'est affiché que lorsque sa sortie a réellement été obtenue.</a:t>
            </a:r>
          </a:p>
        </p:txBody>
      </p:sp>
      <p:sp>
        <p:nvSpPr>
          <p:cNvPr id="4" name="Slide Number Placeholder 3"/>
          <p:cNvSpPr>
            <a:spLocks noGrp="1"/>
          </p:cNvSpPr>
          <p:nvPr>
            <p:ph type="sldNum" idx="5" sz="quarter"/>
          </p:nvPr>
        </p:nvSpPr>
        <p:spPr/>
      </p:sp>
    </p:spTree>
  </p:cSld>
  <p:clrMapOvr>
    <a:masterClrMapping/>
  </p:clrMapOvr>
</p:notes>
</file>

<file path=ppt/notesSlides/notesSlide1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Étape « Réception » de la chaîne de traitement présentée en partie 2. Chaque étape correspond à un script conservé dans le dossier de la mission.</a:t>
            </a:r>
          </a:p>
        </p:txBody>
      </p:sp>
      <p:sp>
        <p:nvSpPr>
          <p:cNvPr id="4" name="Slide Number Placeholder 3"/>
          <p:cNvSpPr>
            <a:spLocks noGrp="1"/>
          </p:cNvSpPr>
          <p:nvPr>
            <p:ph type="sldNum" idx="5" sz="quarter"/>
          </p:nvPr>
        </p:nvSpPr>
        <p:spPr/>
      </p:sp>
    </p:spTree>
  </p:cSld>
  <p:clrMapOvr>
    <a:masterClrMapping/>
  </p:clrMapOvr>
</p:notes>
</file>

<file path=ppt/notesSlides/notesSlide1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Étape « Extraction » de la chaîne de traitement présentée en partie 2. Chaque étape correspond à un script conservé dans le dossier de la mission.</a:t>
            </a:r>
          </a:p>
        </p:txBody>
      </p:sp>
      <p:sp>
        <p:nvSpPr>
          <p:cNvPr id="4" name="Slide Number Placeholder 3"/>
          <p:cNvSpPr>
            <a:spLocks noGrp="1"/>
          </p:cNvSpPr>
          <p:nvPr>
            <p:ph type="sldNum" idx="5" sz="quarter"/>
          </p:nvPr>
        </p:nvSpPr>
        <p:spPr/>
      </p:sp>
    </p:spTree>
  </p:cSld>
  <p:clrMapOvr>
    <a:masterClrMapping/>
  </p:clrMapOvr>
</p:notes>
</file>

<file path=ppt/notesSlides/notesSlide1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Étape « Base » de la chaîne de traitement présentée en partie 2. Chaque étape correspond à un script conservé dans le dossier de la mission.</a:t>
            </a:r>
          </a:p>
        </p:txBody>
      </p:sp>
      <p:sp>
        <p:nvSpPr>
          <p:cNvPr id="4" name="Slide Number Placeholder 3"/>
          <p:cNvSpPr>
            <a:spLocks noGrp="1"/>
          </p:cNvSpPr>
          <p:nvPr>
            <p:ph type="sldNum" idx="5" sz="quarter"/>
          </p:nvPr>
        </p:nvSpPr>
        <p:spPr/>
      </p:sp>
    </p:spTree>
  </p:cSld>
  <p:clrMapOvr>
    <a:masterClrMapping/>
  </p:clrMapOvr>
</p:notes>
</file>

<file path=ppt/notesSlides/notesSlide1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Étape « Contrôles » de la chaîne de traitement présentée en partie 2. Chaque étape correspond à un script conservé dans le dossier de la mission.</a:t>
            </a:r>
          </a:p>
        </p:txBody>
      </p:sp>
      <p:sp>
        <p:nvSpPr>
          <p:cNvPr id="4" name="Slide Number Placeholder 3"/>
          <p:cNvSpPr>
            <a:spLocks noGrp="1"/>
          </p:cNvSpPr>
          <p:nvPr>
            <p:ph type="sldNum" idx="5" sz="quarter"/>
          </p:nvPr>
        </p:nvSpPr>
        <p:spPr/>
      </p:sp>
    </p:spTree>
  </p:cSld>
  <p:clrMapOvr>
    <a:masterClrMapping/>
  </p:clrMapOvr>
</p:notes>
</file>

<file path=ppt/notesSlides/notesSlide1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Étape « Analyses » de la chaîne de traitement présentée en partie 2. Chaque étape correspond à un script conservé dans le dossier de la mission.</a:t>
            </a:r>
          </a:p>
        </p:txBody>
      </p:sp>
      <p:sp>
        <p:nvSpPr>
          <p:cNvPr id="4" name="Slide Number Placeholder 3"/>
          <p:cNvSpPr>
            <a:spLocks noGrp="1"/>
          </p:cNvSpPr>
          <p:nvPr>
            <p:ph type="sldNum" idx="5" sz="quarter"/>
          </p:nvPr>
        </p:nvSpPr>
        <p:spPr/>
      </p:sp>
    </p:spTree>
  </p:cSld>
  <p:clrMapOvr>
    <a:masterClrMapping/>
  </p:clrMapOvr>
</p:notes>
</file>

<file path=ppt/notesSlides/notesSlide1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Étape « Rapport » de la chaîne de traitement présentée en partie 2. Chaque étape correspond à un script conservé dans le dossier de la mission.</a:t>
            </a:r>
          </a:p>
        </p:txBody>
      </p:sp>
      <p:sp>
        <p:nvSpPr>
          <p:cNvPr id="4" name="Slide Number Placeholder 3"/>
          <p:cNvSpPr>
            <a:spLocks noGrp="1"/>
          </p:cNvSpPr>
          <p:nvPr>
            <p:ph type="sldNum" idx="5" sz="quarter"/>
          </p:nvPr>
        </p:nvSpPr>
        <p:spPr/>
      </p:sp>
    </p:spTree>
  </p:cSld>
  <p:clrMapOvr>
    <a:masterClrMapping/>
  </p:clrMapOvr>
</p:notes>
</file>

<file path=ppt/notesSlides/notesSlide1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Extrait réel du script, placé dans une fenêtre de VS Code sous Windows reconstituée (thème sombre, fil d'Ariane du dossier de la mission, numéros de ligne). Le code complet est dans le dossier scripts de la mission ; il peut être relu et rejoué par un tiers.</a:t>
            </a:r>
          </a:p>
        </p:txBody>
      </p:sp>
      <p:sp>
        <p:nvSpPr>
          <p:cNvPr id="4" name="Slide Number Placeholder 3"/>
          <p:cNvSpPr>
            <a:spLocks noGrp="1"/>
          </p:cNvSpPr>
          <p:nvPr>
            <p:ph type="sldNum" idx="5" sz="quarter"/>
          </p:nvPr>
        </p:nvSpPr>
        <p:spPr/>
      </p:sp>
    </p:spTree>
  </p:cSld>
  <p:clrMapOvr>
    <a:masterClrMapping/>
  </p:clrMapOvr>
</p:notes>
</file>

<file path=ppt/notesSlides/notesSlide1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Extrait réel du script, placé dans une fenêtre de VS Code sous Windows reconstituée (thème sombre, fil d'Ariane du dossier de la mission, numéros de ligne). Le code complet est dans le dossier scripts de la mission ; il peut être relu et rejoué par un tiers.</a:t>
            </a:r>
          </a:p>
        </p:txBody>
      </p:sp>
      <p:sp>
        <p:nvSpPr>
          <p:cNvPr id="4" name="Slide Number Placeholder 3"/>
          <p:cNvSpPr>
            <a:spLocks noGrp="1"/>
          </p:cNvSpPr>
          <p:nvPr>
            <p:ph type="sldNum" idx="5" sz="quarter"/>
          </p:nvPr>
        </p:nvSpPr>
        <p:spPr/>
      </p:sp>
    </p:spTree>
  </p:cSld>
  <p:clrMapOvr>
    <a:masterClrMapping/>
  </p:clrMapOvr>
</p:notes>
</file>

<file path=ppt/notesSlides/notesSlide1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Extrait réel du script, placé dans une fenêtre de VS Code sous Windows reconstituée (thème sombre, fil d'Ariane du dossier de la mission, numéros de ligne). Le code complet est dans le dossier scripts de la mission ; il peut être relu et rejoué par un tiers.</a:t>
            </a:r>
          </a:p>
        </p:txBody>
      </p:sp>
      <p:sp>
        <p:nvSpPr>
          <p:cNvPr id="4" name="Slide Number Placeholder 3"/>
          <p:cNvSpPr>
            <a:spLocks noGrp="1"/>
          </p:cNvSpPr>
          <p:nvPr>
            <p:ph type="sldNum" idx="5" sz="quarter"/>
          </p:nvPr>
        </p:nvSpPr>
        <p:spPr/>
      </p:sp>
    </p:spTree>
  </p:cSld>
  <p:clrMapOvr>
    <a:masterClrMapping/>
  </p:clrMapOvr>
</p:notes>
</file>

<file path=ppt/notesSlides/notesSlide1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Extrait réel du script, placé dans une fenêtre de VS Code sous Windows reconstituée (thème sombre, fil d'Ariane du dossier de la mission, numéros de ligne). Le code complet est dans le dossier scripts de la mission ; il peut être relu et rejoué par un tiers.</a:t>
            </a:r>
          </a:p>
        </p:txBody>
      </p:sp>
      <p:sp>
        <p:nvSpPr>
          <p:cNvPr id="4" name="Slide Number Placeholder 3"/>
          <p:cNvSpPr>
            <a:spLocks noGrp="1"/>
          </p:cNvSpPr>
          <p:nvPr>
            <p:ph type="sldNum" idx="5" sz="quarter"/>
          </p:nvPr>
        </p:nvSpPr>
        <p:spPr/>
      </p:sp>
    </p:spTree>
  </p:cSld>
  <p:clrMapOvr>
    <a:masterClrMapping/>
  </p:clrMapOvr>
</p:notes>
</file>

<file path=ppt/notesSlides/notesSlide1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Extrait réel du script, placé dans une fenêtre de VS Code sous Windows reconstituée (thème sombre, fil d'Ariane du dossier de la mission, numéros de ligne). Le code complet est dans le dossier scripts de la mission ; il peut être relu et rejoué par un tiers.</a:t>
            </a:r>
          </a:p>
        </p:txBody>
      </p:sp>
      <p:sp>
        <p:nvSpPr>
          <p:cNvPr id="4" name="Slide Number Placeholder 3"/>
          <p:cNvSpPr>
            <a:spLocks noGrp="1"/>
          </p:cNvSpPr>
          <p:nvPr>
            <p:ph type="sldNum" idx="5" sz="quarter"/>
          </p:nvPr>
        </p:nvSpPr>
        <p:spPr/>
      </p:sp>
    </p:spTree>
  </p:cSld>
  <p:clrMapOvr>
    <a:masterClrMapping/>
  </p:clrMapOvr>
</p:notes>
</file>

<file path=ppt/notesSlides/notesSlide1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Extrait réel du script, placé dans une fenêtre de VS Code sous Windows reconstituée (thème sombre, fil d'Ariane du dossier de la mission, numéros de ligne). Le code complet est dans le dossier scripts de la mission ; il peut être relu et rejoué par un tiers.</a:t>
            </a:r>
          </a:p>
        </p:txBody>
      </p:sp>
      <p:sp>
        <p:nvSpPr>
          <p:cNvPr id="4" name="Slide Number Placeholder 3"/>
          <p:cNvSpPr>
            <a:spLocks noGrp="1"/>
          </p:cNvSpPr>
          <p:nvPr>
            <p:ph type="sldNum" idx="5" sz="quarter"/>
          </p:nvPr>
        </p:nvSpPr>
        <p:spPr/>
      </p:sp>
    </p:spTree>
  </p:cSld>
  <p:clrMapOvr>
    <a:masterClrMapping/>
  </p:clrMapOvr>
</p:notes>
</file>

<file path=ppt/notesSlides/notesSlide1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Extrait réel du script, placé dans une fenêtre de VS Code sous Windows reconstituée (thème sombre, fil d'Ariane du dossier de la mission, numéros de ligne). Le code complet est dans le dossier scripts de la mission ; il peut être relu et rejoué par un tiers.</a:t>
            </a:r>
          </a:p>
        </p:txBody>
      </p:sp>
      <p:sp>
        <p:nvSpPr>
          <p:cNvPr id="4" name="Slide Number Placeholder 3"/>
          <p:cNvSpPr>
            <a:spLocks noGrp="1"/>
          </p:cNvSpPr>
          <p:nvPr>
            <p:ph type="sldNum" idx="5" sz="quarter"/>
          </p:nvPr>
        </p:nvSpPr>
        <p:spPr/>
      </p:sp>
    </p:spTree>
  </p:cSld>
  <p:clrMapOvr>
    <a:masterClrMapping/>
  </p:clrMapOvr>
</p:notes>
</file>

<file path=ppt/notesSlides/notesSlide1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Principe : aucun chiffre n'est saisi à la main. Le contrôle garantit que le rapport affiche exactement les valeurs calculées, avec deux décimales pour les pourcentages et des montants exacts en FCFA.</a:t>
            </a:r>
          </a:p>
        </p:txBody>
      </p:sp>
      <p:sp>
        <p:nvSpPr>
          <p:cNvPr id="4" name="Slide Number Placeholder 3"/>
          <p:cNvSpPr>
            <a:spLocks noGrp="1"/>
          </p:cNvSpPr>
          <p:nvPr>
            <p:ph type="sldNum" idx="5" sz="quarter"/>
          </p:nvPr>
        </p:nvSpPr>
        <p:spPr/>
      </p:sp>
    </p:spTree>
  </p:cSld>
  <p:clrMapOvr>
    <a:masterClrMapping/>
  </p:clrMapOvr>
</p:notes>
</file>

<file path=ppt/notesSlides/notesSlide1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Liste détaillée et à jour dans la PBC pointée.</a:t>
            </a:r>
          </a:p>
        </p:txBody>
      </p:sp>
      <p:sp>
        <p:nvSpPr>
          <p:cNvPr id="4" name="Slide Number Placeholder 3"/>
          <p:cNvSpPr>
            <a:spLocks noGrp="1"/>
          </p:cNvSpPr>
          <p:nvPr>
            <p:ph type="sldNum" idx="5" sz="quarter"/>
          </p:nvPr>
        </p:nvSpPr>
        <p:spPr/>
      </p:sp>
    </p:spTree>
  </p:cSld>
  <p:clrMapOvr>
    <a:masterClrMapping/>
  </p:clrMapOvr>
</p:notes>
</file>

<file path=ppt/notesSlides/notesSlide1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Ces questions peuvent être posées lors des prochains entretiens ; les réponses seront intégrées à la version suivante du rapport.</a:t>
            </a:r>
          </a:p>
        </p:txBody>
      </p:sp>
      <p:sp>
        <p:nvSpPr>
          <p:cNvPr id="4" name="Slide Number Placeholder 3"/>
          <p:cNvSpPr>
            <a:spLocks noGrp="1"/>
          </p:cNvSpPr>
          <p:nvPr>
            <p:ph type="sldNum" idx="5" sz="quarter"/>
          </p:nvPr>
        </p:nvSpPr>
        <p:spPr/>
      </p:sp>
    </p:spTree>
  </p:cSld>
  <p:clrMapOvr>
    <a:masterClrMapping/>
  </p:clrMapOvr>
</p:notes>
</file>

<file path=ppt/notesSlides/notesSlide1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Formules exactes utilisées dans le rapport.</a:t>
            </a:r>
          </a:p>
        </p:txBody>
      </p:sp>
      <p:sp>
        <p:nvSpPr>
          <p:cNvPr id="4" name="Slide Number Placeholder 3"/>
          <p:cNvSpPr>
            <a:spLocks noGrp="1"/>
          </p:cNvSpPr>
          <p:nvPr>
            <p:ph type="sldNum" idx="5" sz="quarter"/>
          </p:nvPr>
        </p:nvSpPr>
        <p:spPr/>
      </p:sp>
    </p:spTree>
  </p:cSld>
  <p:clrMapOvr>
    <a:masterClrMapping/>
  </p:clrMapOvr>
</p:notes>
</file>

<file path=ppt/notesSlides/notesSlide1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Les sigles de chaque diapositive sont aussi définis en bas de la diapositive.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tags" Target="../tags/tag1.xml"/><Relationship Id="rId2" Type="http://schemas.openxmlformats.org/officeDocument/2006/relationships/slideMaster" Target="../slideMasters/slideMaster1.xml"/><Relationship Id="rId3" Type="http://schemas.openxmlformats.org/officeDocument/2006/relationships/oleObject" Target="../embeddings/oleObject1.bin"/><Relationship Id="rId4" Type="http://schemas.openxmlformats.org/officeDocument/2006/relationships/image" Target="../media/image2.emf"/></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tags" Target="../tags/tag2.xml"/><Relationship Id="rId2" Type="http://schemas.openxmlformats.org/officeDocument/2006/relationships/slideMaster" Target="../slideMasters/slideMaster1.xml"/><Relationship Id="rId3" Type="http://schemas.openxmlformats.org/officeDocument/2006/relationships/oleObject" Target="../embeddings/oleObject2.bin"/><Relationship Id="rId4" Type="http://schemas.openxmlformats.org/officeDocument/2006/relationships/image" Target="../media/image2.emf"/></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tags" Target="../tags/tag3.xml"/><Relationship Id="rId2" Type="http://schemas.openxmlformats.org/officeDocument/2006/relationships/slideMaster" Target="../slideMasters/slideMaster2.xml"/><Relationship Id="rId3" Type="http://schemas.openxmlformats.org/officeDocument/2006/relationships/oleObject" Target="../embeddings/oleObject1.bin"/><Relationship Id="rId4" Type="http://schemas.openxmlformats.org/officeDocument/2006/relationships/image" Target="../media/image2.emf"/></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png"/></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tags" Target="../tags/tag4.xml"/><Relationship Id="rId2" Type="http://schemas.openxmlformats.org/officeDocument/2006/relationships/slideMaster" Target="../slideMasters/slideMaster2.xml"/><Relationship Id="rId3" Type="http://schemas.openxmlformats.org/officeDocument/2006/relationships/oleObject" Target="../embeddings/oleObject2.bin"/><Relationship Id="rId4" Type="http://schemas.openxmlformats.org/officeDocument/2006/relationships/image" Target="../media/image2.emf"/></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re 1"/>
          <p:cNvSpPr>
            <a:spLocks noGrp="1"/>
          </p:cNvSpPr>
          <p:nvPr>
            <p:ph type="ctrTitle"/>
          </p:nvPr>
        </p:nvSpPr>
        <p:spPr>
          <a:xfrm>
            <a:off x="1524000" y="1122363"/>
            <a:ext cx="9144000" cy="2387600"/>
          </a:xfrm>
        </p:spPr>
        <p:txBody>
          <a:bodyPr anchor="b"/>
          <a:lstStyle>
            <a:lvl1pPr algn="ctr">
              <a:defRPr sz="6000"/>
            </a:lvl1pPr>
          </a:lstStyle>
          <a:p>
            <a:r>
              <a:rPr lang="fr-FR"/>
              <a:t>Modifiez le style du titre</a:t>
            </a:r>
          </a:p>
        </p:txBody>
      </p:sp>
      <p:sp>
        <p:nvSpPr>
          <p:cNvPr id="3" name="Sous-titr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a:t>Modifier le style des sous-titres du masque</a:t>
            </a:r>
          </a:p>
        </p:txBody>
      </p:sp>
      <p:sp>
        <p:nvSpPr>
          <p:cNvPr id="4" name="Espace réservé de la date 3"/>
          <p:cNvSpPr>
            <a:spLocks noGrp="1"/>
          </p:cNvSpPr>
          <p:nvPr>
            <p:ph type="dt" sz="half" idx="10"/>
          </p:nvPr>
        </p:nvSpPr>
        <p:spPr/>
        <p:txBody>
          <a:bodyPr/>
          <a:lstStyle/>
          <a:p>
            <a:fld id="{C6EBE14D-B461-4822-94E8-6203B1E77523}" type="datetimeFigureOut">
              <a:rPr lang="fr-FR" smtClean="0"/>
              <a:t>22/09/2026</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616977E6-38EB-41CC-A7E1-A449CC9EA7E2}" type="slidenum">
              <a:rPr lang="fr-FR" smtClean="0"/>
              <a:t>‹N°›</a:t>
            </a:fld>
            <a:endParaRPr lang="fr-FR"/>
          </a:p>
        </p:txBody>
      </p:sp>
    </p:spTree>
    <p:extLst>
      <p:ext uri="{BB962C8B-B14F-4D97-AF65-F5344CB8AC3E}">
        <p14:creationId xmlns:p14="http://schemas.microsoft.com/office/powerpoint/2010/main" val="178863015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Modifiez le style du titre</a:t>
            </a:r>
          </a:p>
        </p:txBody>
      </p:sp>
      <p:sp>
        <p:nvSpPr>
          <p:cNvPr id="3" name="Espace réservé du contenu 2"/>
          <p:cNvSpPr>
            <a:spLocks noGrp="1"/>
          </p:cNvSpPr>
          <p:nvPr>
            <p:ph idx="1"/>
          </p:nvPr>
        </p:nvSpPr>
        <p:spPr/>
        <p:txBody>
          <a:bodyPr/>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p:cNvSpPr>
            <a:spLocks noGrp="1"/>
          </p:cNvSpPr>
          <p:nvPr>
            <p:ph type="dt" sz="half" idx="10"/>
          </p:nvPr>
        </p:nvSpPr>
        <p:spPr/>
        <p:txBody>
          <a:bodyPr/>
          <a:lstStyle/>
          <a:p>
            <a:fld id="{C6EBE14D-B461-4822-94E8-6203B1E77523}" type="datetimeFigureOut">
              <a:rPr lang="fr-FR" smtClean="0"/>
              <a:t>22/09/2026</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616977E6-38EB-41CC-A7E1-A449CC9EA7E2}" type="slidenum">
              <a:rPr lang="fr-FR" smtClean="0"/>
              <a:t>‹N°›</a:t>
            </a:fld>
            <a:endParaRPr lang="fr-FR"/>
          </a:p>
        </p:txBody>
      </p:sp>
    </p:spTree>
    <p:extLst>
      <p:ext uri="{BB962C8B-B14F-4D97-AF65-F5344CB8AC3E}">
        <p14:creationId xmlns:p14="http://schemas.microsoft.com/office/powerpoint/2010/main" val="332243993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re 1"/>
          <p:cNvSpPr>
            <a:spLocks noGrp="1"/>
          </p:cNvSpPr>
          <p:nvPr>
            <p:ph type="title"/>
          </p:nvPr>
        </p:nvSpPr>
        <p:spPr>
          <a:xfrm>
            <a:off x="831850" y="1709738"/>
            <a:ext cx="10515600" cy="2852737"/>
          </a:xfrm>
        </p:spPr>
        <p:txBody>
          <a:bodyPr anchor="b"/>
          <a:lstStyle>
            <a:lvl1pPr>
              <a:defRPr sz="6000"/>
            </a:lvl1pPr>
          </a:lstStyle>
          <a:p>
            <a:r>
              <a:rPr lang="fr-FR"/>
              <a:t>Modifiez le style du titre</a:t>
            </a:r>
          </a:p>
        </p:txBody>
      </p:sp>
      <p:sp>
        <p:nvSpPr>
          <p:cNvPr id="3" name="Espace réservé du texte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fr-FR"/>
              <a:t>Modifier les styles du texte du masque</a:t>
            </a:r>
          </a:p>
        </p:txBody>
      </p:sp>
      <p:sp>
        <p:nvSpPr>
          <p:cNvPr id="4" name="Espace réservé de la date 3"/>
          <p:cNvSpPr>
            <a:spLocks noGrp="1"/>
          </p:cNvSpPr>
          <p:nvPr>
            <p:ph type="dt" sz="half" idx="10"/>
          </p:nvPr>
        </p:nvSpPr>
        <p:spPr/>
        <p:txBody>
          <a:bodyPr/>
          <a:lstStyle/>
          <a:p>
            <a:fld id="{C6EBE14D-B461-4822-94E8-6203B1E77523}" type="datetimeFigureOut">
              <a:rPr lang="fr-FR" smtClean="0"/>
              <a:t>22/09/2026</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616977E6-38EB-41CC-A7E1-A449CC9EA7E2}" type="slidenum">
              <a:rPr lang="fr-FR" smtClean="0"/>
              <a:t>‹N°›</a:t>
            </a:fld>
            <a:endParaRPr lang="fr-FR"/>
          </a:p>
        </p:txBody>
      </p:sp>
    </p:spTree>
    <p:extLst>
      <p:ext uri="{BB962C8B-B14F-4D97-AF65-F5344CB8AC3E}">
        <p14:creationId xmlns:p14="http://schemas.microsoft.com/office/powerpoint/2010/main" val="177093990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Modifiez le style du titre</a:t>
            </a:r>
          </a:p>
        </p:txBody>
      </p:sp>
      <p:sp>
        <p:nvSpPr>
          <p:cNvPr id="3" name="Espace réservé du contenu 2"/>
          <p:cNvSpPr>
            <a:spLocks noGrp="1"/>
          </p:cNvSpPr>
          <p:nvPr>
            <p:ph sz="half" idx="1"/>
          </p:nvPr>
        </p:nvSpPr>
        <p:spPr>
          <a:xfrm>
            <a:off x="838200" y="1825625"/>
            <a:ext cx="5181600" cy="4351338"/>
          </a:xfrm>
        </p:spPr>
        <p:txBody>
          <a:bodyPr/>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contenu 3"/>
          <p:cNvSpPr>
            <a:spLocks noGrp="1"/>
          </p:cNvSpPr>
          <p:nvPr>
            <p:ph sz="half" idx="2"/>
          </p:nvPr>
        </p:nvSpPr>
        <p:spPr>
          <a:xfrm>
            <a:off x="6172200" y="1825625"/>
            <a:ext cx="5181600" cy="4351338"/>
          </a:xfrm>
        </p:spPr>
        <p:txBody>
          <a:bodyPr/>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e la date 4"/>
          <p:cNvSpPr>
            <a:spLocks noGrp="1"/>
          </p:cNvSpPr>
          <p:nvPr>
            <p:ph type="dt" sz="half" idx="10"/>
          </p:nvPr>
        </p:nvSpPr>
        <p:spPr/>
        <p:txBody>
          <a:bodyPr/>
          <a:lstStyle/>
          <a:p>
            <a:fld id="{C6EBE14D-B461-4822-94E8-6203B1E77523}" type="datetimeFigureOut">
              <a:rPr lang="fr-FR" smtClean="0"/>
              <a:t>22/09/2026</a:t>
            </a:fld>
            <a:endParaRPr lang="fr-FR"/>
          </a:p>
        </p:txBody>
      </p:sp>
      <p:sp>
        <p:nvSpPr>
          <p:cNvPr id="6" name="Espace réservé du pied de page 5"/>
          <p:cNvSpPr>
            <a:spLocks noGrp="1"/>
          </p:cNvSpPr>
          <p:nvPr>
            <p:ph type="ftr" sz="quarter" idx="11"/>
          </p:nvPr>
        </p:nvSpPr>
        <p:spPr/>
        <p:txBody>
          <a:bodyPr/>
          <a:lstStyle/>
          <a:p>
            <a:endParaRPr lang="fr-FR"/>
          </a:p>
        </p:txBody>
      </p:sp>
      <p:sp>
        <p:nvSpPr>
          <p:cNvPr id="7" name="Espace réservé du numéro de diapositive 6"/>
          <p:cNvSpPr>
            <a:spLocks noGrp="1"/>
          </p:cNvSpPr>
          <p:nvPr>
            <p:ph type="sldNum" sz="quarter" idx="12"/>
          </p:nvPr>
        </p:nvSpPr>
        <p:spPr/>
        <p:txBody>
          <a:bodyPr/>
          <a:lstStyle/>
          <a:p>
            <a:fld id="{616977E6-38EB-41CC-A7E1-A449CC9EA7E2}" type="slidenum">
              <a:rPr lang="fr-FR" smtClean="0"/>
              <a:t>‹N°›</a:t>
            </a:fld>
            <a:endParaRPr lang="fr-FR"/>
          </a:p>
        </p:txBody>
      </p:sp>
    </p:spTree>
    <p:extLst>
      <p:ext uri="{BB962C8B-B14F-4D97-AF65-F5344CB8AC3E}">
        <p14:creationId xmlns:p14="http://schemas.microsoft.com/office/powerpoint/2010/main" val="402277948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re 1"/>
          <p:cNvSpPr>
            <a:spLocks noGrp="1"/>
          </p:cNvSpPr>
          <p:nvPr>
            <p:ph type="title"/>
          </p:nvPr>
        </p:nvSpPr>
        <p:spPr>
          <a:xfrm>
            <a:off x="839788" y="365125"/>
            <a:ext cx="10515600" cy="1325563"/>
          </a:xfrm>
        </p:spPr>
        <p:txBody>
          <a:bodyPr/>
          <a:lstStyle/>
          <a:p>
            <a:r>
              <a:rPr lang="fr-FR"/>
              <a:t>Modifiez le style du titre</a:t>
            </a:r>
          </a:p>
        </p:txBody>
      </p:sp>
      <p:sp>
        <p:nvSpPr>
          <p:cNvPr id="3" name="Espace réservé du texte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Modifier les styles du texte du masque</a:t>
            </a:r>
          </a:p>
        </p:txBody>
      </p:sp>
      <p:sp>
        <p:nvSpPr>
          <p:cNvPr id="4" name="Espace réservé du contenu 3"/>
          <p:cNvSpPr>
            <a:spLocks noGrp="1"/>
          </p:cNvSpPr>
          <p:nvPr>
            <p:ph sz="half" idx="2"/>
          </p:nvPr>
        </p:nvSpPr>
        <p:spPr>
          <a:xfrm>
            <a:off x="839788" y="2505075"/>
            <a:ext cx="5157787" cy="3684588"/>
          </a:xfrm>
        </p:spPr>
        <p:txBody>
          <a:bodyPr/>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u texte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Modifier les styles du texte du masque</a:t>
            </a:r>
          </a:p>
        </p:txBody>
      </p:sp>
      <p:sp>
        <p:nvSpPr>
          <p:cNvPr id="6" name="Espace réservé du contenu 5"/>
          <p:cNvSpPr>
            <a:spLocks noGrp="1"/>
          </p:cNvSpPr>
          <p:nvPr>
            <p:ph sz="quarter" idx="4"/>
          </p:nvPr>
        </p:nvSpPr>
        <p:spPr>
          <a:xfrm>
            <a:off x="6172200" y="2505075"/>
            <a:ext cx="5183188" cy="3684588"/>
          </a:xfrm>
        </p:spPr>
        <p:txBody>
          <a:bodyPr/>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7" name="Espace réservé de la date 6"/>
          <p:cNvSpPr>
            <a:spLocks noGrp="1"/>
          </p:cNvSpPr>
          <p:nvPr>
            <p:ph type="dt" sz="half" idx="10"/>
          </p:nvPr>
        </p:nvSpPr>
        <p:spPr/>
        <p:txBody>
          <a:bodyPr/>
          <a:lstStyle/>
          <a:p>
            <a:fld id="{C6EBE14D-B461-4822-94E8-6203B1E77523}" type="datetimeFigureOut">
              <a:rPr lang="fr-FR" smtClean="0"/>
              <a:t>22/09/2026</a:t>
            </a:fld>
            <a:endParaRPr lang="fr-FR"/>
          </a:p>
        </p:txBody>
      </p:sp>
      <p:sp>
        <p:nvSpPr>
          <p:cNvPr id="8" name="Espace réservé du pied de page 7"/>
          <p:cNvSpPr>
            <a:spLocks noGrp="1"/>
          </p:cNvSpPr>
          <p:nvPr>
            <p:ph type="ftr" sz="quarter" idx="11"/>
          </p:nvPr>
        </p:nvSpPr>
        <p:spPr/>
        <p:txBody>
          <a:bodyPr/>
          <a:lstStyle/>
          <a:p>
            <a:endParaRPr lang="fr-FR"/>
          </a:p>
        </p:txBody>
      </p:sp>
      <p:sp>
        <p:nvSpPr>
          <p:cNvPr id="9" name="Espace réservé du numéro de diapositive 8"/>
          <p:cNvSpPr>
            <a:spLocks noGrp="1"/>
          </p:cNvSpPr>
          <p:nvPr>
            <p:ph type="sldNum" sz="quarter" idx="12"/>
          </p:nvPr>
        </p:nvSpPr>
        <p:spPr/>
        <p:txBody>
          <a:bodyPr/>
          <a:lstStyle/>
          <a:p>
            <a:fld id="{616977E6-38EB-41CC-A7E1-A449CC9EA7E2}" type="slidenum">
              <a:rPr lang="fr-FR" smtClean="0"/>
              <a:t>‹N°›</a:t>
            </a:fld>
            <a:endParaRPr lang="fr-FR"/>
          </a:p>
        </p:txBody>
      </p:sp>
    </p:spTree>
    <p:extLst>
      <p:ext uri="{BB962C8B-B14F-4D97-AF65-F5344CB8AC3E}">
        <p14:creationId xmlns:p14="http://schemas.microsoft.com/office/powerpoint/2010/main" val="19213750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Modifiez le style du titre</a:t>
            </a:r>
          </a:p>
        </p:txBody>
      </p:sp>
      <p:sp>
        <p:nvSpPr>
          <p:cNvPr id="3" name="Espace réservé de la date 2"/>
          <p:cNvSpPr>
            <a:spLocks noGrp="1"/>
          </p:cNvSpPr>
          <p:nvPr>
            <p:ph type="dt" sz="half" idx="10"/>
          </p:nvPr>
        </p:nvSpPr>
        <p:spPr/>
        <p:txBody>
          <a:bodyPr/>
          <a:lstStyle/>
          <a:p>
            <a:fld id="{C6EBE14D-B461-4822-94E8-6203B1E77523}" type="datetimeFigureOut">
              <a:rPr lang="fr-FR" smtClean="0"/>
              <a:t>22/09/2026</a:t>
            </a:fld>
            <a:endParaRPr lang="fr-FR"/>
          </a:p>
        </p:txBody>
      </p:sp>
      <p:sp>
        <p:nvSpPr>
          <p:cNvPr id="4" name="Espace réservé du pied de page 3"/>
          <p:cNvSpPr>
            <a:spLocks noGrp="1"/>
          </p:cNvSpPr>
          <p:nvPr>
            <p:ph type="ftr" sz="quarter" idx="11"/>
          </p:nvPr>
        </p:nvSpPr>
        <p:spPr/>
        <p:txBody>
          <a:bodyPr/>
          <a:lstStyle/>
          <a:p>
            <a:endParaRPr lang="fr-FR"/>
          </a:p>
        </p:txBody>
      </p:sp>
      <p:sp>
        <p:nvSpPr>
          <p:cNvPr id="5" name="Espace réservé du numéro de diapositive 4"/>
          <p:cNvSpPr>
            <a:spLocks noGrp="1"/>
          </p:cNvSpPr>
          <p:nvPr>
            <p:ph type="sldNum" sz="quarter" idx="12"/>
          </p:nvPr>
        </p:nvSpPr>
        <p:spPr/>
        <p:txBody>
          <a:bodyPr/>
          <a:lstStyle/>
          <a:p>
            <a:fld id="{616977E6-38EB-41CC-A7E1-A449CC9EA7E2}" type="slidenum">
              <a:rPr lang="fr-FR" smtClean="0"/>
              <a:t>‹N°›</a:t>
            </a:fld>
            <a:endParaRPr lang="fr-FR"/>
          </a:p>
        </p:txBody>
      </p:sp>
    </p:spTree>
    <p:extLst>
      <p:ext uri="{BB962C8B-B14F-4D97-AF65-F5344CB8AC3E}">
        <p14:creationId xmlns:p14="http://schemas.microsoft.com/office/powerpoint/2010/main" val="407573936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Espace réservé de la date 1"/>
          <p:cNvSpPr>
            <a:spLocks noGrp="1"/>
          </p:cNvSpPr>
          <p:nvPr>
            <p:ph type="dt" sz="half" idx="10"/>
          </p:nvPr>
        </p:nvSpPr>
        <p:spPr/>
        <p:txBody>
          <a:bodyPr/>
          <a:lstStyle/>
          <a:p>
            <a:fld id="{C6EBE14D-B461-4822-94E8-6203B1E77523}" type="datetimeFigureOut">
              <a:rPr lang="fr-FR" smtClean="0"/>
              <a:t>22/09/2026</a:t>
            </a:fld>
            <a:endParaRPr lang="fr-FR"/>
          </a:p>
        </p:txBody>
      </p:sp>
      <p:sp>
        <p:nvSpPr>
          <p:cNvPr id="3" name="Espace réservé du pied de page 2"/>
          <p:cNvSpPr>
            <a:spLocks noGrp="1"/>
          </p:cNvSpPr>
          <p:nvPr>
            <p:ph type="ftr" sz="quarter" idx="11"/>
          </p:nvPr>
        </p:nvSpPr>
        <p:spPr/>
        <p:txBody>
          <a:bodyPr/>
          <a:lstStyle/>
          <a:p>
            <a:endParaRPr lang="fr-FR"/>
          </a:p>
        </p:txBody>
      </p:sp>
      <p:sp>
        <p:nvSpPr>
          <p:cNvPr id="4" name="Espace réservé du numéro de diapositive 3"/>
          <p:cNvSpPr>
            <a:spLocks noGrp="1"/>
          </p:cNvSpPr>
          <p:nvPr>
            <p:ph type="sldNum" sz="quarter" idx="12"/>
          </p:nvPr>
        </p:nvSpPr>
        <p:spPr/>
        <p:txBody>
          <a:bodyPr/>
          <a:lstStyle/>
          <a:p>
            <a:fld id="{616977E6-38EB-41CC-A7E1-A449CC9EA7E2}" type="slidenum">
              <a:rPr lang="fr-FR" smtClean="0"/>
              <a:t>‹N°›</a:t>
            </a:fld>
            <a:endParaRPr lang="fr-FR"/>
          </a:p>
        </p:txBody>
      </p:sp>
    </p:spTree>
    <p:extLst>
      <p:ext uri="{BB962C8B-B14F-4D97-AF65-F5344CB8AC3E}">
        <p14:creationId xmlns:p14="http://schemas.microsoft.com/office/powerpoint/2010/main" val="274672203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839788" y="457200"/>
            <a:ext cx="3932237" cy="1600200"/>
          </a:xfrm>
        </p:spPr>
        <p:txBody>
          <a:bodyPr anchor="b"/>
          <a:lstStyle>
            <a:lvl1pPr>
              <a:defRPr sz="3200"/>
            </a:lvl1pPr>
          </a:lstStyle>
          <a:p>
            <a:r>
              <a:rPr lang="fr-FR"/>
              <a:t>Modifiez le style du titre</a:t>
            </a:r>
          </a:p>
        </p:txBody>
      </p:sp>
      <p:sp>
        <p:nvSpPr>
          <p:cNvPr id="3" name="Espace réservé du contenu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texte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Modifier les styles du texte du masque</a:t>
            </a:r>
          </a:p>
        </p:txBody>
      </p:sp>
      <p:sp>
        <p:nvSpPr>
          <p:cNvPr id="5" name="Espace réservé de la date 4"/>
          <p:cNvSpPr>
            <a:spLocks noGrp="1"/>
          </p:cNvSpPr>
          <p:nvPr>
            <p:ph type="dt" sz="half" idx="10"/>
          </p:nvPr>
        </p:nvSpPr>
        <p:spPr/>
        <p:txBody>
          <a:bodyPr/>
          <a:lstStyle/>
          <a:p>
            <a:fld id="{C6EBE14D-B461-4822-94E8-6203B1E77523}" type="datetimeFigureOut">
              <a:rPr lang="fr-FR" smtClean="0"/>
              <a:t>22/09/2026</a:t>
            </a:fld>
            <a:endParaRPr lang="fr-FR"/>
          </a:p>
        </p:txBody>
      </p:sp>
      <p:sp>
        <p:nvSpPr>
          <p:cNvPr id="6" name="Espace réservé du pied de page 5"/>
          <p:cNvSpPr>
            <a:spLocks noGrp="1"/>
          </p:cNvSpPr>
          <p:nvPr>
            <p:ph type="ftr" sz="quarter" idx="11"/>
          </p:nvPr>
        </p:nvSpPr>
        <p:spPr/>
        <p:txBody>
          <a:bodyPr/>
          <a:lstStyle/>
          <a:p>
            <a:endParaRPr lang="fr-FR"/>
          </a:p>
        </p:txBody>
      </p:sp>
      <p:sp>
        <p:nvSpPr>
          <p:cNvPr id="7" name="Espace réservé du numéro de diapositive 6"/>
          <p:cNvSpPr>
            <a:spLocks noGrp="1"/>
          </p:cNvSpPr>
          <p:nvPr>
            <p:ph type="sldNum" sz="quarter" idx="12"/>
          </p:nvPr>
        </p:nvSpPr>
        <p:spPr/>
        <p:txBody>
          <a:bodyPr/>
          <a:lstStyle/>
          <a:p>
            <a:fld id="{616977E6-38EB-41CC-A7E1-A449CC9EA7E2}" type="slidenum">
              <a:rPr lang="fr-FR" smtClean="0"/>
              <a:t>‹N°›</a:t>
            </a:fld>
            <a:endParaRPr lang="fr-FR"/>
          </a:p>
        </p:txBody>
      </p:sp>
    </p:spTree>
    <p:extLst>
      <p:ext uri="{BB962C8B-B14F-4D97-AF65-F5344CB8AC3E}">
        <p14:creationId xmlns:p14="http://schemas.microsoft.com/office/powerpoint/2010/main" val="137672890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839788" y="457200"/>
            <a:ext cx="3932237" cy="1600200"/>
          </a:xfrm>
        </p:spPr>
        <p:txBody>
          <a:bodyPr anchor="b"/>
          <a:lstStyle>
            <a:lvl1pPr>
              <a:defRPr sz="3200"/>
            </a:lvl1pPr>
          </a:lstStyle>
          <a:p>
            <a:r>
              <a:rPr lang="fr-FR"/>
              <a:t>Modifiez le style du titre</a:t>
            </a:r>
          </a:p>
        </p:txBody>
      </p:sp>
      <p:sp>
        <p:nvSpPr>
          <p:cNvPr id="3" name="Espace réservé pour une image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fr-FR"/>
          </a:p>
        </p:txBody>
      </p:sp>
      <p:sp>
        <p:nvSpPr>
          <p:cNvPr id="4" name="Espace réservé du texte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Modifier les styles du texte du masque</a:t>
            </a:r>
          </a:p>
        </p:txBody>
      </p:sp>
      <p:sp>
        <p:nvSpPr>
          <p:cNvPr id="5" name="Espace réservé de la date 4"/>
          <p:cNvSpPr>
            <a:spLocks noGrp="1"/>
          </p:cNvSpPr>
          <p:nvPr>
            <p:ph type="dt" sz="half" idx="10"/>
          </p:nvPr>
        </p:nvSpPr>
        <p:spPr/>
        <p:txBody>
          <a:bodyPr/>
          <a:lstStyle/>
          <a:p>
            <a:fld id="{C6EBE14D-B461-4822-94E8-6203B1E77523}" type="datetimeFigureOut">
              <a:rPr lang="fr-FR" smtClean="0"/>
              <a:t>22/09/2026</a:t>
            </a:fld>
            <a:endParaRPr lang="fr-FR"/>
          </a:p>
        </p:txBody>
      </p:sp>
      <p:sp>
        <p:nvSpPr>
          <p:cNvPr id="6" name="Espace réservé du pied de page 5"/>
          <p:cNvSpPr>
            <a:spLocks noGrp="1"/>
          </p:cNvSpPr>
          <p:nvPr>
            <p:ph type="ftr" sz="quarter" idx="11"/>
          </p:nvPr>
        </p:nvSpPr>
        <p:spPr/>
        <p:txBody>
          <a:bodyPr/>
          <a:lstStyle/>
          <a:p>
            <a:endParaRPr lang="fr-FR"/>
          </a:p>
        </p:txBody>
      </p:sp>
      <p:sp>
        <p:nvSpPr>
          <p:cNvPr id="7" name="Espace réservé du numéro de diapositive 6"/>
          <p:cNvSpPr>
            <a:spLocks noGrp="1"/>
          </p:cNvSpPr>
          <p:nvPr>
            <p:ph type="sldNum" sz="quarter" idx="12"/>
          </p:nvPr>
        </p:nvSpPr>
        <p:spPr/>
        <p:txBody>
          <a:bodyPr/>
          <a:lstStyle/>
          <a:p>
            <a:fld id="{616977E6-38EB-41CC-A7E1-A449CC9EA7E2}" type="slidenum">
              <a:rPr lang="fr-FR" smtClean="0"/>
              <a:t>‹N°›</a:t>
            </a:fld>
            <a:endParaRPr lang="fr-FR"/>
          </a:p>
        </p:txBody>
      </p:sp>
    </p:spTree>
    <p:extLst>
      <p:ext uri="{BB962C8B-B14F-4D97-AF65-F5344CB8AC3E}">
        <p14:creationId xmlns:p14="http://schemas.microsoft.com/office/powerpoint/2010/main" val="9181887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Modifiez le style du titre</a:t>
            </a:r>
          </a:p>
        </p:txBody>
      </p:sp>
      <p:sp>
        <p:nvSpPr>
          <p:cNvPr id="3" name="Espace réservé du texte vertical 2"/>
          <p:cNvSpPr>
            <a:spLocks noGrp="1"/>
          </p:cNvSpPr>
          <p:nvPr>
            <p:ph type="body" orient="vert" idx="1"/>
          </p:nvPr>
        </p:nvSpPr>
        <p:spPr/>
        <p:txBody>
          <a:bodyPr vert="eaVert"/>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p:cNvSpPr>
            <a:spLocks noGrp="1"/>
          </p:cNvSpPr>
          <p:nvPr>
            <p:ph type="dt" sz="half" idx="10"/>
          </p:nvPr>
        </p:nvSpPr>
        <p:spPr/>
        <p:txBody>
          <a:bodyPr/>
          <a:lstStyle/>
          <a:p>
            <a:fld id="{C6EBE14D-B461-4822-94E8-6203B1E77523}" type="datetimeFigureOut">
              <a:rPr lang="fr-FR" smtClean="0"/>
              <a:t>22/09/2026</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616977E6-38EB-41CC-A7E1-A449CC9EA7E2}" type="slidenum">
              <a:rPr lang="fr-FR" smtClean="0"/>
              <a:t>‹N°›</a:t>
            </a:fld>
            <a:endParaRPr lang="fr-FR"/>
          </a:p>
        </p:txBody>
      </p:sp>
    </p:spTree>
    <p:extLst>
      <p:ext uri="{BB962C8B-B14F-4D97-AF65-F5344CB8AC3E}">
        <p14:creationId xmlns:p14="http://schemas.microsoft.com/office/powerpoint/2010/main" val="389757306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Titre vertical 1"/>
          <p:cNvSpPr>
            <a:spLocks noGrp="1"/>
          </p:cNvSpPr>
          <p:nvPr>
            <p:ph type="title" orient="vert"/>
          </p:nvPr>
        </p:nvSpPr>
        <p:spPr>
          <a:xfrm>
            <a:off x="8724900" y="365125"/>
            <a:ext cx="2628900" cy="5811838"/>
          </a:xfrm>
        </p:spPr>
        <p:txBody>
          <a:bodyPr vert="eaVert"/>
          <a:lstStyle/>
          <a:p>
            <a:r>
              <a:rPr lang="fr-FR"/>
              <a:t>Modifiez le style du titre</a:t>
            </a:r>
          </a:p>
        </p:txBody>
      </p:sp>
      <p:sp>
        <p:nvSpPr>
          <p:cNvPr id="3" name="Espace réservé du texte vertical 2"/>
          <p:cNvSpPr>
            <a:spLocks noGrp="1"/>
          </p:cNvSpPr>
          <p:nvPr>
            <p:ph type="body" orient="vert" idx="1"/>
          </p:nvPr>
        </p:nvSpPr>
        <p:spPr>
          <a:xfrm>
            <a:off x="838200" y="365125"/>
            <a:ext cx="7734300" cy="5811838"/>
          </a:xfrm>
        </p:spPr>
        <p:txBody>
          <a:bodyPr vert="eaVert"/>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p:cNvSpPr>
            <a:spLocks noGrp="1"/>
          </p:cNvSpPr>
          <p:nvPr>
            <p:ph type="dt" sz="half" idx="10"/>
          </p:nvPr>
        </p:nvSpPr>
        <p:spPr/>
        <p:txBody>
          <a:bodyPr/>
          <a:lstStyle/>
          <a:p>
            <a:fld id="{C6EBE14D-B461-4822-94E8-6203B1E77523}" type="datetimeFigureOut">
              <a:rPr lang="fr-FR" smtClean="0"/>
              <a:t>22/09/2026</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616977E6-38EB-41CC-A7E1-A449CC9EA7E2}" type="slidenum">
              <a:rPr lang="fr-FR" smtClean="0"/>
              <a:t>‹N°›</a:t>
            </a:fld>
            <a:endParaRPr lang="fr-FR"/>
          </a:p>
        </p:txBody>
      </p:sp>
    </p:spTree>
    <p:extLst>
      <p:ext uri="{BB962C8B-B14F-4D97-AF65-F5344CB8AC3E}">
        <p14:creationId xmlns:p14="http://schemas.microsoft.com/office/powerpoint/2010/main" val="156412925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Title Only">
    <p:spTree>
      <p:nvGrpSpPr>
        <p:cNvPr id="1" name=""/>
        <p:cNvGrpSpPr/>
        <p:nvPr/>
      </p:nvGrpSpPr>
      <p:grpSpPr>
        <a:xfrm>
          <a:off x="0" y="0"/>
          <a:ext cx="0" cy="0"/>
          <a:chOff x="0" y="0"/>
          <a:chExt cx="0" cy="0"/>
        </a:xfrm>
      </p:grpSpPr>
      <p:graphicFrame>
        <p:nvGraphicFramePr>
          <p:cNvPr id="4" name="Object 3" hidden="1">
            <a:extLst>
              <a:ext uri="{FF2B5EF4-FFF2-40B4-BE49-F238E27FC236}">
                <a16:creationId xmlns:a16="http://schemas.microsoft.com/office/drawing/2014/main" id="{35049338-7875-4927-82E0-03C95D83209A}"/>
              </a:ext>
            </a:extLst>
          </p:cNvPr>
          <p:cNvGraphicFramePr>
            <a:graphicFrameLocks noChangeAspect="1"/>
          </p:cNvGraphicFramePr>
          <p:nvPr userDrawn="1">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25" imgH="426" progId="TCLayout.ActiveDocument.1">
                  <p:embed/>
                </p:oleObj>
              </mc:Choice>
              <mc:Fallback>
                <p:oleObj name="think-cell Slide" r:id="rId3" imgW="425" imgH="426" progId="TCLayout.ActiveDocument.1">
                  <p:embed/>
                  <p:pic>
                    <p:nvPicPr>
                      <p:cNvPr id="4" name="Object 3" hidden="1">
                        <a:extLst>
                          <a:ext uri="{FF2B5EF4-FFF2-40B4-BE49-F238E27FC236}">
                            <a16:creationId xmlns:a16="http://schemas.microsoft.com/office/drawing/2014/main" id="{35049338-7875-4927-82E0-03C95D83209A}"/>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3" name="Title Placeholder 1">
            <a:extLst>
              <a:ext uri="{FF2B5EF4-FFF2-40B4-BE49-F238E27FC236}">
                <a16:creationId xmlns:a16="http://schemas.microsoft.com/office/drawing/2014/main" id="{5AA52354-AD0C-4278-A20C-E161AEB4D16F}"/>
              </a:ext>
            </a:extLst>
          </p:cNvPr>
          <p:cNvSpPr>
            <a:spLocks noGrp="1"/>
          </p:cNvSpPr>
          <p:nvPr>
            <p:ph type="title" hasCustomPrompt="1"/>
          </p:nvPr>
        </p:nvSpPr>
        <p:spPr bwMode="gray">
          <a:xfrm>
            <a:off x="467201" y="304800"/>
            <a:ext cx="11201400" cy="342900"/>
          </a:xfrm>
          <a:prstGeom prst="rect">
            <a:avLst/>
          </a:prstGeom>
        </p:spPr>
        <p:txBody>
          <a:bodyPr vert="horz" lIns="0" tIns="0" rIns="0" bIns="0" rtlCol="0" anchor="t" anchorCtr="0">
            <a:noAutofit/>
          </a:bodyPr>
          <a:lstStyle>
            <a:lvl1pPr>
              <a:defRPr/>
            </a:lvl1pPr>
          </a:lstStyle>
          <a:p>
            <a:r>
              <a:rPr lang="en-US" noProof="0"/>
              <a:t>Click to add title</a:t>
            </a:r>
          </a:p>
        </p:txBody>
      </p:sp>
    </p:spTree>
    <p:extLst>
      <p:ext uri="{BB962C8B-B14F-4D97-AF65-F5344CB8AC3E}">
        <p14:creationId xmlns:p14="http://schemas.microsoft.com/office/powerpoint/2010/main" val="1213497947"/>
      </p:ext>
    </p:extLst>
  </p:cSld>
  <p:clrMapOvr>
    <a:masterClrMapping/>
  </p:clrMapOvr>
  <p:transition>
    <p:fade/>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itle only 1">
  <p:cSld name="Title only 1">
    <p:spTree>
      <p:nvGrpSpPr>
        <p:cNvPr id="1" name="Shape 5623"/>
        <p:cNvGrpSpPr/>
        <p:nvPr/>
      </p:nvGrpSpPr>
      <p:grpSpPr>
        <a:xfrm>
          <a:off x="0" y="0"/>
          <a:ext cx="0" cy="0"/>
          <a:chOff x="0" y="0"/>
          <a:chExt cx="0" cy="0"/>
        </a:xfrm>
      </p:grpSpPr>
      <p:pic>
        <p:nvPicPr>
          <p:cNvPr id="5624" name="Google Shape;5624;p29"/>
          <p:cNvPicPr preferRelativeResize="0"/>
          <p:nvPr/>
        </p:nvPicPr>
        <p:blipFill>
          <a:blip r:embed="rId2">
            <a:alphaModFix amt="20000"/>
          </a:blip>
          <a:stretch>
            <a:fillRect/>
          </a:stretch>
        </p:blipFill>
        <p:spPr>
          <a:xfrm flipH="1">
            <a:off x="-4949" y="1"/>
            <a:ext cx="12192004" cy="6858001"/>
          </a:xfrm>
          <a:prstGeom prst="rect">
            <a:avLst/>
          </a:prstGeom>
          <a:noFill/>
          <a:ln>
            <a:noFill/>
          </a:ln>
        </p:spPr>
      </p:pic>
      <p:sp>
        <p:nvSpPr>
          <p:cNvPr id="5625" name="Google Shape;5625;p29"/>
          <p:cNvSpPr txBox="1">
            <a:spLocks noGrp="1"/>
          </p:cNvSpPr>
          <p:nvPr>
            <p:ph type="title"/>
          </p:nvPr>
        </p:nvSpPr>
        <p:spPr>
          <a:xfrm>
            <a:off x="960000" y="593367"/>
            <a:ext cx="10272000" cy="763600"/>
          </a:xfrm>
          <a:prstGeom prst="rect">
            <a:avLst/>
          </a:prstGeom>
        </p:spPr>
        <p:txBody>
          <a:bodyPr spcFirstLastPara="1" wrap="square" lIns="91425" tIns="91425" rIns="91425" bIns="91425" anchor="t" anchorCtr="0">
            <a:noAutofit/>
          </a:bodyPr>
          <a:lstStyle>
            <a:lvl1pPr lvl="0"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Tree>
    <p:extLst>
      <p:ext uri="{BB962C8B-B14F-4D97-AF65-F5344CB8AC3E}">
        <p14:creationId xmlns:p14="http://schemas.microsoft.com/office/powerpoint/2010/main" val="26682618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itle only 12">
  <p:cSld name="Title only 12">
    <p:spTree>
      <p:nvGrpSpPr>
        <p:cNvPr id="1" name="Shape 6976"/>
        <p:cNvGrpSpPr/>
        <p:nvPr/>
      </p:nvGrpSpPr>
      <p:grpSpPr>
        <a:xfrm>
          <a:off x="0" y="0"/>
          <a:ext cx="0" cy="0"/>
          <a:chOff x="0" y="0"/>
          <a:chExt cx="0" cy="0"/>
        </a:xfrm>
      </p:grpSpPr>
      <p:sp>
        <p:nvSpPr>
          <p:cNvPr id="6978" name="Google Shape;6978;p57"/>
          <p:cNvSpPr txBox="1">
            <a:spLocks noGrp="1"/>
          </p:cNvSpPr>
          <p:nvPr>
            <p:ph type="title"/>
          </p:nvPr>
        </p:nvSpPr>
        <p:spPr>
          <a:xfrm>
            <a:off x="960000" y="720000"/>
            <a:ext cx="10272000" cy="7636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Tree>
    <p:extLst>
      <p:ext uri="{BB962C8B-B14F-4D97-AF65-F5344CB8AC3E}">
        <p14:creationId xmlns:p14="http://schemas.microsoft.com/office/powerpoint/2010/main" val="181700104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Title, subtitle, 1 column ">
    <p:spTree>
      <p:nvGrpSpPr>
        <p:cNvPr id="1" name=""/>
        <p:cNvGrpSpPr/>
        <p:nvPr/>
      </p:nvGrpSpPr>
      <p:grpSpPr>
        <a:xfrm>
          <a:off x="0" y="0"/>
          <a:ext cx="0" cy="0"/>
          <a:chOff x="0" y="0"/>
          <a:chExt cx="0" cy="0"/>
        </a:xfrm>
      </p:grpSpPr>
      <p:graphicFrame>
        <p:nvGraphicFramePr>
          <p:cNvPr id="4" name="Object 3" hidden="1">
            <a:extLst>
              <a:ext uri="{FF2B5EF4-FFF2-40B4-BE49-F238E27FC236}">
                <a16:creationId xmlns:a16="http://schemas.microsoft.com/office/drawing/2014/main" id="{966A5C41-60AA-4C25-8080-4F0DFF19B9CD}"/>
              </a:ext>
            </a:extLst>
          </p:cNvPr>
          <p:cNvGraphicFramePr>
            <a:graphicFrameLocks noChangeAspect="1"/>
          </p:cNvGraphicFramePr>
          <p:nvPr userDrawn="1">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25" imgH="426" progId="TCLayout.ActiveDocument.1">
                  <p:embed/>
                </p:oleObj>
              </mc:Choice>
              <mc:Fallback>
                <p:oleObj name="think-cell Slide" r:id="rId3" imgW="425" imgH="426" progId="TCLayout.ActiveDocument.1">
                  <p:embed/>
                  <p:pic>
                    <p:nvPicPr>
                      <p:cNvPr id="4" name="Object 3" hidden="1">
                        <a:extLst>
                          <a:ext uri="{FF2B5EF4-FFF2-40B4-BE49-F238E27FC236}">
                            <a16:creationId xmlns:a16="http://schemas.microsoft.com/office/drawing/2014/main" id="{966A5C41-60AA-4C25-8080-4F0DFF19B9CD}"/>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ext Placeholder 8">
            <a:extLst>
              <a:ext uri="{FF2B5EF4-FFF2-40B4-BE49-F238E27FC236}">
                <a16:creationId xmlns:a16="http://schemas.microsoft.com/office/drawing/2014/main" id="{D5544814-ED77-5424-AA44-FCF607EC724C}"/>
              </a:ext>
            </a:extLst>
          </p:cNvPr>
          <p:cNvSpPr>
            <a:spLocks noGrp="1"/>
          </p:cNvSpPr>
          <p:nvPr>
            <p:ph type="body" sz="quarter" idx="13" hasCustomPrompt="1"/>
          </p:nvPr>
        </p:nvSpPr>
        <p:spPr>
          <a:xfrm>
            <a:off x="466344" y="649224"/>
            <a:ext cx="11277599" cy="1010919"/>
          </a:xfrm>
          <a:prstGeom prst="rect">
            <a:avLst/>
          </a:prstGeom>
        </p:spPr>
        <p:txBody>
          <a:bodyPr lIns="0" tIns="0" rIns="0" bIns="0">
            <a:noAutofit/>
          </a:bodyPr>
          <a:lstStyle>
            <a:lvl1pPr marL="0" indent="0">
              <a:buNone/>
              <a:defRPr sz="1800" b="0">
                <a:solidFill>
                  <a:schemeClr val="tx2"/>
                </a:solidFill>
              </a:defRPr>
            </a:lvl1pPr>
          </a:lstStyle>
          <a:p>
            <a:pPr lvl="0"/>
            <a:r>
              <a:rPr lang="en-US"/>
              <a:t>Click to add subtitle</a:t>
            </a:r>
          </a:p>
        </p:txBody>
      </p:sp>
      <p:sp>
        <p:nvSpPr>
          <p:cNvPr id="6" name="Text Placeholder 18">
            <a:extLst>
              <a:ext uri="{FF2B5EF4-FFF2-40B4-BE49-F238E27FC236}">
                <a16:creationId xmlns:a16="http://schemas.microsoft.com/office/drawing/2014/main" id="{92C75D35-8730-843D-1A9B-7A3EF8BDC3E6}"/>
              </a:ext>
            </a:extLst>
          </p:cNvPr>
          <p:cNvSpPr>
            <a:spLocks noGrp="1"/>
          </p:cNvSpPr>
          <p:nvPr>
            <p:ph idx="1"/>
          </p:nvPr>
        </p:nvSpPr>
        <p:spPr>
          <a:xfrm>
            <a:off x="471983" y="1684020"/>
            <a:ext cx="11277600" cy="4269740"/>
          </a:xfrm>
          <a:prstGeom prst="rect">
            <a:avLst/>
          </a:prstGeom>
        </p:spPr>
        <p:txBody>
          <a:bodyPr vert="horz" lIns="0" tIns="0" rIns="0" bIns="0" rtlCol="0">
            <a:noAutofit/>
          </a:bodyPr>
          <a:lstStyle>
            <a:lvl1pPr>
              <a:defRPr sz="1200"/>
            </a:lvl1pPr>
            <a:lvl2pPr>
              <a:defRPr sz="1200"/>
            </a:lvl2pPr>
            <a:lvl3pPr>
              <a:defRPr sz="1200"/>
            </a:lvl3pPr>
            <a:lvl4pPr>
              <a:defRPr sz="1200"/>
            </a:lvl4pPr>
            <a:lvl5pPr>
              <a:defRPr sz="1200"/>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9" name="Content Placeholder 3">
            <a:extLst>
              <a:ext uri="{FF2B5EF4-FFF2-40B4-BE49-F238E27FC236}">
                <a16:creationId xmlns:a16="http://schemas.microsoft.com/office/drawing/2014/main" id="{C2764C76-8970-695F-1D5D-E85887CA625C}"/>
              </a:ext>
            </a:extLst>
          </p:cNvPr>
          <p:cNvSpPr>
            <a:spLocks noGrp="1"/>
          </p:cNvSpPr>
          <p:nvPr>
            <p:ph sz="quarter" idx="14" hasCustomPrompt="1"/>
          </p:nvPr>
        </p:nvSpPr>
        <p:spPr>
          <a:xfrm>
            <a:off x="471983" y="6070213"/>
            <a:ext cx="11274552" cy="265176"/>
          </a:xfrm>
        </p:spPr>
        <p:txBody>
          <a:bodyPr wrap="none">
            <a:noAutofit/>
          </a:bodyPr>
          <a:lstStyle>
            <a:lvl1pPr>
              <a:spcAft>
                <a:spcPts val="0"/>
              </a:spcAft>
              <a:defRPr sz="800"/>
            </a:lvl1pPr>
          </a:lstStyle>
          <a:p>
            <a:pPr lvl="0"/>
            <a:r>
              <a:rPr lang="en-US"/>
              <a:t>Click to add notes and sources</a:t>
            </a:r>
          </a:p>
        </p:txBody>
      </p:sp>
      <p:sp>
        <p:nvSpPr>
          <p:cNvPr id="13" name="Title Placeholder 1">
            <a:extLst>
              <a:ext uri="{FF2B5EF4-FFF2-40B4-BE49-F238E27FC236}">
                <a16:creationId xmlns:a16="http://schemas.microsoft.com/office/drawing/2014/main" id="{B6D0D5CA-F83B-4C19-758D-C3C6659EBE6E}"/>
              </a:ext>
            </a:extLst>
          </p:cNvPr>
          <p:cNvSpPr>
            <a:spLocks noGrp="1"/>
          </p:cNvSpPr>
          <p:nvPr>
            <p:ph type="title" hasCustomPrompt="1"/>
          </p:nvPr>
        </p:nvSpPr>
        <p:spPr bwMode="gray">
          <a:xfrm>
            <a:off x="467201" y="304800"/>
            <a:ext cx="11201400" cy="342900"/>
          </a:xfrm>
          <a:prstGeom prst="rect">
            <a:avLst/>
          </a:prstGeom>
        </p:spPr>
        <p:txBody>
          <a:bodyPr vert="horz" lIns="0" tIns="0" rIns="0" bIns="0" rtlCol="0" anchor="t" anchorCtr="0">
            <a:noAutofit/>
          </a:bodyPr>
          <a:lstStyle>
            <a:lvl1pPr>
              <a:defRPr/>
            </a:lvl1pPr>
          </a:lstStyle>
          <a:p>
            <a:r>
              <a:rPr lang="en-US" noProof="0"/>
              <a:t>Click to add title</a:t>
            </a:r>
          </a:p>
        </p:txBody>
      </p:sp>
    </p:spTree>
    <p:extLst>
      <p:ext uri="{BB962C8B-B14F-4D97-AF65-F5344CB8AC3E}">
        <p14:creationId xmlns:p14="http://schemas.microsoft.com/office/powerpoint/2010/main" val="3041227808"/>
      </p:ext>
    </p:extLst>
  </p:cSld>
  <p:clrMapOvr>
    <a:masterClrMapping/>
  </p:clrMapOvr>
  <p:transition>
    <p:fade/>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re 1"/>
          <p:cNvSpPr>
            <a:spLocks noGrp="1"/>
          </p:cNvSpPr>
          <p:nvPr>
            <p:ph type="ctrTitle"/>
          </p:nvPr>
        </p:nvSpPr>
        <p:spPr>
          <a:xfrm>
            <a:off x="1524000" y="1122363"/>
            <a:ext cx="9144000" cy="2387600"/>
          </a:xfrm>
        </p:spPr>
        <p:txBody>
          <a:bodyPr anchor="b"/>
          <a:lstStyle>
            <a:lvl1pPr algn="ctr">
              <a:defRPr sz="6000"/>
            </a:lvl1pPr>
          </a:lstStyle>
          <a:p>
            <a:r>
              <a:rPr lang="fr-FR"/>
              <a:t>Modifiez le style du titre</a:t>
            </a:r>
          </a:p>
        </p:txBody>
      </p:sp>
      <p:sp>
        <p:nvSpPr>
          <p:cNvPr id="3" name="Sous-titr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a:t>Modifier le style des sous-titres du masque</a:t>
            </a:r>
          </a:p>
        </p:txBody>
      </p:sp>
      <p:sp>
        <p:nvSpPr>
          <p:cNvPr id="4" name="Espace réservé de la date 3"/>
          <p:cNvSpPr>
            <a:spLocks noGrp="1"/>
          </p:cNvSpPr>
          <p:nvPr>
            <p:ph type="dt" sz="half" idx="10"/>
          </p:nvPr>
        </p:nvSpPr>
        <p:spPr/>
        <p:txBody>
          <a:bodyPr/>
          <a:lstStyle/>
          <a:p>
            <a:fld id="{C6EBE14D-B461-4822-94E8-6203B1E77523}" type="datetimeFigureOut">
              <a:rPr lang="fr-FR" smtClean="0"/>
              <a:t>22/09/2026</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616977E6-38EB-41CC-A7E1-A449CC9EA7E2}" type="slidenum">
              <a:rPr lang="fr-FR" smtClean="0"/>
              <a:t>‹N°›</a:t>
            </a:fld>
            <a:endParaRPr lang="fr-FR"/>
          </a:p>
        </p:txBody>
      </p:sp>
    </p:spTree>
    <p:extLst>
      <p:ext uri="{BB962C8B-B14F-4D97-AF65-F5344CB8AC3E}">
        <p14:creationId xmlns:p14="http://schemas.microsoft.com/office/powerpoint/2010/main" val="315298072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Modifiez le style du titre</a:t>
            </a:r>
          </a:p>
        </p:txBody>
      </p:sp>
      <p:sp>
        <p:nvSpPr>
          <p:cNvPr id="3" name="Espace réservé du contenu 2"/>
          <p:cNvSpPr>
            <a:spLocks noGrp="1"/>
          </p:cNvSpPr>
          <p:nvPr>
            <p:ph idx="1"/>
          </p:nvPr>
        </p:nvSpPr>
        <p:spPr/>
        <p:txBody>
          <a:bodyPr/>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p:cNvSpPr>
            <a:spLocks noGrp="1"/>
          </p:cNvSpPr>
          <p:nvPr>
            <p:ph type="dt" sz="half" idx="10"/>
          </p:nvPr>
        </p:nvSpPr>
        <p:spPr/>
        <p:txBody>
          <a:bodyPr/>
          <a:lstStyle/>
          <a:p>
            <a:fld id="{C6EBE14D-B461-4822-94E8-6203B1E77523}" type="datetimeFigureOut">
              <a:rPr lang="fr-FR" smtClean="0"/>
              <a:t>22/09/2026</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616977E6-38EB-41CC-A7E1-A449CC9EA7E2}" type="slidenum">
              <a:rPr lang="fr-FR" smtClean="0"/>
              <a:t>‹N°›</a:t>
            </a:fld>
            <a:endParaRPr lang="fr-FR"/>
          </a:p>
        </p:txBody>
      </p:sp>
    </p:spTree>
    <p:extLst>
      <p:ext uri="{BB962C8B-B14F-4D97-AF65-F5344CB8AC3E}">
        <p14:creationId xmlns:p14="http://schemas.microsoft.com/office/powerpoint/2010/main" val="3899506833"/>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re 1"/>
          <p:cNvSpPr>
            <a:spLocks noGrp="1"/>
          </p:cNvSpPr>
          <p:nvPr>
            <p:ph type="title"/>
          </p:nvPr>
        </p:nvSpPr>
        <p:spPr>
          <a:xfrm>
            <a:off x="831850" y="1709738"/>
            <a:ext cx="10515600" cy="2852737"/>
          </a:xfrm>
        </p:spPr>
        <p:txBody>
          <a:bodyPr anchor="b"/>
          <a:lstStyle>
            <a:lvl1pPr>
              <a:defRPr sz="6000"/>
            </a:lvl1pPr>
          </a:lstStyle>
          <a:p>
            <a:r>
              <a:rPr lang="fr-FR"/>
              <a:t>Modifiez le style du titre</a:t>
            </a:r>
          </a:p>
        </p:txBody>
      </p:sp>
      <p:sp>
        <p:nvSpPr>
          <p:cNvPr id="3" name="Espace réservé du texte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fr-FR"/>
              <a:t>Modifier les styles du texte du masque</a:t>
            </a:r>
          </a:p>
        </p:txBody>
      </p:sp>
      <p:sp>
        <p:nvSpPr>
          <p:cNvPr id="4" name="Espace réservé de la date 3"/>
          <p:cNvSpPr>
            <a:spLocks noGrp="1"/>
          </p:cNvSpPr>
          <p:nvPr>
            <p:ph type="dt" sz="half" idx="10"/>
          </p:nvPr>
        </p:nvSpPr>
        <p:spPr/>
        <p:txBody>
          <a:bodyPr/>
          <a:lstStyle/>
          <a:p>
            <a:fld id="{C6EBE14D-B461-4822-94E8-6203B1E77523}" type="datetimeFigureOut">
              <a:rPr lang="fr-FR" smtClean="0"/>
              <a:t>22/09/2026</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616977E6-38EB-41CC-A7E1-A449CC9EA7E2}" type="slidenum">
              <a:rPr lang="fr-FR" smtClean="0"/>
              <a:t>‹N°›</a:t>
            </a:fld>
            <a:endParaRPr lang="fr-FR"/>
          </a:p>
        </p:txBody>
      </p:sp>
    </p:spTree>
    <p:extLst>
      <p:ext uri="{BB962C8B-B14F-4D97-AF65-F5344CB8AC3E}">
        <p14:creationId xmlns:p14="http://schemas.microsoft.com/office/powerpoint/2010/main" val="282042466"/>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Modifiez le style du titre</a:t>
            </a:r>
          </a:p>
        </p:txBody>
      </p:sp>
      <p:sp>
        <p:nvSpPr>
          <p:cNvPr id="3" name="Espace réservé du contenu 2"/>
          <p:cNvSpPr>
            <a:spLocks noGrp="1"/>
          </p:cNvSpPr>
          <p:nvPr>
            <p:ph sz="half" idx="1"/>
          </p:nvPr>
        </p:nvSpPr>
        <p:spPr>
          <a:xfrm>
            <a:off x="838200" y="1825625"/>
            <a:ext cx="5181600" cy="4351338"/>
          </a:xfrm>
        </p:spPr>
        <p:txBody>
          <a:bodyPr/>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contenu 3"/>
          <p:cNvSpPr>
            <a:spLocks noGrp="1"/>
          </p:cNvSpPr>
          <p:nvPr>
            <p:ph sz="half" idx="2"/>
          </p:nvPr>
        </p:nvSpPr>
        <p:spPr>
          <a:xfrm>
            <a:off x="6172200" y="1825625"/>
            <a:ext cx="5181600" cy="4351338"/>
          </a:xfrm>
        </p:spPr>
        <p:txBody>
          <a:bodyPr/>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e la date 4"/>
          <p:cNvSpPr>
            <a:spLocks noGrp="1"/>
          </p:cNvSpPr>
          <p:nvPr>
            <p:ph type="dt" sz="half" idx="10"/>
          </p:nvPr>
        </p:nvSpPr>
        <p:spPr/>
        <p:txBody>
          <a:bodyPr/>
          <a:lstStyle/>
          <a:p>
            <a:fld id="{C6EBE14D-B461-4822-94E8-6203B1E77523}" type="datetimeFigureOut">
              <a:rPr lang="fr-FR" smtClean="0"/>
              <a:t>22/09/2026</a:t>
            </a:fld>
            <a:endParaRPr lang="fr-FR"/>
          </a:p>
        </p:txBody>
      </p:sp>
      <p:sp>
        <p:nvSpPr>
          <p:cNvPr id="6" name="Espace réservé du pied de page 5"/>
          <p:cNvSpPr>
            <a:spLocks noGrp="1"/>
          </p:cNvSpPr>
          <p:nvPr>
            <p:ph type="ftr" sz="quarter" idx="11"/>
          </p:nvPr>
        </p:nvSpPr>
        <p:spPr/>
        <p:txBody>
          <a:bodyPr/>
          <a:lstStyle/>
          <a:p>
            <a:endParaRPr lang="fr-FR"/>
          </a:p>
        </p:txBody>
      </p:sp>
      <p:sp>
        <p:nvSpPr>
          <p:cNvPr id="7" name="Espace réservé du numéro de diapositive 6"/>
          <p:cNvSpPr>
            <a:spLocks noGrp="1"/>
          </p:cNvSpPr>
          <p:nvPr>
            <p:ph type="sldNum" sz="quarter" idx="12"/>
          </p:nvPr>
        </p:nvSpPr>
        <p:spPr/>
        <p:txBody>
          <a:bodyPr/>
          <a:lstStyle/>
          <a:p>
            <a:fld id="{616977E6-38EB-41CC-A7E1-A449CC9EA7E2}" type="slidenum">
              <a:rPr lang="fr-FR" smtClean="0"/>
              <a:t>‹N°›</a:t>
            </a:fld>
            <a:endParaRPr lang="fr-FR"/>
          </a:p>
        </p:txBody>
      </p:sp>
    </p:spTree>
    <p:extLst>
      <p:ext uri="{BB962C8B-B14F-4D97-AF65-F5344CB8AC3E}">
        <p14:creationId xmlns:p14="http://schemas.microsoft.com/office/powerpoint/2010/main" val="2077480555"/>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re 1"/>
          <p:cNvSpPr>
            <a:spLocks noGrp="1"/>
          </p:cNvSpPr>
          <p:nvPr>
            <p:ph type="title"/>
          </p:nvPr>
        </p:nvSpPr>
        <p:spPr>
          <a:xfrm>
            <a:off x="839788" y="365125"/>
            <a:ext cx="10515600" cy="1325563"/>
          </a:xfrm>
        </p:spPr>
        <p:txBody>
          <a:bodyPr/>
          <a:lstStyle/>
          <a:p>
            <a:r>
              <a:rPr lang="fr-FR"/>
              <a:t>Modifiez le style du titre</a:t>
            </a:r>
          </a:p>
        </p:txBody>
      </p:sp>
      <p:sp>
        <p:nvSpPr>
          <p:cNvPr id="3" name="Espace réservé du texte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Modifier les styles du texte du masque</a:t>
            </a:r>
          </a:p>
        </p:txBody>
      </p:sp>
      <p:sp>
        <p:nvSpPr>
          <p:cNvPr id="4" name="Espace réservé du contenu 3"/>
          <p:cNvSpPr>
            <a:spLocks noGrp="1"/>
          </p:cNvSpPr>
          <p:nvPr>
            <p:ph sz="half" idx="2"/>
          </p:nvPr>
        </p:nvSpPr>
        <p:spPr>
          <a:xfrm>
            <a:off x="839788" y="2505075"/>
            <a:ext cx="5157787" cy="3684588"/>
          </a:xfrm>
        </p:spPr>
        <p:txBody>
          <a:bodyPr/>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u texte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Modifier les styles du texte du masque</a:t>
            </a:r>
          </a:p>
        </p:txBody>
      </p:sp>
      <p:sp>
        <p:nvSpPr>
          <p:cNvPr id="6" name="Espace réservé du contenu 5"/>
          <p:cNvSpPr>
            <a:spLocks noGrp="1"/>
          </p:cNvSpPr>
          <p:nvPr>
            <p:ph sz="quarter" idx="4"/>
          </p:nvPr>
        </p:nvSpPr>
        <p:spPr>
          <a:xfrm>
            <a:off x="6172200" y="2505075"/>
            <a:ext cx="5183188" cy="3684588"/>
          </a:xfrm>
        </p:spPr>
        <p:txBody>
          <a:bodyPr/>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7" name="Espace réservé de la date 6"/>
          <p:cNvSpPr>
            <a:spLocks noGrp="1"/>
          </p:cNvSpPr>
          <p:nvPr>
            <p:ph type="dt" sz="half" idx="10"/>
          </p:nvPr>
        </p:nvSpPr>
        <p:spPr/>
        <p:txBody>
          <a:bodyPr/>
          <a:lstStyle/>
          <a:p>
            <a:fld id="{C6EBE14D-B461-4822-94E8-6203B1E77523}" type="datetimeFigureOut">
              <a:rPr lang="fr-FR" smtClean="0"/>
              <a:t>22/09/2026</a:t>
            </a:fld>
            <a:endParaRPr lang="fr-FR"/>
          </a:p>
        </p:txBody>
      </p:sp>
      <p:sp>
        <p:nvSpPr>
          <p:cNvPr id="8" name="Espace réservé du pied de page 7"/>
          <p:cNvSpPr>
            <a:spLocks noGrp="1"/>
          </p:cNvSpPr>
          <p:nvPr>
            <p:ph type="ftr" sz="quarter" idx="11"/>
          </p:nvPr>
        </p:nvSpPr>
        <p:spPr/>
        <p:txBody>
          <a:bodyPr/>
          <a:lstStyle/>
          <a:p>
            <a:endParaRPr lang="fr-FR"/>
          </a:p>
        </p:txBody>
      </p:sp>
      <p:sp>
        <p:nvSpPr>
          <p:cNvPr id="9" name="Espace réservé du numéro de diapositive 8"/>
          <p:cNvSpPr>
            <a:spLocks noGrp="1"/>
          </p:cNvSpPr>
          <p:nvPr>
            <p:ph type="sldNum" sz="quarter" idx="12"/>
          </p:nvPr>
        </p:nvSpPr>
        <p:spPr/>
        <p:txBody>
          <a:bodyPr/>
          <a:lstStyle/>
          <a:p>
            <a:fld id="{616977E6-38EB-41CC-A7E1-A449CC9EA7E2}" type="slidenum">
              <a:rPr lang="fr-FR" smtClean="0"/>
              <a:t>‹N°›</a:t>
            </a:fld>
            <a:endParaRPr lang="fr-FR"/>
          </a:p>
        </p:txBody>
      </p:sp>
    </p:spTree>
    <p:extLst>
      <p:ext uri="{BB962C8B-B14F-4D97-AF65-F5344CB8AC3E}">
        <p14:creationId xmlns:p14="http://schemas.microsoft.com/office/powerpoint/2010/main" val="2869639137"/>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Modifiez le style du titre</a:t>
            </a:r>
          </a:p>
        </p:txBody>
      </p:sp>
      <p:sp>
        <p:nvSpPr>
          <p:cNvPr id="3" name="Espace réservé de la date 2"/>
          <p:cNvSpPr>
            <a:spLocks noGrp="1"/>
          </p:cNvSpPr>
          <p:nvPr>
            <p:ph type="dt" sz="half" idx="10"/>
          </p:nvPr>
        </p:nvSpPr>
        <p:spPr/>
        <p:txBody>
          <a:bodyPr/>
          <a:lstStyle/>
          <a:p>
            <a:fld id="{C6EBE14D-B461-4822-94E8-6203B1E77523}" type="datetimeFigureOut">
              <a:rPr lang="fr-FR" smtClean="0"/>
              <a:t>22/09/2026</a:t>
            </a:fld>
            <a:endParaRPr lang="fr-FR"/>
          </a:p>
        </p:txBody>
      </p:sp>
      <p:sp>
        <p:nvSpPr>
          <p:cNvPr id="4" name="Espace réservé du pied de page 3"/>
          <p:cNvSpPr>
            <a:spLocks noGrp="1"/>
          </p:cNvSpPr>
          <p:nvPr>
            <p:ph type="ftr" sz="quarter" idx="11"/>
          </p:nvPr>
        </p:nvSpPr>
        <p:spPr/>
        <p:txBody>
          <a:bodyPr/>
          <a:lstStyle/>
          <a:p>
            <a:endParaRPr lang="fr-FR"/>
          </a:p>
        </p:txBody>
      </p:sp>
      <p:sp>
        <p:nvSpPr>
          <p:cNvPr id="5" name="Espace réservé du numéro de diapositive 4"/>
          <p:cNvSpPr>
            <a:spLocks noGrp="1"/>
          </p:cNvSpPr>
          <p:nvPr>
            <p:ph type="sldNum" sz="quarter" idx="12"/>
          </p:nvPr>
        </p:nvSpPr>
        <p:spPr/>
        <p:txBody>
          <a:bodyPr/>
          <a:lstStyle/>
          <a:p>
            <a:fld id="{616977E6-38EB-41CC-A7E1-A449CC9EA7E2}" type="slidenum">
              <a:rPr lang="fr-FR" smtClean="0"/>
              <a:t>‹N°›</a:t>
            </a:fld>
            <a:endParaRPr lang="fr-FR"/>
          </a:p>
        </p:txBody>
      </p:sp>
    </p:spTree>
    <p:extLst>
      <p:ext uri="{BB962C8B-B14F-4D97-AF65-F5344CB8AC3E}">
        <p14:creationId xmlns:p14="http://schemas.microsoft.com/office/powerpoint/2010/main" val="3965746020"/>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Espace réservé de la date 1"/>
          <p:cNvSpPr>
            <a:spLocks noGrp="1"/>
          </p:cNvSpPr>
          <p:nvPr>
            <p:ph type="dt" sz="half" idx="10"/>
          </p:nvPr>
        </p:nvSpPr>
        <p:spPr/>
        <p:txBody>
          <a:bodyPr/>
          <a:lstStyle/>
          <a:p>
            <a:fld id="{C6EBE14D-B461-4822-94E8-6203B1E77523}" type="datetimeFigureOut">
              <a:rPr lang="fr-FR" smtClean="0"/>
              <a:t>22/09/2026</a:t>
            </a:fld>
            <a:endParaRPr lang="fr-FR"/>
          </a:p>
        </p:txBody>
      </p:sp>
      <p:sp>
        <p:nvSpPr>
          <p:cNvPr id="3" name="Espace réservé du pied de page 2"/>
          <p:cNvSpPr>
            <a:spLocks noGrp="1"/>
          </p:cNvSpPr>
          <p:nvPr>
            <p:ph type="ftr" sz="quarter" idx="11"/>
          </p:nvPr>
        </p:nvSpPr>
        <p:spPr/>
        <p:txBody>
          <a:bodyPr/>
          <a:lstStyle/>
          <a:p>
            <a:endParaRPr lang="fr-FR"/>
          </a:p>
        </p:txBody>
      </p:sp>
      <p:sp>
        <p:nvSpPr>
          <p:cNvPr id="4" name="Espace réservé du numéro de diapositive 3"/>
          <p:cNvSpPr>
            <a:spLocks noGrp="1"/>
          </p:cNvSpPr>
          <p:nvPr>
            <p:ph type="sldNum" sz="quarter" idx="12"/>
          </p:nvPr>
        </p:nvSpPr>
        <p:spPr/>
        <p:txBody>
          <a:bodyPr/>
          <a:lstStyle/>
          <a:p>
            <a:fld id="{616977E6-38EB-41CC-A7E1-A449CC9EA7E2}" type="slidenum">
              <a:rPr lang="fr-FR" smtClean="0"/>
              <a:t>‹N°›</a:t>
            </a:fld>
            <a:endParaRPr lang="fr-FR"/>
          </a:p>
        </p:txBody>
      </p:sp>
    </p:spTree>
    <p:extLst>
      <p:ext uri="{BB962C8B-B14F-4D97-AF65-F5344CB8AC3E}">
        <p14:creationId xmlns:p14="http://schemas.microsoft.com/office/powerpoint/2010/main" val="1296543627"/>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839788" y="457200"/>
            <a:ext cx="3932237" cy="1600200"/>
          </a:xfrm>
        </p:spPr>
        <p:txBody>
          <a:bodyPr anchor="b"/>
          <a:lstStyle>
            <a:lvl1pPr>
              <a:defRPr sz="3200"/>
            </a:lvl1pPr>
          </a:lstStyle>
          <a:p>
            <a:r>
              <a:rPr lang="fr-FR"/>
              <a:t>Modifiez le style du titre</a:t>
            </a:r>
          </a:p>
        </p:txBody>
      </p:sp>
      <p:sp>
        <p:nvSpPr>
          <p:cNvPr id="3" name="Espace réservé du contenu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texte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Modifier les styles du texte du masque</a:t>
            </a:r>
          </a:p>
        </p:txBody>
      </p:sp>
      <p:sp>
        <p:nvSpPr>
          <p:cNvPr id="5" name="Espace réservé de la date 4"/>
          <p:cNvSpPr>
            <a:spLocks noGrp="1"/>
          </p:cNvSpPr>
          <p:nvPr>
            <p:ph type="dt" sz="half" idx="10"/>
          </p:nvPr>
        </p:nvSpPr>
        <p:spPr/>
        <p:txBody>
          <a:bodyPr/>
          <a:lstStyle/>
          <a:p>
            <a:fld id="{C6EBE14D-B461-4822-94E8-6203B1E77523}" type="datetimeFigureOut">
              <a:rPr lang="fr-FR" smtClean="0"/>
              <a:t>22/09/2026</a:t>
            </a:fld>
            <a:endParaRPr lang="fr-FR"/>
          </a:p>
        </p:txBody>
      </p:sp>
      <p:sp>
        <p:nvSpPr>
          <p:cNvPr id="6" name="Espace réservé du pied de page 5"/>
          <p:cNvSpPr>
            <a:spLocks noGrp="1"/>
          </p:cNvSpPr>
          <p:nvPr>
            <p:ph type="ftr" sz="quarter" idx="11"/>
          </p:nvPr>
        </p:nvSpPr>
        <p:spPr/>
        <p:txBody>
          <a:bodyPr/>
          <a:lstStyle/>
          <a:p>
            <a:endParaRPr lang="fr-FR"/>
          </a:p>
        </p:txBody>
      </p:sp>
      <p:sp>
        <p:nvSpPr>
          <p:cNvPr id="7" name="Espace réservé du numéro de diapositive 6"/>
          <p:cNvSpPr>
            <a:spLocks noGrp="1"/>
          </p:cNvSpPr>
          <p:nvPr>
            <p:ph type="sldNum" sz="quarter" idx="12"/>
          </p:nvPr>
        </p:nvSpPr>
        <p:spPr/>
        <p:txBody>
          <a:bodyPr/>
          <a:lstStyle/>
          <a:p>
            <a:fld id="{616977E6-38EB-41CC-A7E1-A449CC9EA7E2}" type="slidenum">
              <a:rPr lang="fr-FR" smtClean="0"/>
              <a:t>‹N°›</a:t>
            </a:fld>
            <a:endParaRPr lang="fr-FR"/>
          </a:p>
        </p:txBody>
      </p:sp>
    </p:spTree>
    <p:extLst>
      <p:ext uri="{BB962C8B-B14F-4D97-AF65-F5344CB8AC3E}">
        <p14:creationId xmlns:p14="http://schemas.microsoft.com/office/powerpoint/2010/main" val="539327806"/>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839788" y="457200"/>
            <a:ext cx="3932237" cy="1600200"/>
          </a:xfrm>
        </p:spPr>
        <p:txBody>
          <a:bodyPr anchor="b"/>
          <a:lstStyle>
            <a:lvl1pPr>
              <a:defRPr sz="3200"/>
            </a:lvl1pPr>
          </a:lstStyle>
          <a:p>
            <a:r>
              <a:rPr lang="fr-FR"/>
              <a:t>Modifiez le style du titre</a:t>
            </a:r>
          </a:p>
        </p:txBody>
      </p:sp>
      <p:sp>
        <p:nvSpPr>
          <p:cNvPr id="3" name="Espace réservé pour une image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fr-FR"/>
          </a:p>
        </p:txBody>
      </p:sp>
      <p:sp>
        <p:nvSpPr>
          <p:cNvPr id="4" name="Espace réservé du texte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Modifier les styles du texte du masque</a:t>
            </a:r>
          </a:p>
        </p:txBody>
      </p:sp>
      <p:sp>
        <p:nvSpPr>
          <p:cNvPr id="5" name="Espace réservé de la date 4"/>
          <p:cNvSpPr>
            <a:spLocks noGrp="1"/>
          </p:cNvSpPr>
          <p:nvPr>
            <p:ph type="dt" sz="half" idx="10"/>
          </p:nvPr>
        </p:nvSpPr>
        <p:spPr/>
        <p:txBody>
          <a:bodyPr/>
          <a:lstStyle/>
          <a:p>
            <a:fld id="{C6EBE14D-B461-4822-94E8-6203B1E77523}" type="datetimeFigureOut">
              <a:rPr lang="fr-FR" smtClean="0"/>
              <a:t>22/09/2026</a:t>
            </a:fld>
            <a:endParaRPr lang="fr-FR"/>
          </a:p>
        </p:txBody>
      </p:sp>
      <p:sp>
        <p:nvSpPr>
          <p:cNvPr id="6" name="Espace réservé du pied de page 5"/>
          <p:cNvSpPr>
            <a:spLocks noGrp="1"/>
          </p:cNvSpPr>
          <p:nvPr>
            <p:ph type="ftr" sz="quarter" idx="11"/>
          </p:nvPr>
        </p:nvSpPr>
        <p:spPr/>
        <p:txBody>
          <a:bodyPr/>
          <a:lstStyle/>
          <a:p>
            <a:endParaRPr lang="fr-FR"/>
          </a:p>
        </p:txBody>
      </p:sp>
      <p:sp>
        <p:nvSpPr>
          <p:cNvPr id="7" name="Espace réservé du numéro de diapositive 6"/>
          <p:cNvSpPr>
            <a:spLocks noGrp="1"/>
          </p:cNvSpPr>
          <p:nvPr>
            <p:ph type="sldNum" sz="quarter" idx="12"/>
          </p:nvPr>
        </p:nvSpPr>
        <p:spPr/>
        <p:txBody>
          <a:bodyPr/>
          <a:lstStyle/>
          <a:p>
            <a:fld id="{616977E6-38EB-41CC-A7E1-A449CC9EA7E2}" type="slidenum">
              <a:rPr lang="fr-FR" smtClean="0"/>
              <a:t>‹N°›</a:t>
            </a:fld>
            <a:endParaRPr lang="fr-FR"/>
          </a:p>
        </p:txBody>
      </p:sp>
    </p:spTree>
    <p:extLst>
      <p:ext uri="{BB962C8B-B14F-4D97-AF65-F5344CB8AC3E}">
        <p14:creationId xmlns:p14="http://schemas.microsoft.com/office/powerpoint/2010/main" val="464853724"/>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Modifiez le style du titre</a:t>
            </a:r>
          </a:p>
        </p:txBody>
      </p:sp>
      <p:sp>
        <p:nvSpPr>
          <p:cNvPr id="3" name="Espace réservé du texte vertical 2"/>
          <p:cNvSpPr>
            <a:spLocks noGrp="1"/>
          </p:cNvSpPr>
          <p:nvPr>
            <p:ph type="body" orient="vert" idx="1"/>
          </p:nvPr>
        </p:nvSpPr>
        <p:spPr/>
        <p:txBody>
          <a:bodyPr vert="eaVert"/>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p:cNvSpPr>
            <a:spLocks noGrp="1"/>
          </p:cNvSpPr>
          <p:nvPr>
            <p:ph type="dt" sz="half" idx="10"/>
          </p:nvPr>
        </p:nvSpPr>
        <p:spPr/>
        <p:txBody>
          <a:bodyPr/>
          <a:lstStyle/>
          <a:p>
            <a:fld id="{C6EBE14D-B461-4822-94E8-6203B1E77523}" type="datetimeFigureOut">
              <a:rPr lang="fr-FR" smtClean="0"/>
              <a:t>22/09/2026</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616977E6-38EB-41CC-A7E1-A449CC9EA7E2}" type="slidenum">
              <a:rPr lang="fr-FR" smtClean="0"/>
              <a:t>‹N°›</a:t>
            </a:fld>
            <a:endParaRPr lang="fr-FR"/>
          </a:p>
        </p:txBody>
      </p:sp>
    </p:spTree>
    <p:extLst>
      <p:ext uri="{BB962C8B-B14F-4D97-AF65-F5344CB8AC3E}">
        <p14:creationId xmlns:p14="http://schemas.microsoft.com/office/powerpoint/2010/main" val="3127489929"/>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Titre vertical 1"/>
          <p:cNvSpPr>
            <a:spLocks noGrp="1"/>
          </p:cNvSpPr>
          <p:nvPr>
            <p:ph type="title" orient="vert"/>
          </p:nvPr>
        </p:nvSpPr>
        <p:spPr>
          <a:xfrm>
            <a:off x="8724900" y="365125"/>
            <a:ext cx="2628900" cy="5811838"/>
          </a:xfrm>
        </p:spPr>
        <p:txBody>
          <a:bodyPr vert="eaVert"/>
          <a:lstStyle/>
          <a:p>
            <a:r>
              <a:rPr lang="fr-FR"/>
              <a:t>Modifiez le style du titre</a:t>
            </a:r>
          </a:p>
        </p:txBody>
      </p:sp>
      <p:sp>
        <p:nvSpPr>
          <p:cNvPr id="3" name="Espace réservé du texte vertical 2"/>
          <p:cNvSpPr>
            <a:spLocks noGrp="1"/>
          </p:cNvSpPr>
          <p:nvPr>
            <p:ph type="body" orient="vert" idx="1"/>
          </p:nvPr>
        </p:nvSpPr>
        <p:spPr>
          <a:xfrm>
            <a:off x="838200" y="365125"/>
            <a:ext cx="7734300" cy="5811838"/>
          </a:xfrm>
        </p:spPr>
        <p:txBody>
          <a:bodyPr vert="eaVert"/>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p:cNvSpPr>
            <a:spLocks noGrp="1"/>
          </p:cNvSpPr>
          <p:nvPr>
            <p:ph type="dt" sz="half" idx="10"/>
          </p:nvPr>
        </p:nvSpPr>
        <p:spPr/>
        <p:txBody>
          <a:bodyPr/>
          <a:lstStyle/>
          <a:p>
            <a:fld id="{C6EBE14D-B461-4822-94E8-6203B1E77523}" type="datetimeFigureOut">
              <a:rPr lang="fr-FR" smtClean="0"/>
              <a:t>22/09/2026</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616977E6-38EB-41CC-A7E1-A449CC9EA7E2}" type="slidenum">
              <a:rPr lang="fr-FR" smtClean="0"/>
              <a:t>‹N°›</a:t>
            </a:fld>
            <a:endParaRPr lang="fr-FR"/>
          </a:p>
        </p:txBody>
      </p:sp>
    </p:spTree>
    <p:extLst>
      <p:ext uri="{BB962C8B-B14F-4D97-AF65-F5344CB8AC3E}">
        <p14:creationId xmlns:p14="http://schemas.microsoft.com/office/powerpoint/2010/main" val="2033864427"/>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graphicFrame>
        <p:nvGraphicFramePr>
          <p:cNvPr id="4" name="Object 3" hidden="1">
            <a:extLst>
              <a:ext uri="{FF2B5EF4-FFF2-40B4-BE49-F238E27FC236}">
                <a16:creationId xmlns:a16="http://schemas.microsoft.com/office/drawing/2014/main" id="{35049338-7875-4927-82E0-03C95D83209A}"/>
              </a:ext>
            </a:extLst>
          </p:cNvPr>
          <p:cNvGraphicFramePr>
            <a:graphicFrameLocks noChangeAspect="1"/>
          </p:cNvGraphicFramePr>
          <p:nvPr userDrawn="1">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25" imgH="426" progId="TCLayout.ActiveDocument.1">
                  <p:embed/>
                </p:oleObj>
              </mc:Choice>
              <mc:Fallback>
                <p:oleObj name="think-cell Slide" r:id="rId3" imgW="425" imgH="426" progId="TCLayout.ActiveDocument.1">
                  <p:embed/>
                  <p:pic>
                    <p:nvPicPr>
                      <p:cNvPr id="4" name="Object 3" hidden="1">
                        <a:extLst>
                          <a:ext uri="{FF2B5EF4-FFF2-40B4-BE49-F238E27FC236}">
                            <a16:creationId xmlns:a16="http://schemas.microsoft.com/office/drawing/2014/main" id="{35049338-7875-4927-82E0-03C95D83209A}"/>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3" name="Title Placeholder 1">
            <a:extLst>
              <a:ext uri="{FF2B5EF4-FFF2-40B4-BE49-F238E27FC236}">
                <a16:creationId xmlns:a16="http://schemas.microsoft.com/office/drawing/2014/main" id="{5AA52354-AD0C-4278-A20C-E161AEB4D16F}"/>
              </a:ext>
            </a:extLst>
          </p:cNvPr>
          <p:cNvSpPr>
            <a:spLocks noGrp="1"/>
          </p:cNvSpPr>
          <p:nvPr>
            <p:ph type="title" hasCustomPrompt="1"/>
          </p:nvPr>
        </p:nvSpPr>
        <p:spPr bwMode="gray">
          <a:xfrm>
            <a:off x="467201" y="304800"/>
            <a:ext cx="11201400" cy="342900"/>
          </a:xfrm>
          <a:prstGeom prst="rect">
            <a:avLst/>
          </a:prstGeom>
        </p:spPr>
        <p:txBody>
          <a:bodyPr vert="horz" lIns="0" tIns="0" rIns="0" bIns="0" rtlCol="0" anchor="t" anchorCtr="0">
            <a:noAutofit/>
          </a:bodyPr>
          <a:lstStyle>
            <a:lvl1pPr>
              <a:defRPr/>
            </a:lvl1pPr>
          </a:lstStyle>
          <a:p>
            <a:r>
              <a:rPr lang="en-US" noProof="0"/>
              <a:t>Click to add title</a:t>
            </a:r>
          </a:p>
        </p:txBody>
      </p:sp>
    </p:spTree>
    <p:extLst>
      <p:ext uri="{BB962C8B-B14F-4D97-AF65-F5344CB8AC3E}">
        <p14:creationId xmlns:p14="http://schemas.microsoft.com/office/powerpoint/2010/main" val="3552400179"/>
      </p:ext>
    </p:extLst>
  </p:cSld>
  <p:clrMapOvr>
    <a:masterClrMapping/>
  </p:clrMapOvr>
  <p:transition>
    <p:fade/>
  </p:transition>
</p:sldLayout>
</file>

<file path=ppt/slideLayouts/slideLayout28.xml><?xml version="1.0" encoding="utf-8"?>
<p:sldLayout xmlns:a="http://schemas.openxmlformats.org/drawingml/2006/main" xmlns:r="http://schemas.openxmlformats.org/officeDocument/2006/relationships" xmlns:p="http://schemas.openxmlformats.org/presentationml/2006/main" matchingName="Title only 1" preserve="1">
  <p:cSld name="Title only 1">
    <p:spTree>
      <p:nvGrpSpPr>
        <p:cNvPr id="1" name="Shape 5623"/>
        <p:cNvGrpSpPr/>
        <p:nvPr/>
      </p:nvGrpSpPr>
      <p:grpSpPr>
        <a:xfrm>
          <a:off x="0" y="0"/>
          <a:ext cx="0" cy="0"/>
          <a:chOff x="0" y="0"/>
          <a:chExt cx="0" cy="0"/>
        </a:xfrm>
      </p:grpSpPr>
      <p:pic>
        <p:nvPicPr>
          <p:cNvPr id="5624" name="Google Shape;5624;p29"/>
          <p:cNvPicPr preferRelativeResize="0"/>
          <p:nvPr/>
        </p:nvPicPr>
        <p:blipFill>
          <a:blip r:embed="rId2">
            <a:alphaModFix amt="20000"/>
          </a:blip>
          <a:stretch>
            <a:fillRect/>
          </a:stretch>
        </p:blipFill>
        <p:spPr>
          <a:xfrm flipH="1">
            <a:off x="-4949" y="1"/>
            <a:ext cx="12192004" cy="6858001"/>
          </a:xfrm>
          <a:prstGeom prst="rect">
            <a:avLst/>
          </a:prstGeom>
          <a:noFill/>
          <a:ln>
            <a:noFill/>
          </a:ln>
        </p:spPr>
      </p:pic>
      <p:sp>
        <p:nvSpPr>
          <p:cNvPr id="5625" name="Google Shape;5625;p29"/>
          <p:cNvSpPr txBox="1">
            <a:spLocks noGrp="1"/>
          </p:cNvSpPr>
          <p:nvPr>
            <p:ph type="title"/>
          </p:nvPr>
        </p:nvSpPr>
        <p:spPr>
          <a:xfrm>
            <a:off x="960000" y="593367"/>
            <a:ext cx="10272000" cy="763600"/>
          </a:xfrm>
          <a:prstGeom prst="rect">
            <a:avLst/>
          </a:prstGeom>
        </p:spPr>
        <p:txBody>
          <a:bodyPr spcFirstLastPara="1" wrap="square" lIns="91425" tIns="91425" rIns="91425" bIns="91425" anchor="t" anchorCtr="0">
            <a:noAutofit/>
          </a:bodyPr>
          <a:lstStyle>
            <a:lvl1pPr lvl="0"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Tree>
    <p:extLst>
      <p:ext uri="{BB962C8B-B14F-4D97-AF65-F5344CB8AC3E}">
        <p14:creationId xmlns:p14="http://schemas.microsoft.com/office/powerpoint/2010/main" val="73826394"/>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matchingName="Title only 12" preserve="1">
  <p:cSld name="Title only 12">
    <p:spTree>
      <p:nvGrpSpPr>
        <p:cNvPr id="1" name="Shape 6976"/>
        <p:cNvGrpSpPr/>
        <p:nvPr/>
      </p:nvGrpSpPr>
      <p:grpSpPr>
        <a:xfrm>
          <a:off x="0" y="0"/>
          <a:ext cx="0" cy="0"/>
          <a:chOff x="0" y="0"/>
          <a:chExt cx="0" cy="0"/>
        </a:xfrm>
      </p:grpSpPr>
      <p:sp>
        <p:nvSpPr>
          <p:cNvPr id="6978" name="Google Shape;6978;p57"/>
          <p:cNvSpPr txBox="1">
            <a:spLocks noGrp="1"/>
          </p:cNvSpPr>
          <p:nvPr>
            <p:ph type="title"/>
          </p:nvPr>
        </p:nvSpPr>
        <p:spPr>
          <a:xfrm>
            <a:off x="960000" y="720000"/>
            <a:ext cx="10272000" cy="7636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Tree>
    <p:extLst>
      <p:ext uri="{BB962C8B-B14F-4D97-AF65-F5344CB8AC3E}">
        <p14:creationId xmlns:p14="http://schemas.microsoft.com/office/powerpoint/2010/main" val="1058283501"/>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Title, subtitle, 1 column ">
    <p:spTree>
      <p:nvGrpSpPr>
        <p:cNvPr id="1" name=""/>
        <p:cNvGrpSpPr/>
        <p:nvPr/>
      </p:nvGrpSpPr>
      <p:grpSpPr>
        <a:xfrm>
          <a:off x="0" y="0"/>
          <a:ext cx="0" cy="0"/>
          <a:chOff x="0" y="0"/>
          <a:chExt cx="0" cy="0"/>
        </a:xfrm>
      </p:grpSpPr>
      <p:graphicFrame>
        <p:nvGraphicFramePr>
          <p:cNvPr id="4" name="Object 3" hidden="1">
            <a:extLst>
              <a:ext uri="{FF2B5EF4-FFF2-40B4-BE49-F238E27FC236}">
                <a16:creationId xmlns:a16="http://schemas.microsoft.com/office/drawing/2014/main" id="{966A5C41-60AA-4C25-8080-4F0DFF19B9CD}"/>
              </a:ext>
            </a:extLst>
          </p:cNvPr>
          <p:cNvGraphicFramePr>
            <a:graphicFrameLocks noChangeAspect="1"/>
          </p:cNvGraphicFramePr>
          <p:nvPr userDrawn="1">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25" imgH="426" progId="TCLayout.ActiveDocument.1">
                  <p:embed/>
                </p:oleObj>
              </mc:Choice>
              <mc:Fallback>
                <p:oleObj name="think-cell Slide" r:id="rId3" imgW="425" imgH="426" progId="TCLayout.ActiveDocument.1">
                  <p:embed/>
                  <p:pic>
                    <p:nvPicPr>
                      <p:cNvPr id="4" name="Object 3" hidden="1">
                        <a:extLst>
                          <a:ext uri="{FF2B5EF4-FFF2-40B4-BE49-F238E27FC236}">
                            <a16:creationId xmlns:a16="http://schemas.microsoft.com/office/drawing/2014/main" id="{966A5C41-60AA-4C25-8080-4F0DFF19B9CD}"/>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ext Placeholder 8">
            <a:extLst>
              <a:ext uri="{FF2B5EF4-FFF2-40B4-BE49-F238E27FC236}">
                <a16:creationId xmlns:a16="http://schemas.microsoft.com/office/drawing/2014/main" id="{D5544814-ED77-5424-AA44-FCF607EC724C}"/>
              </a:ext>
            </a:extLst>
          </p:cNvPr>
          <p:cNvSpPr>
            <a:spLocks noGrp="1"/>
          </p:cNvSpPr>
          <p:nvPr>
            <p:ph type="body" sz="quarter" idx="13" hasCustomPrompt="1"/>
          </p:nvPr>
        </p:nvSpPr>
        <p:spPr>
          <a:xfrm>
            <a:off x="466344" y="649224"/>
            <a:ext cx="11277599" cy="1010919"/>
          </a:xfrm>
          <a:prstGeom prst="rect">
            <a:avLst/>
          </a:prstGeom>
        </p:spPr>
        <p:txBody>
          <a:bodyPr lIns="0" tIns="0" rIns="0" bIns="0">
            <a:noAutofit/>
          </a:bodyPr>
          <a:lstStyle>
            <a:lvl1pPr marL="0" indent="0">
              <a:buNone/>
              <a:defRPr sz="1800" b="0">
                <a:solidFill>
                  <a:schemeClr val="tx2"/>
                </a:solidFill>
              </a:defRPr>
            </a:lvl1pPr>
          </a:lstStyle>
          <a:p>
            <a:pPr lvl="0"/>
            <a:r>
              <a:rPr lang="en-US"/>
              <a:t>Click to add subtitle</a:t>
            </a:r>
          </a:p>
        </p:txBody>
      </p:sp>
      <p:sp>
        <p:nvSpPr>
          <p:cNvPr id="6" name="Text Placeholder 18">
            <a:extLst>
              <a:ext uri="{FF2B5EF4-FFF2-40B4-BE49-F238E27FC236}">
                <a16:creationId xmlns:a16="http://schemas.microsoft.com/office/drawing/2014/main" id="{92C75D35-8730-843D-1A9B-7A3EF8BDC3E6}"/>
              </a:ext>
            </a:extLst>
          </p:cNvPr>
          <p:cNvSpPr>
            <a:spLocks noGrp="1"/>
          </p:cNvSpPr>
          <p:nvPr>
            <p:ph idx="1"/>
          </p:nvPr>
        </p:nvSpPr>
        <p:spPr>
          <a:xfrm>
            <a:off x="471983" y="1684020"/>
            <a:ext cx="11277600" cy="4269740"/>
          </a:xfrm>
          <a:prstGeom prst="rect">
            <a:avLst/>
          </a:prstGeom>
        </p:spPr>
        <p:txBody>
          <a:bodyPr vert="horz" lIns="0" tIns="0" rIns="0" bIns="0" rtlCol="0">
            <a:noAutofit/>
          </a:bodyPr>
          <a:lstStyle>
            <a:lvl1pPr>
              <a:defRPr sz="1200"/>
            </a:lvl1pPr>
            <a:lvl2pPr>
              <a:defRPr sz="1200"/>
            </a:lvl2pPr>
            <a:lvl3pPr>
              <a:defRPr sz="1200"/>
            </a:lvl3pPr>
            <a:lvl4pPr>
              <a:defRPr sz="1200"/>
            </a:lvl4pPr>
            <a:lvl5pPr>
              <a:defRPr sz="1200"/>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9" name="Content Placeholder 3">
            <a:extLst>
              <a:ext uri="{FF2B5EF4-FFF2-40B4-BE49-F238E27FC236}">
                <a16:creationId xmlns:a16="http://schemas.microsoft.com/office/drawing/2014/main" id="{C2764C76-8970-695F-1D5D-E85887CA625C}"/>
              </a:ext>
            </a:extLst>
          </p:cNvPr>
          <p:cNvSpPr>
            <a:spLocks noGrp="1"/>
          </p:cNvSpPr>
          <p:nvPr>
            <p:ph sz="quarter" idx="14" hasCustomPrompt="1"/>
          </p:nvPr>
        </p:nvSpPr>
        <p:spPr>
          <a:xfrm>
            <a:off x="471983" y="6070213"/>
            <a:ext cx="11274552" cy="265176"/>
          </a:xfrm>
        </p:spPr>
        <p:txBody>
          <a:bodyPr wrap="none">
            <a:noAutofit/>
          </a:bodyPr>
          <a:lstStyle>
            <a:lvl1pPr>
              <a:spcAft>
                <a:spcPts val="0"/>
              </a:spcAft>
              <a:defRPr sz="800"/>
            </a:lvl1pPr>
          </a:lstStyle>
          <a:p>
            <a:pPr lvl="0"/>
            <a:r>
              <a:rPr lang="en-US"/>
              <a:t>Click to add notes and sources</a:t>
            </a:r>
          </a:p>
        </p:txBody>
      </p:sp>
      <p:sp>
        <p:nvSpPr>
          <p:cNvPr id="13" name="Title Placeholder 1">
            <a:extLst>
              <a:ext uri="{FF2B5EF4-FFF2-40B4-BE49-F238E27FC236}">
                <a16:creationId xmlns:a16="http://schemas.microsoft.com/office/drawing/2014/main" id="{B6D0D5CA-F83B-4C19-758D-C3C6659EBE6E}"/>
              </a:ext>
            </a:extLst>
          </p:cNvPr>
          <p:cNvSpPr>
            <a:spLocks noGrp="1"/>
          </p:cNvSpPr>
          <p:nvPr>
            <p:ph type="title" hasCustomPrompt="1"/>
          </p:nvPr>
        </p:nvSpPr>
        <p:spPr bwMode="gray">
          <a:xfrm>
            <a:off x="467201" y="304800"/>
            <a:ext cx="11201400" cy="342900"/>
          </a:xfrm>
          <a:prstGeom prst="rect">
            <a:avLst/>
          </a:prstGeom>
        </p:spPr>
        <p:txBody>
          <a:bodyPr vert="horz" lIns="0" tIns="0" rIns="0" bIns="0" rtlCol="0" anchor="t" anchorCtr="0">
            <a:noAutofit/>
          </a:bodyPr>
          <a:lstStyle>
            <a:lvl1pPr>
              <a:defRPr/>
            </a:lvl1pPr>
          </a:lstStyle>
          <a:p>
            <a:r>
              <a:rPr lang="en-US" noProof="0"/>
              <a:t>Click to add title</a:t>
            </a:r>
          </a:p>
        </p:txBody>
      </p:sp>
    </p:spTree>
    <p:extLst>
      <p:ext uri="{BB962C8B-B14F-4D97-AF65-F5344CB8AC3E}">
        <p14:creationId xmlns:p14="http://schemas.microsoft.com/office/powerpoint/2010/main" val="2738359873"/>
      </p:ext>
    </p:extLst>
  </p:cSld>
  <p:clrMapOvr>
    <a:masterClrMapping/>
  </p:clrMapOvr>
  <p:transition>
    <p:fade/>
  </p:transition>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theme" Target="../theme/theme1.xml"/><Relationship Id="rId17" Type="http://schemas.openxmlformats.org/officeDocument/2006/relationships/image" Target="../media/image1.png"/></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slideLayout" Target="../slideLayouts/slideLayout17.xml"/><Relationship Id="rId3" Type="http://schemas.openxmlformats.org/officeDocument/2006/relationships/slideLayout" Target="../slideLayouts/slideLayout18.xml"/><Relationship Id="rId4" Type="http://schemas.openxmlformats.org/officeDocument/2006/relationships/slideLayout" Target="../slideLayouts/slideLayout19.xml"/><Relationship Id="rId5" Type="http://schemas.openxmlformats.org/officeDocument/2006/relationships/slideLayout" Target="../slideLayouts/slideLayout20.xml"/><Relationship Id="rId6" Type="http://schemas.openxmlformats.org/officeDocument/2006/relationships/slideLayout" Target="../slideLayouts/slideLayout21.xml"/><Relationship Id="rId7" Type="http://schemas.openxmlformats.org/officeDocument/2006/relationships/slideLayout" Target="../slideLayouts/slideLayout22.xml"/><Relationship Id="rId8" Type="http://schemas.openxmlformats.org/officeDocument/2006/relationships/slideLayout" Target="../slideLayouts/slideLayout23.xml"/><Relationship Id="rId9" Type="http://schemas.openxmlformats.org/officeDocument/2006/relationships/slideLayout" Target="../slideLayouts/slideLayout24.xml"/><Relationship Id="rId10" Type="http://schemas.openxmlformats.org/officeDocument/2006/relationships/slideLayout" Target="../slideLayouts/slideLayout25.xml"/><Relationship Id="rId11" Type="http://schemas.openxmlformats.org/officeDocument/2006/relationships/slideLayout" Target="../slideLayouts/slideLayout26.xml"/><Relationship Id="rId12" Type="http://schemas.openxmlformats.org/officeDocument/2006/relationships/slideLayout" Target="../slideLayouts/slideLayout27.xml"/><Relationship Id="rId13" Type="http://schemas.openxmlformats.org/officeDocument/2006/relationships/slideLayout" Target="../slideLayouts/slideLayout28.xml"/><Relationship Id="rId14" Type="http://schemas.openxmlformats.org/officeDocument/2006/relationships/slideLayout" Target="../slideLayouts/slideLayout29.xml"/><Relationship Id="rId15" Type="http://schemas.openxmlformats.org/officeDocument/2006/relationships/slideLayout" Target="../slideLayouts/slideLayout30.xml"/><Relationship Id="rId16" Type="http://schemas.openxmlformats.org/officeDocument/2006/relationships/theme" Target="../theme/theme2.xml"/><Relationship Id="rId17" Type="http://schemas.openxmlformats.org/officeDocument/2006/relationships/image" Target="../media/image4.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17" name="Image 16"/>
          <p:cNvPicPr>
            <a:picLocks noChangeAspect="1"/>
          </p:cNvPicPr>
          <p:nvPr userDrawn="1"/>
        </p:nvPicPr>
        <p:blipFill rotWithShape="1">
          <a:blip r:embed="rId17" cstate="print">
            <a:extLst>
              <a:ext uri="{28A0092B-C50C-407E-A947-70E740481C1C}">
                <a14:useLocalDpi xmlns:a14="http://schemas.microsoft.com/office/drawing/2010/main" val="0"/>
              </a:ext>
            </a:extLst>
          </a:blip>
          <a:srcRect l="-1" r="1564" b="34369"/>
          <a:stretch/>
        </p:blipFill>
        <p:spPr>
          <a:xfrm>
            <a:off x="-147909" y="-58723"/>
            <a:ext cx="12339909" cy="6916723"/>
          </a:xfrm>
          <a:prstGeom prst="rect">
            <a:avLst/>
          </a:prstGeom>
        </p:spPr>
      </p:pic>
      <p:sp>
        <p:nvSpPr>
          <p:cNvPr id="2" name="Espace réservé du titre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fr-FR"/>
              <a:t>Modifiez le style du titre</a:t>
            </a:r>
          </a:p>
        </p:txBody>
      </p:sp>
      <p:sp>
        <p:nvSpPr>
          <p:cNvPr id="3" name="Espace réservé du texte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6EBE14D-B461-4822-94E8-6203B1E77523}" type="datetimeFigureOut">
              <a:rPr lang="fr-FR" smtClean="0"/>
              <a:t>22/09/2026</a:t>
            </a:fld>
            <a:endParaRPr lang="fr-FR"/>
          </a:p>
        </p:txBody>
      </p:sp>
      <p:sp>
        <p:nvSpPr>
          <p:cNvPr id="5" name="Espace réservé du pied de page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fr-FR"/>
          </a:p>
        </p:txBody>
      </p:sp>
      <p:sp>
        <p:nvSpPr>
          <p:cNvPr id="6" name="Espace réservé du numéro de diapositive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16977E6-38EB-41CC-A7E1-A449CC9EA7E2}" type="slidenum">
              <a:rPr lang="fr-FR" smtClean="0"/>
              <a:t>‹N°›</a:t>
            </a:fld>
            <a:endParaRPr lang="fr-FR"/>
          </a:p>
        </p:txBody>
      </p:sp>
      <p:sp>
        <p:nvSpPr>
          <p:cNvPr id="15" name="ZoneTexte 14">
            <a:extLst>
              <a:ext uri="{FF2B5EF4-FFF2-40B4-BE49-F238E27FC236}">
                <a16:creationId xmlns:a16="http://schemas.microsoft.com/office/drawing/2014/main" id="{C6E7D94B-8E49-C846-A392-87DFA5EF4A9D}"/>
              </a:ext>
            </a:extLst>
          </p:cNvPr>
          <p:cNvSpPr txBox="1"/>
          <p:nvPr userDrawn="1"/>
        </p:nvSpPr>
        <p:spPr>
          <a:xfrm>
            <a:off x="221940" y="6394008"/>
            <a:ext cx="10929842" cy="261610"/>
          </a:xfrm>
          <a:prstGeom prst="rect">
            <a:avLst/>
          </a:prstGeom>
          <a:noFill/>
        </p:spPr>
        <p:txBody>
          <a:bodyPr wrap="square">
            <a:spAutoFit/>
          </a:bodyPr>
          <a:lstStyle/>
          <a:p>
            <a:r>
              <a:rPr lang="fr-FR" sz="1100">
                <a:solidFill>
                  <a:schemeClr val="bg1"/>
                </a:solidFill>
                <a:latin typeface="Helvetica" panose="020B0604020202020204" pitchFamily="34" charset="0"/>
                <a:cs typeface="Helvetica" panose="020B0604020202020204" pitchFamily="34" charset="0"/>
              </a:rPr>
              <a:t>Empreinte Africaine, Expertise Internationale</a:t>
            </a:r>
          </a:p>
        </p:txBody>
      </p:sp>
    </p:spTree>
    <p:extLst>
      <p:ext uri="{BB962C8B-B14F-4D97-AF65-F5344CB8AC3E}">
        <p14:creationId xmlns:p14="http://schemas.microsoft.com/office/powerpoint/2010/main" val="206341372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1" r:id="rId12"/>
    <p:sldLayoutId id="2147483662" r:id="rId13"/>
    <p:sldLayoutId id="2147483663" r:id="rId14"/>
    <p:sldLayoutId id="2147483664" r:id="rId15"/>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8" name="Image 7"/>
          <p:cNvPicPr>
            <a:picLocks noChangeAspect="1"/>
          </p:cNvPicPr>
          <p:nvPr userDrawn="1"/>
        </p:nvPicPr>
        <p:blipFill>
          <a:blip r:embed="rId17">
            <a:extLst>
              <a:ext uri="{28A0092B-C50C-407E-A947-70E740481C1C}">
                <a14:useLocalDpi xmlns:a14="http://schemas.microsoft.com/office/drawing/2010/main" val="0"/>
              </a:ext>
            </a:extLst>
          </a:blip>
          <a:stretch>
            <a:fillRect/>
          </a:stretch>
        </p:blipFill>
        <p:spPr>
          <a:xfrm>
            <a:off x="504" y="283"/>
            <a:ext cx="12190992" cy="6857433"/>
          </a:xfrm>
          <a:prstGeom prst="rect">
            <a:avLst/>
          </a:prstGeom>
        </p:spPr>
      </p:pic>
      <p:sp>
        <p:nvSpPr>
          <p:cNvPr id="2" name="Espace réservé du titre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fr-FR"/>
              <a:t>Modifiez le style du titre</a:t>
            </a:r>
          </a:p>
        </p:txBody>
      </p:sp>
      <p:sp>
        <p:nvSpPr>
          <p:cNvPr id="3" name="Espace réservé du texte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6EBE14D-B461-4822-94E8-6203B1E77523}" type="datetimeFigureOut">
              <a:rPr lang="fr-FR" smtClean="0"/>
              <a:t>22/09/2026</a:t>
            </a:fld>
            <a:endParaRPr lang="fr-FR"/>
          </a:p>
        </p:txBody>
      </p:sp>
      <p:sp>
        <p:nvSpPr>
          <p:cNvPr id="5" name="Espace réservé du pied de page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fr-FR"/>
          </a:p>
        </p:txBody>
      </p:sp>
      <p:sp>
        <p:nvSpPr>
          <p:cNvPr id="6" name="Espace réservé du numéro de diapositive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16977E6-38EB-41CC-A7E1-A449CC9EA7E2}" type="slidenum">
              <a:rPr lang="fr-FR" smtClean="0"/>
              <a:t>‹N°›</a:t>
            </a:fld>
            <a:endParaRPr lang="fr-FR"/>
          </a:p>
        </p:txBody>
      </p:sp>
    </p:spTree>
    <p:extLst>
      <p:ext uri="{BB962C8B-B14F-4D97-AF65-F5344CB8AC3E}">
        <p14:creationId xmlns:p14="http://schemas.microsoft.com/office/powerpoint/2010/main" val="605055638"/>
      </p:ext>
    </p:extLst>
  </p:cSld>
  <p:clrMap bg1="lt1" tx1="dk1" bg2="lt2" tx2="dk2" accent1="accent1" accent2="accent2" accent3="accent3" accent4="accent4" accent5="accent5" accent6="accent6" hlink="hlink" folHlink="folHlink"/>
  <p:sldLayoutIdLst>
    <p:sldLayoutId id="2147483666" r:id="rId1"/>
    <p:sldLayoutId id="2147483667" r:id="rId2"/>
    <p:sldLayoutId id="2147483668" r:id="rId3"/>
    <p:sldLayoutId id="2147483669" r:id="rId4"/>
    <p:sldLayoutId id="2147483670" r:id="rId5"/>
    <p:sldLayoutId id="2147483671" r:id="rId6"/>
    <p:sldLayoutId id="2147483672" r:id="rId7"/>
    <p:sldLayoutId id="2147483673" r:id="rId8"/>
    <p:sldLayoutId id="2147483674" r:id="rId9"/>
    <p:sldLayoutId id="2147483675" r:id="rId10"/>
    <p:sldLayoutId id="2147483676" r:id="rId11"/>
    <p:sldLayoutId id="2147483677" r:id="rId12"/>
    <p:sldLayoutId id="2147483678" r:id="rId13"/>
    <p:sldLayoutId id="2147483679" r:id="rId14"/>
    <p:sldLayoutId id="2147483680" r:id="rId15"/>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5.png"/><Relationship Id="rId3" Type="http://schemas.openxmlformats.org/officeDocument/2006/relationships/image" Target="../media/image6.png"/><Relationship Id="rId4" Type="http://schemas.openxmlformats.org/officeDocument/2006/relationships/notesSlide" Target="../notesSlides/notesSlide3.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image" Target="../media/image9.png"/><Relationship Id="rId7" Type="http://schemas.openxmlformats.org/officeDocument/2006/relationships/image" Target="../media/image10.png"/><Relationship Id="rId8" Type="http://schemas.openxmlformats.org/officeDocument/2006/relationships/image" Target="../media/image11.png"/><Relationship Id="rId9" Type="http://schemas.openxmlformats.org/officeDocument/2006/relationships/image" Target="../media/image12.png"/><Relationship Id="rId10" Type="http://schemas.openxmlformats.org/officeDocument/2006/relationships/image" Target="../media/image16.png"/><Relationship Id="rId11" Type="http://schemas.openxmlformats.org/officeDocument/2006/relationships/image" Target="../media/image17.png"/><Relationship Id="rId12" Type="http://schemas.openxmlformats.org/officeDocument/2006/relationships/image" Target="../media/image21.png"/><Relationship Id="rId13" Type="http://schemas.openxmlformats.org/officeDocument/2006/relationships/image" Target="../media/image23.png"/><Relationship Id="rId14" Type="http://schemas.openxmlformats.org/officeDocument/2006/relationships/image" Target="../media/image24.png"/><Relationship Id="rId15" Type="http://schemas.openxmlformats.org/officeDocument/2006/relationships/image" Target="../media/image25.png"/><Relationship Id="rId16" Type="http://schemas.openxmlformats.org/officeDocument/2006/relationships/image" Target="../media/image26.png"/><Relationship Id="rId17" Type="http://schemas.openxmlformats.org/officeDocument/2006/relationships/image" Target="../media/image27.png"/><Relationship Id="rId18" Type="http://schemas.openxmlformats.org/officeDocument/2006/relationships/image" Target="../media/image28.png"/><Relationship Id="rId19" Type="http://schemas.openxmlformats.org/officeDocument/2006/relationships/image" Target="../media/image29.png"/><Relationship Id="rId20" Type="http://schemas.openxmlformats.org/officeDocument/2006/relationships/image" Target="../media/image30.png"/><Relationship Id="rId21" Type="http://schemas.openxmlformats.org/officeDocument/2006/relationships/image" Target="../media/image31.png"/><Relationship Id="rId22" Type="http://schemas.openxmlformats.org/officeDocument/2006/relationships/notesSlide" Target="../notesSlides/notesSlide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6.png"/><Relationship Id="rId3" Type="http://schemas.openxmlformats.org/officeDocument/2006/relationships/image" Target="../media/image7.png"/><Relationship Id="rId4" Type="http://schemas.openxmlformats.org/officeDocument/2006/relationships/notesSlide" Target="../notesSlides/notesSlide5.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6.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96.png"/><Relationship Id="rId4" Type="http://schemas.openxmlformats.org/officeDocument/2006/relationships/image" Target="../media/image97.png"/><Relationship Id="rId5" Type="http://schemas.openxmlformats.org/officeDocument/2006/relationships/image" Target="../media/image46.png"/><Relationship Id="rId6" Type="http://schemas.openxmlformats.org/officeDocument/2006/relationships/image" Target="../media/image98.png"/><Relationship Id="rId7" Type="http://schemas.openxmlformats.org/officeDocument/2006/relationships/notesSlide" Target="../notesSlides/notesSlide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8.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50.png"/><Relationship Id="rId4" Type="http://schemas.openxmlformats.org/officeDocument/2006/relationships/image" Target="../media/image51.png"/><Relationship Id="rId5" Type="http://schemas.openxmlformats.org/officeDocument/2006/relationships/image" Target="../media/image18.png"/><Relationship Id="rId6" Type="http://schemas.openxmlformats.org/officeDocument/2006/relationships/image" Target="../media/image52.png"/><Relationship Id="rId7" Type="http://schemas.openxmlformats.org/officeDocument/2006/relationships/image" Target="../media/image53.png"/><Relationship Id="rId8" Type="http://schemas.openxmlformats.org/officeDocument/2006/relationships/image" Target="../media/image54.png"/><Relationship Id="rId9" Type="http://schemas.openxmlformats.org/officeDocument/2006/relationships/notesSlide" Target="../notesSlides/notesSlide9.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chart" Target="../charts/chart5.xml"/><Relationship Id="rId7" Type="http://schemas.openxmlformats.org/officeDocument/2006/relationships/chart" Target="../charts/chart6.xml"/><Relationship Id="rId8" Type="http://schemas.openxmlformats.org/officeDocument/2006/relationships/notesSlide" Target="../notesSlides/notesSlide10.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chart" Target="../charts/chart7.xml"/><Relationship Id="rId7" Type="http://schemas.openxmlformats.org/officeDocument/2006/relationships/chart" Target="../charts/chart8.xml"/><Relationship Id="rId8" Type="http://schemas.openxmlformats.org/officeDocument/2006/relationships/notesSlide" Target="../notesSlides/notesSlide1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12.xml"/></Relationships>
</file>

<file path=ppt/slides/_rels/slide11.xml.rels><?xml version='1.0' encoding='UTF-8' standalone='yes'?>
<Relationships xmlns="http://schemas.openxmlformats.org/package/2006/relationships"><Relationship Id="rId1" Type="http://schemas.openxmlformats.org/officeDocument/2006/relationships/tags" Target="../tags/tag12.xml"/><Relationship Id="rId2" Type="http://schemas.openxmlformats.org/officeDocument/2006/relationships/slideLayout" Target="../slideLayouts/slideLayout15.xml"/><Relationship Id="rId3" Type="http://schemas.openxmlformats.org/officeDocument/2006/relationships/notesSlide" Target="../notesSlides/notesSlide40.xml"/><Relationship Id="rId4" Type="http://schemas.openxmlformats.org/officeDocument/2006/relationships/image" Target="../media/image8.png"/><Relationship Id="rId5" Type="http://schemas.openxmlformats.org/officeDocument/2006/relationships/oleObject" Target="../embeddings/oleObject3.bin"/><Relationship Id="rId6" Type="http://schemas.openxmlformats.org/officeDocument/2006/relationships/image" Target="../media/image163.emf"/><Relationship Id="rId7" Type="http://schemas.openxmlformats.org/officeDocument/2006/relationships/chart" Target="../charts/chart17.xml"/><Relationship Id="rId8" Type="http://schemas.openxmlformats.org/officeDocument/2006/relationships/chart" Target="../charts/chart18.xml"/><Relationship Id="rId9" Type="http://schemas.openxmlformats.org/officeDocument/2006/relationships/image" Target="../media/image164.png"/><Relationship Id="rId10" Type="http://schemas.openxmlformats.org/officeDocument/2006/relationships/image" Target="../media/image18.png"/><Relationship Id="rId11" Type="http://schemas.openxmlformats.org/officeDocument/2006/relationships/chart" Target="../charts/chart19.xml"/><Relationship Id="rId12" Type="http://schemas.openxmlformats.org/officeDocument/2006/relationships/chart" Target="../charts/chart20.xml"/><Relationship Id="rId13" Type="http://schemas.openxmlformats.org/officeDocument/2006/relationships/image" Target="../media/image165.png"/><Relationship Id="rId14" Type="http://schemas.openxmlformats.org/officeDocument/2006/relationships/image" Target="../media/image166.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6.xml"/><Relationship Id="rId3" Type="http://schemas.openxmlformats.org/officeDocument/2006/relationships/image" Target="../media/image8.png"/><Relationship Id="rId4" Type="http://schemas.openxmlformats.org/officeDocument/2006/relationships/image" Target="../media/image128.png"/><Relationship Id="rId5" Type="http://schemas.openxmlformats.org/officeDocument/2006/relationships/image" Target="../media/image45.png"/><Relationship Id="rId6" Type="http://schemas.openxmlformats.org/officeDocument/2006/relationships/image" Target="../media/image129.png"/><Relationship Id="rId7" Type="http://schemas.openxmlformats.org/officeDocument/2006/relationships/image" Target="../media/image46.png"/><Relationship Id="rId8" Type="http://schemas.openxmlformats.org/officeDocument/2006/relationships/image" Target="../media/image13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6.png"/><Relationship Id="rId3" Type="http://schemas.openxmlformats.org/officeDocument/2006/relationships/image" Target="../media/image7.png"/><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chart" Target="../charts/chart9.xml"/><Relationship Id="rId7"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6.png"/><Relationship Id="rId3" Type="http://schemas.openxmlformats.org/officeDocument/2006/relationships/image" Target="../media/image7.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2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notesSlide" Target="../notesSlides/notesSlide2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6.png"/><Relationship Id="rId3" Type="http://schemas.openxmlformats.org/officeDocument/2006/relationships/image" Target="../media/image7.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9.png"/><Relationship Id="rId6" Type="http://schemas.openxmlformats.org/officeDocument/2006/relationships/image" Target="../media/image20.png"/><Relationship Id="rId7" Type="http://schemas.openxmlformats.org/officeDocument/2006/relationships/image" Target="../media/image15.png"/><Relationship Id="rId8" Type="http://schemas.openxmlformats.org/officeDocument/2006/relationships/notesSlide" Target="../notesSlides/notesSlide23.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chart" Target="../charts/chart10.xml"/><Relationship Id="rId7" Type="http://schemas.openxmlformats.org/officeDocument/2006/relationships/notesSlide" Target="../notesSlides/notesSlide24.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25.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26.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chart" Target="../charts/chart11.xml"/><Relationship Id="rId7" Type="http://schemas.openxmlformats.org/officeDocument/2006/relationships/notesSlide" Target="../notesSlides/notesSlide2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28.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29.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9.png"/><Relationship Id="rId4" Type="http://schemas.openxmlformats.org/officeDocument/2006/relationships/image" Target="../media/image22.png"/><Relationship Id="rId5" Type="http://schemas.openxmlformats.org/officeDocument/2006/relationships/image" Target="../media/image13.png"/><Relationship Id="rId6" Type="http://schemas.openxmlformats.org/officeDocument/2006/relationships/image" Target="../media/image20.png"/><Relationship Id="rId7" Type="http://schemas.openxmlformats.org/officeDocument/2006/relationships/notesSlide" Target="../notesSlides/notesSlide30.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6.png"/><Relationship Id="rId3" Type="http://schemas.openxmlformats.org/officeDocument/2006/relationships/image" Target="../media/image7.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9.png"/><Relationship Id="rId6" Type="http://schemas.openxmlformats.org/officeDocument/2006/relationships/image" Target="../media/image20.png"/><Relationship Id="rId7" Type="http://schemas.openxmlformats.org/officeDocument/2006/relationships/image" Target="../media/image15.png"/><Relationship Id="rId8" Type="http://schemas.openxmlformats.org/officeDocument/2006/relationships/notesSlide" Target="../notesSlides/notesSlide31.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chart" Target="../charts/chart12.xml"/><Relationship Id="rId7" Type="http://schemas.openxmlformats.org/officeDocument/2006/relationships/notesSlide" Target="../notesSlides/notesSlide3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chart" Target="../charts/chart13.xml"/><Relationship Id="rId7" Type="http://schemas.openxmlformats.org/officeDocument/2006/relationships/notesSlide" Target="../notesSlides/notesSlide33.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chart" Target="../charts/chart14.xml"/><Relationship Id="rId7" Type="http://schemas.openxmlformats.org/officeDocument/2006/relationships/notesSlide" Target="../notesSlides/notesSlide34.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35.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chart" Target="../charts/chart15.xml"/><Relationship Id="rId7" Type="http://schemas.openxmlformats.org/officeDocument/2006/relationships/notesSlide" Target="../notesSlides/notesSlide36.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chart" Target="../charts/chart16.xml"/><Relationship Id="rId7" Type="http://schemas.openxmlformats.org/officeDocument/2006/relationships/notesSlide" Target="../notesSlides/notesSlide3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chart" Target="../charts/chart4.xml"/><Relationship Id="rId7" Type="http://schemas.openxmlformats.org/officeDocument/2006/relationships/notesSlide" Target="../notesSlides/notesSlide38.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chart" Target="../charts/chart3.xml"/><Relationship Id="rId7" Type="http://schemas.openxmlformats.org/officeDocument/2006/relationships/notesSlide" Target="../notesSlides/notesSlide39.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9.png"/><Relationship Id="rId4" Type="http://schemas.openxmlformats.org/officeDocument/2006/relationships/image" Target="../media/image22.png"/><Relationship Id="rId5" Type="http://schemas.openxmlformats.org/officeDocument/2006/relationships/image" Target="../media/image13.png"/><Relationship Id="rId6" Type="http://schemas.openxmlformats.org/officeDocument/2006/relationships/image" Target="../media/image20.png"/><Relationship Id="rId7" Type="http://schemas.openxmlformats.org/officeDocument/2006/relationships/notesSlide" Target="../notesSlides/notesSlide1.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6.png"/><Relationship Id="rId3" Type="http://schemas.openxmlformats.org/officeDocument/2006/relationships/image" Target="../media/image7.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9.png"/><Relationship Id="rId6" Type="http://schemas.openxmlformats.org/officeDocument/2006/relationships/image" Target="../media/image20.png"/><Relationship Id="rId7" Type="http://schemas.openxmlformats.org/officeDocument/2006/relationships/image" Target="../media/image15.png"/><Relationship Id="rId8" Type="http://schemas.openxmlformats.org/officeDocument/2006/relationships/notesSlide" Target="../notesSlides/notesSlide41.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4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chart" Target="../charts/chart2.xml"/><Relationship Id="rId7" Type="http://schemas.openxmlformats.org/officeDocument/2006/relationships/notesSlide" Target="../notesSlides/notesSlide43.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44.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chart" Target="../charts/chart1.xml"/><Relationship Id="rId7" Type="http://schemas.openxmlformats.org/officeDocument/2006/relationships/notesSlide" Target="../notesSlides/notesSlide45.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chart" Target="../charts/chart21.xml"/><Relationship Id="rId7" Type="http://schemas.openxmlformats.org/officeDocument/2006/relationships/notesSlide" Target="../notesSlides/notesSlide46.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9.png"/><Relationship Id="rId4" Type="http://schemas.openxmlformats.org/officeDocument/2006/relationships/image" Target="../media/image22.png"/><Relationship Id="rId5" Type="http://schemas.openxmlformats.org/officeDocument/2006/relationships/image" Target="../media/image13.png"/><Relationship Id="rId6" Type="http://schemas.openxmlformats.org/officeDocument/2006/relationships/image" Target="../media/image20.png"/><Relationship Id="rId7" Type="http://schemas.openxmlformats.org/officeDocument/2006/relationships/notesSlide" Target="../notesSlides/notesSlide4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6.png"/><Relationship Id="rId3" Type="http://schemas.openxmlformats.org/officeDocument/2006/relationships/image" Target="../media/image7.pn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9.png"/><Relationship Id="rId6" Type="http://schemas.openxmlformats.org/officeDocument/2006/relationships/image" Target="../media/image20.png"/><Relationship Id="rId7" Type="http://schemas.openxmlformats.org/officeDocument/2006/relationships/image" Target="../media/image15.png"/><Relationship Id="rId8" Type="http://schemas.openxmlformats.org/officeDocument/2006/relationships/notesSlide" Target="../notesSlides/notesSlide48.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49.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chart" Target="../charts/chart22.xml"/><Relationship Id="rId7" Type="http://schemas.openxmlformats.org/officeDocument/2006/relationships/notesSlide" Target="../notesSlides/notesSlide50.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chart" Target="../charts/chart23.xml"/><Relationship Id="rId7" Type="http://schemas.openxmlformats.org/officeDocument/2006/relationships/notesSlide" Target="../notesSlides/notesSlide51.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chart" Target="../charts/chart24.xml"/><Relationship Id="rId7" Type="http://schemas.openxmlformats.org/officeDocument/2006/relationships/notesSlide" Target="../notesSlides/notesSlide5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53.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9.png"/><Relationship Id="rId4" Type="http://schemas.openxmlformats.org/officeDocument/2006/relationships/image" Target="../media/image22.png"/><Relationship Id="rId5" Type="http://schemas.openxmlformats.org/officeDocument/2006/relationships/image" Target="../media/image13.png"/><Relationship Id="rId6" Type="http://schemas.openxmlformats.org/officeDocument/2006/relationships/image" Target="../media/image20.png"/><Relationship Id="rId7" Type="http://schemas.openxmlformats.org/officeDocument/2006/relationships/notesSlide" Target="../notesSlides/notesSlide54.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6.png"/><Relationship Id="rId3" Type="http://schemas.openxmlformats.org/officeDocument/2006/relationships/image" Target="../media/image7.png"/></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9.png"/><Relationship Id="rId6" Type="http://schemas.openxmlformats.org/officeDocument/2006/relationships/image" Target="../media/image20.png"/><Relationship Id="rId7" Type="http://schemas.openxmlformats.org/officeDocument/2006/relationships/image" Target="../media/image15.png"/><Relationship Id="rId8" Type="http://schemas.openxmlformats.org/officeDocument/2006/relationships/notesSlide" Target="../notesSlides/notesSlide55.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chart" Target="../charts/chart25.xml"/><Relationship Id="rId7" Type="http://schemas.openxmlformats.org/officeDocument/2006/relationships/notesSlide" Target="../notesSlides/notesSlide56.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chart" Target="../charts/chart26.xml"/><Relationship Id="rId7" Type="http://schemas.openxmlformats.org/officeDocument/2006/relationships/notesSlide" Target="../notesSlides/notesSlide57.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chart" Target="../charts/chart27.xml"/><Relationship Id="rId7" Type="http://schemas.openxmlformats.org/officeDocument/2006/relationships/notesSlide" Target="../notesSlides/notesSlide58.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59.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chart" Target="../charts/chart28.xml"/><Relationship Id="rId7" Type="http://schemas.openxmlformats.org/officeDocument/2006/relationships/notesSlide" Target="../notesSlides/notesSlide60.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61.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9.png"/><Relationship Id="rId4" Type="http://schemas.openxmlformats.org/officeDocument/2006/relationships/image" Target="../media/image22.png"/><Relationship Id="rId5" Type="http://schemas.openxmlformats.org/officeDocument/2006/relationships/image" Target="../media/image13.png"/><Relationship Id="rId6" Type="http://schemas.openxmlformats.org/officeDocument/2006/relationships/image" Target="../media/image20.png"/><Relationship Id="rId7" Type="http://schemas.openxmlformats.org/officeDocument/2006/relationships/notesSlide" Target="../notesSlides/notesSlide6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6.png"/><Relationship Id="rId3" Type="http://schemas.openxmlformats.org/officeDocument/2006/relationships/image" Target="../media/image7.png"/></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chart" Target="../charts/chart29.xml"/><Relationship Id="rId7" Type="http://schemas.openxmlformats.org/officeDocument/2006/relationships/notesSlide" Target="../notesSlides/notesSlide63.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64.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6.png"/><Relationship Id="rId3" Type="http://schemas.openxmlformats.org/officeDocument/2006/relationships/image" Target="../media/image7.png"/></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9.png"/><Relationship Id="rId6" Type="http://schemas.openxmlformats.org/officeDocument/2006/relationships/image" Target="../media/image20.png"/><Relationship Id="rId7" Type="http://schemas.openxmlformats.org/officeDocument/2006/relationships/image" Target="../media/image15.png"/><Relationship Id="rId8" Type="http://schemas.openxmlformats.org/officeDocument/2006/relationships/notesSlide" Target="../notesSlides/notesSlide65.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66.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chart" Target="../charts/chart30.xml"/><Relationship Id="rId7" Type="http://schemas.openxmlformats.org/officeDocument/2006/relationships/notesSlide" Target="../notesSlides/notesSlide67.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chart" Target="../charts/chart31.xml"/><Relationship Id="rId7" Type="http://schemas.openxmlformats.org/officeDocument/2006/relationships/notesSlide" Target="../notesSlides/notesSlide68.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chart" Target="../charts/chart32.xml"/><Relationship Id="rId7" Type="http://schemas.openxmlformats.org/officeDocument/2006/relationships/notesSlide" Target="../notesSlides/notesSlide69.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70.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chart" Target="../charts/chart33.xml"/><Relationship Id="rId7" Type="http://schemas.openxmlformats.org/officeDocument/2006/relationships/notesSlide" Target="../notesSlides/notesSlide71.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chart" Target="../charts/chart34.xml"/><Relationship Id="rId7" Type="http://schemas.openxmlformats.org/officeDocument/2006/relationships/notesSlide" Target="../notesSlides/notesSlide7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9.png"/><Relationship Id="rId4" Type="http://schemas.openxmlformats.org/officeDocument/2006/relationships/image" Target="../media/image22.png"/><Relationship Id="rId5" Type="http://schemas.openxmlformats.org/officeDocument/2006/relationships/image" Target="../media/image13.png"/><Relationship Id="rId6" Type="http://schemas.openxmlformats.org/officeDocument/2006/relationships/image" Target="../media/image20.png"/><Relationship Id="rId7" Type="http://schemas.openxmlformats.org/officeDocument/2006/relationships/notesSlide" Target="../notesSlides/notesSlide73.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6.png"/><Relationship Id="rId3" Type="http://schemas.openxmlformats.org/officeDocument/2006/relationships/image" Target="../media/image7.png"/><Relationship Id="rId4" Type="http://schemas.openxmlformats.org/officeDocument/2006/relationships/notesSlide" Target="../notesSlides/notesSlide74.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75.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76.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image" Target="../media/image8.png"/><Relationship Id="rId3" Type="http://schemas.openxmlformats.org/officeDocument/2006/relationships/image" Target="../media/image66.png"/><Relationship Id="rId4" Type="http://schemas.openxmlformats.org/officeDocument/2006/relationships/image" Target="../media/image67.png"/><Relationship Id="rId5" Type="http://schemas.openxmlformats.org/officeDocument/2006/relationships/image" Target="../media/image68.png"/><Relationship Id="rId6" Type="http://schemas.openxmlformats.org/officeDocument/2006/relationships/image" Target="../media/image18.png"/><Relationship Id="rId7" Type="http://schemas.openxmlformats.org/officeDocument/2006/relationships/notesSlide" Target="../notesSlides/notesSlide77.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78.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9.png"/><Relationship Id="rId6" Type="http://schemas.openxmlformats.org/officeDocument/2006/relationships/image" Target="../media/image20.png"/><Relationship Id="rId7" Type="http://schemas.openxmlformats.org/officeDocument/2006/relationships/image" Target="../media/image15.png"/><Relationship Id="rId8" Type="http://schemas.openxmlformats.org/officeDocument/2006/relationships/notesSlide" Target="../notesSlides/notesSlide79.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62.png"/><Relationship Id="rId4" Type="http://schemas.openxmlformats.org/officeDocument/2006/relationships/notesSlide" Target="../notesSlides/notesSlide80.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81.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82.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83.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84.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chart" Target="../charts/chart35.xml"/><Relationship Id="rId7" Type="http://schemas.openxmlformats.org/officeDocument/2006/relationships/notesSlide" Target="../notesSlides/notesSlide85.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86.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87.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88.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89.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90.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91.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92.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93.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94.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9.png"/><Relationship Id="rId6" Type="http://schemas.openxmlformats.org/officeDocument/2006/relationships/image" Target="../media/image20.png"/><Relationship Id="rId7" Type="http://schemas.openxmlformats.org/officeDocument/2006/relationships/image" Target="../media/image15.png"/><Relationship Id="rId8" Type="http://schemas.openxmlformats.org/officeDocument/2006/relationships/notesSlide" Target="../notesSlides/notesSlide95.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chart" Target="../charts/chart36.xml"/><Relationship Id="rId7" Type="http://schemas.openxmlformats.org/officeDocument/2006/relationships/notesSlide" Target="../notesSlides/notesSlide96.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97.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chart" Target="../charts/chart37.xml"/><Relationship Id="rId7" Type="http://schemas.openxmlformats.org/officeDocument/2006/relationships/notesSlide" Target="../notesSlides/notesSlide98.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99.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100.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101.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9.png"/><Relationship Id="rId4" Type="http://schemas.openxmlformats.org/officeDocument/2006/relationships/image" Target="../media/image22.png"/><Relationship Id="rId5" Type="http://schemas.openxmlformats.org/officeDocument/2006/relationships/image" Target="../media/image13.png"/><Relationship Id="rId6" Type="http://schemas.openxmlformats.org/officeDocument/2006/relationships/image" Target="../media/image20.png"/><Relationship Id="rId7" Type="http://schemas.openxmlformats.org/officeDocument/2006/relationships/notesSlide" Target="../notesSlides/notesSlide102.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6.png"/><Relationship Id="rId3" Type="http://schemas.openxmlformats.org/officeDocument/2006/relationships/image" Target="../media/image7.png"/></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9.png"/><Relationship Id="rId6" Type="http://schemas.openxmlformats.org/officeDocument/2006/relationships/image" Target="../media/image20.png"/><Relationship Id="rId7" Type="http://schemas.openxmlformats.org/officeDocument/2006/relationships/image" Target="../media/image15.png"/><Relationship Id="rId8" Type="http://schemas.openxmlformats.org/officeDocument/2006/relationships/notesSlide" Target="../notesSlides/notesSlide103.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104.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chart" Target="../charts/chart38.xml"/><Relationship Id="rId7" Type="http://schemas.openxmlformats.org/officeDocument/2006/relationships/notesSlide" Target="../notesSlides/notesSlide105.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chart" Target="../charts/chart39.xml"/><Relationship Id="rId7" Type="http://schemas.openxmlformats.org/officeDocument/2006/relationships/notesSlide" Target="../notesSlides/notesSlide106.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107.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9.png"/><Relationship Id="rId4" Type="http://schemas.openxmlformats.org/officeDocument/2006/relationships/image" Target="../media/image22.png"/><Relationship Id="rId5" Type="http://schemas.openxmlformats.org/officeDocument/2006/relationships/image" Target="../media/image13.png"/><Relationship Id="rId6" Type="http://schemas.openxmlformats.org/officeDocument/2006/relationships/image" Target="../media/image20.png"/><Relationship Id="rId7" Type="http://schemas.openxmlformats.org/officeDocument/2006/relationships/notesSlide" Target="../notesSlides/notesSlide108.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6.png"/><Relationship Id="rId3" Type="http://schemas.openxmlformats.org/officeDocument/2006/relationships/image" Target="../media/image7.png"/></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9.png"/><Relationship Id="rId6" Type="http://schemas.openxmlformats.org/officeDocument/2006/relationships/image" Target="../media/image20.png"/><Relationship Id="rId7" Type="http://schemas.openxmlformats.org/officeDocument/2006/relationships/image" Target="../media/image15.png"/><Relationship Id="rId8" Type="http://schemas.openxmlformats.org/officeDocument/2006/relationships/notesSlide" Target="../notesSlides/notesSlide109.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notesSlide" Target="../notesSlides/notesSlide110.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111.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9.png"/><Relationship Id="rId6" Type="http://schemas.openxmlformats.org/officeDocument/2006/relationships/image" Target="../media/image20.png"/><Relationship Id="rId7" Type="http://schemas.openxmlformats.org/officeDocument/2006/relationships/image" Target="../media/image15.png"/><Relationship Id="rId8" Type="http://schemas.openxmlformats.org/officeDocument/2006/relationships/notesSlide" Target="../notesSlides/notesSlide112.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notesSlide" Target="../notesSlides/notesSlide113.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114.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6.png"/><Relationship Id="rId3" Type="http://schemas.openxmlformats.org/officeDocument/2006/relationships/image" Target="../media/image7.png"/></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115.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9.png"/><Relationship Id="rId4" Type="http://schemas.openxmlformats.org/officeDocument/2006/relationships/image" Target="../media/image22.png"/><Relationship Id="rId5" Type="http://schemas.openxmlformats.org/officeDocument/2006/relationships/image" Target="../media/image13.png"/><Relationship Id="rId6" Type="http://schemas.openxmlformats.org/officeDocument/2006/relationships/image" Target="../media/image20.png"/><Relationship Id="rId7" Type="http://schemas.openxmlformats.org/officeDocument/2006/relationships/notesSlide" Target="../notesSlides/notesSlide116.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9.png"/><Relationship Id="rId4" Type="http://schemas.openxmlformats.org/officeDocument/2006/relationships/image" Target="../media/image22.png"/><Relationship Id="rId5" Type="http://schemas.openxmlformats.org/officeDocument/2006/relationships/image" Target="../media/image13.png"/><Relationship Id="rId6" Type="http://schemas.openxmlformats.org/officeDocument/2006/relationships/image" Target="../media/image20.png"/><Relationship Id="rId7" Type="http://schemas.openxmlformats.org/officeDocument/2006/relationships/notesSlide" Target="../notesSlides/notesSlide117.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9.png"/><Relationship Id="rId4" Type="http://schemas.openxmlformats.org/officeDocument/2006/relationships/image" Target="../media/image22.png"/><Relationship Id="rId5" Type="http://schemas.openxmlformats.org/officeDocument/2006/relationships/image" Target="../media/image13.png"/><Relationship Id="rId6" Type="http://schemas.openxmlformats.org/officeDocument/2006/relationships/image" Target="../media/image20.png"/><Relationship Id="rId7" Type="http://schemas.openxmlformats.org/officeDocument/2006/relationships/notesSlide" Target="../notesSlides/notesSlide118.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9.png"/><Relationship Id="rId4" Type="http://schemas.openxmlformats.org/officeDocument/2006/relationships/image" Target="../media/image22.png"/><Relationship Id="rId5" Type="http://schemas.openxmlformats.org/officeDocument/2006/relationships/image" Target="../media/image13.png"/><Relationship Id="rId6" Type="http://schemas.openxmlformats.org/officeDocument/2006/relationships/image" Target="../media/image20.png"/><Relationship Id="rId7" Type="http://schemas.openxmlformats.org/officeDocument/2006/relationships/notesSlide" Target="../notesSlides/notesSlide119.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9.png"/><Relationship Id="rId4" Type="http://schemas.openxmlformats.org/officeDocument/2006/relationships/image" Target="../media/image22.png"/><Relationship Id="rId5" Type="http://schemas.openxmlformats.org/officeDocument/2006/relationships/image" Target="../media/image13.png"/><Relationship Id="rId6" Type="http://schemas.openxmlformats.org/officeDocument/2006/relationships/image" Target="../media/image20.png"/><Relationship Id="rId7" Type="http://schemas.openxmlformats.org/officeDocument/2006/relationships/notesSlide" Target="../notesSlides/notesSlide120.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9.png"/><Relationship Id="rId4" Type="http://schemas.openxmlformats.org/officeDocument/2006/relationships/image" Target="../media/image22.png"/><Relationship Id="rId5" Type="http://schemas.openxmlformats.org/officeDocument/2006/relationships/image" Target="../media/image13.png"/><Relationship Id="rId6" Type="http://schemas.openxmlformats.org/officeDocument/2006/relationships/image" Target="../media/image20.png"/><Relationship Id="rId7" Type="http://schemas.openxmlformats.org/officeDocument/2006/relationships/notesSlide" Target="../notesSlides/notesSlide121.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image" Target="../media/image32.png"/><Relationship Id="rId7" Type="http://schemas.openxmlformats.org/officeDocument/2006/relationships/notesSlide" Target="../notesSlides/notesSlide122.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image" Target="../media/image33.png"/><Relationship Id="rId7" Type="http://schemas.openxmlformats.org/officeDocument/2006/relationships/notesSlide" Target="../notesSlides/notesSlide123.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image" Target="../media/image34.png"/><Relationship Id="rId7" Type="http://schemas.openxmlformats.org/officeDocument/2006/relationships/notesSlide" Target="../notesSlides/notesSlide124.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image" Target="../media/image35.png"/><Relationship Id="rId7" Type="http://schemas.openxmlformats.org/officeDocument/2006/relationships/notesSlide" Target="../notesSlides/notesSlide125.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image" Target="../media/image36.png"/><Relationship Id="rId7" Type="http://schemas.openxmlformats.org/officeDocument/2006/relationships/notesSlide" Target="../notesSlides/notesSlide126.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image" Target="../media/image37.png"/><Relationship Id="rId7" Type="http://schemas.openxmlformats.org/officeDocument/2006/relationships/notesSlide" Target="../notesSlides/notesSlide127.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image" Target="../media/image38.png"/><Relationship Id="rId7" Type="http://schemas.openxmlformats.org/officeDocument/2006/relationships/notesSlide" Target="../notesSlides/notesSlide128.xm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9.png"/><Relationship Id="rId6" Type="http://schemas.openxmlformats.org/officeDocument/2006/relationships/image" Target="../media/image20.png"/><Relationship Id="rId7" Type="http://schemas.openxmlformats.org/officeDocument/2006/relationships/image" Target="../media/image15.png"/><Relationship Id="rId8" Type="http://schemas.openxmlformats.org/officeDocument/2006/relationships/notesSlide" Target="../notesSlides/notesSlide129.xml"/></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6.png"/><Relationship Id="rId3" Type="http://schemas.openxmlformats.org/officeDocument/2006/relationships/image" Target="../media/image7.png"/></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130.xml"/></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131.xml"/></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6.png"/><Relationship Id="rId3" Type="http://schemas.openxmlformats.org/officeDocument/2006/relationships/image" Target="../media/image7.png"/></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132.xml"/></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133.xml"/></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s>
</file>

<file path=ppt/slides/_rels/slide15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70.png"/><Relationship Id="rId3" Type="http://schemas.openxmlformats.org/officeDocument/2006/relationships/image" Target="../media/image6.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 name="Image 15"/>
          <p:cNvPicPr>
            <a:picLocks noChangeAspect="1"/>
          </p:cNvPicPr>
          <p:nvPr/>
        </p:nvPicPr>
        <p:blipFill rotWithShape="1">
          <a:blip r:embed="rId2" cstate="print">
            <a:extLst>
              <a:ext uri="{28A0092B-C50C-407E-A947-70E740481C1C}">
                <a14:useLocalDpi xmlns:a14="http://schemas.microsoft.com/office/drawing/2010/main" val="0"/>
              </a:ext>
            </a:extLst>
          </a:blip>
          <a:srcRect l="-175" t="524" r="-2445" b="9082"/>
          <a:stretch/>
        </p:blipFill>
        <p:spPr>
          <a:xfrm>
            <a:off x="4883082" y="0"/>
            <a:ext cx="7785652" cy="6858000"/>
          </a:xfrm>
          <a:prstGeom prst="rect">
            <a:avLst/>
          </a:prstGeom>
        </p:spPr>
      </p:pic>
      <p:sp>
        <p:nvSpPr>
          <p:cNvPr id="5" name="Rectangle 4"/>
          <p:cNvSpPr/>
          <p:nvPr/>
        </p:nvSpPr>
        <p:spPr>
          <a:xfrm>
            <a:off x="13092" y="0"/>
            <a:ext cx="5740400" cy="6858000"/>
          </a:xfrm>
          <a:prstGeom prst="rect">
            <a:avLst/>
          </a:prstGeom>
          <a:solidFill>
            <a:srgbClr val="06060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CI" noProof="0"/>
          </a:p>
        </p:txBody>
      </p:sp>
      <p:pic>
        <p:nvPicPr>
          <p:cNvPr id="6" name="Image 5">
            <a:extLst>
              <a:ext uri="{FF2B5EF4-FFF2-40B4-BE49-F238E27FC236}">
                <a16:creationId xmlns:a16="http://schemas.microsoft.com/office/drawing/2014/main" id="{2C356854-0685-DCEF-E2F6-65D5E9653A47}"/>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25248" y="-135577"/>
            <a:ext cx="3261353" cy="1301437"/>
          </a:xfrm>
          <a:prstGeom prst="rect">
            <a:avLst/>
          </a:prstGeom>
        </p:spPr>
      </p:pic>
      <p:sp>
        <p:nvSpPr>
          <p:cNvPr id="8" name="Text Placeholder 4">
            <a:extLst>
              <a:ext uri="{FF2B5EF4-FFF2-40B4-BE49-F238E27FC236}">
                <a16:creationId xmlns:a16="http://schemas.microsoft.com/office/drawing/2014/main" id="{5B17207E-7FD3-4B75-ADFE-CC565F8DB8A1}"/>
              </a:ext>
            </a:extLst>
          </p:cNvPr>
          <p:cNvSpPr txBox="1">
            <a:spLocks/>
          </p:cNvSpPr>
          <p:nvPr/>
        </p:nvSpPr>
        <p:spPr>
          <a:xfrm>
            <a:off x="7740000" y="6388244"/>
            <a:ext cx="3960000" cy="337676"/>
          </a:xfrm>
          <a:prstGeom prst="rect">
            <a:avLst/>
          </a:prstGeom>
        </p:spPr>
        <p:txBody>
          <a:bodyPr vert="horz" lIns="91440" tIns="45720" rIns="91440" bIns="45720" rtlCol="0" anchor="ctr">
            <a:noAutofit/>
          </a:bodyPr>
          <a:lstStyle>
            <a:defPPr>
              <a:defRPr lang="fr-FR"/>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fr-CI" sz="1000" noProof="0">
                <a:solidFill>
                  <a:srgbClr val="FFFFFF"/>
                </a:solidFill>
                <a:latin typeface=".Helvetica"/>
                <a:ea typeface=".Helvetica Neue Interface" panose="020B0604020202020204" pitchFamily="34" charset="0"/>
                <a:cs typeface="Open Sans"/>
              </a:rPr>
              <a:t>Rapport d'étape au 15 octobre 2026, version 3</a:t>
            </a:r>
          </a:p>
        </p:txBody>
      </p:sp>
      <p:sp>
        <p:nvSpPr>
          <p:cNvPr id="9" name="Google Shape;138;p25"/>
          <p:cNvSpPr txBox="1"/>
          <p:nvPr/>
        </p:nvSpPr>
        <p:spPr>
          <a:xfrm>
            <a:off x="908861" y="2534894"/>
            <a:ext cx="4608000" cy="1231106"/>
          </a:xfrm>
          <a:prstGeom prst="rect">
            <a:avLst/>
          </a:prstGeom>
          <a:noFill/>
          <a:ln>
            <a:noFill/>
          </a:ln>
        </p:spPr>
        <p:txBody>
          <a:bodyPr spcFirstLastPara="1" wrap="square" lIns="0" tIns="0" rIns="0" bIns="0" anchor="t" anchorCtr="0">
            <a:spAutoFit/>
          </a:bodyPr>
          <a:lstStyle/>
          <a:p>
            <a:r>
              <a:rPr lang="fr-CI" sz="4000" b="1" noProof="0">
                <a:solidFill>
                  <a:schemeClr val="bg1"/>
                </a:solidFill>
                <a:latin typeface="Helvetica" panose="020B0604020202020204" pitchFamily="34" charset="0"/>
                <a:cs typeface="Helvetica" panose="020B0604020202020204" pitchFamily="34" charset="0"/>
              </a:rPr>
              <a:t>Rapport actuariel</a:t>
            </a:r>
          </a:p>
          <a:p>
            <a:r>
              <a:rPr lang="fr-CI" sz="4000" b="1" noProof="0">
                <a:solidFill>
                  <a:schemeClr val="bg1"/>
                </a:solidFill>
                <a:latin typeface="Helvetica" panose="020B0604020202020204" pitchFamily="34" charset="0"/>
                <a:cs typeface="Helvetica" panose="020B0604020202020204" pitchFamily="34" charset="0"/>
              </a:rPr>
              <a:t>et statistique</a:t>
            </a:r>
          </a:p>
          <a:p>
            <a:r>
              <a:rPr lang="fr-CI" sz="4000" b="1" noProof="0">
                <a:solidFill>
                  <a:schemeClr val="bg1"/>
                </a:solidFill>
                <a:latin typeface="Helvetica" panose="020B0604020202020204" pitchFamily="34" charset="0"/>
                <a:cs typeface="Helvetica" panose="020B0604020202020204" pitchFamily="34" charset="0"/>
              </a:rPr>
              <a:t>du FPPN</a:t>
            </a:r>
          </a:p>
        </p:txBody>
      </p:sp>
      <p:sp>
        <p:nvSpPr>
          <p:cNvPr id="14" name="ZoneTexte 13">
            <a:extLst>
              <a:ext uri="{FF2B5EF4-FFF2-40B4-BE49-F238E27FC236}">
                <a16:creationId xmlns:a16="http://schemas.microsoft.com/office/drawing/2014/main" id="{C6E7D94B-8E49-C846-A392-87DFA5EF4A9D}"/>
              </a:ext>
            </a:extLst>
          </p:cNvPr>
          <p:cNvSpPr txBox="1"/>
          <p:nvPr/>
        </p:nvSpPr>
        <p:spPr>
          <a:xfrm>
            <a:off x="456025" y="6300894"/>
            <a:ext cx="4653185" cy="338554"/>
          </a:xfrm>
          <a:prstGeom prst="rect">
            <a:avLst/>
          </a:prstGeom>
          <a:noFill/>
        </p:spPr>
        <p:txBody>
          <a:bodyPr wrap="square">
            <a:spAutoFit/>
          </a:bodyPr>
          <a:lstStyle/>
          <a:p>
            <a:r>
              <a:rPr lang="fr-CI" sz="1600" noProof="0">
                <a:solidFill>
                  <a:schemeClr val="bg1"/>
                </a:solidFill>
                <a:latin typeface="Helvetica" panose="020B0604020202020204" pitchFamily="34" charset="0"/>
                <a:cs typeface="Helvetica" panose="020B0604020202020204" pitchFamily="34" charset="0"/>
              </a:rPr>
              <a:t>Empreinte Africaine, Expertise Internationale</a:t>
            </a:r>
          </a:p>
        </p:txBody>
      </p:sp>
      <p:sp>
        <p:nvSpPr>
          <p:cNvPr id="12" name="Rectangle 11"/>
          <p:cNvSpPr/>
          <p:nvPr/>
        </p:nvSpPr>
        <p:spPr>
          <a:xfrm>
            <a:off x="9487408" y="229231"/>
            <a:ext cx="2704592" cy="1323439"/>
          </a:xfrm>
          <a:prstGeom prst="rect">
            <a:avLst/>
          </a:prstGeom>
        </p:spPr>
        <p:txBody>
          <a:bodyPr wrap="square">
            <a:spAutoFit/>
          </a:bodyPr>
          <a:lstStyle/>
          <a:p>
            <a:pPr eaLnBrk="0" fontAlgn="base" hangingPunct="0">
              <a:spcBef>
                <a:spcPct val="0"/>
              </a:spcBef>
              <a:spcAft>
                <a:spcPct val="0"/>
              </a:spcAft>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pPr>
            <a:r>
              <a:rPr lang="fr-CI" sz="1000" noProof="0">
                <a:solidFill>
                  <a:schemeClr val="bg1"/>
                </a:solidFill>
                <a:latin typeface="Helvetica" panose="020B0604020202020204" pitchFamily="34" charset="0"/>
                <a:ea typeface="Times New Roman" panose="02020603050405020304" pitchFamily="18" charset="0"/>
                <a:cs typeface="Helvetica" panose="020B0604020202020204" pitchFamily="34" charset="0"/>
              </a:rPr>
              <a:t>SA au Capital de 100 millions FCFA </a:t>
            </a:r>
          </a:p>
          <a:p>
            <a:pPr eaLnBrk="0" fontAlgn="base" hangingPunct="0">
              <a:spcBef>
                <a:spcPct val="0"/>
              </a:spcBef>
              <a:spcAft>
                <a:spcPct val="0"/>
              </a:spcAft>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pPr>
            <a:r>
              <a:rPr lang="fr-CI" sz="1000" noProof="0">
                <a:solidFill>
                  <a:schemeClr val="bg1"/>
                </a:solidFill>
                <a:latin typeface="Helvetica" panose="020B0604020202020204" pitchFamily="34" charset="0"/>
                <a:ea typeface="Times New Roman" panose="02020603050405020304" pitchFamily="18" charset="0"/>
                <a:cs typeface="Helvetica" panose="020B0604020202020204" pitchFamily="34" charset="0"/>
              </a:rPr>
              <a:t>Immeuble le 24, 3e étage</a:t>
            </a:r>
          </a:p>
          <a:p>
            <a:pPr eaLnBrk="0" fontAlgn="base" hangingPunct="0">
              <a:spcBef>
                <a:spcPct val="0"/>
              </a:spcBef>
              <a:spcAft>
                <a:spcPct val="0"/>
              </a:spcAft>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pPr>
            <a:r>
              <a:rPr lang="fr-CI" sz="1000" noProof="0">
                <a:solidFill>
                  <a:schemeClr val="bg1"/>
                </a:solidFill>
                <a:latin typeface="Helvetica" panose="020B0604020202020204" pitchFamily="34" charset="0"/>
                <a:ea typeface="Times New Roman" panose="02020603050405020304" pitchFamily="18" charset="0"/>
                <a:cs typeface="Helvetica" panose="020B0604020202020204" pitchFamily="34" charset="0"/>
              </a:rPr>
              <a:t>Boulevard </a:t>
            </a:r>
            <a:r>
              <a:rPr lang="fr-CI" sz="1000" noProof="0" err="1">
                <a:solidFill>
                  <a:schemeClr val="bg1"/>
                </a:solidFill>
                <a:latin typeface="Helvetica" panose="020B0604020202020204" pitchFamily="34" charset="0"/>
                <a:ea typeface="Times New Roman" panose="02020603050405020304" pitchFamily="18" charset="0"/>
                <a:cs typeface="Helvetica" panose="020B0604020202020204" pitchFamily="34" charset="0"/>
              </a:rPr>
              <a:t>Clozel</a:t>
            </a:r>
            <a:r>
              <a:rPr lang="fr-CI" sz="1000" noProof="0">
                <a:solidFill>
                  <a:schemeClr val="bg1"/>
                </a:solidFill>
                <a:latin typeface="Helvetica" panose="020B0604020202020204" pitchFamily="34" charset="0"/>
                <a:ea typeface="Times New Roman" panose="02020603050405020304" pitchFamily="18" charset="0"/>
                <a:cs typeface="Helvetica" panose="020B0604020202020204" pitchFamily="34" charset="0"/>
              </a:rPr>
              <a:t>, Plateau, Abidjan </a:t>
            </a:r>
          </a:p>
          <a:p>
            <a:pPr eaLnBrk="0" fontAlgn="base" hangingPunct="0">
              <a:spcBef>
                <a:spcPct val="0"/>
              </a:spcBef>
              <a:spcAft>
                <a:spcPct val="0"/>
              </a:spcAft>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pPr>
            <a:r>
              <a:rPr lang="fr-CI" sz="1000" noProof="0">
                <a:solidFill>
                  <a:schemeClr val="bg1"/>
                </a:solidFill>
                <a:latin typeface="Helvetica" panose="020B0604020202020204" pitchFamily="34" charset="0"/>
                <a:ea typeface="Times New Roman" panose="02020603050405020304" pitchFamily="18" charset="0"/>
                <a:cs typeface="Helvetica" panose="020B0604020202020204" pitchFamily="34" charset="0"/>
              </a:rPr>
              <a:t>06 BPM 459 Abidjan 06, Côte d’ivoire</a:t>
            </a:r>
          </a:p>
          <a:p>
            <a:pPr eaLnBrk="0" fontAlgn="base" hangingPunct="0">
              <a:spcBef>
                <a:spcPct val="0"/>
              </a:spcBef>
              <a:spcAft>
                <a:spcPct val="0"/>
              </a:spcAft>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pPr>
            <a:r>
              <a:rPr lang="fr-CI" sz="1000" noProof="0">
                <a:solidFill>
                  <a:schemeClr val="bg1"/>
                </a:solidFill>
                <a:latin typeface="Helvetica" panose="020B0604020202020204" pitchFamily="34" charset="0"/>
                <a:ea typeface="Times New Roman" panose="02020603050405020304" pitchFamily="18" charset="0"/>
                <a:cs typeface="Helvetica" panose="020B0604020202020204" pitchFamily="34" charset="0"/>
              </a:rPr>
              <a:t>NCC : 2404702K</a:t>
            </a:r>
          </a:p>
          <a:p>
            <a:pPr eaLnBrk="0" fontAlgn="base" hangingPunct="0">
              <a:spcBef>
                <a:spcPct val="0"/>
              </a:spcBef>
              <a:spcAft>
                <a:spcPct val="0"/>
              </a:spcAft>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pPr>
            <a:r>
              <a:rPr lang="fr-CI" sz="1000" noProof="0">
                <a:solidFill>
                  <a:schemeClr val="bg1"/>
                </a:solidFill>
                <a:latin typeface="Helvetica" panose="020B0604020202020204" pitchFamily="34" charset="0"/>
                <a:ea typeface="Times New Roman" panose="02020603050405020304" pitchFamily="18" charset="0"/>
                <a:cs typeface="Helvetica" panose="020B0604020202020204" pitchFamily="34" charset="0"/>
              </a:rPr>
              <a:t>RCCM : CI-ABJ-03-2024-B14-00114 </a:t>
            </a:r>
          </a:p>
          <a:p>
            <a:pPr eaLnBrk="0" fontAlgn="base" hangingPunct="0">
              <a:spcBef>
                <a:spcPct val="0"/>
              </a:spcBef>
              <a:spcAft>
                <a:spcPct val="0"/>
              </a:spcAft>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pPr>
            <a:r>
              <a:rPr lang="fr-CI" sz="1000" noProof="0">
                <a:solidFill>
                  <a:schemeClr val="bg1"/>
                </a:solidFill>
                <a:latin typeface="Helvetica" panose="020B0604020202020204" pitchFamily="34" charset="0"/>
                <a:ea typeface="Times New Roman" panose="02020603050405020304" pitchFamily="18" charset="0"/>
                <a:cs typeface="Helvetica" panose="020B0604020202020204" pitchFamily="34" charset="0"/>
              </a:rPr>
              <a:t>Tel (225) 27 20 33 90 90 </a:t>
            </a:r>
          </a:p>
          <a:p>
            <a:pPr eaLnBrk="0" fontAlgn="base" hangingPunct="0">
              <a:spcBef>
                <a:spcPct val="0"/>
              </a:spcBef>
              <a:spcAft>
                <a:spcPct val="0"/>
              </a:spcAft>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pPr>
            <a:r>
              <a:rPr lang="fr-CI" sz="1000" noProof="0">
                <a:solidFill>
                  <a:schemeClr val="bg1"/>
                </a:solidFill>
                <a:latin typeface="Helvetica" panose="020B0604020202020204" pitchFamily="34" charset="0"/>
                <a:ea typeface="Times New Roman" panose="02020603050405020304" pitchFamily="18" charset="0"/>
                <a:cs typeface="Helvetica" panose="020B0604020202020204" pitchFamily="34" charset="0"/>
              </a:rPr>
              <a:t>www.adenka.ci</a:t>
            </a:r>
          </a:p>
        </p:txBody>
      </p:sp>
    </p:spTree>
    <p:extLst>
      <p:ext uri="{BB962C8B-B14F-4D97-AF65-F5344CB8AC3E}">
        <p14:creationId xmlns:p14="http://schemas.microsoft.com/office/powerpoint/2010/main" val="104732887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TextBox 26"/>
          <p:cNvSpPr txBox="1"/>
          <p:nvPr/>
        </p:nvSpPr>
        <p:spPr>
          <a:xfrm>
            <a:off x="972000" y="306000"/>
            <a:ext cx="7200000" cy="396000"/>
          </a:xfrm>
          <a:prstGeom prst="rect">
            <a:avLst/>
          </a:prstGeom>
          <a:noFill/>
        </p:spPr>
        <p:txBody>
          <a:bodyPr wrap="square" anchor="t" lIns="54000" rIns="54000"/>
          <a:lstStyle/>
          <a:p>
            <a:pPr algn="l"/>
            <a:r>
              <a:rPr sz="2400" b="1">
                <a:solidFill>
                  <a:srgbClr val="112A40"/>
                </a:solidFill>
                <a:latin typeface="Helvetica"/>
              </a:rPr>
              <a:t>SOMMAIRE</a:t>
            </a:r>
          </a:p>
        </p:txBody>
      </p:sp>
      <p:cxnSp>
        <p:nvCxnSpPr>
          <p:cNvPr id="28" name="Connector 27"/>
          <p:cNvCxnSpPr/>
          <p:nvPr/>
        </p:nvCxnSpPr>
        <p:spPr>
          <a:xfrm>
            <a:off x="932400" y="1374750"/>
            <a:ext cx="0" cy="4522500"/>
          </a:xfrm>
          <a:prstGeom prst="line">
            <a:avLst/>
          </a:prstGeom>
          <a:ln w="12700">
            <a:solidFill>
              <a:srgbClr val="112A40"/>
            </a:solidFill>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a:off x="932400" y="1374750"/>
            <a:ext cx="813599" cy="0"/>
          </a:xfrm>
          <a:prstGeom prst="line">
            <a:avLst/>
          </a:prstGeom>
          <a:ln w="12700">
            <a:solidFill>
              <a:srgbClr val="112A40"/>
            </a:solidFill>
          </a:ln>
        </p:spPr>
        <p:style>
          <a:lnRef idx="2">
            <a:schemeClr val="accent1"/>
          </a:lnRef>
          <a:fillRef idx="0">
            <a:schemeClr val="accent1"/>
          </a:fillRef>
          <a:effectRef idx="1">
            <a:schemeClr val="accent1"/>
          </a:effectRef>
          <a:fontRef idx="minor">
            <a:schemeClr val="tx1"/>
          </a:fontRef>
        </p:style>
      </p:cxnSp>
      <p:sp>
        <p:nvSpPr>
          <p:cNvPr id="30" name="Oval 29"/>
          <p:cNvSpPr/>
          <p:nvPr/>
        </p:nvSpPr>
        <p:spPr>
          <a:xfrm>
            <a:off x="1829250" y="1242000"/>
            <a:ext cx="265500" cy="265500"/>
          </a:xfrm>
          <a:prstGeom prst="ellipse">
            <a:avLst/>
          </a:prstGeom>
          <a:solidFill>
            <a:srgbClr val="0606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1" name="Picture 30" descr="image.png"/>
          <p:cNvPicPr>
            <a:picLocks noChangeAspect="1"/>
          </p:cNvPicPr>
          <p:nvPr/>
        </p:nvPicPr>
        <p:blipFill>
          <a:blip r:embed="rId6"/>
          <a:stretch>
            <a:fillRect/>
          </a:stretch>
        </p:blipFill>
        <p:spPr>
          <a:xfrm>
            <a:off x="1882349" y="1295100"/>
            <a:ext cx="159300" cy="159300"/>
          </a:xfrm>
          <a:prstGeom prst="rect">
            <a:avLst/>
          </a:prstGeom>
        </p:spPr>
      </p:pic>
      <p:sp>
        <p:nvSpPr>
          <p:cNvPr id="32" name="Rectangle 31"/>
          <p:cNvSpPr/>
          <p:nvPr/>
        </p:nvSpPr>
        <p:spPr>
          <a:xfrm>
            <a:off x="2444400" y="1245600"/>
            <a:ext cx="8272800" cy="258300"/>
          </a:xfrm>
          <a:prstGeom prst="rect">
            <a:avLst/>
          </a:prstGeom>
          <a:noFill/>
          <a:ln w="19050">
            <a:solidFill>
              <a:srgbClr val="060606"/>
            </a:solidFill>
          </a:ln>
        </p:spPr>
        <p:style>
          <a:lnRef idx="1">
            <a:schemeClr val="accent1"/>
          </a:lnRef>
          <a:fillRef idx="3">
            <a:schemeClr val="accent1"/>
          </a:fillRef>
          <a:effectRef idx="2">
            <a:schemeClr val="accent1"/>
          </a:effectRef>
          <a:fontRef idx="minor">
            <a:schemeClr val="lt1"/>
          </a:fontRef>
        </p:style>
        <p:txBody>
          <a:bodyPr rtlCol="0" anchor="ctr" lIns="108000" tIns="0" bIns="0"/>
          <a:lstStyle/>
          <a:p>
            <a:pPr algn="l"/>
            <a:r>
              <a:rPr sz="1200">
                <a:solidFill>
                  <a:srgbClr val="060606"/>
                </a:solidFill>
                <a:latin typeface="Helvetica"/>
              </a:rPr>
              <a:t>Résumé exécutif</a:t>
            </a:r>
          </a:p>
        </p:txBody>
      </p:sp>
      <p:sp>
        <p:nvSpPr>
          <p:cNvPr id="33" name="Rectangle 32"/>
          <p:cNvSpPr/>
          <p:nvPr/>
        </p:nvSpPr>
        <p:spPr>
          <a:xfrm>
            <a:off x="10756800" y="1245600"/>
            <a:ext cx="550800" cy="258300"/>
          </a:xfrm>
          <a:prstGeom prst="rect">
            <a:avLst/>
          </a:prstGeom>
          <a:noFill/>
          <a:ln w="19050">
            <a:solidFill>
              <a:srgbClr val="060606"/>
            </a:solidFill>
          </a:ln>
        </p:spPr>
        <p:style>
          <a:lnRef idx="1">
            <a:schemeClr val="accent1"/>
          </a:lnRef>
          <a:fillRef idx="3">
            <a:schemeClr val="accent1"/>
          </a:fillRef>
          <a:effectRef idx="2">
            <a:schemeClr val="accent1"/>
          </a:effectRef>
          <a:fontRef idx="minor">
            <a:schemeClr val="lt1"/>
          </a:fontRef>
        </p:style>
        <p:txBody>
          <a:bodyPr rtlCol="0" anchor="ctr" lIns="108000" tIns="0" bIns="0"/>
          <a:lstStyle/>
          <a:p>
            <a:pPr algn="ctr"/>
            <a:r>
              <a:rPr sz="1200">
                <a:solidFill>
                  <a:srgbClr val="060606"/>
                </a:solidFill>
                <a:latin typeface="Helvetica"/>
              </a:rPr>
              <a:t>3</a:t>
            </a:r>
          </a:p>
        </p:txBody>
      </p:sp>
      <p:cxnSp>
        <p:nvCxnSpPr>
          <p:cNvPr id="34" name="Connector 33"/>
          <p:cNvCxnSpPr/>
          <p:nvPr/>
        </p:nvCxnSpPr>
        <p:spPr>
          <a:xfrm>
            <a:off x="932400" y="1676250"/>
            <a:ext cx="813599" cy="0"/>
          </a:xfrm>
          <a:prstGeom prst="line">
            <a:avLst/>
          </a:prstGeom>
          <a:ln w="12700">
            <a:solidFill>
              <a:srgbClr val="112A40"/>
            </a:solidFill>
          </a:ln>
        </p:spPr>
        <p:style>
          <a:lnRef idx="2">
            <a:schemeClr val="accent1"/>
          </a:lnRef>
          <a:fillRef idx="0">
            <a:schemeClr val="accent1"/>
          </a:fillRef>
          <a:effectRef idx="1">
            <a:schemeClr val="accent1"/>
          </a:effectRef>
          <a:fontRef idx="minor">
            <a:schemeClr val="tx1"/>
          </a:fontRef>
        </p:style>
      </p:cxnSp>
      <p:sp>
        <p:nvSpPr>
          <p:cNvPr id="35" name="Oval 34"/>
          <p:cNvSpPr/>
          <p:nvPr/>
        </p:nvSpPr>
        <p:spPr>
          <a:xfrm>
            <a:off x="1829250" y="1543499"/>
            <a:ext cx="265500" cy="265500"/>
          </a:xfrm>
          <a:prstGeom prst="ellipse">
            <a:avLst/>
          </a:prstGeom>
          <a:solidFill>
            <a:srgbClr val="0606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6" name="Picture 35" descr="image.png"/>
          <p:cNvPicPr>
            <a:picLocks noChangeAspect="1"/>
          </p:cNvPicPr>
          <p:nvPr/>
        </p:nvPicPr>
        <p:blipFill>
          <a:blip r:embed="rId7"/>
          <a:stretch>
            <a:fillRect/>
          </a:stretch>
        </p:blipFill>
        <p:spPr>
          <a:xfrm>
            <a:off x="1882349" y="1596599"/>
            <a:ext cx="159300" cy="159300"/>
          </a:xfrm>
          <a:prstGeom prst="rect">
            <a:avLst/>
          </a:prstGeom>
        </p:spPr>
      </p:pic>
      <p:sp>
        <p:nvSpPr>
          <p:cNvPr id="37" name="Rectangle 36"/>
          <p:cNvSpPr/>
          <p:nvPr/>
        </p:nvSpPr>
        <p:spPr>
          <a:xfrm>
            <a:off x="2444400" y="1547100"/>
            <a:ext cx="8272800" cy="258300"/>
          </a:xfrm>
          <a:prstGeom prst="rect">
            <a:avLst/>
          </a:prstGeom>
          <a:noFill/>
          <a:ln w="19050">
            <a:solidFill>
              <a:srgbClr val="060606"/>
            </a:solidFill>
          </a:ln>
        </p:spPr>
        <p:style>
          <a:lnRef idx="1">
            <a:schemeClr val="accent1"/>
          </a:lnRef>
          <a:fillRef idx="3">
            <a:schemeClr val="accent1"/>
          </a:fillRef>
          <a:effectRef idx="2">
            <a:schemeClr val="accent1"/>
          </a:effectRef>
          <a:fontRef idx="minor">
            <a:schemeClr val="lt1"/>
          </a:fontRef>
        </p:style>
        <p:txBody>
          <a:bodyPr rtlCol="0" anchor="ctr" lIns="108000" tIns="0" bIns="0"/>
          <a:lstStyle/>
          <a:p>
            <a:pPr algn="l"/>
            <a:r>
              <a:rPr sz="1200">
                <a:solidFill>
                  <a:srgbClr val="060606"/>
                </a:solidFill>
                <a:latin typeface="Helvetica"/>
              </a:rPr>
              <a:t>Comprendre le FPPN</a:t>
            </a:r>
          </a:p>
        </p:txBody>
      </p:sp>
      <p:sp>
        <p:nvSpPr>
          <p:cNvPr id="38" name="Rectangle 37"/>
          <p:cNvSpPr/>
          <p:nvPr/>
        </p:nvSpPr>
        <p:spPr>
          <a:xfrm>
            <a:off x="10756800" y="1547100"/>
            <a:ext cx="550800" cy="258300"/>
          </a:xfrm>
          <a:prstGeom prst="rect">
            <a:avLst/>
          </a:prstGeom>
          <a:noFill/>
          <a:ln w="19050">
            <a:solidFill>
              <a:srgbClr val="060606"/>
            </a:solidFill>
          </a:ln>
        </p:spPr>
        <p:style>
          <a:lnRef idx="1">
            <a:schemeClr val="accent1"/>
          </a:lnRef>
          <a:fillRef idx="3">
            <a:schemeClr val="accent1"/>
          </a:fillRef>
          <a:effectRef idx="2">
            <a:schemeClr val="accent1"/>
          </a:effectRef>
          <a:fontRef idx="minor">
            <a:schemeClr val="lt1"/>
          </a:fontRef>
        </p:style>
        <p:txBody>
          <a:bodyPr rtlCol="0" anchor="ctr" lIns="108000" tIns="0" bIns="0"/>
          <a:lstStyle/>
          <a:p>
            <a:pPr algn="ctr"/>
            <a:r>
              <a:rPr sz="1200">
                <a:solidFill>
                  <a:srgbClr val="060606"/>
                </a:solidFill>
                <a:latin typeface="Helvetica"/>
              </a:rPr>
              <a:t>15</a:t>
            </a:r>
          </a:p>
        </p:txBody>
      </p:sp>
      <p:cxnSp>
        <p:nvCxnSpPr>
          <p:cNvPr id="39" name="Connector 38"/>
          <p:cNvCxnSpPr/>
          <p:nvPr/>
        </p:nvCxnSpPr>
        <p:spPr>
          <a:xfrm>
            <a:off x="932400" y="1977750"/>
            <a:ext cx="813599" cy="0"/>
          </a:xfrm>
          <a:prstGeom prst="line">
            <a:avLst/>
          </a:prstGeom>
          <a:ln w="12700">
            <a:solidFill>
              <a:srgbClr val="112A40"/>
            </a:solidFill>
          </a:ln>
        </p:spPr>
        <p:style>
          <a:lnRef idx="2">
            <a:schemeClr val="accent1"/>
          </a:lnRef>
          <a:fillRef idx="0">
            <a:schemeClr val="accent1"/>
          </a:fillRef>
          <a:effectRef idx="1">
            <a:schemeClr val="accent1"/>
          </a:effectRef>
          <a:fontRef idx="minor">
            <a:schemeClr val="tx1"/>
          </a:fontRef>
        </p:style>
      </p:cxnSp>
      <p:sp>
        <p:nvSpPr>
          <p:cNvPr id="40" name="Oval 39"/>
          <p:cNvSpPr/>
          <p:nvPr/>
        </p:nvSpPr>
        <p:spPr>
          <a:xfrm>
            <a:off x="1829250" y="1845000"/>
            <a:ext cx="265500" cy="265500"/>
          </a:xfrm>
          <a:prstGeom prst="ellipse">
            <a:avLst/>
          </a:prstGeom>
          <a:solidFill>
            <a:srgbClr val="0606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1" name="Picture 40" descr="image.png"/>
          <p:cNvPicPr>
            <a:picLocks noChangeAspect="1"/>
          </p:cNvPicPr>
          <p:nvPr/>
        </p:nvPicPr>
        <p:blipFill>
          <a:blip r:embed="rId8"/>
          <a:stretch>
            <a:fillRect/>
          </a:stretch>
        </p:blipFill>
        <p:spPr>
          <a:xfrm>
            <a:off x="1882349" y="1898100"/>
            <a:ext cx="159300" cy="159300"/>
          </a:xfrm>
          <a:prstGeom prst="rect">
            <a:avLst/>
          </a:prstGeom>
        </p:spPr>
      </p:pic>
      <p:sp>
        <p:nvSpPr>
          <p:cNvPr id="42" name="Rectangle 41"/>
          <p:cNvSpPr/>
          <p:nvPr/>
        </p:nvSpPr>
        <p:spPr>
          <a:xfrm>
            <a:off x="2444400" y="1848600"/>
            <a:ext cx="8272800" cy="258300"/>
          </a:xfrm>
          <a:prstGeom prst="rect">
            <a:avLst/>
          </a:prstGeom>
          <a:noFill/>
          <a:ln w="19050">
            <a:solidFill>
              <a:srgbClr val="060606"/>
            </a:solidFill>
          </a:ln>
        </p:spPr>
        <p:style>
          <a:lnRef idx="1">
            <a:schemeClr val="accent1"/>
          </a:lnRef>
          <a:fillRef idx="3">
            <a:schemeClr val="accent1"/>
          </a:fillRef>
          <a:effectRef idx="2">
            <a:schemeClr val="accent1"/>
          </a:effectRef>
          <a:fontRef idx="minor">
            <a:schemeClr val="lt1"/>
          </a:fontRef>
        </p:style>
        <p:txBody>
          <a:bodyPr rtlCol="0" anchor="ctr" lIns="108000" tIns="0" bIns="0"/>
          <a:lstStyle/>
          <a:p>
            <a:pPr algn="l"/>
            <a:r>
              <a:rPr sz="1200">
                <a:solidFill>
                  <a:srgbClr val="060606"/>
                </a:solidFill>
                <a:latin typeface="Helvetica"/>
              </a:rPr>
              <a:t>Contexte et démarche</a:t>
            </a:r>
          </a:p>
        </p:txBody>
      </p:sp>
      <p:sp>
        <p:nvSpPr>
          <p:cNvPr id="43" name="Rectangle 42"/>
          <p:cNvSpPr/>
          <p:nvPr/>
        </p:nvSpPr>
        <p:spPr>
          <a:xfrm>
            <a:off x="10756800" y="1848600"/>
            <a:ext cx="550800" cy="258300"/>
          </a:xfrm>
          <a:prstGeom prst="rect">
            <a:avLst/>
          </a:prstGeom>
          <a:noFill/>
          <a:ln w="19050">
            <a:solidFill>
              <a:srgbClr val="060606"/>
            </a:solidFill>
          </a:ln>
        </p:spPr>
        <p:style>
          <a:lnRef idx="1">
            <a:schemeClr val="accent1"/>
          </a:lnRef>
          <a:fillRef idx="3">
            <a:schemeClr val="accent1"/>
          </a:fillRef>
          <a:effectRef idx="2">
            <a:schemeClr val="accent1"/>
          </a:effectRef>
          <a:fontRef idx="minor">
            <a:schemeClr val="lt1"/>
          </a:fontRef>
        </p:style>
        <p:txBody>
          <a:bodyPr rtlCol="0" anchor="ctr" lIns="108000" tIns="0" bIns="0"/>
          <a:lstStyle/>
          <a:p>
            <a:pPr algn="ctr"/>
            <a:r>
              <a:rPr sz="1200">
                <a:solidFill>
                  <a:srgbClr val="060606"/>
                </a:solidFill>
                <a:latin typeface="Helvetica"/>
              </a:rPr>
              <a:t>21</a:t>
            </a:r>
          </a:p>
        </p:txBody>
      </p:sp>
      <p:cxnSp>
        <p:nvCxnSpPr>
          <p:cNvPr id="44" name="Connector 43"/>
          <p:cNvCxnSpPr/>
          <p:nvPr/>
        </p:nvCxnSpPr>
        <p:spPr>
          <a:xfrm>
            <a:off x="932400" y="2279250"/>
            <a:ext cx="813599" cy="0"/>
          </a:xfrm>
          <a:prstGeom prst="line">
            <a:avLst/>
          </a:prstGeom>
          <a:ln w="12700">
            <a:solidFill>
              <a:srgbClr val="112A40"/>
            </a:solidFill>
          </a:ln>
        </p:spPr>
        <p:style>
          <a:lnRef idx="2">
            <a:schemeClr val="accent1"/>
          </a:lnRef>
          <a:fillRef idx="0">
            <a:schemeClr val="accent1"/>
          </a:fillRef>
          <a:effectRef idx="1">
            <a:schemeClr val="accent1"/>
          </a:effectRef>
          <a:fontRef idx="minor">
            <a:schemeClr val="tx1"/>
          </a:fontRef>
        </p:style>
      </p:cxnSp>
      <p:sp>
        <p:nvSpPr>
          <p:cNvPr id="45" name="Oval 44"/>
          <p:cNvSpPr/>
          <p:nvPr/>
        </p:nvSpPr>
        <p:spPr>
          <a:xfrm>
            <a:off x="1829250" y="2146500"/>
            <a:ext cx="265500" cy="265500"/>
          </a:xfrm>
          <a:prstGeom prst="ellipse">
            <a:avLst/>
          </a:prstGeom>
          <a:solidFill>
            <a:srgbClr val="0606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6" name="Picture 45" descr="image.png"/>
          <p:cNvPicPr>
            <a:picLocks noChangeAspect="1"/>
          </p:cNvPicPr>
          <p:nvPr/>
        </p:nvPicPr>
        <p:blipFill>
          <a:blip r:embed="rId9"/>
          <a:stretch>
            <a:fillRect/>
          </a:stretch>
        </p:blipFill>
        <p:spPr>
          <a:xfrm>
            <a:off x="1882349" y="2199600"/>
            <a:ext cx="159300" cy="159300"/>
          </a:xfrm>
          <a:prstGeom prst="rect">
            <a:avLst/>
          </a:prstGeom>
        </p:spPr>
      </p:pic>
      <p:sp>
        <p:nvSpPr>
          <p:cNvPr id="47" name="Rectangle 46"/>
          <p:cNvSpPr/>
          <p:nvPr/>
        </p:nvSpPr>
        <p:spPr>
          <a:xfrm>
            <a:off x="2444400" y="2150100"/>
            <a:ext cx="8272800" cy="258300"/>
          </a:xfrm>
          <a:prstGeom prst="rect">
            <a:avLst/>
          </a:prstGeom>
          <a:noFill/>
          <a:ln w="19050">
            <a:solidFill>
              <a:srgbClr val="060606"/>
            </a:solidFill>
          </a:ln>
        </p:spPr>
        <p:style>
          <a:lnRef idx="1">
            <a:schemeClr val="accent1"/>
          </a:lnRef>
          <a:fillRef idx="3">
            <a:schemeClr val="accent1"/>
          </a:fillRef>
          <a:effectRef idx="2">
            <a:schemeClr val="accent1"/>
          </a:effectRef>
          <a:fontRef idx="minor">
            <a:schemeClr val="lt1"/>
          </a:fontRef>
        </p:style>
        <p:txBody>
          <a:bodyPr rtlCol="0" anchor="ctr" lIns="108000" tIns="0" bIns="0"/>
          <a:lstStyle/>
          <a:p>
            <a:pPr algn="l"/>
            <a:r>
              <a:rPr sz="1200">
                <a:solidFill>
                  <a:srgbClr val="060606"/>
                </a:solidFill>
                <a:latin typeface="Helvetica"/>
              </a:rPr>
              <a:t>Données et qualité</a:t>
            </a:r>
          </a:p>
        </p:txBody>
      </p:sp>
      <p:sp>
        <p:nvSpPr>
          <p:cNvPr id="48" name="Rectangle 47"/>
          <p:cNvSpPr/>
          <p:nvPr/>
        </p:nvSpPr>
        <p:spPr>
          <a:xfrm>
            <a:off x="10756800" y="2150100"/>
            <a:ext cx="550800" cy="258300"/>
          </a:xfrm>
          <a:prstGeom prst="rect">
            <a:avLst/>
          </a:prstGeom>
          <a:noFill/>
          <a:ln w="19050">
            <a:solidFill>
              <a:srgbClr val="060606"/>
            </a:solidFill>
          </a:ln>
        </p:spPr>
        <p:style>
          <a:lnRef idx="1">
            <a:schemeClr val="accent1"/>
          </a:lnRef>
          <a:fillRef idx="3">
            <a:schemeClr val="accent1"/>
          </a:fillRef>
          <a:effectRef idx="2">
            <a:schemeClr val="accent1"/>
          </a:effectRef>
          <a:fontRef idx="minor">
            <a:schemeClr val="lt1"/>
          </a:fontRef>
        </p:style>
        <p:txBody>
          <a:bodyPr rtlCol="0" anchor="ctr" lIns="108000" tIns="0" bIns="0"/>
          <a:lstStyle/>
          <a:p>
            <a:pPr algn="ctr"/>
            <a:r>
              <a:rPr sz="1200">
                <a:solidFill>
                  <a:srgbClr val="060606"/>
                </a:solidFill>
                <a:latin typeface="Helvetica"/>
              </a:rPr>
              <a:t>24</a:t>
            </a:r>
          </a:p>
        </p:txBody>
      </p:sp>
      <p:cxnSp>
        <p:nvCxnSpPr>
          <p:cNvPr id="49" name="Connector 48"/>
          <p:cNvCxnSpPr/>
          <p:nvPr/>
        </p:nvCxnSpPr>
        <p:spPr>
          <a:xfrm>
            <a:off x="932400" y="2580750"/>
            <a:ext cx="813599" cy="0"/>
          </a:xfrm>
          <a:prstGeom prst="line">
            <a:avLst/>
          </a:prstGeom>
          <a:ln w="12700">
            <a:solidFill>
              <a:srgbClr val="112A40"/>
            </a:solidFill>
          </a:ln>
        </p:spPr>
        <p:style>
          <a:lnRef idx="2">
            <a:schemeClr val="accent1"/>
          </a:lnRef>
          <a:fillRef idx="0">
            <a:schemeClr val="accent1"/>
          </a:fillRef>
          <a:effectRef idx="1">
            <a:schemeClr val="accent1"/>
          </a:effectRef>
          <a:fontRef idx="minor">
            <a:schemeClr val="tx1"/>
          </a:fontRef>
        </p:style>
      </p:cxnSp>
      <p:sp>
        <p:nvSpPr>
          <p:cNvPr id="50" name="Oval 49"/>
          <p:cNvSpPr/>
          <p:nvPr/>
        </p:nvSpPr>
        <p:spPr>
          <a:xfrm>
            <a:off x="1829250" y="2448000"/>
            <a:ext cx="265500" cy="265500"/>
          </a:xfrm>
          <a:prstGeom prst="ellipse">
            <a:avLst/>
          </a:prstGeom>
          <a:solidFill>
            <a:srgbClr val="0606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1" name="Picture 50" descr="image.png"/>
          <p:cNvPicPr>
            <a:picLocks noChangeAspect="1"/>
          </p:cNvPicPr>
          <p:nvPr/>
        </p:nvPicPr>
        <p:blipFill>
          <a:blip r:embed="rId10"/>
          <a:stretch>
            <a:fillRect/>
          </a:stretch>
        </p:blipFill>
        <p:spPr>
          <a:xfrm>
            <a:off x="1882349" y="2501100"/>
            <a:ext cx="159300" cy="159300"/>
          </a:xfrm>
          <a:prstGeom prst="rect">
            <a:avLst/>
          </a:prstGeom>
        </p:spPr>
      </p:pic>
      <p:sp>
        <p:nvSpPr>
          <p:cNvPr id="52" name="Rectangle 51"/>
          <p:cNvSpPr/>
          <p:nvPr/>
        </p:nvSpPr>
        <p:spPr>
          <a:xfrm>
            <a:off x="2444400" y="2451600"/>
            <a:ext cx="8272800" cy="258300"/>
          </a:xfrm>
          <a:prstGeom prst="rect">
            <a:avLst/>
          </a:prstGeom>
          <a:noFill/>
          <a:ln w="19050">
            <a:solidFill>
              <a:srgbClr val="060606"/>
            </a:solidFill>
          </a:ln>
        </p:spPr>
        <p:style>
          <a:lnRef idx="1">
            <a:schemeClr val="accent1"/>
          </a:lnRef>
          <a:fillRef idx="3">
            <a:schemeClr val="accent1"/>
          </a:fillRef>
          <a:effectRef idx="2">
            <a:schemeClr val="accent1"/>
          </a:effectRef>
          <a:fontRef idx="minor">
            <a:schemeClr val="lt1"/>
          </a:fontRef>
        </p:style>
        <p:txBody>
          <a:bodyPr rtlCol="0" anchor="ctr" lIns="108000" tIns="0" bIns="0"/>
          <a:lstStyle/>
          <a:p>
            <a:pPr algn="l"/>
            <a:r>
              <a:rPr sz="1200">
                <a:solidFill>
                  <a:srgbClr val="060606"/>
                </a:solidFill>
                <a:latin typeface="Helvetica"/>
              </a:rPr>
              <a:t>Effectifs et cotisations</a:t>
            </a:r>
          </a:p>
        </p:txBody>
      </p:sp>
      <p:sp>
        <p:nvSpPr>
          <p:cNvPr id="53" name="Rectangle 52"/>
          <p:cNvSpPr/>
          <p:nvPr/>
        </p:nvSpPr>
        <p:spPr>
          <a:xfrm>
            <a:off x="10756800" y="2451600"/>
            <a:ext cx="550800" cy="258300"/>
          </a:xfrm>
          <a:prstGeom prst="rect">
            <a:avLst/>
          </a:prstGeom>
          <a:noFill/>
          <a:ln w="19050">
            <a:solidFill>
              <a:srgbClr val="060606"/>
            </a:solidFill>
          </a:ln>
        </p:spPr>
        <p:style>
          <a:lnRef idx="1">
            <a:schemeClr val="accent1"/>
          </a:lnRef>
          <a:fillRef idx="3">
            <a:schemeClr val="accent1"/>
          </a:fillRef>
          <a:effectRef idx="2">
            <a:schemeClr val="accent1"/>
          </a:effectRef>
          <a:fontRef idx="minor">
            <a:schemeClr val="lt1"/>
          </a:fontRef>
        </p:style>
        <p:txBody>
          <a:bodyPr rtlCol="0" anchor="ctr" lIns="108000" tIns="0" bIns="0"/>
          <a:lstStyle/>
          <a:p>
            <a:pPr algn="ctr"/>
            <a:r>
              <a:rPr sz="1200">
                <a:solidFill>
                  <a:srgbClr val="060606"/>
                </a:solidFill>
                <a:latin typeface="Helvetica"/>
              </a:rPr>
              <a:t>33</a:t>
            </a:r>
          </a:p>
        </p:txBody>
      </p:sp>
      <p:cxnSp>
        <p:nvCxnSpPr>
          <p:cNvPr id="54" name="Connector 53"/>
          <p:cNvCxnSpPr/>
          <p:nvPr/>
        </p:nvCxnSpPr>
        <p:spPr>
          <a:xfrm>
            <a:off x="932400" y="2882250"/>
            <a:ext cx="813599" cy="0"/>
          </a:xfrm>
          <a:prstGeom prst="line">
            <a:avLst/>
          </a:prstGeom>
          <a:ln w="12700">
            <a:solidFill>
              <a:srgbClr val="112A40"/>
            </a:solidFill>
          </a:ln>
        </p:spPr>
        <p:style>
          <a:lnRef idx="2">
            <a:schemeClr val="accent1"/>
          </a:lnRef>
          <a:fillRef idx="0">
            <a:schemeClr val="accent1"/>
          </a:fillRef>
          <a:effectRef idx="1">
            <a:schemeClr val="accent1"/>
          </a:effectRef>
          <a:fontRef idx="minor">
            <a:schemeClr val="tx1"/>
          </a:fontRef>
        </p:style>
      </p:cxnSp>
      <p:sp>
        <p:nvSpPr>
          <p:cNvPr id="55" name="Oval 54"/>
          <p:cNvSpPr/>
          <p:nvPr/>
        </p:nvSpPr>
        <p:spPr>
          <a:xfrm>
            <a:off x="1829250" y="2749499"/>
            <a:ext cx="265500" cy="265500"/>
          </a:xfrm>
          <a:prstGeom prst="ellipse">
            <a:avLst/>
          </a:prstGeom>
          <a:solidFill>
            <a:srgbClr val="0606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6" name="Picture 55" descr="image.png"/>
          <p:cNvPicPr>
            <a:picLocks noChangeAspect="1"/>
          </p:cNvPicPr>
          <p:nvPr/>
        </p:nvPicPr>
        <p:blipFill>
          <a:blip r:embed="rId11"/>
          <a:stretch>
            <a:fillRect/>
          </a:stretch>
        </p:blipFill>
        <p:spPr>
          <a:xfrm>
            <a:off x="1882349" y="2802599"/>
            <a:ext cx="159300" cy="159300"/>
          </a:xfrm>
          <a:prstGeom prst="rect">
            <a:avLst/>
          </a:prstGeom>
        </p:spPr>
      </p:pic>
      <p:sp>
        <p:nvSpPr>
          <p:cNvPr id="57" name="Rectangle 56"/>
          <p:cNvSpPr/>
          <p:nvPr/>
        </p:nvSpPr>
        <p:spPr>
          <a:xfrm>
            <a:off x="2444400" y="2753100"/>
            <a:ext cx="8272800" cy="258300"/>
          </a:xfrm>
          <a:prstGeom prst="rect">
            <a:avLst/>
          </a:prstGeom>
          <a:noFill/>
          <a:ln w="19050">
            <a:solidFill>
              <a:srgbClr val="060606"/>
            </a:solidFill>
          </a:ln>
        </p:spPr>
        <p:style>
          <a:lnRef idx="1">
            <a:schemeClr val="accent1"/>
          </a:lnRef>
          <a:fillRef idx="3">
            <a:schemeClr val="accent1"/>
          </a:fillRef>
          <a:effectRef idx="2">
            <a:schemeClr val="accent1"/>
          </a:effectRef>
          <a:fontRef idx="minor">
            <a:schemeClr val="lt1"/>
          </a:fontRef>
        </p:style>
        <p:txBody>
          <a:bodyPr rtlCol="0" anchor="ctr" lIns="108000" tIns="0" bIns="0"/>
          <a:lstStyle/>
          <a:p>
            <a:pPr algn="l"/>
            <a:r>
              <a:rPr sz="1200">
                <a:solidFill>
                  <a:srgbClr val="060606"/>
                </a:solidFill>
                <a:latin typeface="Helvetica"/>
              </a:rPr>
              <a:t>Sinistralité et résultat</a:t>
            </a:r>
          </a:p>
        </p:txBody>
      </p:sp>
      <p:sp>
        <p:nvSpPr>
          <p:cNvPr id="58" name="Rectangle 57"/>
          <p:cNvSpPr/>
          <p:nvPr/>
        </p:nvSpPr>
        <p:spPr>
          <a:xfrm>
            <a:off x="10756800" y="2753100"/>
            <a:ext cx="550800" cy="258300"/>
          </a:xfrm>
          <a:prstGeom prst="rect">
            <a:avLst/>
          </a:prstGeom>
          <a:noFill/>
          <a:ln w="19050">
            <a:solidFill>
              <a:srgbClr val="060606"/>
            </a:solidFill>
          </a:ln>
        </p:spPr>
        <p:style>
          <a:lnRef idx="1">
            <a:schemeClr val="accent1"/>
          </a:lnRef>
          <a:fillRef idx="3">
            <a:schemeClr val="accent1"/>
          </a:fillRef>
          <a:effectRef idx="2">
            <a:schemeClr val="accent1"/>
          </a:effectRef>
          <a:fontRef idx="minor">
            <a:schemeClr val="lt1"/>
          </a:fontRef>
        </p:style>
        <p:txBody>
          <a:bodyPr rtlCol="0" anchor="ctr" lIns="108000" tIns="0" bIns="0"/>
          <a:lstStyle/>
          <a:p>
            <a:pPr algn="ctr"/>
            <a:r>
              <a:rPr sz="1200">
                <a:solidFill>
                  <a:srgbClr val="060606"/>
                </a:solidFill>
                <a:latin typeface="Helvetica"/>
              </a:rPr>
              <a:t>44</a:t>
            </a:r>
          </a:p>
        </p:txBody>
      </p:sp>
      <p:cxnSp>
        <p:nvCxnSpPr>
          <p:cNvPr id="59" name="Connector 58"/>
          <p:cNvCxnSpPr/>
          <p:nvPr/>
        </p:nvCxnSpPr>
        <p:spPr>
          <a:xfrm>
            <a:off x="932400" y="3183750"/>
            <a:ext cx="813599" cy="0"/>
          </a:xfrm>
          <a:prstGeom prst="line">
            <a:avLst/>
          </a:prstGeom>
          <a:ln w="12700">
            <a:solidFill>
              <a:srgbClr val="112A40"/>
            </a:solidFill>
          </a:ln>
        </p:spPr>
        <p:style>
          <a:lnRef idx="2">
            <a:schemeClr val="accent1"/>
          </a:lnRef>
          <a:fillRef idx="0">
            <a:schemeClr val="accent1"/>
          </a:fillRef>
          <a:effectRef idx="1">
            <a:schemeClr val="accent1"/>
          </a:effectRef>
          <a:fontRef idx="minor">
            <a:schemeClr val="tx1"/>
          </a:fontRef>
        </p:style>
      </p:cxnSp>
      <p:sp>
        <p:nvSpPr>
          <p:cNvPr id="60" name="Oval 59"/>
          <p:cNvSpPr/>
          <p:nvPr/>
        </p:nvSpPr>
        <p:spPr>
          <a:xfrm>
            <a:off x="1829250" y="3051000"/>
            <a:ext cx="265500" cy="265500"/>
          </a:xfrm>
          <a:prstGeom prst="ellipse">
            <a:avLst/>
          </a:prstGeom>
          <a:solidFill>
            <a:srgbClr val="0606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1" name="Picture 60" descr="image.png"/>
          <p:cNvPicPr>
            <a:picLocks noChangeAspect="1"/>
          </p:cNvPicPr>
          <p:nvPr/>
        </p:nvPicPr>
        <p:blipFill>
          <a:blip r:embed="rId12"/>
          <a:stretch>
            <a:fillRect/>
          </a:stretch>
        </p:blipFill>
        <p:spPr>
          <a:xfrm>
            <a:off x="1882349" y="3104100"/>
            <a:ext cx="159300" cy="159300"/>
          </a:xfrm>
          <a:prstGeom prst="rect">
            <a:avLst/>
          </a:prstGeom>
        </p:spPr>
      </p:pic>
      <p:sp>
        <p:nvSpPr>
          <p:cNvPr id="62" name="Rectangle 61"/>
          <p:cNvSpPr/>
          <p:nvPr/>
        </p:nvSpPr>
        <p:spPr>
          <a:xfrm>
            <a:off x="2444400" y="3054600"/>
            <a:ext cx="8272800" cy="258300"/>
          </a:xfrm>
          <a:prstGeom prst="rect">
            <a:avLst/>
          </a:prstGeom>
          <a:noFill/>
          <a:ln w="19050">
            <a:solidFill>
              <a:srgbClr val="060606"/>
            </a:solidFill>
          </a:ln>
        </p:spPr>
        <p:style>
          <a:lnRef idx="1">
            <a:schemeClr val="accent1"/>
          </a:lnRef>
          <a:fillRef idx="3">
            <a:schemeClr val="accent1"/>
          </a:fillRef>
          <a:effectRef idx="2">
            <a:schemeClr val="accent1"/>
          </a:effectRef>
          <a:fontRef idx="minor">
            <a:schemeClr val="lt1"/>
          </a:fontRef>
        </p:style>
        <p:txBody>
          <a:bodyPr rtlCol="0" anchor="ctr" lIns="108000" tIns="0" bIns="0"/>
          <a:lstStyle/>
          <a:p>
            <a:pPr algn="l"/>
            <a:r>
              <a:rPr sz="1200">
                <a:solidFill>
                  <a:srgbClr val="060606"/>
                </a:solidFill>
                <a:latin typeface="Helvetica"/>
              </a:rPr>
              <a:t>Épargne des mutualistes</a:t>
            </a:r>
          </a:p>
        </p:txBody>
      </p:sp>
      <p:sp>
        <p:nvSpPr>
          <p:cNvPr id="63" name="Rectangle 62"/>
          <p:cNvSpPr/>
          <p:nvPr/>
        </p:nvSpPr>
        <p:spPr>
          <a:xfrm>
            <a:off x="10756800" y="3054600"/>
            <a:ext cx="550800" cy="258300"/>
          </a:xfrm>
          <a:prstGeom prst="rect">
            <a:avLst/>
          </a:prstGeom>
          <a:noFill/>
          <a:ln w="19050">
            <a:solidFill>
              <a:srgbClr val="060606"/>
            </a:solidFill>
          </a:ln>
        </p:spPr>
        <p:style>
          <a:lnRef idx="1">
            <a:schemeClr val="accent1"/>
          </a:lnRef>
          <a:fillRef idx="3">
            <a:schemeClr val="accent1"/>
          </a:fillRef>
          <a:effectRef idx="2">
            <a:schemeClr val="accent1"/>
          </a:effectRef>
          <a:fontRef idx="minor">
            <a:schemeClr val="lt1"/>
          </a:fontRef>
        </p:style>
        <p:txBody>
          <a:bodyPr rtlCol="0" anchor="ctr" lIns="108000" tIns="0" bIns="0"/>
          <a:lstStyle/>
          <a:p>
            <a:pPr algn="ctr"/>
            <a:r>
              <a:rPr sz="1200">
                <a:solidFill>
                  <a:srgbClr val="060606"/>
                </a:solidFill>
                <a:latin typeface="Helvetica"/>
              </a:rPr>
              <a:t>52</a:t>
            </a:r>
          </a:p>
        </p:txBody>
      </p:sp>
      <p:cxnSp>
        <p:nvCxnSpPr>
          <p:cNvPr id="64" name="Connector 63"/>
          <p:cNvCxnSpPr/>
          <p:nvPr/>
        </p:nvCxnSpPr>
        <p:spPr>
          <a:xfrm>
            <a:off x="932400" y="3485249"/>
            <a:ext cx="813599" cy="0"/>
          </a:xfrm>
          <a:prstGeom prst="line">
            <a:avLst/>
          </a:prstGeom>
          <a:ln w="12700">
            <a:solidFill>
              <a:srgbClr val="112A40"/>
            </a:solidFill>
          </a:ln>
        </p:spPr>
        <p:style>
          <a:lnRef idx="2">
            <a:schemeClr val="accent1"/>
          </a:lnRef>
          <a:fillRef idx="0">
            <a:schemeClr val="accent1"/>
          </a:fillRef>
          <a:effectRef idx="1">
            <a:schemeClr val="accent1"/>
          </a:effectRef>
          <a:fontRef idx="minor">
            <a:schemeClr val="tx1"/>
          </a:fontRef>
        </p:style>
      </p:cxnSp>
      <p:sp>
        <p:nvSpPr>
          <p:cNvPr id="65" name="Oval 64"/>
          <p:cNvSpPr/>
          <p:nvPr/>
        </p:nvSpPr>
        <p:spPr>
          <a:xfrm>
            <a:off x="1829250" y="3352499"/>
            <a:ext cx="265500" cy="265500"/>
          </a:xfrm>
          <a:prstGeom prst="ellipse">
            <a:avLst/>
          </a:prstGeom>
          <a:solidFill>
            <a:srgbClr val="0606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6" name="Picture 65" descr="image.png"/>
          <p:cNvPicPr>
            <a:picLocks noChangeAspect="1"/>
          </p:cNvPicPr>
          <p:nvPr/>
        </p:nvPicPr>
        <p:blipFill>
          <a:blip r:embed="rId13"/>
          <a:stretch>
            <a:fillRect/>
          </a:stretch>
        </p:blipFill>
        <p:spPr>
          <a:xfrm>
            <a:off x="1882349" y="3405599"/>
            <a:ext cx="159300" cy="159300"/>
          </a:xfrm>
          <a:prstGeom prst="rect">
            <a:avLst/>
          </a:prstGeom>
        </p:spPr>
      </p:pic>
      <p:sp>
        <p:nvSpPr>
          <p:cNvPr id="67" name="Rectangle 66"/>
          <p:cNvSpPr/>
          <p:nvPr/>
        </p:nvSpPr>
        <p:spPr>
          <a:xfrm>
            <a:off x="2444400" y="3356099"/>
            <a:ext cx="8272800" cy="258300"/>
          </a:xfrm>
          <a:prstGeom prst="rect">
            <a:avLst/>
          </a:prstGeom>
          <a:noFill/>
          <a:ln w="19050">
            <a:solidFill>
              <a:srgbClr val="060606"/>
            </a:solidFill>
          </a:ln>
        </p:spPr>
        <p:style>
          <a:lnRef idx="1">
            <a:schemeClr val="accent1"/>
          </a:lnRef>
          <a:fillRef idx="3">
            <a:schemeClr val="accent1"/>
          </a:fillRef>
          <a:effectRef idx="2">
            <a:schemeClr val="accent1"/>
          </a:effectRef>
          <a:fontRef idx="minor">
            <a:schemeClr val="lt1"/>
          </a:fontRef>
        </p:style>
        <p:txBody>
          <a:bodyPr rtlCol="0" anchor="ctr" lIns="108000" tIns="0" bIns="0"/>
          <a:lstStyle/>
          <a:p>
            <a:pPr algn="l"/>
            <a:r>
              <a:rPr sz="1200">
                <a:solidFill>
                  <a:srgbClr val="060606"/>
                </a:solidFill>
                <a:latin typeface="Helvetica"/>
              </a:rPr>
              <a:t>Prêts du Grenier</a:t>
            </a:r>
          </a:p>
        </p:txBody>
      </p:sp>
      <p:sp>
        <p:nvSpPr>
          <p:cNvPr id="68" name="Rectangle 67"/>
          <p:cNvSpPr/>
          <p:nvPr/>
        </p:nvSpPr>
        <p:spPr>
          <a:xfrm>
            <a:off x="10756800" y="3356099"/>
            <a:ext cx="550800" cy="258300"/>
          </a:xfrm>
          <a:prstGeom prst="rect">
            <a:avLst/>
          </a:prstGeom>
          <a:noFill/>
          <a:ln w="19050">
            <a:solidFill>
              <a:srgbClr val="060606"/>
            </a:solidFill>
          </a:ln>
        </p:spPr>
        <p:style>
          <a:lnRef idx="1">
            <a:schemeClr val="accent1"/>
          </a:lnRef>
          <a:fillRef idx="3">
            <a:schemeClr val="accent1"/>
          </a:fillRef>
          <a:effectRef idx="2">
            <a:schemeClr val="accent1"/>
          </a:effectRef>
          <a:fontRef idx="minor">
            <a:schemeClr val="lt1"/>
          </a:fontRef>
        </p:style>
        <p:txBody>
          <a:bodyPr rtlCol="0" anchor="ctr" lIns="108000" tIns="0" bIns="0"/>
          <a:lstStyle/>
          <a:p>
            <a:pPr algn="ctr"/>
            <a:r>
              <a:rPr sz="1200">
                <a:solidFill>
                  <a:srgbClr val="060606"/>
                </a:solidFill>
                <a:latin typeface="Helvetica"/>
              </a:rPr>
              <a:t>60</a:t>
            </a:r>
          </a:p>
        </p:txBody>
      </p:sp>
      <p:cxnSp>
        <p:nvCxnSpPr>
          <p:cNvPr id="69" name="Connector 68"/>
          <p:cNvCxnSpPr/>
          <p:nvPr/>
        </p:nvCxnSpPr>
        <p:spPr>
          <a:xfrm>
            <a:off x="932400" y="3786749"/>
            <a:ext cx="813599" cy="0"/>
          </a:xfrm>
          <a:prstGeom prst="line">
            <a:avLst/>
          </a:prstGeom>
          <a:ln w="12700">
            <a:solidFill>
              <a:srgbClr val="112A40"/>
            </a:solidFill>
          </a:ln>
        </p:spPr>
        <p:style>
          <a:lnRef idx="2">
            <a:schemeClr val="accent1"/>
          </a:lnRef>
          <a:fillRef idx="0">
            <a:schemeClr val="accent1"/>
          </a:fillRef>
          <a:effectRef idx="1">
            <a:schemeClr val="accent1"/>
          </a:effectRef>
          <a:fontRef idx="minor">
            <a:schemeClr val="tx1"/>
          </a:fontRef>
        </p:style>
      </p:cxnSp>
      <p:sp>
        <p:nvSpPr>
          <p:cNvPr id="70" name="Oval 69"/>
          <p:cNvSpPr/>
          <p:nvPr/>
        </p:nvSpPr>
        <p:spPr>
          <a:xfrm>
            <a:off x="1829250" y="3653999"/>
            <a:ext cx="265500" cy="265500"/>
          </a:xfrm>
          <a:prstGeom prst="ellipse">
            <a:avLst/>
          </a:prstGeom>
          <a:solidFill>
            <a:srgbClr val="0606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1" name="Picture 70" descr="image.png"/>
          <p:cNvPicPr>
            <a:picLocks noChangeAspect="1"/>
          </p:cNvPicPr>
          <p:nvPr/>
        </p:nvPicPr>
        <p:blipFill>
          <a:blip r:embed="rId14"/>
          <a:stretch>
            <a:fillRect/>
          </a:stretch>
        </p:blipFill>
        <p:spPr>
          <a:xfrm>
            <a:off x="1882349" y="3707100"/>
            <a:ext cx="159300" cy="159300"/>
          </a:xfrm>
          <a:prstGeom prst="rect">
            <a:avLst/>
          </a:prstGeom>
        </p:spPr>
      </p:pic>
      <p:sp>
        <p:nvSpPr>
          <p:cNvPr id="72" name="Rectangle 71"/>
          <p:cNvSpPr/>
          <p:nvPr/>
        </p:nvSpPr>
        <p:spPr>
          <a:xfrm>
            <a:off x="2444400" y="3657599"/>
            <a:ext cx="8272800" cy="258300"/>
          </a:xfrm>
          <a:prstGeom prst="rect">
            <a:avLst/>
          </a:prstGeom>
          <a:noFill/>
          <a:ln w="19050">
            <a:solidFill>
              <a:srgbClr val="060606"/>
            </a:solidFill>
          </a:ln>
        </p:spPr>
        <p:style>
          <a:lnRef idx="1">
            <a:schemeClr val="accent1"/>
          </a:lnRef>
          <a:fillRef idx="3">
            <a:schemeClr val="accent1"/>
          </a:fillRef>
          <a:effectRef idx="2">
            <a:schemeClr val="accent1"/>
          </a:effectRef>
          <a:fontRef idx="minor">
            <a:schemeClr val="lt1"/>
          </a:fontRef>
        </p:style>
        <p:txBody>
          <a:bodyPr rtlCol="0" anchor="ctr" lIns="108000" tIns="0" bIns="0"/>
          <a:lstStyle/>
          <a:p>
            <a:pPr algn="l"/>
            <a:r>
              <a:rPr sz="1200">
                <a:solidFill>
                  <a:srgbClr val="060606"/>
                </a:solidFill>
                <a:latin typeface="Helvetica"/>
              </a:rPr>
              <a:t>Retraités et annexes</a:t>
            </a:r>
          </a:p>
        </p:txBody>
      </p:sp>
      <p:sp>
        <p:nvSpPr>
          <p:cNvPr id="73" name="Rectangle 72"/>
          <p:cNvSpPr/>
          <p:nvPr/>
        </p:nvSpPr>
        <p:spPr>
          <a:xfrm>
            <a:off x="10756800" y="3657599"/>
            <a:ext cx="550800" cy="258300"/>
          </a:xfrm>
          <a:prstGeom prst="rect">
            <a:avLst/>
          </a:prstGeom>
          <a:noFill/>
          <a:ln w="19050">
            <a:solidFill>
              <a:srgbClr val="060606"/>
            </a:solidFill>
          </a:ln>
        </p:spPr>
        <p:style>
          <a:lnRef idx="1">
            <a:schemeClr val="accent1"/>
          </a:lnRef>
          <a:fillRef idx="3">
            <a:schemeClr val="accent1"/>
          </a:fillRef>
          <a:effectRef idx="2">
            <a:schemeClr val="accent1"/>
          </a:effectRef>
          <a:fontRef idx="minor">
            <a:schemeClr val="lt1"/>
          </a:fontRef>
        </p:style>
        <p:txBody>
          <a:bodyPr rtlCol="0" anchor="ctr" lIns="108000" tIns="0" bIns="0"/>
          <a:lstStyle/>
          <a:p>
            <a:pPr algn="ctr"/>
            <a:r>
              <a:rPr sz="1200">
                <a:solidFill>
                  <a:srgbClr val="060606"/>
                </a:solidFill>
                <a:latin typeface="Helvetica"/>
              </a:rPr>
              <a:t>69</a:t>
            </a:r>
          </a:p>
        </p:txBody>
      </p:sp>
      <p:cxnSp>
        <p:nvCxnSpPr>
          <p:cNvPr id="74" name="Connector 73"/>
          <p:cNvCxnSpPr/>
          <p:nvPr/>
        </p:nvCxnSpPr>
        <p:spPr>
          <a:xfrm>
            <a:off x="932400" y="4088249"/>
            <a:ext cx="813599" cy="0"/>
          </a:xfrm>
          <a:prstGeom prst="line">
            <a:avLst/>
          </a:prstGeom>
          <a:ln w="12700">
            <a:solidFill>
              <a:srgbClr val="112A40"/>
            </a:solidFill>
          </a:ln>
        </p:spPr>
        <p:style>
          <a:lnRef idx="2">
            <a:schemeClr val="accent1"/>
          </a:lnRef>
          <a:fillRef idx="0">
            <a:schemeClr val="accent1"/>
          </a:fillRef>
          <a:effectRef idx="1">
            <a:schemeClr val="accent1"/>
          </a:effectRef>
          <a:fontRef idx="minor">
            <a:schemeClr val="tx1"/>
          </a:fontRef>
        </p:style>
      </p:cxnSp>
      <p:sp>
        <p:nvSpPr>
          <p:cNvPr id="75" name="Oval 74"/>
          <p:cNvSpPr/>
          <p:nvPr/>
        </p:nvSpPr>
        <p:spPr>
          <a:xfrm>
            <a:off x="1829250" y="3955499"/>
            <a:ext cx="265500" cy="265500"/>
          </a:xfrm>
          <a:prstGeom prst="ellipse">
            <a:avLst/>
          </a:prstGeom>
          <a:solidFill>
            <a:srgbClr val="0606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6" name="Picture 75" descr="image.png"/>
          <p:cNvPicPr>
            <a:picLocks noChangeAspect="1"/>
          </p:cNvPicPr>
          <p:nvPr/>
        </p:nvPicPr>
        <p:blipFill>
          <a:blip r:embed="rId15"/>
          <a:stretch>
            <a:fillRect/>
          </a:stretch>
        </p:blipFill>
        <p:spPr>
          <a:xfrm>
            <a:off x="1882349" y="4008600"/>
            <a:ext cx="159300" cy="159300"/>
          </a:xfrm>
          <a:prstGeom prst="rect">
            <a:avLst/>
          </a:prstGeom>
        </p:spPr>
      </p:pic>
      <p:sp>
        <p:nvSpPr>
          <p:cNvPr id="77" name="Rectangle 76"/>
          <p:cNvSpPr/>
          <p:nvPr/>
        </p:nvSpPr>
        <p:spPr>
          <a:xfrm>
            <a:off x="2444400" y="3959099"/>
            <a:ext cx="8272800" cy="258300"/>
          </a:xfrm>
          <a:prstGeom prst="rect">
            <a:avLst/>
          </a:prstGeom>
          <a:noFill/>
          <a:ln w="19050">
            <a:solidFill>
              <a:srgbClr val="060606"/>
            </a:solidFill>
          </a:ln>
        </p:spPr>
        <p:style>
          <a:lnRef idx="1">
            <a:schemeClr val="accent1"/>
          </a:lnRef>
          <a:fillRef idx="3">
            <a:schemeClr val="accent1"/>
          </a:fillRef>
          <a:effectRef idx="2">
            <a:schemeClr val="accent1"/>
          </a:effectRef>
          <a:fontRef idx="minor">
            <a:schemeClr val="lt1"/>
          </a:fontRef>
        </p:style>
        <p:txBody>
          <a:bodyPr rtlCol="0" anchor="ctr" lIns="108000" tIns="0" bIns="0"/>
          <a:lstStyle/>
          <a:p>
            <a:pPr algn="l"/>
            <a:r>
              <a:rPr sz="1200">
                <a:solidFill>
                  <a:srgbClr val="060606"/>
                </a:solidFill>
                <a:latin typeface="Helvetica"/>
              </a:rPr>
              <a:t>Bilan et placements</a:t>
            </a:r>
          </a:p>
        </p:txBody>
      </p:sp>
      <p:sp>
        <p:nvSpPr>
          <p:cNvPr id="78" name="Rectangle 77"/>
          <p:cNvSpPr/>
          <p:nvPr/>
        </p:nvSpPr>
        <p:spPr>
          <a:xfrm>
            <a:off x="10756800" y="3959099"/>
            <a:ext cx="550800" cy="258300"/>
          </a:xfrm>
          <a:prstGeom prst="rect">
            <a:avLst/>
          </a:prstGeom>
          <a:noFill/>
          <a:ln w="19050">
            <a:solidFill>
              <a:srgbClr val="060606"/>
            </a:solidFill>
          </a:ln>
        </p:spPr>
        <p:style>
          <a:lnRef idx="1">
            <a:schemeClr val="accent1"/>
          </a:lnRef>
          <a:fillRef idx="3">
            <a:schemeClr val="accent1"/>
          </a:fillRef>
          <a:effectRef idx="2">
            <a:schemeClr val="accent1"/>
          </a:effectRef>
          <a:fontRef idx="minor">
            <a:schemeClr val="lt1"/>
          </a:fontRef>
        </p:style>
        <p:txBody>
          <a:bodyPr rtlCol="0" anchor="ctr" lIns="108000" tIns="0" bIns="0"/>
          <a:lstStyle/>
          <a:p>
            <a:pPr algn="ctr"/>
            <a:r>
              <a:rPr sz="1200">
                <a:solidFill>
                  <a:srgbClr val="060606"/>
                </a:solidFill>
                <a:latin typeface="Helvetica"/>
              </a:rPr>
              <a:t>72</a:t>
            </a:r>
          </a:p>
        </p:txBody>
      </p:sp>
      <p:cxnSp>
        <p:nvCxnSpPr>
          <p:cNvPr id="79" name="Connector 78"/>
          <p:cNvCxnSpPr/>
          <p:nvPr/>
        </p:nvCxnSpPr>
        <p:spPr>
          <a:xfrm>
            <a:off x="932400" y="4389750"/>
            <a:ext cx="813599" cy="0"/>
          </a:xfrm>
          <a:prstGeom prst="line">
            <a:avLst/>
          </a:prstGeom>
          <a:ln w="12700">
            <a:solidFill>
              <a:srgbClr val="112A40"/>
            </a:solidFill>
          </a:ln>
        </p:spPr>
        <p:style>
          <a:lnRef idx="2">
            <a:schemeClr val="accent1"/>
          </a:lnRef>
          <a:fillRef idx="0">
            <a:schemeClr val="accent1"/>
          </a:fillRef>
          <a:effectRef idx="1">
            <a:schemeClr val="accent1"/>
          </a:effectRef>
          <a:fontRef idx="minor">
            <a:schemeClr val="tx1"/>
          </a:fontRef>
        </p:style>
      </p:cxnSp>
      <p:sp>
        <p:nvSpPr>
          <p:cNvPr id="80" name="Oval 79"/>
          <p:cNvSpPr/>
          <p:nvPr/>
        </p:nvSpPr>
        <p:spPr>
          <a:xfrm>
            <a:off x="1829250" y="4257000"/>
            <a:ext cx="265500" cy="265500"/>
          </a:xfrm>
          <a:prstGeom prst="ellipse">
            <a:avLst/>
          </a:prstGeom>
          <a:solidFill>
            <a:srgbClr val="0606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1" name="Picture 80" descr="image.png"/>
          <p:cNvPicPr>
            <a:picLocks noChangeAspect="1"/>
          </p:cNvPicPr>
          <p:nvPr/>
        </p:nvPicPr>
        <p:blipFill>
          <a:blip r:embed="rId16"/>
          <a:stretch>
            <a:fillRect/>
          </a:stretch>
        </p:blipFill>
        <p:spPr>
          <a:xfrm>
            <a:off x="1882349" y="4310100"/>
            <a:ext cx="159300" cy="159300"/>
          </a:xfrm>
          <a:prstGeom prst="rect">
            <a:avLst/>
          </a:prstGeom>
        </p:spPr>
      </p:pic>
      <p:sp>
        <p:nvSpPr>
          <p:cNvPr id="82" name="Rectangle 81"/>
          <p:cNvSpPr/>
          <p:nvPr/>
        </p:nvSpPr>
        <p:spPr>
          <a:xfrm>
            <a:off x="2444400" y="4260600"/>
            <a:ext cx="8272800" cy="258300"/>
          </a:xfrm>
          <a:prstGeom prst="rect">
            <a:avLst/>
          </a:prstGeom>
          <a:noFill/>
          <a:ln w="19050">
            <a:solidFill>
              <a:srgbClr val="060606"/>
            </a:solidFill>
          </a:ln>
        </p:spPr>
        <p:style>
          <a:lnRef idx="1">
            <a:schemeClr val="accent1"/>
          </a:lnRef>
          <a:fillRef idx="3">
            <a:schemeClr val="accent1"/>
          </a:fillRef>
          <a:effectRef idx="2">
            <a:schemeClr val="accent1"/>
          </a:effectRef>
          <a:fontRef idx="minor">
            <a:schemeClr val="lt1"/>
          </a:fontRef>
        </p:style>
        <p:txBody>
          <a:bodyPr rtlCol="0" anchor="ctr" lIns="108000" tIns="0" bIns="0"/>
          <a:lstStyle/>
          <a:p>
            <a:pPr algn="l"/>
            <a:r>
              <a:rPr sz="1200">
                <a:solidFill>
                  <a:srgbClr val="060606"/>
                </a:solidFill>
                <a:latin typeface="Helvetica"/>
              </a:rPr>
              <a:t>Conformité prudentielle</a:t>
            </a:r>
          </a:p>
        </p:txBody>
      </p:sp>
      <p:sp>
        <p:nvSpPr>
          <p:cNvPr id="83" name="Rectangle 82"/>
          <p:cNvSpPr/>
          <p:nvPr/>
        </p:nvSpPr>
        <p:spPr>
          <a:xfrm>
            <a:off x="10756800" y="4260600"/>
            <a:ext cx="550800" cy="258300"/>
          </a:xfrm>
          <a:prstGeom prst="rect">
            <a:avLst/>
          </a:prstGeom>
          <a:noFill/>
          <a:ln w="19050">
            <a:solidFill>
              <a:srgbClr val="060606"/>
            </a:solidFill>
          </a:ln>
        </p:spPr>
        <p:style>
          <a:lnRef idx="1">
            <a:schemeClr val="accent1"/>
          </a:lnRef>
          <a:fillRef idx="3">
            <a:schemeClr val="accent1"/>
          </a:fillRef>
          <a:effectRef idx="2">
            <a:schemeClr val="accent1"/>
          </a:effectRef>
          <a:fontRef idx="minor">
            <a:schemeClr val="lt1"/>
          </a:fontRef>
        </p:style>
        <p:txBody>
          <a:bodyPr rtlCol="0" anchor="ctr" lIns="108000" tIns="0" bIns="0"/>
          <a:lstStyle/>
          <a:p>
            <a:pPr algn="ctr"/>
            <a:r>
              <a:rPr sz="1200">
                <a:solidFill>
                  <a:srgbClr val="060606"/>
                </a:solidFill>
                <a:latin typeface="Helvetica"/>
              </a:rPr>
              <a:t>82</a:t>
            </a:r>
          </a:p>
        </p:txBody>
      </p:sp>
      <p:cxnSp>
        <p:nvCxnSpPr>
          <p:cNvPr id="84" name="Connector 83"/>
          <p:cNvCxnSpPr/>
          <p:nvPr/>
        </p:nvCxnSpPr>
        <p:spPr>
          <a:xfrm>
            <a:off x="932400" y="4691250"/>
            <a:ext cx="813599" cy="0"/>
          </a:xfrm>
          <a:prstGeom prst="line">
            <a:avLst/>
          </a:prstGeom>
          <a:ln w="12700">
            <a:solidFill>
              <a:srgbClr val="112A40"/>
            </a:solidFill>
          </a:ln>
        </p:spPr>
        <p:style>
          <a:lnRef idx="2">
            <a:schemeClr val="accent1"/>
          </a:lnRef>
          <a:fillRef idx="0">
            <a:schemeClr val="accent1"/>
          </a:fillRef>
          <a:effectRef idx="1">
            <a:schemeClr val="accent1"/>
          </a:effectRef>
          <a:fontRef idx="minor">
            <a:schemeClr val="tx1"/>
          </a:fontRef>
        </p:style>
      </p:cxnSp>
      <p:sp>
        <p:nvSpPr>
          <p:cNvPr id="85" name="Oval 84"/>
          <p:cNvSpPr/>
          <p:nvPr/>
        </p:nvSpPr>
        <p:spPr>
          <a:xfrm>
            <a:off x="1829250" y="4558500"/>
            <a:ext cx="265500" cy="265500"/>
          </a:xfrm>
          <a:prstGeom prst="ellipse">
            <a:avLst/>
          </a:prstGeom>
          <a:solidFill>
            <a:srgbClr val="0606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6" name="Picture 85" descr="image.png"/>
          <p:cNvPicPr>
            <a:picLocks noChangeAspect="1"/>
          </p:cNvPicPr>
          <p:nvPr/>
        </p:nvPicPr>
        <p:blipFill>
          <a:blip r:embed="rId17"/>
          <a:stretch>
            <a:fillRect/>
          </a:stretch>
        </p:blipFill>
        <p:spPr>
          <a:xfrm>
            <a:off x="1882349" y="4611600"/>
            <a:ext cx="159300" cy="159300"/>
          </a:xfrm>
          <a:prstGeom prst="rect">
            <a:avLst/>
          </a:prstGeom>
        </p:spPr>
      </p:pic>
      <p:sp>
        <p:nvSpPr>
          <p:cNvPr id="87" name="Rectangle 86"/>
          <p:cNvSpPr/>
          <p:nvPr/>
        </p:nvSpPr>
        <p:spPr>
          <a:xfrm>
            <a:off x="2444400" y="4562100"/>
            <a:ext cx="8272800" cy="258300"/>
          </a:xfrm>
          <a:prstGeom prst="rect">
            <a:avLst/>
          </a:prstGeom>
          <a:noFill/>
          <a:ln w="19050">
            <a:solidFill>
              <a:srgbClr val="060606"/>
            </a:solidFill>
          </a:ln>
        </p:spPr>
        <p:style>
          <a:lnRef idx="1">
            <a:schemeClr val="accent1"/>
          </a:lnRef>
          <a:fillRef idx="3">
            <a:schemeClr val="accent1"/>
          </a:fillRef>
          <a:effectRef idx="2">
            <a:schemeClr val="accent1"/>
          </a:effectRef>
          <a:fontRef idx="minor">
            <a:schemeClr val="lt1"/>
          </a:fontRef>
        </p:style>
        <p:txBody>
          <a:bodyPr rtlCol="0" anchor="ctr" lIns="108000" tIns="0" bIns="0"/>
          <a:lstStyle/>
          <a:p>
            <a:pPr algn="l"/>
            <a:r>
              <a:rPr sz="1200">
                <a:solidFill>
                  <a:srgbClr val="060606"/>
                </a:solidFill>
                <a:latin typeface="Helvetica"/>
              </a:rPr>
              <a:t>Tables de mortalité</a:t>
            </a:r>
          </a:p>
        </p:txBody>
      </p:sp>
      <p:sp>
        <p:nvSpPr>
          <p:cNvPr id="88" name="Rectangle 87"/>
          <p:cNvSpPr/>
          <p:nvPr/>
        </p:nvSpPr>
        <p:spPr>
          <a:xfrm>
            <a:off x="10756800" y="4562100"/>
            <a:ext cx="550800" cy="258300"/>
          </a:xfrm>
          <a:prstGeom prst="rect">
            <a:avLst/>
          </a:prstGeom>
          <a:noFill/>
          <a:ln w="19050">
            <a:solidFill>
              <a:srgbClr val="060606"/>
            </a:solidFill>
          </a:ln>
        </p:spPr>
        <p:style>
          <a:lnRef idx="1">
            <a:schemeClr val="accent1"/>
          </a:lnRef>
          <a:fillRef idx="3">
            <a:schemeClr val="accent1"/>
          </a:fillRef>
          <a:effectRef idx="2">
            <a:schemeClr val="accent1"/>
          </a:effectRef>
          <a:fontRef idx="minor">
            <a:schemeClr val="lt1"/>
          </a:fontRef>
        </p:style>
        <p:txBody>
          <a:bodyPr rtlCol="0" anchor="ctr" lIns="108000" tIns="0" bIns="0"/>
          <a:lstStyle/>
          <a:p>
            <a:pPr algn="ctr"/>
            <a:r>
              <a:rPr sz="1200">
                <a:solidFill>
                  <a:srgbClr val="060606"/>
                </a:solidFill>
                <a:latin typeface="Helvetica"/>
              </a:rPr>
              <a:t>111</a:t>
            </a:r>
          </a:p>
        </p:txBody>
      </p:sp>
      <p:cxnSp>
        <p:nvCxnSpPr>
          <p:cNvPr id="89" name="Connector 88"/>
          <p:cNvCxnSpPr/>
          <p:nvPr/>
        </p:nvCxnSpPr>
        <p:spPr>
          <a:xfrm>
            <a:off x="932400" y="4992750"/>
            <a:ext cx="813599" cy="0"/>
          </a:xfrm>
          <a:prstGeom prst="line">
            <a:avLst/>
          </a:prstGeom>
          <a:ln w="12700">
            <a:solidFill>
              <a:srgbClr val="112A40"/>
            </a:solidFill>
          </a:ln>
        </p:spPr>
        <p:style>
          <a:lnRef idx="2">
            <a:schemeClr val="accent1"/>
          </a:lnRef>
          <a:fillRef idx="0">
            <a:schemeClr val="accent1"/>
          </a:fillRef>
          <a:effectRef idx="1">
            <a:schemeClr val="accent1"/>
          </a:effectRef>
          <a:fontRef idx="minor">
            <a:schemeClr val="tx1"/>
          </a:fontRef>
        </p:style>
      </p:cxnSp>
      <p:sp>
        <p:nvSpPr>
          <p:cNvPr id="90" name="Oval 89"/>
          <p:cNvSpPr/>
          <p:nvPr/>
        </p:nvSpPr>
        <p:spPr>
          <a:xfrm>
            <a:off x="1829250" y="4860000"/>
            <a:ext cx="265500" cy="265500"/>
          </a:xfrm>
          <a:prstGeom prst="ellipse">
            <a:avLst/>
          </a:prstGeom>
          <a:solidFill>
            <a:srgbClr val="0606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1" name="Picture 90" descr="image.png"/>
          <p:cNvPicPr>
            <a:picLocks noChangeAspect="1"/>
          </p:cNvPicPr>
          <p:nvPr/>
        </p:nvPicPr>
        <p:blipFill>
          <a:blip r:embed="rId18"/>
          <a:stretch>
            <a:fillRect/>
          </a:stretch>
        </p:blipFill>
        <p:spPr>
          <a:xfrm>
            <a:off x="1882349" y="4913100"/>
            <a:ext cx="159300" cy="159300"/>
          </a:xfrm>
          <a:prstGeom prst="rect">
            <a:avLst/>
          </a:prstGeom>
        </p:spPr>
      </p:pic>
      <p:sp>
        <p:nvSpPr>
          <p:cNvPr id="92" name="Rectangle 91"/>
          <p:cNvSpPr/>
          <p:nvPr/>
        </p:nvSpPr>
        <p:spPr>
          <a:xfrm>
            <a:off x="2444400" y="4863600"/>
            <a:ext cx="8272800" cy="258300"/>
          </a:xfrm>
          <a:prstGeom prst="rect">
            <a:avLst/>
          </a:prstGeom>
          <a:noFill/>
          <a:ln w="19050">
            <a:solidFill>
              <a:srgbClr val="060606"/>
            </a:solidFill>
          </a:ln>
        </p:spPr>
        <p:style>
          <a:lnRef idx="1">
            <a:schemeClr val="accent1"/>
          </a:lnRef>
          <a:fillRef idx="3">
            <a:schemeClr val="accent1"/>
          </a:fillRef>
          <a:effectRef idx="2">
            <a:schemeClr val="accent1"/>
          </a:effectRef>
          <a:fontRef idx="minor">
            <a:schemeClr val="lt1"/>
          </a:fontRef>
        </p:style>
        <p:txBody>
          <a:bodyPr rtlCol="0" anchor="ctr" lIns="108000" tIns="0" bIns="0"/>
          <a:lstStyle/>
          <a:p>
            <a:pPr algn="l"/>
            <a:r>
              <a:rPr sz="1200">
                <a:solidFill>
                  <a:srgbClr val="060606"/>
                </a:solidFill>
                <a:latin typeface="Helvetica"/>
              </a:rPr>
              <a:t>Méthodes actuarielles</a:t>
            </a:r>
          </a:p>
        </p:txBody>
      </p:sp>
      <p:sp>
        <p:nvSpPr>
          <p:cNvPr id="93" name="Rectangle 92"/>
          <p:cNvSpPr/>
          <p:nvPr/>
        </p:nvSpPr>
        <p:spPr>
          <a:xfrm>
            <a:off x="10756800" y="4863600"/>
            <a:ext cx="550800" cy="258300"/>
          </a:xfrm>
          <a:prstGeom prst="rect">
            <a:avLst/>
          </a:prstGeom>
          <a:noFill/>
          <a:ln w="19050">
            <a:solidFill>
              <a:srgbClr val="060606"/>
            </a:solidFill>
          </a:ln>
        </p:spPr>
        <p:style>
          <a:lnRef idx="1">
            <a:schemeClr val="accent1"/>
          </a:lnRef>
          <a:fillRef idx="3">
            <a:schemeClr val="accent1"/>
          </a:fillRef>
          <a:effectRef idx="2">
            <a:schemeClr val="accent1"/>
          </a:effectRef>
          <a:fontRef idx="minor">
            <a:schemeClr val="lt1"/>
          </a:fontRef>
        </p:style>
        <p:txBody>
          <a:bodyPr rtlCol="0" anchor="ctr" lIns="108000" tIns="0" bIns="0"/>
          <a:lstStyle/>
          <a:p>
            <a:pPr algn="ctr"/>
            <a:r>
              <a:rPr sz="1200">
                <a:solidFill>
                  <a:srgbClr val="060606"/>
                </a:solidFill>
                <a:latin typeface="Helvetica"/>
              </a:rPr>
              <a:t>118</a:t>
            </a:r>
          </a:p>
        </p:txBody>
      </p:sp>
      <p:cxnSp>
        <p:nvCxnSpPr>
          <p:cNvPr id="94" name="Connector 93"/>
          <p:cNvCxnSpPr/>
          <p:nvPr/>
        </p:nvCxnSpPr>
        <p:spPr>
          <a:xfrm>
            <a:off x="932400" y="5294250"/>
            <a:ext cx="813599" cy="0"/>
          </a:xfrm>
          <a:prstGeom prst="line">
            <a:avLst/>
          </a:prstGeom>
          <a:ln w="12700">
            <a:solidFill>
              <a:srgbClr val="112A40"/>
            </a:solidFill>
          </a:ln>
        </p:spPr>
        <p:style>
          <a:lnRef idx="2">
            <a:schemeClr val="accent1"/>
          </a:lnRef>
          <a:fillRef idx="0">
            <a:schemeClr val="accent1"/>
          </a:fillRef>
          <a:effectRef idx="1">
            <a:schemeClr val="accent1"/>
          </a:effectRef>
          <a:fontRef idx="minor">
            <a:schemeClr val="tx1"/>
          </a:fontRef>
        </p:style>
      </p:cxnSp>
      <p:sp>
        <p:nvSpPr>
          <p:cNvPr id="95" name="Oval 94"/>
          <p:cNvSpPr/>
          <p:nvPr/>
        </p:nvSpPr>
        <p:spPr>
          <a:xfrm>
            <a:off x="1829250" y="5161500"/>
            <a:ext cx="265500" cy="265500"/>
          </a:xfrm>
          <a:prstGeom prst="ellipse">
            <a:avLst/>
          </a:prstGeom>
          <a:solidFill>
            <a:srgbClr val="0606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6" name="Picture 95" descr="image.png"/>
          <p:cNvPicPr>
            <a:picLocks noChangeAspect="1"/>
          </p:cNvPicPr>
          <p:nvPr/>
        </p:nvPicPr>
        <p:blipFill>
          <a:blip r:embed="rId19"/>
          <a:stretch>
            <a:fillRect/>
          </a:stretch>
        </p:blipFill>
        <p:spPr>
          <a:xfrm>
            <a:off x="1882349" y="5214600"/>
            <a:ext cx="159300" cy="159300"/>
          </a:xfrm>
          <a:prstGeom prst="rect">
            <a:avLst/>
          </a:prstGeom>
        </p:spPr>
      </p:pic>
      <p:sp>
        <p:nvSpPr>
          <p:cNvPr id="97" name="Rectangle 96"/>
          <p:cNvSpPr/>
          <p:nvPr/>
        </p:nvSpPr>
        <p:spPr>
          <a:xfrm>
            <a:off x="2444400" y="5165100"/>
            <a:ext cx="8272800" cy="258300"/>
          </a:xfrm>
          <a:prstGeom prst="rect">
            <a:avLst/>
          </a:prstGeom>
          <a:noFill/>
          <a:ln w="19050">
            <a:solidFill>
              <a:srgbClr val="060606"/>
            </a:solidFill>
          </a:ln>
        </p:spPr>
        <p:style>
          <a:lnRef idx="1">
            <a:schemeClr val="accent1"/>
          </a:lnRef>
          <a:fillRef idx="3">
            <a:schemeClr val="accent1"/>
          </a:fillRef>
          <a:effectRef idx="2">
            <a:schemeClr val="accent1"/>
          </a:effectRef>
          <a:fontRef idx="minor">
            <a:schemeClr val="lt1"/>
          </a:fontRef>
        </p:style>
        <p:txBody>
          <a:bodyPr rtlCol="0" anchor="ctr" lIns="108000" tIns="0" bIns="0"/>
          <a:lstStyle/>
          <a:p>
            <a:pPr algn="l"/>
            <a:r>
              <a:rPr sz="1200">
                <a:solidFill>
                  <a:srgbClr val="060606"/>
                </a:solidFill>
                <a:latin typeface="Helvetica"/>
              </a:rPr>
              <a:t>Outils et traçabilité</a:t>
            </a:r>
          </a:p>
        </p:txBody>
      </p:sp>
      <p:sp>
        <p:nvSpPr>
          <p:cNvPr id="98" name="Rectangle 97"/>
          <p:cNvSpPr/>
          <p:nvPr/>
        </p:nvSpPr>
        <p:spPr>
          <a:xfrm>
            <a:off x="10756800" y="5165100"/>
            <a:ext cx="550800" cy="258300"/>
          </a:xfrm>
          <a:prstGeom prst="rect">
            <a:avLst/>
          </a:prstGeom>
          <a:noFill/>
          <a:ln w="19050">
            <a:solidFill>
              <a:srgbClr val="060606"/>
            </a:solidFill>
          </a:ln>
        </p:spPr>
        <p:style>
          <a:lnRef idx="1">
            <a:schemeClr val="accent1"/>
          </a:lnRef>
          <a:fillRef idx="3">
            <a:schemeClr val="accent1"/>
          </a:fillRef>
          <a:effectRef idx="2">
            <a:schemeClr val="accent1"/>
          </a:effectRef>
          <a:fontRef idx="minor">
            <a:schemeClr val="lt1"/>
          </a:fontRef>
        </p:style>
        <p:txBody>
          <a:bodyPr rtlCol="0" anchor="ctr" lIns="108000" tIns="0" bIns="0"/>
          <a:lstStyle/>
          <a:p>
            <a:pPr algn="ctr"/>
            <a:r>
              <a:rPr sz="1200">
                <a:solidFill>
                  <a:srgbClr val="060606"/>
                </a:solidFill>
                <a:latin typeface="Helvetica"/>
              </a:rPr>
              <a:t>125</a:t>
            </a:r>
          </a:p>
        </p:txBody>
      </p:sp>
      <p:cxnSp>
        <p:nvCxnSpPr>
          <p:cNvPr id="99" name="Connector 98"/>
          <p:cNvCxnSpPr/>
          <p:nvPr/>
        </p:nvCxnSpPr>
        <p:spPr>
          <a:xfrm>
            <a:off x="932400" y="5595750"/>
            <a:ext cx="813599" cy="0"/>
          </a:xfrm>
          <a:prstGeom prst="line">
            <a:avLst/>
          </a:prstGeom>
          <a:ln w="12700">
            <a:solidFill>
              <a:srgbClr val="112A40"/>
            </a:solidFill>
          </a:ln>
        </p:spPr>
        <p:style>
          <a:lnRef idx="2">
            <a:schemeClr val="accent1"/>
          </a:lnRef>
          <a:fillRef idx="0">
            <a:schemeClr val="accent1"/>
          </a:fillRef>
          <a:effectRef idx="1">
            <a:schemeClr val="accent1"/>
          </a:effectRef>
          <a:fontRef idx="minor">
            <a:schemeClr val="tx1"/>
          </a:fontRef>
        </p:style>
      </p:cxnSp>
      <p:sp>
        <p:nvSpPr>
          <p:cNvPr id="100" name="Oval 99"/>
          <p:cNvSpPr/>
          <p:nvPr/>
        </p:nvSpPr>
        <p:spPr>
          <a:xfrm>
            <a:off x="1829250" y="5463000"/>
            <a:ext cx="265500" cy="265500"/>
          </a:xfrm>
          <a:prstGeom prst="ellipse">
            <a:avLst/>
          </a:prstGeom>
          <a:solidFill>
            <a:srgbClr val="0606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1" name="Picture 100" descr="image.png"/>
          <p:cNvPicPr>
            <a:picLocks noChangeAspect="1"/>
          </p:cNvPicPr>
          <p:nvPr/>
        </p:nvPicPr>
        <p:blipFill>
          <a:blip r:embed="rId20"/>
          <a:stretch>
            <a:fillRect/>
          </a:stretch>
        </p:blipFill>
        <p:spPr>
          <a:xfrm>
            <a:off x="1882349" y="5516100"/>
            <a:ext cx="159300" cy="159300"/>
          </a:xfrm>
          <a:prstGeom prst="rect">
            <a:avLst/>
          </a:prstGeom>
        </p:spPr>
      </p:pic>
      <p:sp>
        <p:nvSpPr>
          <p:cNvPr id="102" name="Rectangle 101"/>
          <p:cNvSpPr/>
          <p:nvPr/>
        </p:nvSpPr>
        <p:spPr>
          <a:xfrm>
            <a:off x="2444400" y="5466600"/>
            <a:ext cx="8272800" cy="258300"/>
          </a:xfrm>
          <a:prstGeom prst="rect">
            <a:avLst/>
          </a:prstGeom>
          <a:noFill/>
          <a:ln w="19050">
            <a:solidFill>
              <a:srgbClr val="060606"/>
            </a:solidFill>
          </a:ln>
        </p:spPr>
        <p:style>
          <a:lnRef idx="1">
            <a:schemeClr val="accent1"/>
          </a:lnRef>
          <a:fillRef idx="3">
            <a:schemeClr val="accent1"/>
          </a:fillRef>
          <a:effectRef idx="2">
            <a:schemeClr val="accent1"/>
          </a:effectRef>
          <a:fontRef idx="minor">
            <a:schemeClr val="lt1"/>
          </a:fontRef>
        </p:style>
        <p:txBody>
          <a:bodyPr rtlCol="0" anchor="ctr" lIns="108000" tIns="0" bIns="0"/>
          <a:lstStyle/>
          <a:p>
            <a:pPr algn="l"/>
            <a:r>
              <a:rPr sz="1200">
                <a:solidFill>
                  <a:srgbClr val="060606"/>
                </a:solidFill>
                <a:latin typeface="Helvetica"/>
              </a:rPr>
              <a:t>Analyses en attente</a:t>
            </a:r>
          </a:p>
        </p:txBody>
      </p:sp>
      <p:sp>
        <p:nvSpPr>
          <p:cNvPr id="103" name="Rectangle 102"/>
          <p:cNvSpPr/>
          <p:nvPr/>
        </p:nvSpPr>
        <p:spPr>
          <a:xfrm>
            <a:off x="10756800" y="5466600"/>
            <a:ext cx="550800" cy="258300"/>
          </a:xfrm>
          <a:prstGeom prst="rect">
            <a:avLst/>
          </a:prstGeom>
          <a:noFill/>
          <a:ln w="19050">
            <a:solidFill>
              <a:srgbClr val="060606"/>
            </a:solidFill>
          </a:ln>
        </p:spPr>
        <p:style>
          <a:lnRef idx="1">
            <a:schemeClr val="accent1"/>
          </a:lnRef>
          <a:fillRef idx="3">
            <a:schemeClr val="accent1"/>
          </a:fillRef>
          <a:effectRef idx="2">
            <a:schemeClr val="accent1"/>
          </a:effectRef>
          <a:fontRef idx="minor">
            <a:schemeClr val="lt1"/>
          </a:fontRef>
        </p:style>
        <p:txBody>
          <a:bodyPr rtlCol="0" anchor="ctr" lIns="108000" tIns="0" bIns="0"/>
          <a:lstStyle/>
          <a:p>
            <a:pPr algn="ctr"/>
            <a:r>
              <a:rPr sz="1200">
                <a:solidFill>
                  <a:srgbClr val="060606"/>
                </a:solidFill>
                <a:latin typeface="Helvetica"/>
              </a:rPr>
              <a:t>141</a:t>
            </a:r>
          </a:p>
        </p:txBody>
      </p:sp>
      <p:cxnSp>
        <p:nvCxnSpPr>
          <p:cNvPr id="104" name="Connector 103"/>
          <p:cNvCxnSpPr/>
          <p:nvPr/>
        </p:nvCxnSpPr>
        <p:spPr>
          <a:xfrm>
            <a:off x="932400" y="5897250"/>
            <a:ext cx="813599" cy="0"/>
          </a:xfrm>
          <a:prstGeom prst="line">
            <a:avLst/>
          </a:prstGeom>
          <a:ln w="12700">
            <a:solidFill>
              <a:srgbClr val="112A40"/>
            </a:solidFill>
          </a:ln>
        </p:spPr>
        <p:style>
          <a:lnRef idx="2">
            <a:schemeClr val="accent1"/>
          </a:lnRef>
          <a:fillRef idx="0">
            <a:schemeClr val="accent1"/>
          </a:fillRef>
          <a:effectRef idx="1">
            <a:schemeClr val="accent1"/>
          </a:effectRef>
          <a:fontRef idx="minor">
            <a:schemeClr val="tx1"/>
          </a:fontRef>
        </p:style>
      </p:cxnSp>
      <p:sp>
        <p:nvSpPr>
          <p:cNvPr id="105" name="Oval 104"/>
          <p:cNvSpPr/>
          <p:nvPr/>
        </p:nvSpPr>
        <p:spPr>
          <a:xfrm>
            <a:off x="1829250" y="5764500"/>
            <a:ext cx="265500" cy="265500"/>
          </a:xfrm>
          <a:prstGeom prst="ellipse">
            <a:avLst/>
          </a:prstGeom>
          <a:solidFill>
            <a:srgbClr val="0606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6" name="Picture 105" descr="image.png"/>
          <p:cNvPicPr>
            <a:picLocks noChangeAspect="1"/>
          </p:cNvPicPr>
          <p:nvPr/>
        </p:nvPicPr>
        <p:blipFill>
          <a:blip r:embed="rId21"/>
          <a:stretch>
            <a:fillRect/>
          </a:stretch>
        </p:blipFill>
        <p:spPr>
          <a:xfrm>
            <a:off x="1882349" y="5817600"/>
            <a:ext cx="159300" cy="159300"/>
          </a:xfrm>
          <a:prstGeom prst="rect">
            <a:avLst/>
          </a:prstGeom>
        </p:spPr>
      </p:pic>
      <p:sp>
        <p:nvSpPr>
          <p:cNvPr id="107" name="Rectangle 106"/>
          <p:cNvSpPr/>
          <p:nvPr/>
        </p:nvSpPr>
        <p:spPr>
          <a:xfrm>
            <a:off x="2444400" y="5768100"/>
            <a:ext cx="8272800" cy="258300"/>
          </a:xfrm>
          <a:prstGeom prst="rect">
            <a:avLst/>
          </a:prstGeom>
          <a:noFill/>
          <a:ln w="19050">
            <a:solidFill>
              <a:srgbClr val="060606"/>
            </a:solidFill>
          </a:ln>
        </p:spPr>
        <p:style>
          <a:lnRef idx="1">
            <a:schemeClr val="accent1"/>
          </a:lnRef>
          <a:fillRef idx="3">
            <a:schemeClr val="accent1"/>
          </a:fillRef>
          <a:effectRef idx="2">
            <a:schemeClr val="accent1"/>
          </a:effectRef>
          <a:fontRef idx="minor">
            <a:schemeClr val="lt1"/>
          </a:fontRef>
        </p:style>
        <p:txBody>
          <a:bodyPr rtlCol="0" anchor="ctr" lIns="108000" tIns="0" bIns="0"/>
          <a:lstStyle/>
          <a:p>
            <a:pPr algn="l"/>
            <a:r>
              <a:rPr sz="1200">
                <a:solidFill>
                  <a:srgbClr val="060606"/>
                </a:solidFill>
                <a:latin typeface="Helvetica"/>
              </a:rPr>
              <a:t>Annexes</a:t>
            </a:r>
          </a:p>
        </p:txBody>
      </p:sp>
      <p:sp>
        <p:nvSpPr>
          <p:cNvPr id="108" name="Rectangle 107"/>
          <p:cNvSpPr/>
          <p:nvPr/>
        </p:nvSpPr>
        <p:spPr>
          <a:xfrm>
            <a:off x="10756800" y="5768100"/>
            <a:ext cx="550800" cy="258300"/>
          </a:xfrm>
          <a:prstGeom prst="rect">
            <a:avLst/>
          </a:prstGeom>
          <a:noFill/>
          <a:ln w="19050">
            <a:solidFill>
              <a:srgbClr val="060606"/>
            </a:solidFill>
          </a:ln>
        </p:spPr>
        <p:style>
          <a:lnRef idx="1">
            <a:schemeClr val="accent1"/>
          </a:lnRef>
          <a:fillRef idx="3">
            <a:schemeClr val="accent1"/>
          </a:fillRef>
          <a:effectRef idx="2">
            <a:schemeClr val="accent1"/>
          </a:effectRef>
          <a:fontRef idx="minor">
            <a:schemeClr val="lt1"/>
          </a:fontRef>
        </p:style>
        <p:txBody>
          <a:bodyPr rtlCol="0" anchor="ctr" lIns="108000" tIns="0" bIns="0"/>
          <a:lstStyle/>
          <a:p>
            <a:pPr algn="ctr"/>
            <a:r>
              <a:rPr sz="1200">
                <a:solidFill>
                  <a:srgbClr val="060606"/>
                </a:solidFill>
                <a:latin typeface="Helvetica"/>
              </a:rPr>
              <a:t>144</a:t>
            </a:r>
          </a:p>
        </p:txBody>
      </p:sp>
    </p:spTree>
    <p:extLst>
      <p:ext uri="{BB962C8B-B14F-4D97-AF65-F5344CB8AC3E}">
        <p14:creationId xmlns:p14="http://schemas.microsoft.com/office/powerpoint/2010/main" val="775771764"/>
      </p:ext>
    </p:extLst>
  </p:cSld>
  <p:clrMapOvr>
    <a:masterClrMapping/>
  </p:clrMapOvr>
  <p:transition>
    <p:fad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Google Shape;8651;p70"/>
          <p:cNvSpPr/>
          <p:nvPr/>
        </p:nvSpPr>
        <p:spPr>
          <a:xfrm>
            <a:off x="2013108" y="2588204"/>
            <a:ext cx="1380332" cy="1428252"/>
          </a:xfrm>
          <a:custGeom>
            <a:avLst/>
            <a:gdLst/>
            <a:ahLst/>
            <a:cxnLst/>
            <a:rect l="l" t="t" r="r" b="b"/>
            <a:pathLst>
              <a:path w="8670" h="8971" extrusionOk="0">
                <a:moveTo>
                  <a:pt x="7105" y="1302"/>
                </a:moveTo>
                <a:cubicBezTo>
                  <a:pt x="7105" y="1315"/>
                  <a:pt x="7105" y="1328"/>
                  <a:pt x="7105" y="1341"/>
                </a:cubicBezTo>
                <a:cubicBezTo>
                  <a:pt x="7118" y="1980"/>
                  <a:pt x="7183" y="2619"/>
                  <a:pt x="7183" y="3283"/>
                </a:cubicBezTo>
                <a:cubicBezTo>
                  <a:pt x="7170" y="4404"/>
                  <a:pt x="7183" y="5525"/>
                  <a:pt x="7222" y="6646"/>
                </a:cubicBezTo>
                <a:cubicBezTo>
                  <a:pt x="7235" y="6959"/>
                  <a:pt x="7222" y="7259"/>
                  <a:pt x="7222" y="7559"/>
                </a:cubicBezTo>
                <a:lnTo>
                  <a:pt x="7222" y="7585"/>
                </a:lnTo>
                <a:cubicBezTo>
                  <a:pt x="6935" y="7598"/>
                  <a:pt x="6649" y="7611"/>
                  <a:pt x="6362" y="7611"/>
                </a:cubicBezTo>
                <a:cubicBezTo>
                  <a:pt x="6101" y="7598"/>
                  <a:pt x="5853" y="7585"/>
                  <a:pt x="5593" y="7585"/>
                </a:cubicBezTo>
                <a:cubicBezTo>
                  <a:pt x="4159" y="7559"/>
                  <a:pt x="2712" y="7559"/>
                  <a:pt x="1291" y="7442"/>
                </a:cubicBezTo>
                <a:cubicBezTo>
                  <a:pt x="1278" y="7207"/>
                  <a:pt x="1239" y="6959"/>
                  <a:pt x="1226" y="6725"/>
                </a:cubicBezTo>
                <a:cubicBezTo>
                  <a:pt x="1200" y="6255"/>
                  <a:pt x="1187" y="5799"/>
                  <a:pt x="1200" y="5330"/>
                </a:cubicBezTo>
                <a:cubicBezTo>
                  <a:pt x="1213" y="4222"/>
                  <a:pt x="1226" y="3101"/>
                  <a:pt x="1343" y="1993"/>
                </a:cubicBezTo>
                <a:lnTo>
                  <a:pt x="1552" y="1993"/>
                </a:lnTo>
                <a:cubicBezTo>
                  <a:pt x="2138" y="1980"/>
                  <a:pt x="2725" y="1889"/>
                  <a:pt x="3312" y="1810"/>
                </a:cubicBezTo>
                <a:cubicBezTo>
                  <a:pt x="4576" y="1641"/>
                  <a:pt x="5840" y="1524"/>
                  <a:pt x="7105" y="1302"/>
                </a:cubicBezTo>
                <a:close/>
                <a:moveTo>
                  <a:pt x="7529" y="1"/>
                </a:moveTo>
                <a:cubicBezTo>
                  <a:pt x="7291" y="1"/>
                  <a:pt x="7059" y="53"/>
                  <a:pt x="6818" y="64"/>
                </a:cubicBezTo>
                <a:cubicBezTo>
                  <a:pt x="6375" y="103"/>
                  <a:pt x="5932" y="142"/>
                  <a:pt x="5488" y="194"/>
                </a:cubicBezTo>
                <a:cubicBezTo>
                  <a:pt x="4824" y="259"/>
                  <a:pt x="4107" y="350"/>
                  <a:pt x="3429" y="389"/>
                </a:cubicBezTo>
                <a:cubicBezTo>
                  <a:pt x="2686" y="429"/>
                  <a:pt x="1943" y="481"/>
                  <a:pt x="1213" y="598"/>
                </a:cubicBezTo>
                <a:cubicBezTo>
                  <a:pt x="913" y="624"/>
                  <a:pt x="652" y="728"/>
                  <a:pt x="509" y="976"/>
                </a:cubicBezTo>
                <a:cubicBezTo>
                  <a:pt x="470" y="1028"/>
                  <a:pt x="444" y="1080"/>
                  <a:pt x="431" y="1146"/>
                </a:cubicBezTo>
                <a:cubicBezTo>
                  <a:pt x="300" y="1524"/>
                  <a:pt x="287" y="1928"/>
                  <a:pt x="300" y="2332"/>
                </a:cubicBezTo>
                <a:cubicBezTo>
                  <a:pt x="209" y="3010"/>
                  <a:pt x="209" y="3700"/>
                  <a:pt x="209" y="4378"/>
                </a:cubicBezTo>
                <a:cubicBezTo>
                  <a:pt x="170" y="4769"/>
                  <a:pt x="144" y="5173"/>
                  <a:pt x="131" y="5565"/>
                </a:cubicBezTo>
                <a:cubicBezTo>
                  <a:pt x="105" y="6203"/>
                  <a:pt x="14" y="6842"/>
                  <a:pt x="14" y="7481"/>
                </a:cubicBezTo>
                <a:cubicBezTo>
                  <a:pt x="1" y="7911"/>
                  <a:pt x="157" y="8315"/>
                  <a:pt x="613" y="8419"/>
                </a:cubicBezTo>
                <a:cubicBezTo>
                  <a:pt x="1056" y="8550"/>
                  <a:pt x="1526" y="8524"/>
                  <a:pt x="1982" y="8550"/>
                </a:cubicBezTo>
                <a:cubicBezTo>
                  <a:pt x="2243" y="8563"/>
                  <a:pt x="2503" y="8589"/>
                  <a:pt x="2764" y="8615"/>
                </a:cubicBezTo>
                <a:cubicBezTo>
                  <a:pt x="3885" y="8745"/>
                  <a:pt x="5006" y="8902"/>
                  <a:pt x="6140" y="8941"/>
                </a:cubicBezTo>
                <a:cubicBezTo>
                  <a:pt x="6220" y="8945"/>
                  <a:pt x="6302" y="8946"/>
                  <a:pt x="6383" y="8946"/>
                </a:cubicBezTo>
                <a:cubicBezTo>
                  <a:pt x="6581" y="8946"/>
                  <a:pt x="6781" y="8937"/>
                  <a:pt x="6974" y="8928"/>
                </a:cubicBezTo>
                <a:cubicBezTo>
                  <a:pt x="7118" y="8941"/>
                  <a:pt x="7274" y="8941"/>
                  <a:pt x="7418" y="8941"/>
                </a:cubicBezTo>
                <a:cubicBezTo>
                  <a:pt x="7568" y="8956"/>
                  <a:pt x="7723" y="8971"/>
                  <a:pt x="7877" y="8971"/>
                </a:cubicBezTo>
                <a:cubicBezTo>
                  <a:pt x="7990" y="8971"/>
                  <a:pt x="8103" y="8963"/>
                  <a:pt x="8213" y="8941"/>
                </a:cubicBezTo>
                <a:cubicBezTo>
                  <a:pt x="8643" y="8810"/>
                  <a:pt x="8565" y="8093"/>
                  <a:pt x="8604" y="7741"/>
                </a:cubicBezTo>
                <a:cubicBezTo>
                  <a:pt x="8669" y="6620"/>
                  <a:pt x="8539" y="5499"/>
                  <a:pt x="8487" y="4378"/>
                </a:cubicBezTo>
                <a:cubicBezTo>
                  <a:pt x="8434" y="3453"/>
                  <a:pt x="8330" y="2527"/>
                  <a:pt x="8252" y="1589"/>
                </a:cubicBezTo>
                <a:cubicBezTo>
                  <a:pt x="8200" y="1341"/>
                  <a:pt x="8239" y="637"/>
                  <a:pt x="8096" y="350"/>
                </a:cubicBezTo>
                <a:lnTo>
                  <a:pt x="8082" y="350"/>
                </a:lnTo>
                <a:cubicBezTo>
                  <a:pt x="8056" y="181"/>
                  <a:pt x="7952" y="51"/>
                  <a:pt x="7704" y="11"/>
                </a:cubicBezTo>
                <a:cubicBezTo>
                  <a:pt x="7645" y="4"/>
                  <a:pt x="7587" y="1"/>
                  <a:pt x="7529" y="1"/>
                </a:cubicBezTo>
                <a:close/>
              </a:path>
            </a:pathLst>
          </a:custGeom>
          <a:solidFill>
            <a:schemeClr val="bg1"/>
          </a:solidFill>
          <a:ln w="76200">
            <a:solidFill>
              <a:schemeClr val="tx1"/>
            </a:solidFill>
          </a:ln>
        </p:spPr>
        <p:txBody>
          <a:bodyPr spcFirstLastPara="1" wrap="square" lIns="91425" tIns="91425" rIns="91425" bIns="91425" anchor="ctr" anchorCtr="0">
            <a:noAutofit/>
          </a:bodyPr>
          <a:lstStyle/>
          <a:p>
            <a:pPr marL="0" lvl="0" indent="0" algn="l" rtl="0">
              <a:spcBef>
                <a:spcPts val="0"/>
              </a:spcBef>
              <a:spcAft>
                <a:spcPts val="0"/>
              </a:spcAft>
              <a:buNone/>
            </a:pPr>
            <a:endParaRPr lang="fr-CI" noProof="0">
              <a:solidFill>
                <a:schemeClr val="bg1"/>
              </a:solidFill>
              <a:latin typeface="Helvetica" panose="020B0604020202020204" pitchFamily="34" charset="0"/>
              <a:cs typeface="Helvetica" panose="020B0604020202020204" pitchFamily="34" charset="0"/>
            </a:endParaRPr>
          </a:p>
        </p:txBody>
      </p:sp>
      <p:sp>
        <p:nvSpPr>
          <p:cNvPr id="25" name="Rectangle 24">
            <a:extLst>
              <a:ext uri="{FF2B5EF4-FFF2-40B4-BE49-F238E27FC236}">
                <a16:creationId xmlns:a16="http://schemas.microsoft.com/office/drawing/2014/main" id="{9B9B23AA-050D-4543-80A0-873FE31AFFF7}"/>
              </a:ext>
            </a:extLst>
          </p:cNvPr>
          <p:cNvSpPr/>
          <p:nvPr/>
        </p:nvSpPr>
        <p:spPr>
          <a:xfrm>
            <a:off x="2446471" y="2869098"/>
            <a:ext cx="513606" cy="936923"/>
          </a:xfrm>
          <a:prstGeom prst="rect">
            <a:avLst/>
          </a:prstGeom>
        </p:spPr>
        <p:txBody>
          <a:bodyPr wrap="square" lIns="0" tIns="0" rIns="0" bIns="0">
            <a:spAutoFit/>
          </a:bodyPr>
          <a:lstStyle/>
          <a:p>
            <a:pPr lvl="0">
              <a:lnSpc>
                <a:spcPct val="110000"/>
              </a:lnSpc>
            </a:pPr>
            <a:r>
              <a:rPr lang="fr-CI" sz="6000" b="1" noProof="0">
                <a:solidFill>
                  <a:schemeClr val="bg1"/>
                </a:solidFill>
                <a:latin typeface="Helvetica" panose="020B0604020202020204" pitchFamily="34" charset="0"/>
                <a:ea typeface="Open Sans Semibold" panose="020B0706030804020204" pitchFamily="34" charset="0"/>
                <a:cs typeface="Helvetica" panose="020B0604020202020204" pitchFamily="34" charset="0"/>
              </a:rPr>
              <a:t>R</a:t>
            </a:r>
          </a:p>
        </p:txBody>
      </p:sp>
      <p:sp>
        <p:nvSpPr>
          <p:cNvPr id="10" name="Rectangle 9"/>
          <p:cNvSpPr/>
          <p:nvPr/>
        </p:nvSpPr>
        <p:spPr>
          <a:xfrm>
            <a:off x="3938554" y="2462184"/>
            <a:ext cx="3816000" cy="1200329"/>
          </a:xfrm>
          <a:prstGeom prst="rect">
            <a:avLst/>
          </a:prstGeom>
        </p:spPr>
        <p:txBody>
          <a:bodyPr wrap="square">
            <a:spAutoFit/>
          </a:bodyPr>
          <a:lstStyle/>
          <a:p>
            <a:r>
              <a:rPr lang="fr-CI" sz="3600" b="1" noProof="0">
                <a:solidFill>
                  <a:schemeClr val="bg1"/>
                </a:solidFill>
                <a:latin typeface="Helvetica" panose="020B0604020202020204" pitchFamily="34" charset="0"/>
                <a:cs typeface="Helvetica" panose="020B0604020202020204" pitchFamily="34" charset="0"/>
              </a:rPr>
              <a:t>Résumé exécutif</a:t>
            </a:r>
          </a:p>
        </p:txBody>
      </p:sp>
      <p:pic>
        <p:nvPicPr>
          <p:cNvPr id="9" name="Image 8">
            <a:extLst>
              <a:ext uri="{FF2B5EF4-FFF2-40B4-BE49-F238E27FC236}">
                <a16:creationId xmlns:a16="http://schemas.microsoft.com/office/drawing/2014/main" id="{2C356854-0685-DCEF-E2F6-65D5E9653A47}"/>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71274" y="-185107"/>
            <a:ext cx="3179518" cy="1268781"/>
          </a:xfrm>
          <a:prstGeom prst="rect">
            <a:avLst/>
          </a:prstGeom>
        </p:spPr>
      </p:pic>
      <p:sp>
        <p:nvSpPr>
          <p:cNvPr id="6" name="Rectangle 5"/>
          <p:cNvSpPr/>
          <p:nvPr/>
        </p:nvSpPr>
        <p:spPr>
          <a:xfrm>
            <a:off x="3938554" y="3337559"/>
            <a:ext cx="3816000" cy="923330"/>
          </a:xfrm>
          <a:prstGeom prst="rect">
            <a:avLst/>
          </a:prstGeom>
        </p:spPr>
        <p:txBody>
          <a:bodyPr wrap="square">
            <a:spAutoFit/>
          </a:bodyPr>
          <a:lstStyle/>
          <a:p>
            <a:br>
              <a:rPr lang="fr-CI" noProof="0">
                <a:solidFill>
                  <a:schemeClr val="bg1"/>
                </a:solidFill>
              </a:rPr>
            </a:br>
            <a:r>
              <a:rPr lang="fr-CI" noProof="0">
                <a:solidFill>
                  <a:srgbClr val="EFAC62"/>
                </a:solidFill>
                <a:latin typeface="Helvetica" panose="020B0604020202020204" pitchFamily="34" charset="0"/>
                <a:ea typeface="Open Sans Light" panose="020B0306030504020204" pitchFamily="34" charset="0"/>
                <a:cs typeface="Helvetica" panose="020B0604020202020204" pitchFamily="34" charset="0"/>
              </a:rPr>
              <a:t>Constats, chiffres clés, risques et actions</a:t>
            </a:r>
          </a:p>
        </p:txBody>
      </p:sp>
      <p:pic>
        <p:nvPicPr>
          <p:cNvPr id="11" name="Image 1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865561" y="2415481"/>
            <a:ext cx="1566911" cy="1600975"/>
          </a:xfrm>
          <a:prstGeom prst="rect">
            <a:avLst/>
          </a:prstGeom>
        </p:spPr>
      </p:pic>
    </p:spTree>
    <p:extLst>
      <p:ext uri="{BB962C8B-B14F-4D97-AF65-F5344CB8AC3E}">
        <p14:creationId xmlns:p14="http://schemas.microsoft.com/office/powerpoint/2010/main" val="2551613406"/>
      </p:ext>
    </p:extLst>
  </p:cSld>
  <p:clrMapOvr>
    <a:masterClrMapping/>
  </p:clrMapOvr>
  <p:transition>
    <p:fad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Résumé exécutif</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Le FPPN dégage des excédents mais reste fragile, peu documenté et hors normes prudentielles</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Fonds propres négatifs, épargne couverte à 16,28 % par des actifs dédiés, 14 ratios prudentiels non conformes sur 36</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analyses Adenka sur les documents reçus le 15/10/2026 et la documentation publique de l'AIRMS</a:t>
            </a:r>
          </a:p>
        </p:txBody>
      </p:sp>
      <p:sp>
        <p:nvSpPr>
          <p:cNvPr id="31" name="TextBox 30"/>
          <p:cNvSpPr txBox="1"/>
          <p:nvPr/>
        </p:nvSpPr>
        <p:spPr>
          <a:xfrm>
            <a:off x="503999" y="1386000"/>
            <a:ext cx="11232000" cy="216000"/>
          </a:xfrm>
          <a:prstGeom prst="rect">
            <a:avLst/>
          </a:prstGeom>
          <a:noFill/>
        </p:spPr>
        <p:txBody>
          <a:bodyPr wrap="square" anchor="t" lIns="54000" rIns="54000"/>
          <a:lstStyle/>
          <a:p>
            <a:pPr algn="ctr"/>
            <a:r>
              <a:rPr sz="1200" b="0">
                <a:solidFill>
                  <a:srgbClr val="EFAC62"/>
                </a:solidFill>
                <a:latin typeface="Helvetica"/>
              </a:rPr>
              <a:t>Tableau 1 : Principaux constats au 15/10/2026</a:t>
            </a:r>
          </a:p>
        </p:txBody>
      </p:sp>
      <p:graphicFrame>
        <p:nvGraphicFramePr>
          <p:cNvPr id="32" name="Table 31"/>
          <p:cNvGraphicFramePr>
            <a:graphicFrameLocks noGrp="1"/>
          </p:cNvGraphicFramePr>
          <p:nvPr/>
        </p:nvGraphicFramePr>
        <p:xfrm>
          <a:off x="503999" y="1655999"/>
          <a:ext cx="11232000" cy="3109360"/>
        </p:xfrm>
        <a:graphic>
          <a:graphicData uri="http://schemas.openxmlformats.org/drawingml/2006/table">
            <a:tbl>
              <a:tblPr firstRow="0" bandRow="0">
                <a:tableStyleId>{5940675A-B579-460E-94D1-54222C63F5DA}</a:tableStyleId>
              </a:tblPr>
              <a:tblGrid>
                <a:gridCol w="1512000"/>
                <a:gridCol w="6192000"/>
                <a:gridCol w="3528000"/>
              </a:tblGrid>
              <a:tr h="210009">
                <a:tc>
                  <a:txBody>
                    <a:bodyPr/>
                    <a:lstStyle/>
                    <a:p>
                      <a:pPr marL="0" indent="0" lvl="0">
                        <a:buNone/>
                      </a:pPr>
                      <a:r>
                        <a:rPr sz="1000" b="1">
                          <a:solidFill>
                            <a:srgbClr val="FFFFFF"/>
                          </a:solidFill>
                          <a:latin typeface="Helvetica"/>
                        </a:rPr>
                        <a:t>Domaine</a:t>
                      </a:r>
                    </a:p>
                  </a:txBody>
                  <a:tcPr marL="43200" marR="43200" marT="14400" marB="14400" anchor="ctr">
                    <a:solidFill>
                      <a:srgbClr val="060606"/>
                    </a:solidFill>
                  </a:tcPr>
                </a:tc>
                <a:tc>
                  <a:txBody>
                    <a:bodyPr/>
                    <a:lstStyle/>
                    <a:p>
                      <a:pPr marL="0" indent="0" lvl="0">
                        <a:buNone/>
                      </a:pPr>
                      <a:r>
                        <a:rPr sz="1000" b="1">
                          <a:solidFill>
                            <a:srgbClr val="FFFFFF"/>
                          </a:solidFill>
                          <a:latin typeface="Helvetica"/>
                        </a:rPr>
                        <a:t>Constat</a:t>
                      </a:r>
                    </a:p>
                  </a:txBody>
                  <a:tcPr marL="43200" marR="43200" marT="14400" marB="14400" anchor="ctr">
                    <a:solidFill>
                      <a:srgbClr val="060606"/>
                    </a:solidFill>
                  </a:tcPr>
                </a:tc>
                <a:tc>
                  <a:txBody>
                    <a:bodyPr/>
                    <a:lstStyle/>
                    <a:p>
                      <a:pPr marL="0" indent="0" lvl="0">
                        <a:buNone/>
                      </a:pPr>
                      <a:r>
                        <a:rPr sz="1000" b="1">
                          <a:solidFill>
                            <a:srgbClr val="FFFFFF"/>
                          </a:solidFill>
                          <a:latin typeface="Helvetica"/>
                        </a:rPr>
                        <a:t>Chiffre clé</a:t>
                      </a:r>
                    </a:p>
                  </a:txBody>
                  <a:tcPr marL="43200" marR="43200" marT="14400" marB="14400" anchor="ctr">
                    <a:solidFill>
                      <a:srgbClr val="060606"/>
                    </a:solidFill>
                  </a:tcPr>
                </a:tc>
              </a:tr>
              <a:tr h="362419">
                <a:tc>
                  <a:txBody>
                    <a:bodyPr/>
                    <a:lstStyle/>
                    <a:p>
                      <a:pPr marL="0" indent="0" lvl="0">
                        <a:buNone/>
                      </a:pPr>
                      <a:r>
                        <a:rPr sz="1000" b="1">
                          <a:solidFill>
                            <a:srgbClr val="060606"/>
                          </a:solidFill>
                          <a:latin typeface="Helvetica"/>
                        </a:rPr>
                        <a:t>Données</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Les précomptes mensuels ne commencent qu'en 2023 ou 2024 selon le poste, et aucune base de prestations n'a été reçue.</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4 454 416 lignes de précomptes contrôlées</a:t>
                      </a:r>
                    </a:p>
                  </a:txBody>
                  <a:tcPr marL="43200" marR="43200" marT="14400" marB="14400" anchor="ctr">
                    <a:solidFill>
                      <a:srgbClr val="FFFFFF"/>
                    </a:solidFill>
                  </a:tcPr>
                </a:tc>
              </a:tr>
              <a:tr h="514828">
                <a:tc>
                  <a:txBody>
                    <a:bodyPr/>
                    <a:lstStyle/>
                    <a:p>
                      <a:pPr marL="0" indent="0" lvl="0">
                        <a:buNone/>
                      </a:pPr>
                      <a:r>
                        <a:rPr sz="1000" b="1">
                          <a:solidFill>
                            <a:srgbClr val="060606"/>
                          </a:solidFill>
                          <a:latin typeface="Helvetica"/>
                        </a:rPr>
                        <a:t>Cotisations</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Le précompte total vaut 5 % du salaire de base, mais la Solde le répartit en 3,77 % maladie et 1,23 % décès, au lieu du barème indiqué par le responsable des sinistres et prestations lors de l'entretien du 16/10/2026 (3,5 % et 1,5 %).</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5,00 % = 3,77 % + 1,23 %</a:t>
                      </a:r>
                    </a:p>
                  </a:txBody>
                  <a:tcPr marL="43200" marR="43200" marT="14400" marB="14400" anchor="ctr">
                    <a:solidFill>
                      <a:srgbClr val="F2F2F2"/>
                    </a:solidFill>
                  </a:tcPr>
                </a:tc>
              </a:tr>
              <a:tr h="362419">
                <a:tc>
                  <a:txBody>
                    <a:bodyPr/>
                    <a:lstStyle/>
                    <a:p>
                      <a:pPr marL="0" indent="0" lvl="0">
                        <a:buNone/>
                      </a:pPr>
                      <a:r>
                        <a:rPr sz="1000" b="1">
                          <a:solidFill>
                            <a:srgbClr val="060606"/>
                          </a:solidFill>
                          <a:latin typeface="Helvetica"/>
                        </a:rPr>
                        <a:t>Maladie</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Les prestations maladie comptabilisées augmentent bien plus vite que les cotisations maladie.</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S/C 6,00 % (2021), 73,53 % (2025)</a:t>
                      </a:r>
                    </a:p>
                  </a:txBody>
                  <a:tcPr marL="43200" marR="43200" marT="14400" marB="14400" anchor="ctr">
                    <a:solidFill>
                      <a:srgbClr val="FFFFFF"/>
                    </a:solidFill>
                  </a:tcPr>
                </a:tc>
              </a:tr>
              <a:tr h="362419">
                <a:tc>
                  <a:txBody>
                    <a:bodyPr/>
                    <a:lstStyle/>
                    <a:p>
                      <a:pPr marL="0" indent="0" lvl="0">
                        <a:buNone/>
                      </a:pPr>
                      <a:r>
                        <a:rPr sz="1000" b="1">
                          <a:solidFill>
                            <a:srgbClr val="060606"/>
                          </a:solidFill>
                          <a:latin typeface="Helvetica"/>
                        </a:rPr>
                        <a:t>Provisions</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Les provisions pour prestations à payer gardent le même montant de 2020 à 2026, alors que les prestations ont fortement augmenté.</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4 829 298 290 FCFA</a:t>
                      </a:r>
                    </a:p>
                  </a:txBody>
                  <a:tcPr marL="43200" marR="43200" marT="14400" marB="14400" anchor="ctr">
                    <a:solidFill>
                      <a:srgbClr val="F2F2F2"/>
                    </a:solidFill>
                  </a:tcPr>
                </a:tc>
              </a:tr>
              <a:tr h="362419">
                <a:tc>
                  <a:txBody>
                    <a:bodyPr/>
                    <a:lstStyle/>
                    <a:p>
                      <a:pPr marL="0" indent="0" lvl="0">
                        <a:buNone/>
                      </a:pPr>
                      <a:r>
                        <a:rPr sz="1000" b="1">
                          <a:solidFill>
                            <a:srgbClr val="060606"/>
                          </a:solidFill>
                          <a:latin typeface="Helvetica"/>
                        </a:rPr>
                        <a:t>Épargne</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L'épargne due aux mutualistes (PEP, EFC) dépasse largement les actifs qui lui sont réservés.</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15 743 516 391 FCFA</a:t>
                      </a:r>
                    </a:p>
                  </a:txBody>
                  <a:tcPr marL="43200" marR="43200" marT="14400" marB="14400" anchor="ctr">
                    <a:solidFill>
                      <a:srgbClr val="FFFFFF"/>
                    </a:solidFill>
                  </a:tcPr>
                </a:tc>
              </a:tr>
              <a:tr h="362419">
                <a:tc>
                  <a:txBody>
                    <a:bodyPr/>
                    <a:lstStyle/>
                    <a:p>
                      <a:pPr marL="0" indent="0" lvl="0">
                        <a:buNone/>
                      </a:pPr>
                      <a:r>
                        <a:rPr sz="1000" b="1">
                          <a:solidFill>
                            <a:srgbClr val="060606"/>
                          </a:solidFill>
                          <a:latin typeface="Helvetica"/>
                        </a:rPr>
                        <a:t>Fonds propres</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Les fonds propres restent négatifs à chaque clôture, même si les excédents réduisent l'écart.</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-438 242 200 FCFA (2025)</a:t>
                      </a:r>
                    </a:p>
                  </a:txBody>
                  <a:tcPr marL="43200" marR="43200" marT="14400" marB="14400" anchor="ctr">
                    <a:solidFill>
                      <a:srgbClr val="F2F2F2"/>
                    </a:solidFill>
                  </a:tcPr>
                </a:tc>
              </a:tr>
              <a:tr h="362419">
                <a:tc>
                  <a:txBody>
                    <a:bodyPr/>
                    <a:lstStyle/>
                    <a:p>
                      <a:pPr marL="0" indent="0" lvl="0">
                        <a:buNone/>
                      </a:pPr>
                      <a:r>
                        <a:rPr sz="1000" b="1">
                          <a:solidFill>
                            <a:srgbClr val="060606"/>
                          </a:solidFill>
                          <a:latin typeface="Helvetica"/>
                        </a:rPr>
                        <a:t>Conformité</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Les ratios de la Décision n° 05/2022 ne sont pas respectés pour la réserve obligatoire, les fonds propres, la liquidité et les frais de fonctionnement.</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14 non conformes, 7 conformes, 15 en attente</a:t>
                      </a:r>
                    </a:p>
                  </a:txBody>
                  <a:tcPr marL="43200" marR="43200" marT="14400" marB="14400" anchor="ctr">
                    <a:solidFill>
                      <a:srgbClr val="FFFFFF"/>
                    </a:solidFill>
                  </a:tcPr>
                </a:tc>
              </a:tr>
              <a:tr h="210009">
                <a:tc>
                  <a:txBody>
                    <a:bodyPr/>
                    <a:lstStyle/>
                    <a:p>
                      <a:pPr marL="0" indent="0" lvl="0">
                        <a:buNone/>
                      </a:pPr>
                      <a:r>
                        <a:rPr sz="1000" b="1">
                          <a:solidFill>
                            <a:srgbClr val="060606"/>
                          </a:solidFill>
                          <a:latin typeface="Helvetica"/>
                        </a:rPr>
                        <a:t>Grenier</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Le portefeuille de prêts croît très vite, et le FPPN le finance en grande partie.</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1 044 302 107 FCFA d'encours</a:t>
                      </a:r>
                    </a:p>
                  </a:txBody>
                  <a:tcPr marL="43200" marR="43200" marT="14400" marB="14400" anchor="ctr">
                    <a:solidFill>
                      <a:srgbClr val="F2F2F2"/>
                    </a:solidFill>
                  </a:tcPr>
                </a:tc>
              </a:tr>
            </a:tbl>
          </a:graphicData>
        </a:graphic>
      </p:graphicFrame>
      <p:sp>
        <p:nvSpPr>
          <p:cNvPr id="33" name="TextBox 32"/>
          <p:cNvSpPr txBox="1"/>
          <p:nvPr/>
        </p:nvSpPr>
        <p:spPr>
          <a:xfrm>
            <a:off x="503999" y="4873363"/>
            <a:ext cx="11232000" cy="994636"/>
          </a:xfrm>
          <a:prstGeom prst="rect">
            <a:avLst/>
          </a:prstGeom>
          <a:noFill/>
        </p:spPr>
        <p:txBody>
          <a:bodyPr wrap="square" lIns="54000" rIns="54000"/>
          <a:lstStyle/>
          <a:p>
            <a:pPr algn="just">
              <a:spcAft>
                <a:spcPts val="600"/>
              </a:spcAft>
            </a:pPr>
            <a:r>
              <a:rPr sz="1300" b="1">
                <a:solidFill>
                  <a:srgbClr val="060606"/>
                </a:solidFill>
                <a:latin typeface="Helvetica"/>
              </a:rPr>
              <a:t>Les fragilités sont surtout financières et documentaires, pas d'exploitation.</a:t>
            </a:r>
            <a:r>
              <a:rPr sz="1300" b="0">
                <a:solidFill>
                  <a:srgbClr val="060606"/>
                </a:solidFill>
                <a:latin typeface="Helvetica"/>
              </a:rPr>
              <a:t> Le FPPN encaisse plus qu'il ne dépense chaque année depuis 2020, sauf sur les huit premiers mois de 2026.</a:t>
            </a:r>
          </a:p>
          <a:p>
            <a:pPr algn="just">
              <a:spcAft>
                <a:spcPts val="600"/>
              </a:spcAft>
            </a:pPr>
            <a:r>
              <a:rPr sz="1300" b="1">
                <a:solidFill>
                  <a:srgbClr val="060606"/>
                </a:solidFill>
                <a:latin typeface="Helvetica"/>
              </a:rPr>
              <a:t>Implication pour le FPPN.</a:t>
            </a:r>
            <a:r>
              <a:rPr sz="1300" b="0">
                <a:solidFill>
                  <a:srgbClr val="060606"/>
                </a:solidFill>
                <a:latin typeface="Helvetica"/>
              </a:rPr>
              <a:t> Les trois chantiers prioritaires sont la transmission des données manquantes, le recalcul des provisions et un plan de mise en conformité prudentielle à présenter à l'AIRMS.</a:t>
            </a:r>
          </a:p>
        </p:txBody>
      </p:sp>
      <p:sp>
        <p:nvSpPr>
          <p:cNvPr id="34" name="TextBox 33"/>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AIRMS : Agence ivoirienne de régulation de la mutualité sociale | PEP : Plan Épargne Plus | EFC : entraide fin de carrière | S/C : prestations / cotisations</a:t>
            </a:r>
          </a:p>
        </p:txBody>
      </p:sp>
    </p:spTree>
    <p:extLst>
      <p:ext uri="{BB962C8B-B14F-4D97-AF65-F5344CB8AC3E}">
        <p14:creationId xmlns:p14="http://schemas.microsoft.com/office/powerpoint/2010/main" val="2014425147"/>
      </p:ext>
    </p:extLst>
  </p:cSld>
  <p:clrMapOvr>
    <a:masterClrMapping/>
  </p:clrMapOvr>
  <p:transition>
    <p:fad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7" name="Image 46"/>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43" name="ZoneTexte 42">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17" name="Freeform 6"/>
          <p:cNvSpPr>
            <a:spLocks/>
          </p:cNvSpPr>
          <p:nvPr/>
        </p:nvSpPr>
        <p:spPr bwMode="auto">
          <a:xfrm>
            <a:off x="3056825" y="1419474"/>
            <a:ext cx="502110" cy="654841"/>
          </a:xfrm>
          <a:custGeom>
            <a:avLst/>
            <a:gdLst>
              <a:gd name="T0" fmla="*/ 56 w 69"/>
              <a:gd name="T1" fmla="*/ 0 h 90"/>
              <a:gd name="T2" fmla="*/ 0 w 69"/>
              <a:gd name="T3" fmla="*/ 0 h 90"/>
              <a:gd name="T4" fmla="*/ 0 w 69"/>
              <a:gd name="T5" fmla="*/ 90 h 90"/>
              <a:gd name="T6" fmla="*/ 56 w 69"/>
              <a:gd name="T7" fmla="*/ 90 h 90"/>
              <a:gd name="T8" fmla="*/ 69 w 69"/>
              <a:gd name="T9" fmla="*/ 77 h 90"/>
              <a:gd name="T10" fmla="*/ 69 w 69"/>
              <a:gd name="T11" fmla="*/ 13 h 90"/>
              <a:gd name="T12" fmla="*/ 56 w 69"/>
              <a:gd name="T13" fmla="*/ 0 h 90"/>
            </a:gdLst>
            <a:ahLst/>
            <a:cxnLst>
              <a:cxn ang="0">
                <a:pos x="T0" y="T1"/>
              </a:cxn>
              <a:cxn ang="0">
                <a:pos x="T2" y="T3"/>
              </a:cxn>
              <a:cxn ang="0">
                <a:pos x="T4" y="T5"/>
              </a:cxn>
              <a:cxn ang="0">
                <a:pos x="T6" y="T7"/>
              </a:cxn>
              <a:cxn ang="0">
                <a:pos x="T8" y="T9"/>
              </a:cxn>
              <a:cxn ang="0">
                <a:pos x="T10" y="T11"/>
              </a:cxn>
              <a:cxn ang="0">
                <a:pos x="T12" y="T13"/>
              </a:cxn>
            </a:cxnLst>
            <a:rect l="0" t="0" r="r" b="b"/>
            <a:pathLst>
              <a:path w="69" h="90">
                <a:moveTo>
                  <a:pt x="56" y="0"/>
                </a:moveTo>
                <a:cubicBezTo>
                  <a:pt x="0" y="0"/>
                  <a:pt x="0" y="0"/>
                  <a:pt x="0" y="0"/>
                </a:cubicBezTo>
                <a:cubicBezTo>
                  <a:pt x="0" y="90"/>
                  <a:pt x="0" y="90"/>
                  <a:pt x="0" y="90"/>
                </a:cubicBezTo>
                <a:cubicBezTo>
                  <a:pt x="56" y="90"/>
                  <a:pt x="56" y="90"/>
                  <a:pt x="56" y="90"/>
                </a:cubicBezTo>
                <a:cubicBezTo>
                  <a:pt x="63" y="90"/>
                  <a:pt x="69" y="84"/>
                  <a:pt x="69" y="77"/>
                </a:cubicBezTo>
                <a:cubicBezTo>
                  <a:pt x="69" y="13"/>
                  <a:pt x="69" y="13"/>
                  <a:pt x="69" y="13"/>
                </a:cubicBezTo>
                <a:cubicBezTo>
                  <a:pt x="69" y="6"/>
                  <a:pt x="63" y="0"/>
                  <a:pt x="56" y="0"/>
                </a:cubicBezTo>
                <a:close/>
              </a:path>
            </a:pathLst>
          </a:custGeom>
          <a:noFill/>
          <a:ln>
            <a:solidFill>
              <a:srgbClr val="EFAC62"/>
            </a:solidFill>
          </a:ln>
        </p:spPr>
        <p:txBody>
          <a:bodyPr vert="horz" wrap="square" lIns="45720" tIns="22860" rIns="45720" bIns="22860" numCol="1" anchor="ctr" anchorCtr="0" compatLnSpc="1">
            <a:prstTxWarp prst="textNoShape">
              <a:avLst/>
            </a:prstTxWarp>
          </a:bodyPr>
          <a:lstStyle/>
          <a:p>
            <a:pPr algn="ctr"/>
            <a:r>
              <a:rPr lang="fr-CI" sz="3600" b="1" noProof="0">
                <a:solidFill>
                  <a:srgbClr val="060606"/>
                </a:solidFill>
                <a:latin typeface="Helvetica" panose="020B0604020202020204" pitchFamily="34" charset="0"/>
                <a:cs typeface="Helvetica" panose="020B0604020202020204" pitchFamily="34" charset="0"/>
              </a:rPr>
              <a:t>A</a:t>
            </a:r>
          </a:p>
        </p:txBody>
      </p:sp>
      <p:sp>
        <p:nvSpPr>
          <p:cNvPr id="18" name="Freeform 7"/>
          <p:cNvSpPr>
            <a:spLocks/>
          </p:cNvSpPr>
          <p:nvPr/>
        </p:nvSpPr>
        <p:spPr bwMode="auto">
          <a:xfrm>
            <a:off x="1361056" y="1419474"/>
            <a:ext cx="1652505" cy="654841"/>
          </a:xfrm>
          <a:custGeom>
            <a:avLst/>
            <a:gdLst>
              <a:gd name="T0" fmla="*/ 0 w 227"/>
              <a:gd name="T1" fmla="*/ 13 h 90"/>
              <a:gd name="T2" fmla="*/ 0 w 227"/>
              <a:gd name="T3" fmla="*/ 77 h 90"/>
              <a:gd name="T4" fmla="*/ 13 w 227"/>
              <a:gd name="T5" fmla="*/ 90 h 90"/>
              <a:gd name="T6" fmla="*/ 227 w 227"/>
              <a:gd name="T7" fmla="*/ 90 h 90"/>
              <a:gd name="T8" fmla="*/ 227 w 227"/>
              <a:gd name="T9" fmla="*/ 0 h 90"/>
              <a:gd name="T10" fmla="*/ 13 w 227"/>
              <a:gd name="T11" fmla="*/ 0 h 90"/>
              <a:gd name="T12" fmla="*/ 0 w 227"/>
              <a:gd name="T13" fmla="*/ 13 h 90"/>
            </a:gdLst>
            <a:ahLst/>
            <a:cxnLst>
              <a:cxn ang="0">
                <a:pos x="T0" y="T1"/>
              </a:cxn>
              <a:cxn ang="0">
                <a:pos x="T2" y="T3"/>
              </a:cxn>
              <a:cxn ang="0">
                <a:pos x="T4" y="T5"/>
              </a:cxn>
              <a:cxn ang="0">
                <a:pos x="T6" y="T7"/>
              </a:cxn>
              <a:cxn ang="0">
                <a:pos x="T8" y="T9"/>
              </a:cxn>
              <a:cxn ang="0">
                <a:pos x="T10" y="T11"/>
              </a:cxn>
              <a:cxn ang="0">
                <a:pos x="T12" y="T13"/>
              </a:cxn>
            </a:cxnLst>
            <a:rect l="0" t="0" r="r" b="b"/>
            <a:pathLst>
              <a:path w="227" h="90">
                <a:moveTo>
                  <a:pt x="0" y="13"/>
                </a:moveTo>
                <a:cubicBezTo>
                  <a:pt x="0" y="77"/>
                  <a:pt x="0" y="77"/>
                  <a:pt x="0" y="77"/>
                </a:cubicBezTo>
                <a:cubicBezTo>
                  <a:pt x="0" y="84"/>
                  <a:pt x="6" y="90"/>
                  <a:pt x="13" y="90"/>
                </a:cubicBezTo>
                <a:cubicBezTo>
                  <a:pt x="227" y="90"/>
                  <a:pt x="227" y="90"/>
                  <a:pt x="227" y="90"/>
                </a:cubicBezTo>
                <a:cubicBezTo>
                  <a:pt x="227" y="0"/>
                  <a:pt x="227" y="0"/>
                  <a:pt x="227" y="0"/>
                </a:cubicBezTo>
                <a:cubicBezTo>
                  <a:pt x="13" y="0"/>
                  <a:pt x="13" y="0"/>
                  <a:pt x="13" y="0"/>
                </a:cubicBezTo>
                <a:cubicBezTo>
                  <a:pt x="6" y="0"/>
                  <a:pt x="0" y="6"/>
                  <a:pt x="0" y="13"/>
                </a:cubicBezTo>
                <a:close/>
              </a:path>
            </a:pathLst>
          </a:custGeom>
          <a:noFill/>
          <a:ln>
            <a:solidFill>
              <a:srgbClr val="EFAC62"/>
            </a:solidFill>
          </a:ln>
        </p:spPr>
        <p:txBody>
          <a:bodyPr vert="horz" wrap="square" lIns="45720" tIns="22860" rIns="45720" bIns="22860" numCol="1" anchor="ctr" anchorCtr="0" compatLnSpc="1">
            <a:prstTxWarp prst="textNoShape">
              <a:avLst/>
            </a:prstTxWarp>
          </a:bodyPr>
          <a:lstStyle/>
          <a:p>
            <a:r>
              <a:rPr lang="fr-CI" sz="1300" noProof="0">
                <a:solidFill>
                  <a:srgbClr val="060606"/>
                </a:solidFill>
                <a:latin typeface="Helvetica" panose="020B0604020202020204" pitchFamily="34" charset="0"/>
                <a:ea typeface="Lato" pitchFamily="34" charset="0"/>
                <a:cs typeface="Helvetica" panose="020B0604020202020204" pitchFamily="34" charset="0"/>
              </a:rPr>
              <a:t>Sinistralité maladie 2025</a:t>
            </a:r>
          </a:p>
        </p:txBody>
      </p:sp>
      <p:sp>
        <p:nvSpPr>
          <p:cNvPr id="19" name="Freeform 8"/>
          <p:cNvSpPr>
            <a:spLocks/>
          </p:cNvSpPr>
          <p:nvPr/>
        </p:nvSpPr>
        <p:spPr bwMode="auto">
          <a:xfrm>
            <a:off x="1383343" y="2766552"/>
            <a:ext cx="494899" cy="654841"/>
          </a:xfrm>
          <a:custGeom>
            <a:avLst/>
            <a:gdLst>
              <a:gd name="T0" fmla="*/ 12 w 68"/>
              <a:gd name="T1" fmla="*/ 0 h 90"/>
              <a:gd name="T2" fmla="*/ 68 w 68"/>
              <a:gd name="T3" fmla="*/ 0 h 90"/>
              <a:gd name="T4" fmla="*/ 68 w 68"/>
              <a:gd name="T5" fmla="*/ 90 h 90"/>
              <a:gd name="T6" fmla="*/ 12 w 68"/>
              <a:gd name="T7" fmla="*/ 90 h 90"/>
              <a:gd name="T8" fmla="*/ 0 w 68"/>
              <a:gd name="T9" fmla="*/ 77 h 90"/>
              <a:gd name="T10" fmla="*/ 0 w 68"/>
              <a:gd name="T11" fmla="*/ 13 h 90"/>
              <a:gd name="T12" fmla="*/ 12 w 68"/>
              <a:gd name="T13" fmla="*/ 0 h 90"/>
            </a:gdLst>
            <a:ahLst/>
            <a:cxnLst>
              <a:cxn ang="0">
                <a:pos x="T0" y="T1"/>
              </a:cxn>
              <a:cxn ang="0">
                <a:pos x="T2" y="T3"/>
              </a:cxn>
              <a:cxn ang="0">
                <a:pos x="T4" y="T5"/>
              </a:cxn>
              <a:cxn ang="0">
                <a:pos x="T6" y="T7"/>
              </a:cxn>
              <a:cxn ang="0">
                <a:pos x="T8" y="T9"/>
              </a:cxn>
              <a:cxn ang="0">
                <a:pos x="T10" y="T11"/>
              </a:cxn>
              <a:cxn ang="0">
                <a:pos x="T12" y="T13"/>
              </a:cxn>
            </a:cxnLst>
            <a:rect l="0" t="0" r="r" b="b"/>
            <a:pathLst>
              <a:path w="68" h="90">
                <a:moveTo>
                  <a:pt x="12" y="0"/>
                </a:moveTo>
                <a:cubicBezTo>
                  <a:pt x="68" y="0"/>
                  <a:pt x="68" y="0"/>
                  <a:pt x="68" y="0"/>
                </a:cubicBezTo>
                <a:cubicBezTo>
                  <a:pt x="68" y="90"/>
                  <a:pt x="68" y="90"/>
                  <a:pt x="68" y="90"/>
                </a:cubicBezTo>
                <a:cubicBezTo>
                  <a:pt x="12" y="90"/>
                  <a:pt x="12" y="90"/>
                  <a:pt x="12" y="90"/>
                </a:cubicBezTo>
                <a:cubicBezTo>
                  <a:pt x="5" y="90"/>
                  <a:pt x="0" y="84"/>
                  <a:pt x="0" y="77"/>
                </a:cubicBezTo>
                <a:cubicBezTo>
                  <a:pt x="0" y="13"/>
                  <a:pt x="0" y="13"/>
                  <a:pt x="0" y="13"/>
                </a:cubicBezTo>
                <a:cubicBezTo>
                  <a:pt x="0" y="6"/>
                  <a:pt x="5" y="0"/>
                  <a:pt x="12" y="0"/>
                </a:cubicBezTo>
                <a:close/>
              </a:path>
            </a:pathLst>
          </a:custGeom>
          <a:noFill/>
          <a:ln>
            <a:solidFill>
              <a:srgbClr val="EFAC62"/>
            </a:solidFill>
          </a:ln>
        </p:spPr>
        <p:txBody>
          <a:bodyPr vert="horz" wrap="square" lIns="45720" tIns="22860" rIns="45720" bIns="22860" numCol="1" anchor="ctr" anchorCtr="0" compatLnSpc="1">
            <a:prstTxWarp prst="textNoShape">
              <a:avLst/>
            </a:prstTxWarp>
          </a:bodyPr>
          <a:lstStyle/>
          <a:p>
            <a:pPr algn="ctr"/>
            <a:r>
              <a:rPr lang="fr-CI" sz="3600" b="1" noProof="0">
                <a:solidFill>
                  <a:srgbClr val="060606"/>
                </a:solidFill>
                <a:latin typeface="Helvetica" panose="020B0604020202020204" pitchFamily="34" charset="0"/>
                <a:cs typeface="Helvetica" panose="020B0604020202020204" pitchFamily="34" charset="0"/>
              </a:rPr>
              <a:t>B</a:t>
            </a:r>
          </a:p>
        </p:txBody>
      </p:sp>
      <p:sp>
        <p:nvSpPr>
          <p:cNvPr id="28" name="Freeform 9"/>
          <p:cNvSpPr>
            <a:spLocks/>
          </p:cNvSpPr>
          <p:nvPr/>
        </p:nvSpPr>
        <p:spPr bwMode="auto">
          <a:xfrm>
            <a:off x="1928716" y="2766552"/>
            <a:ext cx="1645295" cy="654841"/>
          </a:xfrm>
          <a:custGeom>
            <a:avLst/>
            <a:gdLst>
              <a:gd name="T0" fmla="*/ 226 w 226"/>
              <a:gd name="T1" fmla="*/ 13 h 90"/>
              <a:gd name="T2" fmla="*/ 226 w 226"/>
              <a:gd name="T3" fmla="*/ 77 h 90"/>
              <a:gd name="T4" fmla="*/ 213 w 226"/>
              <a:gd name="T5" fmla="*/ 90 h 90"/>
              <a:gd name="T6" fmla="*/ 0 w 226"/>
              <a:gd name="T7" fmla="*/ 90 h 90"/>
              <a:gd name="T8" fmla="*/ 0 w 226"/>
              <a:gd name="T9" fmla="*/ 0 h 90"/>
              <a:gd name="T10" fmla="*/ 213 w 226"/>
              <a:gd name="T11" fmla="*/ 0 h 90"/>
              <a:gd name="T12" fmla="*/ 226 w 226"/>
              <a:gd name="T13" fmla="*/ 13 h 90"/>
            </a:gdLst>
            <a:ahLst/>
            <a:cxnLst>
              <a:cxn ang="0">
                <a:pos x="T0" y="T1"/>
              </a:cxn>
              <a:cxn ang="0">
                <a:pos x="T2" y="T3"/>
              </a:cxn>
              <a:cxn ang="0">
                <a:pos x="T4" y="T5"/>
              </a:cxn>
              <a:cxn ang="0">
                <a:pos x="T6" y="T7"/>
              </a:cxn>
              <a:cxn ang="0">
                <a:pos x="T8" y="T9"/>
              </a:cxn>
              <a:cxn ang="0">
                <a:pos x="T10" y="T11"/>
              </a:cxn>
              <a:cxn ang="0">
                <a:pos x="T12" y="T13"/>
              </a:cxn>
            </a:cxnLst>
            <a:rect l="0" t="0" r="r" b="b"/>
            <a:pathLst>
              <a:path w="226" h="90">
                <a:moveTo>
                  <a:pt x="226" y="13"/>
                </a:moveTo>
                <a:cubicBezTo>
                  <a:pt x="226" y="77"/>
                  <a:pt x="226" y="77"/>
                  <a:pt x="226" y="77"/>
                </a:cubicBezTo>
                <a:cubicBezTo>
                  <a:pt x="226" y="84"/>
                  <a:pt x="220" y="90"/>
                  <a:pt x="213" y="90"/>
                </a:cubicBezTo>
                <a:cubicBezTo>
                  <a:pt x="0" y="90"/>
                  <a:pt x="0" y="90"/>
                  <a:pt x="0" y="90"/>
                </a:cubicBezTo>
                <a:cubicBezTo>
                  <a:pt x="0" y="0"/>
                  <a:pt x="0" y="0"/>
                  <a:pt x="0" y="0"/>
                </a:cubicBezTo>
                <a:cubicBezTo>
                  <a:pt x="213" y="0"/>
                  <a:pt x="213" y="0"/>
                  <a:pt x="213" y="0"/>
                </a:cubicBezTo>
                <a:cubicBezTo>
                  <a:pt x="220" y="0"/>
                  <a:pt x="226" y="6"/>
                  <a:pt x="226" y="13"/>
                </a:cubicBezTo>
                <a:close/>
              </a:path>
            </a:pathLst>
          </a:custGeom>
          <a:noFill/>
          <a:ln>
            <a:solidFill>
              <a:srgbClr val="EFAC62"/>
            </a:solidFill>
          </a:ln>
        </p:spPr>
        <p:txBody>
          <a:bodyPr vert="horz" wrap="square" lIns="45720" tIns="22860" rIns="45720" bIns="22860" numCol="1" anchor="ctr" anchorCtr="0" compatLnSpc="1">
            <a:prstTxWarp prst="textNoShape">
              <a:avLst/>
            </a:prstTxWarp>
          </a:bodyPr>
          <a:lstStyle/>
          <a:p>
            <a:r>
              <a:rPr lang="fr-CI" sz="1300" noProof="0">
                <a:solidFill>
                  <a:srgbClr val="060606"/>
                </a:solidFill>
                <a:latin typeface="Helvetica" panose="020B0604020202020204" pitchFamily="34" charset="0"/>
                <a:ea typeface="Lato" pitchFamily="34" charset="0"/>
                <a:cs typeface="Helvetica" panose="020B0604020202020204" pitchFamily="34" charset="0"/>
              </a:rPr>
              <a:t>Couverture de l'épargne</a:t>
            </a:r>
          </a:p>
        </p:txBody>
      </p:sp>
      <p:sp>
        <p:nvSpPr>
          <p:cNvPr id="30" name="Freeform 10"/>
          <p:cNvSpPr>
            <a:spLocks/>
          </p:cNvSpPr>
          <p:nvPr/>
        </p:nvSpPr>
        <p:spPr bwMode="auto">
          <a:xfrm>
            <a:off x="3093533" y="3988769"/>
            <a:ext cx="494899" cy="654841"/>
          </a:xfrm>
          <a:custGeom>
            <a:avLst/>
            <a:gdLst>
              <a:gd name="T0" fmla="*/ 55 w 68"/>
              <a:gd name="T1" fmla="*/ 0 h 90"/>
              <a:gd name="T2" fmla="*/ 0 w 68"/>
              <a:gd name="T3" fmla="*/ 0 h 90"/>
              <a:gd name="T4" fmla="*/ 0 w 68"/>
              <a:gd name="T5" fmla="*/ 90 h 90"/>
              <a:gd name="T6" fmla="*/ 55 w 68"/>
              <a:gd name="T7" fmla="*/ 90 h 90"/>
              <a:gd name="T8" fmla="*/ 68 w 68"/>
              <a:gd name="T9" fmla="*/ 77 h 90"/>
              <a:gd name="T10" fmla="*/ 68 w 68"/>
              <a:gd name="T11" fmla="*/ 13 h 90"/>
              <a:gd name="T12" fmla="*/ 55 w 68"/>
              <a:gd name="T13" fmla="*/ 0 h 90"/>
            </a:gdLst>
            <a:ahLst/>
            <a:cxnLst>
              <a:cxn ang="0">
                <a:pos x="T0" y="T1"/>
              </a:cxn>
              <a:cxn ang="0">
                <a:pos x="T2" y="T3"/>
              </a:cxn>
              <a:cxn ang="0">
                <a:pos x="T4" y="T5"/>
              </a:cxn>
              <a:cxn ang="0">
                <a:pos x="T6" y="T7"/>
              </a:cxn>
              <a:cxn ang="0">
                <a:pos x="T8" y="T9"/>
              </a:cxn>
              <a:cxn ang="0">
                <a:pos x="T10" y="T11"/>
              </a:cxn>
              <a:cxn ang="0">
                <a:pos x="T12" y="T13"/>
              </a:cxn>
            </a:cxnLst>
            <a:rect l="0" t="0" r="r" b="b"/>
            <a:pathLst>
              <a:path w="68" h="90">
                <a:moveTo>
                  <a:pt x="55" y="0"/>
                </a:moveTo>
                <a:cubicBezTo>
                  <a:pt x="0" y="0"/>
                  <a:pt x="0" y="0"/>
                  <a:pt x="0" y="0"/>
                </a:cubicBezTo>
                <a:cubicBezTo>
                  <a:pt x="0" y="90"/>
                  <a:pt x="0" y="90"/>
                  <a:pt x="0" y="90"/>
                </a:cubicBezTo>
                <a:cubicBezTo>
                  <a:pt x="55" y="90"/>
                  <a:pt x="55" y="90"/>
                  <a:pt x="55" y="90"/>
                </a:cubicBezTo>
                <a:cubicBezTo>
                  <a:pt x="63" y="90"/>
                  <a:pt x="68" y="84"/>
                  <a:pt x="68" y="77"/>
                </a:cubicBezTo>
                <a:cubicBezTo>
                  <a:pt x="68" y="13"/>
                  <a:pt x="68" y="13"/>
                  <a:pt x="68" y="13"/>
                </a:cubicBezTo>
                <a:cubicBezTo>
                  <a:pt x="68" y="5"/>
                  <a:pt x="63" y="0"/>
                  <a:pt x="55" y="0"/>
                </a:cubicBezTo>
                <a:close/>
              </a:path>
            </a:pathLst>
          </a:custGeom>
          <a:noFill/>
          <a:ln>
            <a:solidFill>
              <a:srgbClr val="EFAC62"/>
            </a:solidFill>
          </a:ln>
        </p:spPr>
        <p:txBody>
          <a:bodyPr vert="horz" wrap="square" lIns="45720" tIns="22860" rIns="45720" bIns="22860" numCol="1" anchor="ctr" anchorCtr="0" compatLnSpc="1">
            <a:prstTxWarp prst="textNoShape">
              <a:avLst/>
            </a:prstTxWarp>
          </a:bodyPr>
          <a:lstStyle/>
          <a:p>
            <a:pPr algn="ctr"/>
            <a:r>
              <a:rPr lang="fr-CI" sz="3600" b="1" noProof="0">
                <a:solidFill>
                  <a:srgbClr val="060606"/>
                </a:solidFill>
                <a:latin typeface="Helvetica" panose="020B0604020202020204" pitchFamily="34" charset="0"/>
                <a:cs typeface="Helvetica" panose="020B0604020202020204" pitchFamily="34" charset="0"/>
              </a:rPr>
              <a:t>C</a:t>
            </a:r>
          </a:p>
        </p:txBody>
      </p:sp>
      <p:sp>
        <p:nvSpPr>
          <p:cNvPr id="31" name="Freeform 11"/>
          <p:cNvSpPr>
            <a:spLocks/>
          </p:cNvSpPr>
          <p:nvPr/>
        </p:nvSpPr>
        <p:spPr bwMode="auto">
          <a:xfrm>
            <a:off x="1397764" y="3988769"/>
            <a:ext cx="1644639" cy="654841"/>
          </a:xfrm>
          <a:custGeom>
            <a:avLst/>
            <a:gdLst>
              <a:gd name="T0" fmla="*/ 0 w 226"/>
              <a:gd name="T1" fmla="*/ 13 h 90"/>
              <a:gd name="T2" fmla="*/ 0 w 226"/>
              <a:gd name="T3" fmla="*/ 77 h 90"/>
              <a:gd name="T4" fmla="*/ 13 w 226"/>
              <a:gd name="T5" fmla="*/ 90 h 90"/>
              <a:gd name="T6" fmla="*/ 226 w 226"/>
              <a:gd name="T7" fmla="*/ 90 h 90"/>
              <a:gd name="T8" fmla="*/ 226 w 226"/>
              <a:gd name="T9" fmla="*/ 0 h 90"/>
              <a:gd name="T10" fmla="*/ 13 w 226"/>
              <a:gd name="T11" fmla="*/ 0 h 90"/>
              <a:gd name="T12" fmla="*/ 0 w 226"/>
              <a:gd name="T13" fmla="*/ 13 h 90"/>
            </a:gdLst>
            <a:ahLst/>
            <a:cxnLst>
              <a:cxn ang="0">
                <a:pos x="T0" y="T1"/>
              </a:cxn>
              <a:cxn ang="0">
                <a:pos x="T2" y="T3"/>
              </a:cxn>
              <a:cxn ang="0">
                <a:pos x="T4" y="T5"/>
              </a:cxn>
              <a:cxn ang="0">
                <a:pos x="T6" y="T7"/>
              </a:cxn>
              <a:cxn ang="0">
                <a:pos x="T8" y="T9"/>
              </a:cxn>
              <a:cxn ang="0">
                <a:pos x="T10" y="T11"/>
              </a:cxn>
              <a:cxn ang="0">
                <a:pos x="T12" y="T13"/>
              </a:cxn>
            </a:cxnLst>
            <a:rect l="0" t="0" r="r" b="b"/>
            <a:pathLst>
              <a:path w="226" h="90">
                <a:moveTo>
                  <a:pt x="0" y="13"/>
                </a:moveTo>
                <a:cubicBezTo>
                  <a:pt x="0" y="77"/>
                  <a:pt x="0" y="77"/>
                  <a:pt x="0" y="77"/>
                </a:cubicBezTo>
                <a:cubicBezTo>
                  <a:pt x="0" y="84"/>
                  <a:pt x="5" y="90"/>
                  <a:pt x="13" y="90"/>
                </a:cubicBezTo>
                <a:cubicBezTo>
                  <a:pt x="226" y="90"/>
                  <a:pt x="226" y="90"/>
                  <a:pt x="226" y="90"/>
                </a:cubicBezTo>
                <a:cubicBezTo>
                  <a:pt x="226" y="0"/>
                  <a:pt x="226" y="0"/>
                  <a:pt x="226" y="0"/>
                </a:cubicBezTo>
                <a:cubicBezTo>
                  <a:pt x="13" y="0"/>
                  <a:pt x="13" y="0"/>
                  <a:pt x="13" y="0"/>
                </a:cubicBezTo>
                <a:cubicBezTo>
                  <a:pt x="5" y="0"/>
                  <a:pt x="0" y="5"/>
                  <a:pt x="0" y="13"/>
                </a:cubicBezTo>
                <a:close/>
              </a:path>
            </a:pathLst>
          </a:custGeom>
          <a:noFill/>
          <a:ln>
            <a:solidFill>
              <a:srgbClr val="EFAC62"/>
            </a:solidFill>
          </a:ln>
        </p:spPr>
        <p:txBody>
          <a:bodyPr vert="horz" wrap="square" lIns="45720" tIns="22860" rIns="45720" bIns="22860" numCol="1" anchor="ctr" anchorCtr="0" compatLnSpc="1">
            <a:prstTxWarp prst="textNoShape">
              <a:avLst/>
            </a:prstTxWarp>
          </a:bodyPr>
          <a:lstStyle/>
          <a:p>
            <a:r>
              <a:rPr lang="fr-CI" sz="1300" noProof="0">
                <a:solidFill>
                  <a:srgbClr val="060606"/>
                </a:solidFill>
                <a:latin typeface="Helvetica" panose="020B0604020202020204" pitchFamily="34" charset="0"/>
                <a:ea typeface="Lato" pitchFamily="34" charset="0"/>
                <a:cs typeface="Helvetica" panose="020B0604020202020204" pitchFamily="34" charset="0"/>
              </a:rPr>
              <a:t>Précompte des prêts</a:t>
            </a:r>
          </a:p>
        </p:txBody>
      </p:sp>
      <p:sp>
        <p:nvSpPr>
          <p:cNvPr id="32" name="Freeform 12"/>
          <p:cNvSpPr>
            <a:spLocks/>
          </p:cNvSpPr>
          <p:nvPr/>
        </p:nvSpPr>
        <p:spPr bwMode="auto">
          <a:xfrm>
            <a:off x="1412185" y="5316630"/>
            <a:ext cx="502110" cy="654841"/>
          </a:xfrm>
          <a:custGeom>
            <a:avLst/>
            <a:gdLst>
              <a:gd name="T0" fmla="*/ 13 w 69"/>
              <a:gd name="T1" fmla="*/ 0 h 90"/>
              <a:gd name="T2" fmla="*/ 69 w 69"/>
              <a:gd name="T3" fmla="*/ 0 h 90"/>
              <a:gd name="T4" fmla="*/ 69 w 69"/>
              <a:gd name="T5" fmla="*/ 90 h 90"/>
              <a:gd name="T6" fmla="*/ 13 w 69"/>
              <a:gd name="T7" fmla="*/ 90 h 90"/>
              <a:gd name="T8" fmla="*/ 0 w 69"/>
              <a:gd name="T9" fmla="*/ 77 h 90"/>
              <a:gd name="T10" fmla="*/ 0 w 69"/>
              <a:gd name="T11" fmla="*/ 13 h 90"/>
              <a:gd name="T12" fmla="*/ 13 w 69"/>
              <a:gd name="T13" fmla="*/ 0 h 90"/>
            </a:gdLst>
            <a:ahLst/>
            <a:cxnLst>
              <a:cxn ang="0">
                <a:pos x="T0" y="T1"/>
              </a:cxn>
              <a:cxn ang="0">
                <a:pos x="T2" y="T3"/>
              </a:cxn>
              <a:cxn ang="0">
                <a:pos x="T4" y="T5"/>
              </a:cxn>
              <a:cxn ang="0">
                <a:pos x="T6" y="T7"/>
              </a:cxn>
              <a:cxn ang="0">
                <a:pos x="T8" y="T9"/>
              </a:cxn>
              <a:cxn ang="0">
                <a:pos x="T10" y="T11"/>
              </a:cxn>
              <a:cxn ang="0">
                <a:pos x="T12" y="T13"/>
              </a:cxn>
            </a:cxnLst>
            <a:rect l="0" t="0" r="r" b="b"/>
            <a:pathLst>
              <a:path w="69" h="90">
                <a:moveTo>
                  <a:pt x="13" y="0"/>
                </a:moveTo>
                <a:cubicBezTo>
                  <a:pt x="69" y="0"/>
                  <a:pt x="69" y="0"/>
                  <a:pt x="69" y="0"/>
                </a:cubicBezTo>
                <a:cubicBezTo>
                  <a:pt x="69" y="90"/>
                  <a:pt x="69" y="90"/>
                  <a:pt x="69" y="90"/>
                </a:cubicBezTo>
                <a:cubicBezTo>
                  <a:pt x="13" y="90"/>
                  <a:pt x="13" y="90"/>
                  <a:pt x="13" y="90"/>
                </a:cubicBezTo>
                <a:cubicBezTo>
                  <a:pt x="6" y="90"/>
                  <a:pt x="0" y="84"/>
                  <a:pt x="0" y="77"/>
                </a:cubicBezTo>
                <a:cubicBezTo>
                  <a:pt x="0" y="13"/>
                  <a:pt x="0" y="13"/>
                  <a:pt x="0" y="13"/>
                </a:cubicBezTo>
                <a:cubicBezTo>
                  <a:pt x="0" y="5"/>
                  <a:pt x="6" y="0"/>
                  <a:pt x="13" y="0"/>
                </a:cubicBezTo>
                <a:close/>
              </a:path>
            </a:pathLst>
          </a:custGeom>
          <a:noFill/>
          <a:ln>
            <a:solidFill>
              <a:schemeClr val="accent2">
                <a:lumMod val="60000"/>
                <a:lumOff val="40000"/>
              </a:schemeClr>
            </a:solidFill>
          </a:ln>
        </p:spPr>
        <p:txBody>
          <a:bodyPr vert="horz" wrap="square" lIns="45720" tIns="22860" rIns="45720" bIns="22860" numCol="1" anchor="ctr" anchorCtr="0" compatLnSpc="1">
            <a:prstTxWarp prst="textNoShape">
              <a:avLst/>
            </a:prstTxWarp>
          </a:bodyPr>
          <a:lstStyle/>
          <a:p>
            <a:pPr algn="ctr"/>
            <a:r>
              <a:rPr lang="fr-CI" sz="3600" b="1" noProof="0">
                <a:solidFill>
                  <a:srgbClr val="060606"/>
                </a:solidFill>
                <a:latin typeface="Helvetica" panose="020B0604020202020204" pitchFamily="34" charset="0"/>
                <a:cs typeface="Helvetica" panose="020B0604020202020204" pitchFamily="34" charset="0"/>
              </a:rPr>
              <a:t>D</a:t>
            </a:r>
          </a:p>
        </p:txBody>
      </p:sp>
      <p:sp>
        <p:nvSpPr>
          <p:cNvPr id="33" name="Freeform 13"/>
          <p:cNvSpPr>
            <a:spLocks/>
          </p:cNvSpPr>
          <p:nvPr/>
        </p:nvSpPr>
        <p:spPr bwMode="auto">
          <a:xfrm>
            <a:off x="1958213" y="5316630"/>
            <a:ext cx="1644639" cy="654841"/>
          </a:xfrm>
          <a:custGeom>
            <a:avLst/>
            <a:gdLst>
              <a:gd name="T0" fmla="*/ 226 w 226"/>
              <a:gd name="T1" fmla="*/ 13 h 90"/>
              <a:gd name="T2" fmla="*/ 226 w 226"/>
              <a:gd name="T3" fmla="*/ 77 h 90"/>
              <a:gd name="T4" fmla="*/ 214 w 226"/>
              <a:gd name="T5" fmla="*/ 90 h 90"/>
              <a:gd name="T6" fmla="*/ 0 w 226"/>
              <a:gd name="T7" fmla="*/ 90 h 90"/>
              <a:gd name="T8" fmla="*/ 0 w 226"/>
              <a:gd name="T9" fmla="*/ 0 h 90"/>
              <a:gd name="T10" fmla="*/ 214 w 226"/>
              <a:gd name="T11" fmla="*/ 0 h 90"/>
              <a:gd name="T12" fmla="*/ 226 w 226"/>
              <a:gd name="T13" fmla="*/ 13 h 90"/>
            </a:gdLst>
            <a:ahLst/>
            <a:cxnLst>
              <a:cxn ang="0">
                <a:pos x="T0" y="T1"/>
              </a:cxn>
              <a:cxn ang="0">
                <a:pos x="T2" y="T3"/>
              </a:cxn>
              <a:cxn ang="0">
                <a:pos x="T4" y="T5"/>
              </a:cxn>
              <a:cxn ang="0">
                <a:pos x="T6" y="T7"/>
              </a:cxn>
              <a:cxn ang="0">
                <a:pos x="T8" y="T9"/>
              </a:cxn>
              <a:cxn ang="0">
                <a:pos x="T10" y="T11"/>
              </a:cxn>
              <a:cxn ang="0">
                <a:pos x="T12" y="T13"/>
              </a:cxn>
            </a:cxnLst>
            <a:rect l="0" t="0" r="r" b="b"/>
            <a:pathLst>
              <a:path w="226" h="90">
                <a:moveTo>
                  <a:pt x="226" y="13"/>
                </a:moveTo>
                <a:cubicBezTo>
                  <a:pt x="226" y="77"/>
                  <a:pt x="226" y="77"/>
                  <a:pt x="226" y="77"/>
                </a:cubicBezTo>
                <a:cubicBezTo>
                  <a:pt x="226" y="84"/>
                  <a:pt x="221" y="90"/>
                  <a:pt x="214" y="90"/>
                </a:cubicBezTo>
                <a:cubicBezTo>
                  <a:pt x="0" y="90"/>
                  <a:pt x="0" y="90"/>
                  <a:pt x="0" y="90"/>
                </a:cubicBezTo>
                <a:cubicBezTo>
                  <a:pt x="0" y="0"/>
                  <a:pt x="0" y="0"/>
                  <a:pt x="0" y="0"/>
                </a:cubicBezTo>
                <a:cubicBezTo>
                  <a:pt x="214" y="0"/>
                  <a:pt x="214" y="0"/>
                  <a:pt x="214" y="0"/>
                </a:cubicBezTo>
                <a:cubicBezTo>
                  <a:pt x="221" y="0"/>
                  <a:pt x="226" y="5"/>
                  <a:pt x="226" y="13"/>
                </a:cubicBezTo>
                <a:close/>
              </a:path>
            </a:pathLst>
          </a:custGeom>
          <a:noFill/>
          <a:ln>
            <a:solidFill>
              <a:schemeClr val="accent2">
                <a:lumMod val="60000"/>
                <a:lumOff val="40000"/>
              </a:schemeClr>
            </a:solidFill>
          </a:ln>
        </p:spPr>
        <p:txBody>
          <a:bodyPr vert="horz" wrap="square" lIns="45720" tIns="22860" rIns="45720" bIns="22860" numCol="1" anchor="ctr" anchorCtr="0" compatLnSpc="1">
            <a:prstTxWarp prst="textNoShape">
              <a:avLst/>
            </a:prstTxWarp>
          </a:bodyPr>
          <a:lstStyle/>
          <a:p>
            <a:r>
              <a:rPr lang="fr-CI" sz="1300" noProof="0">
                <a:solidFill>
                  <a:srgbClr val="060606"/>
                </a:solidFill>
                <a:latin typeface="Helvetica" panose="020B0604020202020204" pitchFamily="34" charset="0"/>
                <a:ea typeface="Lato" pitchFamily="34" charset="0"/>
                <a:cs typeface="Helvetica" panose="020B0604020202020204" pitchFamily="34" charset="0"/>
              </a:rPr>
              <a:t>Taux de cotisation</a:t>
            </a:r>
          </a:p>
        </p:txBody>
      </p:sp>
      <p:sp>
        <p:nvSpPr>
          <p:cNvPr id="38" name="TextBox 31"/>
          <p:cNvSpPr txBox="1">
            <a:spLocks noChangeArrowheads="1"/>
          </p:cNvSpPr>
          <p:nvPr/>
        </p:nvSpPr>
        <p:spPr bwMode="auto">
          <a:xfrm>
            <a:off x="4139775" y="1427111"/>
            <a:ext cx="1202973" cy="5466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3600">
                <a:solidFill>
                  <a:schemeClr val="tx1"/>
                </a:solidFill>
                <a:latin typeface="Lato Light" charset="0"/>
                <a:ea typeface="ＭＳ Ｐゴシック" charset="0"/>
                <a:cs typeface="ＭＳ Ｐゴシック" charset="0"/>
              </a:defRPr>
            </a:lvl1pPr>
            <a:lvl2pPr marL="742950" indent="-285750" eaLnBrk="0" hangingPunct="0">
              <a:defRPr sz="3600">
                <a:solidFill>
                  <a:schemeClr val="tx1"/>
                </a:solidFill>
                <a:latin typeface="Lato Light" charset="0"/>
                <a:ea typeface="ＭＳ Ｐゴシック" charset="0"/>
              </a:defRPr>
            </a:lvl2pPr>
            <a:lvl3pPr marL="1143000" indent="-228600" eaLnBrk="0" hangingPunct="0">
              <a:defRPr sz="3600">
                <a:solidFill>
                  <a:schemeClr val="tx1"/>
                </a:solidFill>
                <a:latin typeface="Lato Light" charset="0"/>
                <a:ea typeface="ＭＳ Ｐゴシック" charset="0"/>
              </a:defRPr>
            </a:lvl3pPr>
            <a:lvl4pPr marL="1600200" indent="-228600" eaLnBrk="0" hangingPunct="0">
              <a:defRPr sz="3600">
                <a:solidFill>
                  <a:schemeClr val="tx1"/>
                </a:solidFill>
                <a:latin typeface="Lato Light" charset="0"/>
                <a:ea typeface="ＭＳ Ｐゴシック" charset="0"/>
              </a:defRPr>
            </a:lvl4pPr>
            <a:lvl5pPr marL="2057400" indent="-228600" eaLnBrk="0" hangingPunct="0">
              <a:defRPr sz="3600">
                <a:solidFill>
                  <a:schemeClr val="tx1"/>
                </a:solidFill>
                <a:latin typeface="Lato Light" charset="0"/>
                <a:ea typeface="ＭＳ Ｐゴシック" charset="0"/>
              </a:defRPr>
            </a:lvl5pPr>
            <a:lvl6pPr marL="2514600" indent="-228600" defTabSz="1827213" eaLnBrk="0" fontAlgn="base" hangingPunct="0">
              <a:spcBef>
                <a:spcPct val="0"/>
              </a:spcBef>
              <a:spcAft>
                <a:spcPct val="0"/>
              </a:spcAft>
              <a:defRPr sz="3600">
                <a:solidFill>
                  <a:schemeClr val="tx1"/>
                </a:solidFill>
                <a:latin typeface="Lato Light" charset="0"/>
                <a:ea typeface="ＭＳ Ｐゴシック" charset="0"/>
              </a:defRPr>
            </a:lvl6pPr>
            <a:lvl7pPr marL="2971800" indent="-228600" defTabSz="1827213" eaLnBrk="0" fontAlgn="base" hangingPunct="0">
              <a:spcBef>
                <a:spcPct val="0"/>
              </a:spcBef>
              <a:spcAft>
                <a:spcPct val="0"/>
              </a:spcAft>
              <a:defRPr sz="3600">
                <a:solidFill>
                  <a:schemeClr val="tx1"/>
                </a:solidFill>
                <a:latin typeface="Lato Light" charset="0"/>
                <a:ea typeface="ＭＳ Ｐゴシック" charset="0"/>
              </a:defRPr>
            </a:lvl7pPr>
            <a:lvl8pPr marL="3429000" indent="-228600" defTabSz="1827213" eaLnBrk="0" fontAlgn="base" hangingPunct="0">
              <a:spcBef>
                <a:spcPct val="0"/>
              </a:spcBef>
              <a:spcAft>
                <a:spcPct val="0"/>
              </a:spcAft>
              <a:defRPr sz="3600">
                <a:solidFill>
                  <a:schemeClr val="tx1"/>
                </a:solidFill>
                <a:latin typeface="Lato Light" charset="0"/>
                <a:ea typeface="ＭＳ Ｐゴシック" charset="0"/>
              </a:defRPr>
            </a:lvl8pPr>
            <a:lvl9pPr marL="3886200" indent="-228600" defTabSz="1827213" eaLnBrk="0" fontAlgn="base" hangingPunct="0">
              <a:spcBef>
                <a:spcPct val="0"/>
              </a:spcBef>
              <a:spcAft>
                <a:spcPct val="0"/>
              </a:spcAft>
              <a:defRPr sz="3600">
                <a:solidFill>
                  <a:schemeClr val="tx1"/>
                </a:solidFill>
                <a:latin typeface="Lato Light" charset="0"/>
                <a:ea typeface="ＭＳ Ｐゴシック" charset="0"/>
              </a:defRPr>
            </a:lvl9pPr>
          </a:lstStyle>
          <a:p>
            <a:pPr algn="r" eaLnBrk="1" hangingPunct="1"/>
            <a:r>
              <a:rPr lang="fr-CI" sz="2100" b="1" noProof="0">
                <a:solidFill>
                  <a:srgbClr val="060606"/>
                </a:solidFill>
                <a:latin typeface="Helvetica" panose="020B0604020202020204" pitchFamily="34" charset="0"/>
                <a:ea typeface="Lato Black" pitchFamily="34" charset="0"/>
                <a:cs typeface="Helvetica" panose="020B0604020202020204" pitchFamily="34" charset="0"/>
              </a:rPr>
              <a:t>73,53 %</a:t>
            </a:r>
          </a:p>
        </p:txBody>
      </p:sp>
      <p:sp>
        <p:nvSpPr>
          <p:cNvPr id="39" name="TextBox 96"/>
          <p:cNvSpPr txBox="1"/>
          <p:nvPr/>
        </p:nvSpPr>
        <p:spPr>
          <a:xfrm>
            <a:off x="5621262" y="1350000"/>
            <a:ext cx="4906389" cy="748061"/>
          </a:xfrm>
          <a:prstGeom prst="rect">
            <a:avLst/>
          </a:prstGeom>
          <a:noFill/>
        </p:spPr>
        <p:txBody>
          <a:bodyPr wrap="square" lIns="0" tIns="0" rIns="0" bIns="0" rtlCol="0" anchor="ctr">
            <a:spAutoFit/>
          </a:bodyPr>
          <a:lstStyle/>
          <a:p>
            <a:r>
              <a:rPr lang="fr-CI" sz="1300" noProof="0">
                <a:solidFill>
                  <a:srgbClr val="060606"/>
                </a:solidFill>
                <a:latin typeface="Helvetica" panose="020B0604020202020204" pitchFamily="34" charset="0"/>
                <a:ea typeface="Lato" pitchFamily="34" charset="0"/>
                <a:cs typeface="Helvetica" panose="020B0604020202020204" pitchFamily="34" charset="0"/>
              </a:rPr>
              <a:t>Les prestations maladie comptabilisées représentent cette part des cotisations maladie de 2025. Ce ratio était de 6,00 % en 2021.</a:t>
            </a:r>
          </a:p>
        </p:txBody>
      </p:sp>
      <p:sp>
        <p:nvSpPr>
          <p:cNvPr id="42" name="TextBox 31"/>
          <p:cNvSpPr txBox="1">
            <a:spLocks noChangeArrowheads="1"/>
          </p:cNvSpPr>
          <p:nvPr/>
        </p:nvSpPr>
        <p:spPr bwMode="auto">
          <a:xfrm>
            <a:off x="4132468" y="2803714"/>
            <a:ext cx="1202973" cy="5466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3600">
                <a:solidFill>
                  <a:schemeClr val="tx1"/>
                </a:solidFill>
                <a:latin typeface="Lato Light" charset="0"/>
                <a:ea typeface="ＭＳ Ｐゴシック" charset="0"/>
                <a:cs typeface="ＭＳ Ｐゴシック" charset="0"/>
              </a:defRPr>
            </a:lvl1pPr>
            <a:lvl2pPr marL="742950" indent="-285750" eaLnBrk="0" hangingPunct="0">
              <a:defRPr sz="3600">
                <a:solidFill>
                  <a:schemeClr val="tx1"/>
                </a:solidFill>
                <a:latin typeface="Lato Light" charset="0"/>
                <a:ea typeface="ＭＳ Ｐゴシック" charset="0"/>
              </a:defRPr>
            </a:lvl2pPr>
            <a:lvl3pPr marL="1143000" indent="-228600" eaLnBrk="0" hangingPunct="0">
              <a:defRPr sz="3600">
                <a:solidFill>
                  <a:schemeClr val="tx1"/>
                </a:solidFill>
                <a:latin typeface="Lato Light" charset="0"/>
                <a:ea typeface="ＭＳ Ｐゴシック" charset="0"/>
              </a:defRPr>
            </a:lvl3pPr>
            <a:lvl4pPr marL="1600200" indent="-228600" eaLnBrk="0" hangingPunct="0">
              <a:defRPr sz="3600">
                <a:solidFill>
                  <a:schemeClr val="tx1"/>
                </a:solidFill>
                <a:latin typeface="Lato Light" charset="0"/>
                <a:ea typeface="ＭＳ Ｐゴシック" charset="0"/>
              </a:defRPr>
            </a:lvl4pPr>
            <a:lvl5pPr marL="2057400" indent="-228600" eaLnBrk="0" hangingPunct="0">
              <a:defRPr sz="3600">
                <a:solidFill>
                  <a:schemeClr val="tx1"/>
                </a:solidFill>
                <a:latin typeface="Lato Light" charset="0"/>
                <a:ea typeface="ＭＳ Ｐゴシック" charset="0"/>
              </a:defRPr>
            </a:lvl5pPr>
            <a:lvl6pPr marL="2514600" indent="-228600" defTabSz="1827213" eaLnBrk="0" fontAlgn="base" hangingPunct="0">
              <a:spcBef>
                <a:spcPct val="0"/>
              </a:spcBef>
              <a:spcAft>
                <a:spcPct val="0"/>
              </a:spcAft>
              <a:defRPr sz="3600">
                <a:solidFill>
                  <a:schemeClr val="tx1"/>
                </a:solidFill>
                <a:latin typeface="Lato Light" charset="0"/>
                <a:ea typeface="ＭＳ Ｐゴシック" charset="0"/>
              </a:defRPr>
            </a:lvl6pPr>
            <a:lvl7pPr marL="2971800" indent="-228600" defTabSz="1827213" eaLnBrk="0" fontAlgn="base" hangingPunct="0">
              <a:spcBef>
                <a:spcPct val="0"/>
              </a:spcBef>
              <a:spcAft>
                <a:spcPct val="0"/>
              </a:spcAft>
              <a:defRPr sz="3600">
                <a:solidFill>
                  <a:schemeClr val="tx1"/>
                </a:solidFill>
                <a:latin typeface="Lato Light" charset="0"/>
                <a:ea typeface="ＭＳ Ｐゴシック" charset="0"/>
              </a:defRPr>
            </a:lvl7pPr>
            <a:lvl8pPr marL="3429000" indent="-228600" defTabSz="1827213" eaLnBrk="0" fontAlgn="base" hangingPunct="0">
              <a:spcBef>
                <a:spcPct val="0"/>
              </a:spcBef>
              <a:spcAft>
                <a:spcPct val="0"/>
              </a:spcAft>
              <a:defRPr sz="3600">
                <a:solidFill>
                  <a:schemeClr val="tx1"/>
                </a:solidFill>
                <a:latin typeface="Lato Light" charset="0"/>
                <a:ea typeface="ＭＳ Ｐゴシック" charset="0"/>
              </a:defRPr>
            </a:lvl8pPr>
            <a:lvl9pPr marL="3886200" indent="-228600" defTabSz="1827213" eaLnBrk="0" fontAlgn="base" hangingPunct="0">
              <a:spcBef>
                <a:spcPct val="0"/>
              </a:spcBef>
              <a:spcAft>
                <a:spcPct val="0"/>
              </a:spcAft>
              <a:defRPr sz="3600">
                <a:solidFill>
                  <a:schemeClr val="tx1"/>
                </a:solidFill>
                <a:latin typeface="Lato Light" charset="0"/>
                <a:ea typeface="ＭＳ Ｐゴシック" charset="0"/>
              </a:defRPr>
            </a:lvl9pPr>
          </a:lstStyle>
          <a:p>
            <a:pPr algn="r" eaLnBrk="1" hangingPunct="1"/>
            <a:r>
              <a:rPr lang="fr-CI" sz="2100" b="1" noProof="0">
                <a:solidFill>
                  <a:srgbClr val="060606"/>
                </a:solidFill>
                <a:latin typeface="Helvetica" panose="020B0604020202020204" pitchFamily="34" charset="0"/>
                <a:ea typeface="Lato Black" pitchFamily="34" charset="0"/>
                <a:cs typeface="Helvetica" panose="020B0604020202020204" pitchFamily="34" charset="0"/>
              </a:rPr>
              <a:t>16,28 %</a:t>
            </a:r>
          </a:p>
        </p:txBody>
      </p:sp>
      <p:sp>
        <p:nvSpPr>
          <p:cNvPr id="46" name="TextBox 31"/>
          <p:cNvSpPr txBox="1">
            <a:spLocks noChangeArrowheads="1"/>
          </p:cNvSpPr>
          <p:nvPr/>
        </p:nvSpPr>
        <p:spPr bwMode="auto">
          <a:xfrm>
            <a:off x="4135359" y="4021323"/>
            <a:ext cx="1202973" cy="5466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3600">
                <a:solidFill>
                  <a:schemeClr val="tx1"/>
                </a:solidFill>
                <a:latin typeface="Lato Light" charset="0"/>
                <a:ea typeface="ＭＳ Ｐゴシック" charset="0"/>
                <a:cs typeface="ＭＳ Ｐゴシック" charset="0"/>
              </a:defRPr>
            </a:lvl1pPr>
            <a:lvl2pPr marL="742950" indent="-285750" eaLnBrk="0" hangingPunct="0">
              <a:defRPr sz="3600">
                <a:solidFill>
                  <a:schemeClr val="tx1"/>
                </a:solidFill>
                <a:latin typeface="Lato Light" charset="0"/>
                <a:ea typeface="ＭＳ Ｐゴシック" charset="0"/>
              </a:defRPr>
            </a:lvl2pPr>
            <a:lvl3pPr marL="1143000" indent="-228600" eaLnBrk="0" hangingPunct="0">
              <a:defRPr sz="3600">
                <a:solidFill>
                  <a:schemeClr val="tx1"/>
                </a:solidFill>
                <a:latin typeface="Lato Light" charset="0"/>
                <a:ea typeface="ＭＳ Ｐゴシック" charset="0"/>
              </a:defRPr>
            </a:lvl3pPr>
            <a:lvl4pPr marL="1600200" indent="-228600" eaLnBrk="0" hangingPunct="0">
              <a:defRPr sz="3600">
                <a:solidFill>
                  <a:schemeClr val="tx1"/>
                </a:solidFill>
                <a:latin typeface="Lato Light" charset="0"/>
                <a:ea typeface="ＭＳ Ｐゴシック" charset="0"/>
              </a:defRPr>
            </a:lvl4pPr>
            <a:lvl5pPr marL="2057400" indent="-228600" eaLnBrk="0" hangingPunct="0">
              <a:defRPr sz="3600">
                <a:solidFill>
                  <a:schemeClr val="tx1"/>
                </a:solidFill>
                <a:latin typeface="Lato Light" charset="0"/>
                <a:ea typeface="ＭＳ Ｐゴシック" charset="0"/>
              </a:defRPr>
            </a:lvl5pPr>
            <a:lvl6pPr marL="2514600" indent="-228600" defTabSz="1827213" eaLnBrk="0" fontAlgn="base" hangingPunct="0">
              <a:spcBef>
                <a:spcPct val="0"/>
              </a:spcBef>
              <a:spcAft>
                <a:spcPct val="0"/>
              </a:spcAft>
              <a:defRPr sz="3600">
                <a:solidFill>
                  <a:schemeClr val="tx1"/>
                </a:solidFill>
                <a:latin typeface="Lato Light" charset="0"/>
                <a:ea typeface="ＭＳ Ｐゴシック" charset="0"/>
              </a:defRPr>
            </a:lvl6pPr>
            <a:lvl7pPr marL="2971800" indent="-228600" defTabSz="1827213" eaLnBrk="0" fontAlgn="base" hangingPunct="0">
              <a:spcBef>
                <a:spcPct val="0"/>
              </a:spcBef>
              <a:spcAft>
                <a:spcPct val="0"/>
              </a:spcAft>
              <a:defRPr sz="3600">
                <a:solidFill>
                  <a:schemeClr val="tx1"/>
                </a:solidFill>
                <a:latin typeface="Lato Light" charset="0"/>
                <a:ea typeface="ＭＳ Ｐゴシック" charset="0"/>
              </a:defRPr>
            </a:lvl7pPr>
            <a:lvl8pPr marL="3429000" indent="-228600" defTabSz="1827213" eaLnBrk="0" fontAlgn="base" hangingPunct="0">
              <a:spcBef>
                <a:spcPct val="0"/>
              </a:spcBef>
              <a:spcAft>
                <a:spcPct val="0"/>
              </a:spcAft>
              <a:defRPr sz="3600">
                <a:solidFill>
                  <a:schemeClr val="tx1"/>
                </a:solidFill>
                <a:latin typeface="Lato Light" charset="0"/>
                <a:ea typeface="ＭＳ Ｐゴシック" charset="0"/>
              </a:defRPr>
            </a:lvl8pPr>
            <a:lvl9pPr marL="3886200" indent="-228600" defTabSz="1827213" eaLnBrk="0" fontAlgn="base" hangingPunct="0">
              <a:spcBef>
                <a:spcPct val="0"/>
              </a:spcBef>
              <a:spcAft>
                <a:spcPct val="0"/>
              </a:spcAft>
              <a:defRPr sz="3600">
                <a:solidFill>
                  <a:schemeClr val="tx1"/>
                </a:solidFill>
                <a:latin typeface="Lato Light" charset="0"/>
                <a:ea typeface="ＭＳ Ｐゴシック" charset="0"/>
              </a:defRPr>
            </a:lvl9pPr>
          </a:lstStyle>
          <a:p>
            <a:pPr algn="r" eaLnBrk="1" hangingPunct="1"/>
            <a:r>
              <a:rPr lang="fr-CI" sz="2100" b="1" noProof="0">
                <a:solidFill>
                  <a:srgbClr val="060606"/>
                </a:solidFill>
                <a:latin typeface="Helvetica" panose="020B0604020202020204" pitchFamily="34" charset="0"/>
                <a:ea typeface="Lato Black" pitchFamily="34" charset="0"/>
                <a:cs typeface="Helvetica" panose="020B0604020202020204" pitchFamily="34" charset="0"/>
              </a:rPr>
              <a:t>84,55 %</a:t>
            </a:r>
          </a:p>
        </p:txBody>
      </p:sp>
      <p:sp>
        <p:nvSpPr>
          <p:cNvPr id="50" name="TextBox 31"/>
          <p:cNvSpPr txBox="1">
            <a:spLocks noChangeArrowheads="1"/>
          </p:cNvSpPr>
          <p:nvPr/>
        </p:nvSpPr>
        <p:spPr bwMode="auto">
          <a:xfrm>
            <a:off x="4135359" y="5389553"/>
            <a:ext cx="1202973" cy="5466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3600">
                <a:solidFill>
                  <a:schemeClr val="tx1"/>
                </a:solidFill>
                <a:latin typeface="Lato Light" charset="0"/>
                <a:ea typeface="ＭＳ Ｐゴシック" charset="0"/>
                <a:cs typeface="ＭＳ Ｐゴシック" charset="0"/>
              </a:defRPr>
            </a:lvl1pPr>
            <a:lvl2pPr marL="742950" indent="-285750" eaLnBrk="0" hangingPunct="0">
              <a:defRPr sz="3600">
                <a:solidFill>
                  <a:schemeClr val="tx1"/>
                </a:solidFill>
                <a:latin typeface="Lato Light" charset="0"/>
                <a:ea typeface="ＭＳ Ｐゴシック" charset="0"/>
              </a:defRPr>
            </a:lvl2pPr>
            <a:lvl3pPr marL="1143000" indent="-228600" eaLnBrk="0" hangingPunct="0">
              <a:defRPr sz="3600">
                <a:solidFill>
                  <a:schemeClr val="tx1"/>
                </a:solidFill>
                <a:latin typeface="Lato Light" charset="0"/>
                <a:ea typeface="ＭＳ Ｐゴシック" charset="0"/>
              </a:defRPr>
            </a:lvl3pPr>
            <a:lvl4pPr marL="1600200" indent="-228600" eaLnBrk="0" hangingPunct="0">
              <a:defRPr sz="3600">
                <a:solidFill>
                  <a:schemeClr val="tx1"/>
                </a:solidFill>
                <a:latin typeface="Lato Light" charset="0"/>
                <a:ea typeface="ＭＳ Ｐゴシック" charset="0"/>
              </a:defRPr>
            </a:lvl4pPr>
            <a:lvl5pPr marL="2057400" indent="-228600" eaLnBrk="0" hangingPunct="0">
              <a:defRPr sz="3600">
                <a:solidFill>
                  <a:schemeClr val="tx1"/>
                </a:solidFill>
                <a:latin typeface="Lato Light" charset="0"/>
                <a:ea typeface="ＭＳ Ｐゴシック" charset="0"/>
              </a:defRPr>
            </a:lvl5pPr>
            <a:lvl6pPr marL="2514600" indent="-228600" defTabSz="1827213" eaLnBrk="0" fontAlgn="base" hangingPunct="0">
              <a:spcBef>
                <a:spcPct val="0"/>
              </a:spcBef>
              <a:spcAft>
                <a:spcPct val="0"/>
              </a:spcAft>
              <a:defRPr sz="3600">
                <a:solidFill>
                  <a:schemeClr val="tx1"/>
                </a:solidFill>
                <a:latin typeface="Lato Light" charset="0"/>
                <a:ea typeface="ＭＳ Ｐゴシック" charset="0"/>
              </a:defRPr>
            </a:lvl6pPr>
            <a:lvl7pPr marL="2971800" indent="-228600" defTabSz="1827213" eaLnBrk="0" fontAlgn="base" hangingPunct="0">
              <a:spcBef>
                <a:spcPct val="0"/>
              </a:spcBef>
              <a:spcAft>
                <a:spcPct val="0"/>
              </a:spcAft>
              <a:defRPr sz="3600">
                <a:solidFill>
                  <a:schemeClr val="tx1"/>
                </a:solidFill>
                <a:latin typeface="Lato Light" charset="0"/>
                <a:ea typeface="ＭＳ Ｐゴシック" charset="0"/>
              </a:defRPr>
            </a:lvl7pPr>
            <a:lvl8pPr marL="3429000" indent="-228600" defTabSz="1827213" eaLnBrk="0" fontAlgn="base" hangingPunct="0">
              <a:spcBef>
                <a:spcPct val="0"/>
              </a:spcBef>
              <a:spcAft>
                <a:spcPct val="0"/>
              </a:spcAft>
              <a:defRPr sz="3600">
                <a:solidFill>
                  <a:schemeClr val="tx1"/>
                </a:solidFill>
                <a:latin typeface="Lato Light" charset="0"/>
                <a:ea typeface="ＭＳ Ｐゴシック" charset="0"/>
              </a:defRPr>
            </a:lvl8pPr>
            <a:lvl9pPr marL="3886200" indent="-228600" defTabSz="1827213" eaLnBrk="0" fontAlgn="base" hangingPunct="0">
              <a:spcBef>
                <a:spcPct val="0"/>
              </a:spcBef>
              <a:spcAft>
                <a:spcPct val="0"/>
              </a:spcAft>
              <a:defRPr sz="3600">
                <a:solidFill>
                  <a:schemeClr val="tx1"/>
                </a:solidFill>
                <a:latin typeface="Lato Light" charset="0"/>
                <a:ea typeface="ＭＳ Ｐゴシック" charset="0"/>
              </a:defRPr>
            </a:lvl9pPr>
          </a:lstStyle>
          <a:p>
            <a:pPr algn="r" eaLnBrk="1" hangingPunct="1"/>
            <a:r>
              <a:rPr lang="fr-CI" sz="2100" b="1" noProof="0">
                <a:solidFill>
                  <a:srgbClr val="060606"/>
                </a:solidFill>
                <a:latin typeface="Helvetica" panose="020B0604020202020204" pitchFamily="34" charset="0"/>
                <a:ea typeface="Lato Black" pitchFamily="34" charset="0"/>
                <a:cs typeface="Helvetica" panose="020B0604020202020204" pitchFamily="34" charset="0"/>
              </a:rPr>
              <a:t>5,00 %</a:t>
            </a:r>
          </a:p>
        </p:txBody>
      </p:sp>
      <p:pic>
        <p:nvPicPr>
          <p:cNvPr id="5" name="Imag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733942" y="1459698"/>
            <a:ext cx="491517" cy="491517"/>
          </a:xfrm>
          <a:prstGeom prst="rect">
            <a:avLst/>
          </a:prstGeom>
        </p:spPr>
      </p:pic>
      <p:pic>
        <p:nvPicPr>
          <p:cNvPr id="6" name="Image 5"/>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3685442" y="2848158"/>
            <a:ext cx="514311" cy="514311"/>
          </a:xfrm>
          <a:prstGeom prst="rect">
            <a:avLst/>
          </a:prstGeom>
        </p:spPr>
      </p:pic>
      <p:pic>
        <p:nvPicPr>
          <p:cNvPr id="7" name="Image 6"/>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3724788" y="4050954"/>
            <a:ext cx="538212" cy="544470"/>
          </a:xfrm>
          <a:prstGeom prst="rect">
            <a:avLst/>
          </a:prstGeom>
        </p:spPr>
      </p:pic>
      <p:pic>
        <p:nvPicPr>
          <p:cNvPr id="8" name="Image 7"/>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3695657" y="5362112"/>
            <a:ext cx="529802" cy="541319"/>
          </a:xfrm>
          <a:prstGeom prst="rect">
            <a:avLst/>
          </a:prstGeom>
        </p:spPr>
      </p:pic>
      <p:sp>
        <p:nvSpPr>
          <p:cNvPr id="36" name="TextBox 96"/>
          <p:cNvSpPr txBox="1"/>
          <p:nvPr/>
        </p:nvSpPr>
        <p:spPr>
          <a:xfrm>
            <a:off x="5621262" y="2728901"/>
            <a:ext cx="4906389" cy="748061"/>
          </a:xfrm>
          <a:prstGeom prst="rect">
            <a:avLst/>
          </a:prstGeom>
          <a:noFill/>
        </p:spPr>
        <p:txBody>
          <a:bodyPr wrap="square" lIns="0" tIns="0" rIns="0" bIns="0" rtlCol="0" anchor="ctr">
            <a:spAutoFit/>
          </a:bodyPr>
          <a:lstStyle/>
          <a:p>
            <a:r>
              <a:rPr lang="fr-CI" sz="1300" noProof="0">
                <a:solidFill>
                  <a:srgbClr val="060606"/>
                </a:solidFill>
                <a:latin typeface="Helvetica" panose="020B0604020202020204" pitchFamily="34" charset="0"/>
                <a:ea typeface="Lato" pitchFamily="34" charset="0"/>
                <a:cs typeface="Helvetica" panose="020B0604020202020204" pitchFamily="34" charset="0"/>
              </a:rPr>
              <a:t>Les banques, dépôts à terme et fonds réservés à l'épargne couvrent cette part de l'épargne due au 31/08/2026.</a:t>
            </a:r>
          </a:p>
        </p:txBody>
      </p:sp>
      <p:cxnSp>
        <p:nvCxnSpPr>
          <p:cNvPr id="53" name="Straight Connector 2"/>
          <p:cNvCxnSpPr/>
          <p:nvPr/>
        </p:nvCxnSpPr>
        <p:spPr>
          <a:xfrm>
            <a:off x="5419816" y="1350000"/>
            <a:ext cx="0" cy="896210"/>
          </a:xfrm>
          <a:prstGeom prst="line">
            <a:avLst/>
          </a:prstGeom>
          <a:ln>
            <a:solidFill>
              <a:srgbClr val="EFAC62"/>
            </a:solidFill>
          </a:ln>
        </p:spPr>
        <p:style>
          <a:lnRef idx="1">
            <a:schemeClr val="accent2"/>
          </a:lnRef>
          <a:fillRef idx="0">
            <a:schemeClr val="accent2"/>
          </a:fillRef>
          <a:effectRef idx="0">
            <a:schemeClr val="accent2"/>
          </a:effectRef>
          <a:fontRef idx="minor">
            <a:schemeClr val="tx1"/>
          </a:fontRef>
        </p:style>
      </p:cxnSp>
      <p:cxnSp>
        <p:nvCxnSpPr>
          <p:cNvPr id="59" name="Straight Connector 41"/>
          <p:cNvCxnSpPr/>
          <p:nvPr/>
        </p:nvCxnSpPr>
        <p:spPr>
          <a:xfrm>
            <a:off x="10756527" y="1350000"/>
            <a:ext cx="0" cy="896210"/>
          </a:xfrm>
          <a:prstGeom prst="line">
            <a:avLst/>
          </a:prstGeom>
          <a:ln>
            <a:solidFill>
              <a:srgbClr val="EFAC62"/>
            </a:solidFill>
          </a:ln>
        </p:spPr>
        <p:style>
          <a:lnRef idx="1">
            <a:schemeClr val="accent2"/>
          </a:lnRef>
          <a:fillRef idx="0">
            <a:schemeClr val="accent2"/>
          </a:fillRef>
          <a:effectRef idx="0">
            <a:schemeClr val="accent2"/>
          </a:effectRef>
          <a:fontRef idx="minor">
            <a:schemeClr val="tx1"/>
          </a:fontRef>
        </p:style>
      </p:cxnSp>
      <p:cxnSp>
        <p:nvCxnSpPr>
          <p:cNvPr id="37" name="Straight Connector 2"/>
          <p:cNvCxnSpPr/>
          <p:nvPr/>
        </p:nvCxnSpPr>
        <p:spPr>
          <a:xfrm>
            <a:off x="5419816" y="2638944"/>
            <a:ext cx="0" cy="896210"/>
          </a:xfrm>
          <a:prstGeom prst="line">
            <a:avLst/>
          </a:prstGeom>
          <a:ln>
            <a:solidFill>
              <a:srgbClr val="EFAC62"/>
            </a:solidFill>
          </a:ln>
        </p:spPr>
        <p:style>
          <a:lnRef idx="1">
            <a:schemeClr val="accent2"/>
          </a:lnRef>
          <a:fillRef idx="0">
            <a:schemeClr val="accent2"/>
          </a:fillRef>
          <a:effectRef idx="0">
            <a:schemeClr val="accent2"/>
          </a:effectRef>
          <a:fontRef idx="minor">
            <a:schemeClr val="tx1"/>
          </a:fontRef>
        </p:style>
      </p:cxnSp>
      <p:cxnSp>
        <p:nvCxnSpPr>
          <p:cNvPr id="40" name="Straight Connector 41"/>
          <p:cNvCxnSpPr/>
          <p:nvPr/>
        </p:nvCxnSpPr>
        <p:spPr>
          <a:xfrm>
            <a:off x="10756527" y="2638944"/>
            <a:ext cx="0" cy="896210"/>
          </a:xfrm>
          <a:prstGeom prst="line">
            <a:avLst/>
          </a:prstGeom>
          <a:ln>
            <a:solidFill>
              <a:schemeClr val="accent2">
                <a:lumMod val="60000"/>
                <a:lumOff val="40000"/>
              </a:schemeClr>
            </a:solidFill>
          </a:ln>
        </p:spPr>
        <p:style>
          <a:lnRef idx="1">
            <a:schemeClr val="accent2"/>
          </a:lnRef>
          <a:fillRef idx="0">
            <a:schemeClr val="accent2"/>
          </a:fillRef>
          <a:effectRef idx="0">
            <a:schemeClr val="accent2"/>
          </a:effectRef>
          <a:fontRef idx="minor">
            <a:schemeClr val="tx1"/>
          </a:fontRef>
        </p:style>
      </p:cxnSp>
      <p:sp>
        <p:nvSpPr>
          <p:cNvPr id="41" name="TextBox 96"/>
          <p:cNvSpPr txBox="1"/>
          <p:nvPr/>
        </p:nvSpPr>
        <p:spPr>
          <a:xfrm>
            <a:off x="5621262" y="4021323"/>
            <a:ext cx="4906389" cy="748061"/>
          </a:xfrm>
          <a:prstGeom prst="rect">
            <a:avLst/>
          </a:prstGeom>
          <a:noFill/>
        </p:spPr>
        <p:txBody>
          <a:bodyPr wrap="square" lIns="0" tIns="0" rIns="0" bIns="0" rtlCol="0" anchor="ctr">
            <a:spAutoFit/>
          </a:bodyPr>
          <a:lstStyle/>
          <a:p>
            <a:r>
              <a:rPr lang="fr-CI" sz="1300" noProof="0">
                <a:solidFill>
                  <a:srgbClr val="060606"/>
                </a:solidFill>
                <a:latin typeface="Helvetica" panose="020B0604020202020204" pitchFamily="34" charset="0"/>
                <a:ea typeface="Lato" pitchFamily="34" charset="0"/>
                <a:cs typeface="Helvetica" panose="020B0604020202020204" pitchFamily="34" charset="0"/>
              </a:rPr>
              <a:t>Les précomptes du Grenier (poste 9X4) couvrent cette part des échéances des prêts en cours en août 2026.</a:t>
            </a:r>
          </a:p>
        </p:txBody>
      </p:sp>
      <p:cxnSp>
        <p:nvCxnSpPr>
          <p:cNvPr id="44" name="Straight Connector 2"/>
          <p:cNvCxnSpPr/>
          <p:nvPr/>
        </p:nvCxnSpPr>
        <p:spPr>
          <a:xfrm>
            <a:off x="5419816" y="3931367"/>
            <a:ext cx="0" cy="896210"/>
          </a:xfrm>
          <a:prstGeom prst="line">
            <a:avLst/>
          </a:prstGeom>
          <a:ln>
            <a:solidFill>
              <a:schemeClr val="accent2">
                <a:lumMod val="60000"/>
                <a:lumOff val="40000"/>
              </a:schemeClr>
            </a:solidFill>
          </a:ln>
        </p:spPr>
        <p:style>
          <a:lnRef idx="1">
            <a:schemeClr val="accent2"/>
          </a:lnRef>
          <a:fillRef idx="0">
            <a:schemeClr val="accent2"/>
          </a:fillRef>
          <a:effectRef idx="0">
            <a:schemeClr val="accent2"/>
          </a:effectRef>
          <a:fontRef idx="minor">
            <a:schemeClr val="tx1"/>
          </a:fontRef>
        </p:style>
      </p:cxnSp>
      <p:cxnSp>
        <p:nvCxnSpPr>
          <p:cNvPr id="45" name="Straight Connector 41"/>
          <p:cNvCxnSpPr/>
          <p:nvPr/>
        </p:nvCxnSpPr>
        <p:spPr>
          <a:xfrm>
            <a:off x="10756527" y="3931367"/>
            <a:ext cx="0" cy="896210"/>
          </a:xfrm>
          <a:prstGeom prst="line">
            <a:avLst/>
          </a:prstGeom>
          <a:ln>
            <a:solidFill>
              <a:schemeClr val="accent2">
                <a:lumMod val="60000"/>
                <a:lumOff val="40000"/>
              </a:schemeClr>
            </a:solidFill>
          </a:ln>
        </p:spPr>
        <p:style>
          <a:lnRef idx="1">
            <a:schemeClr val="accent2"/>
          </a:lnRef>
          <a:fillRef idx="0">
            <a:schemeClr val="accent2"/>
          </a:fillRef>
          <a:effectRef idx="0">
            <a:schemeClr val="accent2"/>
          </a:effectRef>
          <a:fontRef idx="minor">
            <a:schemeClr val="tx1"/>
          </a:fontRef>
        </p:style>
      </p:cxnSp>
      <p:sp>
        <p:nvSpPr>
          <p:cNvPr id="48" name="TextBox 96"/>
          <p:cNvSpPr txBox="1"/>
          <p:nvPr/>
        </p:nvSpPr>
        <p:spPr>
          <a:xfrm>
            <a:off x="5621262" y="5313746"/>
            <a:ext cx="4906389" cy="748061"/>
          </a:xfrm>
          <a:prstGeom prst="rect">
            <a:avLst/>
          </a:prstGeom>
          <a:noFill/>
        </p:spPr>
        <p:txBody>
          <a:bodyPr wrap="square" lIns="0" tIns="0" rIns="0" bIns="0" rtlCol="0" anchor="ctr">
            <a:spAutoFit/>
          </a:bodyPr>
          <a:lstStyle/>
          <a:p>
            <a:r>
              <a:rPr lang="fr-CI" sz="1300" noProof="0">
                <a:solidFill>
                  <a:srgbClr val="060606"/>
                </a:solidFill>
                <a:latin typeface="Helvetica" panose="020B0604020202020204" pitchFamily="34" charset="0"/>
                <a:ea typeface="Lato" pitchFamily="34" charset="0"/>
                <a:cs typeface="Helvetica" panose="020B0604020202020204" pitchFamily="34" charset="0"/>
              </a:rPr>
              <a:t>Le précompte total sur le salaire de base se répartit en 3,77 % maladie et 1,23 % décès, sur 209 670 lignes.</a:t>
            </a:r>
          </a:p>
        </p:txBody>
      </p:sp>
      <p:cxnSp>
        <p:nvCxnSpPr>
          <p:cNvPr id="49" name="Straight Connector 2"/>
          <p:cNvCxnSpPr/>
          <p:nvPr/>
        </p:nvCxnSpPr>
        <p:spPr>
          <a:xfrm>
            <a:off x="5419816" y="5223789"/>
            <a:ext cx="0" cy="896210"/>
          </a:xfrm>
          <a:prstGeom prst="line">
            <a:avLst/>
          </a:prstGeom>
          <a:ln>
            <a:solidFill>
              <a:schemeClr val="accent2">
                <a:lumMod val="60000"/>
                <a:lumOff val="40000"/>
              </a:schemeClr>
            </a:solidFill>
          </a:ln>
        </p:spPr>
        <p:style>
          <a:lnRef idx="1">
            <a:schemeClr val="accent2"/>
          </a:lnRef>
          <a:fillRef idx="0">
            <a:schemeClr val="accent2"/>
          </a:fillRef>
          <a:effectRef idx="0">
            <a:schemeClr val="accent2"/>
          </a:effectRef>
          <a:fontRef idx="minor">
            <a:schemeClr val="tx1"/>
          </a:fontRef>
        </p:style>
      </p:cxnSp>
      <p:cxnSp>
        <p:nvCxnSpPr>
          <p:cNvPr id="63" name="Straight Connector 41"/>
          <p:cNvCxnSpPr/>
          <p:nvPr/>
        </p:nvCxnSpPr>
        <p:spPr>
          <a:xfrm>
            <a:off x="10756527" y="5223789"/>
            <a:ext cx="0" cy="896210"/>
          </a:xfrm>
          <a:prstGeom prst="line">
            <a:avLst/>
          </a:prstGeom>
          <a:ln>
            <a:solidFill>
              <a:schemeClr val="accent2">
                <a:lumMod val="60000"/>
                <a:lumOff val="40000"/>
              </a:schemeClr>
            </a:solidFill>
          </a:ln>
        </p:spPr>
        <p:style>
          <a:lnRef idx="1">
            <a:schemeClr val="accent2"/>
          </a:lnRef>
          <a:fillRef idx="0">
            <a:schemeClr val="accent2"/>
          </a:fillRef>
          <a:effectRef idx="0">
            <a:schemeClr val="accent2"/>
          </a:effectRef>
          <a:fontRef idx="minor">
            <a:schemeClr val="tx1"/>
          </a:fontRef>
        </p:style>
      </p:cxnSp>
      <p:sp>
        <p:nvSpPr>
          <p:cNvPr id="64"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Quatre indicateurs clés</a:t>
            </a:r>
          </a:p>
        </p:txBody>
      </p:sp>
      <p:sp>
        <p:nvSpPr>
          <p:cNvPr id="65"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Quatre ratios résument la situation technique et financière du FPPN</a:t>
            </a:r>
          </a:p>
        </p:txBody>
      </p:sp>
      <p:sp>
        <p:nvSpPr>
          <p:cNvPr id="66"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Sinistralité maladie, couverture de l'épargne, précompte des prêts et taux de cotisation, mesurés sur les données reçues</a:t>
            </a:r>
          </a:p>
        </p:txBody>
      </p:sp>
      <p:sp>
        <p:nvSpPr>
          <p:cNvPr id="67"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fichiers de précomptes de la Solde, de la CGRAE et du FPPN reçus le 15/10/2026. Traitements Adenka</a:t>
            </a:r>
          </a:p>
        </p:txBody>
      </p:sp>
      <p:sp>
        <p:nvSpPr>
          <p:cNvPr id="68" name="TextBox 67"/>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CGRAE : Caisse générale de retraite des agents de l'État | 9X4 : poste Grenier</a:t>
            </a:r>
          </a:p>
        </p:txBody>
      </p:sp>
    </p:spTree>
    <p:extLst>
      <p:ext uri="{BB962C8B-B14F-4D97-AF65-F5344CB8AC3E}">
        <p14:creationId xmlns:p14="http://schemas.microsoft.com/office/powerpoint/2010/main" val="1668542839"/>
      </p:ext>
    </p:extLst>
  </p:cSld>
  <p:clrMapOvr>
    <a:masterClrMapping/>
  </p:clrMapOvr>
  <p:transition>
    <p:fad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Fonctionnement du FPPN</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Les cotisations et l'épargne financent prestations, prêts et investissements</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En 2025 : 3 417 551 722 FCFA de cotisations, 1 964 772 027 FCFA de prestations</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balances des comptes du FPPN (Sage 100), exercices 2020 à 2025 et du 01/01 au 31/08/2026 (provisoire). Traitements Adenka</a:t>
            </a:r>
          </a:p>
        </p:txBody>
      </p:sp>
      <p:sp>
        <p:nvSpPr>
          <p:cNvPr id="31" name="Rounded Rectangle 30"/>
          <p:cNvSpPr/>
          <p:nvPr/>
        </p:nvSpPr>
        <p:spPr>
          <a:xfrm>
            <a:off x="503999" y="2484000"/>
            <a:ext cx="2160000" cy="1152000"/>
          </a:xfrm>
          <a:prstGeom prst="roundRect">
            <a:avLst/>
          </a:prstGeom>
          <a:solidFill>
            <a:srgbClr val="112A4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600" b="1">
                <a:solidFill>
                  <a:srgbClr val="FFFFFF"/>
                </a:solidFill>
                <a:latin typeface="Helvetica"/>
              </a:rPr>
              <a:t>Mutualistes</a:t>
            </a:r>
          </a:p>
          <a:p>
            <a:pPr algn="ctr"/>
            <a:r>
              <a:rPr sz="1400" b="0">
                <a:solidFill>
                  <a:srgbClr val="FFFFFF"/>
                </a:solidFill>
                <a:latin typeface="Helvetica"/>
              </a:rPr>
              <a:t>actifs et retraités</a:t>
            </a:r>
          </a:p>
        </p:txBody>
      </p:sp>
      <p:sp>
        <p:nvSpPr>
          <p:cNvPr id="32" name="Rounded Rectangle 31"/>
          <p:cNvSpPr/>
          <p:nvPr/>
        </p:nvSpPr>
        <p:spPr>
          <a:xfrm>
            <a:off x="3240000" y="1584000"/>
            <a:ext cx="2232000" cy="864000"/>
          </a:xfrm>
          <a:prstGeom prst="roundRect">
            <a:avLst/>
          </a:prstGeom>
          <a:solidFill>
            <a:srgbClr val="F2F2F2"/>
          </a:solidFill>
          <a:ln w="19050">
            <a:solidFill>
              <a:srgbClr val="112A40"/>
            </a:solid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400" b="1">
                <a:solidFill>
                  <a:srgbClr val="060606"/>
                </a:solidFill>
                <a:latin typeface="Helvetica"/>
              </a:rPr>
              <a:t>Solde (actifs)</a:t>
            </a:r>
          </a:p>
        </p:txBody>
      </p:sp>
      <p:sp>
        <p:nvSpPr>
          <p:cNvPr id="33" name="Rounded Rectangle 32"/>
          <p:cNvSpPr/>
          <p:nvPr/>
        </p:nvSpPr>
        <p:spPr>
          <a:xfrm>
            <a:off x="3240000" y="3671999"/>
            <a:ext cx="2232000" cy="864000"/>
          </a:xfrm>
          <a:prstGeom prst="roundRect">
            <a:avLst/>
          </a:prstGeom>
          <a:solidFill>
            <a:srgbClr val="F2F2F2"/>
          </a:solidFill>
          <a:ln w="19050">
            <a:solidFill>
              <a:srgbClr val="112A40"/>
            </a:solid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400" b="1">
                <a:solidFill>
                  <a:srgbClr val="060606"/>
                </a:solidFill>
                <a:latin typeface="Helvetica"/>
              </a:rPr>
              <a:t>CGRAE (retraités)</a:t>
            </a:r>
          </a:p>
        </p:txBody>
      </p:sp>
      <p:sp>
        <p:nvSpPr>
          <p:cNvPr id="34" name="Rounded Rectangle 33"/>
          <p:cNvSpPr/>
          <p:nvPr/>
        </p:nvSpPr>
        <p:spPr>
          <a:xfrm>
            <a:off x="6048000" y="2340000"/>
            <a:ext cx="2376000" cy="1440000"/>
          </a:xfrm>
          <a:prstGeom prst="roundRect">
            <a:avLst/>
          </a:prstGeom>
          <a:solidFill>
            <a:srgbClr val="EFAC62"/>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600" b="1">
                <a:solidFill>
                  <a:srgbClr val="060606"/>
                </a:solidFill>
                <a:latin typeface="Helvetica"/>
              </a:rPr>
              <a:t>FPPN</a:t>
            </a:r>
          </a:p>
          <a:p>
            <a:pPr algn="ctr"/>
            <a:r>
              <a:rPr sz="1400" b="0">
                <a:solidFill>
                  <a:srgbClr val="060606"/>
                </a:solidFill>
                <a:latin typeface="Helvetica"/>
              </a:rPr>
              <a:t>Cotisations 3 417 551 722 FCFA</a:t>
            </a:r>
          </a:p>
        </p:txBody>
      </p:sp>
      <p:sp>
        <p:nvSpPr>
          <p:cNvPr id="35" name="Rounded Rectangle 34"/>
          <p:cNvSpPr/>
          <p:nvPr/>
        </p:nvSpPr>
        <p:spPr>
          <a:xfrm>
            <a:off x="9072000" y="1422000"/>
            <a:ext cx="2664000" cy="756000"/>
          </a:xfrm>
          <a:prstGeom prst="roundRect">
            <a:avLst/>
          </a:prstGeom>
          <a:solidFill>
            <a:srgbClr val="112A4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200" b="1">
                <a:solidFill>
                  <a:srgbClr val="FFFFFF"/>
                </a:solidFill>
                <a:latin typeface="Helvetica"/>
              </a:rPr>
              <a:t>Prestations maladie</a:t>
            </a:r>
          </a:p>
          <a:p>
            <a:pPr algn="ctr"/>
            <a:r>
              <a:rPr sz="1000" b="0">
                <a:solidFill>
                  <a:srgbClr val="FFFFFF"/>
                </a:solidFill>
                <a:latin typeface="Helvetica"/>
              </a:rPr>
              <a:t>1 771 635 361 FCFA</a:t>
            </a:r>
          </a:p>
        </p:txBody>
      </p:sp>
      <p:cxnSp>
        <p:nvCxnSpPr>
          <p:cNvPr id="36" name="Connector 35"/>
          <p:cNvCxnSpPr/>
          <p:nvPr/>
        </p:nvCxnSpPr>
        <p:spPr>
          <a:xfrm flipV="1">
            <a:off x="8424000" y="1800000"/>
            <a:ext cx="648000" cy="1260000"/>
          </a:xfrm>
          <a:prstGeom prst="line">
            <a:avLst/>
          </a:prstGeom>
          <a:ln w="25400">
            <a:solidFill>
              <a:srgbClr val="53565A"/>
            </a:solidFill>
            <a:tailEnd type="triangle" w="med" len="med"/>
          </a:ln>
        </p:spPr>
        <p:style>
          <a:lnRef idx="2">
            <a:schemeClr val="accent1"/>
          </a:lnRef>
          <a:fillRef idx="0">
            <a:schemeClr val="accent1"/>
          </a:fillRef>
          <a:effectRef idx="1">
            <a:schemeClr val="accent1"/>
          </a:effectRef>
          <a:fontRef idx="minor">
            <a:schemeClr val="tx1"/>
          </a:fontRef>
        </p:style>
      </p:cxnSp>
      <p:sp>
        <p:nvSpPr>
          <p:cNvPr id="37" name="Rounded Rectangle 36"/>
          <p:cNvSpPr/>
          <p:nvPr/>
        </p:nvSpPr>
        <p:spPr>
          <a:xfrm>
            <a:off x="9072000" y="2358000"/>
            <a:ext cx="2664000" cy="756000"/>
          </a:xfrm>
          <a:prstGeom prst="roundRect">
            <a:avLst/>
          </a:prstGeom>
          <a:solidFill>
            <a:srgbClr val="112A4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200" b="1">
                <a:solidFill>
                  <a:srgbClr val="FFFFFF"/>
                </a:solidFill>
                <a:latin typeface="Helvetica"/>
              </a:rPr>
              <a:t>Prestations décès</a:t>
            </a:r>
          </a:p>
          <a:p>
            <a:pPr algn="ctr"/>
            <a:r>
              <a:rPr sz="1000" b="0">
                <a:solidFill>
                  <a:srgbClr val="FFFFFF"/>
                </a:solidFill>
                <a:latin typeface="Helvetica"/>
              </a:rPr>
              <a:t>193 136 666 FCFA</a:t>
            </a:r>
          </a:p>
        </p:txBody>
      </p:sp>
      <p:cxnSp>
        <p:nvCxnSpPr>
          <p:cNvPr id="38" name="Connector 37"/>
          <p:cNvCxnSpPr/>
          <p:nvPr/>
        </p:nvCxnSpPr>
        <p:spPr>
          <a:xfrm flipV="1">
            <a:off x="8424000" y="2736000"/>
            <a:ext cx="648000" cy="324000"/>
          </a:xfrm>
          <a:prstGeom prst="line">
            <a:avLst/>
          </a:prstGeom>
          <a:ln w="25400">
            <a:solidFill>
              <a:srgbClr val="53565A"/>
            </a:solidFill>
            <a:tailEnd type="triangle" w="med" len="med"/>
          </a:ln>
        </p:spPr>
        <p:style>
          <a:lnRef idx="2">
            <a:schemeClr val="accent1"/>
          </a:lnRef>
          <a:fillRef idx="0">
            <a:schemeClr val="accent1"/>
          </a:fillRef>
          <a:effectRef idx="1">
            <a:schemeClr val="accent1"/>
          </a:effectRef>
          <a:fontRef idx="minor">
            <a:schemeClr val="tx1"/>
          </a:fontRef>
        </p:style>
      </p:cxnSp>
      <p:sp>
        <p:nvSpPr>
          <p:cNvPr id="39" name="Rounded Rectangle 38"/>
          <p:cNvSpPr/>
          <p:nvPr/>
        </p:nvSpPr>
        <p:spPr>
          <a:xfrm>
            <a:off x="9072000" y="3293999"/>
            <a:ext cx="2664000" cy="756000"/>
          </a:xfrm>
          <a:prstGeom prst="roundRect">
            <a:avLst/>
          </a:prstGeom>
          <a:solidFill>
            <a:srgbClr val="112A4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200" b="1">
                <a:solidFill>
                  <a:srgbClr val="FFFFFF"/>
                </a:solidFill>
                <a:latin typeface="Helvetica"/>
              </a:rPr>
              <a:t>Épargne PEP et EFC</a:t>
            </a:r>
          </a:p>
          <a:p>
            <a:pPr algn="ctr"/>
            <a:r>
              <a:rPr sz="1000" b="0">
                <a:solidFill>
                  <a:srgbClr val="FFFFFF"/>
                </a:solidFill>
                <a:latin typeface="Helvetica"/>
              </a:rPr>
              <a:t>15 743 516 391 FCFA</a:t>
            </a:r>
          </a:p>
        </p:txBody>
      </p:sp>
      <p:cxnSp>
        <p:nvCxnSpPr>
          <p:cNvPr id="40" name="Connector 39"/>
          <p:cNvCxnSpPr/>
          <p:nvPr/>
        </p:nvCxnSpPr>
        <p:spPr>
          <a:xfrm>
            <a:off x="8424000" y="3060000"/>
            <a:ext cx="648000" cy="611999"/>
          </a:xfrm>
          <a:prstGeom prst="line">
            <a:avLst/>
          </a:prstGeom>
          <a:ln w="25400">
            <a:solidFill>
              <a:srgbClr val="53565A"/>
            </a:solidFill>
            <a:tailEnd type="triangle" w="med" len="med"/>
          </a:ln>
        </p:spPr>
        <p:style>
          <a:lnRef idx="2">
            <a:schemeClr val="accent1"/>
          </a:lnRef>
          <a:fillRef idx="0">
            <a:schemeClr val="accent1"/>
          </a:fillRef>
          <a:effectRef idx="1">
            <a:schemeClr val="accent1"/>
          </a:effectRef>
          <a:fontRef idx="minor">
            <a:schemeClr val="tx1"/>
          </a:fontRef>
        </p:style>
      </p:cxnSp>
      <p:sp>
        <p:nvSpPr>
          <p:cNvPr id="41" name="Rounded Rectangle 40"/>
          <p:cNvSpPr/>
          <p:nvPr/>
        </p:nvSpPr>
        <p:spPr>
          <a:xfrm>
            <a:off x="9072000" y="4230000"/>
            <a:ext cx="2664000" cy="756000"/>
          </a:xfrm>
          <a:prstGeom prst="roundRect">
            <a:avLst/>
          </a:prstGeom>
          <a:solidFill>
            <a:srgbClr val="112A4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200" b="1">
                <a:solidFill>
                  <a:srgbClr val="FFFFFF"/>
                </a:solidFill>
                <a:latin typeface="Helvetica"/>
              </a:rPr>
              <a:t>Prêts du Grenier</a:t>
            </a:r>
          </a:p>
          <a:p>
            <a:pPr algn="ctr"/>
            <a:r>
              <a:rPr sz="1000" b="0">
                <a:solidFill>
                  <a:srgbClr val="FFFFFF"/>
                </a:solidFill>
                <a:latin typeface="Helvetica"/>
              </a:rPr>
              <a:t>915 477 260 FCFA</a:t>
            </a:r>
          </a:p>
        </p:txBody>
      </p:sp>
      <p:cxnSp>
        <p:nvCxnSpPr>
          <p:cNvPr id="42" name="Connector 41"/>
          <p:cNvCxnSpPr/>
          <p:nvPr/>
        </p:nvCxnSpPr>
        <p:spPr>
          <a:xfrm>
            <a:off x="8424000" y="3060000"/>
            <a:ext cx="648000" cy="1548000"/>
          </a:xfrm>
          <a:prstGeom prst="line">
            <a:avLst/>
          </a:prstGeom>
          <a:ln w="25400">
            <a:solidFill>
              <a:srgbClr val="53565A"/>
            </a:solidFill>
            <a:tailEnd type="triangle" w="med" len="med"/>
          </a:ln>
        </p:spPr>
        <p:style>
          <a:lnRef idx="2">
            <a:schemeClr val="accent1"/>
          </a:lnRef>
          <a:fillRef idx="0">
            <a:schemeClr val="accent1"/>
          </a:fillRef>
          <a:effectRef idx="1">
            <a:schemeClr val="accent1"/>
          </a:effectRef>
          <a:fontRef idx="minor">
            <a:schemeClr val="tx1"/>
          </a:fontRef>
        </p:style>
      </p:cxnSp>
      <p:sp>
        <p:nvSpPr>
          <p:cNvPr id="43" name="Rounded Rectangle 42"/>
          <p:cNvSpPr/>
          <p:nvPr/>
        </p:nvSpPr>
        <p:spPr>
          <a:xfrm>
            <a:off x="9072000" y="5058000"/>
            <a:ext cx="2664000" cy="756000"/>
          </a:xfrm>
          <a:prstGeom prst="roundRect">
            <a:avLst/>
          </a:prstGeom>
          <a:solidFill>
            <a:srgbClr val="112A4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200" b="1">
                <a:solidFill>
                  <a:srgbClr val="FFFFFF"/>
                </a:solidFill>
                <a:latin typeface="Helvetica"/>
              </a:rPr>
              <a:t>CMP et terrains</a:t>
            </a:r>
          </a:p>
          <a:p>
            <a:pPr algn="ctr"/>
            <a:r>
              <a:rPr sz="1000" b="0">
                <a:solidFill>
                  <a:srgbClr val="FFFFFF"/>
                </a:solidFill>
                <a:latin typeface="Helvetica"/>
              </a:rPr>
              <a:t>12 329 431 315 FCFA</a:t>
            </a:r>
          </a:p>
        </p:txBody>
      </p:sp>
      <p:cxnSp>
        <p:nvCxnSpPr>
          <p:cNvPr id="44" name="Connector 43"/>
          <p:cNvCxnSpPr/>
          <p:nvPr/>
        </p:nvCxnSpPr>
        <p:spPr>
          <a:xfrm>
            <a:off x="8424000" y="3060000"/>
            <a:ext cx="648000" cy="2376000"/>
          </a:xfrm>
          <a:prstGeom prst="line">
            <a:avLst/>
          </a:prstGeom>
          <a:ln w="25400">
            <a:solidFill>
              <a:srgbClr val="53565A"/>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45" name="Connector 44"/>
          <p:cNvCxnSpPr/>
          <p:nvPr/>
        </p:nvCxnSpPr>
        <p:spPr>
          <a:xfrm flipV="1">
            <a:off x="2664000" y="2015999"/>
            <a:ext cx="576000" cy="828001"/>
          </a:xfrm>
          <a:prstGeom prst="line">
            <a:avLst/>
          </a:prstGeom>
          <a:ln w="25400">
            <a:solidFill>
              <a:srgbClr val="53565A"/>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46" name="Connector 45"/>
          <p:cNvCxnSpPr/>
          <p:nvPr/>
        </p:nvCxnSpPr>
        <p:spPr>
          <a:xfrm>
            <a:off x="2664000" y="3276000"/>
            <a:ext cx="576000" cy="828000"/>
          </a:xfrm>
          <a:prstGeom prst="line">
            <a:avLst/>
          </a:prstGeom>
          <a:ln w="25400">
            <a:solidFill>
              <a:srgbClr val="53565A"/>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47" name="Connector 46"/>
          <p:cNvCxnSpPr/>
          <p:nvPr/>
        </p:nvCxnSpPr>
        <p:spPr>
          <a:xfrm>
            <a:off x="5472000" y="2015999"/>
            <a:ext cx="576000" cy="756001"/>
          </a:xfrm>
          <a:prstGeom prst="line">
            <a:avLst/>
          </a:prstGeom>
          <a:ln w="25400">
            <a:solidFill>
              <a:srgbClr val="53565A"/>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48" name="Connector 47"/>
          <p:cNvCxnSpPr/>
          <p:nvPr/>
        </p:nvCxnSpPr>
        <p:spPr>
          <a:xfrm flipV="1">
            <a:off x="5472000" y="3348000"/>
            <a:ext cx="576000" cy="756000"/>
          </a:xfrm>
          <a:prstGeom prst="line">
            <a:avLst/>
          </a:prstGeom>
          <a:ln w="25400">
            <a:solidFill>
              <a:srgbClr val="53565A"/>
            </a:solidFill>
            <a:tailEnd type="triangle" w="med" len="med"/>
          </a:ln>
        </p:spPr>
        <p:style>
          <a:lnRef idx="2">
            <a:schemeClr val="accent1"/>
          </a:lnRef>
          <a:fillRef idx="0">
            <a:schemeClr val="accent1"/>
          </a:fillRef>
          <a:effectRef idx="1">
            <a:schemeClr val="accent1"/>
          </a:effectRef>
          <a:fontRef idx="minor">
            <a:schemeClr val="tx1"/>
          </a:fontRef>
        </p:style>
      </p:cxnSp>
      <p:sp>
        <p:nvSpPr>
          <p:cNvPr id="49" name="TextBox 48"/>
          <p:cNvSpPr txBox="1"/>
          <p:nvPr/>
        </p:nvSpPr>
        <p:spPr>
          <a:xfrm>
            <a:off x="503999" y="4752000"/>
            <a:ext cx="8136000" cy="1116000"/>
          </a:xfrm>
          <a:prstGeom prst="rect">
            <a:avLst/>
          </a:prstGeom>
          <a:noFill/>
        </p:spPr>
        <p:txBody>
          <a:bodyPr wrap="square" lIns="54000" rIns="54000"/>
          <a:lstStyle/>
          <a:p>
            <a:pPr algn="just">
              <a:spcAft>
                <a:spcPts val="600"/>
              </a:spcAft>
            </a:pPr>
            <a:r>
              <a:rPr sz="1200" b="1">
                <a:solidFill>
                  <a:srgbClr val="060606"/>
                </a:solidFill>
                <a:latin typeface="Helvetica"/>
              </a:rPr>
              <a:t>L'épargne des mutualistes est la ressource la plus importante du FPPN, devant les cotisations.</a:t>
            </a:r>
            <a:r>
              <a:rPr sz="1200" b="0">
                <a:solidFill>
                  <a:srgbClr val="060606"/>
                </a:solidFill>
                <a:latin typeface="Helvetica"/>
              </a:rPr>
              <a:t> Elle atteint 15 743 516 391 FCFA au 31/08/2026, soit plus de quatre fois les cotisations de 2025.</a:t>
            </a:r>
          </a:p>
          <a:p>
            <a:pPr algn="just">
              <a:spcAft>
                <a:spcPts val="600"/>
              </a:spcAft>
            </a:pPr>
            <a:r>
              <a:rPr sz="1200" b="1">
                <a:solidFill>
                  <a:srgbClr val="060606"/>
                </a:solidFill>
                <a:latin typeface="Helvetica"/>
              </a:rPr>
              <a:t>Implication pour le FPPN.</a:t>
            </a:r>
            <a:r>
              <a:rPr sz="1200" b="0">
                <a:solidFill>
                  <a:srgbClr val="060606"/>
                </a:solidFill>
                <a:latin typeface="Helvetica"/>
              </a:rPr>
              <a:t> Le FPPN emploie cette épargne en partie dans des actifs peu liquides (CMP, terrains, prêts) : sa capacité à rembourser les épargnants est le premier enjeu de la mission.</a:t>
            </a:r>
          </a:p>
        </p:txBody>
      </p:sp>
      <p:sp>
        <p:nvSpPr>
          <p:cNvPr id="50" name="TextBox 49"/>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CGRAE : Caisse générale de retraite des agents de l'État | PEP : Plan Épargne Plus | EFC : entraide fin de carrière | CMP : sigle des comptes du FPPN, signification à confirmer</a:t>
            </a:r>
          </a:p>
        </p:txBody>
      </p:sp>
    </p:spTree>
    <p:extLst>
      <p:ext uri="{BB962C8B-B14F-4D97-AF65-F5344CB8AC3E}">
        <p14:creationId xmlns:p14="http://schemas.microsoft.com/office/powerpoint/2010/main" val="1709059911"/>
      </p:ext>
    </p:extLst>
  </p:cSld>
  <p:clrMapOvr>
    <a:masterClrMapping/>
  </p:clrMapOvr>
  <p:transition>
    <p:fad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8" name="Image 17"/>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9" name="ZoneTexte 28">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pic>
        <p:nvPicPr>
          <p:cNvPr id="33" name="Image 32"/>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135360" y="1696495"/>
            <a:ext cx="561464" cy="561464"/>
          </a:xfrm>
          <a:prstGeom prst="rect">
            <a:avLst/>
          </a:prstGeom>
        </p:spPr>
      </p:pic>
      <p:pic>
        <p:nvPicPr>
          <p:cNvPr id="34" name="Image 33"/>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6328579" y="1762812"/>
            <a:ext cx="542282" cy="542282"/>
          </a:xfrm>
          <a:prstGeom prst="rect">
            <a:avLst/>
          </a:prstGeom>
        </p:spPr>
      </p:pic>
      <p:pic>
        <p:nvPicPr>
          <p:cNvPr id="35" name="Image 34"/>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135360" y="3093364"/>
            <a:ext cx="698701" cy="706825"/>
          </a:xfrm>
          <a:prstGeom prst="rect">
            <a:avLst/>
          </a:prstGeom>
        </p:spPr>
      </p:pic>
      <p:pic>
        <p:nvPicPr>
          <p:cNvPr id="36" name="Image 35"/>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6259430" y="3093364"/>
            <a:ext cx="611431" cy="624722"/>
          </a:xfrm>
          <a:prstGeom prst="rect">
            <a:avLst/>
          </a:prstGeom>
        </p:spPr>
      </p:pic>
      <p:pic>
        <p:nvPicPr>
          <p:cNvPr id="44" name="Image 43"/>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1135360" y="4454973"/>
            <a:ext cx="678177" cy="678177"/>
          </a:xfrm>
          <a:prstGeom prst="rect">
            <a:avLst/>
          </a:prstGeom>
        </p:spPr>
      </p:pic>
      <p:pic>
        <p:nvPicPr>
          <p:cNvPr id="45" name="Image 44"/>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6272615" y="4594783"/>
            <a:ext cx="598246" cy="598246"/>
          </a:xfrm>
          <a:prstGeom prst="rect">
            <a:avLst/>
          </a:prstGeom>
        </p:spPr>
      </p:pic>
      <p:sp>
        <p:nvSpPr>
          <p:cNvPr id="17" name="TextBox 49"/>
          <p:cNvSpPr txBox="1"/>
          <p:nvPr/>
        </p:nvSpPr>
        <p:spPr>
          <a:xfrm>
            <a:off x="7085829" y="1404489"/>
            <a:ext cx="3252128" cy="1077218"/>
          </a:xfrm>
          <a:prstGeom prst="rect">
            <a:avLst/>
          </a:prstGeom>
          <a:noFill/>
        </p:spPr>
        <p:txBody>
          <a:bodyPr wrap="square" lIns="0" tIns="0" rIns="0" bIns="0" rtlCol="0">
            <a:noAutofit/>
          </a:bodyPr>
          <a:lstStyle/>
          <a:p>
            <a:pPr lvl="0">
              <a:lnSpc>
                <a:spcPct val="110000"/>
              </a:lnSpc>
            </a:pPr>
            <a:r>
              <a:rPr lang="fr-CI" sz="1200" b="1" noProof="0">
                <a:solidFill>
                  <a:srgbClr val="EFAC62"/>
                </a:solidFill>
                <a:latin typeface="Helvetica" panose="020B0604020202020204" pitchFamily="34" charset="0"/>
                <a:ea typeface="Open Sans Semibold" panose="020B0706030804020204" pitchFamily="34" charset="0"/>
                <a:cs typeface="Helvetica" panose="020B0604020202020204" pitchFamily="34" charset="0"/>
              </a:rPr>
              <a:t>Sinistralité en hausse</a:t>
            </a:r>
          </a:p>
          <a:p>
            <a:r>
              <a:rPr lang="fr-CI" sz="1200" noProof="0">
                <a:latin typeface="Helvetica" panose="020B0604020202020204" pitchFamily="34" charset="0"/>
                <a:ea typeface="Open Sans Light" panose="020B0306030504020204" pitchFamily="34" charset="0"/>
                <a:cs typeface="Helvetica" panose="020B0604020202020204" pitchFamily="34" charset="0"/>
              </a:rPr>
              <a:t>Le S/C maladie passe de 6,00 % en 2021 à 73,53 % en 2025 (partie 5).</a:t>
            </a:r>
            <a:endParaRPr lang="fr-CI" sz="1200" noProof="0">
              <a:latin typeface="Helvetica" panose="020B0604020202020204" pitchFamily="34" charset="0"/>
              <a:cs typeface="Helvetica" panose="020B0604020202020204" pitchFamily="34" charset="0"/>
            </a:endParaRPr>
          </a:p>
        </p:txBody>
      </p:sp>
      <p:sp>
        <p:nvSpPr>
          <p:cNvPr id="20" name="TextBox 49"/>
          <p:cNvSpPr txBox="1"/>
          <p:nvPr/>
        </p:nvSpPr>
        <p:spPr>
          <a:xfrm>
            <a:off x="1932614" y="2848076"/>
            <a:ext cx="3252128" cy="1077218"/>
          </a:xfrm>
          <a:prstGeom prst="rect">
            <a:avLst/>
          </a:prstGeom>
          <a:noFill/>
        </p:spPr>
        <p:txBody>
          <a:bodyPr wrap="square" lIns="0" tIns="0" rIns="0" bIns="0" rtlCol="0">
            <a:noAutofit/>
          </a:bodyPr>
          <a:lstStyle/>
          <a:p>
            <a:pPr lvl="0">
              <a:lnSpc>
                <a:spcPct val="110000"/>
              </a:lnSpc>
            </a:pPr>
            <a:r>
              <a:rPr lang="fr-CI" sz="1200" b="1" noProof="0">
                <a:solidFill>
                  <a:srgbClr val="EFAC62"/>
                </a:solidFill>
                <a:latin typeface="Helvetica" panose="020B0604020202020204" pitchFamily="34" charset="0"/>
                <a:ea typeface="Open Sans Semibold" panose="020B0706030804020204" pitchFamily="34" charset="0"/>
                <a:cs typeface="Helvetica" panose="020B0604020202020204" pitchFamily="34" charset="0"/>
              </a:rPr>
              <a:t>Provisions figées</a:t>
            </a:r>
          </a:p>
          <a:p>
            <a:r>
              <a:rPr lang="fr-CI" sz="1200" noProof="0">
                <a:latin typeface="Helvetica" panose="020B0604020202020204" pitchFamily="34" charset="0"/>
                <a:ea typeface="Open Sans Light" panose="020B0306030504020204" pitchFamily="34" charset="0"/>
                <a:cs typeface="Helvetica" panose="020B0604020202020204" pitchFamily="34" charset="0"/>
              </a:rPr>
              <a:t>Les provisions gardent le même montant depuis 2020, alors que les prestations ont été multipliées par 3,90 (partie 9).</a:t>
            </a:r>
            <a:endParaRPr lang="fr-CI" sz="1200" noProof="0">
              <a:latin typeface="Helvetica" panose="020B0604020202020204" pitchFamily="34" charset="0"/>
              <a:cs typeface="Helvetica" panose="020B0604020202020204" pitchFamily="34" charset="0"/>
            </a:endParaRPr>
          </a:p>
        </p:txBody>
      </p:sp>
      <p:sp>
        <p:nvSpPr>
          <p:cNvPr id="21" name="TextBox 49"/>
          <p:cNvSpPr txBox="1"/>
          <p:nvPr/>
        </p:nvSpPr>
        <p:spPr>
          <a:xfrm>
            <a:off x="7085829" y="2818934"/>
            <a:ext cx="3252128" cy="1077218"/>
          </a:xfrm>
          <a:prstGeom prst="rect">
            <a:avLst/>
          </a:prstGeom>
          <a:noFill/>
        </p:spPr>
        <p:txBody>
          <a:bodyPr wrap="square" lIns="0" tIns="0" rIns="0" bIns="0" rtlCol="0">
            <a:noAutofit/>
          </a:bodyPr>
          <a:lstStyle/>
          <a:p>
            <a:pPr lvl="0">
              <a:lnSpc>
                <a:spcPct val="110000"/>
              </a:lnSpc>
            </a:pPr>
            <a:r>
              <a:rPr lang="fr-CI" sz="1200" b="1" noProof="0">
                <a:solidFill>
                  <a:srgbClr val="EFAC62"/>
                </a:solidFill>
                <a:latin typeface="Helvetica" panose="020B0604020202020204" pitchFamily="34" charset="0"/>
                <a:ea typeface="Open Sans Semibold" panose="020B0706030804020204" pitchFamily="34" charset="0"/>
                <a:cs typeface="Helvetica" panose="020B0604020202020204" pitchFamily="34" charset="0"/>
              </a:rPr>
              <a:t>Épargne non adossée</a:t>
            </a:r>
          </a:p>
          <a:p>
            <a:r>
              <a:rPr lang="fr-CI" sz="1200" noProof="0">
                <a:latin typeface="Helvetica" panose="020B0604020202020204" pitchFamily="34" charset="0"/>
                <a:ea typeface="Open Sans Light" panose="020B0306030504020204" pitchFamily="34" charset="0"/>
                <a:cs typeface="Helvetica" panose="020B0604020202020204" pitchFamily="34" charset="0"/>
              </a:rPr>
              <a:t>Des actifs réservés couvrent seulement 16,28 % de l'épargne due (partie 6).</a:t>
            </a:r>
            <a:endParaRPr lang="fr-CI" sz="1200" noProof="0">
              <a:latin typeface="Helvetica" panose="020B0604020202020204" pitchFamily="34" charset="0"/>
              <a:cs typeface="Helvetica" panose="020B0604020202020204" pitchFamily="34" charset="0"/>
            </a:endParaRPr>
          </a:p>
        </p:txBody>
      </p:sp>
      <p:sp>
        <p:nvSpPr>
          <p:cNvPr id="24" name="TextBox 49"/>
          <p:cNvSpPr txBox="1"/>
          <p:nvPr/>
        </p:nvSpPr>
        <p:spPr>
          <a:xfrm>
            <a:off x="1932614" y="4227172"/>
            <a:ext cx="3252128" cy="1077218"/>
          </a:xfrm>
          <a:prstGeom prst="rect">
            <a:avLst/>
          </a:prstGeom>
          <a:noFill/>
        </p:spPr>
        <p:txBody>
          <a:bodyPr wrap="square" lIns="0" tIns="0" rIns="0" bIns="0" rtlCol="0">
            <a:noAutofit/>
          </a:bodyPr>
          <a:lstStyle/>
          <a:p>
            <a:pPr lvl="0">
              <a:lnSpc>
                <a:spcPct val="110000"/>
              </a:lnSpc>
            </a:pPr>
            <a:r>
              <a:rPr lang="fr-CI" sz="1200" b="1" noProof="0">
                <a:solidFill>
                  <a:srgbClr val="EFAC62"/>
                </a:solidFill>
                <a:latin typeface="Helvetica" panose="020B0604020202020204" pitchFamily="34" charset="0"/>
                <a:ea typeface="Open Sans Semibold" panose="020B0706030804020204" pitchFamily="34" charset="0"/>
                <a:cs typeface="Helvetica" panose="020B0604020202020204" pitchFamily="34" charset="0"/>
              </a:rPr>
              <a:t>Fonds propres négatifs</a:t>
            </a:r>
          </a:p>
          <a:p>
            <a:r>
              <a:rPr lang="fr-CI" sz="1200" noProof="0">
                <a:latin typeface="Helvetica" panose="020B0604020202020204" pitchFamily="34" charset="0"/>
                <a:ea typeface="Open Sans Light" panose="020B0306030504020204" pitchFamily="34" charset="0"/>
                <a:cs typeface="Helvetica" panose="020B0604020202020204" pitchFamily="34" charset="0"/>
              </a:rPr>
              <a:t>Les fonds propres valent -438 242 200 FCFA fin 2025, et l'actif repose sur des emplois peu liquides (partie 9).</a:t>
            </a:r>
            <a:endParaRPr lang="fr-CI" sz="1200" noProof="0">
              <a:latin typeface="Helvetica" panose="020B0604020202020204" pitchFamily="34" charset="0"/>
              <a:cs typeface="Helvetica" panose="020B0604020202020204" pitchFamily="34" charset="0"/>
            </a:endParaRPr>
          </a:p>
        </p:txBody>
      </p:sp>
      <p:sp>
        <p:nvSpPr>
          <p:cNvPr id="25" name="TextBox 49"/>
          <p:cNvSpPr txBox="1"/>
          <p:nvPr/>
        </p:nvSpPr>
        <p:spPr>
          <a:xfrm>
            <a:off x="7085829" y="4198030"/>
            <a:ext cx="3252128" cy="1077218"/>
          </a:xfrm>
          <a:prstGeom prst="rect">
            <a:avLst/>
          </a:prstGeom>
          <a:noFill/>
        </p:spPr>
        <p:txBody>
          <a:bodyPr wrap="square" lIns="0" tIns="0" rIns="0" bIns="0" rtlCol="0">
            <a:noAutofit/>
          </a:bodyPr>
          <a:lstStyle/>
          <a:p>
            <a:pPr lvl="0">
              <a:lnSpc>
                <a:spcPct val="110000"/>
              </a:lnSpc>
            </a:pPr>
            <a:r>
              <a:rPr lang="fr-CI" sz="1200" b="1" noProof="0">
                <a:solidFill>
                  <a:srgbClr val="EFAC62"/>
                </a:solidFill>
                <a:latin typeface="Helvetica" panose="020B0604020202020204" pitchFamily="34" charset="0"/>
                <a:ea typeface="Open Sans Semibold" panose="020B0706030804020204" pitchFamily="34" charset="0"/>
                <a:cs typeface="Helvetica" panose="020B0604020202020204" pitchFamily="34" charset="0"/>
              </a:rPr>
              <a:t>Normes non respectées</a:t>
            </a:r>
          </a:p>
          <a:p>
            <a:r>
              <a:rPr lang="fr-CI" sz="1200" noProof="0">
                <a:latin typeface="Helvetica" panose="020B0604020202020204" pitchFamily="34" charset="0"/>
                <a:ea typeface="Open Sans Light" panose="020B0306030504020204" pitchFamily="34" charset="0"/>
                <a:cs typeface="Helvetica" panose="020B0604020202020204" pitchFamily="34" charset="0"/>
              </a:rPr>
              <a:t>14 ratios de la Décision n° 05/2022 sur 36 ne sont pas respectés, dont la réserve obligatoire et la liquidité (partie 10).</a:t>
            </a:r>
            <a:endParaRPr lang="fr-CI" sz="1200" noProof="0">
              <a:latin typeface="Helvetica" panose="020B0604020202020204" pitchFamily="34" charset="0"/>
              <a:cs typeface="Helvetica" panose="020B0604020202020204" pitchFamily="34" charset="0"/>
            </a:endParaRPr>
          </a:p>
        </p:txBody>
      </p:sp>
      <p:sp>
        <p:nvSpPr>
          <p:cNvPr id="30" name="TextBox 49"/>
          <p:cNvSpPr txBox="1"/>
          <p:nvPr/>
        </p:nvSpPr>
        <p:spPr>
          <a:xfrm>
            <a:off x="1932614" y="1433631"/>
            <a:ext cx="3252128" cy="1077218"/>
          </a:xfrm>
          <a:prstGeom prst="rect">
            <a:avLst/>
          </a:prstGeom>
          <a:noFill/>
        </p:spPr>
        <p:txBody>
          <a:bodyPr wrap="square" lIns="0" tIns="0" rIns="0" bIns="0" rtlCol="0">
            <a:noAutofit/>
          </a:bodyPr>
          <a:lstStyle/>
          <a:p>
            <a:pPr lvl="0">
              <a:lnSpc>
                <a:spcPct val="110000"/>
              </a:lnSpc>
            </a:pPr>
            <a:r>
              <a:rPr lang="fr-CI" sz="1200" b="1" noProof="0">
                <a:solidFill>
                  <a:srgbClr val="EFAC62"/>
                </a:solidFill>
                <a:latin typeface="Helvetica" panose="020B0604020202020204" pitchFamily="34" charset="0"/>
                <a:ea typeface="Open Sans Semibold" panose="020B0706030804020204" pitchFamily="34" charset="0"/>
                <a:cs typeface="Helvetica" panose="020B0604020202020204" pitchFamily="34" charset="0"/>
              </a:rPr>
              <a:t>Données incomplètes</a:t>
            </a:r>
          </a:p>
          <a:p>
            <a:r>
              <a:rPr lang="fr-CI" sz="1200" noProof="0">
                <a:latin typeface="Helvetica" panose="020B0604020202020204" pitchFamily="34" charset="0"/>
                <a:ea typeface="Open Sans Light" panose="020B0306030504020204" pitchFamily="34" charset="0"/>
                <a:cs typeface="Helvetica" panose="020B0604020202020204" pitchFamily="34" charset="0"/>
              </a:rPr>
              <a:t>Le FPPN n'a transmis ni base de prestations, ni dates de naissance. Les analyses actuarielles centrales restent en attente (parties 3 et 14).</a:t>
            </a:r>
            <a:endParaRPr lang="fr-CI" sz="1200" noProof="0">
              <a:latin typeface="Helvetica" panose="020B0604020202020204" pitchFamily="34" charset="0"/>
              <a:cs typeface="Helvetica" panose="020B0604020202020204" pitchFamily="34" charset="0"/>
            </a:endParaRPr>
          </a:p>
        </p:txBody>
      </p:sp>
      <p:sp>
        <p:nvSpPr>
          <p:cNvPr id="46"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Six constats majeurs</a:t>
            </a:r>
          </a:p>
        </p:txBody>
      </p:sp>
      <p:sp>
        <p:nvSpPr>
          <p:cNvPr id="47"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Les fragilités portent sur les données, les provisions, l'épargne et les normes</a:t>
            </a:r>
          </a:p>
        </p:txBody>
      </p:sp>
      <p:sp>
        <p:nvSpPr>
          <p:cNvPr id="48"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Chaque constat est démontré dans la partie indiquée, à partir des fichiers du FPPN et des textes de l'UEMOA</a:t>
            </a:r>
          </a:p>
        </p:txBody>
      </p:sp>
      <p:sp>
        <p:nvSpPr>
          <p:cNvPr id="49"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analyses Adenka</a:t>
            </a:r>
          </a:p>
        </p:txBody>
      </p:sp>
      <p:sp>
        <p:nvSpPr>
          <p:cNvPr id="50" name="TextBox 49"/>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UEMOA : Union économique et monétaire ouest-africaine | S/C : prestations / cotisations</a:t>
            </a:r>
          </a:p>
        </p:txBody>
      </p:sp>
    </p:spTree>
    <p:extLst>
      <p:ext uri="{BB962C8B-B14F-4D97-AF65-F5344CB8AC3E}">
        <p14:creationId xmlns:p14="http://schemas.microsoft.com/office/powerpoint/2010/main" val="335583446"/>
      </p:ext>
    </p:extLst>
  </p:cSld>
  <p:clrMapOvr>
    <a:masterClrMapping/>
  </p:clrMapOvr>
  <p:transition>
    <p:fad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Graphiques clés (1/2)</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La sinistralité maladie monte pendant que l'épargne reste peu couverte</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S/C maladie 2025 : 73,53 %. Couverture de l'épargne au 31/08/2026 : 16,28 %</a:t>
            </a:r>
          </a:p>
        </p:txBody>
      </p:sp>
      <p:sp>
        <p:nvSpPr>
          <p:cNvPr id="30" name="TextBox 29"/>
          <p:cNvSpPr txBox="1"/>
          <p:nvPr/>
        </p:nvSpPr>
        <p:spPr>
          <a:xfrm>
            <a:off x="503999" y="1386000"/>
            <a:ext cx="5472000" cy="251999"/>
          </a:xfrm>
          <a:prstGeom prst="rect">
            <a:avLst/>
          </a:prstGeom>
          <a:noFill/>
        </p:spPr>
        <p:txBody>
          <a:bodyPr wrap="square">
            <a:spAutoFit/>
          </a:bodyPr>
          <a:lstStyle/>
          <a:p>
            <a:pPr algn="ctr">
              <a:spcAft>
                <a:spcPts val="0"/>
              </a:spcAft>
            </a:pPr>
            <a:r>
              <a:rPr sz="1200" b="0">
                <a:solidFill>
                  <a:srgbClr val="EFAC62"/>
                </a:solidFill>
                <a:latin typeface="Helvetica"/>
              </a:rPr>
              <a:t>Figure 1 : Ratio S/C maladie (prestations / cotisations)</a:t>
            </a:r>
          </a:p>
        </p:txBody>
      </p:sp>
      <p:sp>
        <p:nvSpPr>
          <p:cNvPr id="31" name="TextBox 30"/>
          <p:cNvSpPr txBox="1"/>
          <p:nvPr/>
        </p:nvSpPr>
        <p:spPr>
          <a:xfrm>
            <a:off x="503999" y="1602000"/>
            <a:ext cx="5472000" cy="162000"/>
          </a:xfrm>
          <a:prstGeom prst="rect">
            <a:avLst/>
          </a:prstGeom>
          <a:noFill/>
        </p:spPr>
        <p:txBody>
          <a:bodyPr wrap="square">
            <a:spAutoFit/>
          </a:bodyPr>
          <a:lstStyle/>
          <a:p>
            <a:pPr algn="l">
              <a:spcAft>
                <a:spcPts val="0"/>
              </a:spcAft>
            </a:pPr>
            <a:r>
              <a:rPr sz="900" b="0">
                <a:solidFill>
                  <a:srgbClr val="060606"/>
                </a:solidFill>
                <a:latin typeface="Helvetica"/>
              </a:rPr>
              <a:t>En %</a:t>
            </a:r>
          </a:p>
        </p:txBody>
      </p:sp>
      <p:graphicFrame>
        <p:nvGraphicFramePr>
          <p:cNvPr id="32" name="Chart 31"/>
          <p:cNvGraphicFramePr>
            <a:graphicFrameLocks noGrp="1"/>
          </p:cNvGraphicFramePr>
          <p:nvPr/>
        </p:nvGraphicFramePr>
        <p:xfrm>
          <a:off x="503999" y="1782000"/>
          <a:ext cx="5472000" cy="3041999"/>
        </p:xfrm>
        <a:graphic>
          <a:graphicData uri="http://schemas.openxmlformats.org/drawingml/2006/chart">
            <c:chart xmlns:c="http://schemas.openxmlformats.org/drawingml/2006/chart" r:id="rId6"/>
          </a:graphicData>
        </a:graphic>
      </p:graphicFrame>
      <p:sp>
        <p:nvSpPr>
          <p:cNvPr id="33" name="TextBox 32"/>
          <p:cNvSpPr txBox="1"/>
          <p:nvPr/>
        </p:nvSpPr>
        <p:spPr>
          <a:xfrm>
            <a:off x="6263999" y="1386000"/>
            <a:ext cx="5472000" cy="251999"/>
          </a:xfrm>
          <a:prstGeom prst="rect">
            <a:avLst/>
          </a:prstGeom>
          <a:noFill/>
        </p:spPr>
        <p:txBody>
          <a:bodyPr wrap="square">
            <a:spAutoFit/>
          </a:bodyPr>
          <a:lstStyle/>
          <a:p>
            <a:pPr algn="ctr">
              <a:spcAft>
                <a:spcPts val="0"/>
              </a:spcAft>
            </a:pPr>
            <a:r>
              <a:rPr sz="1200" b="0">
                <a:solidFill>
                  <a:srgbClr val="EFAC62"/>
                </a:solidFill>
                <a:latin typeface="Helvetica"/>
              </a:rPr>
              <a:t>Figure 2 : Épargne due et actifs réservés</a:t>
            </a:r>
          </a:p>
        </p:txBody>
      </p:sp>
      <p:sp>
        <p:nvSpPr>
          <p:cNvPr id="34" name="TextBox 33"/>
          <p:cNvSpPr txBox="1"/>
          <p:nvPr/>
        </p:nvSpPr>
        <p:spPr>
          <a:xfrm>
            <a:off x="6263999" y="1602000"/>
            <a:ext cx="5472000" cy="162000"/>
          </a:xfrm>
          <a:prstGeom prst="rect">
            <a:avLst/>
          </a:prstGeom>
          <a:noFill/>
        </p:spPr>
        <p:txBody>
          <a:bodyPr wrap="square">
            <a:spAutoFit/>
          </a:bodyPr>
          <a:lstStyle/>
          <a:p>
            <a:pPr algn="l">
              <a:spcAft>
                <a:spcPts val="0"/>
              </a:spcAft>
            </a:pPr>
            <a:r>
              <a:rPr sz="900" b="0">
                <a:solidFill>
                  <a:srgbClr val="060606"/>
                </a:solidFill>
                <a:latin typeface="Helvetica"/>
              </a:rPr>
              <a:t>En millions de FCFA</a:t>
            </a:r>
          </a:p>
        </p:txBody>
      </p:sp>
      <p:graphicFrame>
        <p:nvGraphicFramePr>
          <p:cNvPr id="35" name="Chart 34"/>
          <p:cNvGraphicFramePr>
            <a:graphicFrameLocks noGrp="1"/>
          </p:cNvGraphicFramePr>
          <p:nvPr/>
        </p:nvGraphicFramePr>
        <p:xfrm>
          <a:off x="6263999" y="1782000"/>
          <a:ext cx="5472000" cy="3041999"/>
        </p:xfrm>
        <a:graphic>
          <a:graphicData uri="http://schemas.openxmlformats.org/drawingml/2006/chart">
            <c:chart xmlns:c="http://schemas.openxmlformats.org/drawingml/2006/chart" r:id="rId7"/>
          </a:graphicData>
        </a:graphic>
      </p:graphicFrame>
      <p:sp>
        <p:nvSpPr>
          <p:cNvPr id="36"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balances des comptes du FPPN (Sage 100), exercices 2020 à 2025 et du 01/01 au 31/08/2026 (provisoire). Traitements Adenka</a:t>
            </a:r>
          </a:p>
        </p:txBody>
      </p:sp>
      <p:sp>
        <p:nvSpPr>
          <p:cNvPr id="37" name="TextBox 36"/>
          <p:cNvSpPr txBox="1"/>
          <p:nvPr/>
        </p:nvSpPr>
        <p:spPr>
          <a:xfrm>
            <a:off x="503999" y="4950000"/>
            <a:ext cx="11232000" cy="918000"/>
          </a:xfrm>
          <a:prstGeom prst="rect">
            <a:avLst/>
          </a:prstGeom>
          <a:noFill/>
        </p:spPr>
        <p:txBody>
          <a:bodyPr wrap="square" lIns="54000" rIns="54000"/>
          <a:lstStyle/>
          <a:p>
            <a:pPr algn="just">
              <a:spcAft>
                <a:spcPts val="600"/>
              </a:spcAft>
            </a:pPr>
            <a:r>
              <a:rPr sz="1300" b="1">
                <a:solidFill>
                  <a:srgbClr val="060606"/>
                </a:solidFill>
                <a:latin typeface="Helvetica"/>
              </a:rPr>
              <a:t>Les deux courbes vont dans le mauvais sens pour la solvabilité.</a:t>
            </a:r>
            <a:r>
              <a:rPr sz="1300" b="0">
                <a:solidFill>
                  <a:srgbClr val="060606"/>
                </a:solidFill>
                <a:latin typeface="Helvetica"/>
              </a:rPr>
              <a:t> Les prestations consomment une part croissante des cotisations, et l'épargne grossit plus vite que les actifs qui la garantissent. Implication : le FPPN dispose de moins en moins de marge pour faire face à un choc de prestations ou de retraits.</a:t>
            </a:r>
          </a:p>
        </p:txBody>
      </p:sp>
      <p:sp>
        <p:nvSpPr>
          <p:cNvPr id="38" name="TextBox 37"/>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PEP : Plan Épargne Plus | EFC : entraide fin de carrière | S/C : prestations / cotisations</a:t>
            </a:r>
          </a:p>
        </p:txBody>
      </p:sp>
    </p:spTree>
    <p:extLst>
      <p:ext uri="{BB962C8B-B14F-4D97-AF65-F5344CB8AC3E}">
        <p14:creationId xmlns:p14="http://schemas.microsoft.com/office/powerpoint/2010/main" val="3226800355"/>
      </p:ext>
    </p:extLst>
  </p:cSld>
  <p:clrMapOvr>
    <a:masterClrMapping/>
  </p:clrMapOvr>
  <p:transition>
    <p:fad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Graphiques clés (2/2)</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Les fonds propres restent négatifs et l'encours de prêts explose</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Fonds propres 2025 : -438 242 200 FCFA. Encours du Grenier au 31/08/2026 : 1 044 302 107 FCFA</a:t>
            </a:r>
          </a:p>
        </p:txBody>
      </p:sp>
      <p:sp>
        <p:nvSpPr>
          <p:cNvPr id="30" name="TextBox 29"/>
          <p:cNvSpPr txBox="1"/>
          <p:nvPr/>
        </p:nvSpPr>
        <p:spPr>
          <a:xfrm>
            <a:off x="503999" y="1386000"/>
            <a:ext cx="5472000" cy="251999"/>
          </a:xfrm>
          <a:prstGeom prst="rect">
            <a:avLst/>
          </a:prstGeom>
          <a:noFill/>
        </p:spPr>
        <p:txBody>
          <a:bodyPr wrap="square">
            <a:spAutoFit/>
          </a:bodyPr>
          <a:lstStyle/>
          <a:p>
            <a:pPr algn="ctr">
              <a:spcAft>
                <a:spcPts val="0"/>
              </a:spcAft>
            </a:pPr>
            <a:r>
              <a:rPr sz="1200" b="0">
                <a:solidFill>
                  <a:srgbClr val="EFAC62"/>
                </a:solidFill>
                <a:latin typeface="Helvetica"/>
              </a:rPr>
              <a:t>Figure 3 : Fonds propres</a:t>
            </a:r>
          </a:p>
        </p:txBody>
      </p:sp>
      <p:sp>
        <p:nvSpPr>
          <p:cNvPr id="31" name="TextBox 30"/>
          <p:cNvSpPr txBox="1"/>
          <p:nvPr/>
        </p:nvSpPr>
        <p:spPr>
          <a:xfrm>
            <a:off x="503999" y="1602000"/>
            <a:ext cx="5472000" cy="162000"/>
          </a:xfrm>
          <a:prstGeom prst="rect">
            <a:avLst/>
          </a:prstGeom>
          <a:noFill/>
        </p:spPr>
        <p:txBody>
          <a:bodyPr wrap="square">
            <a:spAutoFit/>
          </a:bodyPr>
          <a:lstStyle/>
          <a:p>
            <a:pPr algn="l">
              <a:spcAft>
                <a:spcPts val="0"/>
              </a:spcAft>
            </a:pPr>
            <a:r>
              <a:rPr sz="900" b="0">
                <a:solidFill>
                  <a:srgbClr val="060606"/>
                </a:solidFill>
                <a:latin typeface="Helvetica"/>
              </a:rPr>
              <a:t>En millions de FCFA</a:t>
            </a:r>
          </a:p>
        </p:txBody>
      </p:sp>
      <p:graphicFrame>
        <p:nvGraphicFramePr>
          <p:cNvPr id="32" name="Chart 31"/>
          <p:cNvGraphicFramePr>
            <a:graphicFrameLocks noGrp="1"/>
          </p:cNvGraphicFramePr>
          <p:nvPr/>
        </p:nvGraphicFramePr>
        <p:xfrm>
          <a:off x="503999" y="1782000"/>
          <a:ext cx="5472000" cy="3041999"/>
        </p:xfrm>
        <a:graphic>
          <a:graphicData uri="http://schemas.openxmlformats.org/drawingml/2006/chart">
            <c:chart xmlns:c="http://schemas.openxmlformats.org/drawingml/2006/chart" r:id="rId6"/>
          </a:graphicData>
        </a:graphic>
      </p:graphicFrame>
      <p:sp>
        <p:nvSpPr>
          <p:cNvPr id="33" name="TextBox 32"/>
          <p:cNvSpPr txBox="1"/>
          <p:nvPr/>
        </p:nvSpPr>
        <p:spPr>
          <a:xfrm>
            <a:off x="6263999" y="1386000"/>
            <a:ext cx="5472000" cy="251999"/>
          </a:xfrm>
          <a:prstGeom prst="rect">
            <a:avLst/>
          </a:prstGeom>
          <a:noFill/>
        </p:spPr>
        <p:txBody>
          <a:bodyPr wrap="square">
            <a:spAutoFit/>
          </a:bodyPr>
          <a:lstStyle/>
          <a:p>
            <a:pPr algn="ctr">
              <a:spcAft>
                <a:spcPts val="0"/>
              </a:spcAft>
            </a:pPr>
            <a:r>
              <a:rPr sz="1200" b="0">
                <a:solidFill>
                  <a:srgbClr val="EFAC62"/>
                </a:solidFill>
                <a:latin typeface="Helvetica"/>
              </a:rPr>
              <a:t>Figure 4 : Encours des prêts du Grenier</a:t>
            </a:r>
          </a:p>
        </p:txBody>
      </p:sp>
      <p:sp>
        <p:nvSpPr>
          <p:cNvPr id="34" name="TextBox 33"/>
          <p:cNvSpPr txBox="1"/>
          <p:nvPr/>
        </p:nvSpPr>
        <p:spPr>
          <a:xfrm>
            <a:off x="6263999" y="1602000"/>
            <a:ext cx="5472000" cy="162000"/>
          </a:xfrm>
          <a:prstGeom prst="rect">
            <a:avLst/>
          </a:prstGeom>
          <a:noFill/>
        </p:spPr>
        <p:txBody>
          <a:bodyPr wrap="square">
            <a:spAutoFit/>
          </a:bodyPr>
          <a:lstStyle/>
          <a:p>
            <a:pPr algn="l">
              <a:spcAft>
                <a:spcPts val="0"/>
              </a:spcAft>
            </a:pPr>
            <a:r>
              <a:rPr sz="900" b="0">
                <a:solidFill>
                  <a:srgbClr val="060606"/>
                </a:solidFill>
                <a:latin typeface="Helvetica"/>
              </a:rPr>
              <a:t>En millions de FCFA</a:t>
            </a:r>
          </a:p>
        </p:txBody>
      </p:sp>
      <p:graphicFrame>
        <p:nvGraphicFramePr>
          <p:cNvPr id="35" name="Chart 34"/>
          <p:cNvGraphicFramePr>
            <a:graphicFrameLocks noGrp="1"/>
          </p:cNvGraphicFramePr>
          <p:nvPr/>
        </p:nvGraphicFramePr>
        <p:xfrm>
          <a:off x="6263999" y="1782000"/>
          <a:ext cx="5472000" cy="3041999"/>
        </p:xfrm>
        <a:graphic>
          <a:graphicData uri="http://schemas.openxmlformats.org/drawingml/2006/chart">
            <c:chart xmlns:c="http://schemas.openxmlformats.org/drawingml/2006/chart" r:id="rId7"/>
          </a:graphicData>
        </a:graphic>
      </p:graphicFrame>
      <p:sp>
        <p:nvSpPr>
          <p:cNvPr id="36"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balances des comptes du FPPN (Sage 100), exercices 2020 à 2025 et du 01/01 au 31/08/2026 (provisoire). Traitements Adenka. Exports du logiciel de prêts du Grenier du Policier (balances âgées, production) reçus le 15/10/2026. Traitements Adenka</a:t>
            </a:r>
          </a:p>
        </p:txBody>
      </p:sp>
      <p:sp>
        <p:nvSpPr>
          <p:cNvPr id="37" name="TextBox 36"/>
          <p:cNvSpPr txBox="1"/>
          <p:nvPr/>
        </p:nvSpPr>
        <p:spPr>
          <a:xfrm>
            <a:off x="503999" y="4950000"/>
            <a:ext cx="11232000" cy="918000"/>
          </a:xfrm>
          <a:prstGeom prst="rect">
            <a:avLst/>
          </a:prstGeom>
          <a:noFill/>
        </p:spPr>
        <p:txBody>
          <a:bodyPr wrap="square" lIns="54000" rIns="54000"/>
          <a:lstStyle/>
          <a:p>
            <a:pPr algn="just">
              <a:spcAft>
                <a:spcPts val="600"/>
              </a:spcAft>
            </a:pPr>
            <a:r>
              <a:rPr sz="1300" b="1">
                <a:solidFill>
                  <a:srgbClr val="060606"/>
                </a:solidFill>
                <a:latin typeface="Helvetica"/>
              </a:rPr>
              <a:t>Le redressement des fonds propres s'interrompt en 2026, au moment où l'encours des prêts atteint son plus haut niveau.</a:t>
            </a:r>
            <a:r>
              <a:rPr sz="1300" b="0">
                <a:solidFill>
                  <a:srgbClr val="060606"/>
                </a:solidFill>
                <a:latin typeface="Helvetica"/>
              </a:rPr>
              <a:t> Implication : le FPPN finance une activité de crédit en croissance rapide sans coussin de fonds propres pour absorber d'éventuelles pertes.</a:t>
            </a:r>
          </a:p>
        </p:txBody>
      </p:sp>
      <p:sp>
        <p:nvSpPr>
          <p:cNvPr id="38" name="TextBox 37"/>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a:t>
            </a:r>
          </a:p>
        </p:txBody>
      </p:sp>
    </p:spTree>
    <p:extLst>
      <p:ext uri="{BB962C8B-B14F-4D97-AF65-F5344CB8AC3E}">
        <p14:creationId xmlns:p14="http://schemas.microsoft.com/office/powerpoint/2010/main" val="137482630"/>
      </p:ext>
    </p:extLst>
  </p:cSld>
  <p:clrMapOvr>
    <a:masterClrMapping/>
  </p:clrMapOvr>
  <p:transition>
    <p:fad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Conformité prudentielle en bref</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Les ratios de solvabilité et de liquidité de l'UEMOA ne sont pas respectés</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Sur 36 indicateurs de la Décision n° 05/2022 : 14 non conformes, 7 conformes, 15 en attente de données ou à apprécier</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Décision n° 05/2022/COM/UEMOA du 1er juin 2022, annexe. Règlement d'exécution n° 004/2022/COM/UEMOA du 1er juin 2022. Règlement n° 07/2009/CM/UEMOA du 26 juin 2009. Balances du FPPN. Calculs Adenka</a:t>
            </a:r>
          </a:p>
        </p:txBody>
      </p:sp>
      <p:sp>
        <p:nvSpPr>
          <p:cNvPr id="31" name="TextBox 30"/>
          <p:cNvSpPr txBox="1"/>
          <p:nvPr/>
        </p:nvSpPr>
        <p:spPr>
          <a:xfrm>
            <a:off x="503999" y="1386000"/>
            <a:ext cx="7056000" cy="216000"/>
          </a:xfrm>
          <a:prstGeom prst="rect">
            <a:avLst/>
          </a:prstGeom>
          <a:noFill/>
        </p:spPr>
        <p:txBody>
          <a:bodyPr wrap="square" anchor="t" lIns="54000" rIns="54000"/>
          <a:lstStyle/>
          <a:p>
            <a:pPr algn="ctr"/>
            <a:r>
              <a:rPr sz="1200" b="0">
                <a:solidFill>
                  <a:srgbClr val="EFAC62"/>
                </a:solidFill>
                <a:latin typeface="Helvetica"/>
              </a:rPr>
              <a:t>Tableau 2 : Huit ratios prudentiels clés, exercice 2025</a:t>
            </a:r>
          </a:p>
        </p:txBody>
      </p:sp>
      <p:graphicFrame>
        <p:nvGraphicFramePr>
          <p:cNvPr id="32" name="Table 31"/>
          <p:cNvGraphicFramePr>
            <a:graphicFrameLocks noGrp="1"/>
          </p:cNvGraphicFramePr>
          <p:nvPr/>
        </p:nvGraphicFramePr>
        <p:xfrm>
          <a:off x="503999" y="1655999"/>
          <a:ext cx="7056000" cy="3033156"/>
        </p:xfrm>
        <a:graphic>
          <a:graphicData uri="http://schemas.openxmlformats.org/drawingml/2006/table">
            <a:tbl>
              <a:tblPr firstRow="0" bandRow="0">
                <a:tableStyleId>{5940675A-B579-460E-94D1-54222C63F5DA}</a:tableStyleId>
              </a:tblPr>
              <a:tblGrid>
                <a:gridCol w="2610000"/>
                <a:gridCol w="1270800"/>
                <a:gridCol w="1058400"/>
                <a:gridCol w="986400"/>
                <a:gridCol w="1130400"/>
              </a:tblGrid>
              <a:tr h="392901">
                <a:tc>
                  <a:txBody>
                    <a:bodyPr/>
                    <a:lstStyle/>
                    <a:p>
                      <a:pPr marL="0" indent="0" lvl="0">
                        <a:buNone/>
                      </a:pPr>
                      <a:r>
                        <a:rPr sz="1100" b="1">
                          <a:solidFill>
                            <a:srgbClr val="FFFFFF"/>
                          </a:solidFill>
                          <a:latin typeface="Helvetica"/>
                        </a:rPr>
                        <a:t>Ratio</a:t>
                      </a:r>
                    </a:p>
                  </a:txBody>
                  <a:tcPr marL="43200" marR="43200" marT="14400" marB="14400" anchor="ctr">
                    <a:solidFill>
                      <a:srgbClr val="060606"/>
                    </a:solidFill>
                  </a:tcPr>
                </a:tc>
                <a:tc>
                  <a:txBody>
                    <a:bodyPr/>
                    <a:lstStyle/>
                    <a:p>
                      <a:pPr marL="0" indent="0" lvl="0">
                        <a:buNone/>
                      </a:pPr>
                      <a:r>
                        <a:rPr sz="1100" b="1">
                          <a:solidFill>
                            <a:srgbClr val="FFFFFF"/>
                          </a:solidFill>
                          <a:latin typeface="Helvetica"/>
                        </a:rPr>
                        <a:t>Norme</a:t>
                      </a:r>
                    </a:p>
                  </a:txBody>
                  <a:tcPr marL="43200" marR="43200" marT="14400" marB="14400" anchor="ctr">
                    <a:solidFill>
                      <a:srgbClr val="060606"/>
                    </a:solidFill>
                  </a:tcPr>
                </a:tc>
                <a:tc>
                  <a:txBody>
                    <a:bodyPr/>
                    <a:lstStyle/>
                    <a:p>
                      <a:pPr marL="0" indent="0" lvl="0">
                        <a:buNone/>
                      </a:pPr>
                      <a:r>
                        <a:rPr sz="1100" b="1">
                          <a:solidFill>
                            <a:srgbClr val="FFFFFF"/>
                          </a:solidFill>
                          <a:latin typeface="Helvetica"/>
                        </a:rPr>
                        <a:t>Comme le FPPN</a:t>
                      </a:r>
                    </a:p>
                  </a:txBody>
                  <a:tcPr marL="43200" marR="43200" marT="14400" marB="14400" anchor="ctr">
                    <a:solidFill>
                      <a:srgbClr val="060606"/>
                    </a:solidFill>
                  </a:tcPr>
                </a:tc>
                <a:tc>
                  <a:txBody>
                    <a:bodyPr/>
                    <a:lstStyle/>
                    <a:p>
                      <a:pPr marL="0" indent="0" lvl="0">
                        <a:buNone/>
                      </a:pPr>
                      <a:r>
                        <a:rPr sz="1100" b="1">
                          <a:solidFill>
                            <a:srgbClr val="FFFFFF"/>
                          </a:solidFill>
                          <a:latin typeface="Helvetica"/>
                        </a:rPr>
                        <a:t>Retraité</a:t>
                      </a:r>
                    </a:p>
                  </a:txBody>
                  <a:tcPr marL="43200" marR="43200" marT="14400" marB="14400" anchor="ctr">
                    <a:solidFill>
                      <a:srgbClr val="060606"/>
                    </a:solidFill>
                  </a:tcPr>
                </a:tc>
                <a:tc>
                  <a:txBody>
                    <a:bodyPr/>
                    <a:lstStyle/>
                    <a:p>
                      <a:pPr marL="0" indent="0" lvl="0">
                        <a:buNone/>
                      </a:pPr>
                      <a:r>
                        <a:rPr sz="1100" b="1">
                          <a:solidFill>
                            <a:srgbClr val="FFFFFF"/>
                          </a:solidFill>
                          <a:latin typeface="Helvetica"/>
                        </a:rPr>
                        <a:t>Statut 2022 à 2025</a:t>
                      </a:r>
                    </a:p>
                  </a:txBody>
                  <a:tcPr marL="43200" marR="43200" marT="14400" marB="14400" anchor="ctr">
                    <a:solidFill>
                      <a:srgbClr val="060606"/>
                    </a:solidFill>
                  </a:tcPr>
                </a:tc>
              </a:tr>
              <a:tr h="392901">
                <a:tc>
                  <a:txBody>
                    <a:bodyPr/>
                    <a:lstStyle/>
                    <a:p>
                      <a:pPr marL="0" indent="0" lvl="0">
                        <a:buNone/>
                      </a:pPr>
                      <a:r>
                        <a:rPr sz="1100" b="1">
                          <a:solidFill>
                            <a:srgbClr val="060606"/>
                          </a:solidFill>
                          <a:latin typeface="Helvetica"/>
                        </a:rPr>
                        <a:t>Taux de sinistralité</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Entre 70 % et 80 %</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57,48 %</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
                      </a:r>
                    </a:p>
                  </a:txBody>
                  <a:tcPr marL="43200" marR="43200" marT="14400" marB="14400" anchor="ctr">
                    <a:solidFill>
                      <a:srgbClr val="FFFFFF"/>
                    </a:solidFill>
                  </a:tcPr>
                </a:tc>
                <a:tc>
                  <a:txBody>
                    <a:bodyPr/>
                    <a:lstStyle/>
                    <a:p>
                      <a:pPr marL="0" indent="0" lvl="0">
                        <a:buNone/>
                      </a:pPr>
                      <a:r>
                        <a:rPr sz="1100" b="1">
                          <a:solidFill>
                            <a:srgbClr val="FFFFFF"/>
                          </a:solidFill>
                          <a:latin typeface="Helvetica"/>
                        </a:rPr>
                        <a:t>Non conforme</a:t>
                      </a:r>
                    </a:p>
                  </a:txBody>
                  <a:tcPr marL="43200" marR="43200" marT="14400" marB="14400" anchor="ctr">
                    <a:solidFill>
                      <a:srgbClr val="C00000"/>
                    </a:solidFill>
                  </a:tcPr>
                </a:tc>
              </a:tr>
              <a:tr h="392901">
                <a:tc>
                  <a:txBody>
                    <a:bodyPr/>
                    <a:lstStyle/>
                    <a:p>
                      <a:pPr marL="0" indent="0" lvl="0">
                        <a:buNone/>
                      </a:pPr>
                      <a:r>
                        <a:rPr sz="1100" b="1">
                          <a:solidFill>
                            <a:srgbClr val="060606"/>
                          </a:solidFill>
                          <a:latin typeface="Helvetica"/>
                        </a:rPr>
                        <a:t>Marge de solvabilité disponible / exigée</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Au moins 1</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7,77</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-0,77</a:t>
                      </a:r>
                    </a:p>
                  </a:txBody>
                  <a:tcPr marL="43200" marR="43200" marT="14400" marB="14400" anchor="ctr">
                    <a:solidFill>
                      <a:srgbClr val="F2F2F2"/>
                    </a:solidFill>
                  </a:tcPr>
                </a:tc>
                <a:tc>
                  <a:txBody>
                    <a:bodyPr/>
                    <a:lstStyle/>
                    <a:p>
                      <a:pPr marL="0" indent="0" lvl="0">
                        <a:buNone/>
                      </a:pPr>
                      <a:r>
                        <a:rPr sz="1100" b="1">
                          <a:solidFill>
                            <a:srgbClr val="FFFFFF"/>
                          </a:solidFill>
                          <a:latin typeface="Helvetica"/>
                        </a:rPr>
                        <a:t>Conforme</a:t>
                      </a:r>
                    </a:p>
                  </a:txBody>
                  <a:tcPr marL="43200" marR="43200" marT="14400" marB="14400" anchor="ctr">
                    <a:solidFill>
                      <a:srgbClr val="112A40"/>
                    </a:solidFill>
                  </a:tcPr>
                </a:tc>
              </a:tr>
              <a:tr h="392901">
                <a:tc>
                  <a:txBody>
                    <a:bodyPr/>
                    <a:lstStyle/>
                    <a:p>
                      <a:pPr marL="0" indent="0" lvl="0">
                        <a:buNone/>
                      </a:pPr>
                      <a:r>
                        <a:rPr sz="1100" b="1">
                          <a:solidFill>
                            <a:srgbClr val="060606"/>
                          </a:solidFill>
                          <a:latin typeface="Helvetica"/>
                        </a:rPr>
                        <a:t>Ratio de réserve obligatoire</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Entre 6 et 9 mois</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5,01 mois</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
                      </a:r>
                    </a:p>
                  </a:txBody>
                  <a:tcPr marL="43200" marR="43200" marT="14400" marB="14400" anchor="ctr">
                    <a:solidFill>
                      <a:srgbClr val="FFFFFF"/>
                    </a:solidFill>
                  </a:tcPr>
                </a:tc>
                <a:tc>
                  <a:txBody>
                    <a:bodyPr/>
                    <a:lstStyle/>
                    <a:p>
                      <a:pPr marL="0" indent="0" lvl="0">
                        <a:buNone/>
                      </a:pPr>
                      <a:r>
                        <a:rPr sz="1100" b="1">
                          <a:solidFill>
                            <a:srgbClr val="FFFFFF"/>
                          </a:solidFill>
                          <a:latin typeface="Helvetica"/>
                        </a:rPr>
                        <a:t>Non conforme</a:t>
                      </a:r>
                    </a:p>
                  </a:txBody>
                  <a:tcPr marL="43200" marR="43200" marT="14400" marB="14400" anchor="ctr">
                    <a:solidFill>
                      <a:srgbClr val="C00000"/>
                    </a:solidFill>
                  </a:tcPr>
                </a:tc>
              </a:tr>
              <a:tr h="392901">
                <a:tc>
                  <a:txBody>
                    <a:bodyPr/>
                    <a:lstStyle/>
                    <a:p>
                      <a:pPr marL="0" indent="0" lvl="0">
                        <a:buNone/>
                      </a:pPr>
                      <a:r>
                        <a:rPr sz="1100" b="1">
                          <a:solidFill>
                            <a:srgbClr val="060606"/>
                          </a:solidFill>
                          <a:latin typeface="Helvetica"/>
                        </a:rPr>
                        <a:t>Ratio des fonds propres et assimilés</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Au moins 1</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0,22</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
                      </a:r>
                    </a:p>
                  </a:txBody>
                  <a:tcPr marL="43200" marR="43200" marT="14400" marB="14400" anchor="ctr">
                    <a:solidFill>
                      <a:srgbClr val="F2F2F2"/>
                    </a:solidFill>
                  </a:tcPr>
                </a:tc>
                <a:tc>
                  <a:txBody>
                    <a:bodyPr/>
                    <a:lstStyle/>
                    <a:p>
                      <a:pPr marL="0" indent="0" lvl="0">
                        <a:buNone/>
                      </a:pPr>
                      <a:r>
                        <a:rPr sz="1100" b="1">
                          <a:solidFill>
                            <a:srgbClr val="FFFFFF"/>
                          </a:solidFill>
                          <a:latin typeface="Helvetica"/>
                        </a:rPr>
                        <a:t>Non conforme</a:t>
                      </a:r>
                    </a:p>
                  </a:txBody>
                  <a:tcPr marL="43200" marR="43200" marT="14400" marB="14400" anchor="ctr">
                    <a:solidFill>
                      <a:srgbClr val="C00000"/>
                    </a:solidFill>
                  </a:tcPr>
                </a:tc>
              </a:tr>
              <a:tr h="225250">
                <a:tc>
                  <a:txBody>
                    <a:bodyPr/>
                    <a:lstStyle/>
                    <a:p>
                      <a:pPr marL="0" indent="0" lvl="0">
                        <a:buNone/>
                      </a:pPr>
                      <a:r>
                        <a:rPr sz="1100" b="1">
                          <a:solidFill>
                            <a:srgbClr val="060606"/>
                          </a:solidFill>
                          <a:latin typeface="Helvetica"/>
                        </a:rPr>
                        <a:t>Ratio de liquidité</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Au moins 1</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0,13</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1,15</a:t>
                      </a:r>
                    </a:p>
                  </a:txBody>
                  <a:tcPr marL="43200" marR="43200" marT="14400" marB="14400" anchor="ctr">
                    <a:solidFill>
                      <a:srgbClr val="FFFFFF"/>
                    </a:solidFill>
                  </a:tcPr>
                </a:tc>
                <a:tc>
                  <a:txBody>
                    <a:bodyPr/>
                    <a:lstStyle/>
                    <a:p>
                      <a:pPr marL="0" indent="0" lvl="0">
                        <a:buNone/>
                      </a:pPr>
                      <a:r>
                        <a:rPr sz="1100" b="1">
                          <a:solidFill>
                            <a:srgbClr val="FFFFFF"/>
                          </a:solidFill>
                          <a:latin typeface="Helvetica"/>
                        </a:rPr>
                        <a:t>Non conforme</a:t>
                      </a:r>
                    </a:p>
                  </a:txBody>
                  <a:tcPr marL="43200" marR="43200" marT="14400" marB="14400" anchor="ctr">
                    <a:solidFill>
                      <a:srgbClr val="C00000"/>
                    </a:solidFill>
                  </a:tcPr>
                </a:tc>
              </a:tr>
              <a:tr h="225250">
                <a:tc>
                  <a:txBody>
                    <a:bodyPr/>
                    <a:lstStyle/>
                    <a:p>
                      <a:pPr marL="0" indent="0" lvl="0">
                        <a:buNone/>
                      </a:pPr>
                      <a:r>
                        <a:rPr sz="1100" b="1">
                          <a:solidFill>
                            <a:srgbClr val="060606"/>
                          </a:solidFill>
                          <a:latin typeface="Helvetica"/>
                        </a:rPr>
                        <a:t>Ratio d'équilibre stable</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Au plus 1</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1,54</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0,94</a:t>
                      </a:r>
                    </a:p>
                  </a:txBody>
                  <a:tcPr marL="43200" marR="43200" marT="14400" marB="14400" anchor="ctr">
                    <a:solidFill>
                      <a:srgbClr val="F2F2F2"/>
                    </a:solidFill>
                  </a:tcPr>
                </a:tc>
                <a:tc>
                  <a:txBody>
                    <a:bodyPr/>
                    <a:lstStyle/>
                    <a:p>
                      <a:pPr marL="0" indent="0" lvl="0">
                        <a:buNone/>
                      </a:pPr>
                      <a:r>
                        <a:rPr sz="1100" b="1">
                          <a:solidFill>
                            <a:srgbClr val="FFFFFF"/>
                          </a:solidFill>
                          <a:latin typeface="Helvetica"/>
                        </a:rPr>
                        <a:t>Non conforme</a:t>
                      </a:r>
                    </a:p>
                  </a:txBody>
                  <a:tcPr marL="43200" marR="43200" marT="14400" marB="14400" anchor="ctr">
                    <a:solidFill>
                      <a:srgbClr val="C00000"/>
                    </a:solidFill>
                  </a:tcPr>
                </a:tc>
              </a:tr>
              <a:tr h="392901">
                <a:tc>
                  <a:txBody>
                    <a:bodyPr/>
                    <a:lstStyle/>
                    <a:p>
                      <a:pPr marL="0" indent="0" lvl="0">
                        <a:buNone/>
                      </a:pPr>
                      <a:r>
                        <a:rPr sz="1100" b="1">
                          <a:solidFill>
                            <a:srgbClr val="060606"/>
                          </a:solidFill>
                          <a:latin typeface="Helvetica"/>
                        </a:rPr>
                        <a:t>Taux des charges de fonctionnement</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Au plus 20 %</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36,34 %</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
                      </a:r>
                    </a:p>
                  </a:txBody>
                  <a:tcPr marL="43200" marR="43200" marT="14400" marB="14400" anchor="ctr">
                    <a:solidFill>
                      <a:srgbClr val="FFFFFF"/>
                    </a:solidFill>
                  </a:tcPr>
                </a:tc>
                <a:tc>
                  <a:txBody>
                    <a:bodyPr/>
                    <a:lstStyle/>
                    <a:p>
                      <a:pPr marL="0" indent="0" lvl="0">
                        <a:buNone/>
                      </a:pPr>
                      <a:r>
                        <a:rPr sz="1100" b="1">
                          <a:solidFill>
                            <a:srgbClr val="FFFFFF"/>
                          </a:solidFill>
                          <a:latin typeface="Helvetica"/>
                        </a:rPr>
                        <a:t>Non conforme</a:t>
                      </a:r>
                    </a:p>
                  </a:txBody>
                  <a:tcPr marL="43200" marR="43200" marT="14400" marB="14400" anchor="ctr">
                    <a:solidFill>
                      <a:srgbClr val="C00000"/>
                    </a:solidFill>
                  </a:tcPr>
                </a:tc>
              </a:tr>
              <a:tr h="225250">
                <a:tc>
                  <a:txBody>
                    <a:bodyPr/>
                    <a:lstStyle/>
                    <a:p>
                      <a:pPr marL="0" indent="0" lvl="0">
                        <a:buNone/>
                      </a:pPr>
                      <a:r>
                        <a:rPr sz="1100" b="1">
                          <a:solidFill>
                            <a:srgbClr val="060606"/>
                          </a:solidFill>
                          <a:latin typeface="Helvetica"/>
                        </a:rPr>
                        <a:t>Solvabilité de l'épargne</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Au moins 1</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0,12</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
                      </a:r>
                    </a:p>
                  </a:txBody>
                  <a:tcPr marL="43200" marR="43200" marT="14400" marB="14400" anchor="ctr">
                    <a:solidFill>
                      <a:srgbClr val="F2F2F2"/>
                    </a:solidFill>
                  </a:tcPr>
                </a:tc>
                <a:tc>
                  <a:txBody>
                    <a:bodyPr/>
                    <a:lstStyle/>
                    <a:p>
                      <a:pPr marL="0" indent="0" lvl="0">
                        <a:buNone/>
                      </a:pPr>
                      <a:r>
                        <a:rPr sz="1100" b="1">
                          <a:solidFill>
                            <a:srgbClr val="FFFFFF"/>
                          </a:solidFill>
                          <a:latin typeface="Helvetica"/>
                        </a:rPr>
                        <a:t>Non conforme</a:t>
                      </a:r>
                    </a:p>
                  </a:txBody>
                  <a:tcPr marL="43200" marR="43200" marT="14400" marB="14400" anchor="ctr">
                    <a:solidFill>
                      <a:srgbClr val="C00000"/>
                    </a:solidFill>
                  </a:tcPr>
                </a:tc>
              </a:tr>
            </a:tbl>
          </a:graphicData>
        </a:graphic>
      </p:graphicFrame>
      <p:sp>
        <p:nvSpPr>
          <p:cNvPr id="33" name="TextBox 32"/>
          <p:cNvSpPr txBox="1"/>
          <p:nvPr/>
        </p:nvSpPr>
        <p:spPr>
          <a:xfrm>
            <a:off x="7776000" y="1386000"/>
            <a:ext cx="3960000" cy="4482000"/>
          </a:xfrm>
          <a:prstGeom prst="rect">
            <a:avLst/>
          </a:prstGeom>
          <a:noFill/>
        </p:spPr>
        <p:txBody>
          <a:bodyPr wrap="square" lIns="54000" rIns="54000"/>
          <a:lstStyle/>
          <a:p>
            <a:pPr algn="just">
              <a:spcAft>
                <a:spcPts val="600"/>
              </a:spcAft>
            </a:pPr>
            <a:r>
              <a:rPr sz="1400" b="1">
                <a:solidFill>
                  <a:srgbClr val="060606"/>
                </a:solidFill>
                <a:latin typeface="Helvetica"/>
              </a:rPr>
              <a:t>Les ratios qui mesurent la solidité financière sont non conformes, ceux qui mesurent l'activité courante le sont souvent.</a:t>
            </a:r>
            <a:r>
              <a:rPr sz="1400" b="0">
                <a:solidFill>
                  <a:srgbClr val="060606"/>
                </a:solidFill>
                <a:latin typeface="Helvetica"/>
              </a:rPr>
              <a:t> L'autonomie financière et le financement propre sont respectés, car les cotisations couvrent les charges de l'année.</a:t>
            </a:r>
          </a:p>
          <a:p>
            <a:pPr algn="just">
              <a:spcAft>
                <a:spcPts val="600"/>
              </a:spcAft>
            </a:pPr>
            <a:r>
              <a:rPr sz="1400" b="1">
                <a:solidFill>
                  <a:srgbClr val="060606"/>
                </a:solidFill>
                <a:latin typeface="Helvetica"/>
              </a:rPr>
              <a:t>Le classement de l'épargne change le verdict sur la liquidité.</a:t>
            </a:r>
            <a:r>
              <a:rPr sz="1400" b="0">
                <a:solidFill>
                  <a:srgbClr val="060606"/>
                </a:solidFill>
                <a:latin typeface="Helvetica"/>
              </a:rPr>
              <a:t> En dette à court terme, comme dans le plan comptable, la liquidité 2025 vaut 0,13. En ressource longue, elle vaut 1,15.</a:t>
            </a:r>
          </a:p>
          <a:p>
            <a:pPr algn="just">
              <a:spcAft>
                <a:spcPts val="600"/>
              </a:spcAft>
            </a:pPr>
            <a:r>
              <a:rPr sz="1400" b="1">
                <a:solidFill>
                  <a:srgbClr val="060606"/>
                </a:solidFill>
                <a:latin typeface="Helvetica"/>
              </a:rPr>
              <a:t>Implication pour le FPPN.</a:t>
            </a:r>
            <a:r>
              <a:rPr sz="1400" b="0">
                <a:solidFill>
                  <a:srgbClr val="060606"/>
                </a:solidFill>
                <a:latin typeface="Helvetica"/>
              </a:rPr>
              <a:t> Le règlement n° 07/2009 prévoit le retrait d'agrément après deux exercices de non-respect des règles prudentielles (art. 84). Plusieurs ratios sont non conformes plusieurs années de suite : un plan de mise en conformité doit être préparé.</a:t>
            </a:r>
          </a:p>
        </p:txBody>
      </p:sp>
      <p:sp>
        <p:nvSpPr>
          <p:cNvPr id="34" name="TextBox 33"/>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UEMOA : Union économique et monétaire ouest-africaine</a:t>
            </a:r>
          </a:p>
        </p:txBody>
      </p:sp>
    </p:spTree>
    <p:extLst>
      <p:ext uri="{BB962C8B-B14F-4D97-AF65-F5344CB8AC3E}">
        <p14:creationId xmlns:p14="http://schemas.microsoft.com/office/powerpoint/2010/main" val="639599885"/>
      </p:ext>
    </p:extLst>
  </p:cSld>
  <p:clrMapOvr>
    <a:masterClrMapping/>
  </p:clrMapOvr>
  <p:transition>
    <p:fad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4">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19" name="ZoneTexte 18">
            <a:extLst>
              <a:ext uri="{FF2B5EF4-FFF2-40B4-BE49-F238E27FC236}">
                <a16:creationId xmlns:a16="http://schemas.microsoft.com/office/drawing/2014/main" id="{C6E7D94B-8E49-C846-A392-87DFA5EF4A9D}"/>
              </a:ext>
            </a:extLst>
          </p:cNvPr>
          <p:cNvSpPr txBox="1"/>
          <p:nvPr/>
        </p:nvSpPr>
        <p:spPr>
          <a:xfrm>
            <a:off x="222607" y="6396590"/>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graphicFrame>
        <p:nvGraphicFramePr>
          <p:cNvPr id="3" name="Object 2" hidden="1"/>
          <p:cNvGraphicFramePr>
            <a:graphicFrameLocks noChangeAspect="1"/>
          </p:cNvGraphicFramePr>
          <p:nvPr>
            <p:custDataLst>
              <p:tags r:id="rId1"/>
            </p:custDataLst>
          </p:nvPr>
        </p:nvGraphicFramePr>
        <p:xfrm>
          <a:off x="2258716" y="1350000"/>
          <a:ext cx="1325" cy="1325"/>
        </p:xfrm>
        <a:graphic>
          <a:graphicData uri="http://schemas.openxmlformats.org/presentationml/2006/ole">
            <mc:AlternateContent xmlns:mc="http://schemas.openxmlformats.org/markup-compatibility/2006">
              <mc:Choice xmlns:v="urn:schemas-microsoft-com:vml" Requires="v">
                <p:oleObj name="think-cell Slide" r:id="rId5" imgW="270" imgH="270" progId="TCLayout.ActiveDocument.1">
                  <p:embed/>
                </p:oleObj>
              </mc:Choice>
              <mc:Fallback>
                <p:oleObj name="think-cell Slide" r:id="rId5" imgW="270" imgH="270" progId="TCLayout.ActiveDocument.1">
                  <p:embed/>
                  <p:pic>
                    <p:nvPicPr>
                      <p:cNvPr id="27" name="Object 2" hidden="1"/>
                      <p:cNvPicPr/>
                      <p:nvPr/>
                    </p:nvPicPr>
                    <p:blipFill>
                      <a:blip r:embed="rId6"/>
                      <a:stretch>
                        <a:fillRect/>
                      </a:stretch>
                    </p:blipFill>
                    <p:spPr>
                      <a:xfrm>
                        <a:off x="1525589" y="1589"/>
                        <a:ext cx="1587" cy="1587"/>
                      </a:xfrm>
                      <a:prstGeom prst="rect">
                        <a:avLst/>
                      </a:prstGeom>
                    </p:spPr>
                  </p:pic>
                </p:oleObj>
              </mc:Fallback>
            </mc:AlternateContent>
          </a:graphicData>
        </a:graphic>
      </p:graphicFrame>
      <p:graphicFrame>
        <p:nvGraphicFramePr>
          <p:cNvPr id="13" name="Chart Placeholder 15"/>
          <p:cNvGraphicFramePr>
            <a:graphicFrameLocks/>
          </p:cNvGraphicFramePr>
          <p:nvPr>
            <p:extLst>
              <p:ext uri="{D42A27DB-BD31-4B8C-83A1-F6EECF244321}">
                <p14:modId xmlns:p14="http://schemas.microsoft.com/office/powerpoint/2010/main" val="2929624729"/>
              </p:ext>
            </p:extLst>
          </p:nvPr>
        </p:nvGraphicFramePr>
        <p:xfrm>
          <a:off x="3743620" y="1584000"/>
          <a:ext cx="2231044" cy="2664000"/>
        </p:xfrm>
        <a:graphic>
          <a:graphicData uri="http://schemas.openxmlformats.org/drawingml/2006/chart">
            <c:chart xmlns:c="http://schemas.openxmlformats.org/drawingml/2006/chart" xmlns:r="http://schemas.openxmlformats.org/officeDocument/2006/relationships" r:id="rId7"/>
          </a:graphicData>
        </a:graphic>
      </p:graphicFrame>
      <p:graphicFrame>
        <p:nvGraphicFramePr>
          <p:cNvPr id="14" name="Chart Placeholder 15"/>
          <p:cNvGraphicFramePr>
            <a:graphicFrameLocks/>
          </p:cNvGraphicFramePr>
          <p:nvPr>
            <p:extLst>
              <p:ext uri="{D42A27DB-BD31-4B8C-83A1-F6EECF244321}">
                <p14:modId xmlns:p14="http://schemas.microsoft.com/office/powerpoint/2010/main" val="153666400"/>
              </p:ext>
            </p:extLst>
          </p:nvPr>
        </p:nvGraphicFramePr>
        <p:xfrm>
          <a:off x="1260936" y="1584000"/>
          <a:ext cx="2232370" cy="2664000"/>
        </p:xfrm>
        <a:graphic>
          <a:graphicData uri="http://schemas.openxmlformats.org/drawingml/2006/chart">
            <c:chart xmlns:c="http://schemas.openxmlformats.org/drawingml/2006/chart" xmlns:r="http://schemas.openxmlformats.org/officeDocument/2006/relationships" r:id="rId8"/>
          </a:graphicData>
        </a:graphic>
      </p:graphicFrame>
      <p:pic>
        <p:nvPicPr>
          <p:cNvPr id="16" name="Image 15"/>
          <p:cNvPicPr>
            <a:picLocks noChangeAspect="1"/>
          </p:cNvPicPr>
          <p:nvPr/>
        </p:nvPicPr>
        <p:blipFill>
          <a:blip r:embed="rId9" cstate="print">
            <a:extLst>
              <a:ext uri="{28A0092B-C50C-407E-A947-70E740481C1C}">
                <a14:useLocalDpi xmlns:a14="http://schemas.microsoft.com/office/drawing/2010/main" val="0"/>
              </a:ext>
            </a:extLst>
          </a:blip>
          <a:stretch>
            <a:fillRect/>
          </a:stretch>
        </p:blipFill>
        <p:spPr>
          <a:xfrm>
            <a:off x="2068918" y="2277791"/>
            <a:ext cx="616405" cy="616405"/>
          </a:xfrm>
          <a:prstGeom prst="rect">
            <a:avLst/>
          </a:prstGeom>
        </p:spPr>
      </p:pic>
      <p:pic>
        <p:nvPicPr>
          <p:cNvPr id="17" name="Image 16"/>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4462040" y="2195176"/>
            <a:ext cx="794203" cy="803437"/>
          </a:xfrm>
          <a:prstGeom prst="rect">
            <a:avLst/>
          </a:prstGeom>
        </p:spPr>
      </p:pic>
      <p:graphicFrame>
        <p:nvGraphicFramePr>
          <p:cNvPr id="18" name="Chart Placeholder 15"/>
          <p:cNvGraphicFramePr>
            <a:graphicFrameLocks/>
          </p:cNvGraphicFramePr>
          <p:nvPr>
            <p:extLst>
              <p:ext uri="{D42A27DB-BD31-4B8C-83A1-F6EECF244321}">
                <p14:modId xmlns:p14="http://schemas.microsoft.com/office/powerpoint/2010/main" val="4022307174"/>
              </p:ext>
            </p:extLst>
          </p:nvPr>
        </p:nvGraphicFramePr>
        <p:xfrm>
          <a:off x="8456022" y="1584000"/>
          <a:ext cx="2223091" cy="2664000"/>
        </p:xfrm>
        <a:graphic>
          <a:graphicData uri="http://schemas.openxmlformats.org/drawingml/2006/chart">
            <c:chart xmlns:c="http://schemas.openxmlformats.org/drawingml/2006/chart" xmlns:r="http://schemas.openxmlformats.org/officeDocument/2006/relationships" r:id="rId11"/>
          </a:graphicData>
        </a:graphic>
      </p:graphicFrame>
      <p:graphicFrame>
        <p:nvGraphicFramePr>
          <p:cNvPr id="21" name="Chart Placeholder 15"/>
          <p:cNvGraphicFramePr>
            <a:graphicFrameLocks/>
          </p:cNvGraphicFramePr>
          <p:nvPr>
            <p:extLst>
              <p:ext uri="{D42A27DB-BD31-4B8C-83A1-F6EECF244321}">
                <p14:modId xmlns:p14="http://schemas.microsoft.com/office/powerpoint/2010/main" val="3635906843"/>
              </p:ext>
            </p:extLst>
          </p:nvPr>
        </p:nvGraphicFramePr>
        <p:xfrm>
          <a:off x="6103797" y="1584000"/>
          <a:ext cx="2223091" cy="2664000"/>
        </p:xfrm>
        <a:graphic>
          <a:graphicData uri="http://schemas.openxmlformats.org/drawingml/2006/chart">
            <c:chart xmlns:c="http://schemas.openxmlformats.org/drawingml/2006/chart" xmlns:r="http://schemas.openxmlformats.org/officeDocument/2006/relationships" r:id="rId12"/>
          </a:graphicData>
        </a:graphic>
      </p:graphicFrame>
      <p:pic>
        <p:nvPicPr>
          <p:cNvPr id="24" name="Image 23"/>
          <p:cNvPicPr>
            <a:picLocks noChangeAspect="1"/>
          </p:cNvPicPr>
          <p:nvPr/>
        </p:nvPicPr>
        <p:blipFill>
          <a:blip r:embed="rId13" cstate="print">
            <a:extLst>
              <a:ext uri="{28A0092B-C50C-407E-A947-70E740481C1C}">
                <a14:useLocalDpi xmlns:a14="http://schemas.microsoft.com/office/drawing/2010/main" val="0"/>
              </a:ext>
            </a:extLst>
          </a:blip>
          <a:stretch>
            <a:fillRect/>
          </a:stretch>
        </p:blipFill>
        <p:spPr>
          <a:xfrm>
            <a:off x="6896238" y="2277791"/>
            <a:ext cx="638209" cy="638209"/>
          </a:xfrm>
          <a:prstGeom prst="rect">
            <a:avLst/>
          </a:prstGeom>
        </p:spPr>
      </p:pic>
      <p:pic>
        <p:nvPicPr>
          <p:cNvPr id="26" name="Image 25"/>
          <p:cNvPicPr>
            <a:picLocks noChangeAspect="1"/>
          </p:cNvPicPr>
          <p:nvPr/>
        </p:nvPicPr>
        <p:blipFill>
          <a:blip r:embed="rId14" cstate="print">
            <a:extLst>
              <a:ext uri="{28A0092B-C50C-407E-A947-70E740481C1C}">
                <a14:useLocalDpi xmlns:a14="http://schemas.microsoft.com/office/drawing/2010/main" val="0"/>
              </a:ext>
            </a:extLst>
          </a:blip>
          <a:stretch>
            <a:fillRect/>
          </a:stretch>
        </p:blipFill>
        <p:spPr>
          <a:xfrm>
            <a:off x="9192169" y="2195176"/>
            <a:ext cx="703522" cy="718817"/>
          </a:xfrm>
          <a:prstGeom prst="rect">
            <a:avLst/>
          </a:prstGeom>
        </p:spPr>
      </p:pic>
      <p:sp>
        <p:nvSpPr>
          <p:cNvPr id="28"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Quatre taux à surveiller</a:t>
            </a:r>
          </a:p>
        </p:txBody>
      </p:sp>
      <p:sp>
        <p:nvSpPr>
          <p:cNvPr id="29"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Une faible part des engagements est couverte par des ressources disponibles</a:t>
            </a:r>
          </a:p>
        </p:txBody>
      </p:sp>
      <p:sp>
        <p:nvSpPr>
          <p:cNvPr id="30"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Couverture de l'épargne, sinistralité, trésorerie rapportée à l'épargne et prêts en retard de plus de 30 jours</a:t>
            </a:r>
          </a:p>
        </p:txBody>
      </p:sp>
      <p:sp>
        <p:nvSpPr>
          <p:cNvPr id="31"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balances des comptes du FPPN (Sage 100), exercices 2020 à 2025 et du 01/01 au 31/08/2026 (provisoire). Traitements Adenka. Exports du logiciel de prêts du Grenier du Policier (balances âgées, production) reçus le 15/10/2026. Traitements Adenka</a:t>
            </a:r>
          </a:p>
        </p:txBody>
      </p:sp>
      <p:sp>
        <p:nvSpPr>
          <p:cNvPr id="32" name="TextBox 31"/>
          <p:cNvSpPr txBox="1"/>
          <p:nvPr/>
        </p:nvSpPr>
        <p:spPr>
          <a:xfrm>
            <a:off x="1152936" y="4266000"/>
            <a:ext cx="2448370" cy="324000"/>
          </a:xfrm>
          <a:prstGeom prst="rect">
            <a:avLst/>
          </a:prstGeom>
          <a:noFill/>
        </p:spPr>
        <p:txBody>
          <a:bodyPr wrap="square" anchor="t" lIns="54000" rIns="54000"/>
          <a:lstStyle/>
          <a:p>
            <a:pPr algn="ctr"/>
            <a:r>
              <a:rPr sz="2000" b="1">
                <a:solidFill>
                  <a:srgbClr val="112A40"/>
                </a:solidFill>
                <a:latin typeface="Helvetica"/>
              </a:rPr>
              <a:t>16,28 %</a:t>
            </a:r>
          </a:p>
        </p:txBody>
      </p:sp>
      <p:sp>
        <p:nvSpPr>
          <p:cNvPr id="33" name="TextBox 32"/>
          <p:cNvSpPr txBox="1"/>
          <p:nvPr/>
        </p:nvSpPr>
        <p:spPr>
          <a:xfrm>
            <a:off x="1152936" y="4572000"/>
            <a:ext cx="2448370" cy="576000"/>
          </a:xfrm>
          <a:prstGeom prst="rect">
            <a:avLst/>
          </a:prstGeom>
          <a:noFill/>
        </p:spPr>
        <p:txBody>
          <a:bodyPr wrap="square" anchor="t" lIns="54000" rIns="54000"/>
          <a:lstStyle/>
          <a:p>
            <a:pPr algn="ctr"/>
            <a:r>
              <a:rPr sz="1100" b="0">
                <a:solidFill>
                  <a:srgbClr val="060606"/>
                </a:solidFill>
                <a:latin typeface="Helvetica"/>
              </a:rPr>
              <a:t>Épargne couverte par des actifs réservés (31/08/2026)</a:t>
            </a:r>
          </a:p>
        </p:txBody>
      </p:sp>
      <p:sp>
        <p:nvSpPr>
          <p:cNvPr id="34" name="TextBox 33"/>
          <p:cNvSpPr txBox="1"/>
          <p:nvPr/>
        </p:nvSpPr>
        <p:spPr>
          <a:xfrm>
            <a:off x="3635619" y="4266000"/>
            <a:ext cx="2447043" cy="324000"/>
          </a:xfrm>
          <a:prstGeom prst="rect">
            <a:avLst/>
          </a:prstGeom>
          <a:noFill/>
        </p:spPr>
        <p:txBody>
          <a:bodyPr wrap="square" anchor="t" lIns="54000" rIns="54000"/>
          <a:lstStyle/>
          <a:p>
            <a:pPr algn="ctr"/>
            <a:r>
              <a:rPr sz="2000" b="1">
                <a:solidFill>
                  <a:srgbClr val="112A40"/>
                </a:solidFill>
                <a:latin typeface="Helvetica"/>
              </a:rPr>
              <a:t>73,53 %</a:t>
            </a:r>
          </a:p>
        </p:txBody>
      </p:sp>
      <p:sp>
        <p:nvSpPr>
          <p:cNvPr id="35" name="TextBox 34"/>
          <p:cNvSpPr txBox="1"/>
          <p:nvPr/>
        </p:nvSpPr>
        <p:spPr>
          <a:xfrm>
            <a:off x="3635619" y="4572000"/>
            <a:ext cx="2447043" cy="576000"/>
          </a:xfrm>
          <a:prstGeom prst="rect">
            <a:avLst/>
          </a:prstGeom>
          <a:noFill/>
        </p:spPr>
        <p:txBody>
          <a:bodyPr wrap="square" anchor="t" lIns="54000" rIns="54000"/>
          <a:lstStyle/>
          <a:p>
            <a:pPr algn="ctr"/>
            <a:r>
              <a:rPr sz="1100" b="0">
                <a:solidFill>
                  <a:srgbClr val="060606"/>
                </a:solidFill>
                <a:latin typeface="Helvetica"/>
              </a:rPr>
              <a:t>Sinistralité maladie (S/C 2025)</a:t>
            </a:r>
          </a:p>
        </p:txBody>
      </p:sp>
      <p:sp>
        <p:nvSpPr>
          <p:cNvPr id="36" name="TextBox 35"/>
          <p:cNvSpPr txBox="1"/>
          <p:nvPr/>
        </p:nvSpPr>
        <p:spPr>
          <a:xfrm>
            <a:off x="5995797" y="4266000"/>
            <a:ext cx="2439091" cy="324000"/>
          </a:xfrm>
          <a:prstGeom prst="rect">
            <a:avLst/>
          </a:prstGeom>
          <a:noFill/>
        </p:spPr>
        <p:txBody>
          <a:bodyPr wrap="square" anchor="t" lIns="54000" rIns="54000"/>
          <a:lstStyle/>
          <a:p>
            <a:pPr algn="ctr"/>
            <a:r>
              <a:rPr sz="2000" b="1">
                <a:solidFill>
                  <a:srgbClr val="112A40"/>
                </a:solidFill>
                <a:latin typeface="Helvetica"/>
              </a:rPr>
              <a:t>21,34 %</a:t>
            </a:r>
          </a:p>
        </p:txBody>
      </p:sp>
      <p:sp>
        <p:nvSpPr>
          <p:cNvPr id="37" name="TextBox 36"/>
          <p:cNvSpPr txBox="1"/>
          <p:nvPr/>
        </p:nvSpPr>
        <p:spPr>
          <a:xfrm>
            <a:off x="5995797" y="4572000"/>
            <a:ext cx="2439091" cy="576000"/>
          </a:xfrm>
          <a:prstGeom prst="rect">
            <a:avLst/>
          </a:prstGeom>
          <a:noFill/>
        </p:spPr>
        <p:txBody>
          <a:bodyPr wrap="square" anchor="t" lIns="54000" rIns="54000"/>
          <a:lstStyle/>
          <a:p>
            <a:pPr algn="ctr"/>
            <a:r>
              <a:rPr sz="1100" b="0">
                <a:solidFill>
                  <a:srgbClr val="060606"/>
                </a:solidFill>
                <a:latin typeface="Helvetica"/>
              </a:rPr>
              <a:t>Trésorerie totale / épargne due (31/08/2026)</a:t>
            </a:r>
          </a:p>
        </p:txBody>
      </p:sp>
      <p:sp>
        <p:nvSpPr>
          <p:cNvPr id="38" name="TextBox 37"/>
          <p:cNvSpPr txBox="1"/>
          <p:nvPr/>
        </p:nvSpPr>
        <p:spPr>
          <a:xfrm>
            <a:off x="8348021" y="4266000"/>
            <a:ext cx="2439091" cy="324000"/>
          </a:xfrm>
          <a:prstGeom prst="rect">
            <a:avLst/>
          </a:prstGeom>
          <a:noFill/>
        </p:spPr>
        <p:txBody>
          <a:bodyPr wrap="square" anchor="t" lIns="54000" rIns="54000"/>
          <a:lstStyle/>
          <a:p>
            <a:pPr algn="ctr"/>
            <a:r>
              <a:rPr sz="2000" b="1">
                <a:solidFill>
                  <a:srgbClr val="112A40"/>
                </a:solidFill>
                <a:latin typeface="Helvetica"/>
              </a:rPr>
              <a:t>5,07 %</a:t>
            </a:r>
          </a:p>
        </p:txBody>
      </p:sp>
      <p:sp>
        <p:nvSpPr>
          <p:cNvPr id="39" name="TextBox 38"/>
          <p:cNvSpPr txBox="1"/>
          <p:nvPr/>
        </p:nvSpPr>
        <p:spPr>
          <a:xfrm>
            <a:off x="8348021" y="4572000"/>
            <a:ext cx="2439091" cy="576000"/>
          </a:xfrm>
          <a:prstGeom prst="rect">
            <a:avLst/>
          </a:prstGeom>
          <a:noFill/>
        </p:spPr>
        <p:txBody>
          <a:bodyPr wrap="square" anchor="t" lIns="54000" rIns="54000"/>
          <a:lstStyle/>
          <a:p>
            <a:pPr algn="ctr"/>
            <a:r>
              <a:rPr sz="1100" b="0">
                <a:solidFill>
                  <a:srgbClr val="060606"/>
                </a:solidFill>
                <a:latin typeface="Helvetica"/>
              </a:rPr>
              <a:t>Prêts en retard de plus de 30 jours (en nombre, 31/08/2026)</a:t>
            </a:r>
          </a:p>
        </p:txBody>
      </p:sp>
      <p:sp>
        <p:nvSpPr>
          <p:cNvPr id="40" name="TextBox 39"/>
          <p:cNvSpPr txBox="1"/>
          <p:nvPr/>
        </p:nvSpPr>
        <p:spPr>
          <a:xfrm>
            <a:off x="503999" y="5166000"/>
            <a:ext cx="11232000" cy="702000"/>
          </a:xfrm>
          <a:prstGeom prst="rect">
            <a:avLst/>
          </a:prstGeom>
          <a:noFill/>
        </p:spPr>
        <p:txBody>
          <a:bodyPr wrap="square" lIns="54000" rIns="54000"/>
          <a:lstStyle/>
          <a:p>
            <a:pPr algn="just">
              <a:spcAft>
                <a:spcPts val="600"/>
              </a:spcAft>
            </a:pPr>
            <a:r>
              <a:rPr sz="1300" b="1">
                <a:solidFill>
                  <a:srgbClr val="060606"/>
                </a:solidFill>
                <a:latin typeface="Helvetica"/>
              </a:rPr>
              <a:t>Trois anneaux sur quatre montrent une couverture faible des engagements.</a:t>
            </a:r>
            <a:r>
              <a:rPr sz="1300" b="0">
                <a:solidFill>
                  <a:srgbClr val="060606"/>
                </a:solidFill>
                <a:latin typeface="Helvetica"/>
              </a:rPr>
              <a:t> La trésorerie de toutes les banques ne rembourserait qu'environ un cinquième de l'épargne due. Implication : en cas de retraits importants, le FPPN doit céder ou mobiliser des actifs peu liquides.</a:t>
            </a:r>
          </a:p>
        </p:txBody>
      </p:sp>
      <p:sp>
        <p:nvSpPr>
          <p:cNvPr id="41" name="TextBox 40"/>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S/C : prestations / cotisations</a:t>
            </a:r>
          </a:p>
        </p:txBody>
      </p:sp>
    </p:spTree>
    <p:extLst>
      <p:ext uri="{BB962C8B-B14F-4D97-AF65-F5344CB8AC3E}">
        <p14:creationId xmlns:p14="http://schemas.microsoft.com/office/powerpoint/2010/main" val="1840653097"/>
      </p:ext>
    </p:extLst>
  </p:cSld>
  <p:clrMapOvr>
    <a:masterClrMapping/>
  </p:clrMapOvr>
  <p:transition>
    <p:fade/>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9214"/>
        <p:cNvGrpSpPr/>
        <p:nvPr/>
      </p:nvGrpSpPr>
      <p:grpSpPr>
        <a:xfrm>
          <a:off x="0" y="0"/>
          <a:ext cx="0" cy="0"/>
          <a:chOff x="0" y="0"/>
          <a:chExt cx="0" cy="0"/>
        </a:xfrm>
      </p:grpSpPr>
      <p:pic>
        <p:nvPicPr>
          <p:cNvPr id="34" name="Image 33"/>
          <p:cNvPicPr>
            <a:picLocks noChangeAspect="1"/>
          </p:cNvPicPr>
          <p:nvPr/>
        </p:nvPicPr>
        <p:blipFill rotWithShape="1">
          <a:blip r:embed="rId3">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32" name="ZoneTexte 31">
            <a:extLst>
              <a:ext uri="{FF2B5EF4-FFF2-40B4-BE49-F238E27FC236}">
                <a16:creationId xmlns:a16="http://schemas.microsoft.com/office/drawing/2014/main" id="{C6E7D94B-8E49-C846-A392-87DFA5EF4A9D}"/>
              </a:ext>
            </a:extLst>
          </p:cNvPr>
          <p:cNvSpPr txBox="1"/>
          <p:nvPr/>
        </p:nvSpPr>
        <p:spPr>
          <a:xfrm>
            <a:off x="222607" y="6396590"/>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9217" name="Google Shape;9217;p112"/>
          <p:cNvSpPr txBox="1"/>
          <p:nvPr/>
        </p:nvSpPr>
        <p:spPr>
          <a:xfrm>
            <a:off x="894942" y="1427513"/>
            <a:ext cx="1792400" cy="694800"/>
          </a:xfrm>
          <a:prstGeom prst="rect">
            <a:avLst/>
          </a:prstGeom>
          <a:noFill/>
          <a:ln>
            <a:noFill/>
          </a:ln>
        </p:spPr>
        <p:txBody>
          <a:bodyPr spcFirstLastPara="1" wrap="square" lIns="121900" tIns="121900" rIns="121900" bIns="121900" anchor="ctr" anchorCtr="0">
            <a:noAutofit/>
          </a:bodyPr>
          <a:lstStyle/>
          <a:p>
            <a:pPr algn="ctr">
              <a:lnSpc>
                <a:spcPct val="120000"/>
              </a:lnSpc>
              <a:spcAft>
                <a:spcPts val="533"/>
              </a:spcAft>
            </a:pPr>
            <a:r>
              <a:rPr lang="fr-CI" b="1" noProof="0">
                <a:solidFill>
                  <a:srgbClr val="EFAC62"/>
                </a:solidFill>
                <a:latin typeface="Helvetica" panose="020B0604020202020204" pitchFamily="34" charset="0"/>
                <a:ea typeface="Antonio"/>
                <a:cs typeface="Helvetica" panose="020B0604020202020204" pitchFamily="34" charset="0"/>
                <a:sym typeface="Antonio"/>
              </a:rPr>
              <a:t>CAUSE 1</a:t>
            </a:r>
          </a:p>
        </p:txBody>
      </p:sp>
      <p:sp>
        <p:nvSpPr>
          <p:cNvPr id="9218" name="Google Shape;9218;p112"/>
          <p:cNvSpPr txBox="1"/>
          <p:nvPr/>
        </p:nvSpPr>
        <p:spPr>
          <a:xfrm>
            <a:off x="805834" y="1978279"/>
            <a:ext cx="1881508" cy="1122400"/>
          </a:xfrm>
          <a:prstGeom prst="rect">
            <a:avLst/>
          </a:prstGeom>
          <a:noFill/>
          <a:ln>
            <a:noFill/>
          </a:ln>
        </p:spPr>
        <p:txBody>
          <a:bodyPr spcFirstLastPara="1" wrap="square" lIns="121900" tIns="121900" rIns="121900" bIns="121900" anchor="t" anchorCtr="0">
            <a:noAutofit/>
          </a:bodyPr>
          <a:lstStyle/>
          <a:p>
            <a:pPr algn="ctr"/>
            <a:r>
              <a:rPr lang="fr-CI" noProof="0">
                <a:solidFill>
                  <a:srgbClr val="060606"/>
                </a:solidFill>
                <a:latin typeface="Helvetica" panose="020B0604020202020204" pitchFamily="34" charset="0"/>
                <a:cs typeface="Helvetica" panose="020B0604020202020204" pitchFamily="34" charset="0"/>
              </a:rPr>
              <a:t>Pas de base de prestations ni de dates de naissance</a:t>
            </a:r>
            <a:endParaRPr lang="fr-CI" noProof="0">
              <a:solidFill>
                <a:srgbClr val="060606"/>
              </a:solidFill>
              <a:latin typeface="Helvetica" panose="020B0604020202020204" pitchFamily="34" charset="0"/>
              <a:ea typeface="Barlow"/>
              <a:cs typeface="Helvetica" panose="020B0604020202020204" pitchFamily="34" charset="0"/>
              <a:sym typeface="Barlow"/>
            </a:endParaRPr>
          </a:p>
        </p:txBody>
      </p:sp>
      <p:sp>
        <p:nvSpPr>
          <p:cNvPr id="9220" name="Google Shape;9220;p112"/>
          <p:cNvSpPr txBox="1"/>
          <p:nvPr/>
        </p:nvSpPr>
        <p:spPr>
          <a:xfrm>
            <a:off x="2914550" y="1427513"/>
            <a:ext cx="1792400" cy="694800"/>
          </a:xfrm>
          <a:prstGeom prst="rect">
            <a:avLst/>
          </a:prstGeom>
          <a:noFill/>
          <a:ln>
            <a:noFill/>
          </a:ln>
        </p:spPr>
        <p:txBody>
          <a:bodyPr spcFirstLastPara="1" wrap="square" lIns="121900" tIns="121900" rIns="121900" bIns="121900" anchor="ctr" anchorCtr="0">
            <a:noAutofit/>
          </a:bodyPr>
          <a:lstStyle/>
          <a:p>
            <a:pPr algn="ctr">
              <a:lnSpc>
                <a:spcPct val="120000"/>
              </a:lnSpc>
              <a:spcAft>
                <a:spcPts val="533"/>
              </a:spcAft>
            </a:pPr>
            <a:r>
              <a:rPr lang="fr-CI" b="1" noProof="0">
                <a:solidFill>
                  <a:srgbClr val="EFAC62"/>
                </a:solidFill>
                <a:latin typeface="Helvetica" panose="020B0604020202020204" pitchFamily="34" charset="0"/>
                <a:ea typeface="Antonio"/>
                <a:cs typeface="Helvetica" panose="020B0604020202020204" pitchFamily="34" charset="0"/>
                <a:sym typeface="Antonio"/>
              </a:rPr>
              <a:t>CAUSE 2</a:t>
            </a:r>
          </a:p>
        </p:txBody>
      </p:sp>
      <p:sp>
        <p:nvSpPr>
          <p:cNvPr id="9222" name="Google Shape;9222;p112"/>
          <p:cNvSpPr txBox="1"/>
          <p:nvPr/>
        </p:nvSpPr>
        <p:spPr>
          <a:xfrm>
            <a:off x="805734" y="4723013"/>
            <a:ext cx="1792400" cy="694800"/>
          </a:xfrm>
          <a:prstGeom prst="rect">
            <a:avLst/>
          </a:prstGeom>
          <a:noFill/>
          <a:ln>
            <a:noFill/>
          </a:ln>
        </p:spPr>
        <p:txBody>
          <a:bodyPr spcFirstLastPara="1" wrap="square" lIns="121900" tIns="121900" rIns="121900" bIns="121900" anchor="ctr" anchorCtr="0">
            <a:noAutofit/>
          </a:bodyPr>
          <a:lstStyle/>
          <a:p>
            <a:pPr algn="ctr">
              <a:lnSpc>
                <a:spcPct val="120000"/>
              </a:lnSpc>
              <a:spcAft>
                <a:spcPts val="533"/>
              </a:spcAft>
            </a:pPr>
            <a:r>
              <a:rPr lang="fr-CI" b="1" noProof="0">
                <a:solidFill>
                  <a:srgbClr val="EFAC62"/>
                </a:solidFill>
                <a:latin typeface="Helvetica" panose="020B0604020202020204" pitchFamily="34" charset="0"/>
                <a:ea typeface="Antonio"/>
                <a:cs typeface="Helvetica" panose="020B0604020202020204" pitchFamily="34" charset="0"/>
                <a:sym typeface="Antonio"/>
              </a:rPr>
              <a:t>EFFET 1</a:t>
            </a:r>
          </a:p>
        </p:txBody>
      </p:sp>
      <p:sp>
        <p:nvSpPr>
          <p:cNvPr id="9224" name="Google Shape;9224;p112"/>
          <p:cNvSpPr txBox="1"/>
          <p:nvPr/>
        </p:nvSpPr>
        <p:spPr>
          <a:xfrm>
            <a:off x="2758434" y="4723013"/>
            <a:ext cx="1792400" cy="694800"/>
          </a:xfrm>
          <a:prstGeom prst="rect">
            <a:avLst/>
          </a:prstGeom>
          <a:noFill/>
          <a:ln>
            <a:noFill/>
          </a:ln>
        </p:spPr>
        <p:txBody>
          <a:bodyPr spcFirstLastPara="1" wrap="square" lIns="121900" tIns="121900" rIns="121900" bIns="121900" anchor="ctr" anchorCtr="0">
            <a:noAutofit/>
          </a:bodyPr>
          <a:lstStyle/>
          <a:p>
            <a:pPr algn="ctr">
              <a:lnSpc>
                <a:spcPct val="120000"/>
              </a:lnSpc>
              <a:spcAft>
                <a:spcPts val="533"/>
              </a:spcAft>
            </a:pPr>
            <a:r>
              <a:rPr lang="fr-CI" b="1" noProof="0">
                <a:solidFill>
                  <a:srgbClr val="EFAC62"/>
                </a:solidFill>
                <a:latin typeface="Helvetica" panose="020B0604020202020204" pitchFamily="34" charset="0"/>
                <a:ea typeface="Antonio"/>
                <a:cs typeface="Helvetica" panose="020B0604020202020204" pitchFamily="34" charset="0"/>
                <a:sym typeface="Antonio"/>
              </a:rPr>
              <a:t>EFFET 2</a:t>
            </a:r>
          </a:p>
        </p:txBody>
      </p:sp>
      <p:sp>
        <p:nvSpPr>
          <p:cNvPr id="9226" name="Google Shape;9226;p112"/>
          <p:cNvSpPr txBox="1"/>
          <p:nvPr/>
        </p:nvSpPr>
        <p:spPr>
          <a:xfrm>
            <a:off x="7440342" y="1427513"/>
            <a:ext cx="1792400" cy="694800"/>
          </a:xfrm>
          <a:prstGeom prst="rect">
            <a:avLst/>
          </a:prstGeom>
          <a:noFill/>
          <a:ln>
            <a:noFill/>
          </a:ln>
        </p:spPr>
        <p:txBody>
          <a:bodyPr spcFirstLastPara="1" wrap="square" lIns="121900" tIns="121900" rIns="121900" bIns="121900" anchor="ctr" anchorCtr="0">
            <a:noAutofit/>
          </a:bodyPr>
          <a:lstStyle/>
          <a:p>
            <a:pPr algn="ctr">
              <a:lnSpc>
                <a:spcPct val="120000"/>
              </a:lnSpc>
              <a:spcAft>
                <a:spcPts val="533"/>
              </a:spcAft>
            </a:pPr>
            <a:r>
              <a:rPr lang="fr-CI" b="1" noProof="0">
                <a:solidFill>
                  <a:srgbClr val="EFAC62"/>
                </a:solidFill>
                <a:latin typeface="Helvetica" panose="020B0604020202020204" pitchFamily="34" charset="0"/>
                <a:ea typeface="Antonio"/>
                <a:cs typeface="Helvetica" panose="020B0604020202020204" pitchFamily="34" charset="0"/>
                <a:sym typeface="Antonio"/>
              </a:rPr>
              <a:t>CAUSE 3</a:t>
            </a:r>
          </a:p>
        </p:txBody>
      </p:sp>
      <p:sp>
        <p:nvSpPr>
          <p:cNvPr id="9228" name="Google Shape;9228;p112"/>
          <p:cNvSpPr txBox="1"/>
          <p:nvPr/>
        </p:nvSpPr>
        <p:spPr>
          <a:xfrm>
            <a:off x="9359589" y="1427513"/>
            <a:ext cx="1792400" cy="694800"/>
          </a:xfrm>
          <a:prstGeom prst="rect">
            <a:avLst/>
          </a:prstGeom>
          <a:noFill/>
          <a:ln>
            <a:noFill/>
          </a:ln>
        </p:spPr>
        <p:txBody>
          <a:bodyPr spcFirstLastPara="1" wrap="square" lIns="121900" tIns="121900" rIns="121900" bIns="121900" anchor="ctr" anchorCtr="0">
            <a:noAutofit/>
          </a:bodyPr>
          <a:lstStyle/>
          <a:p>
            <a:pPr algn="ctr">
              <a:lnSpc>
                <a:spcPct val="120000"/>
              </a:lnSpc>
              <a:spcAft>
                <a:spcPts val="533"/>
              </a:spcAft>
            </a:pPr>
            <a:r>
              <a:rPr lang="fr-CI" b="1" noProof="0">
                <a:solidFill>
                  <a:srgbClr val="EFAC62"/>
                </a:solidFill>
                <a:latin typeface="Helvetica" panose="020B0604020202020204" pitchFamily="34" charset="0"/>
                <a:ea typeface="Antonio"/>
                <a:cs typeface="Helvetica" panose="020B0604020202020204" pitchFamily="34" charset="0"/>
                <a:sym typeface="Antonio"/>
              </a:rPr>
              <a:t>CAUSE 4</a:t>
            </a:r>
          </a:p>
        </p:txBody>
      </p:sp>
      <p:sp>
        <p:nvSpPr>
          <p:cNvPr id="9230" name="Google Shape;9230;p112"/>
          <p:cNvSpPr txBox="1"/>
          <p:nvPr/>
        </p:nvSpPr>
        <p:spPr>
          <a:xfrm>
            <a:off x="7351134" y="4723013"/>
            <a:ext cx="1792400" cy="694800"/>
          </a:xfrm>
          <a:prstGeom prst="rect">
            <a:avLst/>
          </a:prstGeom>
          <a:noFill/>
          <a:ln>
            <a:noFill/>
          </a:ln>
        </p:spPr>
        <p:txBody>
          <a:bodyPr spcFirstLastPara="1" wrap="square" lIns="121900" tIns="121900" rIns="121900" bIns="121900" anchor="ctr" anchorCtr="0">
            <a:noAutofit/>
          </a:bodyPr>
          <a:lstStyle/>
          <a:p>
            <a:pPr algn="ctr">
              <a:lnSpc>
                <a:spcPct val="120000"/>
              </a:lnSpc>
              <a:spcAft>
                <a:spcPts val="533"/>
              </a:spcAft>
            </a:pPr>
            <a:r>
              <a:rPr lang="fr-CI" b="1" noProof="0">
                <a:solidFill>
                  <a:srgbClr val="EFAC62"/>
                </a:solidFill>
                <a:latin typeface="Helvetica" panose="020B0604020202020204" pitchFamily="34" charset="0"/>
                <a:ea typeface="Antonio"/>
                <a:cs typeface="Helvetica" panose="020B0604020202020204" pitchFamily="34" charset="0"/>
                <a:sym typeface="Antonio"/>
              </a:rPr>
              <a:t>EFFET 3</a:t>
            </a:r>
          </a:p>
        </p:txBody>
      </p:sp>
      <p:sp>
        <p:nvSpPr>
          <p:cNvPr id="9232" name="Google Shape;9232;p112"/>
          <p:cNvSpPr txBox="1"/>
          <p:nvPr/>
        </p:nvSpPr>
        <p:spPr>
          <a:xfrm>
            <a:off x="9303834" y="4723013"/>
            <a:ext cx="1792400" cy="694800"/>
          </a:xfrm>
          <a:prstGeom prst="rect">
            <a:avLst/>
          </a:prstGeom>
          <a:noFill/>
          <a:ln>
            <a:noFill/>
          </a:ln>
        </p:spPr>
        <p:txBody>
          <a:bodyPr spcFirstLastPara="1" wrap="square" lIns="121900" tIns="121900" rIns="121900" bIns="121900" anchor="ctr" anchorCtr="0">
            <a:noAutofit/>
          </a:bodyPr>
          <a:lstStyle/>
          <a:p>
            <a:pPr algn="ctr">
              <a:lnSpc>
                <a:spcPct val="120000"/>
              </a:lnSpc>
              <a:spcAft>
                <a:spcPts val="533"/>
              </a:spcAft>
            </a:pPr>
            <a:r>
              <a:rPr lang="fr-CI" b="1" noProof="0">
                <a:solidFill>
                  <a:srgbClr val="EFAC62"/>
                </a:solidFill>
                <a:latin typeface="Helvetica" panose="020B0604020202020204" pitchFamily="34" charset="0"/>
                <a:ea typeface="Antonio"/>
                <a:cs typeface="Helvetica" panose="020B0604020202020204" pitchFamily="34" charset="0"/>
                <a:sym typeface="Antonio"/>
              </a:rPr>
              <a:t>EFFET 4</a:t>
            </a:r>
          </a:p>
        </p:txBody>
      </p:sp>
      <p:sp>
        <p:nvSpPr>
          <p:cNvPr id="97" name="Google Shape;9218;p112"/>
          <p:cNvSpPr txBox="1"/>
          <p:nvPr/>
        </p:nvSpPr>
        <p:spPr>
          <a:xfrm>
            <a:off x="2862877" y="1998709"/>
            <a:ext cx="1881508" cy="1122400"/>
          </a:xfrm>
          <a:prstGeom prst="rect">
            <a:avLst/>
          </a:prstGeom>
          <a:noFill/>
          <a:ln>
            <a:noFill/>
          </a:ln>
        </p:spPr>
        <p:txBody>
          <a:bodyPr spcFirstLastPara="1" wrap="square" lIns="121900" tIns="121900" rIns="121900" bIns="121900" anchor="t" anchorCtr="0">
            <a:noAutofit/>
          </a:bodyPr>
          <a:lstStyle/>
          <a:p>
            <a:pPr algn="ctr"/>
            <a:r>
              <a:rPr lang="fr-CI" noProof="0">
                <a:solidFill>
                  <a:srgbClr val="060606"/>
                </a:solidFill>
                <a:latin typeface="Helvetica" panose="020B0604020202020204" pitchFamily="34" charset="0"/>
                <a:cs typeface="Helvetica" panose="020B0604020202020204" pitchFamily="34" charset="0"/>
              </a:rPr>
              <a:t>Provisions jamais recalculées</a:t>
            </a:r>
            <a:endParaRPr lang="fr-CI" noProof="0">
              <a:solidFill>
                <a:srgbClr val="060606"/>
              </a:solidFill>
              <a:latin typeface="Helvetica" panose="020B0604020202020204" pitchFamily="34" charset="0"/>
              <a:ea typeface="Barlow"/>
              <a:cs typeface="Helvetica" panose="020B0604020202020204" pitchFamily="34" charset="0"/>
              <a:sym typeface="Barlow"/>
            </a:endParaRPr>
          </a:p>
        </p:txBody>
      </p:sp>
      <p:sp>
        <p:nvSpPr>
          <p:cNvPr id="98" name="Google Shape;9218;p112"/>
          <p:cNvSpPr txBox="1"/>
          <p:nvPr/>
        </p:nvSpPr>
        <p:spPr>
          <a:xfrm>
            <a:off x="7408766" y="2018006"/>
            <a:ext cx="1881508" cy="1122400"/>
          </a:xfrm>
          <a:prstGeom prst="rect">
            <a:avLst/>
          </a:prstGeom>
          <a:noFill/>
          <a:ln>
            <a:noFill/>
          </a:ln>
        </p:spPr>
        <p:txBody>
          <a:bodyPr spcFirstLastPara="1" wrap="square" lIns="121900" tIns="121900" rIns="121900" bIns="121900" anchor="t" anchorCtr="0">
            <a:noAutofit/>
          </a:bodyPr>
          <a:lstStyle/>
          <a:p>
            <a:pPr algn="ctr"/>
            <a:r>
              <a:rPr lang="fr-CI" noProof="0">
                <a:solidFill>
                  <a:srgbClr val="060606"/>
                </a:solidFill>
                <a:latin typeface="Helvetica" panose="020B0604020202020204" pitchFamily="34" charset="0"/>
                <a:cs typeface="Helvetica" panose="020B0604020202020204" pitchFamily="34" charset="0"/>
              </a:rPr>
              <a:t>Épargne utilisée pour d'autres emplois</a:t>
            </a:r>
            <a:endParaRPr lang="fr-CI" noProof="0">
              <a:solidFill>
                <a:srgbClr val="060606"/>
              </a:solidFill>
              <a:latin typeface="Helvetica" panose="020B0604020202020204" pitchFamily="34" charset="0"/>
              <a:ea typeface="Barlow"/>
              <a:cs typeface="Helvetica" panose="020B0604020202020204" pitchFamily="34" charset="0"/>
              <a:sym typeface="Barlow"/>
            </a:endParaRPr>
          </a:p>
        </p:txBody>
      </p:sp>
      <p:sp>
        <p:nvSpPr>
          <p:cNvPr id="99" name="Google Shape;9218;p112"/>
          <p:cNvSpPr txBox="1"/>
          <p:nvPr/>
        </p:nvSpPr>
        <p:spPr>
          <a:xfrm>
            <a:off x="9465809" y="2038436"/>
            <a:ext cx="1881508" cy="1122400"/>
          </a:xfrm>
          <a:prstGeom prst="rect">
            <a:avLst/>
          </a:prstGeom>
          <a:noFill/>
          <a:ln>
            <a:noFill/>
          </a:ln>
        </p:spPr>
        <p:txBody>
          <a:bodyPr spcFirstLastPara="1" wrap="square" lIns="121900" tIns="121900" rIns="121900" bIns="121900" anchor="t" anchorCtr="0">
            <a:noAutofit/>
          </a:bodyPr>
          <a:lstStyle/>
          <a:p>
            <a:pPr algn="ctr"/>
            <a:r>
              <a:rPr lang="fr-CI" noProof="0">
                <a:solidFill>
                  <a:srgbClr val="060606"/>
                </a:solidFill>
                <a:latin typeface="Helvetica" panose="020B0604020202020204" pitchFamily="34" charset="0"/>
                <a:cs typeface="Helvetica" panose="020B0604020202020204" pitchFamily="34" charset="0"/>
              </a:rPr>
              <a:t>Écart entre échéances et précomptes</a:t>
            </a:r>
            <a:endParaRPr lang="fr-CI" noProof="0">
              <a:solidFill>
                <a:srgbClr val="060606"/>
              </a:solidFill>
              <a:latin typeface="Helvetica" panose="020B0604020202020204" pitchFamily="34" charset="0"/>
              <a:ea typeface="Barlow"/>
              <a:cs typeface="Helvetica" panose="020B0604020202020204" pitchFamily="34" charset="0"/>
              <a:sym typeface="Barlow"/>
            </a:endParaRPr>
          </a:p>
        </p:txBody>
      </p:sp>
      <p:sp>
        <p:nvSpPr>
          <p:cNvPr id="100" name="Google Shape;9218;p112"/>
          <p:cNvSpPr txBox="1"/>
          <p:nvPr/>
        </p:nvSpPr>
        <p:spPr>
          <a:xfrm>
            <a:off x="907230" y="3725703"/>
            <a:ext cx="1881508" cy="1122400"/>
          </a:xfrm>
          <a:prstGeom prst="rect">
            <a:avLst/>
          </a:prstGeom>
          <a:noFill/>
          <a:ln>
            <a:noFill/>
          </a:ln>
        </p:spPr>
        <p:txBody>
          <a:bodyPr spcFirstLastPara="1" wrap="square" lIns="121900" tIns="121900" rIns="121900" bIns="121900" anchor="t" anchorCtr="0">
            <a:noAutofit/>
          </a:bodyPr>
          <a:lstStyle/>
          <a:p>
            <a:pPr algn="ctr"/>
            <a:r>
              <a:rPr lang="fr-CI" noProof="0">
                <a:solidFill>
                  <a:srgbClr val="060606"/>
                </a:solidFill>
                <a:latin typeface="Helvetica" panose="020B0604020202020204" pitchFamily="34" charset="0"/>
                <a:cs typeface="Helvetica" panose="020B0604020202020204" pitchFamily="34" charset="0"/>
              </a:rPr>
              <a:t>Coût réel des sinistres inconnu</a:t>
            </a:r>
            <a:endParaRPr lang="fr-CI" noProof="0">
              <a:solidFill>
                <a:srgbClr val="060606"/>
              </a:solidFill>
              <a:latin typeface="Helvetica" panose="020B0604020202020204" pitchFamily="34" charset="0"/>
              <a:ea typeface="Barlow"/>
              <a:cs typeface="Helvetica" panose="020B0604020202020204" pitchFamily="34" charset="0"/>
              <a:sym typeface="Barlow"/>
            </a:endParaRPr>
          </a:p>
        </p:txBody>
      </p:sp>
      <p:sp>
        <p:nvSpPr>
          <p:cNvPr id="101" name="Google Shape;9218;p112"/>
          <p:cNvSpPr txBox="1"/>
          <p:nvPr/>
        </p:nvSpPr>
        <p:spPr>
          <a:xfrm>
            <a:off x="2964273" y="3746133"/>
            <a:ext cx="1881508" cy="1122400"/>
          </a:xfrm>
          <a:prstGeom prst="rect">
            <a:avLst/>
          </a:prstGeom>
          <a:noFill/>
          <a:ln>
            <a:noFill/>
          </a:ln>
        </p:spPr>
        <p:txBody>
          <a:bodyPr spcFirstLastPara="1" wrap="square" lIns="121900" tIns="121900" rIns="121900" bIns="121900" anchor="t" anchorCtr="0">
            <a:noAutofit/>
          </a:bodyPr>
          <a:lstStyle/>
          <a:p>
            <a:pPr algn="ctr"/>
            <a:r>
              <a:rPr lang="fr-CI" noProof="0">
                <a:solidFill>
                  <a:srgbClr val="060606"/>
                </a:solidFill>
                <a:latin typeface="Helvetica" panose="020B0604020202020204" pitchFamily="34" charset="0"/>
                <a:cs typeface="Helvetica" panose="020B0604020202020204" pitchFamily="34" charset="0"/>
              </a:rPr>
              <a:t>Engagements mal mesurés au bilan</a:t>
            </a:r>
            <a:endParaRPr lang="fr-CI" noProof="0">
              <a:solidFill>
                <a:srgbClr val="060606"/>
              </a:solidFill>
              <a:latin typeface="Helvetica" panose="020B0604020202020204" pitchFamily="34" charset="0"/>
              <a:ea typeface="Barlow"/>
              <a:cs typeface="Helvetica" panose="020B0604020202020204" pitchFamily="34" charset="0"/>
              <a:sym typeface="Barlow"/>
            </a:endParaRPr>
          </a:p>
        </p:txBody>
      </p:sp>
      <p:sp>
        <p:nvSpPr>
          <p:cNvPr id="102" name="Google Shape;9218;p112"/>
          <p:cNvSpPr txBox="1"/>
          <p:nvPr/>
        </p:nvSpPr>
        <p:spPr>
          <a:xfrm>
            <a:off x="7510162" y="3765430"/>
            <a:ext cx="1881508" cy="1122400"/>
          </a:xfrm>
          <a:prstGeom prst="rect">
            <a:avLst/>
          </a:prstGeom>
          <a:noFill/>
          <a:ln>
            <a:noFill/>
          </a:ln>
        </p:spPr>
        <p:txBody>
          <a:bodyPr spcFirstLastPara="1" wrap="square" lIns="121900" tIns="121900" rIns="121900" bIns="121900" anchor="t" anchorCtr="0">
            <a:noAutofit/>
          </a:bodyPr>
          <a:lstStyle/>
          <a:p>
            <a:pPr algn="ctr"/>
            <a:r>
              <a:rPr lang="fr-CI" noProof="0">
                <a:solidFill>
                  <a:srgbClr val="060606"/>
                </a:solidFill>
                <a:latin typeface="Helvetica" panose="020B0604020202020204" pitchFamily="34" charset="0"/>
                <a:cs typeface="Helvetica" panose="020B0604020202020204" pitchFamily="34" charset="0"/>
              </a:rPr>
              <a:t>Manque de liquidités en cas de retraits</a:t>
            </a:r>
            <a:endParaRPr lang="fr-CI" noProof="0">
              <a:solidFill>
                <a:srgbClr val="060606"/>
              </a:solidFill>
              <a:latin typeface="Helvetica" panose="020B0604020202020204" pitchFamily="34" charset="0"/>
              <a:ea typeface="Barlow"/>
              <a:cs typeface="Helvetica" panose="020B0604020202020204" pitchFamily="34" charset="0"/>
              <a:sym typeface="Barlow"/>
            </a:endParaRPr>
          </a:p>
        </p:txBody>
      </p:sp>
      <p:sp>
        <p:nvSpPr>
          <p:cNvPr id="103" name="Google Shape;9218;p112"/>
          <p:cNvSpPr txBox="1"/>
          <p:nvPr/>
        </p:nvSpPr>
        <p:spPr>
          <a:xfrm>
            <a:off x="9567205" y="3785860"/>
            <a:ext cx="1881508" cy="1122400"/>
          </a:xfrm>
          <a:prstGeom prst="rect">
            <a:avLst/>
          </a:prstGeom>
          <a:noFill/>
          <a:ln>
            <a:noFill/>
          </a:ln>
        </p:spPr>
        <p:txBody>
          <a:bodyPr spcFirstLastPara="1" wrap="square" lIns="121900" tIns="121900" rIns="121900" bIns="121900" anchor="t" anchorCtr="0">
            <a:noAutofit/>
          </a:bodyPr>
          <a:lstStyle/>
          <a:p>
            <a:pPr algn="ctr"/>
            <a:r>
              <a:rPr lang="fr-CI" noProof="0">
                <a:solidFill>
                  <a:srgbClr val="060606"/>
                </a:solidFill>
                <a:latin typeface="Helvetica" panose="020B0604020202020204" pitchFamily="34" charset="0"/>
                <a:cs typeface="Helvetica" panose="020B0604020202020204" pitchFamily="34" charset="0"/>
              </a:rPr>
              <a:t>Retards et pertes sur les prêts</a:t>
            </a:r>
            <a:endParaRPr lang="fr-CI" noProof="0">
              <a:solidFill>
                <a:srgbClr val="060606"/>
              </a:solidFill>
              <a:latin typeface="Helvetica" panose="020B0604020202020204" pitchFamily="34" charset="0"/>
              <a:ea typeface="Barlow"/>
              <a:cs typeface="Helvetica" panose="020B0604020202020204" pitchFamily="34" charset="0"/>
              <a:sym typeface="Barlow"/>
            </a:endParaRPr>
          </a:p>
        </p:txBody>
      </p:sp>
      <p:pic>
        <p:nvPicPr>
          <p:cNvPr id="27" name="Image 26"/>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476588" y="3164965"/>
            <a:ext cx="389251" cy="389251"/>
          </a:xfrm>
          <a:prstGeom prst="rect">
            <a:avLst/>
          </a:prstGeom>
        </p:spPr>
      </p:pic>
      <p:pic>
        <p:nvPicPr>
          <p:cNvPr id="28" name="Image 27"/>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8003377" y="3160836"/>
            <a:ext cx="375952" cy="375953"/>
          </a:xfrm>
          <a:prstGeom prst="rect">
            <a:avLst/>
          </a:prstGeom>
        </p:spPr>
      </p:pic>
      <p:pic>
        <p:nvPicPr>
          <p:cNvPr id="29" name="Image 28"/>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3428049" y="3121109"/>
            <a:ext cx="423892" cy="433107"/>
          </a:xfrm>
          <a:prstGeom prst="rect">
            <a:avLst/>
          </a:prstGeom>
        </p:spPr>
      </p:pic>
      <p:pic>
        <p:nvPicPr>
          <p:cNvPr id="30" name="Image 29"/>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9960990" y="3121109"/>
            <a:ext cx="484396" cy="490027"/>
          </a:xfrm>
          <a:prstGeom prst="rect">
            <a:avLst/>
          </a:prstGeom>
        </p:spPr>
      </p:pic>
      <p:pic>
        <p:nvPicPr>
          <p:cNvPr id="2" name="Image 1"/>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rot="5400000">
            <a:off x="5451325" y="2716425"/>
            <a:ext cx="1112757" cy="1112757"/>
          </a:xfrm>
          <a:prstGeom prst="rect">
            <a:avLst/>
          </a:prstGeom>
        </p:spPr>
      </p:pic>
      <p:sp>
        <p:nvSpPr>
          <p:cNvPr id="9233"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Carte des risques</a:t>
            </a:r>
          </a:p>
        </p:txBody>
      </p:sp>
      <p:sp>
        <p:nvSpPr>
          <p:cNvPr id="9234"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Quatre causes identifiées produisent quatre risques pour le FPPN</a:t>
            </a:r>
          </a:p>
        </p:txBody>
      </p:sp>
      <p:sp>
        <p:nvSpPr>
          <p:cNvPr id="9235"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Les causes relèvent de la gestion des données et des choix d'emploi des ressources. Les effets restent à chiffrer</a:t>
            </a:r>
          </a:p>
        </p:txBody>
      </p:sp>
      <p:sp>
        <p:nvSpPr>
          <p:cNvPr id="9236"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analyses Adenka</a:t>
            </a:r>
          </a:p>
        </p:txBody>
      </p:sp>
      <p:sp>
        <p:nvSpPr>
          <p:cNvPr id="9237" name="TextBox 9236"/>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a:t>
            </a:r>
          </a:p>
        </p:txBody>
      </p:sp>
    </p:spTree>
    <p:extLst>
      <p:ext uri="{BB962C8B-B14F-4D97-AF65-F5344CB8AC3E}">
        <p14:creationId xmlns:p14="http://schemas.microsoft.com/office/powerpoint/2010/main" val="93100922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Recommandations prioritaires</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Sept actions conditionnent la fiabilité des engagements et la conformité</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Les trois premières actions relèvent de la transmission de données, les quatre suivantes des décisions de gestion</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analyses Adenka. Numéros de la liste des documents demandés (PBC)</a:t>
            </a:r>
          </a:p>
        </p:txBody>
      </p:sp>
      <p:sp>
        <p:nvSpPr>
          <p:cNvPr id="31" name="TextBox 30"/>
          <p:cNvSpPr txBox="1"/>
          <p:nvPr/>
        </p:nvSpPr>
        <p:spPr>
          <a:xfrm>
            <a:off x="503999" y="1386000"/>
            <a:ext cx="11232000" cy="216000"/>
          </a:xfrm>
          <a:prstGeom prst="rect">
            <a:avLst/>
          </a:prstGeom>
          <a:noFill/>
        </p:spPr>
        <p:txBody>
          <a:bodyPr wrap="square" anchor="t" lIns="54000" rIns="54000"/>
          <a:lstStyle/>
          <a:p>
            <a:pPr algn="ctr"/>
            <a:r>
              <a:rPr sz="1200" b="0">
                <a:solidFill>
                  <a:srgbClr val="EFAC62"/>
                </a:solidFill>
                <a:latin typeface="Helvetica"/>
              </a:rPr>
              <a:t>Tableau 3 : Actions recommandées</a:t>
            </a:r>
          </a:p>
        </p:txBody>
      </p:sp>
      <p:graphicFrame>
        <p:nvGraphicFramePr>
          <p:cNvPr id="32" name="Table 31"/>
          <p:cNvGraphicFramePr>
            <a:graphicFrameLocks noGrp="1"/>
          </p:cNvGraphicFramePr>
          <p:nvPr/>
        </p:nvGraphicFramePr>
        <p:xfrm>
          <a:off x="503999" y="1655999"/>
          <a:ext cx="11232000" cy="2975557"/>
        </p:xfrm>
        <a:graphic>
          <a:graphicData uri="http://schemas.openxmlformats.org/drawingml/2006/table">
            <a:tbl>
              <a:tblPr firstRow="0" bandRow="0">
                <a:tableStyleId>{5940675A-B579-460E-94D1-54222C63F5DA}</a:tableStyleId>
              </a:tblPr>
              <a:tblGrid>
                <a:gridCol w="360000"/>
                <a:gridCol w="4464000"/>
                <a:gridCol w="5184000"/>
                <a:gridCol w="1224000"/>
              </a:tblGrid>
              <a:tr h="225250">
                <a:tc>
                  <a:txBody>
                    <a:bodyPr/>
                    <a:lstStyle/>
                    <a:p>
                      <a:pPr marL="0" indent="0" lvl="0">
                        <a:buNone/>
                      </a:pPr>
                      <a:r>
                        <a:rPr sz="1100" b="1">
                          <a:solidFill>
                            <a:srgbClr val="FFFFFF"/>
                          </a:solidFill>
                          <a:latin typeface="Helvetica"/>
                        </a:rPr>
                        <a:t>N°</a:t>
                      </a:r>
                    </a:p>
                  </a:txBody>
                  <a:tcPr marL="43200" marR="43200" marT="14400" marB="14400" anchor="ctr">
                    <a:solidFill>
                      <a:srgbClr val="060606"/>
                    </a:solidFill>
                  </a:tcPr>
                </a:tc>
                <a:tc>
                  <a:txBody>
                    <a:bodyPr/>
                    <a:lstStyle/>
                    <a:p>
                      <a:pPr marL="0" indent="0" lvl="0">
                        <a:buNone/>
                      </a:pPr>
                      <a:r>
                        <a:rPr sz="1100" b="1">
                          <a:solidFill>
                            <a:srgbClr val="FFFFFF"/>
                          </a:solidFill>
                          <a:latin typeface="Helvetica"/>
                        </a:rPr>
                        <a:t>Action</a:t>
                      </a:r>
                    </a:p>
                  </a:txBody>
                  <a:tcPr marL="43200" marR="43200" marT="14400" marB="14400" anchor="ctr">
                    <a:solidFill>
                      <a:srgbClr val="060606"/>
                    </a:solidFill>
                  </a:tcPr>
                </a:tc>
                <a:tc>
                  <a:txBody>
                    <a:bodyPr/>
                    <a:lstStyle/>
                    <a:p>
                      <a:pPr marL="0" indent="0" lvl="0">
                        <a:buNone/>
                      </a:pPr>
                      <a:r>
                        <a:rPr sz="1100" b="1">
                          <a:solidFill>
                            <a:srgbClr val="FFFFFF"/>
                          </a:solidFill>
                          <a:latin typeface="Helvetica"/>
                        </a:rPr>
                        <a:t>Objet</a:t>
                      </a:r>
                    </a:p>
                  </a:txBody>
                  <a:tcPr marL="43200" marR="43200" marT="14400" marB="14400" anchor="ctr">
                    <a:solidFill>
                      <a:srgbClr val="060606"/>
                    </a:solidFill>
                  </a:tcPr>
                </a:tc>
                <a:tc>
                  <a:txBody>
                    <a:bodyPr/>
                    <a:lstStyle/>
                    <a:p>
                      <a:pPr marL="0" indent="0" lvl="0">
                        <a:buNone/>
                      </a:pPr>
                      <a:r>
                        <a:rPr sz="1100" b="1">
                          <a:solidFill>
                            <a:srgbClr val="FFFFFF"/>
                          </a:solidFill>
                          <a:latin typeface="Helvetica"/>
                        </a:rPr>
                        <a:t>Priorité</a:t>
                      </a:r>
                    </a:p>
                  </a:txBody>
                  <a:tcPr marL="43200" marR="43200" marT="14400" marB="14400" anchor="ctr">
                    <a:solidFill>
                      <a:srgbClr val="060606"/>
                    </a:solidFill>
                  </a:tcPr>
                </a:tc>
              </a:tr>
              <a:tr h="392901">
                <a:tc>
                  <a:txBody>
                    <a:bodyPr/>
                    <a:lstStyle/>
                    <a:p>
                      <a:pPr marL="0" indent="0" lvl="0">
                        <a:buNone/>
                      </a:pPr>
                      <a:r>
                        <a:rPr sz="1100" b="1">
                          <a:solidFill>
                            <a:srgbClr val="060606"/>
                          </a:solidFill>
                          <a:latin typeface="Helvetica"/>
                        </a:rPr>
                        <a:t>1</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Transmettre les bases de prestations décès et santé 2020 à 2026 (13, 28, 40).</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Calculer les provisions, la sinistralité par année de survenance et les délais.</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Urgente</a:t>
                      </a:r>
                    </a:p>
                  </a:txBody>
                  <a:tcPr marL="43200" marR="43200" marT="14400" marB="14400" anchor="ctr">
                    <a:solidFill>
                      <a:srgbClr val="FFFFFF"/>
                    </a:solidFill>
                  </a:tcPr>
                </a:tc>
              </a:tr>
              <a:tr h="392901">
                <a:tc>
                  <a:txBody>
                    <a:bodyPr/>
                    <a:lstStyle/>
                    <a:p>
                      <a:pPr marL="0" indent="0" lvl="0">
                        <a:buNone/>
                      </a:pPr>
                      <a:r>
                        <a:rPr sz="1100" b="1">
                          <a:solidFill>
                            <a:srgbClr val="060606"/>
                          </a:solidFill>
                          <a:latin typeface="Helvetica"/>
                        </a:rPr>
                        <a:t>2</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Transmettre le fichier des mutualistes avec date de naissance et sexe (9).</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Mesurer la mortalité, projeter l'équilibre technique et calculer les engagements.</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Urgente</a:t>
                      </a:r>
                    </a:p>
                  </a:txBody>
                  <a:tcPr marL="43200" marR="43200" marT="14400" marB="14400" anchor="ctr">
                    <a:solidFill>
                      <a:srgbClr val="F2F2F2"/>
                    </a:solidFill>
                  </a:tcPr>
                </a:tc>
              </a:tr>
              <a:tr h="392901">
                <a:tc>
                  <a:txBody>
                    <a:bodyPr/>
                    <a:lstStyle/>
                    <a:p>
                      <a:pPr marL="0" indent="0" lvl="0">
                        <a:buNone/>
                      </a:pPr>
                      <a:r>
                        <a:rPr sz="1100" b="1">
                          <a:solidFill>
                            <a:srgbClr val="060606"/>
                          </a:solidFill>
                          <a:latin typeface="Helvetica"/>
                        </a:rPr>
                        <a:t>3</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Transmettre les comptes individuels PEP et EFC et leurs règlements (16, 17).</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Évaluer la dette envers chaque épargnant et ses échéances.</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Urgente</a:t>
                      </a:r>
                    </a:p>
                  </a:txBody>
                  <a:tcPr marL="43200" marR="43200" marT="14400" marB="14400" anchor="ctr">
                    <a:solidFill>
                      <a:srgbClr val="FFFFFF"/>
                    </a:solidFill>
                  </a:tcPr>
                </a:tc>
              </a:tr>
              <a:tr h="392901">
                <a:tc>
                  <a:txBody>
                    <a:bodyPr/>
                    <a:lstStyle/>
                    <a:p>
                      <a:pPr marL="0" indent="0" lvl="0">
                        <a:buNone/>
                      </a:pPr>
                      <a:r>
                        <a:rPr sz="1100" b="1">
                          <a:solidFill>
                            <a:srgbClr val="060606"/>
                          </a:solidFill>
                          <a:latin typeface="Helvetica"/>
                        </a:rPr>
                        <a:t>4</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Recalculer les provisions techniques à chaque clôture et les reclasser en compte 190.</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Respecter l'article 7 du règlement d'exécution et le plan comptable.</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Haute</a:t>
                      </a:r>
                    </a:p>
                  </a:txBody>
                  <a:tcPr marL="43200" marR="43200" marT="14400" marB="14400" anchor="ctr">
                    <a:solidFill>
                      <a:srgbClr val="F2F2F2"/>
                    </a:solidFill>
                  </a:tcPr>
                </a:tc>
              </a:tr>
              <a:tr h="392901">
                <a:tc>
                  <a:txBody>
                    <a:bodyPr/>
                    <a:lstStyle/>
                    <a:p>
                      <a:pPr marL="0" indent="0" lvl="0">
                        <a:buNone/>
                      </a:pPr>
                      <a:r>
                        <a:rPr sz="1100" b="1">
                          <a:solidFill>
                            <a:srgbClr val="060606"/>
                          </a:solidFill>
                          <a:latin typeface="Helvetica"/>
                        </a:rPr>
                        <a:t>5</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Présenter à l'AIRMS un plan de mise en conformité des ratios prudentiels.</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Réserve obligatoire, fonds propres, liquidité, frais de fonctionnement.</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Haute</a:t>
                      </a:r>
                    </a:p>
                  </a:txBody>
                  <a:tcPr marL="43200" marR="43200" marT="14400" marB="14400" anchor="ctr">
                    <a:solidFill>
                      <a:srgbClr val="FFFFFF"/>
                    </a:solidFill>
                  </a:tcPr>
                </a:tc>
              </a:tr>
              <a:tr h="392901">
                <a:tc>
                  <a:txBody>
                    <a:bodyPr/>
                    <a:lstStyle/>
                    <a:p>
                      <a:pPr marL="0" indent="0" lvl="0">
                        <a:buNone/>
                      </a:pPr>
                      <a:r>
                        <a:rPr sz="1100" b="1">
                          <a:solidFill>
                            <a:srgbClr val="060606"/>
                          </a:solidFill>
                          <a:latin typeface="Helvetica"/>
                        </a:rPr>
                        <a:t>6</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Adosser l'épargne à des placements liquides et séparer ses comptes (cantonnement).</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Couvrir l'épargne exigible, encadrer le financement du Grenier et du CMP.</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Haute</a:t>
                      </a:r>
                    </a:p>
                  </a:txBody>
                  <a:tcPr marL="43200" marR="43200" marT="14400" marB="14400" anchor="ctr">
                    <a:solidFill>
                      <a:srgbClr val="F2F2F2"/>
                    </a:solidFill>
                  </a:tcPr>
                </a:tc>
              </a:tr>
              <a:tr h="392901">
                <a:tc>
                  <a:txBody>
                    <a:bodyPr/>
                    <a:lstStyle/>
                    <a:p>
                      <a:pPr marL="0" indent="0" lvl="0">
                        <a:buNone/>
                      </a:pPr>
                      <a:r>
                        <a:rPr sz="1100" b="1">
                          <a:solidFill>
                            <a:srgbClr val="060606"/>
                          </a:solidFill>
                          <a:latin typeface="Helvetica"/>
                        </a:rPr>
                        <a:t>7</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Faire réaliser l'étude actuarielle quinquennale des risques longs.</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Article 14 du règlement d'exécution n° 004/2022.</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Moyenne</a:t>
                      </a:r>
                    </a:p>
                  </a:txBody>
                  <a:tcPr marL="43200" marR="43200" marT="14400" marB="14400" anchor="ctr">
                    <a:solidFill>
                      <a:srgbClr val="FFFFFF"/>
                    </a:solidFill>
                  </a:tcPr>
                </a:tc>
              </a:tr>
            </a:tbl>
          </a:graphicData>
        </a:graphic>
      </p:graphicFrame>
      <p:sp>
        <p:nvSpPr>
          <p:cNvPr id="33" name="TextBox 32"/>
          <p:cNvSpPr txBox="1"/>
          <p:nvPr/>
        </p:nvSpPr>
        <p:spPr>
          <a:xfrm>
            <a:off x="503999" y="4739558"/>
            <a:ext cx="11232000" cy="1128441"/>
          </a:xfrm>
          <a:prstGeom prst="rect">
            <a:avLst/>
          </a:prstGeom>
          <a:noFill/>
        </p:spPr>
        <p:txBody>
          <a:bodyPr wrap="square" lIns="54000" rIns="54000"/>
          <a:lstStyle/>
          <a:p>
            <a:pPr algn="just">
              <a:spcAft>
                <a:spcPts val="600"/>
              </a:spcAft>
            </a:pPr>
            <a:r>
              <a:rPr sz="1300" b="1">
                <a:solidFill>
                  <a:srgbClr val="060606"/>
                </a:solidFill>
                <a:latin typeface="Helvetica"/>
              </a:rPr>
              <a:t>Les actions 1 à 3 lèvent les limites de ce rapport. Les actions 4 à 7 corrigent les écarts déjà démontrés.</a:t>
            </a:r>
          </a:p>
          <a:p>
            <a:pPr algn="just">
              <a:spcAft>
                <a:spcPts val="600"/>
              </a:spcAft>
            </a:pPr>
            <a:r>
              <a:rPr sz="1300" b="1">
                <a:solidFill>
                  <a:srgbClr val="060606"/>
                </a:solidFill>
                <a:latin typeface="Helvetica"/>
              </a:rPr>
              <a:t>Implication pour le FPPN.</a:t>
            </a:r>
            <a:r>
              <a:rPr sz="1300" b="0">
                <a:solidFill>
                  <a:srgbClr val="060606"/>
                </a:solidFill>
                <a:latin typeface="Helvetica"/>
              </a:rPr>
              <a:t> Le plan de mise en conformité (action 5) dépend des données des actions 1 à 3 : les deux chantiers doivent être menés ensemble.</a:t>
            </a:r>
          </a:p>
        </p:txBody>
      </p:sp>
      <p:sp>
        <p:nvSpPr>
          <p:cNvPr id="34" name="TextBox 33"/>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AIRMS : Agence ivoirienne de régulation de la mutualité sociale | PEP : Plan Épargne Plus | EFC : entraide fin de carrière | CMP : sigle des comptes du FPPN, signification à confirmer | PBC : liste des documents demandés au client</a:t>
            </a:r>
          </a:p>
        </p:txBody>
      </p:sp>
    </p:spTree>
    <p:extLst>
      <p:ext uri="{BB962C8B-B14F-4D97-AF65-F5344CB8AC3E}">
        <p14:creationId xmlns:p14="http://schemas.microsoft.com/office/powerpoint/2010/main" val="2438138400"/>
      </p:ext>
    </p:extLst>
  </p:cSld>
  <p:clrMapOvr>
    <a:masterClrMapping/>
  </p:clrMapOvr>
  <p:transition>
    <p:fade/>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 name="Image 16"/>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35" name="Google Shape;7418;p41"/>
          <p:cNvSpPr/>
          <p:nvPr/>
        </p:nvSpPr>
        <p:spPr>
          <a:xfrm rot="21013821">
            <a:off x="6297998" y="4058425"/>
            <a:ext cx="1054440" cy="808361"/>
          </a:xfrm>
          <a:custGeom>
            <a:avLst/>
            <a:gdLst/>
            <a:ahLst/>
            <a:cxnLst/>
            <a:rect l="l" t="t" r="r" b="b"/>
            <a:pathLst>
              <a:path w="40007" h="30221" extrusionOk="0">
                <a:moveTo>
                  <a:pt x="19007" y="1"/>
                </a:moveTo>
                <a:cubicBezTo>
                  <a:pt x="17909" y="1"/>
                  <a:pt x="16810" y="17"/>
                  <a:pt x="15708" y="53"/>
                </a:cubicBezTo>
                <a:cubicBezTo>
                  <a:pt x="13270" y="131"/>
                  <a:pt x="10885" y="275"/>
                  <a:pt x="8512" y="548"/>
                </a:cubicBezTo>
                <a:cubicBezTo>
                  <a:pt x="6088" y="835"/>
                  <a:pt x="4524" y="1500"/>
                  <a:pt x="4041" y="2712"/>
                </a:cubicBezTo>
                <a:cubicBezTo>
                  <a:pt x="4015" y="2777"/>
                  <a:pt x="3976" y="2843"/>
                  <a:pt x="3937" y="2908"/>
                </a:cubicBezTo>
                <a:cubicBezTo>
                  <a:pt x="2777" y="4902"/>
                  <a:pt x="2282" y="6949"/>
                  <a:pt x="1734" y="8995"/>
                </a:cubicBezTo>
                <a:cubicBezTo>
                  <a:pt x="1160" y="11120"/>
                  <a:pt x="613" y="13232"/>
                  <a:pt x="391" y="15357"/>
                </a:cubicBezTo>
                <a:cubicBezTo>
                  <a:pt x="183" y="17325"/>
                  <a:pt x="0" y="19293"/>
                  <a:pt x="79" y="21092"/>
                </a:cubicBezTo>
                <a:cubicBezTo>
                  <a:pt x="52" y="23074"/>
                  <a:pt x="144" y="24899"/>
                  <a:pt x="365" y="26710"/>
                </a:cubicBezTo>
                <a:cubicBezTo>
                  <a:pt x="522" y="28079"/>
                  <a:pt x="1721" y="29096"/>
                  <a:pt x="4419" y="29656"/>
                </a:cubicBezTo>
                <a:cubicBezTo>
                  <a:pt x="6296" y="30048"/>
                  <a:pt x="8265" y="30178"/>
                  <a:pt x="10259" y="30204"/>
                </a:cubicBezTo>
                <a:cubicBezTo>
                  <a:pt x="11143" y="30216"/>
                  <a:pt x="12026" y="30220"/>
                  <a:pt x="12908" y="30220"/>
                </a:cubicBezTo>
                <a:cubicBezTo>
                  <a:pt x="15996" y="30220"/>
                  <a:pt x="19078" y="30165"/>
                  <a:pt x="22161" y="30165"/>
                </a:cubicBezTo>
                <a:cubicBezTo>
                  <a:pt x="24859" y="30165"/>
                  <a:pt x="27557" y="30204"/>
                  <a:pt x="30243" y="30204"/>
                </a:cubicBezTo>
                <a:cubicBezTo>
                  <a:pt x="31690" y="30191"/>
                  <a:pt x="33123" y="30113"/>
                  <a:pt x="34505" y="29852"/>
                </a:cubicBezTo>
                <a:cubicBezTo>
                  <a:pt x="35470" y="29683"/>
                  <a:pt x="36330" y="29435"/>
                  <a:pt x="36917" y="29005"/>
                </a:cubicBezTo>
                <a:cubicBezTo>
                  <a:pt x="37881" y="28288"/>
                  <a:pt x="38677" y="27519"/>
                  <a:pt x="39120" y="26684"/>
                </a:cubicBezTo>
                <a:cubicBezTo>
                  <a:pt x="39732" y="25485"/>
                  <a:pt x="39954" y="24260"/>
                  <a:pt x="39954" y="23021"/>
                </a:cubicBezTo>
                <a:cubicBezTo>
                  <a:pt x="39954" y="19372"/>
                  <a:pt x="40006" y="15709"/>
                  <a:pt x="39563" y="12059"/>
                </a:cubicBezTo>
                <a:cubicBezTo>
                  <a:pt x="39367" y="10403"/>
                  <a:pt x="39485" y="8748"/>
                  <a:pt x="39237" y="7105"/>
                </a:cubicBezTo>
                <a:cubicBezTo>
                  <a:pt x="39068" y="6023"/>
                  <a:pt x="38794" y="4941"/>
                  <a:pt x="37920" y="3938"/>
                </a:cubicBezTo>
                <a:cubicBezTo>
                  <a:pt x="37282" y="3208"/>
                  <a:pt x="36773" y="2438"/>
                  <a:pt x="35665" y="1826"/>
                </a:cubicBezTo>
                <a:cubicBezTo>
                  <a:pt x="34192" y="1031"/>
                  <a:pt x="32237" y="666"/>
                  <a:pt x="30138" y="496"/>
                </a:cubicBezTo>
                <a:cubicBezTo>
                  <a:pt x="26451" y="194"/>
                  <a:pt x="22741" y="1"/>
                  <a:pt x="19007" y="1"/>
                </a:cubicBezTo>
                <a:close/>
              </a:path>
            </a:pathLst>
          </a:custGeom>
          <a:solidFill>
            <a:srgbClr val="112A40"/>
          </a:solidFill>
          <a:ln w="28575" cap="flat" cmpd="sng">
            <a:solidFill>
              <a:schemeClr val="lt1"/>
            </a:solidFill>
            <a:prstDash val="solid"/>
            <a:round/>
            <a:headEnd type="none" w="sm" len="sm"/>
            <a:tailEnd type="none" w="sm" len="sm"/>
          </a:ln>
          <a:effectLst>
            <a:outerShdw blurRad="57150" dist="9525" algn="bl" rotWithShape="0">
              <a:srgbClr val="000000"/>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lang="fr-CI" sz="1200" noProof="0">
              <a:solidFill>
                <a:schemeClr val="bg1"/>
              </a:solidFill>
              <a:latin typeface="Helvetica" panose="020B0604020202020204" pitchFamily="34" charset="0"/>
              <a:cs typeface="Helvetica" panose="020B0604020202020204" pitchFamily="34" charset="0"/>
            </a:endParaRPr>
          </a:p>
        </p:txBody>
      </p:sp>
      <p:sp>
        <p:nvSpPr>
          <p:cNvPr id="38" name="Google Shape;7421;p41"/>
          <p:cNvSpPr/>
          <p:nvPr/>
        </p:nvSpPr>
        <p:spPr>
          <a:xfrm rot="356255">
            <a:off x="6295963" y="1897141"/>
            <a:ext cx="1054365" cy="808304"/>
          </a:xfrm>
          <a:custGeom>
            <a:avLst/>
            <a:gdLst/>
            <a:ahLst/>
            <a:cxnLst/>
            <a:rect l="l" t="t" r="r" b="b"/>
            <a:pathLst>
              <a:path w="40007" h="30221" extrusionOk="0">
                <a:moveTo>
                  <a:pt x="19007" y="1"/>
                </a:moveTo>
                <a:cubicBezTo>
                  <a:pt x="17909" y="1"/>
                  <a:pt x="16810" y="17"/>
                  <a:pt x="15708" y="53"/>
                </a:cubicBezTo>
                <a:cubicBezTo>
                  <a:pt x="13270" y="131"/>
                  <a:pt x="10885" y="275"/>
                  <a:pt x="8512" y="548"/>
                </a:cubicBezTo>
                <a:cubicBezTo>
                  <a:pt x="6088" y="835"/>
                  <a:pt x="4524" y="1500"/>
                  <a:pt x="4041" y="2712"/>
                </a:cubicBezTo>
                <a:cubicBezTo>
                  <a:pt x="4015" y="2777"/>
                  <a:pt x="3976" y="2843"/>
                  <a:pt x="3937" y="2908"/>
                </a:cubicBezTo>
                <a:cubicBezTo>
                  <a:pt x="2777" y="4902"/>
                  <a:pt x="2282" y="6949"/>
                  <a:pt x="1734" y="8995"/>
                </a:cubicBezTo>
                <a:cubicBezTo>
                  <a:pt x="1160" y="11120"/>
                  <a:pt x="613" y="13232"/>
                  <a:pt x="391" y="15357"/>
                </a:cubicBezTo>
                <a:cubicBezTo>
                  <a:pt x="183" y="17325"/>
                  <a:pt x="0" y="19293"/>
                  <a:pt x="79" y="21092"/>
                </a:cubicBezTo>
                <a:cubicBezTo>
                  <a:pt x="52" y="23074"/>
                  <a:pt x="144" y="24899"/>
                  <a:pt x="365" y="26710"/>
                </a:cubicBezTo>
                <a:cubicBezTo>
                  <a:pt x="522" y="28079"/>
                  <a:pt x="1721" y="29096"/>
                  <a:pt x="4419" y="29656"/>
                </a:cubicBezTo>
                <a:cubicBezTo>
                  <a:pt x="6296" y="30048"/>
                  <a:pt x="8265" y="30178"/>
                  <a:pt x="10259" y="30204"/>
                </a:cubicBezTo>
                <a:cubicBezTo>
                  <a:pt x="11143" y="30216"/>
                  <a:pt x="12026" y="30220"/>
                  <a:pt x="12908" y="30220"/>
                </a:cubicBezTo>
                <a:cubicBezTo>
                  <a:pt x="15996" y="30220"/>
                  <a:pt x="19078" y="30165"/>
                  <a:pt x="22161" y="30165"/>
                </a:cubicBezTo>
                <a:cubicBezTo>
                  <a:pt x="24859" y="30165"/>
                  <a:pt x="27557" y="30204"/>
                  <a:pt x="30243" y="30204"/>
                </a:cubicBezTo>
                <a:cubicBezTo>
                  <a:pt x="31690" y="30191"/>
                  <a:pt x="33123" y="30113"/>
                  <a:pt x="34505" y="29852"/>
                </a:cubicBezTo>
                <a:cubicBezTo>
                  <a:pt x="35470" y="29683"/>
                  <a:pt x="36330" y="29435"/>
                  <a:pt x="36917" y="29005"/>
                </a:cubicBezTo>
                <a:cubicBezTo>
                  <a:pt x="37881" y="28288"/>
                  <a:pt x="38677" y="27519"/>
                  <a:pt x="39120" y="26684"/>
                </a:cubicBezTo>
                <a:cubicBezTo>
                  <a:pt x="39732" y="25485"/>
                  <a:pt x="39954" y="24260"/>
                  <a:pt x="39954" y="23021"/>
                </a:cubicBezTo>
                <a:cubicBezTo>
                  <a:pt x="39954" y="19372"/>
                  <a:pt x="40006" y="15709"/>
                  <a:pt x="39563" y="12059"/>
                </a:cubicBezTo>
                <a:cubicBezTo>
                  <a:pt x="39367" y="10403"/>
                  <a:pt x="39485" y="8748"/>
                  <a:pt x="39237" y="7105"/>
                </a:cubicBezTo>
                <a:cubicBezTo>
                  <a:pt x="39068" y="6023"/>
                  <a:pt x="38794" y="4941"/>
                  <a:pt x="37920" y="3938"/>
                </a:cubicBezTo>
                <a:cubicBezTo>
                  <a:pt x="37282" y="3208"/>
                  <a:pt x="36773" y="2438"/>
                  <a:pt x="35665" y="1826"/>
                </a:cubicBezTo>
                <a:cubicBezTo>
                  <a:pt x="34192" y="1031"/>
                  <a:pt x="32237" y="666"/>
                  <a:pt x="30138" y="496"/>
                </a:cubicBezTo>
                <a:cubicBezTo>
                  <a:pt x="26451" y="194"/>
                  <a:pt x="22741" y="1"/>
                  <a:pt x="19007" y="1"/>
                </a:cubicBezTo>
                <a:close/>
              </a:path>
            </a:pathLst>
          </a:custGeom>
          <a:solidFill>
            <a:srgbClr val="112A40"/>
          </a:solidFill>
          <a:ln w="28575" cap="flat" cmpd="sng">
            <a:solidFill>
              <a:schemeClr val="lt1"/>
            </a:solidFill>
            <a:prstDash val="solid"/>
            <a:round/>
            <a:headEnd type="none" w="sm" len="sm"/>
            <a:tailEnd type="none" w="sm" len="sm"/>
          </a:ln>
          <a:effectLst>
            <a:outerShdw blurRad="57150" dist="9525" algn="bl" rotWithShape="0">
              <a:srgbClr val="000000"/>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lang="fr-CI" sz="1200" noProof="0">
              <a:solidFill>
                <a:schemeClr val="bg1"/>
              </a:solidFill>
              <a:latin typeface="Helvetica" panose="020B0604020202020204" pitchFamily="34" charset="0"/>
              <a:cs typeface="Helvetica" panose="020B0604020202020204" pitchFamily="34" charset="0"/>
            </a:endParaRPr>
          </a:p>
        </p:txBody>
      </p:sp>
      <p:sp>
        <p:nvSpPr>
          <p:cNvPr id="41" name="Google Shape;7424;p41"/>
          <p:cNvSpPr/>
          <p:nvPr/>
        </p:nvSpPr>
        <p:spPr>
          <a:xfrm rot="282502">
            <a:off x="1008889" y="4058237"/>
            <a:ext cx="1054406" cy="808335"/>
          </a:xfrm>
          <a:custGeom>
            <a:avLst/>
            <a:gdLst/>
            <a:ahLst/>
            <a:cxnLst/>
            <a:rect l="l" t="t" r="r" b="b"/>
            <a:pathLst>
              <a:path w="40007" h="30221" extrusionOk="0">
                <a:moveTo>
                  <a:pt x="19007" y="1"/>
                </a:moveTo>
                <a:cubicBezTo>
                  <a:pt x="17909" y="1"/>
                  <a:pt x="16810" y="17"/>
                  <a:pt x="15708" y="53"/>
                </a:cubicBezTo>
                <a:cubicBezTo>
                  <a:pt x="13270" y="131"/>
                  <a:pt x="10885" y="275"/>
                  <a:pt x="8512" y="548"/>
                </a:cubicBezTo>
                <a:cubicBezTo>
                  <a:pt x="6088" y="835"/>
                  <a:pt x="4524" y="1500"/>
                  <a:pt x="4041" y="2712"/>
                </a:cubicBezTo>
                <a:cubicBezTo>
                  <a:pt x="4015" y="2777"/>
                  <a:pt x="3976" y="2843"/>
                  <a:pt x="3937" y="2908"/>
                </a:cubicBezTo>
                <a:cubicBezTo>
                  <a:pt x="2777" y="4902"/>
                  <a:pt x="2282" y="6949"/>
                  <a:pt x="1734" y="8995"/>
                </a:cubicBezTo>
                <a:cubicBezTo>
                  <a:pt x="1160" y="11120"/>
                  <a:pt x="613" y="13232"/>
                  <a:pt x="391" y="15357"/>
                </a:cubicBezTo>
                <a:cubicBezTo>
                  <a:pt x="183" y="17325"/>
                  <a:pt x="0" y="19293"/>
                  <a:pt x="79" y="21092"/>
                </a:cubicBezTo>
                <a:cubicBezTo>
                  <a:pt x="52" y="23074"/>
                  <a:pt x="144" y="24899"/>
                  <a:pt x="365" y="26710"/>
                </a:cubicBezTo>
                <a:cubicBezTo>
                  <a:pt x="522" y="28079"/>
                  <a:pt x="1721" y="29096"/>
                  <a:pt x="4419" y="29656"/>
                </a:cubicBezTo>
                <a:cubicBezTo>
                  <a:pt x="6296" y="30048"/>
                  <a:pt x="8265" y="30178"/>
                  <a:pt x="10259" y="30204"/>
                </a:cubicBezTo>
                <a:cubicBezTo>
                  <a:pt x="11143" y="30216"/>
                  <a:pt x="12026" y="30220"/>
                  <a:pt x="12908" y="30220"/>
                </a:cubicBezTo>
                <a:cubicBezTo>
                  <a:pt x="15996" y="30220"/>
                  <a:pt x="19078" y="30165"/>
                  <a:pt x="22161" y="30165"/>
                </a:cubicBezTo>
                <a:cubicBezTo>
                  <a:pt x="24859" y="30165"/>
                  <a:pt x="27557" y="30204"/>
                  <a:pt x="30243" y="30204"/>
                </a:cubicBezTo>
                <a:cubicBezTo>
                  <a:pt x="31690" y="30191"/>
                  <a:pt x="33123" y="30113"/>
                  <a:pt x="34505" y="29852"/>
                </a:cubicBezTo>
                <a:cubicBezTo>
                  <a:pt x="35470" y="29683"/>
                  <a:pt x="36330" y="29435"/>
                  <a:pt x="36917" y="29005"/>
                </a:cubicBezTo>
                <a:cubicBezTo>
                  <a:pt x="37881" y="28288"/>
                  <a:pt x="38677" y="27519"/>
                  <a:pt x="39120" y="26684"/>
                </a:cubicBezTo>
                <a:cubicBezTo>
                  <a:pt x="39732" y="25485"/>
                  <a:pt x="39954" y="24260"/>
                  <a:pt x="39954" y="23021"/>
                </a:cubicBezTo>
                <a:cubicBezTo>
                  <a:pt x="39954" y="19372"/>
                  <a:pt x="40006" y="15709"/>
                  <a:pt x="39563" y="12059"/>
                </a:cubicBezTo>
                <a:cubicBezTo>
                  <a:pt x="39367" y="10403"/>
                  <a:pt x="39485" y="8748"/>
                  <a:pt x="39237" y="7105"/>
                </a:cubicBezTo>
                <a:cubicBezTo>
                  <a:pt x="39068" y="6023"/>
                  <a:pt x="38794" y="4941"/>
                  <a:pt x="37920" y="3938"/>
                </a:cubicBezTo>
                <a:cubicBezTo>
                  <a:pt x="37282" y="3208"/>
                  <a:pt x="36773" y="2438"/>
                  <a:pt x="35665" y="1826"/>
                </a:cubicBezTo>
                <a:cubicBezTo>
                  <a:pt x="34192" y="1031"/>
                  <a:pt x="32237" y="666"/>
                  <a:pt x="30138" y="496"/>
                </a:cubicBezTo>
                <a:cubicBezTo>
                  <a:pt x="26451" y="194"/>
                  <a:pt x="22741" y="1"/>
                  <a:pt x="19007" y="1"/>
                </a:cubicBezTo>
                <a:close/>
              </a:path>
            </a:pathLst>
          </a:custGeom>
          <a:solidFill>
            <a:srgbClr val="112A40"/>
          </a:solidFill>
          <a:ln w="28575" cap="flat" cmpd="sng">
            <a:solidFill>
              <a:schemeClr val="lt1"/>
            </a:solidFill>
            <a:prstDash val="solid"/>
            <a:round/>
            <a:headEnd type="none" w="sm" len="sm"/>
            <a:tailEnd type="none" w="sm" len="sm"/>
          </a:ln>
          <a:effectLst>
            <a:outerShdw blurRad="57150" dist="9525" algn="bl" rotWithShape="0">
              <a:srgbClr val="000000"/>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lang="fr-CI" sz="1200" noProof="0">
              <a:solidFill>
                <a:schemeClr val="bg1"/>
              </a:solidFill>
              <a:latin typeface="Helvetica" panose="020B0604020202020204" pitchFamily="34" charset="0"/>
              <a:cs typeface="Helvetica" panose="020B0604020202020204" pitchFamily="34" charset="0"/>
            </a:endParaRPr>
          </a:p>
        </p:txBody>
      </p:sp>
      <p:sp>
        <p:nvSpPr>
          <p:cNvPr id="44" name="Google Shape;7427;p41"/>
          <p:cNvSpPr/>
          <p:nvPr/>
        </p:nvSpPr>
        <p:spPr>
          <a:xfrm rot="21275242">
            <a:off x="1044421" y="1901356"/>
            <a:ext cx="1054398" cy="808329"/>
          </a:xfrm>
          <a:custGeom>
            <a:avLst/>
            <a:gdLst/>
            <a:ahLst/>
            <a:cxnLst/>
            <a:rect l="l" t="t" r="r" b="b"/>
            <a:pathLst>
              <a:path w="40007" h="30221" extrusionOk="0">
                <a:moveTo>
                  <a:pt x="19007" y="1"/>
                </a:moveTo>
                <a:cubicBezTo>
                  <a:pt x="17909" y="1"/>
                  <a:pt x="16810" y="17"/>
                  <a:pt x="15708" y="53"/>
                </a:cubicBezTo>
                <a:cubicBezTo>
                  <a:pt x="13270" y="131"/>
                  <a:pt x="10885" y="275"/>
                  <a:pt x="8512" y="548"/>
                </a:cubicBezTo>
                <a:cubicBezTo>
                  <a:pt x="6088" y="835"/>
                  <a:pt x="4524" y="1500"/>
                  <a:pt x="4041" y="2712"/>
                </a:cubicBezTo>
                <a:cubicBezTo>
                  <a:pt x="4015" y="2777"/>
                  <a:pt x="3976" y="2843"/>
                  <a:pt x="3937" y="2908"/>
                </a:cubicBezTo>
                <a:cubicBezTo>
                  <a:pt x="2777" y="4902"/>
                  <a:pt x="2282" y="6949"/>
                  <a:pt x="1734" y="8995"/>
                </a:cubicBezTo>
                <a:cubicBezTo>
                  <a:pt x="1160" y="11120"/>
                  <a:pt x="613" y="13232"/>
                  <a:pt x="391" y="15357"/>
                </a:cubicBezTo>
                <a:cubicBezTo>
                  <a:pt x="183" y="17325"/>
                  <a:pt x="0" y="19293"/>
                  <a:pt x="79" y="21092"/>
                </a:cubicBezTo>
                <a:cubicBezTo>
                  <a:pt x="52" y="23074"/>
                  <a:pt x="144" y="24899"/>
                  <a:pt x="365" y="26710"/>
                </a:cubicBezTo>
                <a:cubicBezTo>
                  <a:pt x="522" y="28079"/>
                  <a:pt x="1721" y="29096"/>
                  <a:pt x="4419" y="29656"/>
                </a:cubicBezTo>
                <a:cubicBezTo>
                  <a:pt x="6296" y="30048"/>
                  <a:pt x="8265" y="30178"/>
                  <a:pt x="10259" y="30204"/>
                </a:cubicBezTo>
                <a:cubicBezTo>
                  <a:pt x="11143" y="30216"/>
                  <a:pt x="12026" y="30220"/>
                  <a:pt x="12908" y="30220"/>
                </a:cubicBezTo>
                <a:cubicBezTo>
                  <a:pt x="15996" y="30220"/>
                  <a:pt x="19078" y="30165"/>
                  <a:pt x="22161" y="30165"/>
                </a:cubicBezTo>
                <a:cubicBezTo>
                  <a:pt x="24859" y="30165"/>
                  <a:pt x="27557" y="30204"/>
                  <a:pt x="30243" y="30204"/>
                </a:cubicBezTo>
                <a:cubicBezTo>
                  <a:pt x="31690" y="30191"/>
                  <a:pt x="33123" y="30113"/>
                  <a:pt x="34505" y="29852"/>
                </a:cubicBezTo>
                <a:cubicBezTo>
                  <a:pt x="35470" y="29683"/>
                  <a:pt x="36330" y="29435"/>
                  <a:pt x="36917" y="29005"/>
                </a:cubicBezTo>
                <a:cubicBezTo>
                  <a:pt x="37881" y="28288"/>
                  <a:pt x="38677" y="27519"/>
                  <a:pt x="39120" y="26684"/>
                </a:cubicBezTo>
                <a:cubicBezTo>
                  <a:pt x="39732" y="25485"/>
                  <a:pt x="39954" y="24260"/>
                  <a:pt x="39954" y="23021"/>
                </a:cubicBezTo>
                <a:cubicBezTo>
                  <a:pt x="39954" y="19372"/>
                  <a:pt x="40006" y="15709"/>
                  <a:pt x="39563" y="12059"/>
                </a:cubicBezTo>
                <a:cubicBezTo>
                  <a:pt x="39367" y="10403"/>
                  <a:pt x="39485" y="8748"/>
                  <a:pt x="39237" y="7105"/>
                </a:cubicBezTo>
                <a:cubicBezTo>
                  <a:pt x="39068" y="6023"/>
                  <a:pt x="38794" y="4941"/>
                  <a:pt x="37920" y="3938"/>
                </a:cubicBezTo>
                <a:cubicBezTo>
                  <a:pt x="37282" y="3208"/>
                  <a:pt x="36773" y="2438"/>
                  <a:pt x="35665" y="1826"/>
                </a:cubicBezTo>
                <a:cubicBezTo>
                  <a:pt x="34192" y="1031"/>
                  <a:pt x="32237" y="666"/>
                  <a:pt x="30138" y="496"/>
                </a:cubicBezTo>
                <a:cubicBezTo>
                  <a:pt x="26451" y="194"/>
                  <a:pt x="22741" y="1"/>
                  <a:pt x="19007" y="1"/>
                </a:cubicBezTo>
                <a:close/>
              </a:path>
            </a:pathLst>
          </a:custGeom>
          <a:solidFill>
            <a:srgbClr val="112A40"/>
          </a:solidFill>
          <a:ln w="28575" cap="flat" cmpd="sng">
            <a:solidFill>
              <a:schemeClr val="lt1"/>
            </a:solidFill>
            <a:prstDash val="solid"/>
            <a:round/>
            <a:headEnd type="none" w="sm" len="sm"/>
            <a:tailEnd type="none" w="sm" len="sm"/>
          </a:ln>
          <a:effectLst>
            <a:outerShdw blurRad="57150" dist="9525" algn="bl" rotWithShape="0">
              <a:srgbClr val="000000"/>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lang="fr-CI" sz="1200" noProof="0">
              <a:solidFill>
                <a:schemeClr val="bg1"/>
              </a:solidFill>
              <a:latin typeface="Helvetica" panose="020B0604020202020204" pitchFamily="34" charset="0"/>
              <a:cs typeface="Helvetica" panose="020B0604020202020204" pitchFamily="34" charset="0"/>
            </a:endParaRPr>
          </a:p>
        </p:txBody>
      </p:sp>
      <p:sp>
        <p:nvSpPr>
          <p:cNvPr id="47" name="Google Shape;7431;p41"/>
          <p:cNvSpPr txBox="1">
            <a:spLocks/>
          </p:cNvSpPr>
          <p:nvPr/>
        </p:nvSpPr>
        <p:spPr>
          <a:xfrm rot="21238167">
            <a:off x="1055515" y="2057346"/>
            <a:ext cx="961801" cy="526899"/>
          </a:xfrm>
          <a:prstGeom prst="rect">
            <a:avLst/>
          </a:prstGeom>
        </p:spPr>
        <p:txBody>
          <a:bodyPr spcFirstLastPara="1" wrap="square" lIns="91425" tIns="91425" rIns="91425" bIns="91425" anchor="ctr" anchorCtr="0">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spcBef>
                <a:spcPts val="0"/>
              </a:spcBef>
            </a:pPr>
            <a:r>
              <a:rPr lang="fr-CI" sz="3200" noProof="0">
                <a:solidFill>
                  <a:schemeClr val="bg1"/>
                </a:solidFill>
                <a:latin typeface="Helvetica" panose="020B0604020202020204" pitchFamily="34" charset="0"/>
                <a:cs typeface="Helvetica" panose="020B0604020202020204" pitchFamily="34" charset="0"/>
              </a:rPr>
              <a:t>01</a:t>
            </a:r>
          </a:p>
        </p:txBody>
      </p:sp>
      <p:sp>
        <p:nvSpPr>
          <p:cNvPr id="48" name="Google Shape;7432;p41"/>
          <p:cNvSpPr txBox="1">
            <a:spLocks/>
          </p:cNvSpPr>
          <p:nvPr/>
        </p:nvSpPr>
        <p:spPr>
          <a:xfrm rot="395864">
            <a:off x="1055515" y="4196382"/>
            <a:ext cx="961801" cy="526899"/>
          </a:xfrm>
          <a:prstGeom prst="rect">
            <a:avLst/>
          </a:prstGeom>
        </p:spPr>
        <p:txBody>
          <a:bodyPr spcFirstLastPara="1" wrap="square" lIns="91425" tIns="91425" rIns="91425" bIns="91425" anchor="ctr" anchorCtr="0">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spcBef>
                <a:spcPts val="0"/>
              </a:spcBef>
            </a:pPr>
            <a:r>
              <a:rPr lang="fr-CI" sz="3200" noProof="0">
                <a:solidFill>
                  <a:schemeClr val="bg1"/>
                </a:solidFill>
                <a:latin typeface="Helvetica" panose="020B0604020202020204" pitchFamily="34" charset="0"/>
                <a:cs typeface="Helvetica" panose="020B0604020202020204" pitchFamily="34" charset="0"/>
              </a:rPr>
              <a:t>02</a:t>
            </a:r>
          </a:p>
        </p:txBody>
      </p:sp>
      <p:sp>
        <p:nvSpPr>
          <p:cNvPr id="53" name="Google Shape;7437;p41"/>
          <p:cNvSpPr txBox="1">
            <a:spLocks/>
          </p:cNvSpPr>
          <p:nvPr/>
        </p:nvSpPr>
        <p:spPr>
          <a:xfrm rot="354388">
            <a:off x="6338696" y="2057346"/>
            <a:ext cx="970153" cy="526899"/>
          </a:xfrm>
          <a:prstGeom prst="rect">
            <a:avLst/>
          </a:prstGeom>
        </p:spPr>
        <p:txBody>
          <a:bodyPr spcFirstLastPara="1" wrap="square" lIns="91425" tIns="91425" rIns="91425" bIns="91425" anchor="ctr" anchorCtr="0">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spcBef>
                <a:spcPts val="0"/>
              </a:spcBef>
            </a:pPr>
            <a:r>
              <a:rPr lang="fr-CI" sz="3200" noProof="0">
                <a:solidFill>
                  <a:schemeClr val="bg1"/>
                </a:solidFill>
                <a:latin typeface="Helvetica" panose="020B0604020202020204" pitchFamily="34" charset="0"/>
                <a:cs typeface="Helvetica" panose="020B0604020202020204" pitchFamily="34" charset="0"/>
              </a:rPr>
              <a:t>03</a:t>
            </a:r>
          </a:p>
        </p:txBody>
      </p:sp>
      <p:sp>
        <p:nvSpPr>
          <p:cNvPr id="54" name="Google Shape;7438;p41"/>
          <p:cNvSpPr txBox="1">
            <a:spLocks/>
          </p:cNvSpPr>
          <p:nvPr/>
        </p:nvSpPr>
        <p:spPr>
          <a:xfrm rot="21176429">
            <a:off x="6338696" y="4196382"/>
            <a:ext cx="970153" cy="526899"/>
          </a:xfrm>
          <a:prstGeom prst="rect">
            <a:avLst/>
          </a:prstGeom>
        </p:spPr>
        <p:txBody>
          <a:bodyPr spcFirstLastPara="1" wrap="square" lIns="91425" tIns="91425" rIns="91425" bIns="91425" anchor="ctr" anchorCtr="0">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spcBef>
                <a:spcPts val="0"/>
              </a:spcBef>
            </a:pPr>
            <a:r>
              <a:rPr lang="fr-CI" sz="3200" noProof="0">
                <a:solidFill>
                  <a:schemeClr val="bg1"/>
                </a:solidFill>
                <a:latin typeface="Helvetica" panose="020B0604020202020204" pitchFamily="34" charset="0"/>
                <a:cs typeface="Helvetica" panose="020B0604020202020204" pitchFamily="34" charset="0"/>
              </a:rPr>
              <a:t>04</a:t>
            </a:r>
          </a:p>
        </p:txBody>
      </p:sp>
      <p:sp>
        <p:nvSpPr>
          <p:cNvPr id="19" name="Rectangle 18"/>
          <p:cNvSpPr/>
          <p:nvPr/>
        </p:nvSpPr>
        <p:spPr>
          <a:xfrm>
            <a:off x="2312337" y="1521177"/>
            <a:ext cx="3277758" cy="1753551"/>
          </a:xfrm>
          <a:prstGeom prst="rect">
            <a:avLst/>
          </a:prstGeom>
        </p:spPr>
        <p:txBody>
          <a:bodyPr wrap="square">
            <a:spAutoFit/>
          </a:bodyPr>
          <a:lstStyle/>
          <a:p>
            <a:pPr lvl="0">
              <a:lnSpc>
                <a:spcPct val="110000"/>
              </a:lnSpc>
            </a:pPr>
            <a:r>
              <a:rPr lang="fr-CI" sz="1400" b="1" noProof="0">
                <a:solidFill>
                  <a:srgbClr val="112A40"/>
                </a:solidFill>
                <a:latin typeface="Helvetica" panose="020B0604020202020204" pitchFamily="34" charset="0"/>
                <a:ea typeface="Open Sans Semibold" panose="020B0706030804020204" pitchFamily="34" charset="0"/>
                <a:cs typeface="Helvetica" panose="020B0604020202020204" pitchFamily="34" charset="0"/>
              </a:rPr>
              <a:t>Collecter</a:t>
            </a:r>
          </a:p>
          <a:p>
            <a:r>
              <a:rPr lang="fr-CI" sz="1200" noProof="0" b="0">
                <a:latin typeface="Helvetica" panose="020B0604020202020204" pitchFamily="34" charset="0"/>
                <a:ea typeface="Open Sans Light" panose="020B0306030504020204" pitchFamily="34" charset="0"/>
                <a:cs typeface="Helvetica" panose="020B0604020202020204" pitchFamily="34" charset="0"/>
              </a:rPr>
              <a:t>Le FPPN transmet les bases de prestations, les mutualistes avec date de naissance, les comptes d'épargne et les barèmes.</a:t>
            </a:r>
            <a:endParaRPr lang="fr-CI" sz="1600" noProof="0"/>
          </a:p>
        </p:txBody>
      </p:sp>
      <p:sp>
        <p:nvSpPr>
          <p:cNvPr id="20" name="Rectangle 19"/>
          <p:cNvSpPr/>
          <p:nvPr/>
        </p:nvSpPr>
        <p:spPr>
          <a:xfrm>
            <a:off x="2312337" y="3826704"/>
            <a:ext cx="3277758" cy="1753551"/>
          </a:xfrm>
          <a:prstGeom prst="rect">
            <a:avLst/>
          </a:prstGeom>
        </p:spPr>
        <p:txBody>
          <a:bodyPr wrap="square">
            <a:spAutoFit/>
          </a:bodyPr>
          <a:lstStyle/>
          <a:p>
            <a:pPr lvl="0">
              <a:lnSpc>
                <a:spcPct val="110000"/>
              </a:lnSpc>
            </a:pPr>
            <a:r>
              <a:rPr lang="fr-CI" sz="1400" b="1" noProof="0">
                <a:solidFill>
                  <a:srgbClr val="112A40"/>
                </a:solidFill>
                <a:latin typeface="Helvetica" panose="020B0604020202020204" pitchFamily="34" charset="0"/>
                <a:ea typeface="Open Sans Semibold" panose="020B0706030804020204" pitchFamily="34" charset="0"/>
                <a:cs typeface="Helvetica" panose="020B0604020202020204" pitchFamily="34" charset="0"/>
              </a:rPr>
              <a:t>Calculer</a:t>
            </a:r>
          </a:p>
          <a:p>
            <a:r>
              <a:rPr lang="fr-CI" sz="1200" noProof="0" b="0">
                <a:latin typeface="Helvetica" panose="020B0604020202020204" pitchFamily="34" charset="0"/>
                <a:ea typeface="Open Sans Light" panose="020B0306030504020204" pitchFamily="34" charset="0"/>
                <a:cs typeface="Helvetica" panose="020B0604020202020204" pitchFamily="34" charset="0"/>
              </a:rPr>
              <a:t>Adenka calcule les provisions (PSAP, Chain Ladder), la mortalité observée et les engagements d'épargne.</a:t>
            </a:r>
            <a:endParaRPr lang="fr-CI" sz="1600" noProof="0"/>
          </a:p>
        </p:txBody>
      </p:sp>
      <p:sp>
        <p:nvSpPr>
          <p:cNvPr id="22" name="Rectangle 21"/>
          <p:cNvSpPr/>
          <p:nvPr/>
        </p:nvSpPr>
        <p:spPr>
          <a:xfrm>
            <a:off x="7611772" y="1525274"/>
            <a:ext cx="3277758" cy="1753551"/>
          </a:xfrm>
          <a:prstGeom prst="rect">
            <a:avLst/>
          </a:prstGeom>
        </p:spPr>
        <p:txBody>
          <a:bodyPr wrap="square">
            <a:spAutoFit/>
          </a:bodyPr>
          <a:lstStyle/>
          <a:p>
            <a:pPr lvl="0">
              <a:lnSpc>
                <a:spcPct val="110000"/>
              </a:lnSpc>
            </a:pPr>
            <a:r>
              <a:rPr lang="fr-CI" sz="1400" b="1" noProof="0">
                <a:solidFill>
                  <a:srgbClr val="112A40"/>
                </a:solidFill>
                <a:latin typeface="Helvetica" panose="020B0604020202020204" pitchFamily="34" charset="0"/>
                <a:ea typeface="Open Sans Semibold" panose="020B0706030804020204" pitchFamily="34" charset="0"/>
                <a:cs typeface="Helvetica" panose="020B0604020202020204" pitchFamily="34" charset="0"/>
              </a:rPr>
              <a:t>Vérifier</a:t>
            </a:r>
          </a:p>
          <a:p>
            <a:r>
              <a:rPr lang="fr-CI" sz="1200" noProof="0" b="0">
                <a:latin typeface="Helvetica" panose="020B0604020202020204" pitchFamily="34" charset="0"/>
                <a:ea typeface="Open Sans Light" panose="020B0306030504020204" pitchFamily="34" charset="0"/>
                <a:cs typeface="Helvetica" panose="020B0604020202020204" pitchFamily="34" charset="0"/>
              </a:rPr>
              <a:t>Adenka rapproche les résultats de la comptabilité et des ratios de l'UEMOA, puis les discute avec le FPPN.</a:t>
            </a:r>
            <a:endParaRPr lang="fr-CI" sz="1600" noProof="0"/>
          </a:p>
        </p:txBody>
      </p:sp>
      <p:sp>
        <p:nvSpPr>
          <p:cNvPr id="23" name="Rectangle 22"/>
          <p:cNvSpPr/>
          <p:nvPr/>
        </p:nvSpPr>
        <p:spPr>
          <a:xfrm>
            <a:off x="7611772" y="3830800"/>
            <a:ext cx="3277758" cy="1753551"/>
          </a:xfrm>
          <a:prstGeom prst="rect">
            <a:avLst/>
          </a:prstGeom>
        </p:spPr>
        <p:txBody>
          <a:bodyPr wrap="square">
            <a:spAutoFit/>
          </a:bodyPr>
          <a:lstStyle/>
          <a:p>
            <a:pPr lvl="0">
              <a:lnSpc>
                <a:spcPct val="110000"/>
              </a:lnSpc>
            </a:pPr>
            <a:r>
              <a:rPr lang="fr-CI" sz="1400" b="1" noProof="0">
                <a:solidFill>
                  <a:srgbClr val="112A40"/>
                </a:solidFill>
                <a:latin typeface="Helvetica" panose="020B0604020202020204" pitchFamily="34" charset="0"/>
                <a:ea typeface="Open Sans Semibold" panose="020B0706030804020204" pitchFamily="34" charset="0"/>
                <a:cs typeface="Helvetica" panose="020B0604020202020204" pitchFamily="34" charset="0"/>
              </a:rPr>
              <a:t>Projeter</a:t>
            </a:r>
          </a:p>
          <a:p>
            <a:r>
              <a:rPr lang="fr-CI" sz="1200" noProof="0" b="0">
                <a:latin typeface="Helvetica" panose="020B0604020202020204" pitchFamily="34" charset="0"/>
                <a:ea typeface="Open Sans Light" panose="020B0306030504020204" pitchFamily="34" charset="0"/>
                <a:cs typeface="Helvetica" panose="020B0604020202020204" pitchFamily="34" charset="0"/>
              </a:rPr>
              <a:t>Adenka projette l'équilibre technique sur 5 à 10 ans et chiffre les recommandations.</a:t>
            </a:r>
            <a:endParaRPr lang="fr-CI" sz="1600" noProof="0"/>
          </a:p>
        </p:txBody>
      </p:sp>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55"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Feuille de route proposée</a:t>
            </a:r>
          </a:p>
        </p:txBody>
      </p:sp>
      <p:sp>
        <p:nvSpPr>
          <p:cNvPr id="56"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Quatre étapes pour passer du constat à l'évaluation des engagements</a:t>
            </a:r>
          </a:p>
        </p:txBody>
      </p:sp>
      <p:sp>
        <p:nvSpPr>
          <p:cNvPr id="57"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Chaque étape dépend de la précédente. La première est la transmission des données manquantes</a:t>
            </a:r>
          </a:p>
        </p:txBody>
      </p:sp>
      <p:sp>
        <p:nvSpPr>
          <p:cNvPr id="58"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Adenka</a:t>
            </a:r>
          </a:p>
        </p:txBody>
      </p:sp>
      <p:sp>
        <p:nvSpPr>
          <p:cNvPr id="59" name="TextBox 58"/>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UEMOA : Union économique et monétaire ouest-africaine | PSAP : provision pour sinistres à payer</a:t>
            </a:r>
          </a:p>
        </p:txBody>
      </p:sp>
    </p:spTree>
    <p:extLst>
      <p:ext uri="{BB962C8B-B14F-4D97-AF65-F5344CB8AC3E}">
        <p14:creationId xmlns:p14="http://schemas.microsoft.com/office/powerpoint/2010/main" val="2137718605"/>
      </p:ext>
    </p:extLst>
  </p:cSld>
  <p:clrMapOvr>
    <a:masterClrMapping/>
  </p:clrMapOvr>
  <p:transition>
    <p:fade/>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Google Shape;8651;p70"/>
          <p:cNvSpPr/>
          <p:nvPr/>
        </p:nvSpPr>
        <p:spPr>
          <a:xfrm>
            <a:off x="2013108" y="2588204"/>
            <a:ext cx="1380332" cy="1428252"/>
          </a:xfrm>
          <a:custGeom>
            <a:avLst/>
            <a:gdLst/>
            <a:ahLst/>
            <a:cxnLst/>
            <a:rect l="l" t="t" r="r" b="b"/>
            <a:pathLst>
              <a:path w="8670" h="8971" extrusionOk="0">
                <a:moveTo>
                  <a:pt x="7105" y="1302"/>
                </a:moveTo>
                <a:cubicBezTo>
                  <a:pt x="7105" y="1315"/>
                  <a:pt x="7105" y="1328"/>
                  <a:pt x="7105" y="1341"/>
                </a:cubicBezTo>
                <a:cubicBezTo>
                  <a:pt x="7118" y="1980"/>
                  <a:pt x="7183" y="2619"/>
                  <a:pt x="7183" y="3283"/>
                </a:cubicBezTo>
                <a:cubicBezTo>
                  <a:pt x="7170" y="4404"/>
                  <a:pt x="7183" y="5525"/>
                  <a:pt x="7222" y="6646"/>
                </a:cubicBezTo>
                <a:cubicBezTo>
                  <a:pt x="7235" y="6959"/>
                  <a:pt x="7222" y="7259"/>
                  <a:pt x="7222" y="7559"/>
                </a:cubicBezTo>
                <a:lnTo>
                  <a:pt x="7222" y="7585"/>
                </a:lnTo>
                <a:cubicBezTo>
                  <a:pt x="6935" y="7598"/>
                  <a:pt x="6649" y="7611"/>
                  <a:pt x="6362" y="7611"/>
                </a:cubicBezTo>
                <a:cubicBezTo>
                  <a:pt x="6101" y="7598"/>
                  <a:pt x="5853" y="7585"/>
                  <a:pt x="5593" y="7585"/>
                </a:cubicBezTo>
                <a:cubicBezTo>
                  <a:pt x="4159" y="7559"/>
                  <a:pt x="2712" y="7559"/>
                  <a:pt x="1291" y="7442"/>
                </a:cubicBezTo>
                <a:cubicBezTo>
                  <a:pt x="1278" y="7207"/>
                  <a:pt x="1239" y="6959"/>
                  <a:pt x="1226" y="6725"/>
                </a:cubicBezTo>
                <a:cubicBezTo>
                  <a:pt x="1200" y="6255"/>
                  <a:pt x="1187" y="5799"/>
                  <a:pt x="1200" y="5330"/>
                </a:cubicBezTo>
                <a:cubicBezTo>
                  <a:pt x="1213" y="4222"/>
                  <a:pt x="1226" y="3101"/>
                  <a:pt x="1343" y="1993"/>
                </a:cubicBezTo>
                <a:lnTo>
                  <a:pt x="1552" y="1993"/>
                </a:lnTo>
                <a:cubicBezTo>
                  <a:pt x="2138" y="1980"/>
                  <a:pt x="2725" y="1889"/>
                  <a:pt x="3312" y="1810"/>
                </a:cubicBezTo>
                <a:cubicBezTo>
                  <a:pt x="4576" y="1641"/>
                  <a:pt x="5840" y="1524"/>
                  <a:pt x="7105" y="1302"/>
                </a:cubicBezTo>
                <a:close/>
                <a:moveTo>
                  <a:pt x="7529" y="1"/>
                </a:moveTo>
                <a:cubicBezTo>
                  <a:pt x="7291" y="1"/>
                  <a:pt x="7059" y="53"/>
                  <a:pt x="6818" y="64"/>
                </a:cubicBezTo>
                <a:cubicBezTo>
                  <a:pt x="6375" y="103"/>
                  <a:pt x="5932" y="142"/>
                  <a:pt x="5488" y="194"/>
                </a:cubicBezTo>
                <a:cubicBezTo>
                  <a:pt x="4824" y="259"/>
                  <a:pt x="4107" y="350"/>
                  <a:pt x="3429" y="389"/>
                </a:cubicBezTo>
                <a:cubicBezTo>
                  <a:pt x="2686" y="429"/>
                  <a:pt x="1943" y="481"/>
                  <a:pt x="1213" y="598"/>
                </a:cubicBezTo>
                <a:cubicBezTo>
                  <a:pt x="913" y="624"/>
                  <a:pt x="652" y="728"/>
                  <a:pt x="509" y="976"/>
                </a:cubicBezTo>
                <a:cubicBezTo>
                  <a:pt x="470" y="1028"/>
                  <a:pt x="444" y="1080"/>
                  <a:pt x="431" y="1146"/>
                </a:cubicBezTo>
                <a:cubicBezTo>
                  <a:pt x="300" y="1524"/>
                  <a:pt x="287" y="1928"/>
                  <a:pt x="300" y="2332"/>
                </a:cubicBezTo>
                <a:cubicBezTo>
                  <a:pt x="209" y="3010"/>
                  <a:pt x="209" y="3700"/>
                  <a:pt x="209" y="4378"/>
                </a:cubicBezTo>
                <a:cubicBezTo>
                  <a:pt x="170" y="4769"/>
                  <a:pt x="144" y="5173"/>
                  <a:pt x="131" y="5565"/>
                </a:cubicBezTo>
                <a:cubicBezTo>
                  <a:pt x="105" y="6203"/>
                  <a:pt x="14" y="6842"/>
                  <a:pt x="14" y="7481"/>
                </a:cubicBezTo>
                <a:cubicBezTo>
                  <a:pt x="1" y="7911"/>
                  <a:pt x="157" y="8315"/>
                  <a:pt x="613" y="8419"/>
                </a:cubicBezTo>
                <a:cubicBezTo>
                  <a:pt x="1056" y="8550"/>
                  <a:pt x="1526" y="8524"/>
                  <a:pt x="1982" y="8550"/>
                </a:cubicBezTo>
                <a:cubicBezTo>
                  <a:pt x="2243" y="8563"/>
                  <a:pt x="2503" y="8589"/>
                  <a:pt x="2764" y="8615"/>
                </a:cubicBezTo>
                <a:cubicBezTo>
                  <a:pt x="3885" y="8745"/>
                  <a:pt x="5006" y="8902"/>
                  <a:pt x="6140" y="8941"/>
                </a:cubicBezTo>
                <a:cubicBezTo>
                  <a:pt x="6220" y="8945"/>
                  <a:pt x="6302" y="8946"/>
                  <a:pt x="6383" y="8946"/>
                </a:cubicBezTo>
                <a:cubicBezTo>
                  <a:pt x="6581" y="8946"/>
                  <a:pt x="6781" y="8937"/>
                  <a:pt x="6974" y="8928"/>
                </a:cubicBezTo>
                <a:cubicBezTo>
                  <a:pt x="7118" y="8941"/>
                  <a:pt x="7274" y="8941"/>
                  <a:pt x="7418" y="8941"/>
                </a:cubicBezTo>
                <a:cubicBezTo>
                  <a:pt x="7568" y="8956"/>
                  <a:pt x="7723" y="8971"/>
                  <a:pt x="7877" y="8971"/>
                </a:cubicBezTo>
                <a:cubicBezTo>
                  <a:pt x="7990" y="8971"/>
                  <a:pt x="8103" y="8963"/>
                  <a:pt x="8213" y="8941"/>
                </a:cubicBezTo>
                <a:cubicBezTo>
                  <a:pt x="8643" y="8810"/>
                  <a:pt x="8565" y="8093"/>
                  <a:pt x="8604" y="7741"/>
                </a:cubicBezTo>
                <a:cubicBezTo>
                  <a:pt x="8669" y="6620"/>
                  <a:pt x="8539" y="5499"/>
                  <a:pt x="8487" y="4378"/>
                </a:cubicBezTo>
                <a:cubicBezTo>
                  <a:pt x="8434" y="3453"/>
                  <a:pt x="8330" y="2527"/>
                  <a:pt x="8252" y="1589"/>
                </a:cubicBezTo>
                <a:cubicBezTo>
                  <a:pt x="8200" y="1341"/>
                  <a:pt x="8239" y="637"/>
                  <a:pt x="8096" y="350"/>
                </a:cubicBezTo>
                <a:lnTo>
                  <a:pt x="8082" y="350"/>
                </a:lnTo>
                <a:cubicBezTo>
                  <a:pt x="8056" y="181"/>
                  <a:pt x="7952" y="51"/>
                  <a:pt x="7704" y="11"/>
                </a:cubicBezTo>
                <a:cubicBezTo>
                  <a:pt x="7645" y="4"/>
                  <a:pt x="7587" y="1"/>
                  <a:pt x="7529" y="1"/>
                </a:cubicBezTo>
                <a:close/>
              </a:path>
            </a:pathLst>
          </a:custGeom>
          <a:solidFill>
            <a:schemeClr val="bg1"/>
          </a:solidFill>
          <a:ln w="76200">
            <a:solidFill>
              <a:schemeClr val="tx1"/>
            </a:solidFill>
          </a:ln>
        </p:spPr>
        <p:txBody>
          <a:bodyPr spcFirstLastPara="1" wrap="square" lIns="91425" tIns="91425" rIns="91425" bIns="91425" anchor="ctr" anchorCtr="0">
            <a:noAutofit/>
          </a:bodyPr>
          <a:lstStyle/>
          <a:p>
            <a:pPr marL="0" lvl="0" indent="0" algn="l" rtl="0">
              <a:spcBef>
                <a:spcPts val="0"/>
              </a:spcBef>
              <a:spcAft>
                <a:spcPts val="0"/>
              </a:spcAft>
              <a:buNone/>
            </a:pPr>
            <a:endParaRPr lang="fr-CI" noProof="0">
              <a:solidFill>
                <a:schemeClr val="bg1"/>
              </a:solidFill>
              <a:latin typeface="Helvetica" panose="020B0604020202020204" pitchFamily="34" charset="0"/>
              <a:cs typeface="Helvetica" panose="020B0604020202020204" pitchFamily="34" charset="0"/>
            </a:endParaRPr>
          </a:p>
        </p:txBody>
      </p:sp>
      <p:sp>
        <p:nvSpPr>
          <p:cNvPr id="25" name="Rectangle 24">
            <a:extLst>
              <a:ext uri="{FF2B5EF4-FFF2-40B4-BE49-F238E27FC236}">
                <a16:creationId xmlns:a16="http://schemas.microsoft.com/office/drawing/2014/main" id="{9B9B23AA-050D-4543-80A0-873FE31AFFF7}"/>
              </a:ext>
            </a:extLst>
          </p:cNvPr>
          <p:cNvSpPr/>
          <p:nvPr/>
        </p:nvSpPr>
        <p:spPr>
          <a:xfrm>
            <a:off x="2446471" y="2869098"/>
            <a:ext cx="513606" cy="936923"/>
          </a:xfrm>
          <a:prstGeom prst="rect">
            <a:avLst/>
          </a:prstGeom>
        </p:spPr>
        <p:txBody>
          <a:bodyPr wrap="square" lIns="0" tIns="0" rIns="0" bIns="0">
            <a:spAutoFit/>
          </a:bodyPr>
          <a:lstStyle/>
          <a:p>
            <a:pPr lvl="0">
              <a:lnSpc>
                <a:spcPct val="110000"/>
              </a:lnSpc>
            </a:pPr>
            <a:r>
              <a:rPr lang="fr-CI" sz="6000" b="1" noProof="0">
                <a:solidFill>
                  <a:schemeClr val="bg1"/>
                </a:solidFill>
                <a:latin typeface="Helvetica" panose="020B0604020202020204" pitchFamily="34" charset="0"/>
                <a:ea typeface="Open Sans Semibold" panose="020B0706030804020204" pitchFamily="34" charset="0"/>
                <a:cs typeface="Helvetica" panose="020B0604020202020204" pitchFamily="34" charset="0"/>
              </a:rPr>
              <a:t>1</a:t>
            </a:r>
          </a:p>
        </p:txBody>
      </p:sp>
      <p:sp>
        <p:nvSpPr>
          <p:cNvPr id="10" name="Rectangle 9"/>
          <p:cNvSpPr/>
          <p:nvPr/>
        </p:nvSpPr>
        <p:spPr>
          <a:xfrm>
            <a:off x="3938554" y="2462184"/>
            <a:ext cx="3816000" cy="1200329"/>
          </a:xfrm>
          <a:prstGeom prst="rect">
            <a:avLst/>
          </a:prstGeom>
        </p:spPr>
        <p:txBody>
          <a:bodyPr wrap="square">
            <a:spAutoFit/>
          </a:bodyPr>
          <a:lstStyle/>
          <a:p>
            <a:r>
              <a:rPr lang="fr-CI" sz="3600" b="1" noProof="0">
                <a:solidFill>
                  <a:schemeClr val="bg1"/>
                </a:solidFill>
                <a:latin typeface="Helvetica" panose="020B0604020202020204" pitchFamily="34" charset="0"/>
                <a:cs typeface="Helvetica" panose="020B0604020202020204" pitchFamily="34" charset="0"/>
              </a:rPr>
              <a:t>Comprendre le FPPN</a:t>
            </a:r>
          </a:p>
        </p:txBody>
      </p:sp>
      <p:pic>
        <p:nvPicPr>
          <p:cNvPr id="9" name="Image 8">
            <a:extLst>
              <a:ext uri="{FF2B5EF4-FFF2-40B4-BE49-F238E27FC236}">
                <a16:creationId xmlns:a16="http://schemas.microsoft.com/office/drawing/2014/main" id="{2C356854-0685-DCEF-E2F6-65D5E9653A47}"/>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71274" y="-185107"/>
            <a:ext cx="3179518" cy="1268781"/>
          </a:xfrm>
          <a:prstGeom prst="rect">
            <a:avLst/>
          </a:prstGeom>
        </p:spPr>
      </p:pic>
      <p:sp>
        <p:nvSpPr>
          <p:cNvPr id="6" name="Rectangle 5"/>
          <p:cNvSpPr/>
          <p:nvPr/>
        </p:nvSpPr>
        <p:spPr>
          <a:xfrm>
            <a:off x="3938554" y="3337559"/>
            <a:ext cx="3816000" cy="923330"/>
          </a:xfrm>
          <a:prstGeom prst="rect">
            <a:avLst/>
          </a:prstGeom>
        </p:spPr>
        <p:txBody>
          <a:bodyPr wrap="square">
            <a:spAutoFit/>
          </a:bodyPr>
          <a:lstStyle/>
          <a:p>
            <a:br>
              <a:rPr lang="fr-CI" noProof="0">
                <a:solidFill>
                  <a:schemeClr val="bg1"/>
                </a:solidFill>
              </a:rPr>
            </a:br>
            <a:r>
              <a:rPr lang="fr-CI" noProof="0">
                <a:solidFill>
                  <a:srgbClr val="EFAC62"/>
                </a:solidFill>
                <a:latin typeface="Helvetica" panose="020B0604020202020204" pitchFamily="34" charset="0"/>
                <a:ea typeface="Open Sans Light" panose="020B0306030504020204" pitchFamily="34" charset="0"/>
                <a:cs typeface="Helvetica" panose="020B0604020202020204" pitchFamily="34" charset="0"/>
              </a:rPr>
              <a:t>Cadre, garanties, circuits et notions de base</a:t>
            </a:r>
          </a:p>
        </p:txBody>
      </p:sp>
      <p:pic>
        <p:nvPicPr>
          <p:cNvPr id="11" name="Image 1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865561" y="2415481"/>
            <a:ext cx="1566911" cy="1600975"/>
          </a:xfrm>
          <a:prstGeom prst="rect">
            <a:avLst/>
          </a:prstGeom>
        </p:spPr>
      </p:pic>
    </p:spTree>
    <p:extLst>
      <p:ext uri="{BB962C8B-B14F-4D97-AF65-F5344CB8AC3E}">
        <p14:creationId xmlns:p14="http://schemas.microsoft.com/office/powerpoint/2010/main" val="1471743576"/>
      </p:ext>
    </p:extLst>
  </p:cSld>
  <p:clrMapOvr>
    <a:masterClrMapping/>
  </p:clrMapOvr>
  <p:transition>
    <p:fade/>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Cadre juridique</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Le FPPN est une mutuelle sociale agréée, régie par le droit de l'UEMOA</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Le règlement n° 07/2009/CM/UEMOA fixe les règles, l'AIRMS contrôle, le Code CIMA sert de référence technique</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textes cités (documentation publique de l'AIRMS fournie le 18/10/2026). Répertoire AIRMS des mutuelles agréées, mise à jour du 15/10/2026</a:t>
            </a:r>
          </a:p>
        </p:txBody>
      </p:sp>
      <p:sp>
        <p:nvSpPr>
          <p:cNvPr id="31" name="TextBox 30"/>
          <p:cNvSpPr txBox="1"/>
          <p:nvPr/>
        </p:nvSpPr>
        <p:spPr>
          <a:xfrm>
            <a:off x="503999" y="1386000"/>
            <a:ext cx="11232000" cy="216000"/>
          </a:xfrm>
          <a:prstGeom prst="rect">
            <a:avLst/>
          </a:prstGeom>
          <a:noFill/>
        </p:spPr>
        <p:txBody>
          <a:bodyPr wrap="square" anchor="t" lIns="54000" rIns="54000"/>
          <a:lstStyle/>
          <a:p>
            <a:pPr algn="ctr"/>
            <a:r>
              <a:rPr sz="1200" b="0">
                <a:solidFill>
                  <a:srgbClr val="EFAC62"/>
                </a:solidFill>
                <a:latin typeface="Helvetica"/>
              </a:rPr>
              <a:t>Tableau 4 : Textes et organismes de référence</a:t>
            </a:r>
          </a:p>
        </p:txBody>
      </p:sp>
      <p:graphicFrame>
        <p:nvGraphicFramePr>
          <p:cNvPr id="32" name="Table 31"/>
          <p:cNvGraphicFramePr>
            <a:graphicFrameLocks noGrp="1"/>
          </p:cNvGraphicFramePr>
          <p:nvPr/>
        </p:nvGraphicFramePr>
        <p:xfrm>
          <a:off x="503999" y="1655999"/>
          <a:ext cx="11232000" cy="2582656"/>
        </p:xfrm>
        <a:graphic>
          <a:graphicData uri="http://schemas.openxmlformats.org/drawingml/2006/table">
            <a:tbl>
              <a:tblPr firstRow="0" bandRow="0">
                <a:tableStyleId>{5940675A-B579-460E-94D1-54222C63F5DA}</a:tableStyleId>
              </a:tblPr>
              <a:tblGrid>
                <a:gridCol w="2880000"/>
                <a:gridCol w="4104000"/>
                <a:gridCol w="4248000"/>
              </a:tblGrid>
              <a:tr h="225250">
                <a:tc>
                  <a:txBody>
                    <a:bodyPr/>
                    <a:lstStyle/>
                    <a:p>
                      <a:pPr marL="0" indent="0" lvl="0">
                        <a:buNone/>
                      </a:pPr>
                      <a:r>
                        <a:rPr sz="1100" b="1">
                          <a:solidFill>
                            <a:srgbClr val="FFFFFF"/>
                          </a:solidFill>
                          <a:latin typeface="Helvetica"/>
                        </a:rPr>
                        <a:t>Texte ou organisme</a:t>
                      </a:r>
                    </a:p>
                  </a:txBody>
                  <a:tcPr marL="43200" marR="43200" marT="14400" marB="14400" anchor="ctr">
                    <a:solidFill>
                      <a:srgbClr val="060606"/>
                    </a:solidFill>
                  </a:tcPr>
                </a:tc>
                <a:tc>
                  <a:txBody>
                    <a:bodyPr/>
                    <a:lstStyle/>
                    <a:p>
                      <a:pPr marL="0" indent="0" lvl="0">
                        <a:buNone/>
                      </a:pPr>
                      <a:r>
                        <a:rPr sz="1100" b="1">
                          <a:solidFill>
                            <a:srgbClr val="FFFFFF"/>
                          </a:solidFill>
                          <a:latin typeface="Helvetica"/>
                        </a:rPr>
                        <a:t>Rôle pour le FPPN</a:t>
                      </a:r>
                    </a:p>
                  </a:txBody>
                  <a:tcPr marL="43200" marR="43200" marT="14400" marB="14400" anchor="ctr">
                    <a:solidFill>
                      <a:srgbClr val="060606"/>
                    </a:solidFill>
                  </a:tcPr>
                </a:tc>
                <a:tc>
                  <a:txBody>
                    <a:bodyPr/>
                    <a:lstStyle/>
                    <a:p>
                      <a:pPr marL="0" indent="0" lvl="0">
                        <a:buNone/>
                      </a:pPr>
                      <a:r>
                        <a:rPr sz="1100" b="1">
                          <a:solidFill>
                            <a:srgbClr val="FFFFFF"/>
                          </a:solidFill>
                          <a:latin typeface="Helvetica"/>
                        </a:rPr>
                        <a:t>Usage dans ce rapport</a:t>
                      </a:r>
                    </a:p>
                  </a:txBody>
                  <a:tcPr marL="43200" marR="43200" marT="14400" marB="14400" anchor="ctr">
                    <a:solidFill>
                      <a:srgbClr val="060606"/>
                    </a:solidFill>
                  </a:tcPr>
                </a:tc>
              </a:tr>
              <a:tr h="392901">
                <a:tc>
                  <a:txBody>
                    <a:bodyPr/>
                    <a:lstStyle/>
                    <a:p>
                      <a:pPr marL="0" indent="0" lvl="0">
                        <a:buNone/>
                      </a:pPr>
                      <a:r>
                        <a:rPr sz="1100" b="1">
                          <a:solidFill>
                            <a:srgbClr val="060606"/>
                          </a:solidFill>
                          <a:latin typeface="Helvetica"/>
                        </a:rPr>
                        <a:t>Règlement n° 07/2009/CM/UEMOA du 26/06/2009</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Il fixe l'agrément, les obligations, les sanctions et le contrôle des mutuelles sociales.</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Cadre général (partie 10)</a:t>
                      </a:r>
                    </a:p>
                  </a:txBody>
                  <a:tcPr marL="43200" marR="43200" marT="14400" marB="14400" anchor="ctr">
                    <a:solidFill>
                      <a:srgbClr val="FFFFFF"/>
                    </a:solidFill>
                  </a:tcPr>
                </a:tc>
              </a:tr>
              <a:tr h="392901">
                <a:tc>
                  <a:txBody>
                    <a:bodyPr/>
                    <a:lstStyle/>
                    <a:p>
                      <a:pPr marL="0" indent="0" lvl="0">
                        <a:buNone/>
                      </a:pPr>
                      <a:r>
                        <a:rPr sz="1100" b="1">
                          <a:solidFill>
                            <a:srgbClr val="060606"/>
                          </a:solidFill>
                          <a:latin typeface="Helvetica"/>
                        </a:rPr>
                        <a:t>Règlement d'exécution n° 004/2022/COM/UEMOA du 01/06/2022</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Il fixe les règles prudentielles : provisions, réserves, risques longs, placements.</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Exigences prudentielles (partie 10)</a:t>
                      </a:r>
                    </a:p>
                  </a:txBody>
                  <a:tcPr marL="43200" marR="43200" marT="14400" marB="14400" anchor="ctr">
                    <a:solidFill>
                      <a:srgbClr val="F2F2F2"/>
                    </a:solidFill>
                  </a:tcPr>
                </a:tc>
              </a:tr>
              <a:tr h="392901">
                <a:tc>
                  <a:txBody>
                    <a:bodyPr/>
                    <a:lstStyle/>
                    <a:p>
                      <a:pPr marL="0" indent="0" lvl="0">
                        <a:buNone/>
                      </a:pPr>
                      <a:r>
                        <a:rPr sz="1100" b="1">
                          <a:solidFill>
                            <a:srgbClr val="060606"/>
                          </a:solidFill>
                          <a:latin typeface="Helvetica"/>
                        </a:rPr>
                        <a:t>Décision n° 05/2022/COM/UEMOA du 01/06/2022</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Elle fixe les indicateurs et ratios prudentiels et leurs normes.</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Tableau de bord des ratios (partie 10)</a:t>
                      </a:r>
                    </a:p>
                  </a:txBody>
                  <a:tcPr marL="43200" marR="43200" marT="14400" marB="14400" anchor="ctr">
                    <a:solidFill>
                      <a:srgbClr val="FFFFFF"/>
                    </a:solidFill>
                  </a:tcPr>
                </a:tc>
              </a:tr>
              <a:tr h="392901">
                <a:tc>
                  <a:txBody>
                    <a:bodyPr/>
                    <a:lstStyle/>
                    <a:p>
                      <a:pPr marL="0" indent="0" lvl="0">
                        <a:buNone/>
                      </a:pPr>
                      <a:r>
                        <a:rPr sz="1100" b="1">
                          <a:solidFill>
                            <a:srgbClr val="060606"/>
                          </a:solidFill>
                          <a:latin typeface="Helvetica"/>
                        </a:rPr>
                        <a:t>Règlement n° 03/2012/CM/UEMOA et PCMS</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Ils imposent le plan comptable des mutuelles sociales depuis l'exercice 2014.</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Lecture et contrôle des comptes</a:t>
                      </a:r>
                    </a:p>
                  </a:txBody>
                  <a:tcPr marL="43200" marR="43200" marT="14400" marB="14400" anchor="ctr">
                    <a:solidFill>
                      <a:srgbClr val="F2F2F2"/>
                    </a:solidFill>
                  </a:tcPr>
                </a:tc>
              </a:tr>
              <a:tr h="392901">
                <a:tc>
                  <a:txBody>
                    <a:bodyPr/>
                    <a:lstStyle/>
                    <a:p>
                      <a:pPr marL="0" indent="0" lvl="0">
                        <a:buNone/>
                      </a:pPr>
                      <a:r>
                        <a:rPr sz="1100" b="1">
                          <a:solidFill>
                            <a:srgbClr val="060606"/>
                          </a:solidFill>
                          <a:latin typeface="Helvetica"/>
                        </a:rPr>
                        <a:t>AIRMS</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L'Agence ivoirienne de régulation de la mutualité sociale agrée et contrôle les mutuelles.</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Destinataire des états et des ratios</a:t>
                      </a:r>
                    </a:p>
                  </a:txBody>
                  <a:tcPr marL="43200" marR="43200" marT="14400" marB="14400" anchor="ctr">
                    <a:solidFill>
                      <a:srgbClr val="FFFFFF"/>
                    </a:solidFill>
                  </a:tcPr>
                </a:tc>
              </a:tr>
              <a:tr h="392901">
                <a:tc>
                  <a:txBody>
                    <a:bodyPr/>
                    <a:lstStyle/>
                    <a:p>
                      <a:pPr marL="0" indent="0" lvl="0">
                        <a:buNone/>
                      </a:pPr>
                      <a:r>
                        <a:rPr sz="1100" b="1">
                          <a:solidFill>
                            <a:srgbClr val="060606"/>
                          </a:solidFill>
                          <a:latin typeface="Helvetica"/>
                        </a:rPr>
                        <a:t>Code CIMA, article 338</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Il fixe les tables de mortalité et le taux d'intérêt maximal (3,5 %) des assureurs vie.</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Référence technique (partie 11)</a:t>
                      </a:r>
                    </a:p>
                  </a:txBody>
                  <a:tcPr marL="43200" marR="43200" marT="14400" marB="14400" anchor="ctr">
                    <a:solidFill>
                      <a:srgbClr val="F2F2F2"/>
                    </a:solidFill>
                  </a:tcPr>
                </a:tc>
              </a:tr>
            </a:tbl>
          </a:graphicData>
        </a:graphic>
      </p:graphicFrame>
      <p:sp>
        <p:nvSpPr>
          <p:cNvPr id="33" name="TextBox 32"/>
          <p:cNvSpPr txBox="1"/>
          <p:nvPr/>
        </p:nvSpPr>
        <p:spPr>
          <a:xfrm>
            <a:off x="503999" y="4346657"/>
            <a:ext cx="11232000" cy="1521342"/>
          </a:xfrm>
          <a:prstGeom prst="rect">
            <a:avLst/>
          </a:prstGeom>
          <a:noFill/>
        </p:spPr>
        <p:txBody>
          <a:bodyPr wrap="square" lIns="54000" rIns="54000"/>
          <a:lstStyle/>
          <a:p>
            <a:pPr algn="just">
              <a:spcAft>
                <a:spcPts val="600"/>
              </a:spcAft>
            </a:pPr>
            <a:r>
              <a:rPr sz="1300" b="1">
                <a:solidFill>
                  <a:srgbClr val="060606"/>
                </a:solidFill>
                <a:latin typeface="Helvetica"/>
              </a:rPr>
              <a:t>Le FPPN doit respecter des normes chiffrées depuis le 1er juin 2022.</a:t>
            </a:r>
            <a:r>
              <a:rPr sz="1300" b="0">
                <a:solidFill>
                  <a:srgbClr val="060606"/>
                </a:solidFill>
                <a:latin typeface="Helvetica"/>
              </a:rPr>
              <a:t> Avant cette date, les textes ne fixaient pas de ratios prudentiels précis pour les mutuelles.</a:t>
            </a:r>
          </a:p>
          <a:p>
            <a:pPr algn="just">
              <a:spcAft>
                <a:spcPts val="600"/>
              </a:spcAft>
            </a:pPr>
            <a:r>
              <a:rPr sz="1300" b="1">
                <a:solidFill>
                  <a:srgbClr val="060606"/>
                </a:solidFill>
                <a:latin typeface="Helvetica"/>
              </a:rPr>
              <a:t>Implication pour le FPPN.</a:t>
            </a:r>
            <a:r>
              <a:rPr sz="1300" b="0">
                <a:solidFill>
                  <a:srgbClr val="060606"/>
                </a:solidFill>
                <a:latin typeface="Helvetica"/>
              </a:rPr>
              <a:t> Les ratios de la Décision n° 05/2022 s'appliquent pleinement aux exercices 2022 à 2025 de la période d'analyse : la partie 10 les calcule un par un.</a:t>
            </a:r>
          </a:p>
        </p:txBody>
      </p:sp>
      <p:sp>
        <p:nvSpPr>
          <p:cNvPr id="34" name="TextBox 33"/>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AIRMS : Agence ivoirienne de régulation de la mutualité sociale | UEMOA : Union économique et monétaire ouest-africaine | PCMS : plan comptable des mutuelles sociales | CIMA : Conférence interafricaine des marchés d'assurances</a:t>
            </a:r>
          </a:p>
        </p:txBody>
      </p:sp>
    </p:spTree>
    <p:extLst>
      <p:ext uri="{BB962C8B-B14F-4D97-AF65-F5344CB8AC3E}">
        <p14:creationId xmlns:p14="http://schemas.microsoft.com/office/powerpoint/2010/main" val="2048683360"/>
      </p:ext>
    </p:extLst>
  </p:cSld>
  <p:clrMapOvr>
    <a:masterClrMapping/>
  </p:clrMapOvr>
  <p:transition>
    <p:fade/>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Garanties et produits</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Huit postes de précompte portent l'ensemble des produits du FPPN</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Maladie et décès sont les garanties de base. Épargne, prêts, flotte et MEDOC sont des produits complémentaires</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fichiers de précomptes de la Solde, de la CGRAE et du FPPN reçus le 15/10/2026. Traitements Adenka</a:t>
            </a:r>
          </a:p>
        </p:txBody>
      </p:sp>
      <p:sp>
        <p:nvSpPr>
          <p:cNvPr id="31" name="TextBox 30"/>
          <p:cNvSpPr txBox="1"/>
          <p:nvPr/>
        </p:nvSpPr>
        <p:spPr>
          <a:xfrm>
            <a:off x="503999" y="1386000"/>
            <a:ext cx="7056000" cy="216000"/>
          </a:xfrm>
          <a:prstGeom prst="rect">
            <a:avLst/>
          </a:prstGeom>
          <a:noFill/>
        </p:spPr>
        <p:txBody>
          <a:bodyPr wrap="square" anchor="t" lIns="54000" rIns="54000"/>
          <a:lstStyle/>
          <a:p>
            <a:pPr algn="ctr"/>
            <a:r>
              <a:rPr sz="1200" b="0">
                <a:solidFill>
                  <a:srgbClr val="EFAC62"/>
                </a:solidFill>
                <a:latin typeface="Helvetica"/>
              </a:rPr>
              <a:t>Tableau 5 : Produits du FPPN et montants observés</a:t>
            </a:r>
          </a:p>
        </p:txBody>
      </p:sp>
      <p:graphicFrame>
        <p:nvGraphicFramePr>
          <p:cNvPr id="32" name="Table 31"/>
          <p:cNvGraphicFramePr>
            <a:graphicFrameLocks noGrp="1"/>
          </p:cNvGraphicFramePr>
          <p:nvPr/>
        </p:nvGraphicFramePr>
        <p:xfrm>
          <a:off x="503999" y="1655999"/>
          <a:ext cx="7056000" cy="3200806"/>
        </p:xfrm>
        <a:graphic>
          <a:graphicData uri="http://schemas.openxmlformats.org/drawingml/2006/table">
            <a:tbl>
              <a:tblPr firstRow="0" bandRow="0">
                <a:tableStyleId>{5940675A-B579-460E-94D1-54222C63F5DA}</a:tableStyleId>
              </a:tblPr>
              <a:tblGrid>
                <a:gridCol w="752400"/>
                <a:gridCol w="1850400"/>
                <a:gridCol w="2671200"/>
                <a:gridCol w="1782000"/>
              </a:tblGrid>
              <a:tr h="225250">
                <a:tc>
                  <a:txBody>
                    <a:bodyPr/>
                    <a:lstStyle/>
                    <a:p>
                      <a:pPr marL="0" indent="0" lvl="0">
                        <a:buNone/>
                      </a:pPr>
                      <a:r>
                        <a:rPr sz="1100" b="1">
                          <a:solidFill>
                            <a:srgbClr val="FFFFFF"/>
                          </a:solidFill>
                          <a:latin typeface="Helvetica"/>
                        </a:rPr>
                        <a:t>Poste</a:t>
                      </a:r>
                    </a:p>
                  </a:txBody>
                  <a:tcPr marL="43200" marR="43200" marT="14400" marB="14400" anchor="ctr">
                    <a:solidFill>
                      <a:srgbClr val="060606"/>
                    </a:solidFill>
                  </a:tcPr>
                </a:tc>
                <a:tc>
                  <a:txBody>
                    <a:bodyPr/>
                    <a:lstStyle/>
                    <a:p>
                      <a:pPr marL="0" indent="0" lvl="0">
                        <a:buNone/>
                      </a:pPr>
                      <a:r>
                        <a:rPr sz="1100" b="1">
                          <a:solidFill>
                            <a:srgbClr val="FFFFFF"/>
                          </a:solidFill>
                          <a:latin typeface="Helvetica"/>
                        </a:rPr>
                        <a:t>Produit</a:t>
                      </a:r>
                    </a:p>
                  </a:txBody>
                  <a:tcPr marL="43200" marR="43200" marT="14400" marB="14400" anchor="ctr">
                    <a:solidFill>
                      <a:srgbClr val="060606"/>
                    </a:solidFill>
                  </a:tcPr>
                </a:tc>
                <a:tc>
                  <a:txBody>
                    <a:bodyPr/>
                    <a:lstStyle/>
                    <a:p>
                      <a:pPr marL="0" indent="0" lvl="0">
                        <a:buNone/>
                      </a:pPr>
                      <a:r>
                        <a:rPr sz="1100" b="1">
                          <a:solidFill>
                            <a:srgbClr val="FFFFFF"/>
                          </a:solidFill>
                          <a:latin typeface="Helvetica"/>
                        </a:rPr>
                        <a:t>Nature</a:t>
                      </a:r>
                    </a:p>
                  </a:txBody>
                  <a:tcPr marL="43200" marR="43200" marT="14400" marB="14400" anchor="ctr">
                    <a:solidFill>
                      <a:srgbClr val="060606"/>
                    </a:solidFill>
                  </a:tcPr>
                </a:tc>
                <a:tc>
                  <a:txBody>
                    <a:bodyPr/>
                    <a:lstStyle/>
                    <a:p>
                      <a:pPr marL="0" indent="0" lvl="0">
                        <a:buNone/>
                      </a:pPr>
                      <a:r>
                        <a:rPr sz="1100" b="1">
                          <a:solidFill>
                            <a:srgbClr val="FFFFFF"/>
                          </a:solidFill>
                          <a:latin typeface="Helvetica"/>
                        </a:rPr>
                        <a:t>Montant moyen observé</a:t>
                      </a:r>
                    </a:p>
                  </a:txBody>
                  <a:tcPr marL="43200" marR="43200" marT="14400" marB="14400" anchor="ctr">
                    <a:solidFill>
                      <a:srgbClr val="060606"/>
                    </a:solidFill>
                  </a:tcPr>
                </a:tc>
              </a:tr>
              <a:tr h="392901">
                <a:tc>
                  <a:txBody>
                    <a:bodyPr/>
                    <a:lstStyle/>
                    <a:p>
                      <a:pPr marL="0" indent="0" lvl="0">
                        <a:buNone/>
                      </a:pPr>
                      <a:r>
                        <a:rPr sz="1100" b="1">
                          <a:solidFill>
                            <a:srgbClr val="060606"/>
                          </a:solidFill>
                          <a:latin typeface="Helvetica"/>
                        </a:rPr>
                        <a:t>936</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Maladie</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Garantie santé des actifs, 3,77 % du salaire de base</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7 195 FCFA par mois (août 2026)</a:t>
                      </a:r>
                    </a:p>
                  </a:txBody>
                  <a:tcPr marL="43200" marR="43200" marT="14400" marB="14400" anchor="ctr">
                    <a:solidFill>
                      <a:srgbClr val="FFFFFF"/>
                    </a:solidFill>
                  </a:tcPr>
                </a:tc>
              </a:tr>
              <a:tr h="560551">
                <a:tc>
                  <a:txBody>
                    <a:bodyPr/>
                    <a:lstStyle/>
                    <a:p>
                      <a:pPr marL="0" indent="0" lvl="0">
                        <a:buNone/>
                      </a:pPr>
                      <a:r>
                        <a:rPr sz="1100" b="1">
                          <a:solidFill>
                            <a:srgbClr val="060606"/>
                          </a:solidFill>
                          <a:latin typeface="Helvetica"/>
                        </a:rPr>
                        <a:t>8Z6</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Décès</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Capital décès, frais funéraires, allocations, 1,23 % du salaire de base</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voir partie 4</a:t>
                      </a:r>
                    </a:p>
                  </a:txBody>
                  <a:tcPr marL="43200" marR="43200" marT="14400" marB="14400" anchor="ctr">
                    <a:solidFill>
                      <a:srgbClr val="F2F2F2"/>
                    </a:solidFill>
                  </a:tcPr>
                </a:tc>
              </a:tr>
              <a:tr h="392901">
                <a:tc>
                  <a:txBody>
                    <a:bodyPr/>
                    <a:lstStyle/>
                    <a:p>
                      <a:pPr marL="0" indent="0" lvl="0">
                        <a:buNone/>
                      </a:pPr>
                      <a:r>
                        <a:rPr sz="1100" b="1">
                          <a:solidFill>
                            <a:srgbClr val="060606"/>
                          </a:solidFill>
                          <a:latin typeface="Helvetica"/>
                        </a:rPr>
                        <a:t>870</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EFC</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Épargne versée en fin de carrière</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8 132 FCFA par mois (2025)</a:t>
                      </a:r>
                    </a:p>
                  </a:txBody>
                  <a:tcPr marL="43200" marR="43200" marT="14400" marB="14400" anchor="ctr">
                    <a:solidFill>
                      <a:srgbClr val="FFFFFF"/>
                    </a:solidFill>
                  </a:tcPr>
                </a:tc>
              </a:tr>
              <a:tr h="225250">
                <a:tc>
                  <a:txBody>
                    <a:bodyPr/>
                    <a:lstStyle/>
                    <a:p>
                      <a:pPr marL="0" indent="0" lvl="0">
                        <a:buNone/>
                      </a:pPr>
                      <a:r>
                        <a:rPr sz="1100" b="1">
                          <a:solidFill>
                            <a:srgbClr val="060606"/>
                          </a:solidFill>
                          <a:latin typeface="Helvetica"/>
                        </a:rPr>
                        <a:t>998</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PEP</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Épargne volontaire</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voir partie 6</a:t>
                      </a:r>
                    </a:p>
                  </a:txBody>
                  <a:tcPr marL="43200" marR="43200" marT="14400" marB="14400" anchor="ctr">
                    <a:solidFill>
                      <a:srgbClr val="F2F2F2"/>
                    </a:solidFill>
                  </a:tcPr>
                </a:tc>
              </a:tr>
              <a:tr h="225250">
                <a:tc>
                  <a:txBody>
                    <a:bodyPr/>
                    <a:lstStyle/>
                    <a:p>
                      <a:pPr marL="0" indent="0" lvl="0">
                        <a:buNone/>
                      </a:pPr>
                      <a:r>
                        <a:rPr sz="1100" b="1">
                          <a:solidFill>
                            <a:srgbClr val="060606"/>
                          </a:solidFill>
                          <a:latin typeface="Helvetica"/>
                        </a:rPr>
                        <a:t>9X4</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Grenier du Policier</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Remboursement de prêts</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voir partie 7</a:t>
                      </a:r>
                    </a:p>
                  </a:txBody>
                  <a:tcPr marL="43200" marR="43200" marT="14400" marB="14400" anchor="ctr">
                    <a:solidFill>
                      <a:srgbClr val="FFFFFF"/>
                    </a:solidFill>
                  </a:tcPr>
                </a:tc>
              </a:tr>
              <a:tr h="392901">
                <a:tc>
                  <a:txBody>
                    <a:bodyPr/>
                    <a:lstStyle/>
                    <a:p>
                      <a:pPr marL="0" indent="0" lvl="0">
                        <a:buNone/>
                      </a:pPr>
                      <a:r>
                        <a:rPr sz="1100" b="1">
                          <a:solidFill>
                            <a:srgbClr val="060606"/>
                          </a:solidFill>
                          <a:latin typeface="Helvetica"/>
                        </a:rPr>
                        <a:t>9W3</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Flotte automobile</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Assurance des véhicules, assureur GNA</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environ 10 000 FCFA</a:t>
                      </a:r>
                    </a:p>
                  </a:txBody>
                  <a:tcPr marL="43200" marR="43200" marT="14400" marB="14400" anchor="ctr">
                    <a:solidFill>
                      <a:srgbClr val="F2F2F2"/>
                    </a:solidFill>
                  </a:tcPr>
                </a:tc>
              </a:tr>
              <a:tr h="392901">
                <a:tc>
                  <a:txBody>
                    <a:bodyPr/>
                    <a:lstStyle/>
                    <a:p>
                      <a:pPr marL="0" indent="0" lvl="0">
                        <a:buNone/>
                      </a:pPr>
                      <a:r>
                        <a:rPr sz="1100" b="1">
                          <a:solidFill>
                            <a:srgbClr val="060606"/>
                          </a:solidFill>
                          <a:latin typeface="Helvetica"/>
                        </a:rPr>
                        <a:t>8Z7</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MEDOC</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Produit santé complémentaire, nature à préciser</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5 000 FCFA</a:t>
                      </a:r>
                    </a:p>
                  </a:txBody>
                  <a:tcPr marL="43200" marR="43200" marT="14400" marB="14400" anchor="ctr">
                    <a:solidFill>
                      <a:srgbClr val="FFFFFF"/>
                    </a:solidFill>
                  </a:tcPr>
                </a:tc>
              </a:tr>
              <a:tr h="392901">
                <a:tc>
                  <a:txBody>
                    <a:bodyPr/>
                    <a:lstStyle/>
                    <a:p>
                      <a:pPr marL="0" indent="0" lvl="0">
                        <a:buNone/>
                      </a:pPr>
                      <a:r>
                        <a:rPr sz="1100" b="1">
                          <a:solidFill>
                            <a:srgbClr val="060606"/>
                          </a:solidFill>
                          <a:latin typeface="Helvetica"/>
                        </a:rPr>
                        <a:t>CGRAE</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Retraités</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Garantie santé, précompte sur pension</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11 940 FCFA</a:t>
                      </a:r>
                    </a:p>
                  </a:txBody>
                  <a:tcPr marL="43200" marR="43200" marT="14400" marB="14400" anchor="ctr">
                    <a:solidFill>
                      <a:srgbClr val="F2F2F2"/>
                    </a:solidFill>
                  </a:tcPr>
                </a:tc>
              </a:tr>
            </a:tbl>
          </a:graphicData>
        </a:graphic>
      </p:graphicFrame>
      <p:sp>
        <p:nvSpPr>
          <p:cNvPr id="33" name="TextBox 32"/>
          <p:cNvSpPr txBox="1"/>
          <p:nvPr/>
        </p:nvSpPr>
        <p:spPr>
          <a:xfrm>
            <a:off x="7776000" y="1386000"/>
            <a:ext cx="3960000" cy="4482000"/>
          </a:xfrm>
          <a:prstGeom prst="rect">
            <a:avLst/>
          </a:prstGeom>
          <a:noFill/>
        </p:spPr>
        <p:txBody>
          <a:bodyPr wrap="square" lIns="54000" rIns="54000"/>
          <a:lstStyle/>
          <a:p>
            <a:pPr algn="just">
              <a:spcAft>
                <a:spcPts val="600"/>
              </a:spcAft>
            </a:pPr>
            <a:r>
              <a:rPr sz="1400" b="1">
                <a:solidFill>
                  <a:srgbClr val="060606"/>
                </a:solidFill>
                <a:latin typeface="Helvetica"/>
              </a:rPr>
              <a:t>Le FPPN couvre à la fois des risques courts et des risques longs.</a:t>
            </a:r>
            <a:r>
              <a:rPr sz="1400" b="0">
                <a:solidFill>
                  <a:srgbClr val="060606"/>
                </a:solidFill>
                <a:latin typeface="Helvetica"/>
              </a:rPr>
              <a:t> La maladie se règle dans l'année. L'EFC et le PEP sont versés des années après les cotisations.</a:t>
            </a:r>
          </a:p>
          <a:p>
            <a:pPr algn="just">
              <a:spcAft>
                <a:spcPts val="600"/>
              </a:spcAft>
            </a:pPr>
            <a:r>
              <a:rPr sz="1400" b="1">
                <a:solidFill>
                  <a:srgbClr val="060606"/>
                </a:solidFill>
                <a:latin typeface="Helvetica"/>
              </a:rPr>
              <a:t>Plusieurs produits n'ont pas de document qui fixe leurs règles.</a:t>
            </a:r>
            <a:r>
              <a:rPr sz="1400" b="0">
                <a:solidFill>
                  <a:srgbClr val="060606"/>
                </a:solidFill>
                <a:latin typeface="Helvetica"/>
              </a:rPr>
              <a:t> Le barème, le règlement de l'EFC et du PEP, et la nature du produit MEDOC n'ont pas été transmis.</a:t>
            </a:r>
          </a:p>
          <a:p>
            <a:pPr algn="just">
              <a:spcAft>
                <a:spcPts val="600"/>
              </a:spcAft>
            </a:pPr>
            <a:r>
              <a:rPr sz="1400" b="1">
                <a:solidFill>
                  <a:srgbClr val="060606"/>
                </a:solidFill>
                <a:latin typeface="Helvetica"/>
              </a:rPr>
              <a:t>Implication pour le FPPN.</a:t>
            </a:r>
            <a:r>
              <a:rPr sz="1400" b="0">
                <a:solidFill>
                  <a:srgbClr val="060606"/>
                </a:solidFill>
                <a:latin typeface="Helvetica"/>
              </a:rPr>
              <a:t> Les risques longs (EFC, PEP) relèvent de règles prudentielles plus strictes : étude actuarielle tous les cinq ans, certification des comptes, réserve de trésorerie (partie 10).</a:t>
            </a:r>
          </a:p>
        </p:txBody>
      </p:sp>
      <p:sp>
        <p:nvSpPr>
          <p:cNvPr id="34" name="TextBox 33"/>
          <p:cNvSpPr txBox="1"/>
          <p:nvPr/>
        </p:nvSpPr>
        <p:spPr>
          <a:xfrm>
            <a:off x="367200" y="5932800"/>
            <a:ext cx="11430000" cy="237600"/>
          </a:xfrm>
          <a:prstGeom prst="rect">
            <a:avLst/>
          </a:prstGeom>
          <a:noFill/>
        </p:spPr>
        <p:txBody>
          <a:bodyPr wrap="square" anchor="b" lIns="54000" rIns="54000"/>
          <a:lstStyle/>
          <a:p>
            <a:pPr algn="l"/>
            <a:r>
              <a:rPr sz="650" b="0">
                <a:solidFill>
                  <a:srgbClr val="595959"/>
                </a:solidFill>
                <a:latin typeface="Helvetica"/>
              </a:rPr>
              <a:t>Sigles : FPPN : Fonds de prévoyance de la Police nationale | CGRAE : Caisse générale de retraite des agents de l'État | PEP : Plan Épargne Plus | EFC : entraide fin de carrière | GNA : assureur de la flotte automobile (compte 47111106) | MEDOC : produit santé complémentaire du poste 8Z7 | 936 : poste maladie | 8Z6 : poste décès | 870 : poste EFC | 998 : poste PEP | 9X4 : poste Grenier | 9W3 : poste flotte automobile | 8Z7 : poste MEDOC</a:t>
            </a:r>
          </a:p>
        </p:txBody>
      </p:sp>
    </p:spTree>
    <p:extLst>
      <p:ext uri="{BB962C8B-B14F-4D97-AF65-F5344CB8AC3E}">
        <p14:creationId xmlns:p14="http://schemas.microsoft.com/office/powerpoint/2010/main" val="3504385056"/>
      </p:ext>
    </p:extLst>
  </p:cSld>
  <p:clrMapOvr>
    <a:masterClrMapping/>
  </p:clrMapOvr>
  <p:transition>
    <p:fade/>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Circuit des précomptes</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Les cotisations sont retenues à la source, puis rapprochées par le FPPN</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Chaque mois, le FPPN envoie un fichier « aller ». La Solde ou la CGRAE renvoie un fichier « retour » des sommes retenues</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fichiers aller et retour reçus le 15/10/2026. Adenka</a:t>
            </a:r>
          </a:p>
        </p:txBody>
      </p:sp>
      <p:sp>
        <p:nvSpPr>
          <p:cNvPr id="31" name="Rounded Rectangle 30"/>
          <p:cNvSpPr/>
          <p:nvPr/>
        </p:nvSpPr>
        <p:spPr>
          <a:xfrm>
            <a:off x="503999" y="1655999"/>
            <a:ext cx="2376000" cy="792000"/>
          </a:xfrm>
          <a:prstGeom prst="roundRect">
            <a:avLst/>
          </a:prstGeom>
          <a:solidFill>
            <a:srgbClr val="112A4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600" b="1">
                <a:solidFill>
                  <a:srgbClr val="FFFFFF"/>
                </a:solidFill>
                <a:latin typeface="Helvetica"/>
              </a:rPr>
              <a:t>1. FPPN</a:t>
            </a:r>
          </a:p>
        </p:txBody>
      </p:sp>
      <p:sp>
        <p:nvSpPr>
          <p:cNvPr id="32" name="TextBox 31"/>
          <p:cNvSpPr txBox="1"/>
          <p:nvPr/>
        </p:nvSpPr>
        <p:spPr>
          <a:xfrm>
            <a:off x="503999" y="2556000"/>
            <a:ext cx="2376000" cy="864000"/>
          </a:xfrm>
          <a:prstGeom prst="rect">
            <a:avLst/>
          </a:prstGeom>
          <a:noFill/>
        </p:spPr>
        <p:txBody>
          <a:bodyPr wrap="square" anchor="t" lIns="54000" rIns="54000"/>
          <a:lstStyle/>
          <a:p>
            <a:pPr algn="ctr"/>
            <a:r>
              <a:rPr sz="1300" b="0">
                <a:solidFill>
                  <a:srgbClr val="060606"/>
                </a:solidFill>
                <a:latin typeface="Helvetica"/>
              </a:rPr>
              <a:t>Le FPPN prépare le fichier aller : qui précompter et combien.</a:t>
            </a:r>
          </a:p>
        </p:txBody>
      </p:sp>
      <p:cxnSp>
        <p:nvCxnSpPr>
          <p:cNvPr id="33" name="Connector 32"/>
          <p:cNvCxnSpPr/>
          <p:nvPr/>
        </p:nvCxnSpPr>
        <p:spPr>
          <a:xfrm>
            <a:off x="2880000" y="2052000"/>
            <a:ext cx="504000" cy="0"/>
          </a:xfrm>
          <a:prstGeom prst="line">
            <a:avLst/>
          </a:prstGeom>
          <a:ln w="38100">
            <a:solidFill>
              <a:srgbClr val="53565A"/>
            </a:solidFill>
            <a:tailEnd type="triangle" w="med" len="med"/>
          </a:ln>
        </p:spPr>
        <p:style>
          <a:lnRef idx="2">
            <a:schemeClr val="accent1"/>
          </a:lnRef>
          <a:fillRef idx="0">
            <a:schemeClr val="accent1"/>
          </a:fillRef>
          <a:effectRef idx="1">
            <a:schemeClr val="accent1"/>
          </a:effectRef>
          <a:fontRef idx="minor">
            <a:schemeClr val="tx1"/>
          </a:fontRef>
        </p:style>
      </p:cxnSp>
      <p:sp>
        <p:nvSpPr>
          <p:cNvPr id="34" name="Rounded Rectangle 33"/>
          <p:cNvSpPr/>
          <p:nvPr/>
        </p:nvSpPr>
        <p:spPr>
          <a:xfrm>
            <a:off x="3384000" y="1655999"/>
            <a:ext cx="2376000" cy="792000"/>
          </a:xfrm>
          <a:prstGeom prst="roundRect">
            <a:avLst/>
          </a:prstGeom>
          <a:solidFill>
            <a:srgbClr val="EFAC62"/>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600" b="1">
                <a:solidFill>
                  <a:srgbClr val="060606"/>
                </a:solidFill>
                <a:latin typeface="Helvetica"/>
              </a:rPr>
              <a:t>2. Solde / CGRAE</a:t>
            </a:r>
          </a:p>
        </p:txBody>
      </p:sp>
      <p:sp>
        <p:nvSpPr>
          <p:cNvPr id="35" name="TextBox 34"/>
          <p:cNvSpPr txBox="1"/>
          <p:nvPr/>
        </p:nvSpPr>
        <p:spPr>
          <a:xfrm>
            <a:off x="3384000" y="2556000"/>
            <a:ext cx="2376000" cy="864000"/>
          </a:xfrm>
          <a:prstGeom prst="rect">
            <a:avLst/>
          </a:prstGeom>
          <a:noFill/>
        </p:spPr>
        <p:txBody>
          <a:bodyPr wrap="square" anchor="t" lIns="54000" rIns="54000"/>
          <a:lstStyle/>
          <a:p>
            <a:pPr algn="ctr"/>
            <a:r>
              <a:rPr sz="1300" b="0">
                <a:solidFill>
                  <a:srgbClr val="060606"/>
                </a:solidFill>
                <a:latin typeface="Helvetica"/>
              </a:rPr>
              <a:t>La Solde ou la CGRAE retient les montants sur le salaire ou la pension.</a:t>
            </a:r>
          </a:p>
        </p:txBody>
      </p:sp>
      <p:cxnSp>
        <p:nvCxnSpPr>
          <p:cNvPr id="36" name="Connector 35"/>
          <p:cNvCxnSpPr/>
          <p:nvPr/>
        </p:nvCxnSpPr>
        <p:spPr>
          <a:xfrm>
            <a:off x="5760000" y="2052000"/>
            <a:ext cx="503999" cy="0"/>
          </a:xfrm>
          <a:prstGeom prst="line">
            <a:avLst/>
          </a:prstGeom>
          <a:ln w="38100">
            <a:solidFill>
              <a:srgbClr val="53565A"/>
            </a:solidFill>
            <a:tailEnd type="triangle" w="med" len="med"/>
          </a:ln>
        </p:spPr>
        <p:style>
          <a:lnRef idx="2">
            <a:schemeClr val="accent1"/>
          </a:lnRef>
          <a:fillRef idx="0">
            <a:schemeClr val="accent1"/>
          </a:fillRef>
          <a:effectRef idx="1">
            <a:schemeClr val="accent1"/>
          </a:effectRef>
          <a:fontRef idx="minor">
            <a:schemeClr val="tx1"/>
          </a:fontRef>
        </p:style>
      </p:cxnSp>
      <p:sp>
        <p:nvSpPr>
          <p:cNvPr id="37" name="Rounded Rectangle 36"/>
          <p:cNvSpPr/>
          <p:nvPr/>
        </p:nvSpPr>
        <p:spPr>
          <a:xfrm>
            <a:off x="6263999" y="1655999"/>
            <a:ext cx="2376000" cy="792000"/>
          </a:xfrm>
          <a:prstGeom prst="roundRect">
            <a:avLst/>
          </a:prstGeom>
          <a:solidFill>
            <a:srgbClr val="112A4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600" b="1">
                <a:solidFill>
                  <a:srgbClr val="FFFFFF"/>
                </a:solidFill>
                <a:latin typeface="Helvetica"/>
              </a:rPr>
              <a:t>3. Fichier retour</a:t>
            </a:r>
          </a:p>
        </p:txBody>
      </p:sp>
      <p:sp>
        <p:nvSpPr>
          <p:cNvPr id="38" name="TextBox 37"/>
          <p:cNvSpPr txBox="1"/>
          <p:nvPr/>
        </p:nvSpPr>
        <p:spPr>
          <a:xfrm>
            <a:off x="6263999" y="2556000"/>
            <a:ext cx="2376000" cy="864000"/>
          </a:xfrm>
          <a:prstGeom prst="rect">
            <a:avLst/>
          </a:prstGeom>
          <a:noFill/>
        </p:spPr>
        <p:txBody>
          <a:bodyPr wrap="square" anchor="t" lIns="54000" rIns="54000"/>
          <a:lstStyle/>
          <a:p>
            <a:pPr algn="ctr"/>
            <a:r>
              <a:rPr sz="1300" b="0">
                <a:solidFill>
                  <a:srgbClr val="060606"/>
                </a:solidFill>
                <a:latin typeface="Helvetica"/>
              </a:rPr>
              <a:t>Le fichier retour liste les montants réellement retenus.</a:t>
            </a:r>
          </a:p>
        </p:txBody>
      </p:sp>
      <p:cxnSp>
        <p:nvCxnSpPr>
          <p:cNvPr id="39" name="Connector 38"/>
          <p:cNvCxnSpPr/>
          <p:nvPr/>
        </p:nvCxnSpPr>
        <p:spPr>
          <a:xfrm>
            <a:off x="8640000" y="2052000"/>
            <a:ext cx="504000" cy="0"/>
          </a:xfrm>
          <a:prstGeom prst="line">
            <a:avLst/>
          </a:prstGeom>
          <a:ln w="38100">
            <a:solidFill>
              <a:srgbClr val="53565A"/>
            </a:solidFill>
            <a:tailEnd type="triangle" w="med" len="med"/>
          </a:ln>
        </p:spPr>
        <p:style>
          <a:lnRef idx="2">
            <a:schemeClr val="accent1"/>
          </a:lnRef>
          <a:fillRef idx="0">
            <a:schemeClr val="accent1"/>
          </a:fillRef>
          <a:effectRef idx="1">
            <a:schemeClr val="accent1"/>
          </a:effectRef>
          <a:fontRef idx="minor">
            <a:schemeClr val="tx1"/>
          </a:fontRef>
        </p:style>
      </p:cxnSp>
      <p:sp>
        <p:nvSpPr>
          <p:cNvPr id="40" name="Rounded Rectangle 39"/>
          <p:cNvSpPr/>
          <p:nvPr/>
        </p:nvSpPr>
        <p:spPr>
          <a:xfrm>
            <a:off x="9144000" y="1655999"/>
            <a:ext cx="2376000" cy="792000"/>
          </a:xfrm>
          <a:prstGeom prst="roundRect">
            <a:avLst/>
          </a:prstGeom>
          <a:solidFill>
            <a:srgbClr val="EFAC62"/>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600" b="1">
                <a:solidFill>
                  <a:srgbClr val="060606"/>
                </a:solidFill>
                <a:latin typeface="Helvetica"/>
              </a:rPr>
              <a:t>4. FPPN</a:t>
            </a:r>
          </a:p>
        </p:txBody>
      </p:sp>
      <p:sp>
        <p:nvSpPr>
          <p:cNvPr id="41" name="TextBox 40"/>
          <p:cNvSpPr txBox="1"/>
          <p:nvPr/>
        </p:nvSpPr>
        <p:spPr>
          <a:xfrm>
            <a:off x="9144000" y="2556000"/>
            <a:ext cx="2376000" cy="864000"/>
          </a:xfrm>
          <a:prstGeom prst="rect">
            <a:avLst/>
          </a:prstGeom>
          <a:noFill/>
        </p:spPr>
        <p:txBody>
          <a:bodyPr wrap="square" anchor="t" lIns="54000" rIns="54000"/>
          <a:lstStyle/>
          <a:p>
            <a:pPr algn="ctr"/>
            <a:r>
              <a:rPr sz="1300" b="0">
                <a:solidFill>
                  <a:srgbClr val="060606"/>
                </a:solidFill>
                <a:latin typeface="Helvetica"/>
              </a:rPr>
              <a:t>Le FPPN rapproche aller et retour, comptabilise et relance les rejets.</a:t>
            </a:r>
          </a:p>
        </p:txBody>
      </p:sp>
      <p:sp>
        <p:nvSpPr>
          <p:cNvPr id="42" name="Rounded Rectangle 41"/>
          <p:cNvSpPr/>
          <p:nvPr/>
        </p:nvSpPr>
        <p:spPr>
          <a:xfrm>
            <a:off x="503999" y="3528000"/>
            <a:ext cx="11232000" cy="684000"/>
          </a:xfrm>
          <a:prstGeom prst="roundRect">
            <a:avLst/>
          </a:prstGeom>
          <a:solidFill>
            <a:srgbClr val="F2F2F2"/>
          </a:solidFill>
          <a:ln w="19050">
            <a:solidFill>
              <a:srgbClr val="112A40"/>
            </a:solid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400" b="1">
                <a:solidFill>
                  <a:srgbClr val="060606"/>
                </a:solidFill>
                <a:latin typeface="Helvetica"/>
              </a:rPr>
              <a:t>Contrôle Adenka : taux de précompte = montant retour / montant aller, poste par poste et mois par mois (partie 3)</a:t>
            </a:r>
          </a:p>
        </p:txBody>
      </p:sp>
      <p:sp>
        <p:nvSpPr>
          <p:cNvPr id="43" name="TextBox 42"/>
          <p:cNvSpPr txBox="1"/>
          <p:nvPr/>
        </p:nvSpPr>
        <p:spPr>
          <a:xfrm>
            <a:off x="503999" y="4392000"/>
            <a:ext cx="11232000" cy="1476000"/>
          </a:xfrm>
          <a:prstGeom prst="rect">
            <a:avLst/>
          </a:prstGeom>
          <a:noFill/>
        </p:spPr>
        <p:txBody>
          <a:bodyPr wrap="square" lIns="54000" rIns="54000"/>
          <a:lstStyle/>
          <a:p>
            <a:pPr algn="just">
              <a:spcAft>
                <a:spcPts val="600"/>
              </a:spcAft>
            </a:pPr>
            <a:r>
              <a:rPr sz="1300" b="1">
                <a:solidFill>
                  <a:srgbClr val="060606"/>
                </a:solidFill>
                <a:latin typeface="Helvetica"/>
              </a:rPr>
              <a:t>Le FPPN ne reçoit ses cotisations qu'à travers les fichiers retour de la Solde et de la CGRAE.</a:t>
            </a:r>
            <a:r>
              <a:rPr sz="1300" b="0">
                <a:solidFill>
                  <a:srgbClr val="060606"/>
                </a:solidFill>
                <a:latin typeface="Helvetica"/>
              </a:rPr>
              <a:t> Il ne peut donc contrôler ses encaissements qu'en comparant les deux fichiers.</a:t>
            </a:r>
          </a:p>
          <a:p>
            <a:pPr algn="just">
              <a:spcAft>
                <a:spcPts val="600"/>
              </a:spcAft>
            </a:pPr>
            <a:r>
              <a:rPr sz="1300" b="1">
                <a:solidFill>
                  <a:srgbClr val="060606"/>
                </a:solidFill>
                <a:latin typeface="Helvetica"/>
              </a:rPr>
              <a:t>Implication pour le FPPN.</a:t>
            </a:r>
            <a:r>
              <a:rPr sz="1300" b="0">
                <a:solidFill>
                  <a:srgbClr val="060606"/>
                </a:solidFill>
                <a:latin typeface="Helvetica"/>
              </a:rPr>
              <a:t> Les fichiers aller des postes maladie et décès n'ont pas été transmis : le taux de recouvrement des cotisations exigé par la Décision n° 05/2022 (au moins 90 %) ne peut pas être calculé pour ces postes.</a:t>
            </a:r>
          </a:p>
        </p:txBody>
      </p:sp>
      <p:sp>
        <p:nvSpPr>
          <p:cNvPr id="44" name="TextBox 43"/>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CGRAE : Caisse générale de retraite des agents de l'État</a:t>
            </a:r>
          </a:p>
        </p:txBody>
      </p:sp>
    </p:spTree>
    <p:extLst>
      <p:ext uri="{BB962C8B-B14F-4D97-AF65-F5344CB8AC3E}">
        <p14:creationId xmlns:p14="http://schemas.microsoft.com/office/powerpoint/2010/main" val="563597048"/>
      </p:ext>
    </p:extLst>
  </p:cSld>
  <p:clrMapOvr>
    <a:masterClrMapping/>
  </p:clrMapOvr>
  <p:transition>
    <p:fade/>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Flux financiers 2025</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Les ressources de l'année couvrent les prestations, les frais et dégagent un excédent</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Produits 3 671 499 865 FCFA, charges 3 250 431 812 FCFA, résultat 437 899 911 FCFA</a:t>
            </a:r>
          </a:p>
        </p:txBody>
      </p:sp>
      <p:sp>
        <p:nvSpPr>
          <p:cNvPr id="30" name="TextBox 29"/>
          <p:cNvSpPr txBox="1"/>
          <p:nvPr/>
        </p:nvSpPr>
        <p:spPr>
          <a:xfrm>
            <a:off x="503999" y="1386000"/>
            <a:ext cx="6552000" cy="251999"/>
          </a:xfrm>
          <a:prstGeom prst="rect">
            <a:avLst/>
          </a:prstGeom>
          <a:noFill/>
        </p:spPr>
        <p:txBody>
          <a:bodyPr wrap="square">
            <a:spAutoFit/>
          </a:bodyPr>
          <a:lstStyle/>
          <a:p>
            <a:pPr algn="ctr">
              <a:spcAft>
                <a:spcPts val="0"/>
              </a:spcAft>
            </a:pPr>
            <a:r>
              <a:rPr sz="1200" b="0">
                <a:solidFill>
                  <a:srgbClr val="EFAC62"/>
                </a:solidFill>
                <a:latin typeface="Helvetica"/>
              </a:rPr>
              <a:t>Figure 5 : Produits, charges et résultat 2025</a:t>
            </a:r>
          </a:p>
        </p:txBody>
      </p:sp>
      <p:sp>
        <p:nvSpPr>
          <p:cNvPr id="31" name="TextBox 30"/>
          <p:cNvSpPr txBox="1"/>
          <p:nvPr/>
        </p:nvSpPr>
        <p:spPr>
          <a:xfrm>
            <a:off x="503999" y="1602000"/>
            <a:ext cx="6552000" cy="162000"/>
          </a:xfrm>
          <a:prstGeom prst="rect">
            <a:avLst/>
          </a:prstGeom>
          <a:noFill/>
        </p:spPr>
        <p:txBody>
          <a:bodyPr wrap="square">
            <a:spAutoFit/>
          </a:bodyPr>
          <a:lstStyle/>
          <a:p>
            <a:pPr algn="l">
              <a:spcAft>
                <a:spcPts val="0"/>
              </a:spcAft>
            </a:pPr>
            <a:r>
              <a:rPr sz="900" b="0">
                <a:solidFill>
                  <a:srgbClr val="060606"/>
                </a:solidFill>
                <a:latin typeface="Helvetica"/>
              </a:rPr>
              <a:t>En millions de FCFA</a:t>
            </a:r>
          </a:p>
        </p:txBody>
      </p:sp>
      <p:graphicFrame>
        <p:nvGraphicFramePr>
          <p:cNvPr id="32" name="Chart 31"/>
          <p:cNvGraphicFramePr>
            <a:graphicFrameLocks noGrp="1"/>
          </p:cNvGraphicFramePr>
          <p:nvPr/>
        </p:nvGraphicFramePr>
        <p:xfrm>
          <a:off x="503999" y="1782000"/>
          <a:ext cx="6552000" cy="4086000"/>
        </p:xfrm>
        <a:graphic>
          <a:graphicData uri="http://schemas.openxmlformats.org/drawingml/2006/chart">
            <c:chart xmlns:c="http://schemas.openxmlformats.org/drawingml/2006/chart" r:id="rId6"/>
          </a:graphicData>
        </a:graphic>
      </p:graphicFrame>
      <p:sp>
        <p:nvSpPr>
          <p:cNvPr id="33"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balances des comptes du FPPN (Sage 100), exercices 2020 à 2025 et du 01/01 au 31/08/2026 (provisoire). Traitements Adenka</a:t>
            </a:r>
          </a:p>
        </p:txBody>
      </p:sp>
      <p:sp>
        <p:nvSpPr>
          <p:cNvPr id="34" name="TextBox 33"/>
          <p:cNvSpPr txBox="1"/>
          <p:nvPr/>
        </p:nvSpPr>
        <p:spPr>
          <a:xfrm>
            <a:off x="7272000" y="1440000"/>
            <a:ext cx="4464000" cy="4428000"/>
          </a:xfrm>
          <a:prstGeom prst="rect">
            <a:avLst/>
          </a:prstGeom>
          <a:noFill/>
        </p:spPr>
        <p:txBody>
          <a:bodyPr wrap="square" lIns="54000" rIns="54000"/>
          <a:lstStyle/>
          <a:p>
            <a:pPr algn="just">
              <a:spcAft>
                <a:spcPts val="600"/>
              </a:spcAft>
            </a:pPr>
            <a:r>
              <a:rPr sz="1400" b="1">
                <a:solidFill>
                  <a:srgbClr val="060606"/>
                </a:solidFill>
                <a:latin typeface="Helvetica"/>
              </a:rPr>
              <a:t>Les cotisations sont la ressource principale du FPPN.</a:t>
            </a:r>
            <a:r>
              <a:rPr sz="1400" b="0">
                <a:solidFill>
                  <a:srgbClr val="060606"/>
                </a:solidFill>
                <a:latin typeface="Helvetica"/>
              </a:rPr>
              <a:t> Elles atteignent 2 409 281 030 FCFA en maladie et 1 008 270 692 FCFA en décès.</a:t>
            </a:r>
          </a:p>
          <a:p>
            <a:pPr algn="just">
              <a:spcAft>
                <a:spcPts val="600"/>
              </a:spcAft>
            </a:pPr>
            <a:r>
              <a:rPr sz="1400" b="1">
                <a:solidFill>
                  <a:srgbClr val="060606"/>
                </a:solidFill>
                <a:latin typeface="Helvetica"/>
              </a:rPr>
              <a:t>Les prestations maladie absorbent la plus grande part des ressources.</a:t>
            </a:r>
            <a:r>
              <a:rPr sz="1400" b="0">
                <a:solidFill>
                  <a:srgbClr val="060606"/>
                </a:solidFill>
                <a:latin typeface="Helvetica"/>
              </a:rPr>
              <a:t> Elles valent 1 771 635 361 FCFA, contre 193 136 666 FCFA en décès.</a:t>
            </a:r>
          </a:p>
          <a:p>
            <a:pPr algn="just">
              <a:spcAft>
                <a:spcPts val="600"/>
              </a:spcAft>
            </a:pPr>
            <a:r>
              <a:rPr sz="1400" b="1">
                <a:solidFill>
                  <a:srgbClr val="060606"/>
                </a:solidFill>
                <a:latin typeface="Helvetica"/>
              </a:rPr>
              <a:t>Les frais de gestion pèsent 32,23 % des cotisations.</a:t>
            </a:r>
            <a:r>
              <a:rPr sz="1400" b="0">
                <a:solidFill>
                  <a:srgbClr val="060606"/>
                </a:solidFill>
                <a:latin typeface="Helvetica"/>
              </a:rPr>
              <a:t> Ils couvrent le personnel, les indemnités des organes, le fonctionnement et les amortissements.</a:t>
            </a:r>
          </a:p>
          <a:p>
            <a:pPr algn="just">
              <a:spcAft>
                <a:spcPts val="600"/>
              </a:spcAft>
            </a:pPr>
            <a:r>
              <a:rPr sz="1400" b="1">
                <a:solidFill>
                  <a:srgbClr val="060606"/>
                </a:solidFill>
                <a:latin typeface="Helvetica"/>
              </a:rPr>
              <a:t>Implication pour le FPPN.</a:t>
            </a:r>
            <a:r>
              <a:rPr sz="1400" b="0">
                <a:solidFill>
                  <a:srgbClr val="060606"/>
                </a:solidFill>
                <a:latin typeface="Helvetica"/>
              </a:rPr>
              <a:t> La garantie décès dégage un excédent qui compense en partie la garantie maladie : le résultat global masque un déséquilibre de la maladie, analysé par risque dans la partie 10.</a:t>
            </a:r>
          </a:p>
        </p:txBody>
      </p:sp>
      <p:sp>
        <p:nvSpPr>
          <p:cNvPr id="35" name="TextBox 34"/>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a:t>
            </a:r>
          </a:p>
        </p:txBody>
      </p:sp>
    </p:spTree>
    <p:extLst>
      <p:ext uri="{BB962C8B-B14F-4D97-AF65-F5344CB8AC3E}">
        <p14:creationId xmlns:p14="http://schemas.microsoft.com/office/powerpoint/2010/main" val="1956307836"/>
      </p:ext>
    </p:extLst>
  </p:cSld>
  <p:clrMapOvr>
    <a:masterClrMapping/>
  </p:clrMapOvr>
  <p:transition>
    <p:fade/>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Notions de base</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Huit notions suffisent pour lire l'ensemble du rapport</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Chaque notion est définie ici une fois, puis utilisée avec le même sens dans tout le rapport</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Adenka. Décision n° 05/2022/COM/UEMOA du 1er juin 2022, annexe</a:t>
            </a:r>
          </a:p>
        </p:txBody>
      </p:sp>
      <p:sp>
        <p:nvSpPr>
          <p:cNvPr id="31" name="TextBox 30"/>
          <p:cNvSpPr txBox="1"/>
          <p:nvPr/>
        </p:nvSpPr>
        <p:spPr>
          <a:xfrm>
            <a:off x="503999" y="1386000"/>
            <a:ext cx="11232000" cy="216000"/>
          </a:xfrm>
          <a:prstGeom prst="rect">
            <a:avLst/>
          </a:prstGeom>
          <a:noFill/>
        </p:spPr>
        <p:txBody>
          <a:bodyPr wrap="square" anchor="t" lIns="54000" rIns="54000"/>
          <a:lstStyle/>
          <a:p>
            <a:pPr algn="ctr"/>
            <a:r>
              <a:rPr sz="1200" b="0">
                <a:solidFill>
                  <a:srgbClr val="EFAC62"/>
                </a:solidFill>
                <a:latin typeface="Helvetica"/>
              </a:rPr>
              <a:t>Tableau 6 : Notions utilisées dans le rapport</a:t>
            </a:r>
          </a:p>
        </p:txBody>
      </p:sp>
      <p:graphicFrame>
        <p:nvGraphicFramePr>
          <p:cNvPr id="32" name="Table 31"/>
          <p:cNvGraphicFramePr>
            <a:graphicFrameLocks noGrp="1"/>
          </p:cNvGraphicFramePr>
          <p:nvPr/>
        </p:nvGraphicFramePr>
        <p:xfrm>
          <a:off x="503999" y="1655999"/>
          <a:ext cx="11231999" cy="2194901"/>
        </p:xfrm>
        <a:graphic>
          <a:graphicData uri="http://schemas.openxmlformats.org/drawingml/2006/table">
            <a:tbl>
              <a:tblPr firstRow="0" bandRow="0">
                <a:tableStyleId>{5940675A-B579-460E-94D1-54222C63F5DA}</a:tableStyleId>
              </a:tblPr>
              <a:tblGrid>
                <a:gridCol w="1728000"/>
                <a:gridCol w="5832000"/>
                <a:gridCol w="3671999"/>
              </a:tblGrid>
              <a:tr h="225250">
                <a:tc>
                  <a:txBody>
                    <a:bodyPr/>
                    <a:lstStyle/>
                    <a:p>
                      <a:pPr marL="0" indent="0" lvl="0">
                        <a:buNone/>
                      </a:pPr>
                      <a:r>
                        <a:rPr sz="1100" b="1">
                          <a:solidFill>
                            <a:srgbClr val="FFFFFF"/>
                          </a:solidFill>
                          <a:latin typeface="Helvetica"/>
                        </a:rPr>
                        <a:t>Notion</a:t>
                      </a:r>
                    </a:p>
                  </a:txBody>
                  <a:tcPr marL="43200" marR="43200" marT="14400" marB="14400" anchor="ctr">
                    <a:solidFill>
                      <a:srgbClr val="060606"/>
                    </a:solidFill>
                  </a:tcPr>
                </a:tc>
                <a:tc>
                  <a:txBody>
                    <a:bodyPr/>
                    <a:lstStyle/>
                    <a:p>
                      <a:pPr marL="0" indent="0" lvl="0">
                        <a:buNone/>
                      </a:pPr>
                      <a:r>
                        <a:rPr sz="1100" b="1">
                          <a:solidFill>
                            <a:srgbClr val="FFFFFF"/>
                          </a:solidFill>
                          <a:latin typeface="Helvetica"/>
                        </a:rPr>
                        <a:t>Définition simple</a:t>
                      </a:r>
                    </a:p>
                  </a:txBody>
                  <a:tcPr marL="43200" marR="43200" marT="14400" marB="14400" anchor="ctr">
                    <a:solidFill>
                      <a:srgbClr val="060606"/>
                    </a:solidFill>
                  </a:tcPr>
                </a:tc>
                <a:tc>
                  <a:txBody>
                    <a:bodyPr/>
                    <a:lstStyle/>
                    <a:p>
                      <a:pPr marL="0" indent="0" lvl="0">
                        <a:buNone/>
                      </a:pPr>
                      <a:r>
                        <a:rPr sz="1100" b="1">
                          <a:solidFill>
                            <a:srgbClr val="FFFFFF"/>
                          </a:solidFill>
                          <a:latin typeface="Helvetica"/>
                        </a:rPr>
                        <a:t>Exemple dans le rapport</a:t>
                      </a:r>
                    </a:p>
                  </a:txBody>
                  <a:tcPr marL="43200" marR="43200" marT="14400" marB="14400" anchor="ctr">
                    <a:solidFill>
                      <a:srgbClr val="060606"/>
                    </a:solidFill>
                  </a:tcPr>
                </a:tc>
              </a:tr>
              <a:tr h="225250">
                <a:tc>
                  <a:txBody>
                    <a:bodyPr/>
                    <a:lstStyle/>
                    <a:p>
                      <a:pPr marL="0" indent="0" lvl="0">
                        <a:buNone/>
                      </a:pPr>
                      <a:r>
                        <a:rPr sz="1100" b="1">
                          <a:solidFill>
                            <a:srgbClr val="060606"/>
                          </a:solidFill>
                          <a:latin typeface="Helvetica"/>
                        </a:rPr>
                        <a:t>Cotisation</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Somme que le mutualiste verse pour être couvert.</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5 % du salaire de base</a:t>
                      </a:r>
                    </a:p>
                  </a:txBody>
                  <a:tcPr marL="43200" marR="43200" marT="14400" marB="14400" anchor="ctr">
                    <a:solidFill>
                      <a:srgbClr val="FFFFFF"/>
                    </a:solidFill>
                  </a:tcPr>
                </a:tc>
              </a:tr>
              <a:tr h="225250">
                <a:tc>
                  <a:txBody>
                    <a:bodyPr/>
                    <a:lstStyle/>
                    <a:p>
                      <a:pPr marL="0" indent="0" lvl="0">
                        <a:buNone/>
                      </a:pPr>
                      <a:r>
                        <a:rPr sz="1100" b="1">
                          <a:solidFill>
                            <a:srgbClr val="060606"/>
                          </a:solidFill>
                          <a:latin typeface="Helvetica"/>
                        </a:rPr>
                        <a:t>Prestation</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Somme que le FPPN paie quand le risque survient (soins, décès).</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Factures des cliniques, capital décès</a:t>
                      </a:r>
                    </a:p>
                  </a:txBody>
                  <a:tcPr marL="43200" marR="43200" marT="14400" marB="14400" anchor="ctr">
                    <a:solidFill>
                      <a:srgbClr val="F2F2F2"/>
                    </a:solidFill>
                  </a:tcPr>
                </a:tc>
              </a:tr>
              <a:tr h="225250">
                <a:tc>
                  <a:txBody>
                    <a:bodyPr/>
                    <a:lstStyle/>
                    <a:p>
                      <a:pPr marL="0" indent="0" lvl="0">
                        <a:buNone/>
                      </a:pPr>
                      <a:r>
                        <a:rPr sz="1100" b="1">
                          <a:solidFill>
                            <a:srgbClr val="060606"/>
                          </a:solidFill>
                          <a:latin typeface="Helvetica"/>
                        </a:rPr>
                        <a:t>Sinistralité (S/C)</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Part des cotisations consommée par les prestations.</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S/C maladie 2025</a:t>
                      </a:r>
                    </a:p>
                  </a:txBody>
                  <a:tcPr marL="43200" marR="43200" marT="14400" marB="14400" anchor="ctr">
                    <a:solidFill>
                      <a:srgbClr val="FFFFFF"/>
                    </a:solidFill>
                  </a:tcPr>
                </a:tc>
              </a:tr>
              <a:tr h="392901">
                <a:tc>
                  <a:txBody>
                    <a:bodyPr/>
                    <a:lstStyle/>
                    <a:p>
                      <a:pPr marL="0" indent="0" lvl="0">
                        <a:buNone/>
                      </a:pPr>
                      <a:r>
                        <a:rPr sz="1100" b="1">
                          <a:solidFill>
                            <a:srgbClr val="060606"/>
                          </a:solidFill>
                          <a:latin typeface="Helvetica"/>
                        </a:rPr>
                        <a:t>Provision technique</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Somme mise de côté au bilan pour payer des prestations déjà nées mais pas encore payées.</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Provision pour prestations à payer</a:t>
                      </a:r>
                    </a:p>
                  </a:txBody>
                  <a:tcPr marL="43200" marR="43200" marT="14400" marB="14400" anchor="ctr">
                    <a:solidFill>
                      <a:srgbClr val="F2F2F2"/>
                    </a:solidFill>
                  </a:tcPr>
                </a:tc>
              </a:tr>
              <a:tr h="225250">
                <a:tc>
                  <a:txBody>
                    <a:bodyPr/>
                    <a:lstStyle/>
                    <a:p>
                      <a:pPr marL="0" indent="0" lvl="0">
                        <a:buNone/>
                      </a:pPr>
                      <a:r>
                        <a:rPr sz="1100" b="1">
                          <a:solidFill>
                            <a:srgbClr val="060606"/>
                          </a:solidFill>
                          <a:latin typeface="Helvetica"/>
                        </a:rPr>
                        <a:t>Engagement</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Ce que le FPPN devra payer plus tard à ses mutualistes.</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Épargne PEP et EFC à restituer</a:t>
                      </a:r>
                    </a:p>
                  </a:txBody>
                  <a:tcPr marL="43200" marR="43200" marT="14400" marB="14400" anchor="ctr">
                    <a:solidFill>
                      <a:srgbClr val="FFFFFF"/>
                    </a:solidFill>
                  </a:tcPr>
                </a:tc>
              </a:tr>
              <a:tr h="225250">
                <a:tc>
                  <a:txBody>
                    <a:bodyPr/>
                    <a:lstStyle/>
                    <a:p>
                      <a:pPr marL="0" indent="0" lvl="0">
                        <a:buNone/>
                      </a:pPr>
                      <a:r>
                        <a:rPr sz="1100" b="1">
                          <a:solidFill>
                            <a:srgbClr val="060606"/>
                          </a:solidFill>
                          <a:latin typeface="Helvetica"/>
                        </a:rPr>
                        <a:t>Adossement</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Correspondance entre les dettes et les actifs disponibles pour les payer.</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Épargne et placements réservés</a:t>
                      </a:r>
                    </a:p>
                  </a:txBody>
                  <a:tcPr marL="43200" marR="43200" marT="14400" marB="14400" anchor="ctr">
                    <a:solidFill>
                      <a:srgbClr val="F2F2F2"/>
                    </a:solidFill>
                  </a:tcPr>
                </a:tc>
              </a:tr>
              <a:tr h="225250">
                <a:tc>
                  <a:txBody>
                    <a:bodyPr/>
                    <a:lstStyle/>
                    <a:p>
                      <a:pPr marL="0" indent="0" lvl="0">
                        <a:buNone/>
                      </a:pPr>
                      <a:r>
                        <a:rPr sz="1100" b="1">
                          <a:solidFill>
                            <a:srgbClr val="060606"/>
                          </a:solidFill>
                          <a:latin typeface="Helvetica"/>
                        </a:rPr>
                        <a:t>Fonds propres</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Ce qui reste quand on retire toutes les dettes de tous les actifs.</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Négatifs de 2020 à 2026</a:t>
                      </a:r>
                    </a:p>
                  </a:txBody>
                  <a:tcPr marL="43200" marR="43200" marT="14400" marB="14400" anchor="ctr">
                    <a:solidFill>
                      <a:srgbClr val="FFFFFF"/>
                    </a:solidFill>
                  </a:tcPr>
                </a:tc>
              </a:tr>
              <a:tr h="225250">
                <a:tc>
                  <a:txBody>
                    <a:bodyPr/>
                    <a:lstStyle/>
                    <a:p>
                      <a:pPr marL="0" indent="0" lvl="0">
                        <a:buNone/>
                      </a:pPr>
                      <a:r>
                        <a:rPr sz="1100" b="1">
                          <a:solidFill>
                            <a:srgbClr val="060606"/>
                          </a:solidFill>
                          <a:latin typeface="Helvetica"/>
                        </a:rPr>
                        <a:t>Ratio prudentiel</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Rapport chiffré qu'une norme impose de respecter pour protéger les adhérents.</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Réserve obligatoire de 6 à 9 mois</a:t>
                      </a:r>
                    </a:p>
                  </a:txBody>
                  <a:tcPr marL="43200" marR="43200" marT="14400" marB="14400" anchor="ctr">
                    <a:solidFill>
                      <a:srgbClr val="F2F2F2"/>
                    </a:solidFill>
                  </a:tcPr>
                </a:tc>
              </a:tr>
            </a:tbl>
          </a:graphicData>
        </a:graphic>
      </p:graphicFrame>
      <p:sp>
        <p:nvSpPr>
          <p:cNvPr id="33" name="TextBox 32"/>
          <p:cNvSpPr txBox="1"/>
          <p:nvPr/>
        </p:nvSpPr>
        <p:spPr>
          <a:xfrm>
            <a:off x="503999" y="3958905"/>
            <a:ext cx="11232000" cy="1909094"/>
          </a:xfrm>
          <a:prstGeom prst="rect">
            <a:avLst/>
          </a:prstGeom>
          <a:noFill/>
        </p:spPr>
        <p:txBody>
          <a:bodyPr wrap="square" lIns="54000" rIns="54000"/>
          <a:lstStyle/>
          <a:p>
            <a:pPr algn="just">
              <a:spcAft>
                <a:spcPts val="600"/>
              </a:spcAft>
            </a:pPr>
            <a:r>
              <a:rPr sz="1300" b="1">
                <a:solidFill>
                  <a:srgbClr val="060606"/>
                </a:solidFill>
                <a:latin typeface="Helvetica"/>
              </a:rPr>
              <a:t>Ces huit notions portent toute l'analyse.</a:t>
            </a:r>
            <a:r>
              <a:rPr sz="1300" b="0">
                <a:solidFill>
                  <a:srgbClr val="060606"/>
                </a:solidFill>
                <a:latin typeface="Helvetica"/>
              </a:rPr>
              <a:t> Les quatre premières décrivent l'activité de l'année. Les quatre dernières décrivent la capacité du FPPN à tenir ses promesses dans la durée.</a:t>
            </a:r>
          </a:p>
        </p:txBody>
      </p:sp>
      <p:sp>
        <p:nvSpPr>
          <p:cNvPr id="34" name="TextBox 33"/>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UEMOA : Union économique et monétaire ouest-africaine | PEP : Plan Épargne Plus | EFC : entraide fin de carrière | S/C : prestations / cotisations</a:t>
            </a:r>
          </a:p>
        </p:txBody>
      </p:sp>
    </p:spTree>
    <p:extLst>
      <p:ext uri="{BB962C8B-B14F-4D97-AF65-F5344CB8AC3E}">
        <p14:creationId xmlns:p14="http://schemas.microsoft.com/office/powerpoint/2010/main" val="2886542078"/>
      </p:ext>
    </p:extLst>
  </p:cSld>
  <p:clrMapOvr>
    <a:masterClrMapping/>
  </p:clrMapOvr>
  <p:transition>
    <p:fade/>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Google Shape;8651;p70"/>
          <p:cNvSpPr/>
          <p:nvPr/>
        </p:nvSpPr>
        <p:spPr>
          <a:xfrm>
            <a:off x="2013108" y="2588204"/>
            <a:ext cx="1380332" cy="1428252"/>
          </a:xfrm>
          <a:custGeom>
            <a:avLst/>
            <a:gdLst/>
            <a:ahLst/>
            <a:cxnLst/>
            <a:rect l="l" t="t" r="r" b="b"/>
            <a:pathLst>
              <a:path w="8670" h="8971" extrusionOk="0">
                <a:moveTo>
                  <a:pt x="7105" y="1302"/>
                </a:moveTo>
                <a:cubicBezTo>
                  <a:pt x="7105" y="1315"/>
                  <a:pt x="7105" y="1328"/>
                  <a:pt x="7105" y="1341"/>
                </a:cubicBezTo>
                <a:cubicBezTo>
                  <a:pt x="7118" y="1980"/>
                  <a:pt x="7183" y="2619"/>
                  <a:pt x="7183" y="3283"/>
                </a:cubicBezTo>
                <a:cubicBezTo>
                  <a:pt x="7170" y="4404"/>
                  <a:pt x="7183" y="5525"/>
                  <a:pt x="7222" y="6646"/>
                </a:cubicBezTo>
                <a:cubicBezTo>
                  <a:pt x="7235" y="6959"/>
                  <a:pt x="7222" y="7259"/>
                  <a:pt x="7222" y="7559"/>
                </a:cubicBezTo>
                <a:lnTo>
                  <a:pt x="7222" y="7585"/>
                </a:lnTo>
                <a:cubicBezTo>
                  <a:pt x="6935" y="7598"/>
                  <a:pt x="6649" y="7611"/>
                  <a:pt x="6362" y="7611"/>
                </a:cubicBezTo>
                <a:cubicBezTo>
                  <a:pt x="6101" y="7598"/>
                  <a:pt x="5853" y="7585"/>
                  <a:pt x="5593" y="7585"/>
                </a:cubicBezTo>
                <a:cubicBezTo>
                  <a:pt x="4159" y="7559"/>
                  <a:pt x="2712" y="7559"/>
                  <a:pt x="1291" y="7442"/>
                </a:cubicBezTo>
                <a:cubicBezTo>
                  <a:pt x="1278" y="7207"/>
                  <a:pt x="1239" y="6959"/>
                  <a:pt x="1226" y="6725"/>
                </a:cubicBezTo>
                <a:cubicBezTo>
                  <a:pt x="1200" y="6255"/>
                  <a:pt x="1187" y="5799"/>
                  <a:pt x="1200" y="5330"/>
                </a:cubicBezTo>
                <a:cubicBezTo>
                  <a:pt x="1213" y="4222"/>
                  <a:pt x="1226" y="3101"/>
                  <a:pt x="1343" y="1993"/>
                </a:cubicBezTo>
                <a:lnTo>
                  <a:pt x="1552" y="1993"/>
                </a:lnTo>
                <a:cubicBezTo>
                  <a:pt x="2138" y="1980"/>
                  <a:pt x="2725" y="1889"/>
                  <a:pt x="3312" y="1810"/>
                </a:cubicBezTo>
                <a:cubicBezTo>
                  <a:pt x="4576" y="1641"/>
                  <a:pt x="5840" y="1524"/>
                  <a:pt x="7105" y="1302"/>
                </a:cubicBezTo>
                <a:close/>
                <a:moveTo>
                  <a:pt x="7529" y="1"/>
                </a:moveTo>
                <a:cubicBezTo>
                  <a:pt x="7291" y="1"/>
                  <a:pt x="7059" y="53"/>
                  <a:pt x="6818" y="64"/>
                </a:cubicBezTo>
                <a:cubicBezTo>
                  <a:pt x="6375" y="103"/>
                  <a:pt x="5932" y="142"/>
                  <a:pt x="5488" y="194"/>
                </a:cubicBezTo>
                <a:cubicBezTo>
                  <a:pt x="4824" y="259"/>
                  <a:pt x="4107" y="350"/>
                  <a:pt x="3429" y="389"/>
                </a:cubicBezTo>
                <a:cubicBezTo>
                  <a:pt x="2686" y="429"/>
                  <a:pt x="1943" y="481"/>
                  <a:pt x="1213" y="598"/>
                </a:cubicBezTo>
                <a:cubicBezTo>
                  <a:pt x="913" y="624"/>
                  <a:pt x="652" y="728"/>
                  <a:pt x="509" y="976"/>
                </a:cubicBezTo>
                <a:cubicBezTo>
                  <a:pt x="470" y="1028"/>
                  <a:pt x="444" y="1080"/>
                  <a:pt x="431" y="1146"/>
                </a:cubicBezTo>
                <a:cubicBezTo>
                  <a:pt x="300" y="1524"/>
                  <a:pt x="287" y="1928"/>
                  <a:pt x="300" y="2332"/>
                </a:cubicBezTo>
                <a:cubicBezTo>
                  <a:pt x="209" y="3010"/>
                  <a:pt x="209" y="3700"/>
                  <a:pt x="209" y="4378"/>
                </a:cubicBezTo>
                <a:cubicBezTo>
                  <a:pt x="170" y="4769"/>
                  <a:pt x="144" y="5173"/>
                  <a:pt x="131" y="5565"/>
                </a:cubicBezTo>
                <a:cubicBezTo>
                  <a:pt x="105" y="6203"/>
                  <a:pt x="14" y="6842"/>
                  <a:pt x="14" y="7481"/>
                </a:cubicBezTo>
                <a:cubicBezTo>
                  <a:pt x="1" y="7911"/>
                  <a:pt x="157" y="8315"/>
                  <a:pt x="613" y="8419"/>
                </a:cubicBezTo>
                <a:cubicBezTo>
                  <a:pt x="1056" y="8550"/>
                  <a:pt x="1526" y="8524"/>
                  <a:pt x="1982" y="8550"/>
                </a:cubicBezTo>
                <a:cubicBezTo>
                  <a:pt x="2243" y="8563"/>
                  <a:pt x="2503" y="8589"/>
                  <a:pt x="2764" y="8615"/>
                </a:cubicBezTo>
                <a:cubicBezTo>
                  <a:pt x="3885" y="8745"/>
                  <a:pt x="5006" y="8902"/>
                  <a:pt x="6140" y="8941"/>
                </a:cubicBezTo>
                <a:cubicBezTo>
                  <a:pt x="6220" y="8945"/>
                  <a:pt x="6302" y="8946"/>
                  <a:pt x="6383" y="8946"/>
                </a:cubicBezTo>
                <a:cubicBezTo>
                  <a:pt x="6581" y="8946"/>
                  <a:pt x="6781" y="8937"/>
                  <a:pt x="6974" y="8928"/>
                </a:cubicBezTo>
                <a:cubicBezTo>
                  <a:pt x="7118" y="8941"/>
                  <a:pt x="7274" y="8941"/>
                  <a:pt x="7418" y="8941"/>
                </a:cubicBezTo>
                <a:cubicBezTo>
                  <a:pt x="7568" y="8956"/>
                  <a:pt x="7723" y="8971"/>
                  <a:pt x="7877" y="8971"/>
                </a:cubicBezTo>
                <a:cubicBezTo>
                  <a:pt x="7990" y="8971"/>
                  <a:pt x="8103" y="8963"/>
                  <a:pt x="8213" y="8941"/>
                </a:cubicBezTo>
                <a:cubicBezTo>
                  <a:pt x="8643" y="8810"/>
                  <a:pt x="8565" y="8093"/>
                  <a:pt x="8604" y="7741"/>
                </a:cubicBezTo>
                <a:cubicBezTo>
                  <a:pt x="8669" y="6620"/>
                  <a:pt x="8539" y="5499"/>
                  <a:pt x="8487" y="4378"/>
                </a:cubicBezTo>
                <a:cubicBezTo>
                  <a:pt x="8434" y="3453"/>
                  <a:pt x="8330" y="2527"/>
                  <a:pt x="8252" y="1589"/>
                </a:cubicBezTo>
                <a:cubicBezTo>
                  <a:pt x="8200" y="1341"/>
                  <a:pt x="8239" y="637"/>
                  <a:pt x="8096" y="350"/>
                </a:cubicBezTo>
                <a:lnTo>
                  <a:pt x="8082" y="350"/>
                </a:lnTo>
                <a:cubicBezTo>
                  <a:pt x="8056" y="181"/>
                  <a:pt x="7952" y="51"/>
                  <a:pt x="7704" y="11"/>
                </a:cubicBezTo>
                <a:cubicBezTo>
                  <a:pt x="7645" y="4"/>
                  <a:pt x="7587" y="1"/>
                  <a:pt x="7529" y="1"/>
                </a:cubicBezTo>
                <a:close/>
              </a:path>
            </a:pathLst>
          </a:custGeom>
          <a:solidFill>
            <a:schemeClr val="bg1"/>
          </a:solidFill>
          <a:ln w="76200">
            <a:solidFill>
              <a:schemeClr val="tx1"/>
            </a:solidFill>
          </a:ln>
        </p:spPr>
        <p:txBody>
          <a:bodyPr spcFirstLastPara="1" wrap="square" lIns="91425" tIns="91425" rIns="91425" bIns="91425" anchor="ctr" anchorCtr="0">
            <a:noAutofit/>
          </a:bodyPr>
          <a:lstStyle/>
          <a:p>
            <a:pPr marL="0" lvl="0" indent="0" algn="l" rtl="0">
              <a:spcBef>
                <a:spcPts val="0"/>
              </a:spcBef>
              <a:spcAft>
                <a:spcPts val="0"/>
              </a:spcAft>
              <a:buNone/>
            </a:pPr>
            <a:endParaRPr lang="fr-CI" noProof="0">
              <a:solidFill>
                <a:schemeClr val="bg1"/>
              </a:solidFill>
              <a:latin typeface="Helvetica" panose="020B0604020202020204" pitchFamily="34" charset="0"/>
              <a:cs typeface="Helvetica" panose="020B0604020202020204" pitchFamily="34" charset="0"/>
            </a:endParaRPr>
          </a:p>
        </p:txBody>
      </p:sp>
      <p:sp>
        <p:nvSpPr>
          <p:cNvPr id="25" name="Rectangle 24">
            <a:extLst>
              <a:ext uri="{FF2B5EF4-FFF2-40B4-BE49-F238E27FC236}">
                <a16:creationId xmlns:a16="http://schemas.microsoft.com/office/drawing/2014/main" id="{9B9B23AA-050D-4543-80A0-873FE31AFFF7}"/>
              </a:ext>
            </a:extLst>
          </p:cNvPr>
          <p:cNvSpPr/>
          <p:nvPr/>
        </p:nvSpPr>
        <p:spPr>
          <a:xfrm>
            <a:off x="2446471" y="2869098"/>
            <a:ext cx="513606" cy="936923"/>
          </a:xfrm>
          <a:prstGeom prst="rect">
            <a:avLst/>
          </a:prstGeom>
        </p:spPr>
        <p:txBody>
          <a:bodyPr wrap="square" lIns="0" tIns="0" rIns="0" bIns="0">
            <a:spAutoFit/>
          </a:bodyPr>
          <a:lstStyle/>
          <a:p>
            <a:pPr lvl="0">
              <a:lnSpc>
                <a:spcPct val="110000"/>
              </a:lnSpc>
            </a:pPr>
            <a:r>
              <a:rPr lang="fr-CI" sz="6000" b="1" noProof="0">
                <a:solidFill>
                  <a:schemeClr val="bg1"/>
                </a:solidFill>
                <a:latin typeface="Helvetica" panose="020B0604020202020204" pitchFamily="34" charset="0"/>
                <a:ea typeface="Open Sans Semibold" panose="020B0706030804020204" pitchFamily="34" charset="0"/>
                <a:cs typeface="Helvetica" panose="020B0604020202020204" pitchFamily="34" charset="0"/>
              </a:rPr>
              <a:t>2</a:t>
            </a:r>
          </a:p>
        </p:txBody>
      </p:sp>
      <p:sp>
        <p:nvSpPr>
          <p:cNvPr id="10" name="Rectangle 9"/>
          <p:cNvSpPr/>
          <p:nvPr/>
        </p:nvSpPr>
        <p:spPr>
          <a:xfrm>
            <a:off x="3938554" y="2462184"/>
            <a:ext cx="3816000" cy="1200329"/>
          </a:xfrm>
          <a:prstGeom prst="rect">
            <a:avLst/>
          </a:prstGeom>
        </p:spPr>
        <p:txBody>
          <a:bodyPr wrap="square">
            <a:spAutoFit/>
          </a:bodyPr>
          <a:lstStyle/>
          <a:p>
            <a:r>
              <a:rPr lang="fr-CI" sz="3600" b="1" noProof="0">
                <a:solidFill>
                  <a:schemeClr val="bg1"/>
                </a:solidFill>
                <a:latin typeface="Helvetica" panose="020B0604020202020204" pitchFamily="34" charset="0"/>
                <a:cs typeface="Helvetica" panose="020B0604020202020204" pitchFamily="34" charset="0"/>
              </a:rPr>
              <a:t>Contexte et démarche</a:t>
            </a:r>
          </a:p>
        </p:txBody>
      </p:sp>
      <p:pic>
        <p:nvPicPr>
          <p:cNvPr id="9" name="Image 8">
            <a:extLst>
              <a:ext uri="{FF2B5EF4-FFF2-40B4-BE49-F238E27FC236}">
                <a16:creationId xmlns:a16="http://schemas.microsoft.com/office/drawing/2014/main" id="{2C356854-0685-DCEF-E2F6-65D5E9653A47}"/>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71274" y="-185107"/>
            <a:ext cx="3179518" cy="1268781"/>
          </a:xfrm>
          <a:prstGeom prst="rect">
            <a:avLst/>
          </a:prstGeom>
        </p:spPr>
      </p:pic>
      <p:sp>
        <p:nvSpPr>
          <p:cNvPr id="6" name="Rectangle 5"/>
          <p:cNvSpPr/>
          <p:nvPr/>
        </p:nvSpPr>
        <p:spPr>
          <a:xfrm>
            <a:off x="3938554" y="3337559"/>
            <a:ext cx="3816000" cy="923330"/>
          </a:xfrm>
          <a:prstGeom prst="rect">
            <a:avLst/>
          </a:prstGeom>
        </p:spPr>
        <p:txBody>
          <a:bodyPr wrap="square">
            <a:spAutoFit/>
          </a:bodyPr>
          <a:lstStyle/>
          <a:p>
            <a:br>
              <a:rPr lang="fr-CI" noProof="0">
                <a:solidFill>
                  <a:schemeClr val="bg1"/>
                </a:solidFill>
              </a:rPr>
            </a:br>
            <a:r>
              <a:rPr lang="fr-CI" noProof="0">
                <a:solidFill>
                  <a:srgbClr val="EFAC62"/>
                </a:solidFill>
                <a:latin typeface="Helvetica" panose="020B0604020202020204" pitchFamily="34" charset="0"/>
                <a:ea typeface="Open Sans Light" panose="020B0306030504020204" pitchFamily="34" charset="0"/>
                <a:cs typeface="Helvetica" panose="020B0604020202020204" pitchFamily="34" charset="0"/>
              </a:rPr>
              <a:t>Mission, périmètre, chaîne de traitement</a:t>
            </a:r>
          </a:p>
        </p:txBody>
      </p:sp>
      <p:pic>
        <p:nvPicPr>
          <p:cNvPr id="11" name="Image 1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865561" y="2415481"/>
            <a:ext cx="1566911" cy="1600975"/>
          </a:xfrm>
          <a:prstGeom prst="rect">
            <a:avLst/>
          </a:prstGeom>
        </p:spPr>
      </p:pic>
    </p:spTree>
    <p:extLst>
      <p:ext uri="{BB962C8B-B14F-4D97-AF65-F5344CB8AC3E}">
        <p14:creationId xmlns:p14="http://schemas.microsoft.com/office/powerpoint/2010/main" val="803859579"/>
      </p:ext>
    </p:extLst>
  </p:cSld>
  <p:clrMapOvr>
    <a:masterClrMapping/>
  </p:clrMapOvr>
  <p:transition>
    <p:fade/>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Mission et périmètre</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Le volet actuariel répond à quatre questions sur les engagements et les placements</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Période d'analyse du 1er janvier 2020 au 31 août 2026. Données arrêtées à l'envoi du FPPN reçu le 15/10/2026</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dossier de préparation de la mission (13/10/2026) et liste des documents demandés (PBC)</a:t>
            </a:r>
          </a:p>
        </p:txBody>
      </p:sp>
      <p:sp>
        <p:nvSpPr>
          <p:cNvPr id="31" name="TextBox 30"/>
          <p:cNvSpPr txBox="1"/>
          <p:nvPr/>
        </p:nvSpPr>
        <p:spPr>
          <a:xfrm>
            <a:off x="503999" y="1386000"/>
            <a:ext cx="11232000" cy="216000"/>
          </a:xfrm>
          <a:prstGeom prst="rect">
            <a:avLst/>
          </a:prstGeom>
          <a:noFill/>
        </p:spPr>
        <p:txBody>
          <a:bodyPr wrap="square" anchor="t" lIns="54000" rIns="54000"/>
          <a:lstStyle/>
          <a:p>
            <a:pPr algn="ctr"/>
            <a:r>
              <a:rPr sz="1200" b="0">
                <a:solidFill>
                  <a:srgbClr val="EFAC62"/>
                </a:solidFill>
                <a:latin typeface="Helvetica"/>
              </a:rPr>
              <a:t>Tableau 7 : Périmètre de la mission actuarielle et statistique</a:t>
            </a:r>
          </a:p>
        </p:txBody>
      </p:sp>
      <p:graphicFrame>
        <p:nvGraphicFramePr>
          <p:cNvPr id="32" name="Table 31"/>
          <p:cNvGraphicFramePr>
            <a:graphicFrameLocks noGrp="1"/>
          </p:cNvGraphicFramePr>
          <p:nvPr/>
        </p:nvGraphicFramePr>
        <p:xfrm>
          <a:off x="503999" y="1655999"/>
          <a:ext cx="11232000" cy="1802000"/>
        </p:xfrm>
        <a:graphic>
          <a:graphicData uri="http://schemas.openxmlformats.org/drawingml/2006/table">
            <a:tbl>
              <a:tblPr firstRow="0" bandRow="0">
                <a:tableStyleId>{5940675A-B579-460E-94D1-54222C63F5DA}</a:tableStyleId>
              </a:tblPr>
              <a:tblGrid>
                <a:gridCol w="2232000"/>
                <a:gridCol w="5400000"/>
                <a:gridCol w="3600000"/>
              </a:tblGrid>
              <a:tr h="225250">
                <a:tc>
                  <a:txBody>
                    <a:bodyPr/>
                    <a:lstStyle/>
                    <a:p>
                      <a:pPr marL="0" indent="0" lvl="0">
                        <a:buNone/>
                      </a:pPr>
                      <a:r>
                        <a:rPr sz="1100" b="1">
                          <a:solidFill>
                            <a:srgbClr val="FFFFFF"/>
                          </a:solidFill>
                          <a:latin typeface="Helvetica"/>
                        </a:rPr>
                        <a:t>Axe</a:t>
                      </a:r>
                    </a:p>
                  </a:txBody>
                  <a:tcPr marL="43200" marR="43200" marT="14400" marB="14400" anchor="ctr">
                    <a:solidFill>
                      <a:srgbClr val="060606"/>
                    </a:solidFill>
                  </a:tcPr>
                </a:tc>
                <a:tc>
                  <a:txBody>
                    <a:bodyPr/>
                    <a:lstStyle/>
                    <a:p>
                      <a:pPr marL="0" indent="0" lvl="0">
                        <a:buNone/>
                      </a:pPr>
                      <a:r>
                        <a:rPr sz="1100" b="1">
                          <a:solidFill>
                            <a:srgbClr val="FFFFFF"/>
                          </a:solidFill>
                          <a:latin typeface="Helvetica"/>
                        </a:rPr>
                        <a:t>Question traitée</a:t>
                      </a:r>
                    </a:p>
                  </a:txBody>
                  <a:tcPr marL="43200" marR="43200" marT="14400" marB="14400" anchor="ctr">
                    <a:solidFill>
                      <a:srgbClr val="060606"/>
                    </a:solidFill>
                  </a:tcPr>
                </a:tc>
                <a:tc>
                  <a:txBody>
                    <a:bodyPr/>
                    <a:lstStyle/>
                    <a:p>
                      <a:pPr marL="0" indent="0" lvl="0">
                        <a:buNone/>
                      </a:pPr>
                      <a:r>
                        <a:rPr sz="1100" b="1">
                          <a:solidFill>
                            <a:srgbClr val="FFFFFF"/>
                          </a:solidFill>
                          <a:latin typeface="Helvetica"/>
                        </a:rPr>
                        <a:t>État au 15/10/2026</a:t>
                      </a:r>
                    </a:p>
                  </a:txBody>
                  <a:tcPr marL="43200" marR="43200" marT="14400" marB="14400" anchor="ctr">
                    <a:solidFill>
                      <a:srgbClr val="060606"/>
                    </a:solidFill>
                  </a:tcPr>
                </a:tc>
              </a:tr>
              <a:tr h="225250">
                <a:tc>
                  <a:txBody>
                    <a:bodyPr/>
                    <a:lstStyle/>
                    <a:p>
                      <a:pPr marL="0" indent="0" lvl="0">
                        <a:buNone/>
                      </a:pPr>
                      <a:r>
                        <a:rPr sz="1100" b="1">
                          <a:solidFill>
                            <a:srgbClr val="060606"/>
                          </a:solidFill>
                          <a:latin typeface="Helvetica"/>
                        </a:rPr>
                        <a:t>1. Engagements</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Combien le FPPN doit-il à ses adhérents et ayants droit ?</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Partiel : épargne seulement</a:t>
                      </a:r>
                    </a:p>
                  </a:txBody>
                  <a:tcPr marL="43200" marR="43200" marT="14400" marB="14400" anchor="ctr">
                    <a:solidFill>
                      <a:srgbClr val="FFFFFF"/>
                    </a:solidFill>
                  </a:tcPr>
                </a:tc>
              </a:tr>
              <a:tr h="225250">
                <a:tc>
                  <a:txBody>
                    <a:bodyPr/>
                    <a:lstStyle/>
                    <a:p>
                      <a:pPr marL="0" indent="0" lvl="0">
                        <a:buNone/>
                      </a:pPr>
                      <a:r>
                        <a:rPr sz="1100" b="1">
                          <a:solidFill>
                            <a:srgbClr val="060606"/>
                          </a:solidFill>
                          <a:latin typeface="Helvetica"/>
                        </a:rPr>
                        <a:t>2. Suffisance des provisions</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Les provisions au bilan suffisent-elles à payer les prestations dues ?</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Constat fait, recalcul en attente</a:t>
                      </a:r>
                    </a:p>
                  </a:txBody>
                  <a:tcPr marL="43200" marR="43200" marT="14400" marB="14400" anchor="ctr">
                    <a:solidFill>
                      <a:srgbClr val="F2F2F2"/>
                    </a:solidFill>
                  </a:tcPr>
                </a:tc>
              </a:tr>
              <a:tr h="225250">
                <a:tc>
                  <a:txBody>
                    <a:bodyPr/>
                    <a:lstStyle/>
                    <a:p>
                      <a:pPr marL="0" indent="0" lvl="0">
                        <a:buNone/>
                      </a:pPr>
                      <a:r>
                        <a:rPr sz="1100" b="1">
                          <a:solidFill>
                            <a:srgbClr val="060606"/>
                          </a:solidFill>
                          <a:latin typeface="Helvetica"/>
                        </a:rPr>
                        <a:t>3. Adossement actif-passif</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Les actifs arrivent-ils en caisse au bon moment pour payer ?</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Réalisé sur les balances</a:t>
                      </a:r>
                    </a:p>
                  </a:txBody>
                  <a:tcPr marL="43200" marR="43200" marT="14400" marB="14400" anchor="ctr">
                    <a:solidFill>
                      <a:srgbClr val="FFFFFF"/>
                    </a:solidFill>
                  </a:tcPr>
                </a:tc>
              </a:tr>
              <a:tr h="225250">
                <a:tc>
                  <a:txBody>
                    <a:bodyPr/>
                    <a:lstStyle/>
                    <a:p>
                      <a:pPr marL="0" indent="0" lvl="0">
                        <a:buNone/>
                      </a:pPr>
                      <a:r>
                        <a:rPr sz="1100" b="1">
                          <a:solidFill>
                            <a:srgbClr val="060606"/>
                          </a:solidFill>
                          <a:latin typeface="Helvetica"/>
                        </a:rPr>
                        <a:t>4. Adéquation des placements</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Les placements sont-ils sûrs, liquides et rentables ?</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Réalisé sur les balances</a:t>
                      </a:r>
                    </a:p>
                  </a:txBody>
                  <a:tcPr marL="43200" marR="43200" marT="14400" marB="14400" anchor="ctr">
                    <a:solidFill>
                      <a:srgbClr val="F2F2F2"/>
                    </a:solidFill>
                  </a:tcPr>
                </a:tc>
              </a:tr>
              <a:tr h="225250">
                <a:tc>
                  <a:txBody>
                    <a:bodyPr/>
                    <a:lstStyle/>
                    <a:p>
                      <a:pPr marL="0" indent="0" lvl="0">
                        <a:buNone/>
                      </a:pPr>
                      <a:r>
                        <a:rPr sz="1100" b="1">
                          <a:solidFill>
                            <a:srgbClr val="060606"/>
                          </a:solidFill>
                          <a:latin typeface="Helvetica"/>
                        </a:rPr>
                        <a:t>Contrôle des données</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Les données sont-elles complètes et cohérentes avec la comptabilité ?</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Réalisé sur les données reçues</a:t>
                      </a:r>
                    </a:p>
                  </a:txBody>
                  <a:tcPr marL="43200" marR="43200" marT="14400" marB="14400" anchor="ctr">
                    <a:solidFill>
                      <a:srgbClr val="FFFFFF"/>
                    </a:solidFill>
                  </a:tcPr>
                </a:tc>
              </a:tr>
              <a:tr h="225250">
                <a:tc>
                  <a:txBody>
                    <a:bodyPr/>
                    <a:lstStyle/>
                    <a:p>
                      <a:pPr marL="0" indent="0" lvl="0">
                        <a:buNone/>
                      </a:pPr>
                      <a:r>
                        <a:rPr sz="1100" b="1">
                          <a:solidFill>
                            <a:srgbClr val="060606"/>
                          </a:solidFill>
                          <a:latin typeface="Helvetica"/>
                        </a:rPr>
                        <a:t>Conformité prudentielle</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Les ratios de la Décision n° 05/2022 sont-ils respectés ?</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Réalisé : 36 indicateurs examinés</a:t>
                      </a:r>
                    </a:p>
                  </a:txBody>
                  <a:tcPr marL="43200" marR="43200" marT="14400" marB="14400" anchor="ctr">
                    <a:solidFill>
                      <a:srgbClr val="F2F2F2"/>
                    </a:solidFill>
                  </a:tcPr>
                </a:tc>
              </a:tr>
              <a:tr h="225250">
                <a:tc>
                  <a:txBody>
                    <a:bodyPr/>
                    <a:lstStyle/>
                    <a:p>
                      <a:pPr marL="0" indent="0" lvl="0">
                        <a:buNone/>
                      </a:pPr>
                      <a:r>
                        <a:rPr sz="1100" b="1">
                          <a:solidFill>
                            <a:srgbClr val="060606"/>
                          </a:solidFill>
                          <a:latin typeface="Helvetica"/>
                        </a:rPr>
                        <a:t>Équilibre technique</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Les cotisations futures couvrent-elles les prestations futures ?</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En attente des âges et des dossiers</a:t>
                      </a:r>
                    </a:p>
                  </a:txBody>
                  <a:tcPr marL="43200" marR="43200" marT="14400" marB="14400" anchor="ctr">
                    <a:solidFill>
                      <a:srgbClr val="FFFFFF"/>
                    </a:solidFill>
                  </a:tcPr>
                </a:tc>
              </a:tr>
            </a:tbl>
          </a:graphicData>
        </a:graphic>
      </p:graphicFrame>
      <p:sp>
        <p:nvSpPr>
          <p:cNvPr id="33" name="TextBox 32"/>
          <p:cNvSpPr txBox="1"/>
          <p:nvPr/>
        </p:nvSpPr>
        <p:spPr>
          <a:xfrm>
            <a:off x="503999" y="3566004"/>
            <a:ext cx="11232000" cy="2301995"/>
          </a:xfrm>
          <a:prstGeom prst="rect">
            <a:avLst/>
          </a:prstGeom>
          <a:noFill/>
        </p:spPr>
        <p:txBody>
          <a:bodyPr wrap="square" lIns="54000" rIns="54000"/>
          <a:lstStyle/>
          <a:p>
            <a:pPr algn="just">
              <a:spcAft>
                <a:spcPts val="600"/>
              </a:spcAft>
            </a:pPr>
            <a:r>
              <a:rPr sz="1300" b="1">
                <a:solidFill>
                  <a:srgbClr val="060606"/>
                </a:solidFill>
                <a:latin typeface="Helvetica"/>
              </a:rPr>
              <a:t>Trois des quatre questions de la mission peuvent recevoir une première réponse. La première attend les données individuelles.</a:t>
            </a:r>
          </a:p>
          <a:p>
            <a:pPr algn="just">
              <a:spcAft>
                <a:spcPts val="600"/>
              </a:spcAft>
            </a:pPr>
            <a:r>
              <a:rPr sz="1300" b="1">
                <a:solidFill>
                  <a:srgbClr val="060606"/>
                </a:solidFill>
                <a:latin typeface="Helvetica"/>
              </a:rPr>
              <a:t>Implication pour le FPPN.</a:t>
            </a:r>
            <a:r>
              <a:rPr sz="1300" b="0">
                <a:solidFill>
                  <a:srgbClr val="060606"/>
                </a:solidFill>
                <a:latin typeface="Helvetica"/>
              </a:rPr>
              <a:t> Le calcul des engagements (question 1) conditionne la réponse définitive aux questions 2 et 3 : il reste la priorité dès réception des fichiers.</a:t>
            </a:r>
          </a:p>
        </p:txBody>
      </p:sp>
      <p:sp>
        <p:nvSpPr>
          <p:cNvPr id="34" name="TextBox 33"/>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PBC : liste des documents demandés au client</a:t>
            </a:r>
          </a:p>
        </p:txBody>
      </p:sp>
    </p:spTree>
    <p:extLst>
      <p:ext uri="{BB962C8B-B14F-4D97-AF65-F5344CB8AC3E}">
        <p14:creationId xmlns:p14="http://schemas.microsoft.com/office/powerpoint/2010/main" val="357437083"/>
      </p:ext>
    </p:extLst>
  </p:cSld>
  <p:clrMapOvr>
    <a:masterClrMapping/>
  </p:clrMapOvr>
  <p:transition>
    <p:fade/>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3" name="Image 32"/>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32" name="ZoneTexte 31">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35" name="Google Shape;7418;p41"/>
          <p:cNvSpPr/>
          <p:nvPr/>
        </p:nvSpPr>
        <p:spPr>
          <a:xfrm rot="21013821">
            <a:off x="6401695" y="3294998"/>
            <a:ext cx="1054440" cy="808361"/>
          </a:xfrm>
          <a:custGeom>
            <a:avLst/>
            <a:gdLst/>
            <a:ahLst/>
            <a:cxnLst/>
            <a:rect l="l" t="t" r="r" b="b"/>
            <a:pathLst>
              <a:path w="40007" h="30221" extrusionOk="0">
                <a:moveTo>
                  <a:pt x="19007" y="1"/>
                </a:moveTo>
                <a:cubicBezTo>
                  <a:pt x="17909" y="1"/>
                  <a:pt x="16810" y="17"/>
                  <a:pt x="15708" y="53"/>
                </a:cubicBezTo>
                <a:cubicBezTo>
                  <a:pt x="13270" y="131"/>
                  <a:pt x="10885" y="275"/>
                  <a:pt x="8512" y="548"/>
                </a:cubicBezTo>
                <a:cubicBezTo>
                  <a:pt x="6088" y="835"/>
                  <a:pt x="4524" y="1500"/>
                  <a:pt x="4041" y="2712"/>
                </a:cubicBezTo>
                <a:cubicBezTo>
                  <a:pt x="4015" y="2777"/>
                  <a:pt x="3976" y="2843"/>
                  <a:pt x="3937" y="2908"/>
                </a:cubicBezTo>
                <a:cubicBezTo>
                  <a:pt x="2777" y="4902"/>
                  <a:pt x="2282" y="6949"/>
                  <a:pt x="1734" y="8995"/>
                </a:cubicBezTo>
                <a:cubicBezTo>
                  <a:pt x="1160" y="11120"/>
                  <a:pt x="613" y="13232"/>
                  <a:pt x="391" y="15357"/>
                </a:cubicBezTo>
                <a:cubicBezTo>
                  <a:pt x="183" y="17325"/>
                  <a:pt x="0" y="19293"/>
                  <a:pt x="79" y="21092"/>
                </a:cubicBezTo>
                <a:cubicBezTo>
                  <a:pt x="52" y="23074"/>
                  <a:pt x="144" y="24899"/>
                  <a:pt x="365" y="26710"/>
                </a:cubicBezTo>
                <a:cubicBezTo>
                  <a:pt x="522" y="28079"/>
                  <a:pt x="1721" y="29096"/>
                  <a:pt x="4419" y="29656"/>
                </a:cubicBezTo>
                <a:cubicBezTo>
                  <a:pt x="6296" y="30048"/>
                  <a:pt x="8265" y="30178"/>
                  <a:pt x="10259" y="30204"/>
                </a:cubicBezTo>
                <a:cubicBezTo>
                  <a:pt x="11143" y="30216"/>
                  <a:pt x="12026" y="30220"/>
                  <a:pt x="12908" y="30220"/>
                </a:cubicBezTo>
                <a:cubicBezTo>
                  <a:pt x="15996" y="30220"/>
                  <a:pt x="19078" y="30165"/>
                  <a:pt x="22161" y="30165"/>
                </a:cubicBezTo>
                <a:cubicBezTo>
                  <a:pt x="24859" y="30165"/>
                  <a:pt x="27557" y="30204"/>
                  <a:pt x="30243" y="30204"/>
                </a:cubicBezTo>
                <a:cubicBezTo>
                  <a:pt x="31690" y="30191"/>
                  <a:pt x="33123" y="30113"/>
                  <a:pt x="34505" y="29852"/>
                </a:cubicBezTo>
                <a:cubicBezTo>
                  <a:pt x="35470" y="29683"/>
                  <a:pt x="36330" y="29435"/>
                  <a:pt x="36917" y="29005"/>
                </a:cubicBezTo>
                <a:cubicBezTo>
                  <a:pt x="37881" y="28288"/>
                  <a:pt x="38677" y="27519"/>
                  <a:pt x="39120" y="26684"/>
                </a:cubicBezTo>
                <a:cubicBezTo>
                  <a:pt x="39732" y="25485"/>
                  <a:pt x="39954" y="24260"/>
                  <a:pt x="39954" y="23021"/>
                </a:cubicBezTo>
                <a:cubicBezTo>
                  <a:pt x="39954" y="19372"/>
                  <a:pt x="40006" y="15709"/>
                  <a:pt x="39563" y="12059"/>
                </a:cubicBezTo>
                <a:cubicBezTo>
                  <a:pt x="39367" y="10403"/>
                  <a:pt x="39485" y="8748"/>
                  <a:pt x="39237" y="7105"/>
                </a:cubicBezTo>
                <a:cubicBezTo>
                  <a:pt x="39068" y="6023"/>
                  <a:pt x="38794" y="4941"/>
                  <a:pt x="37920" y="3938"/>
                </a:cubicBezTo>
                <a:cubicBezTo>
                  <a:pt x="37282" y="3208"/>
                  <a:pt x="36773" y="2438"/>
                  <a:pt x="35665" y="1826"/>
                </a:cubicBezTo>
                <a:cubicBezTo>
                  <a:pt x="34192" y="1031"/>
                  <a:pt x="32237" y="666"/>
                  <a:pt x="30138" y="496"/>
                </a:cubicBezTo>
                <a:cubicBezTo>
                  <a:pt x="26451" y="194"/>
                  <a:pt x="22741" y="1"/>
                  <a:pt x="19007" y="1"/>
                </a:cubicBezTo>
                <a:close/>
              </a:path>
            </a:pathLst>
          </a:custGeom>
          <a:solidFill>
            <a:srgbClr val="112A40"/>
          </a:solidFill>
          <a:ln w="28575" cap="flat" cmpd="sng">
            <a:solidFill>
              <a:schemeClr val="lt1"/>
            </a:solidFill>
            <a:prstDash val="solid"/>
            <a:round/>
            <a:headEnd type="none" w="sm" len="sm"/>
            <a:tailEnd type="none" w="sm" len="sm"/>
          </a:ln>
          <a:effectLst>
            <a:outerShdw blurRad="57150" dist="9525" algn="bl" rotWithShape="0">
              <a:srgbClr val="000000"/>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lang="fr-CI" sz="1200" noProof="0">
              <a:solidFill>
                <a:schemeClr val="bg1"/>
              </a:solidFill>
              <a:latin typeface="Helvetica" panose="020B0604020202020204" pitchFamily="34" charset="0"/>
              <a:cs typeface="Helvetica" panose="020B0604020202020204" pitchFamily="34" charset="0"/>
            </a:endParaRPr>
          </a:p>
        </p:txBody>
      </p:sp>
      <p:sp>
        <p:nvSpPr>
          <p:cNvPr id="38" name="Google Shape;7421;p41"/>
          <p:cNvSpPr/>
          <p:nvPr/>
        </p:nvSpPr>
        <p:spPr>
          <a:xfrm rot="356255">
            <a:off x="6399660" y="1735471"/>
            <a:ext cx="1054365" cy="808304"/>
          </a:xfrm>
          <a:custGeom>
            <a:avLst/>
            <a:gdLst/>
            <a:ahLst/>
            <a:cxnLst/>
            <a:rect l="l" t="t" r="r" b="b"/>
            <a:pathLst>
              <a:path w="40007" h="30221" extrusionOk="0">
                <a:moveTo>
                  <a:pt x="19007" y="1"/>
                </a:moveTo>
                <a:cubicBezTo>
                  <a:pt x="17909" y="1"/>
                  <a:pt x="16810" y="17"/>
                  <a:pt x="15708" y="53"/>
                </a:cubicBezTo>
                <a:cubicBezTo>
                  <a:pt x="13270" y="131"/>
                  <a:pt x="10885" y="275"/>
                  <a:pt x="8512" y="548"/>
                </a:cubicBezTo>
                <a:cubicBezTo>
                  <a:pt x="6088" y="835"/>
                  <a:pt x="4524" y="1500"/>
                  <a:pt x="4041" y="2712"/>
                </a:cubicBezTo>
                <a:cubicBezTo>
                  <a:pt x="4015" y="2777"/>
                  <a:pt x="3976" y="2843"/>
                  <a:pt x="3937" y="2908"/>
                </a:cubicBezTo>
                <a:cubicBezTo>
                  <a:pt x="2777" y="4902"/>
                  <a:pt x="2282" y="6949"/>
                  <a:pt x="1734" y="8995"/>
                </a:cubicBezTo>
                <a:cubicBezTo>
                  <a:pt x="1160" y="11120"/>
                  <a:pt x="613" y="13232"/>
                  <a:pt x="391" y="15357"/>
                </a:cubicBezTo>
                <a:cubicBezTo>
                  <a:pt x="183" y="17325"/>
                  <a:pt x="0" y="19293"/>
                  <a:pt x="79" y="21092"/>
                </a:cubicBezTo>
                <a:cubicBezTo>
                  <a:pt x="52" y="23074"/>
                  <a:pt x="144" y="24899"/>
                  <a:pt x="365" y="26710"/>
                </a:cubicBezTo>
                <a:cubicBezTo>
                  <a:pt x="522" y="28079"/>
                  <a:pt x="1721" y="29096"/>
                  <a:pt x="4419" y="29656"/>
                </a:cubicBezTo>
                <a:cubicBezTo>
                  <a:pt x="6296" y="30048"/>
                  <a:pt x="8265" y="30178"/>
                  <a:pt x="10259" y="30204"/>
                </a:cubicBezTo>
                <a:cubicBezTo>
                  <a:pt x="11143" y="30216"/>
                  <a:pt x="12026" y="30220"/>
                  <a:pt x="12908" y="30220"/>
                </a:cubicBezTo>
                <a:cubicBezTo>
                  <a:pt x="15996" y="30220"/>
                  <a:pt x="19078" y="30165"/>
                  <a:pt x="22161" y="30165"/>
                </a:cubicBezTo>
                <a:cubicBezTo>
                  <a:pt x="24859" y="30165"/>
                  <a:pt x="27557" y="30204"/>
                  <a:pt x="30243" y="30204"/>
                </a:cubicBezTo>
                <a:cubicBezTo>
                  <a:pt x="31690" y="30191"/>
                  <a:pt x="33123" y="30113"/>
                  <a:pt x="34505" y="29852"/>
                </a:cubicBezTo>
                <a:cubicBezTo>
                  <a:pt x="35470" y="29683"/>
                  <a:pt x="36330" y="29435"/>
                  <a:pt x="36917" y="29005"/>
                </a:cubicBezTo>
                <a:cubicBezTo>
                  <a:pt x="37881" y="28288"/>
                  <a:pt x="38677" y="27519"/>
                  <a:pt x="39120" y="26684"/>
                </a:cubicBezTo>
                <a:cubicBezTo>
                  <a:pt x="39732" y="25485"/>
                  <a:pt x="39954" y="24260"/>
                  <a:pt x="39954" y="23021"/>
                </a:cubicBezTo>
                <a:cubicBezTo>
                  <a:pt x="39954" y="19372"/>
                  <a:pt x="40006" y="15709"/>
                  <a:pt x="39563" y="12059"/>
                </a:cubicBezTo>
                <a:cubicBezTo>
                  <a:pt x="39367" y="10403"/>
                  <a:pt x="39485" y="8748"/>
                  <a:pt x="39237" y="7105"/>
                </a:cubicBezTo>
                <a:cubicBezTo>
                  <a:pt x="39068" y="6023"/>
                  <a:pt x="38794" y="4941"/>
                  <a:pt x="37920" y="3938"/>
                </a:cubicBezTo>
                <a:cubicBezTo>
                  <a:pt x="37282" y="3208"/>
                  <a:pt x="36773" y="2438"/>
                  <a:pt x="35665" y="1826"/>
                </a:cubicBezTo>
                <a:cubicBezTo>
                  <a:pt x="34192" y="1031"/>
                  <a:pt x="32237" y="666"/>
                  <a:pt x="30138" y="496"/>
                </a:cubicBezTo>
                <a:cubicBezTo>
                  <a:pt x="26451" y="194"/>
                  <a:pt x="22741" y="1"/>
                  <a:pt x="19007" y="1"/>
                </a:cubicBezTo>
                <a:close/>
              </a:path>
            </a:pathLst>
          </a:custGeom>
          <a:solidFill>
            <a:srgbClr val="112A40"/>
          </a:solidFill>
          <a:ln w="28575" cap="flat" cmpd="sng">
            <a:solidFill>
              <a:schemeClr val="lt1"/>
            </a:solidFill>
            <a:prstDash val="solid"/>
            <a:round/>
            <a:headEnd type="none" w="sm" len="sm"/>
            <a:tailEnd type="none" w="sm" len="sm"/>
          </a:ln>
          <a:effectLst>
            <a:outerShdw blurRad="57150" dist="9525" algn="bl" rotWithShape="0">
              <a:srgbClr val="000000"/>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lang="fr-CI" sz="1200" noProof="0">
              <a:solidFill>
                <a:schemeClr val="bg1"/>
              </a:solidFill>
              <a:latin typeface="Helvetica" panose="020B0604020202020204" pitchFamily="34" charset="0"/>
              <a:cs typeface="Helvetica" panose="020B0604020202020204" pitchFamily="34" charset="0"/>
            </a:endParaRPr>
          </a:p>
        </p:txBody>
      </p:sp>
      <p:sp>
        <p:nvSpPr>
          <p:cNvPr id="41" name="Google Shape;7424;p41"/>
          <p:cNvSpPr/>
          <p:nvPr/>
        </p:nvSpPr>
        <p:spPr>
          <a:xfrm rot="282502">
            <a:off x="1112586" y="3294810"/>
            <a:ext cx="1054406" cy="808335"/>
          </a:xfrm>
          <a:custGeom>
            <a:avLst/>
            <a:gdLst/>
            <a:ahLst/>
            <a:cxnLst/>
            <a:rect l="l" t="t" r="r" b="b"/>
            <a:pathLst>
              <a:path w="40007" h="30221" extrusionOk="0">
                <a:moveTo>
                  <a:pt x="19007" y="1"/>
                </a:moveTo>
                <a:cubicBezTo>
                  <a:pt x="17909" y="1"/>
                  <a:pt x="16810" y="17"/>
                  <a:pt x="15708" y="53"/>
                </a:cubicBezTo>
                <a:cubicBezTo>
                  <a:pt x="13270" y="131"/>
                  <a:pt x="10885" y="275"/>
                  <a:pt x="8512" y="548"/>
                </a:cubicBezTo>
                <a:cubicBezTo>
                  <a:pt x="6088" y="835"/>
                  <a:pt x="4524" y="1500"/>
                  <a:pt x="4041" y="2712"/>
                </a:cubicBezTo>
                <a:cubicBezTo>
                  <a:pt x="4015" y="2777"/>
                  <a:pt x="3976" y="2843"/>
                  <a:pt x="3937" y="2908"/>
                </a:cubicBezTo>
                <a:cubicBezTo>
                  <a:pt x="2777" y="4902"/>
                  <a:pt x="2282" y="6949"/>
                  <a:pt x="1734" y="8995"/>
                </a:cubicBezTo>
                <a:cubicBezTo>
                  <a:pt x="1160" y="11120"/>
                  <a:pt x="613" y="13232"/>
                  <a:pt x="391" y="15357"/>
                </a:cubicBezTo>
                <a:cubicBezTo>
                  <a:pt x="183" y="17325"/>
                  <a:pt x="0" y="19293"/>
                  <a:pt x="79" y="21092"/>
                </a:cubicBezTo>
                <a:cubicBezTo>
                  <a:pt x="52" y="23074"/>
                  <a:pt x="144" y="24899"/>
                  <a:pt x="365" y="26710"/>
                </a:cubicBezTo>
                <a:cubicBezTo>
                  <a:pt x="522" y="28079"/>
                  <a:pt x="1721" y="29096"/>
                  <a:pt x="4419" y="29656"/>
                </a:cubicBezTo>
                <a:cubicBezTo>
                  <a:pt x="6296" y="30048"/>
                  <a:pt x="8265" y="30178"/>
                  <a:pt x="10259" y="30204"/>
                </a:cubicBezTo>
                <a:cubicBezTo>
                  <a:pt x="11143" y="30216"/>
                  <a:pt x="12026" y="30220"/>
                  <a:pt x="12908" y="30220"/>
                </a:cubicBezTo>
                <a:cubicBezTo>
                  <a:pt x="15996" y="30220"/>
                  <a:pt x="19078" y="30165"/>
                  <a:pt x="22161" y="30165"/>
                </a:cubicBezTo>
                <a:cubicBezTo>
                  <a:pt x="24859" y="30165"/>
                  <a:pt x="27557" y="30204"/>
                  <a:pt x="30243" y="30204"/>
                </a:cubicBezTo>
                <a:cubicBezTo>
                  <a:pt x="31690" y="30191"/>
                  <a:pt x="33123" y="30113"/>
                  <a:pt x="34505" y="29852"/>
                </a:cubicBezTo>
                <a:cubicBezTo>
                  <a:pt x="35470" y="29683"/>
                  <a:pt x="36330" y="29435"/>
                  <a:pt x="36917" y="29005"/>
                </a:cubicBezTo>
                <a:cubicBezTo>
                  <a:pt x="37881" y="28288"/>
                  <a:pt x="38677" y="27519"/>
                  <a:pt x="39120" y="26684"/>
                </a:cubicBezTo>
                <a:cubicBezTo>
                  <a:pt x="39732" y="25485"/>
                  <a:pt x="39954" y="24260"/>
                  <a:pt x="39954" y="23021"/>
                </a:cubicBezTo>
                <a:cubicBezTo>
                  <a:pt x="39954" y="19372"/>
                  <a:pt x="40006" y="15709"/>
                  <a:pt x="39563" y="12059"/>
                </a:cubicBezTo>
                <a:cubicBezTo>
                  <a:pt x="39367" y="10403"/>
                  <a:pt x="39485" y="8748"/>
                  <a:pt x="39237" y="7105"/>
                </a:cubicBezTo>
                <a:cubicBezTo>
                  <a:pt x="39068" y="6023"/>
                  <a:pt x="38794" y="4941"/>
                  <a:pt x="37920" y="3938"/>
                </a:cubicBezTo>
                <a:cubicBezTo>
                  <a:pt x="37282" y="3208"/>
                  <a:pt x="36773" y="2438"/>
                  <a:pt x="35665" y="1826"/>
                </a:cubicBezTo>
                <a:cubicBezTo>
                  <a:pt x="34192" y="1031"/>
                  <a:pt x="32237" y="666"/>
                  <a:pt x="30138" y="496"/>
                </a:cubicBezTo>
                <a:cubicBezTo>
                  <a:pt x="26451" y="194"/>
                  <a:pt x="22741" y="1"/>
                  <a:pt x="19007" y="1"/>
                </a:cubicBezTo>
                <a:close/>
              </a:path>
            </a:pathLst>
          </a:custGeom>
          <a:solidFill>
            <a:srgbClr val="112A40"/>
          </a:solidFill>
          <a:ln w="28575" cap="flat" cmpd="sng">
            <a:solidFill>
              <a:schemeClr val="lt1"/>
            </a:solidFill>
            <a:prstDash val="solid"/>
            <a:round/>
            <a:headEnd type="none" w="sm" len="sm"/>
            <a:tailEnd type="none" w="sm" len="sm"/>
          </a:ln>
          <a:effectLst>
            <a:outerShdw blurRad="57150" dist="9525" algn="bl" rotWithShape="0">
              <a:srgbClr val="000000"/>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lang="fr-CI" sz="1200" noProof="0">
              <a:solidFill>
                <a:schemeClr val="bg1"/>
              </a:solidFill>
              <a:latin typeface="Helvetica" panose="020B0604020202020204" pitchFamily="34" charset="0"/>
              <a:cs typeface="Helvetica" panose="020B0604020202020204" pitchFamily="34" charset="0"/>
            </a:endParaRPr>
          </a:p>
        </p:txBody>
      </p:sp>
      <p:sp>
        <p:nvSpPr>
          <p:cNvPr id="44" name="Google Shape;7427;p41"/>
          <p:cNvSpPr/>
          <p:nvPr/>
        </p:nvSpPr>
        <p:spPr>
          <a:xfrm rot="21275242">
            <a:off x="1148118" y="1739687"/>
            <a:ext cx="1054398" cy="808329"/>
          </a:xfrm>
          <a:custGeom>
            <a:avLst/>
            <a:gdLst/>
            <a:ahLst/>
            <a:cxnLst/>
            <a:rect l="l" t="t" r="r" b="b"/>
            <a:pathLst>
              <a:path w="40007" h="30221" extrusionOk="0">
                <a:moveTo>
                  <a:pt x="19007" y="1"/>
                </a:moveTo>
                <a:cubicBezTo>
                  <a:pt x="17909" y="1"/>
                  <a:pt x="16810" y="17"/>
                  <a:pt x="15708" y="53"/>
                </a:cubicBezTo>
                <a:cubicBezTo>
                  <a:pt x="13270" y="131"/>
                  <a:pt x="10885" y="275"/>
                  <a:pt x="8512" y="548"/>
                </a:cubicBezTo>
                <a:cubicBezTo>
                  <a:pt x="6088" y="835"/>
                  <a:pt x="4524" y="1500"/>
                  <a:pt x="4041" y="2712"/>
                </a:cubicBezTo>
                <a:cubicBezTo>
                  <a:pt x="4015" y="2777"/>
                  <a:pt x="3976" y="2843"/>
                  <a:pt x="3937" y="2908"/>
                </a:cubicBezTo>
                <a:cubicBezTo>
                  <a:pt x="2777" y="4902"/>
                  <a:pt x="2282" y="6949"/>
                  <a:pt x="1734" y="8995"/>
                </a:cubicBezTo>
                <a:cubicBezTo>
                  <a:pt x="1160" y="11120"/>
                  <a:pt x="613" y="13232"/>
                  <a:pt x="391" y="15357"/>
                </a:cubicBezTo>
                <a:cubicBezTo>
                  <a:pt x="183" y="17325"/>
                  <a:pt x="0" y="19293"/>
                  <a:pt x="79" y="21092"/>
                </a:cubicBezTo>
                <a:cubicBezTo>
                  <a:pt x="52" y="23074"/>
                  <a:pt x="144" y="24899"/>
                  <a:pt x="365" y="26710"/>
                </a:cubicBezTo>
                <a:cubicBezTo>
                  <a:pt x="522" y="28079"/>
                  <a:pt x="1721" y="29096"/>
                  <a:pt x="4419" y="29656"/>
                </a:cubicBezTo>
                <a:cubicBezTo>
                  <a:pt x="6296" y="30048"/>
                  <a:pt x="8265" y="30178"/>
                  <a:pt x="10259" y="30204"/>
                </a:cubicBezTo>
                <a:cubicBezTo>
                  <a:pt x="11143" y="30216"/>
                  <a:pt x="12026" y="30220"/>
                  <a:pt x="12908" y="30220"/>
                </a:cubicBezTo>
                <a:cubicBezTo>
                  <a:pt x="15996" y="30220"/>
                  <a:pt x="19078" y="30165"/>
                  <a:pt x="22161" y="30165"/>
                </a:cubicBezTo>
                <a:cubicBezTo>
                  <a:pt x="24859" y="30165"/>
                  <a:pt x="27557" y="30204"/>
                  <a:pt x="30243" y="30204"/>
                </a:cubicBezTo>
                <a:cubicBezTo>
                  <a:pt x="31690" y="30191"/>
                  <a:pt x="33123" y="30113"/>
                  <a:pt x="34505" y="29852"/>
                </a:cubicBezTo>
                <a:cubicBezTo>
                  <a:pt x="35470" y="29683"/>
                  <a:pt x="36330" y="29435"/>
                  <a:pt x="36917" y="29005"/>
                </a:cubicBezTo>
                <a:cubicBezTo>
                  <a:pt x="37881" y="28288"/>
                  <a:pt x="38677" y="27519"/>
                  <a:pt x="39120" y="26684"/>
                </a:cubicBezTo>
                <a:cubicBezTo>
                  <a:pt x="39732" y="25485"/>
                  <a:pt x="39954" y="24260"/>
                  <a:pt x="39954" y="23021"/>
                </a:cubicBezTo>
                <a:cubicBezTo>
                  <a:pt x="39954" y="19372"/>
                  <a:pt x="40006" y="15709"/>
                  <a:pt x="39563" y="12059"/>
                </a:cubicBezTo>
                <a:cubicBezTo>
                  <a:pt x="39367" y="10403"/>
                  <a:pt x="39485" y="8748"/>
                  <a:pt x="39237" y="7105"/>
                </a:cubicBezTo>
                <a:cubicBezTo>
                  <a:pt x="39068" y="6023"/>
                  <a:pt x="38794" y="4941"/>
                  <a:pt x="37920" y="3938"/>
                </a:cubicBezTo>
                <a:cubicBezTo>
                  <a:pt x="37282" y="3208"/>
                  <a:pt x="36773" y="2438"/>
                  <a:pt x="35665" y="1826"/>
                </a:cubicBezTo>
                <a:cubicBezTo>
                  <a:pt x="34192" y="1031"/>
                  <a:pt x="32237" y="666"/>
                  <a:pt x="30138" y="496"/>
                </a:cubicBezTo>
                <a:cubicBezTo>
                  <a:pt x="26451" y="194"/>
                  <a:pt x="22741" y="1"/>
                  <a:pt x="19007" y="1"/>
                </a:cubicBezTo>
                <a:close/>
              </a:path>
            </a:pathLst>
          </a:custGeom>
          <a:solidFill>
            <a:srgbClr val="112A40"/>
          </a:solidFill>
          <a:ln w="28575" cap="flat" cmpd="sng">
            <a:solidFill>
              <a:schemeClr val="lt1"/>
            </a:solidFill>
            <a:prstDash val="solid"/>
            <a:round/>
            <a:headEnd type="none" w="sm" len="sm"/>
            <a:tailEnd type="none" w="sm" len="sm"/>
          </a:ln>
          <a:effectLst>
            <a:outerShdw blurRad="57150" dist="9525" algn="bl" rotWithShape="0">
              <a:srgbClr val="000000"/>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lang="fr-CI" sz="1200" noProof="0">
              <a:solidFill>
                <a:schemeClr val="bg1"/>
              </a:solidFill>
              <a:latin typeface="Helvetica" panose="020B0604020202020204" pitchFamily="34" charset="0"/>
              <a:cs typeface="Helvetica" panose="020B0604020202020204" pitchFamily="34" charset="0"/>
            </a:endParaRPr>
          </a:p>
        </p:txBody>
      </p:sp>
      <p:sp>
        <p:nvSpPr>
          <p:cNvPr id="47" name="Google Shape;7431;p41"/>
          <p:cNvSpPr txBox="1">
            <a:spLocks/>
          </p:cNvSpPr>
          <p:nvPr/>
        </p:nvSpPr>
        <p:spPr>
          <a:xfrm rot="21433306">
            <a:off x="1159212" y="1895676"/>
            <a:ext cx="961801" cy="526899"/>
          </a:xfrm>
          <a:prstGeom prst="rect">
            <a:avLst/>
          </a:prstGeom>
        </p:spPr>
        <p:txBody>
          <a:bodyPr spcFirstLastPara="1" wrap="square" lIns="91425" tIns="91425" rIns="91425" bIns="91425" anchor="ctr" anchorCtr="0">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spcBef>
                <a:spcPts val="0"/>
              </a:spcBef>
            </a:pPr>
            <a:r>
              <a:rPr lang="fr-CI" sz="3200" noProof="0">
                <a:solidFill>
                  <a:schemeClr val="bg1"/>
                </a:solidFill>
                <a:latin typeface="Helvetica" panose="020B0604020202020204" pitchFamily="34" charset="0"/>
                <a:cs typeface="Helvetica" panose="020B0604020202020204" pitchFamily="34" charset="0"/>
              </a:rPr>
              <a:t>01</a:t>
            </a:r>
          </a:p>
        </p:txBody>
      </p:sp>
      <p:sp>
        <p:nvSpPr>
          <p:cNvPr id="48" name="Google Shape;7432;p41"/>
          <p:cNvSpPr txBox="1">
            <a:spLocks/>
          </p:cNvSpPr>
          <p:nvPr/>
        </p:nvSpPr>
        <p:spPr>
          <a:xfrm rot="442454">
            <a:off x="1159212" y="3432955"/>
            <a:ext cx="961801" cy="526899"/>
          </a:xfrm>
          <a:prstGeom prst="rect">
            <a:avLst/>
          </a:prstGeom>
        </p:spPr>
        <p:txBody>
          <a:bodyPr spcFirstLastPara="1" wrap="square" lIns="91425" tIns="91425" rIns="91425" bIns="91425" anchor="ctr" anchorCtr="0">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spcBef>
                <a:spcPts val="0"/>
              </a:spcBef>
            </a:pPr>
            <a:r>
              <a:rPr lang="fr-CI" sz="3200" noProof="0">
                <a:solidFill>
                  <a:schemeClr val="bg1"/>
                </a:solidFill>
                <a:latin typeface="Helvetica" panose="020B0604020202020204" pitchFamily="34" charset="0"/>
                <a:cs typeface="Helvetica" panose="020B0604020202020204" pitchFamily="34" charset="0"/>
              </a:rPr>
              <a:t>02</a:t>
            </a:r>
          </a:p>
        </p:txBody>
      </p:sp>
      <p:sp>
        <p:nvSpPr>
          <p:cNvPr id="53" name="Google Shape;7437;p41"/>
          <p:cNvSpPr txBox="1">
            <a:spLocks/>
          </p:cNvSpPr>
          <p:nvPr/>
        </p:nvSpPr>
        <p:spPr>
          <a:xfrm rot="494524">
            <a:off x="6442393" y="1895676"/>
            <a:ext cx="970153" cy="526899"/>
          </a:xfrm>
          <a:prstGeom prst="rect">
            <a:avLst/>
          </a:prstGeom>
        </p:spPr>
        <p:txBody>
          <a:bodyPr spcFirstLastPara="1" wrap="square" lIns="91425" tIns="91425" rIns="91425" bIns="91425" anchor="ctr" anchorCtr="0">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spcBef>
                <a:spcPts val="0"/>
              </a:spcBef>
            </a:pPr>
            <a:r>
              <a:rPr lang="fr-CI" sz="3200" noProof="0">
                <a:solidFill>
                  <a:schemeClr val="bg1"/>
                </a:solidFill>
                <a:latin typeface="Helvetica" panose="020B0604020202020204" pitchFamily="34" charset="0"/>
                <a:cs typeface="Helvetica" panose="020B0604020202020204" pitchFamily="34" charset="0"/>
              </a:rPr>
              <a:t>03</a:t>
            </a:r>
          </a:p>
        </p:txBody>
      </p:sp>
      <p:sp>
        <p:nvSpPr>
          <p:cNvPr id="54" name="Google Shape;7438;p41"/>
          <p:cNvSpPr txBox="1">
            <a:spLocks/>
          </p:cNvSpPr>
          <p:nvPr/>
        </p:nvSpPr>
        <p:spPr>
          <a:xfrm rot="21135267">
            <a:off x="6442393" y="3432955"/>
            <a:ext cx="970153" cy="526899"/>
          </a:xfrm>
          <a:prstGeom prst="rect">
            <a:avLst/>
          </a:prstGeom>
        </p:spPr>
        <p:txBody>
          <a:bodyPr spcFirstLastPara="1" wrap="square" lIns="91425" tIns="91425" rIns="91425" bIns="91425" anchor="ctr" anchorCtr="0">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spcBef>
                <a:spcPts val="0"/>
              </a:spcBef>
            </a:pPr>
            <a:r>
              <a:rPr lang="fr-CI" sz="3200" noProof="0">
                <a:solidFill>
                  <a:schemeClr val="bg1"/>
                </a:solidFill>
                <a:latin typeface="Helvetica" panose="020B0604020202020204" pitchFamily="34" charset="0"/>
                <a:cs typeface="Helvetica" panose="020B0604020202020204" pitchFamily="34" charset="0"/>
              </a:rPr>
              <a:t>04</a:t>
            </a:r>
          </a:p>
        </p:txBody>
      </p:sp>
      <p:sp>
        <p:nvSpPr>
          <p:cNvPr id="19" name="Rectangle 18"/>
          <p:cNvSpPr/>
          <p:nvPr/>
        </p:nvSpPr>
        <p:spPr>
          <a:xfrm>
            <a:off x="2416034" y="1540408"/>
            <a:ext cx="3277758" cy="1049784"/>
          </a:xfrm>
          <a:prstGeom prst="rect">
            <a:avLst/>
          </a:prstGeom>
        </p:spPr>
        <p:txBody>
          <a:bodyPr wrap="square">
            <a:spAutoFit/>
          </a:bodyPr>
          <a:lstStyle/>
          <a:p>
            <a:pPr lvl="0">
              <a:lnSpc>
                <a:spcPct val="110000"/>
              </a:lnSpc>
            </a:pPr>
            <a:r>
              <a:rPr lang="fr-CI" sz="1300" b="1" noProof="0">
                <a:solidFill>
                  <a:srgbClr val="112A40"/>
                </a:solidFill>
                <a:latin typeface="Helvetica" panose="020B0604020202020204" pitchFamily="34" charset="0"/>
                <a:ea typeface="Open Sans Semibold" panose="020B0706030804020204" pitchFamily="34" charset="0"/>
                <a:cs typeface="Helvetica" panose="020B0604020202020204" pitchFamily="34" charset="0"/>
              </a:rPr>
              <a:t>Réception</a:t>
            </a:r>
          </a:p>
          <a:p>
            <a:r>
              <a:rPr lang="fr-CI" sz="1100" noProof="0" b="0">
                <a:latin typeface="Helvetica" panose="020B0604020202020204" pitchFamily="34" charset="0"/>
                <a:ea typeface="Open Sans Light" panose="020B0306030504020204" pitchFamily="34" charset="0"/>
                <a:cs typeface="Helvetica" panose="020B0604020202020204" pitchFamily="34" charset="0"/>
              </a:rPr>
              <a:t>Le FPPN envoie 4 287 fichiers. Adenka en dresse l'inventaire et repère doublons et fichiers illisibles.</a:t>
            </a:r>
            <a:endParaRPr lang="fr-CI" sz="1600" noProof="0"/>
          </a:p>
        </p:txBody>
      </p:sp>
      <p:sp>
        <p:nvSpPr>
          <p:cNvPr id="20" name="Rectangle 19"/>
          <p:cNvSpPr/>
          <p:nvPr/>
        </p:nvSpPr>
        <p:spPr>
          <a:xfrm>
            <a:off x="2416034" y="3063276"/>
            <a:ext cx="3277758" cy="1049784"/>
          </a:xfrm>
          <a:prstGeom prst="rect">
            <a:avLst/>
          </a:prstGeom>
        </p:spPr>
        <p:txBody>
          <a:bodyPr wrap="square">
            <a:spAutoFit/>
          </a:bodyPr>
          <a:lstStyle/>
          <a:p>
            <a:pPr lvl="0">
              <a:lnSpc>
                <a:spcPct val="110000"/>
              </a:lnSpc>
            </a:pPr>
            <a:r>
              <a:rPr lang="fr-CI" sz="1300" b="1" noProof="0">
                <a:solidFill>
                  <a:srgbClr val="112A40"/>
                </a:solidFill>
                <a:latin typeface="Helvetica" panose="020B0604020202020204" pitchFamily="34" charset="0"/>
                <a:ea typeface="Open Sans Semibold" panose="020B0706030804020204" pitchFamily="34" charset="0"/>
                <a:cs typeface="Helvetica" panose="020B0604020202020204" pitchFamily="34" charset="0"/>
              </a:rPr>
              <a:t>Extraction</a:t>
            </a:r>
          </a:p>
          <a:p>
            <a:r>
              <a:rPr lang="fr-CI" sz="1100" noProof="0" b="0">
                <a:latin typeface="Helvetica" panose="020B0604020202020204" pitchFamily="34" charset="0"/>
                <a:ea typeface="Open Sans Light" panose="020B0306030504020204" pitchFamily="34" charset="0"/>
                <a:cs typeface="Helvetica" panose="020B0604020202020204" pitchFamily="34" charset="0"/>
              </a:rPr>
              <a:t>Les tableurs sont convertis sans perte en CSV, avec une empreinte SHA-256 pour chaque fichier.</a:t>
            </a:r>
            <a:endParaRPr lang="fr-CI" sz="1600" noProof="0"/>
          </a:p>
        </p:txBody>
      </p:sp>
      <p:sp>
        <p:nvSpPr>
          <p:cNvPr id="22" name="Rectangle 21"/>
          <p:cNvSpPr/>
          <p:nvPr/>
        </p:nvSpPr>
        <p:spPr>
          <a:xfrm>
            <a:off x="7755371" y="1520642"/>
            <a:ext cx="3277758" cy="1049784"/>
          </a:xfrm>
          <a:prstGeom prst="rect">
            <a:avLst/>
          </a:prstGeom>
        </p:spPr>
        <p:txBody>
          <a:bodyPr wrap="square">
            <a:spAutoFit/>
          </a:bodyPr>
          <a:lstStyle/>
          <a:p>
            <a:pPr lvl="0">
              <a:lnSpc>
                <a:spcPct val="110000"/>
              </a:lnSpc>
            </a:pPr>
            <a:r>
              <a:rPr lang="fr-CI" sz="1300" b="1" noProof="0">
                <a:solidFill>
                  <a:srgbClr val="112A40"/>
                </a:solidFill>
                <a:latin typeface="Helvetica" panose="020B0604020202020204" pitchFamily="34" charset="0"/>
                <a:ea typeface="Open Sans Semibold" panose="020B0706030804020204" pitchFamily="34" charset="0"/>
                <a:cs typeface="Helvetica" panose="020B0604020202020204" pitchFamily="34" charset="0"/>
              </a:rPr>
              <a:t>Base</a:t>
            </a:r>
          </a:p>
          <a:p>
            <a:r>
              <a:rPr lang="fr-CI" sz="1100" noProof="0" b="0">
                <a:latin typeface="Helvetica" panose="020B0604020202020204" pitchFamily="34" charset="0"/>
                <a:ea typeface="Open Sans Light" panose="020B0306030504020204" pitchFamily="34" charset="0"/>
                <a:cs typeface="Helvetica" panose="020B0604020202020204" pitchFamily="34" charset="0"/>
              </a:rPr>
              <a:t>Les 4,45 millions de lignes sont réunies. Les lignes de total et les montants doublés sont écartés.</a:t>
            </a:r>
            <a:endParaRPr lang="fr-CI" sz="1600" noProof="0"/>
          </a:p>
        </p:txBody>
      </p:sp>
      <p:sp>
        <p:nvSpPr>
          <p:cNvPr id="23" name="Rectangle 22"/>
          <p:cNvSpPr/>
          <p:nvPr/>
        </p:nvSpPr>
        <p:spPr>
          <a:xfrm>
            <a:off x="7715469" y="3067373"/>
            <a:ext cx="3277758" cy="1049784"/>
          </a:xfrm>
          <a:prstGeom prst="rect">
            <a:avLst/>
          </a:prstGeom>
        </p:spPr>
        <p:txBody>
          <a:bodyPr wrap="square">
            <a:spAutoFit/>
          </a:bodyPr>
          <a:lstStyle/>
          <a:p>
            <a:pPr lvl="0">
              <a:lnSpc>
                <a:spcPct val="110000"/>
              </a:lnSpc>
            </a:pPr>
            <a:r>
              <a:rPr lang="fr-CI" sz="1300" b="1" noProof="0">
                <a:solidFill>
                  <a:srgbClr val="112A40"/>
                </a:solidFill>
                <a:latin typeface="Helvetica" panose="020B0604020202020204" pitchFamily="34" charset="0"/>
                <a:ea typeface="Open Sans Semibold" panose="020B0706030804020204" pitchFamily="34" charset="0"/>
                <a:cs typeface="Helvetica" panose="020B0604020202020204" pitchFamily="34" charset="0"/>
              </a:rPr>
              <a:t>Contrôles</a:t>
            </a:r>
          </a:p>
          <a:p>
            <a:r>
              <a:rPr lang="fr-CI" sz="1100" noProof="0" b="0">
                <a:latin typeface="Helvetica" panose="020B0604020202020204" pitchFamily="34" charset="0"/>
                <a:ea typeface="Open Sans Light" panose="020B0306030504020204" pitchFamily="34" charset="0"/>
                <a:cs typeface="Helvetica" panose="020B0604020202020204" pitchFamily="34" charset="0"/>
              </a:rPr>
              <a:t>Les totaux des logiciels sont retrouvés, les fichiers aller et retour sont rapprochés.</a:t>
            </a:r>
            <a:endParaRPr lang="fr-CI" sz="1600" noProof="0"/>
          </a:p>
        </p:txBody>
      </p:sp>
      <p:sp>
        <p:nvSpPr>
          <p:cNvPr id="25" name="Google Shape;7418;p41"/>
          <p:cNvSpPr/>
          <p:nvPr/>
        </p:nvSpPr>
        <p:spPr>
          <a:xfrm rot="21013821">
            <a:off x="6441597" y="4868903"/>
            <a:ext cx="1054440" cy="808361"/>
          </a:xfrm>
          <a:custGeom>
            <a:avLst/>
            <a:gdLst/>
            <a:ahLst/>
            <a:cxnLst/>
            <a:rect l="l" t="t" r="r" b="b"/>
            <a:pathLst>
              <a:path w="40007" h="30221" extrusionOk="0">
                <a:moveTo>
                  <a:pt x="19007" y="1"/>
                </a:moveTo>
                <a:cubicBezTo>
                  <a:pt x="17909" y="1"/>
                  <a:pt x="16810" y="17"/>
                  <a:pt x="15708" y="53"/>
                </a:cubicBezTo>
                <a:cubicBezTo>
                  <a:pt x="13270" y="131"/>
                  <a:pt x="10885" y="275"/>
                  <a:pt x="8512" y="548"/>
                </a:cubicBezTo>
                <a:cubicBezTo>
                  <a:pt x="6088" y="835"/>
                  <a:pt x="4524" y="1500"/>
                  <a:pt x="4041" y="2712"/>
                </a:cubicBezTo>
                <a:cubicBezTo>
                  <a:pt x="4015" y="2777"/>
                  <a:pt x="3976" y="2843"/>
                  <a:pt x="3937" y="2908"/>
                </a:cubicBezTo>
                <a:cubicBezTo>
                  <a:pt x="2777" y="4902"/>
                  <a:pt x="2282" y="6949"/>
                  <a:pt x="1734" y="8995"/>
                </a:cubicBezTo>
                <a:cubicBezTo>
                  <a:pt x="1160" y="11120"/>
                  <a:pt x="613" y="13232"/>
                  <a:pt x="391" y="15357"/>
                </a:cubicBezTo>
                <a:cubicBezTo>
                  <a:pt x="183" y="17325"/>
                  <a:pt x="0" y="19293"/>
                  <a:pt x="79" y="21092"/>
                </a:cubicBezTo>
                <a:cubicBezTo>
                  <a:pt x="52" y="23074"/>
                  <a:pt x="144" y="24899"/>
                  <a:pt x="365" y="26710"/>
                </a:cubicBezTo>
                <a:cubicBezTo>
                  <a:pt x="522" y="28079"/>
                  <a:pt x="1721" y="29096"/>
                  <a:pt x="4419" y="29656"/>
                </a:cubicBezTo>
                <a:cubicBezTo>
                  <a:pt x="6296" y="30048"/>
                  <a:pt x="8265" y="30178"/>
                  <a:pt x="10259" y="30204"/>
                </a:cubicBezTo>
                <a:cubicBezTo>
                  <a:pt x="11143" y="30216"/>
                  <a:pt x="12026" y="30220"/>
                  <a:pt x="12908" y="30220"/>
                </a:cubicBezTo>
                <a:cubicBezTo>
                  <a:pt x="15996" y="30220"/>
                  <a:pt x="19078" y="30165"/>
                  <a:pt x="22161" y="30165"/>
                </a:cubicBezTo>
                <a:cubicBezTo>
                  <a:pt x="24859" y="30165"/>
                  <a:pt x="27557" y="30204"/>
                  <a:pt x="30243" y="30204"/>
                </a:cubicBezTo>
                <a:cubicBezTo>
                  <a:pt x="31690" y="30191"/>
                  <a:pt x="33123" y="30113"/>
                  <a:pt x="34505" y="29852"/>
                </a:cubicBezTo>
                <a:cubicBezTo>
                  <a:pt x="35470" y="29683"/>
                  <a:pt x="36330" y="29435"/>
                  <a:pt x="36917" y="29005"/>
                </a:cubicBezTo>
                <a:cubicBezTo>
                  <a:pt x="37881" y="28288"/>
                  <a:pt x="38677" y="27519"/>
                  <a:pt x="39120" y="26684"/>
                </a:cubicBezTo>
                <a:cubicBezTo>
                  <a:pt x="39732" y="25485"/>
                  <a:pt x="39954" y="24260"/>
                  <a:pt x="39954" y="23021"/>
                </a:cubicBezTo>
                <a:cubicBezTo>
                  <a:pt x="39954" y="19372"/>
                  <a:pt x="40006" y="15709"/>
                  <a:pt x="39563" y="12059"/>
                </a:cubicBezTo>
                <a:cubicBezTo>
                  <a:pt x="39367" y="10403"/>
                  <a:pt x="39485" y="8748"/>
                  <a:pt x="39237" y="7105"/>
                </a:cubicBezTo>
                <a:cubicBezTo>
                  <a:pt x="39068" y="6023"/>
                  <a:pt x="38794" y="4941"/>
                  <a:pt x="37920" y="3938"/>
                </a:cubicBezTo>
                <a:cubicBezTo>
                  <a:pt x="37282" y="3208"/>
                  <a:pt x="36773" y="2438"/>
                  <a:pt x="35665" y="1826"/>
                </a:cubicBezTo>
                <a:cubicBezTo>
                  <a:pt x="34192" y="1031"/>
                  <a:pt x="32237" y="666"/>
                  <a:pt x="30138" y="496"/>
                </a:cubicBezTo>
                <a:cubicBezTo>
                  <a:pt x="26451" y="194"/>
                  <a:pt x="22741" y="1"/>
                  <a:pt x="19007" y="1"/>
                </a:cubicBezTo>
                <a:close/>
              </a:path>
            </a:pathLst>
          </a:custGeom>
          <a:solidFill>
            <a:srgbClr val="112A40"/>
          </a:solidFill>
          <a:ln w="28575" cap="flat" cmpd="sng">
            <a:solidFill>
              <a:schemeClr val="lt1"/>
            </a:solidFill>
            <a:prstDash val="solid"/>
            <a:round/>
            <a:headEnd type="none" w="sm" len="sm"/>
            <a:tailEnd type="none" w="sm" len="sm"/>
          </a:ln>
          <a:effectLst>
            <a:outerShdw blurRad="57150" dist="9525" algn="bl" rotWithShape="0">
              <a:srgbClr val="000000"/>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lang="fr-CI" sz="1200" noProof="0">
              <a:solidFill>
                <a:schemeClr val="bg1"/>
              </a:solidFill>
              <a:latin typeface="Helvetica" panose="020B0604020202020204" pitchFamily="34" charset="0"/>
              <a:cs typeface="Helvetica" panose="020B0604020202020204" pitchFamily="34" charset="0"/>
            </a:endParaRPr>
          </a:p>
        </p:txBody>
      </p:sp>
      <p:sp>
        <p:nvSpPr>
          <p:cNvPr id="26" name="Google Shape;7424;p41"/>
          <p:cNvSpPr/>
          <p:nvPr/>
        </p:nvSpPr>
        <p:spPr>
          <a:xfrm rot="282502">
            <a:off x="1152488" y="4868715"/>
            <a:ext cx="1054406" cy="808335"/>
          </a:xfrm>
          <a:custGeom>
            <a:avLst/>
            <a:gdLst/>
            <a:ahLst/>
            <a:cxnLst/>
            <a:rect l="l" t="t" r="r" b="b"/>
            <a:pathLst>
              <a:path w="40007" h="30221" extrusionOk="0">
                <a:moveTo>
                  <a:pt x="19007" y="1"/>
                </a:moveTo>
                <a:cubicBezTo>
                  <a:pt x="17909" y="1"/>
                  <a:pt x="16810" y="17"/>
                  <a:pt x="15708" y="53"/>
                </a:cubicBezTo>
                <a:cubicBezTo>
                  <a:pt x="13270" y="131"/>
                  <a:pt x="10885" y="275"/>
                  <a:pt x="8512" y="548"/>
                </a:cubicBezTo>
                <a:cubicBezTo>
                  <a:pt x="6088" y="835"/>
                  <a:pt x="4524" y="1500"/>
                  <a:pt x="4041" y="2712"/>
                </a:cubicBezTo>
                <a:cubicBezTo>
                  <a:pt x="4015" y="2777"/>
                  <a:pt x="3976" y="2843"/>
                  <a:pt x="3937" y="2908"/>
                </a:cubicBezTo>
                <a:cubicBezTo>
                  <a:pt x="2777" y="4902"/>
                  <a:pt x="2282" y="6949"/>
                  <a:pt x="1734" y="8995"/>
                </a:cubicBezTo>
                <a:cubicBezTo>
                  <a:pt x="1160" y="11120"/>
                  <a:pt x="613" y="13232"/>
                  <a:pt x="391" y="15357"/>
                </a:cubicBezTo>
                <a:cubicBezTo>
                  <a:pt x="183" y="17325"/>
                  <a:pt x="0" y="19293"/>
                  <a:pt x="79" y="21092"/>
                </a:cubicBezTo>
                <a:cubicBezTo>
                  <a:pt x="52" y="23074"/>
                  <a:pt x="144" y="24899"/>
                  <a:pt x="365" y="26710"/>
                </a:cubicBezTo>
                <a:cubicBezTo>
                  <a:pt x="522" y="28079"/>
                  <a:pt x="1721" y="29096"/>
                  <a:pt x="4419" y="29656"/>
                </a:cubicBezTo>
                <a:cubicBezTo>
                  <a:pt x="6296" y="30048"/>
                  <a:pt x="8265" y="30178"/>
                  <a:pt x="10259" y="30204"/>
                </a:cubicBezTo>
                <a:cubicBezTo>
                  <a:pt x="11143" y="30216"/>
                  <a:pt x="12026" y="30220"/>
                  <a:pt x="12908" y="30220"/>
                </a:cubicBezTo>
                <a:cubicBezTo>
                  <a:pt x="15996" y="30220"/>
                  <a:pt x="19078" y="30165"/>
                  <a:pt x="22161" y="30165"/>
                </a:cubicBezTo>
                <a:cubicBezTo>
                  <a:pt x="24859" y="30165"/>
                  <a:pt x="27557" y="30204"/>
                  <a:pt x="30243" y="30204"/>
                </a:cubicBezTo>
                <a:cubicBezTo>
                  <a:pt x="31690" y="30191"/>
                  <a:pt x="33123" y="30113"/>
                  <a:pt x="34505" y="29852"/>
                </a:cubicBezTo>
                <a:cubicBezTo>
                  <a:pt x="35470" y="29683"/>
                  <a:pt x="36330" y="29435"/>
                  <a:pt x="36917" y="29005"/>
                </a:cubicBezTo>
                <a:cubicBezTo>
                  <a:pt x="37881" y="28288"/>
                  <a:pt x="38677" y="27519"/>
                  <a:pt x="39120" y="26684"/>
                </a:cubicBezTo>
                <a:cubicBezTo>
                  <a:pt x="39732" y="25485"/>
                  <a:pt x="39954" y="24260"/>
                  <a:pt x="39954" y="23021"/>
                </a:cubicBezTo>
                <a:cubicBezTo>
                  <a:pt x="39954" y="19372"/>
                  <a:pt x="40006" y="15709"/>
                  <a:pt x="39563" y="12059"/>
                </a:cubicBezTo>
                <a:cubicBezTo>
                  <a:pt x="39367" y="10403"/>
                  <a:pt x="39485" y="8748"/>
                  <a:pt x="39237" y="7105"/>
                </a:cubicBezTo>
                <a:cubicBezTo>
                  <a:pt x="39068" y="6023"/>
                  <a:pt x="38794" y="4941"/>
                  <a:pt x="37920" y="3938"/>
                </a:cubicBezTo>
                <a:cubicBezTo>
                  <a:pt x="37282" y="3208"/>
                  <a:pt x="36773" y="2438"/>
                  <a:pt x="35665" y="1826"/>
                </a:cubicBezTo>
                <a:cubicBezTo>
                  <a:pt x="34192" y="1031"/>
                  <a:pt x="32237" y="666"/>
                  <a:pt x="30138" y="496"/>
                </a:cubicBezTo>
                <a:cubicBezTo>
                  <a:pt x="26451" y="194"/>
                  <a:pt x="22741" y="1"/>
                  <a:pt x="19007" y="1"/>
                </a:cubicBezTo>
                <a:close/>
              </a:path>
            </a:pathLst>
          </a:custGeom>
          <a:solidFill>
            <a:srgbClr val="112A40"/>
          </a:solidFill>
          <a:ln w="28575" cap="flat" cmpd="sng">
            <a:solidFill>
              <a:schemeClr val="lt1"/>
            </a:solidFill>
            <a:prstDash val="solid"/>
            <a:round/>
            <a:headEnd type="none" w="sm" len="sm"/>
            <a:tailEnd type="none" w="sm" len="sm"/>
          </a:ln>
          <a:effectLst>
            <a:outerShdw blurRad="57150" dist="9525" algn="bl" rotWithShape="0">
              <a:srgbClr val="000000"/>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lang="fr-CI" sz="1200" noProof="0">
              <a:solidFill>
                <a:schemeClr val="bg1"/>
              </a:solidFill>
              <a:latin typeface="Helvetica" panose="020B0604020202020204" pitchFamily="34" charset="0"/>
              <a:cs typeface="Helvetica" panose="020B0604020202020204" pitchFamily="34" charset="0"/>
            </a:endParaRPr>
          </a:p>
        </p:txBody>
      </p:sp>
      <p:sp>
        <p:nvSpPr>
          <p:cNvPr id="27" name="Google Shape;7432;p41"/>
          <p:cNvSpPr txBox="1">
            <a:spLocks/>
          </p:cNvSpPr>
          <p:nvPr/>
        </p:nvSpPr>
        <p:spPr>
          <a:xfrm rot="422494">
            <a:off x="1199114" y="5006860"/>
            <a:ext cx="961801" cy="526899"/>
          </a:xfrm>
          <a:prstGeom prst="rect">
            <a:avLst/>
          </a:prstGeom>
        </p:spPr>
        <p:txBody>
          <a:bodyPr spcFirstLastPara="1" wrap="square" lIns="91425" tIns="91425" rIns="91425" bIns="91425" anchor="ctr" anchorCtr="0">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spcBef>
                <a:spcPts val="0"/>
              </a:spcBef>
            </a:pPr>
            <a:r>
              <a:rPr lang="fr-CI" sz="3200" noProof="0">
                <a:solidFill>
                  <a:schemeClr val="bg1"/>
                </a:solidFill>
                <a:latin typeface="Helvetica" panose="020B0604020202020204" pitchFamily="34" charset="0"/>
                <a:cs typeface="Helvetica" panose="020B0604020202020204" pitchFamily="34" charset="0"/>
              </a:rPr>
              <a:t>05</a:t>
            </a:r>
          </a:p>
        </p:txBody>
      </p:sp>
      <p:sp>
        <p:nvSpPr>
          <p:cNvPr id="28" name="Google Shape;7438;p41"/>
          <p:cNvSpPr txBox="1">
            <a:spLocks/>
          </p:cNvSpPr>
          <p:nvPr/>
        </p:nvSpPr>
        <p:spPr>
          <a:xfrm rot="21292494">
            <a:off x="6482295" y="5006860"/>
            <a:ext cx="970153" cy="526899"/>
          </a:xfrm>
          <a:prstGeom prst="rect">
            <a:avLst/>
          </a:prstGeom>
        </p:spPr>
        <p:txBody>
          <a:bodyPr spcFirstLastPara="1" wrap="square" lIns="91425" tIns="91425" rIns="91425" bIns="91425" anchor="ctr" anchorCtr="0">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spcBef>
                <a:spcPts val="0"/>
              </a:spcBef>
            </a:pPr>
            <a:r>
              <a:rPr lang="fr-CI" sz="3200" noProof="0">
                <a:solidFill>
                  <a:schemeClr val="bg1"/>
                </a:solidFill>
                <a:latin typeface="Helvetica" panose="020B0604020202020204" pitchFamily="34" charset="0"/>
                <a:cs typeface="Helvetica" panose="020B0604020202020204" pitchFamily="34" charset="0"/>
              </a:rPr>
              <a:t>06</a:t>
            </a:r>
          </a:p>
        </p:txBody>
      </p:sp>
      <p:sp>
        <p:nvSpPr>
          <p:cNvPr id="29" name="Rectangle 28"/>
          <p:cNvSpPr/>
          <p:nvPr/>
        </p:nvSpPr>
        <p:spPr>
          <a:xfrm>
            <a:off x="2455936" y="4637182"/>
            <a:ext cx="3277758" cy="1049784"/>
          </a:xfrm>
          <a:prstGeom prst="rect">
            <a:avLst/>
          </a:prstGeom>
        </p:spPr>
        <p:txBody>
          <a:bodyPr wrap="square">
            <a:spAutoFit/>
          </a:bodyPr>
          <a:lstStyle/>
          <a:p>
            <a:pPr lvl="0">
              <a:lnSpc>
                <a:spcPct val="110000"/>
              </a:lnSpc>
            </a:pPr>
            <a:r>
              <a:rPr lang="fr-CI" sz="1300" b="1" noProof="0">
                <a:solidFill>
                  <a:srgbClr val="112A40"/>
                </a:solidFill>
                <a:latin typeface="Helvetica" panose="020B0604020202020204" pitchFamily="34" charset="0"/>
                <a:ea typeface="Open Sans Semibold" panose="020B0706030804020204" pitchFamily="34" charset="0"/>
                <a:cs typeface="Helvetica" panose="020B0604020202020204" pitchFamily="34" charset="0"/>
              </a:rPr>
              <a:t>Analyses</a:t>
            </a:r>
          </a:p>
          <a:p>
            <a:r>
              <a:rPr lang="fr-CI" sz="1100" noProof="0" b="0">
                <a:latin typeface="Helvetica" panose="020B0604020202020204" pitchFamily="34" charset="0"/>
                <a:ea typeface="Open Sans Light" panose="020B0306030504020204" pitchFamily="34" charset="0"/>
                <a:cs typeface="Helvetica" panose="020B0604020202020204" pitchFamily="34" charset="0"/>
              </a:rPr>
              <a:t>Les indicateurs, tests statistiques et ratios sont calculés et écrits dans le classeur des calculs.</a:t>
            </a:r>
            <a:endParaRPr lang="fr-CI" sz="1600" noProof="0"/>
          </a:p>
        </p:txBody>
      </p:sp>
      <p:sp>
        <p:nvSpPr>
          <p:cNvPr id="30" name="Rectangle 29"/>
          <p:cNvSpPr/>
          <p:nvPr/>
        </p:nvSpPr>
        <p:spPr>
          <a:xfrm>
            <a:off x="7755371" y="4641278"/>
            <a:ext cx="3277758" cy="1049784"/>
          </a:xfrm>
          <a:prstGeom prst="rect">
            <a:avLst/>
          </a:prstGeom>
        </p:spPr>
        <p:txBody>
          <a:bodyPr wrap="square">
            <a:spAutoFit/>
          </a:bodyPr>
          <a:lstStyle/>
          <a:p>
            <a:pPr lvl="0">
              <a:lnSpc>
                <a:spcPct val="110000"/>
              </a:lnSpc>
            </a:pPr>
            <a:r>
              <a:rPr lang="fr-CI" sz="1300" b="1" noProof="0">
                <a:solidFill>
                  <a:srgbClr val="112A40"/>
                </a:solidFill>
                <a:latin typeface="Helvetica" panose="020B0604020202020204" pitchFamily="34" charset="0"/>
                <a:ea typeface="Open Sans Semibold" panose="020B0706030804020204" pitchFamily="34" charset="0"/>
                <a:cs typeface="Helvetica" panose="020B0604020202020204" pitchFamily="34" charset="0"/>
              </a:rPr>
              <a:t>Rapport</a:t>
            </a:r>
          </a:p>
          <a:p>
            <a:r>
              <a:rPr lang="fr-CI" sz="1100" noProof="0" b="0">
                <a:latin typeface="Helvetica" panose="020B0604020202020204" pitchFamily="34" charset="0"/>
                <a:ea typeface="Open Sans Light" panose="020B0306030504020204" pitchFamily="34" charset="0"/>
                <a:cs typeface="Helvetica" panose="020B0604020202020204" pitchFamily="34" charset="0"/>
              </a:rPr>
              <a:t>Les graphiques sont natifs et chaque chiffre affiché est relu et comparé à sa valeur exacte.</a:t>
            </a:r>
            <a:endParaRPr lang="fr-CI" sz="1600" noProof="0"/>
          </a:p>
        </p:txBody>
      </p:sp>
      <p:sp>
        <p:nvSpPr>
          <p:cNvPr id="55"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Chaîne de traitement</a:t>
            </a:r>
          </a:p>
        </p:txBody>
      </p:sp>
      <p:sp>
        <p:nvSpPr>
          <p:cNvPr id="56"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Chaque chiffre est tracé du fichier du FPPN jusqu'au rapport</a:t>
            </a:r>
          </a:p>
        </p:txBody>
      </p:sp>
      <p:sp>
        <p:nvSpPr>
          <p:cNvPr id="57"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Six étapes, chacune avec son contrôle automatique. Le détail de chaque étape figure dans la partie 13</a:t>
            </a:r>
          </a:p>
        </p:txBody>
      </p:sp>
      <p:sp>
        <p:nvSpPr>
          <p:cNvPr id="58"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scripts Python Adenka (dossier scripts de la mission)</a:t>
            </a:r>
          </a:p>
        </p:txBody>
      </p:sp>
      <p:sp>
        <p:nvSpPr>
          <p:cNvPr id="59" name="TextBox 58"/>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SHA-256 : algorithme d'empreinte numérique | CSV : fichier texte de tableau</a:t>
            </a:r>
          </a:p>
        </p:txBody>
      </p:sp>
    </p:spTree>
    <p:extLst>
      <p:ext uri="{BB962C8B-B14F-4D97-AF65-F5344CB8AC3E}">
        <p14:creationId xmlns:p14="http://schemas.microsoft.com/office/powerpoint/2010/main" val="3615259105"/>
      </p:ext>
    </p:extLst>
  </p:cSld>
  <p:clrMapOvr>
    <a:masterClrMapping/>
  </p:clrMapOvr>
  <p:transition>
    <p:fade/>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Google Shape;8651;p70"/>
          <p:cNvSpPr/>
          <p:nvPr/>
        </p:nvSpPr>
        <p:spPr>
          <a:xfrm>
            <a:off x="2013108" y="2588204"/>
            <a:ext cx="1380332" cy="1428252"/>
          </a:xfrm>
          <a:custGeom>
            <a:avLst/>
            <a:gdLst/>
            <a:ahLst/>
            <a:cxnLst/>
            <a:rect l="l" t="t" r="r" b="b"/>
            <a:pathLst>
              <a:path w="8670" h="8971" extrusionOk="0">
                <a:moveTo>
                  <a:pt x="7105" y="1302"/>
                </a:moveTo>
                <a:cubicBezTo>
                  <a:pt x="7105" y="1315"/>
                  <a:pt x="7105" y="1328"/>
                  <a:pt x="7105" y="1341"/>
                </a:cubicBezTo>
                <a:cubicBezTo>
                  <a:pt x="7118" y="1980"/>
                  <a:pt x="7183" y="2619"/>
                  <a:pt x="7183" y="3283"/>
                </a:cubicBezTo>
                <a:cubicBezTo>
                  <a:pt x="7170" y="4404"/>
                  <a:pt x="7183" y="5525"/>
                  <a:pt x="7222" y="6646"/>
                </a:cubicBezTo>
                <a:cubicBezTo>
                  <a:pt x="7235" y="6959"/>
                  <a:pt x="7222" y="7259"/>
                  <a:pt x="7222" y="7559"/>
                </a:cubicBezTo>
                <a:lnTo>
                  <a:pt x="7222" y="7585"/>
                </a:lnTo>
                <a:cubicBezTo>
                  <a:pt x="6935" y="7598"/>
                  <a:pt x="6649" y="7611"/>
                  <a:pt x="6362" y="7611"/>
                </a:cubicBezTo>
                <a:cubicBezTo>
                  <a:pt x="6101" y="7598"/>
                  <a:pt x="5853" y="7585"/>
                  <a:pt x="5593" y="7585"/>
                </a:cubicBezTo>
                <a:cubicBezTo>
                  <a:pt x="4159" y="7559"/>
                  <a:pt x="2712" y="7559"/>
                  <a:pt x="1291" y="7442"/>
                </a:cubicBezTo>
                <a:cubicBezTo>
                  <a:pt x="1278" y="7207"/>
                  <a:pt x="1239" y="6959"/>
                  <a:pt x="1226" y="6725"/>
                </a:cubicBezTo>
                <a:cubicBezTo>
                  <a:pt x="1200" y="6255"/>
                  <a:pt x="1187" y="5799"/>
                  <a:pt x="1200" y="5330"/>
                </a:cubicBezTo>
                <a:cubicBezTo>
                  <a:pt x="1213" y="4222"/>
                  <a:pt x="1226" y="3101"/>
                  <a:pt x="1343" y="1993"/>
                </a:cubicBezTo>
                <a:lnTo>
                  <a:pt x="1552" y="1993"/>
                </a:lnTo>
                <a:cubicBezTo>
                  <a:pt x="2138" y="1980"/>
                  <a:pt x="2725" y="1889"/>
                  <a:pt x="3312" y="1810"/>
                </a:cubicBezTo>
                <a:cubicBezTo>
                  <a:pt x="4576" y="1641"/>
                  <a:pt x="5840" y="1524"/>
                  <a:pt x="7105" y="1302"/>
                </a:cubicBezTo>
                <a:close/>
                <a:moveTo>
                  <a:pt x="7529" y="1"/>
                </a:moveTo>
                <a:cubicBezTo>
                  <a:pt x="7291" y="1"/>
                  <a:pt x="7059" y="53"/>
                  <a:pt x="6818" y="64"/>
                </a:cubicBezTo>
                <a:cubicBezTo>
                  <a:pt x="6375" y="103"/>
                  <a:pt x="5932" y="142"/>
                  <a:pt x="5488" y="194"/>
                </a:cubicBezTo>
                <a:cubicBezTo>
                  <a:pt x="4824" y="259"/>
                  <a:pt x="4107" y="350"/>
                  <a:pt x="3429" y="389"/>
                </a:cubicBezTo>
                <a:cubicBezTo>
                  <a:pt x="2686" y="429"/>
                  <a:pt x="1943" y="481"/>
                  <a:pt x="1213" y="598"/>
                </a:cubicBezTo>
                <a:cubicBezTo>
                  <a:pt x="913" y="624"/>
                  <a:pt x="652" y="728"/>
                  <a:pt x="509" y="976"/>
                </a:cubicBezTo>
                <a:cubicBezTo>
                  <a:pt x="470" y="1028"/>
                  <a:pt x="444" y="1080"/>
                  <a:pt x="431" y="1146"/>
                </a:cubicBezTo>
                <a:cubicBezTo>
                  <a:pt x="300" y="1524"/>
                  <a:pt x="287" y="1928"/>
                  <a:pt x="300" y="2332"/>
                </a:cubicBezTo>
                <a:cubicBezTo>
                  <a:pt x="209" y="3010"/>
                  <a:pt x="209" y="3700"/>
                  <a:pt x="209" y="4378"/>
                </a:cubicBezTo>
                <a:cubicBezTo>
                  <a:pt x="170" y="4769"/>
                  <a:pt x="144" y="5173"/>
                  <a:pt x="131" y="5565"/>
                </a:cubicBezTo>
                <a:cubicBezTo>
                  <a:pt x="105" y="6203"/>
                  <a:pt x="14" y="6842"/>
                  <a:pt x="14" y="7481"/>
                </a:cubicBezTo>
                <a:cubicBezTo>
                  <a:pt x="1" y="7911"/>
                  <a:pt x="157" y="8315"/>
                  <a:pt x="613" y="8419"/>
                </a:cubicBezTo>
                <a:cubicBezTo>
                  <a:pt x="1056" y="8550"/>
                  <a:pt x="1526" y="8524"/>
                  <a:pt x="1982" y="8550"/>
                </a:cubicBezTo>
                <a:cubicBezTo>
                  <a:pt x="2243" y="8563"/>
                  <a:pt x="2503" y="8589"/>
                  <a:pt x="2764" y="8615"/>
                </a:cubicBezTo>
                <a:cubicBezTo>
                  <a:pt x="3885" y="8745"/>
                  <a:pt x="5006" y="8902"/>
                  <a:pt x="6140" y="8941"/>
                </a:cubicBezTo>
                <a:cubicBezTo>
                  <a:pt x="6220" y="8945"/>
                  <a:pt x="6302" y="8946"/>
                  <a:pt x="6383" y="8946"/>
                </a:cubicBezTo>
                <a:cubicBezTo>
                  <a:pt x="6581" y="8946"/>
                  <a:pt x="6781" y="8937"/>
                  <a:pt x="6974" y="8928"/>
                </a:cubicBezTo>
                <a:cubicBezTo>
                  <a:pt x="7118" y="8941"/>
                  <a:pt x="7274" y="8941"/>
                  <a:pt x="7418" y="8941"/>
                </a:cubicBezTo>
                <a:cubicBezTo>
                  <a:pt x="7568" y="8956"/>
                  <a:pt x="7723" y="8971"/>
                  <a:pt x="7877" y="8971"/>
                </a:cubicBezTo>
                <a:cubicBezTo>
                  <a:pt x="7990" y="8971"/>
                  <a:pt x="8103" y="8963"/>
                  <a:pt x="8213" y="8941"/>
                </a:cubicBezTo>
                <a:cubicBezTo>
                  <a:pt x="8643" y="8810"/>
                  <a:pt x="8565" y="8093"/>
                  <a:pt x="8604" y="7741"/>
                </a:cubicBezTo>
                <a:cubicBezTo>
                  <a:pt x="8669" y="6620"/>
                  <a:pt x="8539" y="5499"/>
                  <a:pt x="8487" y="4378"/>
                </a:cubicBezTo>
                <a:cubicBezTo>
                  <a:pt x="8434" y="3453"/>
                  <a:pt x="8330" y="2527"/>
                  <a:pt x="8252" y="1589"/>
                </a:cubicBezTo>
                <a:cubicBezTo>
                  <a:pt x="8200" y="1341"/>
                  <a:pt x="8239" y="637"/>
                  <a:pt x="8096" y="350"/>
                </a:cubicBezTo>
                <a:lnTo>
                  <a:pt x="8082" y="350"/>
                </a:lnTo>
                <a:cubicBezTo>
                  <a:pt x="8056" y="181"/>
                  <a:pt x="7952" y="51"/>
                  <a:pt x="7704" y="11"/>
                </a:cubicBezTo>
                <a:cubicBezTo>
                  <a:pt x="7645" y="4"/>
                  <a:pt x="7587" y="1"/>
                  <a:pt x="7529" y="1"/>
                </a:cubicBezTo>
                <a:close/>
              </a:path>
            </a:pathLst>
          </a:custGeom>
          <a:solidFill>
            <a:schemeClr val="bg1"/>
          </a:solidFill>
          <a:ln w="76200">
            <a:solidFill>
              <a:schemeClr val="tx1"/>
            </a:solidFill>
          </a:ln>
        </p:spPr>
        <p:txBody>
          <a:bodyPr spcFirstLastPara="1" wrap="square" lIns="91425" tIns="91425" rIns="91425" bIns="91425" anchor="ctr" anchorCtr="0">
            <a:noAutofit/>
          </a:bodyPr>
          <a:lstStyle/>
          <a:p>
            <a:pPr marL="0" lvl="0" indent="0" algn="l" rtl="0">
              <a:spcBef>
                <a:spcPts val="0"/>
              </a:spcBef>
              <a:spcAft>
                <a:spcPts val="0"/>
              </a:spcAft>
              <a:buNone/>
            </a:pPr>
            <a:endParaRPr lang="fr-CI" noProof="0">
              <a:solidFill>
                <a:schemeClr val="bg1"/>
              </a:solidFill>
              <a:latin typeface="Helvetica" panose="020B0604020202020204" pitchFamily="34" charset="0"/>
              <a:cs typeface="Helvetica" panose="020B0604020202020204" pitchFamily="34" charset="0"/>
            </a:endParaRPr>
          </a:p>
        </p:txBody>
      </p:sp>
      <p:sp>
        <p:nvSpPr>
          <p:cNvPr id="25" name="Rectangle 24">
            <a:extLst>
              <a:ext uri="{FF2B5EF4-FFF2-40B4-BE49-F238E27FC236}">
                <a16:creationId xmlns:a16="http://schemas.microsoft.com/office/drawing/2014/main" id="{9B9B23AA-050D-4543-80A0-873FE31AFFF7}"/>
              </a:ext>
            </a:extLst>
          </p:cNvPr>
          <p:cNvSpPr/>
          <p:nvPr/>
        </p:nvSpPr>
        <p:spPr>
          <a:xfrm>
            <a:off x="2446471" y="2869098"/>
            <a:ext cx="513606" cy="936923"/>
          </a:xfrm>
          <a:prstGeom prst="rect">
            <a:avLst/>
          </a:prstGeom>
        </p:spPr>
        <p:txBody>
          <a:bodyPr wrap="square" lIns="0" tIns="0" rIns="0" bIns="0">
            <a:spAutoFit/>
          </a:bodyPr>
          <a:lstStyle/>
          <a:p>
            <a:pPr lvl="0">
              <a:lnSpc>
                <a:spcPct val="110000"/>
              </a:lnSpc>
            </a:pPr>
            <a:r>
              <a:rPr lang="fr-CI" sz="6000" b="1" noProof="0">
                <a:solidFill>
                  <a:schemeClr val="bg1"/>
                </a:solidFill>
                <a:latin typeface="Helvetica" panose="020B0604020202020204" pitchFamily="34" charset="0"/>
                <a:ea typeface="Open Sans Semibold" panose="020B0706030804020204" pitchFamily="34" charset="0"/>
                <a:cs typeface="Helvetica" panose="020B0604020202020204" pitchFamily="34" charset="0"/>
              </a:rPr>
              <a:t>3</a:t>
            </a:r>
          </a:p>
        </p:txBody>
      </p:sp>
      <p:sp>
        <p:nvSpPr>
          <p:cNvPr id="10" name="Rectangle 9"/>
          <p:cNvSpPr/>
          <p:nvPr/>
        </p:nvSpPr>
        <p:spPr>
          <a:xfrm>
            <a:off x="3938554" y="2462184"/>
            <a:ext cx="3816000" cy="1200329"/>
          </a:xfrm>
          <a:prstGeom prst="rect">
            <a:avLst/>
          </a:prstGeom>
        </p:spPr>
        <p:txBody>
          <a:bodyPr wrap="square">
            <a:spAutoFit/>
          </a:bodyPr>
          <a:lstStyle/>
          <a:p>
            <a:r>
              <a:rPr lang="fr-CI" sz="3600" b="1" noProof="0">
                <a:solidFill>
                  <a:schemeClr val="bg1"/>
                </a:solidFill>
                <a:latin typeface="Helvetica" panose="020B0604020202020204" pitchFamily="34" charset="0"/>
                <a:cs typeface="Helvetica" panose="020B0604020202020204" pitchFamily="34" charset="0"/>
              </a:rPr>
              <a:t>Données et qualité</a:t>
            </a:r>
          </a:p>
        </p:txBody>
      </p:sp>
      <p:pic>
        <p:nvPicPr>
          <p:cNvPr id="9" name="Image 8">
            <a:extLst>
              <a:ext uri="{FF2B5EF4-FFF2-40B4-BE49-F238E27FC236}">
                <a16:creationId xmlns:a16="http://schemas.microsoft.com/office/drawing/2014/main" id="{2C356854-0685-DCEF-E2F6-65D5E9653A47}"/>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71274" y="-185107"/>
            <a:ext cx="3179518" cy="1268781"/>
          </a:xfrm>
          <a:prstGeom prst="rect">
            <a:avLst/>
          </a:prstGeom>
        </p:spPr>
      </p:pic>
      <p:sp>
        <p:nvSpPr>
          <p:cNvPr id="6" name="Rectangle 5"/>
          <p:cNvSpPr/>
          <p:nvPr/>
        </p:nvSpPr>
        <p:spPr>
          <a:xfrm>
            <a:off x="3938554" y="3337559"/>
            <a:ext cx="3816000" cy="923330"/>
          </a:xfrm>
          <a:prstGeom prst="rect">
            <a:avLst/>
          </a:prstGeom>
        </p:spPr>
        <p:txBody>
          <a:bodyPr wrap="square">
            <a:spAutoFit/>
          </a:bodyPr>
          <a:lstStyle/>
          <a:p>
            <a:br>
              <a:rPr lang="fr-CI" noProof="0">
                <a:solidFill>
                  <a:schemeClr val="bg1"/>
                </a:solidFill>
              </a:rPr>
            </a:br>
            <a:r>
              <a:rPr lang="fr-CI" noProof="0">
                <a:solidFill>
                  <a:srgbClr val="EFAC62"/>
                </a:solidFill>
                <a:latin typeface="Helvetica" panose="020B0604020202020204" pitchFamily="34" charset="0"/>
                <a:ea typeface="Open Sans Light" panose="020B0306030504020204" pitchFamily="34" charset="0"/>
                <a:cs typeface="Helvetica" panose="020B0604020202020204" pitchFamily="34" charset="0"/>
              </a:rPr>
              <a:t>Couverture, contrôles, anomalies détectées</a:t>
            </a:r>
          </a:p>
        </p:txBody>
      </p:sp>
      <p:pic>
        <p:nvPicPr>
          <p:cNvPr id="11" name="Image 1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865561" y="2415481"/>
            <a:ext cx="1566911" cy="1600975"/>
          </a:xfrm>
          <a:prstGeom prst="rect">
            <a:avLst/>
          </a:prstGeom>
        </p:spPr>
      </p:pic>
    </p:spTree>
    <p:extLst>
      <p:ext uri="{BB962C8B-B14F-4D97-AF65-F5344CB8AC3E}">
        <p14:creationId xmlns:p14="http://schemas.microsoft.com/office/powerpoint/2010/main" val="784855173"/>
      </p:ext>
    </p:extLst>
  </p:cSld>
  <p:clrMapOvr>
    <a:masterClrMapping/>
  </p:clrMapOvr>
  <p:transition>
    <p:fade/>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7" name="Image 36"/>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3" name="Rectangle 22">
            <a:extLst>
              <a:ext uri="{FF2B5EF4-FFF2-40B4-BE49-F238E27FC236}">
                <a16:creationId xmlns:a16="http://schemas.microsoft.com/office/drawing/2014/main" id="{4CD23CFE-3F31-4BA9-B26F-B9B5B351518E}"/>
              </a:ext>
            </a:extLst>
          </p:cNvPr>
          <p:cNvSpPr/>
          <p:nvPr/>
        </p:nvSpPr>
        <p:spPr>
          <a:xfrm>
            <a:off x="2106184" y="1811264"/>
            <a:ext cx="9685766" cy="901761"/>
          </a:xfrm>
          <a:prstGeom prst="rect">
            <a:avLst/>
          </a:prstGeom>
          <a:ln w="12700">
            <a:solidFill>
              <a:srgbClr val="112A40"/>
            </a:solidFill>
          </a:ln>
        </p:spPr>
        <p:txBody>
          <a:bodyPr wrap="square" lIns="162000" tIns="54000" rIns="72000" bIns="54000" anchor="ctr">
            <a:noAutofit/>
          </a:bodyPr>
          <a:lstStyle/>
          <a:p>
            <a:pPr lvl="0">
              <a:lnSpc>
                <a:spcPct val="110000"/>
              </a:lnSpc>
            </a:pPr>
            <a:r>
              <a:rPr lang="fr-CI" sz="1300" b="1" noProof="0">
                <a:latin typeface="Helvetica" panose="020B0604020202020204" pitchFamily="34" charset="0"/>
                <a:ea typeface="Open Sans Semibold" panose="020B0706030804020204" pitchFamily="34" charset="0"/>
                <a:cs typeface="Helvetica" panose="020B0604020202020204" pitchFamily="34" charset="0"/>
              </a:rPr>
              <a:t>Exhaustivité</a:t>
            </a:r>
          </a:p>
          <a:p>
            <a:pPr lvl="0">
              <a:lnSpc>
                <a:spcPct val="110000"/>
              </a:lnSpc>
            </a:pPr>
            <a:r>
              <a:rPr lang="fr-CI" sz="1150" noProof="0" b="0">
                <a:latin typeface="Helvetica" panose="020B0604020202020204" pitchFamily="34" charset="0"/>
                <a:ea typeface="Open Sans Light" panose="020B0306030504020204" pitchFamily="34" charset="0"/>
                <a:cs typeface="Helvetica" panose="020B0604020202020204" pitchFamily="34" charset="0"/>
              </a:rPr>
              <a:t>Adenka calcule l'empreinte SHA-256 de chaque fichier et compte lignes et cellules avant et après conversion : 218 fichiers copiés et 491 feuilles converties sont identiques.</a:t>
            </a:r>
          </a:p>
        </p:txBody>
      </p:sp>
      <p:sp>
        <p:nvSpPr>
          <p:cNvPr id="28" name="Rectangle 27">
            <a:extLst>
              <a:ext uri="{FF2B5EF4-FFF2-40B4-BE49-F238E27FC236}">
                <a16:creationId xmlns:a16="http://schemas.microsoft.com/office/drawing/2014/main" id="{9B9B23AA-050D-4543-80A0-873FE31AFFF7}"/>
              </a:ext>
            </a:extLst>
          </p:cNvPr>
          <p:cNvSpPr/>
          <p:nvPr/>
        </p:nvSpPr>
        <p:spPr>
          <a:xfrm>
            <a:off x="1538714" y="1463475"/>
            <a:ext cx="5748535" cy="166944"/>
          </a:xfrm>
          <a:prstGeom prst="rect">
            <a:avLst/>
          </a:prstGeom>
        </p:spPr>
        <p:txBody>
          <a:bodyPr wrap="square" lIns="0" tIns="0" rIns="0" bIns="0">
            <a:spAutoFit/>
          </a:bodyPr>
          <a:lstStyle/>
          <a:p>
            <a:pPr lvl="0">
              <a:lnSpc>
                <a:spcPct val="110000"/>
              </a:lnSpc>
            </a:pPr>
            <a:r>
              <a:rPr lang="fr-CI" sz="1300" b="1" noProof="0">
                <a:latin typeface="Helvetica" panose="020B0604020202020204" pitchFamily="34" charset="0"/>
                <a:ea typeface="Open Sans Semibold" panose="020B0706030804020204" pitchFamily="34" charset="0"/>
                <a:cs typeface="Helvetica" panose="020B0604020202020204" pitchFamily="34" charset="0"/>
              </a:rPr>
              <a:t/>
            </a:r>
          </a:p>
        </p:txBody>
      </p:sp>
      <p:cxnSp>
        <p:nvCxnSpPr>
          <p:cNvPr id="29" name="Straight Connector 28">
            <a:extLst>
              <a:ext uri="{FF2B5EF4-FFF2-40B4-BE49-F238E27FC236}">
                <a16:creationId xmlns:a16="http://schemas.microsoft.com/office/drawing/2014/main" id="{09E553D9-3562-45A7-BE4B-0F12FAA0490F}"/>
              </a:ext>
            </a:extLst>
          </p:cNvPr>
          <p:cNvCxnSpPr>
            <a:cxnSpLocks/>
          </p:cNvCxnSpPr>
          <p:nvPr/>
        </p:nvCxnSpPr>
        <p:spPr>
          <a:xfrm>
            <a:off x="916803" y="1707866"/>
            <a:ext cx="0" cy="3668091"/>
          </a:xfrm>
          <a:prstGeom prst="line">
            <a:avLst/>
          </a:prstGeom>
          <a:ln w="12700">
            <a:solidFill>
              <a:srgbClr val="112A40"/>
            </a:solidFill>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DA735D38-741F-4EFB-826C-6F87FD459AB4}"/>
              </a:ext>
            </a:extLst>
          </p:cNvPr>
          <p:cNvCxnSpPr/>
          <p:nvPr/>
        </p:nvCxnSpPr>
        <p:spPr>
          <a:xfrm>
            <a:off x="916803" y="2291826"/>
            <a:ext cx="621911" cy="3600"/>
          </a:xfrm>
          <a:prstGeom prst="line">
            <a:avLst/>
          </a:prstGeom>
          <a:ln w="12700">
            <a:solidFill>
              <a:srgbClr val="112A40"/>
            </a:solidFill>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EBCFE36B-AE16-49E8-90A6-6621A0EB0473}"/>
              </a:ext>
            </a:extLst>
          </p:cNvPr>
          <p:cNvCxnSpPr/>
          <p:nvPr/>
        </p:nvCxnSpPr>
        <p:spPr>
          <a:xfrm>
            <a:off x="916803" y="3273370"/>
            <a:ext cx="621911" cy="3600"/>
          </a:xfrm>
          <a:prstGeom prst="line">
            <a:avLst/>
          </a:prstGeom>
          <a:ln w="12700">
            <a:solidFill>
              <a:srgbClr val="112A40"/>
            </a:solidFill>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2697F6E2-C26B-4E5F-B7F9-95C6E9325040}"/>
              </a:ext>
            </a:extLst>
          </p:cNvPr>
          <p:cNvCxnSpPr/>
          <p:nvPr/>
        </p:nvCxnSpPr>
        <p:spPr>
          <a:xfrm>
            <a:off x="916803" y="5368324"/>
            <a:ext cx="621911" cy="3600"/>
          </a:xfrm>
          <a:prstGeom prst="line">
            <a:avLst/>
          </a:prstGeom>
          <a:ln w="12700">
            <a:solidFill>
              <a:srgbClr val="112A40"/>
            </a:solidFill>
          </a:ln>
        </p:spPr>
        <p:style>
          <a:lnRef idx="1">
            <a:schemeClr val="accent1"/>
          </a:lnRef>
          <a:fillRef idx="0">
            <a:schemeClr val="accent1"/>
          </a:fillRef>
          <a:effectRef idx="0">
            <a:schemeClr val="accent1"/>
          </a:effectRef>
          <a:fontRef idx="minor">
            <a:schemeClr val="tx1"/>
          </a:fontRef>
        </p:style>
      </p:cxnSp>
      <p:sp>
        <p:nvSpPr>
          <p:cNvPr id="24" name="Rectangle 23">
            <a:extLst>
              <a:ext uri="{FF2B5EF4-FFF2-40B4-BE49-F238E27FC236}">
                <a16:creationId xmlns:a16="http://schemas.microsoft.com/office/drawing/2014/main" id="{4CD23CFE-3F31-4BA9-B26F-B9B5B351518E}"/>
              </a:ext>
            </a:extLst>
          </p:cNvPr>
          <p:cNvSpPr/>
          <p:nvPr/>
        </p:nvSpPr>
        <p:spPr>
          <a:xfrm>
            <a:off x="2103510" y="2847523"/>
            <a:ext cx="9685766" cy="901761"/>
          </a:xfrm>
          <a:prstGeom prst="rect">
            <a:avLst/>
          </a:prstGeom>
          <a:ln w="12700">
            <a:solidFill>
              <a:srgbClr val="112A40"/>
            </a:solidFill>
          </a:ln>
        </p:spPr>
        <p:txBody>
          <a:bodyPr wrap="square" lIns="162000" tIns="54000" rIns="72000" bIns="54000" anchor="ctr">
            <a:noAutofit/>
          </a:bodyPr>
          <a:lstStyle/>
          <a:p>
            <a:pPr lvl="0">
              <a:lnSpc>
                <a:spcPct val="110000"/>
              </a:lnSpc>
            </a:pPr>
            <a:r>
              <a:rPr lang="fr-CI" sz="1300" b="1" noProof="0">
                <a:latin typeface="Helvetica" panose="020B0604020202020204" pitchFamily="34" charset="0"/>
                <a:ea typeface="Open Sans Semibold" panose="020B0706030804020204" pitchFamily="34" charset="0"/>
                <a:cs typeface="Helvetica" panose="020B0604020202020204" pitchFamily="34" charset="0"/>
              </a:rPr>
              <a:t>Cohérence interne</a:t>
            </a:r>
          </a:p>
          <a:p>
            <a:pPr lvl="0">
              <a:lnSpc>
                <a:spcPct val="110000"/>
              </a:lnSpc>
            </a:pPr>
            <a:r>
              <a:rPr lang="fr-CI" sz="1150" noProof="0" b="0">
                <a:latin typeface="Helvetica" panose="020B0604020202020204" pitchFamily="34" charset="0"/>
                <a:ea typeface="Open Sans Light" panose="020B0306030504020204" pitchFamily="34" charset="0"/>
                <a:cs typeface="Helvetica" panose="020B0604020202020204" pitchFamily="34" charset="0"/>
              </a:rPr>
              <a:t>Les totaux imprimés par les logiciels sont retrouvés dans les 37 balances âgées du Grenier, et les débits égalent les crédits dans les 7 exercices comptables.</a:t>
            </a:r>
          </a:p>
        </p:txBody>
      </p:sp>
      <p:sp>
        <p:nvSpPr>
          <p:cNvPr id="33" name="Rectangle 32">
            <a:extLst>
              <a:ext uri="{FF2B5EF4-FFF2-40B4-BE49-F238E27FC236}">
                <a16:creationId xmlns:a16="http://schemas.microsoft.com/office/drawing/2014/main" id="{4CD23CFE-3F31-4BA9-B26F-B9B5B351518E}"/>
              </a:ext>
            </a:extLst>
          </p:cNvPr>
          <p:cNvSpPr/>
          <p:nvPr/>
        </p:nvSpPr>
        <p:spPr>
          <a:xfrm>
            <a:off x="2125344" y="3881185"/>
            <a:ext cx="9685766" cy="901761"/>
          </a:xfrm>
          <a:prstGeom prst="rect">
            <a:avLst/>
          </a:prstGeom>
          <a:ln w="12700">
            <a:solidFill>
              <a:srgbClr val="112A40"/>
            </a:solidFill>
          </a:ln>
        </p:spPr>
        <p:txBody>
          <a:bodyPr wrap="square" lIns="162000" tIns="54000" rIns="72000" bIns="54000" anchor="ctr">
            <a:noAutofit/>
          </a:bodyPr>
          <a:lstStyle/>
          <a:p>
            <a:pPr lvl="0">
              <a:lnSpc>
                <a:spcPct val="110000"/>
              </a:lnSpc>
            </a:pPr>
            <a:r>
              <a:rPr lang="fr-CI" sz="1300" b="1" noProof="0">
                <a:latin typeface="Helvetica" panose="020B0604020202020204" pitchFamily="34" charset="0"/>
                <a:ea typeface="Open Sans Semibold" panose="020B0706030804020204" pitchFamily="34" charset="0"/>
                <a:cs typeface="Helvetica" panose="020B0604020202020204" pitchFamily="34" charset="0"/>
              </a:rPr>
              <a:t>Rapprochement</a:t>
            </a:r>
          </a:p>
          <a:p>
            <a:pPr lvl="0">
              <a:lnSpc>
                <a:spcPct val="110000"/>
              </a:lnSpc>
            </a:pPr>
            <a:r>
              <a:rPr lang="fr-CI" sz="1150" noProof="0" b="0">
                <a:latin typeface="Helvetica" panose="020B0604020202020204" pitchFamily="34" charset="0"/>
                <a:ea typeface="Open Sans Light" panose="020B0306030504020204" pitchFamily="34" charset="0"/>
                <a:cs typeface="Helvetica" panose="020B0604020202020204" pitchFamily="34" charset="0"/>
              </a:rPr>
              <a:t>Deux sources qui décrivent le même flux doivent concorder : le taux de précompte rapporte le montant retour au montant aller, poste par poste et mois par mois.</a:t>
            </a:r>
          </a:p>
        </p:txBody>
      </p:sp>
      <p:sp>
        <p:nvSpPr>
          <p:cNvPr id="34" name="Rectangle 33">
            <a:extLst>
              <a:ext uri="{FF2B5EF4-FFF2-40B4-BE49-F238E27FC236}">
                <a16:creationId xmlns:a16="http://schemas.microsoft.com/office/drawing/2014/main" id="{4CD23CFE-3F31-4BA9-B26F-B9B5B351518E}"/>
              </a:ext>
            </a:extLst>
          </p:cNvPr>
          <p:cNvSpPr/>
          <p:nvPr/>
        </p:nvSpPr>
        <p:spPr>
          <a:xfrm>
            <a:off x="2122670" y="4917444"/>
            <a:ext cx="9685766" cy="901761"/>
          </a:xfrm>
          <a:prstGeom prst="rect">
            <a:avLst/>
          </a:prstGeom>
          <a:ln w="12700">
            <a:solidFill>
              <a:srgbClr val="112A40"/>
            </a:solidFill>
          </a:ln>
        </p:spPr>
        <p:txBody>
          <a:bodyPr wrap="square" lIns="162000" tIns="54000" rIns="72000" bIns="54000" anchor="ctr">
            <a:noAutofit/>
          </a:bodyPr>
          <a:lstStyle/>
          <a:p>
            <a:pPr lvl="1">
              <a:lnSpc>
                <a:spcPct val="110000"/>
              </a:lnSpc>
            </a:pPr>
            <a:r>
              <a:rPr lang="fr-CI" sz="1300" b="1" noProof="0">
                <a:latin typeface="Helvetica" panose="020B0604020202020204" pitchFamily="34" charset="0"/>
                <a:ea typeface="Open Sans Semibold" panose="020B0706030804020204" pitchFamily="34" charset="0"/>
                <a:cs typeface="Helvetica" panose="020B0604020202020204" pitchFamily="34" charset="0"/>
              </a:rPr>
              <a:t>Limite</a:t>
            </a:r>
          </a:p>
          <a:p>
            <a:pPr lvl="1">
              <a:lnSpc>
                <a:spcPct val="110000"/>
              </a:lnSpc>
            </a:pPr>
            <a:r>
              <a:rPr lang="fr-CI" sz="1150" noProof="0" b="0">
                <a:latin typeface="Helvetica" panose="020B0604020202020204" pitchFamily="34" charset="0"/>
                <a:ea typeface="Open Sans Light" panose="020B0306030504020204" pitchFamily="34" charset="0"/>
                <a:cs typeface="Helvetica" panose="020B0604020202020204" pitchFamily="34" charset="0"/>
              </a:rPr>
              <a:t>Ces contrôles prouvent que la base est fidèle aux fichiers reçus. Ils ne prouvent pas que les fichiers du FPPN sont eux-mêmes exacts.</a:t>
            </a:r>
            <a:endParaRPr lang="fr-CI" sz="1200">
              <a:latin typeface="Helvetica" panose="020B0604020202020204" pitchFamily="34" charset="0"/>
              <a:ea typeface="Open Sans Light" panose="020B0306030504020204" pitchFamily="34" charset="0"/>
              <a:cs typeface="Helvetica" panose="020B0604020202020204" pitchFamily="34" charset="0"/>
            </a:endParaRPr>
          </a:p>
        </p:txBody>
      </p:sp>
      <p:cxnSp>
        <p:nvCxnSpPr>
          <p:cNvPr id="39" name="Straight Connector 30">
            <a:extLst>
              <a:ext uri="{FF2B5EF4-FFF2-40B4-BE49-F238E27FC236}">
                <a16:creationId xmlns:a16="http://schemas.microsoft.com/office/drawing/2014/main" id="{EBCFE36B-AE16-49E8-90A6-6621A0EB0473}"/>
              </a:ext>
            </a:extLst>
          </p:cNvPr>
          <p:cNvCxnSpPr/>
          <p:nvPr/>
        </p:nvCxnSpPr>
        <p:spPr>
          <a:xfrm>
            <a:off x="919504" y="4326976"/>
            <a:ext cx="621911" cy="3600"/>
          </a:xfrm>
          <a:prstGeom prst="line">
            <a:avLst/>
          </a:prstGeom>
          <a:ln w="12700">
            <a:solidFill>
              <a:srgbClr val="112A40"/>
            </a:solidFill>
          </a:ln>
        </p:spPr>
        <p:style>
          <a:lnRef idx="1">
            <a:schemeClr val="accent1"/>
          </a:lnRef>
          <a:fillRef idx="0">
            <a:schemeClr val="accent1"/>
          </a:fillRef>
          <a:effectRef idx="0">
            <a:schemeClr val="accent1"/>
          </a:effectRef>
          <a:fontRef idx="minor">
            <a:schemeClr val="tx1"/>
          </a:fontRef>
        </p:style>
      </p:cxnSp>
      <p:grpSp>
        <p:nvGrpSpPr>
          <p:cNvPr id="11" name="Groupe 10"/>
          <p:cNvGrpSpPr/>
          <p:nvPr/>
        </p:nvGrpSpPr>
        <p:grpSpPr>
          <a:xfrm>
            <a:off x="1554870" y="2047565"/>
            <a:ext cx="548640" cy="548640"/>
            <a:chOff x="-1153645" y="1535690"/>
            <a:chExt cx="548640" cy="548640"/>
          </a:xfrm>
        </p:grpSpPr>
        <p:sp>
          <p:nvSpPr>
            <p:cNvPr id="36" name="Oval 21">
              <a:extLst>
                <a:ext uri="{FF2B5EF4-FFF2-40B4-BE49-F238E27FC236}">
                  <a16:creationId xmlns:a16="http://schemas.microsoft.com/office/drawing/2014/main" id="{7BB796F0-2DE6-45B1-851B-D8991F423CF4}"/>
                </a:ext>
              </a:extLst>
            </p:cNvPr>
            <p:cNvSpPr/>
            <p:nvPr/>
          </p:nvSpPr>
          <p:spPr bwMode="gray">
            <a:xfrm>
              <a:off x="-1153645" y="1535690"/>
              <a:ext cx="548640" cy="548640"/>
            </a:xfrm>
            <a:prstGeom prst="ellipse">
              <a:avLst/>
            </a:prstGeom>
            <a:solidFill>
              <a:schemeClr val="tx1"/>
            </a:solidFill>
            <a:ln w="19050" algn="ctr">
              <a:noFill/>
              <a:miter lim="800000"/>
              <a:headEnd/>
              <a:tailEnd/>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 typeface="Wingdings 2" pitchFamily="18" charset="2"/>
                <a:buNone/>
                <a:tabLst/>
                <a:defRPr/>
              </a:pPr>
              <a:endParaRPr kumimoji="0" lang="fr-CI" sz="1100" b="1" i="0" u="none" strike="noStrike" kern="1200" cap="none" spc="0" normalizeH="0" baseline="0" noProof="0">
                <a:ln>
                  <a:noFill/>
                </a:ln>
                <a:solidFill>
                  <a:prstClr val="white"/>
                </a:solidFill>
                <a:effectLst/>
                <a:uLnTx/>
                <a:uFillTx/>
                <a:latin typeface="Helvetica" panose="020B0604020202020204" pitchFamily="34" charset="0"/>
                <a:ea typeface="Open Sans Semibold" panose="020B0706030804020204" pitchFamily="34" charset="0"/>
                <a:cs typeface="Helvetica" panose="020B0604020202020204" pitchFamily="34" charset="0"/>
              </a:endParaRPr>
            </a:p>
          </p:txBody>
        </p:sp>
        <p:pic>
          <p:nvPicPr>
            <p:cNvPr id="40" name="Image 39"/>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23163" y="1564148"/>
              <a:ext cx="486259" cy="491723"/>
            </a:xfrm>
            <a:prstGeom prst="rect">
              <a:avLst/>
            </a:prstGeom>
          </p:spPr>
        </p:pic>
      </p:grpSp>
      <p:grpSp>
        <p:nvGrpSpPr>
          <p:cNvPr id="12" name="Groupe 11"/>
          <p:cNvGrpSpPr/>
          <p:nvPr/>
        </p:nvGrpSpPr>
        <p:grpSpPr>
          <a:xfrm>
            <a:off x="1557425" y="3008849"/>
            <a:ext cx="548640" cy="548640"/>
            <a:chOff x="-1154302" y="2719457"/>
            <a:chExt cx="548640" cy="548640"/>
          </a:xfrm>
        </p:grpSpPr>
        <p:sp>
          <p:nvSpPr>
            <p:cNvPr id="42" name="Oval 21">
              <a:extLst>
                <a:ext uri="{FF2B5EF4-FFF2-40B4-BE49-F238E27FC236}">
                  <a16:creationId xmlns:a16="http://schemas.microsoft.com/office/drawing/2014/main" id="{7BB796F0-2DE6-45B1-851B-D8991F423CF4}"/>
                </a:ext>
              </a:extLst>
            </p:cNvPr>
            <p:cNvSpPr/>
            <p:nvPr/>
          </p:nvSpPr>
          <p:spPr bwMode="gray">
            <a:xfrm>
              <a:off x="-1154302" y="2719457"/>
              <a:ext cx="548640" cy="548640"/>
            </a:xfrm>
            <a:prstGeom prst="ellipse">
              <a:avLst/>
            </a:prstGeom>
            <a:solidFill>
              <a:schemeClr val="tx1"/>
            </a:solidFill>
            <a:ln w="19050" algn="ctr">
              <a:noFill/>
              <a:miter lim="800000"/>
              <a:headEnd/>
              <a:tailEnd/>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 typeface="Wingdings 2" pitchFamily="18" charset="2"/>
                <a:buNone/>
                <a:tabLst/>
                <a:defRPr/>
              </a:pPr>
              <a:endParaRPr kumimoji="0" lang="fr-CI" sz="1100" b="1" i="0" u="none" strike="noStrike" kern="1200" cap="none" spc="0" normalizeH="0" baseline="0" noProof="0">
                <a:ln>
                  <a:noFill/>
                </a:ln>
                <a:solidFill>
                  <a:prstClr val="white"/>
                </a:solidFill>
                <a:effectLst/>
                <a:uLnTx/>
                <a:uFillTx/>
                <a:latin typeface="Helvetica" panose="020B0604020202020204" pitchFamily="34" charset="0"/>
                <a:ea typeface="Open Sans Semibold" panose="020B0706030804020204" pitchFamily="34" charset="0"/>
                <a:cs typeface="Helvetica" panose="020B0604020202020204" pitchFamily="34" charset="0"/>
              </a:endParaRPr>
            </a:p>
          </p:txBody>
        </p:sp>
        <p:pic>
          <p:nvPicPr>
            <p:cNvPr id="7" name="Image 6"/>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74901" y="2781886"/>
              <a:ext cx="396274" cy="396274"/>
            </a:xfrm>
            <a:prstGeom prst="rect">
              <a:avLst/>
            </a:prstGeom>
          </p:spPr>
        </p:pic>
      </p:grpSp>
      <p:grpSp>
        <p:nvGrpSpPr>
          <p:cNvPr id="13" name="Groupe 12"/>
          <p:cNvGrpSpPr/>
          <p:nvPr/>
        </p:nvGrpSpPr>
        <p:grpSpPr>
          <a:xfrm>
            <a:off x="1567381" y="4044725"/>
            <a:ext cx="548640" cy="552951"/>
            <a:chOff x="-1185544" y="4122202"/>
            <a:chExt cx="548640" cy="552951"/>
          </a:xfrm>
        </p:grpSpPr>
        <p:sp>
          <p:nvSpPr>
            <p:cNvPr id="44" name="Oval 21">
              <a:extLst>
                <a:ext uri="{FF2B5EF4-FFF2-40B4-BE49-F238E27FC236}">
                  <a16:creationId xmlns:a16="http://schemas.microsoft.com/office/drawing/2014/main" id="{7BB796F0-2DE6-45B1-851B-D8991F423CF4}"/>
                </a:ext>
              </a:extLst>
            </p:cNvPr>
            <p:cNvSpPr/>
            <p:nvPr/>
          </p:nvSpPr>
          <p:spPr bwMode="gray">
            <a:xfrm>
              <a:off x="-1185544" y="4122202"/>
              <a:ext cx="548640" cy="548640"/>
            </a:xfrm>
            <a:prstGeom prst="ellipse">
              <a:avLst/>
            </a:prstGeom>
            <a:solidFill>
              <a:schemeClr val="tx1"/>
            </a:solidFill>
            <a:ln w="19050" algn="ctr">
              <a:noFill/>
              <a:miter lim="800000"/>
              <a:headEnd/>
              <a:tailEnd/>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 typeface="Wingdings 2" pitchFamily="18" charset="2"/>
                <a:buNone/>
                <a:tabLst/>
                <a:defRPr/>
              </a:pPr>
              <a:endParaRPr kumimoji="0" lang="fr-CI" sz="1100" b="1" i="0" u="none" strike="noStrike" kern="1200" cap="none" spc="0" normalizeH="0" baseline="0" noProof="0">
                <a:ln>
                  <a:noFill/>
                </a:ln>
                <a:solidFill>
                  <a:prstClr val="white"/>
                </a:solidFill>
                <a:effectLst/>
                <a:uLnTx/>
                <a:uFillTx/>
                <a:latin typeface="Helvetica" panose="020B0604020202020204" pitchFamily="34" charset="0"/>
                <a:ea typeface="Open Sans Semibold" panose="020B0706030804020204" pitchFamily="34" charset="0"/>
                <a:cs typeface="Helvetica" panose="020B0604020202020204" pitchFamily="34" charset="0"/>
              </a:endParaRPr>
            </a:p>
          </p:txBody>
        </p:sp>
        <p:pic>
          <p:nvPicPr>
            <p:cNvPr id="8" name="Image 7"/>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171838" y="4144755"/>
              <a:ext cx="524301" cy="530398"/>
            </a:xfrm>
            <a:prstGeom prst="rect">
              <a:avLst/>
            </a:prstGeom>
          </p:spPr>
        </p:pic>
      </p:grpSp>
      <p:grpSp>
        <p:nvGrpSpPr>
          <p:cNvPr id="14" name="Groupe 13"/>
          <p:cNvGrpSpPr/>
          <p:nvPr/>
        </p:nvGrpSpPr>
        <p:grpSpPr>
          <a:xfrm>
            <a:off x="1567381" y="5111071"/>
            <a:ext cx="548640" cy="548640"/>
            <a:chOff x="-1227267" y="5286500"/>
            <a:chExt cx="548640" cy="548640"/>
          </a:xfrm>
        </p:grpSpPr>
        <p:sp>
          <p:nvSpPr>
            <p:cNvPr id="45" name="Oval 21">
              <a:extLst>
                <a:ext uri="{FF2B5EF4-FFF2-40B4-BE49-F238E27FC236}">
                  <a16:creationId xmlns:a16="http://schemas.microsoft.com/office/drawing/2014/main" id="{7BB796F0-2DE6-45B1-851B-D8991F423CF4}"/>
                </a:ext>
              </a:extLst>
            </p:cNvPr>
            <p:cNvSpPr/>
            <p:nvPr/>
          </p:nvSpPr>
          <p:spPr bwMode="gray">
            <a:xfrm>
              <a:off x="-1227267" y="5286500"/>
              <a:ext cx="548640" cy="548640"/>
            </a:xfrm>
            <a:prstGeom prst="ellipse">
              <a:avLst/>
            </a:prstGeom>
            <a:solidFill>
              <a:schemeClr val="tx1"/>
            </a:solidFill>
            <a:ln w="19050" algn="ctr">
              <a:noFill/>
              <a:miter lim="800000"/>
              <a:headEnd/>
              <a:tailEnd/>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 typeface="Wingdings 2" pitchFamily="18" charset="2"/>
                <a:buNone/>
                <a:tabLst/>
                <a:defRPr/>
              </a:pPr>
              <a:endParaRPr kumimoji="0" lang="fr-CI" sz="1100" b="1" i="0" u="none" strike="noStrike" kern="1200" cap="none" spc="0" normalizeH="0" baseline="0" noProof="0">
                <a:ln>
                  <a:noFill/>
                </a:ln>
                <a:solidFill>
                  <a:prstClr val="white"/>
                </a:solidFill>
                <a:effectLst/>
                <a:uLnTx/>
                <a:uFillTx/>
                <a:latin typeface="Helvetica" panose="020B0604020202020204" pitchFamily="34" charset="0"/>
                <a:ea typeface="Open Sans Semibold" panose="020B0706030804020204" pitchFamily="34" charset="0"/>
                <a:cs typeface="Helvetica" panose="020B0604020202020204" pitchFamily="34" charset="0"/>
              </a:endParaRPr>
            </a:p>
          </p:txBody>
        </p:sp>
        <p:pic>
          <p:nvPicPr>
            <p:cNvPr id="9" name="Image 8"/>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1171838" y="5346402"/>
              <a:ext cx="422834" cy="432026"/>
            </a:xfrm>
            <a:prstGeom prst="rect">
              <a:avLst/>
            </a:prstGeom>
          </p:spPr>
        </p:pic>
      </p:grpSp>
      <p:sp>
        <p:nvSpPr>
          <p:cNvPr id="50" name="ZoneTexte 49">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pic>
        <p:nvPicPr>
          <p:cNvPr id="51" name="Image 50"/>
          <p:cNvPicPr>
            <a:picLocks noChangeAspect="1"/>
          </p:cNvPicPr>
          <p:nvPr/>
        </p:nvPicPr>
        <p:blipFill rotWithShape="1">
          <a:blip r:embed="rId7" cstate="print">
            <a:extLst>
              <a:ext uri="{28A0092B-C50C-407E-A947-70E740481C1C}">
                <a14:useLocalDpi xmlns:a14="http://schemas.microsoft.com/office/drawing/2010/main" val="0"/>
              </a:ext>
            </a:extLst>
          </a:blip>
          <a:srcRect l="4260" t="13024" r="74155" b="14121"/>
          <a:stretch/>
        </p:blipFill>
        <p:spPr>
          <a:xfrm>
            <a:off x="702475" y="1350400"/>
            <a:ext cx="392679" cy="406703"/>
          </a:xfrm>
          <a:prstGeom prst="rect">
            <a:avLst/>
          </a:prstGeom>
        </p:spPr>
      </p:pic>
      <p:sp>
        <p:nvSpPr>
          <p:cNvPr id="52"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Méthode : contrôle des données</a:t>
            </a:r>
          </a:p>
        </p:txBody>
      </p:sp>
      <p:sp>
        <p:nvSpPr>
          <p:cNvPr id="53"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Trois contrôles garantissent que la base reproduit fidèlement les fichiers</a:t>
            </a:r>
          </a:p>
        </p:txBody>
      </p:sp>
      <p:sp>
        <p:nvSpPr>
          <p:cNvPr id="54"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Exhaustivité, cohérence interne et rapprochement entre sources indépendantes, puis une limite assumée</a:t>
            </a:r>
          </a:p>
        </p:txBody>
      </p:sp>
      <p:sp>
        <p:nvSpPr>
          <p:cNvPr id="55"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Adenka</a:t>
            </a:r>
          </a:p>
        </p:txBody>
      </p:sp>
      <p:sp>
        <p:nvSpPr>
          <p:cNvPr id="56" name="TextBox 55"/>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SHA-256 : algorithme d'empreinte numérique</a:t>
            </a:r>
          </a:p>
        </p:txBody>
      </p:sp>
    </p:spTree>
    <p:extLst>
      <p:ext uri="{BB962C8B-B14F-4D97-AF65-F5344CB8AC3E}">
        <p14:creationId xmlns:p14="http://schemas.microsoft.com/office/powerpoint/2010/main" val="3923676554"/>
      </p:ext>
    </p:extLst>
  </p:cSld>
  <p:clrMapOvr>
    <a:masterClrMapping/>
  </p:clrMapOvr>
  <p:transition>
    <p:fade/>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Couverture de la période</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Les données mensuelles ne couvrent pas les années 2020 à 2022</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Sur 80 mois, seuls la comptabilité et le PEP sont complets. Aucune donnée de prestations n'a été reçue</a:t>
            </a:r>
          </a:p>
        </p:txBody>
      </p:sp>
      <p:sp>
        <p:nvSpPr>
          <p:cNvPr id="30" name="TextBox 29"/>
          <p:cNvSpPr txBox="1"/>
          <p:nvPr/>
        </p:nvSpPr>
        <p:spPr>
          <a:xfrm>
            <a:off x="503999" y="1386000"/>
            <a:ext cx="5976000" cy="251999"/>
          </a:xfrm>
          <a:prstGeom prst="rect">
            <a:avLst/>
          </a:prstGeom>
          <a:noFill/>
        </p:spPr>
        <p:txBody>
          <a:bodyPr wrap="square">
            <a:spAutoFit/>
          </a:bodyPr>
          <a:lstStyle/>
          <a:p>
            <a:pPr algn="ctr">
              <a:spcAft>
                <a:spcPts val="0"/>
              </a:spcAft>
            </a:pPr>
            <a:r>
              <a:rPr sz="1200" b="0">
                <a:solidFill>
                  <a:srgbClr val="EFAC62"/>
                </a:solidFill>
                <a:latin typeface="Helvetica"/>
              </a:rPr>
              <a:t>Figure 6 : Mois reçus par flux de données, sur 80 mois</a:t>
            </a:r>
          </a:p>
        </p:txBody>
      </p:sp>
      <p:sp>
        <p:nvSpPr>
          <p:cNvPr id="31" name="TextBox 30"/>
          <p:cNvSpPr txBox="1"/>
          <p:nvPr/>
        </p:nvSpPr>
        <p:spPr>
          <a:xfrm>
            <a:off x="503999" y="1602000"/>
            <a:ext cx="5976000" cy="162000"/>
          </a:xfrm>
          <a:prstGeom prst="rect">
            <a:avLst/>
          </a:prstGeom>
          <a:noFill/>
        </p:spPr>
        <p:txBody>
          <a:bodyPr wrap="square">
            <a:spAutoFit/>
          </a:bodyPr>
          <a:lstStyle/>
          <a:p>
            <a:pPr algn="l">
              <a:spcAft>
                <a:spcPts val="0"/>
              </a:spcAft>
            </a:pPr>
            <a:r>
              <a:rPr sz="900" b="0">
                <a:solidFill>
                  <a:srgbClr val="060606"/>
                </a:solidFill>
                <a:latin typeface="Helvetica"/>
              </a:rPr>
              <a:t>En nombre de mois (janvier 2020 à août 2026)</a:t>
            </a:r>
          </a:p>
        </p:txBody>
      </p:sp>
      <p:graphicFrame>
        <p:nvGraphicFramePr>
          <p:cNvPr id="32" name="Chart 31"/>
          <p:cNvGraphicFramePr>
            <a:graphicFrameLocks noGrp="1"/>
          </p:cNvGraphicFramePr>
          <p:nvPr/>
        </p:nvGraphicFramePr>
        <p:xfrm>
          <a:off x="503999" y="1782000"/>
          <a:ext cx="5976000" cy="4086000"/>
        </p:xfrm>
        <a:graphic>
          <a:graphicData uri="http://schemas.openxmlformats.org/drawingml/2006/chart">
            <c:chart xmlns:c="http://schemas.openxmlformats.org/drawingml/2006/chart" r:id="rId6"/>
          </a:graphicData>
        </a:graphic>
      </p:graphicFrame>
      <p:sp>
        <p:nvSpPr>
          <p:cNvPr id="33"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fichiers de précomptes de la Solde, de la CGRAE et du FPPN reçus le 15/10/2026. Traitements Adenka</a:t>
            </a:r>
          </a:p>
        </p:txBody>
      </p:sp>
      <p:sp>
        <p:nvSpPr>
          <p:cNvPr id="34" name="TextBox 33"/>
          <p:cNvSpPr txBox="1"/>
          <p:nvPr/>
        </p:nvSpPr>
        <p:spPr>
          <a:xfrm>
            <a:off x="6696000" y="1440000"/>
            <a:ext cx="5040000" cy="4428000"/>
          </a:xfrm>
          <a:prstGeom prst="rect">
            <a:avLst/>
          </a:prstGeom>
          <a:noFill/>
        </p:spPr>
        <p:txBody>
          <a:bodyPr wrap="square" lIns="54000" rIns="54000"/>
          <a:lstStyle/>
          <a:p>
            <a:pPr algn="just">
              <a:spcAft>
                <a:spcPts val="600"/>
              </a:spcAft>
            </a:pPr>
            <a:r>
              <a:rPr sz="1400" b="1">
                <a:solidFill>
                  <a:srgbClr val="060606"/>
                </a:solidFill>
                <a:latin typeface="Helvetica"/>
              </a:rPr>
              <a:t>Seules la comptabilité et l'épargne PEP couvrent toute la période d'analyse.</a:t>
            </a:r>
            <a:r>
              <a:rPr sz="1400" b="0">
                <a:solidFill>
                  <a:srgbClr val="060606"/>
                </a:solidFill>
                <a:latin typeface="Helvetica"/>
              </a:rPr>
              <a:t> La comptabilité donne des totaux annuels. Les fichiers texte de la Solde donnent le PEP par mutualiste et par mois de 2020 à 2022.</a:t>
            </a:r>
          </a:p>
          <a:p>
            <a:pPr algn="just">
              <a:spcAft>
                <a:spcPts val="600"/>
              </a:spcAft>
            </a:pPr>
            <a:r>
              <a:rPr sz="1400" b="1">
                <a:solidFill>
                  <a:srgbClr val="060606"/>
                </a:solidFill>
                <a:latin typeface="Helvetica"/>
              </a:rPr>
              <a:t>Les précomptes mensuels commencent en 2023 ou en 2024.</a:t>
            </a:r>
            <a:r>
              <a:rPr sz="1400" b="0">
                <a:solidFill>
                  <a:srgbClr val="060606"/>
                </a:solidFill>
                <a:latin typeface="Helvetica"/>
              </a:rPr>
              <a:t> Les fichiers maladie et décès débutent en janvier 2024, ceux des retraités en février 2024 et ceux de l'EFC en janvier 2023.</a:t>
            </a:r>
          </a:p>
          <a:p>
            <a:pPr algn="just">
              <a:spcAft>
                <a:spcPts val="600"/>
              </a:spcAft>
            </a:pPr>
            <a:r>
              <a:rPr sz="1400" b="1">
                <a:solidFill>
                  <a:srgbClr val="060606"/>
                </a:solidFill>
                <a:latin typeface="Helvetica"/>
              </a:rPr>
              <a:t>Aucune base de prestations n'a été transmise.</a:t>
            </a:r>
            <a:r>
              <a:rPr sz="1400" b="0">
                <a:solidFill>
                  <a:srgbClr val="060606"/>
                </a:solidFill>
                <a:latin typeface="Helvetica"/>
              </a:rPr>
              <a:t> Le coût des soins et des décès n'est connu que par les comptes, sans date de survenance ni bénéficiaire.</a:t>
            </a:r>
          </a:p>
          <a:p>
            <a:pPr algn="just">
              <a:spcAft>
                <a:spcPts val="600"/>
              </a:spcAft>
            </a:pPr>
            <a:r>
              <a:rPr sz="1400" b="1">
                <a:solidFill>
                  <a:srgbClr val="060606"/>
                </a:solidFill>
                <a:latin typeface="Helvetica"/>
              </a:rPr>
              <a:t>Implication pour le FPPN.</a:t>
            </a:r>
            <a:r>
              <a:rPr sz="1400" b="0">
                <a:solidFill>
                  <a:srgbClr val="060606"/>
                </a:solidFill>
                <a:latin typeface="Helvetica"/>
              </a:rPr>
              <a:t> Les analyses mensuelles portent sur 2024 à 2026, et les années 2020 à 2023 ne peuvent être analysées qu'en totaux comptables. Les conclusions sur l'évolution de la sinistralité restent donc fragiles tant que les bases de prestations ne sont pas reçues.</a:t>
            </a:r>
          </a:p>
        </p:txBody>
      </p:sp>
      <p:sp>
        <p:nvSpPr>
          <p:cNvPr id="35" name="TextBox 34"/>
          <p:cNvSpPr txBox="1"/>
          <p:nvPr/>
        </p:nvSpPr>
        <p:spPr>
          <a:xfrm>
            <a:off x="367200" y="5932800"/>
            <a:ext cx="11430000" cy="237600"/>
          </a:xfrm>
          <a:prstGeom prst="rect">
            <a:avLst/>
          </a:prstGeom>
          <a:noFill/>
        </p:spPr>
        <p:txBody>
          <a:bodyPr wrap="square" anchor="b" lIns="54000" rIns="54000"/>
          <a:lstStyle/>
          <a:p>
            <a:pPr algn="l"/>
            <a:r>
              <a:rPr sz="650" b="0">
                <a:solidFill>
                  <a:srgbClr val="595959"/>
                </a:solidFill>
                <a:latin typeface="Helvetica"/>
              </a:rPr>
              <a:t>Sigles : FPPN : Fonds de prévoyance de la Police nationale | CGRAE : Caisse générale de retraite des agents de l'État | PEP : Plan Épargne Plus | EFC : entraide fin de carrière | MEDOC : produit santé complémentaire du poste 8Z7 | 936 : poste maladie | 8Z6 : poste décès | 870 : poste EFC | 998 : poste PEP | 9X4 : poste Grenier | 9W3 : poste flotte automobile | 8Z7 : poste MEDOC</a:t>
            </a:r>
          </a:p>
        </p:txBody>
      </p:sp>
    </p:spTree>
    <p:extLst>
      <p:ext uri="{BB962C8B-B14F-4D97-AF65-F5344CB8AC3E}">
        <p14:creationId xmlns:p14="http://schemas.microsoft.com/office/powerpoint/2010/main" val="1835718657"/>
      </p:ext>
    </p:extLst>
  </p:cSld>
  <p:clrMapOvr>
    <a:masterClrMapping/>
  </p:clrMapOvr>
  <p:transition>
    <p:fade/>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Calcul pas à pas : lignes de total</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Une ligne de total cachée aurait doublé les cotisations maladie du mois</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Fichier de février 2025 : la dernière ligne porte 202 597 314 FCFA, soit la somme des 27 861 lignes</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FPPN-SOLDE\EFFECTIF POLICE (MALADIE)\2025\FEVRIER 2025_effectif_police_936.xlsx (identifiant d'extraction F03875). Noms et matricules masqués</a:t>
            </a:r>
          </a:p>
        </p:txBody>
      </p:sp>
      <p:sp>
        <p:nvSpPr>
          <p:cNvPr id="31" name="TextBox 30"/>
          <p:cNvSpPr txBox="1"/>
          <p:nvPr/>
        </p:nvSpPr>
        <p:spPr>
          <a:xfrm>
            <a:off x="503999" y="1350000"/>
            <a:ext cx="8136000" cy="180000"/>
          </a:xfrm>
          <a:prstGeom prst="rect">
            <a:avLst/>
          </a:prstGeom>
          <a:noFill/>
        </p:spPr>
        <p:txBody>
          <a:bodyPr wrap="square" anchor="t" lIns="54000" rIns="54000"/>
          <a:lstStyle/>
          <a:p>
            <a:pPr algn="l"/>
            <a:r>
              <a:rPr sz="900" b="0">
                <a:solidFill>
                  <a:srgbClr val="53565A"/>
                </a:solidFill>
                <a:latin typeface="Helvetica"/>
              </a:rPr>
              <a:t>Extrait : FPPN-SOLDE\EFFECTIF POLICE (MALADIE)\2025\FEVRIER 2025_effectif_police_936.xlsx</a:t>
            </a:r>
          </a:p>
        </p:txBody>
      </p:sp>
      <p:graphicFrame>
        <p:nvGraphicFramePr>
          <p:cNvPr id="32" name="Table 31"/>
          <p:cNvGraphicFramePr>
            <a:graphicFrameLocks noGrp="1"/>
          </p:cNvGraphicFramePr>
          <p:nvPr/>
        </p:nvGraphicFramePr>
        <p:xfrm>
          <a:off x="503999" y="1548000"/>
          <a:ext cx="8136000" cy="1050045"/>
        </p:xfrm>
        <a:graphic>
          <a:graphicData uri="http://schemas.openxmlformats.org/drawingml/2006/table">
            <a:tbl>
              <a:tblPr firstRow="0" bandRow="0">
                <a:tableStyleId>{5940675A-B579-460E-94D1-54222C63F5DA}</a:tableStyleId>
              </a:tblPr>
              <a:tblGrid>
                <a:gridCol w="720000"/>
                <a:gridCol w="936000"/>
                <a:gridCol w="576000"/>
                <a:gridCol w="1224000"/>
                <a:gridCol w="1296000"/>
                <a:gridCol w="1296000"/>
                <a:gridCol w="1224000"/>
                <a:gridCol w="864000"/>
              </a:tblGrid>
              <a:tr h="210009">
                <a:tc>
                  <a:txBody>
                    <a:bodyPr/>
                    <a:lstStyle/>
                    <a:p>
                      <a:pPr marL="0" indent="0" lvl="0">
                        <a:buNone/>
                      </a:pPr>
                      <a:r>
                        <a:rPr sz="1000" b="1">
                          <a:solidFill>
                            <a:srgbClr val="FFFFFF"/>
                          </a:solidFill>
                          <a:latin typeface="Helvetica"/>
                        </a:rPr>
                        <a:t>Poste</a:t>
                      </a:r>
                    </a:p>
                  </a:txBody>
                  <a:tcPr marL="43200" marR="43200" marT="14400" marB="14400" anchor="ctr">
                    <a:solidFill>
                      <a:srgbClr val="060606"/>
                    </a:solidFill>
                  </a:tcPr>
                </a:tc>
                <a:tc>
                  <a:txBody>
                    <a:bodyPr/>
                    <a:lstStyle/>
                    <a:p>
                      <a:pPr marL="0" indent="0" lvl="0">
                        <a:buNone/>
                      </a:pPr>
                      <a:r>
                        <a:rPr sz="1000" b="1">
                          <a:solidFill>
                            <a:srgbClr val="FFFFFF"/>
                          </a:solidFill>
                          <a:latin typeface="Helvetica"/>
                        </a:rPr>
                        <a:t>Référence</a:t>
                      </a:r>
                    </a:p>
                  </a:txBody>
                  <a:tcPr marL="43200" marR="43200" marT="14400" marB="14400" anchor="ctr">
                    <a:solidFill>
                      <a:srgbClr val="060606"/>
                    </a:solidFill>
                  </a:tcPr>
                </a:tc>
                <a:tc>
                  <a:txBody>
                    <a:bodyPr/>
                    <a:lstStyle/>
                    <a:p>
                      <a:pPr marL="0" indent="0" lvl="0">
                        <a:buNone/>
                      </a:pPr>
                      <a:r>
                        <a:rPr sz="1000" b="1">
                          <a:solidFill>
                            <a:srgbClr val="FFFFFF"/>
                          </a:solidFill>
                          <a:latin typeface="Helvetica"/>
                        </a:rPr>
                        <a:t>Org</a:t>
                      </a:r>
                    </a:p>
                  </a:txBody>
                  <a:tcPr marL="43200" marR="43200" marT="14400" marB="14400" anchor="ctr">
                    <a:solidFill>
                      <a:srgbClr val="060606"/>
                    </a:solidFill>
                  </a:tcPr>
                </a:tc>
                <a:tc>
                  <a:txBody>
                    <a:bodyPr/>
                    <a:lstStyle/>
                    <a:p>
                      <a:pPr marL="0" indent="0" lvl="0">
                        <a:buNone/>
                      </a:pPr>
                      <a:r>
                        <a:rPr sz="1000" b="1">
                          <a:solidFill>
                            <a:srgbClr val="FFFFFF"/>
                          </a:solidFill>
                          <a:latin typeface="Helvetica"/>
                        </a:rPr>
                        <a:t>Matricule</a:t>
                      </a:r>
                    </a:p>
                  </a:txBody>
                  <a:tcPr marL="43200" marR="43200" marT="14400" marB="14400" anchor="ctr">
                    <a:solidFill>
                      <a:srgbClr val="060606"/>
                    </a:solidFill>
                  </a:tcPr>
                </a:tc>
                <a:tc>
                  <a:txBody>
                    <a:bodyPr/>
                    <a:lstStyle/>
                    <a:p>
                      <a:pPr marL="0" indent="0" lvl="0">
                        <a:buNone/>
                      </a:pPr>
                      <a:r>
                        <a:rPr sz="1000" b="1">
                          <a:solidFill>
                            <a:srgbClr val="FFFFFF"/>
                          </a:solidFill>
                          <a:latin typeface="Helvetica"/>
                        </a:rPr>
                        <a:t>Nom</a:t>
                      </a:r>
                    </a:p>
                  </a:txBody>
                  <a:tcPr marL="43200" marR="43200" marT="14400" marB="14400" anchor="ctr">
                    <a:solidFill>
                      <a:srgbClr val="060606"/>
                    </a:solidFill>
                  </a:tcPr>
                </a:tc>
                <a:tc>
                  <a:txBody>
                    <a:bodyPr/>
                    <a:lstStyle/>
                    <a:p>
                      <a:pPr marL="0" indent="0" lvl="0">
                        <a:buNone/>
                      </a:pPr>
                      <a:r>
                        <a:rPr sz="1000" b="1">
                          <a:solidFill>
                            <a:srgbClr val="FFFFFF"/>
                          </a:solidFill>
                          <a:latin typeface="Helvetica"/>
                        </a:rPr>
                        <a:t>Montant</a:t>
                      </a:r>
                    </a:p>
                  </a:txBody>
                  <a:tcPr marL="43200" marR="43200" marT="14400" marB="14400" anchor="ctr">
                    <a:solidFill>
                      <a:srgbClr val="060606"/>
                    </a:solidFill>
                  </a:tcPr>
                </a:tc>
                <a:tc>
                  <a:txBody>
                    <a:bodyPr/>
                    <a:lstStyle/>
                    <a:p>
                      <a:pPr marL="0" indent="0" lvl="0">
                        <a:buNone/>
                      </a:pPr>
                      <a:r>
                        <a:rPr sz="1000" b="1">
                          <a:solidFill>
                            <a:srgbClr val="FFFFFF"/>
                          </a:solidFill>
                          <a:latin typeface="Helvetica"/>
                        </a:rPr>
                        <a:t>Début</a:t>
                      </a:r>
                    </a:p>
                  </a:txBody>
                  <a:tcPr marL="43200" marR="43200" marT="14400" marB="14400" anchor="ctr">
                    <a:solidFill>
                      <a:srgbClr val="060606"/>
                    </a:solidFill>
                  </a:tcPr>
                </a:tc>
                <a:tc>
                  <a:txBody>
                    <a:bodyPr/>
                    <a:lstStyle/>
                    <a:p>
                      <a:pPr marL="0" indent="0" lvl="0">
                        <a:buNone/>
                      </a:pPr>
                      <a:r>
                        <a:rPr sz="1000" b="1">
                          <a:solidFill>
                            <a:srgbClr val="FFFFFF"/>
                          </a:solidFill>
                          <a:latin typeface="Helvetica"/>
                        </a:rPr>
                        <a:t>Fin</a:t>
                      </a:r>
                    </a:p>
                  </a:txBody>
                  <a:tcPr marL="43200" marR="43200" marT="14400" marB="14400" anchor="ctr">
                    <a:solidFill>
                      <a:srgbClr val="060606"/>
                    </a:solidFill>
                  </a:tcPr>
                </a:tc>
              </a:tr>
              <a:tr h="210009">
                <a:tc>
                  <a:txBody>
                    <a:bodyPr/>
                    <a:lstStyle/>
                    <a:p>
                      <a:pPr marL="0" indent="0" lvl="0">
                        <a:buNone/>
                      </a:pPr>
                      <a:r>
                        <a:rPr sz="1000" b="1">
                          <a:solidFill>
                            <a:srgbClr val="060606"/>
                          </a:solidFill>
                          <a:latin typeface="Helvetica"/>
                        </a:rPr>
                        <a:t>936</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59</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175***Z</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C. Z.</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22883</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2011-04-01</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
                      </a:r>
                    </a:p>
                  </a:txBody>
                  <a:tcPr marL="43200" marR="43200" marT="14400" marB="14400" anchor="ctr">
                    <a:solidFill>
                      <a:srgbClr val="FFFFFF"/>
                    </a:solidFill>
                  </a:tcPr>
                </a:tc>
              </a:tr>
              <a:tr h="210009">
                <a:tc>
                  <a:txBody>
                    <a:bodyPr/>
                    <a:lstStyle/>
                    <a:p>
                      <a:pPr marL="0" indent="0" lvl="0">
                        <a:buNone/>
                      </a:pPr>
                      <a:r>
                        <a:rPr sz="1000" b="1">
                          <a:solidFill>
                            <a:srgbClr val="060606"/>
                          </a:solidFill>
                          <a:latin typeface="Helvetica"/>
                        </a:rPr>
                        <a:t>936</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59</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175***S</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C. A.</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22003</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2011-04-01</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
                      </a:r>
                    </a:p>
                  </a:txBody>
                  <a:tcPr marL="43200" marR="43200" marT="14400" marB="14400" anchor="ctr">
                    <a:solidFill>
                      <a:srgbClr val="F2F2F2"/>
                    </a:solidFill>
                  </a:tcPr>
                </a:tc>
              </a:tr>
              <a:tr h="210009">
                <a:tc>
                  <a:txBody>
                    <a:bodyPr/>
                    <a:lstStyle/>
                    <a:p>
                      <a:pPr marL="0" indent="0" lvl="0">
                        <a:buNone/>
                      </a:pPr>
                      <a:r>
                        <a:rPr sz="1000" b="1">
                          <a:solidFill>
                            <a:srgbClr val="060606"/>
                          </a:solidFill>
                          <a:latin typeface="Helvetica"/>
                        </a:rPr>
                        <a:t>936</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59</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175***P</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K. T. I.</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22003</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2000-08-01</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
                      </a:r>
                    </a:p>
                  </a:txBody>
                  <a:tcPr marL="43200" marR="43200" marT="14400" marB="14400" anchor="ctr">
                    <a:solidFill>
                      <a:srgbClr val="FFFFFF"/>
                    </a:solidFill>
                  </a:tcPr>
                </a:tc>
              </a:tr>
              <a:tr h="210009">
                <a:tc>
                  <a:txBody>
                    <a:bodyPr/>
                    <a:lstStyle/>
                    <a:p>
                      <a:pPr marL="0" indent="0" lvl="0">
                        <a:buNone/>
                      </a:pPr>
                      <a:r>
                        <a:rPr sz="1000" b="1">
                          <a:solidFill>
                            <a:srgbClr val="060606"/>
                          </a:solidFill>
                          <a:latin typeface="Helvetica"/>
                        </a:rPr>
                        <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27 861</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202597314</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
                      </a:r>
                    </a:p>
                  </a:txBody>
                  <a:tcPr marL="43200" marR="43200" marT="14400" marB="14400" anchor="ctr">
                    <a:solidFill>
                      <a:srgbClr val="F2F2F2"/>
                    </a:solidFill>
                  </a:tcPr>
                </a:tc>
              </a:tr>
            </a:tbl>
          </a:graphicData>
        </a:graphic>
      </p:graphicFrame>
      <p:sp>
        <p:nvSpPr>
          <p:cNvPr id="33" name="Rounded Rectangle 32"/>
          <p:cNvSpPr/>
          <p:nvPr/>
        </p:nvSpPr>
        <p:spPr>
          <a:xfrm>
            <a:off x="2718000" y="2377238"/>
            <a:ext cx="1260000" cy="231609"/>
          </a:xfrm>
          <a:prstGeom prst="roundRect">
            <a:avLst/>
          </a:prstGeom>
          <a:noFill/>
          <a:ln w="28575">
            <a:solidFill>
              <a:srgbClr val="C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3780000" y="2226038"/>
            <a:ext cx="270000" cy="2700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100" b="1">
                <a:solidFill>
                  <a:srgbClr val="FFFFFF"/>
                </a:solidFill>
                <a:latin typeface="Helvetica"/>
              </a:rPr>
              <a:t>1</a:t>
            </a:r>
          </a:p>
        </p:txBody>
      </p:sp>
      <p:sp>
        <p:nvSpPr>
          <p:cNvPr id="35" name="Rounded Rectangle 34"/>
          <p:cNvSpPr/>
          <p:nvPr/>
        </p:nvSpPr>
        <p:spPr>
          <a:xfrm>
            <a:off x="5238000" y="2377238"/>
            <a:ext cx="1332000" cy="231609"/>
          </a:xfrm>
          <a:prstGeom prst="roundRect">
            <a:avLst/>
          </a:prstGeom>
          <a:noFill/>
          <a:ln w="28575">
            <a:solidFill>
              <a:srgbClr val="C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Oval 35"/>
          <p:cNvSpPr/>
          <p:nvPr/>
        </p:nvSpPr>
        <p:spPr>
          <a:xfrm>
            <a:off x="6372000" y="2226038"/>
            <a:ext cx="270000" cy="2700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100" b="1">
                <a:solidFill>
                  <a:srgbClr val="FFFFFF"/>
                </a:solidFill>
                <a:latin typeface="Helvetica"/>
              </a:rPr>
              <a:t>2</a:t>
            </a:r>
          </a:p>
        </p:txBody>
      </p:sp>
      <p:sp>
        <p:nvSpPr>
          <p:cNvPr id="37" name="Oval 36"/>
          <p:cNvSpPr/>
          <p:nvPr/>
        </p:nvSpPr>
        <p:spPr>
          <a:xfrm>
            <a:off x="8856000" y="1548000"/>
            <a:ext cx="270000" cy="2700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100" b="1">
                <a:solidFill>
                  <a:srgbClr val="FFFFFF"/>
                </a:solidFill>
                <a:latin typeface="Helvetica"/>
              </a:rPr>
              <a:t>1</a:t>
            </a:r>
          </a:p>
        </p:txBody>
      </p:sp>
      <p:sp>
        <p:nvSpPr>
          <p:cNvPr id="38" name="TextBox 37"/>
          <p:cNvSpPr txBox="1"/>
          <p:nvPr/>
        </p:nvSpPr>
        <p:spPr>
          <a:xfrm>
            <a:off x="9216000" y="1530000"/>
            <a:ext cx="2519999" cy="670023"/>
          </a:xfrm>
          <a:prstGeom prst="rect">
            <a:avLst/>
          </a:prstGeom>
          <a:noFill/>
        </p:spPr>
        <p:txBody>
          <a:bodyPr wrap="square" anchor="t" lIns="54000" rIns="54000"/>
          <a:lstStyle/>
          <a:p>
            <a:pPr algn="l"/>
            <a:r>
              <a:rPr sz="1200" b="0">
                <a:solidFill>
                  <a:srgbClr val="060606"/>
                </a:solidFill>
                <a:latin typeface="Helvetica"/>
              </a:rPr>
              <a:t>La colonne « matricule » de la dernière ligne contient le nombre de lignes du fichier.</a:t>
            </a:r>
          </a:p>
        </p:txBody>
      </p:sp>
      <p:sp>
        <p:nvSpPr>
          <p:cNvPr id="39" name="Oval 38"/>
          <p:cNvSpPr/>
          <p:nvPr/>
        </p:nvSpPr>
        <p:spPr>
          <a:xfrm>
            <a:off x="8856000" y="2308023"/>
            <a:ext cx="270000" cy="2700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100" b="1">
                <a:solidFill>
                  <a:srgbClr val="FFFFFF"/>
                </a:solidFill>
                <a:latin typeface="Helvetica"/>
              </a:rPr>
              <a:t>2</a:t>
            </a:r>
          </a:p>
        </p:txBody>
      </p:sp>
      <p:sp>
        <p:nvSpPr>
          <p:cNvPr id="40" name="TextBox 39"/>
          <p:cNvSpPr txBox="1"/>
          <p:nvPr/>
        </p:nvSpPr>
        <p:spPr>
          <a:xfrm>
            <a:off x="9216000" y="2290023"/>
            <a:ext cx="2519999" cy="670023"/>
          </a:xfrm>
          <a:prstGeom prst="rect">
            <a:avLst/>
          </a:prstGeom>
          <a:noFill/>
        </p:spPr>
        <p:txBody>
          <a:bodyPr wrap="square" anchor="t" lIns="54000" rIns="54000"/>
          <a:lstStyle/>
          <a:p>
            <a:pPr algn="l"/>
            <a:r>
              <a:rPr sz="1200" b="0">
                <a:solidFill>
                  <a:srgbClr val="060606"/>
                </a:solidFill>
                <a:latin typeface="Helvetica"/>
              </a:rPr>
              <a:t>Le montant de 202 597 314 FCFA est la somme de toutes les lignes au-dessus.</a:t>
            </a:r>
          </a:p>
        </p:txBody>
      </p:sp>
      <p:sp>
        <p:nvSpPr>
          <p:cNvPr id="41" name="Oval 40"/>
          <p:cNvSpPr/>
          <p:nvPr/>
        </p:nvSpPr>
        <p:spPr>
          <a:xfrm>
            <a:off x="8856000" y="3068047"/>
            <a:ext cx="270000" cy="2700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100" b="1">
                <a:solidFill>
                  <a:srgbClr val="FFFFFF"/>
                </a:solidFill>
                <a:latin typeface="Helvetica"/>
              </a:rPr>
              <a:t>3</a:t>
            </a:r>
          </a:p>
        </p:txBody>
      </p:sp>
      <p:sp>
        <p:nvSpPr>
          <p:cNvPr id="42" name="TextBox 41"/>
          <p:cNvSpPr txBox="1"/>
          <p:nvPr/>
        </p:nvSpPr>
        <p:spPr>
          <a:xfrm>
            <a:off x="9216000" y="3050047"/>
            <a:ext cx="2519999" cy="855963"/>
          </a:xfrm>
          <a:prstGeom prst="rect">
            <a:avLst/>
          </a:prstGeom>
          <a:noFill/>
        </p:spPr>
        <p:txBody>
          <a:bodyPr wrap="square" anchor="t" lIns="54000" rIns="54000"/>
          <a:lstStyle/>
          <a:p>
            <a:pPr algn="l"/>
            <a:r>
              <a:rPr sz="1200" b="0">
                <a:solidFill>
                  <a:srgbClr val="060606"/>
                </a:solidFill>
                <a:latin typeface="Helvetica"/>
              </a:rPr>
              <a:t>Adenka écarte cette ligne et les 87 lignes du même type, ce qui évite 10 340 860 286 FCFA de double compte.</a:t>
            </a:r>
          </a:p>
        </p:txBody>
      </p:sp>
      <p:sp>
        <p:nvSpPr>
          <p:cNvPr id="43" name="TextBox 42"/>
          <p:cNvSpPr txBox="1"/>
          <p:nvPr/>
        </p:nvSpPr>
        <p:spPr>
          <a:xfrm>
            <a:off x="8856000" y="4086011"/>
            <a:ext cx="2879999" cy="1781988"/>
          </a:xfrm>
          <a:prstGeom prst="rect">
            <a:avLst/>
          </a:prstGeom>
          <a:noFill/>
        </p:spPr>
        <p:txBody>
          <a:bodyPr wrap="square" lIns="54000" rIns="54000"/>
          <a:lstStyle/>
          <a:p>
            <a:pPr algn="just">
              <a:spcAft>
                <a:spcPts val="600"/>
              </a:spcAft>
            </a:pPr>
            <a:r>
              <a:rPr sz="1150" b="1">
                <a:solidFill>
                  <a:srgbClr val="060606"/>
                </a:solidFill>
                <a:latin typeface="Helvetica"/>
              </a:rPr>
              <a:t>Une simple somme des fichiers aurait gonflé les cotisations.</a:t>
            </a:r>
            <a:r>
              <a:rPr sz="1150" b="0">
                <a:solidFill>
                  <a:srgbClr val="060606"/>
                </a:solidFill>
                <a:latin typeface="Helvetica"/>
              </a:rPr>
              <a:t> Les lignes de total ont la même forme que les lignes des mutualistes et ne se repèrent que par le calcul.</a:t>
            </a:r>
          </a:p>
          <a:p>
            <a:pPr algn="just">
              <a:spcAft>
                <a:spcPts val="600"/>
              </a:spcAft>
            </a:pPr>
            <a:r>
              <a:rPr sz="1150" b="1">
                <a:solidFill>
                  <a:srgbClr val="060606"/>
                </a:solidFill>
                <a:latin typeface="Helvetica"/>
              </a:rPr>
              <a:t>Implication pour le FPPN.</a:t>
            </a:r>
            <a:r>
              <a:rPr sz="1150" b="0">
                <a:solidFill>
                  <a:srgbClr val="060606"/>
                </a:solidFill>
                <a:latin typeface="Helvetica"/>
              </a:rPr>
              <a:t> Le FPPN doit retirer ces lignes de total de ses fichiers, ou les isoler, avant tout traitement automatique.</a:t>
            </a:r>
          </a:p>
        </p:txBody>
      </p:sp>
      <p:sp>
        <p:nvSpPr>
          <p:cNvPr id="44" name="TextBox 43"/>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936 : poste maladie</a:t>
            </a:r>
          </a:p>
        </p:txBody>
      </p:sp>
    </p:spTree>
    <p:extLst>
      <p:ext uri="{BB962C8B-B14F-4D97-AF65-F5344CB8AC3E}">
        <p14:creationId xmlns:p14="http://schemas.microsoft.com/office/powerpoint/2010/main" val="651098942"/>
      </p:ext>
    </p:extLst>
  </p:cSld>
  <p:clrMapOvr>
    <a:masterClrMapping/>
  </p:clrMapOvr>
  <p:transition>
    <p:fade/>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Calcul pas à pas : montants doublés</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Des montants saisis deux fois à la suite gonflaient les précomptes décès</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Avril 2024 : 17 montants de plus d'un million de FCFA sont des montants écrits deux fois</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FPPN-SOLDE\ALLOCATION DECES\2024\FPPN_ALLOC_DECES_8Z6_AVRIL_2024.xlsx. Noms et matricules masqués</a:t>
            </a:r>
          </a:p>
        </p:txBody>
      </p:sp>
      <p:sp>
        <p:nvSpPr>
          <p:cNvPr id="31" name="TextBox 30"/>
          <p:cNvSpPr txBox="1"/>
          <p:nvPr/>
        </p:nvSpPr>
        <p:spPr>
          <a:xfrm>
            <a:off x="503999" y="1350000"/>
            <a:ext cx="7920000" cy="180000"/>
          </a:xfrm>
          <a:prstGeom prst="rect">
            <a:avLst/>
          </a:prstGeom>
          <a:noFill/>
        </p:spPr>
        <p:txBody>
          <a:bodyPr wrap="square" anchor="t" lIns="54000" rIns="54000"/>
          <a:lstStyle/>
          <a:p>
            <a:pPr algn="l"/>
            <a:r>
              <a:rPr sz="900" b="0">
                <a:solidFill>
                  <a:srgbClr val="53565A"/>
                </a:solidFill>
                <a:latin typeface="Helvetica"/>
              </a:rPr>
              <a:t>Extrait : FPPN-SOLDE\ALLOCATION DECES\2024\FPPN_ALLOC_DECES_8Z6_AVRIL_2024.xlsx</a:t>
            </a:r>
          </a:p>
        </p:txBody>
      </p:sp>
      <p:graphicFrame>
        <p:nvGraphicFramePr>
          <p:cNvPr id="32" name="Table 31"/>
          <p:cNvGraphicFramePr>
            <a:graphicFrameLocks noGrp="1"/>
          </p:cNvGraphicFramePr>
          <p:nvPr/>
        </p:nvGraphicFramePr>
        <p:xfrm>
          <a:off x="503999" y="1548000"/>
          <a:ext cx="7920000" cy="1050045"/>
        </p:xfrm>
        <a:graphic>
          <a:graphicData uri="http://schemas.openxmlformats.org/drawingml/2006/table">
            <a:tbl>
              <a:tblPr firstRow="0" bandRow="0">
                <a:tableStyleId>{5940675A-B579-460E-94D1-54222C63F5DA}</a:tableStyleId>
              </a:tblPr>
              <a:tblGrid>
                <a:gridCol w="1440000"/>
                <a:gridCol w="1440000"/>
                <a:gridCol w="2880000"/>
                <a:gridCol w="2160000"/>
              </a:tblGrid>
              <a:tr h="210009">
                <a:tc>
                  <a:txBody>
                    <a:bodyPr/>
                    <a:lstStyle/>
                    <a:p>
                      <a:pPr marL="0" indent="0" lvl="0">
                        <a:buNone/>
                      </a:pPr>
                      <a:r>
                        <a:rPr sz="1000" b="1">
                          <a:solidFill>
                            <a:srgbClr val="FFFFFF"/>
                          </a:solidFill>
                          <a:latin typeface="Helvetica"/>
                        </a:rPr>
                        <a:t>Matricule</a:t>
                      </a:r>
                    </a:p>
                  </a:txBody>
                  <a:tcPr marL="43200" marR="43200" marT="14400" marB="14400" anchor="ctr">
                    <a:solidFill>
                      <a:srgbClr val="060606"/>
                    </a:solidFill>
                  </a:tcPr>
                </a:tc>
                <a:tc>
                  <a:txBody>
                    <a:bodyPr/>
                    <a:lstStyle/>
                    <a:p>
                      <a:pPr marL="0" indent="0" lvl="0">
                        <a:buNone/>
                      </a:pPr>
                      <a:r>
                        <a:rPr sz="1000" b="1">
                          <a:solidFill>
                            <a:srgbClr val="FFFFFF"/>
                          </a:solidFill>
                          <a:latin typeface="Helvetica"/>
                        </a:rPr>
                        <a:t>Nom</a:t>
                      </a:r>
                    </a:p>
                  </a:txBody>
                  <a:tcPr marL="43200" marR="43200" marT="14400" marB="14400" anchor="ctr">
                    <a:solidFill>
                      <a:srgbClr val="060606"/>
                    </a:solidFill>
                  </a:tcPr>
                </a:tc>
                <a:tc>
                  <a:txBody>
                    <a:bodyPr/>
                    <a:lstStyle/>
                    <a:p>
                      <a:pPr marL="0" indent="0" lvl="0">
                        <a:buNone/>
                      </a:pPr>
                      <a:r>
                        <a:rPr sz="1000" b="1">
                          <a:solidFill>
                            <a:srgbClr val="FFFFFF"/>
                          </a:solidFill>
                          <a:latin typeface="Helvetica"/>
                        </a:rPr>
                        <a:t>Montant dans le fichier</a:t>
                      </a:r>
                    </a:p>
                  </a:txBody>
                  <a:tcPr marL="43200" marR="43200" marT="14400" marB="14400" anchor="ctr">
                    <a:solidFill>
                      <a:srgbClr val="060606"/>
                    </a:solidFill>
                  </a:tcPr>
                </a:tc>
                <a:tc>
                  <a:txBody>
                    <a:bodyPr/>
                    <a:lstStyle/>
                    <a:p>
                      <a:pPr marL="0" indent="0" lvl="0">
                        <a:buNone/>
                      </a:pPr>
                      <a:r>
                        <a:rPr sz="1000" b="1">
                          <a:solidFill>
                            <a:srgbClr val="FFFFFF"/>
                          </a:solidFill>
                          <a:latin typeface="Helvetica"/>
                        </a:rPr>
                        <a:t>Montant corrigé</a:t>
                      </a:r>
                    </a:p>
                  </a:txBody>
                  <a:tcPr marL="43200" marR="43200" marT="14400" marB="14400" anchor="ctr">
                    <a:solidFill>
                      <a:srgbClr val="060606"/>
                    </a:solidFill>
                  </a:tcPr>
                </a:tc>
              </a:tr>
              <a:tr h="210009">
                <a:tc>
                  <a:txBody>
                    <a:bodyPr/>
                    <a:lstStyle/>
                    <a:p>
                      <a:pPr marL="0" indent="0" lvl="0">
                        <a:buNone/>
                      </a:pPr>
                      <a:r>
                        <a:rPr sz="1000" b="1">
                          <a:solidFill>
                            <a:srgbClr val="060606"/>
                          </a:solidFill>
                          <a:latin typeface="Helvetica"/>
                        </a:rPr>
                        <a:t>260***E</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K. N. K.</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4792447924</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47924</a:t>
                      </a:r>
                    </a:p>
                  </a:txBody>
                  <a:tcPr marL="43200" marR="43200" marT="14400" marB="14400" anchor="ctr">
                    <a:solidFill>
                      <a:srgbClr val="FFFFFF"/>
                    </a:solidFill>
                  </a:tcPr>
                </a:tc>
              </a:tr>
              <a:tr h="210009">
                <a:tc>
                  <a:txBody>
                    <a:bodyPr/>
                    <a:lstStyle/>
                    <a:p>
                      <a:pPr marL="0" indent="0" lvl="0">
                        <a:buNone/>
                      </a:pPr>
                      <a:r>
                        <a:rPr sz="1000" b="1">
                          <a:solidFill>
                            <a:srgbClr val="060606"/>
                          </a:solidFill>
                          <a:latin typeface="Helvetica"/>
                        </a:rPr>
                        <a:t>463***P</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D. G. S.</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3506635066</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35066</a:t>
                      </a:r>
                    </a:p>
                  </a:txBody>
                  <a:tcPr marL="43200" marR="43200" marT="14400" marB="14400" anchor="ctr">
                    <a:solidFill>
                      <a:srgbClr val="F2F2F2"/>
                    </a:solidFill>
                  </a:tcPr>
                </a:tc>
              </a:tr>
              <a:tr h="210009">
                <a:tc>
                  <a:txBody>
                    <a:bodyPr/>
                    <a:lstStyle/>
                    <a:p>
                      <a:pPr marL="0" indent="0" lvl="0">
                        <a:buNone/>
                      </a:pPr>
                      <a:r>
                        <a:rPr sz="1000" b="1">
                          <a:solidFill>
                            <a:srgbClr val="060606"/>
                          </a:solidFill>
                          <a:latin typeface="Helvetica"/>
                        </a:rPr>
                        <a:t>498***P</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L. E. D.</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3379533795</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33795</a:t>
                      </a:r>
                    </a:p>
                  </a:txBody>
                  <a:tcPr marL="43200" marR="43200" marT="14400" marB="14400" anchor="ctr">
                    <a:solidFill>
                      <a:srgbClr val="FFFFFF"/>
                    </a:solidFill>
                  </a:tcPr>
                </a:tc>
              </a:tr>
              <a:tr h="210009">
                <a:tc>
                  <a:txBody>
                    <a:bodyPr/>
                    <a:lstStyle/>
                    <a:p>
                      <a:pPr marL="0" indent="0" lvl="0">
                        <a:buNone/>
                      </a:pPr>
                      <a:r>
                        <a:rPr sz="1000" b="1">
                          <a:solidFill>
                            <a:srgbClr val="060606"/>
                          </a:solidFill>
                          <a:latin typeface="Helvetica"/>
                        </a:rPr>
                        <a:t>300***Y</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O. B. F.</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3328733287</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33287</a:t>
                      </a:r>
                    </a:p>
                  </a:txBody>
                  <a:tcPr marL="43200" marR="43200" marT="14400" marB="14400" anchor="ctr">
                    <a:solidFill>
                      <a:srgbClr val="F2F2F2"/>
                    </a:solidFill>
                  </a:tcPr>
                </a:tc>
              </a:tr>
            </a:tbl>
          </a:graphicData>
        </a:graphic>
      </p:graphicFrame>
      <p:sp>
        <p:nvSpPr>
          <p:cNvPr id="33" name="Rounded Rectangle 32"/>
          <p:cNvSpPr/>
          <p:nvPr/>
        </p:nvSpPr>
        <p:spPr>
          <a:xfrm>
            <a:off x="3366000" y="1747209"/>
            <a:ext cx="2916000" cy="231609"/>
          </a:xfrm>
          <a:prstGeom prst="roundRect">
            <a:avLst/>
          </a:prstGeom>
          <a:noFill/>
          <a:ln w="28575">
            <a:solidFill>
              <a:srgbClr val="C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083999" y="1596009"/>
            <a:ext cx="270000" cy="2700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100" b="1">
                <a:solidFill>
                  <a:srgbClr val="FFFFFF"/>
                </a:solidFill>
                <a:latin typeface="Helvetica"/>
              </a:rPr>
              <a:t>1</a:t>
            </a:r>
          </a:p>
        </p:txBody>
      </p:sp>
      <p:sp>
        <p:nvSpPr>
          <p:cNvPr id="35" name="Rounded Rectangle 34"/>
          <p:cNvSpPr/>
          <p:nvPr/>
        </p:nvSpPr>
        <p:spPr>
          <a:xfrm>
            <a:off x="6245999" y="1747209"/>
            <a:ext cx="2196000" cy="231609"/>
          </a:xfrm>
          <a:prstGeom prst="roundRect">
            <a:avLst/>
          </a:prstGeom>
          <a:noFill/>
          <a:ln w="28575">
            <a:solidFill>
              <a:srgbClr val="C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Oval 35"/>
          <p:cNvSpPr/>
          <p:nvPr/>
        </p:nvSpPr>
        <p:spPr>
          <a:xfrm>
            <a:off x="8243999" y="1596009"/>
            <a:ext cx="270000" cy="2700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100" b="1">
                <a:solidFill>
                  <a:srgbClr val="FFFFFF"/>
                </a:solidFill>
                <a:latin typeface="Helvetica"/>
              </a:rPr>
              <a:t>2</a:t>
            </a:r>
          </a:p>
        </p:txBody>
      </p:sp>
      <p:sp>
        <p:nvSpPr>
          <p:cNvPr id="37" name="Oval 36"/>
          <p:cNvSpPr/>
          <p:nvPr/>
        </p:nvSpPr>
        <p:spPr>
          <a:xfrm>
            <a:off x="8640000" y="1548000"/>
            <a:ext cx="270000" cy="2700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100" b="1">
                <a:solidFill>
                  <a:srgbClr val="FFFFFF"/>
                </a:solidFill>
                <a:latin typeface="Helvetica"/>
              </a:rPr>
              <a:t>1</a:t>
            </a:r>
          </a:p>
        </p:txBody>
      </p:sp>
      <p:sp>
        <p:nvSpPr>
          <p:cNvPr id="38" name="TextBox 37"/>
          <p:cNvSpPr txBox="1"/>
          <p:nvPr/>
        </p:nvSpPr>
        <p:spPr>
          <a:xfrm>
            <a:off x="9000000" y="1530000"/>
            <a:ext cx="2736000" cy="484084"/>
          </a:xfrm>
          <a:prstGeom prst="rect">
            <a:avLst/>
          </a:prstGeom>
          <a:noFill/>
        </p:spPr>
        <p:txBody>
          <a:bodyPr wrap="square" anchor="t" lIns="54000" rIns="54000"/>
          <a:lstStyle/>
          <a:p>
            <a:pPr algn="l"/>
            <a:r>
              <a:rPr sz="1200" b="0">
                <a:solidFill>
                  <a:srgbClr val="060606"/>
                </a:solidFill>
                <a:latin typeface="Helvetica"/>
              </a:rPr>
              <a:t>Le montant du fichier répète deux fois la suite « 47924 ».</a:t>
            </a:r>
          </a:p>
        </p:txBody>
      </p:sp>
      <p:sp>
        <p:nvSpPr>
          <p:cNvPr id="39" name="Oval 38"/>
          <p:cNvSpPr/>
          <p:nvPr/>
        </p:nvSpPr>
        <p:spPr>
          <a:xfrm>
            <a:off x="8640000" y="2122084"/>
            <a:ext cx="270000" cy="2700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100" b="1">
                <a:solidFill>
                  <a:srgbClr val="FFFFFF"/>
                </a:solidFill>
                <a:latin typeface="Helvetica"/>
              </a:rPr>
              <a:t>2</a:t>
            </a:r>
          </a:p>
        </p:txBody>
      </p:sp>
      <p:sp>
        <p:nvSpPr>
          <p:cNvPr id="40" name="TextBox 39"/>
          <p:cNvSpPr txBox="1"/>
          <p:nvPr/>
        </p:nvSpPr>
        <p:spPr>
          <a:xfrm>
            <a:off x="9000000" y="2104084"/>
            <a:ext cx="2736000" cy="670023"/>
          </a:xfrm>
          <a:prstGeom prst="rect">
            <a:avLst/>
          </a:prstGeom>
          <a:noFill/>
        </p:spPr>
        <p:txBody>
          <a:bodyPr wrap="square" anchor="t" lIns="54000" rIns="54000"/>
          <a:lstStyle/>
          <a:p>
            <a:pPr algn="l"/>
            <a:r>
              <a:rPr sz="1200" b="0">
                <a:solidFill>
                  <a:srgbClr val="060606"/>
                </a:solidFill>
                <a:latin typeface="Helvetica"/>
              </a:rPr>
              <a:t>Un précompte décès de plus d'un million de FCFA par agent est impossible.</a:t>
            </a:r>
          </a:p>
        </p:txBody>
      </p:sp>
      <p:sp>
        <p:nvSpPr>
          <p:cNvPr id="41" name="Oval 40"/>
          <p:cNvSpPr/>
          <p:nvPr/>
        </p:nvSpPr>
        <p:spPr>
          <a:xfrm>
            <a:off x="8640000" y="2882108"/>
            <a:ext cx="270000" cy="2700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100" b="1">
                <a:solidFill>
                  <a:srgbClr val="FFFFFF"/>
                </a:solidFill>
                <a:latin typeface="Helvetica"/>
              </a:rPr>
              <a:t>3</a:t>
            </a:r>
          </a:p>
        </p:txBody>
      </p:sp>
      <p:sp>
        <p:nvSpPr>
          <p:cNvPr id="42" name="TextBox 41"/>
          <p:cNvSpPr txBox="1"/>
          <p:nvPr/>
        </p:nvSpPr>
        <p:spPr>
          <a:xfrm>
            <a:off x="9000000" y="2864108"/>
            <a:ext cx="2736000" cy="670023"/>
          </a:xfrm>
          <a:prstGeom prst="rect">
            <a:avLst/>
          </a:prstGeom>
          <a:noFill/>
        </p:spPr>
        <p:txBody>
          <a:bodyPr wrap="square" anchor="t" lIns="54000" rIns="54000"/>
          <a:lstStyle/>
          <a:p>
            <a:pPr algn="l"/>
            <a:r>
              <a:rPr sz="1200" b="0">
                <a:solidFill>
                  <a:srgbClr val="060606"/>
                </a:solidFill>
                <a:latin typeface="Helvetica"/>
              </a:rPr>
              <a:t>Adenka retient la première moitié du montant et signale la ligne au FPPN.</a:t>
            </a:r>
          </a:p>
        </p:txBody>
      </p:sp>
      <p:sp>
        <p:nvSpPr>
          <p:cNvPr id="43" name="TextBox 42"/>
          <p:cNvSpPr txBox="1"/>
          <p:nvPr/>
        </p:nvSpPr>
        <p:spPr>
          <a:xfrm>
            <a:off x="8640000" y="3714132"/>
            <a:ext cx="3096000" cy="2153867"/>
          </a:xfrm>
          <a:prstGeom prst="rect">
            <a:avLst/>
          </a:prstGeom>
          <a:noFill/>
        </p:spPr>
        <p:txBody>
          <a:bodyPr wrap="square" lIns="54000" rIns="54000"/>
          <a:lstStyle/>
          <a:p>
            <a:pPr algn="just">
              <a:spcAft>
                <a:spcPts val="600"/>
              </a:spcAft>
            </a:pPr>
            <a:r>
              <a:rPr sz="1200" b="1">
                <a:solidFill>
                  <a:srgbClr val="060606"/>
                </a:solidFill>
                <a:latin typeface="Helvetica"/>
              </a:rPr>
              <a:t>L'erreur vient de la saisie du fichier source, pas d'un calcul.</a:t>
            </a:r>
            <a:r>
              <a:rPr sz="1200" b="0">
                <a:solidFill>
                  <a:srgbClr val="060606"/>
                </a:solidFill>
                <a:latin typeface="Helvetica"/>
              </a:rPr>
              <a:t> Les deux moitiés du montant sont identiques, ce qui signe une double frappe.</a:t>
            </a:r>
          </a:p>
          <a:p>
            <a:pPr algn="just">
              <a:spcAft>
                <a:spcPts val="600"/>
              </a:spcAft>
            </a:pPr>
            <a:r>
              <a:rPr sz="1200" b="1">
                <a:solidFill>
                  <a:srgbClr val="060606"/>
                </a:solidFill>
                <a:latin typeface="Helvetica"/>
              </a:rPr>
              <a:t>Implication pour le FPPN.</a:t>
            </a:r>
            <a:r>
              <a:rPr sz="1200" b="0">
                <a:solidFill>
                  <a:srgbClr val="060606"/>
                </a:solidFill>
                <a:latin typeface="Helvetica"/>
              </a:rPr>
              <a:t> La correction est limitée au poste décès et à un seuil d'un million de FCFA pour ne pas modifier de montants réels. Le FPPN doit confirmer chaque ligne signalée.</a:t>
            </a:r>
          </a:p>
        </p:txBody>
      </p:sp>
      <p:sp>
        <p:nvSpPr>
          <p:cNvPr id="44" name="TextBox 43"/>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a:t>
            </a:r>
          </a:p>
        </p:txBody>
      </p:sp>
    </p:spTree>
    <p:extLst>
      <p:ext uri="{BB962C8B-B14F-4D97-AF65-F5344CB8AC3E}">
        <p14:creationId xmlns:p14="http://schemas.microsoft.com/office/powerpoint/2010/main" val="3201601291"/>
      </p:ext>
    </p:extLst>
  </p:cSld>
  <p:clrMapOvr>
    <a:masterClrMapping/>
  </p:clrMapOvr>
  <p:transition>
    <p:fade/>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Rapprochement aller et retour</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La Solde précompte en moyenne 97 à 100 % des montants demandés</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Sur les mois communs, l'écart moyen est faible, mais certains mois s'écartent fortement</a:t>
            </a:r>
          </a:p>
        </p:txBody>
      </p:sp>
      <p:sp>
        <p:nvSpPr>
          <p:cNvPr id="30" name="TextBox 29"/>
          <p:cNvSpPr txBox="1"/>
          <p:nvPr/>
        </p:nvSpPr>
        <p:spPr>
          <a:xfrm>
            <a:off x="503999" y="1386000"/>
            <a:ext cx="6552000" cy="251999"/>
          </a:xfrm>
          <a:prstGeom prst="rect">
            <a:avLst/>
          </a:prstGeom>
          <a:noFill/>
        </p:spPr>
        <p:txBody>
          <a:bodyPr wrap="square">
            <a:spAutoFit/>
          </a:bodyPr>
          <a:lstStyle/>
          <a:p>
            <a:pPr algn="ctr">
              <a:spcAft>
                <a:spcPts val="0"/>
              </a:spcAft>
            </a:pPr>
            <a:r>
              <a:rPr sz="1200" b="0">
                <a:solidFill>
                  <a:srgbClr val="EFAC62"/>
                </a:solidFill>
                <a:latin typeface="Helvetica"/>
              </a:rPr>
              <a:t>Figure 7 : Montant précompté rapporté au montant demandé, mois communs</a:t>
            </a:r>
          </a:p>
        </p:txBody>
      </p:sp>
      <p:sp>
        <p:nvSpPr>
          <p:cNvPr id="31" name="TextBox 30"/>
          <p:cNvSpPr txBox="1"/>
          <p:nvPr/>
        </p:nvSpPr>
        <p:spPr>
          <a:xfrm>
            <a:off x="503999" y="1602000"/>
            <a:ext cx="6552000" cy="162000"/>
          </a:xfrm>
          <a:prstGeom prst="rect">
            <a:avLst/>
          </a:prstGeom>
          <a:noFill/>
        </p:spPr>
        <p:txBody>
          <a:bodyPr wrap="square">
            <a:spAutoFit/>
          </a:bodyPr>
          <a:lstStyle/>
          <a:p>
            <a:pPr algn="l">
              <a:spcAft>
                <a:spcPts val="0"/>
              </a:spcAft>
            </a:pPr>
            <a:r>
              <a:rPr sz="900" b="0">
                <a:solidFill>
                  <a:srgbClr val="060606"/>
                </a:solidFill>
                <a:latin typeface="Helvetica"/>
              </a:rPr>
              <a:t>En % du montant demandé</a:t>
            </a:r>
          </a:p>
        </p:txBody>
      </p:sp>
      <p:graphicFrame>
        <p:nvGraphicFramePr>
          <p:cNvPr id="32" name="Chart 31"/>
          <p:cNvGraphicFramePr>
            <a:graphicFrameLocks noGrp="1"/>
          </p:cNvGraphicFramePr>
          <p:nvPr/>
        </p:nvGraphicFramePr>
        <p:xfrm>
          <a:off x="503999" y="1782000"/>
          <a:ext cx="6552000" cy="4086000"/>
        </p:xfrm>
        <a:graphic>
          <a:graphicData uri="http://schemas.openxmlformats.org/drawingml/2006/chart">
            <c:chart xmlns:c="http://schemas.openxmlformats.org/drawingml/2006/chart" r:id="rId6"/>
          </a:graphicData>
        </a:graphic>
      </p:graphicFrame>
      <p:sp>
        <p:nvSpPr>
          <p:cNvPr id="33"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fichiers de précomptes de la Solde, de la CGRAE et du FPPN reçus le 15/10/2026. Traitements Adenka</a:t>
            </a:r>
          </a:p>
        </p:txBody>
      </p:sp>
      <p:sp>
        <p:nvSpPr>
          <p:cNvPr id="34" name="TextBox 33"/>
          <p:cNvSpPr txBox="1"/>
          <p:nvPr/>
        </p:nvSpPr>
        <p:spPr>
          <a:xfrm>
            <a:off x="7272000" y="1440000"/>
            <a:ext cx="4464000" cy="4428000"/>
          </a:xfrm>
          <a:prstGeom prst="rect">
            <a:avLst/>
          </a:prstGeom>
          <a:noFill/>
        </p:spPr>
        <p:txBody>
          <a:bodyPr wrap="square" lIns="54000" rIns="54000"/>
          <a:lstStyle/>
          <a:p>
            <a:pPr algn="just">
              <a:spcAft>
                <a:spcPts val="600"/>
              </a:spcAft>
            </a:pPr>
            <a:r>
              <a:rPr sz="1400" b="1">
                <a:solidFill>
                  <a:srgbClr val="060606"/>
                </a:solidFill>
                <a:latin typeface="Helvetica"/>
              </a:rPr>
              <a:t>La Solde et la CGRAE retiennent presque tout ce que le FPPN demande.</a:t>
            </a:r>
            <a:r>
              <a:rPr sz="1400" b="0">
                <a:solidFill>
                  <a:srgbClr val="060606"/>
                </a:solidFill>
                <a:latin typeface="Helvetica"/>
              </a:rPr>
              <a:t> Le taux moyen va de 97,41 % à 100,19 % selon le poste.</a:t>
            </a:r>
          </a:p>
          <a:p>
            <a:pPr algn="just">
              <a:spcAft>
                <a:spcPts val="600"/>
              </a:spcAft>
            </a:pPr>
            <a:r>
              <a:rPr sz="1400" b="1">
                <a:solidFill>
                  <a:srgbClr val="060606"/>
                </a:solidFill>
                <a:latin typeface="Helvetica"/>
              </a:rPr>
              <a:t>Certains mois s'écartent nettement de la moyenne.</a:t>
            </a:r>
            <a:r>
              <a:rPr sz="1400" b="0">
                <a:solidFill>
                  <a:srgbClr val="060606"/>
                </a:solidFill>
                <a:latin typeface="Helvetica"/>
              </a:rPr>
              <a:t> Le mois le plus bas atteint 69,19 % pour le Grenier et 76,96 % pour le PEP.</a:t>
            </a:r>
          </a:p>
          <a:p>
            <a:pPr algn="just">
              <a:spcAft>
                <a:spcPts val="600"/>
              </a:spcAft>
            </a:pPr>
            <a:r>
              <a:rPr sz="1400" b="1">
                <a:solidFill>
                  <a:srgbClr val="060606"/>
                </a:solidFill>
                <a:latin typeface="Helvetica"/>
              </a:rPr>
              <a:t>Ces écarts traduisent des rejets ou des fichiers incomplets.</a:t>
            </a:r>
            <a:r>
              <a:rPr sz="1400" b="0">
                <a:solidFill>
                  <a:srgbClr val="060606"/>
                </a:solidFill>
                <a:latin typeface="Helvetica"/>
              </a:rPr>
              <a:t> Le FPPN doit pouvoir les expliquer mois par mois.</a:t>
            </a:r>
          </a:p>
          <a:p>
            <a:pPr algn="just">
              <a:spcAft>
                <a:spcPts val="600"/>
              </a:spcAft>
            </a:pPr>
            <a:r>
              <a:rPr sz="1400" b="1">
                <a:solidFill>
                  <a:srgbClr val="060606"/>
                </a:solidFill>
                <a:latin typeface="Helvetica"/>
              </a:rPr>
              <a:t>Implication pour le FPPN.</a:t>
            </a:r>
            <a:r>
              <a:rPr sz="1400" b="0">
                <a:solidFill>
                  <a:srgbClr val="060606"/>
                </a:solidFill>
                <a:latin typeface="Helvetica"/>
              </a:rPr>
              <a:t> Pour les retraités, le taux mesuré sert d'indicateur de recouvrement des cotisations : il respecte la norme d'au moins 90 % de la Décision n° 05/2022. Pour les cotisations maladie et décès des actifs, le calcul attend les fichiers aller.</a:t>
            </a:r>
          </a:p>
        </p:txBody>
      </p:sp>
      <p:sp>
        <p:nvSpPr>
          <p:cNvPr id="35" name="TextBox 34"/>
          <p:cNvSpPr txBox="1"/>
          <p:nvPr/>
        </p:nvSpPr>
        <p:spPr>
          <a:xfrm>
            <a:off x="367200" y="5932800"/>
            <a:ext cx="11430000" cy="237600"/>
          </a:xfrm>
          <a:prstGeom prst="rect">
            <a:avLst/>
          </a:prstGeom>
          <a:noFill/>
        </p:spPr>
        <p:txBody>
          <a:bodyPr wrap="square" anchor="b" lIns="54000" rIns="54000"/>
          <a:lstStyle/>
          <a:p>
            <a:pPr algn="l"/>
            <a:r>
              <a:rPr sz="650" b="0">
                <a:solidFill>
                  <a:srgbClr val="595959"/>
                </a:solidFill>
                <a:latin typeface="Helvetica"/>
              </a:rPr>
              <a:t>Sigles : FPPN : Fonds de prévoyance de la Police nationale | CGRAE : Caisse générale de retraite des agents de l'État | PEP : Plan Épargne Plus | EFC : entraide fin de carrière | MEDOC : produit santé complémentaire du poste 8Z7 | 870 : poste EFC | 998 : poste PEP | 9X4 : poste Grenier | 9W3 : poste flotte automobile | 8Z7 : poste MEDOC</a:t>
            </a:r>
          </a:p>
        </p:txBody>
      </p:sp>
    </p:spTree>
    <p:extLst>
      <p:ext uri="{BB962C8B-B14F-4D97-AF65-F5344CB8AC3E}">
        <p14:creationId xmlns:p14="http://schemas.microsoft.com/office/powerpoint/2010/main" val="3746586962"/>
      </p:ext>
    </p:extLst>
  </p:cSld>
  <p:clrMapOvr>
    <a:masterClrMapping/>
  </p:clrMapOvr>
  <p:transition>
    <p:fade/>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Calcul pas à pas : écarts du PEP</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Les deux mois extrêmes du PEP s'expliquent par le contenu des fichiers</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Janvier 2025 : 76,96 %. Juillet 2024 : 150,62 %</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fichiers de précomptes de la Solde, de la CGRAE et du FPPN reçus le 15/10/2026. Traitements Adenka</a:t>
            </a:r>
          </a:p>
        </p:txBody>
      </p:sp>
      <p:sp>
        <p:nvSpPr>
          <p:cNvPr id="31" name="TextBox 30"/>
          <p:cNvSpPr txBox="1"/>
          <p:nvPr/>
        </p:nvSpPr>
        <p:spPr>
          <a:xfrm>
            <a:off x="503999" y="1350000"/>
            <a:ext cx="10080000" cy="180000"/>
          </a:xfrm>
          <a:prstGeom prst="rect">
            <a:avLst/>
          </a:prstGeom>
          <a:noFill/>
        </p:spPr>
        <p:txBody>
          <a:bodyPr wrap="square" anchor="t" lIns="54000" rIns="54000"/>
          <a:lstStyle/>
          <a:p>
            <a:pPr algn="l"/>
            <a:r>
              <a:rPr sz="900" b="0">
                <a:solidFill>
                  <a:srgbClr val="53565A"/>
                </a:solidFill>
                <a:latin typeface="Helvetica"/>
              </a:rPr>
              <a:t>Extrait : FPPN-SOLDE\PEP\FICHIER ALLER et FICHIER RETOUR</a:t>
            </a:r>
          </a:p>
        </p:txBody>
      </p:sp>
      <p:graphicFrame>
        <p:nvGraphicFramePr>
          <p:cNvPr id="32" name="Table 31"/>
          <p:cNvGraphicFramePr>
            <a:graphicFrameLocks noGrp="1"/>
          </p:cNvGraphicFramePr>
          <p:nvPr/>
        </p:nvGraphicFramePr>
        <p:xfrm>
          <a:off x="503999" y="1548000"/>
          <a:ext cx="10080000" cy="782437"/>
        </p:xfrm>
        <a:graphic>
          <a:graphicData uri="http://schemas.openxmlformats.org/drawingml/2006/table">
            <a:tbl>
              <a:tblPr firstRow="0" bandRow="0">
                <a:tableStyleId>{5940675A-B579-460E-94D1-54222C63F5DA}</a:tableStyleId>
              </a:tblPr>
              <a:tblGrid>
                <a:gridCol w="864000"/>
                <a:gridCol w="2376000"/>
                <a:gridCol w="936000"/>
                <a:gridCol w="1944000"/>
                <a:gridCol w="936000"/>
                <a:gridCol w="1944000"/>
                <a:gridCol w="1080000"/>
              </a:tblGrid>
              <a:tr h="362419">
                <a:tc>
                  <a:txBody>
                    <a:bodyPr/>
                    <a:lstStyle/>
                    <a:p>
                      <a:pPr marL="0" indent="0" lvl="0">
                        <a:buNone/>
                      </a:pPr>
                      <a:r>
                        <a:rPr sz="1000" b="1">
                          <a:solidFill>
                            <a:srgbClr val="FFFFFF"/>
                          </a:solidFill>
                          <a:latin typeface="Helvetica"/>
                        </a:rPr>
                        <a:t>Mois</a:t>
                      </a:r>
                    </a:p>
                  </a:txBody>
                  <a:tcPr marL="43200" marR="43200" marT="14400" marB="14400" anchor="ctr">
                    <a:solidFill>
                      <a:srgbClr val="060606"/>
                    </a:solidFill>
                  </a:tcPr>
                </a:tc>
                <a:tc>
                  <a:txBody>
                    <a:bodyPr/>
                    <a:lstStyle/>
                    <a:p>
                      <a:pPr marL="0" indent="0" lvl="0">
                        <a:buNone/>
                      </a:pPr>
                      <a:r>
                        <a:rPr sz="1000" b="1">
                          <a:solidFill>
                            <a:srgbClr val="FFFFFF"/>
                          </a:solidFill>
                          <a:latin typeface="Helvetica"/>
                        </a:rPr>
                        <a:t>Fichier aller</a:t>
                      </a:r>
                    </a:p>
                  </a:txBody>
                  <a:tcPr marL="43200" marR="43200" marT="14400" marB="14400" anchor="ctr">
                    <a:solidFill>
                      <a:srgbClr val="060606"/>
                    </a:solidFill>
                  </a:tcPr>
                </a:tc>
                <a:tc>
                  <a:txBody>
                    <a:bodyPr/>
                    <a:lstStyle/>
                    <a:p>
                      <a:pPr marL="0" indent="0" lvl="0">
                        <a:buNone/>
                      </a:pPr>
                      <a:r>
                        <a:rPr sz="1000" b="1">
                          <a:solidFill>
                            <a:srgbClr val="FFFFFF"/>
                          </a:solidFill>
                          <a:latin typeface="Helvetica"/>
                        </a:rPr>
                        <a:t>Lignes aller</a:t>
                      </a:r>
                    </a:p>
                  </a:txBody>
                  <a:tcPr marL="43200" marR="43200" marT="14400" marB="14400" anchor="ctr">
                    <a:solidFill>
                      <a:srgbClr val="060606"/>
                    </a:solidFill>
                  </a:tcPr>
                </a:tc>
                <a:tc>
                  <a:txBody>
                    <a:bodyPr/>
                    <a:lstStyle/>
                    <a:p>
                      <a:pPr marL="0" indent="0" lvl="0">
                        <a:buNone/>
                      </a:pPr>
                      <a:r>
                        <a:rPr sz="1000" b="1">
                          <a:solidFill>
                            <a:srgbClr val="FFFFFF"/>
                          </a:solidFill>
                          <a:latin typeface="Helvetica"/>
                        </a:rPr>
                        <a:t>Montant aller</a:t>
                      </a:r>
                    </a:p>
                  </a:txBody>
                  <a:tcPr marL="43200" marR="43200" marT="14400" marB="14400" anchor="ctr">
                    <a:solidFill>
                      <a:srgbClr val="060606"/>
                    </a:solidFill>
                  </a:tcPr>
                </a:tc>
                <a:tc>
                  <a:txBody>
                    <a:bodyPr/>
                    <a:lstStyle/>
                    <a:p>
                      <a:pPr marL="0" indent="0" lvl="0">
                        <a:buNone/>
                      </a:pPr>
                      <a:r>
                        <a:rPr sz="1000" b="1">
                          <a:solidFill>
                            <a:srgbClr val="FFFFFF"/>
                          </a:solidFill>
                          <a:latin typeface="Helvetica"/>
                        </a:rPr>
                        <a:t>Lignes retour</a:t>
                      </a:r>
                    </a:p>
                  </a:txBody>
                  <a:tcPr marL="43200" marR="43200" marT="14400" marB="14400" anchor="ctr">
                    <a:solidFill>
                      <a:srgbClr val="060606"/>
                    </a:solidFill>
                  </a:tcPr>
                </a:tc>
                <a:tc>
                  <a:txBody>
                    <a:bodyPr/>
                    <a:lstStyle/>
                    <a:p>
                      <a:pPr marL="0" indent="0" lvl="0">
                        <a:buNone/>
                      </a:pPr>
                      <a:r>
                        <a:rPr sz="1000" b="1">
                          <a:solidFill>
                            <a:srgbClr val="FFFFFF"/>
                          </a:solidFill>
                          <a:latin typeface="Helvetica"/>
                        </a:rPr>
                        <a:t>Montant retour</a:t>
                      </a:r>
                    </a:p>
                  </a:txBody>
                  <a:tcPr marL="43200" marR="43200" marT="14400" marB="14400" anchor="ctr">
                    <a:solidFill>
                      <a:srgbClr val="060606"/>
                    </a:solidFill>
                  </a:tcPr>
                </a:tc>
                <a:tc>
                  <a:txBody>
                    <a:bodyPr/>
                    <a:lstStyle/>
                    <a:p>
                      <a:pPr marL="0" indent="0" lvl="0">
                        <a:buNone/>
                      </a:pPr>
                      <a:r>
                        <a:rPr sz="1000" b="1">
                          <a:solidFill>
                            <a:srgbClr val="FFFFFF"/>
                          </a:solidFill>
                          <a:latin typeface="Helvetica"/>
                        </a:rPr>
                        <a:t>Taux</a:t>
                      </a:r>
                    </a:p>
                  </a:txBody>
                  <a:tcPr marL="43200" marR="43200" marT="14400" marB="14400" anchor="ctr">
                    <a:solidFill>
                      <a:srgbClr val="060606"/>
                    </a:solidFill>
                  </a:tcPr>
                </a:tc>
              </a:tr>
              <a:tr h="210009">
                <a:tc>
                  <a:txBody>
                    <a:bodyPr/>
                    <a:lstStyle/>
                    <a:p>
                      <a:pPr marL="0" indent="0" lvl="0">
                        <a:buNone/>
                      </a:pPr>
                      <a:r>
                        <a:rPr sz="1000" b="1">
                          <a:solidFill>
                            <a:srgbClr val="060606"/>
                          </a:solidFill>
                          <a:latin typeface="Helvetica"/>
                        </a:rPr>
                        <a:t>janv. 2025</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FICHIER ALLER JANVIER 2025.xlsx</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12 256</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156 130 575 FCFA</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9 679</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120 164 075 FCFA</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76,96 %</a:t>
                      </a:r>
                    </a:p>
                  </a:txBody>
                  <a:tcPr marL="43200" marR="43200" marT="14400" marB="14400" anchor="ctr">
                    <a:solidFill>
                      <a:srgbClr val="FFFFFF"/>
                    </a:solidFill>
                  </a:tcPr>
                </a:tc>
              </a:tr>
              <a:tr h="210009">
                <a:tc>
                  <a:txBody>
                    <a:bodyPr/>
                    <a:lstStyle/>
                    <a:p>
                      <a:pPr marL="0" indent="0" lvl="0">
                        <a:buNone/>
                      </a:pPr>
                      <a:r>
                        <a:rPr sz="1000" b="1">
                          <a:solidFill>
                            <a:srgbClr val="060606"/>
                          </a:solidFill>
                          <a:latin typeface="Helvetica"/>
                        </a:rPr>
                        <a:t>juil. 2024</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FICHIER ALLER JUILLET 2024.xlsx</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7 180</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97 910 325 FCFA</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11 654</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147 477 325 FCFA</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150,62 %</a:t>
                      </a:r>
                    </a:p>
                  </a:txBody>
                  <a:tcPr marL="43200" marR="43200" marT="14400" marB="14400" anchor="ctr">
                    <a:solidFill>
                      <a:srgbClr val="F2F2F2"/>
                    </a:solidFill>
                  </a:tcPr>
                </a:tc>
              </a:tr>
            </a:tbl>
          </a:graphicData>
        </a:graphic>
      </p:graphicFrame>
      <p:sp>
        <p:nvSpPr>
          <p:cNvPr id="33" name="Rounded Rectangle 32"/>
          <p:cNvSpPr/>
          <p:nvPr/>
        </p:nvSpPr>
        <p:spPr>
          <a:xfrm>
            <a:off x="6605999" y="1899619"/>
            <a:ext cx="972000" cy="231609"/>
          </a:xfrm>
          <a:prstGeom prst="roundRect">
            <a:avLst/>
          </a:prstGeom>
          <a:noFill/>
          <a:ln w="28575">
            <a:solidFill>
              <a:srgbClr val="C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7380000" y="1748419"/>
            <a:ext cx="270000" cy="2700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100" b="1">
                <a:solidFill>
                  <a:srgbClr val="FFFFFF"/>
                </a:solidFill>
                <a:latin typeface="Helvetica"/>
              </a:rPr>
              <a:t>1</a:t>
            </a:r>
          </a:p>
        </p:txBody>
      </p:sp>
      <p:sp>
        <p:nvSpPr>
          <p:cNvPr id="35" name="Rounded Rectangle 34"/>
          <p:cNvSpPr/>
          <p:nvPr/>
        </p:nvSpPr>
        <p:spPr>
          <a:xfrm>
            <a:off x="6605999" y="2109628"/>
            <a:ext cx="972000" cy="231609"/>
          </a:xfrm>
          <a:prstGeom prst="roundRect">
            <a:avLst/>
          </a:prstGeom>
          <a:noFill/>
          <a:ln w="28575">
            <a:solidFill>
              <a:srgbClr val="C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Oval 35"/>
          <p:cNvSpPr/>
          <p:nvPr/>
        </p:nvSpPr>
        <p:spPr>
          <a:xfrm>
            <a:off x="7380000" y="1958428"/>
            <a:ext cx="270000" cy="2700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100" b="1">
                <a:solidFill>
                  <a:srgbClr val="FFFFFF"/>
                </a:solidFill>
                <a:latin typeface="Helvetica"/>
              </a:rPr>
              <a:t>2</a:t>
            </a:r>
          </a:p>
        </p:txBody>
      </p:sp>
      <p:sp>
        <p:nvSpPr>
          <p:cNvPr id="37" name="Oval 36"/>
          <p:cNvSpPr/>
          <p:nvPr/>
        </p:nvSpPr>
        <p:spPr>
          <a:xfrm>
            <a:off x="503999" y="2456438"/>
            <a:ext cx="270000" cy="2700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100" b="1">
                <a:solidFill>
                  <a:srgbClr val="FFFFFF"/>
                </a:solidFill>
                <a:latin typeface="Helvetica"/>
              </a:rPr>
              <a:t>1</a:t>
            </a:r>
          </a:p>
        </p:txBody>
      </p:sp>
      <p:sp>
        <p:nvSpPr>
          <p:cNvPr id="38" name="TextBox 37"/>
          <p:cNvSpPr txBox="1"/>
          <p:nvPr/>
        </p:nvSpPr>
        <p:spPr>
          <a:xfrm>
            <a:off x="864000" y="2438438"/>
            <a:ext cx="9720000" cy="298144"/>
          </a:xfrm>
          <a:prstGeom prst="rect">
            <a:avLst/>
          </a:prstGeom>
          <a:noFill/>
        </p:spPr>
        <p:txBody>
          <a:bodyPr wrap="square" anchor="t" lIns="54000" rIns="54000"/>
          <a:lstStyle/>
          <a:p>
            <a:pPr algn="l"/>
            <a:r>
              <a:rPr sz="1200" b="0">
                <a:solidFill>
                  <a:srgbClr val="060606"/>
                </a:solidFill>
                <a:latin typeface="Helvetica"/>
              </a:rPr>
              <a:t>En janvier 2025, 2 577 épargnants demandés n'ont pas été précomptés.</a:t>
            </a:r>
          </a:p>
        </p:txBody>
      </p:sp>
      <p:sp>
        <p:nvSpPr>
          <p:cNvPr id="39" name="Oval 38"/>
          <p:cNvSpPr/>
          <p:nvPr/>
        </p:nvSpPr>
        <p:spPr>
          <a:xfrm>
            <a:off x="503999" y="2844582"/>
            <a:ext cx="270000" cy="2700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100" b="1">
                <a:solidFill>
                  <a:srgbClr val="FFFFFF"/>
                </a:solidFill>
                <a:latin typeface="Helvetica"/>
              </a:rPr>
              <a:t>2</a:t>
            </a:r>
          </a:p>
        </p:txBody>
      </p:sp>
      <p:sp>
        <p:nvSpPr>
          <p:cNvPr id="40" name="TextBox 39"/>
          <p:cNvSpPr txBox="1"/>
          <p:nvPr/>
        </p:nvSpPr>
        <p:spPr>
          <a:xfrm>
            <a:off x="864000" y="2826582"/>
            <a:ext cx="9720000" cy="298144"/>
          </a:xfrm>
          <a:prstGeom prst="rect">
            <a:avLst/>
          </a:prstGeom>
          <a:noFill/>
        </p:spPr>
        <p:txBody>
          <a:bodyPr wrap="square" anchor="t" lIns="54000" rIns="54000"/>
          <a:lstStyle/>
          <a:p>
            <a:pPr algn="l"/>
            <a:r>
              <a:rPr sz="1200" b="0">
                <a:solidFill>
                  <a:srgbClr val="060606"/>
                </a:solidFill>
                <a:latin typeface="Helvetica"/>
              </a:rPr>
              <a:t>En juillet 2024, le fichier retour compte 4 474 lignes de plus que le fichier aller.</a:t>
            </a:r>
          </a:p>
        </p:txBody>
      </p:sp>
      <p:sp>
        <p:nvSpPr>
          <p:cNvPr id="41" name="Oval 40"/>
          <p:cNvSpPr/>
          <p:nvPr/>
        </p:nvSpPr>
        <p:spPr>
          <a:xfrm>
            <a:off x="503999" y="3232727"/>
            <a:ext cx="270000" cy="2700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100" b="1">
                <a:solidFill>
                  <a:srgbClr val="FFFFFF"/>
                </a:solidFill>
                <a:latin typeface="Helvetica"/>
              </a:rPr>
              <a:t>3</a:t>
            </a:r>
          </a:p>
        </p:txBody>
      </p:sp>
      <p:sp>
        <p:nvSpPr>
          <p:cNvPr id="42" name="TextBox 41"/>
          <p:cNvSpPr txBox="1"/>
          <p:nvPr/>
        </p:nvSpPr>
        <p:spPr>
          <a:xfrm>
            <a:off x="864000" y="3214727"/>
            <a:ext cx="9720000" cy="298144"/>
          </a:xfrm>
          <a:prstGeom prst="rect">
            <a:avLst/>
          </a:prstGeom>
          <a:noFill/>
        </p:spPr>
        <p:txBody>
          <a:bodyPr wrap="square" anchor="t" lIns="54000" rIns="54000"/>
          <a:lstStyle/>
          <a:p>
            <a:pPr algn="l"/>
            <a:r>
              <a:rPr sz="1200" b="0">
                <a:solidFill>
                  <a:srgbClr val="060606"/>
                </a:solidFill>
                <a:latin typeface="Helvetica"/>
              </a:rPr>
              <a:t>Le taux mensuel dépend donc de la qualité des deux fichiers, et le FPPN doit tenir un état des rejets.</a:t>
            </a:r>
          </a:p>
        </p:txBody>
      </p:sp>
      <p:sp>
        <p:nvSpPr>
          <p:cNvPr id="43" name="TextBox 42"/>
          <p:cNvSpPr txBox="1"/>
          <p:nvPr/>
        </p:nvSpPr>
        <p:spPr>
          <a:xfrm>
            <a:off x="503999" y="3656871"/>
            <a:ext cx="11232000" cy="2211128"/>
          </a:xfrm>
          <a:prstGeom prst="rect">
            <a:avLst/>
          </a:prstGeom>
          <a:noFill/>
        </p:spPr>
        <p:txBody>
          <a:bodyPr wrap="square" lIns="54000" rIns="54000"/>
          <a:lstStyle/>
          <a:p>
            <a:pPr algn="just">
              <a:spcAft>
                <a:spcPts val="600"/>
              </a:spcAft>
            </a:pPr>
            <a:r>
              <a:rPr sz="1200" b="1">
                <a:solidFill>
                  <a:srgbClr val="060606"/>
                </a:solidFill>
                <a:latin typeface="Helvetica"/>
              </a:rPr>
              <a:t>Un taux supérieur à 100 % ne signifie pas un trop-perçu.</a:t>
            </a:r>
            <a:r>
              <a:rPr sz="1200" b="0">
                <a:solidFill>
                  <a:srgbClr val="060606"/>
                </a:solidFill>
                <a:latin typeface="Helvetica"/>
              </a:rPr>
              <a:t> Il révèle un fichier aller incomplet, qui n'inclut pas les nouveaux épargnants.</a:t>
            </a:r>
          </a:p>
          <a:p>
            <a:pPr algn="just">
              <a:spcAft>
                <a:spcPts val="600"/>
              </a:spcAft>
            </a:pPr>
            <a:r>
              <a:rPr sz="1200" b="1">
                <a:solidFill>
                  <a:srgbClr val="060606"/>
                </a:solidFill>
                <a:latin typeface="Helvetica"/>
              </a:rPr>
              <a:t>Implication pour le FPPN.</a:t>
            </a:r>
            <a:r>
              <a:rPr sz="1200" b="0">
                <a:solidFill>
                  <a:srgbClr val="060606"/>
                </a:solidFill>
                <a:latin typeface="Helvetica"/>
              </a:rPr>
              <a:t> Sans état des rejets, le FPPN ne peut pas prouver que chaque épargnant a été précompté du bon montant : c'est une condition pour reconstituer les comptes individuels.</a:t>
            </a:r>
          </a:p>
        </p:txBody>
      </p:sp>
      <p:sp>
        <p:nvSpPr>
          <p:cNvPr id="44" name="TextBox 43"/>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CGRAE : Caisse générale de retraite des agents de l'État | PEP : Plan Épargne Plus</a:t>
            </a:r>
          </a:p>
        </p:txBody>
      </p:sp>
    </p:spTree>
    <p:extLst>
      <p:ext uri="{BB962C8B-B14F-4D97-AF65-F5344CB8AC3E}">
        <p14:creationId xmlns:p14="http://schemas.microsoft.com/office/powerpoint/2010/main" val="3602969775"/>
      </p:ext>
    </p:extLst>
  </p:cSld>
  <p:clrMapOvr>
    <a:masterClrMapping/>
  </p:clrMapOvr>
  <p:transition>
    <p:fade/>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Fichiers vides ou endommagés</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Onze fichiers sont vides, illisibles ou mal classés et doivent être renvoyés</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Les fichiers comptables endommagés ont tous un double lisible, sauf le grand livre des comptes 2022</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journal de contrôle de l'extraction. Note interne des anomalies</a:t>
            </a:r>
          </a:p>
        </p:txBody>
      </p:sp>
      <p:sp>
        <p:nvSpPr>
          <p:cNvPr id="31" name="TextBox 30"/>
          <p:cNvSpPr txBox="1"/>
          <p:nvPr/>
        </p:nvSpPr>
        <p:spPr>
          <a:xfrm>
            <a:off x="503999" y="1386000"/>
            <a:ext cx="11232000" cy="216000"/>
          </a:xfrm>
          <a:prstGeom prst="rect">
            <a:avLst/>
          </a:prstGeom>
          <a:noFill/>
        </p:spPr>
        <p:txBody>
          <a:bodyPr wrap="square" anchor="t" lIns="54000" rIns="54000"/>
          <a:lstStyle/>
          <a:p>
            <a:pPr algn="ctr"/>
            <a:r>
              <a:rPr sz="1200" b="0">
                <a:solidFill>
                  <a:srgbClr val="EFAC62"/>
                </a:solidFill>
                <a:latin typeface="Helvetica"/>
              </a:rPr>
              <a:t>Tableau 8 : Fichiers à renvoyer ou à corriger</a:t>
            </a:r>
          </a:p>
        </p:txBody>
      </p:sp>
      <p:graphicFrame>
        <p:nvGraphicFramePr>
          <p:cNvPr id="32" name="Table 31"/>
          <p:cNvGraphicFramePr>
            <a:graphicFrameLocks noGrp="1"/>
          </p:cNvGraphicFramePr>
          <p:nvPr/>
        </p:nvGraphicFramePr>
        <p:xfrm>
          <a:off x="503999" y="1655999"/>
          <a:ext cx="11232000" cy="1969651"/>
        </p:xfrm>
        <a:graphic>
          <a:graphicData uri="http://schemas.openxmlformats.org/drawingml/2006/table">
            <a:tbl>
              <a:tblPr firstRow="0" bandRow="0">
                <a:tableStyleId>{5940675A-B579-460E-94D1-54222C63F5DA}</a:tableStyleId>
              </a:tblPr>
              <a:tblGrid>
                <a:gridCol w="4104000"/>
                <a:gridCol w="2232000"/>
                <a:gridCol w="4896000"/>
              </a:tblGrid>
              <a:tr h="225250">
                <a:tc>
                  <a:txBody>
                    <a:bodyPr/>
                    <a:lstStyle/>
                    <a:p>
                      <a:pPr marL="0" indent="0" lvl="0">
                        <a:buNone/>
                      </a:pPr>
                      <a:r>
                        <a:rPr sz="1100" b="1">
                          <a:solidFill>
                            <a:srgbClr val="FFFFFF"/>
                          </a:solidFill>
                          <a:latin typeface="Helvetica"/>
                        </a:rPr>
                        <a:t>Fichier</a:t>
                      </a:r>
                    </a:p>
                  </a:txBody>
                  <a:tcPr marL="43200" marR="43200" marT="14400" marB="14400" anchor="ctr">
                    <a:solidFill>
                      <a:srgbClr val="060606"/>
                    </a:solidFill>
                  </a:tcPr>
                </a:tc>
                <a:tc>
                  <a:txBody>
                    <a:bodyPr/>
                    <a:lstStyle/>
                    <a:p>
                      <a:pPr marL="0" indent="0" lvl="0">
                        <a:buNone/>
                      </a:pPr>
                      <a:r>
                        <a:rPr sz="1100" b="1">
                          <a:solidFill>
                            <a:srgbClr val="FFFFFF"/>
                          </a:solidFill>
                          <a:latin typeface="Helvetica"/>
                        </a:rPr>
                        <a:t>Défaut</a:t>
                      </a:r>
                    </a:p>
                  </a:txBody>
                  <a:tcPr marL="43200" marR="43200" marT="14400" marB="14400" anchor="ctr">
                    <a:solidFill>
                      <a:srgbClr val="060606"/>
                    </a:solidFill>
                  </a:tcPr>
                </a:tc>
                <a:tc>
                  <a:txBody>
                    <a:bodyPr/>
                    <a:lstStyle/>
                    <a:p>
                      <a:pPr marL="0" indent="0" lvl="0">
                        <a:buNone/>
                      </a:pPr>
                      <a:r>
                        <a:rPr sz="1100" b="1">
                          <a:solidFill>
                            <a:srgbClr val="FFFFFF"/>
                          </a:solidFill>
                          <a:latin typeface="Helvetica"/>
                        </a:rPr>
                        <a:t>Conséquence</a:t>
                      </a:r>
                    </a:p>
                  </a:txBody>
                  <a:tcPr marL="43200" marR="43200" marT="14400" marB="14400" anchor="ctr">
                    <a:solidFill>
                      <a:srgbClr val="060606"/>
                    </a:solidFill>
                  </a:tcPr>
                </a:tc>
              </a:tr>
              <a:tr h="225250">
                <a:tc>
                  <a:txBody>
                    <a:bodyPr/>
                    <a:lstStyle/>
                    <a:p>
                      <a:pPr marL="0" indent="0" lvl="0">
                        <a:buNone/>
                      </a:pPr>
                      <a:r>
                        <a:rPr sz="1100" b="1">
                          <a:solidFill>
                            <a:srgbClr val="060606"/>
                          </a:solidFill>
                          <a:latin typeface="Helvetica"/>
                        </a:rPr>
                        <a:t>Décès 8Z6 et maladie 936, décembre 2024</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Vides (0 octet)</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Le mois de décembre 2024 n'a aucune donnée.</a:t>
                      </a:r>
                    </a:p>
                  </a:txBody>
                  <a:tcPr marL="43200" marR="43200" marT="14400" marB="14400" anchor="ctr">
                    <a:solidFill>
                      <a:srgbClr val="FFFFFF"/>
                    </a:solidFill>
                  </a:tcPr>
                </a:tc>
              </a:tr>
              <a:tr h="225250">
                <a:tc>
                  <a:txBody>
                    <a:bodyPr/>
                    <a:lstStyle/>
                    <a:p>
                      <a:pPr marL="0" indent="0" lvl="0">
                        <a:buNone/>
                      </a:pPr>
                      <a:r>
                        <a:rPr sz="1100" b="1">
                          <a:solidFill>
                            <a:srgbClr val="060606"/>
                          </a:solidFill>
                          <a:latin typeface="Helvetica"/>
                        </a:rPr>
                        <a:t>MEDOC 8Z7, retours de février et avril 2026</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Aucune ligne</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Les précomptes MEDOC de ces deux mois sont inconnus.</a:t>
                      </a:r>
                    </a:p>
                  </a:txBody>
                  <a:tcPr marL="43200" marR="43200" marT="14400" marB="14400" anchor="ctr">
                    <a:solidFill>
                      <a:srgbClr val="F2F2F2"/>
                    </a:solidFill>
                  </a:tcPr>
                </a:tc>
              </a:tr>
              <a:tr h="225250">
                <a:tc>
                  <a:txBody>
                    <a:bodyPr/>
                    <a:lstStyle/>
                    <a:p>
                      <a:pPr marL="0" indent="0" lvl="0">
                        <a:buNone/>
                      </a:pPr>
                      <a:r>
                        <a:rPr sz="1100" b="1">
                          <a:solidFill>
                            <a:srgbClr val="060606"/>
                          </a:solidFill>
                          <a:latin typeface="Helvetica"/>
                        </a:rPr>
                        <a:t>Balances des tiers 2021 et 2025 (Excel)</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Endommagées</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Adenka a utilisé les PDF lisibles.</a:t>
                      </a:r>
                    </a:p>
                  </a:txBody>
                  <a:tcPr marL="43200" marR="43200" marT="14400" marB="14400" anchor="ctr">
                    <a:solidFill>
                      <a:srgbClr val="FFFFFF"/>
                    </a:solidFill>
                  </a:tcPr>
                </a:tc>
              </a:tr>
              <a:tr h="225250">
                <a:tc>
                  <a:txBody>
                    <a:bodyPr/>
                    <a:lstStyle/>
                    <a:p>
                      <a:pPr marL="0" indent="0" lvl="0">
                        <a:buNone/>
                      </a:pPr>
                      <a:r>
                        <a:rPr sz="1100" b="1">
                          <a:solidFill>
                            <a:srgbClr val="060606"/>
                          </a:solidFill>
                          <a:latin typeface="Helvetica"/>
                        </a:rPr>
                        <a:t>Grands livres des comptes 2021 et 2024 (Excel)</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Endommagés</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Adenka a utilisé les PDF lisibles.</a:t>
                      </a:r>
                    </a:p>
                  </a:txBody>
                  <a:tcPr marL="43200" marR="43200" marT="14400" marB="14400" anchor="ctr">
                    <a:solidFill>
                      <a:srgbClr val="F2F2F2"/>
                    </a:solidFill>
                  </a:tcPr>
                </a:tc>
              </a:tr>
              <a:tr h="392901">
                <a:tc>
                  <a:txBody>
                    <a:bodyPr/>
                    <a:lstStyle/>
                    <a:p>
                      <a:pPr marL="0" indent="0" lvl="0">
                        <a:buNone/>
                      </a:pPr>
                      <a:r>
                        <a:rPr sz="1100" b="1">
                          <a:solidFill>
                            <a:srgbClr val="060606"/>
                          </a:solidFill>
                          <a:latin typeface="Helvetica"/>
                        </a:rPr>
                        <a:t>Grand livre des comptes 2022 (Excel et PDF)</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Endommagés</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Adenka a récupéré 417 pages sur 657. La balance 2022 est intacte.</a:t>
                      </a:r>
                    </a:p>
                  </a:txBody>
                  <a:tcPr marL="43200" marR="43200" marT="14400" marB="14400" anchor="ctr">
                    <a:solidFill>
                      <a:srgbClr val="FFFFFF"/>
                    </a:solidFill>
                  </a:tcPr>
                </a:tc>
              </a:tr>
              <a:tr h="225250">
                <a:tc>
                  <a:txBody>
                    <a:bodyPr/>
                    <a:lstStyle/>
                    <a:p>
                      <a:pPr marL="0" indent="0" lvl="0">
                        <a:buNone/>
                      </a:pPr>
                      <a:r>
                        <a:rPr sz="1100" b="1">
                          <a:solidFill>
                            <a:srgbClr val="060606"/>
                          </a:solidFill>
                          <a:latin typeface="Helvetica"/>
                        </a:rPr>
                        <a:t>Grands livres des tiers 2023 et 2025 (Excel)</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Endommagés</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Adenka a utilisé les PDF lisibles.</a:t>
                      </a:r>
                    </a:p>
                  </a:txBody>
                  <a:tcPr marL="43200" marR="43200" marT="14400" marB="14400" anchor="ctr">
                    <a:solidFill>
                      <a:srgbClr val="F2F2F2"/>
                    </a:solidFill>
                  </a:tcPr>
                </a:tc>
              </a:tr>
              <a:tr h="225250">
                <a:tc>
                  <a:txBody>
                    <a:bodyPr/>
                    <a:lstStyle/>
                    <a:p>
                      <a:pPr marL="0" indent="0" lvl="0">
                        <a:buNone/>
                      </a:pPr>
                      <a:r>
                        <a:rPr sz="1100" b="1">
                          <a:solidFill>
                            <a:srgbClr val="060606"/>
                          </a:solidFill>
                          <a:latin typeface="Helvetica"/>
                        </a:rPr>
                        <a:t>Fichiers aller rangés dans les dossiers retour</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Mal classés</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Les retours de CGRAE juin 2024 et GNA janvier 2026 manquent.</a:t>
                      </a:r>
                    </a:p>
                  </a:txBody>
                  <a:tcPr marL="43200" marR="43200" marT="14400" marB="14400" anchor="ctr">
                    <a:solidFill>
                      <a:srgbClr val="FFFFFF"/>
                    </a:solidFill>
                  </a:tcPr>
                </a:tc>
              </a:tr>
            </a:tbl>
          </a:graphicData>
        </a:graphic>
      </p:graphicFrame>
      <p:sp>
        <p:nvSpPr>
          <p:cNvPr id="33" name="TextBox 32"/>
          <p:cNvSpPr txBox="1"/>
          <p:nvPr/>
        </p:nvSpPr>
        <p:spPr>
          <a:xfrm>
            <a:off x="503999" y="3733655"/>
            <a:ext cx="11232000" cy="2134344"/>
          </a:xfrm>
          <a:prstGeom prst="rect">
            <a:avLst/>
          </a:prstGeom>
          <a:noFill/>
        </p:spPr>
        <p:txBody>
          <a:bodyPr wrap="square" lIns="54000" rIns="54000"/>
          <a:lstStyle/>
          <a:p>
            <a:pPr algn="just">
              <a:spcAft>
                <a:spcPts val="600"/>
              </a:spcAft>
            </a:pPr>
            <a:r>
              <a:rPr sz="1300" b="1">
                <a:solidFill>
                  <a:srgbClr val="060606"/>
                </a:solidFill>
                <a:latin typeface="Helvetica"/>
              </a:rPr>
              <a:t>Les défauts portent sur les fichiers reçus et non sur leur traitement.</a:t>
            </a:r>
            <a:r>
              <a:rPr sz="1300" b="0">
                <a:solidFill>
                  <a:srgbClr val="060606"/>
                </a:solidFill>
                <a:latin typeface="Helvetica"/>
              </a:rPr>
              <a:t> Les empreintes SHA-256 prouvent que les fichiers analysés sont identiques à ceux transmis.</a:t>
            </a:r>
          </a:p>
          <a:p>
            <a:pPr algn="just">
              <a:spcAft>
                <a:spcPts val="600"/>
              </a:spcAft>
            </a:pPr>
            <a:r>
              <a:rPr sz="1300" b="1">
                <a:solidFill>
                  <a:srgbClr val="060606"/>
                </a:solidFill>
                <a:latin typeface="Helvetica"/>
              </a:rPr>
              <a:t>Implication pour le FPPN.</a:t>
            </a:r>
            <a:r>
              <a:rPr sz="1300" b="0">
                <a:solidFill>
                  <a:srgbClr val="060606"/>
                </a:solidFill>
                <a:latin typeface="Helvetica"/>
              </a:rPr>
              <a:t> Le renvoi de ces fichiers complètera décembre 2024 et le détail comptable 2022, sans changer les totaux annuels déjà utilisés.</a:t>
            </a:r>
          </a:p>
        </p:txBody>
      </p:sp>
      <p:sp>
        <p:nvSpPr>
          <p:cNvPr id="34" name="TextBox 33"/>
          <p:cNvSpPr txBox="1"/>
          <p:nvPr/>
        </p:nvSpPr>
        <p:spPr>
          <a:xfrm>
            <a:off x="367200" y="5932800"/>
            <a:ext cx="11430000" cy="237600"/>
          </a:xfrm>
          <a:prstGeom prst="rect">
            <a:avLst/>
          </a:prstGeom>
          <a:noFill/>
        </p:spPr>
        <p:txBody>
          <a:bodyPr wrap="square" anchor="b" lIns="54000" rIns="54000"/>
          <a:lstStyle/>
          <a:p>
            <a:pPr algn="l"/>
            <a:r>
              <a:rPr sz="650" b="0">
                <a:solidFill>
                  <a:srgbClr val="595959"/>
                </a:solidFill>
                <a:latin typeface="Helvetica"/>
              </a:rPr>
              <a:t>Sigles : FPPN : Fonds de prévoyance de la Police nationale | CGRAE : Caisse générale de retraite des agents de l'État | GNA : assureur de la flotte automobile (compte 47111106) | MEDOC : produit santé complémentaire du poste 8Z7 | SHA-256 : algorithme d'empreinte numérique | 936 : poste maladie | 8Z6 : poste décès | 8Z7 : poste MEDOC</a:t>
            </a:r>
          </a:p>
        </p:txBody>
      </p:sp>
    </p:spTree>
    <p:extLst>
      <p:ext uri="{BB962C8B-B14F-4D97-AF65-F5344CB8AC3E}">
        <p14:creationId xmlns:p14="http://schemas.microsoft.com/office/powerpoint/2010/main" val="2989621006"/>
      </p:ext>
    </p:extLst>
  </p:cSld>
  <p:clrMapOvr>
    <a:masterClrMapping/>
  </p:clrMapOvr>
  <p:transition>
    <p:fade/>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6" name="Image 25"/>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30" name="ZoneTexte 29">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9" name="Google Shape;7386;p39"/>
          <p:cNvSpPr/>
          <p:nvPr/>
        </p:nvSpPr>
        <p:spPr>
          <a:xfrm rot="10800000">
            <a:off x="1748072" y="1436295"/>
            <a:ext cx="3625790" cy="329031"/>
          </a:xfrm>
          <a:custGeom>
            <a:avLst/>
            <a:gdLst/>
            <a:ahLst/>
            <a:cxnLst/>
            <a:rect l="l" t="t" r="r" b="b"/>
            <a:pathLst>
              <a:path w="40007" h="30221" extrusionOk="0">
                <a:moveTo>
                  <a:pt x="19007" y="1"/>
                </a:moveTo>
                <a:cubicBezTo>
                  <a:pt x="17909" y="1"/>
                  <a:pt x="16810" y="17"/>
                  <a:pt x="15708" y="53"/>
                </a:cubicBezTo>
                <a:cubicBezTo>
                  <a:pt x="13270" y="131"/>
                  <a:pt x="10885" y="275"/>
                  <a:pt x="8512" y="548"/>
                </a:cubicBezTo>
                <a:cubicBezTo>
                  <a:pt x="6088" y="835"/>
                  <a:pt x="4524" y="1500"/>
                  <a:pt x="4041" y="2712"/>
                </a:cubicBezTo>
                <a:cubicBezTo>
                  <a:pt x="4015" y="2777"/>
                  <a:pt x="3976" y="2843"/>
                  <a:pt x="3937" y="2908"/>
                </a:cubicBezTo>
                <a:cubicBezTo>
                  <a:pt x="2777" y="4902"/>
                  <a:pt x="2282" y="6949"/>
                  <a:pt x="1734" y="8995"/>
                </a:cubicBezTo>
                <a:cubicBezTo>
                  <a:pt x="1160" y="11120"/>
                  <a:pt x="613" y="13232"/>
                  <a:pt x="391" y="15357"/>
                </a:cubicBezTo>
                <a:cubicBezTo>
                  <a:pt x="183" y="17325"/>
                  <a:pt x="0" y="19293"/>
                  <a:pt x="79" y="21092"/>
                </a:cubicBezTo>
                <a:cubicBezTo>
                  <a:pt x="52" y="23074"/>
                  <a:pt x="144" y="24899"/>
                  <a:pt x="365" y="26710"/>
                </a:cubicBezTo>
                <a:cubicBezTo>
                  <a:pt x="522" y="28079"/>
                  <a:pt x="1721" y="29096"/>
                  <a:pt x="4419" y="29656"/>
                </a:cubicBezTo>
                <a:cubicBezTo>
                  <a:pt x="6296" y="30048"/>
                  <a:pt x="8265" y="30178"/>
                  <a:pt x="10259" y="30204"/>
                </a:cubicBezTo>
                <a:cubicBezTo>
                  <a:pt x="11143" y="30216"/>
                  <a:pt x="12026" y="30220"/>
                  <a:pt x="12908" y="30220"/>
                </a:cubicBezTo>
                <a:cubicBezTo>
                  <a:pt x="15996" y="30220"/>
                  <a:pt x="19078" y="30165"/>
                  <a:pt x="22161" y="30165"/>
                </a:cubicBezTo>
                <a:cubicBezTo>
                  <a:pt x="24859" y="30165"/>
                  <a:pt x="27557" y="30204"/>
                  <a:pt x="30243" y="30204"/>
                </a:cubicBezTo>
                <a:cubicBezTo>
                  <a:pt x="31690" y="30191"/>
                  <a:pt x="33123" y="30113"/>
                  <a:pt x="34505" y="29852"/>
                </a:cubicBezTo>
                <a:cubicBezTo>
                  <a:pt x="35470" y="29683"/>
                  <a:pt x="36330" y="29435"/>
                  <a:pt x="36917" y="29005"/>
                </a:cubicBezTo>
                <a:cubicBezTo>
                  <a:pt x="37881" y="28288"/>
                  <a:pt x="38677" y="27519"/>
                  <a:pt x="39120" y="26684"/>
                </a:cubicBezTo>
                <a:cubicBezTo>
                  <a:pt x="39732" y="25485"/>
                  <a:pt x="39954" y="24260"/>
                  <a:pt x="39954" y="23021"/>
                </a:cubicBezTo>
                <a:cubicBezTo>
                  <a:pt x="39954" y="19372"/>
                  <a:pt x="40006" y="15709"/>
                  <a:pt x="39563" y="12059"/>
                </a:cubicBezTo>
                <a:cubicBezTo>
                  <a:pt x="39367" y="10403"/>
                  <a:pt x="39485" y="8748"/>
                  <a:pt x="39237" y="7105"/>
                </a:cubicBezTo>
                <a:cubicBezTo>
                  <a:pt x="39068" y="6023"/>
                  <a:pt x="38794" y="4941"/>
                  <a:pt x="37920" y="3938"/>
                </a:cubicBezTo>
                <a:cubicBezTo>
                  <a:pt x="37282" y="3208"/>
                  <a:pt x="36773" y="2438"/>
                  <a:pt x="35665" y="1826"/>
                </a:cubicBezTo>
                <a:cubicBezTo>
                  <a:pt x="34192" y="1031"/>
                  <a:pt x="32237" y="666"/>
                  <a:pt x="30138" y="496"/>
                </a:cubicBezTo>
                <a:cubicBezTo>
                  <a:pt x="26451" y="194"/>
                  <a:pt x="22741" y="1"/>
                  <a:pt x="19007" y="1"/>
                </a:cubicBezTo>
                <a:close/>
              </a:path>
            </a:pathLst>
          </a:custGeom>
          <a:solidFill>
            <a:srgbClr val="112A40"/>
          </a:solidFill>
          <a:ln>
            <a:noFill/>
          </a:ln>
          <a:effectLst>
            <a:outerShdw blurRad="57150" dist="9525" algn="bl" rotWithShape="0">
              <a:srgbClr val="000000"/>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lang="fr-CI" noProof="0"/>
          </a:p>
        </p:txBody>
      </p:sp>
      <p:sp>
        <p:nvSpPr>
          <p:cNvPr id="10" name="Google Shape;7367;p39"/>
          <p:cNvSpPr/>
          <p:nvPr/>
        </p:nvSpPr>
        <p:spPr>
          <a:xfrm rot="16200000">
            <a:off x="2201124" y="215006"/>
            <a:ext cx="2027916" cy="4306666"/>
          </a:xfrm>
          <a:custGeom>
            <a:avLst/>
            <a:gdLst/>
            <a:ahLst/>
            <a:cxnLst/>
            <a:rect l="l" t="t" r="r" b="b"/>
            <a:pathLst>
              <a:path w="25081" h="54128" extrusionOk="0">
                <a:moveTo>
                  <a:pt x="19843" y="0"/>
                </a:moveTo>
                <a:cubicBezTo>
                  <a:pt x="19654" y="0"/>
                  <a:pt x="19462" y="7"/>
                  <a:pt x="19267" y="21"/>
                </a:cubicBezTo>
                <a:cubicBezTo>
                  <a:pt x="17781" y="125"/>
                  <a:pt x="16282" y="99"/>
                  <a:pt x="14796" y="112"/>
                </a:cubicBezTo>
                <a:cubicBezTo>
                  <a:pt x="13909" y="125"/>
                  <a:pt x="13010" y="112"/>
                  <a:pt x="12123" y="177"/>
                </a:cubicBezTo>
                <a:cubicBezTo>
                  <a:pt x="10272" y="333"/>
                  <a:pt x="8421" y="503"/>
                  <a:pt x="6570" y="633"/>
                </a:cubicBezTo>
                <a:cubicBezTo>
                  <a:pt x="5267" y="738"/>
                  <a:pt x="3989" y="933"/>
                  <a:pt x="2764" y="1259"/>
                </a:cubicBezTo>
                <a:cubicBezTo>
                  <a:pt x="1943" y="1481"/>
                  <a:pt x="1408" y="1872"/>
                  <a:pt x="1226" y="2471"/>
                </a:cubicBezTo>
                <a:cubicBezTo>
                  <a:pt x="991" y="3292"/>
                  <a:pt x="861" y="4140"/>
                  <a:pt x="965" y="4974"/>
                </a:cubicBezTo>
                <a:cubicBezTo>
                  <a:pt x="991" y="5248"/>
                  <a:pt x="1030" y="5508"/>
                  <a:pt x="991" y="5782"/>
                </a:cubicBezTo>
                <a:cubicBezTo>
                  <a:pt x="835" y="6877"/>
                  <a:pt x="678" y="7972"/>
                  <a:pt x="587" y="9067"/>
                </a:cubicBezTo>
                <a:cubicBezTo>
                  <a:pt x="470" y="10488"/>
                  <a:pt x="378" y="11896"/>
                  <a:pt x="300" y="13317"/>
                </a:cubicBezTo>
                <a:cubicBezTo>
                  <a:pt x="274" y="13825"/>
                  <a:pt x="352" y="14333"/>
                  <a:pt x="339" y="14829"/>
                </a:cubicBezTo>
                <a:cubicBezTo>
                  <a:pt x="313" y="15820"/>
                  <a:pt x="157" y="16797"/>
                  <a:pt x="118" y="17775"/>
                </a:cubicBezTo>
                <a:cubicBezTo>
                  <a:pt x="53" y="19391"/>
                  <a:pt x="0" y="21008"/>
                  <a:pt x="40" y="22624"/>
                </a:cubicBezTo>
                <a:cubicBezTo>
                  <a:pt x="66" y="24149"/>
                  <a:pt x="157" y="25661"/>
                  <a:pt x="144" y="27173"/>
                </a:cubicBezTo>
                <a:cubicBezTo>
                  <a:pt x="131" y="28646"/>
                  <a:pt x="105" y="30132"/>
                  <a:pt x="131" y="31605"/>
                </a:cubicBezTo>
                <a:cubicBezTo>
                  <a:pt x="209" y="35412"/>
                  <a:pt x="405" y="39218"/>
                  <a:pt x="274" y="43051"/>
                </a:cubicBezTo>
                <a:cubicBezTo>
                  <a:pt x="235" y="44237"/>
                  <a:pt x="287" y="45436"/>
                  <a:pt x="300" y="46622"/>
                </a:cubicBezTo>
                <a:cubicBezTo>
                  <a:pt x="300" y="46687"/>
                  <a:pt x="300" y="46753"/>
                  <a:pt x="287" y="46818"/>
                </a:cubicBezTo>
                <a:cubicBezTo>
                  <a:pt x="222" y="48004"/>
                  <a:pt x="313" y="49190"/>
                  <a:pt x="535" y="50363"/>
                </a:cubicBezTo>
                <a:cubicBezTo>
                  <a:pt x="665" y="51054"/>
                  <a:pt x="1004" y="51706"/>
                  <a:pt x="1239" y="52384"/>
                </a:cubicBezTo>
                <a:cubicBezTo>
                  <a:pt x="1486" y="53075"/>
                  <a:pt x="2164" y="53492"/>
                  <a:pt x="3129" y="53700"/>
                </a:cubicBezTo>
                <a:cubicBezTo>
                  <a:pt x="3812" y="53854"/>
                  <a:pt x="4517" y="53911"/>
                  <a:pt x="5223" y="53911"/>
                </a:cubicBezTo>
                <a:cubicBezTo>
                  <a:pt x="5299" y="53911"/>
                  <a:pt x="5374" y="53910"/>
                  <a:pt x="5449" y="53909"/>
                </a:cubicBezTo>
                <a:cubicBezTo>
                  <a:pt x="5591" y="53907"/>
                  <a:pt x="5733" y="53906"/>
                  <a:pt x="5875" y="53906"/>
                </a:cubicBezTo>
                <a:cubicBezTo>
                  <a:pt x="7594" y="53906"/>
                  <a:pt x="9293" y="54042"/>
                  <a:pt x="11015" y="54078"/>
                </a:cubicBezTo>
                <a:cubicBezTo>
                  <a:pt x="11655" y="54087"/>
                  <a:pt x="12288" y="54128"/>
                  <a:pt x="12924" y="54128"/>
                </a:cubicBezTo>
                <a:cubicBezTo>
                  <a:pt x="13273" y="54128"/>
                  <a:pt x="13623" y="54115"/>
                  <a:pt x="13974" y="54078"/>
                </a:cubicBezTo>
                <a:cubicBezTo>
                  <a:pt x="15239" y="53948"/>
                  <a:pt x="16516" y="53870"/>
                  <a:pt x="17781" y="53779"/>
                </a:cubicBezTo>
                <a:cubicBezTo>
                  <a:pt x="18850" y="53700"/>
                  <a:pt x="19919" y="53583"/>
                  <a:pt x="20961" y="53375"/>
                </a:cubicBezTo>
                <a:cubicBezTo>
                  <a:pt x="22043" y="53153"/>
                  <a:pt x="22956" y="52749"/>
                  <a:pt x="23503" y="52019"/>
                </a:cubicBezTo>
                <a:cubicBezTo>
                  <a:pt x="23855" y="51537"/>
                  <a:pt x="24142" y="51028"/>
                  <a:pt x="24233" y="50494"/>
                </a:cubicBezTo>
                <a:cubicBezTo>
                  <a:pt x="24416" y="49464"/>
                  <a:pt x="24429" y="48434"/>
                  <a:pt x="24546" y="47404"/>
                </a:cubicBezTo>
                <a:cubicBezTo>
                  <a:pt x="24690" y="45957"/>
                  <a:pt x="24768" y="44510"/>
                  <a:pt x="24833" y="43064"/>
                </a:cubicBezTo>
                <a:cubicBezTo>
                  <a:pt x="24924" y="41395"/>
                  <a:pt x="24898" y="39726"/>
                  <a:pt x="24898" y="38058"/>
                </a:cubicBezTo>
                <a:cubicBezTo>
                  <a:pt x="24885" y="36402"/>
                  <a:pt x="24794" y="34760"/>
                  <a:pt x="24794" y="33104"/>
                </a:cubicBezTo>
                <a:cubicBezTo>
                  <a:pt x="24794" y="31332"/>
                  <a:pt x="24755" y="29546"/>
                  <a:pt x="24768" y="27760"/>
                </a:cubicBezTo>
                <a:cubicBezTo>
                  <a:pt x="24794" y="26196"/>
                  <a:pt x="24807" y="24631"/>
                  <a:pt x="24846" y="23067"/>
                </a:cubicBezTo>
                <a:cubicBezTo>
                  <a:pt x="24885" y="21503"/>
                  <a:pt x="24911" y="19952"/>
                  <a:pt x="24911" y="18387"/>
                </a:cubicBezTo>
                <a:cubicBezTo>
                  <a:pt x="24911" y="16967"/>
                  <a:pt x="24937" y="15533"/>
                  <a:pt x="24989" y="14112"/>
                </a:cubicBezTo>
                <a:cubicBezTo>
                  <a:pt x="25028" y="12795"/>
                  <a:pt x="25081" y="11479"/>
                  <a:pt x="25068" y="10162"/>
                </a:cubicBezTo>
                <a:cubicBezTo>
                  <a:pt x="25068" y="8924"/>
                  <a:pt x="25002" y="7685"/>
                  <a:pt x="24963" y="6447"/>
                </a:cubicBezTo>
                <a:lnTo>
                  <a:pt x="24950" y="6447"/>
                </a:lnTo>
                <a:cubicBezTo>
                  <a:pt x="25055" y="5561"/>
                  <a:pt x="24963" y="4674"/>
                  <a:pt x="24872" y="3801"/>
                </a:cubicBezTo>
                <a:cubicBezTo>
                  <a:pt x="24807" y="3175"/>
                  <a:pt x="24664" y="2562"/>
                  <a:pt x="24403" y="1963"/>
                </a:cubicBezTo>
                <a:cubicBezTo>
                  <a:pt x="24194" y="1481"/>
                  <a:pt x="23803" y="1103"/>
                  <a:pt x="23204" y="803"/>
                </a:cubicBezTo>
                <a:cubicBezTo>
                  <a:pt x="22185" y="293"/>
                  <a:pt x="21087" y="0"/>
                  <a:pt x="19843" y="0"/>
                </a:cubicBezTo>
                <a:close/>
              </a:path>
            </a:pathLst>
          </a:custGeom>
          <a:noFill/>
          <a:ln w="19050">
            <a:solidFill>
              <a:schemeClr val="tx1"/>
            </a:solidFill>
          </a:ln>
          <a:effectLst>
            <a:outerShdw blurRad="57150" dist="9525" algn="bl" rotWithShape="0">
              <a:srgbClr val="000000"/>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lang="fr-CI" noProof="0"/>
          </a:p>
        </p:txBody>
      </p:sp>
      <p:sp>
        <p:nvSpPr>
          <p:cNvPr id="4" name="Rectangle 3"/>
          <p:cNvSpPr/>
          <p:nvPr/>
        </p:nvSpPr>
        <p:spPr>
          <a:xfrm>
            <a:off x="2946575" y="1442741"/>
            <a:ext cx="1322389" cy="295488"/>
          </a:xfrm>
          <a:prstGeom prst="rect">
            <a:avLst/>
          </a:prstGeom>
        </p:spPr>
        <p:txBody>
          <a:bodyPr wrap="none">
            <a:spAutoFit/>
          </a:bodyPr>
          <a:lstStyle/>
          <a:p>
            <a:pPr lvl="0">
              <a:lnSpc>
                <a:spcPct val="110000"/>
              </a:lnSpc>
            </a:pPr>
            <a:r>
              <a:rPr lang="fr-CI" sz="1400" b="1" noProof="0">
                <a:solidFill>
                  <a:schemeClr val="bg1"/>
                </a:solidFill>
                <a:latin typeface="Helvetica" panose="020B0604020202020204" pitchFamily="34" charset="0"/>
                <a:ea typeface="Open Sans Semibold" panose="020B0706030804020204" pitchFamily="34" charset="0"/>
                <a:cs typeface="Helvetica" panose="020B0604020202020204" pitchFamily="34" charset="0"/>
              </a:rPr>
              <a:t>Constat</a:t>
            </a:r>
          </a:p>
        </p:txBody>
      </p:sp>
      <p:sp>
        <p:nvSpPr>
          <p:cNvPr id="20" name="Google Shape;7386;p39"/>
          <p:cNvSpPr/>
          <p:nvPr/>
        </p:nvSpPr>
        <p:spPr>
          <a:xfrm rot="10800000">
            <a:off x="6372314" y="1459724"/>
            <a:ext cx="3625790" cy="329031"/>
          </a:xfrm>
          <a:custGeom>
            <a:avLst/>
            <a:gdLst/>
            <a:ahLst/>
            <a:cxnLst/>
            <a:rect l="l" t="t" r="r" b="b"/>
            <a:pathLst>
              <a:path w="40007" h="30221" extrusionOk="0">
                <a:moveTo>
                  <a:pt x="19007" y="1"/>
                </a:moveTo>
                <a:cubicBezTo>
                  <a:pt x="17909" y="1"/>
                  <a:pt x="16810" y="17"/>
                  <a:pt x="15708" y="53"/>
                </a:cubicBezTo>
                <a:cubicBezTo>
                  <a:pt x="13270" y="131"/>
                  <a:pt x="10885" y="275"/>
                  <a:pt x="8512" y="548"/>
                </a:cubicBezTo>
                <a:cubicBezTo>
                  <a:pt x="6088" y="835"/>
                  <a:pt x="4524" y="1500"/>
                  <a:pt x="4041" y="2712"/>
                </a:cubicBezTo>
                <a:cubicBezTo>
                  <a:pt x="4015" y="2777"/>
                  <a:pt x="3976" y="2843"/>
                  <a:pt x="3937" y="2908"/>
                </a:cubicBezTo>
                <a:cubicBezTo>
                  <a:pt x="2777" y="4902"/>
                  <a:pt x="2282" y="6949"/>
                  <a:pt x="1734" y="8995"/>
                </a:cubicBezTo>
                <a:cubicBezTo>
                  <a:pt x="1160" y="11120"/>
                  <a:pt x="613" y="13232"/>
                  <a:pt x="391" y="15357"/>
                </a:cubicBezTo>
                <a:cubicBezTo>
                  <a:pt x="183" y="17325"/>
                  <a:pt x="0" y="19293"/>
                  <a:pt x="79" y="21092"/>
                </a:cubicBezTo>
                <a:cubicBezTo>
                  <a:pt x="52" y="23074"/>
                  <a:pt x="144" y="24899"/>
                  <a:pt x="365" y="26710"/>
                </a:cubicBezTo>
                <a:cubicBezTo>
                  <a:pt x="522" y="28079"/>
                  <a:pt x="1721" y="29096"/>
                  <a:pt x="4419" y="29656"/>
                </a:cubicBezTo>
                <a:cubicBezTo>
                  <a:pt x="6296" y="30048"/>
                  <a:pt x="8265" y="30178"/>
                  <a:pt x="10259" y="30204"/>
                </a:cubicBezTo>
                <a:cubicBezTo>
                  <a:pt x="11143" y="30216"/>
                  <a:pt x="12026" y="30220"/>
                  <a:pt x="12908" y="30220"/>
                </a:cubicBezTo>
                <a:cubicBezTo>
                  <a:pt x="15996" y="30220"/>
                  <a:pt x="19078" y="30165"/>
                  <a:pt x="22161" y="30165"/>
                </a:cubicBezTo>
                <a:cubicBezTo>
                  <a:pt x="24859" y="30165"/>
                  <a:pt x="27557" y="30204"/>
                  <a:pt x="30243" y="30204"/>
                </a:cubicBezTo>
                <a:cubicBezTo>
                  <a:pt x="31690" y="30191"/>
                  <a:pt x="33123" y="30113"/>
                  <a:pt x="34505" y="29852"/>
                </a:cubicBezTo>
                <a:cubicBezTo>
                  <a:pt x="35470" y="29683"/>
                  <a:pt x="36330" y="29435"/>
                  <a:pt x="36917" y="29005"/>
                </a:cubicBezTo>
                <a:cubicBezTo>
                  <a:pt x="37881" y="28288"/>
                  <a:pt x="38677" y="27519"/>
                  <a:pt x="39120" y="26684"/>
                </a:cubicBezTo>
                <a:cubicBezTo>
                  <a:pt x="39732" y="25485"/>
                  <a:pt x="39954" y="24260"/>
                  <a:pt x="39954" y="23021"/>
                </a:cubicBezTo>
                <a:cubicBezTo>
                  <a:pt x="39954" y="19372"/>
                  <a:pt x="40006" y="15709"/>
                  <a:pt x="39563" y="12059"/>
                </a:cubicBezTo>
                <a:cubicBezTo>
                  <a:pt x="39367" y="10403"/>
                  <a:pt x="39485" y="8748"/>
                  <a:pt x="39237" y="7105"/>
                </a:cubicBezTo>
                <a:cubicBezTo>
                  <a:pt x="39068" y="6023"/>
                  <a:pt x="38794" y="4941"/>
                  <a:pt x="37920" y="3938"/>
                </a:cubicBezTo>
                <a:cubicBezTo>
                  <a:pt x="37282" y="3208"/>
                  <a:pt x="36773" y="2438"/>
                  <a:pt x="35665" y="1826"/>
                </a:cubicBezTo>
                <a:cubicBezTo>
                  <a:pt x="34192" y="1031"/>
                  <a:pt x="32237" y="666"/>
                  <a:pt x="30138" y="496"/>
                </a:cubicBezTo>
                <a:cubicBezTo>
                  <a:pt x="26451" y="194"/>
                  <a:pt x="22741" y="1"/>
                  <a:pt x="19007" y="1"/>
                </a:cubicBezTo>
                <a:close/>
              </a:path>
            </a:pathLst>
          </a:custGeom>
          <a:solidFill>
            <a:srgbClr val="112A40"/>
          </a:solidFill>
          <a:ln>
            <a:noFill/>
          </a:ln>
          <a:effectLst>
            <a:outerShdw blurRad="57150" dist="9525" algn="bl" rotWithShape="0">
              <a:srgbClr val="000000"/>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lang="fr-CI" noProof="0"/>
          </a:p>
        </p:txBody>
      </p:sp>
      <p:sp>
        <p:nvSpPr>
          <p:cNvPr id="21" name="Google Shape;7367;p39"/>
          <p:cNvSpPr/>
          <p:nvPr/>
        </p:nvSpPr>
        <p:spPr>
          <a:xfrm rot="16200000">
            <a:off x="7569073" y="228570"/>
            <a:ext cx="2000788" cy="4306666"/>
          </a:xfrm>
          <a:custGeom>
            <a:avLst/>
            <a:gdLst/>
            <a:ahLst/>
            <a:cxnLst/>
            <a:rect l="l" t="t" r="r" b="b"/>
            <a:pathLst>
              <a:path w="25081" h="54128" extrusionOk="0">
                <a:moveTo>
                  <a:pt x="19843" y="0"/>
                </a:moveTo>
                <a:cubicBezTo>
                  <a:pt x="19654" y="0"/>
                  <a:pt x="19462" y="7"/>
                  <a:pt x="19267" y="21"/>
                </a:cubicBezTo>
                <a:cubicBezTo>
                  <a:pt x="17781" y="125"/>
                  <a:pt x="16282" y="99"/>
                  <a:pt x="14796" y="112"/>
                </a:cubicBezTo>
                <a:cubicBezTo>
                  <a:pt x="13909" y="125"/>
                  <a:pt x="13010" y="112"/>
                  <a:pt x="12123" y="177"/>
                </a:cubicBezTo>
                <a:cubicBezTo>
                  <a:pt x="10272" y="333"/>
                  <a:pt x="8421" y="503"/>
                  <a:pt x="6570" y="633"/>
                </a:cubicBezTo>
                <a:cubicBezTo>
                  <a:pt x="5267" y="738"/>
                  <a:pt x="3989" y="933"/>
                  <a:pt x="2764" y="1259"/>
                </a:cubicBezTo>
                <a:cubicBezTo>
                  <a:pt x="1943" y="1481"/>
                  <a:pt x="1408" y="1872"/>
                  <a:pt x="1226" y="2471"/>
                </a:cubicBezTo>
                <a:cubicBezTo>
                  <a:pt x="991" y="3292"/>
                  <a:pt x="861" y="4140"/>
                  <a:pt x="965" y="4974"/>
                </a:cubicBezTo>
                <a:cubicBezTo>
                  <a:pt x="991" y="5248"/>
                  <a:pt x="1030" y="5508"/>
                  <a:pt x="991" y="5782"/>
                </a:cubicBezTo>
                <a:cubicBezTo>
                  <a:pt x="835" y="6877"/>
                  <a:pt x="678" y="7972"/>
                  <a:pt x="587" y="9067"/>
                </a:cubicBezTo>
                <a:cubicBezTo>
                  <a:pt x="470" y="10488"/>
                  <a:pt x="378" y="11896"/>
                  <a:pt x="300" y="13317"/>
                </a:cubicBezTo>
                <a:cubicBezTo>
                  <a:pt x="274" y="13825"/>
                  <a:pt x="352" y="14333"/>
                  <a:pt x="339" y="14829"/>
                </a:cubicBezTo>
                <a:cubicBezTo>
                  <a:pt x="313" y="15820"/>
                  <a:pt x="157" y="16797"/>
                  <a:pt x="118" y="17775"/>
                </a:cubicBezTo>
                <a:cubicBezTo>
                  <a:pt x="53" y="19391"/>
                  <a:pt x="0" y="21008"/>
                  <a:pt x="40" y="22624"/>
                </a:cubicBezTo>
                <a:cubicBezTo>
                  <a:pt x="66" y="24149"/>
                  <a:pt x="157" y="25661"/>
                  <a:pt x="144" y="27173"/>
                </a:cubicBezTo>
                <a:cubicBezTo>
                  <a:pt x="131" y="28646"/>
                  <a:pt x="105" y="30132"/>
                  <a:pt x="131" y="31605"/>
                </a:cubicBezTo>
                <a:cubicBezTo>
                  <a:pt x="209" y="35412"/>
                  <a:pt x="405" y="39218"/>
                  <a:pt x="274" y="43051"/>
                </a:cubicBezTo>
                <a:cubicBezTo>
                  <a:pt x="235" y="44237"/>
                  <a:pt x="287" y="45436"/>
                  <a:pt x="300" y="46622"/>
                </a:cubicBezTo>
                <a:cubicBezTo>
                  <a:pt x="300" y="46687"/>
                  <a:pt x="300" y="46753"/>
                  <a:pt x="287" y="46818"/>
                </a:cubicBezTo>
                <a:cubicBezTo>
                  <a:pt x="222" y="48004"/>
                  <a:pt x="313" y="49190"/>
                  <a:pt x="535" y="50363"/>
                </a:cubicBezTo>
                <a:cubicBezTo>
                  <a:pt x="665" y="51054"/>
                  <a:pt x="1004" y="51706"/>
                  <a:pt x="1239" y="52384"/>
                </a:cubicBezTo>
                <a:cubicBezTo>
                  <a:pt x="1486" y="53075"/>
                  <a:pt x="2164" y="53492"/>
                  <a:pt x="3129" y="53700"/>
                </a:cubicBezTo>
                <a:cubicBezTo>
                  <a:pt x="3812" y="53854"/>
                  <a:pt x="4517" y="53911"/>
                  <a:pt x="5223" y="53911"/>
                </a:cubicBezTo>
                <a:cubicBezTo>
                  <a:pt x="5299" y="53911"/>
                  <a:pt x="5374" y="53910"/>
                  <a:pt x="5449" y="53909"/>
                </a:cubicBezTo>
                <a:cubicBezTo>
                  <a:pt x="5591" y="53907"/>
                  <a:pt x="5733" y="53906"/>
                  <a:pt x="5875" y="53906"/>
                </a:cubicBezTo>
                <a:cubicBezTo>
                  <a:pt x="7594" y="53906"/>
                  <a:pt x="9293" y="54042"/>
                  <a:pt x="11015" y="54078"/>
                </a:cubicBezTo>
                <a:cubicBezTo>
                  <a:pt x="11655" y="54087"/>
                  <a:pt x="12288" y="54128"/>
                  <a:pt x="12924" y="54128"/>
                </a:cubicBezTo>
                <a:cubicBezTo>
                  <a:pt x="13273" y="54128"/>
                  <a:pt x="13623" y="54115"/>
                  <a:pt x="13974" y="54078"/>
                </a:cubicBezTo>
                <a:cubicBezTo>
                  <a:pt x="15239" y="53948"/>
                  <a:pt x="16516" y="53870"/>
                  <a:pt x="17781" y="53779"/>
                </a:cubicBezTo>
                <a:cubicBezTo>
                  <a:pt x="18850" y="53700"/>
                  <a:pt x="19919" y="53583"/>
                  <a:pt x="20961" y="53375"/>
                </a:cubicBezTo>
                <a:cubicBezTo>
                  <a:pt x="22043" y="53153"/>
                  <a:pt x="22956" y="52749"/>
                  <a:pt x="23503" y="52019"/>
                </a:cubicBezTo>
                <a:cubicBezTo>
                  <a:pt x="23855" y="51537"/>
                  <a:pt x="24142" y="51028"/>
                  <a:pt x="24233" y="50494"/>
                </a:cubicBezTo>
                <a:cubicBezTo>
                  <a:pt x="24416" y="49464"/>
                  <a:pt x="24429" y="48434"/>
                  <a:pt x="24546" y="47404"/>
                </a:cubicBezTo>
                <a:cubicBezTo>
                  <a:pt x="24690" y="45957"/>
                  <a:pt x="24768" y="44510"/>
                  <a:pt x="24833" y="43064"/>
                </a:cubicBezTo>
                <a:cubicBezTo>
                  <a:pt x="24924" y="41395"/>
                  <a:pt x="24898" y="39726"/>
                  <a:pt x="24898" y="38058"/>
                </a:cubicBezTo>
                <a:cubicBezTo>
                  <a:pt x="24885" y="36402"/>
                  <a:pt x="24794" y="34760"/>
                  <a:pt x="24794" y="33104"/>
                </a:cubicBezTo>
                <a:cubicBezTo>
                  <a:pt x="24794" y="31332"/>
                  <a:pt x="24755" y="29546"/>
                  <a:pt x="24768" y="27760"/>
                </a:cubicBezTo>
                <a:cubicBezTo>
                  <a:pt x="24794" y="26196"/>
                  <a:pt x="24807" y="24631"/>
                  <a:pt x="24846" y="23067"/>
                </a:cubicBezTo>
                <a:cubicBezTo>
                  <a:pt x="24885" y="21503"/>
                  <a:pt x="24911" y="19952"/>
                  <a:pt x="24911" y="18387"/>
                </a:cubicBezTo>
                <a:cubicBezTo>
                  <a:pt x="24911" y="16967"/>
                  <a:pt x="24937" y="15533"/>
                  <a:pt x="24989" y="14112"/>
                </a:cubicBezTo>
                <a:cubicBezTo>
                  <a:pt x="25028" y="12795"/>
                  <a:pt x="25081" y="11479"/>
                  <a:pt x="25068" y="10162"/>
                </a:cubicBezTo>
                <a:cubicBezTo>
                  <a:pt x="25068" y="8924"/>
                  <a:pt x="25002" y="7685"/>
                  <a:pt x="24963" y="6447"/>
                </a:cubicBezTo>
                <a:lnTo>
                  <a:pt x="24950" y="6447"/>
                </a:lnTo>
                <a:cubicBezTo>
                  <a:pt x="25055" y="5561"/>
                  <a:pt x="24963" y="4674"/>
                  <a:pt x="24872" y="3801"/>
                </a:cubicBezTo>
                <a:cubicBezTo>
                  <a:pt x="24807" y="3175"/>
                  <a:pt x="24664" y="2562"/>
                  <a:pt x="24403" y="1963"/>
                </a:cubicBezTo>
                <a:cubicBezTo>
                  <a:pt x="24194" y="1481"/>
                  <a:pt x="23803" y="1103"/>
                  <a:pt x="23204" y="803"/>
                </a:cubicBezTo>
                <a:cubicBezTo>
                  <a:pt x="22185" y="293"/>
                  <a:pt x="21087" y="0"/>
                  <a:pt x="19843" y="0"/>
                </a:cubicBezTo>
                <a:close/>
              </a:path>
            </a:pathLst>
          </a:custGeom>
          <a:noFill/>
          <a:ln w="19050">
            <a:solidFill>
              <a:srgbClr val="060606"/>
            </a:solidFill>
          </a:ln>
          <a:effectLst>
            <a:outerShdw blurRad="57150" dist="9525" algn="bl" rotWithShape="0">
              <a:srgbClr val="000000"/>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lang="fr-CI" noProof="0"/>
          </a:p>
        </p:txBody>
      </p:sp>
      <p:sp>
        <p:nvSpPr>
          <p:cNvPr id="24" name="Rectangle 23"/>
          <p:cNvSpPr/>
          <p:nvPr/>
        </p:nvSpPr>
        <p:spPr>
          <a:xfrm>
            <a:off x="7570816" y="1466170"/>
            <a:ext cx="1322389" cy="295488"/>
          </a:xfrm>
          <a:prstGeom prst="rect">
            <a:avLst/>
          </a:prstGeom>
        </p:spPr>
        <p:txBody>
          <a:bodyPr wrap="none">
            <a:spAutoFit/>
          </a:bodyPr>
          <a:lstStyle/>
          <a:p>
            <a:pPr lvl="0">
              <a:lnSpc>
                <a:spcPct val="110000"/>
              </a:lnSpc>
            </a:pPr>
            <a:r>
              <a:rPr lang="fr-CI" sz="1400" b="1" noProof="0">
                <a:solidFill>
                  <a:schemeClr val="bg1"/>
                </a:solidFill>
                <a:latin typeface="Helvetica" panose="020B0604020202020204" pitchFamily="34" charset="0"/>
                <a:ea typeface="Open Sans Semibold" panose="020B0706030804020204" pitchFamily="34" charset="0"/>
                <a:cs typeface="Helvetica" panose="020B0604020202020204" pitchFamily="34" charset="0"/>
              </a:rPr>
              <a:t>Preuves</a:t>
            </a:r>
          </a:p>
        </p:txBody>
      </p:sp>
      <p:sp>
        <p:nvSpPr>
          <p:cNvPr id="37" name="Google Shape;7386;p39"/>
          <p:cNvSpPr/>
          <p:nvPr/>
        </p:nvSpPr>
        <p:spPr>
          <a:xfrm rot="10800000">
            <a:off x="1854215" y="3845744"/>
            <a:ext cx="3625790" cy="329031"/>
          </a:xfrm>
          <a:custGeom>
            <a:avLst/>
            <a:gdLst/>
            <a:ahLst/>
            <a:cxnLst/>
            <a:rect l="l" t="t" r="r" b="b"/>
            <a:pathLst>
              <a:path w="40007" h="30221" extrusionOk="0">
                <a:moveTo>
                  <a:pt x="19007" y="1"/>
                </a:moveTo>
                <a:cubicBezTo>
                  <a:pt x="17909" y="1"/>
                  <a:pt x="16810" y="17"/>
                  <a:pt x="15708" y="53"/>
                </a:cubicBezTo>
                <a:cubicBezTo>
                  <a:pt x="13270" y="131"/>
                  <a:pt x="10885" y="275"/>
                  <a:pt x="8512" y="548"/>
                </a:cubicBezTo>
                <a:cubicBezTo>
                  <a:pt x="6088" y="835"/>
                  <a:pt x="4524" y="1500"/>
                  <a:pt x="4041" y="2712"/>
                </a:cubicBezTo>
                <a:cubicBezTo>
                  <a:pt x="4015" y="2777"/>
                  <a:pt x="3976" y="2843"/>
                  <a:pt x="3937" y="2908"/>
                </a:cubicBezTo>
                <a:cubicBezTo>
                  <a:pt x="2777" y="4902"/>
                  <a:pt x="2282" y="6949"/>
                  <a:pt x="1734" y="8995"/>
                </a:cubicBezTo>
                <a:cubicBezTo>
                  <a:pt x="1160" y="11120"/>
                  <a:pt x="613" y="13232"/>
                  <a:pt x="391" y="15357"/>
                </a:cubicBezTo>
                <a:cubicBezTo>
                  <a:pt x="183" y="17325"/>
                  <a:pt x="0" y="19293"/>
                  <a:pt x="79" y="21092"/>
                </a:cubicBezTo>
                <a:cubicBezTo>
                  <a:pt x="52" y="23074"/>
                  <a:pt x="144" y="24899"/>
                  <a:pt x="365" y="26710"/>
                </a:cubicBezTo>
                <a:cubicBezTo>
                  <a:pt x="522" y="28079"/>
                  <a:pt x="1721" y="29096"/>
                  <a:pt x="4419" y="29656"/>
                </a:cubicBezTo>
                <a:cubicBezTo>
                  <a:pt x="6296" y="30048"/>
                  <a:pt x="8265" y="30178"/>
                  <a:pt x="10259" y="30204"/>
                </a:cubicBezTo>
                <a:cubicBezTo>
                  <a:pt x="11143" y="30216"/>
                  <a:pt x="12026" y="30220"/>
                  <a:pt x="12908" y="30220"/>
                </a:cubicBezTo>
                <a:cubicBezTo>
                  <a:pt x="15996" y="30220"/>
                  <a:pt x="19078" y="30165"/>
                  <a:pt x="22161" y="30165"/>
                </a:cubicBezTo>
                <a:cubicBezTo>
                  <a:pt x="24859" y="30165"/>
                  <a:pt x="27557" y="30204"/>
                  <a:pt x="30243" y="30204"/>
                </a:cubicBezTo>
                <a:cubicBezTo>
                  <a:pt x="31690" y="30191"/>
                  <a:pt x="33123" y="30113"/>
                  <a:pt x="34505" y="29852"/>
                </a:cubicBezTo>
                <a:cubicBezTo>
                  <a:pt x="35470" y="29683"/>
                  <a:pt x="36330" y="29435"/>
                  <a:pt x="36917" y="29005"/>
                </a:cubicBezTo>
                <a:cubicBezTo>
                  <a:pt x="37881" y="28288"/>
                  <a:pt x="38677" y="27519"/>
                  <a:pt x="39120" y="26684"/>
                </a:cubicBezTo>
                <a:cubicBezTo>
                  <a:pt x="39732" y="25485"/>
                  <a:pt x="39954" y="24260"/>
                  <a:pt x="39954" y="23021"/>
                </a:cubicBezTo>
                <a:cubicBezTo>
                  <a:pt x="39954" y="19372"/>
                  <a:pt x="40006" y="15709"/>
                  <a:pt x="39563" y="12059"/>
                </a:cubicBezTo>
                <a:cubicBezTo>
                  <a:pt x="39367" y="10403"/>
                  <a:pt x="39485" y="8748"/>
                  <a:pt x="39237" y="7105"/>
                </a:cubicBezTo>
                <a:cubicBezTo>
                  <a:pt x="39068" y="6023"/>
                  <a:pt x="38794" y="4941"/>
                  <a:pt x="37920" y="3938"/>
                </a:cubicBezTo>
                <a:cubicBezTo>
                  <a:pt x="37282" y="3208"/>
                  <a:pt x="36773" y="2438"/>
                  <a:pt x="35665" y="1826"/>
                </a:cubicBezTo>
                <a:cubicBezTo>
                  <a:pt x="34192" y="1031"/>
                  <a:pt x="32237" y="666"/>
                  <a:pt x="30138" y="496"/>
                </a:cubicBezTo>
                <a:cubicBezTo>
                  <a:pt x="26451" y="194"/>
                  <a:pt x="22741" y="1"/>
                  <a:pt x="19007" y="1"/>
                </a:cubicBezTo>
                <a:close/>
              </a:path>
            </a:pathLst>
          </a:custGeom>
          <a:solidFill>
            <a:srgbClr val="112A40"/>
          </a:solidFill>
          <a:ln>
            <a:noFill/>
          </a:ln>
          <a:effectLst>
            <a:outerShdw blurRad="57150" dist="9525" algn="bl" rotWithShape="0">
              <a:srgbClr val="000000"/>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lang="fr-CI" noProof="0"/>
          </a:p>
        </p:txBody>
      </p:sp>
      <p:sp>
        <p:nvSpPr>
          <p:cNvPr id="38" name="Google Shape;7367;p39"/>
          <p:cNvSpPr/>
          <p:nvPr/>
        </p:nvSpPr>
        <p:spPr>
          <a:xfrm rot="16200000">
            <a:off x="2838223" y="3190772"/>
            <a:ext cx="1751381" cy="3719393"/>
          </a:xfrm>
          <a:custGeom>
            <a:avLst/>
            <a:gdLst/>
            <a:ahLst/>
            <a:cxnLst/>
            <a:rect l="l" t="t" r="r" b="b"/>
            <a:pathLst>
              <a:path w="25081" h="54128" extrusionOk="0">
                <a:moveTo>
                  <a:pt x="19843" y="0"/>
                </a:moveTo>
                <a:cubicBezTo>
                  <a:pt x="19654" y="0"/>
                  <a:pt x="19462" y="7"/>
                  <a:pt x="19267" y="21"/>
                </a:cubicBezTo>
                <a:cubicBezTo>
                  <a:pt x="17781" y="125"/>
                  <a:pt x="16282" y="99"/>
                  <a:pt x="14796" y="112"/>
                </a:cubicBezTo>
                <a:cubicBezTo>
                  <a:pt x="13909" y="125"/>
                  <a:pt x="13010" y="112"/>
                  <a:pt x="12123" y="177"/>
                </a:cubicBezTo>
                <a:cubicBezTo>
                  <a:pt x="10272" y="333"/>
                  <a:pt x="8421" y="503"/>
                  <a:pt x="6570" y="633"/>
                </a:cubicBezTo>
                <a:cubicBezTo>
                  <a:pt x="5267" y="738"/>
                  <a:pt x="3989" y="933"/>
                  <a:pt x="2764" y="1259"/>
                </a:cubicBezTo>
                <a:cubicBezTo>
                  <a:pt x="1943" y="1481"/>
                  <a:pt x="1408" y="1872"/>
                  <a:pt x="1226" y="2471"/>
                </a:cubicBezTo>
                <a:cubicBezTo>
                  <a:pt x="991" y="3292"/>
                  <a:pt x="861" y="4140"/>
                  <a:pt x="965" y="4974"/>
                </a:cubicBezTo>
                <a:cubicBezTo>
                  <a:pt x="991" y="5248"/>
                  <a:pt x="1030" y="5508"/>
                  <a:pt x="991" y="5782"/>
                </a:cubicBezTo>
                <a:cubicBezTo>
                  <a:pt x="835" y="6877"/>
                  <a:pt x="678" y="7972"/>
                  <a:pt x="587" y="9067"/>
                </a:cubicBezTo>
                <a:cubicBezTo>
                  <a:pt x="470" y="10488"/>
                  <a:pt x="378" y="11896"/>
                  <a:pt x="300" y="13317"/>
                </a:cubicBezTo>
                <a:cubicBezTo>
                  <a:pt x="274" y="13825"/>
                  <a:pt x="352" y="14333"/>
                  <a:pt x="339" y="14829"/>
                </a:cubicBezTo>
                <a:cubicBezTo>
                  <a:pt x="313" y="15820"/>
                  <a:pt x="157" y="16797"/>
                  <a:pt x="118" y="17775"/>
                </a:cubicBezTo>
                <a:cubicBezTo>
                  <a:pt x="53" y="19391"/>
                  <a:pt x="0" y="21008"/>
                  <a:pt x="40" y="22624"/>
                </a:cubicBezTo>
                <a:cubicBezTo>
                  <a:pt x="66" y="24149"/>
                  <a:pt x="157" y="25661"/>
                  <a:pt x="144" y="27173"/>
                </a:cubicBezTo>
                <a:cubicBezTo>
                  <a:pt x="131" y="28646"/>
                  <a:pt x="105" y="30132"/>
                  <a:pt x="131" y="31605"/>
                </a:cubicBezTo>
                <a:cubicBezTo>
                  <a:pt x="209" y="35412"/>
                  <a:pt x="405" y="39218"/>
                  <a:pt x="274" y="43051"/>
                </a:cubicBezTo>
                <a:cubicBezTo>
                  <a:pt x="235" y="44237"/>
                  <a:pt x="287" y="45436"/>
                  <a:pt x="300" y="46622"/>
                </a:cubicBezTo>
                <a:cubicBezTo>
                  <a:pt x="300" y="46687"/>
                  <a:pt x="300" y="46753"/>
                  <a:pt x="287" y="46818"/>
                </a:cubicBezTo>
                <a:cubicBezTo>
                  <a:pt x="222" y="48004"/>
                  <a:pt x="313" y="49190"/>
                  <a:pt x="535" y="50363"/>
                </a:cubicBezTo>
                <a:cubicBezTo>
                  <a:pt x="665" y="51054"/>
                  <a:pt x="1004" y="51706"/>
                  <a:pt x="1239" y="52384"/>
                </a:cubicBezTo>
                <a:cubicBezTo>
                  <a:pt x="1486" y="53075"/>
                  <a:pt x="2164" y="53492"/>
                  <a:pt x="3129" y="53700"/>
                </a:cubicBezTo>
                <a:cubicBezTo>
                  <a:pt x="3812" y="53854"/>
                  <a:pt x="4517" y="53911"/>
                  <a:pt x="5223" y="53911"/>
                </a:cubicBezTo>
                <a:cubicBezTo>
                  <a:pt x="5299" y="53911"/>
                  <a:pt x="5374" y="53910"/>
                  <a:pt x="5449" y="53909"/>
                </a:cubicBezTo>
                <a:cubicBezTo>
                  <a:pt x="5591" y="53907"/>
                  <a:pt x="5733" y="53906"/>
                  <a:pt x="5875" y="53906"/>
                </a:cubicBezTo>
                <a:cubicBezTo>
                  <a:pt x="7594" y="53906"/>
                  <a:pt x="9293" y="54042"/>
                  <a:pt x="11015" y="54078"/>
                </a:cubicBezTo>
                <a:cubicBezTo>
                  <a:pt x="11655" y="54087"/>
                  <a:pt x="12288" y="54128"/>
                  <a:pt x="12924" y="54128"/>
                </a:cubicBezTo>
                <a:cubicBezTo>
                  <a:pt x="13273" y="54128"/>
                  <a:pt x="13623" y="54115"/>
                  <a:pt x="13974" y="54078"/>
                </a:cubicBezTo>
                <a:cubicBezTo>
                  <a:pt x="15239" y="53948"/>
                  <a:pt x="16516" y="53870"/>
                  <a:pt x="17781" y="53779"/>
                </a:cubicBezTo>
                <a:cubicBezTo>
                  <a:pt x="18850" y="53700"/>
                  <a:pt x="19919" y="53583"/>
                  <a:pt x="20961" y="53375"/>
                </a:cubicBezTo>
                <a:cubicBezTo>
                  <a:pt x="22043" y="53153"/>
                  <a:pt x="22956" y="52749"/>
                  <a:pt x="23503" y="52019"/>
                </a:cubicBezTo>
                <a:cubicBezTo>
                  <a:pt x="23855" y="51537"/>
                  <a:pt x="24142" y="51028"/>
                  <a:pt x="24233" y="50494"/>
                </a:cubicBezTo>
                <a:cubicBezTo>
                  <a:pt x="24416" y="49464"/>
                  <a:pt x="24429" y="48434"/>
                  <a:pt x="24546" y="47404"/>
                </a:cubicBezTo>
                <a:cubicBezTo>
                  <a:pt x="24690" y="45957"/>
                  <a:pt x="24768" y="44510"/>
                  <a:pt x="24833" y="43064"/>
                </a:cubicBezTo>
                <a:cubicBezTo>
                  <a:pt x="24924" y="41395"/>
                  <a:pt x="24898" y="39726"/>
                  <a:pt x="24898" y="38058"/>
                </a:cubicBezTo>
                <a:cubicBezTo>
                  <a:pt x="24885" y="36402"/>
                  <a:pt x="24794" y="34760"/>
                  <a:pt x="24794" y="33104"/>
                </a:cubicBezTo>
                <a:cubicBezTo>
                  <a:pt x="24794" y="31332"/>
                  <a:pt x="24755" y="29546"/>
                  <a:pt x="24768" y="27760"/>
                </a:cubicBezTo>
                <a:cubicBezTo>
                  <a:pt x="24794" y="26196"/>
                  <a:pt x="24807" y="24631"/>
                  <a:pt x="24846" y="23067"/>
                </a:cubicBezTo>
                <a:cubicBezTo>
                  <a:pt x="24885" y="21503"/>
                  <a:pt x="24911" y="19952"/>
                  <a:pt x="24911" y="18387"/>
                </a:cubicBezTo>
                <a:cubicBezTo>
                  <a:pt x="24911" y="16967"/>
                  <a:pt x="24937" y="15533"/>
                  <a:pt x="24989" y="14112"/>
                </a:cubicBezTo>
                <a:cubicBezTo>
                  <a:pt x="25028" y="12795"/>
                  <a:pt x="25081" y="11479"/>
                  <a:pt x="25068" y="10162"/>
                </a:cubicBezTo>
                <a:cubicBezTo>
                  <a:pt x="25068" y="8924"/>
                  <a:pt x="25002" y="7685"/>
                  <a:pt x="24963" y="6447"/>
                </a:cubicBezTo>
                <a:lnTo>
                  <a:pt x="24950" y="6447"/>
                </a:lnTo>
                <a:cubicBezTo>
                  <a:pt x="25055" y="5561"/>
                  <a:pt x="24963" y="4674"/>
                  <a:pt x="24872" y="3801"/>
                </a:cubicBezTo>
                <a:cubicBezTo>
                  <a:pt x="24807" y="3175"/>
                  <a:pt x="24664" y="2562"/>
                  <a:pt x="24403" y="1963"/>
                </a:cubicBezTo>
                <a:cubicBezTo>
                  <a:pt x="24194" y="1481"/>
                  <a:pt x="23803" y="1103"/>
                  <a:pt x="23204" y="803"/>
                </a:cubicBezTo>
                <a:cubicBezTo>
                  <a:pt x="22185" y="293"/>
                  <a:pt x="21087" y="0"/>
                  <a:pt x="19843" y="0"/>
                </a:cubicBezTo>
                <a:close/>
              </a:path>
            </a:pathLst>
          </a:custGeom>
          <a:noFill/>
          <a:ln w="19050">
            <a:solidFill>
              <a:srgbClr val="060606"/>
            </a:solidFill>
          </a:ln>
          <a:effectLst>
            <a:outerShdw blurRad="57150" dist="9525" algn="bl" rotWithShape="0">
              <a:srgbClr val="000000"/>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lang="fr-CI" noProof="0"/>
          </a:p>
        </p:txBody>
      </p:sp>
      <p:sp>
        <p:nvSpPr>
          <p:cNvPr id="40" name="Rectangle 39"/>
          <p:cNvSpPr/>
          <p:nvPr/>
        </p:nvSpPr>
        <p:spPr>
          <a:xfrm>
            <a:off x="3052718" y="3852190"/>
            <a:ext cx="1322389" cy="295488"/>
          </a:xfrm>
          <a:prstGeom prst="rect">
            <a:avLst/>
          </a:prstGeom>
        </p:spPr>
        <p:txBody>
          <a:bodyPr wrap="none">
            <a:spAutoFit/>
          </a:bodyPr>
          <a:lstStyle/>
          <a:p>
            <a:pPr lvl="0">
              <a:lnSpc>
                <a:spcPct val="110000"/>
              </a:lnSpc>
            </a:pPr>
            <a:r>
              <a:rPr lang="fr-CI" sz="1400" b="1" noProof="0">
                <a:solidFill>
                  <a:schemeClr val="bg1"/>
                </a:solidFill>
                <a:latin typeface="Helvetica" panose="020B0604020202020204" pitchFamily="34" charset="0"/>
                <a:ea typeface="Open Sans Semibold" panose="020B0706030804020204" pitchFamily="34" charset="0"/>
                <a:cs typeface="Helvetica" panose="020B0604020202020204" pitchFamily="34" charset="0"/>
              </a:rPr>
              <a:t>Implication</a:t>
            </a:r>
          </a:p>
        </p:txBody>
      </p:sp>
      <p:sp>
        <p:nvSpPr>
          <p:cNvPr id="42" name="Google Shape;7386;p39"/>
          <p:cNvSpPr/>
          <p:nvPr/>
        </p:nvSpPr>
        <p:spPr>
          <a:xfrm rot="10800000">
            <a:off x="6478457" y="3869173"/>
            <a:ext cx="3625790" cy="329031"/>
          </a:xfrm>
          <a:custGeom>
            <a:avLst/>
            <a:gdLst/>
            <a:ahLst/>
            <a:cxnLst/>
            <a:rect l="l" t="t" r="r" b="b"/>
            <a:pathLst>
              <a:path w="40007" h="30221" extrusionOk="0">
                <a:moveTo>
                  <a:pt x="19007" y="1"/>
                </a:moveTo>
                <a:cubicBezTo>
                  <a:pt x="17909" y="1"/>
                  <a:pt x="16810" y="17"/>
                  <a:pt x="15708" y="53"/>
                </a:cubicBezTo>
                <a:cubicBezTo>
                  <a:pt x="13270" y="131"/>
                  <a:pt x="10885" y="275"/>
                  <a:pt x="8512" y="548"/>
                </a:cubicBezTo>
                <a:cubicBezTo>
                  <a:pt x="6088" y="835"/>
                  <a:pt x="4524" y="1500"/>
                  <a:pt x="4041" y="2712"/>
                </a:cubicBezTo>
                <a:cubicBezTo>
                  <a:pt x="4015" y="2777"/>
                  <a:pt x="3976" y="2843"/>
                  <a:pt x="3937" y="2908"/>
                </a:cubicBezTo>
                <a:cubicBezTo>
                  <a:pt x="2777" y="4902"/>
                  <a:pt x="2282" y="6949"/>
                  <a:pt x="1734" y="8995"/>
                </a:cubicBezTo>
                <a:cubicBezTo>
                  <a:pt x="1160" y="11120"/>
                  <a:pt x="613" y="13232"/>
                  <a:pt x="391" y="15357"/>
                </a:cubicBezTo>
                <a:cubicBezTo>
                  <a:pt x="183" y="17325"/>
                  <a:pt x="0" y="19293"/>
                  <a:pt x="79" y="21092"/>
                </a:cubicBezTo>
                <a:cubicBezTo>
                  <a:pt x="52" y="23074"/>
                  <a:pt x="144" y="24899"/>
                  <a:pt x="365" y="26710"/>
                </a:cubicBezTo>
                <a:cubicBezTo>
                  <a:pt x="522" y="28079"/>
                  <a:pt x="1721" y="29096"/>
                  <a:pt x="4419" y="29656"/>
                </a:cubicBezTo>
                <a:cubicBezTo>
                  <a:pt x="6296" y="30048"/>
                  <a:pt x="8265" y="30178"/>
                  <a:pt x="10259" y="30204"/>
                </a:cubicBezTo>
                <a:cubicBezTo>
                  <a:pt x="11143" y="30216"/>
                  <a:pt x="12026" y="30220"/>
                  <a:pt x="12908" y="30220"/>
                </a:cubicBezTo>
                <a:cubicBezTo>
                  <a:pt x="15996" y="30220"/>
                  <a:pt x="19078" y="30165"/>
                  <a:pt x="22161" y="30165"/>
                </a:cubicBezTo>
                <a:cubicBezTo>
                  <a:pt x="24859" y="30165"/>
                  <a:pt x="27557" y="30204"/>
                  <a:pt x="30243" y="30204"/>
                </a:cubicBezTo>
                <a:cubicBezTo>
                  <a:pt x="31690" y="30191"/>
                  <a:pt x="33123" y="30113"/>
                  <a:pt x="34505" y="29852"/>
                </a:cubicBezTo>
                <a:cubicBezTo>
                  <a:pt x="35470" y="29683"/>
                  <a:pt x="36330" y="29435"/>
                  <a:pt x="36917" y="29005"/>
                </a:cubicBezTo>
                <a:cubicBezTo>
                  <a:pt x="37881" y="28288"/>
                  <a:pt x="38677" y="27519"/>
                  <a:pt x="39120" y="26684"/>
                </a:cubicBezTo>
                <a:cubicBezTo>
                  <a:pt x="39732" y="25485"/>
                  <a:pt x="39954" y="24260"/>
                  <a:pt x="39954" y="23021"/>
                </a:cubicBezTo>
                <a:cubicBezTo>
                  <a:pt x="39954" y="19372"/>
                  <a:pt x="40006" y="15709"/>
                  <a:pt x="39563" y="12059"/>
                </a:cubicBezTo>
                <a:cubicBezTo>
                  <a:pt x="39367" y="10403"/>
                  <a:pt x="39485" y="8748"/>
                  <a:pt x="39237" y="7105"/>
                </a:cubicBezTo>
                <a:cubicBezTo>
                  <a:pt x="39068" y="6023"/>
                  <a:pt x="38794" y="4941"/>
                  <a:pt x="37920" y="3938"/>
                </a:cubicBezTo>
                <a:cubicBezTo>
                  <a:pt x="37282" y="3208"/>
                  <a:pt x="36773" y="2438"/>
                  <a:pt x="35665" y="1826"/>
                </a:cubicBezTo>
                <a:cubicBezTo>
                  <a:pt x="34192" y="1031"/>
                  <a:pt x="32237" y="666"/>
                  <a:pt x="30138" y="496"/>
                </a:cubicBezTo>
                <a:cubicBezTo>
                  <a:pt x="26451" y="194"/>
                  <a:pt x="22741" y="1"/>
                  <a:pt x="19007" y="1"/>
                </a:cubicBezTo>
                <a:close/>
              </a:path>
            </a:pathLst>
          </a:custGeom>
          <a:solidFill>
            <a:srgbClr val="112A40"/>
          </a:solidFill>
          <a:ln>
            <a:noFill/>
          </a:ln>
          <a:effectLst>
            <a:outerShdw blurRad="57150" dist="9525" algn="bl" rotWithShape="0">
              <a:srgbClr val="000000"/>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lang="fr-CI" noProof="0"/>
          </a:p>
        </p:txBody>
      </p:sp>
      <p:sp>
        <p:nvSpPr>
          <p:cNvPr id="43" name="Google Shape;7367;p39"/>
          <p:cNvSpPr/>
          <p:nvPr/>
        </p:nvSpPr>
        <p:spPr>
          <a:xfrm rot="16200000">
            <a:off x="7474179" y="3202486"/>
            <a:ext cx="1727953" cy="3719393"/>
          </a:xfrm>
          <a:custGeom>
            <a:avLst/>
            <a:gdLst/>
            <a:ahLst/>
            <a:cxnLst/>
            <a:rect l="l" t="t" r="r" b="b"/>
            <a:pathLst>
              <a:path w="25081" h="54128" extrusionOk="0">
                <a:moveTo>
                  <a:pt x="19843" y="0"/>
                </a:moveTo>
                <a:cubicBezTo>
                  <a:pt x="19654" y="0"/>
                  <a:pt x="19462" y="7"/>
                  <a:pt x="19267" y="21"/>
                </a:cubicBezTo>
                <a:cubicBezTo>
                  <a:pt x="17781" y="125"/>
                  <a:pt x="16282" y="99"/>
                  <a:pt x="14796" y="112"/>
                </a:cubicBezTo>
                <a:cubicBezTo>
                  <a:pt x="13909" y="125"/>
                  <a:pt x="13010" y="112"/>
                  <a:pt x="12123" y="177"/>
                </a:cubicBezTo>
                <a:cubicBezTo>
                  <a:pt x="10272" y="333"/>
                  <a:pt x="8421" y="503"/>
                  <a:pt x="6570" y="633"/>
                </a:cubicBezTo>
                <a:cubicBezTo>
                  <a:pt x="5267" y="738"/>
                  <a:pt x="3989" y="933"/>
                  <a:pt x="2764" y="1259"/>
                </a:cubicBezTo>
                <a:cubicBezTo>
                  <a:pt x="1943" y="1481"/>
                  <a:pt x="1408" y="1872"/>
                  <a:pt x="1226" y="2471"/>
                </a:cubicBezTo>
                <a:cubicBezTo>
                  <a:pt x="991" y="3292"/>
                  <a:pt x="861" y="4140"/>
                  <a:pt x="965" y="4974"/>
                </a:cubicBezTo>
                <a:cubicBezTo>
                  <a:pt x="991" y="5248"/>
                  <a:pt x="1030" y="5508"/>
                  <a:pt x="991" y="5782"/>
                </a:cubicBezTo>
                <a:cubicBezTo>
                  <a:pt x="835" y="6877"/>
                  <a:pt x="678" y="7972"/>
                  <a:pt x="587" y="9067"/>
                </a:cubicBezTo>
                <a:cubicBezTo>
                  <a:pt x="470" y="10488"/>
                  <a:pt x="378" y="11896"/>
                  <a:pt x="300" y="13317"/>
                </a:cubicBezTo>
                <a:cubicBezTo>
                  <a:pt x="274" y="13825"/>
                  <a:pt x="352" y="14333"/>
                  <a:pt x="339" y="14829"/>
                </a:cubicBezTo>
                <a:cubicBezTo>
                  <a:pt x="313" y="15820"/>
                  <a:pt x="157" y="16797"/>
                  <a:pt x="118" y="17775"/>
                </a:cubicBezTo>
                <a:cubicBezTo>
                  <a:pt x="53" y="19391"/>
                  <a:pt x="0" y="21008"/>
                  <a:pt x="40" y="22624"/>
                </a:cubicBezTo>
                <a:cubicBezTo>
                  <a:pt x="66" y="24149"/>
                  <a:pt x="157" y="25661"/>
                  <a:pt x="144" y="27173"/>
                </a:cubicBezTo>
                <a:cubicBezTo>
                  <a:pt x="131" y="28646"/>
                  <a:pt x="105" y="30132"/>
                  <a:pt x="131" y="31605"/>
                </a:cubicBezTo>
                <a:cubicBezTo>
                  <a:pt x="209" y="35412"/>
                  <a:pt x="405" y="39218"/>
                  <a:pt x="274" y="43051"/>
                </a:cubicBezTo>
                <a:cubicBezTo>
                  <a:pt x="235" y="44237"/>
                  <a:pt x="287" y="45436"/>
                  <a:pt x="300" y="46622"/>
                </a:cubicBezTo>
                <a:cubicBezTo>
                  <a:pt x="300" y="46687"/>
                  <a:pt x="300" y="46753"/>
                  <a:pt x="287" y="46818"/>
                </a:cubicBezTo>
                <a:cubicBezTo>
                  <a:pt x="222" y="48004"/>
                  <a:pt x="313" y="49190"/>
                  <a:pt x="535" y="50363"/>
                </a:cubicBezTo>
                <a:cubicBezTo>
                  <a:pt x="665" y="51054"/>
                  <a:pt x="1004" y="51706"/>
                  <a:pt x="1239" y="52384"/>
                </a:cubicBezTo>
                <a:cubicBezTo>
                  <a:pt x="1486" y="53075"/>
                  <a:pt x="2164" y="53492"/>
                  <a:pt x="3129" y="53700"/>
                </a:cubicBezTo>
                <a:cubicBezTo>
                  <a:pt x="3812" y="53854"/>
                  <a:pt x="4517" y="53911"/>
                  <a:pt x="5223" y="53911"/>
                </a:cubicBezTo>
                <a:cubicBezTo>
                  <a:pt x="5299" y="53911"/>
                  <a:pt x="5374" y="53910"/>
                  <a:pt x="5449" y="53909"/>
                </a:cubicBezTo>
                <a:cubicBezTo>
                  <a:pt x="5591" y="53907"/>
                  <a:pt x="5733" y="53906"/>
                  <a:pt x="5875" y="53906"/>
                </a:cubicBezTo>
                <a:cubicBezTo>
                  <a:pt x="7594" y="53906"/>
                  <a:pt x="9293" y="54042"/>
                  <a:pt x="11015" y="54078"/>
                </a:cubicBezTo>
                <a:cubicBezTo>
                  <a:pt x="11655" y="54087"/>
                  <a:pt x="12288" y="54128"/>
                  <a:pt x="12924" y="54128"/>
                </a:cubicBezTo>
                <a:cubicBezTo>
                  <a:pt x="13273" y="54128"/>
                  <a:pt x="13623" y="54115"/>
                  <a:pt x="13974" y="54078"/>
                </a:cubicBezTo>
                <a:cubicBezTo>
                  <a:pt x="15239" y="53948"/>
                  <a:pt x="16516" y="53870"/>
                  <a:pt x="17781" y="53779"/>
                </a:cubicBezTo>
                <a:cubicBezTo>
                  <a:pt x="18850" y="53700"/>
                  <a:pt x="19919" y="53583"/>
                  <a:pt x="20961" y="53375"/>
                </a:cubicBezTo>
                <a:cubicBezTo>
                  <a:pt x="22043" y="53153"/>
                  <a:pt x="22956" y="52749"/>
                  <a:pt x="23503" y="52019"/>
                </a:cubicBezTo>
                <a:cubicBezTo>
                  <a:pt x="23855" y="51537"/>
                  <a:pt x="24142" y="51028"/>
                  <a:pt x="24233" y="50494"/>
                </a:cubicBezTo>
                <a:cubicBezTo>
                  <a:pt x="24416" y="49464"/>
                  <a:pt x="24429" y="48434"/>
                  <a:pt x="24546" y="47404"/>
                </a:cubicBezTo>
                <a:cubicBezTo>
                  <a:pt x="24690" y="45957"/>
                  <a:pt x="24768" y="44510"/>
                  <a:pt x="24833" y="43064"/>
                </a:cubicBezTo>
                <a:cubicBezTo>
                  <a:pt x="24924" y="41395"/>
                  <a:pt x="24898" y="39726"/>
                  <a:pt x="24898" y="38058"/>
                </a:cubicBezTo>
                <a:cubicBezTo>
                  <a:pt x="24885" y="36402"/>
                  <a:pt x="24794" y="34760"/>
                  <a:pt x="24794" y="33104"/>
                </a:cubicBezTo>
                <a:cubicBezTo>
                  <a:pt x="24794" y="31332"/>
                  <a:pt x="24755" y="29546"/>
                  <a:pt x="24768" y="27760"/>
                </a:cubicBezTo>
                <a:cubicBezTo>
                  <a:pt x="24794" y="26196"/>
                  <a:pt x="24807" y="24631"/>
                  <a:pt x="24846" y="23067"/>
                </a:cubicBezTo>
                <a:cubicBezTo>
                  <a:pt x="24885" y="21503"/>
                  <a:pt x="24911" y="19952"/>
                  <a:pt x="24911" y="18387"/>
                </a:cubicBezTo>
                <a:cubicBezTo>
                  <a:pt x="24911" y="16967"/>
                  <a:pt x="24937" y="15533"/>
                  <a:pt x="24989" y="14112"/>
                </a:cubicBezTo>
                <a:cubicBezTo>
                  <a:pt x="25028" y="12795"/>
                  <a:pt x="25081" y="11479"/>
                  <a:pt x="25068" y="10162"/>
                </a:cubicBezTo>
                <a:cubicBezTo>
                  <a:pt x="25068" y="8924"/>
                  <a:pt x="25002" y="7685"/>
                  <a:pt x="24963" y="6447"/>
                </a:cubicBezTo>
                <a:lnTo>
                  <a:pt x="24950" y="6447"/>
                </a:lnTo>
                <a:cubicBezTo>
                  <a:pt x="25055" y="5561"/>
                  <a:pt x="24963" y="4674"/>
                  <a:pt x="24872" y="3801"/>
                </a:cubicBezTo>
                <a:cubicBezTo>
                  <a:pt x="24807" y="3175"/>
                  <a:pt x="24664" y="2562"/>
                  <a:pt x="24403" y="1963"/>
                </a:cubicBezTo>
                <a:cubicBezTo>
                  <a:pt x="24194" y="1481"/>
                  <a:pt x="23803" y="1103"/>
                  <a:pt x="23204" y="803"/>
                </a:cubicBezTo>
                <a:cubicBezTo>
                  <a:pt x="22185" y="293"/>
                  <a:pt x="21087" y="0"/>
                  <a:pt x="19843" y="0"/>
                </a:cubicBezTo>
                <a:close/>
              </a:path>
            </a:pathLst>
          </a:custGeom>
          <a:noFill/>
          <a:ln w="19050">
            <a:solidFill>
              <a:schemeClr val="tx1"/>
            </a:solidFill>
          </a:ln>
          <a:effectLst>
            <a:outerShdw blurRad="57150" dist="9525" algn="bl" rotWithShape="0">
              <a:srgbClr val="000000"/>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lang="fr-CI" noProof="0"/>
          </a:p>
        </p:txBody>
      </p:sp>
      <p:sp>
        <p:nvSpPr>
          <p:cNvPr id="45" name="Rectangle 44"/>
          <p:cNvSpPr/>
          <p:nvPr/>
        </p:nvSpPr>
        <p:spPr>
          <a:xfrm>
            <a:off x="7676960" y="3875619"/>
            <a:ext cx="1322389" cy="295488"/>
          </a:xfrm>
          <a:prstGeom prst="rect">
            <a:avLst/>
          </a:prstGeom>
        </p:spPr>
        <p:txBody>
          <a:bodyPr wrap="none">
            <a:spAutoFit/>
          </a:bodyPr>
          <a:lstStyle/>
          <a:p>
            <a:pPr lvl="0">
              <a:lnSpc>
                <a:spcPct val="110000"/>
              </a:lnSpc>
            </a:pPr>
            <a:r>
              <a:rPr lang="fr-CI" sz="1400" b="1" noProof="0">
                <a:solidFill>
                  <a:schemeClr val="bg1"/>
                </a:solidFill>
                <a:latin typeface="Helvetica" panose="020B0604020202020204" pitchFamily="34" charset="0"/>
                <a:ea typeface="Open Sans Semibold" panose="020B0706030804020204" pitchFamily="34" charset="0"/>
                <a:cs typeface="Helvetica" panose="020B0604020202020204" pitchFamily="34" charset="0"/>
              </a:rPr>
              <a:t>Action</a:t>
            </a:r>
          </a:p>
        </p:txBody>
      </p:sp>
      <p:pic>
        <p:nvPicPr>
          <p:cNvPr id="47" name="Image 46"/>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147871" y="3850143"/>
            <a:ext cx="334029" cy="337914"/>
          </a:xfrm>
          <a:prstGeom prst="rect">
            <a:avLst/>
          </a:prstGeom>
        </p:spPr>
      </p:pic>
      <p:pic>
        <p:nvPicPr>
          <p:cNvPr id="50" name="Image 49">
            <a:extLst>
              <a:ext uri="{FF2B5EF4-FFF2-40B4-BE49-F238E27FC236}">
                <a16:creationId xmlns:a16="http://schemas.microsoft.com/office/drawing/2014/main" id="{593DA389-08F4-31D9-6AB9-E96812D83B72}"/>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6768142" y="1475503"/>
            <a:ext cx="294700" cy="294700"/>
          </a:xfrm>
          <a:prstGeom prst="rect">
            <a:avLst/>
          </a:prstGeom>
        </p:spPr>
      </p:pic>
      <p:pic>
        <p:nvPicPr>
          <p:cNvPr id="25" name="Image 24"/>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2156977" y="1457088"/>
            <a:ext cx="281624" cy="284788"/>
          </a:xfrm>
          <a:prstGeom prst="rect">
            <a:avLst/>
          </a:prstGeom>
        </p:spPr>
      </p:pic>
      <p:pic>
        <p:nvPicPr>
          <p:cNvPr id="28" name="Image 27"/>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6791905" y="3883760"/>
            <a:ext cx="270937" cy="276827"/>
          </a:xfrm>
          <a:prstGeom prst="rect">
            <a:avLst/>
          </a:prstGeom>
        </p:spPr>
      </p:pic>
      <p:sp>
        <p:nvSpPr>
          <p:cNvPr id="31" name="Rectangle 30"/>
          <p:cNvSpPr/>
          <p:nvPr/>
        </p:nvSpPr>
        <p:spPr>
          <a:xfrm>
            <a:off x="1999671" y="1962253"/>
            <a:ext cx="3122592" cy="1428712"/>
          </a:xfrm>
          <a:prstGeom prst="rect">
            <a:avLst/>
          </a:prstGeom>
        </p:spPr>
        <p:txBody>
          <a:bodyPr wrap="square">
            <a:spAutoFit/>
          </a:bodyPr>
          <a:lstStyle/>
          <a:p>
            <a:pPr lvl="0" marL="0" indent="0">
              <a:buNone/>
              <a:spcBef>
                <a:spcPts val="300"/>
              </a:spcBef>
              <a:defRPr/>
            </a:pPr>
            <a:r>
              <a:rPr kumimoji="1" lang="fr-CI" sz="1250" b="0" noProof="0">
                <a:latin typeface="Helvetica" panose="020B0604020202020204" pitchFamily="34" charset="0"/>
                <a:cs typeface="Helvetica" panose="020B0604020202020204" pitchFamily="34" charset="0"/>
              </a:rPr>
              <a:t>La base reproduit les fichiers du FPPN sans perte, mais il manque les données nécessaires aux calculs actuariels.</a:t>
            </a:r>
          </a:p>
        </p:txBody>
      </p:sp>
      <p:sp>
        <p:nvSpPr>
          <p:cNvPr id="32" name="Rectangle 31"/>
          <p:cNvSpPr/>
          <p:nvPr/>
        </p:nvSpPr>
        <p:spPr>
          <a:xfrm>
            <a:off x="6623912" y="1926662"/>
            <a:ext cx="3122592" cy="1428712"/>
          </a:xfrm>
          <a:prstGeom prst="rect">
            <a:avLst/>
          </a:prstGeom>
        </p:spPr>
        <p:txBody>
          <a:bodyPr wrap="square">
            <a:spAutoFit/>
          </a:bodyPr>
          <a:lstStyle/>
          <a:p>
            <a:pPr lvl="0" marL="0" indent="0">
              <a:buNone/>
              <a:spcBef>
                <a:spcPts val="300"/>
              </a:spcBef>
              <a:defRPr/>
            </a:pPr>
            <a:r>
              <a:rPr kumimoji="1" lang="fr-CI" sz="1250" b="0" noProof="0">
                <a:latin typeface="Helvetica" panose="020B0604020202020204" pitchFamily="34" charset="0"/>
                <a:cs typeface="Helvetica" panose="020B0604020202020204" pitchFamily="34" charset="0"/>
              </a:rPr>
              <a:t>Les empreintes, les lignes et les totaux des logiciels sont identiques. Adenka a écarté 87 lignes de total et corrigé 17 montants doublés.</a:t>
            </a:r>
          </a:p>
        </p:txBody>
      </p:sp>
      <p:sp>
        <p:nvSpPr>
          <p:cNvPr id="33" name="Rectangle 32"/>
          <p:cNvSpPr/>
          <p:nvPr/>
        </p:nvSpPr>
        <p:spPr>
          <a:xfrm>
            <a:off x="2093705" y="4388689"/>
            <a:ext cx="3122592" cy="1428712"/>
          </a:xfrm>
          <a:prstGeom prst="rect">
            <a:avLst/>
          </a:prstGeom>
        </p:spPr>
        <p:txBody>
          <a:bodyPr wrap="square">
            <a:spAutoFit/>
          </a:bodyPr>
          <a:lstStyle/>
          <a:p>
            <a:pPr lvl="0" marL="0" indent="0">
              <a:buNone/>
              <a:spcBef>
                <a:spcPts val="300"/>
              </a:spcBef>
              <a:defRPr/>
            </a:pPr>
            <a:r>
              <a:rPr kumimoji="1" lang="fr-CI" sz="1250" b="0" noProof="0">
                <a:latin typeface="Helvetica" panose="020B0604020202020204" pitchFamily="34" charset="0"/>
                <a:cs typeface="Helvetica" panose="020B0604020202020204" pitchFamily="34" charset="0"/>
              </a:rPr>
              <a:t>La qualité des analyses dépend désormais de la transmission des données manquantes, et non plus du traitement des fichiers.</a:t>
            </a:r>
          </a:p>
        </p:txBody>
      </p:sp>
      <p:sp>
        <p:nvSpPr>
          <p:cNvPr id="34" name="Rectangle 33"/>
          <p:cNvSpPr/>
          <p:nvPr/>
        </p:nvSpPr>
        <p:spPr>
          <a:xfrm>
            <a:off x="6768142" y="4336111"/>
            <a:ext cx="3122592" cy="1428712"/>
          </a:xfrm>
          <a:prstGeom prst="rect">
            <a:avLst/>
          </a:prstGeom>
        </p:spPr>
        <p:txBody>
          <a:bodyPr wrap="square">
            <a:spAutoFit/>
          </a:bodyPr>
          <a:lstStyle/>
          <a:p>
            <a:pPr lvl="0" marL="0" indent="0">
              <a:buNone/>
              <a:spcBef>
                <a:spcPts val="300"/>
              </a:spcBef>
              <a:defRPr/>
            </a:pPr>
            <a:r>
              <a:rPr kumimoji="1" lang="fr-CI" sz="1250" b="0" noProof="0">
                <a:latin typeface="Helvetica" panose="020B0604020202020204" pitchFamily="34" charset="0"/>
                <a:cs typeface="Helvetica" panose="020B0604020202020204" pitchFamily="34" charset="0"/>
              </a:rPr>
              <a:t>Le FPPN doit transmettre les bases de prestations, les dates de naissance et les fichiers vides de décembre 2024.</a:t>
            </a:r>
          </a:p>
        </p:txBody>
      </p:sp>
      <p:sp>
        <p:nvSpPr>
          <p:cNvPr id="51"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À retenir : données</a:t>
            </a:r>
          </a:p>
        </p:txBody>
      </p:sp>
      <p:sp>
        <p:nvSpPr>
          <p:cNvPr id="52"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Les données reçues sont fidèlement reprises, mais incomplètes</a:t>
            </a:r>
          </a:p>
        </p:txBody>
      </p:sp>
      <p:sp>
        <p:nvSpPr>
          <p:cNvPr id="53"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Base contrôlée à 100 %, sans prestations, sans âges et sans précomptes mensuels de 2020 à 2022</a:t>
            </a:r>
          </a:p>
        </p:txBody>
      </p:sp>
      <p:sp>
        <p:nvSpPr>
          <p:cNvPr id="54"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analyses Adenka</a:t>
            </a:r>
          </a:p>
        </p:txBody>
      </p:sp>
      <p:sp>
        <p:nvSpPr>
          <p:cNvPr id="55" name="TextBox 54"/>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a:t>
            </a:r>
          </a:p>
        </p:txBody>
      </p:sp>
    </p:spTree>
    <p:extLst>
      <p:ext uri="{BB962C8B-B14F-4D97-AF65-F5344CB8AC3E}">
        <p14:creationId xmlns:p14="http://schemas.microsoft.com/office/powerpoint/2010/main" val="3843182805"/>
      </p:ext>
    </p:extLst>
  </p:cSld>
  <p:clrMapOvr>
    <a:masterClrMapping/>
  </p:clrMapOvr>
  <p:transition>
    <p:fade/>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Google Shape;8651;p70"/>
          <p:cNvSpPr/>
          <p:nvPr/>
        </p:nvSpPr>
        <p:spPr>
          <a:xfrm>
            <a:off x="2013108" y="2588204"/>
            <a:ext cx="1380332" cy="1428252"/>
          </a:xfrm>
          <a:custGeom>
            <a:avLst/>
            <a:gdLst/>
            <a:ahLst/>
            <a:cxnLst/>
            <a:rect l="l" t="t" r="r" b="b"/>
            <a:pathLst>
              <a:path w="8670" h="8971" extrusionOk="0">
                <a:moveTo>
                  <a:pt x="7105" y="1302"/>
                </a:moveTo>
                <a:cubicBezTo>
                  <a:pt x="7105" y="1315"/>
                  <a:pt x="7105" y="1328"/>
                  <a:pt x="7105" y="1341"/>
                </a:cubicBezTo>
                <a:cubicBezTo>
                  <a:pt x="7118" y="1980"/>
                  <a:pt x="7183" y="2619"/>
                  <a:pt x="7183" y="3283"/>
                </a:cubicBezTo>
                <a:cubicBezTo>
                  <a:pt x="7170" y="4404"/>
                  <a:pt x="7183" y="5525"/>
                  <a:pt x="7222" y="6646"/>
                </a:cubicBezTo>
                <a:cubicBezTo>
                  <a:pt x="7235" y="6959"/>
                  <a:pt x="7222" y="7259"/>
                  <a:pt x="7222" y="7559"/>
                </a:cubicBezTo>
                <a:lnTo>
                  <a:pt x="7222" y="7585"/>
                </a:lnTo>
                <a:cubicBezTo>
                  <a:pt x="6935" y="7598"/>
                  <a:pt x="6649" y="7611"/>
                  <a:pt x="6362" y="7611"/>
                </a:cubicBezTo>
                <a:cubicBezTo>
                  <a:pt x="6101" y="7598"/>
                  <a:pt x="5853" y="7585"/>
                  <a:pt x="5593" y="7585"/>
                </a:cubicBezTo>
                <a:cubicBezTo>
                  <a:pt x="4159" y="7559"/>
                  <a:pt x="2712" y="7559"/>
                  <a:pt x="1291" y="7442"/>
                </a:cubicBezTo>
                <a:cubicBezTo>
                  <a:pt x="1278" y="7207"/>
                  <a:pt x="1239" y="6959"/>
                  <a:pt x="1226" y="6725"/>
                </a:cubicBezTo>
                <a:cubicBezTo>
                  <a:pt x="1200" y="6255"/>
                  <a:pt x="1187" y="5799"/>
                  <a:pt x="1200" y="5330"/>
                </a:cubicBezTo>
                <a:cubicBezTo>
                  <a:pt x="1213" y="4222"/>
                  <a:pt x="1226" y="3101"/>
                  <a:pt x="1343" y="1993"/>
                </a:cubicBezTo>
                <a:lnTo>
                  <a:pt x="1552" y="1993"/>
                </a:lnTo>
                <a:cubicBezTo>
                  <a:pt x="2138" y="1980"/>
                  <a:pt x="2725" y="1889"/>
                  <a:pt x="3312" y="1810"/>
                </a:cubicBezTo>
                <a:cubicBezTo>
                  <a:pt x="4576" y="1641"/>
                  <a:pt x="5840" y="1524"/>
                  <a:pt x="7105" y="1302"/>
                </a:cubicBezTo>
                <a:close/>
                <a:moveTo>
                  <a:pt x="7529" y="1"/>
                </a:moveTo>
                <a:cubicBezTo>
                  <a:pt x="7291" y="1"/>
                  <a:pt x="7059" y="53"/>
                  <a:pt x="6818" y="64"/>
                </a:cubicBezTo>
                <a:cubicBezTo>
                  <a:pt x="6375" y="103"/>
                  <a:pt x="5932" y="142"/>
                  <a:pt x="5488" y="194"/>
                </a:cubicBezTo>
                <a:cubicBezTo>
                  <a:pt x="4824" y="259"/>
                  <a:pt x="4107" y="350"/>
                  <a:pt x="3429" y="389"/>
                </a:cubicBezTo>
                <a:cubicBezTo>
                  <a:pt x="2686" y="429"/>
                  <a:pt x="1943" y="481"/>
                  <a:pt x="1213" y="598"/>
                </a:cubicBezTo>
                <a:cubicBezTo>
                  <a:pt x="913" y="624"/>
                  <a:pt x="652" y="728"/>
                  <a:pt x="509" y="976"/>
                </a:cubicBezTo>
                <a:cubicBezTo>
                  <a:pt x="470" y="1028"/>
                  <a:pt x="444" y="1080"/>
                  <a:pt x="431" y="1146"/>
                </a:cubicBezTo>
                <a:cubicBezTo>
                  <a:pt x="300" y="1524"/>
                  <a:pt x="287" y="1928"/>
                  <a:pt x="300" y="2332"/>
                </a:cubicBezTo>
                <a:cubicBezTo>
                  <a:pt x="209" y="3010"/>
                  <a:pt x="209" y="3700"/>
                  <a:pt x="209" y="4378"/>
                </a:cubicBezTo>
                <a:cubicBezTo>
                  <a:pt x="170" y="4769"/>
                  <a:pt x="144" y="5173"/>
                  <a:pt x="131" y="5565"/>
                </a:cubicBezTo>
                <a:cubicBezTo>
                  <a:pt x="105" y="6203"/>
                  <a:pt x="14" y="6842"/>
                  <a:pt x="14" y="7481"/>
                </a:cubicBezTo>
                <a:cubicBezTo>
                  <a:pt x="1" y="7911"/>
                  <a:pt x="157" y="8315"/>
                  <a:pt x="613" y="8419"/>
                </a:cubicBezTo>
                <a:cubicBezTo>
                  <a:pt x="1056" y="8550"/>
                  <a:pt x="1526" y="8524"/>
                  <a:pt x="1982" y="8550"/>
                </a:cubicBezTo>
                <a:cubicBezTo>
                  <a:pt x="2243" y="8563"/>
                  <a:pt x="2503" y="8589"/>
                  <a:pt x="2764" y="8615"/>
                </a:cubicBezTo>
                <a:cubicBezTo>
                  <a:pt x="3885" y="8745"/>
                  <a:pt x="5006" y="8902"/>
                  <a:pt x="6140" y="8941"/>
                </a:cubicBezTo>
                <a:cubicBezTo>
                  <a:pt x="6220" y="8945"/>
                  <a:pt x="6302" y="8946"/>
                  <a:pt x="6383" y="8946"/>
                </a:cubicBezTo>
                <a:cubicBezTo>
                  <a:pt x="6581" y="8946"/>
                  <a:pt x="6781" y="8937"/>
                  <a:pt x="6974" y="8928"/>
                </a:cubicBezTo>
                <a:cubicBezTo>
                  <a:pt x="7118" y="8941"/>
                  <a:pt x="7274" y="8941"/>
                  <a:pt x="7418" y="8941"/>
                </a:cubicBezTo>
                <a:cubicBezTo>
                  <a:pt x="7568" y="8956"/>
                  <a:pt x="7723" y="8971"/>
                  <a:pt x="7877" y="8971"/>
                </a:cubicBezTo>
                <a:cubicBezTo>
                  <a:pt x="7990" y="8971"/>
                  <a:pt x="8103" y="8963"/>
                  <a:pt x="8213" y="8941"/>
                </a:cubicBezTo>
                <a:cubicBezTo>
                  <a:pt x="8643" y="8810"/>
                  <a:pt x="8565" y="8093"/>
                  <a:pt x="8604" y="7741"/>
                </a:cubicBezTo>
                <a:cubicBezTo>
                  <a:pt x="8669" y="6620"/>
                  <a:pt x="8539" y="5499"/>
                  <a:pt x="8487" y="4378"/>
                </a:cubicBezTo>
                <a:cubicBezTo>
                  <a:pt x="8434" y="3453"/>
                  <a:pt x="8330" y="2527"/>
                  <a:pt x="8252" y="1589"/>
                </a:cubicBezTo>
                <a:cubicBezTo>
                  <a:pt x="8200" y="1341"/>
                  <a:pt x="8239" y="637"/>
                  <a:pt x="8096" y="350"/>
                </a:cubicBezTo>
                <a:lnTo>
                  <a:pt x="8082" y="350"/>
                </a:lnTo>
                <a:cubicBezTo>
                  <a:pt x="8056" y="181"/>
                  <a:pt x="7952" y="51"/>
                  <a:pt x="7704" y="11"/>
                </a:cubicBezTo>
                <a:cubicBezTo>
                  <a:pt x="7645" y="4"/>
                  <a:pt x="7587" y="1"/>
                  <a:pt x="7529" y="1"/>
                </a:cubicBezTo>
                <a:close/>
              </a:path>
            </a:pathLst>
          </a:custGeom>
          <a:solidFill>
            <a:schemeClr val="bg1"/>
          </a:solidFill>
          <a:ln w="76200">
            <a:solidFill>
              <a:schemeClr val="tx1"/>
            </a:solidFill>
          </a:ln>
        </p:spPr>
        <p:txBody>
          <a:bodyPr spcFirstLastPara="1" wrap="square" lIns="91425" tIns="91425" rIns="91425" bIns="91425" anchor="ctr" anchorCtr="0">
            <a:noAutofit/>
          </a:bodyPr>
          <a:lstStyle/>
          <a:p>
            <a:pPr marL="0" lvl="0" indent="0" algn="l" rtl="0">
              <a:spcBef>
                <a:spcPts val="0"/>
              </a:spcBef>
              <a:spcAft>
                <a:spcPts val="0"/>
              </a:spcAft>
              <a:buNone/>
            </a:pPr>
            <a:endParaRPr lang="fr-CI" noProof="0">
              <a:solidFill>
                <a:schemeClr val="bg1"/>
              </a:solidFill>
              <a:latin typeface="Helvetica" panose="020B0604020202020204" pitchFamily="34" charset="0"/>
              <a:cs typeface="Helvetica" panose="020B0604020202020204" pitchFamily="34" charset="0"/>
            </a:endParaRPr>
          </a:p>
        </p:txBody>
      </p:sp>
      <p:sp>
        <p:nvSpPr>
          <p:cNvPr id="25" name="Rectangle 24">
            <a:extLst>
              <a:ext uri="{FF2B5EF4-FFF2-40B4-BE49-F238E27FC236}">
                <a16:creationId xmlns:a16="http://schemas.microsoft.com/office/drawing/2014/main" id="{9B9B23AA-050D-4543-80A0-873FE31AFFF7}"/>
              </a:ext>
            </a:extLst>
          </p:cNvPr>
          <p:cNvSpPr/>
          <p:nvPr/>
        </p:nvSpPr>
        <p:spPr>
          <a:xfrm>
            <a:off x="2446471" y="2869098"/>
            <a:ext cx="513606" cy="936923"/>
          </a:xfrm>
          <a:prstGeom prst="rect">
            <a:avLst/>
          </a:prstGeom>
        </p:spPr>
        <p:txBody>
          <a:bodyPr wrap="square" lIns="0" tIns="0" rIns="0" bIns="0">
            <a:spAutoFit/>
          </a:bodyPr>
          <a:lstStyle/>
          <a:p>
            <a:pPr lvl="0">
              <a:lnSpc>
                <a:spcPct val="110000"/>
              </a:lnSpc>
            </a:pPr>
            <a:r>
              <a:rPr lang="fr-CI" sz="6000" b="1" noProof="0">
                <a:solidFill>
                  <a:schemeClr val="bg1"/>
                </a:solidFill>
                <a:latin typeface="Helvetica" panose="020B0604020202020204" pitchFamily="34" charset="0"/>
                <a:ea typeface="Open Sans Semibold" panose="020B0706030804020204" pitchFamily="34" charset="0"/>
                <a:cs typeface="Helvetica" panose="020B0604020202020204" pitchFamily="34" charset="0"/>
              </a:rPr>
              <a:t>4</a:t>
            </a:r>
          </a:p>
        </p:txBody>
      </p:sp>
      <p:sp>
        <p:nvSpPr>
          <p:cNvPr id="10" name="Rectangle 9"/>
          <p:cNvSpPr/>
          <p:nvPr/>
        </p:nvSpPr>
        <p:spPr>
          <a:xfrm>
            <a:off x="3938554" y="2462184"/>
            <a:ext cx="3816000" cy="1200329"/>
          </a:xfrm>
          <a:prstGeom prst="rect">
            <a:avLst/>
          </a:prstGeom>
        </p:spPr>
        <p:txBody>
          <a:bodyPr wrap="square">
            <a:spAutoFit/>
          </a:bodyPr>
          <a:lstStyle/>
          <a:p>
            <a:r>
              <a:rPr lang="fr-CI" sz="3600" b="1" noProof="0">
                <a:solidFill>
                  <a:schemeClr val="bg1"/>
                </a:solidFill>
                <a:latin typeface="Helvetica" panose="020B0604020202020204" pitchFamily="34" charset="0"/>
                <a:cs typeface="Helvetica" panose="020B0604020202020204" pitchFamily="34" charset="0"/>
              </a:rPr>
              <a:t>Effectifs et cotisations</a:t>
            </a:r>
          </a:p>
        </p:txBody>
      </p:sp>
      <p:pic>
        <p:nvPicPr>
          <p:cNvPr id="9" name="Image 8">
            <a:extLst>
              <a:ext uri="{FF2B5EF4-FFF2-40B4-BE49-F238E27FC236}">
                <a16:creationId xmlns:a16="http://schemas.microsoft.com/office/drawing/2014/main" id="{2C356854-0685-DCEF-E2F6-65D5E9653A47}"/>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71274" y="-185107"/>
            <a:ext cx="3179518" cy="1268781"/>
          </a:xfrm>
          <a:prstGeom prst="rect">
            <a:avLst/>
          </a:prstGeom>
        </p:spPr>
      </p:pic>
      <p:sp>
        <p:nvSpPr>
          <p:cNvPr id="6" name="Rectangle 5"/>
          <p:cNvSpPr/>
          <p:nvPr/>
        </p:nvSpPr>
        <p:spPr>
          <a:xfrm>
            <a:off x="3938554" y="3337559"/>
            <a:ext cx="3816000" cy="923330"/>
          </a:xfrm>
          <a:prstGeom prst="rect">
            <a:avLst/>
          </a:prstGeom>
        </p:spPr>
        <p:txBody>
          <a:bodyPr wrap="square">
            <a:spAutoFit/>
          </a:bodyPr>
          <a:lstStyle/>
          <a:p>
            <a:br>
              <a:rPr lang="fr-CI" noProof="0">
                <a:solidFill>
                  <a:schemeClr val="bg1"/>
                </a:solidFill>
              </a:rPr>
            </a:br>
            <a:r>
              <a:rPr lang="fr-CI" noProof="0">
                <a:solidFill>
                  <a:srgbClr val="EFAC62"/>
                </a:solidFill>
                <a:latin typeface="Helvetica" panose="020B0604020202020204" pitchFamily="34" charset="0"/>
                <a:ea typeface="Open Sans Light" panose="020B0306030504020204" pitchFamily="34" charset="0"/>
                <a:cs typeface="Helvetica" panose="020B0604020202020204" pitchFamily="34" charset="0"/>
              </a:rPr>
              <a:t>Cotisants, retraités, taux, cotisations en termes réels</a:t>
            </a:r>
          </a:p>
        </p:txBody>
      </p:sp>
      <p:pic>
        <p:nvPicPr>
          <p:cNvPr id="11" name="Image 1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865561" y="2415481"/>
            <a:ext cx="1566911" cy="1600975"/>
          </a:xfrm>
          <a:prstGeom prst="rect">
            <a:avLst/>
          </a:prstGeom>
        </p:spPr>
      </p:pic>
    </p:spTree>
    <p:extLst>
      <p:ext uri="{BB962C8B-B14F-4D97-AF65-F5344CB8AC3E}">
        <p14:creationId xmlns:p14="http://schemas.microsoft.com/office/powerpoint/2010/main" val="840501434"/>
      </p:ext>
    </p:extLst>
  </p:cSld>
  <p:clrMapOvr>
    <a:masterClrMapping/>
  </p:clrMapOvr>
  <p:transition>
    <p:fade/>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7" name="Image 36"/>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3" name="Rectangle 22">
            <a:extLst>
              <a:ext uri="{FF2B5EF4-FFF2-40B4-BE49-F238E27FC236}">
                <a16:creationId xmlns:a16="http://schemas.microsoft.com/office/drawing/2014/main" id="{4CD23CFE-3F31-4BA9-B26F-B9B5B351518E}"/>
              </a:ext>
            </a:extLst>
          </p:cNvPr>
          <p:cNvSpPr/>
          <p:nvPr/>
        </p:nvSpPr>
        <p:spPr>
          <a:xfrm>
            <a:off x="2106184" y="1811264"/>
            <a:ext cx="9685766" cy="901761"/>
          </a:xfrm>
          <a:prstGeom prst="rect">
            <a:avLst/>
          </a:prstGeom>
          <a:ln w="12700">
            <a:solidFill>
              <a:srgbClr val="112A40"/>
            </a:solidFill>
          </a:ln>
        </p:spPr>
        <p:txBody>
          <a:bodyPr wrap="square" lIns="162000" tIns="54000" rIns="72000" bIns="54000" anchor="ctr">
            <a:noAutofit/>
          </a:bodyPr>
          <a:lstStyle/>
          <a:p>
            <a:pPr lvl="0">
              <a:lnSpc>
                <a:spcPct val="110000"/>
              </a:lnSpc>
            </a:pPr>
            <a:r>
              <a:rPr lang="fr-CI" sz="1300" b="1" noProof="0">
                <a:latin typeface="Helvetica" panose="020B0604020202020204" pitchFamily="34" charset="0"/>
                <a:ea typeface="Open Sans Semibold" panose="020B0706030804020204" pitchFamily="34" charset="0"/>
                <a:cs typeface="Helvetica" panose="020B0604020202020204" pitchFamily="34" charset="0"/>
              </a:rPr>
              <a:t>Effectif</a:t>
            </a:r>
          </a:p>
          <a:p>
            <a:pPr lvl="0">
              <a:lnSpc>
                <a:spcPct val="110000"/>
              </a:lnSpc>
            </a:pPr>
            <a:r>
              <a:rPr lang="fr-CI" sz="1150" noProof="0" b="0">
                <a:latin typeface="Helvetica" panose="020B0604020202020204" pitchFamily="34" charset="0"/>
                <a:ea typeface="Open Sans Light" panose="020B0306030504020204" pitchFamily="34" charset="0"/>
                <a:cs typeface="Helvetica" panose="020B0604020202020204" pitchFamily="34" charset="0"/>
              </a:rPr>
              <a:t>L'effectif du mois est le nombre de matricules distincts du fichier maladie 936 de ce mois. Trente et un mois sont disponibles.</a:t>
            </a:r>
          </a:p>
        </p:txBody>
      </p:sp>
      <p:sp>
        <p:nvSpPr>
          <p:cNvPr id="28" name="Rectangle 27">
            <a:extLst>
              <a:ext uri="{FF2B5EF4-FFF2-40B4-BE49-F238E27FC236}">
                <a16:creationId xmlns:a16="http://schemas.microsoft.com/office/drawing/2014/main" id="{9B9B23AA-050D-4543-80A0-873FE31AFFF7}"/>
              </a:ext>
            </a:extLst>
          </p:cNvPr>
          <p:cNvSpPr/>
          <p:nvPr/>
        </p:nvSpPr>
        <p:spPr>
          <a:xfrm>
            <a:off x="1538714" y="1463475"/>
            <a:ext cx="5748535" cy="166944"/>
          </a:xfrm>
          <a:prstGeom prst="rect">
            <a:avLst/>
          </a:prstGeom>
        </p:spPr>
        <p:txBody>
          <a:bodyPr wrap="square" lIns="0" tIns="0" rIns="0" bIns="0">
            <a:spAutoFit/>
          </a:bodyPr>
          <a:lstStyle/>
          <a:p>
            <a:pPr lvl="0">
              <a:lnSpc>
                <a:spcPct val="110000"/>
              </a:lnSpc>
            </a:pPr>
            <a:r>
              <a:rPr lang="fr-CI" sz="1300" b="1" noProof="0">
                <a:latin typeface="Helvetica" panose="020B0604020202020204" pitchFamily="34" charset="0"/>
                <a:ea typeface="Open Sans Semibold" panose="020B0706030804020204" pitchFamily="34" charset="0"/>
                <a:cs typeface="Helvetica" panose="020B0604020202020204" pitchFamily="34" charset="0"/>
              </a:rPr>
              <a:t/>
            </a:r>
          </a:p>
        </p:txBody>
      </p:sp>
      <p:cxnSp>
        <p:nvCxnSpPr>
          <p:cNvPr id="29" name="Straight Connector 28">
            <a:extLst>
              <a:ext uri="{FF2B5EF4-FFF2-40B4-BE49-F238E27FC236}">
                <a16:creationId xmlns:a16="http://schemas.microsoft.com/office/drawing/2014/main" id="{09E553D9-3562-45A7-BE4B-0F12FAA0490F}"/>
              </a:ext>
            </a:extLst>
          </p:cNvPr>
          <p:cNvCxnSpPr>
            <a:cxnSpLocks/>
          </p:cNvCxnSpPr>
          <p:nvPr/>
        </p:nvCxnSpPr>
        <p:spPr>
          <a:xfrm>
            <a:off x="916803" y="1707866"/>
            <a:ext cx="0" cy="3668091"/>
          </a:xfrm>
          <a:prstGeom prst="line">
            <a:avLst/>
          </a:prstGeom>
          <a:ln w="12700">
            <a:solidFill>
              <a:srgbClr val="112A40"/>
            </a:solidFill>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DA735D38-741F-4EFB-826C-6F87FD459AB4}"/>
              </a:ext>
            </a:extLst>
          </p:cNvPr>
          <p:cNvCxnSpPr/>
          <p:nvPr/>
        </p:nvCxnSpPr>
        <p:spPr>
          <a:xfrm>
            <a:off x="916803" y="2291826"/>
            <a:ext cx="621911" cy="3600"/>
          </a:xfrm>
          <a:prstGeom prst="line">
            <a:avLst/>
          </a:prstGeom>
          <a:ln w="12700">
            <a:solidFill>
              <a:srgbClr val="112A40"/>
            </a:solidFill>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EBCFE36B-AE16-49E8-90A6-6621A0EB0473}"/>
              </a:ext>
            </a:extLst>
          </p:cNvPr>
          <p:cNvCxnSpPr/>
          <p:nvPr/>
        </p:nvCxnSpPr>
        <p:spPr>
          <a:xfrm>
            <a:off x="916803" y="3273370"/>
            <a:ext cx="621911" cy="3600"/>
          </a:xfrm>
          <a:prstGeom prst="line">
            <a:avLst/>
          </a:prstGeom>
          <a:ln w="12700">
            <a:solidFill>
              <a:srgbClr val="112A40"/>
            </a:solidFill>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2697F6E2-C26B-4E5F-B7F9-95C6E9325040}"/>
              </a:ext>
            </a:extLst>
          </p:cNvPr>
          <p:cNvCxnSpPr/>
          <p:nvPr/>
        </p:nvCxnSpPr>
        <p:spPr>
          <a:xfrm>
            <a:off x="916803" y="5368324"/>
            <a:ext cx="621911" cy="3600"/>
          </a:xfrm>
          <a:prstGeom prst="line">
            <a:avLst/>
          </a:prstGeom>
          <a:ln w="12700">
            <a:solidFill>
              <a:srgbClr val="112A40"/>
            </a:solidFill>
          </a:ln>
        </p:spPr>
        <p:style>
          <a:lnRef idx="1">
            <a:schemeClr val="accent1"/>
          </a:lnRef>
          <a:fillRef idx="0">
            <a:schemeClr val="accent1"/>
          </a:fillRef>
          <a:effectRef idx="0">
            <a:schemeClr val="accent1"/>
          </a:effectRef>
          <a:fontRef idx="minor">
            <a:schemeClr val="tx1"/>
          </a:fontRef>
        </p:style>
      </p:cxnSp>
      <p:sp>
        <p:nvSpPr>
          <p:cNvPr id="24" name="Rectangle 23">
            <a:extLst>
              <a:ext uri="{FF2B5EF4-FFF2-40B4-BE49-F238E27FC236}">
                <a16:creationId xmlns:a16="http://schemas.microsoft.com/office/drawing/2014/main" id="{4CD23CFE-3F31-4BA9-B26F-B9B5B351518E}"/>
              </a:ext>
            </a:extLst>
          </p:cNvPr>
          <p:cNvSpPr/>
          <p:nvPr/>
        </p:nvSpPr>
        <p:spPr>
          <a:xfrm>
            <a:off x="2103510" y="2847523"/>
            <a:ext cx="9685766" cy="901761"/>
          </a:xfrm>
          <a:prstGeom prst="rect">
            <a:avLst/>
          </a:prstGeom>
          <a:ln w="12700">
            <a:solidFill>
              <a:srgbClr val="112A40"/>
            </a:solidFill>
          </a:ln>
        </p:spPr>
        <p:txBody>
          <a:bodyPr wrap="square" lIns="162000" tIns="54000" rIns="72000" bIns="54000" anchor="ctr">
            <a:noAutofit/>
          </a:bodyPr>
          <a:lstStyle/>
          <a:p>
            <a:pPr lvl="0">
              <a:lnSpc>
                <a:spcPct val="110000"/>
              </a:lnSpc>
            </a:pPr>
            <a:r>
              <a:rPr lang="fr-CI" sz="1300" b="1" noProof="0">
                <a:latin typeface="Helvetica" panose="020B0604020202020204" pitchFamily="34" charset="0"/>
                <a:ea typeface="Open Sans Semibold" panose="020B0706030804020204" pitchFamily="34" charset="0"/>
                <a:cs typeface="Helvetica" panose="020B0604020202020204" pitchFamily="34" charset="0"/>
              </a:rPr>
              <a:t>Flux</a:t>
            </a:r>
          </a:p>
          <a:p>
            <a:pPr lvl="0">
              <a:lnSpc>
                <a:spcPct val="110000"/>
              </a:lnSpc>
            </a:pPr>
            <a:r>
              <a:rPr lang="fr-CI" sz="1150" noProof="0" b="0">
                <a:latin typeface="Helvetica" panose="020B0604020202020204" pitchFamily="34" charset="0"/>
                <a:ea typeface="Open Sans Light" panose="020B0306030504020204" pitchFamily="34" charset="0"/>
                <a:cs typeface="Helvetica" panose="020B0604020202020204" pitchFamily="34" charset="0"/>
              </a:rPr>
              <a:t>Une entrée est un matricule présent un mois et absent le mois précédent. Une sortie est l'inverse. Seuls les mois consécutifs sont comparés.</a:t>
            </a:r>
          </a:p>
        </p:txBody>
      </p:sp>
      <p:sp>
        <p:nvSpPr>
          <p:cNvPr id="33" name="Rectangle 32">
            <a:extLst>
              <a:ext uri="{FF2B5EF4-FFF2-40B4-BE49-F238E27FC236}">
                <a16:creationId xmlns:a16="http://schemas.microsoft.com/office/drawing/2014/main" id="{4CD23CFE-3F31-4BA9-B26F-B9B5B351518E}"/>
              </a:ext>
            </a:extLst>
          </p:cNvPr>
          <p:cNvSpPr/>
          <p:nvPr/>
        </p:nvSpPr>
        <p:spPr>
          <a:xfrm>
            <a:off x="2125344" y="3881185"/>
            <a:ext cx="9685766" cy="901761"/>
          </a:xfrm>
          <a:prstGeom prst="rect">
            <a:avLst/>
          </a:prstGeom>
          <a:ln w="12700">
            <a:solidFill>
              <a:srgbClr val="112A40"/>
            </a:solidFill>
          </a:ln>
        </p:spPr>
        <p:txBody>
          <a:bodyPr wrap="square" lIns="162000" tIns="54000" rIns="72000" bIns="54000" anchor="ctr">
            <a:noAutofit/>
          </a:bodyPr>
          <a:lstStyle/>
          <a:p>
            <a:pPr lvl="0">
              <a:lnSpc>
                <a:spcPct val="110000"/>
              </a:lnSpc>
            </a:pPr>
            <a:r>
              <a:rPr lang="fr-CI" sz="1300" b="1" noProof="0">
                <a:latin typeface="Helvetica" panose="020B0604020202020204" pitchFamily="34" charset="0"/>
                <a:ea typeface="Open Sans Semibold" panose="020B0706030804020204" pitchFamily="34" charset="0"/>
                <a:cs typeface="Helvetica" panose="020B0604020202020204" pitchFamily="34" charset="0"/>
              </a:rPr>
              <a:t>Taux de cotisation</a:t>
            </a:r>
          </a:p>
          <a:p>
            <a:pPr lvl="0">
              <a:lnSpc>
                <a:spcPct val="110000"/>
              </a:lnSpc>
            </a:pPr>
            <a:r>
              <a:rPr lang="fr-CI" sz="1150" noProof="0" b="0">
                <a:latin typeface="Helvetica" panose="020B0604020202020204" pitchFamily="34" charset="0"/>
                <a:ea typeface="Open Sans Light" panose="020B0306030504020204" pitchFamily="34" charset="0"/>
                <a:cs typeface="Helvetica" panose="020B0604020202020204" pitchFamily="34" charset="0"/>
              </a:rPr>
              <a:t>Le taux rapporte le précompte du mois au salaire de base du mois, pour chaque agent : 209 670 lignes sont calculées.</a:t>
            </a:r>
          </a:p>
        </p:txBody>
      </p:sp>
      <p:sp>
        <p:nvSpPr>
          <p:cNvPr id="34" name="Rectangle 33">
            <a:extLst>
              <a:ext uri="{FF2B5EF4-FFF2-40B4-BE49-F238E27FC236}">
                <a16:creationId xmlns:a16="http://schemas.microsoft.com/office/drawing/2014/main" id="{4CD23CFE-3F31-4BA9-B26F-B9B5B351518E}"/>
              </a:ext>
            </a:extLst>
          </p:cNvPr>
          <p:cNvSpPr/>
          <p:nvPr/>
        </p:nvSpPr>
        <p:spPr>
          <a:xfrm>
            <a:off x="2122670" y="4917444"/>
            <a:ext cx="9685766" cy="901761"/>
          </a:xfrm>
          <a:prstGeom prst="rect">
            <a:avLst/>
          </a:prstGeom>
          <a:ln w="12700">
            <a:solidFill>
              <a:srgbClr val="112A40"/>
            </a:solidFill>
          </a:ln>
        </p:spPr>
        <p:txBody>
          <a:bodyPr wrap="square" lIns="162000" tIns="54000" rIns="72000" bIns="54000" anchor="ctr">
            <a:noAutofit/>
          </a:bodyPr>
          <a:lstStyle/>
          <a:p>
            <a:pPr lvl="1">
              <a:lnSpc>
                <a:spcPct val="110000"/>
              </a:lnSpc>
            </a:pPr>
            <a:r>
              <a:rPr lang="fr-CI" sz="1300" b="1" noProof="0">
                <a:latin typeface="Helvetica" panose="020B0604020202020204" pitchFamily="34" charset="0"/>
                <a:ea typeface="Open Sans Semibold" panose="020B0706030804020204" pitchFamily="34" charset="0"/>
                <a:cs typeface="Helvetica" panose="020B0604020202020204" pitchFamily="34" charset="0"/>
              </a:rPr>
              <a:t>Limite</a:t>
            </a:r>
          </a:p>
          <a:p>
            <a:pPr lvl="1">
              <a:lnSpc>
                <a:spcPct val="110000"/>
              </a:lnSpc>
            </a:pPr>
            <a:r>
              <a:rPr lang="fr-CI" sz="1150" noProof="0" b="0">
                <a:latin typeface="Helvetica" panose="020B0604020202020204" pitchFamily="34" charset="0"/>
                <a:ea typeface="Open Sans Light" panose="020B0306030504020204" pitchFamily="34" charset="0"/>
                <a:cs typeface="Helvetica" panose="020B0604020202020204" pitchFamily="34" charset="0"/>
              </a:rPr>
              <a:t>Les fichiers ne donnent pas le motif de sortie (retraite, décès, radiation), ni l'âge, ni le sexe des agents.</a:t>
            </a:r>
            <a:endParaRPr lang="fr-CI" sz="1200">
              <a:latin typeface="Helvetica" panose="020B0604020202020204" pitchFamily="34" charset="0"/>
              <a:ea typeface="Open Sans Light" panose="020B0306030504020204" pitchFamily="34" charset="0"/>
              <a:cs typeface="Helvetica" panose="020B0604020202020204" pitchFamily="34" charset="0"/>
            </a:endParaRPr>
          </a:p>
        </p:txBody>
      </p:sp>
      <p:cxnSp>
        <p:nvCxnSpPr>
          <p:cNvPr id="39" name="Straight Connector 30">
            <a:extLst>
              <a:ext uri="{FF2B5EF4-FFF2-40B4-BE49-F238E27FC236}">
                <a16:creationId xmlns:a16="http://schemas.microsoft.com/office/drawing/2014/main" id="{EBCFE36B-AE16-49E8-90A6-6621A0EB0473}"/>
              </a:ext>
            </a:extLst>
          </p:cNvPr>
          <p:cNvCxnSpPr/>
          <p:nvPr/>
        </p:nvCxnSpPr>
        <p:spPr>
          <a:xfrm>
            <a:off x="919504" y="4326976"/>
            <a:ext cx="621911" cy="3600"/>
          </a:xfrm>
          <a:prstGeom prst="line">
            <a:avLst/>
          </a:prstGeom>
          <a:ln w="12700">
            <a:solidFill>
              <a:srgbClr val="112A40"/>
            </a:solidFill>
          </a:ln>
        </p:spPr>
        <p:style>
          <a:lnRef idx="1">
            <a:schemeClr val="accent1"/>
          </a:lnRef>
          <a:fillRef idx="0">
            <a:schemeClr val="accent1"/>
          </a:fillRef>
          <a:effectRef idx="0">
            <a:schemeClr val="accent1"/>
          </a:effectRef>
          <a:fontRef idx="minor">
            <a:schemeClr val="tx1"/>
          </a:fontRef>
        </p:style>
      </p:cxnSp>
      <p:grpSp>
        <p:nvGrpSpPr>
          <p:cNvPr id="11" name="Groupe 10"/>
          <p:cNvGrpSpPr/>
          <p:nvPr/>
        </p:nvGrpSpPr>
        <p:grpSpPr>
          <a:xfrm>
            <a:off x="1554870" y="2047565"/>
            <a:ext cx="548640" cy="548640"/>
            <a:chOff x="-1153645" y="1535690"/>
            <a:chExt cx="548640" cy="548640"/>
          </a:xfrm>
        </p:grpSpPr>
        <p:sp>
          <p:nvSpPr>
            <p:cNvPr id="36" name="Oval 21">
              <a:extLst>
                <a:ext uri="{FF2B5EF4-FFF2-40B4-BE49-F238E27FC236}">
                  <a16:creationId xmlns:a16="http://schemas.microsoft.com/office/drawing/2014/main" id="{7BB796F0-2DE6-45B1-851B-D8991F423CF4}"/>
                </a:ext>
              </a:extLst>
            </p:cNvPr>
            <p:cNvSpPr/>
            <p:nvPr/>
          </p:nvSpPr>
          <p:spPr bwMode="gray">
            <a:xfrm>
              <a:off x="-1153645" y="1535690"/>
              <a:ext cx="548640" cy="548640"/>
            </a:xfrm>
            <a:prstGeom prst="ellipse">
              <a:avLst/>
            </a:prstGeom>
            <a:solidFill>
              <a:schemeClr val="tx1"/>
            </a:solidFill>
            <a:ln w="19050" algn="ctr">
              <a:noFill/>
              <a:miter lim="800000"/>
              <a:headEnd/>
              <a:tailEnd/>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 typeface="Wingdings 2" pitchFamily="18" charset="2"/>
                <a:buNone/>
                <a:tabLst/>
                <a:defRPr/>
              </a:pPr>
              <a:endParaRPr kumimoji="0" lang="fr-CI" sz="1100" b="1" i="0" u="none" strike="noStrike" kern="1200" cap="none" spc="0" normalizeH="0" baseline="0" noProof="0">
                <a:ln>
                  <a:noFill/>
                </a:ln>
                <a:solidFill>
                  <a:prstClr val="white"/>
                </a:solidFill>
                <a:effectLst/>
                <a:uLnTx/>
                <a:uFillTx/>
                <a:latin typeface="Helvetica" panose="020B0604020202020204" pitchFamily="34" charset="0"/>
                <a:ea typeface="Open Sans Semibold" panose="020B0706030804020204" pitchFamily="34" charset="0"/>
                <a:cs typeface="Helvetica" panose="020B0604020202020204" pitchFamily="34" charset="0"/>
              </a:endParaRPr>
            </a:p>
          </p:txBody>
        </p:sp>
        <p:pic>
          <p:nvPicPr>
            <p:cNvPr id="40" name="Image 39"/>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23163" y="1564148"/>
              <a:ext cx="486259" cy="491723"/>
            </a:xfrm>
            <a:prstGeom prst="rect">
              <a:avLst/>
            </a:prstGeom>
          </p:spPr>
        </p:pic>
      </p:grpSp>
      <p:grpSp>
        <p:nvGrpSpPr>
          <p:cNvPr id="12" name="Groupe 11"/>
          <p:cNvGrpSpPr/>
          <p:nvPr/>
        </p:nvGrpSpPr>
        <p:grpSpPr>
          <a:xfrm>
            <a:off x="1557425" y="3008849"/>
            <a:ext cx="548640" cy="548640"/>
            <a:chOff x="-1154302" y="2719457"/>
            <a:chExt cx="548640" cy="548640"/>
          </a:xfrm>
        </p:grpSpPr>
        <p:sp>
          <p:nvSpPr>
            <p:cNvPr id="42" name="Oval 21">
              <a:extLst>
                <a:ext uri="{FF2B5EF4-FFF2-40B4-BE49-F238E27FC236}">
                  <a16:creationId xmlns:a16="http://schemas.microsoft.com/office/drawing/2014/main" id="{7BB796F0-2DE6-45B1-851B-D8991F423CF4}"/>
                </a:ext>
              </a:extLst>
            </p:cNvPr>
            <p:cNvSpPr/>
            <p:nvPr/>
          </p:nvSpPr>
          <p:spPr bwMode="gray">
            <a:xfrm>
              <a:off x="-1154302" y="2719457"/>
              <a:ext cx="548640" cy="548640"/>
            </a:xfrm>
            <a:prstGeom prst="ellipse">
              <a:avLst/>
            </a:prstGeom>
            <a:solidFill>
              <a:schemeClr val="tx1"/>
            </a:solidFill>
            <a:ln w="19050" algn="ctr">
              <a:noFill/>
              <a:miter lim="800000"/>
              <a:headEnd/>
              <a:tailEnd/>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 typeface="Wingdings 2" pitchFamily="18" charset="2"/>
                <a:buNone/>
                <a:tabLst/>
                <a:defRPr/>
              </a:pPr>
              <a:endParaRPr kumimoji="0" lang="fr-CI" sz="1100" b="1" i="0" u="none" strike="noStrike" kern="1200" cap="none" spc="0" normalizeH="0" baseline="0" noProof="0">
                <a:ln>
                  <a:noFill/>
                </a:ln>
                <a:solidFill>
                  <a:prstClr val="white"/>
                </a:solidFill>
                <a:effectLst/>
                <a:uLnTx/>
                <a:uFillTx/>
                <a:latin typeface="Helvetica" panose="020B0604020202020204" pitchFamily="34" charset="0"/>
                <a:ea typeface="Open Sans Semibold" panose="020B0706030804020204" pitchFamily="34" charset="0"/>
                <a:cs typeface="Helvetica" panose="020B0604020202020204" pitchFamily="34" charset="0"/>
              </a:endParaRPr>
            </a:p>
          </p:txBody>
        </p:sp>
        <p:pic>
          <p:nvPicPr>
            <p:cNvPr id="7" name="Image 6"/>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74901" y="2781886"/>
              <a:ext cx="396274" cy="396274"/>
            </a:xfrm>
            <a:prstGeom prst="rect">
              <a:avLst/>
            </a:prstGeom>
          </p:spPr>
        </p:pic>
      </p:grpSp>
      <p:grpSp>
        <p:nvGrpSpPr>
          <p:cNvPr id="13" name="Groupe 12"/>
          <p:cNvGrpSpPr/>
          <p:nvPr/>
        </p:nvGrpSpPr>
        <p:grpSpPr>
          <a:xfrm>
            <a:off x="1567381" y="4044725"/>
            <a:ext cx="548640" cy="552951"/>
            <a:chOff x="-1185544" y="4122202"/>
            <a:chExt cx="548640" cy="552951"/>
          </a:xfrm>
        </p:grpSpPr>
        <p:sp>
          <p:nvSpPr>
            <p:cNvPr id="44" name="Oval 21">
              <a:extLst>
                <a:ext uri="{FF2B5EF4-FFF2-40B4-BE49-F238E27FC236}">
                  <a16:creationId xmlns:a16="http://schemas.microsoft.com/office/drawing/2014/main" id="{7BB796F0-2DE6-45B1-851B-D8991F423CF4}"/>
                </a:ext>
              </a:extLst>
            </p:cNvPr>
            <p:cNvSpPr/>
            <p:nvPr/>
          </p:nvSpPr>
          <p:spPr bwMode="gray">
            <a:xfrm>
              <a:off x="-1185544" y="4122202"/>
              <a:ext cx="548640" cy="548640"/>
            </a:xfrm>
            <a:prstGeom prst="ellipse">
              <a:avLst/>
            </a:prstGeom>
            <a:solidFill>
              <a:schemeClr val="tx1"/>
            </a:solidFill>
            <a:ln w="19050" algn="ctr">
              <a:noFill/>
              <a:miter lim="800000"/>
              <a:headEnd/>
              <a:tailEnd/>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 typeface="Wingdings 2" pitchFamily="18" charset="2"/>
                <a:buNone/>
                <a:tabLst/>
                <a:defRPr/>
              </a:pPr>
              <a:endParaRPr kumimoji="0" lang="fr-CI" sz="1100" b="1" i="0" u="none" strike="noStrike" kern="1200" cap="none" spc="0" normalizeH="0" baseline="0" noProof="0">
                <a:ln>
                  <a:noFill/>
                </a:ln>
                <a:solidFill>
                  <a:prstClr val="white"/>
                </a:solidFill>
                <a:effectLst/>
                <a:uLnTx/>
                <a:uFillTx/>
                <a:latin typeface="Helvetica" panose="020B0604020202020204" pitchFamily="34" charset="0"/>
                <a:ea typeface="Open Sans Semibold" panose="020B0706030804020204" pitchFamily="34" charset="0"/>
                <a:cs typeface="Helvetica" panose="020B0604020202020204" pitchFamily="34" charset="0"/>
              </a:endParaRPr>
            </a:p>
          </p:txBody>
        </p:sp>
        <p:pic>
          <p:nvPicPr>
            <p:cNvPr id="8" name="Image 7"/>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171838" y="4144755"/>
              <a:ext cx="524301" cy="530398"/>
            </a:xfrm>
            <a:prstGeom prst="rect">
              <a:avLst/>
            </a:prstGeom>
          </p:spPr>
        </p:pic>
      </p:grpSp>
      <p:grpSp>
        <p:nvGrpSpPr>
          <p:cNvPr id="14" name="Groupe 13"/>
          <p:cNvGrpSpPr/>
          <p:nvPr/>
        </p:nvGrpSpPr>
        <p:grpSpPr>
          <a:xfrm>
            <a:off x="1567381" y="5111071"/>
            <a:ext cx="548640" cy="548640"/>
            <a:chOff x="-1227267" y="5286500"/>
            <a:chExt cx="548640" cy="548640"/>
          </a:xfrm>
        </p:grpSpPr>
        <p:sp>
          <p:nvSpPr>
            <p:cNvPr id="45" name="Oval 21">
              <a:extLst>
                <a:ext uri="{FF2B5EF4-FFF2-40B4-BE49-F238E27FC236}">
                  <a16:creationId xmlns:a16="http://schemas.microsoft.com/office/drawing/2014/main" id="{7BB796F0-2DE6-45B1-851B-D8991F423CF4}"/>
                </a:ext>
              </a:extLst>
            </p:cNvPr>
            <p:cNvSpPr/>
            <p:nvPr/>
          </p:nvSpPr>
          <p:spPr bwMode="gray">
            <a:xfrm>
              <a:off x="-1227267" y="5286500"/>
              <a:ext cx="548640" cy="548640"/>
            </a:xfrm>
            <a:prstGeom prst="ellipse">
              <a:avLst/>
            </a:prstGeom>
            <a:solidFill>
              <a:schemeClr val="tx1"/>
            </a:solidFill>
            <a:ln w="19050" algn="ctr">
              <a:noFill/>
              <a:miter lim="800000"/>
              <a:headEnd/>
              <a:tailEnd/>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 typeface="Wingdings 2" pitchFamily="18" charset="2"/>
                <a:buNone/>
                <a:tabLst/>
                <a:defRPr/>
              </a:pPr>
              <a:endParaRPr kumimoji="0" lang="fr-CI" sz="1100" b="1" i="0" u="none" strike="noStrike" kern="1200" cap="none" spc="0" normalizeH="0" baseline="0" noProof="0">
                <a:ln>
                  <a:noFill/>
                </a:ln>
                <a:solidFill>
                  <a:prstClr val="white"/>
                </a:solidFill>
                <a:effectLst/>
                <a:uLnTx/>
                <a:uFillTx/>
                <a:latin typeface="Helvetica" panose="020B0604020202020204" pitchFamily="34" charset="0"/>
                <a:ea typeface="Open Sans Semibold" panose="020B0706030804020204" pitchFamily="34" charset="0"/>
                <a:cs typeface="Helvetica" panose="020B0604020202020204" pitchFamily="34" charset="0"/>
              </a:endParaRPr>
            </a:p>
          </p:txBody>
        </p:sp>
        <p:pic>
          <p:nvPicPr>
            <p:cNvPr id="9" name="Image 8"/>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1171838" y="5346402"/>
              <a:ext cx="422834" cy="432026"/>
            </a:xfrm>
            <a:prstGeom prst="rect">
              <a:avLst/>
            </a:prstGeom>
          </p:spPr>
        </p:pic>
      </p:grpSp>
      <p:sp>
        <p:nvSpPr>
          <p:cNvPr id="50" name="ZoneTexte 49">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pic>
        <p:nvPicPr>
          <p:cNvPr id="51" name="Image 50"/>
          <p:cNvPicPr>
            <a:picLocks noChangeAspect="1"/>
          </p:cNvPicPr>
          <p:nvPr/>
        </p:nvPicPr>
        <p:blipFill rotWithShape="1">
          <a:blip r:embed="rId7" cstate="print">
            <a:extLst>
              <a:ext uri="{28A0092B-C50C-407E-A947-70E740481C1C}">
                <a14:useLocalDpi xmlns:a14="http://schemas.microsoft.com/office/drawing/2010/main" val="0"/>
              </a:ext>
            </a:extLst>
          </a:blip>
          <a:srcRect l="4260" t="13024" r="74155" b="14121"/>
          <a:stretch/>
        </p:blipFill>
        <p:spPr>
          <a:xfrm>
            <a:off x="702475" y="1350400"/>
            <a:ext cx="392679" cy="406703"/>
          </a:xfrm>
          <a:prstGeom prst="rect">
            <a:avLst/>
          </a:prstGeom>
        </p:spPr>
      </p:pic>
      <p:sp>
        <p:nvSpPr>
          <p:cNvPr id="52"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Méthode : effectifs et taux</a:t>
            </a:r>
          </a:p>
        </p:txBody>
      </p:sp>
      <p:sp>
        <p:nvSpPr>
          <p:cNvPr id="53"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Effectifs, flux et taux sont mesurés agent par agent, chaque mois</a:t>
            </a:r>
          </a:p>
        </p:txBody>
      </p:sp>
      <p:sp>
        <p:nvSpPr>
          <p:cNvPr id="54"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Un cotisant est un matricule précompté au poste maladie 936 dans le mois</a:t>
            </a:r>
          </a:p>
        </p:txBody>
      </p:sp>
      <p:sp>
        <p:nvSpPr>
          <p:cNvPr id="55"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Adenka</a:t>
            </a:r>
          </a:p>
        </p:txBody>
      </p:sp>
      <p:sp>
        <p:nvSpPr>
          <p:cNvPr id="56" name="TextBox 55"/>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936 : poste maladie</a:t>
            </a:r>
          </a:p>
        </p:txBody>
      </p:sp>
    </p:spTree>
    <p:extLst>
      <p:ext uri="{BB962C8B-B14F-4D97-AF65-F5344CB8AC3E}">
        <p14:creationId xmlns:p14="http://schemas.microsoft.com/office/powerpoint/2010/main" val="1093585166"/>
      </p:ext>
    </p:extLst>
  </p:cSld>
  <p:clrMapOvr>
    <a:masterClrMapping/>
  </p:clrMapOvr>
  <p:transition>
    <p:fade/>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Effectifs cotisants</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Les cotisants actifs augmentent d'un tiers en trente et un mois</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23 119 cotisants en janvier 2024, 31 198 en août 2026</a:t>
            </a:r>
          </a:p>
        </p:txBody>
      </p:sp>
      <p:sp>
        <p:nvSpPr>
          <p:cNvPr id="30" name="TextBox 29"/>
          <p:cNvSpPr txBox="1"/>
          <p:nvPr/>
        </p:nvSpPr>
        <p:spPr>
          <a:xfrm>
            <a:off x="503999" y="1386000"/>
            <a:ext cx="5976000" cy="251999"/>
          </a:xfrm>
          <a:prstGeom prst="rect">
            <a:avLst/>
          </a:prstGeom>
          <a:noFill/>
        </p:spPr>
        <p:txBody>
          <a:bodyPr wrap="square">
            <a:spAutoFit/>
          </a:bodyPr>
          <a:lstStyle/>
          <a:p>
            <a:pPr algn="ctr">
              <a:spcAft>
                <a:spcPts val="0"/>
              </a:spcAft>
            </a:pPr>
            <a:r>
              <a:rPr sz="1200" b="0">
                <a:solidFill>
                  <a:srgbClr val="EFAC62"/>
                </a:solidFill>
                <a:latin typeface="Helvetica"/>
              </a:rPr>
              <a:t>Figure 8 : Cotisants actifs précomptés (poste 936), par mois</a:t>
            </a:r>
          </a:p>
        </p:txBody>
      </p:sp>
      <p:sp>
        <p:nvSpPr>
          <p:cNvPr id="31" name="TextBox 30"/>
          <p:cNvSpPr txBox="1"/>
          <p:nvPr/>
        </p:nvSpPr>
        <p:spPr>
          <a:xfrm>
            <a:off x="503999" y="1602000"/>
            <a:ext cx="5976000" cy="162000"/>
          </a:xfrm>
          <a:prstGeom prst="rect">
            <a:avLst/>
          </a:prstGeom>
          <a:noFill/>
        </p:spPr>
        <p:txBody>
          <a:bodyPr wrap="square">
            <a:spAutoFit/>
          </a:bodyPr>
          <a:lstStyle/>
          <a:p>
            <a:pPr algn="l">
              <a:spcAft>
                <a:spcPts val="0"/>
              </a:spcAft>
            </a:pPr>
            <a:r>
              <a:rPr sz="900" b="0">
                <a:solidFill>
                  <a:srgbClr val="060606"/>
                </a:solidFill>
                <a:latin typeface="Helvetica"/>
              </a:rPr>
              <a:t>En nombre de mutualistes</a:t>
            </a:r>
          </a:p>
        </p:txBody>
      </p:sp>
      <p:graphicFrame>
        <p:nvGraphicFramePr>
          <p:cNvPr id="32" name="Chart 31"/>
          <p:cNvGraphicFramePr>
            <a:graphicFrameLocks noGrp="1"/>
          </p:cNvGraphicFramePr>
          <p:nvPr/>
        </p:nvGraphicFramePr>
        <p:xfrm>
          <a:off x="503999" y="1782000"/>
          <a:ext cx="5976000" cy="4086000"/>
        </p:xfrm>
        <a:graphic>
          <a:graphicData uri="http://schemas.openxmlformats.org/drawingml/2006/chart">
            <c:chart xmlns:c="http://schemas.openxmlformats.org/drawingml/2006/chart" r:id="rId6"/>
          </a:graphicData>
        </a:graphic>
      </p:graphicFrame>
      <p:sp>
        <p:nvSpPr>
          <p:cNvPr id="33"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fichiers de précomptes de la Solde, de la CGRAE et du FPPN reçus le 15/10/2026. Traitements Adenka (décembre 2024 : fichier vide)</a:t>
            </a:r>
          </a:p>
        </p:txBody>
      </p:sp>
      <p:sp>
        <p:nvSpPr>
          <p:cNvPr id="34" name="TextBox 33"/>
          <p:cNvSpPr txBox="1"/>
          <p:nvPr/>
        </p:nvSpPr>
        <p:spPr>
          <a:xfrm>
            <a:off x="6696000" y="1440000"/>
            <a:ext cx="5040000" cy="4428000"/>
          </a:xfrm>
          <a:prstGeom prst="rect">
            <a:avLst/>
          </a:prstGeom>
          <a:noFill/>
        </p:spPr>
        <p:txBody>
          <a:bodyPr wrap="square" lIns="54000" rIns="54000"/>
          <a:lstStyle/>
          <a:p>
            <a:pPr algn="just">
              <a:spcAft>
                <a:spcPts val="600"/>
              </a:spcAft>
            </a:pPr>
            <a:r>
              <a:rPr sz="1400" b="1">
                <a:solidFill>
                  <a:srgbClr val="060606"/>
                </a:solidFill>
                <a:latin typeface="Helvetica"/>
              </a:rPr>
              <a:t>Les cotisants actifs augmentent de 34,95 % en 31 mois.</a:t>
            </a:r>
            <a:r>
              <a:rPr sz="1400" b="0">
                <a:solidFill>
                  <a:srgbClr val="060606"/>
                </a:solidFill>
                <a:latin typeface="Helvetica"/>
              </a:rPr>
              <a:t> Le taux de croissance annuel moyen vaut 12,30 %.</a:t>
            </a:r>
          </a:p>
          <a:p>
            <a:pPr algn="just">
              <a:spcAft>
                <a:spcPts val="600"/>
              </a:spcAft>
            </a:pPr>
            <a:r>
              <a:rPr sz="1400" b="1">
                <a:solidFill>
                  <a:srgbClr val="060606"/>
                </a:solidFill>
                <a:latin typeface="Helvetica"/>
              </a:rPr>
              <a:t>La hausse se fait par paliers en juillet, mois d'intégration des promotions de recrues.</a:t>
            </a:r>
            <a:r>
              <a:rPr sz="1400" b="0">
                <a:solidFill>
                  <a:srgbClr val="060606"/>
                </a:solidFill>
                <a:latin typeface="Helvetica"/>
              </a:rPr>
              <a:t> Les fichiers comptent 4 926 entrées en juillet 2024 et 4 127 en juillet 2025.</a:t>
            </a:r>
          </a:p>
          <a:p>
            <a:pPr algn="just">
              <a:spcAft>
                <a:spcPts val="600"/>
              </a:spcAft>
            </a:pPr>
            <a:r>
              <a:rPr sz="1400" b="1">
                <a:solidFill>
                  <a:srgbClr val="060606"/>
                </a:solidFill>
                <a:latin typeface="Helvetica"/>
              </a:rPr>
              <a:t>La tendance est statistiquement significative.</a:t>
            </a:r>
            <a:r>
              <a:rPr sz="1400" b="0">
                <a:solidFill>
                  <a:srgbClr val="060606"/>
                </a:solidFill>
                <a:latin typeface="Helvetica"/>
              </a:rPr>
              <a:t> Elle correspond à 296,28 cotisants de plus par mois en moyenne.</a:t>
            </a:r>
          </a:p>
          <a:p>
            <a:pPr algn="just">
              <a:spcAft>
                <a:spcPts val="600"/>
              </a:spcAft>
            </a:pPr>
            <a:r>
              <a:rPr sz="1400" b="1">
                <a:solidFill>
                  <a:srgbClr val="060606"/>
                </a:solidFill>
                <a:latin typeface="Helvetica"/>
              </a:rPr>
              <a:t>Implication pour le FPPN.</a:t>
            </a:r>
            <a:r>
              <a:rPr sz="1400" b="0">
                <a:solidFill>
                  <a:srgbClr val="060606"/>
                </a:solidFill>
                <a:latin typeface="Helvetica"/>
              </a:rPr>
              <a:t> Les recrues cotisent dès leur entrée, alors que leurs besoins de soins et d'épargne viendront plus tard : la croissance actuelle améliore les comptes de l'année, mais elle prépare des engagements plus importants à long terme, que seule une projection par âge permettra de chiffrer.</a:t>
            </a:r>
          </a:p>
        </p:txBody>
      </p:sp>
      <p:sp>
        <p:nvSpPr>
          <p:cNvPr id="35" name="TextBox 34"/>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CGRAE : Caisse générale de retraite des agents de l'État | 936 : poste maladie</a:t>
            </a:r>
          </a:p>
        </p:txBody>
      </p:sp>
    </p:spTree>
    <p:extLst>
      <p:ext uri="{BB962C8B-B14F-4D97-AF65-F5344CB8AC3E}">
        <p14:creationId xmlns:p14="http://schemas.microsoft.com/office/powerpoint/2010/main" val="1518002218"/>
      </p:ext>
    </p:extLst>
  </p:cSld>
  <p:clrMapOvr>
    <a:masterClrMapping/>
  </p:clrMapOvr>
  <p:transition>
    <p:fade/>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Entrées et sorties</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Les entrées massives de juillet s'opposent à des sorties faibles et régulières</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Entrées : 6 240 en 2024, 4 274 en 2025. Sorties : 1 753 et 464</a:t>
            </a:r>
          </a:p>
        </p:txBody>
      </p:sp>
      <p:sp>
        <p:nvSpPr>
          <p:cNvPr id="30" name="TextBox 29"/>
          <p:cNvSpPr txBox="1"/>
          <p:nvPr/>
        </p:nvSpPr>
        <p:spPr>
          <a:xfrm>
            <a:off x="503999" y="1386000"/>
            <a:ext cx="6552000" cy="251999"/>
          </a:xfrm>
          <a:prstGeom prst="rect">
            <a:avLst/>
          </a:prstGeom>
          <a:noFill/>
        </p:spPr>
        <p:txBody>
          <a:bodyPr wrap="square">
            <a:spAutoFit/>
          </a:bodyPr>
          <a:lstStyle/>
          <a:p>
            <a:pPr algn="ctr">
              <a:spcAft>
                <a:spcPts val="0"/>
              </a:spcAft>
            </a:pPr>
            <a:r>
              <a:rPr sz="1200" b="0">
                <a:solidFill>
                  <a:srgbClr val="EFAC62"/>
                </a:solidFill>
                <a:latin typeface="Helvetica"/>
              </a:rPr>
              <a:t>Figure 9 : Entrées et sorties de cotisants, par mois</a:t>
            </a:r>
          </a:p>
        </p:txBody>
      </p:sp>
      <p:sp>
        <p:nvSpPr>
          <p:cNvPr id="31" name="TextBox 30"/>
          <p:cNvSpPr txBox="1"/>
          <p:nvPr/>
        </p:nvSpPr>
        <p:spPr>
          <a:xfrm>
            <a:off x="503999" y="1602000"/>
            <a:ext cx="6552000" cy="162000"/>
          </a:xfrm>
          <a:prstGeom prst="rect">
            <a:avLst/>
          </a:prstGeom>
          <a:noFill/>
        </p:spPr>
        <p:txBody>
          <a:bodyPr wrap="square">
            <a:spAutoFit/>
          </a:bodyPr>
          <a:lstStyle/>
          <a:p>
            <a:pPr algn="l">
              <a:spcAft>
                <a:spcPts val="0"/>
              </a:spcAft>
            </a:pPr>
            <a:r>
              <a:rPr sz="900" b="0">
                <a:solidFill>
                  <a:srgbClr val="060606"/>
                </a:solidFill>
                <a:latin typeface="Helvetica"/>
              </a:rPr>
              <a:t>En nombre de mutualistes</a:t>
            </a:r>
          </a:p>
        </p:txBody>
      </p:sp>
      <p:graphicFrame>
        <p:nvGraphicFramePr>
          <p:cNvPr id="32" name="Chart 31"/>
          <p:cNvGraphicFramePr>
            <a:graphicFrameLocks noGrp="1"/>
          </p:cNvGraphicFramePr>
          <p:nvPr/>
        </p:nvGraphicFramePr>
        <p:xfrm>
          <a:off x="503999" y="1782000"/>
          <a:ext cx="6552000" cy="4086000"/>
        </p:xfrm>
        <a:graphic>
          <a:graphicData uri="http://schemas.openxmlformats.org/drawingml/2006/chart">
            <c:chart xmlns:c="http://schemas.openxmlformats.org/drawingml/2006/chart" r:id="rId6"/>
          </a:graphicData>
        </a:graphic>
      </p:graphicFrame>
      <p:sp>
        <p:nvSpPr>
          <p:cNvPr id="33"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fichiers de précomptes de la Solde, de la CGRAE et du FPPN reçus le 15/10/2026. Traitements Adenka</a:t>
            </a:r>
          </a:p>
        </p:txBody>
      </p:sp>
      <p:sp>
        <p:nvSpPr>
          <p:cNvPr id="34" name="TextBox 33"/>
          <p:cNvSpPr txBox="1"/>
          <p:nvPr/>
        </p:nvSpPr>
        <p:spPr>
          <a:xfrm>
            <a:off x="7272000" y="1440000"/>
            <a:ext cx="4464000" cy="4428000"/>
          </a:xfrm>
          <a:prstGeom prst="rect">
            <a:avLst/>
          </a:prstGeom>
          <a:noFill/>
        </p:spPr>
        <p:txBody>
          <a:bodyPr wrap="square" lIns="54000" rIns="54000"/>
          <a:lstStyle/>
          <a:p>
            <a:pPr algn="just">
              <a:spcAft>
                <a:spcPts val="600"/>
              </a:spcAft>
            </a:pPr>
            <a:r>
              <a:rPr sz="1400" b="1">
                <a:solidFill>
                  <a:srgbClr val="060606"/>
                </a:solidFill>
                <a:latin typeface="Helvetica"/>
              </a:rPr>
              <a:t>Les entrées sont concentrées en juillet, mois d'intégration des recrues.</a:t>
            </a:r>
            <a:r>
              <a:rPr sz="1400" b="0">
                <a:solidFill>
                  <a:srgbClr val="060606"/>
                </a:solidFill>
                <a:latin typeface="Helvetica"/>
              </a:rPr>
              <a:t> Les autres mois, les entrées et les sorties restent faibles.</a:t>
            </a:r>
          </a:p>
          <a:p>
            <a:pPr algn="just">
              <a:spcAft>
                <a:spcPts val="600"/>
              </a:spcAft>
            </a:pPr>
            <a:r>
              <a:rPr sz="1400" b="1">
                <a:solidFill>
                  <a:srgbClr val="060606"/>
                </a:solidFill>
                <a:latin typeface="Helvetica"/>
              </a:rPr>
              <a:t>Les sorties ne dépassent la moyenne qu'en novembre 2024 et en janvier 2026.</a:t>
            </a:r>
            <a:r>
              <a:rPr sz="1400" b="0">
                <a:solidFill>
                  <a:srgbClr val="060606"/>
                </a:solidFill>
                <a:latin typeface="Helvetica"/>
              </a:rPr>
              <a:t> Leur motif n'est pas indiqué dans les fichiers.</a:t>
            </a:r>
          </a:p>
          <a:p>
            <a:pPr algn="just">
              <a:spcAft>
                <a:spcPts val="600"/>
              </a:spcAft>
            </a:pPr>
            <a:r>
              <a:rPr sz="1400" b="1">
                <a:solidFill>
                  <a:srgbClr val="060606"/>
                </a:solidFill>
                <a:latin typeface="Helvetica"/>
              </a:rPr>
              <a:t>La fidélisation des adhérents est forte.</a:t>
            </a:r>
            <a:r>
              <a:rPr sz="1400" b="0">
                <a:solidFill>
                  <a:srgbClr val="060606"/>
                </a:solidFill>
                <a:latin typeface="Helvetica"/>
              </a:rPr>
              <a:t> Parmi les matricules précomptés en 2024, 96,49 % le sont encore en 2025, au-dessus de la norme d'au moins 80 % de la Décision n° 05/2022.</a:t>
            </a:r>
          </a:p>
          <a:p>
            <a:pPr algn="just">
              <a:spcAft>
                <a:spcPts val="600"/>
              </a:spcAft>
            </a:pPr>
            <a:r>
              <a:rPr sz="1400" b="1">
                <a:solidFill>
                  <a:srgbClr val="060606"/>
                </a:solidFill>
                <a:latin typeface="Helvetica"/>
              </a:rPr>
              <a:t>Implication pour le FPPN.</a:t>
            </a:r>
            <a:r>
              <a:rPr sz="1400" b="0">
                <a:solidFill>
                  <a:srgbClr val="060606"/>
                </a:solidFill>
                <a:latin typeface="Helvetica"/>
              </a:rPr>
              <a:t> Le motif de chaque sortie est indispensable pour séparer retraites, décès et radiations, et donc pour mesurer la mortalité des policiers et projeter les départs.</a:t>
            </a:r>
          </a:p>
        </p:txBody>
      </p:sp>
      <p:sp>
        <p:nvSpPr>
          <p:cNvPr id="35" name="TextBox 34"/>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CGRAE : Caisse générale de retraite des agents de l'État</a:t>
            </a:r>
          </a:p>
        </p:txBody>
      </p:sp>
    </p:spTree>
    <p:extLst>
      <p:ext uri="{BB962C8B-B14F-4D97-AF65-F5344CB8AC3E}">
        <p14:creationId xmlns:p14="http://schemas.microsoft.com/office/powerpoint/2010/main" val="1864615578"/>
      </p:ext>
    </p:extLst>
  </p:cSld>
  <p:clrMapOvr>
    <a:masterClrMapping/>
  </p:clrMapOvr>
  <p:transition>
    <p:fade/>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Structure des effectifs</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Une population jeune en service, recrutée en majorité depuis moins de dix ans</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En janv. 25, ancienneté médiane de 7,50 ans, salaire de base médian de 186 765 FCFA</a:t>
            </a:r>
          </a:p>
        </p:txBody>
      </p:sp>
      <p:sp>
        <p:nvSpPr>
          <p:cNvPr id="30" name="TextBox 29"/>
          <p:cNvSpPr txBox="1"/>
          <p:nvPr/>
        </p:nvSpPr>
        <p:spPr>
          <a:xfrm>
            <a:off x="503999" y="1386000"/>
            <a:ext cx="6552000" cy="251999"/>
          </a:xfrm>
          <a:prstGeom prst="rect">
            <a:avLst/>
          </a:prstGeom>
          <a:noFill/>
        </p:spPr>
        <p:txBody>
          <a:bodyPr wrap="square">
            <a:spAutoFit/>
          </a:bodyPr>
          <a:lstStyle/>
          <a:p>
            <a:pPr algn="ctr">
              <a:spcAft>
                <a:spcPts val="0"/>
              </a:spcAft>
            </a:pPr>
            <a:r>
              <a:rPr sz="1200" b="0">
                <a:solidFill>
                  <a:srgbClr val="EFAC62"/>
                </a:solidFill>
                <a:latin typeface="Helvetica"/>
              </a:rPr>
              <a:t>Figure 10 : Agents par ancienneté de service, janv. 25</a:t>
            </a:r>
          </a:p>
        </p:txBody>
      </p:sp>
      <p:sp>
        <p:nvSpPr>
          <p:cNvPr id="31" name="TextBox 30"/>
          <p:cNvSpPr txBox="1"/>
          <p:nvPr/>
        </p:nvSpPr>
        <p:spPr>
          <a:xfrm>
            <a:off x="503999" y="1602000"/>
            <a:ext cx="6552000" cy="162000"/>
          </a:xfrm>
          <a:prstGeom prst="rect">
            <a:avLst/>
          </a:prstGeom>
          <a:noFill/>
        </p:spPr>
        <p:txBody>
          <a:bodyPr wrap="square">
            <a:spAutoFit/>
          </a:bodyPr>
          <a:lstStyle/>
          <a:p>
            <a:pPr algn="l">
              <a:spcAft>
                <a:spcPts val="0"/>
              </a:spcAft>
            </a:pPr>
            <a:r>
              <a:rPr sz="900" b="0">
                <a:solidFill>
                  <a:srgbClr val="060606"/>
                </a:solidFill>
                <a:latin typeface="Helvetica"/>
              </a:rPr>
              <a:t>En nombre d'agents</a:t>
            </a:r>
          </a:p>
        </p:txBody>
      </p:sp>
      <p:graphicFrame>
        <p:nvGraphicFramePr>
          <p:cNvPr id="32" name="Chart 31"/>
          <p:cNvGraphicFramePr>
            <a:graphicFrameLocks noGrp="1"/>
          </p:cNvGraphicFramePr>
          <p:nvPr/>
        </p:nvGraphicFramePr>
        <p:xfrm>
          <a:off x="503999" y="1782000"/>
          <a:ext cx="6552000" cy="4086000"/>
        </p:xfrm>
        <a:graphic>
          <a:graphicData uri="http://schemas.openxmlformats.org/drawingml/2006/chart">
            <c:chart xmlns:c="http://schemas.openxmlformats.org/drawingml/2006/chart" r:id="rId6"/>
          </a:graphicData>
        </a:graphic>
      </p:graphicFrame>
      <p:sp>
        <p:nvSpPr>
          <p:cNvPr id="33"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fichiers de précomptes de la Solde, de la CGRAE et du FPPN reçus le 15/10/2026. Traitements Adenka (fichiers maladie 936 détaillés)</a:t>
            </a:r>
          </a:p>
        </p:txBody>
      </p:sp>
      <p:sp>
        <p:nvSpPr>
          <p:cNvPr id="34" name="TextBox 33"/>
          <p:cNvSpPr txBox="1"/>
          <p:nvPr/>
        </p:nvSpPr>
        <p:spPr>
          <a:xfrm>
            <a:off x="7272000" y="1440000"/>
            <a:ext cx="4464000" cy="4428000"/>
          </a:xfrm>
          <a:prstGeom prst="rect">
            <a:avLst/>
          </a:prstGeom>
          <a:noFill/>
        </p:spPr>
        <p:txBody>
          <a:bodyPr wrap="square" lIns="54000" rIns="54000"/>
          <a:lstStyle/>
          <a:p>
            <a:pPr algn="just">
              <a:spcAft>
                <a:spcPts val="600"/>
              </a:spcAft>
            </a:pPr>
            <a:r>
              <a:rPr sz="1400" b="1">
                <a:solidFill>
                  <a:srgbClr val="060606"/>
                </a:solidFill>
                <a:latin typeface="Helvetica"/>
              </a:rPr>
              <a:t>56,82 % des agents ont moins de dix ans de service.</a:t>
            </a:r>
            <a:r>
              <a:rPr sz="1400" b="0">
                <a:solidFill>
                  <a:srgbClr val="060606"/>
                </a:solidFill>
                <a:latin typeface="Helvetica"/>
              </a:rPr>
              <a:t> Les recrutements récents dominent la population cotisante.</a:t>
            </a:r>
          </a:p>
          <a:p>
            <a:pPr algn="just">
              <a:spcAft>
                <a:spcPts val="600"/>
              </a:spcAft>
            </a:pPr>
            <a:r>
              <a:rPr sz="1400" b="1">
                <a:solidFill>
                  <a:srgbClr val="060606"/>
                </a:solidFill>
                <a:latin typeface="Helvetica"/>
              </a:rPr>
              <a:t>Une seconde vague a 15 à 25 ans de service.</a:t>
            </a:r>
            <a:r>
              <a:rPr sz="1400" b="0">
                <a:solidFill>
                  <a:srgbClr val="060606"/>
                </a:solidFill>
                <a:latin typeface="Helvetica"/>
              </a:rPr>
              <a:t> Elle regroupe 30,79 % des agents.</a:t>
            </a:r>
          </a:p>
          <a:p>
            <a:pPr algn="just">
              <a:spcAft>
                <a:spcPts val="600"/>
              </a:spcAft>
            </a:pPr>
            <a:r>
              <a:rPr sz="1400" b="1">
                <a:solidFill>
                  <a:srgbClr val="060606"/>
                </a:solidFill>
                <a:latin typeface="Helvetica"/>
              </a:rPr>
              <a:t>Cette seconde vague partira à la retraite dans les années à venir.</a:t>
            </a:r>
            <a:r>
              <a:rPr sz="1400" b="0">
                <a:solidFill>
                  <a:srgbClr val="060606"/>
                </a:solidFill>
                <a:latin typeface="Helvetica"/>
              </a:rPr>
              <a:t> Elle deviendra une population de retraités précomptés par la CGRAE, qui consomme davantage de soins.</a:t>
            </a:r>
          </a:p>
          <a:p>
            <a:pPr algn="just">
              <a:spcAft>
                <a:spcPts val="600"/>
              </a:spcAft>
            </a:pPr>
            <a:r>
              <a:rPr sz="1400" b="1">
                <a:solidFill>
                  <a:srgbClr val="060606"/>
                </a:solidFill>
                <a:latin typeface="Helvetica"/>
              </a:rPr>
              <a:t>Implication pour le FPPN.</a:t>
            </a:r>
            <a:r>
              <a:rPr sz="1400" b="0">
                <a:solidFill>
                  <a:srgbClr val="060606"/>
                </a:solidFill>
                <a:latin typeface="Helvetica"/>
              </a:rPr>
              <a:t> Les départs de cette vague déclencheront le versement de l'EFC et une hausse de la sinistralité des retraités : c'est le premier effet que la projection de l'équilibre devra chiffrer dès réception des âges.</a:t>
            </a:r>
          </a:p>
        </p:txBody>
      </p:sp>
      <p:sp>
        <p:nvSpPr>
          <p:cNvPr id="35" name="TextBox 34"/>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CGRAE : Caisse générale de retraite des agents de l'État | EFC : entraide fin de carrière | 936 : poste maladie</a:t>
            </a:r>
          </a:p>
        </p:txBody>
      </p:sp>
    </p:spTree>
    <p:extLst>
      <p:ext uri="{BB962C8B-B14F-4D97-AF65-F5344CB8AC3E}">
        <p14:creationId xmlns:p14="http://schemas.microsoft.com/office/powerpoint/2010/main" val="3808662619"/>
      </p:ext>
    </p:extLst>
  </p:cSld>
  <p:clrMapOvr>
    <a:masterClrMapping/>
  </p:clrMapOvr>
  <p:transition>
    <p:fade/>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Calcul pas à pas : taux de cotisation</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Pour chaque agent, maladie et décès font 5,00 % du salaire de base</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La même répartition, 3,77 % et 1,23 %, se retrouve sur 209 670 lignes des mois détaillés</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fichiers de précomptes de la Solde, de la CGRAE et du FPPN reçus le 15/10/2026. Traitements Adenka. Matricules masqués</a:t>
            </a:r>
          </a:p>
        </p:txBody>
      </p:sp>
      <p:sp>
        <p:nvSpPr>
          <p:cNvPr id="31" name="TextBox 30"/>
          <p:cNvSpPr txBox="1"/>
          <p:nvPr/>
        </p:nvSpPr>
        <p:spPr>
          <a:xfrm>
            <a:off x="503999" y="1350000"/>
            <a:ext cx="9648000" cy="180000"/>
          </a:xfrm>
          <a:prstGeom prst="rect">
            <a:avLst/>
          </a:prstGeom>
          <a:noFill/>
        </p:spPr>
        <p:txBody>
          <a:bodyPr wrap="square" anchor="t" lIns="54000" rIns="54000"/>
          <a:lstStyle/>
          <a:p>
            <a:pPr algn="l"/>
            <a:r>
              <a:rPr sz="900" b="0">
                <a:solidFill>
                  <a:srgbClr val="53565A"/>
                </a:solidFill>
                <a:latin typeface="Helvetica"/>
              </a:rPr>
              <a:t>Extrait : FPPN-SOLDE\EFFECTIF POLICE (MALADIE)\2024\042024_effectif_police_936_AVRIL 2024.xlsx et FPPN_ALLOC_DECES_8Z6_AVRIL_2024.xlsx</a:t>
            </a:r>
          </a:p>
        </p:txBody>
      </p:sp>
      <p:graphicFrame>
        <p:nvGraphicFramePr>
          <p:cNvPr id="32" name="Table 31"/>
          <p:cNvGraphicFramePr>
            <a:graphicFrameLocks noGrp="1"/>
          </p:cNvGraphicFramePr>
          <p:nvPr/>
        </p:nvGraphicFramePr>
        <p:xfrm>
          <a:off x="503999" y="1548000"/>
          <a:ext cx="9648000" cy="840036"/>
        </p:xfrm>
        <a:graphic>
          <a:graphicData uri="http://schemas.openxmlformats.org/drawingml/2006/table">
            <a:tbl>
              <a:tblPr firstRow="0" bandRow="0">
                <a:tableStyleId>{5940675A-B579-460E-94D1-54222C63F5DA}</a:tableStyleId>
              </a:tblPr>
              <a:tblGrid>
                <a:gridCol w="1152000"/>
                <a:gridCol w="792000"/>
                <a:gridCol w="1512000"/>
                <a:gridCol w="1368000"/>
                <a:gridCol w="1296000"/>
                <a:gridCol w="1224000"/>
                <a:gridCol w="1152000"/>
                <a:gridCol w="1152000"/>
              </a:tblGrid>
              <a:tr h="210009">
                <a:tc>
                  <a:txBody>
                    <a:bodyPr/>
                    <a:lstStyle/>
                    <a:p>
                      <a:pPr marL="0" indent="0" lvl="0">
                        <a:buNone/>
                      </a:pPr>
                      <a:r>
                        <a:rPr sz="1000" b="1">
                          <a:solidFill>
                            <a:srgbClr val="FFFFFF"/>
                          </a:solidFill>
                          <a:latin typeface="Helvetica"/>
                        </a:rPr>
                        <a:t>Matricule</a:t>
                      </a:r>
                    </a:p>
                  </a:txBody>
                  <a:tcPr marL="43200" marR="43200" marT="14400" marB="14400" anchor="ctr">
                    <a:solidFill>
                      <a:srgbClr val="060606"/>
                    </a:solidFill>
                  </a:tcPr>
                </a:tc>
                <a:tc>
                  <a:txBody>
                    <a:bodyPr/>
                    <a:lstStyle/>
                    <a:p>
                      <a:pPr marL="0" indent="0" lvl="0">
                        <a:buNone/>
                      </a:pPr>
                      <a:r>
                        <a:rPr sz="1000" b="1">
                          <a:solidFill>
                            <a:srgbClr val="FFFFFF"/>
                          </a:solidFill>
                          <a:latin typeface="Helvetica"/>
                        </a:rPr>
                        <a:t>Grade</a:t>
                      </a:r>
                    </a:p>
                  </a:txBody>
                  <a:tcPr marL="43200" marR="43200" marT="14400" marB="14400" anchor="ctr">
                    <a:solidFill>
                      <a:srgbClr val="060606"/>
                    </a:solidFill>
                  </a:tcPr>
                </a:tc>
                <a:tc>
                  <a:txBody>
                    <a:bodyPr/>
                    <a:lstStyle/>
                    <a:p>
                      <a:pPr marL="0" indent="0" lvl="0">
                        <a:buNone/>
                      </a:pPr>
                      <a:r>
                        <a:rPr sz="1000" b="1">
                          <a:solidFill>
                            <a:srgbClr val="FFFFFF"/>
                          </a:solidFill>
                          <a:latin typeface="Helvetica"/>
                        </a:rPr>
                        <a:t>Salaire de base</a:t>
                      </a:r>
                    </a:p>
                  </a:txBody>
                  <a:tcPr marL="43200" marR="43200" marT="14400" marB="14400" anchor="ctr">
                    <a:solidFill>
                      <a:srgbClr val="060606"/>
                    </a:solidFill>
                  </a:tcPr>
                </a:tc>
                <a:tc>
                  <a:txBody>
                    <a:bodyPr/>
                    <a:lstStyle/>
                    <a:p>
                      <a:pPr marL="0" indent="0" lvl="0">
                        <a:buNone/>
                      </a:pPr>
                      <a:r>
                        <a:rPr sz="1000" b="1">
                          <a:solidFill>
                            <a:srgbClr val="FFFFFF"/>
                          </a:solidFill>
                          <a:latin typeface="Helvetica"/>
                        </a:rPr>
                        <a:t>Maladie 936</a:t>
                      </a:r>
                    </a:p>
                  </a:txBody>
                  <a:tcPr marL="43200" marR="43200" marT="14400" marB="14400" anchor="ctr">
                    <a:solidFill>
                      <a:srgbClr val="060606"/>
                    </a:solidFill>
                  </a:tcPr>
                </a:tc>
                <a:tc>
                  <a:txBody>
                    <a:bodyPr/>
                    <a:lstStyle/>
                    <a:p>
                      <a:pPr marL="0" indent="0" lvl="0">
                        <a:buNone/>
                      </a:pPr>
                      <a:r>
                        <a:rPr sz="1000" b="1">
                          <a:solidFill>
                            <a:srgbClr val="FFFFFF"/>
                          </a:solidFill>
                          <a:latin typeface="Helvetica"/>
                        </a:rPr>
                        <a:t>Décès 8Z6</a:t>
                      </a:r>
                    </a:p>
                  </a:txBody>
                  <a:tcPr marL="43200" marR="43200" marT="14400" marB="14400" anchor="ctr">
                    <a:solidFill>
                      <a:srgbClr val="060606"/>
                    </a:solidFill>
                  </a:tcPr>
                </a:tc>
                <a:tc>
                  <a:txBody>
                    <a:bodyPr/>
                    <a:lstStyle/>
                    <a:p>
                      <a:pPr marL="0" indent="0" lvl="0">
                        <a:buNone/>
                      </a:pPr>
                      <a:r>
                        <a:rPr sz="1000" b="1">
                          <a:solidFill>
                            <a:srgbClr val="FFFFFF"/>
                          </a:solidFill>
                          <a:latin typeface="Helvetica"/>
                        </a:rPr>
                        <a:t>Maladie %</a:t>
                      </a:r>
                    </a:p>
                  </a:txBody>
                  <a:tcPr marL="43200" marR="43200" marT="14400" marB="14400" anchor="ctr">
                    <a:solidFill>
                      <a:srgbClr val="060606"/>
                    </a:solidFill>
                  </a:tcPr>
                </a:tc>
                <a:tc>
                  <a:txBody>
                    <a:bodyPr/>
                    <a:lstStyle/>
                    <a:p>
                      <a:pPr marL="0" indent="0" lvl="0">
                        <a:buNone/>
                      </a:pPr>
                      <a:r>
                        <a:rPr sz="1000" b="1">
                          <a:solidFill>
                            <a:srgbClr val="FFFFFF"/>
                          </a:solidFill>
                          <a:latin typeface="Helvetica"/>
                        </a:rPr>
                        <a:t>Décès %</a:t>
                      </a:r>
                    </a:p>
                  </a:txBody>
                  <a:tcPr marL="43200" marR="43200" marT="14400" marB="14400" anchor="ctr">
                    <a:solidFill>
                      <a:srgbClr val="060606"/>
                    </a:solidFill>
                  </a:tcPr>
                </a:tc>
                <a:tc>
                  <a:txBody>
                    <a:bodyPr/>
                    <a:lstStyle/>
                    <a:p>
                      <a:pPr marL="0" indent="0" lvl="0">
                        <a:buNone/>
                      </a:pPr>
                      <a:r>
                        <a:rPr sz="1000" b="1">
                          <a:solidFill>
                            <a:srgbClr val="FFFFFF"/>
                          </a:solidFill>
                          <a:latin typeface="Helvetica"/>
                        </a:rPr>
                        <a:t>Total %</a:t>
                      </a:r>
                    </a:p>
                  </a:txBody>
                  <a:tcPr marL="43200" marR="43200" marT="14400" marB="14400" anchor="ctr">
                    <a:solidFill>
                      <a:srgbClr val="060606"/>
                    </a:solidFill>
                  </a:tcPr>
                </a:tc>
              </a:tr>
              <a:tr h="210009">
                <a:tc>
                  <a:txBody>
                    <a:bodyPr/>
                    <a:lstStyle/>
                    <a:p>
                      <a:pPr marL="0" indent="0" lvl="0">
                        <a:buNone/>
                      </a:pPr>
                      <a:r>
                        <a:rPr sz="1000" b="1">
                          <a:solidFill>
                            <a:srgbClr val="060606"/>
                          </a:solidFill>
                          <a:latin typeface="Helvetica"/>
                        </a:rPr>
                        <a:t>163***W</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MH</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301159</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11354</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3704</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3,77 %</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1,23 %</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5,00 %</a:t>
                      </a:r>
                    </a:p>
                  </a:txBody>
                  <a:tcPr marL="43200" marR="43200" marT="14400" marB="14400" anchor="ctr">
                    <a:solidFill>
                      <a:srgbClr val="FFFFFF"/>
                    </a:solidFill>
                  </a:tcPr>
                </a:tc>
              </a:tr>
              <a:tr h="210009">
                <a:tc>
                  <a:txBody>
                    <a:bodyPr/>
                    <a:lstStyle/>
                    <a:p>
                      <a:pPr marL="0" indent="0" lvl="0">
                        <a:buNone/>
                      </a:pPr>
                      <a:r>
                        <a:rPr sz="1000" b="1">
                          <a:solidFill>
                            <a:srgbClr val="060606"/>
                          </a:solidFill>
                          <a:latin typeface="Helvetica"/>
                        </a:rPr>
                        <a:t>171***W</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MQ</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438898</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16546</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5398</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3,77 %</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1,23 %</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5,00 %</a:t>
                      </a:r>
                    </a:p>
                  </a:txBody>
                  <a:tcPr marL="43200" marR="43200" marT="14400" marB="14400" anchor="ctr">
                    <a:solidFill>
                      <a:srgbClr val="F2F2F2"/>
                    </a:solidFill>
                  </a:tcPr>
                </a:tc>
              </a:tr>
              <a:tr h="210009">
                <a:tc>
                  <a:txBody>
                    <a:bodyPr/>
                    <a:lstStyle/>
                    <a:p>
                      <a:pPr marL="0" indent="0" lvl="0">
                        <a:buNone/>
                      </a:pPr>
                      <a:r>
                        <a:rPr sz="1000" b="1">
                          <a:solidFill>
                            <a:srgbClr val="060606"/>
                          </a:solidFill>
                          <a:latin typeface="Helvetica"/>
                        </a:rPr>
                        <a:t>172***N</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I1</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817097</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30805</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10050</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3,77 %</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1,23 %</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5,00 %</a:t>
                      </a:r>
                    </a:p>
                  </a:txBody>
                  <a:tcPr marL="43200" marR="43200" marT="14400" marB="14400" anchor="ctr">
                    <a:solidFill>
                      <a:srgbClr val="FFFFFF"/>
                    </a:solidFill>
                  </a:tcPr>
                </a:tc>
              </a:tr>
            </a:tbl>
          </a:graphicData>
        </a:graphic>
      </p:graphicFrame>
      <p:sp>
        <p:nvSpPr>
          <p:cNvPr id="33" name="Rounded Rectangle 32"/>
          <p:cNvSpPr/>
          <p:nvPr/>
        </p:nvSpPr>
        <p:spPr>
          <a:xfrm>
            <a:off x="6605999" y="1747209"/>
            <a:ext cx="1260000" cy="231609"/>
          </a:xfrm>
          <a:prstGeom prst="roundRect">
            <a:avLst/>
          </a:prstGeom>
          <a:noFill/>
          <a:ln w="28575">
            <a:solidFill>
              <a:srgbClr val="C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7667999" y="1596009"/>
            <a:ext cx="270000" cy="2700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100" b="1">
                <a:solidFill>
                  <a:srgbClr val="FFFFFF"/>
                </a:solidFill>
                <a:latin typeface="Helvetica"/>
              </a:rPr>
              <a:t>1</a:t>
            </a:r>
          </a:p>
        </p:txBody>
      </p:sp>
      <p:sp>
        <p:nvSpPr>
          <p:cNvPr id="35" name="Rounded Rectangle 34"/>
          <p:cNvSpPr/>
          <p:nvPr/>
        </p:nvSpPr>
        <p:spPr>
          <a:xfrm>
            <a:off x="7829999" y="1747209"/>
            <a:ext cx="1188000" cy="231609"/>
          </a:xfrm>
          <a:prstGeom prst="roundRect">
            <a:avLst/>
          </a:prstGeom>
          <a:noFill/>
          <a:ln w="28575">
            <a:solidFill>
              <a:srgbClr val="C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Oval 35"/>
          <p:cNvSpPr/>
          <p:nvPr/>
        </p:nvSpPr>
        <p:spPr>
          <a:xfrm>
            <a:off x="8819999" y="1596009"/>
            <a:ext cx="270000" cy="2700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100" b="1">
                <a:solidFill>
                  <a:srgbClr val="FFFFFF"/>
                </a:solidFill>
                <a:latin typeface="Helvetica"/>
              </a:rPr>
              <a:t>2</a:t>
            </a:r>
          </a:p>
        </p:txBody>
      </p:sp>
      <p:sp>
        <p:nvSpPr>
          <p:cNvPr id="37" name="Rounded Rectangle 36"/>
          <p:cNvSpPr/>
          <p:nvPr/>
        </p:nvSpPr>
        <p:spPr>
          <a:xfrm>
            <a:off x="8982000" y="1747209"/>
            <a:ext cx="1188000" cy="231609"/>
          </a:xfrm>
          <a:prstGeom prst="roundRect">
            <a:avLst/>
          </a:prstGeom>
          <a:noFill/>
          <a:ln w="28575">
            <a:solidFill>
              <a:srgbClr val="C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Oval 37"/>
          <p:cNvSpPr/>
          <p:nvPr/>
        </p:nvSpPr>
        <p:spPr>
          <a:xfrm>
            <a:off x="9972000" y="1596009"/>
            <a:ext cx="270000" cy="2700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100" b="1">
                <a:solidFill>
                  <a:srgbClr val="FFFFFF"/>
                </a:solidFill>
                <a:latin typeface="Helvetica"/>
              </a:rPr>
              <a:t>3</a:t>
            </a:r>
          </a:p>
        </p:txBody>
      </p:sp>
      <p:sp>
        <p:nvSpPr>
          <p:cNvPr id="39" name="Oval 38"/>
          <p:cNvSpPr/>
          <p:nvPr/>
        </p:nvSpPr>
        <p:spPr>
          <a:xfrm>
            <a:off x="503999" y="2514038"/>
            <a:ext cx="270000" cy="2700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100" b="1">
                <a:solidFill>
                  <a:srgbClr val="FFFFFF"/>
                </a:solidFill>
                <a:latin typeface="Helvetica"/>
              </a:rPr>
              <a:t>1</a:t>
            </a:r>
          </a:p>
        </p:txBody>
      </p:sp>
      <p:sp>
        <p:nvSpPr>
          <p:cNvPr id="40" name="TextBox 39"/>
          <p:cNvSpPr txBox="1"/>
          <p:nvPr/>
        </p:nvSpPr>
        <p:spPr>
          <a:xfrm>
            <a:off x="864000" y="2496038"/>
            <a:ext cx="9288000" cy="298144"/>
          </a:xfrm>
          <a:prstGeom prst="rect">
            <a:avLst/>
          </a:prstGeom>
          <a:noFill/>
        </p:spPr>
        <p:txBody>
          <a:bodyPr wrap="square" anchor="t" lIns="54000" rIns="54000"/>
          <a:lstStyle/>
          <a:p>
            <a:pPr algn="l"/>
            <a:r>
              <a:rPr sz="1200" b="0">
                <a:solidFill>
                  <a:srgbClr val="060606"/>
                </a:solidFill>
                <a:latin typeface="Helvetica"/>
              </a:rPr>
              <a:t>Le précompte maladie vaut 11 354 / 301 159 = 3,77 % du salaire de base, au lieu de 3,5 %.</a:t>
            </a:r>
          </a:p>
        </p:txBody>
      </p:sp>
      <p:sp>
        <p:nvSpPr>
          <p:cNvPr id="41" name="Oval 40"/>
          <p:cNvSpPr/>
          <p:nvPr/>
        </p:nvSpPr>
        <p:spPr>
          <a:xfrm>
            <a:off x="503999" y="2902182"/>
            <a:ext cx="270000" cy="2700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100" b="1">
                <a:solidFill>
                  <a:srgbClr val="FFFFFF"/>
                </a:solidFill>
                <a:latin typeface="Helvetica"/>
              </a:rPr>
              <a:t>2</a:t>
            </a:r>
          </a:p>
        </p:txBody>
      </p:sp>
      <p:sp>
        <p:nvSpPr>
          <p:cNvPr id="42" name="TextBox 41"/>
          <p:cNvSpPr txBox="1"/>
          <p:nvPr/>
        </p:nvSpPr>
        <p:spPr>
          <a:xfrm>
            <a:off x="864000" y="2884182"/>
            <a:ext cx="9288000" cy="298144"/>
          </a:xfrm>
          <a:prstGeom prst="rect">
            <a:avLst/>
          </a:prstGeom>
          <a:noFill/>
        </p:spPr>
        <p:txBody>
          <a:bodyPr wrap="square" anchor="t" lIns="54000" rIns="54000"/>
          <a:lstStyle/>
          <a:p>
            <a:pPr algn="l"/>
            <a:r>
              <a:rPr sz="1200" b="0">
                <a:solidFill>
                  <a:srgbClr val="060606"/>
                </a:solidFill>
                <a:latin typeface="Helvetica"/>
              </a:rPr>
              <a:t>Le précompte décès vaut 3 704 / 301 159 = 1,23 % du salaire de base, au lieu de 1,5 %.</a:t>
            </a:r>
          </a:p>
        </p:txBody>
      </p:sp>
      <p:sp>
        <p:nvSpPr>
          <p:cNvPr id="43" name="Oval 42"/>
          <p:cNvSpPr/>
          <p:nvPr/>
        </p:nvSpPr>
        <p:spPr>
          <a:xfrm>
            <a:off x="503999" y="3290327"/>
            <a:ext cx="270000" cy="2700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100" b="1">
                <a:solidFill>
                  <a:srgbClr val="FFFFFF"/>
                </a:solidFill>
                <a:latin typeface="Helvetica"/>
              </a:rPr>
              <a:t>3</a:t>
            </a:r>
          </a:p>
        </p:txBody>
      </p:sp>
      <p:sp>
        <p:nvSpPr>
          <p:cNvPr id="44" name="TextBox 43"/>
          <p:cNvSpPr txBox="1"/>
          <p:nvPr/>
        </p:nvSpPr>
        <p:spPr>
          <a:xfrm>
            <a:off x="864000" y="3272327"/>
            <a:ext cx="9288000" cy="298144"/>
          </a:xfrm>
          <a:prstGeom prst="rect">
            <a:avLst/>
          </a:prstGeom>
          <a:noFill/>
        </p:spPr>
        <p:txBody>
          <a:bodyPr wrap="square" anchor="t" lIns="54000" rIns="54000"/>
          <a:lstStyle/>
          <a:p>
            <a:pPr algn="l"/>
            <a:r>
              <a:rPr sz="1200" b="0">
                <a:solidFill>
                  <a:srgbClr val="060606"/>
                </a:solidFill>
                <a:latin typeface="Helvetica"/>
              </a:rPr>
              <a:t>Le total de 5,00 % est respecté, mais la répartition entre maladie et décès diffère du barème indiqué.</a:t>
            </a:r>
          </a:p>
        </p:txBody>
      </p:sp>
      <p:sp>
        <p:nvSpPr>
          <p:cNvPr id="45" name="TextBox 44"/>
          <p:cNvSpPr txBox="1"/>
          <p:nvPr/>
        </p:nvSpPr>
        <p:spPr>
          <a:xfrm>
            <a:off x="503999" y="3714471"/>
            <a:ext cx="11232000" cy="2153528"/>
          </a:xfrm>
          <a:prstGeom prst="rect">
            <a:avLst/>
          </a:prstGeom>
          <a:noFill/>
        </p:spPr>
        <p:txBody>
          <a:bodyPr wrap="square" lIns="54000" rIns="54000"/>
          <a:lstStyle/>
          <a:p>
            <a:pPr algn="just">
              <a:spcAft>
                <a:spcPts val="600"/>
              </a:spcAft>
            </a:pPr>
            <a:r>
              <a:rPr sz="1200" b="1">
                <a:solidFill>
                  <a:srgbClr val="060606"/>
                </a:solidFill>
                <a:latin typeface="Helvetica"/>
              </a:rPr>
              <a:t>La Solde applique la même clé à tous les agents.</a:t>
            </a:r>
            <a:r>
              <a:rPr sz="1200" b="0">
                <a:solidFill>
                  <a:srgbClr val="060606"/>
                </a:solidFill>
                <a:latin typeface="Helvetica"/>
              </a:rPr>
              <a:t> L'écart avec le barème n'est donc pas une erreur ponctuelle, mais une règle de calcul.</a:t>
            </a:r>
          </a:p>
          <a:p>
            <a:pPr algn="just">
              <a:spcAft>
                <a:spcPts val="600"/>
              </a:spcAft>
            </a:pPr>
            <a:r>
              <a:rPr sz="1200" b="1">
                <a:solidFill>
                  <a:srgbClr val="060606"/>
                </a:solidFill>
                <a:latin typeface="Helvetica"/>
              </a:rPr>
              <a:t>Implication pour le FPPN.</a:t>
            </a:r>
            <a:r>
              <a:rPr sz="1200" b="0">
                <a:solidFill>
                  <a:srgbClr val="060606"/>
                </a:solidFill>
                <a:latin typeface="Helvetica"/>
              </a:rPr>
              <a:t> Le barème officiel (décision, statuts ou règlement intérieur) doit être transmis : sans lui, le résultat de chaque garantie dépend de la source retenue.</a:t>
            </a:r>
          </a:p>
        </p:txBody>
      </p:sp>
      <p:sp>
        <p:nvSpPr>
          <p:cNvPr id="46" name="TextBox 45"/>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CGRAE : Caisse générale de retraite des agents de l'État | 936 : poste maladie | 8Z6 : poste décès</a:t>
            </a:r>
          </a:p>
        </p:txBody>
      </p:sp>
    </p:spTree>
    <p:extLst>
      <p:ext uri="{BB962C8B-B14F-4D97-AF65-F5344CB8AC3E}">
        <p14:creationId xmlns:p14="http://schemas.microsoft.com/office/powerpoint/2010/main" val="320801969"/>
      </p:ext>
    </p:extLst>
  </p:cSld>
  <p:clrMapOvr>
    <a:masterClrMapping/>
  </p:clrMapOvr>
  <p:transition>
    <p:fade/>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Taux de cotisation</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Trois clés de répartition coexistent pour le même taux de 5 %</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Barème indiqué en entretien 3,5 / 1,5. Solde 3,77 / 1,23. Comptabilité 2025 3,52 / 1,48</a:t>
            </a:r>
          </a:p>
        </p:txBody>
      </p:sp>
      <p:sp>
        <p:nvSpPr>
          <p:cNvPr id="30" name="TextBox 29"/>
          <p:cNvSpPr txBox="1"/>
          <p:nvPr/>
        </p:nvSpPr>
        <p:spPr>
          <a:xfrm>
            <a:off x="503999" y="1386000"/>
            <a:ext cx="5976000" cy="251999"/>
          </a:xfrm>
          <a:prstGeom prst="rect">
            <a:avLst/>
          </a:prstGeom>
          <a:noFill/>
        </p:spPr>
        <p:txBody>
          <a:bodyPr wrap="square">
            <a:spAutoFit/>
          </a:bodyPr>
          <a:lstStyle/>
          <a:p>
            <a:pPr algn="ctr">
              <a:spcAft>
                <a:spcPts val="0"/>
              </a:spcAft>
            </a:pPr>
            <a:r>
              <a:rPr sz="1200" b="0">
                <a:solidFill>
                  <a:srgbClr val="EFAC62"/>
                </a:solidFill>
                <a:latin typeface="Helvetica"/>
              </a:rPr>
              <a:t>Figure 11 : Répartition du taux de 5 % selon la source</a:t>
            </a:r>
          </a:p>
        </p:txBody>
      </p:sp>
      <p:sp>
        <p:nvSpPr>
          <p:cNvPr id="31" name="TextBox 30"/>
          <p:cNvSpPr txBox="1"/>
          <p:nvPr/>
        </p:nvSpPr>
        <p:spPr>
          <a:xfrm>
            <a:off x="503999" y="1602000"/>
            <a:ext cx="5976000" cy="162000"/>
          </a:xfrm>
          <a:prstGeom prst="rect">
            <a:avLst/>
          </a:prstGeom>
          <a:noFill/>
        </p:spPr>
        <p:txBody>
          <a:bodyPr wrap="square">
            <a:spAutoFit/>
          </a:bodyPr>
          <a:lstStyle/>
          <a:p>
            <a:pPr algn="l">
              <a:spcAft>
                <a:spcPts val="0"/>
              </a:spcAft>
            </a:pPr>
            <a:r>
              <a:rPr sz="900" b="0">
                <a:solidFill>
                  <a:srgbClr val="060606"/>
                </a:solidFill>
                <a:latin typeface="Helvetica"/>
              </a:rPr>
              <a:t>En % du salaire de base</a:t>
            </a:r>
          </a:p>
        </p:txBody>
      </p:sp>
      <p:graphicFrame>
        <p:nvGraphicFramePr>
          <p:cNvPr id="32" name="Chart 31"/>
          <p:cNvGraphicFramePr>
            <a:graphicFrameLocks noGrp="1"/>
          </p:cNvGraphicFramePr>
          <p:nvPr/>
        </p:nvGraphicFramePr>
        <p:xfrm>
          <a:off x="503999" y="1782000"/>
          <a:ext cx="5976000" cy="4086000"/>
        </p:xfrm>
        <a:graphic>
          <a:graphicData uri="http://schemas.openxmlformats.org/drawingml/2006/chart">
            <c:chart xmlns:c="http://schemas.openxmlformats.org/drawingml/2006/chart" r:id="rId6"/>
          </a:graphicData>
        </a:graphic>
      </p:graphicFrame>
      <p:sp>
        <p:nvSpPr>
          <p:cNvPr id="33"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fichiers de précomptes de la Solde, de la CGRAE et du FPPN reçus le 15/10/2026. Traitements Adenka. Balances des comptes du FPPN (Sage 100), exercices 2020 à 2025 et du 01/01 au 31/08/2026 (provisoire). Traitements Adenka</a:t>
            </a:r>
          </a:p>
        </p:txBody>
      </p:sp>
      <p:sp>
        <p:nvSpPr>
          <p:cNvPr id="34" name="TextBox 33"/>
          <p:cNvSpPr txBox="1"/>
          <p:nvPr/>
        </p:nvSpPr>
        <p:spPr>
          <a:xfrm>
            <a:off x="6696000" y="1440000"/>
            <a:ext cx="5040000" cy="4428000"/>
          </a:xfrm>
          <a:prstGeom prst="rect">
            <a:avLst/>
          </a:prstGeom>
          <a:noFill/>
        </p:spPr>
        <p:txBody>
          <a:bodyPr wrap="square" lIns="54000" rIns="54000"/>
          <a:lstStyle/>
          <a:p>
            <a:pPr algn="just">
              <a:spcAft>
                <a:spcPts val="600"/>
              </a:spcAft>
            </a:pPr>
            <a:r>
              <a:rPr sz="1400" b="1">
                <a:solidFill>
                  <a:srgbClr val="060606"/>
                </a:solidFill>
                <a:latin typeface="Helvetica"/>
              </a:rPr>
              <a:t>Le total de 5 % est respecté dans les trois sources.</a:t>
            </a:r>
            <a:r>
              <a:rPr sz="1400" b="0">
                <a:solidFill>
                  <a:srgbClr val="060606"/>
                </a:solidFill>
                <a:latin typeface="Helvetica"/>
              </a:rPr>
              <a:t> Seule la répartition entre maladie et décès change.</a:t>
            </a:r>
          </a:p>
          <a:p>
            <a:pPr algn="just">
              <a:spcAft>
                <a:spcPts val="600"/>
              </a:spcAft>
            </a:pPr>
            <a:r>
              <a:rPr sz="1400" b="1">
                <a:solidFill>
                  <a:srgbClr val="060606"/>
                </a:solidFill>
                <a:latin typeface="Helvetica"/>
              </a:rPr>
              <a:t>La Solde retient 3,77 % au poste maladie et 1,23 % au poste décès.</a:t>
            </a:r>
            <a:r>
              <a:rPr sz="1400" b="0">
                <a:solidFill>
                  <a:srgbClr val="060606"/>
                </a:solidFill>
                <a:latin typeface="Helvetica"/>
              </a:rPr>
              <a:t> Le responsable des sinistres et prestations a indiqué 3,5 % et 1,5 % lors de l'entretien du 16/10/2026.</a:t>
            </a:r>
          </a:p>
          <a:p>
            <a:pPr algn="just">
              <a:spcAft>
                <a:spcPts val="600"/>
              </a:spcAft>
            </a:pPr>
            <a:r>
              <a:rPr sz="1400" b="1">
                <a:solidFill>
                  <a:srgbClr val="060606"/>
                </a:solidFill>
                <a:latin typeface="Helvetica"/>
              </a:rPr>
              <a:t>La comptabilité affecte 70,50 % des cotisations à la maladie</a:t>
            </a:r>
            <a:r>
              <a:rPr sz="1400" b="0">
                <a:solidFill>
                  <a:srgbClr val="060606"/>
                </a:solidFill>
                <a:latin typeface="Helvetica"/>
              </a:rPr>
              <a:t>, proche des 70 % du barème indiqué en entretien. Elle ne suit donc pas la Solde.</a:t>
            </a:r>
          </a:p>
          <a:p>
            <a:pPr algn="just">
              <a:spcAft>
                <a:spcPts val="600"/>
              </a:spcAft>
            </a:pPr>
            <a:r>
              <a:rPr sz="1400" b="1">
                <a:solidFill>
                  <a:srgbClr val="060606"/>
                </a:solidFill>
                <a:latin typeface="Helvetica"/>
              </a:rPr>
              <a:t>Implication pour le FPPN.</a:t>
            </a:r>
            <a:r>
              <a:rPr sz="1400" b="0">
                <a:solidFill>
                  <a:srgbClr val="060606"/>
                </a:solidFill>
                <a:latin typeface="Helvetica"/>
              </a:rPr>
              <a:t> La Décision n° 05/2022 impose de suivre l'excédent par risque : sans clé unique, le FPPN ne peut pas calculer la réserve obligatoire exigée pour chaque risque (au moins 30 % de l'excédent maladie, 50 % des autres).</a:t>
            </a:r>
          </a:p>
        </p:txBody>
      </p:sp>
      <p:sp>
        <p:nvSpPr>
          <p:cNvPr id="35" name="TextBox 34"/>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CGRAE : Caisse générale de retraite des agents de l'État</a:t>
            </a:r>
          </a:p>
        </p:txBody>
      </p:sp>
    </p:spTree>
    <p:extLst>
      <p:ext uri="{BB962C8B-B14F-4D97-AF65-F5344CB8AC3E}">
        <p14:creationId xmlns:p14="http://schemas.microsoft.com/office/powerpoint/2010/main" val="650955449"/>
      </p:ext>
    </p:extLst>
  </p:cSld>
  <p:clrMapOvr>
    <a:masterClrMapping/>
  </p:clrMapOvr>
  <p:transition>
    <p:fade/>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Sensibilité : clé de répartition</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La clé retenue change la sinistralité de chaque garantie de plusieurs points</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S/C maladie 2025 : 73,53 % avec la clé comptable, 68,75 % avec la clé de la Solde</a:t>
            </a:r>
          </a:p>
        </p:txBody>
      </p:sp>
      <p:sp>
        <p:nvSpPr>
          <p:cNvPr id="30" name="TextBox 29"/>
          <p:cNvSpPr txBox="1"/>
          <p:nvPr/>
        </p:nvSpPr>
        <p:spPr>
          <a:xfrm>
            <a:off x="503999" y="1386000"/>
            <a:ext cx="6552000" cy="251999"/>
          </a:xfrm>
          <a:prstGeom prst="rect">
            <a:avLst/>
          </a:prstGeom>
          <a:noFill/>
        </p:spPr>
        <p:txBody>
          <a:bodyPr wrap="square">
            <a:spAutoFit/>
          </a:bodyPr>
          <a:lstStyle/>
          <a:p>
            <a:pPr algn="ctr">
              <a:spcAft>
                <a:spcPts val="0"/>
              </a:spcAft>
            </a:pPr>
            <a:r>
              <a:rPr sz="1200" b="0">
                <a:solidFill>
                  <a:srgbClr val="EFAC62"/>
                </a:solidFill>
                <a:latin typeface="Helvetica"/>
              </a:rPr>
              <a:t>Figure 12 : Ratio S/C 2025 selon la clé de répartition</a:t>
            </a:r>
          </a:p>
        </p:txBody>
      </p:sp>
      <p:sp>
        <p:nvSpPr>
          <p:cNvPr id="31" name="TextBox 30"/>
          <p:cNvSpPr txBox="1"/>
          <p:nvPr/>
        </p:nvSpPr>
        <p:spPr>
          <a:xfrm>
            <a:off x="503999" y="1602000"/>
            <a:ext cx="6552000" cy="162000"/>
          </a:xfrm>
          <a:prstGeom prst="rect">
            <a:avLst/>
          </a:prstGeom>
          <a:noFill/>
        </p:spPr>
        <p:txBody>
          <a:bodyPr wrap="square">
            <a:spAutoFit/>
          </a:bodyPr>
          <a:lstStyle/>
          <a:p>
            <a:pPr algn="l">
              <a:spcAft>
                <a:spcPts val="0"/>
              </a:spcAft>
            </a:pPr>
            <a:r>
              <a:rPr sz="900" b="0">
                <a:solidFill>
                  <a:srgbClr val="060606"/>
                </a:solidFill>
                <a:latin typeface="Helvetica"/>
              </a:rPr>
              <a:t>En %</a:t>
            </a:r>
          </a:p>
        </p:txBody>
      </p:sp>
      <p:graphicFrame>
        <p:nvGraphicFramePr>
          <p:cNvPr id="32" name="Chart 31"/>
          <p:cNvGraphicFramePr>
            <a:graphicFrameLocks noGrp="1"/>
          </p:cNvGraphicFramePr>
          <p:nvPr/>
        </p:nvGraphicFramePr>
        <p:xfrm>
          <a:off x="503999" y="1782000"/>
          <a:ext cx="6552000" cy="4086000"/>
        </p:xfrm>
        <a:graphic>
          <a:graphicData uri="http://schemas.openxmlformats.org/drawingml/2006/chart">
            <c:chart xmlns:c="http://schemas.openxmlformats.org/drawingml/2006/chart" r:id="rId6"/>
          </a:graphicData>
        </a:graphic>
      </p:graphicFrame>
      <p:sp>
        <p:nvSpPr>
          <p:cNvPr id="33"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balances des comptes du FPPN (Sage 100), exercices 2020 à 2025 et du 01/01 au 31/08/2026 (provisoire). Traitements Adenka</a:t>
            </a:r>
          </a:p>
        </p:txBody>
      </p:sp>
      <p:sp>
        <p:nvSpPr>
          <p:cNvPr id="34" name="TextBox 33"/>
          <p:cNvSpPr txBox="1"/>
          <p:nvPr/>
        </p:nvSpPr>
        <p:spPr>
          <a:xfrm>
            <a:off x="7272000" y="1440000"/>
            <a:ext cx="4464000" cy="4428000"/>
          </a:xfrm>
          <a:prstGeom prst="rect">
            <a:avLst/>
          </a:prstGeom>
          <a:noFill/>
        </p:spPr>
        <p:txBody>
          <a:bodyPr wrap="square" lIns="54000" rIns="54000"/>
          <a:lstStyle/>
          <a:p>
            <a:pPr algn="just">
              <a:spcAft>
                <a:spcPts val="600"/>
              </a:spcAft>
            </a:pPr>
            <a:r>
              <a:rPr sz="1400" b="1">
                <a:solidFill>
                  <a:srgbClr val="060606"/>
                </a:solidFill>
                <a:latin typeface="Helvetica"/>
              </a:rPr>
              <a:t>Avec la clé de la Solde, le S/C maladie 2025 passe à 68,75 %</a:t>
            </a:r>
            <a:r>
              <a:rPr sz="1400" b="0">
                <a:solidFill>
                  <a:srgbClr val="060606"/>
                </a:solidFill>
                <a:latin typeface="Helvetica"/>
              </a:rPr>
              <a:t> et le S/C décès monte à 22,97 %.</a:t>
            </a:r>
          </a:p>
          <a:p>
            <a:pPr algn="just">
              <a:spcAft>
                <a:spcPts val="600"/>
              </a:spcAft>
            </a:pPr>
            <a:r>
              <a:rPr sz="1400" b="1">
                <a:solidFill>
                  <a:srgbClr val="060606"/>
                </a:solidFill>
                <a:latin typeface="Helvetica"/>
              </a:rPr>
              <a:t>Avec le barème indiqué en entretien, le S/C maladie vaut 74,06 %.</a:t>
            </a:r>
            <a:r>
              <a:rPr sz="1400" b="0">
                <a:solidFill>
                  <a:srgbClr val="060606"/>
                </a:solidFill>
                <a:latin typeface="Helvetica"/>
              </a:rPr>
              <a:t> Les prestations restent les mêmes : seule l'affectation des cotisations change.</a:t>
            </a:r>
          </a:p>
          <a:p>
            <a:pPr algn="just">
              <a:spcAft>
                <a:spcPts val="600"/>
              </a:spcAft>
            </a:pPr>
            <a:r>
              <a:rPr sz="1400" b="1">
                <a:solidFill>
                  <a:srgbClr val="060606"/>
                </a:solidFill>
                <a:latin typeface="Helvetica"/>
              </a:rPr>
              <a:t>Le résultat par garantie dépend donc d'une décision de gestion.</a:t>
            </a:r>
            <a:r>
              <a:rPr sz="1400" b="0">
                <a:solidFill>
                  <a:srgbClr val="060606"/>
                </a:solidFill>
                <a:latin typeface="Helvetica"/>
              </a:rPr>
              <a:t> Cette décision doit être écrite dans le barème et appliquée de la même façon par la Solde et par la comptabilité.</a:t>
            </a:r>
          </a:p>
          <a:p>
            <a:pPr algn="just">
              <a:spcAft>
                <a:spcPts val="600"/>
              </a:spcAft>
            </a:pPr>
            <a:r>
              <a:rPr sz="1400" b="1">
                <a:solidFill>
                  <a:srgbClr val="060606"/>
                </a:solidFill>
                <a:latin typeface="Helvetica"/>
              </a:rPr>
              <a:t>Implication pour le FPPN.</a:t>
            </a:r>
            <a:r>
              <a:rPr sz="1400" b="0">
                <a:solidFill>
                  <a:srgbClr val="060606"/>
                </a:solidFill>
                <a:latin typeface="Helvetica"/>
              </a:rPr>
              <a:t> Selon la clé, la maladie se situe dans la fourchette réglementaire de 70 % à 80 % ou en dessous : la conclusion sur l'équilibre de la garantie maladie ne sera ferme qu'avec le barème officiel.</a:t>
            </a:r>
          </a:p>
        </p:txBody>
      </p:sp>
      <p:sp>
        <p:nvSpPr>
          <p:cNvPr id="35" name="TextBox 34"/>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S/C : prestations / cotisations</a:t>
            </a:r>
          </a:p>
        </p:txBody>
      </p:sp>
    </p:spTree>
    <p:extLst>
      <p:ext uri="{BB962C8B-B14F-4D97-AF65-F5344CB8AC3E}">
        <p14:creationId xmlns:p14="http://schemas.microsoft.com/office/powerpoint/2010/main" val="1826707397"/>
      </p:ext>
    </p:extLst>
  </p:cSld>
  <p:clrMapOvr>
    <a:masterClrMapping/>
  </p:clrMapOvr>
  <p:transition>
    <p:fade/>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Cotisations en termes réels</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Hors inflation, les cotisations progressent de 23 % entre 2020 et 2025</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Hausse nominale 45,76 %, hausse des prix 18,50 %, hausse réelle 23,01 %</a:t>
            </a:r>
          </a:p>
        </p:txBody>
      </p:sp>
      <p:sp>
        <p:nvSpPr>
          <p:cNvPr id="30" name="TextBox 29"/>
          <p:cNvSpPr txBox="1"/>
          <p:nvPr/>
        </p:nvSpPr>
        <p:spPr>
          <a:xfrm>
            <a:off x="503999" y="1386000"/>
            <a:ext cx="6552000" cy="251999"/>
          </a:xfrm>
          <a:prstGeom prst="rect">
            <a:avLst/>
          </a:prstGeom>
          <a:noFill/>
        </p:spPr>
        <p:txBody>
          <a:bodyPr wrap="square">
            <a:spAutoFit/>
          </a:bodyPr>
          <a:lstStyle/>
          <a:p>
            <a:pPr algn="ctr">
              <a:spcAft>
                <a:spcPts val="0"/>
              </a:spcAft>
            </a:pPr>
            <a:r>
              <a:rPr sz="1200" b="0">
                <a:solidFill>
                  <a:srgbClr val="EFAC62"/>
                </a:solidFill>
                <a:latin typeface="Helvetica"/>
              </a:rPr>
              <a:t>Figure 13 : Cotisations nominales et réelles (francs de 2020)</a:t>
            </a:r>
          </a:p>
        </p:txBody>
      </p:sp>
      <p:sp>
        <p:nvSpPr>
          <p:cNvPr id="31" name="TextBox 30"/>
          <p:cNvSpPr txBox="1"/>
          <p:nvPr/>
        </p:nvSpPr>
        <p:spPr>
          <a:xfrm>
            <a:off x="503999" y="1602000"/>
            <a:ext cx="6552000" cy="162000"/>
          </a:xfrm>
          <a:prstGeom prst="rect">
            <a:avLst/>
          </a:prstGeom>
          <a:noFill/>
        </p:spPr>
        <p:txBody>
          <a:bodyPr wrap="square">
            <a:spAutoFit/>
          </a:bodyPr>
          <a:lstStyle/>
          <a:p>
            <a:pPr algn="l">
              <a:spcAft>
                <a:spcPts val="0"/>
              </a:spcAft>
            </a:pPr>
            <a:r>
              <a:rPr sz="900" b="0">
                <a:solidFill>
                  <a:srgbClr val="060606"/>
                </a:solidFill>
                <a:latin typeface="Helvetica"/>
              </a:rPr>
              <a:t>En millions de FCFA</a:t>
            </a:r>
          </a:p>
        </p:txBody>
      </p:sp>
      <p:graphicFrame>
        <p:nvGraphicFramePr>
          <p:cNvPr id="32" name="Chart 31"/>
          <p:cNvGraphicFramePr>
            <a:graphicFrameLocks noGrp="1"/>
          </p:cNvGraphicFramePr>
          <p:nvPr/>
        </p:nvGraphicFramePr>
        <p:xfrm>
          <a:off x="503999" y="1782000"/>
          <a:ext cx="6552000" cy="4086000"/>
        </p:xfrm>
        <a:graphic>
          <a:graphicData uri="http://schemas.openxmlformats.org/drawingml/2006/chart">
            <c:chart xmlns:c="http://schemas.openxmlformats.org/drawingml/2006/chart" r:id="rId6"/>
          </a:graphicData>
        </a:graphic>
      </p:graphicFrame>
      <p:sp>
        <p:nvSpPr>
          <p:cNvPr id="33"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Banque mondiale, FP.CPI.TOTL.ZG, mise à jour du 08/10/2026. Balances des comptes du FPPN (Sage 100), exercices 2020 à 2025 et du 01/01 au 31/08/2026 (provisoire). Traitements Adenka</a:t>
            </a:r>
          </a:p>
        </p:txBody>
      </p:sp>
      <p:sp>
        <p:nvSpPr>
          <p:cNvPr id="34" name="TextBox 33"/>
          <p:cNvSpPr txBox="1"/>
          <p:nvPr/>
        </p:nvSpPr>
        <p:spPr>
          <a:xfrm>
            <a:off x="7272000" y="1440000"/>
            <a:ext cx="4464000" cy="4428000"/>
          </a:xfrm>
          <a:prstGeom prst="rect">
            <a:avLst/>
          </a:prstGeom>
          <a:noFill/>
        </p:spPr>
        <p:txBody>
          <a:bodyPr wrap="square" lIns="54000" rIns="54000"/>
          <a:lstStyle/>
          <a:p>
            <a:pPr algn="just">
              <a:spcAft>
                <a:spcPts val="600"/>
              </a:spcAft>
            </a:pPr>
            <a:r>
              <a:rPr sz="1400" b="1">
                <a:solidFill>
                  <a:srgbClr val="060606"/>
                </a:solidFill>
                <a:latin typeface="Helvetica"/>
              </a:rPr>
              <a:t>L'inflation explique une partie de la hausse des cotisations.</a:t>
            </a:r>
            <a:r>
              <a:rPr sz="1400" b="0">
                <a:solidFill>
                  <a:srgbClr val="060606"/>
                </a:solidFill>
                <a:latin typeface="Helvetica"/>
              </a:rPr>
              <a:t> Les prix ont augmenté de 18,50 % entre 2020 et 2025.</a:t>
            </a:r>
          </a:p>
          <a:p>
            <a:pPr algn="just">
              <a:spcAft>
                <a:spcPts val="600"/>
              </a:spcAft>
            </a:pPr>
            <a:r>
              <a:rPr sz="1400" b="1">
                <a:solidFill>
                  <a:srgbClr val="060606"/>
                </a:solidFill>
                <a:latin typeface="Helvetica"/>
              </a:rPr>
              <a:t>La hausse réelle reste nette : 23,01 %.</a:t>
            </a:r>
            <a:r>
              <a:rPr sz="1400" b="0">
                <a:solidFill>
                  <a:srgbClr val="060606"/>
                </a:solidFill>
                <a:latin typeface="Helvetica"/>
              </a:rPr>
              <a:t> Elle vient surtout de la hausse des effectifs, le taux de 5 % étant resté le même.</a:t>
            </a:r>
          </a:p>
          <a:p>
            <a:pPr algn="just">
              <a:spcAft>
                <a:spcPts val="600"/>
              </a:spcAft>
            </a:pPr>
            <a:r>
              <a:rPr sz="1400" b="1">
                <a:solidFill>
                  <a:srgbClr val="060606"/>
                </a:solidFill>
                <a:latin typeface="Helvetica"/>
              </a:rPr>
              <a:t>L'inflation de 2025 est très faible (0,13 %)</a:t>
            </a:r>
            <a:r>
              <a:rPr sz="1400" b="0">
                <a:solidFill>
                  <a:srgbClr val="060606"/>
                </a:solidFill>
                <a:latin typeface="Helvetica"/>
              </a:rPr>
              <a:t>, après 5,23 % en 2022.</a:t>
            </a:r>
          </a:p>
          <a:p>
            <a:pPr algn="just">
              <a:spcAft>
                <a:spcPts val="600"/>
              </a:spcAft>
            </a:pPr>
            <a:r>
              <a:rPr sz="1400" b="1">
                <a:solidFill>
                  <a:srgbClr val="060606"/>
                </a:solidFill>
                <a:latin typeface="Helvetica"/>
              </a:rPr>
              <a:t>Implication pour le FPPN.</a:t>
            </a:r>
            <a:r>
              <a:rPr sz="1400" b="0">
                <a:solidFill>
                  <a:srgbClr val="060606"/>
                </a:solidFill>
                <a:latin typeface="Helvetica"/>
              </a:rPr>
              <a:t> Le coût des soins suit les prix de la santé : une cotisation fixée en pourcentage du salaire ne protège le FPPN que si les salaires suivent ces prix. La projection devra tester cette hypothèse.</a:t>
            </a:r>
          </a:p>
        </p:txBody>
      </p:sp>
      <p:sp>
        <p:nvSpPr>
          <p:cNvPr id="35" name="TextBox 34"/>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a:t>
            </a:r>
          </a:p>
        </p:txBody>
      </p:sp>
    </p:spTree>
    <p:extLst>
      <p:ext uri="{BB962C8B-B14F-4D97-AF65-F5344CB8AC3E}">
        <p14:creationId xmlns:p14="http://schemas.microsoft.com/office/powerpoint/2010/main" val="2751325437"/>
      </p:ext>
    </p:extLst>
  </p:cSld>
  <p:clrMapOvr>
    <a:masterClrMapping/>
  </p:clrMapOvr>
  <p:transition>
    <p:fade/>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Cotisations comptabilisées</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Les cotisations comptabilisées progressent de 45,76 % entre 2020 et 2025</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2 344 618 501 FCFA en 2020, 3 417 551 722 FCFA en 2025. Taux de croissance annuel moyen 7,83 %</a:t>
            </a:r>
          </a:p>
        </p:txBody>
      </p:sp>
      <p:sp>
        <p:nvSpPr>
          <p:cNvPr id="30" name="TextBox 29"/>
          <p:cNvSpPr txBox="1"/>
          <p:nvPr/>
        </p:nvSpPr>
        <p:spPr>
          <a:xfrm>
            <a:off x="503999" y="1386000"/>
            <a:ext cx="6552000" cy="251999"/>
          </a:xfrm>
          <a:prstGeom prst="rect">
            <a:avLst/>
          </a:prstGeom>
          <a:noFill/>
        </p:spPr>
        <p:txBody>
          <a:bodyPr wrap="square">
            <a:spAutoFit/>
          </a:bodyPr>
          <a:lstStyle/>
          <a:p>
            <a:pPr algn="ctr">
              <a:spcAft>
                <a:spcPts val="0"/>
              </a:spcAft>
            </a:pPr>
            <a:r>
              <a:rPr sz="1200" b="0">
                <a:solidFill>
                  <a:srgbClr val="EFAC62"/>
                </a:solidFill>
                <a:latin typeface="Helvetica"/>
              </a:rPr>
              <a:t>Figure 14 : Cotisations comptabilisées par garantie</a:t>
            </a:r>
          </a:p>
        </p:txBody>
      </p:sp>
      <p:sp>
        <p:nvSpPr>
          <p:cNvPr id="31" name="TextBox 30"/>
          <p:cNvSpPr txBox="1"/>
          <p:nvPr/>
        </p:nvSpPr>
        <p:spPr>
          <a:xfrm>
            <a:off x="503999" y="1602000"/>
            <a:ext cx="6552000" cy="162000"/>
          </a:xfrm>
          <a:prstGeom prst="rect">
            <a:avLst/>
          </a:prstGeom>
          <a:noFill/>
        </p:spPr>
        <p:txBody>
          <a:bodyPr wrap="square">
            <a:spAutoFit/>
          </a:bodyPr>
          <a:lstStyle/>
          <a:p>
            <a:pPr algn="l">
              <a:spcAft>
                <a:spcPts val="0"/>
              </a:spcAft>
            </a:pPr>
            <a:r>
              <a:rPr sz="900" b="0">
                <a:solidFill>
                  <a:srgbClr val="060606"/>
                </a:solidFill>
                <a:latin typeface="Helvetica"/>
              </a:rPr>
              <a:t>En millions de FCFA</a:t>
            </a:r>
          </a:p>
        </p:txBody>
      </p:sp>
      <p:graphicFrame>
        <p:nvGraphicFramePr>
          <p:cNvPr id="32" name="Chart 31"/>
          <p:cNvGraphicFramePr>
            <a:graphicFrameLocks noGrp="1"/>
          </p:cNvGraphicFramePr>
          <p:nvPr/>
        </p:nvGraphicFramePr>
        <p:xfrm>
          <a:off x="503999" y="1782000"/>
          <a:ext cx="6552000" cy="4086000"/>
        </p:xfrm>
        <a:graphic>
          <a:graphicData uri="http://schemas.openxmlformats.org/drawingml/2006/chart">
            <c:chart xmlns:c="http://schemas.openxmlformats.org/drawingml/2006/chart" r:id="rId6"/>
          </a:graphicData>
        </a:graphic>
      </p:graphicFrame>
      <p:sp>
        <p:nvSpPr>
          <p:cNvPr id="33"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balances des comptes du FPPN (Sage 100), exercices 2020 à 2025 et du 01/01 au 31/08/2026 (provisoire). Traitements Adenka</a:t>
            </a:r>
          </a:p>
        </p:txBody>
      </p:sp>
      <p:sp>
        <p:nvSpPr>
          <p:cNvPr id="34" name="TextBox 33"/>
          <p:cNvSpPr txBox="1"/>
          <p:nvPr/>
        </p:nvSpPr>
        <p:spPr>
          <a:xfrm>
            <a:off x="7272000" y="1440000"/>
            <a:ext cx="4464000" cy="4428000"/>
          </a:xfrm>
          <a:prstGeom prst="rect">
            <a:avLst/>
          </a:prstGeom>
          <a:noFill/>
        </p:spPr>
        <p:txBody>
          <a:bodyPr wrap="square" lIns="54000" rIns="54000"/>
          <a:lstStyle/>
          <a:p>
            <a:pPr algn="just">
              <a:spcAft>
                <a:spcPts val="600"/>
              </a:spcAft>
            </a:pPr>
            <a:r>
              <a:rPr sz="1400" b="1">
                <a:solidFill>
                  <a:srgbClr val="060606"/>
                </a:solidFill>
                <a:latin typeface="Helvetica"/>
              </a:rPr>
              <a:t>En 2025, comptabilité et précomptes maladie diffèrent de 6,89 %.</a:t>
            </a:r>
            <a:r>
              <a:rPr sz="1400" b="0">
                <a:solidFill>
                  <a:srgbClr val="060606"/>
                </a:solidFill>
                <a:latin typeface="Helvetica"/>
              </a:rPr>
              <a:t> La comptabilité enregistre 2 409 281 030 FCFA, contre 2 587 432 980 FCFA de précomptes.</a:t>
            </a:r>
          </a:p>
          <a:p>
            <a:pPr algn="just">
              <a:spcAft>
                <a:spcPts val="600"/>
              </a:spcAft>
            </a:pPr>
            <a:r>
              <a:rPr sz="1400" b="1">
                <a:solidFill>
                  <a:srgbClr val="060606"/>
                </a:solidFill>
                <a:latin typeface="Helvetica"/>
              </a:rPr>
              <a:t>L'écart vient de la clé de répartition.</a:t>
            </a:r>
            <a:r>
              <a:rPr sz="1400" b="0">
                <a:solidFill>
                  <a:srgbClr val="060606"/>
                </a:solidFill>
                <a:latin typeface="Helvetica"/>
              </a:rPr>
              <a:t> La comptabilité affecte au décès une part des cotisations plus grande que la Solde.</a:t>
            </a:r>
          </a:p>
          <a:p>
            <a:pPr algn="just">
              <a:spcAft>
                <a:spcPts val="600"/>
              </a:spcAft>
            </a:pPr>
            <a:r>
              <a:rPr sz="1400" b="1">
                <a:solidFill>
                  <a:srgbClr val="060606"/>
                </a:solidFill>
                <a:latin typeface="Helvetica"/>
              </a:rPr>
              <a:t>Fin 2025, l'État devait 704 189 157 FCFA de cotisations.</a:t>
            </a:r>
            <a:r>
              <a:rPr sz="1400" b="0">
                <a:solidFill>
                  <a:srgbClr val="060606"/>
                </a:solidFill>
                <a:latin typeface="Helvetica"/>
              </a:rPr>
              <a:t> Le compte est soldé au 31/08/2026.</a:t>
            </a:r>
          </a:p>
          <a:p>
            <a:pPr algn="just">
              <a:spcAft>
                <a:spcPts val="600"/>
              </a:spcAft>
            </a:pPr>
            <a:r>
              <a:rPr sz="1400" b="1">
                <a:solidFill>
                  <a:srgbClr val="060606"/>
                </a:solidFill>
                <a:latin typeface="Helvetica"/>
              </a:rPr>
              <a:t>Implication pour le FPPN.</a:t>
            </a:r>
            <a:r>
              <a:rPr sz="1400" b="0">
                <a:solidFill>
                  <a:srgbClr val="060606"/>
                </a:solidFill>
                <a:latin typeface="Helvetica"/>
              </a:rPr>
              <a:t> Les cotisations totales concordent, mais leur partage entre maladie et décès diffère selon la source. Tant que cet écart n'est pas réglé, la sinistralité et l'excédent de chaque risque restent incertains.</a:t>
            </a:r>
          </a:p>
        </p:txBody>
      </p:sp>
      <p:sp>
        <p:nvSpPr>
          <p:cNvPr id="35" name="TextBox 34"/>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a:t>
            </a:r>
          </a:p>
        </p:txBody>
      </p:sp>
    </p:spTree>
    <p:extLst>
      <p:ext uri="{BB962C8B-B14F-4D97-AF65-F5344CB8AC3E}">
        <p14:creationId xmlns:p14="http://schemas.microsoft.com/office/powerpoint/2010/main" val="3527159853"/>
      </p:ext>
    </p:extLst>
  </p:cSld>
  <p:clrMapOvr>
    <a:masterClrMapping/>
  </p:clrMapOvr>
  <p:transition>
    <p:fade/>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6" name="Image 25"/>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30" name="ZoneTexte 29">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9" name="Google Shape;7386;p39"/>
          <p:cNvSpPr/>
          <p:nvPr/>
        </p:nvSpPr>
        <p:spPr>
          <a:xfrm rot="10800000">
            <a:off x="1748072" y="1436295"/>
            <a:ext cx="3625790" cy="329031"/>
          </a:xfrm>
          <a:custGeom>
            <a:avLst/>
            <a:gdLst/>
            <a:ahLst/>
            <a:cxnLst/>
            <a:rect l="l" t="t" r="r" b="b"/>
            <a:pathLst>
              <a:path w="40007" h="30221" extrusionOk="0">
                <a:moveTo>
                  <a:pt x="19007" y="1"/>
                </a:moveTo>
                <a:cubicBezTo>
                  <a:pt x="17909" y="1"/>
                  <a:pt x="16810" y="17"/>
                  <a:pt x="15708" y="53"/>
                </a:cubicBezTo>
                <a:cubicBezTo>
                  <a:pt x="13270" y="131"/>
                  <a:pt x="10885" y="275"/>
                  <a:pt x="8512" y="548"/>
                </a:cubicBezTo>
                <a:cubicBezTo>
                  <a:pt x="6088" y="835"/>
                  <a:pt x="4524" y="1500"/>
                  <a:pt x="4041" y="2712"/>
                </a:cubicBezTo>
                <a:cubicBezTo>
                  <a:pt x="4015" y="2777"/>
                  <a:pt x="3976" y="2843"/>
                  <a:pt x="3937" y="2908"/>
                </a:cubicBezTo>
                <a:cubicBezTo>
                  <a:pt x="2777" y="4902"/>
                  <a:pt x="2282" y="6949"/>
                  <a:pt x="1734" y="8995"/>
                </a:cubicBezTo>
                <a:cubicBezTo>
                  <a:pt x="1160" y="11120"/>
                  <a:pt x="613" y="13232"/>
                  <a:pt x="391" y="15357"/>
                </a:cubicBezTo>
                <a:cubicBezTo>
                  <a:pt x="183" y="17325"/>
                  <a:pt x="0" y="19293"/>
                  <a:pt x="79" y="21092"/>
                </a:cubicBezTo>
                <a:cubicBezTo>
                  <a:pt x="52" y="23074"/>
                  <a:pt x="144" y="24899"/>
                  <a:pt x="365" y="26710"/>
                </a:cubicBezTo>
                <a:cubicBezTo>
                  <a:pt x="522" y="28079"/>
                  <a:pt x="1721" y="29096"/>
                  <a:pt x="4419" y="29656"/>
                </a:cubicBezTo>
                <a:cubicBezTo>
                  <a:pt x="6296" y="30048"/>
                  <a:pt x="8265" y="30178"/>
                  <a:pt x="10259" y="30204"/>
                </a:cubicBezTo>
                <a:cubicBezTo>
                  <a:pt x="11143" y="30216"/>
                  <a:pt x="12026" y="30220"/>
                  <a:pt x="12908" y="30220"/>
                </a:cubicBezTo>
                <a:cubicBezTo>
                  <a:pt x="15996" y="30220"/>
                  <a:pt x="19078" y="30165"/>
                  <a:pt x="22161" y="30165"/>
                </a:cubicBezTo>
                <a:cubicBezTo>
                  <a:pt x="24859" y="30165"/>
                  <a:pt x="27557" y="30204"/>
                  <a:pt x="30243" y="30204"/>
                </a:cubicBezTo>
                <a:cubicBezTo>
                  <a:pt x="31690" y="30191"/>
                  <a:pt x="33123" y="30113"/>
                  <a:pt x="34505" y="29852"/>
                </a:cubicBezTo>
                <a:cubicBezTo>
                  <a:pt x="35470" y="29683"/>
                  <a:pt x="36330" y="29435"/>
                  <a:pt x="36917" y="29005"/>
                </a:cubicBezTo>
                <a:cubicBezTo>
                  <a:pt x="37881" y="28288"/>
                  <a:pt x="38677" y="27519"/>
                  <a:pt x="39120" y="26684"/>
                </a:cubicBezTo>
                <a:cubicBezTo>
                  <a:pt x="39732" y="25485"/>
                  <a:pt x="39954" y="24260"/>
                  <a:pt x="39954" y="23021"/>
                </a:cubicBezTo>
                <a:cubicBezTo>
                  <a:pt x="39954" y="19372"/>
                  <a:pt x="40006" y="15709"/>
                  <a:pt x="39563" y="12059"/>
                </a:cubicBezTo>
                <a:cubicBezTo>
                  <a:pt x="39367" y="10403"/>
                  <a:pt x="39485" y="8748"/>
                  <a:pt x="39237" y="7105"/>
                </a:cubicBezTo>
                <a:cubicBezTo>
                  <a:pt x="39068" y="6023"/>
                  <a:pt x="38794" y="4941"/>
                  <a:pt x="37920" y="3938"/>
                </a:cubicBezTo>
                <a:cubicBezTo>
                  <a:pt x="37282" y="3208"/>
                  <a:pt x="36773" y="2438"/>
                  <a:pt x="35665" y="1826"/>
                </a:cubicBezTo>
                <a:cubicBezTo>
                  <a:pt x="34192" y="1031"/>
                  <a:pt x="32237" y="666"/>
                  <a:pt x="30138" y="496"/>
                </a:cubicBezTo>
                <a:cubicBezTo>
                  <a:pt x="26451" y="194"/>
                  <a:pt x="22741" y="1"/>
                  <a:pt x="19007" y="1"/>
                </a:cubicBezTo>
                <a:close/>
              </a:path>
            </a:pathLst>
          </a:custGeom>
          <a:solidFill>
            <a:srgbClr val="112A40"/>
          </a:solidFill>
          <a:ln>
            <a:noFill/>
          </a:ln>
          <a:effectLst>
            <a:outerShdw blurRad="57150" dist="9525" algn="bl" rotWithShape="0">
              <a:srgbClr val="000000"/>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lang="fr-CI" noProof="0"/>
          </a:p>
        </p:txBody>
      </p:sp>
      <p:sp>
        <p:nvSpPr>
          <p:cNvPr id="10" name="Google Shape;7367;p39"/>
          <p:cNvSpPr/>
          <p:nvPr/>
        </p:nvSpPr>
        <p:spPr>
          <a:xfrm rot="16200000">
            <a:off x="2201124" y="215006"/>
            <a:ext cx="2027916" cy="4306666"/>
          </a:xfrm>
          <a:custGeom>
            <a:avLst/>
            <a:gdLst/>
            <a:ahLst/>
            <a:cxnLst/>
            <a:rect l="l" t="t" r="r" b="b"/>
            <a:pathLst>
              <a:path w="25081" h="54128" extrusionOk="0">
                <a:moveTo>
                  <a:pt x="19843" y="0"/>
                </a:moveTo>
                <a:cubicBezTo>
                  <a:pt x="19654" y="0"/>
                  <a:pt x="19462" y="7"/>
                  <a:pt x="19267" y="21"/>
                </a:cubicBezTo>
                <a:cubicBezTo>
                  <a:pt x="17781" y="125"/>
                  <a:pt x="16282" y="99"/>
                  <a:pt x="14796" y="112"/>
                </a:cubicBezTo>
                <a:cubicBezTo>
                  <a:pt x="13909" y="125"/>
                  <a:pt x="13010" y="112"/>
                  <a:pt x="12123" y="177"/>
                </a:cubicBezTo>
                <a:cubicBezTo>
                  <a:pt x="10272" y="333"/>
                  <a:pt x="8421" y="503"/>
                  <a:pt x="6570" y="633"/>
                </a:cubicBezTo>
                <a:cubicBezTo>
                  <a:pt x="5267" y="738"/>
                  <a:pt x="3989" y="933"/>
                  <a:pt x="2764" y="1259"/>
                </a:cubicBezTo>
                <a:cubicBezTo>
                  <a:pt x="1943" y="1481"/>
                  <a:pt x="1408" y="1872"/>
                  <a:pt x="1226" y="2471"/>
                </a:cubicBezTo>
                <a:cubicBezTo>
                  <a:pt x="991" y="3292"/>
                  <a:pt x="861" y="4140"/>
                  <a:pt x="965" y="4974"/>
                </a:cubicBezTo>
                <a:cubicBezTo>
                  <a:pt x="991" y="5248"/>
                  <a:pt x="1030" y="5508"/>
                  <a:pt x="991" y="5782"/>
                </a:cubicBezTo>
                <a:cubicBezTo>
                  <a:pt x="835" y="6877"/>
                  <a:pt x="678" y="7972"/>
                  <a:pt x="587" y="9067"/>
                </a:cubicBezTo>
                <a:cubicBezTo>
                  <a:pt x="470" y="10488"/>
                  <a:pt x="378" y="11896"/>
                  <a:pt x="300" y="13317"/>
                </a:cubicBezTo>
                <a:cubicBezTo>
                  <a:pt x="274" y="13825"/>
                  <a:pt x="352" y="14333"/>
                  <a:pt x="339" y="14829"/>
                </a:cubicBezTo>
                <a:cubicBezTo>
                  <a:pt x="313" y="15820"/>
                  <a:pt x="157" y="16797"/>
                  <a:pt x="118" y="17775"/>
                </a:cubicBezTo>
                <a:cubicBezTo>
                  <a:pt x="53" y="19391"/>
                  <a:pt x="0" y="21008"/>
                  <a:pt x="40" y="22624"/>
                </a:cubicBezTo>
                <a:cubicBezTo>
                  <a:pt x="66" y="24149"/>
                  <a:pt x="157" y="25661"/>
                  <a:pt x="144" y="27173"/>
                </a:cubicBezTo>
                <a:cubicBezTo>
                  <a:pt x="131" y="28646"/>
                  <a:pt x="105" y="30132"/>
                  <a:pt x="131" y="31605"/>
                </a:cubicBezTo>
                <a:cubicBezTo>
                  <a:pt x="209" y="35412"/>
                  <a:pt x="405" y="39218"/>
                  <a:pt x="274" y="43051"/>
                </a:cubicBezTo>
                <a:cubicBezTo>
                  <a:pt x="235" y="44237"/>
                  <a:pt x="287" y="45436"/>
                  <a:pt x="300" y="46622"/>
                </a:cubicBezTo>
                <a:cubicBezTo>
                  <a:pt x="300" y="46687"/>
                  <a:pt x="300" y="46753"/>
                  <a:pt x="287" y="46818"/>
                </a:cubicBezTo>
                <a:cubicBezTo>
                  <a:pt x="222" y="48004"/>
                  <a:pt x="313" y="49190"/>
                  <a:pt x="535" y="50363"/>
                </a:cubicBezTo>
                <a:cubicBezTo>
                  <a:pt x="665" y="51054"/>
                  <a:pt x="1004" y="51706"/>
                  <a:pt x="1239" y="52384"/>
                </a:cubicBezTo>
                <a:cubicBezTo>
                  <a:pt x="1486" y="53075"/>
                  <a:pt x="2164" y="53492"/>
                  <a:pt x="3129" y="53700"/>
                </a:cubicBezTo>
                <a:cubicBezTo>
                  <a:pt x="3812" y="53854"/>
                  <a:pt x="4517" y="53911"/>
                  <a:pt x="5223" y="53911"/>
                </a:cubicBezTo>
                <a:cubicBezTo>
                  <a:pt x="5299" y="53911"/>
                  <a:pt x="5374" y="53910"/>
                  <a:pt x="5449" y="53909"/>
                </a:cubicBezTo>
                <a:cubicBezTo>
                  <a:pt x="5591" y="53907"/>
                  <a:pt x="5733" y="53906"/>
                  <a:pt x="5875" y="53906"/>
                </a:cubicBezTo>
                <a:cubicBezTo>
                  <a:pt x="7594" y="53906"/>
                  <a:pt x="9293" y="54042"/>
                  <a:pt x="11015" y="54078"/>
                </a:cubicBezTo>
                <a:cubicBezTo>
                  <a:pt x="11655" y="54087"/>
                  <a:pt x="12288" y="54128"/>
                  <a:pt x="12924" y="54128"/>
                </a:cubicBezTo>
                <a:cubicBezTo>
                  <a:pt x="13273" y="54128"/>
                  <a:pt x="13623" y="54115"/>
                  <a:pt x="13974" y="54078"/>
                </a:cubicBezTo>
                <a:cubicBezTo>
                  <a:pt x="15239" y="53948"/>
                  <a:pt x="16516" y="53870"/>
                  <a:pt x="17781" y="53779"/>
                </a:cubicBezTo>
                <a:cubicBezTo>
                  <a:pt x="18850" y="53700"/>
                  <a:pt x="19919" y="53583"/>
                  <a:pt x="20961" y="53375"/>
                </a:cubicBezTo>
                <a:cubicBezTo>
                  <a:pt x="22043" y="53153"/>
                  <a:pt x="22956" y="52749"/>
                  <a:pt x="23503" y="52019"/>
                </a:cubicBezTo>
                <a:cubicBezTo>
                  <a:pt x="23855" y="51537"/>
                  <a:pt x="24142" y="51028"/>
                  <a:pt x="24233" y="50494"/>
                </a:cubicBezTo>
                <a:cubicBezTo>
                  <a:pt x="24416" y="49464"/>
                  <a:pt x="24429" y="48434"/>
                  <a:pt x="24546" y="47404"/>
                </a:cubicBezTo>
                <a:cubicBezTo>
                  <a:pt x="24690" y="45957"/>
                  <a:pt x="24768" y="44510"/>
                  <a:pt x="24833" y="43064"/>
                </a:cubicBezTo>
                <a:cubicBezTo>
                  <a:pt x="24924" y="41395"/>
                  <a:pt x="24898" y="39726"/>
                  <a:pt x="24898" y="38058"/>
                </a:cubicBezTo>
                <a:cubicBezTo>
                  <a:pt x="24885" y="36402"/>
                  <a:pt x="24794" y="34760"/>
                  <a:pt x="24794" y="33104"/>
                </a:cubicBezTo>
                <a:cubicBezTo>
                  <a:pt x="24794" y="31332"/>
                  <a:pt x="24755" y="29546"/>
                  <a:pt x="24768" y="27760"/>
                </a:cubicBezTo>
                <a:cubicBezTo>
                  <a:pt x="24794" y="26196"/>
                  <a:pt x="24807" y="24631"/>
                  <a:pt x="24846" y="23067"/>
                </a:cubicBezTo>
                <a:cubicBezTo>
                  <a:pt x="24885" y="21503"/>
                  <a:pt x="24911" y="19952"/>
                  <a:pt x="24911" y="18387"/>
                </a:cubicBezTo>
                <a:cubicBezTo>
                  <a:pt x="24911" y="16967"/>
                  <a:pt x="24937" y="15533"/>
                  <a:pt x="24989" y="14112"/>
                </a:cubicBezTo>
                <a:cubicBezTo>
                  <a:pt x="25028" y="12795"/>
                  <a:pt x="25081" y="11479"/>
                  <a:pt x="25068" y="10162"/>
                </a:cubicBezTo>
                <a:cubicBezTo>
                  <a:pt x="25068" y="8924"/>
                  <a:pt x="25002" y="7685"/>
                  <a:pt x="24963" y="6447"/>
                </a:cubicBezTo>
                <a:lnTo>
                  <a:pt x="24950" y="6447"/>
                </a:lnTo>
                <a:cubicBezTo>
                  <a:pt x="25055" y="5561"/>
                  <a:pt x="24963" y="4674"/>
                  <a:pt x="24872" y="3801"/>
                </a:cubicBezTo>
                <a:cubicBezTo>
                  <a:pt x="24807" y="3175"/>
                  <a:pt x="24664" y="2562"/>
                  <a:pt x="24403" y="1963"/>
                </a:cubicBezTo>
                <a:cubicBezTo>
                  <a:pt x="24194" y="1481"/>
                  <a:pt x="23803" y="1103"/>
                  <a:pt x="23204" y="803"/>
                </a:cubicBezTo>
                <a:cubicBezTo>
                  <a:pt x="22185" y="293"/>
                  <a:pt x="21087" y="0"/>
                  <a:pt x="19843" y="0"/>
                </a:cubicBezTo>
                <a:close/>
              </a:path>
            </a:pathLst>
          </a:custGeom>
          <a:noFill/>
          <a:ln w="19050">
            <a:solidFill>
              <a:schemeClr val="tx1"/>
            </a:solidFill>
          </a:ln>
          <a:effectLst>
            <a:outerShdw blurRad="57150" dist="9525" algn="bl" rotWithShape="0">
              <a:srgbClr val="000000"/>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lang="fr-CI" noProof="0"/>
          </a:p>
        </p:txBody>
      </p:sp>
      <p:sp>
        <p:nvSpPr>
          <p:cNvPr id="4" name="Rectangle 3"/>
          <p:cNvSpPr/>
          <p:nvPr/>
        </p:nvSpPr>
        <p:spPr>
          <a:xfrm>
            <a:off x="2946575" y="1442741"/>
            <a:ext cx="1322389" cy="295488"/>
          </a:xfrm>
          <a:prstGeom prst="rect">
            <a:avLst/>
          </a:prstGeom>
        </p:spPr>
        <p:txBody>
          <a:bodyPr wrap="none">
            <a:spAutoFit/>
          </a:bodyPr>
          <a:lstStyle/>
          <a:p>
            <a:pPr lvl="0">
              <a:lnSpc>
                <a:spcPct val="110000"/>
              </a:lnSpc>
            </a:pPr>
            <a:r>
              <a:rPr lang="fr-CI" sz="1400" b="1" noProof="0">
                <a:solidFill>
                  <a:schemeClr val="bg1"/>
                </a:solidFill>
                <a:latin typeface="Helvetica" panose="020B0604020202020204" pitchFamily="34" charset="0"/>
                <a:ea typeface="Open Sans Semibold" panose="020B0706030804020204" pitchFamily="34" charset="0"/>
                <a:cs typeface="Helvetica" panose="020B0604020202020204" pitchFamily="34" charset="0"/>
              </a:rPr>
              <a:t>Constat</a:t>
            </a:r>
          </a:p>
        </p:txBody>
      </p:sp>
      <p:sp>
        <p:nvSpPr>
          <p:cNvPr id="20" name="Google Shape;7386;p39"/>
          <p:cNvSpPr/>
          <p:nvPr/>
        </p:nvSpPr>
        <p:spPr>
          <a:xfrm rot="10800000">
            <a:off x="6372314" y="1459724"/>
            <a:ext cx="3625790" cy="329031"/>
          </a:xfrm>
          <a:custGeom>
            <a:avLst/>
            <a:gdLst/>
            <a:ahLst/>
            <a:cxnLst/>
            <a:rect l="l" t="t" r="r" b="b"/>
            <a:pathLst>
              <a:path w="40007" h="30221" extrusionOk="0">
                <a:moveTo>
                  <a:pt x="19007" y="1"/>
                </a:moveTo>
                <a:cubicBezTo>
                  <a:pt x="17909" y="1"/>
                  <a:pt x="16810" y="17"/>
                  <a:pt x="15708" y="53"/>
                </a:cubicBezTo>
                <a:cubicBezTo>
                  <a:pt x="13270" y="131"/>
                  <a:pt x="10885" y="275"/>
                  <a:pt x="8512" y="548"/>
                </a:cubicBezTo>
                <a:cubicBezTo>
                  <a:pt x="6088" y="835"/>
                  <a:pt x="4524" y="1500"/>
                  <a:pt x="4041" y="2712"/>
                </a:cubicBezTo>
                <a:cubicBezTo>
                  <a:pt x="4015" y="2777"/>
                  <a:pt x="3976" y="2843"/>
                  <a:pt x="3937" y="2908"/>
                </a:cubicBezTo>
                <a:cubicBezTo>
                  <a:pt x="2777" y="4902"/>
                  <a:pt x="2282" y="6949"/>
                  <a:pt x="1734" y="8995"/>
                </a:cubicBezTo>
                <a:cubicBezTo>
                  <a:pt x="1160" y="11120"/>
                  <a:pt x="613" y="13232"/>
                  <a:pt x="391" y="15357"/>
                </a:cubicBezTo>
                <a:cubicBezTo>
                  <a:pt x="183" y="17325"/>
                  <a:pt x="0" y="19293"/>
                  <a:pt x="79" y="21092"/>
                </a:cubicBezTo>
                <a:cubicBezTo>
                  <a:pt x="52" y="23074"/>
                  <a:pt x="144" y="24899"/>
                  <a:pt x="365" y="26710"/>
                </a:cubicBezTo>
                <a:cubicBezTo>
                  <a:pt x="522" y="28079"/>
                  <a:pt x="1721" y="29096"/>
                  <a:pt x="4419" y="29656"/>
                </a:cubicBezTo>
                <a:cubicBezTo>
                  <a:pt x="6296" y="30048"/>
                  <a:pt x="8265" y="30178"/>
                  <a:pt x="10259" y="30204"/>
                </a:cubicBezTo>
                <a:cubicBezTo>
                  <a:pt x="11143" y="30216"/>
                  <a:pt x="12026" y="30220"/>
                  <a:pt x="12908" y="30220"/>
                </a:cubicBezTo>
                <a:cubicBezTo>
                  <a:pt x="15996" y="30220"/>
                  <a:pt x="19078" y="30165"/>
                  <a:pt x="22161" y="30165"/>
                </a:cubicBezTo>
                <a:cubicBezTo>
                  <a:pt x="24859" y="30165"/>
                  <a:pt x="27557" y="30204"/>
                  <a:pt x="30243" y="30204"/>
                </a:cubicBezTo>
                <a:cubicBezTo>
                  <a:pt x="31690" y="30191"/>
                  <a:pt x="33123" y="30113"/>
                  <a:pt x="34505" y="29852"/>
                </a:cubicBezTo>
                <a:cubicBezTo>
                  <a:pt x="35470" y="29683"/>
                  <a:pt x="36330" y="29435"/>
                  <a:pt x="36917" y="29005"/>
                </a:cubicBezTo>
                <a:cubicBezTo>
                  <a:pt x="37881" y="28288"/>
                  <a:pt x="38677" y="27519"/>
                  <a:pt x="39120" y="26684"/>
                </a:cubicBezTo>
                <a:cubicBezTo>
                  <a:pt x="39732" y="25485"/>
                  <a:pt x="39954" y="24260"/>
                  <a:pt x="39954" y="23021"/>
                </a:cubicBezTo>
                <a:cubicBezTo>
                  <a:pt x="39954" y="19372"/>
                  <a:pt x="40006" y="15709"/>
                  <a:pt x="39563" y="12059"/>
                </a:cubicBezTo>
                <a:cubicBezTo>
                  <a:pt x="39367" y="10403"/>
                  <a:pt x="39485" y="8748"/>
                  <a:pt x="39237" y="7105"/>
                </a:cubicBezTo>
                <a:cubicBezTo>
                  <a:pt x="39068" y="6023"/>
                  <a:pt x="38794" y="4941"/>
                  <a:pt x="37920" y="3938"/>
                </a:cubicBezTo>
                <a:cubicBezTo>
                  <a:pt x="37282" y="3208"/>
                  <a:pt x="36773" y="2438"/>
                  <a:pt x="35665" y="1826"/>
                </a:cubicBezTo>
                <a:cubicBezTo>
                  <a:pt x="34192" y="1031"/>
                  <a:pt x="32237" y="666"/>
                  <a:pt x="30138" y="496"/>
                </a:cubicBezTo>
                <a:cubicBezTo>
                  <a:pt x="26451" y="194"/>
                  <a:pt x="22741" y="1"/>
                  <a:pt x="19007" y="1"/>
                </a:cubicBezTo>
                <a:close/>
              </a:path>
            </a:pathLst>
          </a:custGeom>
          <a:solidFill>
            <a:srgbClr val="112A40"/>
          </a:solidFill>
          <a:ln>
            <a:noFill/>
          </a:ln>
          <a:effectLst>
            <a:outerShdw blurRad="57150" dist="9525" algn="bl" rotWithShape="0">
              <a:srgbClr val="000000"/>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lang="fr-CI" noProof="0"/>
          </a:p>
        </p:txBody>
      </p:sp>
      <p:sp>
        <p:nvSpPr>
          <p:cNvPr id="21" name="Google Shape;7367;p39"/>
          <p:cNvSpPr/>
          <p:nvPr/>
        </p:nvSpPr>
        <p:spPr>
          <a:xfrm rot="16200000">
            <a:off x="7569073" y="228570"/>
            <a:ext cx="2000788" cy="4306666"/>
          </a:xfrm>
          <a:custGeom>
            <a:avLst/>
            <a:gdLst/>
            <a:ahLst/>
            <a:cxnLst/>
            <a:rect l="l" t="t" r="r" b="b"/>
            <a:pathLst>
              <a:path w="25081" h="54128" extrusionOk="0">
                <a:moveTo>
                  <a:pt x="19843" y="0"/>
                </a:moveTo>
                <a:cubicBezTo>
                  <a:pt x="19654" y="0"/>
                  <a:pt x="19462" y="7"/>
                  <a:pt x="19267" y="21"/>
                </a:cubicBezTo>
                <a:cubicBezTo>
                  <a:pt x="17781" y="125"/>
                  <a:pt x="16282" y="99"/>
                  <a:pt x="14796" y="112"/>
                </a:cubicBezTo>
                <a:cubicBezTo>
                  <a:pt x="13909" y="125"/>
                  <a:pt x="13010" y="112"/>
                  <a:pt x="12123" y="177"/>
                </a:cubicBezTo>
                <a:cubicBezTo>
                  <a:pt x="10272" y="333"/>
                  <a:pt x="8421" y="503"/>
                  <a:pt x="6570" y="633"/>
                </a:cubicBezTo>
                <a:cubicBezTo>
                  <a:pt x="5267" y="738"/>
                  <a:pt x="3989" y="933"/>
                  <a:pt x="2764" y="1259"/>
                </a:cubicBezTo>
                <a:cubicBezTo>
                  <a:pt x="1943" y="1481"/>
                  <a:pt x="1408" y="1872"/>
                  <a:pt x="1226" y="2471"/>
                </a:cubicBezTo>
                <a:cubicBezTo>
                  <a:pt x="991" y="3292"/>
                  <a:pt x="861" y="4140"/>
                  <a:pt x="965" y="4974"/>
                </a:cubicBezTo>
                <a:cubicBezTo>
                  <a:pt x="991" y="5248"/>
                  <a:pt x="1030" y="5508"/>
                  <a:pt x="991" y="5782"/>
                </a:cubicBezTo>
                <a:cubicBezTo>
                  <a:pt x="835" y="6877"/>
                  <a:pt x="678" y="7972"/>
                  <a:pt x="587" y="9067"/>
                </a:cubicBezTo>
                <a:cubicBezTo>
                  <a:pt x="470" y="10488"/>
                  <a:pt x="378" y="11896"/>
                  <a:pt x="300" y="13317"/>
                </a:cubicBezTo>
                <a:cubicBezTo>
                  <a:pt x="274" y="13825"/>
                  <a:pt x="352" y="14333"/>
                  <a:pt x="339" y="14829"/>
                </a:cubicBezTo>
                <a:cubicBezTo>
                  <a:pt x="313" y="15820"/>
                  <a:pt x="157" y="16797"/>
                  <a:pt x="118" y="17775"/>
                </a:cubicBezTo>
                <a:cubicBezTo>
                  <a:pt x="53" y="19391"/>
                  <a:pt x="0" y="21008"/>
                  <a:pt x="40" y="22624"/>
                </a:cubicBezTo>
                <a:cubicBezTo>
                  <a:pt x="66" y="24149"/>
                  <a:pt x="157" y="25661"/>
                  <a:pt x="144" y="27173"/>
                </a:cubicBezTo>
                <a:cubicBezTo>
                  <a:pt x="131" y="28646"/>
                  <a:pt x="105" y="30132"/>
                  <a:pt x="131" y="31605"/>
                </a:cubicBezTo>
                <a:cubicBezTo>
                  <a:pt x="209" y="35412"/>
                  <a:pt x="405" y="39218"/>
                  <a:pt x="274" y="43051"/>
                </a:cubicBezTo>
                <a:cubicBezTo>
                  <a:pt x="235" y="44237"/>
                  <a:pt x="287" y="45436"/>
                  <a:pt x="300" y="46622"/>
                </a:cubicBezTo>
                <a:cubicBezTo>
                  <a:pt x="300" y="46687"/>
                  <a:pt x="300" y="46753"/>
                  <a:pt x="287" y="46818"/>
                </a:cubicBezTo>
                <a:cubicBezTo>
                  <a:pt x="222" y="48004"/>
                  <a:pt x="313" y="49190"/>
                  <a:pt x="535" y="50363"/>
                </a:cubicBezTo>
                <a:cubicBezTo>
                  <a:pt x="665" y="51054"/>
                  <a:pt x="1004" y="51706"/>
                  <a:pt x="1239" y="52384"/>
                </a:cubicBezTo>
                <a:cubicBezTo>
                  <a:pt x="1486" y="53075"/>
                  <a:pt x="2164" y="53492"/>
                  <a:pt x="3129" y="53700"/>
                </a:cubicBezTo>
                <a:cubicBezTo>
                  <a:pt x="3812" y="53854"/>
                  <a:pt x="4517" y="53911"/>
                  <a:pt x="5223" y="53911"/>
                </a:cubicBezTo>
                <a:cubicBezTo>
                  <a:pt x="5299" y="53911"/>
                  <a:pt x="5374" y="53910"/>
                  <a:pt x="5449" y="53909"/>
                </a:cubicBezTo>
                <a:cubicBezTo>
                  <a:pt x="5591" y="53907"/>
                  <a:pt x="5733" y="53906"/>
                  <a:pt x="5875" y="53906"/>
                </a:cubicBezTo>
                <a:cubicBezTo>
                  <a:pt x="7594" y="53906"/>
                  <a:pt x="9293" y="54042"/>
                  <a:pt x="11015" y="54078"/>
                </a:cubicBezTo>
                <a:cubicBezTo>
                  <a:pt x="11655" y="54087"/>
                  <a:pt x="12288" y="54128"/>
                  <a:pt x="12924" y="54128"/>
                </a:cubicBezTo>
                <a:cubicBezTo>
                  <a:pt x="13273" y="54128"/>
                  <a:pt x="13623" y="54115"/>
                  <a:pt x="13974" y="54078"/>
                </a:cubicBezTo>
                <a:cubicBezTo>
                  <a:pt x="15239" y="53948"/>
                  <a:pt x="16516" y="53870"/>
                  <a:pt x="17781" y="53779"/>
                </a:cubicBezTo>
                <a:cubicBezTo>
                  <a:pt x="18850" y="53700"/>
                  <a:pt x="19919" y="53583"/>
                  <a:pt x="20961" y="53375"/>
                </a:cubicBezTo>
                <a:cubicBezTo>
                  <a:pt x="22043" y="53153"/>
                  <a:pt x="22956" y="52749"/>
                  <a:pt x="23503" y="52019"/>
                </a:cubicBezTo>
                <a:cubicBezTo>
                  <a:pt x="23855" y="51537"/>
                  <a:pt x="24142" y="51028"/>
                  <a:pt x="24233" y="50494"/>
                </a:cubicBezTo>
                <a:cubicBezTo>
                  <a:pt x="24416" y="49464"/>
                  <a:pt x="24429" y="48434"/>
                  <a:pt x="24546" y="47404"/>
                </a:cubicBezTo>
                <a:cubicBezTo>
                  <a:pt x="24690" y="45957"/>
                  <a:pt x="24768" y="44510"/>
                  <a:pt x="24833" y="43064"/>
                </a:cubicBezTo>
                <a:cubicBezTo>
                  <a:pt x="24924" y="41395"/>
                  <a:pt x="24898" y="39726"/>
                  <a:pt x="24898" y="38058"/>
                </a:cubicBezTo>
                <a:cubicBezTo>
                  <a:pt x="24885" y="36402"/>
                  <a:pt x="24794" y="34760"/>
                  <a:pt x="24794" y="33104"/>
                </a:cubicBezTo>
                <a:cubicBezTo>
                  <a:pt x="24794" y="31332"/>
                  <a:pt x="24755" y="29546"/>
                  <a:pt x="24768" y="27760"/>
                </a:cubicBezTo>
                <a:cubicBezTo>
                  <a:pt x="24794" y="26196"/>
                  <a:pt x="24807" y="24631"/>
                  <a:pt x="24846" y="23067"/>
                </a:cubicBezTo>
                <a:cubicBezTo>
                  <a:pt x="24885" y="21503"/>
                  <a:pt x="24911" y="19952"/>
                  <a:pt x="24911" y="18387"/>
                </a:cubicBezTo>
                <a:cubicBezTo>
                  <a:pt x="24911" y="16967"/>
                  <a:pt x="24937" y="15533"/>
                  <a:pt x="24989" y="14112"/>
                </a:cubicBezTo>
                <a:cubicBezTo>
                  <a:pt x="25028" y="12795"/>
                  <a:pt x="25081" y="11479"/>
                  <a:pt x="25068" y="10162"/>
                </a:cubicBezTo>
                <a:cubicBezTo>
                  <a:pt x="25068" y="8924"/>
                  <a:pt x="25002" y="7685"/>
                  <a:pt x="24963" y="6447"/>
                </a:cubicBezTo>
                <a:lnTo>
                  <a:pt x="24950" y="6447"/>
                </a:lnTo>
                <a:cubicBezTo>
                  <a:pt x="25055" y="5561"/>
                  <a:pt x="24963" y="4674"/>
                  <a:pt x="24872" y="3801"/>
                </a:cubicBezTo>
                <a:cubicBezTo>
                  <a:pt x="24807" y="3175"/>
                  <a:pt x="24664" y="2562"/>
                  <a:pt x="24403" y="1963"/>
                </a:cubicBezTo>
                <a:cubicBezTo>
                  <a:pt x="24194" y="1481"/>
                  <a:pt x="23803" y="1103"/>
                  <a:pt x="23204" y="803"/>
                </a:cubicBezTo>
                <a:cubicBezTo>
                  <a:pt x="22185" y="293"/>
                  <a:pt x="21087" y="0"/>
                  <a:pt x="19843" y="0"/>
                </a:cubicBezTo>
                <a:close/>
              </a:path>
            </a:pathLst>
          </a:custGeom>
          <a:noFill/>
          <a:ln w="19050">
            <a:solidFill>
              <a:srgbClr val="060606"/>
            </a:solidFill>
          </a:ln>
          <a:effectLst>
            <a:outerShdw blurRad="57150" dist="9525" algn="bl" rotWithShape="0">
              <a:srgbClr val="000000"/>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lang="fr-CI" noProof="0"/>
          </a:p>
        </p:txBody>
      </p:sp>
      <p:sp>
        <p:nvSpPr>
          <p:cNvPr id="24" name="Rectangle 23"/>
          <p:cNvSpPr/>
          <p:nvPr/>
        </p:nvSpPr>
        <p:spPr>
          <a:xfrm>
            <a:off x="7570816" y="1466170"/>
            <a:ext cx="1322389" cy="295488"/>
          </a:xfrm>
          <a:prstGeom prst="rect">
            <a:avLst/>
          </a:prstGeom>
        </p:spPr>
        <p:txBody>
          <a:bodyPr wrap="none">
            <a:spAutoFit/>
          </a:bodyPr>
          <a:lstStyle/>
          <a:p>
            <a:pPr lvl="0">
              <a:lnSpc>
                <a:spcPct val="110000"/>
              </a:lnSpc>
            </a:pPr>
            <a:r>
              <a:rPr lang="fr-CI" sz="1400" b="1" noProof="0">
                <a:solidFill>
                  <a:schemeClr val="bg1"/>
                </a:solidFill>
                <a:latin typeface="Helvetica" panose="020B0604020202020204" pitchFamily="34" charset="0"/>
                <a:ea typeface="Open Sans Semibold" panose="020B0706030804020204" pitchFamily="34" charset="0"/>
                <a:cs typeface="Helvetica" panose="020B0604020202020204" pitchFamily="34" charset="0"/>
              </a:rPr>
              <a:t>Preuves</a:t>
            </a:r>
          </a:p>
        </p:txBody>
      </p:sp>
      <p:sp>
        <p:nvSpPr>
          <p:cNvPr id="37" name="Google Shape;7386;p39"/>
          <p:cNvSpPr/>
          <p:nvPr/>
        </p:nvSpPr>
        <p:spPr>
          <a:xfrm rot="10800000">
            <a:off x="1854215" y="3845744"/>
            <a:ext cx="3625790" cy="329031"/>
          </a:xfrm>
          <a:custGeom>
            <a:avLst/>
            <a:gdLst/>
            <a:ahLst/>
            <a:cxnLst/>
            <a:rect l="l" t="t" r="r" b="b"/>
            <a:pathLst>
              <a:path w="40007" h="30221" extrusionOk="0">
                <a:moveTo>
                  <a:pt x="19007" y="1"/>
                </a:moveTo>
                <a:cubicBezTo>
                  <a:pt x="17909" y="1"/>
                  <a:pt x="16810" y="17"/>
                  <a:pt x="15708" y="53"/>
                </a:cubicBezTo>
                <a:cubicBezTo>
                  <a:pt x="13270" y="131"/>
                  <a:pt x="10885" y="275"/>
                  <a:pt x="8512" y="548"/>
                </a:cubicBezTo>
                <a:cubicBezTo>
                  <a:pt x="6088" y="835"/>
                  <a:pt x="4524" y="1500"/>
                  <a:pt x="4041" y="2712"/>
                </a:cubicBezTo>
                <a:cubicBezTo>
                  <a:pt x="4015" y="2777"/>
                  <a:pt x="3976" y="2843"/>
                  <a:pt x="3937" y="2908"/>
                </a:cubicBezTo>
                <a:cubicBezTo>
                  <a:pt x="2777" y="4902"/>
                  <a:pt x="2282" y="6949"/>
                  <a:pt x="1734" y="8995"/>
                </a:cubicBezTo>
                <a:cubicBezTo>
                  <a:pt x="1160" y="11120"/>
                  <a:pt x="613" y="13232"/>
                  <a:pt x="391" y="15357"/>
                </a:cubicBezTo>
                <a:cubicBezTo>
                  <a:pt x="183" y="17325"/>
                  <a:pt x="0" y="19293"/>
                  <a:pt x="79" y="21092"/>
                </a:cubicBezTo>
                <a:cubicBezTo>
                  <a:pt x="52" y="23074"/>
                  <a:pt x="144" y="24899"/>
                  <a:pt x="365" y="26710"/>
                </a:cubicBezTo>
                <a:cubicBezTo>
                  <a:pt x="522" y="28079"/>
                  <a:pt x="1721" y="29096"/>
                  <a:pt x="4419" y="29656"/>
                </a:cubicBezTo>
                <a:cubicBezTo>
                  <a:pt x="6296" y="30048"/>
                  <a:pt x="8265" y="30178"/>
                  <a:pt x="10259" y="30204"/>
                </a:cubicBezTo>
                <a:cubicBezTo>
                  <a:pt x="11143" y="30216"/>
                  <a:pt x="12026" y="30220"/>
                  <a:pt x="12908" y="30220"/>
                </a:cubicBezTo>
                <a:cubicBezTo>
                  <a:pt x="15996" y="30220"/>
                  <a:pt x="19078" y="30165"/>
                  <a:pt x="22161" y="30165"/>
                </a:cubicBezTo>
                <a:cubicBezTo>
                  <a:pt x="24859" y="30165"/>
                  <a:pt x="27557" y="30204"/>
                  <a:pt x="30243" y="30204"/>
                </a:cubicBezTo>
                <a:cubicBezTo>
                  <a:pt x="31690" y="30191"/>
                  <a:pt x="33123" y="30113"/>
                  <a:pt x="34505" y="29852"/>
                </a:cubicBezTo>
                <a:cubicBezTo>
                  <a:pt x="35470" y="29683"/>
                  <a:pt x="36330" y="29435"/>
                  <a:pt x="36917" y="29005"/>
                </a:cubicBezTo>
                <a:cubicBezTo>
                  <a:pt x="37881" y="28288"/>
                  <a:pt x="38677" y="27519"/>
                  <a:pt x="39120" y="26684"/>
                </a:cubicBezTo>
                <a:cubicBezTo>
                  <a:pt x="39732" y="25485"/>
                  <a:pt x="39954" y="24260"/>
                  <a:pt x="39954" y="23021"/>
                </a:cubicBezTo>
                <a:cubicBezTo>
                  <a:pt x="39954" y="19372"/>
                  <a:pt x="40006" y="15709"/>
                  <a:pt x="39563" y="12059"/>
                </a:cubicBezTo>
                <a:cubicBezTo>
                  <a:pt x="39367" y="10403"/>
                  <a:pt x="39485" y="8748"/>
                  <a:pt x="39237" y="7105"/>
                </a:cubicBezTo>
                <a:cubicBezTo>
                  <a:pt x="39068" y="6023"/>
                  <a:pt x="38794" y="4941"/>
                  <a:pt x="37920" y="3938"/>
                </a:cubicBezTo>
                <a:cubicBezTo>
                  <a:pt x="37282" y="3208"/>
                  <a:pt x="36773" y="2438"/>
                  <a:pt x="35665" y="1826"/>
                </a:cubicBezTo>
                <a:cubicBezTo>
                  <a:pt x="34192" y="1031"/>
                  <a:pt x="32237" y="666"/>
                  <a:pt x="30138" y="496"/>
                </a:cubicBezTo>
                <a:cubicBezTo>
                  <a:pt x="26451" y="194"/>
                  <a:pt x="22741" y="1"/>
                  <a:pt x="19007" y="1"/>
                </a:cubicBezTo>
                <a:close/>
              </a:path>
            </a:pathLst>
          </a:custGeom>
          <a:solidFill>
            <a:srgbClr val="112A40"/>
          </a:solidFill>
          <a:ln>
            <a:noFill/>
          </a:ln>
          <a:effectLst>
            <a:outerShdw blurRad="57150" dist="9525" algn="bl" rotWithShape="0">
              <a:srgbClr val="000000"/>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lang="fr-CI" noProof="0"/>
          </a:p>
        </p:txBody>
      </p:sp>
      <p:sp>
        <p:nvSpPr>
          <p:cNvPr id="38" name="Google Shape;7367;p39"/>
          <p:cNvSpPr/>
          <p:nvPr/>
        </p:nvSpPr>
        <p:spPr>
          <a:xfrm rot="16200000">
            <a:off x="2838223" y="3190772"/>
            <a:ext cx="1751381" cy="3719393"/>
          </a:xfrm>
          <a:custGeom>
            <a:avLst/>
            <a:gdLst/>
            <a:ahLst/>
            <a:cxnLst/>
            <a:rect l="l" t="t" r="r" b="b"/>
            <a:pathLst>
              <a:path w="25081" h="54128" extrusionOk="0">
                <a:moveTo>
                  <a:pt x="19843" y="0"/>
                </a:moveTo>
                <a:cubicBezTo>
                  <a:pt x="19654" y="0"/>
                  <a:pt x="19462" y="7"/>
                  <a:pt x="19267" y="21"/>
                </a:cubicBezTo>
                <a:cubicBezTo>
                  <a:pt x="17781" y="125"/>
                  <a:pt x="16282" y="99"/>
                  <a:pt x="14796" y="112"/>
                </a:cubicBezTo>
                <a:cubicBezTo>
                  <a:pt x="13909" y="125"/>
                  <a:pt x="13010" y="112"/>
                  <a:pt x="12123" y="177"/>
                </a:cubicBezTo>
                <a:cubicBezTo>
                  <a:pt x="10272" y="333"/>
                  <a:pt x="8421" y="503"/>
                  <a:pt x="6570" y="633"/>
                </a:cubicBezTo>
                <a:cubicBezTo>
                  <a:pt x="5267" y="738"/>
                  <a:pt x="3989" y="933"/>
                  <a:pt x="2764" y="1259"/>
                </a:cubicBezTo>
                <a:cubicBezTo>
                  <a:pt x="1943" y="1481"/>
                  <a:pt x="1408" y="1872"/>
                  <a:pt x="1226" y="2471"/>
                </a:cubicBezTo>
                <a:cubicBezTo>
                  <a:pt x="991" y="3292"/>
                  <a:pt x="861" y="4140"/>
                  <a:pt x="965" y="4974"/>
                </a:cubicBezTo>
                <a:cubicBezTo>
                  <a:pt x="991" y="5248"/>
                  <a:pt x="1030" y="5508"/>
                  <a:pt x="991" y="5782"/>
                </a:cubicBezTo>
                <a:cubicBezTo>
                  <a:pt x="835" y="6877"/>
                  <a:pt x="678" y="7972"/>
                  <a:pt x="587" y="9067"/>
                </a:cubicBezTo>
                <a:cubicBezTo>
                  <a:pt x="470" y="10488"/>
                  <a:pt x="378" y="11896"/>
                  <a:pt x="300" y="13317"/>
                </a:cubicBezTo>
                <a:cubicBezTo>
                  <a:pt x="274" y="13825"/>
                  <a:pt x="352" y="14333"/>
                  <a:pt x="339" y="14829"/>
                </a:cubicBezTo>
                <a:cubicBezTo>
                  <a:pt x="313" y="15820"/>
                  <a:pt x="157" y="16797"/>
                  <a:pt x="118" y="17775"/>
                </a:cubicBezTo>
                <a:cubicBezTo>
                  <a:pt x="53" y="19391"/>
                  <a:pt x="0" y="21008"/>
                  <a:pt x="40" y="22624"/>
                </a:cubicBezTo>
                <a:cubicBezTo>
                  <a:pt x="66" y="24149"/>
                  <a:pt x="157" y="25661"/>
                  <a:pt x="144" y="27173"/>
                </a:cubicBezTo>
                <a:cubicBezTo>
                  <a:pt x="131" y="28646"/>
                  <a:pt x="105" y="30132"/>
                  <a:pt x="131" y="31605"/>
                </a:cubicBezTo>
                <a:cubicBezTo>
                  <a:pt x="209" y="35412"/>
                  <a:pt x="405" y="39218"/>
                  <a:pt x="274" y="43051"/>
                </a:cubicBezTo>
                <a:cubicBezTo>
                  <a:pt x="235" y="44237"/>
                  <a:pt x="287" y="45436"/>
                  <a:pt x="300" y="46622"/>
                </a:cubicBezTo>
                <a:cubicBezTo>
                  <a:pt x="300" y="46687"/>
                  <a:pt x="300" y="46753"/>
                  <a:pt x="287" y="46818"/>
                </a:cubicBezTo>
                <a:cubicBezTo>
                  <a:pt x="222" y="48004"/>
                  <a:pt x="313" y="49190"/>
                  <a:pt x="535" y="50363"/>
                </a:cubicBezTo>
                <a:cubicBezTo>
                  <a:pt x="665" y="51054"/>
                  <a:pt x="1004" y="51706"/>
                  <a:pt x="1239" y="52384"/>
                </a:cubicBezTo>
                <a:cubicBezTo>
                  <a:pt x="1486" y="53075"/>
                  <a:pt x="2164" y="53492"/>
                  <a:pt x="3129" y="53700"/>
                </a:cubicBezTo>
                <a:cubicBezTo>
                  <a:pt x="3812" y="53854"/>
                  <a:pt x="4517" y="53911"/>
                  <a:pt x="5223" y="53911"/>
                </a:cubicBezTo>
                <a:cubicBezTo>
                  <a:pt x="5299" y="53911"/>
                  <a:pt x="5374" y="53910"/>
                  <a:pt x="5449" y="53909"/>
                </a:cubicBezTo>
                <a:cubicBezTo>
                  <a:pt x="5591" y="53907"/>
                  <a:pt x="5733" y="53906"/>
                  <a:pt x="5875" y="53906"/>
                </a:cubicBezTo>
                <a:cubicBezTo>
                  <a:pt x="7594" y="53906"/>
                  <a:pt x="9293" y="54042"/>
                  <a:pt x="11015" y="54078"/>
                </a:cubicBezTo>
                <a:cubicBezTo>
                  <a:pt x="11655" y="54087"/>
                  <a:pt x="12288" y="54128"/>
                  <a:pt x="12924" y="54128"/>
                </a:cubicBezTo>
                <a:cubicBezTo>
                  <a:pt x="13273" y="54128"/>
                  <a:pt x="13623" y="54115"/>
                  <a:pt x="13974" y="54078"/>
                </a:cubicBezTo>
                <a:cubicBezTo>
                  <a:pt x="15239" y="53948"/>
                  <a:pt x="16516" y="53870"/>
                  <a:pt x="17781" y="53779"/>
                </a:cubicBezTo>
                <a:cubicBezTo>
                  <a:pt x="18850" y="53700"/>
                  <a:pt x="19919" y="53583"/>
                  <a:pt x="20961" y="53375"/>
                </a:cubicBezTo>
                <a:cubicBezTo>
                  <a:pt x="22043" y="53153"/>
                  <a:pt x="22956" y="52749"/>
                  <a:pt x="23503" y="52019"/>
                </a:cubicBezTo>
                <a:cubicBezTo>
                  <a:pt x="23855" y="51537"/>
                  <a:pt x="24142" y="51028"/>
                  <a:pt x="24233" y="50494"/>
                </a:cubicBezTo>
                <a:cubicBezTo>
                  <a:pt x="24416" y="49464"/>
                  <a:pt x="24429" y="48434"/>
                  <a:pt x="24546" y="47404"/>
                </a:cubicBezTo>
                <a:cubicBezTo>
                  <a:pt x="24690" y="45957"/>
                  <a:pt x="24768" y="44510"/>
                  <a:pt x="24833" y="43064"/>
                </a:cubicBezTo>
                <a:cubicBezTo>
                  <a:pt x="24924" y="41395"/>
                  <a:pt x="24898" y="39726"/>
                  <a:pt x="24898" y="38058"/>
                </a:cubicBezTo>
                <a:cubicBezTo>
                  <a:pt x="24885" y="36402"/>
                  <a:pt x="24794" y="34760"/>
                  <a:pt x="24794" y="33104"/>
                </a:cubicBezTo>
                <a:cubicBezTo>
                  <a:pt x="24794" y="31332"/>
                  <a:pt x="24755" y="29546"/>
                  <a:pt x="24768" y="27760"/>
                </a:cubicBezTo>
                <a:cubicBezTo>
                  <a:pt x="24794" y="26196"/>
                  <a:pt x="24807" y="24631"/>
                  <a:pt x="24846" y="23067"/>
                </a:cubicBezTo>
                <a:cubicBezTo>
                  <a:pt x="24885" y="21503"/>
                  <a:pt x="24911" y="19952"/>
                  <a:pt x="24911" y="18387"/>
                </a:cubicBezTo>
                <a:cubicBezTo>
                  <a:pt x="24911" y="16967"/>
                  <a:pt x="24937" y="15533"/>
                  <a:pt x="24989" y="14112"/>
                </a:cubicBezTo>
                <a:cubicBezTo>
                  <a:pt x="25028" y="12795"/>
                  <a:pt x="25081" y="11479"/>
                  <a:pt x="25068" y="10162"/>
                </a:cubicBezTo>
                <a:cubicBezTo>
                  <a:pt x="25068" y="8924"/>
                  <a:pt x="25002" y="7685"/>
                  <a:pt x="24963" y="6447"/>
                </a:cubicBezTo>
                <a:lnTo>
                  <a:pt x="24950" y="6447"/>
                </a:lnTo>
                <a:cubicBezTo>
                  <a:pt x="25055" y="5561"/>
                  <a:pt x="24963" y="4674"/>
                  <a:pt x="24872" y="3801"/>
                </a:cubicBezTo>
                <a:cubicBezTo>
                  <a:pt x="24807" y="3175"/>
                  <a:pt x="24664" y="2562"/>
                  <a:pt x="24403" y="1963"/>
                </a:cubicBezTo>
                <a:cubicBezTo>
                  <a:pt x="24194" y="1481"/>
                  <a:pt x="23803" y="1103"/>
                  <a:pt x="23204" y="803"/>
                </a:cubicBezTo>
                <a:cubicBezTo>
                  <a:pt x="22185" y="293"/>
                  <a:pt x="21087" y="0"/>
                  <a:pt x="19843" y="0"/>
                </a:cubicBezTo>
                <a:close/>
              </a:path>
            </a:pathLst>
          </a:custGeom>
          <a:noFill/>
          <a:ln w="19050">
            <a:solidFill>
              <a:srgbClr val="060606"/>
            </a:solidFill>
          </a:ln>
          <a:effectLst>
            <a:outerShdw blurRad="57150" dist="9525" algn="bl" rotWithShape="0">
              <a:srgbClr val="000000"/>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lang="fr-CI" noProof="0"/>
          </a:p>
        </p:txBody>
      </p:sp>
      <p:sp>
        <p:nvSpPr>
          <p:cNvPr id="40" name="Rectangle 39"/>
          <p:cNvSpPr/>
          <p:nvPr/>
        </p:nvSpPr>
        <p:spPr>
          <a:xfrm>
            <a:off x="3052718" y="3852190"/>
            <a:ext cx="1322389" cy="295488"/>
          </a:xfrm>
          <a:prstGeom prst="rect">
            <a:avLst/>
          </a:prstGeom>
        </p:spPr>
        <p:txBody>
          <a:bodyPr wrap="none">
            <a:spAutoFit/>
          </a:bodyPr>
          <a:lstStyle/>
          <a:p>
            <a:pPr lvl="0">
              <a:lnSpc>
                <a:spcPct val="110000"/>
              </a:lnSpc>
            </a:pPr>
            <a:r>
              <a:rPr lang="fr-CI" sz="1400" b="1" noProof="0">
                <a:solidFill>
                  <a:schemeClr val="bg1"/>
                </a:solidFill>
                <a:latin typeface="Helvetica" panose="020B0604020202020204" pitchFamily="34" charset="0"/>
                <a:ea typeface="Open Sans Semibold" panose="020B0706030804020204" pitchFamily="34" charset="0"/>
                <a:cs typeface="Helvetica" panose="020B0604020202020204" pitchFamily="34" charset="0"/>
              </a:rPr>
              <a:t>Implication</a:t>
            </a:r>
          </a:p>
        </p:txBody>
      </p:sp>
      <p:sp>
        <p:nvSpPr>
          <p:cNvPr id="42" name="Google Shape;7386;p39"/>
          <p:cNvSpPr/>
          <p:nvPr/>
        </p:nvSpPr>
        <p:spPr>
          <a:xfrm rot="10800000">
            <a:off x="6478457" y="3869173"/>
            <a:ext cx="3625790" cy="329031"/>
          </a:xfrm>
          <a:custGeom>
            <a:avLst/>
            <a:gdLst/>
            <a:ahLst/>
            <a:cxnLst/>
            <a:rect l="l" t="t" r="r" b="b"/>
            <a:pathLst>
              <a:path w="40007" h="30221" extrusionOk="0">
                <a:moveTo>
                  <a:pt x="19007" y="1"/>
                </a:moveTo>
                <a:cubicBezTo>
                  <a:pt x="17909" y="1"/>
                  <a:pt x="16810" y="17"/>
                  <a:pt x="15708" y="53"/>
                </a:cubicBezTo>
                <a:cubicBezTo>
                  <a:pt x="13270" y="131"/>
                  <a:pt x="10885" y="275"/>
                  <a:pt x="8512" y="548"/>
                </a:cubicBezTo>
                <a:cubicBezTo>
                  <a:pt x="6088" y="835"/>
                  <a:pt x="4524" y="1500"/>
                  <a:pt x="4041" y="2712"/>
                </a:cubicBezTo>
                <a:cubicBezTo>
                  <a:pt x="4015" y="2777"/>
                  <a:pt x="3976" y="2843"/>
                  <a:pt x="3937" y="2908"/>
                </a:cubicBezTo>
                <a:cubicBezTo>
                  <a:pt x="2777" y="4902"/>
                  <a:pt x="2282" y="6949"/>
                  <a:pt x="1734" y="8995"/>
                </a:cubicBezTo>
                <a:cubicBezTo>
                  <a:pt x="1160" y="11120"/>
                  <a:pt x="613" y="13232"/>
                  <a:pt x="391" y="15357"/>
                </a:cubicBezTo>
                <a:cubicBezTo>
                  <a:pt x="183" y="17325"/>
                  <a:pt x="0" y="19293"/>
                  <a:pt x="79" y="21092"/>
                </a:cubicBezTo>
                <a:cubicBezTo>
                  <a:pt x="52" y="23074"/>
                  <a:pt x="144" y="24899"/>
                  <a:pt x="365" y="26710"/>
                </a:cubicBezTo>
                <a:cubicBezTo>
                  <a:pt x="522" y="28079"/>
                  <a:pt x="1721" y="29096"/>
                  <a:pt x="4419" y="29656"/>
                </a:cubicBezTo>
                <a:cubicBezTo>
                  <a:pt x="6296" y="30048"/>
                  <a:pt x="8265" y="30178"/>
                  <a:pt x="10259" y="30204"/>
                </a:cubicBezTo>
                <a:cubicBezTo>
                  <a:pt x="11143" y="30216"/>
                  <a:pt x="12026" y="30220"/>
                  <a:pt x="12908" y="30220"/>
                </a:cubicBezTo>
                <a:cubicBezTo>
                  <a:pt x="15996" y="30220"/>
                  <a:pt x="19078" y="30165"/>
                  <a:pt x="22161" y="30165"/>
                </a:cubicBezTo>
                <a:cubicBezTo>
                  <a:pt x="24859" y="30165"/>
                  <a:pt x="27557" y="30204"/>
                  <a:pt x="30243" y="30204"/>
                </a:cubicBezTo>
                <a:cubicBezTo>
                  <a:pt x="31690" y="30191"/>
                  <a:pt x="33123" y="30113"/>
                  <a:pt x="34505" y="29852"/>
                </a:cubicBezTo>
                <a:cubicBezTo>
                  <a:pt x="35470" y="29683"/>
                  <a:pt x="36330" y="29435"/>
                  <a:pt x="36917" y="29005"/>
                </a:cubicBezTo>
                <a:cubicBezTo>
                  <a:pt x="37881" y="28288"/>
                  <a:pt x="38677" y="27519"/>
                  <a:pt x="39120" y="26684"/>
                </a:cubicBezTo>
                <a:cubicBezTo>
                  <a:pt x="39732" y="25485"/>
                  <a:pt x="39954" y="24260"/>
                  <a:pt x="39954" y="23021"/>
                </a:cubicBezTo>
                <a:cubicBezTo>
                  <a:pt x="39954" y="19372"/>
                  <a:pt x="40006" y="15709"/>
                  <a:pt x="39563" y="12059"/>
                </a:cubicBezTo>
                <a:cubicBezTo>
                  <a:pt x="39367" y="10403"/>
                  <a:pt x="39485" y="8748"/>
                  <a:pt x="39237" y="7105"/>
                </a:cubicBezTo>
                <a:cubicBezTo>
                  <a:pt x="39068" y="6023"/>
                  <a:pt x="38794" y="4941"/>
                  <a:pt x="37920" y="3938"/>
                </a:cubicBezTo>
                <a:cubicBezTo>
                  <a:pt x="37282" y="3208"/>
                  <a:pt x="36773" y="2438"/>
                  <a:pt x="35665" y="1826"/>
                </a:cubicBezTo>
                <a:cubicBezTo>
                  <a:pt x="34192" y="1031"/>
                  <a:pt x="32237" y="666"/>
                  <a:pt x="30138" y="496"/>
                </a:cubicBezTo>
                <a:cubicBezTo>
                  <a:pt x="26451" y="194"/>
                  <a:pt x="22741" y="1"/>
                  <a:pt x="19007" y="1"/>
                </a:cubicBezTo>
                <a:close/>
              </a:path>
            </a:pathLst>
          </a:custGeom>
          <a:solidFill>
            <a:srgbClr val="112A40"/>
          </a:solidFill>
          <a:ln>
            <a:noFill/>
          </a:ln>
          <a:effectLst>
            <a:outerShdw blurRad="57150" dist="9525" algn="bl" rotWithShape="0">
              <a:srgbClr val="000000"/>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lang="fr-CI" noProof="0"/>
          </a:p>
        </p:txBody>
      </p:sp>
      <p:sp>
        <p:nvSpPr>
          <p:cNvPr id="43" name="Google Shape;7367;p39"/>
          <p:cNvSpPr/>
          <p:nvPr/>
        </p:nvSpPr>
        <p:spPr>
          <a:xfrm rot="16200000">
            <a:off x="7474179" y="3202486"/>
            <a:ext cx="1727953" cy="3719393"/>
          </a:xfrm>
          <a:custGeom>
            <a:avLst/>
            <a:gdLst/>
            <a:ahLst/>
            <a:cxnLst/>
            <a:rect l="l" t="t" r="r" b="b"/>
            <a:pathLst>
              <a:path w="25081" h="54128" extrusionOk="0">
                <a:moveTo>
                  <a:pt x="19843" y="0"/>
                </a:moveTo>
                <a:cubicBezTo>
                  <a:pt x="19654" y="0"/>
                  <a:pt x="19462" y="7"/>
                  <a:pt x="19267" y="21"/>
                </a:cubicBezTo>
                <a:cubicBezTo>
                  <a:pt x="17781" y="125"/>
                  <a:pt x="16282" y="99"/>
                  <a:pt x="14796" y="112"/>
                </a:cubicBezTo>
                <a:cubicBezTo>
                  <a:pt x="13909" y="125"/>
                  <a:pt x="13010" y="112"/>
                  <a:pt x="12123" y="177"/>
                </a:cubicBezTo>
                <a:cubicBezTo>
                  <a:pt x="10272" y="333"/>
                  <a:pt x="8421" y="503"/>
                  <a:pt x="6570" y="633"/>
                </a:cubicBezTo>
                <a:cubicBezTo>
                  <a:pt x="5267" y="738"/>
                  <a:pt x="3989" y="933"/>
                  <a:pt x="2764" y="1259"/>
                </a:cubicBezTo>
                <a:cubicBezTo>
                  <a:pt x="1943" y="1481"/>
                  <a:pt x="1408" y="1872"/>
                  <a:pt x="1226" y="2471"/>
                </a:cubicBezTo>
                <a:cubicBezTo>
                  <a:pt x="991" y="3292"/>
                  <a:pt x="861" y="4140"/>
                  <a:pt x="965" y="4974"/>
                </a:cubicBezTo>
                <a:cubicBezTo>
                  <a:pt x="991" y="5248"/>
                  <a:pt x="1030" y="5508"/>
                  <a:pt x="991" y="5782"/>
                </a:cubicBezTo>
                <a:cubicBezTo>
                  <a:pt x="835" y="6877"/>
                  <a:pt x="678" y="7972"/>
                  <a:pt x="587" y="9067"/>
                </a:cubicBezTo>
                <a:cubicBezTo>
                  <a:pt x="470" y="10488"/>
                  <a:pt x="378" y="11896"/>
                  <a:pt x="300" y="13317"/>
                </a:cubicBezTo>
                <a:cubicBezTo>
                  <a:pt x="274" y="13825"/>
                  <a:pt x="352" y="14333"/>
                  <a:pt x="339" y="14829"/>
                </a:cubicBezTo>
                <a:cubicBezTo>
                  <a:pt x="313" y="15820"/>
                  <a:pt x="157" y="16797"/>
                  <a:pt x="118" y="17775"/>
                </a:cubicBezTo>
                <a:cubicBezTo>
                  <a:pt x="53" y="19391"/>
                  <a:pt x="0" y="21008"/>
                  <a:pt x="40" y="22624"/>
                </a:cubicBezTo>
                <a:cubicBezTo>
                  <a:pt x="66" y="24149"/>
                  <a:pt x="157" y="25661"/>
                  <a:pt x="144" y="27173"/>
                </a:cubicBezTo>
                <a:cubicBezTo>
                  <a:pt x="131" y="28646"/>
                  <a:pt x="105" y="30132"/>
                  <a:pt x="131" y="31605"/>
                </a:cubicBezTo>
                <a:cubicBezTo>
                  <a:pt x="209" y="35412"/>
                  <a:pt x="405" y="39218"/>
                  <a:pt x="274" y="43051"/>
                </a:cubicBezTo>
                <a:cubicBezTo>
                  <a:pt x="235" y="44237"/>
                  <a:pt x="287" y="45436"/>
                  <a:pt x="300" y="46622"/>
                </a:cubicBezTo>
                <a:cubicBezTo>
                  <a:pt x="300" y="46687"/>
                  <a:pt x="300" y="46753"/>
                  <a:pt x="287" y="46818"/>
                </a:cubicBezTo>
                <a:cubicBezTo>
                  <a:pt x="222" y="48004"/>
                  <a:pt x="313" y="49190"/>
                  <a:pt x="535" y="50363"/>
                </a:cubicBezTo>
                <a:cubicBezTo>
                  <a:pt x="665" y="51054"/>
                  <a:pt x="1004" y="51706"/>
                  <a:pt x="1239" y="52384"/>
                </a:cubicBezTo>
                <a:cubicBezTo>
                  <a:pt x="1486" y="53075"/>
                  <a:pt x="2164" y="53492"/>
                  <a:pt x="3129" y="53700"/>
                </a:cubicBezTo>
                <a:cubicBezTo>
                  <a:pt x="3812" y="53854"/>
                  <a:pt x="4517" y="53911"/>
                  <a:pt x="5223" y="53911"/>
                </a:cubicBezTo>
                <a:cubicBezTo>
                  <a:pt x="5299" y="53911"/>
                  <a:pt x="5374" y="53910"/>
                  <a:pt x="5449" y="53909"/>
                </a:cubicBezTo>
                <a:cubicBezTo>
                  <a:pt x="5591" y="53907"/>
                  <a:pt x="5733" y="53906"/>
                  <a:pt x="5875" y="53906"/>
                </a:cubicBezTo>
                <a:cubicBezTo>
                  <a:pt x="7594" y="53906"/>
                  <a:pt x="9293" y="54042"/>
                  <a:pt x="11015" y="54078"/>
                </a:cubicBezTo>
                <a:cubicBezTo>
                  <a:pt x="11655" y="54087"/>
                  <a:pt x="12288" y="54128"/>
                  <a:pt x="12924" y="54128"/>
                </a:cubicBezTo>
                <a:cubicBezTo>
                  <a:pt x="13273" y="54128"/>
                  <a:pt x="13623" y="54115"/>
                  <a:pt x="13974" y="54078"/>
                </a:cubicBezTo>
                <a:cubicBezTo>
                  <a:pt x="15239" y="53948"/>
                  <a:pt x="16516" y="53870"/>
                  <a:pt x="17781" y="53779"/>
                </a:cubicBezTo>
                <a:cubicBezTo>
                  <a:pt x="18850" y="53700"/>
                  <a:pt x="19919" y="53583"/>
                  <a:pt x="20961" y="53375"/>
                </a:cubicBezTo>
                <a:cubicBezTo>
                  <a:pt x="22043" y="53153"/>
                  <a:pt x="22956" y="52749"/>
                  <a:pt x="23503" y="52019"/>
                </a:cubicBezTo>
                <a:cubicBezTo>
                  <a:pt x="23855" y="51537"/>
                  <a:pt x="24142" y="51028"/>
                  <a:pt x="24233" y="50494"/>
                </a:cubicBezTo>
                <a:cubicBezTo>
                  <a:pt x="24416" y="49464"/>
                  <a:pt x="24429" y="48434"/>
                  <a:pt x="24546" y="47404"/>
                </a:cubicBezTo>
                <a:cubicBezTo>
                  <a:pt x="24690" y="45957"/>
                  <a:pt x="24768" y="44510"/>
                  <a:pt x="24833" y="43064"/>
                </a:cubicBezTo>
                <a:cubicBezTo>
                  <a:pt x="24924" y="41395"/>
                  <a:pt x="24898" y="39726"/>
                  <a:pt x="24898" y="38058"/>
                </a:cubicBezTo>
                <a:cubicBezTo>
                  <a:pt x="24885" y="36402"/>
                  <a:pt x="24794" y="34760"/>
                  <a:pt x="24794" y="33104"/>
                </a:cubicBezTo>
                <a:cubicBezTo>
                  <a:pt x="24794" y="31332"/>
                  <a:pt x="24755" y="29546"/>
                  <a:pt x="24768" y="27760"/>
                </a:cubicBezTo>
                <a:cubicBezTo>
                  <a:pt x="24794" y="26196"/>
                  <a:pt x="24807" y="24631"/>
                  <a:pt x="24846" y="23067"/>
                </a:cubicBezTo>
                <a:cubicBezTo>
                  <a:pt x="24885" y="21503"/>
                  <a:pt x="24911" y="19952"/>
                  <a:pt x="24911" y="18387"/>
                </a:cubicBezTo>
                <a:cubicBezTo>
                  <a:pt x="24911" y="16967"/>
                  <a:pt x="24937" y="15533"/>
                  <a:pt x="24989" y="14112"/>
                </a:cubicBezTo>
                <a:cubicBezTo>
                  <a:pt x="25028" y="12795"/>
                  <a:pt x="25081" y="11479"/>
                  <a:pt x="25068" y="10162"/>
                </a:cubicBezTo>
                <a:cubicBezTo>
                  <a:pt x="25068" y="8924"/>
                  <a:pt x="25002" y="7685"/>
                  <a:pt x="24963" y="6447"/>
                </a:cubicBezTo>
                <a:lnTo>
                  <a:pt x="24950" y="6447"/>
                </a:lnTo>
                <a:cubicBezTo>
                  <a:pt x="25055" y="5561"/>
                  <a:pt x="24963" y="4674"/>
                  <a:pt x="24872" y="3801"/>
                </a:cubicBezTo>
                <a:cubicBezTo>
                  <a:pt x="24807" y="3175"/>
                  <a:pt x="24664" y="2562"/>
                  <a:pt x="24403" y="1963"/>
                </a:cubicBezTo>
                <a:cubicBezTo>
                  <a:pt x="24194" y="1481"/>
                  <a:pt x="23803" y="1103"/>
                  <a:pt x="23204" y="803"/>
                </a:cubicBezTo>
                <a:cubicBezTo>
                  <a:pt x="22185" y="293"/>
                  <a:pt x="21087" y="0"/>
                  <a:pt x="19843" y="0"/>
                </a:cubicBezTo>
                <a:close/>
              </a:path>
            </a:pathLst>
          </a:custGeom>
          <a:noFill/>
          <a:ln w="19050">
            <a:solidFill>
              <a:schemeClr val="tx1"/>
            </a:solidFill>
          </a:ln>
          <a:effectLst>
            <a:outerShdw blurRad="57150" dist="9525" algn="bl" rotWithShape="0">
              <a:srgbClr val="000000"/>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lang="fr-CI" noProof="0"/>
          </a:p>
        </p:txBody>
      </p:sp>
      <p:sp>
        <p:nvSpPr>
          <p:cNvPr id="45" name="Rectangle 44"/>
          <p:cNvSpPr/>
          <p:nvPr/>
        </p:nvSpPr>
        <p:spPr>
          <a:xfrm>
            <a:off x="7676960" y="3875619"/>
            <a:ext cx="1322389" cy="295488"/>
          </a:xfrm>
          <a:prstGeom prst="rect">
            <a:avLst/>
          </a:prstGeom>
        </p:spPr>
        <p:txBody>
          <a:bodyPr wrap="none">
            <a:spAutoFit/>
          </a:bodyPr>
          <a:lstStyle/>
          <a:p>
            <a:pPr lvl="0">
              <a:lnSpc>
                <a:spcPct val="110000"/>
              </a:lnSpc>
            </a:pPr>
            <a:r>
              <a:rPr lang="fr-CI" sz="1400" b="1" noProof="0">
                <a:solidFill>
                  <a:schemeClr val="bg1"/>
                </a:solidFill>
                <a:latin typeface="Helvetica" panose="020B0604020202020204" pitchFamily="34" charset="0"/>
                <a:ea typeface="Open Sans Semibold" panose="020B0706030804020204" pitchFamily="34" charset="0"/>
                <a:cs typeface="Helvetica" panose="020B0604020202020204" pitchFamily="34" charset="0"/>
              </a:rPr>
              <a:t>Action</a:t>
            </a:r>
          </a:p>
        </p:txBody>
      </p:sp>
      <p:pic>
        <p:nvPicPr>
          <p:cNvPr id="47" name="Image 46"/>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147871" y="3850143"/>
            <a:ext cx="334029" cy="337914"/>
          </a:xfrm>
          <a:prstGeom prst="rect">
            <a:avLst/>
          </a:prstGeom>
        </p:spPr>
      </p:pic>
      <p:pic>
        <p:nvPicPr>
          <p:cNvPr id="50" name="Image 49">
            <a:extLst>
              <a:ext uri="{FF2B5EF4-FFF2-40B4-BE49-F238E27FC236}">
                <a16:creationId xmlns:a16="http://schemas.microsoft.com/office/drawing/2014/main" id="{593DA389-08F4-31D9-6AB9-E96812D83B72}"/>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6768142" y="1475503"/>
            <a:ext cx="294700" cy="294700"/>
          </a:xfrm>
          <a:prstGeom prst="rect">
            <a:avLst/>
          </a:prstGeom>
        </p:spPr>
      </p:pic>
      <p:pic>
        <p:nvPicPr>
          <p:cNvPr id="25" name="Image 24"/>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2156977" y="1457088"/>
            <a:ext cx="281624" cy="284788"/>
          </a:xfrm>
          <a:prstGeom prst="rect">
            <a:avLst/>
          </a:prstGeom>
        </p:spPr>
      </p:pic>
      <p:pic>
        <p:nvPicPr>
          <p:cNvPr id="28" name="Image 27"/>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6791905" y="3883760"/>
            <a:ext cx="270937" cy="276827"/>
          </a:xfrm>
          <a:prstGeom prst="rect">
            <a:avLst/>
          </a:prstGeom>
        </p:spPr>
      </p:pic>
      <p:sp>
        <p:nvSpPr>
          <p:cNvPr id="31" name="Rectangle 30"/>
          <p:cNvSpPr/>
          <p:nvPr/>
        </p:nvSpPr>
        <p:spPr>
          <a:xfrm>
            <a:off x="1999671" y="1962253"/>
            <a:ext cx="3122592" cy="1428712"/>
          </a:xfrm>
          <a:prstGeom prst="rect">
            <a:avLst/>
          </a:prstGeom>
        </p:spPr>
        <p:txBody>
          <a:bodyPr wrap="square">
            <a:spAutoFit/>
          </a:bodyPr>
          <a:lstStyle/>
          <a:p>
            <a:pPr lvl="0" marL="0" indent="0">
              <a:buNone/>
              <a:spcBef>
                <a:spcPts val="300"/>
              </a:spcBef>
              <a:defRPr/>
            </a:pPr>
            <a:r>
              <a:rPr kumimoji="1" lang="fr-CI" sz="1250" b="0" noProof="0">
                <a:latin typeface="Helvetica" panose="020B0604020202020204" pitchFamily="34" charset="0"/>
                <a:cs typeface="Helvetica" panose="020B0604020202020204" pitchFamily="34" charset="0"/>
              </a:rPr>
              <a:t>Le FPPN encaisse davantage chaque année grâce aux recrues, mais il applique trois clés différentes pour partager les cotisations entre maladie et décès.</a:t>
            </a:r>
          </a:p>
        </p:txBody>
      </p:sp>
      <p:sp>
        <p:nvSpPr>
          <p:cNvPr id="32" name="Rectangle 31"/>
          <p:cNvSpPr/>
          <p:nvPr/>
        </p:nvSpPr>
        <p:spPr>
          <a:xfrm>
            <a:off x="6623912" y="1926662"/>
            <a:ext cx="3122592" cy="1428712"/>
          </a:xfrm>
          <a:prstGeom prst="rect">
            <a:avLst/>
          </a:prstGeom>
        </p:spPr>
        <p:txBody>
          <a:bodyPr wrap="square">
            <a:spAutoFit/>
          </a:bodyPr>
          <a:lstStyle/>
          <a:p>
            <a:pPr lvl="0" marL="0" indent="0">
              <a:buNone/>
              <a:spcBef>
                <a:spcPts val="300"/>
              </a:spcBef>
              <a:defRPr/>
            </a:pPr>
            <a:r>
              <a:rPr kumimoji="1" lang="fr-CI" sz="1250" b="0" noProof="0">
                <a:latin typeface="Helvetica" panose="020B0604020202020204" pitchFamily="34" charset="0"/>
                <a:cs typeface="Helvetica" panose="020B0604020202020204" pitchFamily="34" charset="0"/>
              </a:rPr>
              <a:t>Le FPPN compte 31 198 cotisants en août 2026. La Solde retient 3,77 % et 1,23 %, alors que le barème indiqué en entretien prévoit 3,5 % et 1,5 %.</a:t>
            </a:r>
          </a:p>
        </p:txBody>
      </p:sp>
      <p:sp>
        <p:nvSpPr>
          <p:cNvPr id="33" name="Rectangle 32"/>
          <p:cNvSpPr/>
          <p:nvPr/>
        </p:nvSpPr>
        <p:spPr>
          <a:xfrm>
            <a:off x="2093705" y="4388689"/>
            <a:ext cx="3122592" cy="1428712"/>
          </a:xfrm>
          <a:prstGeom prst="rect">
            <a:avLst/>
          </a:prstGeom>
        </p:spPr>
        <p:txBody>
          <a:bodyPr wrap="square">
            <a:spAutoFit/>
          </a:bodyPr>
          <a:lstStyle/>
          <a:p>
            <a:pPr lvl="0" marL="0" indent="0">
              <a:buNone/>
              <a:spcBef>
                <a:spcPts val="300"/>
              </a:spcBef>
              <a:defRPr/>
            </a:pPr>
            <a:r>
              <a:rPr kumimoji="1" lang="fr-CI" sz="1250" b="0" noProof="0">
                <a:latin typeface="Helvetica" panose="020B0604020202020204" pitchFamily="34" charset="0"/>
                <a:cs typeface="Helvetica" panose="020B0604020202020204" pitchFamily="34" charset="0"/>
              </a:rPr>
              <a:t>Le résultat de chaque garantie et la réserve obligatoire par risque dépendent d'une clé qui n'est fixée par aucun document transmis.</a:t>
            </a:r>
          </a:p>
        </p:txBody>
      </p:sp>
      <p:sp>
        <p:nvSpPr>
          <p:cNvPr id="34" name="Rectangle 33"/>
          <p:cNvSpPr/>
          <p:nvPr/>
        </p:nvSpPr>
        <p:spPr>
          <a:xfrm>
            <a:off x="6768142" y="4336111"/>
            <a:ext cx="3122592" cy="1428712"/>
          </a:xfrm>
          <a:prstGeom prst="rect">
            <a:avLst/>
          </a:prstGeom>
        </p:spPr>
        <p:txBody>
          <a:bodyPr wrap="square">
            <a:spAutoFit/>
          </a:bodyPr>
          <a:lstStyle/>
          <a:p>
            <a:pPr lvl="0" marL="0" indent="0">
              <a:buNone/>
              <a:spcBef>
                <a:spcPts val="300"/>
              </a:spcBef>
              <a:defRPr/>
            </a:pPr>
            <a:r>
              <a:rPr kumimoji="1" lang="fr-CI" sz="1250" b="0" noProof="0">
                <a:latin typeface="Helvetica" panose="020B0604020202020204" pitchFamily="34" charset="0"/>
                <a:cs typeface="Helvetica" panose="020B0604020202020204" pitchFamily="34" charset="0"/>
              </a:rPr>
              <a:t>Le FPPN doit transmettre le barème officiel, les dates de naissance et les motifs de sortie des agents.</a:t>
            </a:r>
          </a:p>
        </p:txBody>
      </p:sp>
      <p:sp>
        <p:nvSpPr>
          <p:cNvPr id="51"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À retenir : effectifs et cotisations</a:t>
            </a:r>
          </a:p>
        </p:txBody>
      </p:sp>
      <p:sp>
        <p:nvSpPr>
          <p:cNvPr id="52"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Les cotisations augmentent avec les effectifs, mais leur répartition doit être clarifiée</a:t>
            </a:r>
          </a:p>
        </p:txBody>
      </p:sp>
      <p:sp>
        <p:nvSpPr>
          <p:cNvPr id="53"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Effectifs en hausse d'un tiers, taux total de 5 % respecté, trois clés de répartition différentes</a:t>
            </a:r>
          </a:p>
        </p:txBody>
      </p:sp>
      <p:sp>
        <p:nvSpPr>
          <p:cNvPr id="54"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analyses Adenka</a:t>
            </a:r>
          </a:p>
        </p:txBody>
      </p:sp>
      <p:sp>
        <p:nvSpPr>
          <p:cNvPr id="55" name="TextBox 54"/>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a:t>
            </a:r>
          </a:p>
        </p:txBody>
      </p:sp>
    </p:spTree>
    <p:extLst>
      <p:ext uri="{BB962C8B-B14F-4D97-AF65-F5344CB8AC3E}">
        <p14:creationId xmlns:p14="http://schemas.microsoft.com/office/powerpoint/2010/main" val="1774567416"/>
      </p:ext>
    </p:extLst>
  </p:cSld>
  <p:clrMapOvr>
    <a:masterClrMapping/>
  </p:clrMapOvr>
  <p:transition>
    <p:fade/>
  </p:transition>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Google Shape;8651;p70"/>
          <p:cNvSpPr/>
          <p:nvPr/>
        </p:nvSpPr>
        <p:spPr>
          <a:xfrm>
            <a:off x="2013108" y="2588204"/>
            <a:ext cx="1380332" cy="1428252"/>
          </a:xfrm>
          <a:custGeom>
            <a:avLst/>
            <a:gdLst/>
            <a:ahLst/>
            <a:cxnLst/>
            <a:rect l="l" t="t" r="r" b="b"/>
            <a:pathLst>
              <a:path w="8670" h="8971" extrusionOk="0">
                <a:moveTo>
                  <a:pt x="7105" y="1302"/>
                </a:moveTo>
                <a:cubicBezTo>
                  <a:pt x="7105" y="1315"/>
                  <a:pt x="7105" y="1328"/>
                  <a:pt x="7105" y="1341"/>
                </a:cubicBezTo>
                <a:cubicBezTo>
                  <a:pt x="7118" y="1980"/>
                  <a:pt x="7183" y="2619"/>
                  <a:pt x="7183" y="3283"/>
                </a:cubicBezTo>
                <a:cubicBezTo>
                  <a:pt x="7170" y="4404"/>
                  <a:pt x="7183" y="5525"/>
                  <a:pt x="7222" y="6646"/>
                </a:cubicBezTo>
                <a:cubicBezTo>
                  <a:pt x="7235" y="6959"/>
                  <a:pt x="7222" y="7259"/>
                  <a:pt x="7222" y="7559"/>
                </a:cubicBezTo>
                <a:lnTo>
                  <a:pt x="7222" y="7585"/>
                </a:lnTo>
                <a:cubicBezTo>
                  <a:pt x="6935" y="7598"/>
                  <a:pt x="6649" y="7611"/>
                  <a:pt x="6362" y="7611"/>
                </a:cubicBezTo>
                <a:cubicBezTo>
                  <a:pt x="6101" y="7598"/>
                  <a:pt x="5853" y="7585"/>
                  <a:pt x="5593" y="7585"/>
                </a:cubicBezTo>
                <a:cubicBezTo>
                  <a:pt x="4159" y="7559"/>
                  <a:pt x="2712" y="7559"/>
                  <a:pt x="1291" y="7442"/>
                </a:cubicBezTo>
                <a:cubicBezTo>
                  <a:pt x="1278" y="7207"/>
                  <a:pt x="1239" y="6959"/>
                  <a:pt x="1226" y="6725"/>
                </a:cubicBezTo>
                <a:cubicBezTo>
                  <a:pt x="1200" y="6255"/>
                  <a:pt x="1187" y="5799"/>
                  <a:pt x="1200" y="5330"/>
                </a:cubicBezTo>
                <a:cubicBezTo>
                  <a:pt x="1213" y="4222"/>
                  <a:pt x="1226" y="3101"/>
                  <a:pt x="1343" y="1993"/>
                </a:cubicBezTo>
                <a:lnTo>
                  <a:pt x="1552" y="1993"/>
                </a:lnTo>
                <a:cubicBezTo>
                  <a:pt x="2138" y="1980"/>
                  <a:pt x="2725" y="1889"/>
                  <a:pt x="3312" y="1810"/>
                </a:cubicBezTo>
                <a:cubicBezTo>
                  <a:pt x="4576" y="1641"/>
                  <a:pt x="5840" y="1524"/>
                  <a:pt x="7105" y="1302"/>
                </a:cubicBezTo>
                <a:close/>
                <a:moveTo>
                  <a:pt x="7529" y="1"/>
                </a:moveTo>
                <a:cubicBezTo>
                  <a:pt x="7291" y="1"/>
                  <a:pt x="7059" y="53"/>
                  <a:pt x="6818" y="64"/>
                </a:cubicBezTo>
                <a:cubicBezTo>
                  <a:pt x="6375" y="103"/>
                  <a:pt x="5932" y="142"/>
                  <a:pt x="5488" y="194"/>
                </a:cubicBezTo>
                <a:cubicBezTo>
                  <a:pt x="4824" y="259"/>
                  <a:pt x="4107" y="350"/>
                  <a:pt x="3429" y="389"/>
                </a:cubicBezTo>
                <a:cubicBezTo>
                  <a:pt x="2686" y="429"/>
                  <a:pt x="1943" y="481"/>
                  <a:pt x="1213" y="598"/>
                </a:cubicBezTo>
                <a:cubicBezTo>
                  <a:pt x="913" y="624"/>
                  <a:pt x="652" y="728"/>
                  <a:pt x="509" y="976"/>
                </a:cubicBezTo>
                <a:cubicBezTo>
                  <a:pt x="470" y="1028"/>
                  <a:pt x="444" y="1080"/>
                  <a:pt x="431" y="1146"/>
                </a:cubicBezTo>
                <a:cubicBezTo>
                  <a:pt x="300" y="1524"/>
                  <a:pt x="287" y="1928"/>
                  <a:pt x="300" y="2332"/>
                </a:cubicBezTo>
                <a:cubicBezTo>
                  <a:pt x="209" y="3010"/>
                  <a:pt x="209" y="3700"/>
                  <a:pt x="209" y="4378"/>
                </a:cubicBezTo>
                <a:cubicBezTo>
                  <a:pt x="170" y="4769"/>
                  <a:pt x="144" y="5173"/>
                  <a:pt x="131" y="5565"/>
                </a:cubicBezTo>
                <a:cubicBezTo>
                  <a:pt x="105" y="6203"/>
                  <a:pt x="14" y="6842"/>
                  <a:pt x="14" y="7481"/>
                </a:cubicBezTo>
                <a:cubicBezTo>
                  <a:pt x="1" y="7911"/>
                  <a:pt x="157" y="8315"/>
                  <a:pt x="613" y="8419"/>
                </a:cubicBezTo>
                <a:cubicBezTo>
                  <a:pt x="1056" y="8550"/>
                  <a:pt x="1526" y="8524"/>
                  <a:pt x="1982" y="8550"/>
                </a:cubicBezTo>
                <a:cubicBezTo>
                  <a:pt x="2243" y="8563"/>
                  <a:pt x="2503" y="8589"/>
                  <a:pt x="2764" y="8615"/>
                </a:cubicBezTo>
                <a:cubicBezTo>
                  <a:pt x="3885" y="8745"/>
                  <a:pt x="5006" y="8902"/>
                  <a:pt x="6140" y="8941"/>
                </a:cubicBezTo>
                <a:cubicBezTo>
                  <a:pt x="6220" y="8945"/>
                  <a:pt x="6302" y="8946"/>
                  <a:pt x="6383" y="8946"/>
                </a:cubicBezTo>
                <a:cubicBezTo>
                  <a:pt x="6581" y="8946"/>
                  <a:pt x="6781" y="8937"/>
                  <a:pt x="6974" y="8928"/>
                </a:cubicBezTo>
                <a:cubicBezTo>
                  <a:pt x="7118" y="8941"/>
                  <a:pt x="7274" y="8941"/>
                  <a:pt x="7418" y="8941"/>
                </a:cubicBezTo>
                <a:cubicBezTo>
                  <a:pt x="7568" y="8956"/>
                  <a:pt x="7723" y="8971"/>
                  <a:pt x="7877" y="8971"/>
                </a:cubicBezTo>
                <a:cubicBezTo>
                  <a:pt x="7990" y="8971"/>
                  <a:pt x="8103" y="8963"/>
                  <a:pt x="8213" y="8941"/>
                </a:cubicBezTo>
                <a:cubicBezTo>
                  <a:pt x="8643" y="8810"/>
                  <a:pt x="8565" y="8093"/>
                  <a:pt x="8604" y="7741"/>
                </a:cubicBezTo>
                <a:cubicBezTo>
                  <a:pt x="8669" y="6620"/>
                  <a:pt x="8539" y="5499"/>
                  <a:pt x="8487" y="4378"/>
                </a:cubicBezTo>
                <a:cubicBezTo>
                  <a:pt x="8434" y="3453"/>
                  <a:pt x="8330" y="2527"/>
                  <a:pt x="8252" y="1589"/>
                </a:cubicBezTo>
                <a:cubicBezTo>
                  <a:pt x="8200" y="1341"/>
                  <a:pt x="8239" y="637"/>
                  <a:pt x="8096" y="350"/>
                </a:cubicBezTo>
                <a:lnTo>
                  <a:pt x="8082" y="350"/>
                </a:lnTo>
                <a:cubicBezTo>
                  <a:pt x="8056" y="181"/>
                  <a:pt x="7952" y="51"/>
                  <a:pt x="7704" y="11"/>
                </a:cubicBezTo>
                <a:cubicBezTo>
                  <a:pt x="7645" y="4"/>
                  <a:pt x="7587" y="1"/>
                  <a:pt x="7529" y="1"/>
                </a:cubicBezTo>
                <a:close/>
              </a:path>
            </a:pathLst>
          </a:custGeom>
          <a:solidFill>
            <a:schemeClr val="bg1"/>
          </a:solidFill>
          <a:ln w="76200">
            <a:solidFill>
              <a:schemeClr val="tx1"/>
            </a:solidFill>
          </a:ln>
        </p:spPr>
        <p:txBody>
          <a:bodyPr spcFirstLastPara="1" wrap="square" lIns="91425" tIns="91425" rIns="91425" bIns="91425" anchor="ctr" anchorCtr="0">
            <a:noAutofit/>
          </a:bodyPr>
          <a:lstStyle/>
          <a:p>
            <a:pPr marL="0" lvl="0" indent="0" algn="l" rtl="0">
              <a:spcBef>
                <a:spcPts val="0"/>
              </a:spcBef>
              <a:spcAft>
                <a:spcPts val="0"/>
              </a:spcAft>
              <a:buNone/>
            </a:pPr>
            <a:endParaRPr lang="fr-CI" noProof="0">
              <a:solidFill>
                <a:schemeClr val="bg1"/>
              </a:solidFill>
              <a:latin typeface="Helvetica" panose="020B0604020202020204" pitchFamily="34" charset="0"/>
              <a:cs typeface="Helvetica" panose="020B0604020202020204" pitchFamily="34" charset="0"/>
            </a:endParaRPr>
          </a:p>
        </p:txBody>
      </p:sp>
      <p:sp>
        <p:nvSpPr>
          <p:cNvPr id="25" name="Rectangle 24">
            <a:extLst>
              <a:ext uri="{FF2B5EF4-FFF2-40B4-BE49-F238E27FC236}">
                <a16:creationId xmlns:a16="http://schemas.microsoft.com/office/drawing/2014/main" id="{9B9B23AA-050D-4543-80A0-873FE31AFFF7}"/>
              </a:ext>
            </a:extLst>
          </p:cNvPr>
          <p:cNvSpPr/>
          <p:nvPr/>
        </p:nvSpPr>
        <p:spPr>
          <a:xfrm>
            <a:off x="2446471" y="2869098"/>
            <a:ext cx="513606" cy="936923"/>
          </a:xfrm>
          <a:prstGeom prst="rect">
            <a:avLst/>
          </a:prstGeom>
        </p:spPr>
        <p:txBody>
          <a:bodyPr wrap="square" lIns="0" tIns="0" rIns="0" bIns="0">
            <a:spAutoFit/>
          </a:bodyPr>
          <a:lstStyle/>
          <a:p>
            <a:pPr lvl="0">
              <a:lnSpc>
                <a:spcPct val="110000"/>
              </a:lnSpc>
            </a:pPr>
            <a:r>
              <a:rPr lang="fr-CI" sz="6000" b="1" noProof="0">
                <a:solidFill>
                  <a:schemeClr val="bg1"/>
                </a:solidFill>
                <a:latin typeface="Helvetica" panose="020B0604020202020204" pitchFamily="34" charset="0"/>
                <a:ea typeface="Open Sans Semibold" panose="020B0706030804020204" pitchFamily="34" charset="0"/>
                <a:cs typeface="Helvetica" panose="020B0604020202020204" pitchFamily="34" charset="0"/>
              </a:rPr>
              <a:t>5</a:t>
            </a:r>
          </a:p>
        </p:txBody>
      </p:sp>
      <p:sp>
        <p:nvSpPr>
          <p:cNvPr id="10" name="Rectangle 9"/>
          <p:cNvSpPr/>
          <p:nvPr/>
        </p:nvSpPr>
        <p:spPr>
          <a:xfrm>
            <a:off x="3938554" y="2462184"/>
            <a:ext cx="3816000" cy="1200329"/>
          </a:xfrm>
          <a:prstGeom prst="rect">
            <a:avLst/>
          </a:prstGeom>
        </p:spPr>
        <p:txBody>
          <a:bodyPr wrap="square">
            <a:spAutoFit/>
          </a:bodyPr>
          <a:lstStyle/>
          <a:p>
            <a:r>
              <a:rPr lang="fr-CI" sz="3600" b="1" noProof="0">
                <a:solidFill>
                  <a:schemeClr val="bg1"/>
                </a:solidFill>
                <a:latin typeface="Helvetica" panose="020B0604020202020204" pitchFamily="34" charset="0"/>
                <a:cs typeface="Helvetica" panose="020B0604020202020204" pitchFamily="34" charset="0"/>
              </a:rPr>
              <a:t>Sinistralité et résultat</a:t>
            </a:r>
          </a:p>
        </p:txBody>
      </p:sp>
      <p:pic>
        <p:nvPicPr>
          <p:cNvPr id="9" name="Image 8">
            <a:extLst>
              <a:ext uri="{FF2B5EF4-FFF2-40B4-BE49-F238E27FC236}">
                <a16:creationId xmlns:a16="http://schemas.microsoft.com/office/drawing/2014/main" id="{2C356854-0685-DCEF-E2F6-65D5E9653A47}"/>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71274" y="-185107"/>
            <a:ext cx="3179518" cy="1268781"/>
          </a:xfrm>
          <a:prstGeom prst="rect">
            <a:avLst/>
          </a:prstGeom>
        </p:spPr>
      </p:pic>
      <p:sp>
        <p:nvSpPr>
          <p:cNvPr id="6" name="Rectangle 5"/>
          <p:cNvSpPr/>
          <p:nvPr/>
        </p:nvSpPr>
        <p:spPr>
          <a:xfrm>
            <a:off x="3938554" y="3337559"/>
            <a:ext cx="3816000" cy="923330"/>
          </a:xfrm>
          <a:prstGeom prst="rect">
            <a:avLst/>
          </a:prstGeom>
        </p:spPr>
        <p:txBody>
          <a:bodyPr wrap="square">
            <a:spAutoFit/>
          </a:bodyPr>
          <a:lstStyle/>
          <a:p>
            <a:br>
              <a:rPr lang="fr-CI" noProof="0">
                <a:solidFill>
                  <a:schemeClr val="bg1"/>
                </a:solidFill>
              </a:rPr>
            </a:br>
            <a:r>
              <a:rPr lang="fr-CI" noProof="0">
                <a:solidFill>
                  <a:srgbClr val="EFAC62"/>
                </a:solidFill>
                <a:latin typeface="Helvetica" panose="020B0604020202020204" pitchFamily="34" charset="0"/>
                <a:ea typeface="Open Sans Light" panose="020B0306030504020204" pitchFamily="34" charset="0"/>
                <a:cs typeface="Helvetica" panose="020B0604020202020204" pitchFamily="34" charset="0"/>
              </a:rPr>
              <a:t>Prestations, frais de gestion, résultat</a:t>
            </a:r>
          </a:p>
        </p:txBody>
      </p:sp>
      <p:pic>
        <p:nvPicPr>
          <p:cNvPr id="11" name="Image 1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865561" y="2415481"/>
            <a:ext cx="1566911" cy="1600975"/>
          </a:xfrm>
          <a:prstGeom prst="rect">
            <a:avLst/>
          </a:prstGeom>
        </p:spPr>
      </p:pic>
    </p:spTree>
    <p:extLst>
      <p:ext uri="{BB962C8B-B14F-4D97-AF65-F5344CB8AC3E}">
        <p14:creationId xmlns:p14="http://schemas.microsoft.com/office/powerpoint/2010/main" val="2861627005"/>
      </p:ext>
    </p:extLst>
  </p:cSld>
  <p:clrMapOvr>
    <a:masterClrMapping/>
  </p:clrMapOvr>
  <p:transition>
    <p:fade/>
  </p:transition>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7" name="Image 36"/>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3" name="Rectangle 22">
            <a:extLst>
              <a:ext uri="{FF2B5EF4-FFF2-40B4-BE49-F238E27FC236}">
                <a16:creationId xmlns:a16="http://schemas.microsoft.com/office/drawing/2014/main" id="{4CD23CFE-3F31-4BA9-B26F-B9B5B351518E}"/>
              </a:ext>
            </a:extLst>
          </p:cNvPr>
          <p:cNvSpPr/>
          <p:nvPr/>
        </p:nvSpPr>
        <p:spPr>
          <a:xfrm>
            <a:off x="2106184" y="1811264"/>
            <a:ext cx="9685766" cy="901761"/>
          </a:xfrm>
          <a:prstGeom prst="rect">
            <a:avLst/>
          </a:prstGeom>
          <a:ln w="12700">
            <a:solidFill>
              <a:srgbClr val="112A40"/>
            </a:solidFill>
          </a:ln>
        </p:spPr>
        <p:txBody>
          <a:bodyPr wrap="square" lIns="162000" tIns="54000" rIns="72000" bIns="54000" anchor="ctr">
            <a:noAutofit/>
          </a:bodyPr>
          <a:lstStyle/>
          <a:p>
            <a:pPr lvl="0">
              <a:lnSpc>
                <a:spcPct val="110000"/>
              </a:lnSpc>
            </a:pPr>
            <a:r>
              <a:rPr lang="fr-CI" sz="1300" b="1" noProof="0">
                <a:latin typeface="Helvetica" panose="020B0604020202020204" pitchFamily="34" charset="0"/>
                <a:ea typeface="Open Sans Semibold" panose="020B0706030804020204" pitchFamily="34" charset="0"/>
                <a:cs typeface="Helvetica" panose="020B0604020202020204" pitchFamily="34" charset="0"/>
              </a:rPr>
              <a:t>Formule</a:t>
            </a:r>
          </a:p>
          <a:p>
            <a:pPr lvl="0">
              <a:lnSpc>
                <a:spcPct val="110000"/>
              </a:lnSpc>
            </a:pPr>
            <a:r>
              <a:rPr lang="fr-CI" sz="1150" noProof="0" b="0">
                <a:latin typeface="Helvetica" panose="020B0604020202020204" pitchFamily="34" charset="0"/>
                <a:ea typeface="Open Sans Light" panose="020B0306030504020204" pitchFamily="34" charset="0"/>
                <a:cs typeface="Helvetica" panose="020B0604020202020204" pitchFamily="34" charset="0"/>
              </a:rPr>
              <a:t>Le S/C d'une garantie rapporte ses prestations comptabilisées de l'année à ses cotisations comptabilisées de la même année, de 2020 à 2026.</a:t>
            </a:r>
          </a:p>
        </p:txBody>
      </p:sp>
      <p:sp>
        <p:nvSpPr>
          <p:cNvPr id="28" name="Rectangle 27">
            <a:extLst>
              <a:ext uri="{FF2B5EF4-FFF2-40B4-BE49-F238E27FC236}">
                <a16:creationId xmlns:a16="http://schemas.microsoft.com/office/drawing/2014/main" id="{9B9B23AA-050D-4543-80A0-873FE31AFFF7}"/>
              </a:ext>
            </a:extLst>
          </p:cNvPr>
          <p:cNvSpPr/>
          <p:nvPr/>
        </p:nvSpPr>
        <p:spPr>
          <a:xfrm>
            <a:off x="1538714" y="1463475"/>
            <a:ext cx="5748535" cy="166944"/>
          </a:xfrm>
          <a:prstGeom prst="rect">
            <a:avLst/>
          </a:prstGeom>
        </p:spPr>
        <p:txBody>
          <a:bodyPr wrap="square" lIns="0" tIns="0" rIns="0" bIns="0">
            <a:spAutoFit/>
          </a:bodyPr>
          <a:lstStyle/>
          <a:p>
            <a:pPr lvl="0">
              <a:lnSpc>
                <a:spcPct val="110000"/>
              </a:lnSpc>
            </a:pPr>
            <a:r>
              <a:rPr lang="fr-CI" sz="1300" b="1" noProof="0">
                <a:latin typeface="Helvetica" panose="020B0604020202020204" pitchFamily="34" charset="0"/>
                <a:ea typeface="Open Sans Semibold" panose="020B0706030804020204" pitchFamily="34" charset="0"/>
                <a:cs typeface="Helvetica" panose="020B0604020202020204" pitchFamily="34" charset="0"/>
              </a:rPr>
              <a:t/>
            </a:r>
          </a:p>
        </p:txBody>
      </p:sp>
      <p:cxnSp>
        <p:nvCxnSpPr>
          <p:cNvPr id="29" name="Straight Connector 28">
            <a:extLst>
              <a:ext uri="{FF2B5EF4-FFF2-40B4-BE49-F238E27FC236}">
                <a16:creationId xmlns:a16="http://schemas.microsoft.com/office/drawing/2014/main" id="{09E553D9-3562-45A7-BE4B-0F12FAA0490F}"/>
              </a:ext>
            </a:extLst>
          </p:cNvPr>
          <p:cNvCxnSpPr>
            <a:cxnSpLocks/>
          </p:cNvCxnSpPr>
          <p:nvPr/>
        </p:nvCxnSpPr>
        <p:spPr>
          <a:xfrm>
            <a:off x="916803" y="1707866"/>
            <a:ext cx="0" cy="3668091"/>
          </a:xfrm>
          <a:prstGeom prst="line">
            <a:avLst/>
          </a:prstGeom>
          <a:ln w="12700">
            <a:solidFill>
              <a:srgbClr val="112A40"/>
            </a:solidFill>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DA735D38-741F-4EFB-826C-6F87FD459AB4}"/>
              </a:ext>
            </a:extLst>
          </p:cNvPr>
          <p:cNvCxnSpPr/>
          <p:nvPr/>
        </p:nvCxnSpPr>
        <p:spPr>
          <a:xfrm>
            <a:off x="916803" y="2291826"/>
            <a:ext cx="621911" cy="3600"/>
          </a:xfrm>
          <a:prstGeom prst="line">
            <a:avLst/>
          </a:prstGeom>
          <a:ln w="12700">
            <a:solidFill>
              <a:srgbClr val="112A40"/>
            </a:solidFill>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EBCFE36B-AE16-49E8-90A6-6621A0EB0473}"/>
              </a:ext>
            </a:extLst>
          </p:cNvPr>
          <p:cNvCxnSpPr/>
          <p:nvPr/>
        </p:nvCxnSpPr>
        <p:spPr>
          <a:xfrm>
            <a:off x="916803" y="3273370"/>
            <a:ext cx="621911" cy="3600"/>
          </a:xfrm>
          <a:prstGeom prst="line">
            <a:avLst/>
          </a:prstGeom>
          <a:ln w="12700">
            <a:solidFill>
              <a:srgbClr val="112A40"/>
            </a:solidFill>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2697F6E2-C26B-4E5F-B7F9-95C6E9325040}"/>
              </a:ext>
            </a:extLst>
          </p:cNvPr>
          <p:cNvCxnSpPr/>
          <p:nvPr/>
        </p:nvCxnSpPr>
        <p:spPr>
          <a:xfrm>
            <a:off x="916803" y="5368324"/>
            <a:ext cx="621911" cy="3600"/>
          </a:xfrm>
          <a:prstGeom prst="line">
            <a:avLst/>
          </a:prstGeom>
          <a:ln w="12700">
            <a:solidFill>
              <a:srgbClr val="112A40"/>
            </a:solidFill>
          </a:ln>
        </p:spPr>
        <p:style>
          <a:lnRef idx="1">
            <a:schemeClr val="accent1"/>
          </a:lnRef>
          <a:fillRef idx="0">
            <a:schemeClr val="accent1"/>
          </a:fillRef>
          <a:effectRef idx="0">
            <a:schemeClr val="accent1"/>
          </a:effectRef>
          <a:fontRef idx="minor">
            <a:schemeClr val="tx1"/>
          </a:fontRef>
        </p:style>
      </p:cxnSp>
      <p:sp>
        <p:nvSpPr>
          <p:cNvPr id="24" name="Rectangle 23">
            <a:extLst>
              <a:ext uri="{FF2B5EF4-FFF2-40B4-BE49-F238E27FC236}">
                <a16:creationId xmlns:a16="http://schemas.microsoft.com/office/drawing/2014/main" id="{4CD23CFE-3F31-4BA9-B26F-B9B5B351518E}"/>
              </a:ext>
            </a:extLst>
          </p:cNvPr>
          <p:cNvSpPr/>
          <p:nvPr/>
        </p:nvSpPr>
        <p:spPr>
          <a:xfrm>
            <a:off x="2103510" y="2847523"/>
            <a:ext cx="9685766" cy="901761"/>
          </a:xfrm>
          <a:prstGeom prst="rect">
            <a:avLst/>
          </a:prstGeom>
          <a:ln w="12700">
            <a:solidFill>
              <a:srgbClr val="112A40"/>
            </a:solidFill>
          </a:ln>
        </p:spPr>
        <p:txBody>
          <a:bodyPr wrap="square" lIns="162000" tIns="54000" rIns="72000" bIns="54000" anchor="ctr">
            <a:noAutofit/>
          </a:bodyPr>
          <a:lstStyle/>
          <a:p>
            <a:pPr lvl="0">
              <a:lnSpc>
                <a:spcPct val="110000"/>
              </a:lnSpc>
            </a:pPr>
            <a:r>
              <a:rPr lang="fr-CI" sz="1300" b="1" noProof="0">
                <a:latin typeface="Helvetica" panose="020B0604020202020204" pitchFamily="34" charset="0"/>
                <a:ea typeface="Open Sans Semibold" panose="020B0706030804020204" pitchFamily="34" charset="0"/>
                <a:cs typeface="Helvetica" panose="020B0604020202020204" pitchFamily="34" charset="0"/>
              </a:rPr>
              <a:t>Prestations maladie</a:t>
            </a:r>
          </a:p>
          <a:p>
            <a:pPr lvl="0">
              <a:lnSpc>
                <a:spcPct val="110000"/>
              </a:lnSpc>
            </a:pPr>
            <a:r>
              <a:rPr lang="fr-CI" sz="1150" noProof="0" b="0">
                <a:latin typeface="Helvetica" panose="020B0604020202020204" pitchFamily="34" charset="0"/>
                <a:ea typeface="Open Sans Light" panose="020B0306030504020204" pitchFamily="34" charset="0"/>
                <a:cs typeface="Helvetica" panose="020B0604020202020204" pitchFamily="34" charset="0"/>
              </a:rPr>
              <a:t>Adenka retient les comptes 601, 6013, 6018 et 60800007, soit douze comptes de prestations maladie en 2025.</a:t>
            </a:r>
          </a:p>
        </p:txBody>
      </p:sp>
      <p:sp>
        <p:nvSpPr>
          <p:cNvPr id="33" name="Rectangle 32">
            <a:extLst>
              <a:ext uri="{FF2B5EF4-FFF2-40B4-BE49-F238E27FC236}">
                <a16:creationId xmlns:a16="http://schemas.microsoft.com/office/drawing/2014/main" id="{4CD23CFE-3F31-4BA9-B26F-B9B5B351518E}"/>
              </a:ext>
            </a:extLst>
          </p:cNvPr>
          <p:cNvSpPr/>
          <p:nvPr/>
        </p:nvSpPr>
        <p:spPr>
          <a:xfrm>
            <a:off x="2125344" y="3881185"/>
            <a:ext cx="9685766" cy="901761"/>
          </a:xfrm>
          <a:prstGeom prst="rect">
            <a:avLst/>
          </a:prstGeom>
          <a:ln w="12700">
            <a:solidFill>
              <a:srgbClr val="112A40"/>
            </a:solidFill>
          </a:ln>
        </p:spPr>
        <p:txBody>
          <a:bodyPr wrap="square" lIns="162000" tIns="54000" rIns="72000" bIns="54000" anchor="ctr">
            <a:noAutofit/>
          </a:bodyPr>
          <a:lstStyle/>
          <a:p>
            <a:pPr lvl="0">
              <a:lnSpc>
                <a:spcPct val="110000"/>
              </a:lnSpc>
            </a:pPr>
            <a:r>
              <a:rPr lang="fr-CI" sz="1300" b="1" noProof="0">
                <a:latin typeface="Helvetica" panose="020B0604020202020204" pitchFamily="34" charset="0"/>
                <a:ea typeface="Open Sans Semibold" panose="020B0706030804020204" pitchFamily="34" charset="0"/>
                <a:cs typeface="Helvetica" panose="020B0604020202020204" pitchFamily="34" charset="0"/>
              </a:rPr>
              <a:t>Prestations décès</a:t>
            </a:r>
          </a:p>
          <a:p>
            <a:pPr lvl="0">
              <a:lnSpc>
                <a:spcPct val="110000"/>
              </a:lnSpc>
            </a:pPr>
            <a:r>
              <a:rPr lang="fr-CI" sz="1150" noProof="0" b="0">
                <a:latin typeface="Helvetica" panose="020B0604020202020204" pitchFamily="34" charset="0"/>
                <a:ea typeface="Open Sans Light" panose="020B0306030504020204" pitchFamily="34" charset="0"/>
                <a:cs typeface="Helvetica" panose="020B0604020202020204" pitchFamily="34" charset="0"/>
              </a:rPr>
              <a:t>Adenka retient les comptes 6021 et 6024. En 2020, la prime d'assurance décès (65180000) s'y ajoute, car un assureur portait alors la garantie.</a:t>
            </a:r>
          </a:p>
        </p:txBody>
      </p:sp>
      <p:sp>
        <p:nvSpPr>
          <p:cNvPr id="34" name="Rectangle 33">
            <a:extLst>
              <a:ext uri="{FF2B5EF4-FFF2-40B4-BE49-F238E27FC236}">
                <a16:creationId xmlns:a16="http://schemas.microsoft.com/office/drawing/2014/main" id="{4CD23CFE-3F31-4BA9-B26F-B9B5B351518E}"/>
              </a:ext>
            </a:extLst>
          </p:cNvPr>
          <p:cNvSpPr/>
          <p:nvPr/>
        </p:nvSpPr>
        <p:spPr>
          <a:xfrm>
            <a:off x="2122670" y="4917444"/>
            <a:ext cx="9685766" cy="901761"/>
          </a:xfrm>
          <a:prstGeom prst="rect">
            <a:avLst/>
          </a:prstGeom>
          <a:ln w="12700">
            <a:solidFill>
              <a:srgbClr val="112A40"/>
            </a:solidFill>
          </a:ln>
        </p:spPr>
        <p:txBody>
          <a:bodyPr wrap="square" lIns="162000" tIns="54000" rIns="72000" bIns="54000" anchor="ctr">
            <a:noAutofit/>
          </a:bodyPr>
          <a:lstStyle/>
          <a:p>
            <a:pPr lvl="1">
              <a:lnSpc>
                <a:spcPct val="110000"/>
              </a:lnSpc>
            </a:pPr>
            <a:r>
              <a:rPr lang="fr-CI" sz="1300" b="1" noProof="0">
                <a:latin typeface="Helvetica" panose="020B0604020202020204" pitchFamily="34" charset="0"/>
                <a:ea typeface="Open Sans Semibold" panose="020B0706030804020204" pitchFamily="34" charset="0"/>
                <a:cs typeface="Helvetica" panose="020B0604020202020204" pitchFamily="34" charset="0"/>
              </a:rPr>
              <a:t>Norme et limite</a:t>
            </a:r>
          </a:p>
          <a:p>
            <a:pPr lvl="1">
              <a:lnSpc>
                <a:spcPct val="110000"/>
              </a:lnSpc>
            </a:pPr>
            <a:r>
              <a:rPr lang="fr-CI" sz="1150" noProof="0" b="0">
                <a:latin typeface="Helvetica" panose="020B0604020202020204" pitchFamily="34" charset="0"/>
                <a:ea typeface="Open Sans Light" panose="020B0306030504020204" pitchFamily="34" charset="0"/>
                <a:cs typeface="Helvetica" panose="020B0604020202020204" pitchFamily="34" charset="0"/>
              </a:rPr>
              <a:t>La Décision n° 05/2022 fixe une sinistralité entre 70 % et 80 %. Le ratio comptable mélange les soins de l'année et des factures d'années antérieures.</a:t>
            </a:r>
            <a:endParaRPr lang="fr-CI" sz="1200">
              <a:latin typeface="Helvetica" panose="020B0604020202020204" pitchFamily="34" charset="0"/>
              <a:ea typeface="Open Sans Light" panose="020B0306030504020204" pitchFamily="34" charset="0"/>
              <a:cs typeface="Helvetica" panose="020B0604020202020204" pitchFamily="34" charset="0"/>
            </a:endParaRPr>
          </a:p>
        </p:txBody>
      </p:sp>
      <p:cxnSp>
        <p:nvCxnSpPr>
          <p:cNvPr id="39" name="Straight Connector 30">
            <a:extLst>
              <a:ext uri="{FF2B5EF4-FFF2-40B4-BE49-F238E27FC236}">
                <a16:creationId xmlns:a16="http://schemas.microsoft.com/office/drawing/2014/main" id="{EBCFE36B-AE16-49E8-90A6-6621A0EB0473}"/>
              </a:ext>
            </a:extLst>
          </p:cNvPr>
          <p:cNvCxnSpPr/>
          <p:nvPr/>
        </p:nvCxnSpPr>
        <p:spPr>
          <a:xfrm>
            <a:off x="919504" y="4326976"/>
            <a:ext cx="621911" cy="3600"/>
          </a:xfrm>
          <a:prstGeom prst="line">
            <a:avLst/>
          </a:prstGeom>
          <a:ln w="12700">
            <a:solidFill>
              <a:srgbClr val="112A40"/>
            </a:solidFill>
          </a:ln>
        </p:spPr>
        <p:style>
          <a:lnRef idx="1">
            <a:schemeClr val="accent1"/>
          </a:lnRef>
          <a:fillRef idx="0">
            <a:schemeClr val="accent1"/>
          </a:fillRef>
          <a:effectRef idx="0">
            <a:schemeClr val="accent1"/>
          </a:effectRef>
          <a:fontRef idx="minor">
            <a:schemeClr val="tx1"/>
          </a:fontRef>
        </p:style>
      </p:cxnSp>
      <p:grpSp>
        <p:nvGrpSpPr>
          <p:cNvPr id="11" name="Groupe 10"/>
          <p:cNvGrpSpPr/>
          <p:nvPr/>
        </p:nvGrpSpPr>
        <p:grpSpPr>
          <a:xfrm>
            <a:off x="1554870" y="2047565"/>
            <a:ext cx="548640" cy="548640"/>
            <a:chOff x="-1153645" y="1535690"/>
            <a:chExt cx="548640" cy="548640"/>
          </a:xfrm>
        </p:grpSpPr>
        <p:sp>
          <p:nvSpPr>
            <p:cNvPr id="36" name="Oval 21">
              <a:extLst>
                <a:ext uri="{FF2B5EF4-FFF2-40B4-BE49-F238E27FC236}">
                  <a16:creationId xmlns:a16="http://schemas.microsoft.com/office/drawing/2014/main" id="{7BB796F0-2DE6-45B1-851B-D8991F423CF4}"/>
                </a:ext>
              </a:extLst>
            </p:cNvPr>
            <p:cNvSpPr/>
            <p:nvPr/>
          </p:nvSpPr>
          <p:spPr bwMode="gray">
            <a:xfrm>
              <a:off x="-1153645" y="1535690"/>
              <a:ext cx="548640" cy="548640"/>
            </a:xfrm>
            <a:prstGeom prst="ellipse">
              <a:avLst/>
            </a:prstGeom>
            <a:solidFill>
              <a:schemeClr val="tx1"/>
            </a:solidFill>
            <a:ln w="19050" algn="ctr">
              <a:noFill/>
              <a:miter lim="800000"/>
              <a:headEnd/>
              <a:tailEnd/>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 typeface="Wingdings 2" pitchFamily="18" charset="2"/>
                <a:buNone/>
                <a:tabLst/>
                <a:defRPr/>
              </a:pPr>
              <a:endParaRPr kumimoji="0" lang="fr-CI" sz="1100" b="1" i="0" u="none" strike="noStrike" kern="1200" cap="none" spc="0" normalizeH="0" baseline="0" noProof="0">
                <a:ln>
                  <a:noFill/>
                </a:ln>
                <a:solidFill>
                  <a:prstClr val="white"/>
                </a:solidFill>
                <a:effectLst/>
                <a:uLnTx/>
                <a:uFillTx/>
                <a:latin typeface="Helvetica" panose="020B0604020202020204" pitchFamily="34" charset="0"/>
                <a:ea typeface="Open Sans Semibold" panose="020B0706030804020204" pitchFamily="34" charset="0"/>
                <a:cs typeface="Helvetica" panose="020B0604020202020204" pitchFamily="34" charset="0"/>
              </a:endParaRPr>
            </a:p>
          </p:txBody>
        </p:sp>
        <p:pic>
          <p:nvPicPr>
            <p:cNvPr id="40" name="Image 39"/>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23163" y="1564148"/>
              <a:ext cx="486259" cy="491723"/>
            </a:xfrm>
            <a:prstGeom prst="rect">
              <a:avLst/>
            </a:prstGeom>
          </p:spPr>
        </p:pic>
      </p:grpSp>
      <p:grpSp>
        <p:nvGrpSpPr>
          <p:cNvPr id="12" name="Groupe 11"/>
          <p:cNvGrpSpPr/>
          <p:nvPr/>
        </p:nvGrpSpPr>
        <p:grpSpPr>
          <a:xfrm>
            <a:off x="1557425" y="3008849"/>
            <a:ext cx="548640" cy="548640"/>
            <a:chOff x="-1154302" y="2719457"/>
            <a:chExt cx="548640" cy="548640"/>
          </a:xfrm>
        </p:grpSpPr>
        <p:sp>
          <p:nvSpPr>
            <p:cNvPr id="42" name="Oval 21">
              <a:extLst>
                <a:ext uri="{FF2B5EF4-FFF2-40B4-BE49-F238E27FC236}">
                  <a16:creationId xmlns:a16="http://schemas.microsoft.com/office/drawing/2014/main" id="{7BB796F0-2DE6-45B1-851B-D8991F423CF4}"/>
                </a:ext>
              </a:extLst>
            </p:cNvPr>
            <p:cNvSpPr/>
            <p:nvPr/>
          </p:nvSpPr>
          <p:spPr bwMode="gray">
            <a:xfrm>
              <a:off x="-1154302" y="2719457"/>
              <a:ext cx="548640" cy="548640"/>
            </a:xfrm>
            <a:prstGeom prst="ellipse">
              <a:avLst/>
            </a:prstGeom>
            <a:solidFill>
              <a:schemeClr val="tx1"/>
            </a:solidFill>
            <a:ln w="19050" algn="ctr">
              <a:noFill/>
              <a:miter lim="800000"/>
              <a:headEnd/>
              <a:tailEnd/>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 typeface="Wingdings 2" pitchFamily="18" charset="2"/>
                <a:buNone/>
                <a:tabLst/>
                <a:defRPr/>
              </a:pPr>
              <a:endParaRPr kumimoji="0" lang="fr-CI" sz="1100" b="1" i="0" u="none" strike="noStrike" kern="1200" cap="none" spc="0" normalizeH="0" baseline="0" noProof="0">
                <a:ln>
                  <a:noFill/>
                </a:ln>
                <a:solidFill>
                  <a:prstClr val="white"/>
                </a:solidFill>
                <a:effectLst/>
                <a:uLnTx/>
                <a:uFillTx/>
                <a:latin typeface="Helvetica" panose="020B0604020202020204" pitchFamily="34" charset="0"/>
                <a:ea typeface="Open Sans Semibold" panose="020B0706030804020204" pitchFamily="34" charset="0"/>
                <a:cs typeface="Helvetica" panose="020B0604020202020204" pitchFamily="34" charset="0"/>
              </a:endParaRPr>
            </a:p>
          </p:txBody>
        </p:sp>
        <p:pic>
          <p:nvPicPr>
            <p:cNvPr id="7" name="Image 6"/>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74901" y="2781886"/>
              <a:ext cx="396274" cy="396274"/>
            </a:xfrm>
            <a:prstGeom prst="rect">
              <a:avLst/>
            </a:prstGeom>
          </p:spPr>
        </p:pic>
      </p:grpSp>
      <p:grpSp>
        <p:nvGrpSpPr>
          <p:cNvPr id="13" name="Groupe 12"/>
          <p:cNvGrpSpPr/>
          <p:nvPr/>
        </p:nvGrpSpPr>
        <p:grpSpPr>
          <a:xfrm>
            <a:off x="1567381" y="4044725"/>
            <a:ext cx="548640" cy="552951"/>
            <a:chOff x="-1185544" y="4122202"/>
            <a:chExt cx="548640" cy="552951"/>
          </a:xfrm>
        </p:grpSpPr>
        <p:sp>
          <p:nvSpPr>
            <p:cNvPr id="44" name="Oval 21">
              <a:extLst>
                <a:ext uri="{FF2B5EF4-FFF2-40B4-BE49-F238E27FC236}">
                  <a16:creationId xmlns:a16="http://schemas.microsoft.com/office/drawing/2014/main" id="{7BB796F0-2DE6-45B1-851B-D8991F423CF4}"/>
                </a:ext>
              </a:extLst>
            </p:cNvPr>
            <p:cNvSpPr/>
            <p:nvPr/>
          </p:nvSpPr>
          <p:spPr bwMode="gray">
            <a:xfrm>
              <a:off x="-1185544" y="4122202"/>
              <a:ext cx="548640" cy="548640"/>
            </a:xfrm>
            <a:prstGeom prst="ellipse">
              <a:avLst/>
            </a:prstGeom>
            <a:solidFill>
              <a:schemeClr val="tx1"/>
            </a:solidFill>
            <a:ln w="19050" algn="ctr">
              <a:noFill/>
              <a:miter lim="800000"/>
              <a:headEnd/>
              <a:tailEnd/>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 typeface="Wingdings 2" pitchFamily="18" charset="2"/>
                <a:buNone/>
                <a:tabLst/>
                <a:defRPr/>
              </a:pPr>
              <a:endParaRPr kumimoji="0" lang="fr-CI" sz="1100" b="1" i="0" u="none" strike="noStrike" kern="1200" cap="none" spc="0" normalizeH="0" baseline="0" noProof="0">
                <a:ln>
                  <a:noFill/>
                </a:ln>
                <a:solidFill>
                  <a:prstClr val="white"/>
                </a:solidFill>
                <a:effectLst/>
                <a:uLnTx/>
                <a:uFillTx/>
                <a:latin typeface="Helvetica" panose="020B0604020202020204" pitchFamily="34" charset="0"/>
                <a:ea typeface="Open Sans Semibold" panose="020B0706030804020204" pitchFamily="34" charset="0"/>
                <a:cs typeface="Helvetica" panose="020B0604020202020204" pitchFamily="34" charset="0"/>
              </a:endParaRPr>
            </a:p>
          </p:txBody>
        </p:sp>
        <p:pic>
          <p:nvPicPr>
            <p:cNvPr id="8" name="Image 7"/>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171838" y="4144755"/>
              <a:ext cx="524301" cy="530398"/>
            </a:xfrm>
            <a:prstGeom prst="rect">
              <a:avLst/>
            </a:prstGeom>
          </p:spPr>
        </p:pic>
      </p:grpSp>
      <p:grpSp>
        <p:nvGrpSpPr>
          <p:cNvPr id="14" name="Groupe 13"/>
          <p:cNvGrpSpPr/>
          <p:nvPr/>
        </p:nvGrpSpPr>
        <p:grpSpPr>
          <a:xfrm>
            <a:off x="1567381" y="5111071"/>
            <a:ext cx="548640" cy="548640"/>
            <a:chOff x="-1227267" y="5286500"/>
            <a:chExt cx="548640" cy="548640"/>
          </a:xfrm>
        </p:grpSpPr>
        <p:sp>
          <p:nvSpPr>
            <p:cNvPr id="45" name="Oval 21">
              <a:extLst>
                <a:ext uri="{FF2B5EF4-FFF2-40B4-BE49-F238E27FC236}">
                  <a16:creationId xmlns:a16="http://schemas.microsoft.com/office/drawing/2014/main" id="{7BB796F0-2DE6-45B1-851B-D8991F423CF4}"/>
                </a:ext>
              </a:extLst>
            </p:cNvPr>
            <p:cNvSpPr/>
            <p:nvPr/>
          </p:nvSpPr>
          <p:spPr bwMode="gray">
            <a:xfrm>
              <a:off x="-1227267" y="5286500"/>
              <a:ext cx="548640" cy="548640"/>
            </a:xfrm>
            <a:prstGeom prst="ellipse">
              <a:avLst/>
            </a:prstGeom>
            <a:solidFill>
              <a:schemeClr val="tx1"/>
            </a:solidFill>
            <a:ln w="19050" algn="ctr">
              <a:noFill/>
              <a:miter lim="800000"/>
              <a:headEnd/>
              <a:tailEnd/>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 typeface="Wingdings 2" pitchFamily="18" charset="2"/>
                <a:buNone/>
                <a:tabLst/>
                <a:defRPr/>
              </a:pPr>
              <a:endParaRPr kumimoji="0" lang="fr-CI" sz="1100" b="1" i="0" u="none" strike="noStrike" kern="1200" cap="none" spc="0" normalizeH="0" baseline="0" noProof="0">
                <a:ln>
                  <a:noFill/>
                </a:ln>
                <a:solidFill>
                  <a:prstClr val="white"/>
                </a:solidFill>
                <a:effectLst/>
                <a:uLnTx/>
                <a:uFillTx/>
                <a:latin typeface="Helvetica" panose="020B0604020202020204" pitchFamily="34" charset="0"/>
                <a:ea typeface="Open Sans Semibold" panose="020B0706030804020204" pitchFamily="34" charset="0"/>
                <a:cs typeface="Helvetica" panose="020B0604020202020204" pitchFamily="34" charset="0"/>
              </a:endParaRPr>
            </a:p>
          </p:txBody>
        </p:sp>
        <p:pic>
          <p:nvPicPr>
            <p:cNvPr id="9" name="Image 8"/>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1171838" y="5346402"/>
              <a:ext cx="422834" cy="432026"/>
            </a:xfrm>
            <a:prstGeom prst="rect">
              <a:avLst/>
            </a:prstGeom>
          </p:spPr>
        </p:pic>
      </p:grpSp>
      <p:sp>
        <p:nvSpPr>
          <p:cNvPr id="50" name="ZoneTexte 49">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pic>
        <p:nvPicPr>
          <p:cNvPr id="51" name="Image 50"/>
          <p:cNvPicPr>
            <a:picLocks noChangeAspect="1"/>
          </p:cNvPicPr>
          <p:nvPr/>
        </p:nvPicPr>
        <p:blipFill rotWithShape="1">
          <a:blip r:embed="rId7" cstate="print">
            <a:extLst>
              <a:ext uri="{28A0092B-C50C-407E-A947-70E740481C1C}">
                <a14:useLocalDpi xmlns:a14="http://schemas.microsoft.com/office/drawing/2010/main" val="0"/>
              </a:ext>
            </a:extLst>
          </a:blip>
          <a:srcRect l="4260" t="13024" r="74155" b="14121"/>
          <a:stretch/>
        </p:blipFill>
        <p:spPr>
          <a:xfrm>
            <a:off x="702475" y="1350400"/>
            <a:ext cx="392679" cy="406703"/>
          </a:xfrm>
          <a:prstGeom prst="rect">
            <a:avLst/>
          </a:prstGeom>
        </p:spPr>
      </p:pic>
      <p:sp>
        <p:nvSpPr>
          <p:cNvPr id="52"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Méthode : sinistralité comptable</a:t>
            </a:r>
          </a:p>
        </p:txBody>
      </p:sp>
      <p:sp>
        <p:nvSpPr>
          <p:cNvPr id="53"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Le ratio S/C rapporte les prestations de l'année aux cotisations de l'année</a:t>
            </a:r>
          </a:p>
        </p:txBody>
      </p:sp>
      <p:sp>
        <p:nvSpPr>
          <p:cNvPr id="54"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S/C = prestations comptabilisées / cotisations comptabilisées, par garantie et par exercice</a:t>
            </a:r>
          </a:p>
        </p:txBody>
      </p:sp>
      <p:sp>
        <p:nvSpPr>
          <p:cNvPr id="55"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Adenka</a:t>
            </a:r>
          </a:p>
        </p:txBody>
      </p:sp>
      <p:sp>
        <p:nvSpPr>
          <p:cNvPr id="56" name="TextBox 55"/>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S/C : prestations / cotisations</a:t>
            </a:r>
          </a:p>
        </p:txBody>
      </p:sp>
    </p:spTree>
    <p:extLst>
      <p:ext uri="{BB962C8B-B14F-4D97-AF65-F5344CB8AC3E}">
        <p14:creationId xmlns:p14="http://schemas.microsoft.com/office/powerpoint/2010/main" val="3512402292"/>
      </p:ext>
    </p:extLst>
  </p:cSld>
  <p:clrMapOvr>
    <a:masterClrMapping/>
  </p:clrMapOvr>
  <p:transition>
    <p:fade/>
  </p:transition>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Calcul pas à pas : S/C maladie 2025</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Douze comptes de prestations divisés par un compte de cotisations</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1 771 635 361 FCFA / 2 409 281 030 FCFA = 73,53 %</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balance des comptes 2025 (Sage 100). Traitements Adenka</a:t>
            </a:r>
          </a:p>
        </p:txBody>
      </p:sp>
      <p:sp>
        <p:nvSpPr>
          <p:cNvPr id="31" name="TextBox 30"/>
          <p:cNvSpPr txBox="1"/>
          <p:nvPr/>
        </p:nvSpPr>
        <p:spPr>
          <a:xfrm>
            <a:off x="503999" y="1350000"/>
            <a:ext cx="7343999" cy="180000"/>
          </a:xfrm>
          <a:prstGeom prst="rect">
            <a:avLst/>
          </a:prstGeom>
          <a:noFill/>
        </p:spPr>
        <p:txBody>
          <a:bodyPr wrap="square" anchor="t" lIns="54000" rIns="54000"/>
          <a:lstStyle/>
          <a:p>
            <a:pPr algn="l"/>
            <a:r>
              <a:rPr sz="900" b="0">
                <a:solidFill>
                  <a:srgbClr val="53565A"/>
                </a:solidFill>
                <a:latin typeface="Helvetica"/>
              </a:rPr>
              <a:t>Extrait : AUDIT ADENKA\DAFC\2025\BALANCE FPPN 2025.xlsx</a:t>
            </a:r>
          </a:p>
        </p:txBody>
      </p:sp>
      <p:graphicFrame>
        <p:nvGraphicFramePr>
          <p:cNvPr id="32" name="Table 31"/>
          <p:cNvGraphicFramePr>
            <a:graphicFrameLocks noGrp="1"/>
          </p:cNvGraphicFramePr>
          <p:nvPr/>
        </p:nvGraphicFramePr>
        <p:xfrm>
          <a:off x="503999" y="1548000"/>
          <a:ext cx="7344000" cy="2970000"/>
        </p:xfrm>
        <a:graphic>
          <a:graphicData uri="http://schemas.openxmlformats.org/drawingml/2006/table">
            <a:tbl>
              <a:tblPr firstRow="0" bandRow="0">
                <a:tableStyleId>{5940675A-B579-460E-94D1-54222C63F5DA}</a:tableStyleId>
              </a:tblPr>
              <a:tblGrid>
                <a:gridCol w="1224000"/>
                <a:gridCol w="3960000"/>
                <a:gridCol w="2160000"/>
              </a:tblGrid>
              <a:tr h="198000">
                <a:tc>
                  <a:txBody>
                    <a:bodyPr/>
                    <a:lstStyle/>
                    <a:p>
                      <a:pPr marL="0" indent="0" lvl="0">
                        <a:buNone/>
                      </a:pPr>
                      <a:r>
                        <a:rPr sz="900" b="1">
                          <a:solidFill>
                            <a:srgbClr val="FFFFFF"/>
                          </a:solidFill>
                          <a:latin typeface="Helvetica"/>
                        </a:rPr>
                        <a:t>Compte</a:t>
                      </a:r>
                    </a:p>
                  </a:txBody>
                  <a:tcPr marL="43200" marR="43200" marT="14400" marB="14400" anchor="ctr">
                    <a:solidFill>
                      <a:srgbClr val="060606"/>
                    </a:solidFill>
                  </a:tcPr>
                </a:tc>
                <a:tc>
                  <a:txBody>
                    <a:bodyPr/>
                    <a:lstStyle/>
                    <a:p>
                      <a:pPr marL="0" indent="0" lvl="0">
                        <a:buNone/>
                      </a:pPr>
                      <a:r>
                        <a:rPr sz="900" b="1">
                          <a:solidFill>
                            <a:srgbClr val="FFFFFF"/>
                          </a:solidFill>
                          <a:latin typeface="Helvetica"/>
                        </a:rPr>
                        <a:t>Intitulé</a:t>
                      </a:r>
                    </a:p>
                  </a:txBody>
                  <a:tcPr marL="43200" marR="43200" marT="14400" marB="14400" anchor="ctr">
                    <a:solidFill>
                      <a:srgbClr val="060606"/>
                    </a:solidFill>
                  </a:tcPr>
                </a:tc>
                <a:tc>
                  <a:txBody>
                    <a:bodyPr/>
                    <a:lstStyle/>
                    <a:p>
                      <a:pPr marL="0" indent="0" lvl="0">
                        <a:buNone/>
                      </a:pPr>
                      <a:r>
                        <a:rPr sz="900" b="1">
                          <a:solidFill>
                            <a:srgbClr val="FFFFFF"/>
                          </a:solidFill>
                          <a:latin typeface="Helvetica"/>
                        </a:rPr>
                        <a:t>Montant 2025</a:t>
                      </a:r>
                    </a:p>
                  </a:txBody>
                  <a:tcPr marL="43200" marR="43200" marT="14400" marB="14400" anchor="ctr">
                    <a:solidFill>
                      <a:srgbClr val="060606"/>
                    </a:solidFill>
                  </a:tcPr>
                </a:tc>
              </a:tr>
              <a:tr h="198000">
                <a:tc>
                  <a:txBody>
                    <a:bodyPr/>
                    <a:lstStyle/>
                    <a:p>
                      <a:pPr marL="0" indent="0" lvl="0">
                        <a:buNone/>
                      </a:pPr>
                      <a:r>
                        <a:rPr sz="900" b="1">
                          <a:solidFill>
                            <a:srgbClr val="060606"/>
                          </a:solidFill>
                          <a:latin typeface="Helvetica"/>
                        </a:rPr>
                        <a:t>60111000</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Pharmacie</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38 076 031 FCFA</a:t>
                      </a:r>
                    </a:p>
                  </a:txBody>
                  <a:tcPr marL="43200" marR="43200" marT="14400" marB="14400" anchor="ctr">
                    <a:solidFill>
                      <a:srgbClr val="FFFFFF"/>
                    </a:solidFill>
                  </a:tcPr>
                </a:tc>
              </a:tr>
              <a:tr h="198000">
                <a:tc>
                  <a:txBody>
                    <a:bodyPr/>
                    <a:lstStyle/>
                    <a:p>
                      <a:pPr marL="0" indent="0" lvl="0">
                        <a:buNone/>
                      </a:pPr>
                      <a:r>
                        <a:rPr sz="900" b="1">
                          <a:solidFill>
                            <a:srgbClr val="060606"/>
                          </a:solidFill>
                          <a:latin typeface="Helvetica"/>
                        </a:rPr>
                        <a:t>60112000</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Consultations</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173 759 919 FCFA</a:t>
                      </a:r>
                    </a:p>
                  </a:txBody>
                  <a:tcPr marL="43200" marR="43200" marT="14400" marB="14400" anchor="ctr">
                    <a:solidFill>
                      <a:srgbClr val="F2F2F2"/>
                    </a:solidFill>
                  </a:tcPr>
                </a:tc>
              </a:tr>
              <a:tr h="198000">
                <a:tc>
                  <a:txBody>
                    <a:bodyPr/>
                    <a:lstStyle/>
                    <a:p>
                      <a:pPr marL="0" indent="0" lvl="0">
                        <a:buNone/>
                      </a:pPr>
                      <a:r>
                        <a:rPr sz="900" b="1">
                          <a:solidFill>
                            <a:srgbClr val="060606"/>
                          </a:solidFill>
                          <a:latin typeface="Helvetica"/>
                        </a:rPr>
                        <a:t>60113000</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Hospitalisations</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23 247 618 FCFA</a:t>
                      </a:r>
                    </a:p>
                  </a:txBody>
                  <a:tcPr marL="43200" marR="43200" marT="14400" marB="14400" anchor="ctr">
                    <a:solidFill>
                      <a:srgbClr val="FFFFFF"/>
                    </a:solidFill>
                  </a:tcPr>
                </a:tc>
              </a:tr>
              <a:tr h="198000">
                <a:tc>
                  <a:txBody>
                    <a:bodyPr/>
                    <a:lstStyle/>
                    <a:p>
                      <a:pPr marL="0" indent="0" lvl="0">
                        <a:buNone/>
                      </a:pPr>
                      <a:r>
                        <a:rPr sz="900" b="1">
                          <a:solidFill>
                            <a:srgbClr val="060606"/>
                          </a:solidFill>
                          <a:latin typeface="Helvetica"/>
                        </a:rPr>
                        <a:t>60114000</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Analyses Médicales</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234 266 144 FCFA</a:t>
                      </a:r>
                    </a:p>
                  </a:txBody>
                  <a:tcPr marL="43200" marR="43200" marT="14400" marB="14400" anchor="ctr">
                    <a:solidFill>
                      <a:srgbClr val="F2F2F2"/>
                    </a:solidFill>
                  </a:tcPr>
                </a:tc>
              </a:tr>
              <a:tr h="198000">
                <a:tc>
                  <a:txBody>
                    <a:bodyPr/>
                    <a:lstStyle/>
                    <a:p>
                      <a:pPr marL="0" indent="0" lvl="0">
                        <a:buNone/>
                      </a:pPr>
                      <a:r>
                        <a:rPr sz="900" b="1">
                          <a:solidFill>
                            <a:srgbClr val="060606"/>
                          </a:solidFill>
                          <a:latin typeface="Helvetica"/>
                        </a:rPr>
                        <a:t>60115000</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Radio Imagérie &amp; Echographie</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249 812 169 FCFA</a:t>
                      </a:r>
                    </a:p>
                  </a:txBody>
                  <a:tcPr marL="43200" marR="43200" marT="14400" marB="14400" anchor="ctr">
                    <a:solidFill>
                      <a:srgbClr val="FFFFFF"/>
                    </a:solidFill>
                  </a:tcPr>
                </a:tc>
              </a:tr>
              <a:tr h="198000">
                <a:tc>
                  <a:txBody>
                    <a:bodyPr/>
                    <a:lstStyle/>
                    <a:p>
                      <a:pPr marL="0" indent="0" lvl="0">
                        <a:buNone/>
                      </a:pPr>
                      <a:r>
                        <a:rPr sz="900" b="1">
                          <a:solidFill>
                            <a:srgbClr val="060606"/>
                          </a:solidFill>
                          <a:latin typeface="Helvetica"/>
                        </a:rPr>
                        <a:t>60118000</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Transport Médicalisé</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1 265 340 FCFA</a:t>
                      </a:r>
                    </a:p>
                  </a:txBody>
                  <a:tcPr marL="43200" marR="43200" marT="14400" marB="14400" anchor="ctr">
                    <a:solidFill>
                      <a:srgbClr val="F2F2F2"/>
                    </a:solidFill>
                  </a:tcPr>
                </a:tc>
              </a:tr>
              <a:tr h="198000">
                <a:tc>
                  <a:txBody>
                    <a:bodyPr/>
                    <a:lstStyle/>
                    <a:p>
                      <a:pPr marL="0" indent="0" lvl="0">
                        <a:buNone/>
                      </a:pPr>
                      <a:r>
                        <a:rPr sz="900" b="1">
                          <a:solidFill>
                            <a:srgbClr val="060606"/>
                          </a:solidFill>
                          <a:latin typeface="Helvetica"/>
                        </a:rPr>
                        <a:t>60119000</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Traitements médicaux</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14 461 585 FCFA</a:t>
                      </a:r>
                    </a:p>
                  </a:txBody>
                  <a:tcPr marL="43200" marR="43200" marT="14400" marB="14400" anchor="ctr">
                    <a:solidFill>
                      <a:srgbClr val="FFFFFF"/>
                    </a:solidFill>
                  </a:tcPr>
                </a:tc>
              </a:tr>
              <a:tr h="198000">
                <a:tc>
                  <a:txBody>
                    <a:bodyPr/>
                    <a:lstStyle/>
                    <a:p>
                      <a:pPr marL="0" indent="0" lvl="0">
                        <a:buNone/>
                      </a:pPr>
                      <a:r>
                        <a:rPr sz="900" b="1">
                          <a:solidFill>
                            <a:srgbClr val="060606"/>
                          </a:solidFill>
                          <a:latin typeface="Helvetica"/>
                        </a:rPr>
                        <a:t>60120000</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Charges de Prestations Maladie</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989 729 545 FCFA</a:t>
                      </a:r>
                    </a:p>
                  </a:txBody>
                  <a:tcPr marL="43200" marR="43200" marT="14400" marB="14400" anchor="ctr">
                    <a:solidFill>
                      <a:srgbClr val="F2F2F2"/>
                    </a:solidFill>
                  </a:tcPr>
                </a:tc>
              </a:tr>
              <a:tr h="198000">
                <a:tc>
                  <a:txBody>
                    <a:bodyPr/>
                    <a:lstStyle/>
                    <a:p>
                      <a:pPr marL="0" indent="0" lvl="0">
                        <a:buNone/>
                      </a:pPr>
                      <a:r>
                        <a:rPr sz="900" b="1">
                          <a:solidFill>
                            <a:srgbClr val="060606"/>
                          </a:solidFill>
                          <a:latin typeface="Helvetica"/>
                        </a:rPr>
                        <a:t>60121000</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Remboursement de soins</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4 881 810 FCFA</a:t>
                      </a:r>
                    </a:p>
                  </a:txBody>
                  <a:tcPr marL="43200" marR="43200" marT="14400" marB="14400" anchor="ctr">
                    <a:solidFill>
                      <a:srgbClr val="FFFFFF"/>
                    </a:solidFill>
                  </a:tcPr>
                </a:tc>
              </a:tr>
              <a:tr h="198000">
                <a:tc>
                  <a:txBody>
                    <a:bodyPr/>
                    <a:lstStyle/>
                    <a:p>
                      <a:pPr marL="0" indent="0" lvl="0">
                        <a:buNone/>
                      </a:pPr>
                      <a:r>
                        <a:rPr sz="900" b="1">
                          <a:solidFill>
                            <a:srgbClr val="060606"/>
                          </a:solidFill>
                          <a:latin typeface="Helvetica"/>
                        </a:rPr>
                        <a:t>60122000</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Allocation naissance</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700 000 FCFA</a:t>
                      </a:r>
                    </a:p>
                  </a:txBody>
                  <a:tcPr marL="43200" marR="43200" marT="14400" marB="14400" anchor="ctr">
                    <a:solidFill>
                      <a:srgbClr val="F2F2F2"/>
                    </a:solidFill>
                  </a:tcPr>
                </a:tc>
              </a:tr>
              <a:tr h="198000">
                <a:tc>
                  <a:txBody>
                    <a:bodyPr/>
                    <a:lstStyle/>
                    <a:p>
                      <a:pPr marL="0" indent="0" lvl="0">
                        <a:buNone/>
                      </a:pPr>
                      <a:r>
                        <a:rPr sz="900" b="1">
                          <a:solidFill>
                            <a:srgbClr val="060606"/>
                          </a:solidFill>
                          <a:latin typeface="Helvetica"/>
                        </a:rPr>
                        <a:t>60130000</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Charges de prestat°séance réducat°</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9 485 200 FCFA</a:t>
                      </a:r>
                    </a:p>
                  </a:txBody>
                  <a:tcPr marL="43200" marR="43200" marT="14400" marB="14400" anchor="ctr">
                    <a:solidFill>
                      <a:srgbClr val="FFFFFF"/>
                    </a:solidFill>
                  </a:tcPr>
                </a:tc>
              </a:tr>
              <a:tr h="198000">
                <a:tc>
                  <a:txBody>
                    <a:bodyPr/>
                    <a:lstStyle/>
                    <a:p>
                      <a:pPr marL="0" indent="0" lvl="0">
                        <a:buNone/>
                      </a:pPr>
                      <a:r>
                        <a:rPr sz="900" b="1">
                          <a:solidFill>
                            <a:srgbClr val="060606"/>
                          </a:solidFill>
                          <a:latin typeface="Helvetica"/>
                        </a:rPr>
                        <a:t>60800007</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Bons de prise en charge médicale</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31 950 000 FCFA</a:t>
                      </a:r>
                    </a:p>
                  </a:txBody>
                  <a:tcPr marL="43200" marR="43200" marT="14400" marB="14400" anchor="ctr">
                    <a:solidFill>
                      <a:srgbClr val="F2F2F2"/>
                    </a:solidFill>
                  </a:tcPr>
                </a:tc>
              </a:tr>
              <a:tr h="198000">
                <a:tc>
                  <a:txBody>
                    <a:bodyPr/>
                    <a:lstStyle/>
                    <a:p>
                      <a:pPr marL="0" indent="0" lvl="0">
                        <a:buNone/>
                      </a:pPr>
                      <a:r>
                        <a:rPr sz="900" b="1">
                          <a:solidFill>
                            <a:srgbClr val="060606"/>
                          </a:solidFill>
                          <a:latin typeface="Helvetica"/>
                        </a:rPr>
                        <a:t>Total</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Prestations maladie</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1 771 635 361 FCFA</a:t>
                      </a:r>
                    </a:p>
                  </a:txBody>
                  <a:tcPr marL="43200" marR="43200" marT="14400" marB="14400" anchor="ctr">
                    <a:solidFill>
                      <a:srgbClr val="FFFFFF"/>
                    </a:solidFill>
                  </a:tcPr>
                </a:tc>
              </a:tr>
              <a:tr h="198000">
                <a:tc>
                  <a:txBody>
                    <a:bodyPr/>
                    <a:lstStyle/>
                    <a:p>
                      <a:pPr marL="0" indent="0" lvl="0">
                        <a:buNone/>
                      </a:pPr>
                      <a:r>
                        <a:rPr sz="900" b="1">
                          <a:solidFill>
                            <a:srgbClr val="060606"/>
                          </a:solidFill>
                          <a:latin typeface="Helvetica"/>
                        </a:rPr>
                        <a:t>70100000</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COTISATIONS MALADIES ACQUISES</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2 409 281 030 FCFA</a:t>
                      </a:r>
                    </a:p>
                  </a:txBody>
                  <a:tcPr marL="43200" marR="43200" marT="14400" marB="14400" anchor="ctr">
                    <a:solidFill>
                      <a:srgbClr val="F2F2F2"/>
                    </a:solidFill>
                  </a:tcPr>
                </a:tc>
              </a:tr>
            </a:tbl>
          </a:graphicData>
        </a:graphic>
      </p:graphicFrame>
      <p:sp>
        <p:nvSpPr>
          <p:cNvPr id="33" name="Rounded Rectangle 32"/>
          <p:cNvSpPr/>
          <p:nvPr/>
        </p:nvSpPr>
        <p:spPr>
          <a:xfrm>
            <a:off x="5670000" y="3121200"/>
            <a:ext cx="2196000" cy="219600"/>
          </a:xfrm>
          <a:prstGeom prst="roundRect">
            <a:avLst/>
          </a:prstGeom>
          <a:noFill/>
          <a:ln w="28575">
            <a:solidFill>
              <a:srgbClr val="C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7668000" y="2970000"/>
            <a:ext cx="270000" cy="2700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100" b="1">
                <a:solidFill>
                  <a:srgbClr val="FFFFFF"/>
                </a:solidFill>
                <a:latin typeface="Helvetica"/>
              </a:rPr>
              <a:t>1</a:t>
            </a:r>
          </a:p>
        </p:txBody>
      </p:sp>
      <p:sp>
        <p:nvSpPr>
          <p:cNvPr id="35" name="Rounded Rectangle 34"/>
          <p:cNvSpPr/>
          <p:nvPr/>
        </p:nvSpPr>
        <p:spPr>
          <a:xfrm>
            <a:off x="5670000" y="4111200"/>
            <a:ext cx="2196000" cy="219600"/>
          </a:xfrm>
          <a:prstGeom prst="roundRect">
            <a:avLst/>
          </a:prstGeom>
          <a:noFill/>
          <a:ln w="28575">
            <a:solidFill>
              <a:srgbClr val="C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Oval 35"/>
          <p:cNvSpPr/>
          <p:nvPr/>
        </p:nvSpPr>
        <p:spPr>
          <a:xfrm>
            <a:off x="7668000" y="3960000"/>
            <a:ext cx="270000" cy="2700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100" b="1">
                <a:solidFill>
                  <a:srgbClr val="FFFFFF"/>
                </a:solidFill>
                <a:latin typeface="Helvetica"/>
              </a:rPr>
              <a:t>2</a:t>
            </a:r>
          </a:p>
        </p:txBody>
      </p:sp>
      <p:sp>
        <p:nvSpPr>
          <p:cNvPr id="37" name="Rounded Rectangle 36"/>
          <p:cNvSpPr/>
          <p:nvPr/>
        </p:nvSpPr>
        <p:spPr>
          <a:xfrm>
            <a:off x="5670000" y="4309200"/>
            <a:ext cx="2196000" cy="219600"/>
          </a:xfrm>
          <a:prstGeom prst="roundRect">
            <a:avLst/>
          </a:prstGeom>
          <a:noFill/>
          <a:ln w="28575">
            <a:solidFill>
              <a:srgbClr val="C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Oval 37"/>
          <p:cNvSpPr/>
          <p:nvPr/>
        </p:nvSpPr>
        <p:spPr>
          <a:xfrm>
            <a:off x="7668000" y="4158000"/>
            <a:ext cx="270000" cy="2700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100" b="1">
                <a:solidFill>
                  <a:srgbClr val="FFFFFF"/>
                </a:solidFill>
                <a:latin typeface="Helvetica"/>
              </a:rPr>
              <a:t>3</a:t>
            </a:r>
          </a:p>
        </p:txBody>
      </p:sp>
      <p:sp>
        <p:nvSpPr>
          <p:cNvPr id="39" name="Oval 38"/>
          <p:cNvSpPr/>
          <p:nvPr/>
        </p:nvSpPr>
        <p:spPr>
          <a:xfrm>
            <a:off x="8063999" y="1548000"/>
            <a:ext cx="270000" cy="2700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100" b="1">
                <a:solidFill>
                  <a:srgbClr val="FFFFFF"/>
                </a:solidFill>
                <a:latin typeface="Helvetica"/>
              </a:rPr>
              <a:t>1</a:t>
            </a:r>
          </a:p>
        </p:txBody>
      </p:sp>
      <p:sp>
        <p:nvSpPr>
          <p:cNvPr id="40" name="TextBox 39"/>
          <p:cNvSpPr txBox="1"/>
          <p:nvPr/>
        </p:nvSpPr>
        <p:spPr>
          <a:xfrm>
            <a:off x="8424000" y="1530000"/>
            <a:ext cx="3312000" cy="670023"/>
          </a:xfrm>
          <a:prstGeom prst="rect">
            <a:avLst/>
          </a:prstGeom>
          <a:noFill/>
        </p:spPr>
        <p:txBody>
          <a:bodyPr wrap="square" anchor="t" lIns="54000" rIns="54000"/>
          <a:lstStyle/>
          <a:p>
            <a:pPr algn="l"/>
            <a:r>
              <a:rPr sz="1200" b="0">
                <a:solidFill>
                  <a:srgbClr val="060606"/>
                </a:solidFill>
                <a:latin typeface="Helvetica"/>
              </a:rPr>
              <a:t>Le compte global 60120000 porte plus de la moitié des prestations, sans détail de nature.</a:t>
            </a:r>
          </a:p>
        </p:txBody>
      </p:sp>
      <p:sp>
        <p:nvSpPr>
          <p:cNvPr id="41" name="Oval 40"/>
          <p:cNvSpPr/>
          <p:nvPr/>
        </p:nvSpPr>
        <p:spPr>
          <a:xfrm>
            <a:off x="8063999" y="2308023"/>
            <a:ext cx="270000" cy="2700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100" b="1">
                <a:solidFill>
                  <a:srgbClr val="FFFFFF"/>
                </a:solidFill>
                <a:latin typeface="Helvetica"/>
              </a:rPr>
              <a:t>2</a:t>
            </a:r>
          </a:p>
        </p:txBody>
      </p:sp>
      <p:sp>
        <p:nvSpPr>
          <p:cNvPr id="42" name="TextBox 41"/>
          <p:cNvSpPr txBox="1"/>
          <p:nvPr/>
        </p:nvSpPr>
        <p:spPr>
          <a:xfrm>
            <a:off x="8424000" y="2290023"/>
            <a:ext cx="3312000" cy="484084"/>
          </a:xfrm>
          <a:prstGeom prst="rect">
            <a:avLst/>
          </a:prstGeom>
          <a:noFill/>
        </p:spPr>
        <p:txBody>
          <a:bodyPr wrap="square" anchor="t" lIns="54000" rIns="54000"/>
          <a:lstStyle/>
          <a:p>
            <a:pPr algn="l"/>
            <a:r>
              <a:rPr sz="1200" b="0">
                <a:solidFill>
                  <a:srgbClr val="060606"/>
                </a:solidFill>
                <a:latin typeface="Helvetica"/>
              </a:rPr>
              <a:t>Les douze comptes de prestations maladie totalisent ce montant.</a:t>
            </a:r>
          </a:p>
        </p:txBody>
      </p:sp>
      <p:sp>
        <p:nvSpPr>
          <p:cNvPr id="43" name="Oval 42"/>
          <p:cNvSpPr/>
          <p:nvPr/>
        </p:nvSpPr>
        <p:spPr>
          <a:xfrm>
            <a:off x="8063999" y="2882108"/>
            <a:ext cx="270000" cy="2700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100" b="1">
                <a:solidFill>
                  <a:srgbClr val="FFFFFF"/>
                </a:solidFill>
                <a:latin typeface="Helvetica"/>
              </a:rPr>
              <a:t>3</a:t>
            </a:r>
          </a:p>
        </p:txBody>
      </p:sp>
      <p:sp>
        <p:nvSpPr>
          <p:cNvPr id="44" name="TextBox 43"/>
          <p:cNvSpPr txBox="1"/>
          <p:nvPr/>
        </p:nvSpPr>
        <p:spPr>
          <a:xfrm>
            <a:off x="8424000" y="2864108"/>
            <a:ext cx="3312000" cy="484084"/>
          </a:xfrm>
          <a:prstGeom prst="rect">
            <a:avLst/>
          </a:prstGeom>
          <a:noFill/>
        </p:spPr>
        <p:txBody>
          <a:bodyPr wrap="square" anchor="t" lIns="54000" rIns="54000"/>
          <a:lstStyle/>
          <a:p>
            <a:pPr algn="l"/>
            <a:r>
              <a:rPr sz="1200" b="0">
                <a:solidFill>
                  <a:srgbClr val="060606"/>
                </a:solidFill>
                <a:latin typeface="Helvetica"/>
              </a:rPr>
              <a:t>Les cotisations maladie acquises forment le dénominateur du ratio.</a:t>
            </a:r>
          </a:p>
        </p:txBody>
      </p:sp>
      <p:sp>
        <p:nvSpPr>
          <p:cNvPr id="45" name="TextBox 44"/>
          <p:cNvSpPr txBox="1"/>
          <p:nvPr/>
        </p:nvSpPr>
        <p:spPr>
          <a:xfrm>
            <a:off x="8063999" y="3528192"/>
            <a:ext cx="3672000" cy="2339807"/>
          </a:xfrm>
          <a:prstGeom prst="rect">
            <a:avLst/>
          </a:prstGeom>
          <a:noFill/>
        </p:spPr>
        <p:txBody>
          <a:bodyPr wrap="square" lIns="54000" rIns="54000"/>
          <a:lstStyle/>
          <a:p>
            <a:pPr algn="just">
              <a:spcAft>
                <a:spcPts val="600"/>
              </a:spcAft>
            </a:pPr>
            <a:r>
              <a:rPr sz="1200" b="1">
                <a:solidFill>
                  <a:srgbClr val="060606"/>
                </a:solidFill>
                <a:latin typeface="Helvetica"/>
              </a:rPr>
              <a:t>Appliquée à la seule maladie, la fourchette réglementaire de 70 % à 80 % est respectée en 2025.</a:t>
            </a:r>
            <a:r>
              <a:rPr sz="1200" b="0">
                <a:solidFill>
                  <a:srgbClr val="060606"/>
                </a:solidFill>
                <a:latin typeface="Helvetica"/>
              </a:rPr>
              <a:t> Le compte global empêche pourtant de savoir quels soins font monter le ratio.</a:t>
            </a:r>
          </a:p>
          <a:p>
            <a:pPr algn="just">
              <a:spcAft>
                <a:spcPts val="600"/>
              </a:spcAft>
            </a:pPr>
            <a:r>
              <a:rPr sz="1200" b="1">
                <a:solidFill>
                  <a:srgbClr val="060606"/>
                </a:solidFill>
                <a:latin typeface="Helvetica"/>
              </a:rPr>
              <a:t>Implication pour le FPPN.</a:t>
            </a:r>
            <a:r>
              <a:rPr sz="1200" b="0">
                <a:solidFill>
                  <a:srgbClr val="060606"/>
                </a:solidFill>
                <a:latin typeface="Helvetica"/>
              </a:rPr>
              <a:t> Le FPPN doit ventiler le compte 60120000 par nature de soins et par prestataire, ce qui permettra de cibler les mesures de maîtrise des dépenses.</a:t>
            </a:r>
          </a:p>
        </p:txBody>
      </p:sp>
      <p:sp>
        <p:nvSpPr>
          <p:cNvPr id="46" name="TextBox 45"/>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S/C : prestations / cotisations</a:t>
            </a:r>
          </a:p>
        </p:txBody>
      </p:sp>
    </p:spTree>
    <p:extLst>
      <p:ext uri="{BB962C8B-B14F-4D97-AF65-F5344CB8AC3E}">
        <p14:creationId xmlns:p14="http://schemas.microsoft.com/office/powerpoint/2010/main" val="2018570359"/>
      </p:ext>
    </p:extLst>
  </p:cSld>
  <p:clrMapOvr>
    <a:masterClrMapping/>
  </p:clrMapOvr>
  <p:transition>
    <p:fade/>
  </p:transition>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Sinistralité comptable</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Les prestations maladie absorbent presque toutes les cotisations maladie</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S/C maladie : 6,00 % en 2021, 73,53 % en 2025, 97,40 % sur huit mois de 2026</a:t>
            </a:r>
          </a:p>
        </p:txBody>
      </p:sp>
      <p:sp>
        <p:nvSpPr>
          <p:cNvPr id="30" name="TextBox 29"/>
          <p:cNvSpPr txBox="1"/>
          <p:nvPr/>
        </p:nvSpPr>
        <p:spPr>
          <a:xfrm>
            <a:off x="503999" y="1386000"/>
            <a:ext cx="5976000" cy="251999"/>
          </a:xfrm>
          <a:prstGeom prst="rect">
            <a:avLst/>
          </a:prstGeom>
          <a:noFill/>
        </p:spPr>
        <p:txBody>
          <a:bodyPr wrap="square">
            <a:spAutoFit/>
          </a:bodyPr>
          <a:lstStyle/>
          <a:p>
            <a:pPr algn="ctr">
              <a:spcAft>
                <a:spcPts val="0"/>
              </a:spcAft>
            </a:pPr>
            <a:r>
              <a:rPr sz="1200" b="0">
                <a:solidFill>
                  <a:srgbClr val="EFAC62"/>
                </a:solidFill>
                <a:latin typeface="Helvetica"/>
              </a:rPr>
              <a:t>Figure 15 : Prestations comptabilisées / cotisations (S/C)</a:t>
            </a:r>
          </a:p>
        </p:txBody>
      </p:sp>
      <p:sp>
        <p:nvSpPr>
          <p:cNvPr id="31" name="TextBox 30"/>
          <p:cNvSpPr txBox="1"/>
          <p:nvPr/>
        </p:nvSpPr>
        <p:spPr>
          <a:xfrm>
            <a:off x="503999" y="1602000"/>
            <a:ext cx="5976000" cy="162000"/>
          </a:xfrm>
          <a:prstGeom prst="rect">
            <a:avLst/>
          </a:prstGeom>
          <a:noFill/>
        </p:spPr>
        <p:txBody>
          <a:bodyPr wrap="square">
            <a:spAutoFit/>
          </a:bodyPr>
          <a:lstStyle/>
          <a:p>
            <a:pPr algn="l">
              <a:spcAft>
                <a:spcPts val="0"/>
              </a:spcAft>
            </a:pPr>
            <a:r>
              <a:rPr sz="900" b="0">
                <a:solidFill>
                  <a:srgbClr val="060606"/>
                </a:solidFill>
                <a:latin typeface="Helvetica"/>
              </a:rPr>
              <a:t>En % des cotisations de la garantie</a:t>
            </a:r>
          </a:p>
        </p:txBody>
      </p:sp>
      <p:graphicFrame>
        <p:nvGraphicFramePr>
          <p:cNvPr id="32" name="Chart 31"/>
          <p:cNvGraphicFramePr>
            <a:graphicFrameLocks noGrp="1"/>
          </p:cNvGraphicFramePr>
          <p:nvPr/>
        </p:nvGraphicFramePr>
        <p:xfrm>
          <a:off x="503999" y="1782000"/>
          <a:ext cx="5976000" cy="4086000"/>
        </p:xfrm>
        <a:graphic>
          <a:graphicData uri="http://schemas.openxmlformats.org/drawingml/2006/chart">
            <c:chart xmlns:c="http://schemas.openxmlformats.org/drawingml/2006/chart" r:id="rId6"/>
          </a:graphicData>
        </a:graphic>
      </p:graphicFrame>
      <p:sp>
        <p:nvSpPr>
          <p:cNvPr id="33"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balances des comptes du FPPN (Sage 100), exercices 2020 à 2025 et du 01/01 au 31/08/2026 (provisoire). Traitements Adenka</a:t>
            </a:r>
          </a:p>
        </p:txBody>
      </p:sp>
      <p:sp>
        <p:nvSpPr>
          <p:cNvPr id="34" name="TextBox 33"/>
          <p:cNvSpPr txBox="1"/>
          <p:nvPr/>
        </p:nvSpPr>
        <p:spPr>
          <a:xfrm>
            <a:off x="6696000" y="1440000"/>
            <a:ext cx="5040000" cy="4428000"/>
          </a:xfrm>
          <a:prstGeom prst="rect">
            <a:avLst/>
          </a:prstGeom>
          <a:noFill/>
        </p:spPr>
        <p:txBody>
          <a:bodyPr wrap="square" lIns="54000" rIns="54000"/>
          <a:lstStyle/>
          <a:p>
            <a:pPr algn="just">
              <a:spcAft>
                <a:spcPts val="600"/>
              </a:spcAft>
            </a:pPr>
            <a:r>
              <a:rPr sz="1400" b="1">
                <a:solidFill>
                  <a:srgbClr val="060606"/>
                </a:solidFill>
                <a:latin typeface="Helvetica"/>
              </a:rPr>
              <a:t>Le ratio maladie a été multiplié par 12,26 entre 2021 et 2025.</a:t>
            </a:r>
            <a:r>
              <a:rPr sz="1400" b="0">
                <a:solidFill>
                  <a:srgbClr val="060606"/>
                </a:solidFill>
                <a:latin typeface="Helvetica"/>
              </a:rPr>
              <a:t> Il dépasse la fourchette réglementaire sur les huit premiers mois de 2026.</a:t>
            </a:r>
          </a:p>
          <a:p>
            <a:pPr algn="just">
              <a:spcAft>
                <a:spcPts val="600"/>
              </a:spcAft>
            </a:pPr>
            <a:r>
              <a:rPr sz="1400" b="1">
                <a:solidFill>
                  <a:srgbClr val="060606"/>
                </a:solidFill>
                <a:latin typeface="Helvetica"/>
              </a:rPr>
              <a:t>Les ratios très bas de 2020 à 2022 sont suspects.</a:t>
            </a:r>
            <a:r>
              <a:rPr sz="1400" b="0">
                <a:solidFill>
                  <a:srgbClr val="060606"/>
                </a:solidFill>
                <a:latin typeface="Helvetica"/>
              </a:rPr>
              <a:t> Des factures de ces années ont probablement été comptabilisées plus tard, ce que seule la base des prestations permettra de vérifier.</a:t>
            </a:r>
          </a:p>
          <a:p>
            <a:pPr algn="just">
              <a:spcAft>
                <a:spcPts val="600"/>
              </a:spcAft>
            </a:pPr>
            <a:r>
              <a:rPr sz="1400" b="1">
                <a:solidFill>
                  <a:srgbClr val="060606"/>
                </a:solidFill>
                <a:latin typeface="Helvetica"/>
              </a:rPr>
              <a:t>En décès, le ratio oscille entre 15,21 % et 21,81 % depuis 2022.</a:t>
            </a:r>
            <a:r>
              <a:rPr sz="1400" b="0">
                <a:solidFill>
                  <a:srgbClr val="060606"/>
                </a:solidFill>
                <a:latin typeface="Helvetica"/>
              </a:rPr>
              <a:t> La garantie décès reste largement excédentaire.</a:t>
            </a:r>
          </a:p>
          <a:p>
            <a:pPr algn="just">
              <a:spcAft>
                <a:spcPts val="600"/>
              </a:spcAft>
            </a:pPr>
            <a:r>
              <a:rPr sz="1400" b="1">
                <a:solidFill>
                  <a:srgbClr val="060606"/>
                </a:solidFill>
                <a:latin typeface="Helvetica"/>
              </a:rPr>
              <a:t>Implication pour le FPPN.</a:t>
            </a:r>
            <a:r>
              <a:rPr sz="1400" b="0">
                <a:solidFill>
                  <a:srgbClr val="060606"/>
                </a:solidFill>
                <a:latin typeface="Helvetica"/>
              </a:rPr>
              <a:t> À ce rythme, les prestations maladie dépasseront les cotisations maladie : sans mesure de maîtrise ou révision du barème, la garantie maladie deviendra déficitaire et pèsera sur la réserve obligatoire.</a:t>
            </a:r>
          </a:p>
        </p:txBody>
      </p:sp>
      <p:sp>
        <p:nvSpPr>
          <p:cNvPr id="35" name="TextBox 34"/>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S/C : prestations / cotisations</a:t>
            </a:r>
          </a:p>
        </p:txBody>
      </p:sp>
    </p:spTree>
    <p:extLst>
      <p:ext uri="{BB962C8B-B14F-4D97-AF65-F5344CB8AC3E}">
        <p14:creationId xmlns:p14="http://schemas.microsoft.com/office/powerpoint/2010/main" val="3112768704"/>
      </p:ext>
    </p:extLst>
  </p:cSld>
  <p:clrMapOvr>
    <a:masterClrMapping/>
  </p:clrMapOvr>
  <p:transition>
    <p:fade/>
  </p:transition>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Croissance des prestations</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Les prestations maladie croissent beaucoup plus vite que les cotisations</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Taux de croissance annuel moyen 2021 à 2025 : prestations maladie 104,42 %, cotisations 7,83 %</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balances des comptes du FPPN (Sage 100), exercices 2020 à 2025 et du 01/01 au 31/08/2026 (provisoire). Traitements Adenka. Fichiers de précomptes de la Solde, de la CGRAE et du FPPN reçus le 15/10/2026. Traitements Adenka. Exports du logiciel de prêts du Grenier du Policier (balances âgées, production) reçus le 15/10/2026. Traitements Adenka</a:t>
            </a:r>
          </a:p>
        </p:txBody>
      </p:sp>
      <p:sp>
        <p:nvSpPr>
          <p:cNvPr id="31" name="TextBox 30"/>
          <p:cNvSpPr txBox="1"/>
          <p:nvPr/>
        </p:nvSpPr>
        <p:spPr>
          <a:xfrm>
            <a:off x="503999" y="1386000"/>
            <a:ext cx="11232000" cy="216000"/>
          </a:xfrm>
          <a:prstGeom prst="rect">
            <a:avLst/>
          </a:prstGeom>
          <a:noFill/>
        </p:spPr>
        <p:txBody>
          <a:bodyPr wrap="square" anchor="t" lIns="54000" rIns="54000"/>
          <a:lstStyle/>
          <a:p>
            <a:pPr algn="ctr"/>
            <a:r>
              <a:rPr sz="1200" b="0">
                <a:solidFill>
                  <a:srgbClr val="EFAC62"/>
                </a:solidFill>
                <a:latin typeface="Helvetica"/>
              </a:rPr>
              <a:t>Tableau 9 : Taux de croissance annuels moyens</a:t>
            </a:r>
          </a:p>
        </p:txBody>
      </p:sp>
      <p:graphicFrame>
        <p:nvGraphicFramePr>
          <p:cNvPr id="32" name="Table 31"/>
          <p:cNvGraphicFramePr>
            <a:graphicFrameLocks noGrp="1"/>
          </p:cNvGraphicFramePr>
          <p:nvPr/>
        </p:nvGraphicFramePr>
        <p:xfrm>
          <a:off x="503999" y="1655999"/>
          <a:ext cx="11231997" cy="2137302"/>
        </p:xfrm>
        <a:graphic>
          <a:graphicData uri="http://schemas.openxmlformats.org/drawingml/2006/table">
            <a:tbl>
              <a:tblPr firstRow="0" bandRow="0">
                <a:tableStyleId>{5940675A-B579-460E-94D1-54222C63F5DA}</a:tableStyleId>
              </a:tblPr>
              <a:tblGrid>
                <a:gridCol w="2736000"/>
                <a:gridCol w="1655999"/>
                <a:gridCol w="2015999"/>
                <a:gridCol w="2015999"/>
                <a:gridCol w="1296000"/>
                <a:gridCol w="1512000"/>
              </a:tblGrid>
              <a:tr h="225250">
                <a:tc>
                  <a:txBody>
                    <a:bodyPr/>
                    <a:lstStyle/>
                    <a:p>
                      <a:pPr marL="0" indent="0" lvl="0">
                        <a:buNone/>
                      </a:pPr>
                      <a:r>
                        <a:rPr sz="1100" b="1">
                          <a:solidFill>
                            <a:srgbClr val="FFFFFF"/>
                          </a:solidFill>
                          <a:latin typeface="Helvetica"/>
                        </a:rPr>
                        <a:t>Indicateur</a:t>
                      </a:r>
                    </a:p>
                  </a:txBody>
                  <a:tcPr marL="43200" marR="43200" marT="14400" marB="14400" anchor="ctr">
                    <a:solidFill>
                      <a:srgbClr val="060606"/>
                    </a:solidFill>
                  </a:tcPr>
                </a:tc>
                <a:tc>
                  <a:txBody>
                    <a:bodyPr/>
                    <a:lstStyle/>
                    <a:p>
                      <a:pPr marL="0" indent="0" lvl="0">
                        <a:buNone/>
                      </a:pPr>
                      <a:r>
                        <a:rPr sz="1100" b="1">
                          <a:solidFill>
                            <a:srgbClr val="FFFFFF"/>
                          </a:solidFill>
                          <a:latin typeface="Helvetica"/>
                        </a:rPr>
                        <a:t>Période</a:t>
                      </a:r>
                    </a:p>
                  </a:txBody>
                  <a:tcPr marL="43200" marR="43200" marT="14400" marB="14400" anchor="ctr">
                    <a:solidFill>
                      <a:srgbClr val="060606"/>
                    </a:solidFill>
                  </a:tcPr>
                </a:tc>
                <a:tc>
                  <a:txBody>
                    <a:bodyPr/>
                    <a:lstStyle/>
                    <a:p>
                      <a:pPr marL="0" indent="0" lvl="0">
                        <a:buNone/>
                      </a:pPr>
                      <a:r>
                        <a:rPr sz="1100" b="1">
                          <a:solidFill>
                            <a:srgbClr val="FFFFFF"/>
                          </a:solidFill>
                          <a:latin typeface="Helvetica"/>
                        </a:rPr>
                        <a:t>Valeur de départ</a:t>
                      </a:r>
                    </a:p>
                  </a:txBody>
                  <a:tcPr marL="43200" marR="43200" marT="14400" marB="14400" anchor="ctr">
                    <a:solidFill>
                      <a:srgbClr val="060606"/>
                    </a:solidFill>
                  </a:tcPr>
                </a:tc>
                <a:tc>
                  <a:txBody>
                    <a:bodyPr/>
                    <a:lstStyle/>
                    <a:p>
                      <a:pPr marL="0" indent="0" lvl="0">
                        <a:buNone/>
                      </a:pPr>
                      <a:r>
                        <a:rPr sz="1100" b="1">
                          <a:solidFill>
                            <a:srgbClr val="FFFFFF"/>
                          </a:solidFill>
                          <a:latin typeface="Helvetica"/>
                        </a:rPr>
                        <a:t>Valeur d'arrivée</a:t>
                      </a:r>
                    </a:p>
                  </a:txBody>
                  <a:tcPr marL="43200" marR="43200" marT="14400" marB="14400" anchor="ctr">
                    <a:solidFill>
                      <a:srgbClr val="060606"/>
                    </a:solidFill>
                  </a:tcPr>
                </a:tc>
                <a:tc>
                  <a:txBody>
                    <a:bodyPr/>
                    <a:lstStyle/>
                    <a:p>
                      <a:pPr marL="0" indent="0" lvl="0">
                        <a:buNone/>
                      </a:pPr>
                      <a:r>
                        <a:rPr sz="1100" b="1">
                          <a:solidFill>
                            <a:srgbClr val="FFFFFF"/>
                          </a:solidFill>
                          <a:latin typeface="Helvetica"/>
                        </a:rPr>
                        <a:t>Multiplié par</a:t>
                      </a:r>
                    </a:p>
                  </a:txBody>
                  <a:tcPr marL="43200" marR="43200" marT="14400" marB="14400" anchor="ctr">
                    <a:solidFill>
                      <a:srgbClr val="060606"/>
                    </a:solidFill>
                  </a:tcPr>
                </a:tc>
                <a:tc>
                  <a:txBody>
                    <a:bodyPr/>
                    <a:lstStyle/>
                    <a:p>
                      <a:pPr marL="0" indent="0" lvl="0">
                        <a:buNone/>
                      </a:pPr>
                      <a:r>
                        <a:rPr sz="1100" b="1">
                          <a:solidFill>
                            <a:srgbClr val="FFFFFF"/>
                          </a:solidFill>
                          <a:latin typeface="Helvetica"/>
                        </a:rPr>
                        <a:t>TCAM</a:t>
                      </a:r>
                    </a:p>
                  </a:txBody>
                  <a:tcPr marL="43200" marR="43200" marT="14400" marB="14400" anchor="ctr">
                    <a:solidFill>
                      <a:srgbClr val="060606"/>
                    </a:solidFill>
                  </a:tcPr>
                </a:tc>
              </a:tr>
              <a:tr h="225250">
                <a:tc>
                  <a:txBody>
                    <a:bodyPr/>
                    <a:lstStyle/>
                    <a:p>
                      <a:pPr marL="0" indent="0" lvl="0">
                        <a:buNone/>
                      </a:pPr>
                      <a:r>
                        <a:rPr sz="1100" b="1">
                          <a:solidFill>
                            <a:srgbClr val="060606"/>
                          </a:solidFill>
                          <a:latin typeface="Helvetica"/>
                        </a:rPr>
                        <a:t>Cotisations maladie et décès</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2020 à 2025</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2 344 618 501 FCFA</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3 417 551 722 FCFA</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1,46</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7,83 %</a:t>
                      </a:r>
                    </a:p>
                  </a:txBody>
                  <a:tcPr marL="43200" marR="43200" marT="14400" marB="14400" anchor="ctr">
                    <a:solidFill>
                      <a:srgbClr val="FFFFFF"/>
                    </a:solidFill>
                  </a:tcPr>
                </a:tc>
              </a:tr>
              <a:tr h="225250">
                <a:tc>
                  <a:txBody>
                    <a:bodyPr/>
                    <a:lstStyle/>
                    <a:p>
                      <a:pPr marL="0" indent="0" lvl="0">
                        <a:buNone/>
                      </a:pPr>
                      <a:r>
                        <a:rPr sz="1100" b="1">
                          <a:solidFill>
                            <a:srgbClr val="060606"/>
                          </a:solidFill>
                          <a:latin typeface="Helvetica"/>
                        </a:rPr>
                        <a:t>Prestations maladie</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2021 à 2025</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101 453 171 FCFA</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1 771 635 361 FCFA</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17,46</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104,42 %</a:t>
                      </a:r>
                    </a:p>
                  </a:txBody>
                  <a:tcPr marL="43200" marR="43200" marT="14400" marB="14400" anchor="ctr">
                    <a:solidFill>
                      <a:srgbClr val="F2F2F2"/>
                    </a:solidFill>
                  </a:tcPr>
                </a:tc>
              </a:tr>
              <a:tr h="225250">
                <a:tc>
                  <a:txBody>
                    <a:bodyPr/>
                    <a:lstStyle/>
                    <a:p>
                      <a:pPr marL="0" indent="0" lvl="0">
                        <a:buNone/>
                      </a:pPr>
                      <a:r>
                        <a:rPr sz="1100" b="1">
                          <a:solidFill>
                            <a:srgbClr val="060606"/>
                          </a:solidFill>
                          <a:latin typeface="Helvetica"/>
                        </a:rPr>
                        <a:t>Épargne PEP et EFC (passif)</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2020 à 2025</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10 828 205 640 FCFA</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13 814 066 964 FCFA</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1,28</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4,99 %</a:t>
                      </a:r>
                    </a:p>
                  </a:txBody>
                  <a:tcPr marL="43200" marR="43200" marT="14400" marB="14400" anchor="ctr">
                    <a:solidFill>
                      <a:srgbClr val="FFFFFF"/>
                    </a:solidFill>
                  </a:tcPr>
                </a:tc>
              </a:tr>
              <a:tr h="392901">
                <a:tc>
                  <a:txBody>
                    <a:bodyPr/>
                    <a:lstStyle/>
                    <a:p>
                      <a:pPr marL="0" indent="0" lvl="0">
                        <a:buNone/>
                      </a:pPr>
                      <a:r>
                        <a:rPr sz="1100" b="1">
                          <a:solidFill>
                            <a:srgbClr val="060606"/>
                          </a:solidFill>
                          <a:latin typeface="Helvetica"/>
                        </a:rPr>
                        <a:t>Encours des prêts du Grenier</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31/12/2022 à 31/12/2025</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182 555 907 FCFA</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829 623 319 FCFA</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4,54</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65,64 %</a:t>
                      </a:r>
                    </a:p>
                  </a:txBody>
                  <a:tcPr marL="43200" marR="43200" marT="14400" marB="14400" anchor="ctr">
                    <a:solidFill>
                      <a:srgbClr val="F2F2F2"/>
                    </a:solidFill>
                  </a:tcPr>
                </a:tc>
              </a:tr>
              <a:tr h="225250">
                <a:tc>
                  <a:txBody>
                    <a:bodyPr/>
                    <a:lstStyle/>
                    <a:p>
                      <a:pPr marL="0" indent="0" lvl="0">
                        <a:buNone/>
                      </a:pPr>
                      <a:r>
                        <a:rPr sz="1100" b="1">
                          <a:solidFill>
                            <a:srgbClr val="060606"/>
                          </a:solidFill>
                          <a:latin typeface="Helvetica"/>
                        </a:rPr>
                        <a:t>Production de prêts du Grenier</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2022 à 2025</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269 775 100 FCFA</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1 609 400 144 FCFA</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5,97</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81,37 %</a:t>
                      </a:r>
                    </a:p>
                  </a:txBody>
                  <a:tcPr marL="43200" marR="43200" marT="14400" marB="14400" anchor="ctr">
                    <a:solidFill>
                      <a:srgbClr val="FFFFFF"/>
                    </a:solidFill>
                  </a:tcPr>
                </a:tc>
              </a:tr>
              <a:tr h="392901">
                <a:tc>
                  <a:txBody>
                    <a:bodyPr/>
                    <a:lstStyle/>
                    <a:p>
                      <a:pPr marL="0" indent="0" lvl="0">
                        <a:buNone/>
                      </a:pPr>
                      <a:r>
                        <a:rPr sz="1100" b="1">
                          <a:solidFill>
                            <a:srgbClr val="060606"/>
                          </a:solidFill>
                          <a:latin typeface="Helvetica"/>
                        </a:rPr>
                        <a:t>Cotisants actifs (maladie 936)</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janv. 2024 à août 2026</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23 119</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31 198</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1,35</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12,30 %</a:t>
                      </a:r>
                    </a:p>
                  </a:txBody>
                  <a:tcPr marL="43200" marR="43200" marT="14400" marB="14400" anchor="ctr">
                    <a:solidFill>
                      <a:srgbClr val="F2F2F2"/>
                    </a:solidFill>
                  </a:tcPr>
                </a:tc>
              </a:tr>
              <a:tr h="225250">
                <a:tc>
                  <a:txBody>
                    <a:bodyPr/>
                    <a:lstStyle/>
                    <a:p>
                      <a:pPr marL="0" indent="0" lvl="0">
                        <a:buNone/>
                      </a:pPr>
                      <a:r>
                        <a:rPr sz="1100" b="1">
                          <a:solidFill>
                            <a:srgbClr val="060606"/>
                          </a:solidFill>
                          <a:latin typeface="Helvetica"/>
                        </a:rPr>
                        <a:t>Investissements au CMP</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2020 à 2025</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2 984 680 712 FCFA</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6 002 976 947 FCFA</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2,01</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15,00 %</a:t>
                      </a:r>
                    </a:p>
                  </a:txBody>
                  <a:tcPr marL="43200" marR="43200" marT="14400" marB="14400" anchor="ctr">
                    <a:solidFill>
                      <a:srgbClr val="FFFFFF"/>
                    </a:solidFill>
                  </a:tcPr>
                </a:tc>
              </a:tr>
            </a:tbl>
          </a:graphicData>
        </a:graphic>
      </p:graphicFrame>
      <p:sp>
        <p:nvSpPr>
          <p:cNvPr id="33" name="TextBox 32"/>
          <p:cNvSpPr txBox="1"/>
          <p:nvPr/>
        </p:nvSpPr>
        <p:spPr>
          <a:xfrm>
            <a:off x="503999" y="3901305"/>
            <a:ext cx="11232000" cy="1966694"/>
          </a:xfrm>
          <a:prstGeom prst="rect">
            <a:avLst/>
          </a:prstGeom>
          <a:noFill/>
        </p:spPr>
        <p:txBody>
          <a:bodyPr wrap="square" lIns="54000" rIns="54000"/>
          <a:lstStyle/>
          <a:p>
            <a:pPr algn="just">
              <a:spcAft>
                <a:spcPts val="600"/>
              </a:spcAft>
            </a:pPr>
            <a:r>
              <a:rPr sz="1300" b="1">
                <a:solidFill>
                  <a:srgbClr val="060606"/>
                </a:solidFill>
                <a:latin typeface="Helvetica"/>
              </a:rPr>
              <a:t>Les prestations maladie et l'encours du Grenier croissent bien plus vite que les cotisations et les effectifs.</a:t>
            </a:r>
            <a:r>
              <a:rPr sz="1300" b="0">
                <a:solidFill>
                  <a:srgbClr val="060606"/>
                </a:solidFill>
                <a:latin typeface="Helvetica"/>
              </a:rPr>
              <a:t> Les ressources ne suivent pas le rythme des emplois.</a:t>
            </a:r>
          </a:p>
          <a:p>
            <a:pPr algn="just">
              <a:spcAft>
                <a:spcPts val="600"/>
              </a:spcAft>
            </a:pPr>
            <a:r>
              <a:rPr sz="1300" b="1">
                <a:solidFill>
                  <a:srgbClr val="060606"/>
                </a:solidFill>
                <a:latin typeface="Helvetica"/>
              </a:rPr>
              <a:t>Implication pour le FPPN.</a:t>
            </a:r>
            <a:r>
              <a:rPr sz="1300" b="0">
                <a:solidFill>
                  <a:srgbClr val="060606"/>
                </a:solidFill>
                <a:latin typeface="Helvetica"/>
              </a:rPr>
              <a:t> Un écart durable entre la croissance des prestations et celle des cotisations conduit mécaniquement à un déficit technique : la projection devra en fixer l'horizon.</a:t>
            </a:r>
          </a:p>
        </p:txBody>
      </p:sp>
      <p:sp>
        <p:nvSpPr>
          <p:cNvPr id="34" name="TextBox 33"/>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CGRAE : Caisse générale de retraite des agents de l'État | PEP : Plan Épargne Plus | EFC : entraide fin de carrière | CMP : sigle des comptes du FPPN, signification à confirmer | TCAM : taux de croissance annuel moyen | 936 : poste maladie</a:t>
            </a:r>
          </a:p>
        </p:txBody>
      </p:sp>
    </p:spTree>
    <p:extLst>
      <p:ext uri="{BB962C8B-B14F-4D97-AF65-F5344CB8AC3E}">
        <p14:creationId xmlns:p14="http://schemas.microsoft.com/office/powerpoint/2010/main" val="2844938840"/>
      </p:ext>
    </p:extLst>
  </p:cSld>
  <p:clrMapOvr>
    <a:masterClrMapping/>
  </p:clrMapOvr>
  <p:transition>
    <p:fade/>
  </p:transition>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Prestations maladie par nature</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Plus de la moitié des prestations maladie est enregistrée sans détail de nature</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En 2025, le compte global porte 995 311 355 FCFA sur 1 771 635 361 FCFA</a:t>
            </a:r>
          </a:p>
        </p:txBody>
      </p:sp>
      <p:sp>
        <p:nvSpPr>
          <p:cNvPr id="30" name="TextBox 29"/>
          <p:cNvSpPr txBox="1"/>
          <p:nvPr/>
        </p:nvSpPr>
        <p:spPr>
          <a:xfrm>
            <a:off x="503999" y="1386000"/>
            <a:ext cx="6552000" cy="251999"/>
          </a:xfrm>
          <a:prstGeom prst="rect">
            <a:avLst/>
          </a:prstGeom>
          <a:noFill/>
        </p:spPr>
        <p:txBody>
          <a:bodyPr wrap="square">
            <a:spAutoFit/>
          </a:bodyPr>
          <a:lstStyle/>
          <a:p>
            <a:pPr algn="ctr">
              <a:spcAft>
                <a:spcPts val="0"/>
              </a:spcAft>
            </a:pPr>
            <a:r>
              <a:rPr sz="1200" b="0">
                <a:solidFill>
                  <a:srgbClr val="EFAC62"/>
                </a:solidFill>
                <a:latin typeface="Helvetica"/>
              </a:rPr>
              <a:t>Figure 16 : Prestations maladie comptabilisées par nature</a:t>
            </a:r>
          </a:p>
        </p:txBody>
      </p:sp>
      <p:sp>
        <p:nvSpPr>
          <p:cNvPr id="31" name="TextBox 30"/>
          <p:cNvSpPr txBox="1"/>
          <p:nvPr/>
        </p:nvSpPr>
        <p:spPr>
          <a:xfrm>
            <a:off x="503999" y="1602000"/>
            <a:ext cx="6552000" cy="162000"/>
          </a:xfrm>
          <a:prstGeom prst="rect">
            <a:avLst/>
          </a:prstGeom>
          <a:noFill/>
        </p:spPr>
        <p:txBody>
          <a:bodyPr wrap="square">
            <a:spAutoFit/>
          </a:bodyPr>
          <a:lstStyle/>
          <a:p>
            <a:pPr algn="l">
              <a:spcAft>
                <a:spcPts val="0"/>
              </a:spcAft>
            </a:pPr>
            <a:r>
              <a:rPr sz="900" b="0">
                <a:solidFill>
                  <a:srgbClr val="060606"/>
                </a:solidFill>
                <a:latin typeface="Helvetica"/>
              </a:rPr>
              <a:t>En millions de FCFA</a:t>
            </a:r>
          </a:p>
        </p:txBody>
      </p:sp>
      <p:graphicFrame>
        <p:nvGraphicFramePr>
          <p:cNvPr id="32" name="Chart 31"/>
          <p:cNvGraphicFramePr>
            <a:graphicFrameLocks noGrp="1"/>
          </p:cNvGraphicFramePr>
          <p:nvPr/>
        </p:nvGraphicFramePr>
        <p:xfrm>
          <a:off x="503999" y="1782000"/>
          <a:ext cx="6552000" cy="4086000"/>
        </p:xfrm>
        <a:graphic>
          <a:graphicData uri="http://schemas.openxmlformats.org/drawingml/2006/chart">
            <c:chart xmlns:c="http://schemas.openxmlformats.org/drawingml/2006/chart" r:id="rId6"/>
          </a:graphicData>
        </a:graphic>
      </p:graphicFrame>
      <p:sp>
        <p:nvSpPr>
          <p:cNvPr id="33"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balances des comptes du FPPN (Sage 100), exercices 2020 à 2025 et du 01/01 au 31/08/2026 (provisoire). Traitements Adenka</a:t>
            </a:r>
          </a:p>
        </p:txBody>
      </p:sp>
      <p:sp>
        <p:nvSpPr>
          <p:cNvPr id="34" name="TextBox 33"/>
          <p:cNvSpPr txBox="1"/>
          <p:nvPr/>
        </p:nvSpPr>
        <p:spPr>
          <a:xfrm>
            <a:off x="7272000" y="1440000"/>
            <a:ext cx="4464000" cy="4428000"/>
          </a:xfrm>
          <a:prstGeom prst="rect">
            <a:avLst/>
          </a:prstGeom>
          <a:noFill/>
        </p:spPr>
        <p:txBody>
          <a:bodyPr wrap="square" lIns="54000" rIns="54000"/>
          <a:lstStyle/>
          <a:p>
            <a:pPr algn="just">
              <a:spcAft>
                <a:spcPts val="600"/>
              </a:spcAft>
            </a:pPr>
            <a:r>
              <a:rPr sz="1400" b="1">
                <a:solidFill>
                  <a:srgbClr val="060606"/>
                </a:solidFill>
                <a:latin typeface="Helvetica"/>
              </a:rPr>
              <a:t>Les prestations maladie passent de 101 453 171 FCFA en 2021 à 1 771 635 361 FCFA en 2025.</a:t>
            </a:r>
          </a:p>
          <a:p>
            <a:pPr algn="just">
              <a:spcAft>
                <a:spcPts val="600"/>
              </a:spcAft>
            </a:pPr>
            <a:r>
              <a:rPr sz="1400" b="1">
                <a:solidFill>
                  <a:srgbClr val="060606"/>
                </a:solidFill>
                <a:latin typeface="Helvetica"/>
              </a:rPr>
              <a:t>Imagerie, analyses et consultations représentent 37,13 % des prestations de 2025.</a:t>
            </a:r>
            <a:r>
              <a:rPr sz="1400" b="0">
                <a:solidFill>
                  <a:srgbClr val="060606"/>
                </a:solidFill>
                <a:latin typeface="Helvetica"/>
              </a:rPr>
              <a:t> Ce sont les natures détaillées qui progressent le plus.</a:t>
            </a:r>
          </a:p>
          <a:p>
            <a:pPr algn="just">
              <a:spcAft>
                <a:spcPts val="600"/>
              </a:spcAft>
            </a:pPr>
            <a:r>
              <a:rPr sz="1400" b="1">
                <a:solidFill>
                  <a:srgbClr val="060606"/>
                </a:solidFill>
                <a:latin typeface="Helvetica"/>
              </a:rPr>
              <a:t>Le compte global empêche le suivi par type de soins et par prestataire.</a:t>
            </a:r>
          </a:p>
          <a:p>
            <a:pPr algn="just">
              <a:spcAft>
                <a:spcPts val="600"/>
              </a:spcAft>
            </a:pPr>
            <a:r>
              <a:rPr sz="1400" b="1">
                <a:solidFill>
                  <a:srgbClr val="060606"/>
                </a:solidFill>
                <a:latin typeface="Helvetica"/>
              </a:rPr>
              <a:t>Implication pour le FPPN.</a:t>
            </a:r>
            <a:r>
              <a:rPr sz="1400" b="0">
                <a:solidFill>
                  <a:srgbClr val="060606"/>
                </a:solidFill>
                <a:latin typeface="Helvetica"/>
              </a:rPr>
              <a:t> Sans détail par nature et par prestataire, le FPPN ne peut ni négocier ses tarifs, ni repérer les abus, ni calculer le taux de prestations indues exigé par la Décision n° 05/2022.</a:t>
            </a:r>
          </a:p>
        </p:txBody>
      </p:sp>
      <p:sp>
        <p:nvSpPr>
          <p:cNvPr id="35" name="TextBox 34"/>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a:t>
            </a:r>
          </a:p>
        </p:txBody>
      </p:sp>
    </p:spTree>
    <p:extLst>
      <p:ext uri="{BB962C8B-B14F-4D97-AF65-F5344CB8AC3E}">
        <p14:creationId xmlns:p14="http://schemas.microsoft.com/office/powerpoint/2010/main" val="142067030"/>
      </p:ext>
    </p:extLst>
  </p:cSld>
  <p:clrMapOvr>
    <a:masterClrMapping/>
  </p:clrMapOvr>
  <p:transition>
    <p:fade/>
  </p:transition>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Frais de gestion et résultat</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Les excédents se réduisent et deviennent un déficit en 2026</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Résultat net : 1 018 579 699 FCFA en 2020, 437 899 911 FCFA en 2025, -441 256 500 FCFA sur huit mois de 2026</a:t>
            </a:r>
          </a:p>
        </p:txBody>
      </p:sp>
      <p:sp>
        <p:nvSpPr>
          <p:cNvPr id="30" name="TextBox 29"/>
          <p:cNvSpPr txBox="1"/>
          <p:nvPr/>
        </p:nvSpPr>
        <p:spPr>
          <a:xfrm>
            <a:off x="503999" y="1386000"/>
            <a:ext cx="6552000" cy="251999"/>
          </a:xfrm>
          <a:prstGeom prst="rect">
            <a:avLst/>
          </a:prstGeom>
          <a:noFill/>
        </p:spPr>
        <p:txBody>
          <a:bodyPr wrap="square">
            <a:spAutoFit/>
          </a:bodyPr>
          <a:lstStyle/>
          <a:p>
            <a:pPr algn="ctr">
              <a:spcAft>
                <a:spcPts val="0"/>
              </a:spcAft>
            </a:pPr>
            <a:r>
              <a:rPr sz="1200" b="0">
                <a:solidFill>
                  <a:srgbClr val="EFAC62"/>
                </a:solidFill>
                <a:latin typeface="Helvetica"/>
              </a:rPr>
              <a:t>Figure 17 : Frais de gestion et résultat net</a:t>
            </a:r>
          </a:p>
        </p:txBody>
      </p:sp>
      <p:sp>
        <p:nvSpPr>
          <p:cNvPr id="31" name="TextBox 30"/>
          <p:cNvSpPr txBox="1"/>
          <p:nvPr/>
        </p:nvSpPr>
        <p:spPr>
          <a:xfrm>
            <a:off x="503999" y="1602000"/>
            <a:ext cx="6552000" cy="162000"/>
          </a:xfrm>
          <a:prstGeom prst="rect">
            <a:avLst/>
          </a:prstGeom>
          <a:noFill/>
        </p:spPr>
        <p:txBody>
          <a:bodyPr wrap="square">
            <a:spAutoFit/>
          </a:bodyPr>
          <a:lstStyle/>
          <a:p>
            <a:pPr algn="l">
              <a:spcAft>
                <a:spcPts val="0"/>
              </a:spcAft>
            </a:pPr>
            <a:r>
              <a:rPr sz="900" b="0">
                <a:solidFill>
                  <a:srgbClr val="060606"/>
                </a:solidFill>
                <a:latin typeface="Helvetica"/>
              </a:rPr>
              <a:t>En millions de FCFA</a:t>
            </a:r>
          </a:p>
        </p:txBody>
      </p:sp>
      <p:graphicFrame>
        <p:nvGraphicFramePr>
          <p:cNvPr id="32" name="Chart 31"/>
          <p:cNvGraphicFramePr>
            <a:graphicFrameLocks noGrp="1"/>
          </p:cNvGraphicFramePr>
          <p:nvPr/>
        </p:nvGraphicFramePr>
        <p:xfrm>
          <a:off x="503999" y="1782000"/>
          <a:ext cx="6552000" cy="4086000"/>
        </p:xfrm>
        <a:graphic>
          <a:graphicData uri="http://schemas.openxmlformats.org/drawingml/2006/chart">
            <c:chart xmlns:c="http://schemas.openxmlformats.org/drawingml/2006/chart" r:id="rId6"/>
          </a:graphicData>
        </a:graphic>
      </p:graphicFrame>
      <p:sp>
        <p:nvSpPr>
          <p:cNvPr id="33"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balances des comptes du FPPN (Sage 100), exercices 2020 à 2025 et du 01/01 au 31/08/2026 (provisoire). Traitements Adenka</a:t>
            </a:r>
          </a:p>
        </p:txBody>
      </p:sp>
      <p:sp>
        <p:nvSpPr>
          <p:cNvPr id="34" name="TextBox 33"/>
          <p:cNvSpPr txBox="1"/>
          <p:nvPr/>
        </p:nvSpPr>
        <p:spPr>
          <a:xfrm>
            <a:off x="7272000" y="1440000"/>
            <a:ext cx="4464000" cy="4428000"/>
          </a:xfrm>
          <a:prstGeom prst="rect">
            <a:avLst/>
          </a:prstGeom>
          <a:noFill/>
        </p:spPr>
        <p:txBody>
          <a:bodyPr wrap="square" lIns="54000" rIns="54000"/>
          <a:lstStyle/>
          <a:p>
            <a:pPr algn="just">
              <a:spcAft>
                <a:spcPts val="600"/>
              </a:spcAft>
            </a:pPr>
            <a:r>
              <a:rPr sz="1400" b="1">
                <a:solidFill>
                  <a:srgbClr val="060606"/>
                </a:solidFill>
                <a:latin typeface="Helvetica"/>
              </a:rPr>
              <a:t>Les frais de gestion pèsent entre 31,46 % et 40,11 % des cotisations depuis 2021.</a:t>
            </a:r>
            <a:r>
              <a:rPr sz="1400" b="0">
                <a:solidFill>
                  <a:srgbClr val="060606"/>
                </a:solidFill>
                <a:latin typeface="Helvetica"/>
              </a:rPr>
              <a:t> La Décision n° 05/2022 limite les charges de fonctionnement à 20 % des cotisations.</a:t>
            </a:r>
          </a:p>
          <a:p>
            <a:pPr algn="just">
              <a:spcAft>
                <a:spcPts val="600"/>
              </a:spcAft>
            </a:pPr>
            <a:r>
              <a:rPr sz="1400" b="1">
                <a:solidFill>
                  <a:srgbClr val="060606"/>
                </a:solidFill>
                <a:latin typeface="Helvetica"/>
              </a:rPr>
              <a:t>Le résultat baisse depuis 2021.</a:t>
            </a:r>
            <a:r>
              <a:rPr sz="1400" b="0">
                <a:solidFill>
                  <a:srgbClr val="060606"/>
                </a:solidFill>
                <a:latin typeface="Helvetica"/>
              </a:rPr>
              <a:t> Il passe de 2 083 908 202 FCFA à 437 899 911 FCFA en 2025.</a:t>
            </a:r>
          </a:p>
          <a:p>
            <a:pPr algn="just">
              <a:spcAft>
                <a:spcPts val="600"/>
              </a:spcAft>
            </a:pPr>
            <a:r>
              <a:rPr sz="1400" b="1">
                <a:solidFill>
                  <a:srgbClr val="060606"/>
                </a:solidFill>
                <a:latin typeface="Helvetica"/>
              </a:rPr>
              <a:t>Les huit premiers mois de 2026 sont déficitaires</a:t>
            </a:r>
            <a:r>
              <a:rPr sz="1400" b="0">
                <a:solidFill>
                  <a:srgbClr val="060606"/>
                </a:solidFill>
                <a:latin typeface="Helvetica"/>
              </a:rPr>
              <a:t>, avant même les écritures de fin d'année.</a:t>
            </a:r>
          </a:p>
          <a:p>
            <a:pPr algn="just">
              <a:spcAft>
                <a:spcPts val="600"/>
              </a:spcAft>
            </a:pPr>
            <a:r>
              <a:rPr sz="1400" b="1">
                <a:solidFill>
                  <a:srgbClr val="060606"/>
                </a:solidFill>
                <a:latin typeface="Helvetica"/>
              </a:rPr>
              <a:t>Implication pour le FPPN.</a:t>
            </a:r>
            <a:r>
              <a:rPr sz="1400" b="0">
                <a:solidFill>
                  <a:srgbClr val="060606"/>
                </a:solidFill>
                <a:latin typeface="Helvetica"/>
              </a:rPr>
              <a:t> Les frais pèsent presque deux fois la norme réglementaire. Leur réduction est le levier le plus direct pour restaurer l'excédent pendant que la sinistralité monte.</a:t>
            </a:r>
          </a:p>
        </p:txBody>
      </p:sp>
      <p:sp>
        <p:nvSpPr>
          <p:cNvPr id="35" name="TextBox 34"/>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a:t>
            </a:r>
          </a:p>
        </p:txBody>
      </p:sp>
    </p:spTree>
    <p:extLst>
      <p:ext uri="{BB962C8B-B14F-4D97-AF65-F5344CB8AC3E}">
        <p14:creationId xmlns:p14="http://schemas.microsoft.com/office/powerpoint/2010/main" val="3627504745"/>
      </p:ext>
    </p:extLst>
  </p:cSld>
  <p:clrMapOvr>
    <a:masterClrMapping/>
  </p:clrMapOvr>
  <p:transition>
    <p:fade/>
  </p:transition>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6" name="Image 25"/>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30" name="ZoneTexte 29">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9" name="Google Shape;7386;p39"/>
          <p:cNvSpPr/>
          <p:nvPr/>
        </p:nvSpPr>
        <p:spPr>
          <a:xfrm rot="10800000">
            <a:off x="1748072" y="1436295"/>
            <a:ext cx="3625790" cy="329031"/>
          </a:xfrm>
          <a:custGeom>
            <a:avLst/>
            <a:gdLst/>
            <a:ahLst/>
            <a:cxnLst/>
            <a:rect l="l" t="t" r="r" b="b"/>
            <a:pathLst>
              <a:path w="40007" h="30221" extrusionOk="0">
                <a:moveTo>
                  <a:pt x="19007" y="1"/>
                </a:moveTo>
                <a:cubicBezTo>
                  <a:pt x="17909" y="1"/>
                  <a:pt x="16810" y="17"/>
                  <a:pt x="15708" y="53"/>
                </a:cubicBezTo>
                <a:cubicBezTo>
                  <a:pt x="13270" y="131"/>
                  <a:pt x="10885" y="275"/>
                  <a:pt x="8512" y="548"/>
                </a:cubicBezTo>
                <a:cubicBezTo>
                  <a:pt x="6088" y="835"/>
                  <a:pt x="4524" y="1500"/>
                  <a:pt x="4041" y="2712"/>
                </a:cubicBezTo>
                <a:cubicBezTo>
                  <a:pt x="4015" y="2777"/>
                  <a:pt x="3976" y="2843"/>
                  <a:pt x="3937" y="2908"/>
                </a:cubicBezTo>
                <a:cubicBezTo>
                  <a:pt x="2777" y="4902"/>
                  <a:pt x="2282" y="6949"/>
                  <a:pt x="1734" y="8995"/>
                </a:cubicBezTo>
                <a:cubicBezTo>
                  <a:pt x="1160" y="11120"/>
                  <a:pt x="613" y="13232"/>
                  <a:pt x="391" y="15357"/>
                </a:cubicBezTo>
                <a:cubicBezTo>
                  <a:pt x="183" y="17325"/>
                  <a:pt x="0" y="19293"/>
                  <a:pt x="79" y="21092"/>
                </a:cubicBezTo>
                <a:cubicBezTo>
                  <a:pt x="52" y="23074"/>
                  <a:pt x="144" y="24899"/>
                  <a:pt x="365" y="26710"/>
                </a:cubicBezTo>
                <a:cubicBezTo>
                  <a:pt x="522" y="28079"/>
                  <a:pt x="1721" y="29096"/>
                  <a:pt x="4419" y="29656"/>
                </a:cubicBezTo>
                <a:cubicBezTo>
                  <a:pt x="6296" y="30048"/>
                  <a:pt x="8265" y="30178"/>
                  <a:pt x="10259" y="30204"/>
                </a:cubicBezTo>
                <a:cubicBezTo>
                  <a:pt x="11143" y="30216"/>
                  <a:pt x="12026" y="30220"/>
                  <a:pt x="12908" y="30220"/>
                </a:cubicBezTo>
                <a:cubicBezTo>
                  <a:pt x="15996" y="30220"/>
                  <a:pt x="19078" y="30165"/>
                  <a:pt x="22161" y="30165"/>
                </a:cubicBezTo>
                <a:cubicBezTo>
                  <a:pt x="24859" y="30165"/>
                  <a:pt x="27557" y="30204"/>
                  <a:pt x="30243" y="30204"/>
                </a:cubicBezTo>
                <a:cubicBezTo>
                  <a:pt x="31690" y="30191"/>
                  <a:pt x="33123" y="30113"/>
                  <a:pt x="34505" y="29852"/>
                </a:cubicBezTo>
                <a:cubicBezTo>
                  <a:pt x="35470" y="29683"/>
                  <a:pt x="36330" y="29435"/>
                  <a:pt x="36917" y="29005"/>
                </a:cubicBezTo>
                <a:cubicBezTo>
                  <a:pt x="37881" y="28288"/>
                  <a:pt x="38677" y="27519"/>
                  <a:pt x="39120" y="26684"/>
                </a:cubicBezTo>
                <a:cubicBezTo>
                  <a:pt x="39732" y="25485"/>
                  <a:pt x="39954" y="24260"/>
                  <a:pt x="39954" y="23021"/>
                </a:cubicBezTo>
                <a:cubicBezTo>
                  <a:pt x="39954" y="19372"/>
                  <a:pt x="40006" y="15709"/>
                  <a:pt x="39563" y="12059"/>
                </a:cubicBezTo>
                <a:cubicBezTo>
                  <a:pt x="39367" y="10403"/>
                  <a:pt x="39485" y="8748"/>
                  <a:pt x="39237" y="7105"/>
                </a:cubicBezTo>
                <a:cubicBezTo>
                  <a:pt x="39068" y="6023"/>
                  <a:pt x="38794" y="4941"/>
                  <a:pt x="37920" y="3938"/>
                </a:cubicBezTo>
                <a:cubicBezTo>
                  <a:pt x="37282" y="3208"/>
                  <a:pt x="36773" y="2438"/>
                  <a:pt x="35665" y="1826"/>
                </a:cubicBezTo>
                <a:cubicBezTo>
                  <a:pt x="34192" y="1031"/>
                  <a:pt x="32237" y="666"/>
                  <a:pt x="30138" y="496"/>
                </a:cubicBezTo>
                <a:cubicBezTo>
                  <a:pt x="26451" y="194"/>
                  <a:pt x="22741" y="1"/>
                  <a:pt x="19007" y="1"/>
                </a:cubicBezTo>
                <a:close/>
              </a:path>
            </a:pathLst>
          </a:custGeom>
          <a:solidFill>
            <a:srgbClr val="112A40"/>
          </a:solidFill>
          <a:ln>
            <a:noFill/>
          </a:ln>
          <a:effectLst>
            <a:outerShdw blurRad="57150" dist="9525" algn="bl" rotWithShape="0">
              <a:srgbClr val="000000"/>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lang="fr-CI" noProof="0"/>
          </a:p>
        </p:txBody>
      </p:sp>
      <p:sp>
        <p:nvSpPr>
          <p:cNvPr id="10" name="Google Shape;7367;p39"/>
          <p:cNvSpPr/>
          <p:nvPr/>
        </p:nvSpPr>
        <p:spPr>
          <a:xfrm rot="16200000">
            <a:off x="2201124" y="215006"/>
            <a:ext cx="2027916" cy="4306666"/>
          </a:xfrm>
          <a:custGeom>
            <a:avLst/>
            <a:gdLst/>
            <a:ahLst/>
            <a:cxnLst/>
            <a:rect l="l" t="t" r="r" b="b"/>
            <a:pathLst>
              <a:path w="25081" h="54128" extrusionOk="0">
                <a:moveTo>
                  <a:pt x="19843" y="0"/>
                </a:moveTo>
                <a:cubicBezTo>
                  <a:pt x="19654" y="0"/>
                  <a:pt x="19462" y="7"/>
                  <a:pt x="19267" y="21"/>
                </a:cubicBezTo>
                <a:cubicBezTo>
                  <a:pt x="17781" y="125"/>
                  <a:pt x="16282" y="99"/>
                  <a:pt x="14796" y="112"/>
                </a:cubicBezTo>
                <a:cubicBezTo>
                  <a:pt x="13909" y="125"/>
                  <a:pt x="13010" y="112"/>
                  <a:pt x="12123" y="177"/>
                </a:cubicBezTo>
                <a:cubicBezTo>
                  <a:pt x="10272" y="333"/>
                  <a:pt x="8421" y="503"/>
                  <a:pt x="6570" y="633"/>
                </a:cubicBezTo>
                <a:cubicBezTo>
                  <a:pt x="5267" y="738"/>
                  <a:pt x="3989" y="933"/>
                  <a:pt x="2764" y="1259"/>
                </a:cubicBezTo>
                <a:cubicBezTo>
                  <a:pt x="1943" y="1481"/>
                  <a:pt x="1408" y="1872"/>
                  <a:pt x="1226" y="2471"/>
                </a:cubicBezTo>
                <a:cubicBezTo>
                  <a:pt x="991" y="3292"/>
                  <a:pt x="861" y="4140"/>
                  <a:pt x="965" y="4974"/>
                </a:cubicBezTo>
                <a:cubicBezTo>
                  <a:pt x="991" y="5248"/>
                  <a:pt x="1030" y="5508"/>
                  <a:pt x="991" y="5782"/>
                </a:cubicBezTo>
                <a:cubicBezTo>
                  <a:pt x="835" y="6877"/>
                  <a:pt x="678" y="7972"/>
                  <a:pt x="587" y="9067"/>
                </a:cubicBezTo>
                <a:cubicBezTo>
                  <a:pt x="470" y="10488"/>
                  <a:pt x="378" y="11896"/>
                  <a:pt x="300" y="13317"/>
                </a:cubicBezTo>
                <a:cubicBezTo>
                  <a:pt x="274" y="13825"/>
                  <a:pt x="352" y="14333"/>
                  <a:pt x="339" y="14829"/>
                </a:cubicBezTo>
                <a:cubicBezTo>
                  <a:pt x="313" y="15820"/>
                  <a:pt x="157" y="16797"/>
                  <a:pt x="118" y="17775"/>
                </a:cubicBezTo>
                <a:cubicBezTo>
                  <a:pt x="53" y="19391"/>
                  <a:pt x="0" y="21008"/>
                  <a:pt x="40" y="22624"/>
                </a:cubicBezTo>
                <a:cubicBezTo>
                  <a:pt x="66" y="24149"/>
                  <a:pt x="157" y="25661"/>
                  <a:pt x="144" y="27173"/>
                </a:cubicBezTo>
                <a:cubicBezTo>
                  <a:pt x="131" y="28646"/>
                  <a:pt x="105" y="30132"/>
                  <a:pt x="131" y="31605"/>
                </a:cubicBezTo>
                <a:cubicBezTo>
                  <a:pt x="209" y="35412"/>
                  <a:pt x="405" y="39218"/>
                  <a:pt x="274" y="43051"/>
                </a:cubicBezTo>
                <a:cubicBezTo>
                  <a:pt x="235" y="44237"/>
                  <a:pt x="287" y="45436"/>
                  <a:pt x="300" y="46622"/>
                </a:cubicBezTo>
                <a:cubicBezTo>
                  <a:pt x="300" y="46687"/>
                  <a:pt x="300" y="46753"/>
                  <a:pt x="287" y="46818"/>
                </a:cubicBezTo>
                <a:cubicBezTo>
                  <a:pt x="222" y="48004"/>
                  <a:pt x="313" y="49190"/>
                  <a:pt x="535" y="50363"/>
                </a:cubicBezTo>
                <a:cubicBezTo>
                  <a:pt x="665" y="51054"/>
                  <a:pt x="1004" y="51706"/>
                  <a:pt x="1239" y="52384"/>
                </a:cubicBezTo>
                <a:cubicBezTo>
                  <a:pt x="1486" y="53075"/>
                  <a:pt x="2164" y="53492"/>
                  <a:pt x="3129" y="53700"/>
                </a:cubicBezTo>
                <a:cubicBezTo>
                  <a:pt x="3812" y="53854"/>
                  <a:pt x="4517" y="53911"/>
                  <a:pt x="5223" y="53911"/>
                </a:cubicBezTo>
                <a:cubicBezTo>
                  <a:pt x="5299" y="53911"/>
                  <a:pt x="5374" y="53910"/>
                  <a:pt x="5449" y="53909"/>
                </a:cubicBezTo>
                <a:cubicBezTo>
                  <a:pt x="5591" y="53907"/>
                  <a:pt x="5733" y="53906"/>
                  <a:pt x="5875" y="53906"/>
                </a:cubicBezTo>
                <a:cubicBezTo>
                  <a:pt x="7594" y="53906"/>
                  <a:pt x="9293" y="54042"/>
                  <a:pt x="11015" y="54078"/>
                </a:cubicBezTo>
                <a:cubicBezTo>
                  <a:pt x="11655" y="54087"/>
                  <a:pt x="12288" y="54128"/>
                  <a:pt x="12924" y="54128"/>
                </a:cubicBezTo>
                <a:cubicBezTo>
                  <a:pt x="13273" y="54128"/>
                  <a:pt x="13623" y="54115"/>
                  <a:pt x="13974" y="54078"/>
                </a:cubicBezTo>
                <a:cubicBezTo>
                  <a:pt x="15239" y="53948"/>
                  <a:pt x="16516" y="53870"/>
                  <a:pt x="17781" y="53779"/>
                </a:cubicBezTo>
                <a:cubicBezTo>
                  <a:pt x="18850" y="53700"/>
                  <a:pt x="19919" y="53583"/>
                  <a:pt x="20961" y="53375"/>
                </a:cubicBezTo>
                <a:cubicBezTo>
                  <a:pt x="22043" y="53153"/>
                  <a:pt x="22956" y="52749"/>
                  <a:pt x="23503" y="52019"/>
                </a:cubicBezTo>
                <a:cubicBezTo>
                  <a:pt x="23855" y="51537"/>
                  <a:pt x="24142" y="51028"/>
                  <a:pt x="24233" y="50494"/>
                </a:cubicBezTo>
                <a:cubicBezTo>
                  <a:pt x="24416" y="49464"/>
                  <a:pt x="24429" y="48434"/>
                  <a:pt x="24546" y="47404"/>
                </a:cubicBezTo>
                <a:cubicBezTo>
                  <a:pt x="24690" y="45957"/>
                  <a:pt x="24768" y="44510"/>
                  <a:pt x="24833" y="43064"/>
                </a:cubicBezTo>
                <a:cubicBezTo>
                  <a:pt x="24924" y="41395"/>
                  <a:pt x="24898" y="39726"/>
                  <a:pt x="24898" y="38058"/>
                </a:cubicBezTo>
                <a:cubicBezTo>
                  <a:pt x="24885" y="36402"/>
                  <a:pt x="24794" y="34760"/>
                  <a:pt x="24794" y="33104"/>
                </a:cubicBezTo>
                <a:cubicBezTo>
                  <a:pt x="24794" y="31332"/>
                  <a:pt x="24755" y="29546"/>
                  <a:pt x="24768" y="27760"/>
                </a:cubicBezTo>
                <a:cubicBezTo>
                  <a:pt x="24794" y="26196"/>
                  <a:pt x="24807" y="24631"/>
                  <a:pt x="24846" y="23067"/>
                </a:cubicBezTo>
                <a:cubicBezTo>
                  <a:pt x="24885" y="21503"/>
                  <a:pt x="24911" y="19952"/>
                  <a:pt x="24911" y="18387"/>
                </a:cubicBezTo>
                <a:cubicBezTo>
                  <a:pt x="24911" y="16967"/>
                  <a:pt x="24937" y="15533"/>
                  <a:pt x="24989" y="14112"/>
                </a:cubicBezTo>
                <a:cubicBezTo>
                  <a:pt x="25028" y="12795"/>
                  <a:pt x="25081" y="11479"/>
                  <a:pt x="25068" y="10162"/>
                </a:cubicBezTo>
                <a:cubicBezTo>
                  <a:pt x="25068" y="8924"/>
                  <a:pt x="25002" y="7685"/>
                  <a:pt x="24963" y="6447"/>
                </a:cubicBezTo>
                <a:lnTo>
                  <a:pt x="24950" y="6447"/>
                </a:lnTo>
                <a:cubicBezTo>
                  <a:pt x="25055" y="5561"/>
                  <a:pt x="24963" y="4674"/>
                  <a:pt x="24872" y="3801"/>
                </a:cubicBezTo>
                <a:cubicBezTo>
                  <a:pt x="24807" y="3175"/>
                  <a:pt x="24664" y="2562"/>
                  <a:pt x="24403" y="1963"/>
                </a:cubicBezTo>
                <a:cubicBezTo>
                  <a:pt x="24194" y="1481"/>
                  <a:pt x="23803" y="1103"/>
                  <a:pt x="23204" y="803"/>
                </a:cubicBezTo>
                <a:cubicBezTo>
                  <a:pt x="22185" y="293"/>
                  <a:pt x="21087" y="0"/>
                  <a:pt x="19843" y="0"/>
                </a:cubicBezTo>
                <a:close/>
              </a:path>
            </a:pathLst>
          </a:custGeom>
          <a:noFill/>
          <a:ln w="19050">
            <a:solidFill>
              <a:schemeClr val="tx1"/>
            </a:solidFill>
          </a:ln>
          <a:effectLst>
            <a:outerShdw blurRad="57150" dist="9525" algn="bl" rotWithShape="0">
              <a:srgbClr val="000000"/>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lang="fr-CI" noProof="0"/>
          </a:p>
        </p:txBody>
      </p:sp>
      <p:sp>
        <p:nvSpPr>
          <p:cNvPr id="4" name="Rectangle 3"/>
          <p:cNvSpPr/>
          <p:nvPr/>
        </p:nvSpPr>
        <p:spPr>
          <a:xfrm>
            <a:off x="2946575" y="1442741"/>
            <a:ext cx="1322389" cy="295488"/>
          </a:xfrm>
          <a:prstGeom prst="rect">
            <a:avLst/>
          </a:prstGeom>
        </p:spPr>
        <p:txBody>
          <a:bodyPr wrap="none">
            <a:spAutoFit/>
          </a:bodyPr>
          <a:lstStyle/>
          <a:p>
            <a:pPr lvl="0">
              <a:lnSpc>
                <a:spcPct val="110000"/>
              </a:lnSpc>
            </a:pPr>
            <a:r>
              <a:rPr lang="fr-CI" sz="1400" b="1" noProof="0">
                <a:solidFill>
                  <a:schemeClr val="bg1"/>
                </a:solidFill>
                <a:latin typeface="Helvetica" panose="020B0604020202020204" pitchFamily="34" charset="0"/>
                <a:ea typeface="Open Sans Semibold" panose="020B0706030804020204" pitchFamily="34" charset="0"/>
                <a:cs typeface="Helvetica" panose="020B0604020202020204" pitchFamily="34" charset="0"/>
              </a:rPr>
              <a:t>Constat</a:t>
            </a:r>
          </a:p>
        </p:txBody>
      </p:sp>
      <p:sp>
        <p:nvSpPr>
          <p:cNvPr id="20" name="Google Shape;7386;p39"/>
          <p:cNvSpPr/>
          <p:nvPr/>
        </p:nvSpPr>
        <p:spPr>
          <a:xfrm rot="10800000">
            <a:off x="6372314" y="1459724"/>
            <a:ext cx="3625790" cy="329031"/>
          </a:xfrm>
          <a:custGeom>
            <a:avLst/>
            <a:gdLst/>
            <a:ahLst/>
            <a:cxnLst/>
            <a:rect l="l" t="t" r="r" b="b"/>
            <a:pathLst>
              <a:path w="40007" h="30221" extrusionOk="0">
                <a:moveTo>
                  <a:pt x="19007" y="1"/>
                </a:moveTo>
                <a:cubicBezTo>
                  <a:pt x="17909" y="1"/>
                  <a:pt x="16810" y="17"/>
                  <a:pt x="15708" y="53"/>
                </a:cubicBezTo>
                <a:cubicBezTo>
                  <a:pt x="13270" y="131"/>
                  <a:pt x="10885" y="275"/>
                  <a:pt x="8512" y="548"/>
                </a:cubicBezTo>
                <a:cubicBezTo>
                  <a:pt x="6088" y="835"/>
                  <a:pt x="4524" y="1500"/>
                  <a:pt x="4041" y="2712"/>
                </a:cubicBezTo>
                <a:cubicBezTo>
                  <a:pt x="4015" y="2777"/>
                  <a:pt x="3976" y="2843"/>
                  <a:pt x="3937" y="2908"/>
                </a:cubicBezTo>
                <a:cubicBezTo>
                  <a:pt x="2777" y="4902"/>
                  <a:pt x="2282" y="6949"/>
                  <a:pt x="1734" y="8995"/>
                </a:cubicBezTo>
                <a:cubicBezTo>
                  <a:pt x="1160" y="11120"/>
                  <a:pt x="613" y="13232"/>
                  <a:pt x="391" y="15357"/>
                </a:cubicBezTo>
                <a:cubicBezTo>
                  <a:pt x="183" y="17325"/>
                  <a:pt x="0" y="19293"/>
                  <a:pt x="79" y="21092"/>
                </a:cubicBezTo>
                <a:cubicBezTo>
                  <a:pt x="52" y="23074"/>
                  <a:pt x="144" y="24899"/>
                  <a:pt x="365" y="26710"/>
                </a:cubicBezTo>
                <a:cubicBezTo>
                  <a:pt x="522" y="28079"/>
                  <a:pt x="1721" y="29096"/>
                  <a:pt x="4419" y="29656"/>
                </a:cubicBezTo>
                <a:cubicBezTo>
                  <a:pt x="6296" y="30048"/>
                  <a:pt x="8265" y="30178"/>
                  <a:pt x="10259" y="30204"/>
                </a:cubicBezTo>
                <a:cubicBezTo>
                  <a:pt x="11143" y="30216"/>
                  <a:pt x="12026" y="30220"/>
                  <a:pt x="12908" y="30220"/>
                </a:cubicBezTo>
                <a:cubicBezTo>
                  <a:pt x="15996" y="30220"/>
                  <a:pt x="19078" y="30165"/>
                  <a:pt x="22161" y="30165"/>
                </a:cubicBezTo>
                <a:cubicBezTo>
                  <a:pt x="24859" y="30165"/>
                  <a:pt x="27557" y="30204"/>
                  <a:pt x="30243" y="30204"/>
                </a:cubicBezTo>
                <a:cubicBezTo>
                  <a:pt x="31690" y="30191"/>
                  <a:pt x="33123" y="30113"/>
                  <a:pt x="34505" y="29852"/>
                </a:cubicBezTo>
                <a:cubicBezTo>
                  <a:pt x="35470" y="29683"/>
                  <a:pt x="36330" y="29435"/>
                  <a:pt x="36917" y="29005"/>
                </a:cubicBezTo>
                <a:cubicBezTo>
                  <a:pt x="37881" y="28288"/>
                  <a:pt x="38677" y="27519"/>
                  <a:pt x="39120" y="26684"/>
                </a:cubicBezTo>
                <a:cubicBezTo>
                  <a:pt x="39732" y="25485"/>
                  <a:pt x="39954" y="24260"/>
                  <a:pt x="39954" y="23021"/>
                </a:cubicBezTo>
                <a:cubicBezTo>
                  <a:pt x="39954" y="19372"/>
                  <a:pt x="40006" y="15709"/>
                  <a:pt x="39563" y="12059"/>
                </a:cubicBezTo>
                <a:cubicBezTo>
                  <a:pt x="39367" y="10403"/>
                  <a:pt x="39485" y="8748"/>
                  <a:pt x="39237" y="7105"/>
                </a:cubicBezTo>
                <a:cubicBezTo>
                  <a:pt x="39068" y="6023"/>
                  <a:pt x="38794" y="4941"/>
                  <a:pt x="37920" y="3938"/>
                </a:cubicBezTo>
                <a:cubicBezTo>
                  <a:pt x="37282" y="3208"/>
                  <a:pt x="36773" y="2438"/>
                  <a:pt x="35665" y="1826"/>
                </a:cubicBezTo>
                <a:cubicBezTo>
                  <a:pt x="34192" y="1031"/>
                  <a:pt x="32237" y="666"/>
                  <a:pt x="30138" y="496"/>
                </a:cubicBezTo>
                <a:cubicBezTo>
                  <a:pt x="26451" y="194"/>
                  <a:pt x="22741" y="1"/>
                  <a:pt x="19007" y="1"/>
                </a:cubicBezTo>
                <a:close/>
              </a:path>
            </a:pathLst>
          </a:custGeom>
          <a:solidFill>
            <a:srgbClr val="112A40"/>
          </a:solidFill>
          <a:ln>
            <a:noFill/>
          </a:ln>
          <a:effectLst>
            <a:outerShdw blurRad="57150" dist="9525" algn="bl" rotWithShape="0">
              <a:srgbClr val="000000"/>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lang="fr-CI" noProof="0"/>
          </a:p>
        </p:txBody>
      </p:sp>
      <p:sp>
        <p:nvSpPr>
          <p:cNvPr id="21" name="Google Shape;7367;p39"/>
          <p:cNvSpPr/>
          <p:nvPr/>
        </p:nvSpPr>
        <p:spPr>
          <a:xfrm rot="16200000">
            <a:off x="7569073" y="228570"/>
            <a:ext cx="2000788" cy="4306666"/>
          </a:xfrm>
          <a:custGeom>
            <a:avLst/>
            <a:gdLst/>
            <a:ahLst/>
            <a:cxnLst/>
            <a:rect l="l" t="t" r="r" b="b"/>
            <a:pathLst>
              <a:path w="25081" h="54128" extrusionOk="0">
                <a:moveTo>
                  <a:pt x="19843" y="0"/>
                </a:moveTo>
                <a:cubicBezTo>
                  <a:pt x="19654" y="0"/>
                  <a:pt x="19462" y="7"/>
                  <a:pt x="19267" y="21"/>
                </a:cubicBezTo>
                <a:cubicBezTo>
                  <a:pt x="17781" y="125"/>
                  <a:pt x="16282" y="99"/>
                  <a:pt x="14796" y="112"/>
                </a:cubicBezTo>
                <a:cubicBezTo>
                  <a:pt x="13909" y="125"/>
                  <a:pt x="13010" y="112"/>
                  <a:pt x="12123" y="177"/>
                </a:cubicBezTo>
                <a:cubicBezTo>
                  <a:pt x="10272" y="333"/>
                  <a:pt x="8421" y="503"/>
                  <a:pt x="6570" y="633"/>
                </a:cubicBezTo>
                <a:cubicBezTo>
                  <a:pt x="5267" y="738"/>
                  <a:pt x="3989" y="933"/>
                  <a:pt x="2764" y="1259"/>
                </a:cubicBezTo>
                <a:cubicBezTo>
                  <a:pt x="1943" y="1481"/>
                  <a:pt x="1408" y="1872"/>
                  <a:pt x="1226" y="2471"/>
                </a:cubicBezTo>
                <a:cubicBezTo>
                  <a:pt x="991" y="3292"/>
                  <a:pt x="861" y="4140"/>
                  <a:pt x="965" y="4974"/>
                </a:cubicBezTo>
                <a:cubicBezTo>
                  <a:pt x="991" y="5248"/>
                  <a:pt x="1030" y="5508"/>
                  <a:pt x="991" y="5782"/>
                </a:cubicBezTo>
                <a:cubicBezTo>
                  <a:pt x="835" y="6877"/>
                  <a:pt x="678" y="7972"/>
                  <a:pt x="587" y="9067"/>
                </a:cubicBezTo>
                <a:cubicBezTo>
                  <a:pt x="470" y="10488"/>
                  <a:pt x="378" y="11896"/>
                  <a:pt x="300" y="13317"/>
                </a:cubicBezTo>
                <a:cubicBezTo>
                  <a:pt x="274" y="13825"/>
                  <a:pt x="352" y="14333"/>
                  <a:pt x="339" y="14829"/>
                </a:cubicBezTo>
                <a:cubicBezTo>
                  <a:pt x="313" y="15820"/>
                  <a:pt x="157" y="16797"/>
                  <a:pt x="118" y="17775"/>
                </a:cubicBezTo>
                <a:cubicBezTo>
                  <a:pt x="53" y="19391"/>
                  <a:pt x="0" y="21008"/>
                  <a:pt x="40" y="22624"/>
                </a:cubicBezTo>
                <a:cubicBezTo>
                  <a:pt x="66" y="24149"/>
                  <a:pt x="157" y="25661"/>
                  <a:pt x="144" y="27173"/>
                </a:cubicBezTo>
                <a:cubicBezTo>
                  <a:pt x="131" y="28646"/>
                  <a:pt x="105" y="30132"/>
                  <a:pt x="131" y="31605"/>
                </a:cubicBezTo>
                <a:cubicBezTo>
                  <a:pt x="209" y="35412"/>
                  <a:pt x="405" y="39218"/>
                  <a:pt x="274" y="43051"/>
                </a:cubicBezTo>
                <a:cubicBezTo>
                  <a:pt x="235" y="44237"/>
                  <a:pt x="287" y="45436"/>
                  <a:pt x="300" y="46622"/>
                </a:cubicBezTo>
                <a:cubicBezTo>
                  <a:pt x="300" y="46687"/>
                  <a:pt x="300" y="46753"/>
                  <a:pt x="287" y="46818"/>
                </a:cubicBezTo>
                <a:cubicBezTo>
                  <a:pt x="222" y="48004"/>
                  <a:pt x="313" y="49190"/>
                  <a:pt x="535" y="50363"/>
                </a:cubicBezTo>
                <a:cubicBezTo>
                  <a:pt x="665" y="51054"/>
                  <a:pt x="1004" y="51706"/>
                  <a:pt x="1239" y="52384"/>
                </a:cubicBezTo>
                <a:cubicBezTo>
                  <a:pt x="1486" y="53075"/>
                  <a:pt x="2164" y="53492"/>
                  <a:pt x="3129" y="53700"/>
                </a:cubicBezTo>
                <a:cubicBezTo>
                  <a:pt x="3812" y="53854"/>
                  <a:pt x="4517" y="53911"/>
                  <a:pt x="5223" y="53911"/>
                </a:cubicBezTo>
                <a:cubicBezTo>
                  <a:pt x="5299" y="53911"/>
                  <a:pt x="5374" y="53910"/>
                  <a:pt x="5449" y="53909"/>
                </a:cubicBezTo>
                <a:cubicBezTo>
                  <a:pt x="5591" y="53907"/>
                  <a:pt x="5733" y="53906"/>
                  <a:pt x="5875" y="53906"/>
                </a:cubicBezTo>
                <a:cubicBezTo>
                  <a:pt x="7594" y="53906"/>
                  <a:pt x="9293" y="54042"/>
                  <a:pt x="11015" y="54078"/>
                </a:cubicBezTo>
                <a:cubicBezTo>
                  <a:pt x="11655" y="54087"/>
                  <a:pt x="12288" y="54128"/>
                  <a:pt x="12924" y="54128"/>
                </a:cubicBezTo>
                <a:cubicBezTo>
                  <a:pt x="13273" y="54128"/>
                  <a:pt x="13623" y="54115"/>
                  <a:pt x="13974" y="54078"/>
                </a:cubicBezTo>
                <a:cubicBezTo>
                  <a:pt x="15239" y="53948"/>
                  <a:pt x="16516" y="53870"/>
                  <a:pt x="17781" y="53779"/>
                </a:cubicBezTo>
                <a:cubicBezTo>
                  <a:pt x="18850" y="53700"/>
                  <a:pt x="19919" y="53583"/>
                  <a:pt x="20961" y="53375"/>
                </a:cubicBezTo>
                <a:cubicBezTo>
                  <a:pt x="22043" y="53153"/>
                  <a:pt x="22956" y="52749"/>
                  <a:pt x="23503" y="52019"/>
                </a:cubicBezTo>
                <a:cubicBezTo>
                  <a:pt x="23855" y="51537"/>
                  <a:pt x="24142" y="51028"/>
                  <a:pt x="24233" y="50494"/>
                </a:cubicBezTo>
                <a:cubicBezTo>
                  <a:pt x="24416" y="49464"/>
                  <a:pt x="24429" y="48434"/>
                  <a:pt x="24546" y="47404"/>
                </a:cubicBezTo>
                <a:cubicBezTo>
                  <a:pt x="24690" y="45957"/>
                  <a:pt x="24768" y="44510"/>
                  <a:pt x="24833" y="43064"/>
                </a:cubicBezTo>
                <a:cubicBezTo>
                  <a:pt x="24924" y="41395"/>
                  <a:pt x="24898" y="39726"/>
                  <a:pt x="24898" y="38058"/>
                </a:cubicBezTo>
                <a:cubicBezTo>
                  <a:pt x="24885" y="36402"/>
                  <a:pt x="24794" y="34760"/>
                  <a:pt x="24794" y="33104"/>
                </a:cubicBezTo>
                <a:cubicBezTo>
                  <a:pt x="24794" y="31332"/>
                  <a:pt x="24755" y="29546"/>
                  <a:pt x="24768" y="27760"/>
                </a:cubicBezTo>
                <a:cubicBezTo>
                  <a:pt x="24794" y="26196"/>
                  <a:pt x="24807" y="24631"/>
                  <a:pt x="24846" y="23067"/>
                </a:cubicBezTo>
                <a:cubicBezTo>
                  <a:pt x="24885" y="21503"/>
                  <a:pt x="24911" y="19952"/>
                  <a:pt x="24911" y="18387"/>
                </a:cubicBezTo>
                <a:cubicBezTo>
                  <a:pt x="24911" y="16967"/>
                  <a:pt x="24937" y="15533"/>
                  <a:pt x="24989" y="14112"/>
                </a:cubicBezTo>
                <a:cubicBezTo>
                  <a:pt x="25028" y="12795"/>
                  <a:pt x="25081" y="11479"/>
                  <a:pt x="25068" y="10162"/>
                </a:cubicBezTo>
                <a:cubicBezTo>
                  <a:pt x="25068" y="8924"/>
                  <a:pt x="25002" y="7685"/>
                  <a:pt x="24963" y="6447"/>
                </a:cubicBezTo>
                <a:lnTo>
                  <a:pt x="24950" y="6447"/>
                </a:lnTo>
                <a:cubicBezTo>
                  <a:pt x="25055" y="5561"/>
                  <a:pt x="24963" y="4674"/>
                  <a:pt x="24872" y="3801"/>
                </a:cubicBezTo>
                <a:cubicBezTo>
                  <a:pt x="24807" y="3175"/>
                  <a:pt x="24664" y="2562"/>
                  <a:pt x="24403" y="1963"/>
                </a:cubicBezTo>
                <a:cubicBezTo>
                  <a:pt x="24194" y="1481"/>
                  <a:pt x="23803" y="1103"/>
                  <a:pt x="23204" y="803"/>
                </a:cubicBezTo>
                <a:cubicBezTo>
                  <a:pt x="22185" y="293"/>
                  <a:pt x="21087" y="0"/>
                  <a:pt x="19843" y="0"/>
                </a:cubicBezTo>
                <a:close/>
              </a:path>
            </a:pathLst>
          </a:custGeom>
          <a:noFill/>
          <a:ln w="19050">
            <a:solidFill>
              <a:srgbClr val="060606"/>
            </a:solidFill>
          </a:ln>
          <a:effectLst>
            <a:outerShdw blurRad="57150" dist="9525" algn="bl" rotWithShape="0">
              <a:srgbClr val="000000"/>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lang="fr-CI" noProof="0"/>
          </a:p>
        </p:txBody>
      </p:sp>
      <p:sp>
        <p:nvSpPr>
          <p:cNvPr id="24" name="Rectangle 23"/>
          <p:cNvSpPr/>
          <p:nvPr/>
        </p:nvSpPr>
        <p:spPr>
          <a:xfrm>
            <a:off x="7570816" y="1466170"/>
            <a:ext cx="1322389" cy="295488"/>
          </a:xfrm>
          <a:prstGeom prst="rect">
            <a:avLst/>
          </a:prstGeom>
        </p:spPr>
        <p:txBody>
          <a:bodyPr wrap="none">
            <a:spAutoFit/>
          </a:bodyPr>
          <a:lstStyle/>
          <a:p>
            <a:pPr lvl="0">
              <a:lnSpc>
                <a:spcPct val="110000"/>
              </a:lnSpc>
            </a:pPr>
            <a:r>
              <a:rPr lang="fr-CI" sz="1400" b="1" noProof="0">
                <a:solidFill>
                  <a:schemeClr val="bg1"/>
                </a:solidFill>
                <a:latin typeface="Helvetica" panose="020B0604020202020204" pitchFamily="34" charset="0"/>
                <a:ea typeface="Open Sans Semibold" panose="020B0706030804020204" pitchFamily="34" charset="0"/>
                <a:cs typeface="Helvetica" panose="020B0604020202020204" pitchFamily="34" charset="0"/>
              </a:rPr>
              <a:t>Preuves</a:t>
            </a:r>
          </a:p>
        </p:txBody>
      </p:sp>
      <p:sp>
        <p:nvSpPr>
          <p:cNvPr id="37" name="Google Shape;7386;p39"/>
          <p:cNvSpPr/>
          <p:nvPr/>
        </p:nvSpPr>
        <p:spPr>
          <a:xfrm rot="10800000">
            <a:off x="1854215" y="3845744"/>
            <a:ext cx="3625790" cy="329031"/>
          </a:xfrm>
          <a:custGeom>
            <a:avLst/>
            <a:gdLst/>
            <a:ahLst/>
            <a:cxnLst/>
            <a:rect l="l" t="t" r="r" b="b"/>
            <a:pathLst>
              <a:path w="40007" h="30221" extrusionOk="0">
                <a:moveTo>
                  <a:pt x="19007" y="1"/>
                </a:moveTo>
                <a:cubicBezTo>
                  <a:pt x="17909" y="1"/>
                  <a:pt x="16810" y="17"/>
                  <a:pt x="15708" y="53"/>
                </a:cubicBezTo>
                <a:cubicBezTo>
                  <a:pt x="13270" y="131"/>
                  <a:pt x="10885" y="275"/>
                  <a:pt x="8512" y="548"/>
                </a:cubicBezTo>
                <a:cubicBezTo>
                  <a:pt x="6088" y="835"/>
                  <a:pt x="4524" y="1500"/>
                  <a:pt x="4041" y="2712"/>
                </a:cubicBezTo>
                <a:cubicBezTo>
                  <a:pt x="4015" y="2777"/>
                  <a:pt x="3976" y="2843"/>
                  <a:pt x="3937" y="2908"/>
                </a:cubicBezTo>
                <a:cubicBezTo>
                  <a:pt x="2777" y="4902"/>
                  <a:pt x="2282" y="6949"/>
                  <a:pt x="1734" y="8995"/>
                </a:cubicBezTo>
                <a:cubicBezTo>
                  <a:pt x="1160" y="11120"/>
                  <a:pt x="613" y="13232"/>
                  <a:pt x="391" y="15357"/>
                </a:cubicBezTo>
                <a:cubicBezTo>
                  <a:pt x="183" y="17325"/>
                  <a:pt x="0" y="19293"/>
                  <a:pt x="79" y="21092"/>
                </a:cubicBezTo>
                <a:cubicBezTo>
                  <a:pt x="52" y="23074"/>
                  <a:pt x="144" y="24899"/>
                  <a:pt x="365" y="26710"/>
                </a:cubicBezTo>
                <a:cubicBezTo>
                  <a:pt x="522" y="28079"/>
                  <a:pt x="1721" y="29096"/>
                  <a:pt x="4419" y="29656"/>
                </a:cubicBezTo>
                <a:cubicBezTo>
                  <a:pt x="6296" y="30048"/>
                  <a:pt x="8265" y="30178"/>
                  <a:pt x="10259" y="30204"/>
                </a:cubicBezTo>
                <a:cubicBezTo>
                  <a:pt x="11143" y="30216"/>
                  <a:pt x="12026" y="30220"/>
                  <a:pt x="12908" y="30220"/>
                </a:cubicBezTo>
                <a:cubicBezTo>
                  <a:pt x="15996" y="30220"/>
                  <a:pt x="19078" y="30165"/>
                  <a:pt x="22161" y="30165"/>
                </a:cubicBezTo>
                <a:cubicBezTo>
                  <a:pt x="24859" y="30165"/>
                  <a:pt x="27557" y="30204"/>
                  <a:pt x="30243" y="30204"/>
                </a:cubicBezTo>
                <a:cubicBezTo>
                  <a:pt x="31690" y="30191"/>
                  <a:pt x="33123" y="30113"/>
                  <a:pt x="34505" y="29852"/>
                </a:cubicBezTo>
                <a:cubicBezTo>
                  <a:pt x="35470" y="29683"/>
                  <a:pt x="36330" y="29435"/>
                  <a:pt x="36917" y="29005"/>
                </a:cubicBezTo>
                <a:cubicBezTo>
                  <a:pt x="37881" y="28288"/>
                  <a:pt x="38677" y="27519"/>
                  <a:pt x="39120" y="26684"/>
                </a:cubicBezTo>
                <a:cubicBezTo>
                  <a:pt x="39732" y="25485"/>
                  <a:pt x="39954" y="24260"/>
                  <a:pt x="39954" y="23021"/>
                </a:cubicBezTo>
                <a:cubicBezTo>
                  <a:pt x="39954" y="19372"/>
                  <a:pt x="40006" y="15709"/>
                  <a:pt x="39563" y="12059"/>
                </a:cubicBezTo>
                <a:cubicBezTo>
                  <a:pt x="39367" y="10403"/>
                  <a:pt x="39485" y="8748"/>
                  <a:pt x="39237" y="7105"/>
                </a:cubicBezTo>
                <a:cubicBezTo>
                  <a:pt x="39068" y="6023"/>
                  <a:pt x="38794" y="4941"/>
                  <a:pt x="37920" y="3938"/>
                </a:cubicBezTo>
                <a:cubicBezTo>
                  <a:pt x="37282" y="3208"/>
                  <a:pt x="36773" y="2438"/>
                  <a:pt x="35665" y="1826"/>
                </a:cubicBezTo>
                <a:cubicBezTo>
                  <a:pt x="34192" y="1031"/>
                  <a:pt x="32237" y="666"/>
                  <a:pt x="30138" y="496"/>
                </a:cubicBezTo>
                <a:cubicBezTo>
                  <a:pt x="26451" y="194"/>
                  <a:pt x="22741" y="1"/>
                  <a:pt x="19007" y="1"/>
                </a:cubicBezTo>
                <a:close/>
              </a:path>
            </a:pathLst>
          </a:custGeom>
          <a:solidFill>
            <a:srgbClr val="112A40"/>
          </a:solidFill>
          <a:ln>
            <a:noFill/>
          </a:ln>
          <a:effectLst>
            <a:outerShdw blurRad="57150" dist="9525" algn="bl" rotWithShape="0">
              <a:srgbClr val="000000"/>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lang="fr-CI" noProof="0"/>
          </a:p>
        </p:txBody>
      </p:sp>
      <p:sp>
        <p:nvSpPr>
          <p:cNvPr id="38" name="Google Shape;7367;p39"/>
          <p:cNvSpPr/>
          <p:nvPr/>
        </p:nvSpPr>
        <p:spPr>
          <a:xfrm rot="16200000">
            <a:off x="2838223" y="3190772"/>
            <a:ext cx="1751381" cy="3719393"/>
          </a:xfrm>
          <a:custGeom>
            <a:avLst/>
            <a:gdLst/>
            <a:ahLst/>
            <a:cxnLst/>
            <a:rect l="l" t="t" r="r" b="b"/>
            <a:pathLst>
              <a:path w="25081" h="54128" extrusionOk="0">
                <a:moveTo>
                  <a:pt x="19843" y="0"/>
                </a:moveTo>
                <a:cubicBezTo>
                  <a:pt x="19654" y="0"/>
                  <a:pt x="19462" y="7"/>
                  <a:pt x="19267" y="21"/>
                </a:cubicBezTo>
                <a:cubicBezTo>
                  <a:pt x="17781" y="125"/>
                  <a:pt x="16282" y="99"/>
                  <a:pt x="14796" y="112"/>
                </a:cubicBezTo>
                <a:cubicBezTo>
                  <a:pt x="13909" y="125"/>
                  <a:pt x="13010" y="112"/>
                  <a:pt x="12123" y="177"/>
                </a:cubicBezTo>
                <a:cubicBezTo>
                  <a:pt x="10272" y="333"/>
                  <a:pt x="8421" y="503"/>
                  <a:pt x="6570" y="633"/>
                </a:cubicBezTo>
                <a:cubicBezTo>
                  <a:pt x="5267" y="738"/>
                  <a:pt x="3989" y="933"/>
                  <a:pt x="2764" y="1259"/>
                </a:cubicBezTo>
                <a:cubicBezTo>
                  <a:pt x="1943" y="1481"/>
                  <a:pt x="1408" y="1872"/>
                  <a:pt x="1226" y="2471"/>
                </a:cubicBezTo>
                <a:cubicBezTo>
                  <a:pt x="991" y="3292"/>
                  <a:pt x="861" y="4140"/>
                  <a:pt x="965" y="4974"/>
                </a:cubicBezTo>
                <a:cubicBezTo>
                  <a:pt x="991" y="5248"/>
                  <a:pt x="1030" y="5508"/>
                  <a:pt x="991" y="5782"/>
                </a:cubicBezTo>
                <a:cubicBezTo>
                  <a:pt x="835" y="6877"/>
                  <a:pt x="678" y="7972"/>
                  <a:pt x="587" y="9067"/>
                </a:cubicBezTo>
                <a:cubicBezTo>
                  <a:pt x="470" y="10488"/>
                  <a:pt x="378" y="11896"/>
                  <a:pt x="300" y="13317"/>
                </a:cubicBezTo>
                <a:cubicBezTo>
                  <a:pt x="274" y="13825"/>
                  <a:pt x="352" y="14333"/>
                  <a:pt x="339" y="14829"/>
                </a:cubicBezTo>
                <a:cubicBezTo>
                  <a:pt x="313" y="15820"/>
                  <a:pt x="157" y="16797"/>
                  <a:pt x="118" y="17775"/>
                </a:cubicBezTo>
                <a:cubicBezTo>
                  <a:pt x="53" y="19391"/>
                  <a:pt x="0" y="21008"/>
                  <a:pt x="40" y="22624"/>
                </a:cubicBezTo>
                <a:cubicBezTo>
                  <a:pt x="66" y="24149"/>
                  <a:pt x="157" y="25661"/>
                  <a:pt x="144" y="27173"/>
                </a:cubicBezTo>
                <a:cubicBezTo>
                  <a:pt x="131" y="28646"/>
                  <a:pt x="105" y="30132"/>
                  <a:pt x="131" y="31605"/>
                </a:cubicBezTo>
                <a:cubicBezTo>
                  <a:pt x="209" y="35412"/>
                  <a:pt x="405" y="39218"/>
                  <a:pt x="274" y="43051"/>
                </a:cubicBezTo>
                <a:cubicBezTo>
                  <a:pt x="235" y="44237"/>
                  <a:pt x="287" y="45436"/>
                  <a:pt x="300" y="46622"/>
                </a:cubicBezTo>
                <a:cubicBezTo>
                  <a:pt x="300" y="46687"/>
                  <a:pt x="300" y="46753"/>
                  <a:pt x="287" y="46818"/>
                </a:cubicBezTo>
                <a:cubicBezTo>
                  <a:pt x="222" y="48004"/>
                  <a:pt x="313" y="49190"/>
                  <a:pt x="535" y="50363"/>
                </a:cubicBezTo>
                <a:cubicBezTo>
                  <a:pt x="665" y="51054"/>
                  <a:pt x="1004" y="51706"/>
                  <a:pt x="1239" y="52384"/>
                </a:cubicBezTo>
                <a:cubicBezTo>
                  <a:pt x="1486" y="53075"/>
                  <a:pt x="2164" y="53492"/>
                  <a:pt x="3129" y="53700"/>
                </a:cubicBezTo>
                <a:cubicBezTo>
                  <a:pt x="3812" y="53854"/>
                  <a:pt x="4517" y="53911"/>
                  <a:pt x="5223" y="53911"/>
                </a:cubicBezTo>
                <a:cubicBezTo>
                  <a:pt x="5299" y="53911"/>
                  <a:pt x="5374" y="53910"/>
                  <a:pt x="5449" y="53909"/>
                </a:cubicBezTo>
                <a:cubicBezTo>
                  <a:pt x="5591" y="53907"/>
                  <a:pt x="5733" y="53906"/>
                  <a:pt x="5875" y="53906"/>
                </a:cubicBezTo>
                <a:cubicBezTo>
                  <a:pt x="7594" y="53906"/>
                  <a:pt x="9293" y="54042"/>
                  <a:pt x="11015" y="54078"/>
                </a:cubicBezTo>
                <a:cubicBezTo>
                  <a:pt x="11655" y="54087"/>
                  <a:pt x="12288" y="54128"/>
                  <a:pt x="12924" y="54128"/>
                </a:cubicBezTo>
                <a:cubicBezTo>
                  <a:pt x="13273" y="54128"/>
                  <a:pt x="13623" y="54115"/>
                  <a:pt x="13974" y="54078"/>
                </a:cubicBezTo>
                <a:cubicBezTo>
                  <a:pt x="15239" y="53948"/>
                  <a:pt x="16516" y="53870"/>
                  <a:pt x="17781" y="53779"/>
                </a:cubicBezTo>
                <a:cubicBezTo>
                  <a:pt x="18850" y="53700"/>
                  <a:pt x="19919" y="53583"/>
                  <a:pt x="20961" y="53375"/>
                </a:cubicBezTo>
                <a:cubicBezTo>
                  <a:pt x="22043" y="53153"/>
                  <a:pt x="22956" y="52749"/>
                  <a:pt x="23503" y="52019"/>
                </a:cubicBezTo>
                <a:cubicBezTo>
                  <a:pt x="23855" y="51537"/>
                  <a:pt x="24142" y="51028"/>
                  <a:pt x="24233" y="50494"/>
                </a:cubicBezTo>
                <a:cubicBezTo>
                  <a:pt x="24416" y="49464"/>
                  <a:pt x="24429" y="48434"/>
                  <a:pt x="24546" y="47404"/>
                </a:cubicBezTo>
                <a:cubicBezTo>
                  <a:pt x="24690" y="45957"/>
                  <a:pt x="24768" y="44510"/>
                  <a:pt x="24833" y="43064"/>
                </a:cubicBezTo>
                <a:cubicBezTo>
                  <a:pt x="24924" y="41395"/>
                  <a:pt x="24898" y="39726"/>
                  <a:pt x="24898" y="38058"/>
                </a:cubicBezTo>
                <a:cubicBezTo>
                  <a:pt x="24885" y="36402"/>
                  <a:pt x="24794" y="34760"/>
                  <a:pt x="24794" y="33104"/>
                </a:cubicBezTo>
                <a:cubicBezTo>
                  <a:pt x="24794" y="31332"/>
                  <a:pt x="24755" y="29546"/>
                  <a:pt x="24768" y="27760"/>
                </a:cubicBezTo>
                <a:cubicBezTo>
                  <a:pt x="24794" y="26196"/>
                  <a:pt x="24807" y="24631"/>
                  <a:pt x="24846" y="23067"/>
                </a:cubicBezTo>
                <a:cubicBezTo>
                  <a:pt x="24885" y="21503"/>
                  <a:pt x="24911" y="19952"/>
                  <a:pt x="24911" y="18387"/>
                </a:cubicBezTo>
                <a:cubicBezTo>
                  <a:pt x="24911" y="16967"/>
                  <a:pt x="24937" y="15533"/>
                  <a:pt x="24989" y="14112"/>
                </a:cubicBezTo>
                <a:cubicBezTo>
                  <a:pt x="25028" y="12795"/>
                  <a:pt x="25081" y="11479"/>
                  <a:pt x="25068" y="10162"/>
                </a:cubicBezTo>
                <a:cubicBezTo>
                  <a:pt x="25068" y="8924"/>
                  <a:pt x="25002" y="7685"/>
                  <a:pt x="24963" y="6447"/>
                </a:cubicBezTo>
                <a:lnTo>
                  <a:pt x="24950" y="6447"/>
                </a:lnTo>
                <a:cubicBezTo>
                  <a:pt x="25055" y="5561"/>
                  <a:pt x="24963" y="4674"/>
                  <a:pt x="24872" y="3801"/>
                </a:cubicBezTo>
                <a:cubicBezTo>
                  <a:pt x="24807" y="3175"/>
                  <a:pt x="24664" y="2562"/>
                  <a:pt x="24403" y="1963"/>
                </a:cubicBezTo>
                <a:cubicBezTo>
                  <a:pt x="24194" y="1481"/>
                  <a:pt x="23803" y="1103"/>
                  <a:pt x="23204" y="803"/>
                </a:cubicBezTo>
                <a:cubicBezTo>
                  <a:pt x="22185" y="293"/>
                  <a:pt x="21087" y="0"/>
                  <a:pt x="19843" y="0"/>
                </a:cubicBezTo>
                <a:close/>
              </a:path>
            </a:pathLst>
          </a:custGeom>
          <a:noFill/>
          <a:ln w="19050">
            <a:solidFill>
              <a:srgbClr val="060606"/>
            </a:solidFill>
          </a:ln>
          <a:effectLst>
            <a:outerShdw blurRad="57150" dist="9525" algn="bl" rotWithShape="0">
              <a:srgbClr val="000000"/>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lang="fr-CI" noProof="0"/>
          </a:p>
        </p:txBody>
      </p:sp>
      <p:sp>
        <p:nvSpPr>
          <p:cNvPr id="40" name="Rectangle 39"/>
          <p:cNvSpPr/>
          <p:nvPr/>
        </p:nvSpPr>
        <p:spPr>
          <a:xfrm>
            <a:off x="3052718" y="3852190"/>
            <a:ext cx="1322389" cy="295488"/>
          </a:xfrm>
          <a:prstGeom prst="rect">
            <a:avLst/>
          </a:prstGeom>
        </p:spPr>
        <p:txBody>
          <a:bodyPr wrap="none">
            <a:spAutoFit/>
          </a:bodyPr>
          <a:lstStyle/>
          <a:p>
            <a:pPr lvl="0">
              <a:lnSpc>
                <a:spcPct val="110000"/>
              </a:lnSpc>
            </a:pPr>
            <a:r>
              <a:rPr lang="fr-CI" sz="1400" b="1" noProof="0">
                <a:solidFill>
                  <a:schemeClr val="bg1"/>
                </a:solidFill>
                <a:latin typeface="Helvetica" panose="020B0604020202020204" pitchFamily="34" charset="0"/>
                <a:ea typeface="Open Sans Semibold" panose="020B0706030804020204" pitchFamily="34" charset="0"/>
                <a:cs typeface="Helvetica" panose="020B0604020202020204" pitchFamily="34" charset="0"/>
              </a:rPr>
              <a:t>Implication</a:t>
            </a:r>
          </a:p>
        </p:txBody>
      </p:sp>
      <p:sp>
        <p:nvSpPr>
          <p:cNvPr id="42" name="Google Shape;7386;p39"/>
          <p:cNvSpPr/>
          <p:nvPr/>
        </p:nvSpPr>
        <p:spPr>
          <a:xfrm rot="10800000">
            <a:off x="6478457" y="3869173"/>
            <a:ext cx="3625790" cy="329031"/>
          </a:xfrm>
          <a:custGeom>
            <a:avLst/>
            <a:gdLst/>
            <a:ahLst/>
            <a:cxnLst/>
            <a:rect l="l" t="t" r="r" b="b"/>
            <a:pathLst>
              <a:path w="40007" h="30221" extrusionOk="0">
                <a:moveTo>
                  <a:pt x="19007" y="1"/>
                </a:moveTo>
                <a:cubicBezTo>
                  <a:pt x="17909" y="1"/>
                  <a:pt x="16810" y="17"/>
                  <a:pt x="15708" y="53"/>
                </a:cubicBezTo>
                <a:cubicBezTo>
                  <a:pt x="13270" y="131"/>
                  <a:pt x="10885" y="275"/>
                  <a:pt x="8512" y="548"/>
                </a:cubicBezTo>
                <a:cubicBezTo>
                  <a:pt x="6088" y="835"/>
                  <a:pt x="4524" y="1500"/>
                  <a:pt x="4041" y="2712"/>
                </a:cubicBezTo>
                <a:cubicBezTo>
                  <a:pt x="4015" y="2777"/>
                  <a:pt x="3976" y="2843"/>
                  <a:pt x="3937" y="2908"/>
                </a:cubicBezTo>
                <a:cubicBezTo>
                  <a:pt x="2777" y="4902"/>
                  <a:pt x="2282" y="6949"/>
                  <a:pt x="1734" y="8995"/>
                </a:cubicBezTo>
                <a:cubicBezTo>
                  <a:pt x="1160" y="11120"/>
                  <a:pt x="613" y="13232"/>
                  <a:pt x="391" y="15357"/>
                </a:cubicBezTo>
                <a:cubicBezTo>
                  <a:pt x="183" y="17325"/>
                  <a:pt x="0" y="19293"/>
                  <a:pt x="79" y="21092"/>
                </a:cubicBezTo>
                <a:cubicBezTo>
                  <a:pt x="52" y="23074"/>
                  <a:pt x="144" y="24899"/>
                  <a:pt x="365" y="26710"/>
                </a:cubicBezTo>
                <a:cubicBezTo>
                  <a:pt x="522" y="28079"/>
                  <a:pt x="1721" y="29096"/>
                  <a:pt x="4419" y="29656"/>
                </a:cubicBezTo>
                <a:cubicBezTo>
                  <a:pt x="6296" y="30048"/>
                  <a:pt x="8265" y="30178"/>
                  <a:pt x="10259" y="30204"/>
                </a:cubicBezTo>
                <a:cubicBezTo>
                  <a:pt x="11143" y="30216"/>
                  <a:pt x="12026" y="30220"/>
                  <a:pt x="12908" y="30220"/>
                </a:cubicBezTo>
                <a:cubicBezTo>
                  <a:pt x="15996" y="30220"/>
                  <a:pt x="19078" y="30165"/>
                  <a:pt x="22161" y="30165"/>
                </a:cubicBezTo>
                <a:cubicBezTo>
                  <a:pt x="24859" y="30165"/>
                  <a:pt x="27557" y="30204"/>
                  <a:pt x="30243" y="30204"/>
                </a:cubicBezTo>
                <a:cubicBezTo>
                  <a:pt x="31690" y="30191"/>
                  <a:pt x="33123" y="30113"/>
                  <a:pt x="34505" y="29852"/>
                </a:cubicBezTo>
                <a:cubicBezTo>
                  <a:pt x="35470" y="29683"/>
                  <a:pt x="36330" y="29435"/>
                  <a:pt x="36917" y="29005"/>
                </a:cubicBezTo>
                <a:cubicBezTo>
                  <a:pt x="37881" y="28288"/>
                  <a:pt x="38677" y="27519"/>
                  <a:pt x="39120" y="26684"/>
                </a:cubicBezTo>
                <a:cubicBezTo>
                  <a:pt x="39732" y="25485"/>
                  <a:pt x="39954" y="24260"/>
                  <a:pt x="39954" y="23021"/>
                </a:cubicBezTo>
                <a:cubicBezTo>
                  <a:pt x="39954" y="19372"/>
                  <a:pt x="40006" y="15709"/>
                  <a:pt x="39563" y="12059"/>
                </a:cubicBezTo>
                <a:cubicBezTo>
                  <a:pt x="39367" y="10403"/>
                  <a:pt x="39485" y="8748"/>
                  <a:pt x="39237" y="7105"/>
                </a:cubicBezTo>
                <a:cubicBezTo>
                  <a:pt x="39068" y="6023"/>
                  <a:pt x="38794" y="4941"/>
                  <a:pt x="37920" y="3938"/>
                </a:cubicBezTo>
                <a:cubicBezTo>
                  <a:pt x="37282" y="3208"/>
                  <a:pt x="36773" y="2438"/>
                  <a:pt x="35665" y="1826"/>
                </a:cubicBezTo>
                <a:cubicBezTo>
                  <a:pt x="34192" y="1031"/>
                  <a:pt x="32237" y="666"/>
                  <a:pt x="30138" y="496"/>
                </a:cubicBezTo>
                <a:cubicBezTo>
                  <a:pt x="26451" y="194"/>
                  <a:pt x="22741" y="1"/>
                  <a:pt x="19007" y="1"/>
                </a:cubicBezTo>
                <a:close/>
              </a:path>
            </a:pathLst>
          </a:custGeom>
          <a:solidFill>
            <a:srgbClr val="112A40"/>
          </a:solidFill>
          <a:ln>
            <a:noFill/>
          </a:ln>
          <a:effectLst>
            <a:outerShdw blurRad="57150" dist="9525" algn="bl" rotWithShape="0">
              <a:srgbClr val="000000"/>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lang="fr-CI" noProof="0"/>
          </a:p>
        </p:txBody>
      </p:sp>
      <p:sp>
        <p:nvSpPr>
          <p:cNvPr id="43" name="Google Shape;7367;p39"/>
          <p:cNvSpPr/>
          <p:nvPr/>
        </p:nvSpPr>
        <p:spPr>
          <a:xfrm rot="16200000">
            <a:off x="7474179" y="3202486"/>
            <a:ext cx="1727953" cy="3719393"/>
          </a:xfrm>
          <a:custGeom>
            <a:avLst/>
            <a:gdLst/>
            <a:ahLst/>
            <a:cxnLst/>
            <a:rect l="l" t="t" r="r" b="b"/>
            <a:pathLst>
              <a:path w="25081" h="54128" extrusionOk="0">
                <a:moveTo>
                  <a:pt x="19843" y="0"/>
                </a:moveTo>
                <a:cubicBezTo>
                  <a:pt x="19654" y="0"/>
                  <a:pt x="19462" y="7"/>
                  <a:pt x="19267" y="21"/>
                </a:cubicBezTo>
                <a:cubicBezTo>
                  <a:pt x="17781" y="125"/>
                  <a:pt x="16282" y="99"/>
                  <a:pt x="14796" y="112"/>
                </a:cubicBezTo>
                <a:cubicBezTo>
                  <a:pt x="13909" y="125"/>
                  <a:pt x="13010" y="112"/>
                  <a:pt x="12123" y="177"/>
                </a:cubicBezTo>
                <a:cubicBezTo>
                  <a:pt x="10272" y="333"/>
                  <a:pt x="8421" y="503"/>
                  <a:pt x="6570" y="633"/>
                </a:cubicBezTo>
                <a:cubicBezTo>
                  <a:pt x="5267" y="738"/>
                  <a:pt x="3989" y="933"/>
                  <a:pt x="2764" y="1259"/>
                </a:cubicBezTo>
                <a:cubicBezTo>
                  <a:pt x="1943" y="1481"/>
                  <a:pt x="1408" y="1872"/>
                  <a:pt x="1226" y="2471"/>
                </a:cubicBezTo>
                <a:cubicBezTo>
                  <a:pt x="991" y="3292"/>
                  <a:pt x="861" y="4140"/>
                  <a:pt x="965" y="4974"/>
                </a:cubicBezTo>
                <a:cubicBezTo>
                  <a:pt x="991" y="5248"/>
                  <a:pt x="1030" y="5508"/>
                  <a:pt x="991" y="5782"/>
                </a:cubicBezTo>
                <a:cubicBezTo>
                  <a:pt x="835" y="6877"/>
                  <a:pt x="678" y="7972"/>
                  <a:pt x="587" y="9067"/>
                </a:cubicBezTo>
                <a:cubicBezTo>
                  <a:pt x="470" y="10488"/>
                  <a:pt x="378" y="11896"/>
                  <a:pt x="300" y="13317"/>
                </a:cubicBezTo>
                <a:cubicBezTo>
                  <a:pt x="274" y="13825"/>
                  <a:pt x="352" y="14333"/>
                  <a:pt x="339" y="14829"/>
                </a:cubicBezTo>
                <a:cubicBezTo>
                  <a:pt x="313" y="15820"/>
                  <a:pt x="157" y="16797"/>
                  <a:pt x="118" y="17775"/>
                </a:cubicBezTo>
                <a:cubicBezTo>
                  <a:pt x="53" y="19391"/>
                  <a:pt x="0" y="21008"/>
                  <a:pt x="40" y="22624"/>
                </a:cubicBezTo>
                <a:cubicBezTo>
                  <a:pt x="66" y="24149"/>
                  <a:pt x="157" y="25661"/>
                  <a:pt x="144" y="27173"/>
                </a:cubicBezTo>
                <a:cubicBezTo>
                  <a:pt x="131" y="28646"/>
                  <a:pt x="105" y="30132"/>
                  <a:pt x="131" y="31605"/>
                </a:cubicBezTo>
                <a:cubicBezTo>
                  <a:pt x="209" y="35412"/>
                  <a:pt x="405" y="39218"/>
                  <a:pt x="274" y="43051"/>
                </a:cubicBezTo>
                <a:cubicBezTo>
                  <a:pt x="235" y="44237"/>
                  <a:pt x="287" y="45436"/>
                  <a:pt x="300" y="46622"/>
                </a:cubicBezTo>
                <a:cubicBezTo>
                  <a:pt x="300" y="46687"/>
                  <a:pt x="300" y="46753"/>
                  <a:pt x="287" y="46818"/>
                </a:cubicBezTo>
                <a:cubicBezTo>
                  <a:pt x="222" y="48004"/>
                  <a:pt x="313" y="49190"/>
                  <a:pt x="535" y="50363"/>
                </a:cubicBezTo>
                <a:cubicBezTo>
                  <a:pt x="665" y="51054"/>
                  <a:pt x="1004" y="51706"/>
                  <a:pt x="1239" y="52384"/>
                </a:cubicBezTo>
                <a:cubicBezTo>
                  <a:pt x="1486" y="53075"/>
                  <a:pt x="2164" y="53492"/>
                  <a:pt x="3129" y="53700"/>
                </a:cubicBezTo>
                <a:cubicBezTo>
                  <a:pt x="3812" y="53854"/>
                  <a:pt x="4517" y="53911"/>
                  <a:pt x="5223" y="53911"/>
                </a:cubicBezTo>
                <a:cubicBezTo>
                  <a:pt x="5299" y="53911"/>
                  <a:pt x="5374" y="53910"/>
                  <a:pt x="5449" y="53909"/>
                </a:cubicBezTo>
                <a:cubicBezTo>
                  <a:pt x="5591" y="53907"/>
                  <a:pt x="5733" y="53906"/>
                  <a:pt x="5875" y="53906"/>
                </a:cubicBezTo>
                <a:cubicBezTo>
                  <a:pt x="7594" y="53906"/>
                  <a:pt x="9293" y="54042"/>
                  <a:pt x="11015" y="54078"/>
                </a:cubicBezTo>
                <a:cubicBezTo>
                  <a:pt x="11655" y="54087"/>
                  <a:pt x="12288" y="54128"/>
                  <a:pt x="12924" y="54128"/>
                </a:cubicBezTo>
                <a:cubicBezTo>
                  <a:pt x="13273" y="54128"/>
                  <a:pt x="13623" y="54115"/>
                  <a:pt x="13974" y="54078"/>
                </a:cubicBezTo>
                <a:cubicBezTo>
                  <a:pt x="15239" y="53948"/>
                  <a:pt x="16516" y="53870"/>
                  <a:pt x="17781" y="53779"/>
                </a:cubicBezTo>
                <a:cubicBezTo>
                  <a:pt x="18850" y="53700"/>
                  <a:pt x="19919" y="53583"/>
                  <a:pt x="20961" y="53375"/>
                </a:cubicBezTo>
                <a:cubicBezTo>
                  <a:pt x="22043" y="53153"/>
                  <a:pt x="22956" y="52749"/>
                  <a:pt x="23503" y="52019"/>
                </a:cubicBezTo>
                <a:cubicBezTo>
                  <a:pt x="23855" y="51537"/>
                  <a:pt x="24142" y="51028"/>
                  <a:pt x="24233" y="50494"/>
                </a:cubicBezTo>
                <a:cubicBezTo>
                  <a:pt x="24416" y="49464"/>
                  <a:pt x="24429" y="48434"/>
                  <a:pt x="24546" y="47404"/>
                </a:cubicBezTo>
                <a:cubicBezTo>
                  <a:pt x="24690" y="45957"/>
                  <a:pt x="24768" y="44510"/>
                  <a:pt x="24833" y="43064"/>
                </a:cubicBezTo>
                <a:cubicBezTo>
                  <a:pt x="24924" y="41395"/>
                  <a:pt x="24898" y="39726"/>
                  <a:pt x="24898" y="38058"/>
                </a:cubicBezTo>
                <a:cubicBezTo>
                  <a:pt x="24885" y="36402"/>
                  <a:pt x="24794" y="34760"/>
                  <a:pt x="24794" y="33104"/>
                </a:cubicBezTo>
                <a:cubicBezTo>
                  <a:pt x="24794" y="31332"/>
                  <a:pt x="24755" y="29546"/>
                  <a:pt x="24768" y="27760"/>
                </a:cubicBezTo>
                <a:cubicBezTo>
                  <a:pt x="24794" y="26196"/>
                  <a:pt x="24807" y="24631"/>
                  <a:pt x="24846" y="23067"/>
                </a:cubicBezTo>
                <a:cubicBezTo>
                  <a:pt x="24885" y="21503"/>
                  <a:pt x="24911" y="19952"/>
                  <a:pt x="24911" y="18387"/>
                </a:cubicBezTo>
                <a:cubicBezTo>
                  <a:pt x="24911" y="16967"/>
                  <a:pt x="24937" y="15533"/>
                  <a:pt x="24989" y="14112"/>
                </a:cubicBezTo>
                <a:cubicBezTo>
                  <a:pt x="25028" y="12795"/>
                  <a:pt x="25081" y="11479"/>
                  <a:pt x="25068" y="10162"/>
                </a:cubicBezTo>
                <a:cubicBezTo>
                  <a:pt x="25068" y="8924"/>
                  <a:pt x="25002" y="7685"/>
                  <a:pt x="24963" y="6447"/>
                </a:cubicBezTo>
                <a:lnTo>
                  <a:pt x="24950" y="6447"/>
                </a:lnTo>
                <a:cubicBezTo>
                  <a:pt x="25055" y="5561"/>
                  <a:pt x="24963" y="4674"/>
                  <a:pt x="24872" y="3801"/>
                </a:cubicBezTo>
                <a:cubicBezTo>
                  <a:pt x="24807" y="3175"/>
                  <a:pt x="24664" y="2562"/>
                  <a:pt x="24403" y="1963"/>
                </a:cubicBezTo>
                <a:cubicBezTo>
                  <a:pt x="24194" y="1481"/>
                  <a:pt x="23803" y="1103"/>
                  <a:pt x="23204" y="803"/>
                </a:cubicBezTo>
                <a:cubicBezTo>
                  <a:pt x="22185" y="293"/>
                  <a:pt x="21087" y="0"/>
                  <a:pt x="19843" y="0"/>
                </a:cubicBezTo>
                <a:close/>
              </a:path>
            </a:pathLst>
          </a:custGeom>
          <a:noFill/>
          <a:ln w="19050">
            <a:solidFill>
              <a:schemeClr val="tx1"/>
            </a:solidFill>
          </a:ln>
          <a:effectLst>
            <a:outerShdw blurRad="57150" dist="9525" algn="bl" rotWithShape="0">
              <a:srgbClr val="000000"/>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lang="fr-CI" noProof="0"/>
          </a:p>
        </p:txBody>
      </p:sp>
      <p:sp>
        <p:nvSpPr>
          <p:cNvPr id="45" name="Rectangle 44"/>
          <p:cNvSpPr/>
          <p:nvPr/>
        </p:nvSpPr>
        <p:spPr>
          <a:xfrm>
            <a:off x="7676960" y="3875619"/>
            <a:ext cx="1322389" cy="295488"/>
          </a:xfrm>
          <a:prstGeom prst="rect">
            <a:avLst/>
          </a:prstGeom>
        </p:spPr>
        <p:txBody>
          <a:bodyPr wrap="none">
            <a:spAutoFit/>
          </a:bodyPr>
          <a:lstStyle/>
          <a:p>
            <a:pPr lvl="0">
              <a:lnSpc>
                <a:spcPct val="110000"/>
              </a:lnSpc>
            </a:pPr>
            <a:r>
              <a:rPr lang="fr-CI" sz="1400" b="1" noProof="0">
                <a:solidFill>
                  <a:schemeClr val="bg1"/>
                </a:solidFill>
                <a:latin typeface="Helvetica" panose="020B0604020202020204" pitchFamily="34" charset="0"/>
                <a:ea typeface="Open Sans Semibold" panose="020B0706030804020204" pitchFamily="34" charset="0"/>
                <a:cs typeface="Helvetica" panose="020B0604020202020204" pitchFamily="34" charset="0"/>
              </a:rPr>
              <a:t>Action</a:t>
            </a:r>
          </a:p>
        </p:txBody>
      </p:sp>
      <p:pic>
        <p:nvPicPr>
          <p:cNvPr id="47" name="Image 46"/>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147871" y="3850143"/>
            <a:ext cx="334029" cy="337914"/>
          </a:xfrm>
          <a:prstGeom prst="rect">
            <a:avLst/>
          </a:prstGeom>
        </p:spPr>
      </p:pic>
      <p:pic>
        <p:nvPicPr>
          <p:cNvPr id="50" name="Image 49">
            <a:extLst>
              <a:ext uri="{FF2B5EF4-FFF2-40B4-BE49-F238E27FC236}">
                <a16:creationId xmlns:a16="http://schemas.microsoft.com/office/drawing/2014/main" id="{593DA389-08F4-31D9-6AB9-E96812D83B72}"/>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6768142" y="1475503"/>
            <a:ext cx="294700" cy="294700"/>
          </a:xfrm>
          <a:prstGeom prst="rect">
            <a:avLst/>
          </a:prstGeom>
        </p:spPr>
      </p:pic>
      <p:pic>
        <p:nvPicPr>
          <p:cNvPr id="25" name="Image 24"/>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2156977" y="1457088"/>
            <a:ext cx="281624" cy="284788"/>
          </a:xfrm>
          <a:prstGeom prst="rect">
            <a:avLst/>
          </a:prstGeom>
        </p:spPr>
      </p:pic>
      <p:pic>
        <p:nvPicPr>
          <p:cNvPr id="28" name="Image 27"/>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6791905" y="3883760"/>
            <a:ext cx="270937" cy="276827"/>
          </a:xfrm>
          <a:prstGeom prst="rect">
            <a:avLst/>
          </a:prstGeom>
        </p:spPr>
      </p:pic>
      <p:sp>
        <p:nvSpPr>
          <p:cNvPr id="31" name="Rectangle 30"/>
          <p:cNvSpPr/>
          <p:nvPr/>
        </p:nvSpPr>
        <p:spPr>
          <a:xfrm>
            <a:off x="1999671" y="1962253"/>
            <a:ext cx="3122592" cy="1428712"/>
          </a:xfrm>
          <a:prstGeom prst="rect">
            <a:avLst/>
          </a:prstGeom>
        </p:spPr>
        <p:txBody>
          <a:bodyPr wrap="square">
            <a:spAutoFit/>
          </a:bodyPr>
          <a:lstStyle/>
          <a:p>
            <a:pPr lvl="0" marL="0" indent="0">
              <a:buNone/>
              <a:spcBef>
                <a:spcPts val="300"/>
              </a:spcBef>
              <a:defRPr/>
            </a:pPr>
            <a:r>
              <a:rPr kumimoji="1" lang="fr-CI" sz="1250" b="0" noProof="0">
                <a:latin typeface="Helvetica" panose="020B0604020202020204" pitchFamily="34" charset="0"/>
                <a:cs typeface="Helvetica" panose="020B0604020202020204" pitchFamily="34" charset="0"/>
              </a:rPr>
              <a:t>Les prestations maladie absorbent une part croissante des cotisations, et le résultat du FPPN baisse depuis 2021.</a:t>
            </a:r>
          </a:p>
        </p:txBody>
      </p:sp>
      <p:sp>
        <p:nvSpPr>
          <p:cNvPr id="32" name="Rectangle 31"/>
          <p:cNvSpPr/>
          <p:nvPr/>
        </p:nvSpPr>
        <p:spPr>
          <a:xfrm>
            <a:off x="6623912" y="1926662"/>
            <a:ext cx="3122592" cy="1428712"/>
          </a:xfrm>
          <a:prstGeom prst="rect">
            <a:avLst/>
          </a:prstGeom>
        </p:spPr>
        <p:txBody>
          <a:bodyPr wrap="square">
            <a:spAutoFit/>
          </a:bodyPr>
          <a:lstStyle/>
          <a:p>
            <a:pPr lvl="0" marL="0" indent="0">
              <a:buNone/>
              <a:spcBef>
                <a:spcPts val="300"/>
              </a:spcBef>
              <a:defRPr/>
            </a:pPr>
            <a:r>
              <a:rPr kumimoji="1" lang="fr-CI" sz="1250" b="0" noProof="0">
                <a:latin typeface="Helvetica" panose="020B0604020202020204" pitchFamily="34" charset="0"/>
                <a:cs typeface="Helvetica" panose="020B0604020202020204" pitchFamily="34" charset="0"/>
              </a:rPr>
              <a:t>La hausse du S/C maladie est statistiquement significative, d'environ 12,91 points par an de 2020 à 2025. Les frais dépassent la norme de 20 % des cotisations.</a:t>
            </a:r>
          </a:p>
        </p:txBody>
      </p:sp>
      <p:sp>
        <p:nvSpPr>
          <p:cNvPr id="33" name="Rectangle 32"/>
          <p:cNvSpPr/>
          <p:nvPr/>
        </p:nvSpPr>
        <p:spPr>
          <a:xfrm>
            <a:off x="2093705" y="4388689"/>
            <a:ext cx="3122592" cy="1428712"/>
          </a:xfrm>
          <a:prstGeom prst="rect">
            <a:avLst/>
          </a:prstGeom>
        </p:spPr>
        <p:txBody>
          <a:bodyPr wrap="square">
            <a:spAutoFit/>
          </a:bodyPr>
          <a:lstStyle/>
          <a:p>
            <a:pPr lvl="0" marL="0" indent="0">
              <a:buNone/>
              <a:spcBef>
                <a:spcPts val="300"/>
              </a:spcBef>
              <a:defRPr/>
            </a:pPr>
            <a:r>
              <a:rPr kumimoji="1" lang="fr-CI" sz="1250" b="0" noProof="0">
                <a:latin typeface="Helvetica" panose="020B0604020202020204" pitchFamily="34" charset="0"/>
                <a:cs typeface="Helvetica" panose="020B0604020202020204" pitchFamily="34" charset="0"/>
              </a:rPr>
              <a:t>Sans maîtrise des prestations et des frais, le FPPN deviendra déficitaire et ne pourra plus doter sa réserve obligatoire.</a:t>
            </a:r>
          </a:p>
        </p:txBody>
      </p:sp>
      <p:sp>
        <p:nvSpPr>
          <p:cNvPr id="34" name="Rectangle 33"/>
          <p:cNvSpPr/>
          <p:nvPr/>
        </p:nvSpPr>
        <p:spPr>
          <a:xfrm>
            <a:off x="6768142" y="4336111"/>
            <a:ext cx="3122592" cy="1428712"/>
          </a:xfrm>
          <a:prstGeom prst="rect">
            <a:avLst/>
          </a:prstGeom>
        </p:spPr>
        <p:txBody>
          <a:bodyPr wrap="square">
            <a:spAutoFit/>
          </a:bodyPr>
          <a:lstStyle/>
          <a:p>
            <a:pPr lvl="0" marL="0" indent="0">
              <a:buNone/>
              <a:spcBef>
                <a:spcPts val="300"/>
              </a:spcBef>
              <a:defRPr/>
            </a:pPr>
            <a:r>
              <a:rPr kumimoji="1" lang="fr-CI" sz="1250" b="0" noProof="0">
                <a:latin typeface="Helvetica" panose="020B0604020202020204" pitchFamily="34" charset="0"/>
                <a:cs typeface="Helvetica" panose="020B0604020202020204" pitchFamily="34" charset="0"/>
              </a:rPr>
              <a:t>Le FPPN doit détailler le compte global de prestations par nature et par prestataire, et transmettre la base des prestations.</a:t>
            </a:r>
          </a:p>
        </p:txBody>
      </p:sp>
      <p:sp>
        <p:nvSpPr>
          <p:cNvPr id="51"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À retenir : sinistralité</a:t>
            </a:r>
          </a:p>
        </p:txBody>
      </p:sp>
      <p:sp>
        <p:nvSpPr>
          <p:cNvPr id="52"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La sinistralité maladie approche le niveau des cotisations</a:t>
            </a:r>
          </a:p>
        </p:txBody>
      </p:sp>
      <p:sp>
        <p:nvSpPr>
          <p:cNvPr id="53"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Ratio S/C maladie multiplié par plus de douze depuis 2021, résultat en baisse, déficit sur 2026</a:t>
            </a:r>
          </a:p>
        </p:txBody>
      </p:sp>
      <p:sp>
        <p:nvSpPr>
          <p:cNvPr id="54"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analyses Adenka</a:t>
            </a:r>
          </a:p>
        </p:txBody>
      </p:sp>
      <p:sp>
        <p:nvSpPr>
          <p:cNvPr id="55" name="TextBox 54"/>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S/C : prestations / cotisations</a:t>
            </a:r>
          </a:p>
        </p:txBody>
      </p:sp>
    </p:spTree>
    <p:extLst>
      <p:ext uri="{BB962C8B-B14F-4D97-AF65-F5344CB8AC3E}">
        <p14:creationId xmlns:p14="http://schemas.microsoft.com/office/powerpoint/2010/main" val="2765568857"/>
      </p:ext>
    </p:extLst>
  </p:cSld>
  <p:clrMapOvr>
    <a:masterClrMapping/>
  </p:clrMapOvr>
  <p:transition>
    <p:fade/>
  </p:transition>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Google Shape;8651;p70"/>
          <p:cNvSpPr/>
          <p:nvPr/>
        </p:nvSpPr>
        <p:spPr>
          <a:xfrm>
            <a:off x="2013108" y="2588204"/>
            <a:ext cx="1380332" cy="1428252"/>
          </a:xfrm>
          <a:custGeom>
            <a:avLst/>
            <a:gdLst/>
            <a:ahLst/>
            <a:cxnLst/>
            <a:rect l="l" t="t" r="r" b="b"/>
            <a:pathLst>
              <a:path w="8670" h="8971" extrusionOk="0">
                <a:moveTo>
                  <a:pt x="7105" y="1302"/>
                </a:moveTo>
                <a:cubicBezTo>
                  <a:pt x="7105" y="1315"/>
                  <a:pt x="7105" y="1328"/>
                  <a:pt x="7105" y="1341"/>
                </a:cubicBezTo>
                <a:cubicBezTo>
                  <a:pt x="7118" y="1980"/>
                  <a:pt x="7183" y="2619"/>
                  <a:pt x="7183" y="3283"/>
                </a:cubicBezTo>
                <a:cubicBezTo>
                  <a:pt x="7170" y="4404"/>
                  <a:pt x="7183" y="5525"/>
                  <a:pt x="7222" y="6646"/>
                </a:cubicBezTo>
                <a:cubicBezTo>
                  <a:pt x="7235" y="6959"/>
                  <a:pt x="7222" y="7259"/>
                  <a:pt x="7222" y="7559"/>
                </a:cubicBezTo>
                <a:lnTo>
                  <a:pt x="7222" y="7585"/>
                </a:lnTo>
                <a:cubicBezTo>
                  <a:pt x="6935" y="7598"/>
                  <a:pt x="6649" y="7611"/>
                  <a:pt x="6362" y="7611"/>
                </a:cubicBezTo>
                <a:cubicBezTo>
                  <a:pt x="6101" y="7598"/>
                  <a:pt x="5853" y="7585"/>
                  <a:pt x="5593" y="7585"/>
                </a:cubicBezTo>
                <a:cubicBezTo>
                  <a:pt x="4159" y="7559"/>
                  <a:pt x="2712" y="7559"/>
                  <a:pt x="1291" y="7442"/>
                </a:cubicBezTo>
                <a:cubicBezTo>
                  <a:pt x="1278" y="7207"/>
                  <a:pt x="1239" y="6959"/>
                  <a:pt x="1226" y="6725"/>
                </a:cubicBezTo>
                <a:cubicBezTo>
                  <a:pt x="1200" y="6255"/>
                  <a:pt x="1187" y="5799"/>
                  <a:pt x="1200" y="5330"/>
                </a:cubicBezTo>
                <a:cubicBezTo>
                  <a:pt x="1213" y="4222"/>
                  <a:pt x="1226" y="3101"/>
                  <a:pt x="1343" y="1993"/>
                </a:cubicBezTo>
                <a:lnTo>
                  <a:pt x="1552" y="1993"/>
                </a:lnTo>
                <a:cubicBezTo>
                  <a:pt x="2138" y="1980"/>
                  <a:pt x="2725" y="1889"/>
                  <a:pt x="3312" y="1810"/>
                </a:cubicBezTo>
                <a:cubicBezTo>
                  <a:pt x="4576" y="1641"/>
                  <a:pt x="5840" y="1524"/>
                  <a:pt x="7105" y="1302"/>
                </a:cubicBezTo>
                <a:close/>
                <a:moveTo>
                  <a:pt x="7529" y="1"/>
                </a:moveTo>
                <a:cubicBezTo>
                  <a:pt x="7291" y="1"/>
                  <a:pt x="7059" y="53"/>
                  <a:pt x="6818" y="64"/>
                </a:cubicBezTo>
                <a:cubicBezTo>
                  <a:pt x="6375" y="103"/>
                  <a:pt x="5932" y="142"/>
                  <a:pt x="5488" y="194"/>
                </a:cubicBezTo>
                <a:cubicBezTo>
                  <a:pt x="4824" y="259"/>
                  <a:pt x="4107" y="350"/>
                  <a:pt x="3429" y="389"/>
                </a:cubicBezTo>
                <a:cubicBezTo>
                  <a:pt x="2686" y="429"/>
                  <a:pt x="1943" y="481"/>
                  <a:pt x="1213" y="598"/>
                </a:cubicBezTo>
                <a:cubicBezTo>
                  <a:pt x="913" y="624"/>
                  <a:pt x="652" y="728"/>
                  <a:pt x="509" y="976"/>
                </a:cubicBezTo>
                <a:cubicBezTo>
                  <a:pt x="470" y="1028"/>
                  <a:pt x="444" y="1080"/>
                  <a:pt x="431" y="1146"/>
                </a:cubicBezTo>
                <a:cubicBezTo>
                  <a:pt x="300" y="1524"/>
                  <a:pt x="287" y="1928"/>
                  <a:pt x="300" y="2332"/>
                </a:cubicBezTo>
                <a:cubicBezTo>
                  <a:pt x="209" y="3010"/>
                  <a:pt x="209" y="3700"/>
                  <a:pt x="209" y="4378"/>
                </a:cubicBezTo>
                <a:cubicBezTo>
                  <a:pt x="170" y="4769"/>
                  <a:pt x="144" y="5173"/>
                  <a:pt x="131" y="5565"/>
                </a:cubicBezTo>
                <a:cubicBezTo>
                  <a:pt x="105" y="6203"/>
                  <a:pt x="14" y="6842"/>
                  <a:pt x="14" y="7481"/>
                </a:cubicBezTo>
                <a:cubicBezTo>
                  <a:pt x="1" y="7911"/>
                  <a:pt x="157" y="8315"/>
                  <a:pt x="613" y="8419"/>
                </a:cubicBezTo>
                <a:cubicBezTo>
                  <a:pt x="1056" y="8550"/>
                  <a:pt x="1526" y="8524"/>
                  <a:pt x="1982" y="8550"/>
                </a:cubicBezTo>
                <a:cubicBezTo>
                  <a:pt x="2243" y="8563"/>
                  <a:pt x="2503" y="8589"/>
                  <a:pt x="2764" y="8615"/>
                </a:cubicBezTo>
                <a:cubicBezTo>
                  <a:pt x="3885" y="8745"/>
                  <a:pt x="5006" y="8902"/>
                  <a:pt x="6140" y="8941"/>
                </a:cubicBezTo>
                <a:cubicBezTo>
                  <a:pt x="6220" y="8945"/>
                  <a:pt x="6302" y="8946"/>
                  <a:pt x="6383" y="8946"/>
                </a:cubicBezTo>
                <a:cubicBezTo>
                  <a:pt x="6581" y="8946"/>
                  <a:pt x="6781" y="8937"/>
                  <a:pt x="6974" y="8928"/>
                </a:cubicBezTo>
                <a:cubicBezTo>
                  <a:pt x="7118" y="8941"/>
                  <a:pt x="7274" y="8941"/>
                  <a:pt x="7418" y="8941"/>
                </a:cubicBezTo>
                <a:cubicBezTo>
                  <a:pt x="7568" y="8956"/>
                  <a:pt x="7723" y="8971"/>
                  <a:pt x="7877" y="8971"/>
                </a:cubicBezTo>
                <a:cubicBezTo>
                  <a:pt x="7990" y="8971"/>
                  <a:pt x="8103" y="8963"/>
                  <a:pt x="8213" y="8941"/>
                </a:cubicBezTo>
                <a:cubicBezTo>
                  <a:pt x="8643" y="8810"/>
                  <a:pt x="8565" y="8093"/>
                  <a:pt x="8604" y="7741"/>
                </a:cubicBezTo>
                <a:cubicBezTo>
                  <a:pt x="8669" y="6620"/>
                  <a:pt x="8539" y="5499"/>
                  <a:pt x="8487" y="4378"/>
                </a:cubicBezTo>
                <a:cubicBezTo>
                  <a:pt x="8434" y="3453"/>
                  <a:pt x="8330" y="2527"/>
                  <a:pt x="8252" y="1589"/>
                </a:cubicBezTo>
                <a:cubicBezTo>
                  <a:pt x="8200" y="1341"/>
                  <a:pt x="8239" y="637"/>
                  <a:pt x="8096" y="350"/>
                </a:cubicBezTo>
                <a:lnTo>
                  <a:pt x="8082" y="350"/>
                </a:lnTo>
                <a:cubicBezTo>
                  <a:pt x="8056" y="181"/>
                  <a:pt x="7952" y="51"/>
                  <a:pt x="7704" y="11"/>
                </a:cubicBezTo>
                <a:cubicBezTo>
                  <a:pt x="7645" y="4"/>
                  <a:pt x="7587" y="1"/>
                  <a:pt x="7529" y="1"/>
                </a:cubicBezTo>
                <a:close/>
              </a:path>
            </a:pathLst>
          </a:custGeom>
          <a:solidFill>
            <a:schemeClr val="bg1"/>
          </a:solidFill>
          <a:ln w="76200">
            <a:solidFill>
              <a:schemeClr val="tx1"/>
            </a:solidFill>
          </a:ln>
        </p:spPr>
        <p:txBody>
          <a:bodyPr spcFirstLastPara="1" wrap="square" lIns="91425" tIns="91425" rIns="91425" bIns="91425" anchor="ctr" anchorCtr="0">
            <a:noAutofit/>
          </a:bodyPr>
          <a:lstStyle/>
          <a:p>
            <a:pPr marL="0" lvl="0" indent="0" algn="l" rtl="0">
              <a:spcBef>
                <a:spcPts val="0"/>
              </a:spcBef>
              <a:spcAft>
                <a:spcPts val="0"/>
              </a:spcAft>
              <a:buNone/>
            </a:pPr>
            <a:endParaRPr lang="fr-CI" noProof="0">
              <a:solidFill>
                <a:schemeClr val="bg1"/>
              </a:solidFill>
              <a:latin typeface="Helvetica" panose="020B0604020202020204" pitchFamily="34" charset="0"/>
              <a:cs typeface="Helvetica" panose="020B0604020202020204" pitchFamily="34" charset="0"/>
            </a:endParaRPr>
          </a:p>
        </p:txBody>
      </p:sp>
      <p:sp>
        <p:nvSpPr>
          <p:cNvPr id="25" name="Rectangle 24">
            <a:extLst>
              <a:ext uri="{FF2B5EF4-FFF2-40B4-BE49-F238E27FC236}">
                <a16:creationId xmlns:a16="http://schemas.microsoft.com/office/drawing/2014/main" id="{9B9B23AA-050D-4543-80A0-873FE31AFFF7}"/>
              </a:ext>
            </a:extLst>
          </p:cNvPr>
          <p:cNvSpPr/>
          <p:nvPr/>
        </p:nvSpPr>
        <p:spPr>
          <a:xfrm>
            <a:off x="2446471" y="2869098"/>
            <a:ext cx="513606" cy="936923"/>
          </a:xfrm>
          <a:prstGeom prst="rect">
            <a:avLst/>
          </a:prstGeom>
        </p:spPr>
        <p:txBody>
          <a:bodyPr wrap="square" lIns="0" tIns="0" rIns="0" bIns="0">
            <a:spAutoFit/>
          </a:bodyPr>
          <a:lstStyle/>
          <a:p>
            <a:pPr lvl="0">
              <a:lnSpc>
                <a:spcPct val="110000"/>
              </a:lnSpc>
            </a:pPr>
            <a:r>
              <a:rPr lang="fr-CI" sz="6000" b="1" noProof="0">
                <a:solidFill>
                  <a:schemeClr val="bg1"/>
                </a:solidFill>
                <a:latin typeface="Helvetica" panose="020B0604020202020204" pitchFamily="34" charset="0"/>
                <a:ea typeface="Open Sans Semibold" panose="020B0706030804020204" pitchFamily="34" charset="0"/>
                <a:cs typeface="Helvetica" panose="020B0604020202020204" pitchFamily="34" charset="0"/>
              </a:rPr>
              <a:t>6</a:t>
            </a:r>
          </a:p>
        </p:txBody>
      </p:sp>
      <p:sp>
        <p:nvSpPr>
          <p:cNvPr id="10" name="Rectangle 9"/>
          <p:cNvSpPr/>
          <p:nvPr/>
        </p:nvSpPr>
        <p:spPr>
          <a:xfrm>
            <a:off x="3938554" y="2462184"/>
            <a:ext cx="3816000" cy="1200329"/>
          </a:xfrm>
          <a:prstGeom prst="rect">
            <a:avLst/>
          </a:prstGeom>
        </p:spPr>
        <p:txBody>
          <a:bodyPr wrap="square">
            <a:spAutoFit/>
          </a:bodyPr>
          <a:lstStyle/>
          <a:p>
            <a:r>
              <a:rPr lang="fr-CI" sz="3600" b="1" noProof="0">
                <a:solidFill>
                  <a:schemeClr val="bg1"/>
                </a:solidFill>
                <a:latin typeface="Helvetica" panose="020B0604020202020204" pitchFamily="34" charset="0"/>
                <a:cs typeface="Helvetica" panose="020B0604020202020204" pitchFamily="34" charset="0"/>
              </a:rPr>
              <a:t>Épargne des mutualistes</a:t>
            </a:r>
          </a:p>
        </p:txBody>
      </p:sp>
      <p:pic>
        <p:nvPicPr>
          <p:cNvPr id="9" name="Image 8">
            <a:extLst>
              <a:ext uri="{FF2B5EF4-FFF2-40B4-BE49-F238E27FC236}">
                <a16:creationId xmlns:a16="http://schemas.microsoft.com/office/drawing/2014/main" id="{2C356854-0685-DCEF-E2F6-65D5E9653A47}"/>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71274" y="-185107"/>
            <a:ext cx="3179518" cy="1268781"/>
          </a:xfrm>
          <a:prstGeom prst="rect">
            <a:avLst/>
          </a:prstGeom>
        </p:spPr>
      </p:pic>
      <p:sp>
        <p:nvSpPr>
          <p:cNvPr id="6" name="Rectangle 5"/>
          <p:cNvSpPr/>
          <p:nvPr/>
        </p:nvSpPr>
        <p:spPr>
          <a:xfrm>
            <a:off x="3938554" y="3337559"/>
            <a:ext cx="3816000" cy="923330"/>
          </a:xfrm>
          <a:prstGeom prst="rect">
            <a:avLst/>
          </a:prstGeom>
        </p:spPr>
        <p:txBody>
          <a:bodyPr wrap="square">
            <a:spAutoFit/>
          </a:bodyPr>
          <a:lstStyle/>
          <a:p>
            <a:br>
              <a:rPr lang="fr-CI" noProof="0">
                <a:solidFill>
                  <a:schemeClr val="bg1"/>
                </a:solidFill>
              </a:rPr>
            </a:br>
            <a:r>
              <a:rPr lang="fr-CI" noProof="0">
                <a:solidFill>
                  <a:srgbClr val="EFAC62"/>
                </a:solidFill>
                <a:latin typeface="Helvetica" panose="020B0604020202020204" pitchFamily="34" charset="0"/>
                <a:ea typeface="Open Sans Light" panose="020B0306030504020204" pitchFamily="34" charset="0"/>
                <a:cs typeface="Helvetica" panose="020B0604020202020204" pitchFamily="34" charset="0"/>
              </a:rPr>
              <a:t>Dette d'épargne, actifs réservés, sensibilité aux retraits</a:t>
            </a:r>
          </a:p>
        </p:txBody>
      </p:sp>
      <p:pic>
        <p:nvPicPr>
          <p:cNvPr id="11" name="Image 1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865561" y="2415481"/>
            <a:ext cx="1566911" cy="1600975"/>
          </a:xfrm>
          <a:prstGeom prst="rect">
            <a:avLst/>
          </a:prstGeom>
        </p:spPr>
      </p:pic>
    </p:spTree>
    <p:extLst>
      <p:ext uri="{BB962C8B-B14F-4D97-AF65-F5344CB8AC3E}">
        <p14:creationId xmlns:p14="http://schemas.microsoft.com/office/powerpoint/2010/main" val="3572738984"/>
      </p:ext>
    </p:extLst>
  </p:cSld>
  <p:clrMapOvr>
    <a:masterClrMapping/>
  </p:clrMapOvr>
  <p:transition>
    <p:fade/>
  </p:transition>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7" name="Image 36"/>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3" name="Rectangle 22">
            <a:extLst>
              <a:ext uri="{FF2B5EF4-FFF2-40B4-BE49-F238E27FC236}">
                <a16:creationId xmlns:a16="http://schemas.microsoft.com/office/drawing/2014/main" id="{4CD23CFE-3F31-4BA9-B26F-B9B5B351518E}"/>
              </a:ext>
            </a:extLst>
          </p:cNvPr>
          <p:cNvSpPr/>
          <p:nvPr/>
        </p:nvSpPr>
        <p:spPr>
          <a:xfrm>
            <a:off x="2106184" y="1811264"/>
            <a:ext cx="9685766" cy="901761"/>
          </a:xfrm>
          <a:prstGeom prst="rect">
            <a:avLst/>
          </a:prstGeom>
          <a:ln w="12700">
            <a:solidFill>
              <a:srgbClr val="112A40"/>
            </a:solidFill>
          </a:ln>
        </p:spPr>
        <p:txBody>
          <a:bodyPr wrap="square" lIns="162000" tIns="54000" rIns="72000" bIns="54000" anchor="ctr">
            <a:noAutofit/>
          </a:bodyPr>
          <a:lstStyle/>
          <a:p>
            <a:pPr lvl="0">
              <a:lnSpc>
                <a:spcPct val="110000"/>
              </a:lnSpc>
            </a:pPr>
            <a:r>
              <a:rPr lang="fr-CI" sz="1300" b="1" noProof="0">
                <a:latin typeface="Helvetica" panose="020B0604020202020204" pitchFamily="34" charset="0"/>
                <a:ea typeface="Open Sans Semibold" panose="020B0706030804020204" pitchFamily="34" charset="0"/>
                <a:cs typeface="Helvetica" panose="020B0604020202020204" pitchFamily="34" charset="0"/>
              </a:rPr>
              <a:t>Passif d'épargne</a:t>
            </a:r>
          </a:p>
          <a:p>
            <a:pPr lvl="0">
              <a:lnSpc>
                <a:spcPct val="110000"/>
              </a:lnSpc>
            </a:pPr>
            <a:r>
              <a:rPr lang="fr-CI" sz="1150" noProof="0" b="0">
                <a:latin typeface="Helvetica" panose="020B0604020202020204" pitchFamily="34" charset="0"/>
                <a:ea typeface="Open Sans Light" panose="020B0306030504020204" pitchFamily="34" charset="0"/>
                <a:cs typeface="Helvetica" panose="020B0604020202020204" pitchFamily="34" charset="0"/>
              </a:rPr>
              <a:t>L'épargne due correspond aux soldes créditeurs des comptes 41195100 (PEP) et 41195200 (EFC). C'est une dette du FPPN envers les mutualistes.</a:t>
            </a:r>
          </a:p>
        </p:txBody>
      </p:sp>
      <p:sp>
        <p:nvSpPr>
          <p:cNvPr id="28" name="Rectangle 27">
            <a:extLst>
              <a:ext uri="{FF2B5EF4-FFF2-40B4-BE49-F238E27FC236}">
                <a16:creationId xmlns:a16="http://schemas.microsoft.com/office/drawing/2014/main" id="{9B9B23AA-050D-4543-80A0-873FE31AFFF7}"/>
              </a:ext>
            </a:extLst>
          </p:cNvPr>
          <p:cNvSpPr/>
          <p:nvPr/>
        </p:nvSpPr>
        <p:spPr>
          <a:xfrm>
            <a:off x="1538714" y="1463475"/>
            <a:ext cx="5748535" cy="166944"/>
          </a:xfrm>
          <a:prstGeom prst="rect">
            <a:avLst/>
          </a:prstGeom>
        </p:spPr>
        <p:txBody>
          <a:bodyPr wrap="square" lIns="0" tIns="0" rIns="0" bIns="0">
            <a:spAutoFit/>
          </a:bodyPr>
          <a:lstStyle/>
          <a:p>
            <a:pPr lvl="0">
              <a:lnSpc>
                <a:spcPct val="110000"/>
              </a:lnSpc>
            </a:pPr>
            <a:r>
              <a:rPr lang="fr-CI" sz="1300" b="1" noProof="0">
                <a:latin typeface="Helvetica" panose="020B0604020202020204" pitchFamily="34" charset="0"/>
                <a:ea typeface="Open Sans Semibold" panose="020B0706030804020204" pitchFamily="34" charset="0"/>
                <a:cs typeface="Helvetica" panose="020B0604020202020204" pitchFamily="34" charset="0"/>
              </a:rPr>
              <a:t/>
            </a:r>
          </a:p>
        </p:txBody>
      </p:sp>
      <p:cxnSp>
        <p:nvCxnSpPr>
          <p:cNvPr id="29" name="Straight Connector 28">
            <a:extLst>
              <a:ext uri="{FF2B5EF4-FFF2-40B4-BE49-F238E27FC236}">
                <a16:creationId xmlns:a16="http://schemas.microsoft.com/office/drawing/2014/main" id="{09E553D9-3562-45A7-BE4B-0F12FAA0490F}"/>
              </a:ext>
            </a:extLst>
          </p:cNvPr>
          <p:cNvCxnSpPr>
            <a:cxnSpLocks/>
          </p:cNvCxnSpPr>
          <p:nvPr/>
        </p:nvCxnSpPr>
        <p:spPr>
          <a:xfrm>
            <a:off x="916803" y="1707866"/>
            <a:ext cx="0" cy="3668091"/>
          </a:xfrm>
          <a:prstGeom prst="line">
            <a:avLst/>
          </a:prstGeom>
          <a:ln w="12700">
            <a:solidFill>
              <a:srgbClr val="112A40"/>
            </a:solidFill>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DA735D38-741F-4EFB-826C-6F87FD459AB4}"/>
              </a:ext>
            </a:extLst>
          </p:cNvPr>
          <p:cNvCxnSpPr/>
          <p:nvPr/>
        </p:nvCxnSpPr>
        <p:spPr>
          <a:xfrm>
            <a:off x="916803" y="2291826"/>
            <a:ext cx="621911" cy="3600"/>
          </a:xfrm>
          <a:prstGeom prst="line">
            <a:avLst/>
          </a:prstGeom>
          <a:ln w="12700">
            <a:solidFill>
              <a:srgbClr val="112A40"/>
            </a:solidFill>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EBCFE36B-AE16-49E8-90A6-6621A0EB0473}"/>
              </a:ext>
            </a:extLst>
          </p:cNvPr>
          <p:cNvCxnSpPr/>
          <p:nvPr/>
        </p:nvCxnSpPr>
        <p:spPr>
          <a:xfrm>
            <a:off x="916803" y="3273370"/>
            <a:ext cx="621911" cy="3600"/>
          </a:xfrm>
          <a:prstGeom prst="line">
            <a:avLst/>
          </a:prstGeom>
          <a:ln w="12700">
            <a:solidFill>
              <a:srgbClr val="112A40"/>
            </a:solidFill>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2697F6E2-C26B-4E5F-B7F9-95C6E9325040}"/>
              </a:ext>
            </a:extLst>
          </p:cNvPr>
          <p:cNvCxnSpPr/>
          <p:nvPr/>
        </p:nvCxnSpPr>
        <p:spPr>
          <a:xfrm>
            <a:off x="916803" y="5368324"/>
            <a:ext cx="621911" cy="3600"/>
          </a:xfrm>
          <a:prstGeom prst="line">
            <a:avLst/>
          </a:prstGeom>
          <a:ln w="12700">
            <a:solidFill>
              <a:srgbClr val="112A40"/>
            </a:solidFill>
          </a:ln>
        </p:spPr>
        <p:style>
          <a:lnRef idx="1">
            <a:schemeClr val="accent1"/>
          </a:lnRef>
          <a:fillRef idx="0">
            <a:schemeClr val="accent1"/>
          </a:fillRef>
          <a:effectRef idx="0">
            <a:schemeClr val="accent1"/>
          </a:effectRef>
          <a:fontRef idx="minor">
            <a:schemeClr val="tx1"/>
          </a:fontRef>
        </p:style>
      </p:cxnSp>
      <p:sp>
        <p:nvSpPr>
          <p:cNvPr id="24" name="Rectangle 23">
            <a:extLst>
              <a:ext uri="{FF2B5EF4-FFF2-40B4-BE49-F238E27FC236}">
                <a16:creationId xmlns:a16="http://schemas.microsoft.com/office/drawing/2014/main" id="{4CD23CFE-3F31-4BA9-B26F-B9B5B351518E}"/>
              </a:ext>
            </a:extLst>
          </p:cNvPr>
          <p:cNvSpPr/>
          <p:nvPr/>
        </p:nvSpPr>
        <p:spPr>
          <a:xfrm>
            <a:off x="2103510" y="2847523"/>
            <a:ext cx="9685766" cy="901761"/>
          </a:xfrm>
          <a:prstGeom prst="rect">
            <a:avLst/>
          </a:prstGeom>
          <a:ln w="12700">
            <a:solidFill>
              <a:srgbClr val="112A40"/>
            </a:solidFill>
          </a:ln>
        </p:spPr>
        <p:txBody>
          <a:bodyPr wrap="square" lIns="162000" tIns="54000" rIns="72000" bIns="54000" anchor="ctr">
            <a:noAutofit/>
          </a:bodyPr>
          <a:lstStyle/>
          <a:p>
            <a:pPr lvl="0">
              <a:lnSpc>
                <a:spcPct val="110000"/>
              </a:lnSpc>
            </a:pPr>
            <a:r>
              <a:rPr lang="fr-CI" sz="1300" b="1" noProof="0">
                <a:latin typeface="Helvetica" panose="020B0604020202020204" pitchFamily="34" charset="0"/>
                <a:ea typeface="Open Sans Semibold" panose="020B0706030804020204" pitchFamily="34" charset="0"/>
                <a:cs typeface="Helvetica" panose="020B0604020202020204" pitchFamily="34" charset="0"/>
              </a:rPr>
              <a:t>Actifs réservés</a:t>
            </a:r>
          </a:p>
          <a:p>
            <a:pPr lvl="0">
              <a:lnSpc>
                <a:spcPct val="110000"/>
              </a:lnSpc>
            </a:pPr>
            <a:r>
              <a:rPr lang="fr-CI" sz="1150" noProof="0" b="0">
                <a:latin typeface="Helvetica" panose="020B0604020202020204" pitchFamily="34" charset="0"/>
                <a:ea typeface="Open Sans Light" panose="020B0306030504020204" pitchFamily="34" charset="0"/>
                <a:cs typeface="Helvetica" panose="020B0604020202020204" pitchFamily="34" charset="0"/>
              </a:rPr>
              <a:t>Adenka retient les comptes bancaires et dépôts à terme dont l'intitulé désigne l'EFC ou le PEP (5211020x, 5221020x, 5211030x, 5221030x, 526120) et le fonds commun de placement (5330).</a:t>
            </a:r>
          </a:p>
        </p:txBody>
      </p:sp>
      <p:sp>
        <p:nvSpPr>
          <p:cNvPr id="33" name="Rectangle 32">
            <a:extLst>
              <a:ext uri="{FF2B5EF4-FFF2-40B4-BE49-F238E27FC236}">
                <a16:creationId xmlns:a16="http://schemas.microsoft.com/office/drawing/2014/main" id="{4CD23CFE-3F31-4BA9-B26F-B9B5B351518E}"/>
              </a:ext>
            </a:extLst>
          </p:cNvPr>
          <p:cNvSpPr/>
          <p:nvPr/>
        </p:nvSpPr>
        <p:spPr>
          <a:xfrm>
            <a:off x="2125344" y="3881185"/>
            <a:ext cx="9685766" cy="901761"/>
          </a:xfrm>
          <a:prstGeom prst="rect">
            <a:avLst/>
          </a:prstGeom>
          <a:ln w="12700">
            <a:solidFill>
              <a:srgbClr val="112A40"/>
            </a:solidFill>
          </a:ln>
        </p:spPr>
        <p:txBody>
          <a:bodyPr wrap="square" lIns="162000" tIns="54000" rIns="72000" bIns="54000" anchor="ctr">
            <a:noAutofit/>
          </a:bodyPr>
          <a:lstStyle/>
          <a:p>
            <a:pPr lvl="0">
              <a:lnSpc>
                <a:spcPct val="110000"/>
              </a:lnSpc>
            </a:pPr>
            <a:r>
              <a:rPr lang="fr-CI" sz="1300" b="1" noProof="0">
                <a:latin typeface="Helvetica" panose="020B0604020202020204" pitchFamily="34" charset="0"/>
                <a:ea typeface="Open Sans Semibold" panose="020B0706030804020204" pitchFamily="34" charset="0"/>
                <a:cs typeface="Helvetica" panose="020B0604020202020204" pitchFamily="34" charset="0"/>
              </a:rPr>
              <a:t>Couverture</a:t>
            </a:r>
          </a:p>
          <a:p>
            <a:pPr lvl="0">
              <a:lnSpc>
                <a:spcPct val="110000"/>
              </a:lnSpc>
            </a:pPr>
            <a:r>
              <a:rPr lang="fr-CI" sz="1150" noProof="0" b="0">
                <a:latin typeface="Helvetica" panose="020B0604020202020204" pitchFamily="34" charset="0"/>
                <a:ea typeface="Open Sans Light" panose="020B0306030504020204" pitchFamily="34" charset="0"/>
                <a:cs typeface="Helvetica" panose="020B0604020202020204" pitchFamily="34" charset="0"/>
              </a:rPr>
              <a:t>La couverture rapporte les actifs réservés à l'épargne due, à chaque clôture de 2020 au 31/08/2026.</a:t>
            </a:r>
          </a:p>
        </p:txBody>
      </p:sp>
      <p:sp>
        <p:nvSpPr>
          <p:cNvPr id="34" name="Rectangle 33">
            <a:extLst>
              <a:ext uri="{FF2B5EF4-FFF2-40B4-BE49-F238E27FC236}">
                <a16:creationId xmlns:a16="http://schemas.microsoft.com/office/drawing/2014/main" id="{4CD23CFE-3F31-4BA9-B26F-B9B5B351518E}"/>
              </a:ext>
            </a:extLst>
          </p:cNvPr>
          <p:cNvSpPr/>
          <p:nvPr/>
        </p:nvSpPr>
        <p:spPr>
          <a:xfrm>
            <a:off x="2122670" y="4917444"/>
            <a:ext cx="9685766" cy="901761"/>
          </a:xfrm>
          <a:prstGeom prst="rect">
            <a:avLst/>
          </a:prstGeom>
          <a:ln w="12700">
            <a:solidFill>
              <a:srgbClr val="112A40"/>
            </a:solidFill>
          </a:ln>
        </p:spPr>
        <p:txBody>
          <a:bodyPr wrap="square" lIns="162000" tIns="54000" rIns="72000" bIns="54000" anchor="ctr">
            <a:noAutofit/>
          </a:bodyPr>
          <a:lstStyle/>
          <a:p>
            <a:pPr lvl="1">
              <a:lnSpc>
                <a:spcPct val="110000"/>
              </a:lnSpc>
            </a:pPr>
            <a:r>
              <a:rPr lang="fr-CI" sz="1300" b="1" noProof="0">
                <a:latin typeface="Helvetica" panose="020B0604020202020204" pitchFamily="34" charset="0"/>
                <a:ea typeface="Open Sans Semibold" panose="020B0706030804020204" pitchFamily="34" charset="0"/>
                <a:cs typeface="Helvetica" panose="020B0604020202020204" pitchFamily="34" charset="0"/>
              </a:rPr>
              <a:t>Limite</a:t>
            </a:r>
          </a:p>
          <a:p>
            <a:pPr lvl="1">
              <a:lnSpc>
                <a:spcPct val="110000"/>
              </a:lnSpc>
            </a:pPr>
            <a:r>
              <a:rPr lang="fr-CI" sz="1150" noProof="0" b="0">
                <a:latin typeface="Helvetica" panose="020B0604020202020204" pitchFamily="34" charset="0"/>
                <a:ea typeface="Open Sans Light" panose="020B0306030504020204" pitchFamily="34" charset="0"/>
                <a:cs typeface="Helvetica" panose="020B0604020202020204" pitchFamily="34" charset="0"/>
              </a:rPr>
              <a:t>Le règlement des produits n'a pas été transmis : la part de l'épargne exigible à court terme et l'affectation du fonds commun de placement restent à confirmer.</a:t>
            </a:r>
            <a:endParaRPr lang="fr-CI" sz="1200">
              <a:latin typeface="Helvetica" panose="020B0604020202020204" pitchFamily="34" charset="0"/>
              <a:ea typeface="Open Sans Light" panose="020B0306030504020204" pitchFamily="34" charset="0"/>
              <a:cs typeface="Helvetica" panose="020B0604020202020204" pitchFamily="34" charset="0"/>
            </a:endParaRPr>
          </a:p>
        </p:txBody>
      </p:sp>
      <p:cxnSp>
        <p:nvCxnSpPr>
          <p:cNvPr id="39" name="Straight Connector 30">
            <a:extLst>
              <a:ext uri="{FF2B5EF4-FFF2-40B4-BE49-F238E27FC236}">
                <a16:creationId xmlns:a16="http://schemas.microsoft.com/office/drawing/2014/main" id="{EBCFE36B-AE16-49E8-90A6-6621A0EB0473}"/>
              </a:ext>
            </a:extLst>
          </p:cNvPr>
          <p:cNvCxnSpPr/>
          <p:nvPr/>
        </p:nvCxnSpPr>
        <p:spPr>
          <a:xfrm>
            <a:off x="919504" y="4326976"/>
            <a:ext cx="621911" cy="3600"/>
          </a:xfrm>
          <a:prstGeom prst="line">
            <a:avLst/>
          </a:prstGeom>
          <a:ln w="12700">
            <a:solidFill>
              <a:srgbClr val="112A40"/>
            </a:solidFill>
          </a:ln>
        </p:spPr>
        <p:style>
          <a:lnRef idx="1">
            <a:schemeClr val="accent1"/>
          </a:lnRef>
          <a:fillRef idx="0">
            <a:schemeClr val="accent1"/>
          </a:fillRef>
          <a:effectRef idx="0">
            <a:schemeClr val="accent1"/>
          </a:effectRef>
          <a:fontRef idx="minor">
            <a:schemeClr val="tx1"/>
          </a:fontRef>
        </p:style>
      </p:cxnSp>
      <p:grpSp>
        <p:nvGrpSpPr>
          <p:cNvPr id="11" name="Groupe 10"/>
          <p:cNvGrpSpPr/>
          <p:nvPr/>
        </p:nvGrpSpPr>
        <p:grpSpPr>
          <a:xfrm>
            <a:off x="1554870" y="2047565"/>
            <a:ext cx="548640" cy="548640"/>
            <a:chOff x="-1153645" y="1535690"/>
            <a:chExt cx="548640" cy="548640"/>
          </a:xfrm>
        </p:grpSpPr>
        <p:sp>
          <p:nvSpPr>
            <p:cNvPr id="36" name="Oval 21">
              <a:extLst>
                <a:ext uri="{FF2B5EF4-FFF2-40B4-BE49-F238E27FC236}">
                  <a16:creationId xmlns:a16="http://schemas.microsoft.com/office/drawing/2014/main" id="{7BB796F0-2DE6-45B1-851B-D8991F423CF4}"/>
                </a:ext>
              </a:extLst>
            </p:cNvPr>
            <p:cNvSpPr/>
            <p:nvPr/>
          </p:nvSpPr>
          <p:spPr bwMode="gray">
            <a:xfrm>
              <a:off x="-1153645" y="1535690"/>
              <a:ext cx="548640" cy="548640"/>
            </a:xfrm>
            <a:prstGeom prst="ellipse">
              <a:avLst/>
            </a:prstGeom>
            <a:solidFill>
              <a:schemeClr val="tx1"/>
            </a:solidFill>
            <a:ln w="19050" algn="ctr">
              <a:noFill/>
              <a:miter lim="800000"/>
              <a:headEnd/>
              <a:tailEnd/>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 typeface="Wingdings 2" pitchFamily="18" charset="2"/>
                <a:buNone/>
                <a:tabLst/>
                <a:defRPr/>
              </a:pPr>
              <a:endParaRPr kumimoji="0" lang="fr-CI" sz="1100" b="1" i="0" u="none" strike="noStrike" kern="1200" cap="none" spc="0" normalizeH="0" baseline="0" noProof="0">
                <a:ln>
                  <a:noFill/>
                </a:ln>
                <a:solidFill>
                  <a:prstClr val="white"/>
                </a:solidFill>
                <a:effectLst/>
                <a:uLnTx/>
                <a:uFillTx/>
                <a:latin typeface="Helvetica" panose="020B0604020202020204" pitchFamily="34" charset="0"/>
                <a:ea typeface="Open Sans Semibold" panose="020B0706030804020204" pitchFamily="34" charset="0"/>
                <a:cs typeface="Helvetica" panose="020B0604020202020204" pitchFamily="34" charset="0"/>
              </a:endParaRPr>
            </a:p>
          </p:txBody>
        </p:sp>
        <p:pic>
          <p:nvPicPr>
            <p:cNvPr id="40" name="Image 39"/>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23163" y="1564148"/>
              <a:ext cx="486259" cy="491723"/>
            </a:xfrm>
            <a:prstGeom prst="rect">
              <a:avLst/>
            </a:prstGeom>
          </p:spPr>
        </p:pic>
      </p:grpSp>
      <p:grpSp>
        <p:nvGrpSpPr>
          <p:cNvPr id="12" name="Groupe 11"/>
          <p:cNvGrpSpPr/>
          <p:nvPr/>
        </p:nvGrpSpPr>
        <p:grpSpPr>
          <a:xfrm>
            <a:off x="1557425" y="3008849"/>
            <a:ext cx="548640" cy="548640"/>
            <a:chOff x="-1154302" y="2719457"/>
            <a:chExt cx="548640" cy="548640"/>
          </a:xfrm>
        </p:grpSpPr>
        <p:sp>
          <p:nvSpPr>
            <p:cNvPr id="42" name="Oval 21">
              <a:extLst>
                <a:ext uri="{FF2B5EF4-FFF2-40B4-BE49-F238E27FC236}">
                  <a16:creationId xmlns:a16="http://schemas.microsoft.com/office/drawing/2014/main" id="{7BB796F0-2DE6-45B1-851B-D8991F423CF4}"/>
                </a:ext>
              </a:extLst>
            </p:cNvPr>
            <p:cNvSpPr/>
            <p:nvPr/>
          </p:nvSpPr>
          <p:spPr bwMode="gray">
            <a:xfrm>
              <a:off x="-1154302" y="2719457"/>
              <a:ext cx="548640" cy="548640"/>
            </a:xfrm>
            <a:prstGeom prst="ellipse">
              <a:avLst/>
            </a:prstGeom>
            <a:solidFill>
              <a:schemeClr val="tx1"/>
            </a:solidFill>
            <a:ln w="19050" algn="ctr">
              <a:noFill/>
              <a:miter lim="800000"/>
              <a:headEnd/>
              <a:tailEnd/>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 typeface="Wingdings 2" pitchFamily="18" charset="2"/>
                <a:buNone/>
                <a:tabLst/>
                <a:defRPr/>
              </a:pPr>
              <a:endParaRPr kumimoji="0" lang="fr-CI" sz="1100" b="1" i="0" u="none" strike="noStrike" kern="1200" cap="none" spc="0" normalizeH="0" baseline="0" noProof="0">
                <a:ln>
                  <a:noFill/>
                </a:ln>
                <a:solidFill>
                  <a:prstClr val="white"/>
                </a:solidFill>
                <a:effectLst/>
                <a:uLnTx/>
                <a:uFillTx/>
                <a:latin typeface="Helvetica" panose="020B0604020202020204" pitchFamily="34" charset="0"/>
                <a:ea typeface="Open Sans Semibold" panose="020B0706030804020204" pitchFamily="34" charset="0"/>
                <a:cs typeface="Helvetica" panose="020B0604020202020204" pitchFamily="34" charset="0"/>
              </a:endParaRPr>
            </a:p>
          </p:txBody>
        </p:sp>
        <p:pic>
          <p:nvPicPr>
            <p:cNvPr id="7" name="Image 6"/>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74901" y="2781886"/>
              <a:ext cx="396274" cy="396274"/>
            </a:xfrm>
            <a:prstGeom prst="rect">
              <a:avLst/>
            </a:prstGeom>
          </p:spPr>
        </p:pic>
      </p:grpSp>
      <p:grpSp>
        <p:nvGrpSpPr>
          <p:cNvPr id="13" name="Groupe 12"/>
          <p:cNvGrpSpPr/>
          <p:nvPr/>
        </p:nvGrpSpPr>
        <p:grpSpPr>
          <a:xfrm>
            <a:off x="1567381" y="4044725"/>
            <a:ext cx="548640" cy="552951"/>
            <a:chOff x="-1185544" y="4122202"/>
            <a:chExt cx="548640" cy="552951"/>
          </a:xfrm>
        </p:grpSpPr>
        <p:sp>
          <p:nvSpPr>
            <p:cNvPr id="44" name="Oval 21">
              <a:extLst>
                <a:ext uri="{FF2B5EF4-FFF2-40B4-BE49-F238E27FC236}">
                  <a16:creationId xmlns:a16="http://schemas.microsoft.com/office/drawing/2014/main" id="{7BB796F0-2DE6-45B1-851B-D8991F423CF4}"/>
                </a:ext>
              </a:extLst>
            </p:cNvPr>
            <p:cNvSpPr/>
            <p:nvPr/>
          </p:nvSpPr>
          <p:spPr bwMode="gray">
            <a:xfrm>
              <a:off x="-1185544" y="4122202"/>
              <a:ext cx="548640" cy="548640"/>
            </a:xfrm>
            <a:prstGeom prst="ellipse">
              <a:avLst/>
            </a:prstGeom>
            <a:solidFill>
              <a:schemeClr val="tx1"/>
            </a:solidFill>
            <a:ln w="19050" algn="ctr">
              <a:noFill/>
              <a:miter lim="800000"/>
              <a:headEnd/>
              <a:tailEnd/>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 typeface="Wingdings 2" pitchFamily="18" charset="2"/>
                <a:buNone/>
                <a:tabLst/>
                <a:defRPr/>
              </a:pPr>
              <a:endParaRPr kumimoji="0" lang="fr-CI" sz="1100" b="1" i="0" u="none" strike="noStrike" kern="1200" cap="none" spc="0" normalizeH="0" baseline="0" noProof="0">
                <a:ln>
                  <a:noFill/>
                </a:ln>
                <a:solidFill>
                  <a:prstClr val="white"/>
                </a:solidFill>
                <a:effectLst/>
                <a:uLnTx/>
                <a:uFillTx/>
                <a:latin typeface="Helvetica" panose="020B0604020202020204" pitchFamily="34" charset="0"/>
                <a:ea typeface="Open Sans Semibold" panose="020B0706030804020204" pitchFamily="34" charset="0"/>
                <a:cs typeface="Helvetica" panose="020B0604020202020204" pitchFamily="34" charset="0"/>
              </a:endParaRPr>
            </a:p>
          </p:txBody>
        </p:sp>
        <p:pic>
          <p:nvPicPr>
            <p:cNvPr id="8" name="Image 7"/>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171838" y="4144755"/>
              <a:ext cx="524301" cy="530398"/>
            </a:xfrm>
            <a:prstGeom prst="rect">
              <a:avLst/>
            </a:prstGeom>
          </p:spPr>
        </p:pic>
      </p:grpSp>
      <p:grpSp>
        <p:nvGrpSpPr>
          <p:cNvPr id="14" name="Groupe 13"/>
          <p:cNvGrpSpPr/>
          <p:nvPr/>
        </p:nvGrpSpPr>
        <p:grpSpPr>
          <a:xfrm>
            <a:off x="1567381" y="5111071"/>
            <a:ext cx="548640" cy="548640"/>
            <a:chOff x="-1227267" y="5286500"/>
            <a:chExt cx="548640" cy="548640"/>
          </a:xfrm>
        </p:grpSpPr>
        <p:sp>
          <p:nvSpPr>
            <p:cNvPr id="45" name="Oval 21">
              <a:extLst>
                <a:ext uri="{FF2B5EF4-FFF2-40B4-BE49-F238E27FC236}">
                  <a16:creationId xmlns:a16="http://schemas.microsoft.com/office/drawing/2014/main" id="{7BB796F0-2DE6-45B1-851B-D8991F423CF4}"/>
                </a:ext>
              </a:extLst>
            </p:cNvPr>
            <p:cNvSpPr/>
            <p:nvPr/>
          </p:nvSpPr>
          <p:spPr bwMode="gray">
            <a:xfrm>
              <a:off x="-1227267" y="5286500"/>
              <a:ext cx="548640" cy="548640"/>
            </a:xfrm>
            <a:prstGeom prst="ellipse">
              <a:avLst/>
            </a:prstGeom>
            <a:solidFill>
              <a:schemeClr val="tx1"/>
            </a:solidFill>
            <a:ln w="19050" algn="ctr">
              <a:noFill/>
              <a:miter lim="800000"/>
              <a:headEnd/>
              <a:tailEnd/>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 typeface="Wingdings 2" pitchFamily="18" charset="2"/>
                <a:buNone/>
                <a:tabLst/>
                <a:defRPr/>
              </a:pPr>
              <a:endParaRPr kumimoji="0" lang="fr-CI" sz="1100" b="1" i="0" u="none" strike="noStrike" kern="1200" cap="none" spc="0" normalizeH="0" baseline="0" noProof="0">
                <a:ln>
                  <a:noFill/>
                </a:ln>
                <a:solidFill>
                  <a:prstClr val="white"/>
                </a:solidFill>
                <a:effectLst/>
                <a:uLnTx/>
                <a:uFillTx/>
                <a:latin typeface="Helvetica" panose="020B0604020202020204" pitchFamily="34" charset="0"/>
                <a:ea typeface="Open Sans Semibold" panose="020B0706030804020204" pitchFamily="34" charset="0"/>
                <a:cs typeface="Helvetica" panose="020B0604020202020204" pitchFamily="34" charset="0"/>
              </a:endParaRPr>
            </a:p>
          </p:txBody>
        </p:sp>
        <p:pic>
          <p:nvPicPr>
            <p:cNvPr id="9" name="Image 8"/>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1171838" y="5346402"/>
              <a:ext cx="422834" cy="432026"/>
            </a:xfrm>
            <a:prstGeom prst="rect">
              <a:avLst/>
            </a:prstGeom>
          </p:spPr>
        </p:pic>
      </p:grpSp>
      <p:sp>
        <p:nvSpPr>
          <p:cNvPr id="50" name="ZoneTexte 49">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pic>
        <p:nvPicPr>
          <p:cNvPr id="51" name="Image 50"/>
          <p:cNvPicPr>
            <a:picLocks noChangeAspect="1"/>
          </p:cNvPicPr>
          <p:nvPr/>
        </p:nvPicPr>
        <p:blipFill rotWithShape="1">
          <a:blip r:embed="rId7" cstate="print">
            <a:extLst>
              <a:ext uri="{28A0092B-C50C-407E-A947-70E740481C1C}">
                <a14:useLocalDpi xmlns:a14="http://schemas.microsoft.com/office/drawing/2010/main" val="0"/>
              </a:ext>
            </a:extLst>
          </a:blip>
          <a:srcRect l="4260" t="13024" r="74155" b="14121"/>
          <a:stretch/>
        </p:blipFill>
        <p:spPr>
          <a:xfrm>
            <a:off x="702475" y="1350400"/>
            <a:ext cx="392679" cy="406703"/>
          </a:xfrm>
          <a:prstGeom prst="rect">
            <a:avLst/>
          </a:prstGeom>
        </p:spPr>
      </p:pic>
      <p:sp>
        <p:nvSpPr>
          <p:cNvPr id="52"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Méthode : adossement de l'épargne</a:t>
            </a:r>
          </a:p>
        </p:txBody>
      </p:sp>
      <p:sp>
        <p:nvSpPr>
          <p:cNvPr id="53"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La couverture compare l'épargne due aux actifs qui lui sont réservés</a:t>
            </a:r>
          </a:p>
        </p:txBody>
      </p:sp>
      <p:sp>
        <p:nvSpPr>
          <p:cNvPr id="54"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Couverture = (banques, dépôts à terme et fonds réservés) / (comptes PEP et EFC)</a:t>
            </a:r>
          </a:p>
        </p:txBody>
      </p:sp>
      <p:sp>
        <p:nvSpPr>
          <p:cNvPr id="55"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Adenka</a:t>
            </a:r>
          </a:p>
        </p:txBody>
      </p:sp>
      <p:sp>
        <p:nvSpPr>
          <p:cNvPr id="56" name="TextBox 55"/>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PEP : Plan Épargne Plus | EFC : entraide fin de carrière</a:t>
            </a:r>
          </a:p>
        </p:txBody>
      </p:sp>
    </p:spTree>
    <p:extLst>
      <p:ext uri="{BB962C8B-B14F-4D97-AF65-F5344CB8AC3E}">
        <p14:creationId xmlns:p14="http://schemas.microsoft.com/office/powerpoint/2010/main" val="2385136100"/>
      </p:ext>
    </p:extLst>
  </p:cSld>
  <p:clrMapOvr>
    <a:masterClrMapping/>
  </p:clrMapOvr>
  <p:transition>
    <p:fade/>
  </p:transition>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Calcul pas à pas : couverture de l'épargne</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Deux comptes de dette face à quatre comptes d'actifs réservés</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2 562 885 661 FCFA / 15 743 516 391 FCFA = 16,28 % au 31/08/2026</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balance au 31/08/2026 (impression provisoire)</a:t>
            </a:r>
          </a:p>
        </p:txBody>
      </p:sp>
      <p:sp>
        <p:nvSpPr>
          <p:cNvPr id="31" name="TextBox 30"/>
          <p:cNvSpPr txBox="1"/>
          <p:nvPr/>
        </p:nvSpPr>
        <p:spPr>
          <a:xfrm>
            <a:off x="503999" y="1350000"/>
            <a:ext cx="7703999" cy="180000"/>
          </a:xfrm>
          <a:prstGeom prst="rect">
            <a:avLst/>
          </a:prstGeom>
          <a:noFill/>
        </p:spPr>
        <p:txBody>
          <a:bodyPr wrap="square" anchor="t" lIns="54000" rIns="54000"/>
          <a:lstStyle/>
          <a:p>
            <a:pPr algn="l"/>
            <a:r>
              <a:rPr sz="900" b="0">
                <a:solidFill>
                  <a:srgbClr val="53565A"/>
                </a:solidFill>
                <a:latin typeface="Helvetica"/>
              </a:rPr>
              <a:t>Extrait : AUDIT ADENKA\DAFC\2026\BALANCE FPPN DU 01-01-2026 AU 31-08-2026.xlsx</a:t>
            </a:r>
          </a:p>
        </p:txBody>
      </p:sp>
      <p:graphicFrame>
        <p:nvGraphicFramePr>
          <p:cNvPr id="32" name="Table 31"/>
          <p:cNvGraphicFramePr>
            <a:graphicFrameLocks noGrp="1"/>
          </p:cNvGraphicFramePr>
          <p:nvPr/>
        </p:nvGraphicFramePr>
        <p:xfrm>
          <a:off x="503999" y="1548000"/>
          <a:ext cx="7704000" cy="1890081"/>
        </p:xfrm>
        <a:graphic>
          <a:graphicData uri="http://schemas.openxmlformats.org/drawingml/2006/table">
            <a:tbl>
              <a:tblPr firstRow="0" bandRow="0">
                <a:tableStyleId>{5940675A-B579-460E-94D1-54222C63F5DA}</a:tableStyleId>
              </a:tblPr>
              <a:tblGrid>
                <a:gridCol w="1224000"/>
                <a:gridCol w="4104000"/>
                <a:gridCol w="2376000"/>
              </a:tblGrid>
              <a:tr h="210009">
                <a:tc>
                  <a:txBody>
                    <a:bodyPr/>
                    <a:lstStyle/>
                    <a:p>
                      <a:pPr marL="0" indent="0" lvl="0">
                        <a:buNone/>
                      </a:pPr>
                      <a:r>
                        <a:rPr sz="1000" b="1">
                          <a:solidFill>
                            <a:srgbClr val="FFFFFF"/>
                          </a:solidFill>
                          <a:latin typeface="Helvetica"/>
                        </a:rPr>
                        <a:t>Compte</a:t>
                      </a:r>
                    </a:p>
                  </a:txBody>
                  <a:tcPr marL="43200" marR="43200" marT="14400" marB="14400" anchor="ctr">
                    <a:solidFill>
                      <a:srgbClr val="060606"/>
                    </a:solidFill>
                  </a:tcPr>
                </a:tc>
                <a:tc>
                  <a:txBody>
                    <a:bodyPr/>
                    <a:lstStyle/>
                    <a:p>
                      <a:pPr marL="0" indent="0" lvl="0">
                        <a:buNone/>
                      </a:pPr>
                      <a:r>
                        <a:rPr sz="1000" b="1">
                          <a:solidFill>
                            <a:srgbClr val="FFFFFF"/>
                          </a:solidFill>
                          <a:latin typeface="Helvetica"/>
                        </a:rPr>
                        <a:t>Intitulé</a:t>
                      </a:r>
                    </a:p>
                  </a:txBody>
                  <a:tcPr marL="43200" marR="43200" marT="14400" marB="14400" anchor="ctr">
                    <a:solidFill>
                      <a:srgbClr val="060606"/>
                    </a:solidFill>
                  </a:tcPr>
                </a:tc>
                <a:tc>
                  <a:txBody>
                    <a:bodyPr/>
                    <a:lstStyle/>
                    <a:p>
                      <a:pPr marL="0" indent="0" lvl="0">
                        <a:buNone/>
                      </a:pPr>
                      <a:r>
                        <a:rPr sz="1000" b="1">
                          <a:solidFill>
                            <a:srgbClr val="FFFFFF"/>
                          </a:solidFill>
                          <a:latin typeface="Helvetica"/>
                        </a:rPr>
                        <a:t>Solde au 31/08/2026</a:t>
                      </a:r>
                    </a:p>
                  </a:txBody>
                  <a:tcPr marL="43200" marR="43200" marT="14400" marB="14400" anchor="ctr">
                    <a:solidFill>
                      <a:srgbClr val="060606"/>
                    </a:solidFill>
                  </a:tcPr>
                </a:tc>
              </a:tr>
              <a:tr h="210009">
                <a:tc>
                  <a:txBody>
                    <a:bodyPr/>
                    <a:lstStyle/>
                    <a:p>
                      <a:pPr marL="0" indent="0" lvl="0">
                        <a:buNone/>
                      </a:pPr>
                      <a:r>
                        <a:rPr sz="1000" b="1">
                          <a:solidFill>
                            <a:srgbClr val="060606"/>
                          </a:solidFill>
                          <a:latin typeface="Helvetica"/>
                        </a:rPr>
                        <a:t>41195100</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COTISATION PEP</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5 229 245 425 FCFA</a:t>
                      </a:r>
                    </a:p>
                  </a:txBody>
                  <a:tcPr marL="43200" marR="43200" marT="14400" marB="14400" anchor="ctr">
                    <a:solidFill>
                      <a:srgbClr val="FFFFFF"/>
                    </a:solidFill>
                  </a:tcPr>
                </a:tc>
              </a:tr>
              <a:tr h="210009">
                <a:tc>
                  <a:txBody>
                    <a:bodyPr/>
                    <a:lstStyle/>
                    <a:p>
                      <a:pPr marL="0" indent="0" lvl="0">
                        <a:buNone/>
                      </a:pPr>
                      <a:r>
                        <a:rPr sz="1000" b="1">
                          <a:solidFill>
                            <a:srgbClr val="060606"/>
                          </a:solidFill>
                          <a:latin typeface="Helvetica"/>
                        </a:rPr>
                        <a:t>41195200</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COTISATION EFC</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10 514 270 966 FCFA</a:t>
                      </a:r>
                    </a:p>
                  </a:txBody>
                  <a:tcPr marL="43200" marR="43200" marT="14400" marB="14400" anchor="ctr">
                    <a:solidFill>
                      <a:srgbClr val="F2F2F2"/>
                    </a:solidFill>
                  </a:tcPr>
                </a:tc>
              </a:tr>
              <a:tr h="210009">
                <a:tc>
                  <a:txBody>
                    <a:bodyPr/>
                    <a:lstStyle/>
                    <a:p>
                      <a:pPr marL="0" indent="0" lvl="0">
                        <a:buNone/>
                      </a:pPr>
                      <a:r>
                        <a:rPr sz="1000" b="1">
                          <a:solidFill>
                            <a:srgbClr val="060606"/>
                          </a:solidFill>
                          <a:latin typeface="Helvetica"/>
                        </a:rPr>
                        <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Total épargne due</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15 743 516 391 FCFA</a:t>
                      </a:r>
                    </a:p>
                  </a:txBody>
                  <a:tcPr marL="43200" marR="43200" marT="14400" marB="14400" anchor="ctr">
                    <a:solidFill>
                      <a:srgbClr val="FFFFFF"/>
                    </a:solidFill>
                  </a:tcPr>
                </a:tc>
              </a:tr>
              <a:tr h="210009">
                <a:tc>
                  <a:txBody>
                    <a:bodyPr/>
                    <a:lstStyle/>
                    <a:p>
                      <a:pPr marL="0" indent="0" lvl="0">
                        <a:buNone/>
                      </a:pPr>
                      <a:r>
                        <a:rPr sz="1000" b="1">
                          <a:solidFill>
                            <a:srgbClr val="060606"/>
                          </a:solidFill>
                          <a:latin typeface="Helvetica"/>
                        </a:rPr>
                        <a:t>52110200</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Banque BOA-Entraide fin de carrière</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1 540 006 941 FCFA</a:t>
                      </a:r>
                    </a:p>
                  </a:txBody>
                  <a:tcPr marL="43200" marR="43200" marT="14400" marB="14400" anchor="ctr">
                    <a:solidFill>
                      <a:srgbClr val="F2F2F2"/>
                    </a:solidFill>
                  </a:tcPr>
                </a:tc>
              </a:tr>
              <a:tr h="210009">
                <a:tc>
                  <a:txBody>
                    <a:bodyPr/>
                    <a:lstStyle/>
                    <a:p>
                      <a:pPr marL="0" indent="0" lvl="0">
                        <a:buNone/>
                      </a:pPr>
                      <a:r>
                        <a:rPr sz="1000" b="1">
                          <a:solidFill>
                            <a:srgbClr val="060606"/>
                          </a:solidFill>
                          <a:latin typeface="Helvetica"/>
                        </a:rPr>
                        <a:t>52110300</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Banque BOA PEP</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37 336 916 FCFA</a:t>
                      </a:r>
                    </a:p>
                  </a:txBody>
                  <a:tcPr marL="43200" marR="43200" marT="14400" marB="14400" anchor="ctr">
                    <a:solidFill>
                      <a:srgbClr val="FFFFFF"/>
                    </a:solidFill>
                  </a:tcPr>
                </a:tc>
              </a:tr>
              <a:tr h="210009">
                <a:tc>
                  <a:txBody>
                    <a:bodyPr/>
                    <a:lstStyle/>
                    <a:p>
                      <a:pPr marL="0" indent="0" lvl="0">
                        <a:buNone/>
                      </a:pPr>
                      <a:r>
                        <a:rPr sz="1000" b="1">
                          <a:solidFill>
                            <a:srgbClr val="060606"/>
                          </a:solidFill>
                          <a:latin typeface="Helvetica"/>
                        </a:rPr>
                        <a:t>52210200</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DAT BOA ENTRAIDE  FIN DE CARRIERE</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485 541 804 FCFA</a:t>
                      </a:r>
                    </a:p>
                  </a:txBody>
                  <a:tcPr marL="43200" marR="43200" marT="14400" marB="14400" anchor="ctr">
                    <a:solidFill>
                      <a:srgbClr val="F2F2F2"/>
                    </a:solidFill>
                  </a:tcPr>
                </a:tc>
              </a:tr>
              <a:tr h="210009">
                <a:tc>
                  <a:txBody>
                    <a:bodyPr/>
                    <a:lstStyle/>
                    <a:p>
                      <a:pPr marL="0" indent="0" lvl="0">
                        <a:buNone/>
                      </a:pPr>
                      <a:r>
                        <a:rPr sz="1000" b="1">
                          <a:solidFill>
                            <a:srgbClr val="060606"/>
                          </a:solidFill>
                          <a:latin typeface="Helvetica"/>
                        </a:rPr>
                        <a:t>53300001</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FONDS COMMUN DE PLACEMENT</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500 000 000 FCFA</a:t>
                      </a:r>
                    </a:p>
                  </a:txBody>
                  <a:tcPr marL="43200" marR="43200" marT="14400" marB="14400" anchor="ctr">
                    <a:solidFill>
                      <a:srgbClr val="FFFFFF"/>
                    </a:solidFill>
                  </a:tcPr>
                </a:tc>
              </a:tr>
              <a:tr h="210009">
                <a:tc>
                  <a:txBody>
                    <a:bodyPr/>
                    <a:lstStyle/>
                    <a:p>
                      <a:pPr marL="0" indent="0" lvl="0">
                        <a:buNone/>
                      </a:pPr>
                      <a:r>
                        <a:rPr sz="1000" b="1">
                          <a:solidFill>
                            <a:srgbClr val="060606"/>
                          </a:solidFill>
                          <a:latin typeface="Helvetica"/>
                        </a:rPr>
                        <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Total actifs réservés</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2 562 885 661 FCFA</a:t>
                      </a:r>
                    </a:p>
                  </a:txBody>
                  <a:tcPr marL="43200" marR="43200" marT="14400" marB="14400" anchor="ctr">
                    <a:solidFill>
                      <a:srgbClr val="F2F2F2"/>
                    </a:solidFill>
                  </a:tcPr>
                </a:tc>
              </a:tr>
            </a:tbl>
          </a:graphicData>
        </a:graphic>
      </p:graphicFrame>
      <p:sp>
        <p:nvSpPr>
          <p:cNvPr id="33" name="Rounded Rectangle 32"/>
          <p:cNvSpPr/>
          <p:nvPr/>
        </p:nvSpPr>
        <p:spPr>
          <a:xfrm>
            <a:off x="5813999" y="2167228"/>
            <a:ext cx="2411999" cy="231609"/>
          </a:xfrm>
          <a:prstGeom prst="roundRect">
            <a:avLst/>
          </a:prstGeom>
          <a:noFill/>
          <a:ln w="28575">
            <a:solidFill>
              <a:srgbClr val="C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8027999" y="2016028"/>
            <a:ext cx="270000" cy="2700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100" b="1">
                <a:solidFill>
                  <a:srgbClr val="FFFFFF"/>
                </a:solidFill>
                <a:latin typeface="Helvetica"/>
              </a:rPr>
              <a:t>1</a:t>
            </a:r>
          </a:p>
        </p:txBody>
      </p:sp>
      <p:sp>
        <p:nvSpPr>
          <p:cNvPr id="35" name="Rounded Rectangle 34"/>
          <p:cNvSpPr/>
          <p:nvPr/>
        </p:nvSpPr>
        <p:spPr>
          <a:xfrm>
            <a:off x="5813999" y="3217276"/>
            <a:ext cx="2411999" cy="231609"/>
          </a:xfrm>
          <a:prstGeom prst="roundRect">
            <a:avLst/>
          </a:prstGeom>
          <a:noFill/>
          <a:ln w="28575">
            <a:solidFill>
              <a:srgbClr val="C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Oval 35"/>
          <p:cNvSpPr/>
          <p:nvPr/>
        </p:nvSpPr>
        <p:spPr>
          <a:xfrm>
            <a:off x="8027999" y="3066076"/>
            <a:ext cx="270000" cy="2700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100" b="1">
                <a:solidFill>
                  <a:srgbClr val="FFFFFF"/>
                </a:solidFill>
                <a:latin typeface="Helvetica"/>
              </a:rPr>
              <a:t>2</a:t>
            </a:r>
          </a:p>
        </p:txBody>
      </p:sp>
      <p:sp>
        <p:nvSpPr>
          <p:cNvPr id="37" name="Oval 36"/>
          <p:cNvSpPr/>
          <p:nvPr/>
        </p:nvSpPr>
        <p:spPr>
          <a:xfrm>
            <a:off x="8424000" y="1548000"/>
            <a:ext cx="270000" cy="2700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100" b="1">
                <a:solidFill>
                  <a:srgbClr val="FFFFFF"/>
                </a:solidFill>
                <a:latin typeface="Helvetica"/>
              </a:rPr>
              <a:t>1</a:t>
            </a:r>
          </a:p>
        </p:txBody>
      </p:sp>
      <p:sp>
        <p:nvSpPr>
          <p:cNvPr id="38" name="TextBox 37"/>
          <p:cNvSpPr txBox="1"/>
          <p:nvPr/>
        </p:nvSpPr>
        <p:spPr>
          <a:xfrm>
            <a:off x="8784000" y="1530000"/>
            <a:ext cx="2952000" cy="670023"/>
          </a:xfrm>
          <a:prstGeom prst="rect">
            <a:avLst/>
          </a:prstGeom>
          <a:noFill/>
        </p:spPr>
        <p:txBody>
          <a:bodyPr wrap="square" anchor="t" lIns="54000" rIns="54000"/>
          <a:lstStyle/>
          <a:p>
            <a:pPr algn="l"/>
            <a:r>
              <a:rPr sz="1200" b="0">
                <a:solidFill>
                  <a:srgbClr val="060606"/>
                </a:solidFill>
                <a:latin typeface="Helvetica"/>
              </a:rPr>
              <a:t>Les deux comptes 41195 enregistrent la dette envers les épargnants PEP et EFC.</a:t>
            </a:r>
          </a:p>
        </p:txBody>
      </p:sp>
      <p:sp>
        <p:nvSpPr>
          <p:cNvPr id="39" name="Oval 38"/>
          <p:cNvSpPr/>
          <p:nvPr/>
        </p:nvSpPr>
        <p:spPr>
          <a:xfrm>
            <a:off x="8424000" y="2308023"/>
            <a:ext cx="270000" cy="2700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100" b="1">
                <a:solidFill>
                  <a:srgbClr val="FFFFFF"/>
                </a:solidFill>
                <a:latin typeface="Helvetica"/>
              </a:rPr>
              <a:t>2</a:t>
            </a:r>
          </a:p>
        </p:txBody>
      </p:sp>
      <p:sp>
        <p:nvSpPr>
          <p:cNvPr id="40" name="TextBox 39"/>
          <p:cNvSpPr txBox="1"/>
          <p:nvPr/>
        </p:nvSpPr>
        <p:spPr>
          <a:xfrm>
            <a:off x="8784000" y="2290023"/>
            <a:ext cx="2952000" cy="670023"/>
          </a:xfrm>
          <a:prstGeom prst="rect">
            <a:avLst/>
          </a:prstGeom>
          <a:noFill/>
        </p:spPr>
        <p:txBody>
          <a:bodyPr wrap="square" anchor="t" lIns="54000" rIns="54000"/>
          <a:lstStyle/>
          <a:p>
            <a:pPr algn="l"/>
            <a:r>
              <a:rPr sz="1200" b="0">
                <a:solidFill>
                  <a:srgbClr val="060606"/>
                </a:solidFill>
                <a:latin typeface="Helvetica"/>
              </a:rPr>
              <a:t>Les banques, le dépôt à terme et le fonds commun de placement forment les actifs réservés.</a:t>
            </a:r>
          </a:p>
        </p:txBody>
      </p:sp>
      <p:sp>
        <p:nvSpPr>
          <p:cNvPr id="41" name="Oval 40"/>
          <p:cNvSpPr/>
          <p:nvPr/>
        </p:nvSpPr>
        <p:spPr>
          <a:xfrm>
            <a:off x="8424000" y="3068047"/>
            <a:ext cx="270000" cy="2700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100" b="1">
                <a:solidFill>
                  <a:srgbClr val="FFFFFF"/>
                </a:solidFill>
                <a:latin typeface="Helvetica"/>
              </a:rPr>
              <a:t>3</a:t>
            </a:r>
          </a:p>
        </p:txBody>
      </p:sp>
      <p:sp>
        <p:nvSpPr>
          <p:cNvPr id="42" name="TextBox 41"/>
          <p:cNvSpPr txBox="1"/>
          <p:nvPr/>
        </p:nvSpPr>
        <p:spPr>
          <a:xfrm>
            <a:off x="8784000" y="3050047"/>
            <a:ext cx="2952000" cy="484084"/>
          </a:xfrm>
          <a:prstGeom prst="rect">
            <a:avLst/>
          </a:prstGeom>
          <a:noFill/>
        </p:spPr>
        <p:txBody>
          <a:bodyPr wrap="square" anchor="t" lIns="54000" rIns="54000"/>
          <a:lstStyle/>
          <a:p>
            <a:pPr algn="l"/>
            <a:r>
              <a:rPr sz="1200" b="0">
                <a:solidFill>
                  <a:srgbClr val="060606"/>
                </a:solidFill>
                <a:latin typeface="Helvetica"/>
              </a:rPr>
              <a:t>La couverture vaut donc 16,28 % au 31/08/2026.</a:t>
            </a:r>
          </a:p>
        </p:txBody>
      </p:sp>
      <p:sp>
        <p:nvSpPr>
          <p:cNvPr id="43" name="TextBox 42"/>
          <p:cNvSpPr txBox="1"/>
          <p:nvPr/>
        </p:nvSpPr>
        <p:spPr>
          <a:xfrm>
            <a:off x="8424000" y="3714132"/>
            <a:ext cx="3312000" cy="2153867"/>
          </a:xfrm>
          <a:prstGeom prst="rect">
            <a:avLst/>
          </a:prstGeom>
          <a:noFill/>
        </p:spPr>
        <p:txBody>
          <a:bodyPr wrap="square" lIns="54000" rIns="54000"/>
          <a:lstStyle/>
          <a:p>
            <a:pPr algn="just">
              <a:spcAft>
                <a:spcPts val="600"/>
              </a:spcAft>
            </a:pPr>
            <a:r>
              <a:rPr sz="1200" b="1">
                <a:solidFill>
                  <a:srgbClr val="060606"/>
                </a:solidFill>
                <a:latin typeface="Helvetica"/>
              </a:rPr>
              <a:t>Ce ratio est aussi le ratio de solvabilité des risques longs de la Décision n° 05/2022</a:t>
            </a:r>
            <a:r>
              <a:rPr sz="1200" b="0">
                <a:solidFill>
                  <a:srgbClr val="060606"/>
                </a:solidFill>
                <a:latin typeface="Helvetica"/>
              </a:rPr>
              <a:t> (actifs admis / engagements réglementés), dont la norme est d'au moins 1.</a:t>
            </a:r>
          </a:p>
          <a:p>
            <a:pPr algn="just">
              <a:spcAft>
                <a:spcPts val="600"/>
              </a:spcAft>
            </a:pPr>
            <a:r>
              <a:rPr sz="1200" b="1">
                <a:solidFill>
                  <a:srgbClr val="060606"/>
                </a:solidFill>
                <a:latin typeface="Helvetica"/>
              </a:rPr>
              <a:t>Implication pour le FPPN.</a:t>
            </a:r>
            <a:r>
              <a:rPr sz="1200" b="0">
                <a:solidFill>
                  <a:srgbClr val="060606"/>
                </a:solidFill>
                <a:latin typeface="Helvetica"/>
              </a:rPr>
              <a:t> Avec une couverture inférieure à un cinquième, le FPPN ne respecte pas cette norme : la partie 10 la reprend dans le tableau de bord sans refaire le calcul.</a:t>
            </a:r>
          </a:p>
        </p:txBody>
      </p:sp>
      <p:sp>
        <p:nvSpPr>
          <p:cNvPr id="44" name="TextBox 43"/>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PEP : Plan Épargne Plus | EFC : entraide fin de carrière | DAT : dépôt à terme</a:t>
            </a:r>
          </a:p>
        </p:txBody>
      </p:sp>
    </p:spTree>
    <p:extLst>
      <p:ext uri="{BB962C8B-B14F-4D97-AF65-F5344CB8AC3E}">
        <p14:creationId xmlns:p14="http://schemas.microsoft.com/office/powerpoint/2010/main" val="2491935195"/>
      </p:ext>
    </p:extLst>
  </p:cSld>
  <p:clrMapOvr>
    <a:masterClrMapping/>
  </p:clrMapOvr>
  <p:transition>
    <p:fade/>
  </p:transition>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Adossement de l'épargne</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L'épargne des mutualistes n'est couverte qu'à 16,28 % par des actifs réservés</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Couverture : entre 6,49 % et 19,29 % selon les années</a:t>
            </a:r>
          </a:p>
        </p:txBody>
      </p:sp>
      <p:sp>
        <p:nvSpPr>
          <p:cNvPr id="30" name="TextBox 29"/>
          <p:cNvSpPr txBox="1"/>
          <p:nvPr/>
        </p:nvSpPr>
        <p:spPr>
          <a:xfrm>
            <a:off x="503999" y="1386000"/>
            <a:ext cx="6552000" cy="251999"/>
          </a:xfrm>
          <a:prstGeom prst="rect">
            <a:avLst/>
          </a:prstGeom>
          <a:noFill/>
        </p:spPr>
        <p:txBody>
          <a:bodyPr wrap="square">
            <a:spAutoFit/>
          </a:bodyPr>
          <a:lstStyle/>
          <a:p>
            <a:pPr algn="ctr">
              <a:spcAft>
                <a:spcPts val="0"/>
              </a:spcAft>
            </a:pPr>
            <a:r>
              <a:rPr sz="1200" b="0">
                <a:solidFill>
                  <a:srgbClr val="EFAC62"/>
                </a:solidFill>
                <a:latin typeface="Helvetica"/>
              </a:rPr>
              <a:t>Figure 18 : Épargne au passif et actifs réservés</a:t>
            </a:r>
          </a:p>
        </p:txBody>
      </p:sp>
      <p:sp>
        <p:nvSpPr>
          <p:cNvPr id="31" name="TextBox 30"/>
          <p:cNvSpPr txBox="1"/>
          <p:nvPr/>
        </p:nvSpPr>
        <p:spPr>
          <a:xfrm>
            <a:off x="503999" y="1602000"/>
            <a:ext cx="6552000" cy="162000"/>
          </a:xfrm>
          <a:prstGeom prst="rect">
            <a:avLst/>
          </a:prstGeom>
          <a:noFill/>
        </p:spPr>
        <p:txBody>
          <a:bodyPr wrap="square">
            <a:spAutoFit/>
          </a:bodyPr>
          <a:lstStyle/>
          <a:p>
            <a:pPr algn="l">
              <a:spcAft>
                <a:spcPts val="0"/>
              </a:spcAft>
            </a:pPr>
            <a:r>
              <a:rPr sz="900" b="0">
                <a:solidFill>
                  <a:srgbClr val="060606"/>
                </a:solidFill>
                <a:latin typeface="Helvetica"/>
              </a:rPr>
              <a:t>En millions de FCFA</a:t>
            </a:r>
          </a:p>
        </p:txBody>
      </p:sp>
      <p:graphicFrame>
        <p:nvGraphicFramePr>
          <p:cNvPr id="32" name="Chart 31"/>
          <p:cNvGraphicFramePr>
            <a:graphicFrameLocks noGrp="1"/>
          </p:cNvGraphicFramePr>
          <p:nvPr/>
        </p:nvGraphicFramePr>
        <p:xfrm>
          <a:off x="503999" y="1782000"/>
          <a:ext cx="6552000" cy="4086000"/>
        </p:xfrm>
        <a:graphic>
          <a:graphicData uri="http://schemas.openxmlformats.org/drawingml/2006/chart">
            <c:chart xmlns:c="http://schemas.openxmlformats.org/drawingml/2006/chart" r:id="rId6"/>
          </a:graphicData>
        </a:graphic>
      </p:graphicFrame>
      <p:sp>
        <p:nvSpPr>
          <p:cNvPr id="33"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balances des comptes du FPPN (Sage 100), exercices 2020 à 2025 et du 01/01 au 31/08/2026 (provisoire). Traitements Adenka</a:t>
            </a:r>
          </a:p>
        </p:txBody>
      </p:sp>
      <p:sp>
        <p:nvSpPr>
          <p:cNvPr id="34" name="TextBox 33"/>
          <p:cNvSpPr txBox="1"/>
          <p:nvPr/>
        </p:nvSpPr>
        <p:spPr>
          <a:xfrm>
            <a:off x="7272000" y="1440000"/>
            <a:ext cx="4464000" cy="4428000"/>
          </a:xfrm>
          <a:prstGeom prst="rect">
            <a:avLst/>
          </a:prstGeom>
          <a:noFill/>
        </p:spPr>
        <p:txBody>
          <a:bodyPr wrap="square" lIns="54000" rIns="54000"/>
          <a:lstStyle/>
          <a:p>
            <a:pPr algn="just">
              <a:spcAft>
                <a:spcPts val="600"/>
              </a:spcAft>
            </a:pPr>
            <a:r>
              <a:rPr sz="1400" b="1">
                <a:solidFill>
                  <a:srgbClr val="060606"/>
                </a:solidFill>
                <a:latin typeface="Helvetica"/>
              </a:rPr>
              <a:t>La dette d'épargne augmente de 45,39 % depuis 2020.</a:t>
            </a:r>
            <a:r>
              <a:rPr sz="1400" b="0">
                <a:solidFill>
                  <a:srgbClr val="060606"/>
                </a:solidFill>
                <a:latin typeface="Helvetica"/>
              </a:rPr>
              <a:t> Les actifs réservés ne suivent pas cette hausse.</a:t>
            </a:r>
          </a:p>
          <a:p>
            <a:pPr algn="just">
              <a:spcAft>
                <a:spcPts val="600"/>
              </a:spcAft>
            </a:pPr>
            <a:r>
              <a:rPr sz="1400" b="1">
                <a:solidFill>
                  <a:srgbClr val="060606"/>
                </a:solidFill>
                <a:latin typeface="Helvetica"/>
              </a:rPr>
              <a:t>L'épargne EFC triple.</a:t>
            </a:r>
            <a:r>
              <a:rPr sz="1400" b="0">
                <a:solidFill>
                  <a:srgbClr val="060606"/>
                </a:solidFill>
                <a:latin typeface="Helvetica"/>
              </a:rPr>
              <a:t> Elle passe de 3 461 975 893 FCFA en 2020 à 10 514 270 966 FCFA au 31/08/2026.</a:t>
            </a:r>
          </a:p>
          <a:p>
            <a:pPr algn="just">
              <a:spcAft>
                <a:spcPts val="600"/>
              </a:spcAft>
            </a:pPr>
            <a:r>
              <a:rPr sz="1400" b="1">
                <a:solidFill>
                  <a:srgbClr val="060606"/>
                </a:solidFill>
                <a:latin typeface="Helvetica"/>
              </a:rPr>
              <a:t>L'épargne non couverte finance des emplois peu liquides</a:t>
            </a:r>
            <a:r>
              <a:rPr sz="1400" b="0">
                <a:solidFill>
                  <a:srgbClr val="060606"/>
                </a:solidFill>
                <a:latin typeface="Helvetica"/>
              </a:rPr>
              <a:t> : investissements au CMP, terrains, créance sur l'Hôpital de la Police et prêts du Grenier.</a:t>
            </a:r>
          </a:p>
          <a:p>
            <a:pPr algn="just">
              <a:spcAft>
                <a:spcPts val="600"/>
              </a:spcAft>
            </a:pPr>
            <a:r>
              <a:rPr sz="1400" b="1">
                <a:solidFill>
                  <a:srgbClr val="060606"/>
                </a:solidFill>
                <a:latin typeface="Helvetica"/>
              </a:rPr>
              <a:t>Implication pour le FPPN.</a:t>
            </a:r>
            <a:r>
              <a:rPr sz="1400" b="0">
                <a:solidFill>
                  <a:srgbClr val="060606"/>
                </a:solidFill>
                <a:latin typeface="Helvetica"/>
              </a:rPr>
              <a:t> Le règlement d'exécution n° 004/2022 impose le cantonnement des patrimoines quand une mutuelle couvre à la fois des risques courts et longs (art. 15). L'épargne n'est séparée qu'en partie des autres ressources du FPPN.</a:t>
            </a:r>
          </a:p>
        </p:txBody>
      </p:sp>
      <p:sp>
        <p:nvSpPr>
          <p:cNvPr id="35" name="TextBox 34"/>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PEP : Plan Épargne Plus | EFC : entraide fin de carrière | CMP : sigle des comptes du FPPN, signification à confirmer</a:t>
            </a:r>
          </a:p>
        </p:txBody>
      </p:sp>
    </p:spTree>
    <p:extLst>
      <p:ext uri="{BB962C8B-B14F-4D97-AF65-F5344CB8AC3E}">
        <p14:creationId xmlns:p14="http://schemas.microsoft.com/office/powerpoint/2010/main" val="2472323144"/>
      </p:ext>
    </p:extLst>
  </p:cSld>
  <p:clrMapOvr>
    <a:masterClrMapping/>
  </p:clrMapOvr>
  <p:transition>
    <p:fade/>
  </p:transition>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Versements d'épargne</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Les versements au PEP ont été multipliés par quatre depuis 2022</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PEP 2025 : 2 029 929 725 FCFA versés par 16 932 épargnants</a:t>
            </a:r>
          </a:p>
        </p:txBody>
      </p:sp>
      <p:sp>
        <p:nvSpPr>
          <p:cNvPr id="30" name="TextBox 29"/>
          <p:cNvSpPr txBox="1"/>
          <p:nvPr/>
        </p:nvSpPr>
        <p:spPr>
          <a:xfrm>
            <a:off x="503999" y="1386000"/>
            <a:ext cx="6552000" cy="251999"/>
          </a:xfrm>
          <a:prstGeom prst="rect">
            <a:avLst/>
          </a:prstGeom>
          <a:noFill/>
        </p:spPr>
        <p:txBody>
          <a:bodyPr wrap="square">
            <a:spAutoFit/>
          </a:bodyPr>
          <a:lstStyle/>
          <a:p>
            <a:pPr algn="ctr">
              <a:spcAft>
                <a:spcPts val="0"/>
              </a:spcAft>
            </a:pPr>
            <a:r>
              <a:rPr sz="1200" b="0">
                <a:solidFill>
                  <a:srgbClr val="EFAC62"/>
                </a:solidFill>
                <a:latin typeface="Helvetica"/>
              </a:rPr>
              <a:t>Figure 19 : Versements précomptés par produit d'épargne</a:t>
            </a:r>
          </a:p>
        </p:txBody>
      </p:sp>
      <p:sp>
        <p:nvSpPr>
          <p:cNvPr id="31" name="TextBox 30"/>
          <p:cNvSpPr txBox="1"/>
          <p:nvPr/>
        </p:nvSpPr>
        <p:spPr>
          <a:xfrm>
            <a:off x="503999" y="1602000"/>
            <a:ext cx="6552000" cy="162000"/>
          </a:xfrm>
          <a:prstGeom prst="rect">
            <a:avLst/>
          </a:prstGeom>
          <a:noFill/>
        </p:spPr>
        <p:txBody>
          <a:bodyPr wrap="square">
            <a:spAutoFit/>
          </a:bodyPr>
          <a:lstStyle/>
          <a:p>
            <a:pPr algn="l">
              <a:spcAft>
                <a:spcPts val="0"/>
              </a:spcAft>
            </a:pPr>
            <a:r>
              <a:rPr sz="900" b="0">
                <a:solidFill>
                  <a:srgbClr val="060606"/>
                </a:solidFill>
                <a:latin typeface="Helvetica"/>
              </a:rPr>
              <a:t>En millions de FCFA (EFC à partir de 2023)</a:t>
            </a:r>
          </a:p>
        </p:txBody>
      </p:sp>
      <p:graphicFrame>
        <p:nvGraphicFramePr>
          <p:cNvPr id="32" name="Chart 31"/>
          <p:cNvGraphicFramePr>
            <a:graphicFrameLocks noGrp="1"/>
          </p:cNvGraphicFramePr>
          <p:nvPr/>
        </p:nvGraphicFramePr>
        <p:xfrm>
          <a:off x="503999" y="1782000"/>
          <a:ext cx="6552000" cy="4086000"/>
        </p:xfrm>
        <a:graphic>
          <a:graphicData uri="http://schemas.openxmlformats.org/drawingml/2006/chart">
            <c:chart xmlns:c="http://schemas.openxmlformats.org/drawingml/2006/chart" r:id="rId6"/>
          </a:graphicData>
        </a:graphic>
      </p:graphicFrame>
      <p:sp>
        <p:nvSpPr>
          <p:cNvPr id="33"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fichiers de précomptes de la Solde, de la CGRAE et du FPPN reçus le 15/10/2026. Traitements Adenka. Balances des comptes du FPPN (Sage 100), exercices 2020 à 2025 et du 01/01 au 31/08/2026 (provisoire). Traitements Adenka</a:t>
            </a:r>
          </a:p>
        </p:txBody>
      </p:sp>
      <p:sp>
        <p:nvSpPr>
          <p:cNvPr id="34" name="TextBox 33"/>
          <p:cNvSpPr txBox="1"/>
          <p:nvPr/>
        </p:nvSpPr>
        <p:spPr>
          <a:xfrm>
            <a:off x="7272000" y="1440000"/>
            <a:ext cx="4464000" cy="4428000"/>
          </a:xfrm>
          <a:prstGeom prst="rect">
            <a:avLst/>
          </a:prstGeom>
          <a:noFill/>
        </p:spPr>
        <p:txBody>
          <a:bodyPr wrap="square" lIns="54000" rIns="54000"/>
          <a:lstStyle/>
          <a:p>
            <a:pPr algn="just">
              <a:spcAft>
                <a:spcPts val="600"/>
              </a:spcAft>
            </a:pPr>
            <a:r>
              <a:rPr sz="1400" b="1">
                <a:solidFill>
                  <a:srgbClr val="060606"/>
                </a:solidFill>
                <a:latin typeface="Helvetica"/>
              </a:rPr>
              <a:t>Les épargnants PEP passent de 1 327 en 2020 à 17 199 en 2026.</a:t>
            </a:r>
            <a:r>
              <a:rPr sz="1400" b="0">
                <a:solidFill>
                  <a:srgbClr val="060606"/>
                </a:solidFill>
                <a:latin typeface="Helvetica"/>
              </a:rPr>
              <a:t> Le produit attire un nombre croissant de policiers.</a:t>
            </a:r>
          </a:p>
          <a:p>
            <a:pPr algn="just">
              <a:spcAft>
                <a:spcPts val="600"/>
              </a:spcAft>
            </a:pPr>
            <a:r>
              <a:rPr sz="1400" b="1">
                <a:solidFill>
                  <a:srgbClr val="060606"/>
                </a:solidFill>
                <a:latin typeface="Helvetica"/>
              </a:rPr>
              <a:t>En 2025, le PEP reçoit 2 029 929 725 FCFA mais le compte n'augmente que de 1 134 898 141 FCFA.</a:t>
            </a:r>
            <a:r>
              <a:rPr sz="1400" b="0">
                <a:solidFill>
                  <a:srgbClr val="060606"/>
                </a:solidFill>
                <a:latin typeface="Helvetica"/>
              </a:rPr>
              <a:t> La différence correspond à des sorties d'épargne.</a:t>
            </a:r>
          </a:p>
          <a:p>
            <a:pPr algn="just">
              <a:spcAft>
                <a:spcPts val="600"/>
              </a:spcAft>
            </a:pPr>
            <a:r>
              <a:rPr sz="1400" b="1">
                <a:solidFill>
                  <a:srgbClr val="060606"/>
                </a:solidFill>
                <a:latin typeface="Helvetica"/>
              </a:rPr>
              <a:t>Les sorties d'épargne atteignent 1 358 821 103 FCFA en 2025</a:t>
            </a:r>
            <a:r>
              <a:rPr sz="1400" b="0">
                <a:solidFill>
                  <a:srgbClr val="060606"/>
                </a:solidFill>
                <a:latin typeface="Helvetica"/>
              </a:rPr>
              <a:t> (débits des comptes 41195100 et 41195200).</a:t>
            </a:r>
          </a:p>
          <a:p>
            <a:pPr algn="just">
              <a:spcAft>
                <a:spcPts val="600"/>
              </a:spcAft>
            </a:pPr>
            <a:r>
              <a:rPr sz="1400" b="1">
                <a:solidFill>
                  <a:srgbClr val="060606"/>
                </a:solidFill>
                <a:latin typeface="Helvetica"/>
              </a:rPr>
              <a:t>Implication pour le FPPN.</a:t>
            </a:r>
            <a:r>
              <a:rPr sz="1400" b="0">
                <a:solidFill>
                  <a:srgbClr val="060606"/>
                </a:solidFill>
                <a:latin typeface="Helvetica"/>
              </a:rPr>
              <a:t> Ces sorties sont les « engagements » d'un trimestre que la réserve de trésorerie des risques longs doit couvrir (art. 19 du règlement d'exécution) : leur suivi mensuel est nécessaire pour fixer le niveau de cette réserve.</a:t>
            </a:r>
          </a:p>
        </p:txBody>
      </p:sp>
      <p:sp>
        <p:nvSpPr>
          <p:cNvPr id="35" name="TextBox 34"/>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CGRAE : Caisse générale de retraite des agents de l'État | PEP : Plan Épargne Plus | EFC : entraide fin de carrière | 870 : poste EFC | 998 : poste PEP</a:t>
            </a:r>
          </a:p>
        </p:txBody>
      </p:sp>
    </p:spTree>
    <p:extLst>
      <p:ext uri="{BB962C8B-B14F-4D97-AF65-F5344CB8AC3E}">
        <p14:creationId xmlns:p14="http://schemas.microsoft.com/office/powerpoint/2010/main" val="3773804149"/>
      </p:ext>
    </p:extLst>
  </p:cSld>
  <p:clrMapOvr>
    <a:masterClrMapping/>
  </p:clrMapOvr>
  <p:transition>
    <p:fade/>
  </p:transition>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Sensibilité : retraits d'épargne</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Un retrait de plus d'un cinquième de l'épargne épuiserait toute la trésorerie du FPPN</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Les actifs réservés couvrent un retrait de 16,28 % de l'épargne. La trésorerie totale, 21,34 %</a:t>
            </a:r>
          </a:p>
        </p:txBody>
      </p:sp>
      <p:sp>
        <p:nvSpPr>
          <p:cNvPr id="30" name="TextBox 29"/>
          <p:cNvSpPr txBox="1"/>
          <p:nvPr/>
        </p:nvSpPr>
        <p:spPr>
          <a:xfrm>
            <a:off x="503999" y="1386000"/>
            <a:ext cx="6552000" cy="251999"/>
          </a:xfrm>
          <a:prstGeom prst="rect">
            <a:avLst/>
          </a:prstGeom>
          <a:noFill/>
        </p:spPr>
        <p:txBody>
          <a:bodyPr wrap="square">
            <a:spAutoFit/>
          </a:bodyPr>
          <a:lstStyle/>
          <a:p>
            <a:pPr algn="ctr">
              <a:spcAft>
                <a:spcPts val="0"/>
              </a:spcAft>
            </a:pPr>
            <a:r>
              <a:rPr sz="1200" b="0">
                <a:solidFill>
                  <a:srgbClr val="EFAC62"/>
                </a:solidFill>
                <a:latin typeface="Helvetica"/>
              </a:rPr>
              <a:t>Figure 20 : Besoin de liquidités selon le taux de retrait</a:t>
            </a:r>
          </a:p>
        </p:txBody>
      </p:sp>
      <p:sp>
        <p:nvSpPr>
          <p:cNvPr id="31" name="TextBox 30"/>
          <p:cNvSpPr txBox="1"/>
          <p:nvPr/>
        </p:nvSpPr>
        <p:spPr>
          <a:xfrm>
            <a:off x="503999" y="1602000"/>
            <a:ext cx="6552000" cy="162000"/>
          </a:xfrm>
          <a:prstGeom prst="rect">
            <a:avLst/>
          </a:prstGeom>
          <a:noFill/>
        </p:spPr>
        <p:txBody>
          <a:bodyPr wrap="square">
            <a:spAutoFit/>
          </a:bodyPr>
          <a:lstStyle/>
          <a:p>
            <a:pPr algn="l">
              <a:spcAft>
                <a:spcPts val="0"/>
              </a:spcAft>
            </a:pPr>
            <a:r>
              <a:rPr sz="900" b="0">
                <a:solidFill>
                  <a:srgbClr val="060606"/>
                </a:solidFill>
                <a:latin typeface="Helvetica"/>
              </a:rPr>
              <a:t>En millions de FCFA, au 31/08/2026</a:t>
            </a:r>
          </a:p>
        </p:txBody>
      </p:sp>
      <p:graphicFrame>
        <p:nvGraphicFramePr>
          <p:cNvPr id="32" name="Chart 31"/>
          <p:cNvGraphicFramePr>
            <a:graphicFrameLocks noGrp="1"/>
          </p:cNvGraphicFramePr>
          <p:nvPr/>
        </p:nvGraphicFramePr>
        <p:xfrm>
          <a:off x="503999" y="1782000"/>
          <a:ext cx="6552000" cy="4086000"/>
        </p:xfrm>
        <a:graphic>
          <a:graphicData uri="http://schemas.openxmlformats.org/drawingml/2006/chart">
            <c:chart xmlns:c="http://schemas.openxmlformats.org/drawingml/2006/chart" r:id="rId6"/>
          </a:graphicData>
        </a:graphic>
      </p:graphicFrame>
      <p:sp>
        <p:nvSpPr>
          <p:cNvPr id="33"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balances des comptes du FPPN (Sage 100), exercices 2020 à 2025 et du 01/01 au 31/08/2026 (provisoire). Traitements Adenka</a:t>
            </a:r>
          </a:p>
        </p:txBody>
      </p:sp>
      <p:sp>
        <p:nvSpPr>
          <p:cNvPr id="34" name="TextBox 33"/>
          <p:cNvSpPr txBox="1"/>
          <p:nvPr/>
        </p:nvSpPr>
        <p:spPr>
          <a:xfrm>
            <a:off x="7272000" y="1440000"/>
            <a:ext cx="4464000" cy="4428000"/>
          </a:xfrm>
          <a:prstGeom prst="rect">
            <a:avLst/>
          </a:prstGeom>
          <a:noFill/>
        </p:spPr>
        <p:txBody>
          <a:bodyPr wrap="square" lIns="54000" rIns="54000"/>
          <a:lstStyle/>
          <a:p>
            <a:pPr algn="just">
              <a:spcAft>
                <a:spcPts val="600"/>
              </a:spcAft>
            </a:pPr>
            <a:r>
              <a:rPr sz="1400" b="1">
                <a:solidFill>
                  <a:srgbClr val="060606"/>
                </a:solidFill>
                <a:latin typeface="Helvetica"/>
              </a:rPr>
              <a:t>Les actifs réservés couvrent un retrait de 10 % de l'épargne (1 574 351 639 FCFA).</a:t>
            </a:r>
          </a:p>
          <a:p>
            <a:pPr algn="just">
              <a:spcAft>
                <a:spcPts val="600"/>
              </a:spcAft>
            </a:pPr>
            <a:r>
              <a:rPr sz="1400" b="1">
                <a:solidFill>
                  <a:srgbClr val="060606"/>
                </a:solidFill>
                <a:latin typeface="Helvetica"/>
              </a:rPr>
              <a:t>Au-delà de 21,34 % de retraits, toute la trésorerie du FPPN ne suffit plus.</a:t>
            </a:r>
          </a:p>
          <a:p>
            <a:pPr algn="just">
              <a:spcAft>
                <a:spcPts val="600"/>
              </a:spcAft>
            </a:pPr>
            <a:r>
              <a:rPr sz="1400" b="1">
                <a:solidFill>
                  <a:srgbClr val="060606"/>
                </a:solidFill>
                <a:latin typeface="Helvetica"/>
              </a:rPr>
              <a:t>Le FPPN doit alors céder ou mobiliser des actifs peu liquides</a:t>
            </a:r>
            <a:r>
              <a:rPr sz="1400" b="0">
                <a:solidFill>
                  <a:srgbClr val="060606"/>
                </a:solidFill>
                <a:latin typeface="Helvetica"/>
              </a:rPr>
              <a:t>, comme les terrains ou les avances au CMP.</a:t>
            </a:r>
          </a:p>
          <a:p>
            <a:pPr algn="just">
              <a:spcAft>
                <a:spcPts val="600"/>
              </a:spcAft>
            </a:pPr>
            <a:r>
              <a:rPr sz="1400" b="1">
                <a:solidFill>
                  <a:srgbClr val="060606"/>
                </a:solidFill>
                <a:latin typeface="Helvetica"/>
              </a:rPr>
              <a:t>Implication pour le FPPN.</a:t>
            </a:r>
            <a:r>
              <a:rPr sz="1400" b="0">
                <a:solidFill>
                  <a:srgbClr val="060606"/>
                </a:solidFill>
                <a:latin typeface="Helvetica"/>
              </a:rPr>
              <a:t> Le risque de liquidité dépend des conditions de retrait du PEP et de l'EFC : le règlement de ces produits et les âges des épargnants permettront de passer de scénarios théoriques à un échéancier réel.</a:t>
            </a:r>
          </a:p>
        </p:txBody>
      </p:sp>
      <p:sp>
        <p:nvSpPr>
          <p:cNvPr id="35" name="TextBox 34"/>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PEP : Plan Épargne Plus | EFC : entraide fin de carrière | CMP : sigle des comptes du FPPN, signification à confirmer</a:t>
            </a:r>
          </a:p>
        </p:txBody>
      </p:sp>
    </p:spTree>
    <p:extLst>
      <p:ext uri="{BB962C8B-B14F-4D97-AF65-F5344CB8AC3E}">
        <p14:creationId xmlns:p14="http://schemas.microsoft.com/office/powerpoint/2010/main" val="3429034442"/>
      </p:ext>
    </p:extLst>
  </p:cSld>
  <p:clrMapOvr>
    <a:masterClrMapping/>
  </p:clrMapOvr>
  <p:transition>
    <p:fade/>
  </p:transition>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Poste 998 : autres références</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Le poste de l'épargne PEP porte aussi d'autres références à expliquer</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PTI, RPEP, EP et TI apparaissent à côté des références PEP sur la période 2020 à 2026</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fichiers de précomptes de la Solde, de la CGRAE et du FPPN reçus le 15/10/2026. Traitements Adenka</a:t>
            </a:r>
          </a:p>
        </p:txBody>
      </p:sp>
      <p:sp>
        <p:nvSpPr>
          <p:cNvPr id="31" name="TextBox 30"/>
          <p:cNvSpPr txBox="1"/>
          <p:nvPr/>
        </p:nvSpPr>
        <p:spPr>
          <a:xfrm>
            <a:off x="503999" y="1386000"/>
            <a:ext cx="6983999" cy="216000"/>
          </a:xfrm>
          <a:prstGeom prst="rect">
            <a:avLst/>
          </a:prstGeom>
          <a:noFill/>
        </p:spPr>
        <p:txBody>
          <a:bodyPr wrap="square" anchor="t" lIns="54000" rIns="54000"/>
          <a:lstStyle/>
          <a:p>
            <a:pPr algn="ctr"/>
            <a:r>
              <a:rPr sz="1200" b="0">
                <a:solidFill>
                  <a:srgbClr val="EFAC62"/>
                </a:solidFill>
                <a:latin typeface="Helvetica"/>
              </a:rPr>
              <a:t>Tableau 10 : Références du poste 998, 2020 à août 2026</a:t>
            </a:r>
          </a:p>
        </p:txBody>
      </p:sp>
      <p:graphicFrame>
        <p:nvGraphicFramePr>
          <p:cNvPr id="32" name="Table 31"/>
          <p:cNvGraphicFramePr>
            <a:graphicFrameLocks noGrp="1"/>
          </p:cNvGraphicFramePr>
          <p:nvPr/>
        </p:nvGraphicFramePr>
        <p:xfrm>
          <a:off x="503999" y="1655999"/>
          <a:ext cx="6984000" cy="2027250"/>
        </p:xfrm>
        <a:graphic>
          <a:graphicData uri="http://schemas.openxmlformats.org/drawingml/2006/table">
            <a:tbl>
              <a:tblPr firstRow="0" bandRow="0">
                <a:tableStyleId>{5940675A-B579-460E-94D1-54222C63F5DA}</a:tableStyleId>
              </a:tblPr>
              <a:tblGrid>
                <a:gridCol w="1440000"/>
                <a:gridCol w="1440000"/>
                <a:gridCol w="2664000"/>
                <a:gridCol w="1440000"/>
              </a:tblGrid>
              <a:tr h="225250">
                <a:tc>
                  <a:txBody>
                    <a:bodyPr/>
                    <a:lstStyle/>
                    <a:p>
                      <a:pPr marL="0" indent="0" lvl="0">
                        <a:buNone/>
                      </a:pPr>
                      <a:r>
                        <a:rPr sz="1100" b="1">
                          <a:solidFill>
                            <a:srgbClr val="FFFFFF"/>
                          </a:solidFill>
                          <a:latin typeface="Helvetica"/>
                        </a:rPr>
                        <a:t>Référence</a:t>
                      </a:r>
                    </a:p>
                  </a:txBody>
                  <a:tcPr marL="43200" marR="43200" marT="14400" marB="14400" anchor="ctr">
                    <a:solidFill>
                      <a:srgbClr val="060606"/>
                    </a:solidFill>
                  </a:tcPr>
                </a:tc>
                <a:tc>
                  <a:txBody>
                    <a:bodyPr/>
                    <a:lstStyle/>
                    <a:p>
                      <a:pPr marL="0" indent="0" lvl="0">
                        <a:buNone/>
                      </a:pPr>
                      <a:r>
                        <a:rPr sz="1100" b="1">
                          <a:solidFill>
                            <a:srgbClr val="FFFFFF"/>
                          </a:solidFill>
                          <a:latin typeface="Helvetica"/>
                        </a:rPr>
                        <a:t>Lignes</a:t>
                      </a:r>
                    </a:p>
                  </a:txBody>
                  <a:tcPr marL="43200" marR="43200" marT="14400" marB="14400" anchor="ctr">
                    <a:solidFill>
                      <a:srgbClr val="060606"/>
                    </a:solidFill>
                  </a:tcPr>
                </a:tc>
                <a:tc>
                  <a:txBody>
                    <a:bodyPr/>
                    <a:lstStyle/>
                    <a:p>
                      <a:pPr marL="0" indent="0" lvl="0">
                        <a:buNone/>
                      </a:pPr>
                      <a:r>
                        <a:rPr sz="1100" b="1">
                          <a:solidFill>
                            <a:srgbClr val="FFFFFF"/>
                          </a:solidFill>
                          <a:latin typeface="Helvetica"/>
                        </a:rPr>
                        <a:t>Montant total</a:t>
                      </a:r>
                    </a:p>
                  </a:txBody>
                  <a:tcPr marL="43200" marR="43200" marT="14400" marB="14400" anchor="ctr">
                    <a:solidFill>
                      <a:srgbClr val="060606"/>
                    </a:solidFill>
                  </a:tcPr>
                </a:tc>
                <a:tc>
                  <a:txBody>
                    <a:bodyPr/>
                    <a:lstStyle/>
                    <a:p>
                      <a:pPr marL="0" indent="0" lvl="0">
                        <a:buNone/>
                      </a:pPr>
                      <a:r>
                        <a:rPr sz="1100" b="1">
                          <a:solidFill>
                            <a:srgbClr val="FFFFFF"/>
                          </a:solidFill>
                          <a:latin typeface="Helvetica"/>
                        </a:rPr>
                        <a:t>Mutualistes</a:t>
                      </a:r>
                    </a:p>
                  </a:txBody>
                  <a:tcPr marL="43200" marR="43200" marT="14400" marB="14400" anchor="ctr">
                    <a:solidFill>
                      <a:srgbClr val="060606"/>
                    </a:solidFill>
                  </a:tcPr>
                </a:tc>
              </a:tr>
              <a:tr h="225250">
                <a:tc>
                  <a:txBody>
                    <a:bodyPr/>
                    <a:lstStyle/>
                    <a:p>
                      <a:pPr marL="0" indent="0" lvl="0">
                        <a:buNone/>
                      </a:pPr>
                      <a:r>
                        <a:rPr sz="1100" b="1">
                          <a:solidFill>
                            <a:srgbClr val="060606"/>
                          </a:solidFill>
                          <a:latin typeface="Helvetica"/>
                        </a:rPr>
                        <a:t>PEP</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460 252</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6 270 087 894 FCFA</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18 495</a:t>
                      </a:r>
                    </a:p>
                  </a:txBody>
                  <a:tcPr marL="43200" marR="43200" marT="14400" marB="14400" anchor="ctr">
                    <a:solidFill>
                      <a:srgbClr val="FFFFFF"/>
                    </a:solidFill>
                  </a:tcPr>
                </a:tc>
              </a:tr>
              <a:tr h="225250">
                <a:tc>
                  <a:txBody>
                    <a:bodyPr/>
                    <a:lstStyle/>
                    <a:p>
                      <a:pPr marL="0" indent="0" lvl="0">
                        <a:buNone/>
                      </a:pPr>
                      <a:r>
                        <a:rPr sz="1100" b="1">
                          <a:solidFill>
                            <a:srgbClr val="060606"/>
                          </a:solidFill>
                          <a:latin typeface="Helvetica"/>
                        </a:rPr>
                        <a:t>sans référence</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55 703</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702 069 750 FCFA</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16 603</a:t>
                      </a:r>
                    </a:p>
                  </a:txBody>
                  <a:tcPr marL="43200" marR="43200" marT="14400" marB="14400" anchor="ctr">
                    <a:solidFill>
                      <a:srgbClr val="F2F2F2"/>
                    </a:solidFill>
                  </a:tcPr>
                </a:tc>
              </a:tr>
              <a:tr h="225250">
                <a:tc>
                  <a:txBody>
                    <a:bodyPr/>
                    <a:lstStyle/>
                    <a:p>
                      <a:pPr marL="0" indent="0" lvl="0">
                        <a:buNone/>
                      </a:pPr>
                      <a:r>
                        <a:rPr sz="1100" b="1">
                          <a:solidFill>
                            <a:srgbClr val="060606"/>
                          </a:solidFill>
                          <a:latin typeface="Helvetica"/>
                        </a:rPr>
                        <a:t>PTI</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1 206</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108 489 526 FCFA</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51</a:t>
                      </a:r>
                    </a:p>
                  </a:txBody>
                  <a:tcPr marL="43200" marR="43200" marT="14400" marB="14400" anchor="ctr">
                    <a:solidFill>
                      <a:srgbClr val="FFFFFF"/>
                    </a:solidFill>
                  </a:tcPr>
                </a:tc>
              </a:tr>
              <a:tr h="225250">
                <a:tc>
                  <a:txBody>
                    <a:bodyPr/>
                    <a:lstStyle/>
                    <a:p>
                      <a:pPr marL="0" indent="0" lvl="0">
                        <a:buNone/>
                      </a:pPr>
                      <a:r>
                        <a:rPr sz="1100" b="1">
                          <a:solidFill>
                            <a:srgbClr val="060606"/>
                          </a:solidFill>
                          <a:latin typeface="Helvetica"/>
                        </a:rPr>
                        <a:t>RPEP</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2 368</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30 896 500 FCFA</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2 367</a:t>
                      </a:r>
                    </a:p>
                  </a:txBody>
                  <a:tcPr marL="43200" marR="43200" marT="14400" marB="14400" anchor="ctr">
                    <a:solidFill>
                      <a:srgbClr val="F2F2F2"/>
                    </a:solidFill>
                  </a:tcPr>
                </a:tc>
              </a:tr>
              <a:tr h="225250">
                <a:tc>
                  <a:txBody>
                    <a:bodyPr/>
                    <a:lstStyle/>
                    <a:p>
                      <a:pPr marL="0" indent="0" lvl="0">
                        <a:buNone/>
                      </a:pPr>
                      <a:r>
                        <a:rPr sz="1100" b="1">
                          <a:solidFill>
                            <a:srgbClr val="060606"/>
                          </a:solidFill>
                          <a:latin typeface="Helvetica"/>
                        </a:rPr>
                        <a:t>EP</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1 722</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30 284 000 FCFA</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1 715</a:t>
                      </a:r>
                    </a:p>
                  </a:txBody>
                  <a:tcPr marL="43200" marR="43200" marT="14400" marB="14400" anchor="ctr">
                    <a:solidFill>
                      <a:srgbClr val="FFFFFF"/>
                    </a:solidFill>
                  </a:tcPr>
                </a:tc>
              </a:tr>
              <a:tr h="225250">
                <a:tc>
                  <a:txBody>
                    <a:bodyPr/>
                    <a:lstStyle/>
                    <a:p>
                      <a:pPr marL="0" indent="0" lvl="0">
                        <a:buNone/>
                      </a:pPr>
                      <a:r>
                        <a:rPr sz="1100" b="1">
                          <a:solidFill>
                            <a:srgbClr val="060606"/>
                          </a:solidFill>
                          <a:latin typeface="Helvetica"/>
                        </a:rPr>
                        <a:t>TI</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24</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2 246 770 FCFA</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24</a:t>
                      </a:r>
                    </a:p>
                  </a:txBody>
                  <a:tcPr marL="43200" marR="43200" marT="14400" marB="14400" anchor="ctr">
                    <a:solidFill>
                      <a:srgbClr val="F2F2F2"/>
                    </a:solidFill>
                  </a:tcPr>
                </a:tc>
              </a:tr>
              <a:tr h="225250">
                <a:tc>
                  <a:txBody>
                    <a:bodyPr/>
                    <a:lstStyle/>
                    <a:p>
                      <a:pPr marL="0" indent="0" lvl="0">
                        <a:buNone/>
                      </a:pPr>
                      <a:r>
                        <a:rPr sz="1100" b="1">
                          <a:solidFill>
                            <a:srgbClr val="060606"/>
                          </a:solidFill>
                          <a:latin typeface="Helvetica"/>
                        </a:rPr>
                        <a:t>R-PEP</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90</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1 290 000 FCFA</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88</a:t>
                      </a:r>
                    </a:p>
                  </a:txBody>
                  <a:tcPr marL="43200" marR="43200" marT="14400" marB="14400" anchor="ctr">
                    <a:solidFill>
                      <a:srgbClr val="FFFFFF"/>
                    </a:solidFill>
                  </a:tcPr>
                </a:tc>
              </a:tr>
              <a:tr h="225250">
                <a:tc>
                  <a:txBody>
                    <a:bodyPr/>
                    <a:lstStyle/>
                    <a:p>
                      <a:pPr marL="0" indent="0" lvl="0">
                        <a:buNone/>
                      </a:pPr>
                      <a:r>
                        <a:rPr sz="1100" b="1">
                          <a:solidFill>
                            <a:srgbClr val="060606"/>
                          </a:solidFill>
                          <a:latin typeface="Helvetica"/>
                        </a:rPr>
                        <a:t>PTQ</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43</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1 255 064 FCFA</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3</a:t>
                      </a:r>
                    </a:p>
                  </a:txBody>
                  <a:tcPr marL="43200" marR="43200" marT="14400" marB="14400" anchor="ctr">
                    <a:solidFill>
                      <a:srgbClr val="F2F2F2"/>
                    </a:solidFill>
                  </a:tcPr>
                </a:tc>
              </a:tr>
            </a:tbl>
          </a:graphicData>
        </a:graphic>
      </p:graphicFrame>
      <p:sp>
        <p:nvSpPr>
          <p:cNvPr id="33" name="TextBox 32"/>
          <p:cNvSpPr txBox="1"/>
          <p:nvPr/>
        </p:nvSpPr>
        <p:spPr>
          <a:xfrm>
            <a:off x="7703999" y="1386000"/>
            <a:ext cx="4032000" cy="4482000"/>
          </a:xfrm>
          <a:prstGeom prst="rect">
            <a:avLst/>
          </a:prstGeom>
          <a:noFill/>
        </p:spPr>
        <p:txBody>
          <a:bodyPr wrap="square" lIns="54000" rIns="54000"/>
          <a:lstStyle/>
          <a:p>
            <a:pPr algn="just">
              <a:spcAft>
                <a:spcPts val="600"/>
              </a:spcAft>
            </a:pPr>
            <a:r>
              <a:rPr sz="1400" b="1">
                <a:solidFill>
                  <a:srgbClr val="060606"/>
                </a:solidFill>
                <a:latin typeface="Helvetica"/>
              </a:rPr>
              <a:t>Le poste 998 ne porte pas que de l'épargne PEP.</a:t>
            </a:r>
            <a:r>
              <a:rPr sz="1400" b="0">
                <a:solidFill>
                  <a:srgbClr val="060606"/>
                </a:solidFill>
                <a:latin typeface="Helvetica"/>
              </a:rPr>
              <a:t> D'autres références, dont PTI, apparaissent avec des montants importants et peu de mutualistes.</a:t>
            </a:r>
          </a:p>
          <a:p>
            <a:pPr algn="just">
              <a:spcAft>
                <a:spcPts val="600"/>
              </a:spcAft>
            </a:pPr>
            <a:r>
              <a:rPr sz="1400" b="1">
                <a:solidFill>
                  <a:srgbClr val="060606"/>
                </a:solidFill>
                <a:latin typeface="Helvetica"/>
              </a:rPr>
              <a:t>Leur nature n'est documentée nulle part.</a:t>
            </a:r>
            <a:r>
              <a:rPr sz="1400" b="0">
                <a:solidFill>
                  <a:srgbClr val="060606"/>
                </a:solidFill>
                <a:latin typeface="Helvetica"/>
              </a:rPr>
              <a:t> Il peut s'agir de remboursements de prêts PEP (comptes 27110000 et 27120000), ce que le FPPN doit confirmer.</a:t>
            </a:r>
          </a:p>
          <a:p>
            <a:pPr algn="just">
              <a:spcAft>
                <a:spcPts val="600"/>
              </a:spcAft>
            </a:pPr>
            <a:r>
              <a:rPr sz="1400" b="1">
                <a:solidFill>
                  <a:srgbClr val="060606"/>
                </a:solidFill>
                <a:latin typeface="Helvetica"/>
              </a:rPr>
              <a:t>Implication pour le FPPN.</a:t>
            </a:r>
            <a:r>
              <a:rPr sz="1400" b="0">
                <a:solidFill>
                  <a:srgbClr val="060606"/>
                </a:solidFill>
                <a:latin typeface="Helvetica"/>
              </a:rPr>
              <a:t> Tant que ces références ne sont pas expliquées, la dette d'épargne PEP ne peut pas être reconstituée à partir des précomptes.</a:t>
            </a:r>
          </a:p>
        </p:txBody>
      </p:sp>
      <p:sp>
        <p:nvSpPr>
          <p:cNvPr id="34" name="TextBox 33"/>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CGRAE : Caisse générale de retraite des agents de l'État | PEP : Plan Épargne Plus | 998 : poste PEP</a:t>
            </a:r>
          </a:p>
        </p:txBody>
      </p:sp>
    </p:spTree>
    <p:extLst>
      <p:ext uri="{BB962C8B-B14F-4D97-AF65-F5344CB8AC3E}">
        <p14:creationId xmlns:p14="http://schemas.microsoft.com/office/powerpoint/2010/main" val="3949629886"/>
      </p:ext>
    </p:extLst>
  </p:cSld>
  <p:clrMapOvr>
    <a:masterClrMapping/>
  </p:clrMapOvr>
  <p:transition>
    <p:fade/>
  </p:transition>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6" name="Image 25"/>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30" name="ZoneTexte 29">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9" name="Google Shape;7386;p39"/>
          <p:cNvSpPr/>
          <p:nvPr/>
        </p:nvSpPr>
        <p:spPr>
          <a:xfrm rot="10800000">
            <a:off x="1748072" y="1436295"/>
            <a:ext cx="3625790" cy="329031"/>
          </a:xfrm>
          <a:custGeom>
            <a:avLst/>
            <a:gdLst/>
            <a:ahLst/>
            <a:cxnLst/>
            <a:rect l="l" t="t" r="r" b="b"/>
            <a:pathLst>
              <a:path w="40007" h="30221" extrusionOk="0">
                <a:moveTo>
                  <a:pt x="19007" y="1"/>
                </a:moveTo>
                <a:cubicBezTo>
                  <a:pt x="17909" y="1"/>
                  <a:pt x="16810" y="17"/>
                  <a:pt x="15708" y="53"/>
                </a:cubicBezTo>
                <a:cubicBezTo>
                  <a:pt x="13270" y="131"/>
                  <a:pt x="10885" y="275"/>
                  <a:pt x="8512" y="548"/>
                </a:cubicBezTo>
                <a:cubicBezTo>
                  <a:pt x="6088" y="835"/>
                  <a:pt x="4524" y="1500"/>
                  <a:pt x="4041" y="2712"/>
                </a:cubicBezTo>
                <a:cubicBezTo>
                  <a:pt x="4015" y="2777"/>
                  <a:pt x="3976" y="2843"/>
                  <a:pt x="3937" y="2908"/>
                </a:cubicBezTo>
                <a:cubicBezTo>
                  <a:pt x="2777" y="4902"/>
                  <a:pt x="2282" y="6949"/>
                  <a:pt x="1734" y="8995"/>
                </a:cubicBezTo>
                <a:cubicBezTo>
                  <a:pt x="1160" y="11120"/>
                  <a:pt x="613" y="13232"/>
                  <a:pt x="391" y="15357"/>
                </a:cubicBezTo>
                <a:cubicBezTo>
                  <a:pt x="183" y="17325"/>
                  <a:pt x="0" y="19293"/>
                  <a:pt x="79" y="21092"/>
                </a:cubicBezTo>
                <a:cubicBezTo>
                  <a:pt x="52" y="23074"/>
                  <a:pt x="144" y="24899"/>
                  <a:pt x="365" y="26710"/>
                </a:cubicBezTo>
                <a:cubicBezTo>
                  <a:pt x="522" y="28079"/>
                  <a:pt x="1721" y="29096"/>
                  <a:pt x="4419" y="29656"/>
                </a:cubicBezTo>
                <a:cubicBezTo>
                  <a:pt x="6296" y="30048"/>
                  <a:pt x="8265" y="30178"/>
                  <a:pt x="10259" y="30204"/>
                </a:cubicBezTo>
                <a:cubicBezTo>
                  <a:pt x="11143" y="30216"/>
                  <a:pt x="12026" y="30220"/>
                  <a:pt x="12908" y="30220"/>
                </a:cubicBezTo>
                <a:cubicBezTo>
                  <a:pt x="15996" y="30220"/>
                  <a:pt x="19078" y="30165"/>
                  <a:pt x="22161" y="30165"/>
                </a:cubicBezTo>
                <a:cubicBezTo>
                  <a:pt x="24859" y="30165"/>
                  <a:pt x="27557" y="30204"/>
                  <a:pt x="30243" y="30204"/>
                </a:cubicBezTo>
                <a:cubicBezTo>
                  <a:pt x="31690" y="30191"/>
                  <a:pt x="33123" y="30113"/>
                  <a:pt x="34505" y="29852"/>
                </a:cubicBezTo>
                <a:cubicBezTo>
                  <a:pt x="35470" y="29683"/>
                  <a:pt x="36330" y="29435"/>
                  <a:pt x="36917" y="29005"/>
                </a:cubicBezTo>
                <a:cubicBezTo>
                  <a:pt x="37881" y="28288"/>
                  <a:pt x="38677" y="27519"/>
                  <a:pt x="39120" y="26684"/>
                </a:cubicBezTo>
                <a:cubicBezTo>
                  <a:pt x="39732" y="25485"/>
                  <a:pt x="39954" y="24260"/>
                  <a:pt x="39954" y="23021"/>
                </a:cubicBezTo>
                <a:cubicBezTo>
                  <a:pt x="39954" y="19372"/>
                  <a:pt x="40006" y="15709"/>
                  <a:pt x="39563" y="12059"/>
                </a:cubicBezTo>
                <a:cubicBezTo>
                  <a:pt x="39367" y="10403"/>
                  <a:pt x="39485" y="8748"/>
                  <a:pt x="39237" y="7105"/>
                </a:cubicBezTo>
                <a:cubicBezTo>
                  <a:pt x="39068" y="6023"/>
                  <a:pt x="38794" y="4941"/>
                  <a:pt x="37920" y="3938"/>
                </a:cubicBezTo>
                <a:cubicBezTo>
                  <a:pt x="37282" y="3208"/>
                  <a:pt x="36773" y="2438"/>
                  <a:pt x="35665" y="1826"/>
                </a:cubicBezTo>
                <a:cubicBezTo>
                  <a:pt x="34192" y="1031"/>
                  <a:pt x="32237" y="666"/>
                  <a:pt x="30138" y="496"/>
                </a:cubicBezTo>
                <a:cubicBezTo>
                  <a:pt x="26451" y="194"/>
                  <a:pt x="22741" y="1"/>
                  <a:pt x="19007" y="1"/>
                </a:cubicBezTo>
                <a:close/>
              </a:path>
            </a:pathLst>
          </a:custGeom>
          <a:solidFill>
            <a:srgbClr val="112A40"/>
          </a:solidFill>
          <a:ln>
            <a:noFill/>
          </a:ln>
          <a:effectLst>
            <a:outerShdw blurRad="57150" dist="9525" algn="bl" rotWithShape="0">
              <a:srgbClr val="000000"/>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lang="fr-CI" noProof="0"/>
          </a:p>
        </p:txBody>
      </p:sp>
      <p:sp>
        <p:nvSpPr>
          <p:cNvPr id="10" name="Google Shape;7367;p39"/>
          <p:cNvSpPr/>
          <p:nvPr/>
        </p:nvSpPr>
        <p:spPr>
          <a:xfrm rot="16200000">
            <a:off x="2201124" y="215006"/>
            <a:ext cx="2027916" cy="4306666"/>
          </a:xfrm>
          <a:custGeom>
            <a:avLst/>
            <a:gdLst/>
            <a:ahLst/>
            <a:cxnLst/>
            <a:rect l="l" t="t" r="r" b="b"/>
            <a:pathLst>
              <a:path w="25081" h="54128" extrusionOk="0">
                <a:moveTo>
                  <a:pt x="19843" y="0"/>
                </a:moveTo>
                <a:cubicBezTo>
                  <a:pt x="19654" y="0"/>
                  <a:pt x="19462" y="7"/>
                  <a:pt x="19267" y="21"/>
                </a:cubicBezTo>
                <a:cubicBezTo>
                  <a:pt x="17781" y="125"/>
                  <a:pt x="16282" y="99"/>
                  <a:pt x="14796" y="112"/>
                </a:cubicBezTo>
                <a:cubicBezTo>
                  <a:pt x="13909" y="125"/>
                  <a:pt x="13010" y="112"/>
                  <a:pt x="12123" y="177"/>
                </a:cubicBezTo>
                <a:cubicBezTo>
                  <a:pt x="10272" y="333"/>
                  <a:pt x="8421" y="503"/>
                  <a:pt x="6570" y="633"/>
                </a:cubicBezTo>
                <a:cubicBezTo>
                  <a:pt x="5267" y="738"/>
                  <a:pt x="3989" y="933"/>
                  <a:pt x="2764" y="1259"/>
                </a:cubicBezTo>
                <a:cubicBezTo>
                  <a:pt x="1943" y="1481"/>
                  <a:pt x="1408" y="1872"/>
                  <a:pt x="1226" y="2471"/>
                </a:cubicBezTo>
                <a:cubicBezTo>
                  <a:pt x="991" y="3292"/>
                  <a:pt x="861" y="4140"/>
                  <a:pt x="965" y="4974"/>
                </a:cubicBezTo>
                <a:cubicBezTo>
                  <a:pt x="991" y="5248"/>
                  <a:pt x="1030" y="5508"/>
                  <a:pt x="991" y="5782"/>
                </a:cubicBezTo>
                <a:cubicBezTo>
                  <a:pt x="835" y="6877"/>
                  <a:pt x="678" y="7972"/>
                  <a:pt x="587" y="9067"/>
                </a:cubicBezTo>
                <a:cubicBezTo>
                  <a:pt x="470" y="10488"/>
                  <a:pt x="378" y="11896"/>
                  <a:pt x="300" y="13317"/>
                </a:cubicBezTo>
                <a:cubicBezTo>
                  <a:pt x="274" y="13825"/>
                  <a:pt x="352" y="14333"/>
                  <a:pt x="339" y="14829"/>
                </a:cubicBezTo>
                <a:cubicBezTo>
                  <a:pt x="313" y="15820"/>
                  <a:pt x="157" y="16797"/>
                  <a:pt x="118" y="17775"/>
                </a:cubicBezTo>
                <a:cubicBezTo>
                  <a:pt x="53" y="19391"/>
                  <a:pt x="0" y="21008"/>
                  <a:pt x="40" y="22624"/>
                </a:cubicBezTo>
                <a:cubicBezTo>
                  <a:pt x="66" y="24149"/>
                  <a:pt x="157" y="25661"/>
                  <a:pt x="144" y="27173"/>
                </a:cubicBezTo>
                <a:cubicBezTo>
                  <a:pt x="131" y="28646"/>
                  <a:pt x="105" y="30132"/>
                  <a:pt x="131" y="31605"/>
                </a:cubicBezTo>
                <a:cubicBezTo>
                  <a:pt x="209" y="35412"/>
                  <a:pt x="405" y="39218"/>
                  <a:pt x="274" y="43051"/>
                </a:cubicBezTo>
                <a:cubicBezTo>
                  <a:pt x="235" y="44237"/>
                  <a:pt x="287" y="45436"/>
                  <a:pt x="300" y="46622"/>
                </a:cubicBezTo>
                <a:cubicBezTo>
                  <a:pt x="300" y="46687"/>
                  <a:pt x="300" y="46753"/>
                  <a:pt x="287" y="46818"/>
                </a:cubicBezTo>
                <a:cubicBezTo>
                  <a:pt x="222" y="48004"/>
                  <a:pt x="313" y="49190"/>
                  <a:pt x="535" y="50363"/>
                </a:cubicBezTo>
                <a:cubicBezTo>
                  <a:pt x="665" y="51054"/>
                  <a:pt x="1004" y="51706"/>
                  <a:pt x="1239" y="52384"/>
                </a:cubicBezTo>
                <a:cubicBezTo>
                  <a:pt x="1486" y="53075"/>
                  <a:pt x="2164" y="53492"/>
                  <a:pt x="3129" y="53700"/>
                </a:cubicBezTo>
                <a:cubicBezTo>
                  <a:pt x="3812" y="53854"/>
                  <a:pt x="4517" y="53911"/>
                  <a:pt x="5223" y="53911"/>
                </a:cubicBezTo>
                <a:cubicBezTo>
                  <a:pt x="5299" y="53911"/>
                  <a:pt x="5374" y="53910"/>
                  <a:pt x="5449" y="53909"/>
                </a:cubicBezTo>
                <a:cubicBezTo>
                  <a:pt x="5591" y="53907"/>
                  <a:pt x="5733" y="53906"/>
                  <a:pt x="5875" y="53906"/>
                </a:cubicBezTo>
                <a:cubicBezTo>
                  <a:pt x="7594" y="53906"/>
                  <a:pt x="9293" y="54042"/>
                  <a:pt x="11015" y="54078"/>
                </a:cubicBezTo>
                <a:cubicBezTo>
                  <a:pt x="11655" y="54087"/>
                  <a:pt x="12288" y="54128"/>
                  <a:pt x="12924" y="54128"/>
                </a:cubicBezTo>
                <a:cubicBezTo>
                  <a:pt x="13273" y="54128"/>
                  <a:pt x="13623" y="54115"/>
                  <a:pt x="13974" y="54078"/>
                </a:cubicBezTo>
                <a:cubicBezTo>
                  <a:pt x="15239" y="53948"/>
                  <a:pt x="16516" y="53870"/>
                  <a:pt x="17781" y="53779"/>
                </a:cubicBezTo>
                <a:cubicBezTo>
                  <a:pt x="18850" y="53700"/>
                  <a:pt x="19919" y="53583"/>
                  <a:pt x="20961" y="53375"/>
                </a:cubicBezTo>
                <a:cubicBezTo>
                  <a:pt x="22043" y="53153"/>
                  <a:pt x="22956" y="52749"/>
                  <a:pt x="23503" y="52019"/>
                </a:cubicBezTo>
                <a:cubicBezTo>
                  <a:pt x="23855" y="51537"/>
                  <a:pt x="24142" y="51028"/>
                  <a:pt x="24233" y="50494"/>
                </a:cubicBezTo>
                <a:cubicBezTo>
                  <a:pt x="24416" y="49464"/>
                  <a:pt x="24429" y="48434"/>
                  <a:pt x="24546" y="47404"/>
                </a:cubicBezTo>
                <a:cubicBezTo>
                  <a:pt x="24690" y="45957"/>
                  <a:pt x="24768" y="44510"/>
                  <a:pt x="24833" y="43064"/>
                </a:cubicBezTo>
                <a:cubicBezTo>
                  <a:pt x="24924" y="41395"/>
                  <a:pt x="24898" y="39726"/>
                  <a:pt x="24898" y="38058"/>
                </a:cubicBezTo>
                <a:cubicBezTo>
                  <a:pt x="24885" y="36402"/>
                  <a:pt x="24794" y="34760"/>
                  <a:pt x="24794" y="33104"/>
                </a:cubicBezTo>
                <a:cubicBezTo>
                  <a:pt x="24794" y="31332"/>
                  <a:pt x="24755" y="29546"/>
                  <a:pt x="24768" y="27760"/>
                </a:cubicBezTo>
                <a:cubicBezTo>
                  <a:pt x="24794" y="26196"/>
                  <a:pt x="24807" y="24631"/>
                  <a:pt x="24846" y="23067"/>
                </a:cubicBezTo>
                <a:cubicBezTo>
                  <a:pt x="24885" y="21503"/>
                  <a:pt x="24911" y="19952"/>
                  <a:pt x="24911" y="18387"/>
                </a:cubicBezTo>
                <a:cubicBezTo>
                  <a:pt x="24911" y="16967"/>
                  <a:pt x="24937" y="15533"/>
                  <a:pt x="24989" y="14112"/>
                </a:cubicBezTo>
                <a:cubicBezTo>
                  <a:pt x="25028" y="12795"/>
                  <a:pt x="25081" y="11479"/>
                  <a:pt x="25068" y="10162"/>
                </a:cubicBezTo>
                <a:cubicBezTo>
                  <a:pt x="25068" y="8924"/>
                  <a:pt x="25002" y="7685"/>
                  <a:pt x="24963" y="6447"/>
                </a:cubicBezTo>
                <a:lnTo>
                  <a:pt x="24950" y="6447"/>
                </a:lnTo>
                <a:cubicBezTo>
                  <a:pt x="25055" y="5561"/>
                  <a:pt x="24963" y="4674"/>
                  <a:pt x="24872" y="3801"/>
                </a:cubicBezTo>
                <a:cubicBezTo>
                  <a:pt x="24807" y="3175"/>
                  <a:pt x="24664" y="2562"/>
                  <a:pt x="24403" y="1963"/>
                </a:cubicBezTo>
                <a:cubicBezTo>
                  <a:pt x="24194" y="1481"/>
                  <a:pt x="23803" y="1103"/>
                  <a:pt x="23204" y="803"/>
                </a:cubicBezTo>
                <a:cubicBezTo>
                  <a:pt x="22185" y="293"/>
                  <a:pt x="21087" y="0"/>
                  <a:pt x="19843" y="0"/>
                </a:cubicBezTo>
                <a:close/>
              </a:path>
            </a:pathLst>
          </a:custGeom>
          <a:noFill/>
          <a:ln w="19050">
            <a:solidFill>
              <a:schemeClr val="tx1"/>
            </a:solidFill>
          </a:ln>
          <a:effectLst>
            <a:outerShdw blurRad="57150" dist="9525" algn="bl" rotWithShape="0">
              <a:srgbClr val="000000"/>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lang="fr-CI" noProof="0"/>
          </a:p>
        </p:txBody>
      </p:sp>
      <p:sp>
        <p:nvSpPr>
          <p:cNvPr id="4" name="Rectangle 3"/>
          <p:cNvSpPr/>
          <p:nvPr/>
        </p:nvSpPr>
        <p:spPr>
          <a:xfrm>
            <a:off x="2946575" y="1442741"/>
            <a:ext cx="1322389" cy="295488"/>
          </a:xfrm>
          <a:prstGeom prst="rect">
            <a:avLst/>
          </a:prstGeom>
        </p:spPr>
        <p:txBody>
          <a:bodyPr wrap="none">
            <a:spAutoFit/>
          </a:bodyPr>
          <a:lstStyle/>
          <a:p>
            <a:pPr lvl="0">
              <a:lnSpc>
                <a:spcPct val="110000"/>
              </a:lnSpc>
            </a:pPr>
            <a:r>
              <a:rPr lang="fr-CI" sz="1400" b="1" noProof="0">
                <a:solidFill>
                  <a:schemeClr val="bg1"/>
                </a:solidFill>
                <a:latin typeface="Helvetica" panose="020B0604020202020204" pitchFamily="34" charset="0"/>
                <a:ea typeface="Open Sans Semibold" panose="020B0706030804020204" pitchFamily="34" charset="0"/>
                <a:cs typeface="Helvetica" panose="020B0604020202020204" pitchFamily="34" charset="0"/>
              </a:rPr>
              <a:t>Constat</a:t>
            </a:r>
          </a:p>
        </p:txBody>
      </p:sp>
      <p:sp>
        <p:nvSpPr>
          <p:cNvPr id="20" name="Google Shape;7386;p39"/>
          <p:cNvSpPr/>
          <p:nvPr/>
        </p:nvSpPr>
        <p:spPr>
          <a:xfrm rot="10800000">
            <a:off x="6372314" y="1459724"/>
            <a:ext cx="3625790" cy="329031"/>
          </a:xfrm>
          <a:custGeom>
            <a:avLst/>
            <a:gdLst/>
            <a:ahLst/>
            <a:cxnLst/>
            <a:rect l="l" t="t" r="r" b="b"/>
            <a:pathLst>
              <a:path w="40007" h="30221" extrusionOk="0">
                <a:moveTo>
                  <a:pt x="19007" y="1"/>
                </a:moveTo>
                <a:cubicBezTo>
                  <a:pt x="17909" y="1"/>
                  <a:pt x="16810" y="17"/>
                  <a:pt x="15708" y="53"/>
                </a:cubicBezTo>
                <a:cubicBezTo>
                  <a:pt x="13270" y="131"/>
                  <a:pt x="10885" y="275"/>
                  <a:pt x="8512" y="548"/>
                </a:cubicBezTo>
                <a:cubicBezTo>
                  <a:pt x="6088" y="835"/>
                  <a:pt x="4524" y="1500"/>
                  <a:pt x="4041" y="2712"/>
                </a:cubicBezTo>
                <a:cubicBezTo>
                  <a:pt x="4015" y="2777"/>
                  <a:pt x="3976" y="2843"/>
                  <a:pt x="3937" y="2908"/>
                </a:cubicBezTo>
                <a:cubicBezTo>
                  <a:pt x="2777" y="4902"/>
                  <a:pt x="2282" y="6949"/>
                  <a:pt x="1734" y="8995"/>
                </a:cubicBezTo>
                <a:cubicBezTo>
                  <a:pt x="1160" y="11120"/>
                  <a:pt x="613" y="13232"/>
                  <a:pt x="391" y="15357"/>
                </a:cubicBezTo>
                <a:cubicBezTo>
                  <a:pt x="183" y="17325"/>
                  <a:pt x="0" y="19293"/>
                  <a:pt x="79" y="21092"/>
                </a:cubicBezTo>
                <a:cubicBezTo>
                  <a:pt x="52" y="23074"/>
                  <a:pt x="144" y="24899"/>
                  <a:pt x="365" y="26710"/>
                </a:cubicBezTo>
                <a:cubicBezTo>
                  <a:pt x="522" y="28079"/>
                  <a:pt x="1721" y="29096"/>
                  <a:pt x="4419" y="29656"/>
                </a:cubicBezTo>
                <a:cubicBezTo>
                  <a:pt x="6296" y="30048"/>
                  <a:pt x="8265" y="30178"/>
                  <a:pt x="10259" y="30204"/>
                </a:cubicBezTo>
                <a:cubicBezTo>
                  <a:pt x="11143" y="30216"/>
                  <a:pt x="12026" y="30220"/>
                  <a:pt x="12908" y="30220"/>
                </a:cubicBezTo>
                <a:cubicBezTo>
                  <a:pt x="15996" y="30220"/>
                  <a:pt x="19078" y="30165"/>
                  <a:pt x="22161" y="30165"/>
                </a:cubicBezTo>
                <a:cubicBezTo>
                  <a:pt x="24859" y="30165"/>
                  <a:pt x="27557" y="30204"/>
                  <a:pt x="30243" y="30204"/>
                </a:cubicBezTo>
                <a:cubicBezTo>
                  <a:pt x="31690" y="30191"/>
                  <a:pt x="33123" y="30113"/>
                  <a:pt x="34505" y="29852"/>
                </a:cubicBezTo>
                <a:cubicBezTo>
                  <a:pt x="35470" y="29683"/>
                  <a:pt x="36330" y="29435"/>
                  <a:pt x="36917" y="29005"/>
                </a:cubicBezTo>
                <a:cubicBezTo>
                  <a:pt x="37881" y="28288"/>
                  <a:pt x="38677" y="27519"/>
                  <a:pt x="39120" y="26684"/>
                </a:cubicBezTo>
                <a:cubicBezTo>
                  <a:pt x="39732" y="25485"/>
                  <a:pt x="39954" y="24260"/>
                  <a:pt x="39954" y="23021"/>
                </a:cubicBezTo>
                <a:cubicBezTo>
                  <a:pt x="39954" y="19372"/>
                  <a:pt x="40006" y="15709"/>
                  <a:pt x="39563" y="12059"/>
                </a:cubicBezTo>
                <a:cubicBezTo>
                  <a:pt x="39367" y="10403"/>
                  <a:pt x="39485" y="8748"/>
                  <a:pt x="39237" y="7105"/>
                </a:cubicBezTo>
                <a:cubicBezTo>
                  <a:pt x="39068" y="6023"/>
                  <a:pt x="38794" y="4941"/>
                  <a:pt x="37920" y="3938"/>
                </a:cubicBezTo>
                <a:cubicBezTo>
                  <a:pt x="37282" y="3208"/>
                  <a:pt x="36773" y="2438"/>
                  <a:pt x="35665" y="1826"/>
                </a:cubicBezTo>
                <a:cubicBezTo>
                  <a:pt x="34192" y="1031"/>
                  <a:pt x="32237" y="666"/>
                  <a:pt x="30138" y="496"/>
                </a:cubicBezTo>
                <a:cubicBezTo>
                  <a:pt x="26451" y="194"/>
                  <a:pt x="22741" y="1"/>
                  <a:pt x="19007" y="1"/>
                </a:cubicBezTo>
                <a:close/>
              </a:path>
            </a:pathLst>
          </a:custGeom>
          <a:solidFill>
            <a:srgbClr val="112A40"/>
          </a:solidFill>
          <a:ln>
            <a:noFill/>
          </a:ln>
          <a:effectLst>
            <a:outerShdw blurRad="57150" dist="9525" algn="bl" rotWithShape="0">
              <a:srgbClr val="000000"/>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lang="fr-CI" noProof="0"/>
          </a:p>
        </p:txBody>
      </p:sp>
      <p:sp>
        <p:nvSpPr>
          <p:cNvPr id="21" name="Google Shape;7367;p39"/>
          <p:cNvSpPr/>
          <p:nvPr/>
        </p:nvSpPr>
        <p:spPr>
          <a:xfrm rot="16200000">
            <a:off x="7569073" y="228570"/>
            <a:ext cx="2000788" cy="4306666"/>
          </a:xfrm>
          <a:custGeom>
            <a:avLst/>
            <a:gdLst/>
            <a:ahLst/>
            <a:cxnLst/>
            <a:rect l="l" t="t" r="r" b="b"/>
            <a:pathLst>
              <a:path w="25081" h="54128" extrusionOk="0">
                <a:moveTo>
                  <a:pt x="19843" y="0"/>
                </a:moveTo>
                <a:cubicBezTo>
                  <a:pt x="19654" y="0"/>
                  <a:pt x="19462" y="7"/>
                  <a:pt x="19267" y="21"/>
                </a:cubicBezTo>
                <a:cubicBezTo>
                  <a:pt x="17781" y="125"/>
                  <a:pt x="16282" y="99"/>
                  <a:pt x="14796" y="112"/>
                </a:cubicBezTo>
                <a:cubicBezTo>
                  <a:pt x="13909" y="125"/>
                  <a:pt x="13010" y="112"/>
                  <a:pt x="12123" y="177"/>
                </a:cubicBezTo>
                <a:cubicBezTo>
                  <a:pt x="10272" y="333"/>
                  <a:pt x="8421" y="503"/>
                  <a:pt x="6570" y="633"/>
                </a:cubicBezTo>
                <a:cubicBezTo>
                  <a:pt x="5267" y="738"/>
                  <a:pt x="3989" y="933"/>
                  <a:pt x="2764" y="1259"/>
                </a:cubicBezTo>
                <a:cubicBezTo>
                  <a:pt x="1943" y="1481"/>
                  <a:pt x="1408" y="1872"/>
                  <a:pt x="1226" y="2471"/>
                </a:cubicBezTo>
                <a:cubicBezTo>
                  <a:pt x="991" y="3292"/>
                  <a:pt x="861" y="4140"/>
                  <a:pt x="965" y="4974"/>
                </a:cubicBezTo>
                <a:cubicBezTo>
                  <a:pt x="991" y="5248"/>
                  <a:pt x="1030" y="5508"/>
                  <a:pt x="991" y="5782"/>
                </a:cubicBezTo>
                <a:cubicBezTo>
                  <a:pt x="835" y="6877"/>
                  <a:pt x="678" y="7972"/>
                  <a:pt x="587" y="9067"/>
                </a:cubicBezTo>
                <a:cubicBezTo>
                  <a:pt x="470" y="10488"/>
                  <a:pt x="378" y="11896"/>
                  <a:pt x="300" y="13317"/>
                </a:cubicBezTo>
                <a:cubicBezTo>
                  <a:pt x="274" y="13825"/>
                  <a:pt x="352" y="14333"/>
                  <a:pt x="339" y="14829"/>
                </a:cubicBezTo>
                <a:cubicBezTo>
                  <a:pt x="313" y="15820"/>
                  <a:pt x="157" y="16797"/>
                  <a:pt x="118" y="17775"/>
                </a:cubicBezTo>
                <a:cubicBezTo>
                  <a:pt x="53" y="19391"/>
                  <a:pt x="0" y="21008"/>
                  <a:pt x="40" y="22624"/>
                </a:cubicBezTo>
                <a:cubicBezTo>
                  <a:pt x="66" y="24149"/>
                  <a:pt x="157" y="25661"/>
                  <a:pt x="144" y="27173"/>
                </a:cubicBezTo>
                <a:cubicBezTo>
                  <a:pt x="131" y="28646"/>
                  <a:pt x="105" y="30132"/>
                  <a:pt x="131" y="31605"/>
                </a:cubicBezTo>
                <a:cubicBezTo>
                  <a:pt x="209" y="35412"/>
                  <a:pt x="405" y="39218"/>
                  <a:pt x="274" y="43051"/>
                </a:cubicBezTo>
                <a:cubicBezTo>
                  <a:pt x="235" y="44237"/>
                  <a:pt x="287" y="45436"/>
                  <a:pt x="300" y="46622"/>
                </a:cubicBezTo>
                <a:cubicBezTo>
                  <a:pt x="300" y="46687"/>
                  <a:pt x="300" y="46753"/>
                  <a:pt x="287" y="46818"/>
                </a:cubicBezTo>
                <a:cubicBezTo>
                  <a:pt x="222" y="48004"/>
                  <a:pt x="313" y="49190"/>
                  <a:pt x="535" y="50363"/>
                </a:cubicBezTo>
                <a:cubicBezTo>
                  <a:pt x="665" y="51054"/>
                  <a:pt x="1004" y="51706"/>
                  <a:pt x="1239" y="52384"/>
                </a:cubicBezTo>
                <a:cubicBezTo>
                  <a:pt x="1486" y="53075"/>
                  <a:pt x="2164" y="53492"/>
                  <a:pt x="3129" y="53700"/>
                </a:cubicBezTo>
                <a:cubicBezTo>
                  <a:pt x="3812" y="53854"/>
                  <a:pt x="4517" y="53911"/>
                  <a:pt x="5223" y="53911"/>
                </a:cubicBezTo>
                <a:cubicBezTo>
                  <a:pt x="5299" y="53911"/>
                  <a:pt x="5374" y="53910"/>
                  <a:pt x="5449" y="53909"/>
                </a:cubicBezTo>
                <a:cubicBezTo>
                  <a:pt x="5591" y="53907"/>
                  <a:pt x="5733" y="53906"/>
                  <a:pt x="5875" y="53906"/>
                </a:cubicBezTo>
                <a:cubicBezTo>
                  <a:pt x="7594" y="53906"/>
                  <a:pt x="9293" y="54042"/>
                  <a:pt x="11015" y="54078"/>
                </a:cubicBezTo>
                <a:cubicBezTo>
                  <a:pt x="11655" y="54087"/>
                  <a:pt x="12288" y="54128"/>
                  <a:pt x="12924" y="54128"/>
                </a:cubicBezTo>
                <a:cubicBezTo>
                  <a:pt x="13273" y="54128"/>
                  <a:pt x="13623" y="54115"/>
                  <a:pt x="13974" y="54078"/>
                </a:cubicBezTo>
                <a:cubicBezTo>
                  <a:pt x="15239" y="53948"/>
                  <a:pt x="16516" y="53870"/>
                  <a:pt x="17781" y="53779"/>
                </a:cubicBezTo>
                <a:cubicBezTo>
                  <a:pt x="18850" y="53700"/>
                  <a:pt x="19919" y="53583"/>
                  <a:pt x="20961" y="53375"/>
                </a:cubicBezTo>
                <a:cubicBezTo>
                  <a:pt x="22043" y="53153"/>
                  <a:pt x="22956" y="52749"/>
                  <a:pt x="23503" y="52019"/>
                </a:cubicBezTo>
                <a:cubicBezTo>
                  <a:pt x="23855" y="51537"/>
                  <a:pt x="24142" y="51028"/>
                  <a:pt x="24233" y="50494"/>
                </a:cubicBezTo>
                <a:cubicBezTo>
                  <a:pt x="24416" y="49464"/>
                  <a:pt x="24429" y="48434"/>
                  <a:pt x="24546" y="47404"/>
                </a:cubicBezTo>
                <a:cubicBezTo>
                  <a:pt x="24690" y="45957"/>
                  <a:pt x="24768" y="44510"/>
                  <a:pt x="24833" y="43064"/>
                </a:cubicBezTo>
                <a:cubicBezTo>
                  <a:pt x="24924" y="41395"/>
                  <a:pt x="24898" y="39726"/>
                  <a:pt x="24898" y="38058"/>
                </a:cubicBezTo>
                <a:cubicBezTo>
                  <a:pt x="24885" y="36402"/>
                  <a:pt x="24794" y="34760"/>
                  <a:pt x="24794" y="33104"/>
                </a:cubicBezTo>
                <a:cubicBezTo>
                  <a:pt x="24794" y="31332"/>
                  <a:pt x="24755" y="29546"/>
                  <a:pt x="24768" y="27760"/>
                </a:cubicBezTo>
                <a:cubicBezTo>
                  <a:pt x="24794" y="26196"/>
                  <a:pt x="24807" y="24631"/>
                  <a:pt x="24846" y="23067"/>
                </a:cubicBezTo>
                <a:cubicBezTo>
                  <a:pt x="24885" y="21503"/>
                  <a:pt x="24911" y="19952"/>
                  <a:pt x="24911" y="18387"/>
                </a:cubicBezTo>
                <a:cubicBezTo>
                  <a:pt x="24911" y="16967"/>
                  <a:pt x="24937" y="15533"/>
                  <a:pt x="24989" y="14112"/>
                </a:cubicBezTo>
                <a:cubicBezTo>
                  <a:pt x="25028" y="12795"/>
                  <a:pt x="25081" y="11479"/>
                  <a:pt x="25068" y="10162"/>
                </a:cubicBezTo>
                <a:cubicBezTo>
                  <a:pt x="25068" y="8924"/>
                  <a:pt x="25002" y="7685"/>
                  <a:pt x="24963" y="6447"/>
                </a:cubicBezTo>
                <a:lnTo>
                  <a:pt x="24950" y="6447"/>
                </a:lnTo>
                <a:cubicBezTo>
                  <a:pt x="25055" y="5561"/>
                  <a:pt x="24963" y="4674"/>
                  <a:pt x="24872" y="3801"/>
                </a:cubicBezTo>
                <a:cubicBezTo>
                  <a:pt x="24807" y="3175"/>
                  <a:pt x="24664" y="2562"/>
                  <a:pt x="24403" y="1963"/>
                </a:cubicBezTo>
                <a:cubicBezTo>
                  <a:pt x="24194" y="1481"/>
                  <a:pt x="23803" y="1103"/>
                  <a:pt x="23204" y="803"/>
                </a:cubicBezTo>
                <a:cubicBezTo>
                  <a:pt x="22185" y="293"/>
                  <a:pt x="21087" y="0"/>
                  <a:pt x="19843" y="0"/>
                </a:cubicBezTo>
                <a:close/>
              </a:path>
            </a:pathLst>
          </a:custGeom>
          <a:noFill/>
          <a:ln w="19050">
            <a:solidFill>
              <a:srgbClr val="060606"/>
            </a:solidFill>
          </a:ln>
          <a:effectLst>
            <a:outerShdw blurRad="57150" dist="9525" algn="bl" rotWithShape="0">
              <a:srgbClr val="000000"/>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lang="fr-CI" noProof="0"/>
          </a:p>
        </p:txBody>
      </p:sp>
      <p:sp>
        <p:nvSpPr>
          <p:cNvPr id="24" name="Rectangle 23"/>
          <p:cNvSpPr/>
          <p:nvPr/>
        </p:nvSpPr>
        <p:spPr>
          <a:xfrm>
            <a:off x="7570816" y="1466170"/>
            <a:ext cx="1322389" cy="295488"/>
          </a:xfrm>
          <a:prstGeom prst="rect">
            <a:avLst/>
          </a:prstGeom>
        </p:spPr>
        <p:txBody>
          <a:bodyPr wrap="none">
            <a:spAutoFit/>
          </a:bodyPr>
          <a:lstStyle/>
          <a:p>
            <a:pPr lvl="0">
              <a:lnSpc>
                <a:spcPct val="110000"/>
              </a:lnSpc>
            </a:pPr>
            <a:r>
              <a:rPr lang="fr-CI" sz="1400" b="1" noProof="0">
                <a:solidFill>
                  <a:schemeClr val="bg1"/>
                </a:solidFill>
                <a:latin typeface="Helvetica" panose="020B0604020202020204" pitchFamily="34" charset="0"/>
                <a:ea typeface="Open Sans Semibold" panose="020B0706030804020204" pitchFamily="34" charset="0"/>
                <a:cs typeface="Helvetica" panose="020B0604020202020204" pitchFamily="34" charset="0"/>
              </a:rPr>
              <a:t>Preuves</a:t>
            </a:r>
          </a:p>
        </p:txBody>
      </p:sp>
      <p:sp>
        <p:nvSpPr>
          <p:cNvPr id="37" name="Google Shape;7386;p39"/>
          <p:cNvSpPr/>
          <p:nvPr/>
        </p:nvSpPr>
        <p:spPr>
          <a:xfrm rot="10800000">
            <a:off x="1854215" y="3845744"/>
            <a:ext cx="3625790" cy="329031"/>
          </a:xfrm>
          <a:custGeom>
            <a:avLst/>
            <a:gdLst/>
            <a:ahLst/>
            <a:cxnLst/>
            <a:rect l="l" t="t" r="r" b="b"/>
            <a:pathLst>
              <a:path w="40007" h="30221" extrusionOk="0">
                <a:moveTo>
                  <a:pt x="19007" y="1"/>
                </a:moveTo>
                <a:cubicBezTo>
                  <a:pt x="17909" y="1"/>
                  <a:pt x="16810" y="17"/>
                  <a:pt x="15708" y="53"/>
                </a:cubicBezTo>
                <a:cubicBezTo>
                  <a:pt x="13270" y="131"/>
                  <a:pt x="10885" y="275"/>
                  <a:pt x="8512" y="548"/>
                </a:cubicBezTo>
                <a:cubicBezTo>
                  <a:pt x="6088" y="835"/>
                  <a:pt x="4524" y="1500"/>
                  <a:pt x="4041" y="2712"/>
                </a:cubicBezTo>
                <a:cubicBezTo>
                  <a:pt x="4015" y="2777"/>
                  <a:pt x="3976" y="2843"/>
                  <a:pt x="3937" y="2908"/>
                </a:cubicBezTo>
                <a:cubicBezTo>
                  <a:pt x="2777" y="4902"/>
                  <a:pt x="2282" y="6949"/>
                  <a:pt x="1734" y="8995"/>
                </a:cubicBezTo>
                <a:cubicBezTo>
                  <a:pt x="1160" y="11120"/>
                  <a:pt x="613" y="13232"/>
                  <a:pt x="391" y="15357"/>
                </a:cubicBezTo>
                <a:cubicBezTo>
                  <a:pt x="183" y="17325"/>
                  <a:pt x="0" y="19293"/>
                  <a:pt x="79" y="21092"/>
                </a:cubicBezTo>
                <a:cubicBezTo>
                  <a:pt x="52" y="23074"/>
                  <a:pt x="144" y="24899"/>
                  <a:pt x="365" y="26710"/>
                </a:cubicBezTo>
                <a:cubicBezTo>
                  <a:pt x="522" y="28079"/>
                  <a:pt x="1721" y="29096"/>
                  <a:pt x="4419" y="29656"/>
                </a:cubicBezTo>
                <a:cubicBezTo>
                  <a:pt x="6296" y="30048"/>
                  <a:pt x="8265" y="30178"/>
                  <a:pt x="10259" y="30204"/>
                </a:cubicBezTo>
                <a:cubicBezTo>
                  <a:pt x="11143" y="30216"/>
                  <a:pt x="12026" y="30220"/>
                  <a:pt x="12908" y="30220"/>
                </a:cubicBezTo>
                <a:cubicBezTo>
                  <a:pt x="15996" y="30220"/>
                  <a:pt x="19078" y="30165"/>
                  <a:pt x="22161" y="30165"/>
                </a:cubicBezTo>
                <a:cubicBezTo>
                  <a:pt x="24859" y="30165"/>
                  <a:pt x="27557" y="30204"/>
                  <a:pt x="30243" y="30204"/>
                </a:cubicBezTo>
                <a:cubicBezTo>
                  <a:pt x="31690" y="30191"/>
                  <a:pt x="33123" y="30113"/>
                  <a:pt x="34505" y="29852"/>
                </a:cubicBezTo>
                <a:cubicBezTo>
                  <a:pt x="35470" y="29683"/>
                  <a:pt x="36330" y="29435"/>
                  <a:pt x="36917" y="29005"/>
                </a:cubicBezTo>
                <a:cubicBezTo>
                  <a:pt x="37881" y="28288"/>
                  <a:pt x="38677" y="27519"/>
                  <a:pt x="39120" y="26684"/>
                </a:cubicBezTo>
                <a:cubicBezTo>
                  <a:pt x="39732" y="25485"/>
                  <a:pt x="39954" y="24260"/>
                  <a:pt x="39954" y="23021"/>
                </a:cubicBezTo>
                <a:cubicBezTo>
                  <a:pt x="39954" y="19372"/>
                  <a:pt x="40006" y="15709"/>
                  <a:pt x="39563" y="12059"/>
                </a:cubicBezTo>
                <a:cubicBezTo>
                  <a:pt x="39367" y="10403"/>
                  <a:pt x="39485" y="8748"/>
                  <a:pt x="39237" y="7105"/>
                </a:cubicBezTo>
                <a:cubicBezTo>
                  <a:pt x="39068" y="6023"/>
                  <a:pt x="38794" y="4941"/>
                  <a:pt x="37920" y="3938"/>
                </a:cubicBezTo>
                <a:cubicBezTo>
                  <a:pt x="37282" y="3208"/>
                  <a:pt x="36773" y="2438"/>
                  <a:pt x="35665" y="1826"/>
                </a:cubicBezTo>
                <a:cubicBezTo>
                  <a:pt x="34192" y="1031"/>
                  <a:pt x="32237" y="666"/>
                  <a:pt x="30138" y="496"/>
                </a:cubicBezTo>
                <a:cubicBezTo>
                  <a:pt x="26451" y="194"/>
                  <a:pt x="22741" y="1"/>
                  <a:pt x="19007" y="1"/>
                </a:cubicBezTo>
                <a:close/>
              </a:path>
            </a:pathLst>
          </a:custGeom>
          <a:solidFill>
            <a:srgbClr val="112A40"/>
          </a:solidFill>
          <a:ln>
            <a:noFill/>
          </a:ln>
          <a:effectLst>
            <a:outerShdw blurRad="57150" dist="9525" algn="bl" rotWithShape="0">
              <a:srgbClr val="000000"/>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lang="fr-CI" noProof="0"/>
          </a:p>
        </p:txBody>
      </p:sp>
      <p:sp>
        <p:nvSpPr>
          <p:cNvPr id="38" name="Google Shape;7367;p39"/>
          <p:cNvSpPr/>
          <p:nvPr/>
        </p:nvSpPr>
        <p:spPr>
          <a:xfrm rot="16200000">
            <a:off x="2838223" y="3190772"/>
            <a:ext cx="1751381" cy="3719393"/>
          </a:xfrm>
          <a:custGeom>
            <a:avLst/>
            <a:gdLst/>
            <a:ahLst/>
            <a:cxnLst/>
            <a:rect l="l" t="t" r="r" b="b"/>
            <a:pathLst>
              <a:path w="25081" h="54128" extrusionOk="0">
                <a:moveTo>
                  <a:pt x="19843" y="0"/>
                </a:moveTo>
                <a:cubicBezTo>
                  <a:pt x="19654" y="0"/>
                  <a:pt x="19462" y="7"/>
                  <a:pt x="19267" y="21"/>
                </a:cubicBezTo>
                <a:cubicBezTo>
                  <a:pt x="17781" y="125"/>
                  <a:pt x="16282" y="99"/>
                  <a:pt x="14796" y="112"/>
                </a:cubicBezTo>
                <a:cubicBezTo>
                  <a:pt x="13909" y="125"/>
                  <a:pt x="13010" y="112"/>
                  <a:pt x="12123" y="177"/>
                </a:cubicBezTo>
                <a:cubicBezTo>
                  <a:pt x="10272" y="333"/>
                  <a:pt x="8421" y="503"/>
                  <a:pt x="6570" y="633"/>
                </a:cubicBezTo>
                <a:cubicBezTo>
                  <a:pt x="5267" y="738"/>
                  <a:pt x="3989" y="933"/>
                  <a:pt x="2764" y="1259"/>
                </a:cubicBezTo>
                <a:cubicBezTo>
                  <a:pt x="1943" y="1481"/>
                  <a:pt x="1408" y="1872"/>
                  <a:pt x="1226" y="2471"/>
                </a:cubicBezTo>
                <a:cubicBezTo>
                  <a:pt x="991" y="3292"/>
                  <a:pt x="861" y="4140"/>
                  <a:pt x="965" y="4974"/>
                </a:cubicBezTo>
                <a:cubicBezTo>
                  <a:pt x="991" y="5248"/>
                  <a:pt x="1030" y="5508"/>
                  <a:pt x="991" y="5782"/>
                </a:cubicBezTo>
                <a:cubicBezTo>
                  <a:pt x="835" y="6877"/>
                  <a:pt x="678" y="7972"/>
                  <a:pt x="587" y="9067"/>
                </a:cubicBezTo>
                <a:cubicBezTo>
                  <a:pt x="470" y="10488"/>
                  <a:pt x="378" y="11896"/>
                  <a:pt x="300" y="13317"/>
                </a:cubicBezTo>
                <a:cubicBezTo>
                  <a:pt x="274" y="13825"/>
                  <a:pt x="352" y="14333"/>
                  <a:pt x="339" y="14829"/>
                </a:cubicBezTo>
                <a:cubicBezTo>
                  <a:pt x="313" y="15820"/>
                  <a:pt x="157" y="16797"/>
                  <a:pt x="118" y="17775"/>
                </a:cubicBezTo>
                <a:cubicBezTo>
                  <a:pt x="53" y="19391"/>
                  <a:pt x="0" y="21008"/>
                  <a:pt x="40" y="22624"/>
                </a:cubicBezTo>
                <a:cubicBezTo>
                  <a:pt x="66" y="24149"/>
                  <a:pt x="157" y="25661"/>
                  <a:pt x="144" y="27173"/>
                </a:cubicBezTo>
                <a:cubicBezTo>
                  <a:pt x="131" y="28646"/>
                  <a:pt x="105" y="30132"/>
                  <a:pt x="131" y="31605"/>
                </a:cubicBezTo>
                <a:cubicBezTo>
                  <a:pt x="209" y="35412"/>
                  <a:pt x="405" y="39218"/>
                  <a:pt x="274" y="43051"/>
                </a:cubicBezTo>
                <a:cubicBezTo>
                  <a:pt x="235" y="44237"/>
                  <a:pt x="287" y="45436"/>
                  <a:pt x="300" y="46622"/>
                </a:cubicBezTo>
                <a:cubicBezTo>
                  <a:pt x="300" y="46687"/>
                  <a:pt x="300" y="46753"/>
                  <a:pt x="287" y="46818"/>
                </a:cubicBezTo>
                <a:cubicBezTo>
                  <a:pt x="222" y="48004"/>
                  <a:pt x="313" y="49190"/>
                  <a:pt x="535" y="50363"/>
                </a:cubicBezTo>
                <a:cubicBezTo>
                  <a:pt x="665" y="51054"/>
                  <a:pt x="1004" y="51706"/>
                  <a:pt x="1239" y="52384"/>
                </a:cubicBezTo>
                <a:cubicBezTo>
                  <a:pt x="1486" y="53075"/>
                  <a:pt x="2164" y="53492"/>
                  <a:pt x="3129" y="53700"/>
                </a:cubicBezTo>
                <a:cubicBezTo>
                  <a:pt x="3812" y="53854"/>
                  <a:pt x="4517" y="53911"/>
                  <a:pt x="5223" y="53911"/>
                </a:cubicBezTo>
                <a:cubicBezTo>
                  <a:pt x="5299" y="53911"/>
                  <a:pt x="5374" y="53910"/>
                  <a:pt x="5449" y="53909"/>
                </a:cubicBezTo>
                <a:cubicBezTo>
                  <a:pt x="5591" y="53907"/>
                  <a:pt x="5733" y="53906"/>
                  <a:pt x="5875" y="53906"/>
                </a:cubicBezTo>
                <a:cubicBezTo>
                  <a:pt x="7594" y="53906"/>
                  <a:pt x="9293" y="54042"/>
                  <a:pt x="11015" y="54078"/>
                </a:cubicBezTo>
                <a:cubicBezTo>
                  <a:pt x="11655" y="54087"/>
                  <a:pt x="12288" y="54128"/>
                  <a:pt x="12924" y="54128"/>
                </a:cubicBezTo>
                <a:cubicBezTo>
                  <a:pt x="13273" y="54128"/>
                  <a:pt x="13623" y="54115"/>
                  <a:pt x="13974" y="54078"/>
                </a:cubicBezTo>
                <a:cubicBezTo>
                  <a:pt x="15239" y="53948"/>
                  <a:pt x="16516" y="53870"/>
                  <a:pt x="17781" y="53779"/>
                </a:cubicBezTo>
                <a:cubicBezTo>
                  <a:pt x="18850" y="53700"/>
                  <a:pt x="19919" y="53583"/>
                  <a:pt x="20961" y="53375"/>
                </a:cubicBezTo>
                <a:cubicBezTo>
                  <a:pt x="22043" y="53153"/>
                  <a:pt x="22956" y="52749"/>
                  <a:pt x="23503" y="52019"/>
                </a:cubicBezTo>
                <a:cubicBezTo>
                  <a:pt x="23855" y="51537"/>
                  <a:pt x="24142" y="51028"/>
                  <a:pt x="24233" y="50494"/>
                </a:cubicBezTo>
                <a:cubicBezTo>
                  <a:pt x="24416" y="49464"/>
                  <a:pt x="24429" y="48434"/>
                  <a:pt x="24546" y="47404"/>
                </a:cubicBezTo>
                <a:cubicBezTo>
                  <a:pt x="24690" y="45957"/>
                  <a:pt x="24768" y="44510"/>
                  <a:pt x="24833" y="43064"/>
                </a:cubicBezTo>
                <a:cubicBezTo>
                  <a:pt x="24924" y="41395"/>
                  <a:pt x="24898" y="39726"/>
                  <a:pt x="24898" y="38058"/>
                </a:cubicBezTo>
                <a:cubicBezTo>
                  <a:pt x="24885" y="36402"/>
                  <a:pt x="24794" y="34760"/>
                  <a:pt x="24794" y="33104"/>
                </a:cubicBezTo>
                <a:cubicBezTo>
                  <a:pt x="24794" y="31332"/>
                  <a:pt x="24755" y="29546"/>
                  <a:pt x="24768" y="27760"/>
                </a:cubicBezTo>
                <a:cubicBezTo>
                  <a:pt x="24794" y="26196"/>
                  <a:pt x="24807" y="24631"/>
                  <a:pt x="24846" y="23067"/>
                </a:cubicBezTo>
                <a:cubicBezTo>
                  <a:pt x="24885" y="21503"/>
                  <a:pt x="24911" y="19952"/>
                  <a:pt x="24911" y="18387"/>
                </a:cubicBezTo>
                <a:cubicBezTo>
                  <a:pt x="24911" y="16967"/>
                  <a:pt x="24937" y="15533"/>
                  <a:pt x="24989" y="14112"/>
                </a:cubicBezTo>
                <a:cubicBezTo>
                  <a:pt x="25028" y="12795"/>
                  <a:pt x="25081" y="11479"/>
                  <a:pt x="25068" y="10162"/>
                </a:cubicBezTo>
                <a:cubicBezTo>
                  <a:pt x="25068" y="8924"/>
                  <a:pt x="25002" y="7685"/>
                  <a:pt x="24963" y="6447"/>
                </a:cubicBezTo>
                <a:lnTo>
                  <a:pt x="24950" y="6447"/>
                </a:lnTo>
                <a:cubicBezTo>
                  <a:pt x="25055" y="5561"/>
                  <a:pt x="24963" y="4674"/>
                  <a:pt x="24872" y="3801"/>
                </a:cubicBezTo>
                <a:cubicBezTo>
                  <a:pt x="24807" y="3175"/>
                  <a:pt x="24664" y="2562"/>
                  <a:pt x="24403" y="1963"/>
                </a:cubicBezTo>
                <a:cubicBezTo>
                  <a:pt x="24194" y="1481"/>
                  <a:pt x="23803" y="1103"/>
                  <a:pt x="23204" y="803"/>
                </a:cubicBezTo>
                <a:cubicBezTo>
                  <a:pt x="22185" y="293"/>
                  <a:pt x="21087" y="0"/>
                  <a:pt x="19843" y="0"/>
                </a:cubicBezTo>
                <a:close/>
              </a:path>
            </a:pathLst>
          </a:custGeom>
          <a:noFill/>
          <a:ln w="19050">
            <a:solidFill>
              <a:srgbClr val="060606"/>
            </a:solidFill>
          </a:ln>
          <a:effectLst>
            <a:outerShdw blurRad="57150" dist="9525" algn="bl" rotWithShape="0">
              <a:srgbClr val="000000"/>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lang="fr-CI" noProof="0"/>
          </a:p>
        </p:txBody>
      </p:sp>
      <p:sp>
        <p:nvSpPr>
          <p:cNvPr id="40" name="Rectangle 39"/>
          <p:cNvSpPr/>
          <p:nvPr/>
        </p:nvSpPr>
        <p:spPr>
          <a:xfrm>
            <a:off x="3052718" y="3852190"/>
            <a:ext cx="1322389" cy="295488"/>
          </a:xfrm>
          <a:prstGeom prst="rect">
            <a:avLst/>
          </a:prstGeom>
        </p:spPr>
        <p:txBody>
          <a:bodyPr wrap="none">
            <a:spAutoFit/>
          </a:bodyPr>
          <a:lstStyle/>
          <a:p>
            <a:pPr lvl="0">
              <a:lnSpc>
                <a:spcPct val="110000"/>
              </a:lnSpc>
            </a:pPr>
            <a:r>
              <a:rPr lang="fr-CI" sz="1400" b="1" noProof="0">
                <a:solidFill>
                  <a:schemeClr val="bg1"/>
                </a:solidFill>
                <a:latin typeface="Helvetica" panose="020B0604020202020204" pitchFamily="34" charset="0"/>
                <a:ea typeface="Open Sans Semibold" panose="020B0706030804020204" pitchFamily="34" charset="0"/>
                <a:cs typeface="Helvetica" panose="020B0604020202020204" pitchFamily="34" charset="0"/>
              </a:rPr>
              <a:t>Implication</a:t>
            </a:r>
          </a:p>
        </p:txBody>
      </p:sp>
      <p:sp>
        <p:nvSpPr>
          <p:cNvPr id="42" name="Google Shape;7386;p39"/>
          <p:cNvSpPr/>
          <p:nvPr/>
        </p:nvSpPr>
        <p:spPr>
          <a:xfrm rot="10800000">
            <a:off x="6478457" y="3869173"/>
            <a:ext cx="3625790" cy="329031"/>
          </a:xfrm>
          <a:custGeom>
            <a:avLst/>
            <a:gdLst/>
            <a:ahLst/>
            <a:cxnLst/>
            <a:rect l="l" t="t" r="r" b="b"/>
            <a:pathLst>
              <a:path w="40007" h="30221" extrusionOk="0">
                <a:moveTo>
                  <a:pt x="19007" y="1"/>
                </a:moveTo>
                <a:cubicBezTo>
                  <a:pt x="17909" y="1"/>
                  <a:pt x="16810" y="17"/>
                  <a:pt x="15708" y="53"/>
                </a:cubicBezTo>
                <a:cubicBezTo>
                  <a:pt x="13270" y="131"/>
                  <a:pt x="10885" y="275"/>
                  <a:pt x="8512" y="548"/>
                </a:cubicBezTo>
                <a:cubicBezTo>
                  <a:pt x="6088" y="835"/>
                  <a:pt x="4524" y="1500"/>
                  <a:pt x="4041" y="2712"/>
                </a:cubicBezTo>
                <a:cubicBezTo>
                  <a:pt x="4015" y="2777"/>
                  <a:pt x="3976" y="2843"/>
                  <a:pt x="3937" y="2908"/>
                </a:cubicBezTo>
                <a:cubicBezTo>
                  <a:pt x="2777" y="4902"/>
                  <a:pt x="2282" y="6949"/>
                  <a:pt x="1734" y="8995"/>
                </a:cubicBezTo>
                <a:cubicBezTo>
                  <a:pt x="1160" y="11120"/>
                  <a:pt x="613" y="13232"/>
                  <a:pt x="391" y="15357"/>
                </a:cubicBezTo>
                <a:cubicBezTo>
                  <a:pt x="183" y="17325"/>
                  <a:pt x="0" y="19293"/>
                  <a:pt x="79" y="21092"/>
                </a:cubicBezTo>
                <a:cubicBezTo>
                  <a:pt x="52" y="23074"/>
                  <a:pt x="144" y="24899"/>
                  <a:pt x="365" y="26710"/>
                </a:cubicBezTo>
                <a:cubicBezTo>
                  <a:pt x="522" y="28079"/>
                  <a:pt x="1721" y="29096"/>
                  <a:pt x="4419" y="29656"/>
                </a:cubicBezTo>
                <a:cubicBezTo>
                  <a:pt x="6296" y="30048"/>
                  <a:pt x="8265" y="30178"/>
                  <a:pt x="10259" y="30204"/>
                </a:cubicBezTo>
                <a:cubicBezTo>
                  <a:pt x="11143" y="30216"/>
                  <a:pt x="12026" y="30220"/>
                  <a:pt x="12908" y="30220"/>
                </a:cubicBezTo>
                <a:cubicBezTo>
                  <a:pt x="15996" y="30220"/>
                  <a:pt x="19078" y="30165"/>
                  <a:pt x="22161" y="30165"/>
                </a:cubicBezTo>
                <a:cubicBezTo>
                  <a:pt x="24859" y="30165"/>
                  <a:pt x="27557" y="30204"/>
                  <a:pt x="30243" y="30204"/>
                </a:cubicBezTo>
                <a:cubicBezTo>
                  <a:pt x="31690" y="30191"/>
                  <a:pt x="33123" y="30113"/>
                  <a:pt x="34505" y="29852"/>
                </a:cubicBezTo>
                <a:cubicBezTo>
                  <a:pt x="35470" y="29683"/>
                  <a:pt x="36330" y="29435"/>
                  <a:pt x="36917" y="29005"/>
                </a:cubicBezTo>
                <a:cubicBezTo>
                  <a:pt x="37881" y="28288"/>
                  <a:pt x="38677" y="27519"/>
                  <a:pt x="39120" y="26684"/>
                </a:cubicBezTo>
                <a:cubicBezTo>
                  <a:pt x="39732" y="25485"/>
                  <a:pt x="39954" y="24260"/>
                  <a:pt x="39954" y="23021"/>
                </a:cubicBezTo>
                <a:cubicBezTo>
                  <a:pt x="39954" y="19372"/>
                  <a:pt x="40006" y="15709"/>
                  <a:pt x="39563" y="12059"/>
                </a:cubicBezTo>
                <a:cubicBezTo>
                  <a:pt x="39367" y="10403"/>
                  <a:pt x="39485" y="8748"/>
                  <a:pt x="39237" y="7105"/>
                </a:cubicBezTo>
                <a:cubicBezTo>
                  <a:pt x="39068" y="6023"/>
                  <a:pt x="38794" y="4941"/>
                  <a:pt x="37920" y="3938"/>
                </a:cubicBezTo>
                <a:cubicBezTo>
                  <a:pt x="37282" y="3208"/>
                  <a:pt x="36773" y="2438"/>
                  <a:pt x="35665" y="1826"/>
                </a:cubicBezTo>
                <a:cubicBezTo>
                  <a:pt x="34192" y="1031"/>
                  <a:pt x="32237" y="666"/>
                  <a:pt x="30138" y="496"/>
                </a:cubicBezTo>
                <a:cubicBezTo>
                  <a:pt x="26451" y="194"/>
                  <a:pt x="22741" y="1"/>
                  <a:pt x="19007" y="1"/>
                </a:cubicBezTo>
                <a:close/>
              </a:path>
            </a:pathLst>
          </a:custGeom>
          <a:solidFill>
            <a:srgbClr val="112A40"/>
          </a:solidFill>
          <a:ln>
            <a:noFill/>
          </a:ln>
          <a:effectLst>
            <a:outerShdw blurRad="57150" dist="9525" algn="bl" rotWithShape="0">
              <a:srgbClr val="000000"/>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lang="fr-CI" noProof="0"/>
          </a:p>
        </p:txBody>
      </p:sp>
      <p:sp>
        <p:nvSpPr>
          <p:cNvPr id="43" name="Google Shape;7367;p39"/>
          <p:cNvSpPr/>
          <p:nvPr/>
        </p:nvSpPr>
        <p:spPr>
          <a:xfrm rot="16200000">
            <a:off x="7474179" y="3202486"/>
            <a:ext cx="1727953" cy="3719393"/>
          </a:xfrm>
          <a:custGeom>
            <a:avLst/>
            <a:gdLst/>
            <a:ahLst/>
            <a:cxnLst/>
            <a:rect l="l" t="t" r="r" b="b"/>
            <a:pathLst>
              <a:path w="25081" h="54128" extrusionOk="0">
                <a:moveTo>
                  <a:pt x="19843" y="0"/>
                </a:moveTo>
                <a:cubicBezTo>
                  <a:pt x="19654" y="0"/>
                  <a:pt x="19462" y="7"/>
                  <a:pt x="19267" y="21"/>
                </a:cubicBezTo>
                <a:cubicBezTo>
                  <a:pt x="17781" y="125"/>
                  <a:pt x="16282" y="99"/>
                  <a:pt x="14796" y="112"/>
                </a:cubicBezTo>
                <a:cubicBezTo>
                  <a:pt x="13909" y="125"/>
                  <a:pt x="13010" y="112"/>
                  <a:pt x="12123" y="177"/>
                </a:cubicBezTo>
                <a:cubicBezTo>
                  <a:pt x="10272" y="333"/>
                  <a:pt x="8421" y="503"/>
                  <a:pt x="6570" y="633"/>
                </a:cubicBezTo>
                <a:cubicBezTo>
                  <a:pt x="5267" y="738"/>
                  <a:pt x="3989" y="933"/>
                  <a:pt x="2764" y="1259"/>
                </a:cubicBezTo>
                <a:cubicBezTo>
                  <a:pt x="1943" y="1481"/>
                  <a:pt x="1408" y="1872"/>
                  <a:pt x="1226" y="2471"/>
                </a:cubicBezTo>
                <a:cubicBezTo>
                  <a:pt x="991" y="3292"/>
                  <a:pt x="861" y="4140"/>
                  <a:pt x="965" y="4974"/>
                </a:cubicBezTo>
                <a:cubicBezTo>
                  <a:pt x="991" y="5248"/>
                  <a:pt x="1030" y="5508"/>
                  <a:pt x="991" y="5782"/>
                </a:cubicBezTo>
                <a:cubicBezTo>
                  <a:pt x="835" y="6877"/>
                  <a:pt x="678" y="7972"/>
                  <a:pt x="587" y="9067"/>
                </a:cubicBezTo>
                <a:cubicBezTo>
                  <a:pt x="470" y="10488"/>
                  <a:pt x="378" y="11896"/>
                  <a:pt x="300" y="13317"/>
                </a:cubicBezTo>
                <a:cubicBezTo>
                  <a:pt x="274" y="13825"/>
                  <a:pt x="352" y="14333"/>
                  <a:pt x="339" y="14829"/>
                </a:cubicBezTo>
                <a:cubicBezTo>
                  <a:pt x="313" y="15820"/>
                  <a:pt x="157" y="16797"/>
                  <a:pt x="118" y="17775"/>
                </a:cubicBezTo>
                <a:cubicBezTo>
                  <a:pt x="53" y="19391"/>
                  <a:pt x="0" y="21008"/>
                  <a:pt x="40" y="22624"/>
                </a:cubicBezTo>
                <a:cubicBezTo>
                  <a:pt x="66" y="24149"/>
                  <a:pt x="157" y="25661"/>
                  <a:pt x="144" y="27173"/>
                </a:cubicBezTo>
                <a:cubicBezTo>
                  <a:pt x="131" y="28646"/>
                  <a:pt x="105" y="30132"/>
                  <a:pt x="131" y="31605"/>
                </a:cubicBezTo>
                <a:cubicBezTo>
                  <a:pt x="209" y="35412"/>
                  <a:pt x="405" y="39218"/>
                  <a:pt x="274" y="43051"/>
                </a:cubicBezTo>
                <a:cubicBezTo>
                  <a:pt x="235" y="44237"/>
                  <a:pt x="287" y="45436"/>
                  <a:pt x="300" y="46622"/>
                </a:cubicBezTo>
                <a:cubicBezTo>
                  <a:pt x="300" y="46687"/>
                  <a:pt x="300" y="46753"/>
                  <a:pt x="287" y="46818"/>
                </a:cubicBezTo>
                <a:cubicBezTo>
                  <a:pt x="222" y="48004"/>
                  <a:pt x="313" y="49190"/>
                  <a:pt x="535" y="50363"/>
                </a:cubicBezTo>
                <a:cubicBezTo>
                  <a:pt x="665" y="51054"/>
                  <a:pt x="1004" y="51706"/>
                  <a:pt x="1239" y="52384"/>
                </a:cubicBezTo>
                <a:cubicBezTo>
                  <a:pt x="1486" y="53075"/>
                  <a:pt x="2164" y="53492"/>
                  <a:pt x="3129" y="53700"/>
                </a:cubicBezTo>
                <a:cubicBezTo>
                  <a:pt x="3812" y="53854"/>
                  <a:pt x="4517" y="53911"/>
                  <a:pt x="5223" y="53911"/>
                </a:cubicBezTo>
                <a:cubicBezTo>
                  <a:pt x="5299" y="53911"/>
                  <a:pt x="5374" y="53910"/>
                  <a:pt x="5449" y="53909"/>
                </a:cubicBezTo>
                <a:cubicBezTo>
                  <a:pt x="5591" y="53907"/>
                  <a:pt x="5733" y="53906"/>
                  <a:pt x="5875" y="53906"/>
                </a:cubicBezTo>
                <a:cubicBezTo>
                  <a:pt x="7594" y="53906"/>
                  <a:pt x="9293" y="54042"/>
                  <a:pt x="11015" y="54078"/>
                </a:cubicBezTo>
                <a:cubicBezTo>
                  <a:pt x="11655" y="54087"/>
                  <a:pt x="12288" y="54128"/>
                  <a:pt x="12924" y="54128"/>
                </a:cubicBezTo>
                <a:cubicBezTo>
                  <a:pt x="13273" y="54128"/>
                  <a:pt x="13623" y="54115"/>
                  <a:pt x="13974" y="54078"/>
                </a:cubicBezTo>
                <a:cubicBezTo>
                  <a:pt x="15239" y="53948"/>
                  <a:pt x="16516" y="53870"/>
                  <a:pt x="17781" y="53779"/>
                </a:cubicBezTo>
                <a:cubicBezTo>
                  <a:pt x="18850" y="53700"/>
                  <a:pt x="19919" y="53583"/>
                  <a:pt x="20961" y="53375"/>
                </a:cubicBezTo>
                <a:cubicBezTo>
                  <a:pt x="22043" y="53153"/>
                  <a:pt x="22956" y="52749"/>
                  <a:pt x="23503" y="52019"/>
                </a:cubicBezTo>
                <a:cubicBezTo>
                  <a:pt x="23855" y="51537"/>
                  <a:pt x="24142" y="51028"/>
                  <a:pt x="24233" y="50494"/>
                </a:cubicBezTo>
                <a:cubicBezTo>
                  <a:pt x="24416" y="49464"/>
                  <a:pt x="24429" y="48434"/>
                  <a:pt x="24546" y="47404"/>
                </a:cubicBezTo>
                <a:cubicBezTo>
                  <a:pt x="24690" y="45957"/>
                  <a:pt x="24768" y="44510"/>
                  <a:pt x="24833" y="43064"/>
                </a:cubicBezTo>
                <a:cubicBezTo>
                  <a:pt x="24924" y="41395"/>
                  <a:pt x="24898" y="39726"/>
                  <a:pt x="24898" y="38058"/>
                </a:cubicBezTo>
                <a:cubicBezTo>
                  <a:pt x="24885" y="36402"/>
                  <a:pt x="24794" y="34760"/>
                  <a:pt x="24794" y="33104"/>
                </a:cubicBezTo>
                <a:cubicBezTo>
                  <a:pt x="24794" y="31332"/>
                  <a:pt x="24755" y="29546"/>
                  <a:pt x="24768" y="27760"/>
                </a:cubicBezTo>
                <a:cubicBezTo>
                  <a:pt x="24794" y="26196"/>
                  <a:pt x="24807" y="24631"/>
                  <a:pt x="24846" y="23067"/>
                </a:cubicBezTo>
                <a:cubicBezTo>
                  <a:pt x="24885" y="21503"/>
                  <a:pt x="24911" y="19952"/>
                  <a:pt x="24911" y="18387"/>
                </a:cubicBezTo>
                <a:cubicBezTo>
                  <a:pt x="24911" y="16967"/>
                  <a:pt x="24937" y="15533"/>
                  <a:pt x="24989" y="14112"/>
                </a:cubicBezTo>
                <a:cubicBezTo>
                  <a:pt x="25028" y="12795"/>
                  <a:pt x="25081" y="11479"/>
                  <a:pt x="25068" y="10162"/>
                </a:cubicBezTo>
                <a:cubicBezTo>
                  <a:pt x="25068" y="8924"/>
                  <a:pt x="25002" y="7685"/>
                  <a:pt x="24963" y="6447"/>
                </a:cubicBezTo>
                <a:lnTo>
                  <a:pt x="24950" y="6447"/>
                </a:lnTo>
                <a:cubicBezTo>
                  <a:pt x="25055" y="5561"/>
                  <a:pt x="24963" y="4674"/>
                  <a:pt x="24872" y="3801"/>
                </a:cubicBezTo>
                <a:cubicBezTo>
                  <a:pt x="24807" y="3175"/>
                  <a:pt x="24664" y="2562"/>
                  <a:pt x="24403" y="1963"/>
                </a:cubicBezTo>
                <a:cubicBezTo>
                  <a:pt x="24194" y="1481"/>
                  <a:pt x="23803" y="1103"/>
                  <a:pt x="23204" y="803"/>
                </a:cubicBezTo>
                <a:cubicBezTo>
                  <a:pt x="22185" y="293"/>
                  <a:pt x="21087" y="0"/>
                  <a:pt x="19843" y="0"/>
                </a:cubicBezTo>
                <a:close/>
              </a:path>
            </a:pathLst>
          </a:custGeom>
          <a:noFill/>
          <a:ln w="19050">
            <a:solidFill>
              <a:schemeClr val="tx1"/>
            </a:solidFill>
          </a:ln>
          <a:effectLst>
            <a:outerShdw blurRad="57150" dist="9525" algn="bl" rotWithShape="0">
              <a:srgbClr val="000000"/>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lang="fr-CI" noProof="0"/>
          </a:p>
        </p:txBody>
      </p:sp>
      <p:sp>
        <p:nvSpPr>
          <p:cNvPr id="45" name="Rectangle 44"/>
          <p:cNvSpPr/>
          <p:nvPr/>
        </p:nvSpPr>
        <p:spPr>
          <a:xfrm>
            <a:off x="7676960" y="3875619"/>
            <a:ext cx="1322389" cy="295488"/>
          </a:xfrm>
          <a:prstGeom prst="rect">
            <a:avLst/>
          </a:prstGeom>
        </p:spPr>
        <p:txBody>
          <a:bodyPr wrap="none">
            <a:spAutoFit/>
          </a:bodyPr>
          <a:lstStyle/>
          <a:p>
            <a:pPr lvl="0">
              <a:lnSpc>
                <a:spcPct val="110000"/>
              </a:lnSpc>
            </a:pPr>
            <a:r>
              <a:rPr lang="fr-CI" sz="1400" b="1" noProof="0">
                <a:solidFill>
                  <a:schemeClr val="bg1"/>
                </a:solidFill>
                <a:latin typeface="Helvetica" panose="020B0604020202020204" pitchFamily="34" charset="0"/>
                <a:ea typeface="Open Sans Semibold" panose="020B0706030804020204" pitchFamily="34" charset="0"/>
                <a:cs typeface="Helvetica" panose="020B0604020202020204" pitchFamily="34" charset="0"/>
              </a:rPr>
              <a:t>Action</a:t>
            </a:r>
          </a:p>
        </p:txBody>
      </p:sp>
      <p:pic>
        <p:nvPicPr>
          <p:cNvPr id="47" name="Image 46"/>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147871" y="3850143"/>
            <a:ext cx="334029" cy="337914"/>
          </a:xfrm>
          <a:prstGeom prst="rect">
            <a:avLst/>
          </a:prstGeom>
        </p:spPr>
      </p:pic>
      <p:pic>
        <p:nvPicPr>
          <p:cNvPr id="50" name="Image 49">
            <a:extLst>
              <a:ext uri="{FF2B5EF4-FFF2-40B4-BE49-F238E27FC236}">
                <a16:creationId xmlns:a16="http://schemas.microsoft.com/office/drawing/2014/main" id="{593DA389-08F4-31D9-6AB9-E96812D83B72}"/>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6768142" y="1475503"/>
            <a:ext cx="294700" cy="294700"/>
          </a:xfrm>
          <a:prstGeom prst="rect">
            <a:avLst/>
          </a:prstGeom>
        </p:spPr>
      </p:pic>
      <p:pic>
        <p:nvPicPr>
          <p:cNvPr id="25" name="Image 24"/>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2156977" y="1457088"/>
            <a:ext cx="281624" cy="284788"/>
          </a:xfrm>
          <a:prstGeom prst="rect">
            <a:avLst/>
          </a:prstGeom>
        </p:spPr>
      </p:pic>
      <p:pic>
        <p:nvPicPr>
          <p:cNvPr id="28" name="Image 27"/>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6791905" y="3883760"/>
            <a:ext cx="270937" cy="276827"/>
          </a:xfrm>
          <a:prstGeom prst="rect">
            <a:avLst/>
          </a:prstGeom>
        </p:spPr>
      </p:pic>
      <p:sp>
        <p:nvSpPr>
          <p:cNvPr id="31" name="Rectangle 30"/>
          <p:cNvSpPr/>
          <p:nvPr/>
        </p:nvSpPr>
        <p:spPr>
          <a:xfrm>
            <a:off x="1999671" y="1962253"/>
            <a:ext cx="3122592" cy="1428712"/>
          </a:xfrm>
          <a:prstGeom prst="rect">
            <a:avLst/>
          </a:prstGeom>
        </p:spPr>
        <p:txBody>
          <a:bodyPr wrap="square">
            <a:spAutoFit/>
          </a:bodyPr>
          <a:lstStyle/>
          <a:p>
            <a:pPr lvl="0" marL="0" indent="0">
              <a:buNone/>
              <a:spcBef>
                <a:spcPts val="300"/>
              </a:spcBef>
              <a:defRPr/>
            </a:pPr>
            <a:r>
              <a:rPr kumimoji="1" lang="fr-CI" sz="1250" b="0" noProof="0">
                <a:latin typeface="Helvetica" panose="020B0604020202020204" pitchFamily="34" charset="0"/>
                <a:cs typeface="Helvetica" panose="020B0604020202020204" pitchFamily="34" charset="0"/>
              </a:rPr>
              <a:t>La dette d'épargne augmente plus vite que les actifs réservés, et l'écart finance des emplois peu liquides.</a:t>
            </a:r>
          </a:p>
        </p:txBody>
      </p:sp>
      <p:sp>
        <p:nvSpPr>
          <p:cNvPr id="32" name="Rectangle 31"/>
          <p:cNvSpPr/>
          <p:nvPr/>
        </p:nvSpPr>
        <p:spPr>
          <a:xfrm>
            <a:off x="6623912" y="1926662"/>
            <a:ext cx="3122592" cy="1428712"/>
          </a:xfrm>
          <a:prstGeom prst="rect">
            <a:avLst/>
          </a:prstGeom>
        </p:spPr>
        <p:txBody>
          <a:bodyPr wrap="square">
            <a:spAutoFit/>
          </a:bodyPr>
          <a:lstStyle/>
          <a:p>
            <a:pPr lvl="0" marL="0" indent="0">
              <a:buNone/>
              <a:spcBef>
                <a:spcPts val="300"/>
              </a:spcBef>
              <a:defRPr/>
            </a:pPr>
            <a:r>
              <a:rPr kumimoji="1" lang="fr-CI" sz="1250" b="0" noProof="0">
                <a:latin typeface="Helvetica" panose="020B0604020202020204" pitchFamily="34" charset="0"/>
                <a:cs typeface="Helvetica" panose="020B0604020202020204" pitchFamily="34" charset="0"/>
              </a:rPr>
              <a:t>15 743 516 391 FCFA d'épargne sont dus au 31/08/2026, pour 2 562 885 661 FCFA d'actifs réservés.</a:t>
            </a:r>
          </a:p>
        </p:txBody>
      </p:sp>
      <p:sp>
        <p:nvSpPr>
          <p:cNvPr id="33" name="Rectangle 32"/>
          <p:cNvSpPr/>
          <p:nvPr/>
        </p:nvSpPr>
        <p:spPr>
          <a:xfrm>
            <a:off x="2093705" y="4388689"/>
            <a:ext cx="3122592" cy="1428712"/>
          </a:xfrm>
          <a:prstGeom prst="rect">
            <a:avLst/>
          </a:prstGeom>
        </p:spPr>
        <p:txBody>
          <a:bodyPr wrap="square">
            <a:spAutoFit/>
          </a:bodyPr>
          <a:lstStyle/>
          <a:p>
            <a:pPr lvl="0" marL="0" indent="0">
              <a:buNone/>
              <a:spcBef>
                <a:spcPts val="300"/>
              </a:spcBef>
              <a:defRPr/>
            </a:pPr>
            <a:r>
              <a:rPr kumimoji="1" lang="fr-CI" sz="1250" b="0" noProof="0">
                <a:latin typeface="Helvetica" panose="020B0604020202020204" pitchFamily="34" charset="0"/>
                <a:cs typeface="Helvetica" panose="020B0604020202020204" pitchFamily="34" charset="0"/>
              </a:rPr>
              <a:t>Le FPPN ne peut pas rembourser rapidement une vague de retraits, et il ne respecte pas le ratio de solvabilité des risques longs.</a:t>
            </a:r>
          </a:p>
        </p:txBody>
      </p:sp>
      <p:sp>
        <p:nvSpPr>
          <p:cNvPr id="34" name="Rectangle 33"/>
          <p:cNvSpPr/>
          <p:nvPr/>
        </p:nvSpPr>
        <p:spPr>
          <a:xfrm>
            <a:off x="6768142" y="4336111"/>
            <a:ext cx="3122592" cy="1428712"/>
          </a:xfrm>
          <a:prstGeom prst="rect">
            <a:avLst/>
          </a:prstGeom>
        </p:spPr>
        <p:txBody>
          <a:bodyPr wrap="square">
            <a:spAutoFit/>
          </a:bodyPr>
          <a:lstStyle/>
          <a:p>
            <a:pPr lvl="0" marL="0" indent="0">
              <a:buNone/>
              <a:spcBef>
                <a:spcPts val="300"/>
              </a:spcBef>
              <a:defRPr/>
            </a:pPr>
            <a:r>
              <a:rPr kumimoji="1" lang="fr-CI" sz="1250" b="0" noProof="0">
                <a:latin typeface="Helvetica" panose="020B0604020202020204" pitchFamily="34" charset="0"/>
                <a:cs typeface="Helvetica" panose="020B0604020202020204" pitchFamily="34" charset="0"/>
              </a:rPr>
              <a:t>Le FPPN doit transmettre le règlement des produits, les comptes individuels et les conditions de retrait, puis cantonner l'épargne.</a:t>
            </a:r>
          </a:p>
        </p:txBody>
      </p:sp>
      <p:sp>
        <p:nvSpPr>
          <p:cNvPr id="51"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À retenir : épargne</a:t>
            </a:r>
          </a:p>
        </p:txBody>
      </p:sp>
      <p:sp>
        <p:nvSpPr>
          <p:cNvPr id="52"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L'épargne due aux mutualistes est très peu couverte par des actifs disponibles</a:t>
            </a:r>
          </a:p>
        </p:txBody>
      </p:sp>
      <p:sp>
        <p:nvSpPr>
          <p:cNvPr id="53"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Couverture de 16,28 % au 31/08/2026. Un retrait de 21,34 % épuiserait toute la trésorerie</a:t>
            </a:r>
          </a:p>
        </p:txBody>
      </p:sp>
      <p:sp>
        <p:nvSpPr>
          <p:cNvPr id="54"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analyses Adenka</a:t>
            </a:r>
          </a:p>
        </p:txBody>
      </p:sp>
      <p:sp>
        <p:nvSpPr>
          <p:cNvPr id="55" name="TextBox 54"/>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a:t>
            </a:r>
          </a:p>
        </p:txBody>
      </p:sp>
    </p:spTree>
    <p:extLst>
      <p:ext uri="{BB962C8B-B14F-4D97-AF65-F5344CB8AC3E}">
        <p14:creationId xmlns:p14="http://schemas.microsoft.com/office/powerpoint/2010/main" val="856548066"/>
      </p:ext>
    </p:extLst>
  </p:cSld>
  <p:clrMapOvr>
    <a:masterClrMapping/>
  </p:clrMapOvr>
  <p:transition>
    <p:fade/>
  </p:transition>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Google Shape;8651;p70"/>
          <p:cNvSpPr/>
          <p:nvPr/>
        </p:nvSpPr>
        <p:spPr>
          <a:xfrm>
            <a:off x="2013108" y="2588204"/>
            <a:ext cx="1380332" cy="1428252"/>
          </a:xfrm>
          <a:custGeom>
            <a:avLst/>
            <a:gdLst/>
            <a:ahLst/>
            <a:cxnLst/>
            <a:rect l="l" t="t" r="r" b="b"/>
            <a:pathLst>
              <a:path w="8670" h="8971" extrusionOk="0">
                <a:moveTo>
                  <a:pt x="7105" y="1302"/>
                </a:moveTo>
                <a:cubicBezTo>
                  <a:pt x="7105" y="1315"/>
                  <a:pt x="7105" y="1328"/>
                  <a:pt x="7105" y="1341"/>
                </a:cubicBezTo>
                <a:cubicBezTo>
                  <a:pt x="7118" y="1980"/>
                  <a:pt x="7183" y="2619"/>
                  <a:pt x="7183" y="3283"/>
                </a:cubicBezTo>
                <a:cubicBezTo>
                  <a:pt x="7170" y="4404"/>
                  <a:pt x="7183" y="5525"/>
                  <a:pt x="7222" y="6646"/>
                </a:cubicBezTo>
                <a:cubicBezTo>
                  <a:pt x="7235" y="6959"/>
                  <a:pt x="7222" y="7259"/>
                  <a:pt x="7222" y="7559"/>
                </a:cubicBezTo>
                <a:lnTo>
                  <a:pt x="7222" y="7585"/>
                </a:lnTo>
                <a:cubicBezTo>
                  <a:pt x="6935" y="7598"/>
                  <a:pt x="6649" y="7611"/>
                  <a:pt x="6362" y="7611"/>
                </a:cubicBezTo>
                <a:cubicBezTo>
                  <a:pt x="6101" y="7598"/>
                  <a:pt x="5853" y="7585"/>
                  <a:pt x="5593" y="7585"/>
                </a:cubicBezTo>
                <a:cubicBezTo>
                  <a:pt x="4159" y="7559"/>
                  <a:pt x="2712" y="7559"/>
                  <a:pt x="1291" y="7442"/>
                </a:cubicBezTo>
                <a:cubicBezTo>
                  <a:pt x="1278" y="7207"/>
                  <a:pt x="1239" y="6959"/>
                  <a:pt x="1226" y="6725"/>
                </a:cubicBezTo>
                <a:cubicBezTo>
                  <a:pt x="1200" y="6255"/>
                  <a:pt x="1187" y="5799"/>
                  <a:pt x="1200" y="5330"/>
                </a:cubicBezTo>
                <a:cubicBezTo>
                  <a:pt x="1213" y="4222"/>
                  <a:pt x="1226" y="3101"/>
                  <a:pt x="1343" y="1993"/>
                </a:cubicBezTo>
                <a:lnTo>
                  <a:pt x="1552" y="1993"/>
                </a:lnTo>
                <a:cubicBezTo>
                  <a:pt x="2138" y="1980"/>
                  <a:pt x="2725" y="1889"/>
                  <a:pt x="3312" y="1810"/>
                </a:cubicBezTo>
                <a:cubicBezTo>
                  <a:pt x="4576" y="1641"/>
                  <a:pt x="5840" y="1524"/>
                  <a:pt x="7105" y="1302"/>
                </a:cubicBezTo>
                <a:close/>
                <a:moveTo>
                  <a:pt x="7529" y="1"/>
                </a:moveTo>
                <a:cubicBezTo>
                  <a:pt x="7291" y="1"/>
                  <a:pt x="7059" y="53"/>
                  <a:pt x="6818" y="64"/>
                </a:cubicBezTo>
                <a:cubicBezTo>
                  <a:pt x="6375" y="103"/>
                  <a:pt x="5932" y="142"/>
                  <a:pt x="5488" y="194"/>
                </a:cubicBezTo>
                <a:cubicBezTo>
                  <a:pt x="4824" y="259"/>
                  <a:pt x="4107" y="350"/>
                  <a:pt x="3429" y="389"/>
                </a:cubicBezTo>
                <a:cubicBezTo>
                  <a:pt x="2686" y="429"/>
                  <a:pt x="1943" y="481"/>
                  <a:pt x="1213" y="598"/>
                </a:cubicBezTo>
                <a:cubicBezTo>
                  <a:pt x="913" y="624"/>
                  <a:pt x="652" y="728"/>
                  <a:pt x="509" y="976"/>
                </a:cubicBezTo>
                <a:cubicBezTo>
                  <a:pt x="470" y="1028"/>
                  <a:pt x="444" y="1080"/>
                  <a:pt x="431" y="1146"/>
                </a:cubicBezTo>
                <a:cubicBezTo>
                  <a:pt x="300" y="1524"/>
                  <a:pt x="287" y="1928"/>
                  <a:pt x="300" y="2332"/>
                </a:cubicBezTo>
                <a:cubicBezTo>
                  <a:pt x="209" y="3010"/>
                  <a:pt x="209" y="3700"/>
                  <a:pt x="209" y="4378"/>
                </a:cubicBezTo>
                <a:cubicBezTo>
                  <a:pt x="170" y="4769"/>
                  <a:pt x="144" y="5173"/>
                  <a:pt x="131" y="5565"/>
                </a:cubicBezTo>
                <a:cubicBezTo>
                  <a:pt x="105" y="6203"/>
                  <a:pt x="14" y="6842"/>
                  <a:pt x="14" y="7481"/>
                </a:cubicBezTo>
                <a:cubicBezTo>
                  <a:pt x="1" y="7911"/>
                  <a:pt x="157" y="8315"/>
                  <a:pt x="613" y="8419"/>
                </a:cubicBezTo>
                <a:cubicBezTo>
                  <a:pt x="1056" y="8550"/>
                  <a:pt x="1526" y="8524"/>
                  <a:pt x="1982" y="8550"/>
                </a:cubicBezTo>
                <a:cubicBezTo>
                  <a:pt x="2243" y="8563"/>
                  <a:pt x="2503" y="8589"/>
                  <a:pt x="2764" y="8615"/>
                </a:cubicBezTo>
                <a:cubicBezTo>
                  <a:pt x="3885" y="8745"/>
                  <a:pt x="5006" y="8902"/>
                  <a:pt x="6140" y="8941"/>
                </a:cubicBezTo>
                <a:cubicBezTo>
                  <a:pt x="6220" y="8945"/>
                  <a:pt x="6302" y="8946"/>
                  <a:pt x="6383" y="8946"/>
                </a:cubicBezTo>
                <a:cubicBezTo>
                  <a:pt x="6581" y="8946"/>
                  <a:pt x="6781" y="8937"/>
                  <a:pt x="6974" y="8928"/>
                </a:cubicBezTo>
                <a:cubicBezTo>
                  <a:pt x="7118" y="8941"/>
                  <a:pt x="7274" y="8941"/>
                  <a:pt x="7418" y="8941"/>
                </a:cubicBezTo>
                <a:cubicBezTo>
                  <a:pt x="7568" y="8956"/>
                  <a:pt x="7723" y="8971"/>
                  <a:pt x="7877" y="8971"/>
                </a:cubicBezTo>
                <a:cubicBezTo>
                  <a:pt x="7990" y="8971"/>
                  <a:pt x="8103" y="8963"/>
                  <a:pt x="8213" y="8941"/>
                </a:cubicBezTo>
                <a:cubicBezTo>
                  <a:pt x="8643" y="8810"/>
                  <a:pt x="8565" y="8093"/>
                  <a:pt x="8604" y="7741"/>
                </a:cubicBezTo>
                <a:cubicBezTo>
                  <a:pt x="8669" y="6620"/>
                  <a:pt x="8539" y="5499"/>
                  <a:pt x="8487" y="4378"/>
                </a:cubicBezTo>
                <a:cubicBezTo>
                  <a:pt x="8434" y="3453"/>
                  <a:pt x="8330" y="2527"/>
                  <a:pt x="8252" y="1589"/>
                </a:cubicBezTo>
                <a:cubicBezTo>
                  <a:pt x="8200" y="1341"/>
                  <a:pt x="8239" y="637"/>
                  <a:pt x="8096" y="350"/>
                </a:cubicBezTo>
                <a:lnTo>
                  <a:pt x="8082" y="350"/>
                </a:lnTo>
                <a:cubicBezTo>
                  <a:pt x="8056" y="181"/>
                  <a:pt x="7952" y="51"/>
                  <a:pt x="7704" y="11"/>
                </a:cubicBezTo>
                <a:cubicBezTo>
                  <a:pt x="7645" y="4"/>
                  <a:pt x="7587" y="1"/>
                  <a:pt x="7529" y="1"/>
                </a:cubicBezTo>
                <a:close/>
              </a:path>
            </a:pathLst>
          </a:custGeom>
          <a:solidFill>
            <a:schemeClr val="bg1"/>
          </a:solidFill>
          <a:ln w="76200">
            <a:solidFill>
              <a:schemeClr val="tx1"/>
            </a:solidFill>
          </a:ln>
        </p:spPr>
        <p:txBody>
          <a:bodyPr spcFirstLastPara="1" wrap="square" lIns="91425" tIns="91425" rIns="91425" bIns="91425" anchor="ctr" anchorCtr="0">
            <a:noAutofit/>
          </a:bodyPr>
          <a:lstStyle/>
          <a:p>
            <a:pPr marL="0" lvl="0" indent="0" algn="l" rtl="0">
              <a:spcBef>
                <a:spcPts val="0"/>
              </a:spcBef>
              <a:spcAft>
                <a:spcPts val="0"/>
              </a:spcAft>
              <a:buNone/>
            </a:pPr>
            <a:endParaRPr lang="fr-CI" noProof="0">
              <a:solidFill>
                <a:schemeClr val="bg1"/>
              </a:solidFill>
              <a:latin typeface="Helvetica" panose="020B0604020202020204" pitchFamily="34" charset="0"/>
              <a:cs typeface="Helvetica" panose="020B0604020202020204" pitchFamily="34" charset="0"/>
            </a:endParaRPr>
          </a:p>
        </p:txBody>
      </p:sp>
      <p:sp>
        <p:nvSpPr>
          <p:cNvPr id="25" name="Rectangle 24">
            <a:extLst>
              <a:ext uri="{FF2B5EF4-FFF2-40B4-BE49-F238E27FC236}">
                <a16:creationId xmlns:a16="http://schemas.microsoft.com/office/drawing/2014/main" id="{9B9B23AA-050D-4543-80A0-873FE31AFFF7}"/>
              </a:ext>
            </a:extLst>
          </p:cNvPr>
          <p:cNvSpPr/>
          <p:nvPr/>
        </p:nvSpPr>
        <p:spPr>
          <a:xfrm>
            <a:off x="2446471" y="2869098"/>
            <a:ext cx="513606" cy="936923"/>
          </a:xfrm>
          <a:prstGeom prst="rect">
            <a:avLst/>
          </a:prstGeom>
        </p:spPr>
        <p:txBody>
          <a:bodyPr wrap="square" lIns="0" tIns="0" rIns="0" bIns="0">
            <a:spAutoFit/>
          </a:bodyPr>
          <a:lstStyle/>
          <a:p>
            <a:pPr lvl="0">
              <a:lnSpc>
                <a:spcPct val="110000"/>
              </a:lnSpc>
            </a:pPr>
            <a:r>
              <a:rPr lang="fr-CI" sz="6000" b="1" noProof="0">
                <a:solidFill>
                  <a:schemeClr val="bg1"/>
                </a:solidFill>
                <a:latin typeface="Helvetica" panose="020B0604020202020204" pitchFamily="34" charset="0"/>
                <a:ea typeface="Open Sans Semibold" panose="020B0706030804020204" pitchFamily="34" charset="0"/>
                <a:cs typeface="Helvetica" panose="020B0604020202020204" pitchFamily="34" charset="0"/>
              </a:rPr>
              <a:t>7</a:t>
            </a:r>
          </a:p>
        </p:txBody>
      </p:sp>
      <p:sp>
        <p:nvSpPr>
          <p:cNvPr id="10" name="Rectangle 9"/>
          <p:cNvSpPr/>
          <p:nvPr/>
        </p:nvSpPr>
        <p:spPr>
          <a:xfrm>
            <a:off x="3938554" y="2462184"/>
            <a:ext cx="3816000" cy="1200329"/>
          </a:xfrm>
          <a:prstGeom prst="rect">
            <a:avLst/>
          </a:prstGeom>
        </p:spPr>
        <p:txBody>
          <a:bodyPr wrap="square">
            <a:spAutoFit/>
          </a:bodyPr>
          <a:lstStyle/>
          <a:p>
            <a:r>
              <a:rPr lang="fr-CI" sz="3600" b="1" noProof="0">
                <a:solidFill>
                  <a:schemeClr val="bg1"/>
                </a:solidFill>
                <a:latin typeface="Helvetica" panose="020B0604020202020204" pitchFamily="34" charset="0"/>
                <a:cs typeface="Helvetica" panose="020B0604020202020204" pitchFamily="34" charset="0"/>
              </a:rPr>
              <a:t>Prêts du Grenier</a:t>
            </a:r>
          </a:p>
        </p:txBody>
      </p:sp>
      <p:pic>
        <p:nvPicPr>
          <p:cNvPr id="9" name="Image 8">
            <a:extLst>
              <a:ext uri="{FF2B5EF4-FFF2-40B4-BE49-F238E27FC236}">
                <a16:creationId xmlns:a16="http://schemas.microsoft.com/office/drawing/2014/main" id="{2C356854-0685-DCEF-E2F6-65D5E9653A47}"/>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71274" y="-185107"/>
            <a:ext cx="3179518" cy="1268781"/>
          </a:xfrm>
          <a:prstGeom prst="rect">
            <a:avLst/>
          </a:prstGeom>
        </p:spPr>
      </p:pic>
      <p:sp>
        <p:nvSpPr>
          <p:cNvPr id="6" name="Rectangle 5"/>
          <p:cNvSpPr/>
          <p:nvPr/>
        </p:nvSpPr>
        <p:spPr>
          <a:xfrm>
            <a:off x="3938554" y="3337559"/>
            <a:ext cx="3816000" cy="923330"/>
          </a:xfrm>
          <a:prstGeom prst="rect">
            <a:avLst/>
          </a:prstGeom>
        </p:spPr>
        <p:txBody>
          <a:bodyPr wrap="square">
            <a:spAutoFit/>
          </a:bodyPr>
          <a:lstStyle/>
          <a:p>
            <a:br>
              <a:rPr lang="fr-CI" noProof="0">
                <a:solidFill>
                  <a:schemeClr val="bg1"/>
                </a:solidFill>
              </a:rPr>
            </a:br>
            <a:r>
              <a:rPr lang="fr-CI" noProof="0">
                <a:solidFill>
                  <a:srgbClr val="EFAC62"/>
                </a:solidFill>
                <a:latin typeface="Helvetica" panose="020B0604020202020204" pitchFamily="34" charset="0"/>
                <a:ea typeface="Open Sans Light" panose="020B0306030504020204" pitchFamily="34" charset="0"/>
                <a:cs typeface="Helvetica" panose="020B0604020202020204" pitchFamily="34" charset="0"/>
              </a:rPr>
              <a:t>Encours, production, retards, précomptes</a:t>
            </a:r>
          </a:p>
        </p:txBody>
      </p:sp>
      <p:pic>
        <p:nvPicPr>
          <p:cNvPr id="11" name="Image 1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865561" y="2415481"/>
            <a:ext cx="1566911" cy="1600975"/>
          </a:xfrm>
          <a:prstGeom prst="rect">
            <a:avLst/>
          </a:prstGeom>
        </p:spPr>
      </p:pic>
    </p:spTree>
    <p:extLst>
      <p:ext uri="{BB962C8B-B14F-4D97-AF65-F5344CB8AC3E}">
        <p14:creationId xmlns:p14="http://schemas.microsoft.com/office/powerpoint/2010/main" val="1393127917"/>
      </p:ext>
    </p:extLst>
  </p:cSld>
  <p:clrMapOvr>
    <a:masterClrMapping/>
  </p:clrMapOvr>
  <p:transition>
    <p:fade/>
  </p:transition>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7" name="Image 36"/>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3" name="Rectangle 22">
            <a:extLst>
              <a:ext uri="{FF2B5EF4-FFF2-40B4-BE49-F238E27FC236}">
                <a16:creationId xmlns:a16="http://schemas.microsoft.com/office/drawing/2014/main" id="{4CD23CFE-3F31-4BA9-B26F-B9B5B351518E}"/>
              </a:ext>
            </a:extLst>
          </p:cNvPr>
          <p:cNvSpPr/>
          <p:nvPr/>
        </p:nvSpPr>
        <p:spPr>
          <a:xfrm>
            <a:off x="2106184" y="1811264"/>
            <a:ext cx="9685766" cy="901761"/>
          </a:xfrm>
          <a:prstGeom prst="rect">
            <a:avLst/>
          </a:prstGeom>
          <a:ln w="12700">
            <a:solidFill>
              <a:srgbClr val="112A40"/>
            </a:solidFill>
          </a:ln>
        </p:spPr>
        <p:txBody>
          <a:bodyPr wrap="square" lIns="162000" tIns="54000" rIns="72000" bIns="54000" anchor="ctr">
            <a:noAutofit/>
          </a:bodyPr>
          <a:lstStyle/>
          <a:p>
            <a:pPr lvl="0">
              <a:lnSpc>
                <a:spcPct val="110000"/>
              </a:lnSpc>
            </a:pPr>
            <a:r>
              <a:rPr lang="fr-CI" sz="1300" b="1" noProof="0">
                <a:latin typeface="Helvetica" panose="020B0604020202020204" pitchFamily="34" charset="0"/>
                <a:ea typeface="Open Sans Semibold" panose="020B0706030804020204" pitchFamily="34" charset="0"/>
                <a:cs typeface="Helvetica" panose="020B0604020202020204" pitchFamily="34" charset="0"/>
              </a:rPr>
              <a:t>Part en retard (montant)</a:t>
            </a:r>
          </a:p>
          <a:p>
            <a:pPr lvl="0">
              <a:lnSpc>
                <a:spcPct val="110000"/>
              </a:lnSpc>
            </a:pPr>
            <a:r>
              <a:rPr lang="fr-CI" sz="1150" noProof="0" b="0">
                <a:latin typeface="Helvetica" panose="020B0604020202020204" pitchFamily="34" charset="0"/>
                <a:ea typeface="Open Sans Light" panose="020B0306030504020204" pitchFamily="34" charset="0"/>
                <a:cs typeface="Helvetica" panose="020B0604020202020204" pitchFamily="34" charset="0"/>
              </a:rPr>
              <a:t>Adenka rapporte l'encours des prêts en retard de plus de 30 jours à l'encours total, sur les 37 balances âgées reçues.</a:t>
            </a:r>
          </a:p>
        </p:txBody>
      </p:sp>
      <p:sp>
        <p:nvSpPr>
          <p:cNvPr id="28" name="Rectangle 27">
            <a:extLst>
              <a:ext uri="{FF2B5EF4-FFF2-40B4-BE49-F238E27FC236}">
                <a16:creationId xmlns:a16="http://schemas.microsoft.com/office/drawing/2014/main" id="{9B9B23AA-050D-4543-80A0-873FE31AFFF7}"/>
              </a:ext>
            </a:extLst>
          </p:cNvPr>
          <p:cNvSpPr/>
          <p:nvPr/>
        </p:nvSpPr>
        <p:spPr>
          <a:xfrm>
            <a:off x="1538714" y="1463475"/>
            <a:ext cx="5748535" cy="166944"/>
          </a:xfrm>
          <a:prstGeom prst="rect">
            <a:avLst/>
          </a:prstGeom>
        </p:spPr>
        <p:txBody>
          <a:bodyPr wrap="square" lIns="0" tIns="0" rIns="0" bIns="0">
            <a:spAutoFit/>
          </a:bodyPr>
          <a:lstStyle/>
          <a:p>
            <a:pPr lvl="0">
              <a:lnSpc>
                <a:spcPct val="110000"/>
              </a:lnSpc>
            </a:pPr>
            <a:r>
              <a:rPr lang="fr-CI" sz="1300" b="1" noProof="0">
                <a:latin typeface="Helvetica" panose="020B0604020202020204" pitchFamily="34" charset="0"/>
                <a:ea typeface="Open Sans Semibold" panose="020B0706030804020204" pitchFamily="34" charset="0"/>
                <a:cs typeface="Helvetica" panose="020B0604020202020204" pitchFamily="34" charset="0"/>
              </a:rPr>
              <a:t/>
            </a:r>
          </a:p>
        </p:txBody>
      </p:sp>
      <p:cxnSp>
        <p:nvCxnSpPr>
          <p:cNvPr id="29" name="Straight Connector 28">
            <a:extLst>
              <a:ext uri="{FF2B5EF4-FFF2-40B4-BE49-F238E27FC236}">
                <a16:creationId xmlns:a16="http://schemas.microsoft.com/office/drawing/2014/main" id="{09E553D9-3562-45A7-BE4B-0F12FAA0490F}"/>
              </a:ext>
            </a:extLst>
          </p:cNvPr>
          <p:cNvCxnSpPr>
            <a:cxnSpLocks/>
          </p:cNvCxnSpPr>
          <p:nvPr/>
        </p:nvCxnSpPr>
        <p:spPr>
          <a:xfrm>
            <a:off x="916803" y="1707866"/>
            <a:ext cx="0" cy="3668091"/>
          </a:xfrm>
          <a:prstGeom prst="line">
            <a:avLst/>
          </a:prstGeom>
          <a:ln w="12700">
            <a:solidFill>
              <a:srgbClr val="112A40"/>
            </a:solidFill>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DA735D38-741F-4EFB-826C-6F87FD459AB4}"/>
              </a:ext>
            </a:extLst>
          </p:cNvPr>
          <p:cNvCxnSpPr/>
          <p:nvPr/>
        </p:nvCxnSpPr>
        <p:spPr>
          <a:xfrm>
            <a:off x="916803" y="2291826"/>
            <a:ext cx="621911" cy="3600"/>
          </a:xfrm>
          <a:prstGeom prst="line">
            <a:avLst/>
          </a:prstGeom>
          <a:ln w="12700">
            <a:solidFill>
              <a:srgbClr val="112A40"/>
            </a:solidFill>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EBCFE36B-AE16-49E8-90A6-6621A0EB0473}"/>
              </a:ext>
            </a:extLst>
          </p:cNvPr>
          <p:cNvCxnSpPr/>
          <p:nvPr/>
        </p:nvCxnSpPr>
        <p:spPr>
          <a:xfrm>
            <a:off x="916803" y="3273370"/>
            <a:ext cx="621911" cy="3600"/>
          </a:xfrm>
          <a:prstGeom prst="line">
            <a:avLst/>
          </a:prstGeom>
          <a:ln w="12700">
            <a:solidFill>
              <a:srgbClr val="112A40"/>
            </a:solidFill>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2697F6E2-C26B-4E5F-B7F9-95C6E9325040}"/>
              </a:ext>
            </a:extLst>
          </p:cNvPr>
          <p:cNvCxnSpPr/>
          <p:nvPr/>
        </p:nvCxnSpPr>
        <p:spPr>
          <a:xfrm>
            <a:off x="916803" y="5368324"/>
            <a:ext cx="621911" cy="3600"/>
          </a:xfrm>
          <a:prstGeom prst="line">
            <a:avLst/>
          </a:prstGeom>
          <a:ln w="12700">
            <a:solidFill>
              <a:srgbClr val="112A40"/>
            </a:solidFill>
          </a:ln>
        </p:spPr>
        <p:style>
          <a:lnRef idx="1">
            <a:schemeClr val="accent1"/>
          </a:lnRef>
          <a:fillRef idx="0">
            <a:schemeClr val="accent1"/>
          </a:fillRef>
          <a:effectRef idx="0">
            <a:schemeClr val="accent1"/>
          </a:effectRef>
          <a:fontRef idx="minor">
            <a:schemeClr val="tx1"/>
          </a:fontRef>
        </p:style>
      </p:cxnSp>
      <p:sp>
        <p:nvSpPr>
          <p:cNvPr id="24" name="Rectangle 23">
            <a:extLst>
              <a:ext uri="{FF2B5EF4-FFF2-40B4-BE49-F238E27FC236}">
                <a16:creationId xmlns:a16="http://schemas.microsoft.com/office/drawing/2014/main" id="{4CD23CFE-3F31-4BA9-B26F-B9B5B351518E}"/>
              </a:ext>
            </a:extLst>
          </p:cNvPr>
          <p:cNvSpPr/>
          <p:nvPr/>
        </p:nvSpPr>
        <p:spPr>
          <a:xfrm>
            <a:off x="2103510" y="2847523"/>
            <a:ext cx="9685766" cy="901761"/>
          </a:xfrm>
          <a:prstGeom prst="rect">
            <a:avLst/>
          </a:prstGeom>
          <a:ln w="12700">
            <a:solidFill>
              <a:srgbClr val="112A40"/>
            </a:solidFill>
          </a:ln>
        </p:spPr>
        <p:txBody>
          <a:bodyPr wrap="square" lIns="162000" tIns="54000" rIns="72000" bIns="54000" anchor="ctr">
            <a:noAutofit/>
          </a:bodyPr>
          <a:lstStyle/>
          <a:p>
            <a:pPr lvl="0">
              <a:lnSpc>
                <a:spcPct val="110000"/>
              </a:lnSpc>
            </a:pPr>
            <a:r>
              <a:rPr lang="fr-CI" sz="1300" b="1" noProof="0">
                <a:latin typeface="Helvetica" panose="020B0604020202020204" pitchFamily="34" charset="0"/>
                <a:ea typeface="Open Sans Semibold" panose="020B0706030804020204" pitchFamily="34" charset="0"/>
                <a:cs typeface="Helvetica" panose="020B0604020202020204" pitchFamily="34" charset="0"/>
              </a:rPr>
              <a:t>Part en retard (nombre)</a:t>
            </a:r>
          </a:p>
          <a:p>
            <a:pPr lvl="0">
              <a:lnSpc>
                <a:spcPct val="110000"/>
              </a:lnSpc>
            </a:pPr>
            <a:r>
              <a:rPr lang="fr-CI" sz="1150" noProof="0" b="0">
                <a:latin typeface="Helvetica" panose="020B0604020202020204" pitchFamily="34" charset="0"/>
                <a:ea typeface="Open Sans Light" panose="020B0306030504020204" pitchFamily="34" charset="0"/>
                <a:cs typeface="Helvetica" panose="020B0604020202020204" pitchFamily="34" charset="0"/>
              </a:rPr>
              <a:t>Adenka rapporte le nombre de prêts en retard au nombre de prêts au 31/08/2026, avec un intervalle de confiance de Wilson à 95 %.</a:t>
            </a:r>
          </a:p>
        </p:txBody>
      </p:sp>
      <p:sp>
        <p:nvSpPr>
          <p:cNvPr id="33" name="Rectangle 32">
            <a:extLst>
              <a:ext uri="{FF2B5EF4-FFF2-40B4-BE49-F238E27FC236}">
                <a16:creationId xmlns:a16="http://schemas.microsoft.com/office/drawing/2014/main" id="{4CD23CFE-3F31-4BA9-B26F-B9B5B351518E}"/>
              </a:ext>
            </a:extLst>
          </p:cNvPr>
          <p:cNvSpPr/>
          <p:nvPr/>
        </p:nvSpPr>
        <p:spPr>
          <a:xfrm>
            <a:off x="2125344" y="3881185"/>
            <a:ext cx="9685766" cy="901761"/>
          </a:xfrm>
          <a:prstGeom prst="rect">
            <a:avLst/>
          </a:prstGeom>
          <a:ln w="12700">
            <a:solidFill>
              <a:srgbClr val="112A40"/>
            </a:solidFill>
          </a:ln>
        </p:spPr>
        <p:txBody>
          <a:bodyPr wrap="square" lIns="162000" tIns="54000" rIns="72000" bIns="54000" anchor="ctr">
            <a:noAutofit/>
          </a:bodyPr>
          <a:lstStyle/>
          <a:p>
            <a:pPr lvl="0">
              <a:lnSpc>
                <a:spcPct val="110000"/>
              </a:lnSpc>
            </a:pPr>
            <a:r>
              <a:rPr lang="fr-CI" sz="1300" b="1" noProof="0">
                <a:latin typeface="Helvetica" panose="020B0604020202020204" pitchFamily="34" charset="0"/>
                <a:ea typeface="Open Sans Semibold" panose="020B0706030804020204" pitchFamily="34" charset="0"/>
                <a:cs typeface="Helvetica" panose="020B0604020202020204" pitchFamily="34" charset="0"/>
              </a:rPr>
              <a:t>Précompte des échéances</a:t>
            </a:r>
          </a:p>
          <a:p>
            <a:pPr lvl="0">
              <a:lnSpc>
                <a:spcPct val="110000"/>
              </a:lnSpc>
            </a:pPr>
            <a:r>
              <a:rPr lang="fr-CI" sz="1150" noProof="0" b="0">
                <a:latin typeface="Helvetica" panose="020B0604020202020204" pitchFamily="34" charset="0"/>
                <a:ea typeface="Open Sans Light" panose="020B0306030504020204" pitchFamily="34" charset="0"/>
                <a:cs typeface="Helvetica" panose="020B0604020202020204" pitchFamily="34" charset="0"/>
              </a:rPr>
              <a:t>Adenka rapporte les précomptes 9X4 du mois aux échéances des prêts en cours, pour les mois de 2026.</a:t>
            </a:r>
          </a:p>
        </p:txBody>
      </p:sp>
      <p:sp>
        <p:nvSpPr>
          <p:cNvPr id="34" name="Rectangle 33">
            <a:extLst>
              <a:ext uri="{FF2B5EF4-FFF2-40B4-BE49-F238E27FC236}">
                <a16:creationId xmlns:a16="http://schemas.microsoft.com/office/drawing/2014/main" id="{4CD23CFE-3F31-4BA9-B26F-B9B5B351518E}"/>
              </a:ext>
            </a:extLst>
          </p:cNvPr>
          <p:cNvSpPr/>
          <p:nvPr/>
        </p:nvSpPr>
        <p:spPr>
          <a:xfrm>
            <a:off x="2122670" y="4917444"/>
            <a:ext cx="9685766" cy="901761"/>
          </a:xfrm>
          <a:prstGeom prst="rect">
            <a:avLst/>
          </a:prstGeom>
          <a:ln w="12700">
            <a:solidFill>
              <a:srgbClr val="112A40"/>
            </a:solidFill>
          </a:ln>
        </p:spPr>
        <p:txBody>
          <a:bodyPr wrap="square" lIns="162000" tIns="54000" rIns="72000" bIns="54000" anchor="ctr">
            <a:noAutofit/>
          </a:bodyPr>
          <a:lstStyle/>
          <a:p>
            <a:pPr lvl="1">
              <a:lnSpc>
                <a:spcPct val="110000"/>
              </a:lnSpc>
            </a:pPr>
            <a:r>
              <a:rPr lang="fr-CI" sz="1300" b="1" noProof="0">
                <a:latin typeface="Helvetica" panose="020B0604020202020204" pitchFamily="34" charset="0"/>
                <a:ea typeface="Open Sans Semibold" panose="020B0706030804020204" pitchFamily="34" charset="0"/>
                <a:cs typeface="Helvetica" panose="020B0604020202020204" pitchFamily="34" charset="0"/>
              </a:rPr>
              <a:t>Limite</a:t>
            </a:r>
          </a:p>
          <a:p>
            <a:pPr lvl="1">
              <a:lnSpc>
                <a:spcPct val="110000"/>
              </a:lnSpc>
            </a:pPr>
            <a:r>
              <a:rPr lang="fr-CI" sz="1150" noProof="0" b="0">
                <a:latin typeface="Helvetica" panose="020B0604020202020204" pitchFamily="34" charset="0"/>
                <a:ea typeface="Open Sans Light" panose="020B0306030504020204" pitchFamily="34" charset="0"/>
                <a:cs typeface="Helvetica" panose="020B0604020202020204" pitchFamily="34" charset="0"/>
              </a:rPr>
              <a:t>Le retard est celui que calcule le logiciel de prêts. Il dépend de la date à laquelle la Solde verse les précomptes.</a:t>
            </a:r>
            <a:endParaRPr lang="fr-CI" sz="1200">
              <a:latin typeface="Helvetica" panose="020B0604020202020204" pitchFamily="34" charset="0"/>
              <a:ea typeface="Open Sans Light" panose="020B0306030504020204" pitchFamily="34" charset="0"/>
              <a:cs typeface="Helvetica" panose="020B0604020202020204" pitchFamily="34" charset="0"/>
            </a:endParaRPr>
          </a:p>
        </p:txBody>
      </p:sp>
      <p:cxnSp>
        <p:nvCxnSpPr>
          <p:cNvPr id="39" name="Straight Connector 30">
            <a:extLst>
              <a:ext uri="{FF2B5EF4-FFF2-40B4-BE49-F238E27FC236}">
                <a16:creationId xmlns:a16="http://schemas.microsoft.com/office/drawing/2014/main" id="{EBCFE36B-AE16-49E8-90A6-6621A0EB0473}"/>
              </a:ext>
            </a:extLst>
          </p:cNvPr>
          <p:cNvCxnSpPr/>
          <p:nvPr/>
        </p:nvCxnSpPr>
        <p:spPr>
          <a:xfrm>
            <a:off x="919504" y="4326976"/>
            <a:ext cx="621911" cy="3600"/>
          </a:xfrm>
          <a:prstGeom prst="line">
            <a:avLst/>
          </a:prstGeom>
          <a:ln w="12700">
            <a:solidFill>
              <a:srgbClr val="112A40"/>
            </a:solidFill>
          </a:ln>
        </p:spPr>
        <p:style>
          <a:lnRef idx="1">
            <a:schemeClr val="accent1"/>
          </a:lnRef>
          <a:fillRef idx="0">
            <a:schemeClr val="accent1"/>
          </a:fillRef>
          <a:effectRef idx="0">
            <a:schemeClr val="accent1"/>
          </a:effectRef>
          <a:fontRef idx="minor">
            <a:schemeClr val="tx1"/>
          </a:fontRef>
        </p:style>
      </p:cxnSp>
      <p:grpSp>
        <p:nvGrpSpPr>
          <p:cNvPr id="11" name="Groupe 10"/>
          <p:cNvGrpSpPr/>
          <p:nvPr/>
        </p:nvGrpSpPr>
        <p:grpSpPr>
          <a:xfrm>
            <a:off x="1554870" y="2047565"/>
            <a:ext cx="548640" cy="548640"/>
            <a:chOff x="-1153645" y="1535690"/>
            <a:chExt cx="548640" cy="548640"/>
          </a:xfrm>
        </p:grpSpPr>
        <p:sp>
          <p:nvSpPr>
            <p:cNvPr id="36" name="Oval 21">
              <a:extLst>
                <a:ext uri="{FF2B5EF4-FFF2-40B4-BE49-F238E27FC236}">
                  <a16:creationId xmlns:a16="http://schemas.microsoft.com/office/drawing/2014/main" id="{7BB796F0-2DE6-45B1-851B-D8991F423CF4}"/>
                </a:ext>
              </a:extLst>
            </p:cNvPr>
            <p:cNvSpPr/>
            <p:nvPr/>
          </p:nvSpPr>
          <p:spPr bwMode="gray">
            <a:xfrm>
              <a:off x="-1153645" y="1535690"/>
              <a:ext cx="548640" cy="548640"/>
            </a:xfrm>
            <a:prstGeom prst="ellipse">
              <a:avLst/>
            </a:prstGeom>
            <a:solidFill>
              <a:schemeClr val="tx1"/>
            </a:solidFill>
            <a:ln w="19050" algn="ctr">
              <a:noFill/>
              <a:miter lim="800000"/>
              <a:headEnd/>
              <a:tailEnd/>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 typeface="Wingdings 2" pitchFamily="18" charset="2"/>
                <a:buNone/>
                <a:tabLst/>
                <a:defRPr/>
              </a:pPr>
              <a:endParaRPr kumimoji="0" lang="fr-CI" sz="1100" b="1" i="0" u="none" strike="noStrike" kern="1200" cap="none" spc="0" normalizeH="0" baseline="0" noProof="0">
                <a:ln>
                  <a:noFill/>
                </a:ln>
                <a:solidFill>
                  <a:prstClr val="white"/>
                </a:solidFill>
                <a:effectLst/>
                <a:uLnTx/>
                <a:uFillTx/>
                <a:latin typeface="Helvetica" panose="020B0604020202020204" pitchFamily="34" charset="0"/>
                <a:ea typeface="Open Sans Semibold" panose="020B0706030804020204" pitchFamily="34" charset="0"/>
                <a:cs typeface="Helvetica" panose="020B0604020202020204" pitchFamily="34" charset="0"/>
              </a:endParaRPr>
            </a:p>
          </p:txBody>
        </p:sp>
        <p:pic>
          <p:nvPicPr>
            <p:cNvPr id="40" name="Image 39"/>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23163" y="1564148"/>
              <a:ext cx="486259" cy="491723"/>
            </a:xfrm>
            <a:prstGeom prst="rect">
              <a:avLst/>
            </a:prstGeom>
          </p:spPr>
        </p:pic>
      </p:grpSp>
      <p:grpSp>
        <p:nvGrpSpPr>
          <p:cNvPr id="12" name="Groupe 11"/>
          <p:cNvGrpSpPr/>
          <p:nvPr/>
        </p:nvGrpSpPr>
        <p:grpSpPr>
          <a:xfrm>
            <a:off x="1557425" y="3008849"/>
            <a:ext cx="548640" cy="548640"/>
            <a:chOff x="-1154302" y="2719457"/>
            <a:chExt cx="548640" cy="548640"/>
          </a:xfrm>
        </p:grpSpPr>
        <p:sp>
          <p:nvSpPr>
            <p:cNvPr id="42" name="Oval 21">
              <a:extLst>
                <a:ext uri="{FF2B5EF4-FFF2-40B4-BE49-F238E27FC236}">
                  <a16:creationId xmlns:a16="http://schemas.microsoft.com/office/drawing/2014/main" id="{7BB796F0-2DE6-45B1-851B-D8991F423CF4}"/>
                </a:ext>
              </a:extLst>
            </p:cNvPr>
            <p:cNvSpPr/>
            <p:nvPr/>
          </p:nvSpPr>
          <p:spPr bwMode="gray">
            <a:xfrm>
              <a:off x="-1154302" y="2719457"/>
              <a:ext cx="548640" cy="548640"/>
            </a:xfrm>
            <a:prstGeom prst="ellipse">
              <a:avLst/>
            </a:prstGeom>
            <a:solidFill>
              <a:schemeClr val="tx1"/>
            </a:solidFill>
            <a:ln w="19050" algn="ctr">
              <a:noFill/>
              <a:miter lim="800000"/>
              <a:headEnd/>
              <a:tailEnd/>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 typeface="Wingdings 2" pitchFamily="18" charset="2"/>
                <a:buNone/>
                <a:tabLst/>
                <a:defRPr/>
              </a:pPr>
              <a:endParaRPr kumimoji="0" lang="fr-CI" sz="1100" b="1" i="0" u="none" strike="noStrike" kern="1200" cap="none" spc="0" normalizeH="0" baseline="0" noProof="0">
                <a:ln>
                  <a:noFill/>
                </a:ln>
                <a:solidFill>
                  <a:prstClr val="white"/>
                </a:solidFill>
                <a:effectLst/>
                <a:uLnTx/>
                <a:uFillTx/>
                <a:latin typeface="Helvetica" panose="020B0604020202020204" pitchFamily="34" charset="0"/>
                <a:ea typeface="Open Sans Semibold" panose="020B0706030804020204" pitchFamily="34" charset="0"/>
                <a:cs typeface="Helvetica" panose="020B0604020202020204" pitchFamily="34" charset="0"/>
              </a:endParaRPr>
            </a:p>
          </p:txBody>
        </p:sp>
        <p:pic>
          <p:nvPicPr>
            <p:cNvPr id="7" name="Image 6"/>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74901" y="2781886"/>
              <a:ext cx="396274" cy="396274"/>
            </a:xfrm>
            <a:prstGeom prst="rect">
              <a:avLst/>
            </a:prstGeom>
          </p:spPr>
        </p:pic>
      </p:grpSp>
      <p:grpSp>
        <p:nvGrpSpPr>
          <p:cNvPr id="13" name="Groupe 12"/>
          <p:cNvGrpSpPr/>
          <p:nvPr/>
        </p:nvGrpSpPr>
        <p:grpSpPr>
          <a:xfrm>
            <a:off x="1567381" y="4044725"/>
            <a:ext cx="548640" cy="552951"/>
            <a:chOff x="-1185544" y="4122202"/>
            <a:chExt cx="548640" cy="552951"/>
          </a:xfrm>
        </p:grpSpPr>
        <p:sp>
          <p:nvSpPr>
            <p:cNvPr id="44" name="Oval 21">
              <a:extLst>
                <a:ext uri="{FF2B5EF4-FFF2-40B4-BE49-F238E27FC236}">
                  <a16:creationId xmlns:a16="http://schemas.microsoft.com/office/drawing/2014/main" id="{7BB796F0-2DE6-45B1-851B-D8991F423CF4}"/>
                </a:ext>
              </a:extLst>
            </p:cNvPr>
            <p:cNvSpPr/>
            <p:nvPr/>
          </p:nvSpPr>
          <p:spPr bwMode="gray">
            <a:xfrm>
              <a:off x="-1185544" y="4122202"/>
              <a:ext cx="548640" cy="548640"/>
            </a:xfrm>
            <a:prstGeom prst="ellipse">
              <a:avLst/>
            </a:prstGeom>
            <a:solidFill>
              <a:schemeClr val="tx1"/>
            </a:solidFill>
            <a:ln w="19050" algn="ctr">
              <a:noFill/>
              <a:miter lim="800000"/>
              <a:headEnd/>
              <a:tailEnd/>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 typeface="Wingdings 2" pitchFamily="18" charset="2"/>
                <a:buNone/>
                <a:tabLst/>
                <a:defRPr/>
              </a:pPr>
              <a:endParaRPr kumimoji="0" lang="fr-CI" sz="1100" b="1" i="0" u="none" strike="noStrike" kern="1200" cap="none" spc="0" normalizeH="0" baseline="0" noProof="0">
                <a:ln>
                  <a:noFill/>
                </a:ln>
                <a:solidFill>
                  <a:prstClr val="white"/>
                </a:solidFill>
                <a:effectLst/>
                <a:uLnTx/>
                <a:uFillTx/>
                <a:latin typeface="Helvetica" panose="020B0604020202020204" pitchFamily="34" charset="0"/>
                <a:ea typeface="Open Sans Semibold" panose="020B0706030804020204" pitchFamily="34" charset="0"/>
                <a:cs typeface="Helvetica" panose="020B0604020202020204" pitchFamily="34" charset="0"/>
              </a:endParaRPr>
            </a:p>
          </p:txBody>
        </p:sp>
        <p:pic>
          <p:nvPicPr>
            <p:cNvPr id="8" name="Image 7"/>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171838" y="4144755"/>
              <a:ext cx="524301" cy="530398"/>
            </a:xfrm>
            <a:prstGeom prst="rect">
              <a:avLst/>
            </a:prstGeom>
          </p:spPr>
        </p:pic>
      </p:grpSp>
      <p:grpSp>
        <p:nvGrpSpPr>
          <p:cNvPr id="14" name="Groupe 13"/>
          <p:cNvGrpSpPr/>
          <p:nvPr/>
        </p:nvGrpSpPr>
        <p:grpSpPr>
          <a:xfrm>
            <a:off x="1567381" y="5111071"/>
            <a:ext cx="548640" cy="548640"/>
            <a:chOff x="-1227267" y="5286500"/>
            <a:chExt cx="548640" cy="548640"/>
          </a:xfrm>
        </p:grpSpPr>
        <p:sp>
          <p:nvSpPr>
            <p:cNvPr id="45" name="Oval 21">
              <a:extLst>
                <a:ext uri="{FF2B5EF4-FFF2-40B4-BE49-F238E27FC236}">
                  <a16:creationId xmlns:a16="http://schemas.microsoft.com/office/drawing/2014/main" id="{7BB796F0-2DE6-45B1-851B-D8991F423CF4}"/>
                </a:ext>
              </a:extLst>
            </p:cNvPr>
            <p:cNvSpPr/>
            <p:nvPr/>
          </p:nvSpPr>
          <p:spPr bwMode="gray">
            <a:xfrm>
              <a:off x="-1227267" y="5286500"/>
              <a:ext cx="548640" cy="548640"/>
            </a:xfrm>
            <a:prstGeom prst="ellipse">
              <a:avLst/>
            </a:prstGeom>
            <a:solidFill>
              <a:schemeClr val="tx1"/>
            </a:solidFill>
            <a:ln w="19050" algn="ctr">
              <a:noFill/>
              <a:miter lim="800000"/>
              <a:headEnd/>
              <a:tailEnd/>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 typeface="Wingdings 2" pitchFamily="18" charset="2"/>
                <a:buNone/>
                <a:tabLst/>
                <a:defRPr/>
              </a:pPr>
              <a:endParaRPr kumimoji="0" lang="fr-CI" sz="1100" b="1" i="0" u="none" strike="noStrike" kern="1200" cap="none" spc="0" normalizeH="0" baseline="0" noProof="0">
                <a:ln>
                  <a:noFill/>
                </a:ln>
                <a:solidFill>
                  <a:prstClr val="white"/>
                </a:solidFill>
                <a:effectLst/>
                <a:uLnTx/>
                <a:uFillTx/>
                <a:latin typeface="Helvetica" panose="020B0604020202020204" pitchFamily="34" charset="0"/>
                <a:ea typeface="Open Sans Semibold" panose="020B0706030804020204" pitchFamily="34" charset="0"/>
                <a:cs typeface="Helvetica" panose="020B0604020202020204" pitchFamily="34" charset="0"/>
              </a:endParaRPr>
            </a:p>
          </p:txBody>
        </p:sp>
        <p:pic>
          <p:nvPicPr>
            <p:cNvPr id="9" name="Image 8"/>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1171838" y="5346402"/>
              <a:ext cx="422834" cy="432026"/>
            </a:xfrm>
            <a:prstGeom prst="rect">
              <a:avLst/>
            </a:prstGeom>
          </p:spPr>
        </p:pic>
      </p:grpSp>
      <p:sp>
        <p:nvSpPr>
          <p:cNvPr id="50" name="ZoneTexte 49">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pic>
        <p:nvPicPr>
          <p:cNvPr id="51" name="Image 50"/>
          <p:cNvPicPr>
            <a:picLocks noChangeAspect="1"/>
          </p:cNvPicPr>
          <p:nvPr/>
        </p:nvPicPr>
        <p:blipFill rotWithShape="1">
          <a:blip r:embed="rId7" cstate="print">
            <a:extLst>
              <a:ext uri="{28A0092B-C50C-407E-A947-70E740481C1C}">
                <a14:useLocalDpi xmlns:a14="http://schemas.microsoft.com/office/drawing/2010/main" val="0"/>
              </a:ext>
            </a:extLst>
          </a:blip>
          <a:srcRect l="4260" t="13024" r="74155" b="14121"/>
          <a:stretch/>
        </p:blipFill>
        <p:spPr>
          <a:xfrm>
            <a:off x="702475" y="1350400"/>
            <a:ext cx="392679" cy="406703"/>
          </a:xfrm>
          <a:prstGeom prst="rect">
            <a:avLst/>
          </a:prstGeom>
        </p:spPr>
      </p:pic>
      <p:sp>
        <p:nvSpPr>
          <p:cNvPr id="52"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Méthode : risque de crédit</a:t>
            </a:r>
          </a:p>
        </p:txBody>
      </p:sp>
      <p:sp>
        <p:nvSpPr>
          <p:cNvPr id="53"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Le risque des prêts se mesure par la part de l'encours en retard</a:t>
            </a:r>
          </a:p>
        </p:txBody>
      </p:sp>
      <p:sp>
        <p:nvSpPr>
          <p:cNvPr id="54"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Encours en retard de plus de 30 jours / encours total, à chaque date de balance âgée</a:t>
            </a:r>
          </a:p>
        </p:txBody>
      </p:sp>
      <p:sp>
        <p:nvSpPr>
          <p:cNvPr id="55"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Adenka</a:t>
            </a:r>
          </a:p>
        </p:txBody>
      </p:sp>
      <p:sp>
        <p:nvSpPr>
          <p:cNvPr id="56" name="TextBox 55"/>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9X4 : poste Grenier</a:t>
            </a:r>
          </a:p>
        </p:txBody>
      </p:sp>
    </p:spTree>
    <p:extLst>
      <p:ext uri="{BB962C8B-B14F-4D97-AF65-F5344CB8AC3E}">
        <p14:creationId xmlns:p14="http://schemas.microsoft.com/office/powerpoint/2010/main" val="3013325367"/>
      </p:ext>
    </p:extLst>
  </p:cSld>
  <p:clrMapOvr>
    <a:masterClrMapping/>
  </p:clrMapOvr>
  <p:transition>
    <p:fade/>
  </p:transition>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Encours du Grenier</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L'encours de prêts a été multiplié par 132 depuis fin 2021</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Au 31/08/2026 : 2 959 prêts, 1 044 302 107 FCFA, dont 915 477 260 FCFA financés par le FPPN</a:t>
            </a:r>
          </a:p>
        </p:txBody>
      </p:sp>
      <p:sp>
        <p:nvSpPr>
          <p:cNvPr id="30" name="TextBox 29"/>
          <p:cNvSpPr txBox="1"/>
          <p:nvPr/>
        </p:nvSpPr>
        <p:spPr>
          <a:xfrm>
            <a:off x="503999" y="1386000"/>
            <a:ext cx="5976000" cy="251999"/>
          </a:xfrm>
          <a:prstGeom prst="rect">
            <a:avLst/>
          </a:prstGeom>
          <a:noFill/>
        </p:spPr>
        <p:txBody>
          <a:bodyPr wrap="square">
            <a:spAutoFit/>
          </a:bodyPr>
          <a:lstStyle/>
          <a:p>
            <a:pPr algn="ctr">
              <a:spcAft>
                <a:spcPts val="0"/>
              </a:spcAft>
            </a:pPr>
            <a:r>
              <a:rPr sz="1200" b="0">
                <a:solidFill>
                  <a:srgbClr val="EFAC62"/>
                </a:solidFill>
                <a:latin typeface="Helvetica"/>
              </a:rPr>
              <a:t>Figure 21 : Encours des prêts et financement du FPPN</a:t>
            </a:r>
          </a:p>
        </p:txBody>
      </p:sp>
      <p:sp>
        <p:nvSpPr>
          <p:cNvPr id="31" name="TextBox 30"/>
          <p:cNvSpPr txBox="1"/>
          <p:nvPr/>
        </p:nvSpPr>
        <p:spPr>
          <a:xfrm>
            <a:off x="503999" y="1602000"/>
            <a:ext cx="5976000" cy="162000"/>
          </a:xfrm>
          <a:prstGeom prst="rect">
            <a:avLst/>
          </a:prstGeom>
          <a:noFill/>
        </p:spPr>
        <p:txBody>
          <a:bodyPr wrap="square">
            <a:spAutoFit/>
          </a:bodyPr>
          <a:lstStyle/>
          <a:p>
            <a:pPr algn="l">
              <a:spcAft>
                <a:spcPts val="0"/>
              </a:spcAft>
            </a:pPr>
            <a:r>
              <a:rPr sz="900" b="0">
                <a:solidFill>
                  <a:srgbClr val="060606"/>
                </a:solidFill>
                <a:latin typeface="Helvetica"/>
              </a:rPr>
              <a:t>En millions de FCFA</a:t>
            </a:r>
          </a:p>
        </p:txBody>
      </p:sp>
      <p:graphicFrame>
        <p:nvGraphicFramePr>
          <p:cNvPr id="32" name="Chart 31"/>
          <p:cNvGraphicFramePr>
            <a:graphicFrameLocks noGrp="1"/>
          </p:cNvGraphicFramePr>
          <p:nvPr/>
        </p:nvGraphicFramePr>
        <p:xfrm>
          <a:off x="503999" y="1782000"/>
          <a:ext cx="5976000" cy="4086000"/>
        </p:xfrm>
        <a:graphic>
          <a:graphicData uri="http://schemas.openxmlformats.org/drawingml/2006/chart">
            <c:chart xmlns:c="http://schemas.openxmlformats.org/drawingml/2006/chart" r:id="rId6"/>
          </a:graphicData>
        </a:graphic>
      </p:graphicFrame>
      <p:sp>
        <p:nvSpPr>
          <p:cNvPr id="33"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exports du logiciel de prêts du Grenier du Policier (balances âgées, production) reçus le 15/10/2026. Traitements Adenka. Balances des comptes du FPPN (Sage 100), exercices 2020 à 2025 et du 01/01 au 31/08/2026 (provisoire). Traitements Adenka</a:t>
            </a:r>
          </a:p>
        </p:txBody>
      </p:sp>
      <p:sp>
        <p:nvSpPr>
          <p:cNvPr id="34" name="TextBox 33"/>
          <p:cNvSpPr txBox="1"/>
          <p:nvPr/>
        </p:nvSpPr>
        <p:spPr>
          <a:xfrm>
            <a:off x="6696000" y="1440000"/>
            <a:ext cx="5040000" cy="4428000"/>
          </a:xfrm>
          <a:prstGeom prst="rect">
            <a:avLst/>
          </a:prstGeom>
          <a:noFill/>
        </p:spPr>
        <p:txBody>
          <a:bodyPr wrap="square" lIns="54000" rIns="54000"/>
          <a:lstStyle/>
          <a:p>
            <a:pPr algn="just">
              <a:spcAft>
                <a:spcPts val="600"/>
              </a:spcAft>
            </a:pPr>
            <a:r>
              <a:rPr sz="1400" b="1">
                <a:solidFill>
                  <a:srgbClr val="060606"/>
                </a:solidFill>
                <a:latin typeface="Helvetica"/>
              </a:rPr>
              <a:t>L'encours passe de 7 900 000 FCFA fin 2021 à 1 044 302 107 FCFA au 31/08/2026</a:t>
            </a:r>
            <a:r>
              <a:rPr sz="1400" b="0">
                <a:solidFill>
                  <a:srgbClr val="060606"/>
                </a:solidFill>
                <a:latin typeface="Helvetica"/>
              </a:rPr>
              <a:t>, soit 132,19 fois plus.</a:t>
            </a:r>
          </a:p>
          <a:p>
            <a:pPr algn="just">
              <a:spcAft>
                <a:spcPts val="600"/>
              </a:spcAft>
            </a:pPr>
            <a:r>
              <a:rPr sz="1400" b="1">
                <a:solidFill>
                  <a:srgbClr val="060606"/>
                </a:solidFill>
                <a:latin typeface="Helvetica"/>
              </a:rPr>
              <a:t>Le FPPN finance 87,66 % de l'encours.</a:t>
            </a:r>
            <a:r>
              <a:rPr sz="1400" b="0">
                <a:solidFill>
                  <a:srgbClr val="060606"/>
                </a:solidFill>
                <a:latin typeface="Helvetica"/>
              </a:rPr>
              <a:t> Le Grenier repose donc presque entièrement sur les ressources du FPPN.</a:t>
            </a:r>
          </a:p>
          <a:p>
            <a:pPr algn="just">
              <a:spcAft>
                <a:spcPts val="600"/>
              </a:spcAft>
            </a:pPr>
            <a:r>
              <a:rPr sz="1400" b="1">
                <a:solidFill>
                  <a:srgbClr val="060606"/>
                </a:solidFill>
                <a:latin typeface="Helvetica"/>
              </a:rPr>
              <a:t>Les prêts sont courts et chers.</a:t>
            </a:r>
            <a:r>
              <a:rPr sz="1400" b="0">
                <a:solidFill>
                  <a:srgbClr val="060606"/>
                </a:solidFill>
                <a:latin typeface="Helvetica"/>
              </a:rPr>
              <a:t> La durée médiane est de 10 mois et le taux médian de 18,00 %.</a:t>
            </a:r>
          </a:p>
          <a:p>
            <a:pPr algn="just">
              <a:spcAft>
                <a:spcPts val="600"/>
              </a:spcAft>
            </a:pPr>
            <a:r>
              <a:rPr sz="1400" b="1">
                <a:solidFill>
                  <a:srgbClr val="060606"/>
                </a:solidFill>
                <a:latin typeface="Helvetica"/>
              </a:rPr>
              <a:t>Implication pour le FPPN.</a:t>
            </a:r>
            <a:r>
              <a:rPr sz="1400" b="0">
                <a:solidFill>
                  <a:srgbClr val="060606"/>
                </a:solidFill>
                <a:latin typeface="Helvetica"/>
              </a:rPr>
              <a:t> Si le Grenier relève des activités génératrices de revenus, le règlement d'exécution n° 004/2022 les autorise à condition qu'elles ne mettent pas en péril l'activité d'assurance et que leurs pertes ne soient pas couvertes par les cotisations ni par les réserves (art. 26) : le financement du Grenier doit être encadré par une décision formelle.</a:t>
            </a:r>
          </a:p>
        </p:txBody>
      </p:sp>
      <p:sp>
        <p:nvSpPr>
          <p:cNvPr id="35" name="TextBox 34"/>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a:t>
            </a:r>
          </a:p>
        </p:txBody>
      </p:sp>
    </p:spTree>
    <p:extLst>
      <p:ext uri="{BB962C8B-B14F-4D97-AF65-F5344CB8AC3E}">
        <p14:creationId xmlns:p14="http://schemas.microsoft.com/office/powerpoint/2010/main" val="358180945"/>
      </p:ext>
    </p:extLst>
  </p:cSld>
  <p:clrMapOvr>
    <a:masterClrMapping/>
  </p:clrMapOvr>
  <p:transition>
    <p:fade/>
  </p:transition>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Production de prêts</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Les crédits scolaires et habitat portent la croissance de la production</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Montants débloqués : 269 775 100 FCFA en 2022, 1 609 400 144 FCFA en 2025 (4 774 prêts)</a:t>
            </a:r>
          </a:p>
        </p:txBody>
      </p:sp>
      <p:sp>
        <p:nvSpPr>
          <p:cNvPr id="30" name="TextBox 29"/>
          <p:cNvSpPr txBox="1"/>
          <p:nvPr/>
        </p:nvSpPr>
        <p:spPr>
          <a:xfrm>
            <a:off x="503999" y="1386000"/>
            <a:ext cx="6552000" cy="251999"/>
          </a:xfrm>
          <a:prstGeom prst="rect">
            <a:avLst/>
          </a:prstGeom>
          <a:noFill/>
        </p:spPr>
        <p:txBody>
          <a:bodyPr wrap="square">
            <a:spAutoFit/>
          </a:bodyPr>
          <a:lstStyle/>
          <a:p>
            <a:pPr algn="ctr">
              <a:spcAft>
                <a:spcPts val="0"/>
              </a:spcAft>
            </a:pPr>
            <a:r>
              <a:rPr sz="1200" b="0">
                <a:solidFill>
                  <a:srgbClr val="EFAC62"/>
                </a:solidFill>
                <a:latin typeface="Helvetica"/>
              </a:rPr>
              <a:t>Figure 22 : Montants débloqués par type de crédit</a:t>
            </a:r>
          </a:p>
        </p:txBody>
      </p:sp>
      <p:sp>
        <p:nvSpPr>
          <p:cNvPr id="31" name="TextBox 30"/>
          <p:cNvSpPr txBox="1"/>
          <p:nvPr/>
        </p:nvSpPr>
        <p:spPr>
          <a:xfrm>
            <a:off x="503999" y="1602000"/>
            <a:ext cx="6552000" cy="162000"/>
          </a:xfrm>
          <a:prstGeom prst="rect">
            <a:avLst/>
          </a:prstGeom>
          <a:noFill/>
        </p:spPr>
        <p:txBody>
          <a:bodyPr wrap="square">
            <a:spAutoFit/>
          </a:bodyPr>
          <a:lstStyle/>
          <a:p>
            <a:pPr algn="l">
              <a:spcAft>
                <a:spcPts val="0"/>
              </a:spcAft>
            </a:pPr>
            <a:r>
              <a:rPr sz="900" b="0">
                <a:solidFill>
                  <a:srgbClr val="060606"/>
                </a:solidFill>
                <a:latin typeface="Helvetica"/>
              </a:rPr>
              <a:t>En millions de FCFA</a:t>
            </a:r>
          </a:p>
        </p:txBody>
      </p:sp>
      <p:graphicFrame>
        <p:nvGraphicFramePr>
          <p:cNvPr id="32" name="Chart 31"/>
          <p:cNvGraphicFramePr>
            <a:graphicFrameLocks noGrp="1"/>
          </p:cNvGraphicFramePr>
          <p:nvPr/>
        </p:nvGraphicFramePr>
        <p:xfrm>
          <a:off x="503999" y="1782000"/>
          <a:ext cx="6552000" cy="4086000"/>
        </p:xfrm>
        <a:graphic>
          <a:graphicData uri="http://schemas.openxmlformats.org/drawingml/2006/chart">
            <c:chart xmlns:c="http://schemas.openxmlformats.org/drawingml/2006/chart" r:id="rId6"/>
          </a:graphicData>
        </a:graphic>
      </p:graphicFrame>
      <p:sp>
        <p:nvSpPr>
          <p:cNvPr id="33"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exports du logiciel de prêts du Grenier du Policier (balances âgées, production) reçus le 15/10/2026. Traitements Adenka</a:t>
            </a:r>
          </a:p>
        </p:txBody>
      </p:sp>
      <p:sp>
        <p:nvSpPr>
          <p:cNvPr id="34" name="TextBox 33"/>
          <p:cNvSpPr txBox="1"/>
          <p:nvPr/>
        </p:nvSpPr>
        <p:spPr>
          <a:xfrm>
            <a:off x="7272000" y="1440000"/>
            <a:ext cx="4464000" cy="4428000"/>
          </a:xfrm>
          <a:prstGeom prst="rect">
            <a:avLst/>
          </a:prstGeom>
          <a:noFill/>
        </p:spPr>
        <p:txBody>
          <a:bodyPr wrap="square" lIns="54000" rIns="54000"/>
          <a:lstStyle/>
          <a:p>
            <a:pPr algn="just">
              <a:spcAft>
                <a:spcPts val="600"/>
              </a:spcAft>
            </a:pPr>
            <a:r>
              <a:rPr sz="1400" b="1">
                <a:solidFill>
                  <a:srgbClr val="060606"/>
                </a:solidFill>
                <a:latin typeface="Helvetica"/>
              </a:rPr>
              <a:t>La production a été multipliée par 5,97 entre 2022 et 2025.</a:t>
            </a:r>
          </a:p>
          <a:p>
            <a:pPr algn="just">
              <a:spcAft>
                <a:spcPts val="600"/>
              </a:spcAft>
            </a:pPr>
            <a:r>
              <a:rPr sz="1400" b="1">
                <a:solidFill>
                  <a:srgbClr val="060606"/>
                </a:solidFill>
                <a:latin typeface="Helvetica"/>
              </a:rPr>
              <a:t>Les crédits scolaires et habitat font 66,12 % des montants de 2025.</a:t>
            </a:r>
          </a:p>
          <a:p>
            <a:pPr algn="just">
              <a:spcAft>
                <a:spcPts val="600"/>
              </a:spcAft>
            </a:pPr>
            <a:r>
              <a:rPr sz="1400" b="1">
                <a:solidFill>
                  <a:srgbClr val="060606"/>
                </a:solidFill>
                <a:latin typeface="Helvetica"/>
              </a:rPr>
              <a:t>Le crédit habitat, aux montants unitaires plus importants, allonge la durée du risque.</a:t>
            </a:r>
          </a:p>
          <a:p>
            <a:pPr algn="just">
              <a:spcAft>
                <a:spcPts val="600"/>
              </a:spcAft>
            </a:pPr>
            <a:r>
              <a:rPr sz="1400" b="1">
                <a:solidFill>
                  <a:srgbClr val="060606"/>
                </a:solidFill>
                <a:latin typeface="Helvetica"/>
              </a:rPr>
              <a:t>Implication pour le FPPN.</a:t>
            </a:r>
            <a:r>
              <a:rPr sz="1400" b="0">
                <a:solidFill>
                  <a:srgbClr val="060606"/>
                </a:solidFill>
                <a:latin typeface="Helvetica"/>
              </a:rPr>
              <a:t> Une production qui croît plus vite que les ressources propres du Grenier augmente le besoin de financement du FPPN : la politique de crédit doit fixer un plafond d'encours rapporté aux ressources disponibles.</a:t>
            </a:r>
          </a:p>
        </p:txBody>
      </p:sp>
      <p:sp>
        <p:nvSpPr>
          <p:cNvPr id="35" name="TextBox 34"/>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a:t>
            </a:r>
          </a:p>
        </p:txBody>
      </p:sp>
    </p:spTree>
    <p:extLst>
      <p:ext uri="{BB962C8B-B14F-4D97-AF65-F5344CB8AC3E}">
        <p14:creationId xmlns:p14="http://schemas.microsoft.com/office/powerpoint/2010/main" val="920791829"/>
      </p:ext>
    </p:extLst>
  </p:cSld>
  <p:clrMapOvr>
    <a:masterClrMapping/>
  </p:clrMapOvr>
  <p:transition>
    <p:fade/>
  </p:transition>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Retards de remboursement</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Les retards ont culminé début 2026 avant de revenir à un niveau faible</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Encours en retard de plus de 30 jours : 61,96 % fin janvier 2026, 1,83 % au 31/08/2026</a:t>
            </a:r>
          </a:p>
        </p:txBody>
      </p:sp>
      <p:sp>
        <p:nvSpPr>
          <p:cNvPr id="30" name="TextBox 29"/>
          <p:cNvSpPr txBox="1"/>
          <p:nvPr/>
        </p:nvSpPr>
        <p:spPr>
          <a:xfrm>
            <a:off x="503999" y="1386000"/>
            <a:ext cx="6552000" cy="251999"/>
          </a:xfrm>
          <a:prstGeom prst="rect">
            <a:avLst/>
          </a:prstGeom>
          <a:noFill/>
        </p:spPr>
        <p:txBody>
          <a:bodyPr wrap="square">
            <a:spAutoFit/>
          </a:bodyPr>
          <a:lstStyle/>
          <a:p>
            <a:pPr algn="ctr">
              <a:spcAft>
                <a:spcPts val="0"/>
              </a:spcAft>
            </a:pPr>
            <a:r>
              <a:rPr sz="1200" b="0">
                <a:solidFill>
                  <a:srgbClr val="EFAC62"/>
                </a:solidFill>
                <a:latin typeface="Helvetica"/>
              </a:rPr>
              <a:t>Figure 23 : Part de l'encours en retard de plus de 30 et 90 jours</a:t>
            </a:r>
          </a:p>
        </p:txBody>
      </p:sp>
      <p:sp>
        <p:nvSpPr>
          <p:cNvPr id="31" name="TextBox 30"/>
          <p:cNvSpPr txBox="1"/>
          <p:nvPr/>
        </p:nvSpPr>
        <p:spPr>
          <a:xfrm>
            <a:off x="503999" y="1602000"/>
            <a:ext cx="6552000" cy="162000"/>
          </a:xfrm>
          <a:prstGeom prst="rect">
            <a:avLst/>
          </a:prstGeom>
          <a:noFill/>
        </p:spPr>
        <p:txBody>
          <a:bodyPr wrap="square">
            <a:spAutoFit/>
          </a:bodyPr>
          <a:lstStyle/>
          <a:p>
            <a:pPr algn="l">
              <a:spcAft>
                <a:spcPts val="0"/>
              </a:spcAft>
            </a:pPr>
            <a:r>
              <a:rPr sz="900" b="0">
                <a:solidFill>
                  <a:srgbClr val="060606"/>
                </a:solidFill>
                <a:latin typeface="Helvetica"/>
              </a:rPr>
              <a:t>En % de l'encours</a:t>
            </a:r>
          </a:p>
        </p:txBody>
      </p:sp>
      <p:graphicFrame>
        <p:nvGraphicFramePr>
          <p:cNvPr id="32" name="Chart 31"/>
          <p:cNvGraphicFramePr>
            <a:graphicFrameLocks noGrp="1"/>
          </p:cNvGraphicFramePr>
          <p:nvPr/>
        </p:nvGraphicFramePr>
        <p:xfrm>
          <a:off x="503999" y="1782000"/>
          <a:ext cx="6552000" cy="4086000"/>
        </p:xfrm>
        <a:graphic>
          <a:graphicData uri="http://schemas.openxmlformats.org/drawingml/2006/chart">
            <c:chart xmlns:c="http://schemas.openxmlformats.org/drawingml/2006/chart" r:id="rId6"/>
          </a:graphicData>
        </a:graphic>
      </p:graphicFrame>
      <p:sp>
        <p:nvSpPr>
          <p:cNvPr id="33"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exports du logiciel de prêts du Grenier du Policier (balances âgées, production) reçus le 15/10/2026. Traitements Adenka</a:t>
            </a:r>
          </a:p>
        </p:txBody>
      </p:sp>
      <p:sp>
        <p:nvSpPr>
          <p:cNvPr id="34" name="TextBox 33"/>
          <p:cNvSpPr txBox="1"/>
          <p:nvPr/>
        </p:nvSpPr>
        <p:spPr>
          <a:xfrm>
            <a:off x="7272000" y="1440000"/>
            <a:ext cx="4464000" cy="4428000"/>
          </a:xfrm>
          <a:prstGeom prst="rect">
            <a:avLst/>
          </a:prstGeom>
          <a:noFill/>
        </p:spPr>
        <p:txBody>
          <a:bodyPr wrap="square" lIns="54000" rIns="54000"/>
          <a:lstStyle/>
          <a:p>
            <a:pPr algn="just">
              <a:spcAft>
                <a:spcPts val="600"/>
              </a:spcAft>
            </a:pPr>
            <a:r>
              <a:rPr sz="1400" b="1">
                <a:solidFill>
                  <a:srgbClr val="060606"/>
                </a:solidFill>
                <a:latin typeface="Helvetica"/>
              </a:rPr>
              <a:t>Fin janvier 2026, la plus grande part de l'encours avait entre 31 et 90 jours de retard.</a:t>
            </a:r>
          </a:p>
          <a:p>
            <a:pPr algn="just">
              <a:spcAft>
                <a:spcPts val="600"/>
              </a:spcAft>
            </a:pPr>
            <a:r>
              <a:rPr sz="1400" b="1">
                <a:solidFill>
                  <a:srgbClr val="060606"/>
                </a:solidFill>
                <a:latin typeface="Helvetica"/>
              </a:rPr>
              <a:t>Ces retards se sont résorbés en quelques mois.</a:t>
            </a:r>
            <a:r>
              <a:rPr sz="1400" b="0">
                <a:solidFill>
                  <a:srgbClr val="060606"/>
                </a:solidFill>
                <a:latin typeface="Helvetica"/>
              </a:rPr>
              <a:t> Ce profil fait penser à des échéances non précomptées en fin d'année 2025.</a:t>
            </a:r>
          </a:p>
          <a:p>
            <a:pPr algn="just">
              <a:spcAft>
                <a:spcPts val="600"/>
              </a:spcAft>
            </a:pPr>
            <a:r>
              <a:rPr sz="1400" b="1">
                <a:solidFill>
                  <a:srgbClr val="060606"/>
                </a:solidFill>
                <a:latin typeface="Helvetica"/>
              </a:rPr>
              <a:t>126 prêts ont plus de 180 jours de retard.</a:t>
            </a:r>
            <a:r>
              <a:rPr sz="1400" b="0">
                <a:solidFill>
                  <a:srgbClr val="060606"/>
                </a:solidFill>
                <a:latin typeface="Helvetica"/>
              </a:rPr>
              <a:t> Ces prêts doivent être provisionnés.</a:t>
            </a:r>
          </a:p>
          <a:p>
            <a:pPr algn="just">
              <a:spcAft>
                <a:spcPts val="600"/>
              </a:spcAft>
            </a:pPr>
            <a:r>
              <a:rPr sz="1400" b="1">
                <a:solidFill>
                  <a:srgbClr val="060606"/>
                </a:solidFill>
                <a:latin typeface="Helvetica"/>
              </a:rPr>
              <a:t>Implication pour le FPPN.</a:t>
            </a:r>
            <a:r>
              <a:rPr sz="1400" b="0">
                <a:solidFill>
                  <a:srgbClr val="060606"/>
                </a:solidFill>
                <a:latin typeface="Helvetica"/>
              </a:rPr>
              <a:t> Les retards dépendent surtout du circuit de précompte, pas de la solvabilité des emprunteurs : le FPPN doit obtenir de la Solde un calendrier fiable et suivre chaque mois les échéances non précomptées.</a:t>
            </a:r>
          </a:p>
        </p:txBody>
      </p:sp>
      <p:sp>
        <p:nvSpPr>
          <p:cNvPr id="35" name="TextBox 34"/>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a:t>
            </a:r>
          </a:p>
        </p:txBody>
      </p:sp>
    </p:spTree>
    <p:extLst>
      <p:ext uri="{BB962C8B-B14F-4D97-AF65-F5344CB8AC3E}">
        <p14:creationId xmlns:p14="http://schemas.microsoft.com/office/powerpoint/2010/main" val="3968630317"/>
      </p:ext>
    </p:extLst>
  </p:cSld>
  <p:clrMapOvr>
    <a:masterClrMapping/>
  </p:clrMapOvr>
  <p:transition>
    <p:fade/>
  </p:transition>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Calcul pas à pas : prêts en retard</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Les retards les plus anciens dépassent trois ans et révèlent des mécanos anormaux</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Les quatre prêts les plus en retard au 31/08/2026 ont entre 1 105 et 1 308 jours de retard</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exports du logiciel de prêts du Grenier du Policier (balances âgées, production) reçus le 15/10/2026. Traitements Adenka. Noms masqués</a:t>
            </a:r>
          </a:p>
        </p:txBody>
      </p:sp>
      <p:sp>
        <p:nvSpPr>
          <p:cNvPr id="31" name="TextBox 30"/>
          <p:cNvSpPr txBox="1"/>
          <p:nvPr/>
        </p:nvSpPr>
        <p:spPr>
          <a:xfrm>
            <a:off x="503999" y="1350000"/>
            <a:ext cx="8496000" cy="180000"/>
          </a:xfrm>
          <a:prstGeom prst="rect">
            <a:avLst/>
          </a:prstGeom>
          <a:noFill/>
        </p:spPr>
        <p:txBody>
          <a:bodyPr wrap="square" anchor="t" lIns="54000" rIns="54000"/>
          <a:lstStyle/>
          <a:p>
            <a:pPr algn="l"/>
            <a:r>
              <a:rPr sz="900" b="0">
                <a:solidFill>
                  <a:srgbClr val="53565A"/>
                </a:solidFill>
                <a:latin typeface="Helvetica"/>
              </a:rPr>
              <a:t>Extrait : AUDIT ADENKA\SERVICE GRENIER DU POLICIER\FICHIER ALLER\GRENIER AOÛT 2026\BalanceAgeeDetaille AOUT 2026.xls</a:t>
            </a:r>
          </a:p>
        </p:txBody>
      </p:sp>
      <p:graphicFrame>
        <p:nvGraphicFramePr>
          <p:cNvPr id="32" name="Table 31"/>
          <p:cNvGraphicFramePr>
            <a:graphicFrameLocks noGrp="1"/>
          </p:cNvGraphicFramePr>
          <p:nvPr/>
        </p:nvGraphicFramePr>
        <p:xfrm>
          <a:off x="503999" y="1548000"/>
          <a:ext cx="8495998" cy="1050045"/>
        </p:xfrm>
        <a:graphic>
          <a:graphicData uri="http://schemas.openxmlformats.org/drawingml/2006/table">
            <a:tbl>
              <a:tblPr firstRow="0" bandRow="0">
                <a:tableStyleId>{5940675A-B579-460E-94D1-54222C63F5DA}</a:tableStyleId>
              </a:tblPr>
              <a:tblGrid>
                <a:gridCol w="1224000"/>
                <a:gridCol w="1440000"/>
                <a:gridCol w="2160000"/>
                <a:gridCol w="2015999"/>
                <a:gridCol w="1655999"/>
              </a:tblGrid>
              <a:tr h="210009">
                <a:tc>
                  <a:txBody>
                    <a:bodyPr/>
                    <a:lstStyle/>
                    <a:p>
                      <a:pPr marL="0" indent="0" lvl="0">
                        <a:buNone/>
                      </a:pPr>
                      <a:r>
                        <a:rPr sz="1000" b="1">
                          <a:solidFill>
                            <a:srgbClr val="FFFFFF"/>
                          </a:solidFill>
                          <a:latin typeface="Helvetica"/>
                        </a:rPr>
                        <a:t>Mécano</a:t>
                      </a:r>
                    </a:p>
                  </a:txBody>
                  <a:tcPr marL="43200" marR="43200" marT="14400" marB="14400" anchor="ctr">
                    <a:solidFill>
                      <a:srgbClr val="060606"/>
                    </a:solidFill>
                  </a:tcPr>
                </a:tc>
                <a:tc>
                  <a:txBody>
                    <a:bodyPr/>
                    <a:lstStyle/>
                    <a:p>
                      <a:pPr marL="0" indent="0" lvl="0">
                        <a:buNone/>
                      </a:pPr>
                      <a:r>
                        <a:rPr sz="1000" b="1">
                          <a:solidFill>
                            <a:srgbClr val="FFFFFF"/>
                          </a:solidFill>
                          <a:latin typeface="Helvetica"/>
                        </a:rPr>
                        <a:t>Nom</a:t>
                      </a:r>
                    </a:p>
                  </a:txBody>
                  <a:tcPr marL="43200" marR="43200" marT="14400" marB="14400" anchor="ctr">
                    <a:solidFill>
                      <a:srgbClr val="060606"/>
                    </a:solidFill>
                  </a:tcPr>
                </a:tc>
                <a:tc>
                  <a:txBody>
                    <a:bodyPr/>
                    <a:lstStyle/>
                    <a:p>
                      <a:pPr marL="0" indent="0" lvl="0">
                        <a:buNone/>
                      </a:pPr>
                      <a:r>
                        <a:rPr sz="1000" b="1">
                          <a:solidFill>
                            <a:srgbClr val="FFFFFF"/>
                          </a:solidFill>
                          <a:latin typeface="Helvetica"/>
                        </a:rPr>
                        <a:t>Montant débloqué</a:t>
                      </a:r>
                    </a:p>
                  </a:txBody>
                  <a:tcPr marL="43200" marR="43200" marT="14400" marB="14400" anchor="ctr">
                    <a:solidFill>
                      <a:srgbClr val="060606"/>
                    </a:solidFill>
                  </a:tcPr>
                </a:tc>
                <a:tc>
                  <a:txBody>
                    <a:bodyPr/>
                    <a:lstStyle/>
                    <a:p>
                      <a:pPr marL="0" indent="0" lvl="0">
                        <a:buNone/>
                      </a:pPr>
                      <a:r>
                        <a:rPr sz="1000" b="1">
                          <a:solidFill>
                            <a:srgbClr val="FFFFFF"/>
                          </a:solidFill>
                          <a:latin typeface="Helvetica"/>
                        </a:rPr>
                        <a:t>Encours</a:t>
                      </a:r>
                    </a:p>
                  </a:txBody>
                  <a:tcPr marL="43200" marR="43200" marT="14400" marB="14400" anchor="ctr">
                    <a:solidFill>
                      <a:srgbClr val="060606"/>
                    </a:solidFill>
                  </a:tcPr>
                </a:tc>
                <a:tc>
                  <a:txBody>
                    <a:bodyPr/>
                    <a:lstStyle/>
                    <a:p>
                      <a:pPr marL="0" indent="0" lvl="0">
                        <a:buNone/>
                      </a:pPr>
                      <a:r>
                        <a:rPr sz="1000" b="1">
                          <a:solidFill>
                            <a:srgbClr val="FFFFFF"/>
                          </a:solidFill>
                          <a:latin typeface="Helvetica"/>
                        </a:rPr>
                        <a:t>Retard (jours)</a:t>
                      </a:r>
                    </a:p>
                  </a:txBody>
                  <a:tcPr marL="43200" marR="43200" marT="14400" marB="14400" anchor="ctr">
                    <a:solidFill>
                      <a:srgbClr val="060606"/>
                    </a:solidFill>
                  </a:tcPr>
                </a:tc>
              </a:tr>
              <a:tr h="210009">
                <a:tc>
                  <a:txBody>
                    <a:bodyPr/>
                    <a:lstStyle/>
                    <a:p>
                      <a:pPr marL="0" indent="0" lvl="0">
                        <a:buNone/>
                      </a:pPr>
                      <a:r>
                        <a:rPr sz="1000" b="1">
                          <a:solidFill>
                            <a:srgbClr val="060606"/>
                          </a:solidFill>
                          <a:latin typeface="Helvetica"/>
                        </a:rPr>
                        <a:t>142</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C. M.</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500 000 FCFA</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90 536 FCFA</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1308</a:t>
                      </a:r>
                    </a:p>
                  </a:txBody>
                  <a:tcPr marL="43200" marR="43200" marT="14400" marB="14400" anchor="ctr">
                    <a:solidFill>
                      <a:srgbClr val="FFFFFF"/>
                    </a:solidFill>
                  </a:tcPr>
                </a:tc>
              </a:tr>
              <a:tr h="210009">
                <a:tc>
                  <a:txBody>
                    <a:bodyPr/>
                    <a:lstStyle/>
                    <a:p>
                      <a:pPr marL="0" indent="0" lvl="0">
                        <a:buNone/>
                      </a:pPr>
                      <a:r>
                        <a:rPr sz="1000" b="1">
                          <a:solidFill>
                            <a:srgbClr val="060606"/>
                          </a:solidFill>
                          <a:latin typeface="Helvetica"/>
                        </a:rPr>
                        <a:t>87</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B. K. M.</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400 000 FCFA</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83 743 FCFA</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1279</a:t>
                      </a:r>
                    </a:p>
                  </a:txBody>
                  <a:tcPr marL="43200" marR="43200" marT="14400" marB="14400" anchor="ctr">
                    <a:solidFill>
                      <a:srgbClr val="F2F2F2"/>
                    </a:solidFill>
                  </a:tcPr>
                </a:tc>
              </a:tr>
              <a:tr h="210009">
                <a:tc>
                  <a:txBody>
                    <a:bodyPr/>
                    <a:lstStyle/>
                    <a:p>
                      <a:pPr marL="0" indent="0" lvl="0">
                        <a:buNone/>
                      </a:pPr>
                      <a:r>
                        <a:rPr sz="1000" b="1">
                          <a:solidFill>
                            <a:srgbClr val="060606"/>
                          </a:solidFill>
                          <a:latin typeface="Helvetica"/>
                        </a:rPr>
                        <a:t>166</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M. R.</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800 000 FCFA</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60 468 FCFA</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1189</a:t>
                      </a:r>
                    </a:p>
                  </a:txBody>
                  <a:tcPr marL="43200" marR="43200" marT="14400" marB="14400" anchor="ctr">
                    <a:solidFill>
                      <a:srgbClr val="FFFFFF"/>
                    </a:solidFill>
                  </a:tcPr>
                </a:tc>
              </a:tr>
              <a:tr h="210009">
                <a:tc>
                  <a:txBody>
                    <a:bodyPr/>
                    <a:lstStyle/>
                    <a:p>
                      <a:pPr marL="0" indent="0" lvl="0">
                        <a:buNone/>
                      </a:pPr>
                      <a:r>
                        <a:rPr sz="1000" b="1">
                          <a:solidFill>
                            <a:srgbClr val="060606"/>
                          </a:solidFill>
                          <a:latin typeface="Helvetica"/>
                        </a:rPr>
                        <a:t>418***9</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K. A. F.</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100 000 FCFA</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100 000 FCFA</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1105</a:t>
                      </a:r>
                    </a:p>
                  </a:txBody>
                  <a:tcPr marL="43200" marR="43200" marT="14400" marB="14400" anchor="ctr">
                    <a:solidFill>
                      <a:srgbClr val="F2F2F2"/>
                    </a:solidFill>
                  </a:tcPr>
                </a:tc>
              </a:tr>
            </a:tbl>
          </a:graphicData>
        </a:graphic>
      </p:graphicFrame>
      <p:sp>
        <p:nvSpPr>
          <p:cNvPr id="33" name="Rounded Rectangle 32"/>
          <p:cNvSpPr/>
          <p:nvPr/>
        </p:nvSpPr>
        <p:spPr>
          <a:xfrm>
            <a:off x="485999" y="1747209"/>
            <a:ext cx="1260000" cy="231609"/>
          </a:xfrm>
          <a:prstGeom prst="roundRect">
            <a:avLst/>
          </a:prstGeom>
          <a:noFill/>
          <a:ln w="28575">
            <a:solidFill>
              <a:srgbClr val="C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1548000" y="1596009"/>
            <a:ext cx="270000" cy="2700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100" b="1">
                <a:solidFill>
                  <a:srgbClr val="FFFFFF"/>
                </a:solidFill>
                <a:latin typeface="Helvetica"/>
              </a:rPr>
              <a:t>1</a:t>
            </a:r>
          </a:p>
        </p:txBody>
      </p:sp>
      <p:sp>
        <p:nvSpPr>
          <p:cNvPr id="35" name="Rounded Rectangle 34"/>
          <p:cNvSpPr/>
          <p:nvPr/>
        </p:nvSpPr>
        <p:spPr>
          <a:xfrm>
            <a:off x="7325999" y="1747209"/>
            <a:ext cx="1691999" cy="231609"/>
          </a:xfrm>
          <a:prstGeom prst="roundRect">
            <a:avLst/>
          </a:prstGeom>
          <a:noFill/>
          <a:ln w="28575">
            <a:solidFill>
              <a:srgbClr val="C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Oval 35"/>
          <p:cNvSpPr/>
          <p:nvPr/>
        </p:nvSpPr>
        <p:spPr>
          <a:xfrm>
            <a:off x="8820000" y="1596009"/>
            <a:ext cx="270000" cy="2700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100" b="1">
                <a:solidFill>
                  <a:srgbClr val="FFFFFF"/>
                </a:solidFill>
                <a:latin typeface="Helvetica"/>
              </a:rPr>
              <a:t>2</a:t>
            </a:r>
          </a:p>
        </p:txBody>
      </p:sp>
      <p:sp>
        <p:nvSpPr>
          <p:cNvPr id="37" name="Rounded Rectangle 36"/>
          <p:cNvSpPr/>
          <p:nvPr/>
        </p:nvSpPr>
        <p:spPr>
          <a:xfrm>
            <a:off x="485999" y="1957219"/>
            <a:ext cx="1260000" cy="231609"/>
          </a:xfrm>
          <a:prstGeom prst="roundRect">
            <a:avLst/>
          </a:prstGeom>
          <a:noFill/>
          <a:ln w="28575">
            <a:solidFill>
              <a:srgbClr val="C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Oval 37"/>
          <p:cNvSpPr/>
          <p:nvPr/>
        </p:nvSpPr>
        <p:spPr>
          <a:xfrm>
            <a:off x="1548000" y="1806019"/>
            <a:ext cx="270000" cy="2700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100" b="1">
                <a:solidFill>
                  <a:srgbClr val="FFFFFF"/>
                </a:solidFill>
                <a:latin typeface="Helvetica"/>
              </a:rPr>
              <a:t>3</a:t>
            </a:r>
          </a:p>
        </p:txBody>
      </p:sp>
      <p:sp>
        <p:nvSpPr>
          <p:cNvPr id="39" name="Oval 38"/>
          <p:cNvSpPr/>
          <p:nvPr/>
        </p:nvSpPr>
        <p:spPr>
          <a:xfrm>
            <a:off x="9216000" y="1548000"/>
            <a:ext cx="270000" cy="2700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100" b="1">
                <a:solidFill>
                  <a:srgbClr val="FFFFFF"/>
                </a:solidFill>
                <a:latin typeface="Helvetica"/>
              </a:rPr>
              <a:t>1</a:t>
            </a:r>
          </a:p>
        </p:txBody>
      </p:sp>
      <p:sp>
        <p:nvSpPr>
          <p:cNvPr id="40" name="TextBox 39"/>
          <p:cNvSpPr txBox="1"/>
          <p:nvPr/>
        </p:nvSpPr>
        <p:spPr>
          <a:xfrm>
            <a:off x="9576000" y="1530000"/>
            <a:ext cx="2160000" cy="670023"/>
          </a:xfrm>
          <a:prstGeom prst="rect">
            <a:avLst/>
          </a:prstGeom>
          <a:noFill/>
        </p:spPr>
        <p:txBody>
          <a:bodyPr wrap="square" anchor="t" lIns="54000" rIns="54000"/>
          <a:lstStyle/>
          <a:p>
            <a:pPr algn="l"/>
            <a:r>
              <a:rPr sz="1200" b="0">
                <a:solidFill>
                  <a:srgbClr val="060606"/>
                </a:solidFill>
                <a:latin typeface="Helvetica"/>
              </a:rPr>
              <a:t>Ces prêts ont un mécano de 2 ou 3 chiffres, ce qui révèle une saisie anormale.</a:t>
            </a:r>
          </a:p>
        </p:txBody>
      </p:sp>
      <p:sp>
        <p:nvSpPr>
          <p:cNvPr id="41" name="Oval 40"/>
          <p:cNvSpPr/>
          <p:nvPr/>
        </p:nvSpPr>
        <p:spPr>
          <a:xfrm>
            <a:off x="9216000" y="2308023"/>
            <a:ext cx="270000" cy="2700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100" b="1">
                <a:solidFill>
                  <a:srgbClr val="FFFFFF"/>
                </a:solidFill>
                <a:latin typeface="Helvetica"/>
              </a:rPr>
              <a:t>2</a:t>
            </a:r>
          </a:p>
        </p:txBody>
      </p:sp>
      <p:sp>
        <p:nvSpPr>
          <p:cNvPr id="42" name="TextBox 41"/>
          <p:cNvSpPr txBox="1"/>
          <p:nvPr/>
        </p:nvSpPr>
        <p:spPr>
          <a:xfrm>
            <a:off x="9576000" y="2290023"/>
            <a:ext cx="2160000" cy="670023"/>
          </a:xfrm>
          <a:prstGeom prst="rect">
            <a:avLst/>
          </a:prstGeom>
          <a:noFill/>
        </p:spPr>
        <p:txBody>
          <a:bodyPr wrap="square" anchor="t" lIns="54000" rIns="54000"/>
          <a:lstStyle/>
          <a:p>
            <a:pPr algn="l"/>
            <a:r>
              <a:rPr sz="1200" b="0">
                <a:solidFill>
                  <a:srgbClr val="060606"/>
                </a:solidFill>
                <a:latin typeface="Helvetica"/>
              </a:rPr>
              <a:t>Le plus ancien de ces prêts a plus de trois ans de retard.</a:t>
            </a:r>
          </a:p>
        </p:txBody>
      </p:sp>
      <p:sp>
        <p:nvSpPr>
          <p:cNvPr id="43" name="Oval 42"/>
          <p:cNvSpPr/>
          <p:nvPr/>
        </p:nvSpPr>
        <p:spPr>
          <a:xfrm>
            <a:off x="9216000" y="3068047"/>
            <a:ext cx="270000" cy="2700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100" b="1">
                <a:solidFill>
                  <a:srgbClr val="FFFFFF"/>
                </a:solidFill>
                <a:latin typeface="Helvetica"/>
              </a:rPr>
              <a:t>3</a:t>
            </a:r>
          </a:p>
        </p:txBody>
      </p:sp>
      <p:sp>
        <p:nvSpPr>
          <p:cNvPr id="44" name="TextBox 43"/>
          <p:cNvSpPr txBox="1"/>
          <p:nvPr/>
        </p:nvSpPr>
        <p:spPr>
          <a:xfrm>
            <a:off x="9576000" y="3050047"/>
            <a:ext cx="2160000" cy="670023"/>
          </a:xfrm>
          <a:prstGeom prst="rect">
            <a:avLst/>
          </a:prstGeom>
          <a:noFill/>
        </p:spPr>
        <p:txBody>
          <a:bodyPr wrap="square" anchor="t" lIns="54000" rIns="54000"/>
          <a:lstStyle/>
          <a:p>
            <a:pPr algn="l"/>
            <a:r>
              <a:rPr sz="1200" b="0">
                <a:solidFill>
                  <a:srgbClr val="060606"/>
                </a:solidFill>
                <a:latin typeface="Helvetica"/>
              </a:rPr>
              <a:t>Ces prêts ont encore un encours inscrit, qui doit être provisionné.</a:t>
            </a:r>
          </a:p>
        </p:txBody>
      </p:sp>
      <p:sp>
        <p:nvSpPr>
          <p:cNvPr id="45" name="TextBox 44"/>
          <p:cNvSpPr txBox="1"/>
          <p:nvPr/>
        </p:nvSpPr>
        <p:spPr>
          <a:xfrm>
            <a:off x="9216000" y="3900071"/>
            <a:ext cx="2520000" cy="1967928"/>
          </a:xfrm>
          <a:prstGeom prst="rect">
            <a:avLst/>
          </a:prstGeom>
          <a:noFill/>
        </p:spPr>
        <p:txBody>
          <a:bodyPr wrap="square" lIns="54000" rIns="54000"/>
          <a:lstStyle/>
          <a:p>
            <a:pPr algn="just">
              <a:spcAft>
                <a:spcPts val="600"/>
              </a:spcAft>
            </a:pPr>
            <a:r>
              <a:rPr sz="1100" b="1">
                <a:solidFill>
                  <a:srgbClr val="060606"/>
                </a:solidFill>
                <a:latin typeface="Helvetica"/>
              </a:rPr>
              <a:t>Les prêts les plus anciens ne peuvent plus être précomptés, car leur mécano est faux.</a:t>
            </a:r>
            <a:r>
              <a:rPr sz="1100" b="0">
                <a:solidFill>
                  <a:srgbClr val="060606"/>
                </a:solidFill>
                <a:latin typeface="Helvetica"/>
              </a:rPr>
              <a:t> Sans mécano valide, la Solde ne peut pas retenir l'échéance sur le salaire.</a:t>
            </a:r>
          </a:p>
          <a:p>
            <a:pPr algn="just">
              <a:spcAft>
                <a:spcPts val="600"/>
              </a:spcAft>
            </a:pPr>
            <a:r>
              <a:rPr sz="1100" b="1">
                <a:solidFill>
                  <a:srgbClr val="060606"/>
                </a:solidFill>
                <a:latin typeface="Helvetica"/>
              </a:rPr>
              <a:t>Implication pour le FPPN.</a:t>
            </a:r>
            <a:r>
              <a:rPr sz="1100" b="0">
                <a:solidFill>
                  <a:srgbClr val="060606"/>
                </a:solidFill>
                <a:latin typeface="Helvetica"/>
              </a:rPr>
              <a:t> Le Grenier doit corriger ces identifiants et décider, pour chaque prêt, d'une provision ou d'un passage en perte.</a:t>
            </a:r>
          </a:p>
        </p:txBody>
      </p:sp>
      <p:sp>
        <p:nvSpPr>
          <p:cNvPr id="46" name="TextBox 45"/>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a:t>
            </a:r>
          </a:p>
        </p:txBody>
      </p:sp>
    </p:spTree>
    <p:extLst>
      <p:ext uri="{BB962C8B-B14F-4D97-AF65-F5344CB8AC3E}">
        <p14:creationId xmlns:p14="http://schemas.microsoft.com/office/powerpoint/2010/main" val="1579347397"/>
      </p:ext>
    </p:extLst>
  </p:cSld>
  <p:clrMapOvr>
    <a:masterClrMapping/>
  </p:clrMapOvr>
  <p:transition>
    <p:fade/>
  </p:transition>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Échéances et précomptes</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Les précomptes ne couvrent que 76 à 85 % des échéances des prêts en cours</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De janvier à août 2026, l'écart mensuel va de 25 226 684 FCFA à 44 655 924 FCFA</a:t>
            </a:r>
          </a:p>
        </p:txBody>
      </p:sp>
      <p:sp>
        <p:nvSpPr>
          <p:cNvPr id="30" name="TextBox 29"/>
          <p:cNvSpPr txBox="1"/>
          <p:nvPr/>
        </p:nvSpPr>
        <p:spPr>
          <a:xfrm>
            <a:off x="503999" y="1386000"/>
            <a:ext cx="6552000" cy="251999"/>
          </a:xfrm>
          <a:prstGeom prst="rect">
            <a:avLst/>
          </a:prstGeom>
          <a:noFill/>
        </p:spPr>
        <p:txBody>
          <a:bodyPr wrap="square">
            <a:spAutoFit/>
          </a:bodyPr>
          <a:lstStyle/>
          <a:p>
            <a:pPr algn="ctr">
              <a:spcAft>
                <a:spcPts val="0"/>
              </a:spcAft>
            </a:pPr>
            <a:r>
              <a:rPr sz="1200" b="0">
                <a:solidFill>
                  <a:srgbClr val="EFAC62"/>
                </a:solidFill>
                <a:latin typeface="Helvetica"/>
              </a:rPr>
              <a:t>Figure 24 : Échéances des prêts en cours et précomptes 9X4, 2026</a:t>
            </a:r>
          </a:p>
        </p:txBody>
      </p:sp>
      <p:sp>
        <p:nvSpPr>
          <p:cNvPr id="31" name="TextBox 30"/>
          <p:cNvSpPr txBox="1"/>
          <p:nvPr/>
        </p:nvSpPr>
        <p:spPr>
          <a:xfrm>
            <a:off x="503999" y="1602000"/>
            <a:ext cx="6552000" cy="162000"/>
          </a:xfrm>
          <a:prstGeom prst="rect">
            <a:avLst/>
          </a:prstGeom>
          <a:noFill/>
        </p:spPr>
        <p:txBody>
          <a:bodyPr wrap="square">
            <a:spAutoFit/>
          </a:bodyPr>
          <a:lstStyle/>
          <a:p>
            <a:pPr algn="l">
              <a:spcAft>
                <a:spcPts val="0"/>
              </a:spcAft>
            </a:pPr>
            <a:r>
              <a:rPr sz="900" b="0">
                <a:solidFill>
                  <a:srgbClr val="060606"/>
                </a:solidFill>
                <a:latin typeface="Helvetica"/>
              </a:rPr>
              <a:t>En millions de FCFA</a:t>
            </a:r>
          </a:p>
        </p:txBody>
      </p:sp>
      <p:graphicFrame>
        <p:nvGraphicFramePr>
          <p:cNvPr id="32" name="Chart 31"/>
          <p:cNvGraphicFramePr>
            <a:graphicFrameLocks noGrp="1"/>
          </p:cNvGraphicFramePr>
          <p:nvPr/>
        </p:nvGraphicFramePr>
        <p:xfrm>
          <a:off x="503999" y="1782000"/>
          <a:ext cx="6552000" cy="4086000"/>
        </p:xfrm>
        <a:graphic>
          <a:graphicData uri="http://schemas.openxmlformats.org/drawingml/2006/chart">
            <c:chart xmlns:c="http://schemas.openxmlformats.org/drawingml/2006/chart" r:id="rId6"/>
          </a:graphicData>
        </a:graphic>
      </p:graphicFrame>
      <p:sp>
        <p:nvSpPr>
          <p:cNvPr id="33"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exports du logiciel de prêts du Grenier du Policier (balances âgées, production) reçus le 15/10/2026. Traitements Adenka. Fichiers de précomptes de la Solde, de la CGRAE et du FPPN reçus le 15/10/2026. Traitements Adenka</a:t>
            </a:r>
          </a:p>
        </p:txBody>
      </p:sp>
      <p:sp>
        <p:nvSpPr>
          <p:cNvPr id="34" name="TextBox 33"/>
          <p:cNvSpPr txBox="1"/>
          <p:nvPr/>
        </p:nvSpPr>
        <p:spPr>
          <a:xfrm>
            <a:off x="7272000" y="1440000"/>
            <a:ext cx="4464000" cy="4428000"/>
          </a:xfrm>
          <a:prstGeom prst="rect">
            <a:avLst/>
          </a:prstGeom>
          <a:noFill/>
        </p:spPr>
        <p:txBody>
          <a:bodyPr wrap="square" lIns="54000" rIns="54000"/>
          <a:lstStyle/>
          <a:p>
            <a:pPr algn="just">
              <a:spcAft>
                <a:spcPts val="600"/>
              </a:spcAft>
            </a:pPr>
            <a:r>
              <a:rPr sz="1400" b="1">
                <a:solidFill>
                  <a:srgbClr val="060606"/>
                </a:solidFill>
                <a:latin typeface="Helvetica"/>
              </a:rPr>
              <a:t>La part précomptée va de 75,74 % à 85,38 % selon le mois.</a:t>
            </a:r>
          </a:p>
          <a:p>
            <a:pPr algn="just">
              <a:spcAft>
                <a:spcPts val="600"/>
              </a:spcAft>
            </a:pPr>
            <a:r>
              <a:rPr sz="1400" b="1">
                <a:solidFill>
                  <a:srgbClr val="060606"/>
                </a:solidFill>
                <a:latin typeface="Helvetica"/>
              </a:rPr>
              <a:t>L'export du logiciel perd la lettre-clé du mécano</a:t>
            </a:r>
            <a:r>
              <a:rPr sz="1400" b="0">
                <a:solidFill>
                  <a:srgbClr val="060606"/>
                </a:solidFill>
                <a:latin typeface="Helvetica"/>
              </a:rPr>
              <a:t> (321100C devient 321100), ce qui complique le rapprochement prêt par prêt.</a:t>
            </a:r>
          </a:p>
          <a:p>
            <a:pPr algn="just">
              <a:spcAft>
                <a:spcPts val="600"/>
              </a:spcAft>
            </a:pPr>
            <a:r>
              <a:rPr sz="1400" b="1">
                <a:solidFill>
                  <a:srgbClr val="060606"/>
                </a:solidFill>
                <a:latin typeface="Helvetica"/>
              </a:rPr>
              <a:t>Un rapprochement avec les encaissements bancaires du Grenier est nécessaire</a:t>
            </a:r>
            <a:r>
              <a:rPr sz="1400" b="0">
                <a:solidFill>
                  <a:srgbClr val="060606"/>
                </a:solidFill>
                <a:latin typeface="Helvetica"/>
              </a:rPr>
              <a:t> pour savoir si l'écart est payé autrement.</a:t>
            </a:r>
          </a:p>
          <a:p>
            <a:pPr algn="just">
              <a:spcAft>
                <a:spcPts val="600"/>
              </a:spcAft>
            </a:pPr>
            <a:r>
              <a:rPr sz="1400" b="1">
                <a:solidFill>
                  <a:srgbClr val="060606"/>
                </a:solidFill>
                <a:latin typeface="Helvetica"/>
              </a:rPr>
              <a:t>Implication pour le FPPN.</a:t>
            </a:r>
            <a:r>
              <a:rPr sz="1400" b="0">
                <a:solidFill>
                  <a:srgbClr val="060606"/>
                </a:solidFill>
                <a:latin typeface="Helvetica"/>
              </a:rPr>
              <a:t> Si l'écart n'est pas encaissé par un autre canal, il alimente chaque mois de nouveaux retards : c'est la question à poser en priorité au service du Grenier.</a:t>
            </a:r>
          </a:p>
        </p:txBody>
      </p:sp>
      <p:sp>
        <p:nvSpPr>
          <p:cNvPr id="35" name="TextBox 34"/>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CGRAE : Caisse générale de retraite des agents de l'État | 9X4 : poste Grenier</a:t>
            </a:r>
          </a:p>
        </p:txBody>
      </p:sp>
    </p:spTree>
    <p:extLst>
      <p:ext uri="{BB962C8B-B14F-4D97-AF65-F5344CB8AC3E}">
        <p14:creationId xmlns:p14="http://schemas.microsoft.com/office/powerpoint/2010/main" val="3923117779"/>
      </p:ext>
    </p:extLst>
  </p:cSld>
  <p:clrMapOvr>
    <a:masterClrMapping/>
  </p:clrMapOvr>
  <p:transition>
    <p:fade/>
  </p:transition>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Sensibilité : pertes sur prêts</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Même une perte totale sur les prêts très en retard reste limitée en montant</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Encours en retard de plus de 180 jours : 14 826 812 FCFA. De plus de 90 jours : 17 845 260 FCFA</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exports du logiciel de prêts du Grenier du Policier (balances âgées, production) reçus le 15/10/2026. Traitements Adenka</a:t>
            </a:r>
          </a:p>
        </p:txBody>
      </p:sp>
      <p:sp>
        <p:nvSpPr>
          <p:cNvPr id="31" name="TextBox 30"/>
          <p:cNvSpPr txBox="1"/>
          <p:nvPr/>
        </p:nvSpPr>
        <p:spPr>
          <a:xfrm>
            <a:off x="503999" y="1386000"/>
            <a:ext cx="6983999" cy="216000"/>
          </a:xfrm>
          <a:prstGeom prst="rect">
            <a:avLst/>
          </a:prstGeom>
          <a:noFill/>
        </p:spPr>
        <p:txBody>
          <a:bodyPr wrap="square" anchor="t" lIns="54000" rIns="54000"/>
          <a:lstStyle/>
          <a:p>
            <a:pPr algn="ctr"/>
            <a:r>
              <a:rPr sz="1200" b="0">
                <a:solidFill>
                  <a:srgbClr val="EFAC62"/>
                </a:solidFill>
                <a:latin typeface="Helvetica"/>
              </a:rPr>
              <a:t>Tableau 11 : Provision selon le taux de perte</a:t>
            </a:r>
          </a:p>
        </p:txBody>
      </p:sp>
      <p:graphicFrame>
        <p:nvGraphicFramePr>
          <p:cNvPr id="32" name="Table 31"/>
          <p:cNvGraphicFramePr>
            <a:graphicFrameLocks noGrp="1"/>
          </p:cNvGraphicFramePr>
          <p:nvPr/>
        </p:nvGraphicFramePr>
        <p:xfrm>
          <a:off x="503999" y="1655999"/>
          <a:ext cx="6984000" cy="901000"/>
        </p:xfrm>
        <a:graphic>
          <a:graphicData uri="http://schemas.openxmlformats.org/drawingml/2006/table">
            <a:tbl>
              <a:tblPr firstRow="0" bandRow="0">
                <a:tableStyleId>{5940675A-B579-460E-94D1-54222C63F5DA}</a:tableStyleId>
              </a:tblPr>
              <a:tblGrid>
                <a:gridCol w="1800000"/>
                <a:gridCol w="2592000"/>
                <a:gridCol w="2592000"/>
              </a:tblGrid>
              <a:tr h="225250">
                <a:tc>
                  <a:txBody>
                    <a:bodyPr/>
                    <a:lstStyle/>
                    <a:p>
                      <a:pPr marL="0" indent="0" lvl="0">
                        <a:buNone/>
                      </a:pPr>
                      <a:r>
                        <a:rPr sz="1100" b="1">
                          <a:solidFill>
                            <a:srgbClr val="FFFFFF"/>
                          </a:solidFill>
                          <a:latin typeface="Helvetica"/>
                        </a:rPr>
                        <a:t>Taux de perte</a:t>
                      </a:r>
                    </a:p>
                  </a:txBody>
                  <a:tcPr marL="43200" marR="43200" marT="14400" marB="14400" anchor="ctr">
                    <a:solidFill>
                      <a:srgbClr val="060606"/>
                    </a:solidFill>
                  </a:tcPr>
                </a:tc>
                <a:tc>
                  <a:txBody>
                    <a:bodyPr/>
                    <a:lstStyle/>
                    <a:p>
                      <a:pPr marL="0" indent="0" lvl="0">
                        <a:buNone/>
                      </a:pPr>
                      <a:r>
                        <a:rPr sz="1100" b="1">
                          <a:solidFill>
                            <a:srgbClr val="FFFFFF"/>
                          </a:solidFill>
                          <a:latin typeface="Helvetica"/>
                        </a:rPr>
                        <a:t>Sur l'encours &gt; 180 jours</a:t>
                      </a:r>
                    </a:p>
                  </a:txBody>
                  <a:tcPr marL="43200" marR="43200" marT="14400" marB="14400" anchor="ctr">
                    <a:solidFill>
                      <a:srgbClr val="060606"/>
                    </a:solidFill>
                  </a:tcPr>
                </a:tc>
                <a:tc>
                  <a:txBody>
                    <a:bodyPr/>
                    <a:lstStyle/>
                    <a:p>
                      <a:pPr marL="0" indent="0" lvl="0">
                        <a:buNone/>
                      </a:pPr>
                      <a:r>
                        <a:rPr sz="1100" b="1">
                          <a:solidFill>
                            <a:srgbClr val="FFFFFF"/>
                          </a:solidFill>
                          <a:latin typeface="Helvetica"/>
                        </a:rPr>
                        <a:t>Sur l'encours &gt; 90 jours</a:t>
                      </a:r>
                    </a:p>
                  </a:txBody>
                  <a:tcPr marL="43200" marR="43200" marT="14400" marB="14400" anchor="ctr">
                    <a:solidFill>
                      <a:srgbClr val="060606"/>
                    </a:solidFill>
                  </a:tcPr>
                </a:tc>
              </a:tr>
              <a:tr h="225250">
                <a:tc>
                  <a:txBody>
                    <a:bodyPr/>
                    <a:lstStyle/>
                    <a:p>
                      <a:pPr marL="0" indent="0" lvl="0">
                        <a:buNone/>
                      </a:pPr>
                      <a:r>
                        <a:rPr sz="1100" b="1">
                          <a:solidFill>
                            <a:srgbClr val="060606"/>
                          </a:solidFill>
                          <a:latin typeface="Helvetica"/>
                        </a:rPr>
                        <a:t>25,00 %</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3 706 703 FCFA</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4 461 315 FCFA</a:t>
                      </a:r>
                    </a:p>
                  </a:txBody>
                  <a:tcPr marL="43200" marR="43200" marT="14400" marB="14400" anchor="ctr">
                    <a:solidFill>
                      <a:srgbClr val="FFFFFF"/>
                    </a:solidFill>
                  </a:tcPr>
                </a:tc>
              </a:tr>
              <a:tr h="225250">
                <a:tc>
                  <a:txBody>
                    <a:bodyPr/>
                    <a:lstStyle/>
                    <a:p>
                      <a:pPr marL="0" indent="0" lvl="0">
                        <a:buNone/>
                      </a:pPr>
                      <a:r>
                        <a:rPr sz="1100" b="1">
                          <a:solidFill>
                            <a:srgbClr val="060606"/>
                          </a:solidFill>
                          <a:latin typeface="Helvetica"/>
                        </a:rPr>
                        <a:t>50,00 %</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7 413 406 FCFA</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8 922 630 FCFA</a:t>
                      </a:r>
                    </a:p>
                  </a:txBody>
                  <a:tcPr marL="43200" marR="43200" marT="14400" marB="14400" anchor="ctr">
                    <a:solidFill>
                      <a:srgbClr val="F2F2F2"/>
                    </a:solidFill>
                  </a:tcPr>
                </a:tc>
              </a:tr>
              <a:tr h="225250">
                <a:tc>
                  <a:txBody>
                    <a:bodyPr/>
                    <a:lstStyle/>
                    <a:p>
                      <a:pPr marL="0" indent="0" lvl="0">
                        <a:buNone/>
                      </a:pPr>
                      <a:r>
                        <a:rPr sz="1100" b="1">
                          <a:solidFill>
                            <a:srgbClr val="060606"/>
                          </a:solidFill>
                          <a:latin typeface="Helvetica"/>
                        </a:rPr>
                        <a:t>100,00 %</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14 826 812 FCFA</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17 845 260 FCFA</a:t>
                      </a:r>
                    </a:p>
                  </a:txBody>
                  <a:tcPr marL="43200" marR="43200" marT="14400" marB="14400" anchor="ctr">
                    <a:solidFill>
                      <a:srgbClr val="FFFFFF"/>
                    </a:solidFill>
                  </a:tcPr>
                </a:tc>
              </a:tr>
            </a:tbl>
          </a:graphicData>
        </a:graphic>
      </p:graphicFrame>
      <p:sp>
        <p:nvSpPr>
          <p:cNvPr id="33" name="TextBox 32"/>
          <p:cNvSpPr txBox="1"/>
          <p:nvPr/>
        </p:nvSpPr>
        <p:spPr>
          <a:xfrm>
            <a:off x="7703999" y="1386000"/>
            <a:ext cx="4032000" cy="4482000"/>
          </a:xfrm>
          <a:prstGeom prst="rect">
            <a:avLst/>
          </a:prstGeom>
          <a:noFill/>
        </p:spPr>
        <p:txBody>
          <a:bodyPr wrap="square" lIns="54000" rIns="54000"/>
          <a:lstStyle/>
          <a:p>
            <a:pPr algn="just">
              <a:spcAft>
                <a:spcPts val="600"/>
              </a:spcAft>
            </a:pPr>
            <a:r>
              <a:rPr sz="1400" b="1">
                <a:solidFill>
                  <a:srgbClr val="060606"/>
                </a:solidFill>
                <a:latin typeface="Helvetica"/>
              </a:rPr>
              <a:t>Une perte totale sur les prêts en retard de plus de 90 jours coûterait 17 845 260 FCFA.</a:t>
            </a:r>
            <a:r>
              <a:rPr sz="1400" b="0">
                <a:solidFill>
                  <a:srgbClr val="060606"/>
                </a:solidFill>
                <a:latin typeface="Helvetica"/>
              </a:rPr>
              <a:t> Ce montant reste faible au regard de l'encours.</a:t>
            </a:r>
          </a:p>
          <a:p>
            <a:pPr algn="just">
              <a:spcAft>
                <a:spcPts val="600"/>
              </a:spcAft>
            </a:pPr>
            <a:r>
              <a:rPr sz="1400" b="1">
                <a:solidFill>
                  <a:srgbClr val="060606"/>
                </a:solidFill>
                <a:latin typeface="Helvetica"/>
              </a:rPr>
              <a:t>Le risque du Grenier n'est donc pas la perte sur prêts.</a:t>
            </a:r>
            <a:r>
              <a:rPr sz="1400" b="0">
                <a:solidFill>
                  <a:srgbClr val="060606"/>
                </a:solidFill>
                <a:latin typeface="Helvetica"/>
              </a:rPr>
              <a:t> Il tient au volume de ressources du FPPN immobilisées dans les prêts.</a:t>
            </a:r>
          </a:p>
          <a:p>
            <a:pPr algn="just">
              <a:spcAft>
                <a:spcPts val="600"/>
              </a:spcAft>
            </a:pPr>
            <a:r>
              <a:rPr sz="1400" b="1">
                <a:solidFill>
                  <a:srgbClr val="060606"/>
                </a:solidFill>
                <a:latin typeface="Helvetica"/>
              </a:rPr>
              <a:t>Implication pour le FPPN.</a:t>
            </a:r>
            <a:r>
              <a:rPr sz="1400" b="0">
                <a:solidFill>
                  <a:srgbClr val="060606"/>
                </a:solidFill>
                <a:latin typeface="Helvetica"/>
              </a:rPr>
              <a:t> Une politique de provisionnement écrite (taux par tranche de retard) suffirait à couvrir ce risque, mais elle ne règle pas la question de la liquidité de l'épargne.</a:t>
            </a:r>
          </a:p>
        </p:txBody>
      </p:sp>
      <p:sp>
        <p:nvSpPr>
          <p:cNvPr id="34" name="TextBox 33"/>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a:t>
            </a:r>
          </a:p>
        </p:txBody>
      </p:sp>
    </p:spTree>
    <p:extLst>
      <p:ext uri="{BB962C8B-B14F-4D97-AF65-F5344CB8AC3E}">
        <p14:creationId xmlns:p14="http://schemas.microsoft.com/office/powerpoint/2010/main" val="2281372122"/>
      </p:ext>
    </p:extLst>
  </p:cSld>
  <p:clrMapOvr>
    <a:masterClrMapping/>
  </p:clrMapOvr>
  <p:transition>
    <p:fade/>
  </p:transition>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6" name="Image 25"/>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30" name="ZoneTexte 29">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9" name="Google Shape;7386;p39"/>
          <p:cNvSpPr/>
          <p:nvPr/>
        </p:nvSpPr>
        <p:spPr>
          <a:xfrm rot="10800000">
            <a:off x="1748072" y="1436295"/>
            <a:ext cx="3625790" cy="329031"/>
          </a:xfrm>
          <a:custGeom>
            <a:avLst/>
            <a:gdLst/>
            <a:ahLst/>
            <a:cxnLst/>
            <a:rect l="l" t="t" r="r" b="b"/>
            <a:pathLst>
              <a:path w="40007" h="30221" extrusionOk="0">
                <a:moveTo>
                  <a:pt x="19007" y="1"/>
                </a:moveTo>
                <a:cubicBezTo>
                  <a:pt x="17909" y="1"/>
                  <a:pt x="16810" y="17"/>
                  <a:pt x="15708" y="53"/>
                </a:cubicBezTo>
                <a:cubicBezTo>
                  <a:pt x="13270" y="131"/>
                  <a:pt x="10885" y="275"/>
                  <a:pt x="8512" y="548"/>
                </a:cubicBezTo>
                <a:cubicBezTo>
                  <a:pt x="6088" y="835"/>
                  <a:pt x="4524" y="1500"/>
                  <a:pt x="4041" y="2712"/>
                </a:cubicBezTo>
                <a:cubicBezTo>
                  <a:pt x="4015" y="2777"/>
                  <a:pt x="3976" y="2843"/>
                  <a:pt x="3937" y="2908"/>
                </a:cubicBezTo>
                <a:cubicBezTo>
                  <a:pt x="2777" y="4902"/>
                  <a:pt x="2282" y="6949"/>
                  <a:pt x="1734" y="8995"/>
                </a:cubicBezTo>
                <a:cubicBezTo>
                  <a:pt x="1160" y="11120"/>
                  <a:pt x="613" y="13232"/>
                  <a:pt x="391" y="15357"/>
                </a:cubicBezTo>
                <a:cubicBezTo>
                  <a:pt x="183" y="17325"/>
                  <a:pt x="0" y="19293"/>
                  <a:pt x="79" y="21092"/>
                </a:cubicBezTo>
                <a:cubicBezTo>
                  <a:pt x="52" y="23074"/>
                  <a:pt x="144" y="24899"/>
                  <a:pt x="365" y="26710"/>
                </a:cubicBezTo>
                <a:cubicBezTo>
                  <a:pt x="522" y="28079"/>
                  <a:pt x="1721" y="29096"/>
                  <a:pt x="4419" y="29656"/>
                </a:cubicBezTo>
                <a:cubicBezTo>
                  <a:pt x="6296" y="30048"/>
                  <a:pt x="8265" y="30178"/>
                  <a:pt x="10259" y="30204"/>
                </a:cubicBezTo>
                <a:cubicBezTo>
                  <a:pt x="11143" y="30216"/>
                  <a:pt x="12026" y="30220"/>
                  <a:pt x="12908" y="30220"/>
                </a:cubicBezTo>
                <a:cubicBezTo>
                  <a:pt x="15996" y="30220"/>
                  <a:pt x="19078" y="30165"/>
                  <a:pt x="22161" y="30165"/>
                </a:cubicBezTo>
                <a:cubicBezTo>
                  <a:pt x="24859" y="30165"/>
                  <a:pt x="27557" y="30204"/>
                  <a:pt x="30243" y="30204"/>
                </a:cubicBezTo>
                <a:cubicBezTo>
                  <a:pt x="31690" y="30191"/>
                  <a:pt x="33123" y="30113"/>
                  <a:pt x="34505" y="29852"/>
                </a:cubicBezTo>
                <a:cubicBezTo>
                  <a:pt x="35470" y="29683"/>
                  <a:pt x="36330" y="29435"/>
                  <a:pt x="36917" y="29005"/>
                </a:cubicBezTo>
                <a:cubicBezTo>
                  <a:pt x="37881" y="28288"/>
                  <a:pt x="38677" y="27519"/>
                  <a:pt x="39120" y="26684"/>
                </a:cubicBezTo>
                <a:cubicBezTo>
                  <a:pt x="39732" y="25485"/>
                  <a:pt x="39954" y="24260"/>
                  <a:pt x="39954" y="23021"/>
                </a:cubicBezTo>
                <a:cubicBezTo>
                  <a:pt x="39954" y="19372"/>
                  <a:pt x="40006" y="15709"/>
                  <a:pt x="39563" y="12059"/>
                </a:cubicBezTo>
                <a:cubicBezTo>
                  <a:pt x="39367" y="10403"/>
                  <a:pt x="39485" y="8748"/>
                  <a:pt x="39237" y="7105"/>
                </a:cubicBezTo>
                <a:cubicBezTo>
                  <a:pt x="39068" y="6023"/>
                  <a:pt x="38794" y="4941"/>
                  <a:pt x="37920" y="3938"/>
                </a:cubicBezTo>
                <a:cubicBezTo>
                  <a:pt x="37282" y="3208"/>
                  <a:pt x="36773" y="2438"/>
                  <a:pt x="35665" y="1826"/>
                </a:cubicBezTo>
                <a:cubicBezTo>
                  <a:pt x="34192" y="1031"/>
                  <a:pt x="32237" y="666"/>
                  <a:pt x="30138" y="496"/>
                </a:cubicBezTo>
                <a:cubicBezTo>
                  <a:pt x="26451" y="194"/>
                  <a:pt x="22741" y="1"/>
                  <a:pt x="19007" y="1"/>
                </a:cubicBezTo>
                <a:close/>
              </a:path>
            </a:pathLst>
          </a:custGeom>
          <a:solidFill>
            <a:srgbClr val="112A40"/>
          </a:solidFill>
          <a:ln>
            <a:noFill/>
          </a:ln>
          <a:effectLst>
            <a:outerShdw blurRad="57150" dist="9525" algn="bl" rotWithShape="0">
              <a:srgbClr val="000000"/>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lang="fr-CI" noProof="0"/>
          </a:p>
        </p:txBody>
      </p:sp>
      <p:sp>
        <p:nvSpPr>
          <p:cNvPr id="10" name="Google Shape;7367;p39"/>
          <p:cNvSpPr/>
          <p:nvPr/>
        </p:nvSpPr>
        <p:spPr>
          <a:xfrm rot="16200000">
            <a:off x="2201124" y="215006"/>
            <a:ext cx="2027916" cy="4306666"/>
          </a:xfrm>
          <a:custGeom>
            <a:avLst/>
            <a:gdLst/>
            <a:ahLst/>
            <a:cxnLst/>
            <a:rect l="l" t="t" r="r" b="b"/>
            <a:pathLst>
              <a:path w="25081" h="54128" extrusionOk="0">
                <a:moveTo>
                  <a:pt x="19843" y="0"/>
                </a:moveTo>
                <a:cubicBezTo>
                  <a:pt x="19654" y="0"/>
                  <a:pt x="19462" y="7"/>
                  <a:pt x="19267" y="21"/>
                </a:cubicBezTo>
                <a:cubicBezTo>
                  <a:pt x="17781" y="125"/>
                  <a:pt x="16282" y="99"/>
                  <a:pt x="14796" y="112"/>
                </a:cubicBezTo>
                <a:cubicBezTo>
                  <a:pt x="13909" y="125"/>
                  <a:pt x="13010" y="112"/>
                  <a:pt x="12123" y="177"/>
                </a:cubicBezTo>
                <a:cubicBezTo>
                  <a:pt x="10272" y="333"/>
                  <a:pt x="8421" y="503"/>
                  <a:pt x="6570" y="633"/>
                </a:cubicBezTo>
                <a:cubicBezTo>
                  <a:pt x="5267" y="738"/>
                  <a:pt x="3989" y="933"/>
                  <a:pt x="2764" y="1259"/>
                </a:cubicBezTo>
                <a:cubicBezTo>
                  <a:pt x="1943" y="1481"/>
                  <a:pt x="1408" y="1872"/>
                  <a:pt x="1226" y="2471"/>
                </a:cubicBezTo>
                <a:cubicBezTo>
                  <a:pt x="991" y="3292"/>
                  <a:pt x="861" y="4140"/>
                  <a:pt x="965" y="4974"/>
                </a:cubicBezTo>
                <a:cubicBezTo>
                  <a:pt x="991" y="5248"/>
                  <a:pt x="1030" y="5508"/>
                  <a:pt x="991" y="5782"/>
                </a:cubicBezTo>
                <a:cubicBezTo>
                  <a:pt x="835" y="6877"/>
                  <a:pt x="678" y="7972"/>
                  <a:pt x="587" y="9067"/>
                </a:cubicBezTo>
                <a:cubicBezTo>
                  <a:pt x="470" y="10488"/>
                  <a:pt x="378" y="11896"/>
                  <a:pt x="300" y="13317"/>
                </a:cubicBezTo>
                <a:cubicBezTo>
                  <a:pt x="274" y="13825"/>
                  <a:pt x="352" y="14333"/>
                  <a:pt x="339" y="14829"/>
                </a:cubicBezTo>
                <a:cubicBezTo>
                  <a:pt x="313" y="15820"/>
                  <a:pt x="157" y="16797"/>
                  <a:pt x="118" y="17775"/>
                </a:cubicBezTo>
                <a:cubicBezTo>
                  <a:pt x="53" y="19391"/>
                  <a:pt x="0" y="21008"/>
                  <a:pt x="40" y="22624"/>
                </a:cubicBezTo>
                <a:cubicBezTo>
                  <a:pt x="66" y="24149"/>
                  <a:pt x="157" y="25661"/>
                  <a:pt x="144" y="27173"/>
                </a:cubicBezTo>
                <a:cubicBezTo>
                  <a:pt x="131" y="28646"/>
                  <a:pt x="105" y="30132"/>
                  <a:pt x="131" y="31605"/>
                </a:cubicBezTo>
                <a:cubicBezTo>
                  <a:pt x="209" y="35412"/>
                  <a:pt x="405" y="39218"/>
                  <a:pt x="274" y="43051"/>
                </a:cubicBezTo>
                <a:cubicBezTo>
                  <a:pt x="235" y="44237"/>
                  <a:pt x="287" y="45436"/>
                  <a:pt x="300" y="46622"/>
                </a:cubicBezTo>
                <a:cubicBezTo>
                  <a:pt x="300" y="46687"/>
                  <a:pt x="300" y="46753"/>
                  <a:pt x="287" y="46818"/>
                </a:cubicBezTo>
                <a:cubicBezTo>
                  <a:pt x="222" y="48004"/>
                  <a:pt x="313" y="49190"/>
                  <a:pt x="535" y="50363"/>
                </a:cubicBezTo>
                <a:cubicBezTo>
                  <a:pt x="665" y="51054"/>
                  <a:pt x="1004" y="51706"/>
                  <a:pt x="1239" y="52384"/>
                </a:cubicBezTo>
                <a:cubicBezTo>
                  <a:pt x="1486" y="53075"/>
                  <a:pt x="2164" y="53492"/>
                  <a:pt x="3129" y="53700"/>
                </a:cubicBezTo>
                <a:cubicBezTo>
                  <a:pt x="3812" y="53854"/>
                  <a:pt x="4517" y="53911"/>
                  <a:pt x="5223" y="53911"/>
                </a:cubicBezTo>
                <a:cubicBezTo>
                  <a:pt x="5299" y="53911"/>
                  <a:pt x="5374" y="53910"/>
                  <a:pt x="5449" y="53909"/>
                </a:cubicBezTo>
                <a:cubicBezTo>
                  <a:pt x="5591" y="53907"/>
                  <a:pt x="5733" y="53906"/>
                  <a:pt x="5875" y="53906"/>
                </a:cubicBezTo>
                <a:cubicBezTo>
                  <a:pt x="7594" y="53906"/>
                  <a:pt x="9293" y="54042"/>
                  <a:pt x="11015" y="54078"/>
                </a:cubicBezTo>
                <a:cubicBezTo>
                  <a:pt x="11655" y="54087"/>
                  <a:pt x="12288" y="54128"/>
                  <a:pt x="12924" y="54128"/>
                </a:cubicBezTo>
                <a:cubicBezTo>
                  <a:pt x="13273" y="54128"/>
                  <a:pt x="13623" y="54115"/>
                  <a:pt x="13974" y="54078"/>
                </a:cubicBezTo>
                <a:cubicBezTo>
                  <a:pt x="15239" y="53948"/>
                  <a:pt x="16516" y="53870"/>
                  <a:pt x="17781" y="53779"/>
                </a:cubicBezTo>
                <a:cubicBezTo>
                  <a:pt x="18850" y="53700"/>
                  <a:pt x="19919" y="53583"/>
                  <a:pt x="20961" y="53375"/>
                </a:cubicBezTo>
                <a:cubicBezTo>
                  <a:pt x="22043" y="53153"/>
                  <a:pt x="22956" y="52749"/>
                  <a:pt x="23503" y="52019"/>
                </a:cubicBezTo>
                <a:cubicBezTo>
                  <a:pt x="23855" y="51537"/>
                  <a:pt x="24142" y="51028"/>
                  <a:pt x="24233" y="50494"/>
                </a:cubicBezTo>
                <a:cubicBezTo>
                  <a:pt x="24416" y="49464"/>
                  <a:pt x="24429" y="48434"/>
                  <a:pt x="24546" y="47404"/>
                </a:cubicBezTo>
                <a:cubicBezTo>
                  <a:pt x="24690" y="45957"/>
                  <a:pt x="24768" y="44510"/>
                  <a:pt x="24833" y="43064"/>
                </a:cubicBezTo>
                <a:cubicBezTo>
                  <a:pt x="24924" y="41395"/>
                  <a:pt x="24898" y="39726"/>
                  <a:pt x="24898" y="38058"/>
                </a:cubicBezTo>
                <a:cubicBezTo>
                  <a:pt x="24885" y="36402"/>
                  <a:pt x="24794" y="34760"/>
                  <a:pt x="24794" y="33104"/>
                </a:cubicBezTo>
                <a:cubicBezTo>
                  <a:pt x="24794" y="31332"/>
                  <a:pt x="24755" y="29546"/>
                  <a:pt x="24768" y="27760"/>
                </a:cubicBezTo>
                <a:cubicBezTo>
                  <a:pt x="24794" y="26196"/>
                  <a:pt x="24807" y="24631"/>
                  <a:pt x="24846" y="23067"/>
                </a:cubicBezTo>
                <a:cubicBezTo>
                  <a:pt x="24885" y="21503"/>
                  <a:pt x="24911" y="19952"/>
                  <a:pt x="24911" y="18387"/>
                </a:cubicBezTo>
                <a:cubicBezTo>
                  <a:pt x="24911" y="16967"/>
                  <a:pt x="24937" y="15533"/>
                  <a:pt x="24989" y="14112"/>
                </a:cubicBezTo>
                <a:cubicBezTo>
                  <a:pt x="25028" y="12795"/>
                  <a:pt x="25081" y="11479"/>
                  <a:pt x="25068" y="10162"/>
                </a:cubicBezTo>
                <a:cubicBezTo>
                  <a:pt x="25068" y="8924"/>
                  <a:pt x="25002" y="7685"/>
                  <a:pt x="24963" y="6447"/>
                </a:cubicBezTo>
                <a:lnTo>
                  <a:pt x="24950" y="6447"/>
                </a:lnTo>
                <a:cubicBezTo>
                  <a:pt x="25055" y="5561"/>
                  <a:pt x="24963" y="4674"/>
                  <a:pt x="24872" y="3801"/>
                </a:cubicBezTo>
                <a:cubicBezTo>
                  <a:pt x="24807" y="3175"/>
                  <a:pt x="24664" y="2562"/>
                  <a:pt x="24403" y="1963"/>
                </a:cubicBezTo>
                <a:cubicBezTo>
                  <a:pt x="24194" y="1481"/>
                  <a:pt x="23803" y="1103"/>
                  <a:pt x="23204" y="803"/>
                </a:cubicBezTo>
                <a:cubicBezTo>
                  <a:pt x="22185" y="293"/>
                  <a:pt x="21087" y="0"/>
                  <a:pt x="19843" y="0"/>
                </a:cubicBezTo>
                <a:close/>
              </a:path>
            </a:pathLst>
          </a:custGeom>
          <a:noFill/>
          <a:ln w="19050">
            <a:solidFill>
              <a:schemeClr val="tx1"/>
            </a:solidFill>
          </a:ln>
          <a:effectLst>
            <a:outerShdw blurRad="57150" dist="9525" algn="bl" rotWithShape="0">
              <a:srgbClr val="000000"/>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lang="fr-CI" noProof="0"/>
          </a:p>
        </p:txBody>
      </p:sp>
      <p:sp>
        <p:nvSpPr>
          <p:cNvPr id="4" name="Rectangle 3"/>
          <p:cNvSpPr/>
          <p:nvPr/>
        </p:nvSpPr>
        <p:spPr>
          <a:xfrm>
            <a:off x="2946575" y="1442741"/>
            <a:ext cx="1322389" cy="295488"/>
          </a:xfrm>
          <a:prstGeom prst="rect">
            <a:avLst/>
          </a:prstGeom>
        </p:spPr>
        <p:txBody>
          <a:bodyPr wrap="none">
            <a:spAutoFit/>
          </a:bodyPr>
          <a:lstStyle/>
          <a:p>
            <a:pPr lvl="0">
              <a:lnSpc>
                <a:spcPct val="110000"/>
              </a:lnSpc>
            </a:pPr>
            <a:r>
              <a:rPr lang="fr-CI" sz="1400" b="1" noProof="0">
                <a:solidFill>
                  <a:schemeClr val="bg1"/>
                </a:solidFill>
                <a:latin typeface="Helvetica" panose="020B0604020202020204" pitchFamily="34" charset="0"/>
                <a:ea typeface="Open Sans Semibold" panose="020B0706030804020204" pitchFamily="34" charset="0"/>
                <a:cs typeface="Helvetica" panose="020B0604020202020204" pitchFamily="34" charset="0"/>
              </a:rPr>
              <a:t>Constat</a:t>
            </a:r>
          </a:p>
        </p:txBody>
      </p:sp>
      <p:sp>
        <p:nvSpPr>
          <p:cNvPr id="20" name="Google Shape;7386;p39"/>
          <p:cNvSpPr/>
          <p:nvPr/>
        </p:nvSpPr>
        <p:spPr>
          <a:xfrm rot="10800000">
            <a:off x="6372314" y="1459724"/>
            <a:ext cx="3625790" cy="329031"/>
          </a:xfrm>
          <a:custGeom>
            <a:avLst/>
            <a:gdLst/>
            <a:ahLst/>
            <a:cxnLst/>
            <a:rect l="l" t="t" r="r" b="b"/>
            <a:pathLst>
              <a:path w="40007" h="30221" extrusionOk="0">
                <a:moveTo>
                  <a:pt x="19007" y="1"/>
                </a:moveTo>
                <a:cubicBezTo>
                  <a:pt x="17909" y="1"/>
                  <a:pt x="16810" y="17"/>
                  <a:pt x="15708" y="53"/>
                </a:cubicBezTo>
                <a:cubicBezTo>
                  <a:pt x="13270" y="131"/>
                  <a:pt x="10885" y="275"/>
                  <a:pt x="8512" y="548"/>
                </a:cubicBezTo>
                <a:cubicBezTo>
                  <a:pt x="6088" y="835"/>
                  <a:pt x="4524" y="1500"/>
                  <a:pt x="4041" y="2712"/>
                </a:cubicBezTo>
                <a:cubicBezTo>
                  <a:pt x="4015" y="2777"/>
                  <a:pt x="3976" y="2843"/>
                  <a:pt x="3937" y="2908"/>
                </a:cubicBezTo>
                <a:cubicBezTo>
                  <a:pt x="2777" y="4902"/>
                  <a:pt x="2282" y="6949"/>
                  <a:pt x="1734" y="8995"/>
                </a:cubicBezTo>
                <a:cubicBezTo>
                  <a:pt x="1160" y="11120"/>
                  <a:pt x="613" y="13232"/>
                  <a:pt x="391" y="15357"/>
                </a:cubicBezTo>
                <a:cubicBezTo>
                  <a:pt x="183" y="17325"/>
                  <a:pt x="0" y="19293"/>
                  <a:pt x="79" y="21092"/>
                </a:cubicBezTo>
                <a:cubicBezTo>
                  <a:pt x="52" y="23074"/>
                  <a:pt x="144" y="24899"/>
                  <a:pt x="365" y="26710"/>
                </a:cubicBezTo>
                <a:cubicBezTo>
                  <a:pt x="522" y="28079"/>
                  <a:pt x="1721" y="29096"/>
                  <a:pt x="4419" y="29656"/>
                </a:cubicBezTo>
                <a:cubicBezTo>
                  <a:pt x="6296" y="30048"/>
                  <a:pt x="8265" y="30178"/>
                  <a:pt x="10259" y="30204"/>
                </a:cubicBezTo>
                <a:cubicBezTo>
                  <a:pt x="11143" y="30216"/>
                  <a:pt x="12026" y="30220"/>
                  <a:pt x="12908" y="30220"/>
                </a:cubicBezTo>
                <a:cubicBezTo>
                  <a:pt x="15996" y="30220"/>
                  <a:pt x="19078" y="30165"/>
                  <a:pt x="22161" y="30165"/>
                </a:cubicBezTo>
                <a:cubicBezTo>
                  <a:pt x="24859" y="30165"/>
                  <a:pt x="27557" y="30204"/>
                  <a:pt x="30243" y="30204"/>
                </a:cubicBezTo>
                <a:cubicBezTo>
                  <a:pt x="31690" y="30191"/>
                  <a:pt x="33123" y="30113"/>
                  <a:pt x="34505" y="29852"/>
                </a:cubicBezTo>
                <a:cubicBezTo>
                  <a:pt x="35470" y="29683"/>
                  <a:pt x="36330" y="29435"/>
                  <a:pt x="36917" y="29005"/>
                </a:cubicBezTo>
                <a:cubicBezTo>
                  <a:pt x="37881" y="28288"/>
                  <a:pt x="38677" y="27519"/>
                  <a:pt x="39120" y="26684"/>
                </a:cubicBezTo>
                <a:cubicBezTo>
                  <a:pt x="39732" y="25485"/>
                  <a:pt x="39954" y="24260"/>
                  <a:pt x="39954" y="23021"/>
                </a:cubicBezTo>
                <a:cubicBezTo>
                  <a:pt x="39954" y="19372"/>
                  <a:pt x="40006" y="15709"/>
                  <a:pt x="39563" y="12059"/>
                </a:cubicBezTo>
                <a:cubicBezTo>
                  <a:pt x="39367" y="10403"/>
                  <a:pt x="39485" y="8748"/>
                  <a:pt x="39237" y="7105"/>
                </a:cubicBezTo>
                <a:cubicBezTo>
                  <a:pt x="39068" y="6023"/>
                  <a:pt x="38794" y="4941"/>
                  <a:pt x="37920" y="3938"/>
                </a:cubicBezTo>
                <a:cubicBezTo>
                  <a:pt x="37282" y="3208"/>
                  <a:pt x="36773" y="2438"/>
                  <a:pt x="35665" y="1826"/>
                </a:cubicBezTo>
                <a:cubicBezTo>
                  <a:pt x="34192" y="1031"/>
                  <a:pt x="32237" y="666"/>
                  <a:pt x="30138" y="496"/>
                </a:cubicBezTo>
                <a:cubicBezTo>
                  <a:pt x="26451" y="194"/>
                  <a:pt x="22741" y="1"/>
                  <a:pt x="19007" y="1"/>
                </a:cubicBezTo>
                <a:close/>
              </a:path>
            </a:pathLst>
          </a:custGeom>
          <a:solidFill>
            <a:srgbClr val="112A40"/>
          </a:solidFill>
          <a:ln>
            <a:noFill/>
          </a:ln>
          <a:effectLst>
            <a:outerShdw blurRad="57150" dist="9525" algn="bl" rotWithShape="0">
              <a:srgbClr val="000000"/>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lang="fr-CI" noProof="0"/>
          </a:p>
        </p:txBody>
      </p:sp>
      <p:sp>
        <p:nvSpPr>
          <p:cNvPr id="21" name="Google Shape;7367;p39"/>
          <p:cNvSpPr/>
          <p:nvPr/>
        </p:nvSpPr>
        <p:spPr>
          <a:xfrm rot="16200000">
            <a:off x="7569073" y="228570"/>
            <a:ext cx="2000788" cy="4306666"/>
          </a:xfrm>
          <a:custGeom>
            <a:avLst/>
            <a:gdLst/>
            <a:ahLst/>
            <a:cxnLst/>
            <a:rect l="l" t="t" r="r" b="b"/>
            <a:pathLst>
              <a:path w="25081" h="54128" extrusionOk="0">
                <a:moveTo>
                  <a:pt x="19843" y="0"/>
                </a:moveTo>
                <a:cubicBezTo>
                  <a:pt x="19654" y="0"/>
                  <a:pt x="19462" y="7"/>
                  <a:pt x="19267" y="21"/>
                </a:cubicBezTo>
                <a:cubicBezTo>
                  <a:pt x="17781" y="125"/>
                  <a:pt x="16282" y="99"/>
                  <a:pt x="14796" y="112"/>
                </a:cubicBezTo>
                <a:cubicBezTo>
                  <a:pt x="13909" y="125"/>
                  <a:pt x="13010" y="112"/>
                  <a:pt x="12123" y="177"/>
                </a:cubicBezTo>
                <a:cubicBezTo>
                  <a:pt x="10272" y="333"/>
                  <a:pt x="8421" y="503"/>
                  <a:pt x="6570" y="633"/>
                </a:cubicBezTo>
                <a:cubicBezTo>
                  <a:pt x="5267" y="738"/>
                  <a:pt x="3989" y="933"/>
                  <a:pt x="2764" y="1259"/>
                </a:cubicBezTo>
                <a:cubicBezTo>
                  <a:pt x="1943" y="1481"/>
                  <a:pt x="1408" y="1872"/>
                  <a:pt x="1226" y="2471"/>
                </a:cubicBezTo>
                <a:cubicBezTo>
                  <a:pt x="991" y="3292"/>
                  <a:pt x="861" y="4140"/>
                  <a:pt x="965" y="4974"/>
                </a:cubicBezTo>
                <a:cubicBezTo>
                  <a:pt x="991" y="5248"/>
                  <a:pt x="1030" y="5508"/>
                  <a:pt x="991" y="5782"/>
                </a:cubicBezTo>
                <a:cubicBezTo>
                  <a:pt x="835" y="6877"/>
                  <a:pt x="678" y="7972"/>
                  <a:pt x="587" y="9067"/>
                </a:cubicBezTo>
                <a:cubicBezTo>
                  <a:pt x="470" y="10488"/>
                  <a:pt x="378" y="11896"/>
                  <a:pt x="300" y="13317"/>
                </a:cubicBezTo>
                <a:cubicBezTo>
                  <a:pt x="274" y="13825"/>
                  <a:pt x="352" y="14333"/>
                  <a:pt x="339" y="14829"/>
                </a:cubicBezTo>
                <a:cubicBezTo>
                  <a:pt x="313" y="15820"/>
                  <a:pt x="157" y="16797"/>
                  <a:pt x="118" y="17775"/>
                </a:cubicBezTo>
                <a:cubicBezTo>
                  <a:pt x="53" y="19391"/>
                  <a:pt x="0" y="21008"/>
                  <a:pt x="40" y="22624"/>
                </a:cubicBezTo>
                <a:cubicBezTo>
                  <a:pt x="66" y="24149"/>
                  <a:pt x="157" y="25661"/>
                  <a:pt x="144" y="27173"/>
                </a:cubicBezTo>
                <a:cubicBezTo>
                  <a:pt x="131" y="28646"/>
                  <a:pt x="105" y="30132"/>
                  <a:pt x="131" y="31605"/>
                </a:cubicBezTo>
                <a:cubicBezTo>
                  <a:pt x="209" y="35412"/>
                  <a:pt x="405" y="39218"/>
                  <a:pt x="274" y="43051"/>
                </a:cubicBezTo>
                <a:cubicBezTo>
                  <a:pt x="235" y="44237"/>
                  <a:pt x="287" y="45436"/>
                  <a:pt x="300" y="46622"/>
                </a:cubicBezTo>
                <a:cubicBezTo>
                  <a:pt x="300" y="46687"/>
                  <a:pt x="300" y="46753"/>
                  <a:pt x="287" y="46818"/>
                </a:cubicBezTo>
                <a:cubicBezTo>
                  <a:pt x="222" y="48004"/>
                  <a:pt x="313" y="49190"/>
                  <a:pt x="535" y="50363"/>
                </a:cubicBezTo>
                <a:cubicBezTo>
                  <a:pt x="665" y="51054"/>
                  <a:pt x="1004" y="51706"/>
                  <a:pt x="1239" y="52384"/>
                </a:cubicBezTo>
                <a:cubicBezTo>
                  <a:pt x="1486" y="53075"/>
                  <a:pt x="2164" y="53492"/>
                  <a:pt x="3129" y="53700"/>
                </a:cubicBezTo>
                <a:cubicBezTo>
                  <a:pt x="3812" y="53854"/>
                  <a:pt x="4517" y="53911"/>
                  <a:pt x="5223" y="53911"/>
                </a:cubicBezTo>
                <a:cubicBezTo>
                  <a:pt x="5299" y="53911"/>
                  <a:pt x="5374" y="53910"/>
                  <a:pt x="5449" y="53909"/>
                </a:cubicBezTo>
                <a:cubicBezTo>
                  <a:pt x="5591" y="53907"/>
                  <a:pt x="5733" y="53906"/>
                  <a:pt x="5875" y="53906"/>
                </a:cubicBezTo>
                <a:cubicBezTo>
                  <a:pt x="7594" y="53906"/>
                  <a:pt x="9293" y="54042"/>
                  <a:pt x="11015" y="54078"/>
                </a:cubicBezTo>
                <a:cubicBezTo>
                  <a:pt x="11655" y="54087"/>
                  <a:pt x="12288" y="54128"/>
                  <a:pt x="12924" y="54128"/>
                </a:cubicBezTo>
                <a:cubicBezTo>
                  <a:pt x="13273" y="54128"/>
                  <a:pt x="13623" y="54115"/>
                  <a:pt x="13974" y="54078"/>
                </a:cubicBezTo>
                <a:cubicBezTo>
                  <a:pt x="15239" y="53948"/>
                  <a:pt x="16516" y="53870"/>
                  <a:pt x="17781" y="53779"/>
                </a:cubicBezTo>
                <a:cubicBezTo>
                  <a:pt x="18850" y="53700"/>
                  <a:pt x="19919" y="53583"/>
                  <a:pt x="20961" y="53375"/>
                </a:cubicBezTo>
                <a:cubicBezTo>
                  <a:pt x="22043" y="53153"/>
                  <a:pt x="22956" y="52749"/>
                  <a:pt x="23503" y="52019"/>
                </a:cubicBezTo>
                <a:cubicBezTo>
                  <a:pt x="23855" y="51537"/>
                  <a:pt x="24142" y="51028"/>
                  <a:pt x="24233" y="50494"/>
                </a:cubicBezTo>
                <a:cubicBezTo>
                  <a:pt x="24416" y="49464"/>
                  <a:pt x="24429" y="48434"/>
                  <a:pt x="24546" y="47404"/>
                </a:cubicBezTo>
                <a:cubicBezTo>
                  <a:pt x="24690" y="45957"/>
                  <a:pt x="24768" y="44510"/>
                  <a:pt x="24833" y="43064"/>
                </a:cubicBezTo>
                <a:cubicBezTo>
                  <a:pt x="24924" y="41395"/>
                  <a:pt x="24898" y="39726"/>
                  <a:pt x="24898" y="38058"/>
                </a:cubicBezTo>
                <a:cubicBezTo>
                  <a:pt x="24885" y="36402"/>
                  <a:pt x="24794" y="34760"/>
                  <a:pt x="24794" y="33104"/>
                </a:cubicBezTo>
                <a:cubicBezTo>
                  <a:pt x="24794" y="31332"/>
                  <a:pt x="24755" y="29546"/>
                  <a:pt x="24768" y="27760"/>
                </a:cubicBezTo>
                <a:cubicBezTo>
                  <a:pt x="24794" y="26196"/>
                  <a:pt x="24807" y="24631"/>
                  <a:pt x="24846" y="23067"/>
                </a:cubicBezTo>
                <a:cubicBezTo>
                  <a:pt x="24885" y="21503"/>
                  <a:pt x="24911" y="19952"/>
                  <a:pt x="24911" y="18387"/>
                </a:cubicBezTo>
                <a:cubicBezTo>
                  <a:pt x="24911" y="16967"/>
                  <a:pt x="24937" y="15533"/>
                  <a:pt x="24989" y="14112"/>
                </a:cubicBezTo>
                <a:cubicBezTo>
                  <a:pt x="25028" y="12795"/>
                  <a:pt x="25081" y="11479"/>
                  <a:pt x="25068" y="10162"/>
                </a:cubicBezTo>
                <a:cubicBezTo>
                  <a:pt x="25068" y="8924"/>
                  <a:pt x="25002" y="7685"/>
                  <a:pt x="24963" y="6447"/>
                </a:cubicBezTo>
                <a:lnTo>
                  <a:pt x="24950" y="6447"/>
                </a:lnTo>
                <a:cubicBezTo>
                  <a:pt x="25055" y="5561"/>
                  <a:pt x="24963" y="4674"/>
                  <a:pt x="24872" y="3801"/>
                </a:cubicBezTo>
                <a:cubicBezTo>
                  <a:pt x="24807" y="3175"/>
                  <a:pt x="24664" y="2562"/>
                  <a:pt x="24403" y="1963"/>
                </a:cubicBezTo>
                <a:cubicBezTo>
                  <a:pt x="24194" y="1481"/>
                  <a:pt x="23803" y="1103"/>
                  <a:pt x="23204" y="803"/>
                </a:cubicBezTo>
                <a:cubicBezTo>
                  <a:pt x="22185" y="293"/>
                  <a:pt x="21087" y="0"/>
                  <a:pt x="19843" y="0"/>
                </a:cubicBezTo>
                <a:close/>
              </a:path>
            </a:pathLst>
          </a:custGeom>
          <a:noFill/>
          <a:ln w="19050">
            <a:solidFill>
              <a:srgbClr val="060606"/>
            </a:solidFill>
          </a:ln>
          <a:effectLst>
            <a:outerShdw blurRad="57150" dist="9525" algn="bl" rotWithShape="0">
              <a:srgbClr val="000000"/>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lang="fr-CI" noProof="0"/>
          </a:p>
        </p:txBody>
      </p:sp>
      <p:sp>
        <p:nvSpPr>
          <p:cNvPr id="24" name="Rectangle 23"/>
          <p:cNvSpPr/>
          <p:nvPr/>
        </p:nvSpPr>
        <p:spPr>
          <a:xfrm>
            <a:off x="7570816" y="1466170"/>
            <a:ext cx="1322389" cy="295488"/>
          </a:xfrm>
          <a:prstGeom prst="rect">
            <a:avLst/>
          </a:prstGeom>
        </p:spPr>
        <p:txBody>
          <a:bodyPr wrap="none">
            <a:spAutoFit/>
          </a:bodyPr>
          <a:lstStyle/>
          <a:p>
            <a:pPr lvl="0">
              <a:lnSpc>
                <a:spcPct val="110000"/>
              </a:lnSpc>
            </a:pPr>
            <a:r>
              <a:rPr lang="fr-CI" sz="1400" b="1" noProof="0">
                <a:solidFill>
                  <a:schemeClr val="bg1"/>
                </a:solidFill>
                <a:latin typeface="Helvetica" panose="020B0604020202020204" pitchFamily="34" charset="0"/>
                <a:ea typeface="Open Sans Semibold" panose="020B0706030804020204" pitchFamily="34" charset="0"/>
                <a:cs typeface="Helvetica" panose="020B0604020202020204" pitchFamily="34" charset="0"/>
              </a:rPr>
              <a:t>Preuves</a:t>
            </a:r>
          </a:p>
        </p:txBody>
      </p:sp>
      <p:sp>
        <p:nvSpPr>
          <p:cNvPr id="37" name="Google Shape;7386;p39"/>
          <p:cNvSpPr/>
          <p:nvPr/>
        </p:nvSpPr>
        <p:spPr>
          <a:xfrm rot="10800000">
            <a:off x="1854215" y="3845744"/>
            <a:ext cx="3625790" cy="329031"/>
          </a:xfrm>
          <a:custGeom>
            <a:avLst/>
            <a:gdLst/>
            <a:ahLst/>
            <a:cxnLst/>
            <a:rect l="l" t="t" r="r" b="b"/>
            <a:pathLst>
              <a:path w="40007" h="30221" extrusionOk="0">
                <a:moveTo>
                  <a:pt x="19007" y="1"/>
                </a:moveTo>
                <a:cubicBezTo>
                  <a:pt x="17909" y="1"/>
                  <a:pt x="16810" y="17"/>
                  <a:pt x="15708" y="53"/>
                </a:cubicBezTo>
                <a:cubicBezTo>
                  <a:pt x="13270" y="131"/>
                  <a:pt x="10885" y="275"/>
                  <a:pt x="8512" y="548"/>
                </a:cubicBezTo>
                <a:cubicBezTo>
                  <a:pt x="6088" y="835"/>
                  <a:pt x="4524" y="1500"/>
                  <a:pt x="4041" y="2712"/>
                </a:cubicBezTo>
                <a:cubicBezTo>
                  <a:pt x="4015" y="2777"/>
                  <a:pt x="3976" y="2843"/>
                  <a:pt x="3937" y="2908"/>
                </a:cubicBezTo>
                <a:cubicBezTo>
                  <a:pt x="2777" y="4902"/>
                  <a:pt x="2282" y="6949"/>
                  <a:pt x="1734" y="8995"/>
                </a:cubicBezTo>
                <a:cubicBezTo>
                  <a:pt x="1160" y="11120"/>
                  <a:pt x="613" y="13232"/>
                  <a:pt x="391" y="15357"/>
                </a:cubicBezTo>
                <a:cubicBezTo>
                  <a:pt x="183" y="17325"/>
                  <a:pt x="0" y="19293"/>
                  <a:pt x="79" y="21092"/>
                </a:cubicBezTo>
                <a:cubicBezTo>
                  <a:pt x="52" y="23074"/>
                  <a:pt x="144" y="24899"/>
                  <a:pt x="365" y="26710"/>
                </a:cubicBezTo>
                <a:cubicBezTo>
                  <a:pt x="522" y="28079"/>
                  <a:pt x="1721" y="29096"/>
                  <a:pt x="4419" y="29656"/>
                </a:cubicBezTo>
                <a:cubicBezTo>
                  <a:pt x="6296" y="30048"/>
                  <a:pt x="8265" y="30178"/>
                  <a:pt x="10259" y="30204"/>
                </a:cubicBezTo>
                <a:cubicBezTo>
                  <a:pt x="11143" y="30216"/>
                  <a:pt x="12026" y="30220"/>
                  <a:pt x="12908" y="30220"/>
                </a:cubicBezTo>
                <a:cubicBezTo>
                  <a:pt x="15996" y="30220"/>
                  <a:pt x="19078" y="30165"/>
                  <a:pt x="22161" y="30165"/>
                </a:cubicBezTo>
                <a:cubicBezTo>
                  <a:pt x="24859" y="30165"/>
                  <a:pt x="27557" y="30204"/>
                  <a:pt x="30243" y="30204"/>
                </a:cubicBezTo>
                <a:cubicBezTo>
                  <a:pt x="31690" y="30191"/>
                  <a:pt x="33123" y="30113"/>
                  <a:pt x="34505" y="29852"/>
                </a:cubicBezTo>
                <a:cubicBezTo>
                  <a:pt x="35470" y="29683"/>
                  <a:pt x="36330" y="29435"/>
                  <a:pt x="36917" y="29005"/>
                </a:cubicBezTo>
                <a:cubicBezTo>
                  <a:pt x="37881" y="28288"/>
                  <a:pt x="38677" y="27519"/>
                  <a:pt x="39120" y="26684"/>
                </a:cubicBezTo>
                <a:cubicBezTo>
                  <a:pt x="39732" y="25485"/>
                  <a:pt x="39954" y="24260"/>
                  <a:pt x="39954" y="23021"/>
                </a:cubicBezTo>
                <a:cubicBezTo>
                  <a:pt x="39954" y="19372"/>
                  <a:pt x="40006" y="15709"/>
                  <a:pt x="39563" y="12059"/>
                </a:cubicBezTo>
                <a:cubicBezTo>
                  <a:pt x="39367" y="10403"/>
                  <a:pt x="39485" y="8748"/>
                  <a:pt x="39237" y="7105"/>
                </a:cubicBezTo>
                <a:cubicBezTo>
                  <a:pt x="39068" y="6023"/>
                  <a:pt x="38794" y="4941"/>
                  <a:pt x="37920" y="3938"/>
                </a:cubicBezTo>
                <a:cubicBezTo>
                  <a:pt x="37282" y="3208"/>
                  <a:pt x="36773" y="2438"/>
                  <a:pt x="35665" y="1826"/>
                </a:cubicBezTo>
                <a:cubicBezTo>
                  <a:pt x="34192" y="1031"/>
                  <a:pt x="32237" y="666"/>
                  <a:pt x="30138" y="496"/>
                </a:cubicBezTo>
                <a:cubicBezTo>
                  <a:pt x="26451" y="194"/>
                  <a:pt x="22741" y="1"/>
                  <a:pt x="19007" y="1"/>
                </a:cubicBezTo>
                <a:close/>
              </a:path>
            </a:pathLst>
          </a:custGeom>
          <a:solidFill>
            <a:srgbClr val="112A40"/>
          </a:solidFill>
          <a:ln>
            <a:noFill/>
          </a:ln>
          <a:effectLst>
            <a:outerShdw blurRad="57150" dist="9525" algn="bl" rotWithShape="0">
              <a:srgbClr val="000000"/>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lang="fr-CI" noProof="0"/>
          </a:p>
        </p:txBody>
      </p:sp>
      <p:sp>
        <p:nvSpPr>
          <p:cNvPr id="38" name="Google Shape;7367;p39"/>
          <p:cNvSpPr/>
          <p:nvPr/>
        </p:nvSpPr>
        <p:spPr>
          <a:xfrm rot="16200000">
            <a:off x="2838223" y="3190772"/>
            <a:ext cx="1751381" cy="3719393"/>
          </a:xfrm>
          <a:custGeom>
            <a:avLst/>
            <a:gdLst/>
            <a:ahLst/>
            <a:cxnLst/>
            <a:rect l="l" t="t" r="r" b="b"/>
            <a:pathLst>
              <a:path w="25081" h="54128" extrusionOk="0">
                <a:moveTo>
                  <a:pt x="19843" y="0"/>
                </a:moveTo>
                <a:cubicBezTo>
                  <a:pt x="19654" y="0"/>
                  <a:pt x="19462" y="7"/>
                  <a:pt x="19267" y="21"/>
                </a:cubicBezTo>
                <a:cubicBezTo>
                  <a:pt x="17781" y="125"/>
                  <a:pt x="16282" y="99"/>
                  <a:pt x="14796" y="112"/>
                </a:cubicBezTo>
                <a:cubicBezTo>
                  <a:pt x="13909" y="125"/>
                  <a:pt x="13010" y="112"/>
                  <a:pt x="12123" y="177"/>
                </a:cubicBezTo>
                <a:cubicBezTo>
                  <a:pt x="10272" y="333"/>
                  <a:pt x="8421" y="503"/>
                  <a:pt x="6570" y="633"/>
                </a:cubicBezTo>
                <a:cubicBezTo>
                  <a:pt x="5267" y="738"/>
                  <a:pt x="3989" y="933"/>
                  <a:pt x="2764" y="1259"/>
                </a:cubicBezTo>
                <a:cubicBezTo>
                  <a:pt x="1943" y="1481"/>
                  <a:pt x="1408" y="1872"/>
                  <a:pt x="1226" y="2471"/>
                </a:cubicBezTo>
                <a:cubicBezTo>
                  <a:pt x="991" y="3292"/>
                  <a:pt x="861" y="4140"/>
                  <a:pt x="965" y="4974"/>
                </a:cubicBezTo>
                <a:cubicBezTo>
                  <a:pt x="991" y="5248"/>
                  <a:pt x="1030" y="5508"/>
                  <a:pt x="991" y="5782"/>
                </a:cubicBezTo>
                <a:cubicBezTo>
                  <a:pt x="835" y="6877"/>
                  <a:pt x="678" y="7972"/>
                  <a:pt x="587" y="9067"/>
                </a:cubicBezTo>
                <a:cubicBezTo>
                  <a:pt x="470" y="10488"/>
                  <a:pt x="378" y="11896"/>
                  <a:pt x="300" y="13317"/>
                </a:cubicBezTo>
                <a:cubicBezTo>
                  <a:pt x="274" y="13825"/>
                  <a:pt x="352" y="14333"/>
                  <a:pt x="339" y="14829"/>
                </a:cubicBezTo>
                <a:cubicBezTo>
                  <a:pt x="313" y="15820"/>
                  <a:pt x="157" y="16797"/>
                  <a:pt x="118" y="17775"/>
                </a:cubicBezTo>
                <a:cubicBezTo>
                  <a:pt x="53" y="19391"/>
                  <a:pt x="0" y="21008"/>
                  <a:pt x="40" y="22624"/>
                </a:cubicBezTo>
                <a:cubicBezTo>
                  <a:pt x="66" y="24149"/>
                  <a:pt x="157" y="25661"/>
                  <a:pt x="144" y="27173"/>
                </a:cubicBezTo>
                <a:cubicBezTo>
                  <a:pt x="131" y="28646"/>
                  <a:pt x="105" y="30132"/>
                  <a:pt x="131" y="31605"/>
                </a:cubicBezTo>
                <a:cubicBezTo>
                  <a:pt x="209" y="35412"/>
                  <a:pt x="405" y="39218"/>
                  <a:pt x="274" y="43051"/>
                </a:cubicBezTo>
                <a:cubicBezTo>
                  <a:pt x="235" y="44237"/>
                  <a:pt x="287" y="45436"/>
                  <a:pt x="300" y="46622"/>
                </a:cubicBezTo>
                <a:cubicBezTo>
                  <a:pt x="300" y="46687"/>
                  <a:pt x="300" y="46753"/>
                  <a:pt x="287" y="46818"/>
                </a:cubicBezTo>
                <a:cubicBezTo>
                  <a:pt x="222" y="48004"/>
                  <a:pt x="313" y="49190"/>
                  <a:pt x="535" y="50363"/>
                </a:cubicBezTo>
                <a:cubicBezTo>
                  <a:pt x="665" y="51054"/>
                  <a:pt x="1004" y="51706"/>
                  <a:pt x="1239" y="52384"/>
                </a:cubicBezTo>
                <a:cubicBezTo>
                  <a:pt x="1486" y="53075"/>
                  <a:pt x="2164" y="53492"/>
                  <a:pt x="3129" y="53700"/>
                </a:cubicBezTo>
                <a:cubicBezTo>
                  <a:pt x="3812" y="53854"/>
                  <a:pt x="4517" y="53911"/>
                  <a:pt x="5223" y="53911"/>
                </a:cubicBezTo>
                <a:cubicBezTo>
                  <a:pt x="5299" y="53911"/>
                  <a:pt x="5374" y="53910"/>
                  <a:pt x="5449" y="53909"/>
                </a:cubicBezTo>
                <a:cubicBezTo>
                  <a:pt x="5591" y="53907"/>
                  <a:pt x="5733" y="53906"/>
                  <a:pt x="5875" y="53906"/>
                </a:cubicBezTo>
                <a:cubicBezTo>
                  <a:pt x="7594" y="53906"/>
                  <a:pt x="9293" y="54042"/>
                  <a:pt x="11015" y="54078"/>
                </a:cubicBezTo>
                <a:cubicBezTo>
                  <a:pt x="11655" y="54087"/>
                  <a:pt x="12288" y="54128"/>
                  <a:pt x="12924" y="54128"/>
                </a:cubicBezTo>
                <a:cubicBezTo>
                  <a:pt x="13273" y="54128"/>
                  <a:pt x="13623" y="54115"/>
                  <a:pt x="13974" y="54078"/>
                </a:cubicBezTo>
                <a:cubicBezTo>
                  <a:pt x="15239" y="53948"/>
                  <a:pt x="16516" y="53870"/>
                  <a:pt x="17781" y="53779"/>
                </a:cubicBezTo>
                <a:cubicBezTo>
                  <a:pt x="18850" y="53700"/>
                  <a:pt x="19919" y="53583"/>
                  <a:pt x="20961" y="53375"/>
                </a:cubicBezTo>
                <a:cubicBezTo>
                  <a:pt x="22043" y="53153"/>
                  <a:pt x="22956" y="52749"/>
                  <a:pt x="23503" y="52019"/>
                </a:cubicBezTo>
                <a:cubicBezTo>
                  <a:pt x="23855" y="51537"/>
                  <a:pt x="24142" y="51028"/>
                  <a:pt x="24233" y="50494"/>
                </a:cubicBezTo>
                <a:cubicBezTo>
                  <a:pt x="24416" y="49464"/>
                  <a:pt x="24429" y="48434"/>
                  <a:pt x="24546" y="47404"/>
                </a:cubicBezTo>
                <a:cubicBezTo>
                  <a:pt x="24690" y="45957"/>
                  <a:pt x="24768" y="44510"/>
                  <a:pt x="24833" y="43064"/>
                </a:cubicBezTo>
                <a:cubicBezTo>
                  <a:pt x="24924" y="41395"/>
                  <a:pt x="24898" y="39726"/>
                  <a:pt x="24898" y="38058"/>
                </a:cubicBezTo>
                <a:cubicBezTo>
                  <a:pt x="24885" y="36402"/>
                  <a:pt x="24794" y="34760"/>
                  <a:pt x="24794" y="33104"/>
                </a:cubicBezTo>
                <a:cubicBezTo>
                  <a:pt x="24794" y="31332"/>
                  <a:pt x="24755" y="29546"/>
                  <a:pt x="24768" y="27760"/>
                </a:cubicBezTo>
                <a:cubicBezTo>
                  <a:pt x="24794" y="26196"/>
                  <a:pt x="24807" y="24631"/>
                  <a:pt x="24846" y="23067"/>
                </a:cubicBezTo>
                <a:cubicBezTo>
                  <a:pt x="24885" y="21503"/>
                  <a:pt x="24911" y="19952"/>
                  <a:pt x="24911" y="18387"/>
                </a:cubicBezTo>
                <a:cubicBezTo>
                  <a:pt x="24911" y="16967"/>
                  <a:pt x="24937" y="15533"/>
                  <a:pt x="24989" y="14112"/>
                </a:cubicBezTo>
                <a:cubicBezTo>
                  <a:pt x="25028" y="12795"/>
                  <a:pt x="25081" y="11479"/>
                  <a:pt x="25068" y="10162"/>
                </a:cubicBezTo>
                <a:cubicBezTo>
                  <a:pt x="25068" y="8924"/>
                  <a:pt x="25002" y="7685"/>
                  <a:pt x="24963" y="6447"/>
                </a:cubicBezTo>
                <a:lnTo>
                  <a:pt x="24950" y="6447"/>
                </a:lnTo>
                <a:cubicBezTo>
                  <a:pt x="25055" y="5561"/>
                  <a:pt x="24963" y="4674"/>
                  <a:pt x="24872" y="3801"/>
                </a:cubicBezTo>
                <a:cubicBezTo>
                  <a:pt x="24807" y="3175"/>
                  <a:pt x="24664" y="2562"/>
                  <a:pt x="24403" y="1963"/>
                </a:cubicBezTo>
                <a:cubicBezTo>
                  <a:pt x="24194" y="1481"/>
                  <a:pt x="23803" y="1103"/>
                  <a:pt x="23204" y="803"/>
                </a:cubicBezTo>
                <a:cubicBezTo>
                  <a:pt x="22185" y="293"/>
                  <a:pt x="21087" y="0"/>
                  <a:pt x="19843" y="0"/>
                </a:cubicBezTo>
                <a:close/>
              </a:path>
            </a:pathLst>
          </a:custGeom>
          <a:noFill/>
          <a:ln w="19050">
            <a:solidFill>
              <a:srgbClr val="060606"/>
            </a:solidFill>
          </a:ln>
          <a:effectLst>
            <a:outerShdw blurRad="57150" dist="9525" algn="bl" rotWithShape="0">
              <a:srgbClr val="000000"/>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lang="fr-CI" noProof="0"/>
          </a:p>
        </p:txBody>
      </p:sp>
      <p:sp>
        <p:nvSpPr>
          <p:cNvPr id="40" name="Rectangle 39"/>
          <p:cNvSpPr/>
          <p:nvPr/>
        </p:nvSpPr>
        <p:spPr>
          <a:xfrm>
            <a:off x="3052718" y="3852190"/>
            <a:ext cx="1322389" cy="295488"/>
          </a:xfrm>
          <a:prstGeom prst="rect">
            <a:avLst/>
          </a:prstGeom>
        </p:spPr>
        <p:txBody>
          <a:bodyPr wrap="none">
            <a:spAutoFit/>
          </a:bodyPr>
          <a:lstStyle/>
          <a:p>
            <a:pPr lvl="0">
              <a:lnSpc>
                <a:spcPct val="110000"/>
              </a:lnSpc>
            </a:pPr>
            <a:r>
              <a:rPr lang="fr-CI" sz="1400" b="1" noProof="0">
                <a:solidFill>
                  <a:schemeClr val="bg1"/>
                </a:solidFill>
                <a:latin typeface="Helvetica" panose="020B0604020202020204" pitchFamily="34" charset="0"/>
                <a:ea typeface="Open Sans Semibold" panose="020B0706030804020204" pitchFamily="34" charset="0"/>
                <a:cs typeface="Helvetica" panose="020B0604020202020204" pitchFamily="34" charset="0"/>
              </a:rPr>
              <a:t>Implication</a:t>
            </a:r>
          </a:p>
        </p:txBody>
      </p:sp>
      <p:sp>
        <p:nvSpPr>
          <p:cNvPr id="42" name="Google Shape;7386;p39"/>
          <p:cNvSpPr/>
          <p:nvPr/>
        </p:nvSpPr>
        <p:spPr>
          <a:xfrm rot="10800000">
            <a:off x="6478457" y="3869173"/>
            <a:ext cx="3625790" cy="329031"/>
          </a:xfrm>
          <a:custGeom>
            <a:avLst/>
            <a:gdLst/>
            <a:ahLst/>
            <a:cxnLst/>
            <a:rect l="l" t="t" r="r" b="b"/>
            <a:pathLst>
              <a:path w="40007" h="30221" extrusionOk="0">
                <a:moveTo>
                  <a:pt x="19007" y="1"/>
                </a:moveTo>
                <a:cubicBezTo>
                  <a:pt x="17909" y="1"/>
                  <a:pt x="16810" y="17"/>
                  <a:pt x="15708" y="53"/>
                </a:cubicBezTo>
                <a:cubicBezTo>
                  <a:pt x="13270" y="131"/>
                  <a:pt x="10885" y="275"/>
                  <a:pt x="8512" y="548"/>
                </a:cubicBezTo>
                <a:cubicBezTo>
                  <a:pt x="6088" y="835"/>
                  <a:pt x="4524" y="1500"/>
                  <a:pt x="4041" y="2712"/>
                </a:cubicBezTo>
                <a:cubicBezTo>
                  <a:pt x="4015" y="2777"/>
                  <a:pt x="3976" y="2843"/>
                  <a:pt x="3937" y="2908"/>
                </a:cubicBezTo>
                <a:cubicBezTo>
                  <a:pt x="2777" y="4902"/>
                  <a:pt x="2282" y="6949"/>
                  <a:pt x="1734" y="8995"/>
                </a:cubicBezTo>
                <a:cubicBezTo>
                  <a:pt x="1160" y="11120"/>
                  <a:pt x="613" y="13232"/>
                  <a:pt x="391" y="15357"/>
                </a:cubicBezTo>
                <a:cubicBezTo>
                  <a:pt x="183" y="17325"/>
                  <a:pt x="0" y="19293"/>
                  <a:pt x="79" y="21092"/>
                </a:cubicBezTo>
                <a:cubicBezTo>
                  <a:pt x="52" y="23074"/>
                  <a:pt x="144" y="24899"/>
                  <a:pt x="365" y="26710"/>
                </a:cubicBezTo>
                <a:cubicBezTo>
                  <a:pt x="522" y="28079"/>
                  <a:pt x="1721" y="29096"/>
                  <a:pt x="4419" y="29656"/>
                </a:cubicBezTo>
                <a:cubicBezTo>
                  <a:pt x="6296" y="30048"/>
                  <a:pt x="8265" y="30178"/>
                  <a:pt x="10259" y="30204"/>
                </a:cubicBezTo>
                <a:cubicBezTo>
                  <a:pt x="11143" y="30216"/>
                  <a:pt x="12026" y="30220"/>
                  <a:pt x="12908" y="30220"/>
                </a:cubicBezTo>
                <a:cubicBezTo>
                  <a:pt x="15996" y="30220"/>
                  <a:pt x="19078" y="30165"/>
                  <a:pt x="22161" y="30165"/>
                </a:cubicBezTo>
                <a:cubicBezTo>
                  <a:pt x="24859" y="30165"/>
                  <a:pt x="27557" y="30204"/>
                  <a:pt x="30243" y="30204"/>
                </a:cubicBezTo>
                <a:cubicBezTo>
                  <a:pt x="31690" y="30191"/>
                  <a:pt x="33123" y="30113"/>
                  <a:pt x="34505" y="29852"/>
                </a:cubicBezTo>
                <a:cubicBezTo>
                  <a:pt x="35470" y="29683"/>
                  <a:pt x="36330" y="29435"/>
                  <a:pt x="36917" y="29005"/>
                </a:cubicBezTo>
                <a:cubicBezTo>
                  <a:pt x="37881" y="28288"/>
                  <a:pt x="38677" y="27519"/>
                  <a:pt x="39120" y="26684"/>
                </a:cubicBezTo>
                <a:cubicBezTo>
                  <a:pt x="39732" y="25485"/>
                  <a:pt x="39954" y="24260"/>
                  <a:pt x="39954" y="23021"/>
                </a:cubicBezTo>
                <a:cubicBezTo>
                  <a:pt x="39954" y="19372"/>
                  <a:pt x="40006" y="15709"/>
                  <a:pt x="39563" y="12059"/>
                </a:cubicBezTo>
                <a:cubicBezTo>
                  <a:pt x="39367" y="10403"/>
                  <a:pt x="39485" y="8748"/>
                  <a:pt x="39237" y="7105"/>
                </a:cubicBezTo>
                <a:cubicBezTo>
                  <a:pt x="39068" y="6023"/>
                  <a:pt x="38794" y="4941"/>
                  <a:pt x="37920" y="3938"/>
                </a:cubicBezTo>
                <a:cubicBezTo>
                  <a:pt x="37282" y="3208"/>
                  <a:pt x="36773" y="2438"/>
                  <a:pt x="35665" y="1826"/>
                </a:cubicBezTo>
                <a:cubicBezTo>
                  <a:pt x="34192" y="1031"/>
                  <a:pt x="32237" y="666"/>
                  <a:pt x="30138" y="496"/>
                </a:cubicBezTo>
                <a:cubicBezTo>
                  <a:pt x="26451" y="194"/>
                  <a:pt x="22741" y="1"/>
                  <a:pt x="19007" y="1"/>
                </a:cubicBezTo>
                <a:close/>
              </a:path>
            </a:pathLst>
          </a:custGeom>
          <a:solidFill>
            <a:srgbClr val="112A40"/>
          </a:solidFill>
          <a:ln>
            <a:noFill/>
          </a:ln>
          <a:effectLst>
            <a:outerShdw blurRad="57150" dist="9525" algn="bl" rotWithShape="0">
              <a:srgbClr val="000000"/>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lang="fr-CI" noProof="0"/>
          </a:p>
        </p:txBody>
      </p:sp>
      <p:sp>
        <p:nvSpPr>
          <p:cNvPr id="43" name="Google Shape;7367;p39"/>
          <p:cNvSpPr/>
          <p:nvPr/>
        </p:nvSpPr>
        <p:spPr>
          <a:xfrm rot="16200000">
            <a:off x="7474179" y="3202486"/>
            <a:ext cx="1727953" cy="3719393"/>
          </a:xfrm>
          <a:custGeom>
            <a:avLst/>
            <a:gdLst/>
            <a:ahLst/>
            <a:cxnLst/>
            <a:rect l="l" t="t" r="r" b="b"/>
            <a:pathLst>
              <a:path w="25081" h="54128" extrusionOk="0">
                <a:moveTo>
                  <a:pt x="19843" y="0"/>
                </a:moveTo>
                <a:cubicBezTo>
                  <a:pt x="19654" y="0"/>
                  <a:pt x="19462" y="7"/>
                  <a:pt x="19267" y="21"/>
                </a:cubicBezTo>
                <a:cubicBezTo>
                  <a:pt x="17781" y="125"/>
                  <a:pt x="16282" y="99"/>
                  <a:pt x="14796" y="112"/>
                </a:cubicBezTo>
                <a:cubicBezTo>
                  <a:pt x="13909" y="125"/>
                  <a:pt x="13010" y="112"/>
                  <a:pt x="12123" y="177"/>
                </a:cubicBezTo>
                <a:cubicBezTo>
                  <a:pt x="10272" y="333"/>
                  <a:pt x="8421" y="503"/>
                  <a:pt x="6570" y="633"/>
                </a:cubicBezTo>
                <a:cubicBezTo>
                  <a:pt x="5267" y="738"/>
                  <a:pt x="3989" y="933"/>
                  <a:pt x="2764" y="1259"/>
                </a:cubicBezTo>
                <a:cubicBezTo>
                  <a:pt x="1943" y="1481"/>
                  <a:pt x="1408" y="1872"/>
                  <a:pt x="1226" y="2471"/>
                </a:cubicBezTo>
                <a:cubicBezTo>
                  <a:pt x="991" y="3292"/>
                  <a:pt x="861" y="4140"/>
                  <a:pt x="965" y="4974"/>
                </a:cubicBezTo>
                <a:cubicBezTo>
                  <a:pt x="991" y="5248"/>
                  <a:pt x="1030" y="5508"/>
                  <a:pt x="991" y="5782"/>
                </a:cubicBezTo>
                <a:cubicBezTo>
                  <a:pt x="835" y="6877"/>
                  <a:pt x="678" y="7972"/>
                  <a:pt x="587" y="9067"/>
                </a:cubicBezTo>
                <a:cubicBezTo>
                  <a:pt x="470" y="10488"/>
                  <a:pt x="378" y="11896"/>
                  <a:pt x="300" y="13317"/>
                </a:cubicBezTo>
                <a:cubicBezTo>
                  <a:pt x="274" y="13825"/>
                  <a:pt x="352" y="14333"/>
                  <a:pt x="339" y="14829"/>
                </a:cubicBezTo>
                <a:cubicBezTo>
                  <a:pt x="313" y="15820"/>
                  <a:pt x="157" y="16797"/>
                  <a:pt x="118" y="17775"/>
                </a:cubicBezTo>
                <a:cubicBezTo>
                  <a:pt x="53" y="19391"/>
                  <a:pt x="0" y="21008"/>
                  <a:pt x="40" y="22624"/>
                </a:cubicBezTo>
                <a:cubicBezTo>
                  <a:pt x="66" y="24149"/>
                  <a:pt x="157" y="25661"/>
                  <a:pt x="144" y="27173"/>
                </a:cubicBezTo>
                <a:cubicBezTo>
                  <a:pt x="131" y="28646"/>
                  <a:pt x="105" y="30132"/>
                  <a:pt x="131" y="31605"/>
                </a:cubicBezTo>
                <a:cubicBezTo>
                  <a:pt x="209" y="35412"/>
                  <a:pt x="405" y="39218"/>
                  <a:pt x="274" y="43051"/>
                </a:cubicBezTo>
                <a:cubicBezTo>
                  <a:pt x="235" y="44237"/>
                  <a:pt x="287" y="45436"/>
                  <a:pt x="300" y="46622"/>
                </a:cubicBezTo>
                <a:cubicBezTo>
                  <a:pt x="300" y="46687"/>
                  <a:pt x="300" y="46753"/>
                  <a:pt x="287" y="46818"/>
                </a:cubicBezTo>
                <a:cubicBezTo>
                  <a:pt x="222" y="48004"/>
                  <a:pt x="313" y="49190"/>
                  <a:pt x="535" y="50363"/>
                </a:cubicBezTo>
                <a:cubicBezTo>
                  <a:pt x="665" y="51054"/>
                  <a:pt x="1004" y="51706"/>
                  <a:pt x="1239" y="52384"/>
                </a:cubicBezTo>
                <a:cubicBezTo>
                  <a:pt x="1486" y="53075"/>
                  <a:pt x="2164" y="53492"/>
                  <a:pt x="3129" y="53700"/>
                </a:cubicBezTo>
                <a:cubicBezTo>
                  <a:pt x="3812" y="53854"/>
                  <a:pt x="4517" y="53911"/>
                  <a:pt x="5223" y="53911"/>
                </a:cubicBezTo>
                <a:cubicBezTo>
                  <a:pt x="5299" y="53911"/>
                  <a:pt x="5374" y="53910"/>
                  <a:pt x="5449" y="53909"/>
                </a:cubicBezTo>
                <a:cubicBezTo>
                  <a:pt x="5591" y="53907"/>
                  <a:pt x="5733" y="53906"/>
                  <a:pt x="5875" y="53906"/>
                </a:cubicBezTo>
                <a:cubicBezTo>
                  <a:pt x="7594" y="53906"/>
                  <a:pt x="9293" y="54042"/>
                  <a:pt x="11015" y="54078"/>
                </a:cubicBezTo>
                <a:cubicBezTo>
                  <a:pt x="11655" y="54087"/>
                  <a:pt x="12288" y="54128"/>
                  <a:pt x="12924" y="54128"/>
                </a:cubicBezTo>
                <a:cubicBezTo>
                  <a:pt x="13273" y="54128"/>
                  <a:pt x="13623" y="54115"/>
                  <a:pt x="13974" y="54078"/>
                </a:cubicBezTo>
                <a:cubicBezTo>
                  <a:pt x="15239" y="53948"/>
                  <a:pt x="16516" y="53870"/>
                  <a:pt x="17781" y="53779"/>
                </a:cubicBezTo>
                <a:cubicBezTo>
                  <a:pt x="18850" y="53700"/>
                  <a:pt x="19919" y="53583"/>
                  <a:pt x="20961" y="53375"/>
                </a:cubicBezTo>
                <a:cubicBezTo>
                  <a:pt x="22043" y="53153"/>
                  <a:pt x="22956" y="52749"/>
                  <a:pt x="23503" y="52019"/>
                </a:cubicBezTo>
                <a:cubicBezTo>
                  <a:pt x="23855" y="51537"/>
                  <a:pt x="24142" y="51028"/>
                  <a:pt x="24233" y="50494"/>
                </a:cubicBezTo>
                <a:cubicBezTo>
                  <a:pt x="24416" y="49464"/>
                  <a:pt x="24429" y="48434"/>
                  <a:pt x="24546" y="47404"/>
                </a:cubicBezTo>
                <a:cubicBezTo>
                  <a:pt x="24690" y="45957"/>
                  <a:pt x="24768" y="44510"/>
                  <a:pt x="24833" y="43064"/>
                </a:cubicBezTo>
                <a:cubicBezTo>
                  <a:pt x="24924" y="41395"/>
                  <a:pt x="24898" y="39726"/>
                  <a:pt x="24898" y="38058"/>
                </a:cubicBezTo>
                <a:cubicBezTo>
                  <a:pt x="24885" y="36402"/>
                  <a:pt x="24794" y="34760"/>
                  <a:pt x="24794" y="33104"/>
                </a:cubicBezTo>
                <a:cubicBezTo>
                  <a:pt x="24794" y="31332"/>
                  <a:pt x="24755" y="29546"/>
                  <a:pt x="24768" y="27760"/>
                </a:cubicBezTo>
                <a:cubicBezTo>
                  <a:pt x="24794" y="26196"/>
                  <a:pt x="24807" y="24631"/>
                  <a:pt x="24846" y="23067"/>
                </a:cubicBezTo>
                <a:cubicBezTo>
                  <a:pt x="24885" y="21503"/>
                  <a:pt x="24911" y="19952"/>
                  <a:pt x="24911" y="18387"/>
                </a:cubicBezTo>
                <a:cubicBezTo>
                  <a:pt x="24911" y="16967"/>
                  <a:pt x="24937" y="15533"/>
                  <a:pt x="24989" y="14112"/>
                </a:cubicBezTo>
                <a:cubicBezTo>
                  <a:pt x="25028" y="12795"/>
                  <a:pt x="25081" y="11479"/>
                  <a:pt x="25068" y="10162"/>
                </a:cubicBezTo>
                <a:cubicBezTo>
                  <a:pt x="25068" y="8924"/>
                  <a:pt x="25002" y="7685"/>
                  <a:pt x="24963" y="6447"/>
                </a:cubicBezTo>
                <a:lnTo>
                  <a:pt x="24950" y="6447"/>
                </a:lnTo>
                <a:cubicBezTo>
                  <a:pt x="25055" y="5561"/>
                  <a:pt x="24963" y="4674"/>
                  <a:pt x="24872" y="3801"/>
                </a:cubicBezTo>
                <a:cubicBezTo>
                  <a:pt x="24807" y="3175"/>
                  <a:pt x="24664" y="2562"/>
                  <a:pt x="24403" y="1963"/>
                </a:cubicBezTo>
                <a:cubicBezTo>
                  <a:pt x="24194" y="1481"/>
                  <a:pt x="23803" y="1103"/>
                  <a:pt x="23204" y="803"/>
                </a:cubicBezTo>
                <a:cubicBezTo>
                  <a:pt x="22185" y="293"/>
                  <a:pt x="21087" y="0"/>
                  <a:pt x="19843" y="0"/>
                </a:cubicBezTo>
                <a:close/>
              </a:path>
            </a:pathLst>
          </a:custGeom>
          <a:noFill/>
          <a:ln w="19050">
            <a:solidFill>
              <a:schemeClr val="tx1"/>
            </a:solidFill>
          </a:ln>
          <a:effectLst>
            <a:outerShdw blurRad="57150" dist="9525" algn="bl" rotWithShape="0">
              <a:srgbClr val="000000"/>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lang="fr-CI" noProof="0"/>
          </a:p>
        </p:txBody>
      </p:sp>
      <p:sp>
        <p:nvSpPr>
          <p:cNvPr id="45" name="Rectangle 44"/>
          <p:cNvSpPr/>
          <p:nvPr/>
        </p:nvSpPr>
        <p:spPr>
          <a:xfrm>
            <a:off x="7676960" y="3875619"/>
            <a:ext cx="1322389" cy="295488"/>
          </a:xfrm>
          <a:prstGeom prst="rect">
            <a:avLst/>
          </a:prstGeom>
        </p:spPr>
        <p:txBody>
          <a:bodyPr wrap="none">
            <a:spAutoFit/>
          </a:bodyPr>
          <a:lstStyle/>
          <a:p>
            <a:pPr lvl="0">
              <a:lnSpc>
                <a:spcPct val="110000"/>
              </a:lnSpc>
            </a:pPr>
            <a:r>
              <a:rPr lang="fr-CI" sz="1400" b="1" noProof="0">
                <a:solidFill>
                  <a:schemeClr val="bg1"/>
                </a:solidFill>
                <a:latin typeface="Helvetica" panose="020B0604020202020204" pitchFamily="34" charset="0"/>
                <a:ea typeface="Open Sans Semibold" panose="020B0706030804020204" pitchFamily="34" charset="0"/>
                <a:cs typeface="Helvetica" panose="020B0604020202020204" pitchFamily="34" charset="0"/>
              </a:rPr>
              <a:t>Action</a:t>
            </a:r>
          </a:p>
        </p:txBody>
      </p:sp>
      <p:pic>
        <p:nvPicPr>
          <p:cNvPr id="47" name="Image 46"/>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147871" y="3850143"/>
            <a:ext cx="334029" cy="337914"/>
          </a:xfrm>
          <a:prstGeom prst="rect">
            <a:avLst/>
          </a:prstGeom>
        </p:spPr>
      </p:pic>
      <p:pic>
        <p:nvPicPr>
          <p:cNvPr id="50" name="Image 49">
            <a:extLst>
              <a:ext uri="{FF2B5EF4-FFF2-40B4-BE49-F238E27FC236}">
                <a16:creationId xmlns:a16="http://schemas.microsoft.com/office/drawing/2014/main" id="{593DA389-08F4-31D9-6AB9-E96812D83B72}"/>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6768142" y="1475503"/>
            <a:ext cx="294700" cy="294700"/>
          </a:xfrm>
          <a:prstGeom prst="rect">
            <a:avLst/>
          </a:prstGeom>
        </p:spPr>
      </p:pic>
      <p:pic>
        <p:nvPicPr>
          <p:cNvPr id="25" name="Image 24"/>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2156977" y="1457088"/>
            <a:ext cx="281624" cy="284788"/>
          </a:xfrm>
          <a:prstGeom prst="rect">
            <a:avLst/>
          </a:prstGeom>
        </p:spPr>
      </p:pic>
      <p:pic>
        <p:nvPicPr>
          <p:cNvPr id="28" name="Image 27"/>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6791905" y="3883760"/>
            <a:ext cx="270937" cy="276827"/>
          </a:xfrm>
          <a:prstGeom prst="rect">
            <a:avLst/>
          </a:prstGeom>
        </p:spPr>
      </p:pic>
      <p:sp>
        <p:nvSpPr>
          <p:cNvPr id="31" name="Rectangle 30"/>
          <p:cNvSpPr/>
          <p:nvPr/>
        </p:nvSpPr>
        <p:spPr>
          <a:xfrm>
            <a:off x="1999671" y="1962253"/>
            <a:ext cx="3122592" cy="1428712"/>
          </a:xfrm>
          <a:prstGeom prst="rect">
            <a:avLst/>
          </a:prstGeom>
        </p:spPr>
        <p:txBody>
          <a:bodyPr wrap="square">
            <a:spAutoFit/>
          </a:bodyPr>
          <a:lstStyle/>
          <a:p>
            <a:pPr lvl="0" marL="0" indent="0">
              <a:buNone/>
              <a:spcBef>
                <a:spcPts val="300"/>
              </a:spcBef>
              <a:defRPr/>
            </a:pPr>
            <a:r>
              <a:rPr kumimoji="1" lang="fr-CI" sz="1250" b="0" noProof="0">
                <a:latin typeface="Helvetica" panose="020B0604020202020204" pitchFamily="34" charset="0"/>
                <a:cs typeface="Helvetica" panose="020B0604020202020204" pitchFamily="34" charset="0"/>
              </a:rPr>
              <a:t>Le Grenier a multiplié ses prêts en s'appuyant presque entièrement sur les ressources du FPPN.</a:t>
            </a:r>
          </a:p>
        </p:txBody>
      </p:sp>
      <p:sp>
        <p:nvSpPr>
          <p:cNvPr id="32" name="Rectangle 31"/>
          <p:cNvSpPr/>
          <p:nvPr/>
        </p:nvSpPr>
        <p:spPr>
          <a:xfrm>
            <a:off x="6623912" y="1926662"/>
            <a:ext cx="3122592" cy="1428712"/>
          </a:xfrm>
          <a:prstGeom prst="rect">
            <a:avLst/>
          </a:prstGeom>
        </p:spPr>
        <p:txBody>
          <a:bodyPr wrap="square">
            <a:spAutoFit/>
          </a:bodyPr>
          <a:lstStyle/>
          <a:p>
            <a:pPr lvl="0" marL="0" indent="0">
              <a:buNone/>
              <a:spcBef>
                <a:spcPts val="300"/>
              </a:spcBef>
              <a:defRPr/>
            </a:pPr>
            <a:r>
              <a:rPr kumimoji="1" lang="fr-CI" sz="1250" b="0" noProof="0">
                <a:latin typeface="Helvetica" panose="020B0604020202020204" pitchFamily="34" charset="0"/>
                <a:cs typeface="Helvetica" panose="020B0604020202020204" pitchFamily="34" charset="0"/>
              </a:rPr>
              <a:t>L'encours atteint 1 044 302 107 FCFA au 31/08/2026. Les précomptes couvrent 76 à 85 % des échéances, et 126 prêts ont plus de 180 jours de retard.</a:t>
            </a:r>
          </a:p>
        </p:txBody>
      </p:sp>
      <p:sp>
        <p:nvSpPr>
          <p:cNvPr id="33" name="Rectangle 32"/>
          <p:cNvSpPr/>
          <p:nvPr/>
        </p:nvSpPr>
        <p:spPr>
          <a:xfrm>
            <a:off x="2093705" y="4388689"/>
            <a:ext cx="3122592" cy="1428712"/>
          </a:xfrm>
          <a:prstGeom prst="rect">
            <a:avLst/>
          </a:prstGeom>
        </p:spPr>
        <p:txBody>
          <a:bodyPr wrap="square">
            <a:spAutoFit/>
          </a:bodyPr>
          <a:lstStyle/>
          <a:p>
            <a:pPr lvl="0" marL="0" indent="0">
              <a:buNone/>
              <a:spcBef>
                <a:spcPts val="300"/>
              </a:spcBef>
              <a:defRPr/>
            </a:pPr>
            <a:r>
              <a:rPr kumimoji="1" lang="fr-CI" sz="1250" b="0" noProof="0">
                <a:latin typeface="Helvetica" panose="020B0604020202020204" pitchFamily="34" charset="0"/>
                <a:cs typeface="Helvetica" panose="020B0604020202020204" pitchFamily="34" charset="0"/>
              </a:rPr>
              <a:t>Le principal risque n'est pas la perte sur prêts, limitée, mais l'immobilisation de l'épargne des mutualistes dans les prêts.</a:t>
            </a:r>
          </a:p>
        </p:txBody>
      </p:sp>
      <p:sp>
        <p:nvSpPr>
          <p:cNvPr id="34" name="Rectangle 33"/>
          <p:cNvSpPr/>
          <p:nvPr/>
        </p:nvSpPr>
        <p:spPr>
          <a:xfrm>
            <a:off x="6768142" y="4336111"/>
            <a:ext cx="3122592" cy="1428712"/>
          </a:xfrm>
          <a:prstGeom prst="rect">
            <a:avLst/>
          </a:prstGeom>
        </p:spPr>
        <p:txBody>
          <a:bodyPr wrap="square">
            <a:spAutoFit/>
          </a:bodyPr>
          <a:lstStyle/>
          <a:p>
            <a:pPr lvl="0" marL="0" indent="0">
              <a:buNone/>
              <a:spcBef>
                <a:spcPts val="300"/>
              </a:spcBef>
              <a:defRPr/>
            </a:pPr>
            <a:r>
              <a:rPr kumimoji="1" lang="fr-CI" sz="1250" b="0" noProof="0">
                <a:latin typeface="Helvetica" panose="020B0604020202020204" pitchFamily="34" charset="0"/>
                <a:cs typeface="Helvetica" panose="020B0604020202020204" pitchFamily="34" charset="0"/>
              </a:rPr>
              <a:t>Le FPPN doit transmettre une politique de crédit lisible, les encaissements hors Solde et la décision qui encadre le financement du Grenier.</a:t>
            </a:r>
          </a:p>
        </p:txBody>
      </p:sp>
      <p:sp>
        <p:nvSpPr>
          <p:cNvPr id="51"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À retenir : Grenier</a:t>
            </a:r>
          </a:p>
        </p:txBody>
      </p:sp>
      <p:sp>
        <p:nvSpPr>
          <p:cNvPr id="52"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Le Grenier croît très vite grâce au financement du FPPN</a:t>
            </a:r>
          </a:p>
        </p:txBody>
      </p:sp>
      <p:sp>
        <p:nvSpPr>
          <p:cNvPr id="53"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Encours multiplié par 132, financé à 87,67 %, retards maîtrisés mais précomptes incomplets</a:t>
            </a:r>
          </a:p>
        </p:txBody>
      </p:sp>
      <p:sp>
        <p:nvSpPr>
          <p:cNvPr id="54"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analyses Adenka</a:t>
            </a:r>
          </a:p>
        </p:txBody>
      </p:sp>
      <p:sp>
        <p:nvSpPr>
          <p:cNvPr id="55" name="TextBox 54"/>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a:t>
            </a:r>
          </a:p>
        </p:txBody>
      </p:sp>
    </p:spTree>
    <p:extLst>
      <p:ext uri="{BB962C8B-B14F-4D97-AF65-F5344CB8AC3E}">
        <p14:creationId xmlns:p14="http://schemas.microsoft.com/office/powerpoint/2010/main" val="111134085"/>
      </p:ext>
    </p:extLst>
  </p:cSld>
  <p:clrMapOvr>
    <a:masterClrMapping/>
  </p:clrMapOvr>
  <p:transition>
    <p:fade/>
  </p:transition>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Google Shape;8651;p70"/>
          <p:cNvSpPr/>
          <p:nvPr/>
        </p:nvSpPr>
        <p:spPr>
          <a:xfrm>
            <a:off x="2013108" y="2588204"/>
            <a:ext cx="1380332" cy="1428252"/>
          </a:xfrm>
          <a:custGeom>
            <a:avLst/>
            <a:gdLst/>
            <a:ahLst/>
            <a:cxnLst/>
            <a:rect l="l" t="t" r="r" b="b"/>
            <a:pathLst>
              <a:path w="8670" h="8971" extrusionOk="0">
                <a:moveTo>
                  <a:pt x="7105" y="1302"/>
                </a:moveTo>
                <a:cubicBezTo>
                  <a:pt x="7105" y="1315"/>
                  <a:pt x="7105" y="1328"/>
                  <a:pt x="7105" y="1341"/>
                </a:cubicBezTo>
                <a:cubicBezTo>
                  <a:pt x="7118" y="1980"/>
                  <a:pt x="7183" y="2619"/>
                  <a:pt x="7183" y="3283"/>
                </a:cubicBezTo>
                <a:cubicBezTo>
                  <a:pt x="7170" y="4404"/>
                  <a:pt x="7183" y="5525"/>
                  <a:pt x="7222" y="6646"/>
                </a:cubicBezTo>
                <a:cubicBezTo>
                  <a:pt x="7235" y="6959"/>
                  <a:pt x="7222" y="7259"/>
                  <a:pt x="7222" y="7559"/>
                </a:cubicBezTo>
                <a:lnTo>
                  <a:pt x="7222" y="7585"/>
                </a:lnTo>
                <a:cubicBezTo>
                  <a:pt x="6935" y="7598"/>
                  <a:pt x="6649" y="7611"/>
                  <a:pt x="6362" y="7611"/>
                </a:cubicBezTo>
                <a:cubicBezTo>
                  <a:pt x="6101" y="7598"/>
                  <a:pt x="5853" y="7585"/>
                  <a:pt x="5593" y="7585"/>
                </a:cubicBezTo>
                <a:cubicBezTo>
                  <a:pt x="4159" y="7559"/>
                  <a:pt x="2712" y="7559"/>
                  <a:pt x="1291" y="7442"/>
                </a:cubicBezTo>
                <a:cubicBezTo>
                  <a:pt x="1278" y="7207"/>
                  <a:pt x="1239" y="6959"/>
                  <a:pt x="1226" y="6725"/>
                </a:cubicBezTo>
                <a:cubicBezTo>
                  <a:pt x="1200" y="6255"/>
                  <a:pt x="1187" y="5799"/>
                  <a:pt x="1200" y="5330"/>
                </a:cubicBezTo>
                <a:cubicBezTo>
                  <a:pt x="1213" y="4222"/>
                  <a:pt x="1226" y="3101"/>
                  <a:pt x="1343" y="1993"/>
                </a:cubicBezTo>
                <a:lnTo>
                  <a:pt x="1552" y="1993"/>
                </a:lnTo>
                <a:cubicBezTo>
                  <a:pt x="2138" y="1980"/>
                  <a:pt x="2725" y="1889"/>
                  <a:pt x="3312" y="1810"/>
                </a:cubicBezTo>
                <a:cubicBezTo>
                  <a:pt x="4576" y="1641"/>
                  <a:pt x="5840" y="1524"/>
                  <a:pt x="7105" y="1302"/>
                </a:cubicBezTo>
                <a:close/>
                <a:moveTo>
                  <a:pt x="7529" y="1"/>
                </a:moveTo>
                <a:cubicBezTo>
                  <a:pt x="7291" y="1"/>
                  <a:pt x="7059" y="53"/>
                  <a:pt x="6818" y="64"/>
                </a:cubicBezTo>
                <a:cubicBezTo>
                  <a:pt x="6375" y="103"/>
                  <a:pt x="5932" y="142"/>
                  <a:pt x="5488" y="194"/>
                </a:cubicBezTo>
                <a:cubicBezTo>
                  <a:pt x="4824" y="259"/>
                  <a:pt x="4107" y="350"/>
                  <a:pt x="3429" y="389"/>
                </a:cubicBezTo>
                <a:cubicBezTo>
                  <a:pt x="2686" y="429"/>
                  <a:pt x="1943" y="481"/>
                  <a:pt x="1213" y="598"/>
                </a:cubicBezTo>
                <a:cubicBezTo>
                  <a:pt x="913" y="624"/>
                  <a:pt x="652" y="728"/>
                  <a:pt x="509" y="976"/>
                </a:cubicBezTo>
                <a:cubicBezTo>
                  <a:pt x="470" y="1028"/>
                  <a:pt x="444" y="1080"/>
                  <a:pt x="431" y="1146"/>
                </a:cubicBezTo>
                <a:cubicBezTo>
                  <a:pt x="300" y="1524"/>
                  <a:pt x="287" y="1928"/>
                  <a:pt x="300" y="2332"/>
                </a:cubicBezTo>
                <a:cubicBezTo>
                  <a:pt x="209" y="3010"/>
                  <a:pt x="209" y="3700"/>
                  <a:pt x="209" y="4378"/>
                </a:cubicBezTo>
                <a:cubicBezTo>
                  <a:pt x="170" y="4769"/>
                  <a:pt x="144" y="5173"/>
                  <a:pt x="131" y="5565"/>
                </a:cubicBezTo>
                <a:cubicBezTo>
                  <a:pt x="105" y="6203"/>
                  <a:pt x="14" y="6842"/>
                  <a:pt x="14" y="7481"/>
                </a:cubicBezTo>
                <a:cubicBezTo>
                  <a:pt x="1" y="7911"/>
                  <a:pt x="157" y="8315"/>
                  <a:pt x="613" y="8419"/>
                </a:cubicBezTo>
                <a:cubicBezTo>
                  <a:pt x="1056" y="8550"/>
                  <a:pt x="1526" y="8524"/>
                  <a:pt x="1982" y="8550"/>
                </a:cubicBezTo>
                <a:cubicBezTo>
                  <a:pt x="2243" y="8563"/>
                  <a:pt x="2503" y="8589"/>
                  <a:pt x="2764" y="8615"/>
                </a:cubicBezTo>
                <a:cubicBezTo>
                  <a:pt x="3885" y="8745"/>
                  <a:pt x="5006" y="8902"/>
                  <a:pt x="6140" y="8941"/>
                </a:cubicBezTo>
                <a:cubicBezTo>
                  <a:pt x="6220" y="8945"/>
                  <a:pt x="6302" y="8946"/>
                  <a:pt x="6383" y="8946"/>
                </a:cubicBezTo>
                <a:cubicBezTo>
                  <a:pt x="6581" y="8946"/>
                  <a:pt x="6781" y="8937"/>
                  <a:pt x="6974" y="8928"/>
                </a:cubicBezTo>
                <a:cubicBezTo>
                  <a:pt x="7118" y="8941"/>
                  <a:pt x="7274" y="8941"/>
                  <a:pt x="7418" y="8941"/>
                </a:cubicBezTo>
                <a:cubicBezTo>
                  <a:pt x="7568" y="8956"/>
                  <a:pt x="7723" y="8971"/>
                  <a:pt x="7877" y="8971"/>
                </a:cubicBezTo>
                <a:cubicBezTo>
                  <a:pt x="7990" y="8971"/>
                  <a:pt x="8103" y="8963"/>
                  <a:pt x="8213" y="8941"/>
                </a:cubicBezTo>
                <a:cubicBezTo>
                  <a:pt x="8643" y="8810"/>
                  <a:pt x="8565" y="8093"/>
                  <a:pt x="8604" y="7741"/>
                </a:cubicBezTo>
                <a:cubicBezTo>
                  <a:pt x="8669" y="6620"/>
                  <a:pt x="8539" y="5499"/>
                  <a:pt x="8487" y="4378"/>
                </a:cubicBezTo>
                <a:cubicBezTo>
                  <a:pt x="8434" y="3453"/>
                  <a:pt x="8330" y="2527"/>
                  <a:pt x="8252" y="1589"/>
                </a:cubicBezTo>
                <a:cubicBezTo>
                  <a:pt x="8200" y="1341"/>
                  <a:pt x="8239" y="637"/>
                  <a:pt x="8096" y="350"/>
                </a:cubicBezTo>
                <a:lnTo>
                  <a:pt x="8082" y="350"/>
                </a:lnTo>
                <a:cubicBezTo>
                  <a:pt x="8056" y="181"/>
                  <a:pt x="7952" y="51"/>
                  <a:pt x="7704" y="11"/>
                </a:cubicBezTo>
                <a:cubicBezTo>
                  <a:pt x="7645" y="4"/>
                  <a:pt x="7587" y="1"/>
                  <a:pt x="7529" y="1"/>
                </a:cubicBezTo>
                <a:close/>
              </a:path>
            </a:pathLst>
          </a:custGeom>
          <a:solidFill>
            <a:schemeClr val="bg1"/>
          </a:solidFill>
          <a:ln w="76200">
            <a:solidFill>
              <a:schemeClr val="tx1"/>
            </a:solidFill>
          </a:ln>
        </p:spPr>
        <p:txBody>
          <a:bodyPr spcFirstLastPara="1" wrap="square" lIns="91425" tIns="91425" rIns="91425" bIns="91425" anchor="ctr" anchorCtr="0">
            <a:noAutofit/>
          </a:bodyPr>
          <a:lstStyle/>
          <a:p>
            <a:pPr marL="0" lvl="0" indent="0" algn="l" rtl="0">
              <a:spcBef>
                <a:spcPts val="0"/>
              </a:spcBef>
              <a:spcAft>
                <a:spcPts val="0"/>
              </a:spcAft>
              <a:buNone/>
            </a:pPr>
            <a:endParaRPr lang="fr-CI" noProof="0">
              <a:solidFill>
                <a:schemeClr val="bg1"/>
              </a:solidFill>
              <a:latin typeface="Helvetica" panose="020B0604020202020204" pitchFamily="34" charset="0"/>
              <a:cs typeface="Helvetica" panose="020B0604020202020204" pitchFamily="34" charset="0"/>
            </a:endParaRPr>
          </a:p>
        </p:txBody>
      </p:sp>
      <p:sp>
        <p:nvSpPr>
          <p:cNvPr id="25" name="Rectangle 24">
            <a:extLst>
              <a:ext uri="{FF2B5EF4-FFF2-40B4-BE49-F238E27FC236}">
                <a16:creationId xmlns:a16="http://schemas.microsoft.com/office/drawing/2014/main" id="{9B9B23AA-050D-4543-80A0-873FE31AFFF7}"/>
              </a:ext>
            </a:extLst>
          </p:cNvPr>
          <p:cNvSpPr/>
          <p:nvPr/>
        </p:nvSpPr>
        <p:spPr>
          <a:xfrm>
            <a:off x="2446471" y="2869098"/>
            <a:ext cx="513606" cy="936923"/>
          </a:xfrm>
          <a:prstGeom prst="rect">
            <a:avLst/>
          </a:prstGeom>
        </p:spPr>
        <p:txBody>
          <a:bodyPr wrap="square" lIns="0" tIns="0" rIns="0" bIns="0">
            <a:spAutoFit/>
          </a:bodyPr>
          <a:lstStyle/>
          <a:p>
            <a:pPr lvl="0">
              <a:lnSpc>
                <a:spcPct val="110000"/>
              </a:lnSpc>
            </a:pPr>
            <a:r>
              <a:rPr lang="fr-CI" sz="6000" b="1" noProof="0">
                <a:solidFill>
                  <a:schemeClr val="bg1"/>
                </a:solidFill>
                <a:latin typeface="Helvetica" panose="020B0604020202020204" pitchFamily="34" charset="0"/>
                <a:ea typeface="Open Sans Semibold" panose="020B0706030804020204" pitchFamily="34" charset="0"/>
                <a:cs typeface="Helvetica" panose="020B0604020202020204" pitchFamily="34" charset="0"/>
              </a:rPr>
              <a:t>8</a:t>
            </a:r>
          </a:p>
        </p:txBody>
      </p:sp>
      <p:sp>
        <p:nvSpPr>
          <p:cNvPr id="10" name="Rectangle 9"/>
          <p:cNvSpPr/>
          <p:nvPr/>
        </p:nvSpPr>
        <p:spPr>
          <a:xfrm>
            <a:off x="3938554" y="2462184"/>
            <a:ext cx="3816000" cy="1200329"/>
          </a:xfrm>
          <a:prstGeom prst="rect">
            <a:avLst/>
          </a:prstGeom>
        </p:spPr>
        <p:txBody>
          <a:bodyPr wrap="square">
            <a:spAutoFit/>
          </a:bodyPr>
          <a:lstStyle/>
          <a:p>
            <a:r>
              <a:rPr lang="fr-CI" sz="3600" b="1" noProof="0">
                <a:solidFill>
                  <a:schemeClr val="bg1"/>
                </a:solidFill>
                <a:latin typeface="Helvetica" panose="020B0604020202020204" pitchFamily="34" charset="0"/>
                <a:cs typeface="Helvetica" panose="020B0604020202020204" pitchFamily="34" charset="0"/>
              </a:rPr>
              <a:t>Retraités et annexes</a:t>
            </a:r>
          </a:p>
        </p:txBody>
      </p:sp>
      <p:pic>
        <p:nvPicPr>
          <p:cNvPr id="9" name="Image 8">
            <a:extLst>
              <a:ext uri="{FF2B5EF4-FFF2-40B4-BE49-F238E27FC236}">
                <a16:creationId xmlns:a16="http://schemas.microsoft.com/office/drawing/2014/main" id="{2C356854-0685-DCEF-E2F6-65D5E9653A47}"/>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71274" y="-185107"/>
            <a:ext cx="3179518" cy="1268781"/>
          </a:xfrm>
          <a:prstGeom prst="rect">
            <a:avLst/>
          </a:prstGeom>
        </p:spPr>
      </p:pic>
      <p:sp>
        <p:nvSpPr>
          <p:cNvPr id="6" name="Rectangle 5"/>
          <p:cNvSpPr/>
          <p:nvPr/>
        </p:nvSpPr>
        <p:spPr>
          <a:xfrm>
            <a:off x="3938554" y="3337559"/>
            <a:ext cx="3816000" cy="923330"/>
          </a:xfrm>
          <a:prstGeom prst="rect">
            <a:avLst/>
          </a:prstGeom>
        </p:spPr>
        <p:txBody>
          <a:bodyPr wrap="square">
            <a:spAutoFit/>
          </a:bodyPr>
          <a:lstStyle/>
          <a:p>
            <a:br>
              <a:rPr lang="fr-CI" noProof="0">
                <a:solidFill>
                  <a:schemeClr val="bg1"/>
                </a:solidFill>
              </a:rPr>
            </a:br>
            <a:r>
              <a:rPr lang="fr-CI" noProof="0">
                <a:solidFill>
                  <a:srgbClr val="EFAC62"/>
                </a:solidFill>
                <a:latin typeface="Helvetica" panose="020B0604020202020204" pitchFamily="34" charset="0"/>
                <a:ea typeface="Open Sans Light" panose="020B0306030504020204" pitchFamily="34" charset="0"/>
                <a:cs typeface="Helvetica" panose="020B0604020202020204" pitchFamily="34" charset="0"/>
              </a:rPr>
              <a:t>CGRAE, flotte automobile, MEDOC, projets immobiliers</a:t>
            </a:r>
          </a:p>
        </p:txBody>
      </p:sp>
      <p:pic>
        <p:nvPicPr>
          <p:cNvPr id="11" name="Image 1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865561" y="2415481"/>
            <a:ext cx="1566911" cy="1600975"/>
          </a:xfrm>
          <a:prstGeom prst="rect">
            <a:avLst/>
          </a:prstGeom>
        </p:spPr>
      </p:pic>
    </p:spTree>
    <p:extLst>
      <p:ext uri="{BB962C8B-B14F-4D97-AF65-F5344CB8AC3E}">
        <p14:creationId xmlns:p14="http://schemas.microsoft.com/office/powerpoint/2010/main" val="3151736546"/>
      </p:ext>
    </p:extLst>
  </p:cSld>
  <p:clrMapOvr>
    <a:masterClrMapping/>
  </p:clrMapOvr>
  <p:transition>
    <p:fade/>
  </p:transition>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Retraités CGRAE</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Les retraités cotisants sont passés de 16 à 610 en deux ans et demi</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Précompte moyen de 11 940 FCFA par mois sur la pension. Données depuis février 2024</a:t>
            </a:r>
          </a:p>
        </p:txBody>
      </p:sp>
      <p:sp>
        <p:nvSpPr>
          <p:cNvPr id="30" name="TextBox 29"/>
          <p:cNvSpPr txBox="1"/>
          <p:nvPr/>
        </p:nvSpPr>
        <p:spPr>
          <a:xfrm>
            <a:off x="503999" y="1386000"/>
            <a:ext cx="6552000" cy="251999"/>
          </a:xfrm>
          <a:prstGeom prst="rect">
            <a:avLst/>
          </a:prstGeom>
          <a:noFill/>
        </p:spPr>
        <p:txBody>
          <a:bodyPr wrap="square">
            <a:spAutoFit/>
          </a:bodyPr>
          <a:lstStyle/>
          <a:p>
            <a:pPr algn="ctr">
              <a:spcAft>
                <a:spcPts val="0"/>
              </a:spcAft>
            </a:pPr>
            <a:r>
              <a:rPr sz="1200" b="0">
                <a:solidFill>
                  <a:srgbClr val="EFAC62"/>
                </a:solidFill>
                <a:latin typeface="Helvetica"/>
              </a:rPr>
              <a:t>Figure 25 : Retraités précomptés par la CGRAE, par mois</a:t>
            </a:r>
          </a:p>
        </p:txBody>
      </p:sp>
      <p:sp>
        <p:nvSpPr>
          <p:cNvPr id="31" name="TextBox 30"/>
          <p:cNvSpPr txBox="1"/>
          <p:nvPr/>
        </p:nvSpPr>
        <p:spPr>
          <a:xfrm>
            <a:off x="503999" y="1602000"/>
            <a:ext cx="6552000" cy="162000"/>
          </a:xfrm>
          <a:prstGeom prst="rect">
            <a:avLst/>
          </a:prstGeom>
          <a:noFill/>
        </p:spPr>
        <p:txBody>
          <a:bodyPr wrap="square">
            <a:spAutoFit/>
          </a:bodyPr>
          <a:lstStyle/>
          <a:p>
            <a:pPr algn="l">
              <a:spcAft>
                <a:spcPts val="0"/>
              </a:spcAft>
            </a:pPr>
            <a:r>
              <a:rPr sz="900" b="0">
                <a:solidFill>
                  <a:srgbClr val="060606"/>
                </a:solidFill>
                <a:latin typeface="Helvetica"/>
              </a:rPr>
              <a:t>En nombre de retraités</a:t>
            </a:r>
          </a:p>
        </p:txBody>
      </p:sp>
      <p:graphicFrame>
        <p:nvGraphicFramePr>
          <p:cNvPr id="32" name="Chart 31"/>
          <p:cNvGraphicFramePr>
            <a:graphicFrameLocks noGrp="1"/>
          </p:cNvGraphicFramePr>
          <p:nvPr/>
        </p:nvGraphicFramePr>
        <p:xfrm>
          <a:off x="503999" y="1782000"/>
          <a:ext cx="6552000" cy="4086000"/>
        </p:xfrm>
        <a:graphic>
          <a:graphicData uri="http://schemas.openxmlformats.org/drawingml/2006/chart">
            <c:chart xmlns:c="http://schemas.openxmlformats.org/drawingml/2006/chart" r:id="rId6"/>
          </a:graphicData>
        </a:graphic>
      </p:graphicFrame>
      <p:sp>
        <p:nvSpPr>
          <p:cNvPr id="33"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fichiers de précomptes de la Solde, de la CGRAE et du FPPN reçus le 15/10/2026. Traitements Adenka</a:t>
            </a:r>
          </a:p>
        </p:txBody>
      </p:sp>
      <p:sp>
        <p:nvSpPr>
          <p:cNvPr id="34" name="TextBox 33"/>
          <p:cNvSpPr txBox="1"/>
          <p:nvPr/>
        </p:nvSpPr>
        <p:spPr>
          <a:xfrm>
            <a:off x="7272000" y="1440000"/>
            <a:ext cx="4464000" cy="4428000"/>
          </a:xfrm>
          <a:prstGeom prst="rect">
            <a:avLst/>
          </a:prstGeom>
          <a:noFill/>
        </p:spPr>
        <p:txBody>
          <a:bodyPr wrap="square" lIns="54000" rIns="54000"/>
          <a:lstStyle/>
          <a:p>
            <a:pPr algn="just">
              <a:spcAft>
                <a:spcPts val="600"/>
              </a:spcAft>
            </a:pPr>
            <a:r>
              <a:rPr sz="1400" b="1">
                <a:solidFill>
                  <a:srgbClr val="060606"/>
                </a:solidFill>
                <a:latin typeface="Helvetica"/>
              </a:rPr>
              <a:t>610 retraités sont précomptés en août 2026.</a:t>
            </a:r>
            <a:r>
              <a:rPr sz="1400" b="0">
                <a:solidFill>
                  <a:srgbClr val="060606"/>
                </a:solidFill>
                <a:latin typeface="Helvetica"/>
              </a:rPr>
              <a:t> Leur nombre augmente chaque mois depuis février 2024.</a:t>
            </a:r>
          </a:p>
          <a:p>
            <a:pPr algn="just">
              <a:spcAft>
                <a:spcPts val="600"/>
              </a:spcAft>
            </a:pPr>
            <a:r>
              <a:rPr sz="1400" b="1">
                <a:solidFill>
                  <a:srgbClr val="060606"/>
                </a:solidFill>
                <a:latin typeface="Helvetica"/>
              </a:rPr>
              <a:t>Plusieurs anomalies de gestion apparaissent dans les fichiers</a:t>
            </a:r>
            <a:r>
              <a:rPr sz="1400" b="0">
                <a:solidFill>
                  <a:srgbClr val="060606"/>
                </a:solidFill>
                <a:latin typeface="Helvetica"/>
              </a:rPr>
              <a:t> : précomptes en double ou indus remboursés, numéros de décision erronés, précomptes non effectués.</a:t>
            </a:r>
          </a:p>
          <a:p>
            <a:pPr algn="just">
              <a:spcAft>
                <a:spcPts val="600"/>
              </a:spcAft>
            </a:pPr>
            <a:r>
              <a:rPr sz="1400" b="1">
                <a:solidFill>
                  <a:srgbClr val="060606"/>
                </a:solidFill>
                <a:latin typeface="Helvetica"/>
              </a:rPr>
              <a:t>La CGRAE précompte 100,19 % des montants demandés</a:t>
            </a:r>
            <a:r>
              <a:rPr sz="1400" b="0">
                <a:solidFill>
                  <a:srgbClr val="060606"/>
                </a:solidFill>
                <a:latin typeface="Helvetica"/>
              </a:rPr>
              <a:t> sur 30 mois communs.</a:t>
            </a:r>
          </a:p>
          <a:p>
            <a:pPr algn="just">
              <a:spcAft>
                <a:spcPts val="600"/>
              </a:spcAft>
            </a:pPr>
            <a:r>
              <a:rPr sz="1400" b="1">
                <a:solidFill>
                  <a:srgbClr val="060606"/>
                </a:solidFill>
                <a:latin typeface="Helvetica"/>
              </a:rPr>
              <a:t>Implication pour le FPPN.</a:t>
            </a:r>
            <a:r>
              <a:rPr sz="1400" b="0">
                <a:solidFill>
                  <a:srgbClr val="060606"/>
                </a:solidFill>
                <a:latin typeface="Helvetica"/>
              </a:rPr>
              <a:t> Si la garantie santé est maintenue à vie aux retraités pour une cotisation inférieure à son coût, elle devient un engagement viager : sa valeur se calculera avec la table CIMA F (partie 11) dès que les âges et les coûts de soins seront transmis.</a:t>
            </a:r>
          </a:p>
        </p:txBody>
      </p:sp>
      <p:sp>
        <p:nvSpPr>
          <p:cNvPr id="35" name="TextBox 34"/>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CIMA : Conférence interafricaine des marchés d'assurances | CGRAE : Caisse générale de retraite des agents de l'État</a:t>
            </a:r>
          </a:p>
        </p:txBody>
      </p:sp>
    </p:spTree>
    <p:extLst>
      <p:ext uri="{BB962C8B-B14F-4D97-AF65-F5344CB8AC3E}">
        <p14:creationId xmlns:p14="http://schemas.microsoft.com/office/powerpoint/2010/main" val="2194429206"/>
      </p:ext>
    </p:extLst>
  </p:cSld>
  <p:clrMapOvr>
    <a:masterClrMapping/>
  </p:clrMapOvr>
  <p:transition>
    <p:fade/>
  </p:transition>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Produits annexes</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Deux produits sont précomptés sans documentation transmise</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Flotte automobile (9W3) et MEDOC (8Z7) : nature, garanties et comptabilisation à préciser. Projets immobiliers suivis en compte d'attente</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fichiers de précomptes de la Solde, de la CGRAE et du FPPN reçus le 15/10/2026. Traitements Adenka. Balances des comptes du FPPN (Sage 100), exercices 2020 à 2025 et du 01/01 au 31/08/2026 (provisoire). Traitements Adenka</a:t>
            </a:r>
          </a:p>
        </p:txBody>
      </p:sp>
      <p:sp>
        <p:nvSpPr>
          <p:cNvPr id="31" name="TextBox 30"/>
          <p:cNvSpPr txBox="1"/>
          <p:nvPr/>
        </p:nvSpPr>
        <p:spPr>
          <a:xfrm>
            <a:off x="503999" y="1386000"/>
            <a:ext cx="11232000" cy="216000"/>
          </a:xfrm>
          <a:prstGeom prst="rect">
            <a:avLst/>
          </a:prstGeom>
          <a:noFill/>
        </p:spPr>
        <p:txBody>
          <a:bodyPr wrap="square" anchor="t" lIns="54000" rIns="54000"/>
          <a:lstStyle/>
          <a:p>
            <a:pPr algn="ctr"/>
            <a:r>
              <a:rPr sz="1200" b="0">
                <a:solidFill>
                  <a:srgbClr val="EFAC62"/>
                </a:solidFill>
                <a:latin typeface="Helvetica"/>
              </a:rPr>
              <a:t>Tableau 12 : Produits annexes et points à clarifier</a:t>
            </a:r>
          </a:p>
        </p:txBody>
      </p:sp>
      <p:graphicFrame>
        <p:nvGraphicFramePr>
          <p:cNvPr id="32" name="Table 31"/>
          <p:cNvGraphicFramePr>
            <a:graphicFrameLocks noGrp="1"/>
          </p:cNvGraphicFramePr>
          <p:nvPr/>
        </p:nvGraphicFramePr>
        <p:xfrm>
          <a:off x="503999" y="1655999"/>
          <a:ext cx="11232000" cy="1964504"/>
        </p:xfrm>
        <a:graphic>
          <a:graphicData uri="http://schemas.openxmlformats.org/drawingml/2006/table">
            <a:tbl>
              <a:tblPr firstRow="0" bandRow="0">
                <a:tableStyleId>{5940675A-B579-460E-94D1-54222C63F5DA}</a:tableStyleId>
              </a:tblPr>
              <a:tblGrid>
                <a:gridCol w="1728000"/>
                <a:gridCol w="4752000"/>
                <a:gridCol w="4752000"/>
              </a:tblGrid>
              <a:tr h="225250">
                <a:tc>
                  <a:txBody>
                    <a:bodyPr/>
                    <a:lstStyle/>
                    <a:p>
                      <a:pPr marL="0" indent="0" lvl="0">
                        <a:buNone/>
                      </a:pPr>
                      <a:r>
                        <a:rPr sz="1100" b="1">
                          <a:solidFill>
                            <a:srgbClr val="FFFFFF"/>
                          </a:solidFill>
                          <a:latin typeface="Helvetica"/>
                        </a:rPr>
                        <a:t>Produit</a:t>
                      </a:r>
                    </a:p>
                  </a:txBody>
                  <a:tcPr marL="43200" marR="43200" marT="14400" marB="14400" anchor="ctr">
                    <a:solidFill>
                      <a:srgbClr val="060606"/>
                    </a:solidFill>
                  </a:tcPr>
                </a:tc>
                <a:tc>
                  <a:txBody>
                    <a:bodyPr/>
                    <a:lstStyle/>
                    <a:p>
                      <a:pPr marL="0" indent="0" lvl="0">
                        <a:buNone/>
                      </a:pPr>
                      <a:r>
                        <a:rPr sz="1100" b="1">
                          <a:solidFill>
                            <a:srgbClr val="FFFFFF"/>
                          </a:solidFill>
                          <a:latin typeface="Helvetica"/>
                        </a:rPr>
                        <a:t>Ce que montrent les données</a:t>
                      </a:r>
                    </a:p>
                  </a:txBody>
                  <a:tcPr marL="43200" marR="43200" marT="14400" marB="14400" anchor="ctr">
                    <a:solidFill>
                      <a:srgbClr val="060606"/>
                    </a:solidFill>
                  </a:tcPr>
                </a:tc>
                <a:tc>
                  <a:txBody>
                    <a:bodyPr/>
                    <a:lstStyle/>
                    <a:p>
                      <a:pPr marL="0" indent="0" lvl="0">
                        <a:buNone/>
                      </a:pPr>
                      <a:r>
                        <a:rPr sz="1100" b="1">
                          <a:solidFill>
                            <a:srgbClr val="FFFFFF"/>
                          </a:solidFill>
                          <a:latin typeface="Helvetica"/>
                        </a:rPr>
                        <a:t>À obtenir du FPPN</a:t>
                      </a:r>
                    </a:p>
                  </a:txBody>
                  <a:tcPr marL="43200" marR="43200" marT="14400" marB="14400" anchor="ctr">
                    <a:solidFill>
                      <a:srgbClr val="060606"/>
                    </a:solidFill>
                  </a:tcPr>
                </a:tc>
              </a:tr>
              <a:tr h="560551">
                <a:tc>
                  <a:txBody>
                    <a:bodyPr/>
                    <a:lstStyle/>
                    <a:p>
                      <a:pPr marL="0" indent="0" lvl="0">
                        <a:buNone/>
                      </a:pPr>
                      <a:r>
                        <a:rPr sz="1100" b="1">
                          <a:solidFill>
                            <a:srgbClr val="060606"/>
                          </a:solidFill>
                          <a:latin typeface="Helvetica"/>
                        </a:rPr>
                        <a:t>Flotte automobile (9W3)</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La Solde précompte environ 10 000 FCFA par mois et par adhérent de 2023 à 2026. Le compte 47111106 « GNA ASSURANCE » suit l'assureur.</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La convention avec l'assureur, les primes reversées, les sinistres et le rôle exact du FPPN.</a:t>
                      </a:r>
                    </a:p>
                  </a:txBody>
                  <a:tcPr marL="43200" marR="43200" marT="14400" marB="14400" anchor="ctr">
                    <a:solidFill>
                      <a:srgbClr val="FFFFFF"/>
                    </a:solidFill>
                  </a:tcPr>
                </a:tc>
              </a:tr>
              <a:tr h="392901">
                <a:tc>
                  <a:txBody>
                    <a:bodyPr/>
                    <a:lstStyle/>
                    <a:p>
                      <a:pPr marL="0" indent="0" lvl="0">
                        <a:buNone/>
                      </a:pPr>
                      <a:r>
                        <a:rPr sz="1100" b="1">
                          <a:solidFill>
                            <a:srgbClr val="060606"/>
                          </a:solidFill>
                          <a:latin typeface="Helvetica"/>
                        </a:rPr>
                        <a:t>MEDOC (8Z7)</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Le FPPN précompte 5 000 FCFA par mois depuis novembre 2025. Les retours de février et avril 2026 sont vides.</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La nature du produit, les garanties, les bénéficiaires et la comptabilisation.</a:t>
                      </a:r>
                    </a:p>
                  </a:txBody>
                  <a:tcPr marL="43200" marR="43200" marT="14400" marB="14400" anchor="ctr">
                    <a:solidFill>
                      <a:srgbClr val="F2F2F2"/>
                    </a:solidFill>
                  </a:tcPr>
                </a:tc>
              </a:tr>
              <a:tr h="392901">
                <a:tc>
                  <a:txBody>
                    <a:bodyPr/>
                    <a:lstStyle/>
                    <a:p>
                      <a:pPr marL="0" indent="0" lvl="0">
                        <a:buNone/>
                      </a:pPr>
                      <a:r>
                        <a:rPr sz="1100" b="1">
                          <a:solidFill>
                            <a:srgbClr val="060606"/>
                          </a:solidFill>
                          <a:latin typeface="Helvetica"/>
                        </a:rPr>
                        <a:t>Projets immobiliers</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Les comptes 47111200 et 47111201 portent des projets immobiliers. Aucun compte n'est intitulé SCI.</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Le statut juridique des projets et le lien éventuel avec la SCI « La Prévoyance ».</a:t>
                      </a:r>
                    </a:p>
                  </a:txBody>
                  <a:tcPr marL="43200" marR="43200" marT="14400" marB="14400" anchor="ctr">
                    <a:solidFill>
                      <a:srgbClr val="FFFFFF"/>
                    </a:solidFill>
                  </a:tcPr>
                </a:tc>
              </a:tr>
              <a:tr h="392901">
                <a:tc>
                  <a:txBody>
                    <a:bodyPr/>
                    <a:lstStyle/>
                    <a:p>
                      <a:pPr marL="0" indent="0" lvl="0">
                        <a:buNone/>
                      </a:pPr>
                      <a:r>
                        <a:rPr sz="1100" b="1">
                          <a:solidFill>
                            <a:srgbClr val="060606"/>
                          </a:solidFill>
                          <a:latin typeface="Helvetica"/>
                        </a:rPr>
                        <a:t>Identifiants « 183FPPN »</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Les fichiers aller PEP et Grenier de 2025 et 2026 contiennent 34 identifiants sans mécano.</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L'identité et le mécano de ces personnes.</a:t>
                      </a:r>
                    </a:p>
                  </a:txBody>
                  <a:tcPr marL="43200" marR="43200" marT="14400" marB="14400" anchor="ctr">
                    <a:solidFill>
                      <a:srgbClr val="F2F2F2"/>
                    </a:solidFill>
                  </a:tcPr>
                </a:tc>
              </a:tr>
            </a:tbl>
          </a:graphicData>
        </a:graphic>
      </p:graphicFrame>
      <p:sp>
        <p:nvSpPr>
          <p:cNvPr id="33" name="TextBox 32"/>
          <p:cNvSpPr txBox="1"/>
          <p:nvPr/>
        </p:nvSpPr>
        <p:spPr>
          <a:xfrm>
            <a:off x="503999" y="3728505"/>
            <a:ext cx="11232000" cy="2139494"/>
          </a:xfrm>
          <a:prstGeom prst="rect">
            <a:avLst/>
          </a:prstGeom>
          <a:noFill/>
        </p:spPr>
        <p:txBody>
          <a:bodyPr wrap="square" lIns="54000" rIns="54000"/>
          <a:lstStyle/>
          <a:p>
            <a:pPr algn="just">
              <a:spcAft>
                <a:spcPts val="600"/>
              </a:spcAft>
            </a:pPr>
            <a:r>
              <a:rPr sz="1300" b="1">
                <a:solidFill>
                  <a:srgbClr val="060606"/>
                </a:solidFill>
                <a:latin typeface="Helvetica"/>
              </a:rPr>
              <a:t>Ces activités engagent le FPPN sans que leurs règles soient documentées.</a:t>
            </a:r>
            <a:r>
              <a:rPr sz="1300" b="0">
                <a:solidFill>
                  <a:srgbClr val="060606"/>
                </a:solidFill>
                <a:latin typeface="Helvetica"/>
              </a:rPr>
              <a:t> Le FPPN encaisse des précomptes pour le compte de tiers ou pour des produits dont la nature n'est pas écrite.</a:t>
            </a:r>
          </a:p>
          <a:p>
            <a:pPr algn="just">
              <a:spcAft>
                <a:spcPts val="600"/>
              </a:spcAft>
            </a:pPr>
            <a:r>
              <a:rPr sz="1300" b="1">
                <a:solidFill>
                  <a:srgbClr val="060606"/>
                </a:solidFill>
                <a:latin typeface="Helvetica"/>
              </a:rPr>
              <a:t>Implication pour le FPPN.</a:t>
            </a:r>
            <a:r>
              <a:rPr sz="1300" b="0">
                <a:solidFill>
                  <a:srgbClr val="060606"/>
                </a:solidFill>
                <a:latin typeface="Helvetica"/>
              </a:rPr>
              <a:t> Si le FPPN porte lui-même le risque de la flotte automobile, il exerce une activité d'assurance de dommages qui sort du champ des mutuelles sociales : la convention doit le préciser.</a:t>
            </a:r>
          </a:p>
        </p:txBody>
      </p:sp>
      <p:sp>
        <p:nvSpPr>
          <p:cNvPr id="34" name="TextBox 33"/>
          <p:cNvSpPr txBox="1"/>
          <p:nvPr/>
        </p:nvSpPr>
        <p:spPr>
          <a:xfrm>
            <a:off x="367200" y="5932800"/>
            <a:ext cx="11430000" cy="237600"/>
          </a:xfrm>
          <a:prstGeom prst="rect">
            <a:avLst/>
          </a:prstGeom>
          <a:noFill/>
        </p:spPr>
        <p:txBody>
          <a:bodyPr wrap="square" anchor="b" lIns="54000" rIns="54000"/>
          <a:lstStyle/>
          <a:p>
            <a:pPr algn="l"/>
            <a:r>
              <a:rPr sz="650" b="0">
                <a:solidFill>
                  <a:srgbClr val="595959"/>
                </a:solidFill>
                <a:latin typeface="Helvetica"/>
              </a:rPr>
              <a:t>Sigles : FPPN : Fonds de prévoyance de la Police nationale | CGRAE : Caisse générale de retraite des agents de l'État | PEP : Plan Épargne Plus | GNA : assureur de la flotte automobile (compte 47111106) | MEDOC : produit santé complémentaire du poste 8Z7 | SCI : société civile immobilière | 9W3 : poste flotte automobile | 8Z7 : poste MEDOC</a:t>
            </a:r>
          </a:p>
        </p:txBody>
      </p:sp>
    </p:spTree>
    <p:extLst>
      <p:ext uri="{BB962C8B-B14F-4D97-AF65-F5344CB8AC3E}">
        <p14:creationId xmlns:p14="http://schemas.microsoft.com/office/powerpoint/2010/main" val="823525357"/>
      </p:ext>
    </p:extLst>
  </p:cSld>
  <p:clrMapOvr>
    <a:masterClrMapping/>
  </p:clrMapOvr>
  <p:transition>
    <p:fade/>
  </p:transition>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Google Shape;8651;p70"/>
          <p:cNvSpPr/>
          <p:nvPr/>
        </p:nvSpPr>
        <p:spPr>
          <a:xfrm>
            <a:off x="2013108" y="2588204"/>
            <a:ext cx="1380332" cy="1428252"/>
          </a:xfrm>
          <a:custGeom>
            <a:avLst/>
            <a:gdLst/>
            <a:ahLst/>
            <a:cxnLst/>
            <a:rect l="l" t="t" r="r" b="b"/>
            <a:pathLst>
              <a:path w="8670" h="8971" extrusionOk="0">
                <a:moveTo>
                  <a:pt x="7105" y="1302"/>
                </a:moveTo>
                <a:cubicBezTo>
                  <a:pt x="7105" y="1315"/>
                  <a:pt x="7105" y="1328"/>
                  <a:pt x="7105" y="1341"/>
                </a:cubicBezTo>
                <a:cubicBezTo>
                  <a:pt x="7118" y="1980"/>
                  <a:pt x="7183" y="2619"/>
                  <a:pt x="7183" y="3283"/>
                </a:cubicBezTo>
                <a:cubicBezTo>
                  <a:pt x="7170" y="4404"/>
                  <a:pt x="7183" y="5525"/>
                  <a:pt x="7222" y="6646"/>
                </a:cubicBezTo>
                <a:cubicBezTo>
                  <a:pt x="7235" y="6959"/>
                  <a:pt x="7222" y="7259"/>
                  <a:pt x="7222" y="7559"/>
                </a:cubicBezTo>
                <a:lnTo>
                  <a:pt x="7222" y="7585"/>
                </a:lnTo>
                <a:cubicBezTo>
                  <a:pt x="6935" y="7598"/>
                  <a:pt x="6649" y="7611"/>
                  <a:pt x="6362" y="7611"/>
                </a:cubicBezTo>
                <a:cubicBezTo>
                  <a:pt x="6101" y="7598"/>
                  <a:pt x="5853" y="7585"/>
                  <a:pt x="5593" y="7585"/>
                </a:cubicBezTo>
                <a:cubicBezTo>
                  <a:pt x="4159" y="7559"/>
                  <a:pt x="2712" y="7559"/>
                  <a:pt x="1291" y="7442"/>
                </a:cubicBezTo>
                <a:cubicBezTo>
                  <a:pt x="1278" y="7207"/>
                  <a:pt x="1239" y="6959"/>
                  <a:pt x="1226" y="6725"/>
                </a:cubicBezTo>
                <a:cubicBezTo>
                  <a:pt x="1200" y="6255"/>
                  <a:pt x="1187" y="5799"/>
                  <a:pt x="1200" y="5330"/>
                </a:cubicBezTo>
                <a:cubicBezTo>
                  <a:pt x="1213" y="4222"/>
                  <a:pt x="1226" y="3101"/>
                  <a:pt x="1343" y="1993"/>
                </a:cubicBezTo>
                <a:lnTo>
                  <a:pt x="1552" y="1993"/>
                </a:lnTo>
                <a:cubicBezTo>
                  <a:pt x="2138" y="1980"/>
                  <a:pt x="2725" y="1889"/>
                  <a:pt x="3312" y="1810"/>
                </a:cubicBezTo>
                <a:cubicBezTo>
                  <a:pt x="4576" y="1641"/>
                  <a:pt x="5840" y="1524"/>
                  <a:pt x="7105" y="1302"/>
                </a:cubicBezTo>
                <a:close/>
                <a:moveTo>
                  <a:pt x="7529" y="1"/>
                </a:moveTo>
                <a:cubicBezTo>
                  <a:pt x="7291" y="1"/>
                  <a:pt x="7059" y="53"/>
                  <a:pt x="6818" y="64"/>
                </a:cubicBezTo>
                <a:cubicBezTo>
                  <a:pt x="6375" y="103"/>
                  <a:pt x="5932" y="142"/>
                  <a:pt x="5488" y="194"/>
                </a:cubicBezTo>
                <a:cubicBezTo>
                  <a:pt x="4824" y="259"/>
                  <a:pt x="4107" y="350"/>
                  <a:pt x="3429" y="389"/>
                </a:cubicBezTo>
                <a:cubicBezTo>
                  <a:pt x="2686" y="429"/>
                  <a:pt x="1943" y="481"/>
                  <a:pt x="1213" y="598"/>
                </a:cubicBezTo>
                <a:cubicBezTo>
                  <a:pt x="913" y="624"/>
                  <a:pt x="652" y="728"/>
                  <a:pt x="509" y="976"/>
                </a:cubicBezTo>
                <a:cubicBezTo>
                  <a:pt x="470" y="1028"/>
                  <a:pt x="444" y="1080"/>
                  <a:pt x="431" y="1146"/>
                </a:cubicBezTo>
                <a:cubicBezTo>
                  <a:pt x="300" y="1524"/>
                  <a:pt x="287" y="1928"/>
                  <a:pt x="300" y="2332"/>
                </a:cubicBezTo>
                <a:cubicBezTo>
                  <a:pt x="209" y="3010"/>
                  <a:pt x="209" y="3700"/>
                  <a:pt x="209" y="4378"/>
                </a:cubicBezTo>
                <a:cubicBezTo>
                  <a:pt x="170" y="4769"/>
                  <a:pt x="144" y="5173"/>
                  <a:pt x="131" y="5565"/>
                </a:cubicBezTo>
                <a:cubicBezTo>
                  <a:pt x="105" y="6203"/>
                  <a:pt x="14" y="6842"/>
                  <a:pt x="14" y="7481"/>
                </a:cubicBezTo>
                <a:cubicBezTo>
                  <a:pt x="1" y="7911"/>
                  <a:pt x="157" y="8315"/>
                  <a:pt x="613" y="8419"/>
                </a:cubicBezTo>
                <a:cubicBezTo>
                  <a:pt x="1056" y="8550"/>
                  <a:pt x="1526" y="8524"/>
                  <a:pt x="1982" y="8550"/>
                </a:cubicBezTo>
                <a:cubicBezTo>
                  <a:pt x="2243" y="8563"/>
                  <a:pt x="2503" y="8589"/>
                  <a:pt x="2764" y="8615"/>
                </a:cubicBezTo>
                <a:cubicBezTo>
                  <a:pt x="3885" y="8745"/>
                  <a:pt x="5006" y="8902"/>
                  <a:pt x="6140" y="8941"/>
                </a:cubicBezTo>
                <a:cubicBezTo>
                  <a:pt x="6220" y="8945"/>
                  <a:pt x="6302" y="8946"/>
                  <a:pt x="6383" y="8946"/>
                </a:cubicBezTo>
                <a:cubicBezTo>
                  <a:pt x="6581" y="8946"/>
                  <a:pt x="6781" y="8937"/>
                  <a:pt x="6974" y="8928"/>
                </a:cubicBezTo>
                <a:cubicBezTo>
                  <a:pt x="7118" y="8941"/>
                  <a:pt x="7274" y="8941"/>
                  <a:pt x="7418" y="8941"/>
                </a:cubicBezTo>
                <a:cubicBezTo>
                  <a:pt x="7568" y="8956"/>
                  <a:pt x="7723" y="8971"/>
                  <a:pt x="7877" y="8971"/>
                </a:cubicBezTo>
                <a:cubicBezTo>
                  <a:pt x="7990" y="8971"/>
                  <a:pt x="8103" y="8963"/>
                  <a:pt x="8213" y="8941"/>
                </a:cubicBezTo>
                <a:cubicBezTo>
                  <a:pt x="8643" y="8810"/>
                  <a:pt x="8565" y="8093"/>
                  <a:pt x="8604" y="7741"/>
                </a:cubicBezTo>
                <a:cubicBezTo>
                  <a:pt x="8669" y="6620"/>
                  <a:pt x="8539" y="5499"/>
                  <a:pt x="8487" y="4378"/>
                </a:cubicBezTo>
                <a:cubicBezTo>
                  <a:pt x="8434" y="3453"/>
                  <a:pt x="8330" y="2527"/>
                  <a:pt x="8252" y="1589"/>
                </a:cubicBezTo>
                <a:cubicBezTo>
                  <a:pt x="8200" y="1341"/>
                  <a:pt x="8239" y="637"/>
                  <a:pt x="8096" y="350"/>
                </a:cubicBezTo>
                <a:lnTo>
                  <a:pt x="8082" y="350"/>
                </a:lnTo>
                <a:cubicBezTo>
                  <a:pt x="8056" y="181"/>
                  <a:pt x="7952" y="51"/>
                  <a:pt x="7704" y="11"/>
                </a:cubicBezTo>
                <a:cubicBezTo>
                  <a:pt x="7645" y="4"/>
                  <a:pt x="7587" y="1"/>
                  <a:pt x="7529" y="1"/>
                </a:cubicBezTo>
                <a:close/>
              </a:path>
            </a:pathLst>
          </a:custGeom>
          <a:solidFill>
            <a:schemeClr val="bg1"/>
          </a:solidFill>
          <a:ln w="76200">
            <a:solidFill>
              <a:schemeClr val="tx1"/>
            </a:solidFill>
          </a:ln>
        </p:spPr>
        <p:txBody>
          <a:bodyPr spcFirstLastPara="1" wrap="square" lIns="91425" tIns="91425" rIns="91425" bIns="91425" anchor="ctr" anchorCtr="0">
            <a:noAutofit/>
          </a:bodyPr>
          <a:lstStyle/>
          <a:p>
            <a:pPr marL="0" lvl="0" indent="0" algn="l" rtl="0">
              <a:spcBef>
                <a:spcPts val="0"/>
              </a:spcBef>
              <a:spcAft>
                <a:spcPts val="0"/>
              </a:spcAft>
              <a:buNone/>
            </a:pPr>
            <a:endParaRPr lang="fr-CI" noProof="0">
              <a:solidFill>
                <a:schemeClr val="bg1"/>
              </a:solidFill>
              <a:latin typeface="Helvetica" panose="020B0604020202020204" pitchFamily="34" charset="0"/>
              <a:cs typeface="Helvetica" panose="020B0604020202020204" pitchFamily="34" charset="0"/>
            </a:endParaRPr>
          </a:p>
        </p:txBody>
      </p:sp>
      <p:sp>
        <p:nvSpPr>
          <p:cNvPr id="25" name="Rectangle 24">
            <a:extLst>
              <a:ext uri="{FF2B5EF4-FFF2-40B4-BE49-F238E27FC236}">
                <a16:creationId xmlns:a16="http://schemas.microsoft.com/office/drawing/2014/main" id="{9B9B23AA-050D-4543-80A0-873FE31AFFF7}"/>
              </a:ext>
            </a:extLst>
          </p:cNvPr>
          <p:cNvSpPr/>
          <p:nvPr/>
        </p:nvSpPr>
        <p:spPr>
          <a:xfrm>
            <a:off x="2446471" y="2869098"/>
            <a:ext cx="513606" cy="936923"/>
          </a:xfrm>
          <a:prstGeom prst="rect">
            <a:avLst/>
          </a:prstGeom>
        </p:spPr>
        <p:txBody>
          <a:bodyPr wrap="square" lIns="0" tIns="0" rIns="0" bIns="0">
            <a:spAutoFit/>
          </a:bodyPr>
          <a:lstStyle/>
          <a:p>
            <a:pPr lvl="0">
              <a:lnSpc>
                <a:spcPct val="110000"/>
              </a:lnSpc>
            </a:pPr>
            <a:r>
              <a:rPr lang="fr-CI" sz="6000" b="1" noProof="0">
                <a:solidFill>
                  <a:schemeClr val="bg1"/>
                </a:solidFill>
                <a:latin typeface="Helvetica" panose="020B0604020202020204" pitchFamily="34" charset="0"/>
                <a:ea typeface="Open Sans Semibold" panose="020B0706030804020204" pitchFamily="34" charset="0"/>
                <a:cs typeface="Helvetica" panose="020B0604020202020204" pitchFamily="34" charset="0"/>
              </a:rPr>
              <a:t>9</a:t>
            </a:r>
          </a:p>
        </p:txBody>
      </p:sp>
      <p:sp>
        <p:nvSpPr>
          <p:cNvPr id="10" name="Rectangle 9"/>
          <p:cNvSpPr/>
          <p:nvPr/>
        </p:nvSpPr>
        <p:spPr>
          <a:xfrm>
            <a:off x="3938554" y="2462184"/>
            <a:ext cx="3816000" cy="1200329"/>
          </a:xfrm>
          <a:prstGeom prst="rect">
            <a:avLst/>
          </a:prstGeom>
        </p:spPr>
        <p:txBody>
          <a:bodyPr wrap="square">
            <a:spAutoFit/>
          </a:bodyPr>
          <a:lstStyle/>
          <a:p>
            <a:r>
              <a:rPr lang="fr-CI" sz="3600" b="1" noProof="0">
                <a:solidFill>
                  <a:schemeClr val="bg1"/>
                </a:solidFill>
                <a:latin typeface="Helvetica" panose="020B0604020202020204" pitchFamily="34" charset="0"/>
                <a:cs typeface="Helvetica" panose="020B0604020202020204" pitchFamily="34" charset="0"/>
              </a:rPr>
              <a:t>Bilan et placements</a:t>
            </a:r>
          </a:p>
        </p:txBody>
      </p:sp>
      <p:pic>
        <p:nvPicPr>
          <p:cNvPr id="9" name="Image 8">
            <a:extLst>
              <a:ext uri="{FF2B5EF4-FFF2-40B4-BE49-F238E27FC236}">
                <a16:creationId xmlns:a16="http://schemas.microsoft.com/office/drawing/2014/main" id="{2C356854-0685-DCEF-E2F6-65D5E9653A47}"/>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71274" y="-185107"/>
            <a:ext cx="3179518" cy="1268781"/>
          </a:xfrm>
          <a:prstGeom prst="rect">
            <a:avLst/>
          </a:prstGeom>
        </p:spPr>
      </p:pic>
      <p:sp>
        <p:nvSpPr>
          <p:cNvPr id="6" name="Rectangle 5"/>
          <p:cNvSpPr/>
          <p:nvPr/>
        </p:nvSpPr>
        <p:spPr>
          <a:xfrm>
            <a:off x="3938554" y="3337559"/>
            <a:ext cx="3816000" cy="923330"/>
          </a:xfrm>
          <a:prstGeom prst="rect">
            <a:avLst/>
          </a:prstGeom>
        </p:spPr>
        <p:txBody>
          <a:bodyPr wrap="square">
            <a:spAutoFit/>
          </a:bodyPr>
          <a:lstStyle/>
          <a:p>
            <a:br>
              <a:rPr lang="fr-CI" noProof="0">
                <a:solidFill>
                  <a:schemeClr val="bg1"/>
                </a:solidFill>
              </a:rPr>
            </a:br>
            <a:r>
              <a:rPr lang="fr-CI" noProof="0">
                <a:solidFill>
                  <a:srgbClr val="EFAC62"/>
                </a:solidFill>
                <a:latin typeface="Helvetica" panose="020B0604020202020204" pitchFamily="34" charset="0"/>
                <a:ea typeface="Open Sans Light" panose="020B0306030504020204" pitchFamily="34" charset="0"/>
                <a:cs typeface="Helvetica" panose="020B0604020202020204" pitchFamily="34" charset="0"/>
              </a:rPr>
              <a:t>Provisions, adossement par échéance, fonds propres, rendement</a:t>
            </a:r>
          </a:p>
        </p:txBody>
      </p:sp>
      <p:pic>
        <p:nvPicPr>
          <p:cNvPr id="11" name="Image 1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865561" y="2415481"/>
            <a:ext cx="1566911" cy="1600975"/>
          </a:xfrm>
          <a:prstGeom prst="rect">
            <a:avLst/>
          </a:prstGeom>
        </p:spPr>
      </p:pic>
    </p:spTree>
    <p:extLst>
      <p:ext uri="{BB962C8B-B14F-4D97-AF65-F5344CB8AC3E}">
        <p14:creationId xmlns:p14="http://schemas.microsoft.com/office/powerpoint/2010/main" val="2970718929"/>
      </p:ext>
    </p:extLst>
  </p:cSld>
  <p:clrMapOvr>
    <a:masterClrMapping/>
  </p:clrMapOvr>
  <p:transition>
    <p:fade/>
  </p:transition>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7" name="Image 36"/>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3" name="Rectangle 22">
            <a:extLst>
              <a:ext uri="{FF2B5EF4-FFF2-40B4-BE49-F238E27FC236}">
                <a16:creationId xmlns:a16="http://schemas.microsoft.com/office/drawing/2014/main" id="{4CD23CFE-3F31-4BA9-B26F-B9B5B351518E}"/>
              </a:ext>
            </a:extLst>
          </p:cNvPr>
          <p:cNvSpPr/>
          <p:nvPr/>
        </p:nvSpPr>
        <p:spPr>
          <a:xfrm>
            <a:off x="2106184" y="1811264"/>
            <a:ext cx="9685766" cy="901761"/>
          </a:xfrm>
          <a:prstGeom prst="rect">
            <a:avLst/>
          </a:prstGeom>
          <a:ln w="12700">
            <a:solidFill>
              <a:srgbClr val="112A40"/>
            </a:solidFill>
          </a:ln>
        </p:spPr>
        <p:txBody>
          <a:bodyPr wrap="square" lIns="162000" tIns="54000" rIns="72000" bIns="54000" anchor="ctr">
            <a:noAutofit/>
          </a:bodyPr>
          <a:lstStyle/>
          <a:p>
            <a:pPr lvl="0">
              <a:lnSpc>
                <a:spcPct val="110000"/>
              </a:lnSpc>
            </a:pPr>
            <a:r>
              <a:rPr lang="fr-CI" sz="1300" b="1" noProof="0">
                <a:latin typeface="Helvetica" panose="020B0604020202020204" pitchFamily="34" charset="0"/>
                <a:ea typeface="Open Sans Semibold" panose="020B0706030804020204" pitchFamily="34" charset="0"/>
                <a:cs typeface="Helvetica" panose="020B0604020202020204" pitchFamily="34" charset="0"/>
              </a:rPr>
              <a:t>Provisions techniques</a:t>
            </a:r>
          </a:p>
          <a:p>
            <a:pPr lvl="0">
              <a:lnSpc>
                <a:spcPct val="110000"/>
              </a:lnSpc>
            </a:pPr>
            <a:r>
              <a:rPr lang="fr-CI" sz="1150" noProof="0" b="0">
                <a:latin typeface="Helvetica" panose="020B0604020202020204" pitchFamily="34" charset="0"/>
                <a:ea typeface="Open Sans Light" panose="020B0306030504020204" pitchFamily="34" charset="0"/>
                <a:cs typeface="Helvetica" panose="020B0604020202020204" pitchFamily="34" charset="0"/>
              </a:rPr>
              <a:t>Adenka lit les comptes 19011000 et 19012000 jusqu'en 2023, puis 15801000 et 15802000 à partir de 2024 (prestations à payer).</a:t>
            </a:r>
          </a:p>
        </p:txBody>
      </p:sp>
      <p:sp>
        <p:nvSpPr>
          <p:cNvPr id="28" name="Rectangle 27">
            <a:extLst>
              <a:ext uri="{FF2B5EF4-FFF2-40B4-BE49-F238E27FC236}">
                <a16:creationId xmlns:a16="http://schemas.microsoft.com/office/drawing/2014/main" id="{9B9B23AA-050D-4543-80A0-873FE31AFFF7}"/>
              </a:ext>
            </a:extLst>
          </p:cNvPr>
          <p:cNvSpPr/>
          <p:nvPr/>
        </p:nvSpPr>
        <p:spPr>
          <a:xfrm>
            <a:off x="1538714" y="1463475"/>
            <a:ext cx="5748535" cy="166944"/>
          </a:xfrm>
          <a:prstGeom prst="rect">
            <a:avLst/>
          </a:prstGeom>
        </p:spPr>
        <p:txBody>
          <a:bodyPr wrap="square" lIns="0" tIns="0" rIns="0" bIns="0">
            <a:spAutoFit/>
          </a:bodyPr>
          <a:lstStyle/>
          <a:p>
            <a:pPr lvl="0">
              <a:lnSpc>
                <a:spcPct val="110000"/>
              </a:lnSpc>
            </a:pPr>
            <a:r>
              <a:rPr lang="fr-CI" sz="1300" b="1" noProof="0">
                <a:latin typeface="Helvetica" panose="020B0604020202020204" pitchFamily="34" charset="0"/>
                <a:ea typeface="Open Sans Semibold" panose="020B0706030804020204" pitchFamily="34" charset="0"/>
                <a:cs typeface="Helvetica" panose="020B0604020202020204" pitchFamily="34" charset="0"/>
              </a:rPr>
              <a:t/>
            </a:r>
          </a:p>
        </p:txBody>
      </p:sp>
      <p:cxnSp>
        <p:nvCxnSpPr>
          <p:cNvPr id="29" name="Straight Connector 28">
            <a:extLst>
              <a:ext uri="{FF2B5EF4-FFF2-40B4-BE49-F238E27FC236}">
                <a16:creationId xmlns:a16="http://schemas.microsoft.com/office/drawing/2014/main" id="{09E553D9-3562-45A7-BE4B-0F12FAA0490F}"/>
              </a:ext>
            </a:extLst>
          </p:cNvPr>
          <p:cNvCxnSpPr>
            <a:cxnSpLocks/>
          </p:cNvCxnSpPr>
          <p:nvPr/>
        </p:nvCxnSpPr>
        <p:spPr>
          <a:xfrm>
            <a:off x="916803" y="1707866"/>
            <a:ext cx="0" cy="3668091"/>
          </a:xfrm>
          <a:prstGeom prst="line">
            <a:avLst/>
          </a:prstGeom>
          <a:ln w="12700">
            <a:solidFill>
              <a:srgbClr val="112A40"/>
            </a:solidFill>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DA735D38-741F-4EFB-826C-6F87FD459AB4}"/>
              </a:ext>
            </a:extLst>
          </p:cNvPr>
          <p:cNvCxnSpPr/>
          <p:nvPr/>
        </p:nvCxnSpPr>
        <p:spPr>
          <a:xfrm>
            <a:off x="916803" y="2291826"/>
            <a:ext cx="621911" cy="3600"/>
          </a:xfrm>
          <a:prstGeom prst="line">
            <a:avLst/>
          </a:prstGeom>
          <a:ln w="12700">
            <a:solidFill>
              <a:srgbClr val="112A40"/>
            </a:solidFill>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EBCFE36B-AE16-49E8-90A6-6621A0EB0473}"/>
              </a:ext>
            </a:extLst>
          </p:cNvPr>
          <p:cNvCxnSpPr/>
          <p:nvPr/>
        </p:nvCxnSpPr>
        <p:spPr>
          <a:xfrm>
            <a:off x="916803" y="3273370"/>
            <a:ext cx="621911" cy="3600"/>
          </a:xfrm>
          <a:prstGeom prst="line">
            <a:avLst/>
          </a:prstGeom>
          <a:ln w="12700">
            <a:solidFill>
              <a:srgbClr val="112A40"/>
            </a:solidFill>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2697F6E2-C26B-4E5F-B7F9-95C6E9325040}"/>
              </a:ext>
            </a:extLst>
          </p:cNvPr>
          <p:cNvCxnSpPr/>
          <p:nvPr/>
        </p:nvCxnSpPr>
        <p:spPr>
          <a:xfrm>
            <a:off x="916803" y="5368324"/>
            <a:ext cx="621911" cy="3600"/>
          </a:xfrm>
          <a:prstGeom prst="line">
            <a:avLst/>
          </a:prstGeom>
          <a:ln w="12700">
            <a:solidFill>
              <a:srgbClr val="112A40"/>
            </a:solidFill>
          </a:ln>
        </p:spPr>
        <p:style>
          <a:lnRef idx="1">
            <a:schemeClr val="accent1"/>
          </a:lnRef>
          <a:fillRef idx="0">
            <a:schemeClr val="accent1"/>
          </a:fillRef>
          <a:effectRef idx="0">
            <a:schemeClr val="accent1"/>
          </a:effectRef>
          <a:fontRef idx="minor">
            <a:schemeClr val="tx1"/>
          </a:fontRef>
        </p:style>
      </p:cxnSp>
      <p:sp>
        <p:nvSpPr>
          <p:cNvPr id="24" name="Rectangle 23">
            <a:extLst>
              <a:ext uri="{FF2B5EF4-FFF2-40B4-BE49-F238E27FC236}">
                <a16:creationId xmlns:a16="http://schemas.microsoft.com/office/drawing/2014/main" id="{4CD23CFE-3F31-4BA9-B26F-B9B5B351518E}"/>
              </a:ext>
            </a:extLst>
          </p:cNvPr>
          <p:cNvSpPr/>
          <p:nvPr/>
        </p:nvSpPr>
        <p:spPr>
          <a:xfrm>
            <a:off x="2103510" y="2847523"/>
            <a:ext cx="9685766" cy="901761"/>
          </a:xfrm>
          <a:prstGeom prst="rect">
            <a:avLst/>
          </a:prstGeom>
          <a:ln w="12700">
            <a:solidFill>
              <a:srgbClr val="112A40"/>
            </a:solidFill>
          </a:ln>
        </p:spPr>
        <p:txBody>
          <a:bodyPr wrap="square" lIns="162000" tIns="54000" rIns="72000" bIns="54000" anchor="ctr">
            <a:noAutofit/>
          </a:bodyPr>
          <a:lstStyle/>
          <a:p>
            <a:pPr lvl="0">
              <a:lnSpc>
                <a:spcPct val="110000"/>
              </a:lnSpc>
            </a:pPr>
            <a:r>
              <a:rPr lang="fr-CI" sz="1300" b="1" noProof="0">
                <a:latin typeface="Helvetica" panose="020B0604020202020204" pitchFamily="34" charset="0"/>
                <a:ea typeface="Open Sans Semibold" panose="020B0706030804020204" pitchFamily="34" charset="0"/>
                <a:cs typeface="Helvetica" panose="020B0604020202020204" pitchFamily="34" charset="0"/>
              </a:rPr>
              <a:t>Fonds propres</a:t>
            </a:r>
          </a:p>
          <a:p>
            <a:pPr lvl="0">
              <a:lnSpc>
                <a:spcPct val="110000"/>
              </a:lnSpc>
            </a:pPr>
            <a:r>
              <a:rPr lang="fr-CI" sz="1150" noProof="0" b="0">
                <a:latin typeface="Helvetica" panose="020B0604020202020204" pitchFamily="34" charset="0"/>
                <a:ea typeface="Open Sans Light" panose="020B0306030504020204" pitchFamily="34" charset="0"/>
                <a:cs typeface="Helvetica" panose="020B0604020202020204" pitchFamily="34" charset="0"/>
              </a:rPr>
              <a:t>Les fonds propres additionnent les comptes 10, 11 et 12 et le résultat de l'exercice, à chaque clôture.</a:t>
            </a:r>
          </a:p>
        </p:txBody>
      </p:sp>
      <p:sp>
        <p:nvSpPr>
          <p:cNvPr id="33" name="Rectangle 32">
            <a:extLst>
              <a:ext uri="{FF2B5EF4-FFF2-40B4-BE49-F238E27FC236}">
                <a16:creationId xmlns:a16="http://schemas.microsoft.com/office/drawing/2014/main" id="{4CD23CFE-3F31-4BA9-B26F-B9B5B351518E}"/>
              </a:ext>
            </a:extLst>
          </p:cNvPr>
          <p:cNvSpPr/>
          <p:nvPr/>
        </p:nvSpPr>
        <p:spPr>
          <a:xfrm>
            <a:off x="2125344" y="3881185"/>
            <a:ext cx="9685766" cy="901761"/>
          </a:xfrm>
          <a:prstGeom prst="rect">
            <a:avLst/>
          </a:prstGeom>
          <a:ln w="12700">
            <a:solidFill>
              <a:srgbClr val="112A40"/>
            </a:solidFill>
          </a:ln>
        </p:spPr>
        <p:txBody>
          <a:bodyPr wrap="square" lIns="162000" tIns="54000" rIns="72000" bIns="54000" anchor="ctr">
            <a:noAutofit/>
          </a:bodyPr>
          <a:lstStyle/>
          <a:p>
            <a:pPr lvl="0">
              <a:lnSpc>
                <a:spcPct val="110000"/>
              </a:lnSpc>
            </a:pPr>
            <a:r>
              <a:rPr lang="fr-CI" sz="1300" b="1" noProof="0">
                <a:latin typeface="Helvetica" panose="020B0604020202020204" pitchFamily="34" charset="0"/>
                <a:ea typeface="Open Sans Semibold" panose="020B0706030804020204" pitchFamily="34" charset="0"/>
                <a:cs typeface="Helvetica" panose="020B0604020202020204" pitchFamily="34" charset="0"/>
              </a:rPr>
              <a:t>Adossement par échéance</a:t>
            </a:r>
          </a:p>
          <a:p>
            <a:pPr lvl="0">
              <a:lnSpc>
                <a:spcPct val="110000"/>
              </a:lnSpc>
            </a:pPr>
            <a:r>
              <a:rPr lang="fr-CI" sz="1150" noProof="0" b="0">
                <a:latin typeface="Helvetica" panose="020B0604020202020204" pitchFamily="34" charset="0"/>
                <a:ea typeface="Open Sans Light" panose="020B0306030504020204" pitchFamily="34" charset="0"/>
                <a:cs typeface="Helvetica" panose="020B0604020202020204" pitchFamily="34" charset="0"/>
              </a:rPr>
              <a:t>Adenka classe l'actif selon son délai de mobilisation et le passif selon son échéance, puis compare les deux, tranche par tranche.</a:t>
            </a:r>
          </a:p>
        </p:txBody>
      </p:sp>
      <p:sp>
        <p:nvSpPr>
          <p:cNvPr id="34" name="Rectangle 33">
            <a:extLst>
              <a:ext uri="{FF2B5EF4-FFF2-40B4-BE49-F238E27FC236}">
                <a16:creationId xmlns:a16="http://schemas.microsoft.com/office/drawing/2014/main" id="{4CD23CFE-3F31-4BA9-B26F-B9B5B351518E}"/>
              </a:ext>
            </a:extLst>
          </p:cNvPr>
          <p:cNvSpPr/>
          <p:nvPr/>
        </p:nvSpPr>
        <p:spPr>
          <a:xfrm>
            <a:off x="2122670" y="4917444"/>
            <a:ext cx="9685766" cy="901761"/>
          </a:xfrm>
          <a:prstGeom prst="rect">
            <a:avLst/>
          </a:prstGeom>
          <a:ln w="12700">
            <a:solidFill>
              <a:srgbClr val="112A40"/>
            </a:solidFill>
          </a:ln>
        </p:spPr>
        <p:txBody>
          <a:bodyPr wrap="square" lIns="162000" tIns="54000" rIns="72000" bIns="54000" anchor="ctr">
            <a:noAutofit/>
          </a:bodyPr>
          <a:lstStyle/>
          <a:p>
            <a:pPr lvl="1">
              <a:lnSpc>
                <a:spcPct val="110000"/>
              </a:lnSpc>
            </a:pPr>
            <a:r>
              <a:rPr lang="fr-CI" sz="1300" b="1" noProof="0">
                <a:latin typeface="Helvetica" panose="020B0604020202020204" pitchFamily="34" charset="0"/>
                <a:ea typeface="Open Sans Semibold" panose="020B0706030804020204" pitchFamily="34" charset="0"/>
                <a:cs typeface="Helvetica" panose="020B0604020202020204" pitchFamily="34" charset="0"/>
              </a:rPr>
              <a:t>Limite</a:t>
            </a:r>
          </a:p>
          <a:p>
            <a:pPr lvl="1">
              <a:lnSpc>
                <a:spcPct val="110000"/>
              </a:lnSpc>
            </a:pPr>
            <a:r>
              <a:rPr lang="fr-CI" sz="1150" noProof="0" b="0">
                <a:latin typeface="Helvetica" panose="020B0604020202020204" pitchFamily="34" charset="0"/>
                <a:ea typeface="Open Sans Light" panose="020B0306030504020204" pitchFamily="34" charset="0"/>
                <a:cs typeface="Helvetica" panose="020B0604020202020204" pitchFamily="34" charset="0"/>
              </a:rPr>
              <a:t>Le bilan n'a pas été transmis, et le 31/08/2026 est provisoire : il ne comprend ni amortissements ni écritures de fin d'année.</a:t>
            </a:r>
            <a:endParaRPr lang="fr-CI" sz="1200">
              <a:latin typeface="Helvetica" panose="020B0604020202020204" pitchFamily="34" charset="0"/>
              <a:ea typeface="Open Sans Light" panose="020B0306030504020204" pitchFamily="34" charset="0"/>
              <a:cs typeface="Helvetica" panose="020B0604020202020204" pitchFamily="34" charset="0"/>
            </a:endParaRPr>
          </a:p>
        </p:txBody>
      </p:sp>
      <p:cxnSp>
        <p:nvCxnSpPr>
          <p:cNvPr id="39" name="Straight Connector 30">
            <a:extLst>
              <a:ext uri="{FF2B5EF4-FFF2-40B4-BE49-F238E27FC236}">
                <a16:creationId xmlns:a16="http://schemas.microsoft.com/office/drawing/2014/main" id="{EBCFE36B-AE16-49E8-90A6-6621A0EB0473}"/>
              </a:ext>
            </a:extLst>
          </p:cNvPr>
          <p:cNvCxnSpPr/>
          <p:nvPr/>
        </p:nvCxnSpPr>
        <p:spPr>
          <a:xfrm>
            <a:off x="919504" y="4326976"/>
            <a:ext cx="621911" cy="3600"/>
          </a:xfrm>
          <a:prstGeom prst="line">
            <a:avLst/>
          </a:prstGeom>
          <a:ln w="12700">
            <a:solidFill>
              <a:srgbClr val="112A40"/>
            </a:solidFill>
          </a:ln>
        </p:spPr>
        <p:style>
          <a:lnRef idx="1">
            <a:schemeClr val="accent1"/>
          </a:lnRef>
          <a:fillRef idx="0">
            <a:schemeClr val="accent1"/>
          </a:fillRef>
          <a:effectRef idx="0">
            <a:schemeClr val="accent1"/>
          </a:effectRef>
          <a:fontRef idx="minor">
            <a:schemeClr val="tx1"/>
          </a:fontRef>
        </p:style>
      </p:cxnSp>
      <p:grpSp>
        <p:nvGrpSpPr>
          <p:cNvPr id="11" name="Groupe 10"/>
          <p:cNvGrpSpPr/>
          <p:nvPr/>
        </p:nvGrpSpPr>
        <p:grpSpPr>
          <a:xfrm>
            <a:off x="1554870" y="2047565"/>
            <a:ext cx="548640" cy="548640"/>
            <a:chOff x="-1153645" y="1535690"/>
            <a:chExt cx="548640" cy="548640"/>
          </a:xfrm>
        </p:grpSpPr>
        <p:sp>
          <p:nvSpPr>
            <p:cNvPr id="36" name="Oval 21">
              <a:extLst>
                <a:ext uri="{FF2B5EF4-FFF2-40B4-BE49-F238E27FC236}">
                  <a16:creationId xmlns:a16="http://schemas.microsoft.com/office/drawing/2014/main" id="{7BB796F0-2DE6-45B1-851B-D8991F423CF4}"/>
                </a:ext>
              </a:extLst>
            </p:cNvPr>
            <p:cNvSpPr/>
            <p:nvPr/>
          </p:nvSpPr>
          <p:spPr bwMode="gray">
            <a:xfrm>
              <a:off x="-1153645" y="1535690"/>
              <a:ext cx="548640" cy="548640"/>
            </a:xfrm>
            <a:prstGeom prst="ellipse">
              <a:avLst/>
            </a:prstGeom>
            <a:solidFill>
              <a:schemeClr val="tx1"/>
            </a:solidFill>
            <a:ln w="19050" algn="ctr">
              <a:noFill/>
              <a:miter lim="800000"/>
              <a:headEnd/>
              <a:tailEnd/>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 typeface="Wingdings 2" pitchFamily="18" charset="2"/>
                <a:buNone/>
                <a:tabLst/>
                <a:defRPr/>
              </a:pPr>
              <a:endParaRPr kumimoji="0" lang="fr-CI" sz="1100" b="1" i="0" u="none" strike="noStrike" kern="1200" cap="none" spc="0" normalizeH="0" baseline="0" noProof="0">
                <a:ln>
                  <a:noFill/>
                </a:ln>
                <a:solidFill>
                  <a:prstClr val="white"/>
                </a:solidFill>
                <a:effectLst/>
                <a:uLnTx/>
                <a:uFillTx/>
                <a:latin typeface="Helvetica" panose="020B0604020202020204" pitchFamily="34" charset="0"/>
                <a:ea typeface="Open Sans Semibold" panose="020B0706030804020204" pitchFamily="34" charset="0"/>
                <a:cs typeface="Helvetica" panose="020B0604020202020204" pitchFamily="34" charset="0"/>
              </a:endParaRPr>
            </a:p>
          </p:txBody>
        </p:sp>
        <p:pic>
          <p:nvPicPr>
            <p:cNvPr id="40" name="Image 39"/>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23163" y="1564148"/>
              <a:ext cx="486259" cy="491723"/>
            </a:xfrm>
            <a:prstGeom prst="rect">
              <a:avLst/>
            </a:prstGeom>
          </p:spPr>
        </p:pic>
      </p:grpSp>
      <p:grpSp>
        <p:nvGrpSpPr>
          <p:cNvPr id="12" name="Groupe 11"/>
          <p:cNvGrpSpPr/>
          <p:nvPr/>
        </p:nvGrpSpPr>
        <p:grpSpPr>
          <a:xfrm>
            <a:off x="1557425" y="3008849"/>
            <a:ext cx="548640" cy="548640"/>
            <a:chOff x="-1154302" y="2719457"/>
            <a:chExt cx="548640" cy="548640"/>
          </a:xfrm>
        </p:grpSpPr>
        <p:sp>
          <p:nvSpPr>
            <p:cNvPr id="42" name="Oval 21">
              <a:extLst>
                <a:ext uri="{FF2B5EF4-FFF2-40B4-BE49-F238E27FC236}">
                  <a16:creationId xmlns:a16="http://schemas.microsoft.com/office/drawing/2014/main" id="{7BB796F0-2DE6-45B1-851B-D8991F423CF4}"/>
                </a:ext>
              </a:extLst>
            </p:cNvPr>
            <p:cNvSpPr/>
            <p:nvPr/>
          </p:nvSpPr>
          <p:spPr bwMode="gray">
            <a:xfrm>
              <a:off x="-1154302" y="2719457"/>
              <a:ext cx="548640" cy="548640"/>
            </a:xfrm>
            <a:prstGeom prst="ellipse">
              <a:avLst/>
            </a:prstGeom>
            <a:solidFill>
              <a:schemeClr val="tx1"/>
            </a:solidFill>
            <a:ln w="19050" algn="ctr">
              <a:noFill/>
              <a:miter lim="800000"/>
              <a:headEnd/>
              <a:tailEnd/>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 typeface="Wingdings 2" pitchFamily="18" charset="2"/>
                <a:buNone/>
                <a:tabLst/>
                <a:defRPr/>
              </a:pPr>
              <a:endParaRPr kumimoji="0" lang="fr-CI" sz="1100" b="1" i="0" u="none" strike="noStrike" kern="1200" cap="none" spc="0" normalizeH="0" baseline="0" noProof="0">
                <a:ln>
                  <a:noFill/>
                </a:ln>
                <a:solidFill>
                  <a:prstClr val="white"/>
                </a:solidFill>
                <a:effectLst/>
                <a:uLnTx/>
                <a:uFillTx/>
                <a:latin typeface="Helvetica" panose="020B0604020202020204" pitchFamily="34" charset="0"/>
                <a:ea typeface="Open Sans Semibold" panose="020B0706030804020204" pitchFamily="34" charset="0"/>
                <a:cs typeface="Helvetica" panose="020B0604020202020204" pitchFamily="34" charset="0"/>
              </a:endParaRPr>
            </a:p>
          </p:txBody>
        </p:sp>
        <p:pic>
          <p:nvPicPr>
            <p:cNvPr id="7" name="Image 6"/>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74901" y="2781886"/>
              <a:ext cx="396274" cy="396274"/>
            </a:xfrm>
            <a:prstGeom prst="rect">
              <a:avLst/>
            </a:prstGeom>
          </p:spPr>
        </p:pic>
      </p:grpSp>
      <p:grpSp>
        <p:nvGrpSpPr>
          <p:cNvPr id="13" name="Groupe 12"/>
          <p:cNvGrpSpPr/>
          <p:nvPr/>
        </p:nvGrpSpPr>
        <p:grpSpPr>
          <a:xfrm>
            <a:off x="1567381" y="4044725"/>
            <a:ext cx="548640" cy="552951"/>
            <a:chOff x="-1185544" y="4122202"/>
            <a:chExt cx="548640" cy="552951"/>
          </a:xfrm>
        </p:grpSpPr>
        <p:sp>
          <p:nvSpPr>
            <p:cNvPr id="44" name="Oval 21">
              <a:extLst>
                <a:ext uri="{FF2B5EF4-FFF2-40B4-BE49-F238E27FC236}">
                  <a16:creationId xmlns:a16="http://schemas.microsoft.com/office/drawing/2014/main" id="{7BB796F0-2DE6-45B1-851B-D8991F423CF4}"/>
                </a:ext>
              </a:extLst>
            </p:cNvPr>
            <p:cNvSpPr/>
            <p:nvPr/>
          </p:nvSpPr>
          <p:spPr bwMode="gray">
            <a:xfrm>
              <a:off x="-1185544" y="4122202"/>
              <a:ext cx="548640" cy="548640"/>
            </a:xfrm>
            <a:prstGeom prst="ellipse">
              <a:avLst/>
            </a:prstGeom>
            <a:solidFill>
              <a:schemeClr val="tx1"/>
            </a:solidFill>
            <a:ln w="19050" algn="ctr">
              <a:noFill/>
              <a:miter lim="800000"/>
              <a:headEnd/>
              <a:tailEnd/>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 typeface="Wingdings 2" pitchFamily="18" charset="2"/>
                <a:buNone/>
                <a:tabLst/>
                <a:defRPr/>
              </a:pPr>
              <a:endParaRPr kumimoji="0" lang="fr-CI" sz="1100" b="1" i="0" u="none" strike="noStrike" kern="1200" cap="none" spc="0" normalizeH="0" baseline="0" noProof="0">
                <a:ln>
                  <a:noFill/>
                </a:ln>
                <a:solidFill>
                  <a:prstClr val="white"/>
                </a:solidFill>
                <a:effectLst/>
                <a:uLnTx/>
                <a:uFillTx/>
                <a:latin typeface="Helvetica" panose="020B0604020202020204" pitchFamily="34" charset="0"/>
                <a:ea typeface="Open Sans Semibold" panose="020B0706030804020204" pitchFamily="34" charset="0"/>
                <a:cs typeface="Helvetica" panose="020B0604020202020204" pitchFamily="34" charset="0"/>
              </a:endParaRPr>
            </a:p>
          </p:txBody>
        </p:sp>
        <p:pic>
          <p:nvPicPr>
            <p:cNvPr id="8" name="Image 7"/>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171838" y="4144755"/>
              <a:ext cx="524301" cy="530398"/>
            </a:xfrm>
            <a:prstGeom prst="rect">
              <a:avLst/>
            </a:prstGeom>
          </p:spPr>
        </p:pic>
      </p:grpSp>
      <p:grpSp>
        <p:nvGrpSpPr>
          <p:cNvPr id="14" name="Groupe 13"/>
          <p:cNvGrpSpPr/>
          <p:nvPr/>
        </p:nvGrpSpPr>
        <p:grpSpPr>
          <a:xfrm>
            <a:off x="1567381" y="5111071"/>
            <a:ext cx="548640" cy="548640"/>
            <a:chOff x="-1227267" y="5286500"/>
            <a:chExt cx="548640" cy="548640"/>
          </a:xfrm>
        </p:grpSpPr>
        <p:sp>
          <p:nvSpPr>
            <p:cNvPr id="45" name="Oval 21">
              <a:extLst>
                <a:ext uri="{FF2B5EF4-FFF2-40B4-BE49-F238E27FC236}">
                  <a16:creationId xmlns:a16="http://schemas.microsoft.com/office/drawing/2014/main" id="{7BB796F0-2DE6-45B1-851B-D8991F423CF4}"/>
                </a:ext>
              </a:extLst>
            </p:cNvPr>
            <p:cNvSpPr/>
            <p:nvPr/>
          </p:nvSpPr>
          <p:spPr bwMode="gray">
            <a:xfrm>
              <a:off x="-1227267" y="5286500"/>
              <a:ext cx="548640" cy="548640"/>
            </a:xfrm>
            <a:prstGeom prst="ellipse">
              <a:avLst/>
            </a:prstGeom>
            <a:solidFill>
              <a:schemeClr val="tx1"/>
            </a:solidFill>
            <a:ln w="19050" algn="ctr">
              <a:noFill/>
              <a:miter lim="800000"/>
              <a:headEnd/>
              <a:tailEnd/>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 typeface="Wingdings 2" pitchFamily="18" charset="2"/>
                <a:buNone/>
                <a:tabLst/>
                <a:defRPr/>
              </a:pPr>
              <a:endParaRPr kumimoji="0" lang="fr-CI" sz="1100" b="1" i="0" u="none" strike="noStrike" kern="1200" cap="none" spc="0" normalizeH="0" baseline="0" noProof="0">
                <a:ln>
                  <a:noFill/>
                </a:ln>
                <a:solidFill>
                  <a:prstClr val="white"/>
                </a:solidFill>
                <a:effectLst/>
                <a:uLnTx/>
                <a:uFillTx/>
                <a:latin typeface="Helvetica" panose="020B0604020202020204" pitchFamily="34" charset="0"/>
                <a:ea typeface="Open Sans Semibold" panose="020B0706030804020204" pitchFamily="34" charset="0"/>
                <a:cs typeface="Helvetica" panose="020B0604020202020204" pitchFamily="34" charset="0"/>
              </a:endParaRPr>
            </a:p>
          </p:txBody>
        </p:sp>
        <p:pic>
          <p:nvPicPr>
            <p:cNvPr id="9" name="Image 8"/>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1171838" y="5346402"/>
              <a:ext cx="422834" cy="432026"/>
            </a:xfrm>
            <a:prstGeom prst="rect">
              <a:avLst/>
            </a:prstGeom>
          </p:spPr>
        </p:pic>
      </p:grpSp>
      <p:sp>
        <p:nvSpPr>
          <p:cNvPr id="50" name="ZoneTexte 49">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pic>
        <p:nvPicPr>
          <p:cNvPr id="51" name="Image 50"/>
          <p:cNvPicPr>
            <a:picLocks noChangeAspect="1"/>
          </p:cNvPicPr>
          <p:nvPr/>
        </p:nvPicPr>
        <p:blipFill rotWithShape="1">
          <a:blip r:embed="rId7" cstate="print">
            <a:extLst>
              <a:ext uri="{28A0092B-C50C-407E-A947-70E740481C1C}">
                <a14:useLocalDpi xmlns:a14="http://schemas.microsoft.com/office/drawing/2010/main" val="0"/>
              </a:ext>
            </a:extLst>
          </a:blip>
          <a:srcRect l="4260" t="13024" r="74155" b="14121"/>
          <a:stretch/>
        </p:blipFill>
        <p:spPr>
          <a:xfrm>
            <a:off x="702475" y="1350400"/>
            <a:ext cx="392679" cy="406703"/>
          </a:xfrm>
          <a:prstGeom prst="rect">
            <a:avLst/>
          </a:prstGeom>
        </p:spPr>
      </p:pic>
      <p:sp>
        <p:nvSpPr>
          <p:cNvPr id="52"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Méthode : lecture du bilan</a:t>
            </a:r>
          </a:p>
        </p:txBody>
      </p:sp>
      <p:sp>
        <p:nvSpPr>
          <p:cNvPr id="53"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Le bilan est reconstitué compte par compte à partir des balances</a:t>
            </a:r>
          </a:p>
        </p:txBody>
      </p:sp>
      <p:sp>
        <p:nvSpPr>
          <p:cNvPr id="54"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Provisions, épargne, actifs et fonds propres sont calculés à chaque clôture, de 2020 au 31/08/2026</a:t>
            </a:r>
          </a:p>
        </p:txBody>
      </p:sp>
      <p:sp>
        <p:nvSpPr>
          <p:cNvPr id="55"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Adenka</a:t>
            </a:r>
          </a:p>
        </p:txBody>
      </p:sp>
    </p:spTree>
    <p:extLst>
      <p:ext uri="{BB962C8B-B14F-4D97-AF65-F5344CB8AC3E}">
        <p14:creationId xmlns:p14="http://schemas.microsoft.com/office/powerpoint/2010/main" val="3472301196"/>
      </p:ext>
    </p:extLst>
  </p:cSld>
  <p:clrMapOvr>
    <a:masterClrMapping/>
  </p:clrMapOvr>
  <p:transition>
    <p:fade/>
  </p:transition>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Calcul pas à pas : provisions</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Les deux comptes de provisions portent exactement le même montant sept ans de suite</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Maladie 2 867 602 878 FCFA et obsèques 1 961 695 412 FCFA à chaque clôture</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balances des comptes du FPPN (Sage 100), exercices 2020 à 2025 et du 01/01 au 31/08/2026 (provisoire). Traitements Adenka</a:t>
            </a:r>
          </a:p>
        </p:txBody>
      </p:sp>
      <p:sp>
        <p:nvSpPr>
          <p:cNvPr id="31" name="TextBox 30"/>
          <p:cNvSpPr txBox="1"/>
          <p:nvPr/>
        </p:nvSpPr>
        <p:spPr>
          <a:xfrm>
            <a:off x="503999" y="1350000"/>
            <a:ext cx="9072000" cy="180000"/>
          </a:xfrm>
          <a:prstGeom prst="rect">
            <a:avLst/>
          </a:prstGeom>
          <a:noFill/>
        </p:spPr>
        <p:txBody>
          <a:bodyPr wrap="square" anchor="t" lIns="54000" rIns="54000"/>
          <a:lstStyle/>
          <a:p>
            <a:pPr algn="l"/>
            <a:r>
              <a:rPr sz="900" b="0">
                <a:solidFill>
                  <a:srgbClr val="53565A"/>
                </a:solidFill>
                <a:latin typeface="Helvetica"/>
              </a:rPr>
              <a:t>Extrait : AUDIT ADENKA\DAFC\2020 à 2026 (balances des comptes)</a:t>
            </a:r>
          </a:p>
        </p:txBody>
      </p:sp>
      <p:graphicFrame>
        <p:nvGraphicFramePr>
          <p:cNvPr id="32" name="Table 31"/>
          <p:cNvGraphicFramePr>
            <a:graphicFrameLocks noGrp="1"/>
          </p:cNvGraphicFramePr>
          <p:nvPr/>
        </p:nvGraphicFramePr>
        <p:xfrm>
          <a:off x="503999" y="1548000"/>
          <a:ext cx="9072000" cy="1680072"/>
        </p:xfrm>
        <a:graphic>
          <a:graphicData uri="http://schemas.openxmlformats.org/drawingml/2006/table">
            <a:tbl>
              <a:tblPr firstRow="0" bandRow="0">
                <a:tableStyleId>{5940675A-B579-460E-94D1-54222C63F5DA}</a:tableStyleId>
              </a:tblPr>
              <a:tblGrid>
                <a:gridCol w="1296000"/>
                <a:gridCol w="1440000"/>
                <a:gridCol w="2448000"/>
                <a:gridCol w="1440000"/>
                <a:gridCol w="2448000"/>
              </a:tblGrid>
              <a:tr h="210009">
                <a:tc>
                  <a:txBody>
                    <a:bodyPr/>
                    <a:lstStyle/>
                    <a:p>
                      <a:pPr marL="0" indent="0" lvl="0">
                        <a:buNone/>
                      </a:pPr>
                      <a:r>
                        <a:rPr sz="1000" b="1">
                          <a:solidFill>
                            <a:srgbClr val="FFFFFF"/>
                          </a:solidFill>
                          <a:latin typeface="Helvetica"/>
                        </a:rPr>
                        <a:t>Clôture</a:t>
                      </a:r>
                    </a:p>
                  </a:txBody>
                  <a:tcPr marL="43200" marR="43200" marT="14400" marB="14400" anchor="ctr">
                    <a:solidFill>
                      <a:srgbClr val="060606"/>
                    </a:solidFill>
                  </a:tcPr>
                </a:tc>
                <a:tc>
                  <a:txBody>
                    <a:bodyPr/>
                    <a:lstStyle/>
                    <a:p>
                      <a:pPr marL="0" indent="0" lvl="0">
                        <a:buNone/>
                      </a:pPr>
                      <a:r>
                        <a:rPr sz="1000" b="1">
                          <a:solidFill>
                            <a:srgbClr val="FFFFFF"/>
                          </a:solidFill>
                          <a:latin typeface="Helvetica"/>
                        </a:rPr>
                        <a:t>Compte maladie</a:t>
                      </a:r>
                    </a:p>
                  </a:txBody>
                  <a:tcPr marL="43200" marR="43200" marT="14400" marB="14400" anchor="ctr">
                    <a:solidFill>
                      <a:srgbClr val="060606"/>
                    </a:solidFill>
                  </a:tcPr>
                </a:tc>
                <a:tc>
                  <a:txBody>
                    <a:bodyPr/>
                    <a:lstStyle/>
                    <a:p>
                      <a:pPr marL="0" indent="0" lvl="0">
                        <a:buNone/>
                      </a:pPr>
                      <a:r>
                        <a:rPr sz="1000" b="1">
                          <a:solidFill>
                            <a:srgbClr val="FFFFFF"/>
                          </a:solidFill>
                          <a:latin typeface="Helvetica"/>
                        </a:rPr>
                        <a:t>Provision maladie</a:t>
                      </a:r>
                    </a:p>
                  </a:txBody>
                  <a:tcPr marL="43200" marR="43200" marT="14400" marB="14400" anchor="ctr">
                    <a:solidFill>
                      <a:srgbClr val="060606"/>
                    </a:solidFill>
                  </a:tcPr>
                </a:tc>
                <a:tc>
                  <a:txBody>
                    <a:bodyPr/>
                    <a:lstStyle/>
                    <a:p>
                      <a:pPr marL="0" indent="0" lvl="0">
                        <a:buNone/>
                      </a:pPr>
                      <a:r>
                        <a:rPr sz="1000" b="1">
                          <a:solidFill>
                            <a:srgbClr val="FFFFFF"/>
                          </a:solidFill>
                          <a:latin typeface="Helvetica"/>
                        </a:rPr>
                        <a:t>Compte obsèques</a:t>
                      </a:r>
                    </a:p>
                  </a:txBody>
                  <a:tcPr marL="43200" marR="43200" marT="14400" marB="14400" anchor="ctr">
                    <a:solidFill>
                      <a:srgbClr val="060606"/>
                    </a:solidFill>
                  </a:tcPr>
                </a:tc>
                <a:tc>
                  <a:txBody>
                    <a:bodyPr/>
                    <a:lstStyle/>
                    <a:p>
                      <a:pPr marL="0" indent="0" lvl="0">
                        <a:buNone/>
                      </a:pPr>
                      <a:r>
                        <a:rPr sz="1000" b="1">
                          <a:solidFill>
                            <a:srgbClr val="FFFFFF"/>
                          </a:solidFill>
                          <a:latin typeface="Helvetica"/>
                        </a:rPr>
                        <a:t>Provision obsèques</a:t>
                      </a:r>
                    </a:p>
                  </a:txBody>
                  <a:tcPr marL="43200" marR="43200" marT="14400" marB="14400" anchor="ctr">
                    <a:solidFill>
                      <a:srgbClr val="060606"/>
                    </a:solidFill>
                  </a:tcPr>
                </a:tc>
              </a:tr>
              <a:tr h="210009">
                <a:tc>
                  <a:txBody>
                    <a:bodyPr/>
                    <a:lstStyle/>
                    <a:p>
                      <a:pPr marL="0" indent="0" lvl="0">
                        <a:buNone/>
                      </a:pPr>
                      <a:r>
                        <a:rPr sz="1000" b="1">
                          <a:solidFill>
                            <a:srgbClr val="060606"/>
                          </a:solidFill>
                          <a:latin typeface="Helvetica"/>
                        </a:rPr>
                        <a:t>2020</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19011000</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2 867 602 878 FCFA</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19012000</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1 961 695 412 FCFA</a:t>
                      </a:r>
                    </a:p>
                  </a:txBody>
                  <a:tcPr marL="43200" marR="43200" marT="14400" marB="14400" anchor="ctr">
                    <a:solidFill>
                      <a:srgbClr val="FFFFFF"/>
                    </a:solidFill>
                  </a:tcPr>
                </a:tc>
              </a:tr>
              <a:tr h="210009">
                <a:tc>
                  <a:txBody>
                    <a:bodyPr/>
                    <a:lstStyle/>
                    <a:p>
                      <a:pPr marL="0" indent="0" lvl="0">
                        <a:buNone/>
                      </a:pPr>
                      <a:r>
                        <a:rPr sz="1000" b="1">
                          <a:solidFill>
                            <a:srgbClr val="060606"/>
                          </a:solidFill>
                          <a:latin typeface="Helvetica"/>
                        </a:rPr>
                        <a:t>2021</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19011000</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2 867 602 878 FCFA</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19012000</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1 961 695 412 FCFA</a:t>
                      </a:r>
                    </a:p>
                  </a:txBody>
                  <a:tcPr marL="43200" marR="43200" marT="14400" marB="14400" anchor="ctr">
                    <a:solidFill>
                      <a:srgbClr val="F2F2F2"/>
                    </a:solidFill>
                  </a:tcPr>
                </a:tc>
              </a:tr>
              <a:tr h="210009">
                <a:tc>
                  <a:txBody>
                    <a:bodyPr/>
                    <a:lstStyle/>
                    <a:p>
                      <a:pPr marL="0" indent="0" lvl="0">
                        <a:buNone/>
                      </a:pPr>
                      <a:r>
                        <a:rPr sz="1000" b="1">
                          <a:solidFill>
                            <a:srgbClr val="060606"/>
                          </a:solidFill>
                          <a:latin typeface="Helvetica"/>
                        </a:rPr>
                        <a:t>2022</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19011000</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2 867 602 878 FCFA</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19012000</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1 961 695 412 FCFA</a:t>
                      </a:r>
                    </a:p>
                  </a:txBody>
                  <a:tcPr marL="43200" marR="43200" marT="14400" marB="14400" anchor="ctr">
                    <a:solidFill>
                      <a:srgbClr val="FFFFFF"/>
                    </a:solidFill>
                  </a:tcPr>
                </a:tc>
              </a:tr>
              <a:tr h="210009">
                <a:tc>
                  <a:txBody>
                    <a:bodyPr/>
                    <a:lstStyle/>
                    <a:p>
                      <a:pPr marL="0" indent="0" lvl="0">
                        <a:buNone/>
                      </a:pPr>
                      <a:r>
                        <a:rPr sz="1000" b="1">
                          <a:solidFill>
                            <a:srgbClr val="060606"/>
                          </a:solidFill>
                          <a:latin typeface="Helvetica"/>
                        </a:rPr>
                        <a:t>2023</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19011000</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2 867 602 878 FCFA</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19012000</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1 961 695 412 FCFA</a:t>
                      </a:r>
                    </a:p>
                  </a:txBody>
                  <a:tcPr marL="43200" marR="43200" marT="14400" marB="14400" anchor="ctr">
                    <a:solidFill>
                      <a:srgbClr val="F2F2F2"/>
                    </a:solidFill>
                  </a:tcPr>
                </a:tc>
              </a:tr>
              <a:tr h="210009">
                <a:tc>
                  <a:txBody>
                    <a:bodyPr/>
                    <a:lstStyle/>
                    <a:p>
                      <a:pPr marL="0" indent="0" lvl="0">
                        <a:buNone/>
                      </a:pPr>
                      <a:r>
                        <a:rPr sz="1000" b="1">
                          <a:solidFill>
                            <a:srgbClr val="060606"/>
                          </a:solidFill>
                          <a:latin typeface="Helvetica"/>
                        </a:rPr>
                        <a:t>2024</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15801000</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2 867 602 878 FCFA</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15802000</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1 961 695 412 FCFA</a:t>
                      </a:r>
                    </a:p>
                  </a:txBody>
                  <a:tcPr marL="43200" marR="43200" marT="14400" marB="14400" anchor="ctr">
                    <a:solidFill>
                      <a:srgbClr val="FFFFFF"/>
                    </a:solidFill>
                  </a:tcPr>
                </a:tc>
              </a:tr>
              <a:tr h="210009">
                <a:tc>
                  <a:txBody>
                    <a:bodyPr/>
                    <a:lstStyle/>
                    <a:p>
                      <a:pPr marL="0" indent="0" lvl="0">
                        <a:buNone/>
                      </a:pPr>
                      <a:r>
                        <a:rPr sz="1000" b="1">
                          <a:solidFill>
                            <a:srgbClr val="060606"/>
                          </a:solidFill>
                          <a:latin typeface="Helvetica"/>
                        </a:rPr>
                        <a:t>2025</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15801000</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2 867 602 878 FCFA</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15802000</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1 961 695 412 FCFA</a:t>
                      </a:r>
                    </a:p>
                  </a:txBody>
                  <a:tcPr marL="43200" marR="43200" marT="14400" marB="14400" anchor="ctr">
                    <a:solidFill>
                      <a:srgbClr val="F2F2F2"/>
                    </a:solidFill>
                  </a:tcPr>
                </a:tc>
              </a:tr>
              <a:tr h="210009">
                <a:tc>
                  <a:txBody>
                    <a:bodyPr/>
                    <a:lstStyle/>
                    <a:p>
                      <a:pPr marL="0" indent="0" lvl="0">
                        <a:buNone/>
                      </a:pPr>
                      <a:r>
                        <a:rPr sz="1000" b="1">
                          <a:solidFill>
                            <a:srgbClr val="060606"/>
                          </a:solidFill>
                          <a:latin typeface="Helvetica"/>
                        </a:rPr>
                        <a:t>31/08/2026</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15801000</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2 867 602 878 FCFA</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15802000</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1 961 695 412 FCFA</a:t>
                      </a:r>
                    </a:p>
                  </a:txBody>
                  <a:tcPr marL="43200" marR="43200" marT="14400" marB="14400" anchor="ctr">
                    <a:solidFill>
                      <a:srgbClr val="FFFFFF"/>
                    </a:solidFill>
                  </a:tcPr>
                </a:tc>
              </a:tr>
            </a:tbl>
          </a:graphicData>
        </a:graphic>
      </p:graphicFrame>
      <p:sp>
        <p:nvSpPr>
          <p:cNvPr id="33" name="Rounded Rectangle 32"/>
          <p:cNvSpPr/>
          <p:nvPr/>
        </p:nvSpPr>
        <p:spPr>
          <a:xfrm>
            <a:off x="3221999" y="1747209"/>
            <a:ext cx="2484000" cy="231609"/>
          </a:xfrm>
          <a:prstGeom prst="roundRect">
            <a:avLst/>
          </a:prstGeom>
          <a:noFill/>
          <a:ln w="28575">
            <a:solidFill>
              <a:srgbClr val="C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5508000" y="1596009"/>
            <a:ext cx="270000" cy="2700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100" b="1">
                <a:solidFill>
                  <a:srgbClr val="FFFFFF"/>
                </a:solidFill>
                <a:latin typeface="Helvetica"/>
              </a:rPr>
              <a:t>1</a:t>
            </a:r>
          </a:p>
        </p:txBody>
      </p:sp>
      <p:sp>
        <p:nvSpPr>
          <p:cNvPr id="35" name="Rounded Rectangle 34"/>
          <p:cNvSpPr/>
          <p:nvPr/>
        </p:nvSpPr>
        <p:spPr>
          <a:xfrm>
            <a:off x="3221999" y="3007267"/>
            <a:ext cx="2484000" cy="231609"/>
          </a:xfrm>
          <a:prstGeom prst="roundRect">
            <a:avLst/>
          </a:prstGeom>
          <a:noFill/>
          <a:ln w="28575">
            <a:solidFill>
              <a:srgbClr val="C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Oval 35"/>
          <p:cNvSpPr/>
          <p:nvPr/>
        </p:nvSpPr>
        <p:spPr>
          <a:xfrm>
            <a:off x="5508000" y="2856067"/>
            <a:ext cx="270000" cy="2700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100" b="1">
                <a:solidFill>
                  <a:srgbClr val="FFFFFF"/>
                </a:solidFill>
                <a:latin typeface="Helvetica"/>
              </a:rPr>
              <a:t>2</a:t>
            </a:r>
          </a:p>
        </p:txBody>
      </p:sp>
      <p:sp>
        <p:nvSpPr>
          <p:cNvPr id="37" name="Rounded Rectangle 36"/>
          <p:cNvSpPr/>
          <p:nvPr/>
        </p:nvSpPr>
        <p:spPr>
          <a:xfrm>
            <a:off x="1782000" y="2587247"/>
            <a:ext cx="1475999" cy="231609"/>
          </a:xfrm>
          <a:prstGeom prst="roundRect">
            <a:avLst/>
          </a:prstGeom>
          <a:noFill/>
          <a:ln w="28575">
            <a:solidFill>
              <a:srgbClr val="C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Oval 37"/>
          <p:cNvSpPr/>
          <p:nvPr/>
        </p:nvSpPr>
        <p:spPr>
          <a:xfrm>
            <a:off x="3060000" y="2436047"/>
            <a:ext cx="270000" cy="2700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100" b="1">
                <a:solidFill>
                  <a:srgbClr val="FFFFFF"/>
                </a:solidFill>
                <a:latin typeface="Helvetica"/>
              </a:rPr>
              <a:t>3</a:t>
            </a:r>
          </a:p>
        </p:txBody>
      </p:sp>
      <p:sp>
        <p:nvSpPr>
          <p:cNvPr id="39" name="Oval 38"/>
          <p:cNvSpPr/>
          <p:nvPr/>
        </p:nvSpPr>
        <p:spPr>
          <a:xfrm>
            <a:off x="503999" y="3354076"/>
            <a:ext cx="270000" cy="2700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100" b="1">
                <a:solidFill>
                  <a:srgbClr val="FFFFFF"/>
                </a:solidFill>
                <a:latin typeface="Helvetica"/>
              </a:rPr>
              <a:t>1</a:t>
            </a:r>
          </a:p>
        </p:txBody>
      </p:sp>
      <p:sp>
        <p:nvSpPr>
          <p:cNvPr id="40" name="TextBox 39"/>
          <p:cNvSpPr txBox="1"/>
          <p:nvPr/>
        </p:nvSpPr>
        <p:spPr>
          <a:xfrm>
            <a:off x="864000" y="3336076"/>
            <a:ext cx="8712000" cy="298144"/>
          </a:xfrm>
          <a:prstGeom prst="rect">
            <a:avLst/>
          </a:prstGeom>
          <a:noFill/>
        </p:spPr>
        <p:txBody>
          <a:bodyPr wrap="square" anchor="t" lIns="54000" rIns="54000"/>
          <a:lstStyle/>
          <a:p>
            <a:pPr algn="l"/>
            <a:r>
              <a:rPr sz="1200" b="0">
                <a:solidFill>
                  <a:srgbClr val="060606"/>
                </a:solidFill>
                <a:latin typeface="Helvetica"/>
              </a:rPr>
              <a:t>La provision maladie vaut le même montant en 2020…</a:t>
            </a:r>
          </a:p>
        </p:txBody>
      </p:sp>
      <p:sp>
        <p:nvSpPr>
          <p:cNvPr id="41" name="Oval 40"/>
          <p:cNvSpPr/>
          <p:nvPr/>
        </p:nvSpPr>
        <p:spPr>
          <a:xfrm>
            <a:off x="503999" y="3742221"/>
            <a:ext cx="270000" cy="2700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100" b="1">
                <a:solidFill>
                  <a:srgbClr val="FFFFFF"/>
                </a:solidFill>
                <a:latin typeface="Helvetica"/>
              </a:rPr>
              <a:t>2</a:t>
            </a:r>
          </a:p>
        </p:txBody>
      </p:sp>
      <p:sp>
        <p:nvSpPr>
          <p:cNvPr id="42" name="TextBox 41"/>
          <p:cNvSpPr txBox="1"/>
          <p:nvPr/>
        </p:nvSpPr>
        <p:spPr>
          <a:xfrm>
            <a:off x="864000" y="3724221"/>
            <a:ext cx="8712000" cy="298144"/>
          </a:xfrm>
          <a:prstGeom prst="rect">
            <a:avLst/>
          </a:prstGeom>
          <a:noFill/>
        </p:spPr>
        <p:txBody>
          <a:bodyPr wrap="square" anchor="t" lIns="54000" rIns="54000"/>
          <a:lstStyle/>
          <a:p>
            <a:pPr algn="l"/>
            <a:r>
              <a:rPr sz="1200" b="0">
                <a:solidFill>
                  <a:srgbClr val="060606"/>
                </a:solidFill>
                <a:latin typeface="Helvetica"/>
              </a:rPr>
              <a:t>… et au 31/08/2026, au franc près.</a:t>
            </a:r>
          </a:p>
        </p:txBody>
      </p:sp>
      <p:sp>
        <p:nvSpPr>
          <p:cNvPr id="43" name="Oval 42"/>
          <p:cNvSpPr/>
          <p:nvPr/>
        </p:nvSpPr>
        <p:spPr>
          <a:xfrm>
            <a:off x="503999" y="4130365"/>
            <a:ext cx="270000" cy="2700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100" b="1">
                <a:solidFill>
                  <a:srgbClr val="FFFFFF"/>
                </a:solidFill>
                <a:latin typeface="Helvetica"/>
              </a:rPr>
              <a:t>3</a:t>
            </a:r>
          </a:p>
        </p:txBody>
      </p:sp>
      <p:sp>
        <p:nvSpPr>
          <p:cNvPr id="44" name="TextBox 43"/>
          <p:cNvSpPr txBox="1"/>
          <p:nvPr/>
        </p:nvSpPr>
        <p:spPr>
          <a:xfrm>
            <a:off x="864000" y="4112365"/>
            <a:ext cx="8712000" cy="298144"/>
          </a:xfrm>
          <a:prstGeom prst="rect">
            <a:avLst/>
          </a:prstGeom>
          <a:noFill/>
        </p:spPr>
        <p:txBody>
          <a:bodyPr wrap="square" anchor="t" lIns="54000" rIns="54000"/>
          <a:lstStyle/>
          <a:p>
            <a:pPr algn="l"/>
            <a:r>
              <a:rPr sz="1200" b="0">
                <a:solidFill>
                  <a:srgbClr val="060606"/>
                </a:solidFill>
                <a:latin typeface="Helvetica"/>
              </a:rPr>
              <a:t>Seul le numéro de compte change en 2024, du compte 19 vers le compte 158.</a:t>
            </a:r>
          </a:p>
        </p:txBody>
      </p:sp>
      <p:sp>
        <p:nvSpPr>
          <p:cNvPr id="45" name="TextBox 44"/>
          <p:cNvSpPr txBox="1"/>
          <p:nvPr/>
        </p:nvSpPr>
        <p:spPr>
          <a:xfrm>
            <a:off x="503999" y="4554510"/>
            <a:ext cx="11232000" cy="1313489"/>
          </a:xfrm>
          <a:prstGeom prst="rect">
            <a:avLst/>
          </a:prstGeom>
          <a:noFill/>
        </p:spPr>
        <p:txBody>
          <a:bodyPr wrap="square" lIns="54000" rIns="54000"/>
          <a:lstStyle/>
          <a:p>
            <a:pPr algn="just">
              <a:spcAft>
                <a:spcPts val="600"/>
              </a:spcAft>
            </a:pPr>
            <a:r>
              <a:rPr sz="1200" b="1">
                <a:solidFill>
                  <a:srgbClr val="060606"/>
                </a:solidFill>
                <a:latin typeface="Helvetica"/>
              </a:rPr>
              <a:t>La provision n'est pas recalculée.</a:t>
            </a:r>
            <a:r>
              <a:rPr sz="1200" b="0">
                <a:solidFill>
                  <a:srgbClr val="060606"/>
                </a:solidFill>
                <a:latin typeface="Helvetica"/>
              </a:rPr>
              <a:t> Un montant identique au franc près pendant sept ans ne peut pas résulter d'une évaluation des dossiers en cours.</a:t>
            </a:r>
          </a:p>
          <a:p>
            <a:pPr algn="just">
              <a:spcAft>
                <a:spcPts val="600"/>
              </a:spcAft>
            </a:pPr>
            <a:r>
              <a:rPr sz="1200" b="1">
                <a:solidFill>
                  <a:srgbClr val="060606"/>
                </a:solidFill>
                <a:latin typeface="Helvetica"/>
              </a:rPr>
              <a:t>Implication pour le FPPN.</a:t>
            </a:r>
            <a:r>
              <a:rPr sz="1200" b="0">
                <a:solidFill>
                  <a:srgbClr val="060606"/>
                </a:solidFill>
                <a:latin typeface="Helvetica"/>
              </a:rPr>
              <a:t> Le règlement d'exécution n° 004/2022 impose une provision pour prestations à payer calculée exercice par exercice, dossier par dossier, augmentée des sinistres non déclarés (art. 10). Le compte 158 est par ailleurs réservé aux provisions réglementées à caractère fiscal.</a:t>
            </a:r>
          </a:p>
        </p:txBody>
      </p:sp>
      <p:sp>
        <p:nvSpPr>
          <p:cNvPr id="46" name="TextBox 45"/>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a:t>
            </a:r>
          </a:p>
        </p:txBody>
      </p:sp>
    </p:spTree>
    <p:extLst>
      <p:ext uri="{BB962C8B-B14F-4D97-AF65-F5344CB8AC3E}">
        <p14:creationId xmlns:p14="http://schemas.microsoft.com/office/powerpoint/2010/main" val="1563791547"/>
      </p:ext>
    </p:extLst>
  </p:cSld>
  <p:clrMapOvr>
    <a:masterClrMapping/>
  </p:clrMapOvr>
  <p:transition>
    <p:fade/>
  </p:transition>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Provisions techniques</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La provision ne couvre plus que 21 mois de prestations, contre 115 en 2021</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Provisions / prestations mensuelles : 115,14 mois en 2021, 29,50 en 2025, 21,48 en 2026</a:t>
            </a:r>
          </a:p>
        </p:txBody>
      </p:sp>
      <p:sp>
        <p:nvSpPr>
          <p:cNvPr id="30" name="TextBox 29"/>
          <p:cNvSpPr txBox="1"/>
          <p:nvPr/>
        </p:nvSpPr>
        <p:spPr>
          <a:xfrm>
            <a:off x="503999" y="1386000"/>
            <a:ext cx="6552000" cy="251999"/>
          </a:xfrm>
          <a:prstGeom prst="rect">
            <a:avLst/>
          </a:prstGeom>
          <a:noFill/>
        </p:spPr>
        <p:txBody>
          <a:bodyPr wrap="square">
            <a:spAutoFit/>
          </a:bodyPr>
          <a:lstStyle/>
          <a:p>
            <a:pPr algn="ctr">
              <a:spcAft>
                <a:spcPts val="0"/>
              </a:spcAft>
            </a:pPr>
            <a:r>
              <a:rPr sz="1200" b="0">
                <a:solidFill>
                  <a:srgbClr val="EFAC62"/>
                </a:solidFill>
                <a:latin typeface="Helvetica"/>
              </a:rPr>
              <a:t>Figure 26 : Mois de prestations couverts par les provisions</a:t>
            </a:r>
          </a:p>
        </p:txBody>
      </p:sp>
      <p:sp>
        <p:nvSpPr>
          <p:cNvPr id="31" name="TextBox 30"/>
          <p:cNvSpPr txBox="1"/>
          <p:nvPr/>
        </p:nvSpPr>
        <p:spPr>
          <a:xfrm>
            <a:off x="503999" y="1602000"/>
            <a:ext cx="6552000" cy="162000"/>
          </a:xfrm>
          <a:prstGeom prst="rect">
            <a:avLst/>
          </a:prstGeom>
          <a:noFill/>
        </p:spPr>
        <p:txBody>
          <a:bodyPr wrap="square">
            <a:spAutoFit/>
          </a:bodyPr>
          <a:lstStyle/>
          <a:p>
            <a:pPr algn="l">
              <a:spcAft>
                <a:spcPts val="0"/>
              </a:spcAft>
            </a:pPr>
            <a:r>
              <a:rPr sz="900" b="0">
                <a:solidFill>
                  <a:srgbClr val="060606"/>
                </a:solidFill>
                <a:latin typeface="Helvetica"/>
              </a:rPr>
              <a:t>En nombre de mois de prestations</a:t>
            </a:r>
          </a:p>
        </p:txBody>
      </p:sp>
      <p:graphicFrame>
        <p:nvGraphicFramePr>
          <p:cNvPr id="32" name="Chart 31"/>
          <p:cNvGraphicFramePr>
            <a:graphicFrameLocks noGrp="1"/>
          </p:cNvGraphicFramePr>
          <p:nvPr/>
        </p:nvGraphicFramePr>
        <p:xfrm>
          <a:off x="503999" y="1782000"/>
          <a:ext cx="6552000" cy="4086000"/>
        </p:xfrm>
        <a:graphic>
          <a:graphicData uri="http://schemas.openxmlformats.org/drawingml/2006/chart">
            <c:chart xmlns:c="http://schemas.openxmlformats.org/drawingml/2006/chart" r:id="rId6"/>
          </a:graphicData>
        </a:graphic>
      </p:graphicFrame>
      <p:sp>
        <p:nvSpPr>
          <p:cNvPr id="33"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balances des comptes du FPPN (Sage 100), exercices 2020 à 2025 et du 01/01 au 31/08/2026 (provisoire). Traitements Adenka</a:t>
            </a:r>
          </a:p>
        </p:txBody>
      </p:sp>
      <p:sp>
        <p:nvSpPr>
          <p:cNvPr id="34" name="TextBox 33"/>
          <p:cNvSpPr txBox="1"/>
          <p:nvPr/>
        </p:nvSpPr>
        <p:spPr>
          <a:xfrm>
            <a:off x="7272000" y="1440000"/>
            <a:ext cx="4464000" cy="4428000"/>
          </a:xfrm>
          <a:prstGeom prst="rect">
            <a:avLst/>
          </a:prstGeom>
          <a:noFill/>
        </p:spPr>
        <p:txBody>
          <a:bodyPr wrap="square" lIns="54000" rIns="54000"/>
          <a:lstStyle/>
          <a:p>
            <a:pPr algn="just">
              <a:spcAft>
                <a:spcPts val="600"/>
              </a:spcAft>
            </a:pPr>
            <a:r>
              <a:rPr sz="1400" b="1">
                <a:solidFill>
                  <a:srgbClr val="060606"/>
                </a:solidFill>
                <a:latin typeface="Helvetica"/>
              </a:rPr>
              <a:t>La provision vaut 4 829 298 290 FCFA chaque année.</a:t>
            </a:r>
          </a:p>
          <a:p>
            <a:pPr algn="just">
              <a:spcAft>
                <a:spcPts val="600"/>
              </a:spcAft>
            </a:pPr>
            <a:r>
              <a:rPr sz="1400" b="1">
                <a:solidFill>
                  <a:srgbClr val="060606"/>
                </a:solidFill>
                <a:latin typeface="Helvetica"/>
              </a:rPr>
              <a:t>Les prestations mensuelles passent de 41 942 486 FCFA en 2021 à 224 856 973 FCFA en 2026.</a:t>
            </a:r>
            <a:r>
              <a:rPr sz="1400" b="0">
                <a:solidFill>
                  <a:srgbClr val="060606"/>
                </a:solidFill>
                <a:latin typeface="Helvetica"/>
              </a:rPr>
              <a:t> La provision représente donc de moins en moins de mois de prestations.</a:t>
            </a:r>
          </a:p>
          <a:p>
            <a:pPr algn="just">
              <a:spcAft>
                <a:spcPts val="600"/>
              </a:spcAft>
            </a:pPr>
            <a:r>
              <a:rPr sz="1400" b="1">
                <a:solidFill>
                  <a:srgbClr val="060606"/>
                </a:solidFill>
                <a:latin typeface="Helvetica"/>
              </a:rPr>
              <a:t>Le calcul de la provision (PSAP, Chain Ladder) suppose les bases de prestations demandées</a:t>
            </a:r>
            <a:r>
              <a:rPr sz="1400" b="0">
                <a:solidFill>
                  <a:srgbClr val="060606"/>
                </a:solidFill>
                <a:latin typeface="Helvetica"/>
              </a:rPr>
              <a:t> (partie 12).</a:t>
            </a:r>
          </a:p>
          <a:p>
            <a:pPr algn="just">
              <a:spcAft>
                <a:spcPts val="600"/>
              </a:spcAft>
            </a:pPr>
            <a:r>
              <a:rPr sz="1400" b="1">
                <a:solidFill>
                  <a:srgbClr val="060606"/>
                </a:solidFill>
                <a:latin typeface="Helvetica"/>
              </a:rPr>
              <a:t>Implication pour le FPPN.</a:t>
            </a:r>
            <a:r>
              <a:rPr sz="1400" b="0">
                <a:solidFill>
                  <a:srgbClr val="060606"/>
                </a:solidFill>
                <a:latin typeface="Helvetica"/>
              </a:rPr>
              <a:t> Si les délais de paiement s'allongent pendant que les prestations augmentent, la provision deviendra insuffisante : son recalcul est la première tâche dès réception des bases de prestations.</a:t>
            </a:r>
          </a:p>
        </p:txBody>
      </p:sp>
      <p:sp>
        <p:nvSpPr>
          <p:cNvPr id="35" name="TextBox 34"/>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PSAP : provision pour sinistres à payer</a:t>
            </a:r>
          </a:p>
        </p:txBody>
      </p:sp>
    </p:spTree>
    <p:extLst>
      <p:ext uri="{BB962C8B-B14F-4D97-AF65-F5344CB8AC3E}">
        <p14:creationId xmlns:p14="http://schemas.microsoft.com/office/powerpoint/2010/main" val="3421954105"/>
      </p:ext>
    </p:extLst>
  </p:cSld>
  <p:clrMapOvr>
    <a:masterClrMapping/>
  </p:clrMapOvr>
  <p:transition>
    <p:fade/>
  </p:transition>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Structure de l'actif</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L'actif repose sur des créances et des investissements peu liquides</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Au 31/08/2026 : CMP 7 083 534 565 FCFA, terrains 5 245 896 750 FCFA, trésorerie 3 359 100 618 FCFA</a:t>
            </a:r>
          </a:p>
        </p:txBody>
      </p:sp>
      <p:sp>
        <p:nvSpPr>
          <p:cNvPr id="30" name="TextBox 29"/>
          <p:cNvSpPr txBox="1"/>
          <p:nvPr/>
        </p:nvSpPr>
        <p:spPr>
          <a:xfrm>
            <a:off x="503999" y="1386000"/>
            <a:ext cx="6552000" cy="251999"/>
          </a:xfrm>
          <a:prstGeom prst="rect">
            <a:avLst/>
          </a:prstGeom>
          <a:noFill/>
        </p:spPr>
        <p:txBody>
          <a:bodyPr wrap="square">
            <a:spAutoFit/>
          </a:bodyPr>
          <a:lstStyle/>
          <a:p>
            <a:pPr algn="ctr">
              <a:spcAft>
                <a:spcPts val="0"/>
              </a:spcAft>
            </a:pPr>
            <a:r>
              <a:rPr sz="1200" b="0">
                <a:solidFill>
                  <a:srgbClr val="EFAC62"/>
                </a:solidFill>
                <a:latin typeface="Helvetica"/>
              </a:rPr>
              <a:t>Figure 27 : Principaux postes de l'actif</a:t>
            </a:r>
          </a:p>
        </p:txBody>
      </p:sp>
      <p:sp>
        <p:nvSpPr>
          <p:cNvPr id="31" name="TextBox 30"/>
          <p:cNvSpPr txBox="1"/>
          <p:nvPr/>
        </p:nvSpPr>
        <p:spPr>
          <a:xfrm>
            <a:off x="503999" y="1602000"/>
            <a:ext cx="6552000" cy="162000"/>
          </a:xfrm>
          <a:prstGeom prst="rect">
            <a:avLst/>
          </a:prstGeom>
          <a:noFill/>
        </p:spPr>
        <p:txBody>
          <a:bodyPr wrap="square">
            <a:spAutoFit/>
          </a:bodyPr>
          <a:lstStyle/>
          <a:p>
            <a:pPr algn="l">
              <a:spcAft>
                <a:spcPts val="0"/>
              </a:spcAft>
            </a:pPr>
            <a:r>
              <a:rPr sz="900" b="0">
                <a:solidFill>
                  <a:srgbClr val="060606"/>
                </a:solidFill>
                <a:latin typeface="Helvetica"/>
              </a:rPr>
              <a:t>En millions de FCFA</a:t>
            </a:r>
          </a:p>
        </p:txBody>
      </p:sp>
      <p:graphicFrame>
        <p:nvGraphicFramePr>
          <p:cNvPr id="32" name="Chart 31"/>
          <p:cNvGraphicFramePr>
            <a:graphicFrameLocks noGrp="1"/>
          </p:cNvGraphicFramePr>
          <p:nvPr/>
        </p:nvGraphicFramePr>
        <p:xfrm>
          <a:off x="503999" y="1782000"/>
          <a:ext cx="6552000" cy="4086000"/>
        </p:xfrm>
        <a:graphic>
          <a:graphicData uri="http://schemas.openxmlformats.org/drawingml/2006/chart">
            <c:chart xmlns:c="http://schemas.openxmlformats.org/drawingml/2006/chart" r:id="rId6"/>
          </a:graphicData>
        </a:graphic>
      </p:graphicFrame>
      <p:sp>
        <p:nvSpPr>
          <p:cNvPr id="33"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balances des comptes du FPPN (Sage 100), exercices 2020 à 2025 et du 01/01 au 31/08/2026 (provisoire). Traitements Adenka</a:t>
            </a:r>
          </a:p>
        </p:txBody>
      </p:sp>
      <p:sp>
        <p:nvSpPr>
          <p:cNvPr id="34" name="TextBox 33"/>
          <p:cNvSpPr txBox="1"/>
          <p:nvPr/>
        </p:nvSpPr>
        <p:spPr>
          <a:xfrm>
            <a:off x="7272000" y="1440000"/>
            <a:ext cx="4464000" cy="4428000"/>
          </a:xfrm>
          <a:prstGeom prst="rect">
            <a:avLst/>
          </a:prstGeom>
          <a:noFill/>
        </p:spPr>
        <p:txBody>
          <a:bodyPr wrap="square" lIns="54000" rIns="54000"/>
          <a:lstStyle/>
          <a:p>
            <a:pPr algn="just">
              <a:spcAft>
                <a:spcPts val="600"/>
              </a:spcAft>
            </a:pPr>
            <a:r>
              <a:rPr sz="1400" b="1">
                <a:solidFill>
                  <a:srgbClr val="060606"/>
                </a:solidFill>
                <a:latin typeface="Helvetica"/>
              </a:rPr>
              <a:t>Les montants « CMP » passent de 2 984 680 712 FCFA en 2020 à 7 083 534 565 FCFA au 31/08/2026.</a:t>
            </a:r>
          </a:p>
          <a:p>
            <a:pPr algn="just">
              <a:spcAft>
                <a:spcPts val="600"/>
              </a:spcAft>
            </a:pPr>
            <a:r>
              <a:rPr sz="1400" b="1">
                <a:solidFill>
                  <a:srgbClr val="060606"/>
                </a:solidFill>
                <a:latin typeface="Helvetica"/>
              </a:rPr>
              <a:t>La créance sur l'Hôpital de la Police (3 407 519 850 FCFA) n'a pas bougé depuis 2020.</a:t>
            </a:r>
            <a:r>
              <a:rPr sz="1400" b="0">
                <a:solidFill>
                  <a:srgbClr val="060606"/>
                </a:solidFill>
                <a:latin typeface="Helvetica"/>
              </a:rPr>
              <a:t> Aucun remboursement n'apparaît.</a:t>
            </a:r>
          </a:p>
          <a:p>
            <a:pPr algn="just">
              <a:spcAft>
                <a:spcPts val="600"/>
              </a:spcAft>
            </a:pPr>
            <a:r>
              <a:rPr sz="1400" b="1">
                <a:solidFill>
                  <a:srgbClr val="060606"/>
                </a:solidFill>
                <a:latin typeface="Helvetica"/>
              </a:rPr>
              <a:t>Les dettes envers les cliniques atteignent 690 234 451 FCFA au 31/08/2026.</a:t>
            </a:r>
          </a:p>
          <a:p>
            <a:pPr algn="just">
              <a:spcAft>
                <a:spcPts val="600"/>
              </a:spcAft>
            </a:pPr>
            <a:r>
              <a:rPr sz="1400" b="1">
                <a:solidFill>
                  <a:srgbClr val="060606"/>
                </a:solidFill>
                <a:latin typeface="Helvetica"/>
              </a:rPr>
              <a:t>Implication pour le FPPN.</a:t>
            </a:r>
            <a:r>
              <a:rPr sz="1400" b="0">
                <a:solidFill>
                  <a:srgbClr val="060606"/>
                </a:solidFill>
                <a:latin typeface="Helvetica"/>
              </a:rPr>
              <a:t> Le FPPN finance aussi des charges de fonctionnement « au CMP ». Le règlement d'exécution n° 004/2022 interdit de couvrir les pertes d'activités sanitaires par les cotisations ou les réserves obligatoires (art. 27) : une comptabilité séparée de ces activités doit le démontrer.</a:t>
            </a:r>
          </a:p>
        </p:txBody>
      </p:sp>
      <p:sp>
        <p:nvSpPr>
          <p:cNvPr id="35" name="TextBox 34"/>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CMP : sigle des comptes du FPPN, signification à confirmer</a:t>
            </a:r>
          </a:p>
        </p:txBody>
      </p:sp>
    </p:spTree>
    <p:extLst>
      <p:ext uri="{BB962C8B-B14F-4D97-AF65-F5344CB8AC3E}">
        <p14:creationId xmlns:p14="http://schemas.microsoft.com/office/powerpoint/2010/main" val="3573210328"/>
      </p:ext>
    </p:extLst>
  </p:cSld>
  <p:clrMapOvr>
    <a:masterClrMapping/>
  </p:clrMapOvr>
  <p:transition>
    <p:fade/>
  </p:transition>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Adossement par échéance</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L'actif mobilisable en moins d'un an couvre la moitié du passif à moins d'un an</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Au 31/08/2026 : actif mobilisable en moins d'un an 3 457 866 951 FCFA, passif à moins d'un an hors épargne 7 017 736 497 FCFA</a:t>
            </a:r>
          </a:p>
        </p:txBody>
      </p:sp>
      <p:sp>
        <p:nvSpPr>
          <p:cNvPr id="30" name="TextBox 29"/>
          <p:cNvSpPr txBox="1"/>
          <p:nvPr/>
        </p:nvSpPr>
        <p:spPr>
          <a:xfrm>
            <a:off x="503999" y="1386000"/>
            <a:ext cx="5976000" cy="251999"/>
          </a:xfrm>
          <a:prstGeom prst="rect">
            <a:avLst/>
          </a:prstGeom>
          <a:noFill/>
        </p:spPr>
        <p:txBody>
          <a:bodyPr wrap="square">
            <a:spAutoFit/>
          </a:bodyPr>
          <a:lstStyle/>
          <a:p>
            <a:pPr algn="ctr">
              <a:spcAft>
                <a:spcPts val="0"/>
              </a:spcAft>
            </a:pPr>
            <a:r>
              <a:rPr sz="1200" b="0">
                <a:solidFill>
                  <a:srgbClr val="EFAC62"/>
                </a:solidFill>
                <a:latin typeface="Helvetica"/>
              </a:rPr>
              <a:t>Figure 28 : Actif par délai de mobilisation et passif par échéance</a:t>
            </a:r>
          </a:p>
        </p:txBody>
      </p:sp>
      <p:sp>
        <p:nvSpPr>
          <p:cNvPr id="31" name="TextBox 30"/>
          <p:cNvSpPr txBox="1"/>
          <p:nvPr/>
        </p:nvSpPr>
        <p:spPr>
          <a:xfrm>
            <a:off x="503999" y="1602000"/>
            <a:ext cx="5976000" cy="162000"/>
          </a:xfrm>
          <a:prstGeom prst="rect">
            <a:avLst/>
          </a:prstGeom>
          <a:noFill/>
        </p:spPr>
        <p:txBody>
          <a:bodyPr wrap="square">
            <a:spAutoFit/>
          </a:bodyPr>
          <a:lstStyle/>
          <a:p>
            <a:pPr algn="l">
              <a:spcAft>
                <a:spcPts val="0"/>
              </a:spcAft>
            </a:pPr>
            <a:r>
              <a:rPr sz="900" b="0">
                <a:solidFill>
                  <a:srgbClr val="060606"/>
                </a:solidFill>
                <a:latin typeface="Helvetica"/>
              </a:rPr>
              <a:t>En millions de FCFA</a:t>
            </a:r>
          </a:p>
        </p:txBody>
      </p:sp>
      <p:graphicFrame>
        <p:nvGraphicFramePr>
          <p:cNvPr id="32" name="Chart 31"/>
          <p:cNvGraphicFramePr>
            <a:graphicFrameLocks noGrp="1"/>
          </p:cNvGraphicFramePr>
          <p:nvPr/>
        </p:nvGraphicFramePr>
        <p:xfrm>
          <a:off x="503999" y="1782000"/>
          <a:ext cx="5976000" cy="4086000"/>
        </p:xfrm>
        <a:graphic>
          <a:graphicData uri="http://schemas.openxmlformats.org/drawingml/2006/chart">
            <c:chart xmlns:c="http://schemas.openxmlformats.org/drawingml/2006/chart" r:id="rId6"/>
          </a:graphicData>
        </a:graphic>
      </p:graphicFrame>
      <p:sp>
        <p:nvSpPr>
          <p:cNvPr id="33"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balances des comptes du FPPN (Sage 100), exercices 2020 à 2025 et du 01/01 au 31/08/2026 (provisoire). Traitements Adenka. Dossier de préparation de la mission, § 3.1</a:t>
            </a:r>
          </a:p>
        </p:txBody>
      </p:sp>
      <p:sp>
        <p:nvSpPr>
          <p:cNvPr id="34" name="TextBox 33"/>
          <p:cNvSpPr txBox="1"/>
          <p:nvPr/>
        </p:nvSpPr>
        <p:spPr>
          <a:xfrm>
            <a:off x="6696000" y="1440000"/>
            <a:ext cx="5040000" cy="4428000"/>
          </a:xfrm>
          <a:prstGeom prst="rect">
            <a:avLst/>
          </a:prstGeom>
          <a:noFill/>
        </p:spPr>
        <p:txBody>
          <a:bodyPr wrap="square" lIns="54000" rIns="54000"/>
          <a:lstStyle/>
          <a:p>
            <a:pPr algn="just">
              <a:spcAft>
                <a:spcPts val="600"/>
              </a:spcAft>
            </a:pPr>
            <a:r>
              <a:rPr sz="1400" b="1">
                <a:solidFill>
                  <a:srgbClr val="060606"/>
                </a:solidFill>
                <a:latin typeface="Helvetica"/>
              </a:rPr>
              <a:t>Plus des trois quarts de l'actif sont à plus de cinq ans ou de délai incertain.</a:t>
            </a:r>
            <a:r>
              <a:rPr sz="1400" b="0">
                <a:solidFill>
                  <a:srgbClr val="060606"/>
                </a:solidFill>
                <a:latin typeface="Helvetica"/>
              </a:rPr>
              <a:t> Cette tranche vaut 17 170 238 905 FCFA sur 21 925 420 866 FCFA au 31/08/2026.</a:t>
            </a:r>
          </a:p>
          <a:p>
            <a:pPr algn="just">
              <a:spcAft>
                <a:spcPts val="600"/>
              </a:spcAft>
            </a:pPr>
            <a:r>
              <a:rPr sz="1400" b="1">
                <a:solidFill>
                  <a:srgbClr val="060606"/>
                </a:solidFill>
                <a:latin typeface="Helvetica"/>
              </a:rPr>
              <a:t>L'actif à moins d'un an ne couvre pas le passif à moins d'un an.</a:t>
            </a:r>
            <a:r>
              <a:rPr sz="1400" b="0">
                <a:solidFill>
                  <a:srgbClr val="060606"/>
                </a:solidFill>
                <a:latin typeface="Helvetica"/>
              </a:rPr>
              <a:t> L'écart vaut 3 559 869 546 FCFA au 31/08/2026, avant même toute sortie d'épargne.</a:t>
            </a:r>
          </a:p>
          <a:p>
            <a:pPr algn="just">
              <a:spcAft>
                <a:spcPts val="600"/>
              </a:spcAft>
            </a:pPr>
            <a:r>
              <a:rPr sz="1400" b="1">
                <a:solidFill>
                  <a:srgbClr val="060606"/>
                </a:solidFill>
                <a:latin typeface="Helvetica"/>
              </a:rPr>
              <a:t>L'épargne (15 743 516 391 FCFA) n'a pas d'échéancier connu.</a:t>
            </a:r>
            <a:r>
              <a:rPr sz="1400" b="0">
                <a:solidFill>
                  <a:srgbClr val="060606"/>
                </a:solidFill>
                <a:latin typeface="Helvetica"/>
              </a:rPr>
              <a:t> Chaque départ à la retraite déclenche pourtant le versement de l'EFC.</a:t>
            </a:r>
          </a:p>
          <a:p>
            <a:pPr algn="just">
              <a:spcAft>
                <a:spcPts val="600"/>
              </a:spcAft>
            </a:pPr>
            <a:r>
              <a:rPr sz="1400" b="1">
                <a:solidFill>
                  <a:srgbClr val="060606"/>
                </a:solidFill>
                <a:latin typeface="Helvetica"/>
              </a:rPr>
              <a:t>Implication pour le FPPN.</a:t>
            </a:r>
            <a:r>
              <a:rPr sz="1400" b="0">
                <a:solidFill>
                  <a:srgbClr val="060606"/>
                </a:solidFill>
                <a:latin typeface="Helvetica"/>
              </a:rPr>
              <a:t> Le passif à moins d'un an comprend les provisions pour prestations à payer, dont le montant n'est pas recalculé. Le FPPN finance des engagements courts avec des actifs longs : c'est le risque de liquidité central, à confirmer avec l'échéancier de l'épargne.</a:t>
            </a:r>
          </a:p>
        </p:txBody>
      </p:sp>
      <p:sp>
        <p:nvSpPr>
          <p:cNvPr id="35" name="TextBox 34"/>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EFC : entraide fin de carrière</a:t>
            </a:r>
          </a:p>
        </p:txBody>
      </p:sp>
    </p:spTree>
    <p:extLst>
      <p:ext uri="{BB962C8B-B14F-4D97-AF65-F5344CB8AC3E}">
        <p14:creationId xmlns:p14="http://schemas.microsoft.com/office/powerpoint/2010/main" val="760518923"/>
      </p:ext>
    </p:extLst>
  </p:cSld>
  <p:clrMapOvr>
    <a:masterClrMapping/>
  </p:clrMapOvr>
  <p:transition>
    <p:fade/>
  </p:transition>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Calcul pas à pas : fonds propres 2025</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Les pertes reportées dépassent les réserves, d'où des fonds propres négatifs</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Fonds propres 2025 = -876 142 111 FCFA + résultat 437 899 911 FCFA = -438 242 200 FCFA</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balance des comptes 2025</a:t>
            </a:r>
          </a:p>
        </p:txBody>
      </p:sp>
      <p:sp>
        <p:nvSpPr>
          <p:cNvPr id="31" name="TextBox 30"/>
          <p:cNvSpPr txBox="1"/>
          <p:nvPr/>
        </p:nvSpPr>
        <p:spPr>
          <a:xfrm>
            <a:off x="503999" y="1350000"/>
            <a:ext cx="7703999" cy="180000"/>
          </a:xfrm>
          <a:prstGeom prst="rect">
            <a:avLst/>
          </a:prstGeom>
          <a:noFill/>
        </p:spPr>
        <p:txBody>
          <a:bodyPr wrap="square" anchor="t" lIns="54000" rIns="54000"/>
          <a:lstStyle/>
          <a:p>
            <a:pPr algn="l"/>
            <a:r>
              <a:rPr sz="900" b="0">
                <a:solidFill>
                  <a:srgbClr val="53565A"/>
                </a:solidFill>
                <a:latin typeface="Helvetica"/>
              </a:rPr>
              <a:t>Extrait : AUDIT ADENKA\DAFC\2025\BALANCE FPPN 2025.xlsx</a:t>
            </a:r>
          </a:p>
        </p:txBody>
      </p:sp>
      <p:graphicFrame>
        <p:nvGraphicFramePr>
          <p:cNvPr id="32" name="Table 31"/>
          <p:cNvGraphicFramePr>
            <a:graphicFrameLocks noGrp="1"/>
          </p:cNvGraphicFramePr>
          <p:nvPr/>
        </p:nvGraphicFramePr>
        <p:xfrm>
          <a:off x="503999" y="1548000"/>
          <a:ext cx="7704000" cy="1680072"/>
        </p:xfrm>
        <a:graphic>
          <a:graphicData uri="http://schemas.openxmlformats.org/drawingml/2006/table">
            <a:tbl>
              <a:tblPr firstRow="0" bandRow="0">
                <a:tableStyleId>{5940675A-B579-460E-94D1-54222C63F5DA}</a:tableStyleId>
              </a:tblPr>
              <a:tblGrid>
                <a:gridCol w="1224000"/>
                <a:gridCol w="4104000"/>
                <a:gridCol w="2376000"/>
              </a:tblGrid>
              <a:tr h="210009">
                <a:tc>
                  <a:txBody>
                    <a:bodyPr/>
                    <a:lstStyle/>
                    <a:p>
                      <a:pPr marL="0" indent="0" lvl="0">
                        <a:buNone/>
                      </a:pPr>
                      <a:r>
                        <a:rPr sz="1000" b="1">
                          <a:solidFill>
                            <a:srgbClr val="FFFFFF"/>
                          </a:solidFill>
                          <a:latin typeface="Helvetica"/>
                        </a:rPr>
                        <a:t>Compte</a:t>
                      </a:r>
                    </a:p>
                  </a:txBody>
                  <a:tcPr marL="43200" marR="43200" marT="14400" marB="14400" anchor="ctr">
                    <a:solidFill>
                      <a:srgbClr val="060606"/>
                    </a:solidFill>
                  </a:tcPr>
                </a:tc>
                <a:tc>
                  <a:txBody>
                    <a:bodyPr/>
                    <a:lstStyle/>
                    <a:p>
                      <a:pPr marL="0" indent="0" lvl="0">
                        <a:buNone/>
                      </a:pPr>
                      <a:r>
                        <a:rPr sz="1000" b="1">
                          <a:solidFill>
                            <a:srgbClr val="FFFFFF"/>
                          </a:solidFill>
                          <a:latin typeface="Helvetica"/>
                        </a:rPr>
                        <a:t>Intitulé (balance 2025)</a:t>
                      </a:r>
                    </a:p>
                  </a:txBody>
                  <a:tcPr marL="43200" marR="43200" marT="14400" marB="14400" anchor="ctr">
                    <a:solidFill>
                      <a:srgbClr val="060606"/>
                    </a:solidFill>
                  </a:tcPr>
                </a:tc>
                <a:tc>
                  <a:txBody>
                    <a:bodyPr/>
                    <a:lstStyle/>
                    <a:p>
                      <a:pPr marL="0" indent="0" lvl="0">
                        <a:buNone/>
                      </a:pPr>
                      <a:r>
                        <a:rPr sz="1000" b="1">
                          <a:solidFill>
                            <a:srgbClr val="FFFFFF"/>
                          </a:solidFill>
                          <a:latin typeface="Helvetica"/>
                        </a:rPr>
                        <a:t>Montant</a:t>
                      </a:r>
                    </a:p>
                  </a:txBody>
                  <a:tcPr marL="43200" marR="43200" marT="14400" marB="14400" anchor="ctr">
                    <a:solidFill>
                      <a:srgbClr val="060606"/>
                    </a:solidFill>
                  </a:tcPr>
                </a:tc>
              </a:tr>
              <a:tr h="210009">
                <a:tc>
                  <a:txBody>
                    <a:bodyPr/>
                    <a:lstStyle/>
                    <a:p>
                      <a:pPr marL="0" indent="0" lvl="0">
                        <a:buNone/>
                      </a:pPr>
                      <a:r>
                        <a:rPr sz="1000" b="1">
                          <a:solidFill>
                            <a:srgbClr val="060606"/>
                          </a:solidFill>
                          <a:latin typeface="Helvetica"/>
                        </a:rPr>
                        <a:t>10620000</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Réévaluation matériels</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2 899 400 000 FCFA</a:t>
                      </a:r>
                    </a:p>
                  </a:txBody>
                  <a:tcPr marL="43200" marR="43200" marT="14400" marB="14400" anchor="ctr">
                    <a:solidFill>
                      <a:srgbClr val="FFFFFF"/>
                    </a:solidFill>
                  </a:tcPr>
                </a:tc>
              </a:tr>
              <a:tr h="210009">
                <a:tc>
                  <a:txBody>
                    <a:bodyPr/>
                    <a:lstStyle/>
                    <a:p>
                      <a:pPr marL="0" indent="0" lvl="0">
                        <a:buNone/>
                      </a:pPr>
                      <a:r>
                        <a:rPr sz="1000" b="1">
                          <a:solidFill>
                            <a:srgbClr val="060606"/>
                          </a:solidFill>
                          <a:latin typeface="Helvetica"/>
                        </a:rPr>
                        <a:t>11100000</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Réserves légale</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820 232 819 FCFA</a:t>
                      </a:r>
                    </a:p>
                  </a:txBody>
                  <a:tcPr marL="43200" marR="43200" marT="14400" marB="14400" anchor="ctr">
                    <a:solidFill>
                      <a:srgbClr val="F2F2F2"/>
                    </a:solidFill>
                  </a:tcPr>
                </a:tc>
              </a:tr>
              <a:tr h="210009">
                <a:tc>
                  <a:txBody>
                    <a:bodyPr/>
                    <a:lstStyle/>
                    <a:p>
                      <a:pPr marL="0" indent="0" lvl="0">
                        <a:buNone/>
                      </a:pPr>
                      <a:r>
                        <a:rPr sz="1000" b="1">
                          <a:solidFill>
                            <a:srgbClr val="060606"/>
                          </a:solidFill>
                          <a:latin typeface="Helvetica"/>
                        </a:rPr>
                        <a:t>11880000</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RESERVES FACULTATIVES</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677 208 998 FCFA</a:t>
                      </a:r>
                    </a:p>
                  </a:txBody>
                  <a:tcPr marL="43200" marR="43200" marT="14400" marB="14400" anchor="ctr">
                    <a:solidFill>
                      <a:srgbClr val="FFFFFF"/>
                    </a:solidFill>
                  </a:tcPr>
                </a:tc>
              </a:tr>
              <a:tr h="210009">
                <a:tc>
                  <a:txBody>
                    <a:bodyPr/>
                    <a:lstStyle/>
                    <a:p>
                      <a:pPr marL="0" indent="0" lvl="0">
                        <a:buNone/>
                      </a:pPr>
                      <a:r>
                        <a:rPr sz="1000" b="1">
                          <a:solidFill>
                            <a:srgbClr val="060606"/>
                          </a:solidFill>
                          <a:latin typeface="Helvetica"/>
                        </a:rPr>
                        <a:t>12900000</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Report à nouveau débiteur</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-5 272 983 928 FCFA</a:t>
                      </a:r>
                    </a:p>
                  </a:txBody>
                  <a:tcPr marL="43200" marR="43200" marT="14400" marB="14400" anchor="ctr">
                    <a:solidFill>
                      <a:srgbClr val="F2F2F2"/>
                    </a:solidFill>
                  </a:tcPr>
                </a:tc>
              </a:tr>
              <a:tr h="210009">
                <a:tc>
                  <a:txBody>
                    <a:bodyPr/>
                    <a:lstStyle/>
                    <a:p>
                      <a:pPr marL="0" indent="0" lvl="0">
                        <a:buNone/>
                      </a:pPr>
                      <a:r>
                        <a:rPr sz="1000" b="1">
                          <a:solidFill>
                            <a:srgbClr val="060606"/>
                          </a:solidFill>
                          <a:latin typeface="Helvetica"/>
                        </a:rPr>
                        <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Sous-total capitaux propres</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-876 142 111 FCFA</a:t>
                      </a:r>
                    </a:p>
                  </a:txBody>
                  <a:tcPr marL="43200" marR="43200" marT="14400" marB="14400" anchor="ctr">
                    <a:solidFill>
                      <a:srgbClr val="FFFFFF"/>
                    </a:solidFill>
                  </a:tcPr>
                </a:tc>
              </a:tr>
              <a:tr h="210009">
                <a:tc>
                  <a:txBody>
                    <a:bodyPr/>
                    <a:lstStyle/>
                    <a:p>
                      <a:pPr marL="0" indent="0" lvl="0">
                        <a:buNone/>
                      </a:pPr>
                      <a:r>
                        <a:rPr sz="1000" b="1">
                          <a:solidFill>
                            <a:srgbClr val="060606"/>
                          </a:solidFill>
                          <a:latin typeface="Helvetica"/>
                        </a:rPr>
                        <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Résultat de l'exercice 2025</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437 899 911 FCFA</a:t>
                      </a:r>
                    </a:p>
                  </a:txBody>
                  <a:tcPr marL="43200" marR="43200" marT="14400" marB="14400" anchor="ctr">
                    <a:solidFill>
                      <a:srgbClr val="F2F2F2"/>
                    </a:solidFill>
                  </a:tcPr>
                </a:tc>
              </a:tr>
              <a:tr h="210009">
                <a:tc>
                  <a:txBody>
                    <a:bodyPr/>
                    <a:lstStyle/>
                    <a:p>
                      <a:pPr marL="0" indent="0" lvl="0">
                        <a:buNone/>
                      </a:pPr>
                      <a:r>
                        <a:rPr sz="1000" b="1">
                          <a:solidFill>
                            <a:srgbClr val="060606"/>
                          </a:solidFill>
                          <a:latin typeface="Helvetica"/>
                        </a:rPr>
                        <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Fonds propres</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-438 242 200 FCFA</a:t>
                      </a:r>
                    </a:p>
                  </a:txBody>
                  <a:tcPr marL="43200" marR="43200" marT="14400" marB="14400" anchor="ctr">
                    <a:solidFill>
                      <a:srgbClr val="FFFFFF"/>
                    </a:solidFill>
                  </a:tcPr>
                </a:tc>
              </a:tr>
            </a:tbl>
          </a:graphicData>
        </a:graphic>
      </p:graphicFrame>
      <p:sp>
        <p:nvSpPr>
          <p:cNvPr id="33" name="Rounded Rectangle 32"/>
          <p:cNvSpPr/>
          <p:nvPr/>
        </p:nvSpPr>
        <p:spPr>
          <a:xfrm>
            <a:off x="5813999" y="2377238"/>
            <a:ext cx="2411999" cy="231609"/>
          </a:xfrm>
          <a:prstGeom prst="roundRect">
            <a:avLst/>
          </a:prstGeom>
          <a:noFill/>
          <a:ln w="28575">
            <a:solidFill>
              <a:srgbClr val="C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8027999" y="2226038"/>
            <a:ext cx="270000" cy="2700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100" b="1">
                <a:solidFill>
                  <a:srgbClr val="FFFFFF"/>
                </a:solidFill>
                <a:latin typeface="Helvetica"/>
              </a:rPr>
              <a:t>1</a:t>
            </a:r>
          </a:p>
        </p:txBody>
      </p:sp>
      <p:sp>
        <p:nvSpPr>
          <p:cNvPr id="35" name="Rounded Rectangle 34"/>
          <p:cNvSpPr/>
          <p:nvPr/>
        </p:nvSpPr>
        <p:spPr>
          <a:xfrm>
            <a:off x="5813999" y="3007267"/>
            <a:ext cx="2411999" cy="231609"/>
          </a:xfrm>
          <a:prstGeom prst="roundRect">
            <a:avLst/>
          </a:prstGeom>
          <a:noFill/>
          <a:ln w="28575">
            <a:solidFill>
              <a:srgbClr val="C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Oval 35"/>
          <p:cNvSpPr/>
          <p:nvPr/>
        </p:nvSpPr>
        <p:spPr>
          <a:xfrm>
            <a:off x="8027999" y="2856067"/>
            <a:ext cx="270000" cy="2700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100" b="1">
                <a:solidFill>
                  <a:srgbClr val="FFFFFF"/>
                </a:solidFill>
                <a:latin typeface="Helvetica"/>
              </a:rPr>
              <a:t>2</a:t>
            </a:r>
          </a:p>
        </p:txBody>
      </p:sp>
      <p:sp>
        <p:nvSpPr>
          <p:cNvPr id="37" name="Oval 36"/>
          <p:cNvSpPr/>
          <p:nvPr/>
        </p:nvSpPr>
        <p:spPr>
          <a:xfrm>
            <a:off x="8424000" y="1548000"/>
            <a:ext cx="270000" cy="2700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100" b="1">
                <a:solidFill>
                  <a:srgbClr val="FFFFFF"/>
                </a:solidFill>
                <a:latin typeface="Helvetica"/>
              </a:rPr>
              <a:t>1</a:t>
            </a:r>
          </a:p>
        </p:txBody>
      </p:sp>
      <p:sp>
        <p:nvSpPr>
          <p:cNvPr id="38" name="TextBox 37"/>
          <p:cNvSpPr txBox="1"/>
          <p:nvPr/>
        </p:nvSpPr>
        <p:spPr>
          <a:xfrm>
            <a:off x="8784000" y="1530000"/>
            <a:ext cx="2952000" cy="484084"/>
          </a:xfrm>
          <a:prstGeom prst="rect">
            <a:avLst/>
          </a:prstGeom>
          <a:noFill/>
        </p:spPr>
        <p:txBody>
          <a:bodyPr wrap="square" anchor="t" lIns="54000" rIns="54000"/>
          <a:lstStyle/>
          <a:p>
            <a:pPr algn="l"/>
            <a:r>
              <a:rPr sz="1200" b="0">
                <a:solidFill>
                  <a:srgbClr val="060606"/>
                </a:solidFill>
                <a:latin typeface="Helvetica"/>
              </a:rPr>
              <a:t>Les pertes reportées (compte 129) dépassent l'ensemble des réserves.</a:t>
            </a:r>
          </a:p>
        </p:txBody>
      </p:sp>
      <p:sp>
        <p:nvSpPr>
          <p:cNvPr id="39" name="Oval 38"/>
          <p:cNvSpPr/>
          <p:nvPr/>
        </p:nvSpPr>
        <p:spPr>
          <a:xfrm>
            <a:off x="8424000" y="2122084"/>
            <a:ext cx="270000" cy="2700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100" b="1">
                <a:solidFill>
                  <a:srgbClr val="FFFFFF"/>
                </a:solidFill>
                <a:latin typeface="Helvetica"/>
              </a:rPr>
              <a:t>2</a:t>
            </a:r>
          </a:p>
        </p:txBody>
      </p:sp>
      <p:sp>
        <p:nvSpPr>
          <p:cNvPr id="40" name="TextBox 39"/>
          <p:cNvSpPr txBox="1"/>
          <p:nvPr/>
        </p:nvSpPr>
        <p:spPr>
          <a:xfrm>
            <a:off x="8784000" y="2104084"/>
            <a:ext cx="2952000" cy="484084"/>
          </a:xfrm>
          <a:prstGeom prst="rect">
            <a:avLst/>
          </a:prstGeom>
          <a:noFill/>
        </p:spPr>
        <p:txBody>
          <a:bodyPr wrap="square" anchor="t" lIns="54000" rIns="54000"/>
          <a:lstStyle/>
          <a:p>
            <a:pPr algn="l"/>
            <a:r>
              <a:rPr sz="1200" b="0">
                <a:solidFill>
                  <a:srgbClr val="060606"/>
                </a:solidFill>
                <a:latin typeface="Helvetica"/>
              </a:rPr>
              <a:t>Les fonds propres restent négatifs malgré le résultat positif de 2025.</a:t>
            </a:r>
          </a:p>
        </p:txBody>
      </p:sp>
      <p:sp>
        <p:nvSpPr>
          <p:cNvPr id="41" name="Oval 40"/>
          <p:cNvSpPr/>
          <p:nvPr/>
        </p:nvSpPr>
        <p:spPr>
          <a:xfrm>
            <a:off x="8424000" y="2696168"/>
            <a:ext cx="270000" cy="2700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100" b="1">
                <a:solidFill>
                  <a:srgbClr val="FFFFFF"/>
                </a:solidFill>
                <a:latin typeface="Helvetica"/>
              </a:rPr>
              <a:t>3</a:t>
            </a:r>
          </a:p>
        </p:txBody>
      </p:sp>
      <p:sp>
        <p:nvSpPr>
          <p:cNvPr id="42" name="TextBox 41"/>
          <p:cNvSpPr txBox="1"/>
          <p:nvPr/>
        </p:nvSpPr>
        <p:spPr>
          <a:xfrm>
            <a:off x="8784000" y="2678168"/>
            <a:ext cx="2952000" cy="484084"/>
          </a:xfrm>
          <a:prstGeom prst="rect">
            <a:avLst/>
          </a:prstGeom>
          <a:noFill/>
        </p:spPr>
        <p:txBody>
          <a:bodyPr wrap="square" anchor="t" lIns="54000" rIns="54000"/>
          <a:lstStyle/>
          <a:p>
            <a:pPr algn="l"/>
            <a:r>
              <a:rPr sz="1200" b="0">
                <a:solidFill>
                  <a:srgbClr val="060606"/>
                </a:solidFill>
                <a:latin typeface="Helvetica"/>
              </a:rPr>
              <a:t>Les excédents futurs devront absorber ce solde négatif.</a:t>
            </a:r>
          </a:p>
        </p:txBody>
      </p:sp>
      <p:sp>
        <p:nvSpPr>
          <p:cNvPr id="43" name="TextBox 42"/>
          <p:cNvSpPr txBox="1"/>
          <p:nvPr/>
        </p:nvSpPr>
        <p:spPr>
          <a:xfrm>
            <a:off x="8424000" y="3342252"/>
            <a:ext cx="3312000" cy="2525747"/>
          </a:xfrm>
          <a:prstGeom prst="rect">
            <a:avLst/>
          </a:prstGeom>
          <a:noFill/>
        </p:spPr>
        <p:txBody>
          <a:bodyPr wrap="square" lIns="54000" rIns="54000"/>
          <a:lstStyle/>
          <a:p>
            <a:pPr algn="just">
              <a:spcAft>
                <a:spcPts val="600"/>
              </a:spcAft>
            </a:pPr>
            <a:r>
              <a:rPr sz="1200" b="1">
                <a:solidFill>
                  <a:srgbClr val="060606"/>
                </a:solidFill>
                <a:latin typeface="Helvetica"/>
              </a:rPr>
              <a:t>Les réserves existent, mais les pertes passées les dépassent.</a:t>
            </a:r>
            <a:r>
              <a:rPr sz="1200" b="0">
                <a:solidFill>
                  <a:srgbClr val="060606"/>
                </a:solidFill>
                <a:latin typeface="Helvetica"/>
              </a:rPr>
              <a:t> Le compte 10620000 « Réserve disponible » est le plus important des comptes positifs, et sa nature reste à confirmer (partie 10).</a:t>
            </a:r>
          </a:p>
          <a:p>
            <a:pPr algn="just">
              <a:spcAft>
                <a:spcPts val="600"/>
              </a:spcAft>
            </a:pPr>
            <a:r>
              <a:rPr sz="1200" b="1">
                <a:solidFill>
                  <a:srgbClr val="060606"/>
                </a:solidFill>
                <a:latin typeface="Helvetica"/>
              </a:rPr>
              <a:t>Implication pour le FPPN.</a:t>
            </a:r>
            <a:r>
              <a:rPr sz="1200" b="0">
                <a:solidFill>
                  <a:srgbClr val="060606"/>
                </a:solidFill>
                <a:latin typeface="Helvetica"/>
              </a:rPr>
              <a:t> La marge de solvabilité de la Décision n° 05/2022 se calcule sur ces réserves : selon que les pertes reportées sont déduites ou non, le FPPN est conforme ou non (partie 10).</a:t>
            </a:r>
          </a:p>
        </p:txBody>
      </p:sp>
      <p:sp>
        <p:nvSpPr>
          <p:cNvPr id="44" name="TextBox 43"/>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a:t>
            </a:r>
          </a:p>
        </p:txBody>
      </p:sp>
    </p:spTree>
    <p:extLst>
      <p:ext uri="{BB962C8B-B14F-4D97-AF65-F5344CB8AC3E}">
        <p14:creationId xmlns:p14="http://schemas.microsoft.com/office/powerpoint/2010/main" val="2252161088"/>
      </p:ext>
    </p:extLst>
  </p:cSld>
  <p:clrMapOvr>
    <a:masterClrMapping/>
  </p:clrMapOvr>
  <p:transition>
    <p:fade/>
  </p:transition>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Fonds propres</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Les fonds propres restent négatifs malgré six années d'excédents</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-6 743 081 733 FCFA fin 2020, -438 242 200 FCFA fin 2025, -879 498 700 FCFA au 31/08/2026</a:t>
            </a:r>
          </a:p>
        </p:txBody>
      </p:sp>
      <p:sp>
        <p:nvSpPr>
          <p:cNvPr id="30" name="TextBox 29"/>
          <p:cNvSpPr txBox="1"/>
          <p:nvPr/>
        </p:nvSpPr>
        <p:spPr>
          <a:xfrm>
            <a:off x="503999" y="1386000"/>
            <a:ext cx="6552000" cy="251999"/>
          </a:xfrm>
          <a:prstGeom prst="rect">
            <a:avLst/>
          </a:prstGeom>
          <a:noFill/>
        </p:spPr>
        <p:txBody>
          <a:bodyPr wrap="square">
            <a:spAutoFit/>
          </a:bodyPr>
          <a:lstStyle/>
          <a:p>
            <a:pPr algn="ctr">
              <a:spcAft>
                <a:spcPts val="0"/>
              </a:spcAft>
            </a:pPr>
            <a:r>
              <a:rPr sz="1200" b="0">
                <a:solidFill>
                  <a:srgbClr val="EFAC62"/>
                </a:solidFill>
                <a:latin typeface="Helvetica"/>
              </a:rPr>
              <a:t>Figure 29 : Fonds propres et résultat de l'exercice</a:t>
            </a:r>
          </a:p>
        </p:txBody>
      </p:sp>
      <p:sp>
        <p:nvSpPr>
          <p:cNvPr id="31" name="TextBox 30"/>
          <p:cNvSpPr txBox="1"/>
          <p:nvPr/>
        </p:nvSpPr>
        <p:spPr>
          <a:xfrm>
            <a:off x="503999" y="1602000"/>
            <a:ext cx="6552000" cy="162000"/>
          </a:xfrm>
          <a:prstGeom prst="rect">
            <a:avLst/>
          </a:prstGeom>
          <a:noFill/>
        </p:spPr>
        <p:txBody>
          <a:bodyPr wrap="square">
            <a:spAutoFit/>
          </a:bodyPr>
          <a:lstStyle/>
          <a:p>
            <a:pPr algn="l">
              <a:spcAft>
                <a:spcPts val="0"/>
              </a:spcAft>
            </a:pPr>
            <a:r>
              <a:rPr sz="900" b="0">
                <a:solidFill>
                  <a:srgbClr val="060606"/>
                </a:solidFill>
                <a:latin typeface="Helvetica"/>
              </a:rPr>
              <a:t>En millions de FCFA</a:t>
            </a:r>
          </a:p>
        </p:txBody>
      </p:sp>
      <p:graphicFrame>
        <p:nvGraphicFramePr>
          <p:cNvPr id="32" name="Chart 31"/>
          <p:cNvGraphicFramePr>
            <a:graphicFrameLocks noGrp="1"/>
          </p:cNvGraphicFramePr>
          <p:nvPr/>
        </p:nvGraphicFramePr>
        <p:xfrm>
          <a:off x="503999" y="1782000"/>
          <a:ext cx="6552000" cy="4086000"/>
        </p:xfrm>
        <a:graphic>
          <a:graphicData uri="http://schemas.openxmlformats.org/drawingml/2006/chart">
            <c:chart xmlns:c="http://schemas.openxmlformats.org/drawingml/2006/chart" r:id="rId6"/>
          </a:graphicData>
        </a:graphic>
      </p:graphicFrame>
      <p:sp>
        <p:nvSpPr>
          <p:cNvPr id="33"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balances des comptes du FPPN (Sage 100), exercices 2020 à 2025 et du 01/01 au 31/08/2026 (provisoire). Traitements Adenka</a:t>
            </a:r>
          </a:p>
        </p:txBody>
      </p:sp>
      <p:sp>
        <p:nvSpPr>
          <p:cNvPr id="34" name="TextBox 33"/>
          <p:cNvSpPr txBox="1"/>
          <p:nvPr/>
        </p:nvSpPr>
        <p:spPr>
          <a:xfrm>
            <a:off x="7272000" y="1440000"/>
            <a:ext cx="4464000" cy="4428000"/>
          </a:xfrm>
          <a:prstGeom prst="rect">
            <a:avLst/>
          </a:prstGeom>
          <a:noFill/>
        </p:spPr>
        <p:txBody>
          <a:bodyPr wrap="square" lIns="54000" rIns="54000"/>
          <a:lstStyle/>
          <a:p>
            <a:pPr algn="just">
              <a:spcAft>
                <a:spcPts val="600"/>
              </a:spcAft>
            </a:pPr>
            <a:r>
              <a:rPr sz="1400" b="1">
                <a:solidFill>
                  <a:srgbClr val="060606"/>
                </a:solidFill>
                <a:latin typeface="Helvetica"/>
              </a:rPr>
              <a:t>Les excédents de 2020 à 2025 réduisent l'écart sans le combler.</a:t>
            </a:r>
            <a:r>
              <a:rPr sz="1400" b="0">
                <a:solidFill>
                  <a:srgbClr val="060606"/>
                </a:solidFill>
                <a:latin typeface="Helvetica"/>
              </a:rPr>
              <a:t> Les fonds propres passent de -6 743 081 733 FCFA à -438 242 200 FCFA.</a:t>
            </a:r>
          </a:p>
          <a:p>
            <a:pPr algn="just">
              <a:spcAft>
                <a:spcPts val="600"/>
              </a:spcAft>
            </a:pPr>
            <a:r>
              <a:rPr sz="1400" b="1">
                <a:solidFill>
                  <a:srgbClr val="060606"/>
                </a:solidFill>
                <a:latin typeface="Helvetica"/>
              </a:rPr>
              <a:t>Le déficit des huit premiers mois de 2026 inverse la tendance.</a:t>
            </a:r>
            <a:r>
              <a:rPr sz="1400" b="0">
                <a:solidFill>
                  <a:srgbClr val="060606"/>
                </a:solidFill>
                <a:latin typeface="Helvetica"/>
              </a:rPr>
              <a:t> Les fonds propres reculent à nouveau au 31/08/2026.</a:t>
            </a:r>
          </a:p>
          <a:p>
            <a:pPr algn="just">
              <a:spcAft>
                <a:spcPts val="600"/>
              </a:spcAft>
            </a:pPr>
            <a:r>
              <a:rPr sz="1400" b="1">
                <a:solidFill>
                  <a:srgbClr val="060606"/>
                </a:solidFill>
                <a:latin typeface="Helvetica"/>
              </a:rPr>
              <a:t>Le ratio des fonds propres et assimilés vaut 0,22 en 2025, pour une norme d'au moins 1.</a:t>
            </a:r>
          </a:p>
          <a:p>
            <a:pPr algn="just">
              <a:spcAft>
                <a:spcPts val="600"/>
              </a:spcAft>
            </a:pPr>
            <a:r>
              <a:rPr sz="1400" b="1">
                <a:solidFill>
                  <a:srgbClr val="060606"/>
                </a:solidFill>
                <a:latin typeface="Helvetica"/>
              </a:rPr>
              <a:t>Implication pour le FPPN.</a:t>
            </a:r>
            <a:r>
              <a:rPr sz="1400" b="0">
                <a:solidFill>
                  <a:srgbClr val="060606"/>
                </a:solidFill>
                <a:latin typeface="Helvetica"/>
              </a:rPr>
              <a:t> Au rythme des excédents de 2024 et 2025, il faudrait encore au moins un exercice excédentaire pour revenir à des fonds propres positifs. Le déficit de 2026 éloigne cette échéance : le redressement dépend de la maîtrise de la sinistralité et des frais.</a:t>
            </a:r>
          </a:p>
        </p:txBody>
      </p:sp>
      <p:sp>
        <p:nvSpPr>
          <p:cNvPr id="35" name="TextBox 34"/>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a:t>
            </a:r>
          </a:p>
        </p:txBody>
      </p:sp>
    </p:spTree>
    <p:extLst>
      <p:ext uri="{BB962C8B-B14F-4D97-AF65-F5344CB8AC3E}">
        <p14:creationId xmlns:p14="http://schemas.microsoft.com/office/powerpoint/2010/main" val="3398322290"/>
      </p:ext>
    </p:extLst>
  </p:cSld>
  <p:clrMapOvr>
    <a:masterClrMapping/>
  </p:clrMapOvr>
  <p:transition>
    <p:fade/>
  </p:transition>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Rendement des placements</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Le problème des placements est leur faible volume, pas leur rendement</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Rendement moyen apparent 2021 à 2025 : 6,48 % par an. Taux directeur BCEAO entre 2,00 % et 3,50 %</a:t>
            </a:r>
          </a:p>
        </p:txBody>
      </p:sp>
      <p:sp>
        <p:nvSpPr>
          <p:cNvPr id="30" name="TextBox 29"/>
          <p:cNvSpPr txBox="1"/>
          <p:nvPr/>
        </p:nvSpPr>
        <p:spPr>
          <a:xfrm>
            <a:off x="503999" y="1386000"/>
            <a:ext cx="5976000" cy="251999"/>
          </a:xfrm>
          <a:prstGeom prst="rect">
            <a:avLst/>
          </a:prstGeom>
          <a:noFill/>
        </p:spPr>
        <p:txBody>
          <a:bodyPr wrap="square">
            <a:spAutoFit/>
          </a:bodyPr>
          <a:lstStyle/>
          <a:p>
            <a:pPr algn="ctr">
              <a:spcAft>
                <a:spcPts val="0"/>
              </a:spcAft>
            </a:pPr>
            <a:r>
              <a:rPr sz="1200" b="0">
                <a:solidFill>
                  <a:srgbClr val="EFAC62"/>
                </a:solidFill>
                <a:latin typeface="Helvetica"/>
              </a:rPr>
              <a:t>Figure 30 : Taux directeur de la BCEAO</a:t>
            </a:r>
          </a:p>
        </p:txBody>
      </p:sp>
      <p:sp>
        <p:nvSpPr>
          <p:cNvPr id="31" name="TextBox 30"/>
          <p:cNvSpPr txBox="1"/>
          <p:nvPr/>
        </p:nvSpPr>
        <p:spPr>
          <a:xfrm>
            <a:off x="503999" y="1602000"/>
            <a:ext cx="5976000" cy="162000"/>
          </a:xfrm>
          <a:prstGeom prst="rect">
            <a:avLst/>
          </a:prstGeom>
          <a:noFill/>
        </p:spPr>
        <p:txBody>
          <a:bodyPr wrap="square">
            <a:spAutoFit/>
          </a:bodyPr>
          <a:lstStyle/>
          <a:p>
            <a:pPr algn="l">
              <a:spcAft>
                <a:spcPts val="0"/>
              </a:spcAft>
            </a:pPr>
            <a:r>
              <a:rPr sz="900" b="0">
                <a:solidFill>
                  <a:srgbClr val="060606"/>
                </a:solidFill>
                <a:latin typeface="Helvetica"/>
              </a:rPr>
              <a:t>En %, date d'effet</a:t>
            </a:r>
          </a:p>
        </p:txBody>
      </p:sp>
      <p:graphicFrame>
        <p:nvGraphicFramePr>
          <p:cNvPr id="32" name="Chart 31"/>
          <p:cNvGraphicFramePr>
            <a:graphicFrameLocks noGrp="1"/>
          </p:cNvGraphicFramePr>
          <p:nvPr/>
        </p:nvGraphicFramePr>
        <p:xfrm>
          <a:off x="503999" y="1782000"/>
          <a:ext cx="5976000" cy="4086000"/>
        </p:xfrm>
        <a:graphic>
          <a:graphicData uri="http://schemas.openxmlformats.org/drawingml/2006/chart">
            <c:chart xmlns:c="http://schemas.openxmlformats.org/drawingml/2006/chart" r:id="rId6"/>
          </a:graphicData>
        </a:graphic>
      </p:graphicFrame>
      <p:sp>
        <p:nvSpPr>
          <p:cNvPr id="33"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BCEAO, communiqués du Comité de politique monétaire. Balances des comptes du FPPN (Sage 100), exercices 2020 à 2025 et du 01/01 au 31/08/2026 (provisoire). Traitements Adenka</a:t>
            </a:r>
          </a:p>
        </p:txBody>
      </p:sp>
      <p:sp>
        <p:nvSpPr>
          <p:cNvPr id="34" name="TextBox 33"/>
          <p:cNvSpPr txBox="1"/>
          <p:nvPr/>
        </p:nvSpPr>
        <p:spPr>
          <a:xfrm>
            <a:off x="6696000" y="1440000"/>
            <a:ext cx="5040000" cy="4428000"/>
          </a:xfrm>
          <a:prstGeom prst="rect">
            <a:avLst/>
          </a:prstGeom>
          <a:noFill/>
        </p:spPr>
        <p:txBody>
          <a:bodyPr wrap="square" lIns="54000" rIns="54000"/>
          <a:lstStyle/>
          <a:p>
            <a:pPr algn="just">
              <a:spcAft>
                <a:spcPts val="600"/>
              </a:spcAft>
            </a:pPr>
            <a:r>
              <a:rPr sz="1400" b="1">
                <a:solidFill>
                  <a:srgbClr val="060606"/>
                </a:solidFill>
                <a:latin typeface="Helvetica"/>
              </a:rPr>
              <a:t>Les produits financiers de 2021 à 2025 atteignent 173 881 316 FCFA</a:t>
            </a:r>
            <a:r>
              <a:rPr sz="1400" b="0">
                <a:solidFill>
                  <a:srgbClr val="060606"/>
                </a:solidFill>
                <a:latin typeface="Helvetica"/>
              </a:rPr>
              <a:t>, pour un encours moyen de placements d'environ 536 763 072 FCFA.</a:t>
            </a:r>
          </a:p>
          <a:p>
            <a:pPr algn="just">
              <a:spcAft>
                <a:spcPts val="600"/>
              </a:spcAft>
            </a:pPr>
            <a:r>
              <a:rPr sz="1400" b="1">
                <a:solidFill>
                  <a:srgbClr val="060606"/>
                </a:solidFill>
                <a:latin typeface="Helvetica"/>
              </a:rPr>
              <a:t>Le rendement moyen dépasse le taux directeur, mais il est irrégulier.</a:t>
            </a:r>
            <a:r>
              <a:rPr sz="1400" b="0">
                <a:solidFill>
                  <a:srgbClr val="060606"/>
                </a:solidFill>
                <a:latin typeface="Helvetica"/>
              </a:rPr>
              <a:t> L'essentiel des intérêts est comptabilisé en 2025, à la clôture d'un dépôt à terme.</a:t>
            </a:r>
          </a:p>
          <a:p>
            <a:pPr algn="just">
              <a:spcAft>
                <a:spcPts val="600"/>
              </a:spcAft>
            </a:pPr>
            <a:r>
              <a:rPr sz="1400" b="1">
                <a:solidFill>
                  <a:srgbClr val="060606"/>
                </a:solidFill>
                <a:latin typeface="Helvetica"/>
              </a:rPr>
              <a:t>Le vrai sujet est le volume placé</a:t>
            </a:r>
            <a:r>
              <a:rPr sz="1400" b="0">
                <a:solidFill>
                  <a:srgbClr val="060606"/>
                </a:solidFill>
                <a:latin typeface="Helvetica"/>
              </a:rPr>
              <a:t>, face à 15 743 516 391 FCFA d'épargne à restituer. Le solde des comptes courants non rémunérés atteint 2 356 399 123 FCFA au 31/08/2026.</a:t>
            </a:r>
          </a:p>
          <a:p>
            <a:pPr algn="just">
              <a:spcAft>
                <a:spcPts val="600"/>
              </a:spcAft>
            </a:pPr>
            <a:r>
              <a:rPr sz="1400" b="1">
                <a:solidFill>
                  <a:srgbClr val="060606"/>
                </a:solidFill>
                <a:latin typeface="Helvetica"/>
              </a:rPr>
              <a:t>Implication pour le FPPN.</a:t>
            </a:r>
            <a:r>
              <a:rPr sz="1400" b="0">
                <a:solidFill>
                  <a:srgbClr val="060606"/>
                </a:solidFill>
                <a:latin typeface="Helvetica"/>
              </a:rPr>
              <a:t> La Décision n° 05/2022 demande aux mutuelles qui gèrent des risques longs un solde des comptes courants non rémunérés proche de zéro : une partie de cette trésorerie peut être placée à terme sans nuire à la liquidité.</a:t>
            </a:r>
          </a:p>
        </p:txBody>
      </p:sp>
      <p:sp>
        <p:nvSpPr>
          <p:cNvPr id="35" name="TextBox 34"/>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BCEAO : Banque centrale des États de l'Afrique de l'Ouest</a:t>
            </a:r>
          </a:p>
        </p:txBody>
      </p:sp>
    </p:spTree>
    <p:extLst>
      <p:ext uri="{BB962C8B-B14F-4D97-AF65-F5344CB8AC3E}">
        <p14:creationId xmlns:p14="http://schemas.microsoft.com/office/powerpoint/2010/main" val="183415811"/>
      </p:ext>
    </p:extLst>
  </p:cSld>
  <p:clrMapOvr>
    <a:masterClrMapping/>
  </p:clrMapOvr>
  <p:transition>
    <p:fade/>
  </p:transition>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6" name="Image 25"/>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30" name="ZoneTexte 29">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9" name="Google Shape;7386;p39"/>
          <p:cNvSpPr/>
          <p:nvPr/>
        </p:nvSpPr>
        <p:spPr>
          <a:xfrm rot="10800000">
            <a:off x="1748072" y="1436295"/>
            <a:ext cx="3625790" cy="329031"/>
          </a:xfrm>
          <a:custGeom>
            <a:avLst/>
            <a:gdLst/>
            <a:ahLst/>
            <a:cxnLst/>
            <a:rect l="l" t="t" r="r" b="b"/>
            <a:pathLst>
              <a:path w="40007" h="30221" extrusionOk="0">
                <a:moveTo>
                  <a:pt x="19007" y="1"/>
                </a:moveTo>
                <a:cubicBezTo>
                  <a:pt x="17909" y="1"/>
                  <a:pt x="16810" y="17"/>
                  <a:pt x="15708" y="53"/>
                </a:cubicBezTo>
                <a:cubicBezTo>
                  <a:pt x="13270" y="131"/>
                  <a:pt x="10885" y="275"/>
                  <a:pt x="8512" y="548"/>
                </a:cubicBezTo>
                <a:cubicBezTo>
                  <a:pt x="6088" y="835"/>
                  <a:pt x="4524" y="1500"/>
                  <a:pt x="4041" y="2712"/>
                </a:cubicBezTo>
                <a:cubicBezTo>
                  <a:pt x="4015" y="2777"/>
                  <a:pt x="3976" y="2843"/>
                  <a:pt x="3937" y="2908"/>
                </a:cubicBezTo>
                <a:cubicBezTo>
                  <a:pt x="2777" y="4902"/>
                  <a:pt x="2282" y="6949"/>
                  <a:pt x="1734" y="8995"/>
                </a:cubicBezTo>
                <a:cubicBezTo>
                  <a:pt x="1160" y="11120"/>
                  <a:pt x="613" y="13232"/>
                  <a:pt x="391" y="15357"/>
                </a:cubicBezTo>
                <a:cubicBezTo>
                  <a:pt x="183" y="17325"/>
                  <a:pt x="0" y="19293"/>
                  <a:pt x="79" y="21092"/>
                </a:cubicBezTo>
                <a:cubicBezTo>
                  <a:pt x="52" y="23074"/>
                  <a:pt x="144" y="24899"/>
                  <a:pt x="365" y="26710"/>
                </a:cubicBezTo>
                <a:cubicBezTo>
                  <a:pt x="522" y="28079"/>
                  <a:pt x="1721" y="29096"/>
                  <a:pt x="4419" y="29656"/>
                </a:cubicBezTo>
                <a:cubicBezTo>
                  <a:pt x="6296" y="30048"/>
                  <a:pt x="8265" y="30178"/>
                  <a:pt x="10259" y="30204"/>
                </a:cubicBezTo>
                <a:cubicBezTo>
                  <a:pt x="11143" y="30216"/>
                  <a:pt x="12026" y="30220"/>
                  <a:pt x="12908" y="30220"/>
                </a:cubicBezTo>
                <a:cubicBezTo>
                  <a:pt x="15996" y="30220"/>
                  <a:pt x="19078" y="30165"/>
                  <a:pt x="22161" y="30165"/>
                </a:cubicBezTo>
                <a:cubicBezTo>
                  <a:pt x="24859" y="30165"/>
                  <a:pt x="27557" y="30204"/>
                  <a:pt x="30243" y="30204"/>
                </a:cubicBezTo>
                <a:cubicBezTo>
                  <a:pt x="31690" y="30191"/>
                  <a:pt x="33123" y="30113"/>
                  <a:pt x="34505" y="29852"/>
                </a:cubicBezTo>
                <a:cubicBezTo>
                  <a:pt x="35470" y="29683"/>
                  <a:pt x="36330" y="29435"/>
                  <a:pt x="36917" y="29005"/>
                </a:cubicBezTo>
                <a:cubicBezTo>
                  <a:pt x="37881" y="28288"/>
                  <a:pt x="38677" y="27519"/>
                  <a:pt x="39120" y="26684"/>
                </a:cubicBezTo>
                <a:cubicBezTo>
                  <a:pt x="39732" y="25485"/>
                  <a:pt x="39954" y="24260"/>
                  <a:pt x="39954" y="23021"/>
                </a:cubicBezTo>
                <a:cubicBezTo>
                  <a:pt x="39954" y="19372"/>
                  <a:pt x="40006" y="15709"/>
                  <a:pt x="39563" y="12059"/>
                </a:cubicBezTo>
                <a:cubicBezTo>
                  <a:pt x="39367" y="10403"/>
                  <a:pt x="39485" y="8748"/>
                  <a:pt x="39237" y="7105"/>
                </a:cubicBezTo>
                <a:cubicBezTo>
                  <a:pt x="39068" y="6023"/>
                  <a:pt x="38794" y="4941"/>
                  <a:pt x="37920" y="3938"/>
                </a:cubicBezTo>
                <a:cubicBezTo>
                  <a:pt x="37282" y="3208"/>
                  <a:pt x="36773" y="2438"/>
                  <a:pt x="35665" y="1826"/>
                </a:cubicBezTo>
                <a:cubicBezTo>
                  <a:pt x="34192" y="1031"/>
                  <a:pt x="32237" y="666"/>
                  <a:pt x="30138" y="496"/>
                </a:cubicBezTo>
                <a:cubicBezTo>
                  <a:pt x="26451" y="194"/>
                  <a:pt x="22741" y="1"/>
                  <a:pt x="19007" y="1"/>
                </a:cubicBezTo>
                <a:close/>
              </a:path>
            </a:pathLst>
          </a:custGeom>
          <a:solidFill>
            <a:srgbClr val="112A40"/>
          </a:solidFill>
          <a:ln>
            <a:noFill/>
          </a:ln>
          <a:effectLst>
            <a:outerShdw blurRad="57150" dist="9525" algn="bl" rotWithShape="0">
              <a:srgbClr val="000000"/>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lang="fr-CI" noProof="0"/>
          </a:p>
        </p:txBody>
      </p:sp>
      <p:sp>
        <p:nvSpPr>
          <p:cNvPr id="10" name="Google Shape;7367;p39"/>
          <p:cNvSpPr/>
          <p:nvPr/>
        </p:nvSpPr>
        <p:spPr>
          <a:xfrm rot="16200000">
            <a:off x="2201124" y="215006"/>
            <a:ext cx="2027916" cy="4306666"/>
          </a:xfrm>
          <a:custGeom>
            <a:avLst/>
            <a:gdLst/>
            <a:ahLst/>
            <a:cxnLst/>
            <a:rect l="l" t="t" r="r" b="b"/>
            <a:pathLst>
              <a:path w="25081" h="54128" extrusionOk="0">
                <a:moveTo>
                  <a:pt x="19843" y="0"/>
                </a:moveTo>
                <a:cubicBezTo>
                  <a:pt x="19654" y="0"/>
                  <a:pt x="19462" y="7"/>
                  <a:pt x="19267" y="21"/>
                </a:cubicBezTo>
                <a:cubicBezTo>
                  <a:pt x="17781" y="125"/>
                  <a:pt x="16282" y="99"/>
                  <a:pt x="14796" y="112"/>
                </a:cubicBezTo>
                <a:cubicBezTo>
                  <a:pt x="13909" y="125"/>
                  <a:pt x="13010" y="112"/>
                  <a:pt x="12123" y="177"/>
                </a:cubicBezTo>
                <a:cubicBezTo>
                  <a:pt x="10272" y="333"/>
                  <a:pt x="8421" y="503"/>
                  <a:pt x="6570" y="633"/>
                </a:cubicBezTo>
                <a:cubicBezTo>
                  <a:pt x="5267" y="738"/>
                  <a:pt x="3989" y="933"/>
                  <a:pt x="2764" y="1259"/>
                </a:cubicBezTo>
                <a:cubicBezTo>
                  <a:pt x="1943" y="1481"/>
                  <a:pt x="1408" y="1872"/>
                  <a:pt x="1226" y="2471"/>
                </a:cubicBezTo>
                <a:cubicBezTo>
                  <a:pt x="991" y="3292"/>
                  <a:pt x="861" y="4140"/>
                  <a:pt x="965" y="4974"/>
                </a:cubicBezTo>
                <a:cubicBezTo>
                  <a:pt x="991" y="5248"/>
                  <a:pt x="1030" y="5508"/>
                  <a:pt x="991" y="5782"/>
                </a:cubicBezTo>
                <a:cubicBezTo>
                  <a:pt x="835" y="6877"/>
                  <a:pt x="678" y="7972"/>
                  <a:pt x="587" y="9067"/>
                </a:cubicBezTo>
                <a:cubicBezTo>
                  <a:pt x="470" y="10488"/>
                  <a:pt x="378" y="11896"/>
                  <a:pt x="300" y="13317"/>
                </a:cubicBezTo>
                <a:cubicBezTo>
                  <a:pt x="274" y="13825"/>
                  <a:pt x="352" y="14333"/>
                  <a:pt x="339" y="14829"/>
                </a:cubicBezTo>
                <a:cubicBezTo>
                  <a:pt x="313" y="15820"/>
                  <a:pt x="157" y="16797"/>
                  <a:pt x="118" y="17775"/>
                </a:cubicBezTo>
                <a:cubicBezTo>
                  <a:pt x="53" y="19391"/>
                  <a:pt x="0" y="21008"/>
                  <a:pt x="40" y="22624"/>
                </a:cubicBezTo>
                <a:cubicBezTo>
                  <a:pt x="66" y="24149"/>
                  <a:pt x="157" y="25661"/>
                  <a:pt x="144" y="27173"/>
                </a:cubicBezTo>
                <a:cubicBezTo>
                  <a:pt x="131" y="28646"/>
                  <a:pt x="105" y="30132"/>
                  <a:pt x="131" y="31605"/>
                </a:cubicBezTo>
                <a:cubicBezTo>
                  <a:pt x="209" y="35412"/>
                  <a:pt x="405" y="39218"/>
                  <a:pt x="274" y="43051"/>
                </a:cubicBezTo>
                <a:cubicBezTo>
                  <a:pt x="235" y="44237"/>
                  <a:pt x="287" y="45436"/>
                  <a:pt x="300" y="46622"/>
                </a:cubicBezTo>
                <a:cubicBezTo>
                  <a:pt x="300" y="46687"/>
                  <a:pt x="300" y="46753"/>
                  <a:pt x="287" y="46818"/>
                </a:cubicBezTo>
                <a:cubicBezTo>
                  <a:pt x="222" y="48004"/>
                  <a:pt x="313" y="49190"/>
                  <a:pt x="535" y="50363"/>
                </a:cubicBezTo>
                <a:cubicBezTo>
                  <a:pt x="665" y="51054"/>
                  <a:pt x="1004" y="51706"/>
                  <a:pt x="1239" y="52384"/>
                </a:cubicBezTo>
                <a:cubicBezTo>
                  <a:pt x="1486" y="53075"/>
                  <a:pt x="2164" y="53492"/>
                  <a:pt x="3129" y="53700"/>
                </a:cubicBezTo>
                <a:cubicBezTo>
                  <a:pt x="3812" y="53854"/>
                  <a:pt x="4517" y="53911"/>
                  <a:pt x="5223" y="53911"/>
                </a:cubicBezTo>
                <a:cubicBezTo>
                  <a:pt x="5299" y="53911"/>
                  <a:pt x="5374" y="53910"/>
                  <a:pt x="5449" y="53909"/>
                </a:cubicBezTo>
                <a:cubicBezTo>
                  <a:pt x="5591" y="53907"/>
                  <a:pt x="5733" y="53906"/>
                  <a:pt x="5875" y="53906"/>
                </a:cubicBezTo>
                <a:cubicBezTo>
                  <a:pt x="7594" y="53906"/>
                  <a:pt x="9293" y="54042"/>
                  <a:pt x="11015" y="54078"/>
                </a:cubicBezTo>
                <a:cubicBezTo>
                  <a:pt x="11655" y="54087"/>
                  <a:pt x="12288" y="54128"/>
                  <a:pt x="12924" y="54128"/>
                </a:cubicBezTo>
                <a:cubicBezTo>
                  <a:pt x="13273" y="54128"/>
                  <a:pt x="13623" y="54115"/>
                  <a:pt x="13974" y="54078"/>
                </a:cubicBezTo>
                <a:cubicBezTo>
                  <a:pt x="15239" y="53948"/>
                  <a:pt x="16516" y="53870"/>
                  <a:pt x="17781" y="53779"/>
                </a:cubicBezTo>
                <a:cubicBezTo>
                  <a:pt x="18850" y="53700"/>
                  <a:pt x="19919" y="53583"/>
                  <a:pt x="20961" y="53375"/>
                </a:cubicBezTo>
                <a:cubicBezTo>
                  <a:pt x="22043" y="53153"/>
                  <a:pt x="22956" y="52749"/>
                  <a:pt x="23503" y="52019"/>
                </a:cubicBezTo>
                <a:cubicBezTo>
                  <a:pt x="23855" y="51537"/>
                  <a:pt x="24142" y="51028"/>
                  <a:pt x="24233" y="50494"/>
                </a:cubicBezTo>
                <a:cubicBezTo>
                  <a:pt x="24416" y="49464"/>
                  <a:pt x="24429" y="48434"/>
                  <a:pt x="24546" y="47404"/>
                </a:cubicBezTo>
                <a:cubicBezTo>
                  <a:pt x="24690" y="45957"/>
                  <a:pt x="24768" y="44510"/>
                  <a:pt x="24833" y="43064"/>
                </a:cubicBezTo>
                <a:cubicBezTo>
                  <a:pt x="24924" y="41395"/>
                  <a:pt x="24898" y="39726"/>
                  <a:pt x="24898" y="38058"/>
                </a:cubicBezTo>
                <a:cubicBezTo>
                  <a:pt x="24885" y="36402"/>
                  <a:pt x="24794" y="34760"/>
                  <a:pt x="24794" y="33104"/>
                </a:cubicBezTo>
                <a:cubicBezTo>
                  <a:pt x="24794" y="31332"/>
                  <a:pt x="24755" y="29546"/>
                  <a:pt x="24768" y="27760"/>
                </a:cubicBezTo>
                <a:cubicBezTo>
                  <a:pt x="24794" y="26196"/>
                  <a:pt x="24807" y="24631"/>
                  <a:pt x="24846" y="23067"/>
                </a:cubicBezTo>
                <a:cubicBezTo>
                  <a:pt x="24885" y="21503"/>
                  <a:pt x="24911" y="19952"/>
                  <a:pt x="24911" y="18387"/>
                </a:cubicBezTo>
                <a:cubicBezTo>
                  <a:pt x="24911" y="16967"/>
                  <a:pt x="24937" y="15533"/>
                  <a:pt x="24989" y="14112"/>
                </a:cubicBezTo>
                <a:cubicBezTo>
                  <a:pt x="25028" y="12795"/>
                  <a:pt x="25081" y="11479"/>
                  <a:pt x="25068" y="10162"/>
                </a:cubicBezTo>
                <a:cubicBezTo>
                  <a:pt x="25068" y="8924"/>
                  <a:pt x="25002" y="7685"/>
                  <a:pt x="24963" y="6447"/>
                </a:cubicBezTo>
                <a:lnTo>
                  <a:pt x="24950" y="6447"/>
                </a:lnTo>
                <a:cubicBezTo>
                  <a:pt x="25055" y="5561"/>
                  <a:pt x="24963" y="4674"/>
                  <a:pt x="24872" y="3801"/>
                </a:cubicBezTo>
                <a:cubicBezTo>
                  <a:pt x="24807" y="3175"/>
                  <a:pt x="24664" y="2562"/>
                  <a:pt x="24403" y="1963"/>
                </a:cubicBezTo>
                <a:cubicBezTo>
                  <a:pt x="24194" y="1481"/>
                  <a:pt x="23803" y="1103"/>
                  <a:pt x="23204" y="803"/>
                </a:cubicBezTo>
                <a:cubicBezTo>
                  <a:pt x="22185" y="293"/>
                  <a:pt x="21087" y="0"/>
                  <a:pt x="19843" y="0"/>
                </a:cubicBezTo>
                <a:close/>
              </a:path>
            </a:pathLst>
          </a:custGeom>
          <a:noFill/>
          <a:ln w="19050">
            <a:solidFill>
              <a:schemeClr val="tx1"/>
            </a:solidFill>
          </a:ln>
          <a:effectLst>
            <a:outerShdw blurRad="57150" dist="9525" algn="bl" rotWithShape="0">
              <a:srgbClr val="000000"/>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lang="fr-CI" noProof="0"/>
          </a:p>
        </p:txBody>
      </p:sp>
      <p:sp>
        <p:nvSpPr>
          <p:cNvPr id="4" name="Rectangle 3"/>
          <p:cNvSpPr/>
          <p:nvPr/>
        </p:nvSpPr>
        <p:spPr>
          <a:xfrm>
            <a:off x="2946575" y="1442741"/>
            <a:ext cx="1322389" cy="295488"/>
          </a:xfrm>
          <a:prstGeom prst="rect">
            <a:avLst/>
          </a:prstGeom>
        </p:spPr>
        <p:txBody>
          <a:bodyPr wrap="none">
            <a:spAutoFit/>
          </a:bodyPr>
          <a:lstStyle/>
          <a:p>
            <a:pPr lvl="0">
              <a:lnSpc>
                <a:spcPct val="110000"/>
              </a:lnSpc>
            </a:pPr>
            <a:r>
              <a:rPr lang="fr-CI" sz="1400" b="1" noProof="0">
                <a:solidFill>
                  <a:schemeClr val="bg1"/>
                </a:solidFill>
                <a:latin typeface="Helvetica" panose="020B0604020202020204" pitchFamily="34" charset="0"/>
                <a:ea typeface="Open Sans Semibold" panose="020B0706030804020204" pitchFamily="34" charset="0"/>
                <a:cs typeface="Helvetica" panose="020B0604020202020204" pitchFamily="34" charset="0"/>
              </a:rPr>
              <a:t>Constat</a:t>
            </a:r>
          </a:p>
        </p:txBody>
      </p:sp>
      <p:sp>
        <p:nvSpPr>
          <p:cNvPr id="20" name="Google Shape;7386;p39"/>
          <p:cNvSpPr/>
          <p:nvPr/>
        </p:nvSpPr>
        <p:spPr>
          <a:xfrm rot="10800000">
            <a:off x="6372314" y="1459724"/>
            <a:ext cx="3625790" cy="329031"/>
          </a:xfrm>
          <a:custGeom>
            <a:avLst/>
            <a:gdLst/>
            <a:ahLst/>
            <a:cxnLst/>
            <a:rect l="l" t="t" r="r" b="b"/>
            <a:pathLst>
              <a:path w="40007" h="30221" extrusionOk="0">
                <a:moveTo>
                  <a:pt x="19007" y="1"/>
                </a:moveTo>
                <a:cubicBezTo>
                  <a:pt x="17909" y="1"/>
                  <a:pt x="16810" y="17"/>
                  <a:pt x="15708" y="53"/>
                </a:cubicBezTo>
                <a:cubicBezTo>
                  <a:pt x="13270" y="131"/>
                  <a:pt x="10885" y="275"/>
                  <a:pt x="8512" y="548"/>
                </a:cubicBezTo>
                <a:cubicBezTo>
                  <a:pt x="6088" y="835"/>
                  <a:pt x="4524" y="1500"/>
                  <a:pt x="4041" y="2712"/>
                </a:cubicBezTo>
                <a:cubicBezTo>
                  <a:pt x="4015" y="2777"/>
                  <a:pt x="3976" y="2843"/>
                  <a:pt x="3937" y="2908"/>
                </a:cubicBezTo>
                <a:cubicBezTo>
                  <a:pt x="2777" y="4902"/>
                  <a:pt x="2282" y="6949"/>
                  <a:pt x="1734" y="8995"/>
                </a:cubicBezTo>
                <a:cubicBezTo>
                  <a:pt x="1160" y="11120"/>
                  <a:pt x="613" y="13232"/>
                  <a:pt x="391" y="15357"/>
                </a:cubicBezTo>
                <a:cubicBezTo>
                  <a:pt x="183" y="17325"/>
                  <a:pt x="0" y="19293"/>
                  <a:pt x="79" y="21092"/>
                </a:cubicBezTo>
                <a:cubicBezTo>
                  <a:pt x="52" y="23074"/>
                  <a:pt x="144" y="24899"/>
                  <a:pt x="365" y="26710"/>
                </a:cubicBezTo>
                <a:cubicBezTo>
                  <a:pt x="522" y="28079"/>
                  <a:pt x="1721" y="29096"/>
                  <a:pt x="4419" y="29656"/>
                </a:cubicBezTo>
                <a:cubicBezTo>
                  <a:pt x="6296" y="30048"/>
                  <a:pt x="8265" y="30178"/>
                  <a:pt x="10259" y="30204"/>
                </a:cubicBezTo>
                <a:cubicBezTo>
                  <a:pt x="11143" y="30216"/>
                  <a:pt x="12026" y="30220"/>
                  <a:pt x="12908" y="30220"/>
                </a:cubicBezTo>
                <a:cubicBezTo>
                  <a:pt x="15996" y="30220"/>
                  <a:pt x="19078" y="30165"/>
                  <a:pt x="22161" y="30165"/>
                </a:cubicBezTo>
                <a:cubicBezTo>
                  <a:pt x="24859" y="30165"/>
                  <a:pt x="27557" y="30204"/>
                  <a:pt x="30243" y="30204"/>
                </a:cubicBezTo>
                <a:cubicBezTo>
                  <a:pt x="31690" y="30191"/>
                  <a:pt x="33123" y="30113"/>
                  <a:pt x="34505" y="29852"/>
                </a:cubicBezTo>
                <a:cubicBezTo>
                  <a:pt x="35470" y="29683"/>
                  <a:pt x="36330" y="29435"/>
                  <a:pt x="36917" y="29005"/>
                </a:cubicBezTo>
                <a:cubicBezTo>
                  <a:pt x="37881" y="28288"/>
                  <a:pt x="38677" y="27519"/>
                  <a:pt x="39120" y="26684"/>
                </a:cubicBezTo>
                <a:cubicBezTo>
                  <a:pt x="39732" y="25485"/>
                  <a:pt x="39954" y="24260"/>
                  <a:pt x="39954" y="23021"/>
                </a:cubicBezTo>
                <a:cubicBezTo>
                  <a:pt x="39954" y="19372"/>
                  <a:pt x="40006" y="15709"/>
                  <a:pt x="39563" y="12059"/>
                </a:cubicBezTo>
                <a:cubicBezTo>
                  <a:pt x="39367" y="10403"/>
                  <a:pt x="39485" y="8748"/>
                  <a:pt x="39237" y="7105"/>
                </a:cubicBezTo>
                <a:cubicBezTo>
                  <a:pt x="39068" y="6023"/>
                  <a:pt x="38794" y="4941"/>
                  <a:pt x="37920" y="3938"/>
                </a:cubicBezTo>
                <a:cubicBezTo>
                  <a:pt x="37282" y="3208"/>
                  <a:pt x="36773" y="2438"/>
                  <a:pt x="35665" y="1826"/>
                </a:cubicBezTo>
                <a:cubicBezTo>
                  <a:pt x="34192" y="1031"/>
                  <a:pt x="32237" y="666"/>
                  <a:pt x="30138" y="496"/>
                </a:cubicBezTo>
                <a:cubicBezTo>
                  <a:pt x="26451" y="194"/>
                  <a:pt x="22741" y="1"/>
                  <a:pt x="19007" y="1"/>
                </a:cubicBezTo>
                <a:close/>
              </a:path>
            </a:pathLst>
          </a:custGeom>
          <a:solidFill>
            <a:srgbClr val="112A40"/>
          </a:solidFill>
          <a:ln>
            <a:noFill/>
          </a:ln>
          <a:effectLst>
            <a:outerShdw blurRad="57150" dist="9525" algn="bl" rotWithShape="0">
              <a:srgbClr val="000000"/>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lang="fr-CI" noProof="0"/>
          </a:p>
        </p:txBody>
      </p:sp>
      <p:sp>
        <p:nvSpPr>
          <p:cNvPr id="21" name="Google Shape;7367;p39"/>
          <p:cNvSpPr/>
          <p:nvPr/>
        </p:nvSpPr>
        <p:spPr>
          <a:xfrm rot="16200000">
            <a:off x="7569073" y="228570"/>
            <a:ext cx="2000788" cy="4306666"/>
          </a:xfrm>
          <a:custGeom>
            <a:avLst/>
            <a:gdLst/>
            <a:ahLst/>
            <a:cxnLst/>
            <a:rect l="l" t="t" r="r" b="b"/>
            <a:pathLst>
              <a:path w="25081" h="54128" extrusionOk="0">
                <a:moveTo>
                  <a:pt x="19843" y="0"/>
                </a:moveTo>
                <a:cubicBezTo>
                  <a:pt x="19654" y="0"/>
                  <a:pt x="19462" y="7"/>
                  <a:pt x="19267" y="21"/>
                </a:cubicBezTo>
                <a:cubicBezTo>
                  <a:pt x="17781" y="125"/>
                  <a:pt x="16282" y="99"/>
                  <a:pt x="14796" y="112"/>
                </a:cubicBezTo>
                <a:cubicBezTo>
                  <a:pt x="13909" y="125"/>
                  <a:pt x="13010" y="112"/>
                  <a:pt x="12123" y="177"/>
                </a:cubicBezTo>
                <a:cubicBezTo>
                  <a:pt x="10272" y="333"/>
                  <a:pt x="8421" y="503"/>
                  <a:pt x="6570" y="633"/>
                </a:cubicBezTo>
                <a:cubicBezTo>
                  <a:pt x="5267" y="738"/>
                  <a:pt x="3989" y="933"/>
                  <a:pt x="2764" y="1259"/>
                </a:cubicBezTo>
                <a:cubicBezTo>
                  <a:pt x="1943" y="1481"/>
                  <a:pt x="1408" y="1872"/>
                  <a:pt x="1226" y="2471"/>
                </a:cubicBezTo>
                <a:cubicBezTo>
                  <a:pt x="991" y="3292"/>
                  <a:pt x="861" y="4140"/>
                  <a:pt x="965" y="4974"/>
                </a:cubicBezTo>
                <a:cubicBezTo>
                  <a:pt x="991" y="5248"/>
                  <a:pt x="1030" y="5508"/>
                  <a:pt x="991" y="5782"/>
                </a:cubicBezTo>
                <a:cubicBezTo>
                  <a:pt x="835" y="6877"/>
                  <a:pt x="678" y="7972"/>
                  <a:pt x="587" y="9067"/>
                </a:cubicBezTo>
                <a:cubicBezTo>
                  <a:pt x="470" y="10488"/>
                  <a:pt x="378" y="11896"/>
                  <a:pt x="300" y="13317"/>
                </a:cubicBezTo>
                <a:cubicBezTo>
                  <a:pt x="274" y="13825"/>
                  <a:pt x="352" y="14333"/>
                  <a:pt x="339" y="14829"/>
                </a:cubicBezTo>
                <a:cubicBezTo>
                  <a:pt x="313" y="15820"/>
                  <a:pt x="157" y="16797"/>
                  <a:pt x="118" y="17775"/>
                </a:cubicBezTo>
                <a:cubicBezTo>
                  <a:pt x="53" y="19391"/>
                  <a:pt x="0" y="21008"/>
                  <a:pt x="40" y="22624"/>
                </a:cubicBezTo>
                <a:cubicBezTo>
                  <a:pt x="66" y="24149"/>
                  <a:pt x="157" y="25661"/>
                  <a:pt x="144" y="27173"/>
                </a:cubicBezTo>
                <a:cubicBezTo>
                  <a:pt x="131" y="28646"/>
                  <a:pt x="105" y="30132"/>
                  <a:pt x="131" y="31605"/>
                </a:cubicBezTo>
                <a:cubicBezTo>
                  <a:pt x="209" y="35412"/>
                  <a:pt x="405" y="39218"/>
                  <a:pt x="274" y="43051"/>
                </a:cubicBezTo>
                <a:cubicBezTo>
                  <a:pt x="235" y="44237"/>
                  <a:pt x="287" y="45436"/>
                  <a:pt x="300" y="46622"/>
                </a:cubicBezTo>
                <a:cubicBezTo>
                  <a:pt x="300" y="46687"/>
                  <a:pt x="300" y="46753"/>
                  <a:pt x="287" y="46818"/>
                </a:cubicBezTo>
                <a:cubicBezTo>
                  <a:pt x="222" y="48004"/>
                  <a:pt x="313" y="49190"/>
                  <a:pt x="535" y="50363"/>
                </a:cubicBezTo>
                <a:cubicBezTo>
                  <a:pt x="665" y="51054"/>
                  <a:pt x="1004" y="51706"/>
                  <a:pt x="1239" y="52384"/>
                </a:cubicBezTo>
                <a:cubicBezTo>
                  <a:pt x="1486" y="53075"/>
                  <a:pt x="2164" y="53492"/>
                  <a:pt x="3129" y="53700"/>
                </a:cubicBezTo>
                <a:cubicBezTo>
                  <a:pt x="3812" y="53854"/>
                  <a:pt x="4517" y="53911"/>
                  <a:pt x="5223" y="53911"/>
                </a:cubicBezTo>
                <a:cubicBezTo>
                  <a:pt x="5299" y="53911"/>
                  <a:pt x="5374" y="53910"/>
                  <a:pt x="5449" y="53909"/>
                </a:cubicBezTo>
                <a:cubicBezTo>
                  <a:pt x="5591" y="53907"/>
                  <a:pt x="5733" y="53906"/>
                  <a:pt x="5875" y="53906"/>
                </a:cubicBezTo>
                <a:cubicBezTo>
                  <a:pt x="7594" y="53906"/>
                  <a:pt x="9293" y="54042"/>
                  <a:pt x="11015" y="54078"/>
                </a:cubicBezTo>
                <a:cubicBezTo>
                  <a:pt x="11655" y="54087"/>
                  <a:pt x="12288" y="54128"/>
                  <a:pt x="12924" y="54128"/>
                </a:cubicBezTo>
                <a:cubicBezTo>
                  <a:pt x="13273" y="54128"/>
                  <a:pt x="13623" y="54115"/>
                  <a:pt x="13974" y="54078"/>
                </a:cubicBezTo>
                <a:cubicBezTo>
                  <a:pt x="15239" y="53948"/>
                  <a:pt x="16516" y="53870"/>
                  <a:pt x="17781" y="53779"/>
                </a:cubicBezTo>
                <a:cubicBezTo>
                  <a:pt x="18850" y="53700"/>
                  <a:pt x="19919" y="53583"/>
                  <a:pt x="20961" y="53375"/>
                </a:cubicBezTo>
                <a:cubicBezTo>
                  <a:pt x="22043" y="53153"/>
                  <a:pt x="22956" y="52749"/>
                  <a:pt x="23503" y="52019"/>
                </a:cubicBezTo>
                <a:cubicBezTo>
                  <a:pt x="23855" y="51537"/>
                  <a:pt x="24142" y="51028"/>
                  <a:pt x="24233" y="50494"/>
                </a:cubicBezTo>
                <a:cubicBezTo>
                  <a:pt x="24416" y="49464"/>
                  <a:pt x="24429" y="48434"/>
                  <a:pt x="24546" y="47404"/>
                </a:cubicBezTo>
                <a:cubicBezTo>
                  <a:pt x="24690" y="45957"/>
                  <a:pt x="24768" y="44510"/>
                  <a:pt x="24833" y="43064"/>
                </a:cubicBezTo>
                <a:cubicBezTo>
                  <a:pt x="24924" y="41395"/>
                  <a:pt x="24898" y="39726"/>
                  <a:pt x="24898" y="38058"/>
                </a:cubicBezTo>
                <a:cubicBezTo>
                  <a:pt x="24885" y="36402"/>
                  <a:pt x="24794" y="34760"/>
                  <a:pt x="24794" y="33104"/>
                </a:cubicBezTo>
                <a:cubicBezTo>
                  <a:pt x="24794" y="31332"/>
                  <a:pt x="24755" y="29546"/>
                  <a:pt x="24768" y="27760"/>
                </a:cubicBezTo>
                <a:cubicBezTo>
                  <a:pt x="24794" y="26196"/>
                  <a:pt x="24807" y="24631"/>
                  <a:pt x="24846" y="23067"/>
                </a:cubicBezTo>
                <a:cubicBezTo>
                  <a:pt x="24885" y="21503"/>
                  <a:pt x="24911" y="19952"/>
                  <a:pt x="24911" y="18387"/>
                </a:cubicBezTo>
                <a:cubicBezTo>
                  <a:pt x="24911" y="16967"/>
                  <a:pt x="24937" y="15533"/>
                  <a:pt x="24989" y="14112"/>
                </a:cubicBezTo>
                <a:cubicBezTo>
                  <a:pt x="25028" y="12795"/>
                  <a:pt x="25081" y="11479"/>
                  <a:pt x="25068" y="10162"/>
                </a:cubicBezTo>
                <a:cubicBezTo>
                  <a:pt x="25068" y="8924"/>
                  <a:pt x="25002" y="7685"/>
                  <a:pt x="24963" y="6447"/>
                </a:cubicBezTo>
                <a:lnTo>
                  <a:pt x="24950" y="6447"/>
                </a:lnTo>
                <a:cubicBezTo>
                  <a:pt x="25055" y="5561"/>
                  <a:pt x="24963" y="4674"/>
                  <a:pt x="24872" y="3801"/>
                </a:cubicBezTo>
                <a:cubicBezTo>
                  <a:pt x="24807" y="3175"/>
                  <a:pt x="24664" y="2562"/>
                  <a:pt x="24403" y="1963"/>
                </a:cubicBezTo>
                <a:cubicBezTo>
                  <a:pt x="24194" y="1481"/>
                  <a:pt x="23803" y="1103"/>
                  <a:pt x="23204" y="803"/>
                </a:cubicBezTo>
                <a:cubicBezTo>
                  <a:pt x="22185" y="293"/>
                  <a:pt x="21087" y="0"/>
                  <a:pt x="19843" y="0"/>
                </a:cubicBezTo>
                <a:close/>
              </a:path>
            </a:pathLst>
          </a:custGeom>
          <a:noFill/>
          <a:ln w="19050">
            <a:solidFill>
              <a:srgbClr val="060606"/>
            </a:solidFill>
          </a:ln>
          <a:effectLst>
            <a:outerShdw blurRad="57150" dist="9525" algn="bl" rotWithShape="0">
              <a:srgbClr val="000000"/>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lang="fr-CI" noProof="0"/>
          </a:p>
        </p:txBody>
      </p:sp>
      <p:sp>
        <p:nvSpPr>
          <p:cNvPr id="24" name="Rectangle 23"/>
          <p:cNvSpPr/>
          <p:nvPr/>
        </p:nvSpPr>
        <p:spPr>
          <a:xfrm>
            <a:off x="7570816" y="1466170"/>
            <a:ext cx="1322389" cy="295488"/>
          </a:xfrm>
          <a:prstGeom prst="rect">
            <a:avLst/>
          </a:prstGeom>
        </p:spPr>
        <p:txBody>
          <a:bodyPr wrap="none">
            <a:spAutoFit/>
          </a:bodyPr>
          <a:lstStyle/>
          <a:p>
            <a:pPr lvl="0">
              <a:lnSpc>
                <a:spcPct val="110000"/>
              </a:lnSpc>
            </a:pPr>
            <a:r>
              <a:rPr lang="fr-CI" sz="1400" b="1" noProof="0">
                <a:solidFill>
                  <a:schemeClr val="bg1"/>
                </a:solidFill>
                <a:latin typeface="Helvetica" panose="020B0604020202020204" pitchFamily="34" charset="0"/>
                <a:ea typeface="Open Sans Semibold" panose="020B0706030804020204" pitchFamily="34" charset="0"/>
                <a:cs typeface="Helvetica" panose="020B0604020202020204" pitchFamily="34" charset="0"/>
              </a:rPr>
              <a:t>Preuves</a:t>
            </a:r>
          </a:p>
        </p:txBody>
      </p:sp>
      <p:sp>
        <p:nvSpPr>
          <p:cNvPr id="37" name="Google Shape;7386;p39"/>
          <p:cNvSpPr/>
          <p:nvPr/>
        </p:nvSpPr>
        <p:spPr>
          <a:xfrm rot="10800000">
            <a:off x="1854215" y="3845744"/>
            <a:ext cx="3625790" cy="329031"/>
          </a:xfrm>
          <a:custGeom>
            <a:avLst/>
            <a:gdLst/>
            <a:ahLst/>
            <a:cxnLst/>
            <a:rect l="l" t="t" r="r" b="b"/>
            <a:pathLst>
              <a:path w="40007" h="30221" extrusionOk="0">
                <a:moveTo>
                  <a:pt x="19007" y="1"/>
                </a:moveTo>
                <a:cubicBezTo>
                  <a:pt x="17909" y="1"/>
                  <a:pt x="16810" y="17"/>
                  <a:pt x="15708" y="53"/>
                </a:cubicBezTo>
                <a:cubicBezTo>
                  <a:pt x="13270" y="131"/>
                  <a:pt x="10885" y="275"/>
                  <a:pt x="8512" y="548"/>
                </a:cubicBezTo>
                <a:cubicBezTo>
                  <a:pt x="6088" y="835"/>
                  <a:pt x="4524" y="1500"/>
                  <a:pt x="4041" y="2712"/>
                </a:cubicBezTo>
                <a:cubicBezTo>
                  <a:pt x="4015" y="2777"/>
                  <a:pt x="3976" y="2843"/>
                  <a:pt x="3937" y="2908"/>
                </a:cubicBezTo>
                <a:cubicBezTo>
                  <a:pt x="2777" y="4902"/>
                  <a:pt x="2282" y="6949"/>
                  <a:pt x="1734" y="8995"/>
                </a:cubicBezTo>
                <a:cubicBezTo>
                  <a:pt x="1160" y="11120"/>
                  <a:pt x="613" y="13232"/>
                  <a:pt x="391" y="15357"/>
                </a:cubicBezTo>
                <a:cubicBezTo>
                  <a:pt x="183" y="17325"/>
                  <a:pt x="0" y="19293"/>
                  <a:pt x="79" y="21092"/>
                </a:cubicBezTo>
                <a:cubicBezTo>
                  <a:pt x="52" y="23074"/>
                  <a:pt x="144" y="24899"/>
                  <a:pt x="365" y="26710"/>
                </a:cubicBezTo>
                <a:cubicBezTo>
                  <a:pt x="522" y="28079"/>
                  <a:pt x="1721" y="29096"/>
                  <a:pt x="4419" y="29656"/>
                </a:cubicBezTo>
                <a:cubicBezTo>
                  <a:pt x="6296" y="30048"/>
                  <a:pt x="8265" y="30178"/>
                  <a:pt x="10259" y="30204"/>
                </a:cubicBezTo>
                <a:cubicBezTo>
                  <a:pt x="11143" y="30216"/>
                  <a:pt x="12026" y="30220"/>
                  <a:pt x="12908" y="30220"/>
                </a:cubicBezTo>
                <a:cubicBezTo>
                  <a:pt x="15996" y="30220"/>
                  <a:pt x="19078" y="30165"/>
                  <a:pt x="22161" y="30165"/>
                </a:cubicBezTo>
                <a:cubicBezTo>
                  <a:pt x="24859" y="30165"/>
                  <a:pt x="27557" y="30204"/>
                  <a:pt x="30243" y="30204"/>
                </a:cubicBezTo>
                <a:cubicBezTo>
                  <a:pt x="31690" y="30191"/>
                  <a:pt x="33123" y="30113"/>
                  <a:pt x="34505" y="29852"/>
                </a:cubicBezTo>
                <a:cubicBezTo>
                  <a:pt x="35470" y="29683"/>
                  <a:pt x="36330" y="29435"/>
                  <a:pt x="36917" y="29005"/>
                </a:cubicBezTo>
                <a:cubicBezTo>
                  <a:pt x="37881" y="28288"/>
                  <a:pt x="38677" y="27519"/>
                  <a:pt x="39120" y="26684"/>
                </a:cubicBezTo>
                <a:cubicBezTo>
                  <a:pt x="39732" y="25485"/>
                  <a:pt x="39954" y="24260"/>
                  <a:pt x="39954" y="23021"/>
                </a:cubicBezTo>
                <a:cubicBezTo>
                  <a:pt x="39954" y="19372"/>
                  <a:pt x="40006" y="15709"/>
                  <a:pt x="39563" y="12059"/>
                </a:cubicBezTo>
                <a:cubicBezTo>
                  <a:pt x="39367" y="10403"/>
                  <a:pt x="39485" y="8748"/>
                  <a:pt x="39237" y="7105"/>
                </a:cubicBezTo>
                <a:cubicBezTo>
                  <a:pt x="39068" y="6023"/>
                  <a:pt x="38794" y="4941"/>
                  <a:pt x="37920" y="3938"/>
                </a:cubicBezTo>
                <a:cubicBezTo>
                  <a:pt x="37282" y="3208"/>
                  <a:pt x="36773" y="2438"/>
                  <a:pt x="35665" y="1826"/>
                </a:cubicBezTo>
                <a:cubicBezTo>
                  <a:pt x="34192" y="1031"/>
                  <a:pt x="32237" y="666"/>
                  <a:pt x="30138" y="496"/>
                </a:cubicBezTo>
                <a:cubicBezTo>
                  <a:pt x="26451" y="194"/>
                  <a:pt x="22741" y="1"/>
                  <a:pt x="19007" y="1"/>
                </a:cubicBezTo>
                <a:close/>
              </a:path>
            </a:pathLst>
          </a:custGeom>
          <a:solidFill>
            <a:srgbClr val="112A40"/>
          </a:solidFill>
          <a:ln>
            <a:noFill/>
          </a:ln>
          <a:effectLst>
            <a:outerShdw blurRad="57150" dist="9525" algn="bl" rotWithShape="0">
              <a:srgbClr val="000000"/>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lang="fr-CI" noProof="0"/>
          </a:p>
        </p:txBody>
      </p:sp>
      <p:sp>
        <p:nvSpPr>
          <p:cNvPr id="38" name="Google Shape;7367;p39"/>
          <p:cNvSpPr/>
          <p:nvPr/>
        </p:nvSpPr>
        <p:spPr>
          <a:xfrm rot="16200000">
            <a:off x="2838223" y="3190772"/>
            <a:ext cx="1751381" cy="3719393"/>
          </a:xfrm>
          <a:custGeom>
            <a:avLst/>
            <a:gdLst/>
            <a:ahLst/>
            <a:cxnLst/>
            <a:rect l="l" t="t" r="r" b="b"/>
            <a:pathLst>
              <a:path w="25081" h="54128" extrusionOk="0">
                <a:moveTo>
                  <a:pt x="19843" y="0"/>
                </a:moveTo>
                <a:cubicBezTo>
                  <a:pt x="19654" y="0"/>
                  <a:pt x="19462" y="7"/>
                  <a:pt x="19267" y="21"/>
                </a:cubicBezTo>
                <a:cubicBezTo>
                  <a:pt x="17781" y="125"/>
                  <a:pt x="16282" y="99"/>
                  <a:pt x="14796" y="112"/>
                </a:cubicBezTo>
                <a:cubicBezTo>
                  <a:pt x="13909" y="125"/>
                  <a:pt x="13010" y="112"/>
                  <a:pt x="12123" y="177"/>
                </a:cubicBezTo>
                <a:cubicBezTo>
                  <a:pt x="10272" y="333"/>
                  <a:pt x="8421" y="503"/>
                  <a:pt x="6570" y="633"/>
                </a:cubicBezTo>
                <a:cubicBezTo>
                  <a:pt x="5267" y="738"/>
                  <a:pt x="3989" y="933"/>
                  <a:pt x="2764" y="1259"/>
                </a:cubicBezTo>
                <a:cubicBezTo>
                  <a:pt x="1943" y="1481"/>
                  <a:pt x="1408" y="1872"/>
                  <a:pt x="1226" y="2471"/>
                </a:cubicBezTo>
                <a:cubicBezTo>
                  <a:pt x="991" y="3292"/>
                  <a:pt x="861" y="4140"/>
                  <a:pt x="965" y="4974"/>
                </a:cubicBezTo>
                <a:cubicBezTo>
                  <a:pt x="991" y="5248"/>
                  <a:pt x="1030" y="5508"/>
                  <a:pt x="991" y="5782"/>
                </a:cubicBezTo>
                <a:cubicBezTo>
                  <a:pt x="835" y="6877"/>
                  <a:pt x="678" y="7972"/>
                  <a:pt x="587" y="9067"/>
                </a:cubicBezTo>
                <a:cubicBezTo>
                  <a:pt x="470" y="10488"/>
                  <a:pt x="378" y="11896"/>
                  <a:pt x="300" y="13317"/>
                </a:cubicBezTo>
                <a:cubicBezTo>
                  <a:pt x="274" y="13825"/>
                  <a:pt x="352" y="14333"/>
                  <a:pt x="339" y="14829"/>
                </a:cubicBezTo>
                <a:cubicBezTo>
                  <a:pt x="313" y="15820"/>
                  <a:pt x="157" y="16797"/>
                  <a:pt x="118" y="17775"/>
                </a:cubicBezTo>
                <a:cubicBezTo>
                  <a:pt x="53" y="19391"/>
                  <a:pt x="0" y="21008"/>
                  <a:pt x="40" y="22624"/>
                </a:cubicBezTo>
                <a:cubicBezTo>
                  <a:pt x="66" y="24149"/>
                  <a:pt x="157" y="25661"/>
                  <a:pt x="144" y="27173"/>
                </a:cubicBezTo>
                <a:cubicBezTo>
                  <a:pt x="131" y="28646"/>
                  <a:pt x="105" y="30132"/>
                  <a:pt x="131" y="31605"/>
                </a:cubicBezTo>
                <a:cubicBezTo>
                  <a:pt x="209" y="35412"/>
                  <a:pt x="405" y="39218"/>
                  <a:pt x="274" y="43051"/>
                </a:cubicBezTo>
                <a:cubicBezTo>
                  <a:pt x="235" y="44237"/>
                  <a:pt x="287" y="45436"/>
                  <a:pt x="300" y="46622"/>
                </a:cubicBezTo>
                <a:cubicBezTo>
                  <a:pt x="300" y="46687"/>
                  <a:pt x="300" y="46753"/>
                  <a:pt x="287" y="46818"/>
                </a:cubicBezTo>
                <a:cubicBezTo>
                  <a:pt x="222" y="48004"/>
                  <a:pt x="313" y="49190"/>
                  <a:pt x="535" y="50363"/>
                </a:cubicBezTo>
                <a:cubicBezTo>
                  <a:pt x="665" y="51054"/>
                  <a:pt x="1004" y="51706"/>
                  <a:pt x="1239" y="52384"/>
                </a:cubicBezTo>
                <a:cubicBezTo>
                  <a:pt x="1486" y="53075"/>
                  <a:pt x="2164" y="53492"/>
                  <a:pt x="3129" y="53700"/>
                </a:cubicBezTo>
                <a:cubicBezTo>
                  <a:pt x="3812" y="53854"/>
                  <a:pt x="4517" y="53911"/>
                  <a:pt x="5223" y="53911"/>
                </a:cubicBezTo>
                <a:cubicBezTo>
                  <a:pt x="5299" y="53911"/>
                  <a:pt x="5374" y="53910"/>
                  <a:pt x="5449" y="53909"/>
                </a:cubicBezTo>
                <a:cubicBezTo>
                  <a:pt x="5591" y="53907"/>
                  <a:pt x="5733" y="53906"/>
                  <a:pt x="5875" y="53906"/>
                </a:cubicBezTo>
                <a:cubicBezTo>
                  <a:pt x="7594" y="53906"/>
                  <a:pt x="9293" y="54042"/>
                  <a:pt x="11015" y="54078"/>
                </a:cubicBezTo>
                <a:cubicBezTo>
                  <a:pt x="11655" y="54087"/>
                  <a:pt x="12288" y="54128"/>
                  <a:pt x="12924" y="54128"/>
                </a:cubicBezTo>
                <a:cubicBezTo>
                  <a:pt x="13273" y="54128"/>
                  <a:pt x="13623" y="54115"/>
                  <a:pt x="13974" y="54078"/>
                </a:cubicBezTo>
                <a:cubicBezTo>
                  <a:pt x="15239" y="53948"/>
                  <a:pt x="16516" y="53870"/>
                  <a:pt x="17781" y="53779"/>
                </a:cubicBezTo>
                <a:cubicBezTo>
                  <a:pt x="18850" y="53700"/>
                  <a:pt x="19919" y="53583"/>
                  <a:pt x="20961" y="53375"/>
                </a:cubicBezTo>
                <a:cubicBezTo>
                  <a:pt x="22043" y="53153"/>
                  <a:pt x="22956" y="52749"/>
                  <a:pt x="23503" y="52019"/>
                </a:cubicBezTo>
                <a:cubicBezTo>
                  <a:pt x="23855" y="51537"/>
                  <a:pt x="24142" y="51028"/>
                  <a:pt x="24233" y="50494"/>
                </a:cubicBezTo>
                <a:cubicBezTo>
                  <a:pt x="24416" y="49464"/>
                  <a:pt x="24429" y="48434"/>
                  <a:pt x="24546" y="47404"/>
                </a:cubicBezTo>
                <a:cubicBezTo>
                  <a:pt x="24690" y="45957"/>
                  <a:pt x="24768" y="44510"/>
                  <a:pt x="24833" y="43064"/>
                </a:cubicBezTo>
                <a:cubicBezTo>
                  <a:pt x="24924" y="41395"/>
                  <a:pt x="24898" y="39726"/>
                  <a:pt x="24898" y="38058"/>
                </a:cubicBezTo>
                <a:cubicBezTo>
                  <a:pt x="24885" y="36402"/>
                  <a:pt x="24794" y="34760"/>
                  <a:pt x="24794" y="33104"/>
                </a:cubicBezTo>
                <a:cubicBezTo>
                  <a:pt x="24794" y="31332"/>
                  <a:pt x="24755" y="29546"/>
                  <a:pt x="24768" y="27760"/>
                </a:cubicBezTo>
                <a:cubicBezTo>
                  <a:pt x="24794" y="26196"/>
                  <a:pt x="24807" y="24631"/>
                  <a:pt x="24846" y="23067"/>
                </a:cubicBezTo>
                <a:cubicBezTo>
                  <a:pt x="24885" y="21503"/>
                  <a:pt x="24911" y="19952"/>
                  <a:pt x="24911" y="18387"/>
                </a:cubicBezTo>
                <a:cubicBezTo>
                  <a:pt x="24911" y="16967"/>
                  <a:pt x="24937" y="15533"/>
                  <a:pt x="24989" y="14112"/>
                </a:cubicBezTo>
                <a:cubicBezTo>
                  <a:pt x="25028" y="12795"/>
                  <a:pt x="25081" y="11479"/>
                  <a:pt x="25068" y="10162"/>
                </a:cubicBezTo>
                <a:cubicBezTo>
                  <a:pt x="25068" y="8924"/>
                  <a:pt x="25002" y="7685"/>
                  <a:pt x="24963" y="6447"/>
                </a:cubicBezTo>
                <a:lnTo>
                  <a:pt x="24950" y="6447"/>
                </a:lnTo>
                <a:cubicBezTo>
                  <a:pt x="25055" y="5561"/>
                  <a:pt x="24963" y="4674"/>
                  <a:pt x="24872" y="3801"/>
                </a:cubicBezTo>
                <a:cubicBezTo>
                  <a:pt x="24807" y="3175"/>
                  <a:pt x="24664" y="2562"/>
                  <a:pt x="24403" y="1963"/>
                </a:cubicBezTo>
                <a:cubicBezTo>
                  <a:pt x="24194" y="1481"/>
                  <a:pt x="23803" y="1103"/>
                  <a:pt x="23204" y="803"/>
                </a:cubicBezTo>
                <a:cubicBezTo>
                  <a:pt x="22185" y="293"/>
                  <a:pt x="21087" y="0"/>
                  <a:pt x="19843" y="0"/>
                </a:cubicBezTo>
                <a:close/>
              </a:path>
            </a:pathLst>
          </a:custGeom>
          <a:noFill/>
          <a:ln w="19050">
            <a:solidFill>
              <a:srgbClr val="060606"/>
            </a:solidFill>
          </a:ln>
          <a:effectLst>
            <a:outerShdw blurRad="57150" dist="9525" algn="bl" rotWithShape="0">
              <a:srgbClr val="000000"/>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lang="fr-CI" noProof="0"/>
          </a:p>
        </p:txBody>
      </p:sp>
      <p:sp>
        <p:nvSpPr>
          <p:cNvPr id="40" name="Rectangle 39"/>
          <p:cNvSpPr/>
          <p:nvPr/>
        </p:nvSpPr>
        <p:spPr>
          <a:xfrm>
            <a:off x="3052718" y="3852190"/>
            <a:ext cx="1322389" cy="295488"/>
          </a:xfrm>
          <a:prstGeom prst="rect">
            <a:avLst/>
          </a:prstGeom>
        </p:spPr>
        <p:txBody>
          <a:bodyPr wrap="none">
            <a:spAutoFit/>
          </a:bodyPr>
          <a:lstStyle/>
          <a:p>
            <a:pPr lvl="0">
              <a:lnSpc>
                <a:spcPct val="110000"/>
              </a:lnSpc>
            </a:pPr>
            <a:r>
              <a:rPr lang="fr-CI" sz="1400" b="1" noProof="0">
                <a:solidFill>
                  <a:schemeClr val="bg1"/>
                </a:solidFill>
                <a:latin typeface="Helvetica" panose="020B0604020202020204" pitchFamily="34" charset="0"/>
                <a:ea typeface="Open Sans Semibold" panose="020B0706030804020204" pitchFamily="34" charset="0"/>
                <a:cs typeface="Helvetica" panose="020B0604020202020204" pitchFamily="34" charset="0"/>
              </a:rPr>
              <a:t>Implication</a:t>
            </a:r>
          </a:p>
        </p:txBody>
      </p:sp>
      <p:sp>
        <p:nvSpPr>
          <p:cNvPr id="42" name="Google Shape;7386;p39"/>
          <p:cNvSpPr/>
          <p:nvPr/>
        </p:nvSpPr>
        <p:spPr>
          <a:xfrm rot="10800000">
            <a:off x="6478457" y="3869173"/>
            <a:ext cx="3625790" cy="329031"/>
          </a:xfrm>
          <a:custGeom>
            <a:avLst/>
            <a:gdLst/>
            <a:ahLst/>
            <a:cxnLst/>
            <a:rect l="l" t="t" r="r" b="b"/>
            <a:pathLst>
              <a:path w="40007" h="30221" extrusionOk="0">
                <a:moveTo>
                  <a:pt x="19007" y="1"/>
                </a:moveTo>
                <a:cubicBezTo>
                  <a:pt x="17909" y="1"/>
                  <a:pt x="16810" y="17"/>
                  <a:pt x="15708" y="53"/>
                </a:cubicBezTo>
                <a:cubicBezTo>
                  <a:pt x="13270" y="131"/>
                  <a:pt x="10885" y="275"/>
                  <a:pt x="8512" y="548"/>
                </a:cubicBezTo>
                <a:cubicBezTo>
                  <a:pt x="6088" y="835"/>
                  <a:pt x="4524" y="1500"/>
                  <a:pt x="4041" y="2712"/>
                </a:cubicBezTo>
                <a:cubicBezTo>
                  <a:pt x="4015" y="2777"/>
                  <a:pt x="3976" y="2843"/>
                  <a:pt x="3937" y="2908"/>
                </a:cubicBezTo>
                <a:cubicBezTo>
                  <a:pt x="2777" y="4902"/>
                  <a:pt x="2282" y="6949"/>
                  <a:pt x="1734" y="8995"/>
                </a:cubicBezTo>
                <a:cubicBezTo>
                  <a:pt x="1160" y="11120"/>
                  <a:pt x="613" y="13232"/>
                  <a:pt x="391" y="15357"/>
                </a:cubicBezTo>
                <a:cubicBezTo>
                  <a:pt x="183" y="17325"/>
                  <a:pt x="0" y="19293"/>
                  <a:pt x="79" y="21092"/>
                </a:cubicBezTo>
                <a:cubicBezTo>
                  <a:pt x="52" y="23074"/>
                  <a:pt x="144" y="24899"/>
                  <a:pt x="365" y="26710"/>
                </a:cubicBezTo>
                <a:cubicBezTo>
                  <a:pt x="522" y="28079"/>
                  <a:pt x="1721" y="29096"/>
                  <a:pt x="4419" y="29656"/>
                </a:cubicBezTo>
                <a:cubicBezTo>
                  <a:pt x="6296" y="30048"/>
                  <a:pt x="8265" y="30178"/>
                  <a:pt x="10259" y="30204"/>
                </a:cubicBezTo>
                <a:cubicBezTo>
                  <a:pt x="11143" y="30216"/>
                  <a:pt x="12026" y="30220"/>
                  <a:pt x="12908" y="30220"/>
                </a:cubicBezTo>
                <a:cubicBezTo>
                  <a:pt x="15996" y="30220"/>
                  <a:pt x="19078" y="30165"/>
                  <a:pt x="22161" y="30165"/>
                </a:cubicBezTo>
                <a:cubicBezTo>
                  <a:pt x="24859" y="30165"/>
                  <a:pt x="27557" y="30204"/>
                  <a:pt x="30243" y="30204"/>
                </a:cubicBezTo>
                <a:cubicBezTo>
                  <a:pt x="31690" y="30191"/>
                  <a:pt x="33123" y="30113"/>
                  <a:pt x="34505" y="29852"/>
                </a:cubicBezTo>
                <a:cubicBezTo>
                  <a:pt x="35470" y="29683"/>
                  <a:pt x="36330" y="29435"/>
                  <a:pt x="36917" y="29005"/>
                </a:cubicBezTo>
                <a:cubicBezTo>
                  <a:pt x="37881" y="28288"/>
                  <a:pt x="38677" y="27519"/>
                  <a:pt x="39120" y="26684"/>
                </a:cubicBezTo>
                <a:cubicBezTo>
                  <a:pt x="39732" y="25485"/>
                  <a:pt x="39954" y="24260"/>
                  <a:pt x="39954" y="23021"/>
                </a:cubicBezTo>
                <a:cubicBezTo>
                  <a:pt x="39954" y="19372"/>
                  <a:pt x="40006" y="15709"/>
                  <a:pt x="39563" y="12059"/>
                </a:cubicBezTo>
                <a:cubicBezTo>
                  <a:pt x="39367" y="10403"/>
                  <a:pt x="39485" y="8748"/>
                  <a:pt x="39237" y="7105"/>
                </a:cubicBezTo>
                <a:cubicBezTo>
                  <a:pt x="39068" y="6023"/>
                  <a:pt x="38794" y="4941"/>
                  <a:pt x="37920" y="3938"/>
                </a:cubicBezTo>
                <a:cubicBezTo>
                  <a:pt x="37282" y="3208"/>
                  <a:pt x="36773" y="2438"/>
                  <a:pt x="35665" y="1826"/>
                </a:cubicBezTo>
                <a:cubicBezTo>
                  <a:pt x="34192" y="1031"/>
                  <a:pt x="32237" y="666"/>
                  <a:pt x="30138" y="496"/>
                </a:cubicBezTo>
                <a:cubicBezTo>
                  <a:pt x="26451" y="194"/>
                  <a:pt x="22741" y="1"/>
                  <a:pt x="19007" y="1"/>
                </a:cubicBezTo>
                <a:close/>
              </a:path>
            </a:pathLst>
          </a:custGeom>
          <a:solidFill>
            <a:srgbClr val="112A40"/>
          </a:solidFill>
          <a:ln>
            <a:noFill/>
          </a:ln>
          <a:effectLst>
            <a:outerShdw blurRad="57150" dist="9525" algn="bl" rotWithShape="0">
              <a:srgbClr val="000000"/>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lang="fr-CI" noProof="0"/>
          </a:p>
        </p:txBody>
      </p:sp>
      <p:sp>
        <p:nvSpPr>
          <p:cNvPr id="43" name="Google Shape;7367;p39"/>
          <p:cNvSpPr/>
          <p:nvPr/>
        </p:nvSpPr>
        <p:spPr>
          <a:xfrm rot="16200000">
            <a:off x="7474179" y="3202486"/>
            <a:ext cx="1727953" cy="3719393"/>
          </a:xfrm>
          <a:custGeom>
            <a:avLst/>
            <a:gdLst/>
            <a:ahLst/>
            <a:cxnLst/>
            <a:rect l="l" t="t" r="r" b="b"/>
            <a:pathLst>
              <a:path w="25081" h="54128" extrusionOk="0">
                <a:moveTo>
                  <a:pt x="19843" y="0"/>
                </a:moveTo>
                <a:cubicBezTo>
                  <a:pt x="19654" y="0"/>
                  <a:pt x="19462" y="7"/>
                  <a:pt x="19267" y="21"/>
                </a:cubicBezTo>
                <a:cubicBezTo>
                  <a:pt x="17781" y="125"/>
                  <a:pt x="16282" y="99"/>
                  <a:pt x="14796" y="112"/>
                </a:cubicBezTo>
                <a:cubicBezTo>
                  <a:pt x="13909" y="125"/>
                  <a:pt x="13010" y="112"/>
                  <a:pt x="12123" y="177"/>
                </a:cubicBezTo>
                <a:cubicBezTo>
                  <a:pt x="10272" y="333"/>
                  <a:pt x="8421" y="503"/>
                  <a:pt x="6570" y="633"/>
                </a:cubicBezTo>
                <a:cubicBezTo>
                  <a:pt x="5267" y="738"/>
                  <a:pt x="3989" y="933"/>
                  <a:pt x="2764" y="1259"/>
                </a:cubicBezTo>
                <a:cubicBezTo>
                  <a:pt x="1943" y="1481"/>
                  <a:pt x="1408" y="1872"/>
                  <a:pt x="1226" y="2471"/>
                </a:cubicBezTo>
                <a:cubicBezTo>
                  <a:pt x="991" y="3292"/>
                  <a:pt x="861" y="4140"/>
                  <a:pt x="965" y="4974"/>
                </a:cubicBezTo>
                <a:cubicBezTo>
                  <a:pt x="991" y="5248"/>
                  <a:pt x="1030" y="5508"/>
                  <a:pt x="991" y="5782"/>
                </a:cubicBezTo>
                <a:cubicBezTo>
                  <a:pt x="835" y="6877"/>
                  <a:pt x="678" y="7972"/>
                  <a:pt x="587" y="9067"/>
                </a:cubicBezTo>
                <a:cubicBezTo>
                  <a:pt x="470" y="10488"/>
                  <a:pt x="378" y="11896"/>
                  <a:pt x="300" y="13317"/>
                </a:cubicBezTo>
                <a:cubicBezTo>
                  <a:pt x="274" y="13825"/>
                  <a:pt x="352" y="14333"/>
                  <a:pt x="339" y="14829"/>
                </a:cubicBezTo>
                <a:cubicBezTo>
                  <a:pt x="313" y="15820"/>
                  <a:pt x="157" y="16797"/>
                  <a:pt x="118" y="17775"/>
                </a:cubicBezTo>
                <a:cubicBezTo>
                  <a:pt x="53" y="19391"/>
                  <a:pt x="0" y="21008"/>
                  <a:pt x="40" y="22624"/>
                </a:cubicBezTo>
                <a:cubicBezTo>
                  <a:pt x="66" y="24149"/>
                  <a:pt x="157" y="25661"/>
                  <a:pt x="144" y="27173"/>
                </a:cubicBezTo>
                <a:cubicBezTo>
                  <a:pt x="131" y="28646"/>
                  <a:pt x="105" y="30132"/>
                  <a:pt x="131" y="31605"/>
                </a:cubicBezTo>
                <a:cubicBezTo>
                  <a:pt x="209" y="35412"/>
                  <a:pt x="405" y="39218"/>
                  <a:pt x="274" y="43051"/>
                </a:cubicBezTo>
                <a:cubicBezTo>
                  <a:pt x="235" y="44237"/>
                  <a:pt x="287" y="45436"/>
                  <a:pt x="300" y="46622"/>
                </a:cubicBezTo>
                <a:cubicBezTo>
                  <a:pt x="300" y="46687"/>
                  <a:pt x="300" y="46753"/>
                  <a:pt x="287" y="46818"/>
                </a:cubicBezTo>
                <a:cubicBezTo>
                  <a:pt x="222" y="48004"/>
                  <a:pt x="313" y="49190"/>
                  <a:pt x="535" y="50363"/>
                </a:cubicBezTo>
                <a:cubicBezTo>
                  <a:pt x="665" y="51054"/>
                  <a:pt x="1004" y="51706"/>
                  <a:pt x="1239" y="52384"/>
                </a:cubicBezTo>
                <a:cubicBezTo>
                  <a:pt x="1486" y="53075"/>
                  <a:pt x="2164" y="53492"/>
                  <a:pt x="3129" y="53700"/>
                </a:cubicBezTo>
                <a:cubicBezTo>
                  <a:pt x="3812" y="53854"/>
                  <a:pt x="4517" y="53911"/>
                  <a:pt x="5223" y="53911"/>
                </a:cubicBezTo>
                <a:cubicBezTo>
                  <a:pt x="5299" y="53911"/>
                  <a:pt x="5374" y="53910"/>
                  <a:pt x="5449" y="53909"/>
                </a:cubicBezTo>
                <a:cubicBezTo>
                  <a:pt x="5591" y="53907"/>
                  <a:pt x="5733" y="53906"/>
                  <a:pt x="5875" y="53906"/>
                </a:cubicBezTo>
                <a:cubicBezTo>
                  <a:pt x="7594" y="53906"/>
                  <a:pt x="9293" y="54042"/>
                  <a:pt x="11015" y="54078"/>
                </a:cubicBezTo>
                <a:cubicBezTo>
                  <a:pt x="11655" y="54087"/>
                  <a:pt x="12288" y="54128"/>
                  <a:pt x="12924" y="54128"/>
                </a:cubicBezTo>
                <a:cubicBezTo>
                  <a:pt x="13273" y="54128"/>
                  <a:pt x="13623" y="54115"/>
                  <a:pt x="13974" y="54078"/>
                </a:cubicBezTo>
                <a:cubicBezTo>
                  <a:pt x="15239" y="53948"/>
                  <a:pt x="16516" y="53870"/>
                  <a:pt x="17781" y="53779"/>
                </a:cubicBezTo>
                <a:cubicBezTo>
                  <a:pt x="18850" y="53700"/>
                  <a:pt x="19919" y="53583"/>
                  <a:pt x="20961" y="53375"/>
                </a:cubicBezTo>
                <a:cubicBezTo>
                  <a:pt x="22043" y="53153"/>
                  <a:pt x="22956" y="52749"/>
                  <a:pt x="23503" y="52019"/>
                </a:cubicBezTo>
                <a:cubicBezTo>
                  <a:pt x="23855" y="51537"/>
                  <a:pt x="24142" y="51028"/>
                  <a:pt x="24233" y="50494"/>
                </a:cubicBezTo>
                <a:cubicBezTo>
                  <a:pt x="24416" y="49464"/>
                  <a:pt x="24429" y="48434"/>
                  <a:pt x="24546" y="47404"/>
                </a:cubicBezTo>
                <a:cubicBezTo>
                  <a:pt x="24690" y="45957"/>
                  <a:pt x="24768" y="44510"/>
                  <a:pt x="24833" y="43064"/>
                </a:cubicBezTo>
                <a:cubicBezTo>
                  <a:pt x="24924" y="41395"/>
                  <a:pt x="24898" y="39726"/>
                  <a:pt x="24898" y="38058"/>
                </a:cubicBezTo>
                <a:cubicBezTo>
                  <a:pt x="24885" y="36402"/>
                  <a:pt x="24794" y="34760"/>
                  <a:pt x="24794" y="33104"/>
                </a:cubicBezTo>
                <a:cubicBezTo>
                  <a:pt x="24794" y="31332"/>
                  <a:pt x="24755" y="29546"/>
                  <a:pt x="24768" y="27760"/>
                </a:cubicBezTo>
                <a:cubicBezTo>
                  <a:pt x="24794" y="26196"/>
                  <a:pt x="24807" y="24631"/>
                  <a:pt x="24846" y="23067"/>
                </a:cubicBezTo>
                <a:cubicBezTo>
                  <a:pt x="24885" y="21503"/>
                  <a:pt x="24911" y="19952"/>
                  <a:pt x="24911" y="18387"/>
                </a:cubicBezTo>
                <a:cubicBezTo>
                  <a:pt x="24911" y="16967"/>
                  <a:pt x="24937" y="15533"/>
                  <a:pt x="24989" y="14112"/>
                </a:cubicBezTo>
                <a:cubicBezTo>
                  <a:pt x="25028" y="12795"/>
                  <a:pt x="25081" y="11479"/>
                  <a:pt x="25068" y="10162"/>
                </a:cubicBezTo>
                <a:cubicBezTo>
                  <a:pt x="25068" y="8924"/>
                  <a:pt x="25002" y="7685"/>
                  <a:pt x="24963" y="6447"/>
                </a:cubicBezTo>
                <a:lnTo>
                  <a:pt x="24950" y="6447"/>
                </a:lnTo>
                <a:cubicBezTo>
                  <a:pt x="25055" y="5561"/>
                  <a:pt x="24963" y="4674"/>
                  <a:pt x="24872" y="3801"/>
                </a:cubicBezTo>
                <a:cubicBezTo>
                  <a:pt x="24807" y="3175"/>
                  <a:pt x="24664" y="2562"/>
                  <a:pt x="24403" y="1963"/>
                </a:cubicBezTo>
                <a:cubicBezTo>
                  <a:pt x="24194" y="1481"/>
                  <a:pt x="23803" y="1103"/>
                  <a:pt x="23204" y="803"/>
                </a:cubicBezTo>
                <a:cubicBezTo>
                  <a:pt x="22185" y="293"/>
                  <a:pt x="21087" y="0"/>
                  <a:pt x="19843" y="0"/>
                </a:cubicBezTo>
                <a:close/>
              </a:path>
            </a:pathLst>
          </a:custGeom>
          <a:noFill/>
          <a:ln w="19050">
            <a:solidFill>
              <a:schemeClr val="tx1"/>
            </a:solidFill>
          </a:ln>
          <a:effectLst>
            <a:outerShdw blurRad="57150" dist="9525" algn="bl" rotWithShape="0">
              <a:srgbClr val="000000"/>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lang="fr-CI" noProof="0"/>
          </a:p>
        </p:txBody>
      </p:sp>
      <p:sp>
        <p:nvSpPr>
          <p:cNvPr id="45" name="Rectangle 44"/>
          <p:cNvSpPr/>
          <p:nvPr/>
        </p:nvSpPr>
        <p:spPr>
          <a:xfrm>
            <a:off x="7676960" y="3875619"/>
            <a:ext cx="1322389" cy="295488"/>
          </a:xfrm>
          <a:prstGeom prst="rect">
            <a:avLst/>
          </a:prstGeom>
        </p:spPr>
        <p:txBody>
          <a:bodyPr wrap="none">
            <a:spAutoFit/>
          </a:bodyPr>
          <a:lstStyle/>
          <a:p>
            <a:pPr lvl="0">
              <a:lnSpc>
                <a:spcPct val="110000"/>
              </a:lnSpc>
            </a:pPr>
            <a:r>
              <a:rPr lang="fr-CI" sz="1400" b="1" noProof="0">
                <a:solidFill>
                  <a:schemeClr val="bg1"/>
                </a:solidFill>
                <a:latin typeface="Helvetica" panose="020B0604020202020204" pitchFamily="34" charset="0"/>
                <a:ea typeface="Open Sans Semibold" panose="020B0706030804020204" pitchFamily="34" charset="0"/>
                <a:cs typeface="Helvetica" panose="020B0604020202020204" pitchFamily="34" charset="0"/>
              </a:rPr>
              <a:t>Action</a:t>
            </a:r>
          </a:p>
        </p:txBody>
      </p:sp>
      <p:pic>
        <p:nvPicPr>
          <p:cNvPr id="47" name="Image 46"/>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147871" y="3850143"/>
            <a:ext cx="334029" cy="337914"/>
          </a:xfrm>
          <a:prstGeom prst="rect">
            <a:avLst/>
          </a:prstGeom>
        </p:spPr>
      </p:pic>
      <p:pic>
        <p:nvPicPr>
          <p:cNvPr id="50" name="Image 49">
            <a:extLst>
              <a:ext uri="{FF2B5EF4-FFF2-40B4-BE49-F238E27FC236}">
                <a16:creationId xmlns:a16="http://schemas.microsoft.com/office/drawing/2014/main" id="{593DA389-08F4-31D9-6AB9-E96812D83B72}"/>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6768142" y="1475503"/>
            <a:ext cx="294700" cy="294700"/>
          </a:xfrm>
          <a:prstGeom prst="rect">
            <a:avLst/>
          </a:prstGeom>
        </p:spPr>
      </p:pic>
      <p:pic>
        <p:nvPicPr>
          <p:cNvPr id="25" name="Image 24"/>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2156977" y="1457088"/>
            <a:ext cx="281624" cy="284788"/>
          </a:xfrm>
          <a:prstGeom prst="rect">
            <a:avLst/>
          </a:prstGeom>
        </p:spPr>
      </p:pic>
      <p:pic>
        <p:nvPicPr>
          <p:cNvPr id="28" name="Image 27"/>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6791905" y="3883760"/>
            <a:ext cx="270937" cy="276827"/>
          </a:xfrm>
          <a:prstGeom prst="rect">
            <a:avLst/>
          </a:prstGeom>
        </p:spPr>
      </p:pic>
      <p:sp>
        <p:nvSpPr>
          <p:cNvPr id="31" name="Rectangle 30"/>
          <p:cNvSpPr/>
          <p:nvPr/>
        </p:nvSpPr>
        <p:spPr>
          <a:xfrm>
            <a:off x="1999671" y="1962253"/>
            <a:ext cx="3122592" cy="1428712"/>
          </a:xfrm>
          <a:prstGeom prst="rect">
            <a:avLst/>
          </a:prstGeom>
        </p:spPr>
        <p:txBody>
          <a:bodyPr wrap="square">
            <a:spAutoFit/>
          </a:bodyPr>
          <a:lstStyle/>
          <a:p>
            <a:pPr lvl="0" marL="0" indent="0">
              <a:buNone/>
              <a:spcBef>
                <a:spcPts val="300"/>
              </a:spcBef>
              <a:defRPr/>
            </a:pPr>
            <a:r>
              <a:rPr kumimoji="1" lang="fr-CI" sz="1250" b="0" noProof="0">
                <a:latin typeface="Helvetica" panose="020B0604020202020204" pitchFamily="34" charset="0"/>
                <a:cs typeface="Helvetica" panose="020B0604020202020204" pitchFamily="34" charset="0"/>
              </a:rPr>
              <a:t>Le FPPN porte des engagements courts et une épargne croissante avec des actifs longs, des provisions non recalculées et des fonds propres négatifs.</a:t>
            </a:r>
          </a:p>
        </p:txBody>
      </p:sp>
      <p:sp>
        <p:nvSpPr>
          <p:cNvPr id="32" name="Rectangle 31"/>
          <p:cNvSpPr/>
          <p:nvPr/>
        </p:nvSpPr>
        <p:spPr>
          <a:xfrm>
            <a:off x="6623912" y="1926662"/>
            <a:ext cx="3122592" cy="1428712"/>
          </a:xfrm>
          <a:prstGeom prst="rect">
            <a:avLst/>
          </a:prstGeom>
        </p:spPr>
        <p:txBody>
          <a:bodyPr wrap="square">
            <a:spAutoFit/>
          </a:bodyPr>
          <a:lstStyle/>
          <a:p>
            <a:pPr lvl="0" marL="0" indent="0">
              <a:buNone/>
              <a:spcBef>
                <a:spcPts val="300"/>
              </a:spcBef>
              <a:defRPr/>
            </a:pPr>
            <a:r>
              <a:rPr kumimoji="1" lang="fr-CI" sz="1250" b="0" noProof="0">
                <a:latin typeface="Helvetica" panose="020B0604020202020204" pitchFamily="34" charset="0"/>
                <a:cs typeface="Helvetica" panose="020B0604020202020204" pitchFamily="34" charset="0"/>
              </a:rPr>
              <a:t>Les provisions gardent le même montant de 2020 à 2026, les fonds propres sont négatifs à chaque clôture, et plus des trois quarts de l'actif sont à plus de cinq ans ou de délai incertain.</a:t>
            </a:r>
          </a:p>
        </p:txBody>
      </p:sp>
      <p:sp>
        <p:nvSpPr>
          <p:cNvPr id="33" name="Rectangle 32"/>
          <p:cNvSpPr/>
          <p:nvPr/>
        </p:nvSpPr>
        <p:spPr>
          <a:xfrm>
            <a:off x="2093705" y="4388689"/>
            <a:ext cx="3122592" cy="1428712"/>
          </a:xfrm>
          <a:prstGeom prst="rect">
            <a:avLst/>
          </a:prstGeom>
        </p:spPr>
        <p:txBody>
          <a:bodyPr wrap="square">
            <a:spAutoFit/>
          </a:bodyPr>
          <a:lstStyle/>
          <a:p>
            <a:pPr lvl="0" marL="0" indent="0">
              <a:buNone/>
              <a:spcBef>
                <a:spcPts val="300"/>
              </a:spcBef>
              <a:defRPr/>
            </a:pPr>
            <a:r>
              <a:rPr kumimoji="1" lang="fr-CI" sz="1250" b="0" noProof="0">
                <a:latin typeface="Helvetica" panose="020B0604020202020204" pitchFamily="34" charset="0"/>
                <a:cs typeface="Helvetica" panose="020B0604020202020204" pitchFamily="34" charset="0"/>
              </a:rPr>
              <a:t>Le FPPN ne peut absorber ni un choc de prestations, ni une vague de retraits, sans céder des actifs peu liquides.</a:t>
            </a:r>
          </a:p>
        </p:txBody>
      </p:sp>
      <p:sp>
        <p:nvSpPr>
          <p:cNvPr id="34" name="Rectangle 33"/>
          <p:cNvSpPr/>
          <p:nvPr/>
        </p:nvSpPr>
        <p:spPr>
          <a:xfrm>
            <a:off x="6768142" y="4336111"/>
            <a:ext cx="3122592" cy="1428712"/>
          </a:xfrm>
          <a:prstGeom prst="rect">
            <a:avLst/>
          </a:prstGeom>
        </p:spPr>
        <p:txBody>
          <a:bodyPr wrap="square">
            <a:spAutoFit/>
          </a:bodyPr>
          <a:lstStyle/>
          <a:p>
            <a:pPr lvl="0" marL="0" indent="0">
              <a:buNone/>
              <a:spcBef>
                <a:spcPts val="300"/>
              </a:spcBef>
              <a:defRPr/>
            </a:pPr>
            <a:r>
              <a:rPr kumimoji="1" lang="fr-CI" sz="1250" b="0" noProof="0">
                <a:latin typeface="Helvetica" panose="020B0604020202020204" pitchFamily="34" charset="0"/>
                <a:cs typeface="Helvetica" panose="020B0604020202020204" pitchFamily="34" charset="0"/>
              </a:rPr>
              <a:t>Le FPPN doit adopter une politique de provisionnement, une politique de placement et un encadrement écrit des investissements dans les structures liées.</a:t>
            </a:r>
          </a:p>
        </p:txBody>
      </p:sp>
      <p:sp>
        <p:nvSpPr>
          <p:cNvPr id="51"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À retenir : bilan</a:t>
            </a:r>
          </a:p>
        </p:txBody>
      </p:sp>
      <p:sp>
        <p:nvSpPr>
          <p:cNvPr id="52"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Le bilan combine provisions figées, fonds propres négatifs et actifs peu liquides</a:t>
            </a:r>
          </a:p>
        </p:txBody>
      </p:sp>
      <p:sp>
        <p:nvSpPr>
          <p:cNvPr id="53"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Trois fragilités cumulées limitent la capacité du FPPN à faire face à un choc</a:t>
            </a:r>
          </a:p>
        </p:txBody>
      </p:sp>
      <p:sp>
        <p:nvSpPr>
          <p:cNvPr id="54"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analyses Adenka</a:t>
            </a:r>
          </a:p>
        </p:txBody>
      </p:sp>
      <p:sp>
        <p:nvSpPr>
          <p:cNvPr id="55" name="TextBox 54"/>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a:t>
            </a:r>
          </a:p>
        </p:txBody>
      </p:sp>
    </p:spTree>
    <p:extLst>
      <p:ext uri="{BB962C8B-B14F-4D97-AF65-F5344CB8AC3E}">
        <p14:creationId xmlns:p14="http://schemas.microsoft.com/office/powerpoint/2010/main" val="3781401603"/>
      </p:ext>
    </p:extLst>
  </p:cSld>
  <p:clrMapOvr>
    <a:masterClrMapping/>
  </p:clrMapOvr>
  <p:transition>
    <p:fade/>
  </p:transition>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Google Shape;8651;p70"/>
          <p:cNvSpPr/>
          <p:nvPr/>
        </p:nvSpPr>
        <p:spPr>
          <a:xfrm>
            <a:off x="2013108" y="2588204"/>
            <a:ext cx="1380332" cy="1428252"/>
          </a:xfrm>
          <a:custGeom>
            <a:avLst/>
            <a:gdLst/>
            <a:ahLst/>
            <a:cxnLst/>
            <a:rect l="l" t="t" r="r" b="b"/>
            <a:pathLst>
              <a:path w="8670" h="8971" extrusionOk="0">
                <a:moveTo>
                  <a:pt x="7105" y="1302"/>
                </a:moveTo>
                <a:cubicBezTo>
                  <a:pt x="7105" y="1315"/>
                  <a:pt x="7105" y="1328"/>
                  <a:pt x="7105" y="1341"/>
                </a:cubicBezTo>
                <a:cubicBezTo>
                  <a:pt x="7118" y="1980"/>
                  <a:pt x="7183" y="2619"/>
                  <a:pt x="7183" y="3283"/>
                </a:cubicBezTo>
                <a:cubicBezTo>
                  <a:pt x="7170" y="4404"/>
                  <a:pt x="7183" y="5525"/>
                  <a:pt x="7222" y="6646"/>
                </a:cubicBezTo>
                <a:cubicBezTo>
                  <a:pt x="7235" y="6959"/>
                  <a:pt x="7222" y="7259"/>
                  <a:pt x="7222" y="7559"/>
                </a:cubicBezTo>
                <a:lnTo>
                  <a:pt x="7222" y="7585"/>
                </a:lnTo>
                <a:cubicBezTo>
                  <a:pt x="6935" y="7598"/>
                  <a:pt x="6649" y="7611"/>
                  <a:pt x="6362" y="7611"/>
                </a:cubicBezTo>
                <a:cubicBezTo>
                  <a:pt x="6101" y="7598"/>
                  <a:pt x="5853" y="7585"/>
                  <a:pt x="5593" y="7585"/>
                </a:cubicBezTo>
                <a:cubicBezTo>
                  <a:pt x="4159" y="7559"/>
                  <a:pt x="2712" y="7559"/>
                  <a:pt x="1291" y="7442"/>
                </a:cubicBezTo>
                <a:cubicBezTo>
                  <a:pt x="1278" y="7207"/>
                  <a:pt x="1239" y="6959"/>
                  <a:pt x="1226" y="6725"/>
                </a:cubicBezTo>
                <a:cubicBezTo>
                  <a:pt x="1200" y="6255"/>
                  <a:pt x="1187" y="5799"/>
                  <a:pt x="1200" y="5330"/>
                </a:cubicBezTo>
                <a:cubicBezTo>
                  <a:pt x="1213" y="4222"/>
                  <a:pt x="1226" y="3101"/>
                  <a:pt x="1343" y="1993"/>
                </a:cubicBezTo>
                <a:lnTo>
                  <a:pt x="1552" y="1993"/>
                </a:lnTo>
                <a:cubicBezTo>
                  <a:pt x="2138" y="1980"/>
                  <a:pt x="2725" y="1889"/>
                  <a:pt x="3312" y="1810"/>
                </a:cubicBezTo>
                <a:cubicBezTo>
                  <a:pt x="4576" y="1641"/>
                  <a:pt x="5840" y="1524"/>
                  <a:pt x="7105" y="1302"/>
                </a:cubicBezTo>
                <a:close/>
                <a:moveTo>
                  <a:pt x="7529" y="1"/>
                </a:moveTo>
                <a:cubicBezTo>
                  <a:pt x="7291" y="1"/>
                  <a:pt x="7059" y="53"/>
                  <a:pt x="6818" y="64"/>
                </a:cubicBezTo>
                <a:cubicBezTo>
                  <a:pt x="6375" y="103"/>
                  <a:pt x="5932" y="142"/>
                  <a:pt x="5488" y="194"/>
                </a:cubicBezTo>
                <a:cubicBezTo>
                  <a:pt x="4824" y="259"/>
                  <a:pt x="4107" y="350"/>
                  <a:pt x="3429" y="389"/>
                </a:cubicBezTo>
                <a:cubicBezTo>
                  <a:pt x="2686" y="429"/>
                  <a:pt x="1943" y="481"/>
                  <a:pt x="1213" y="598"/>
                </a:cubicBezTo>
                <a:cubicBezTo>
                  <a:pt x="913" y="624"/>
                  <a:pt x="652" y="728"/>
                  <a:pt x="509" y="976"/>
                </a:cubicBezTo>
                <a:cubicBezTo>
                  <a:pt x="470" y="1028"/>
                  <a:pt x="444" y="1080"/>
                  <a:pt x="431" y="1146"/>
                </a:cubicBezTo>
                <a:cubicBezTo>
                  <a:pt x="300" y="1524"/>
                  <a:pt x="287" y="1928"/>
                  <a:pt x="300" y="2332"/>
                </a:cubicBezTo>
                <a:cubicBezTo>
                  <a:pt x="209" y="3010"/>
                  <a:pt x="209" y="3700"/>
                  <a:pt x="209" y="4378"/>
                </a:cubicBezTo>
                <a:cubicBezTo>
                  <a:pt x="170" y="4769"/>
                  <a:pt x="144" y="5173"/>
                  <a:pt x="131" y="5565"/>
                </a:cubicBezTo>
                <a:cubicBezTo>
                  <a:pt x="105" y="6203"/>
                  <a:pt x="14" y="6842"/>
                  <a:pt x="14" y="7481"/>
                </a:cubicBezTo>
                <a:cubicBezTo>
                  <a:pt x="1" y="7911"/>
                  <a:pt x="157" y="8315"/>
                  <a:pt x="613" y="8419"/>
                </a:cubicBezTo>
                <a:cubicBezTo>
                  <a:pt x="1056" y="8550"/>
                  <a:pt x="1526" y="8524"/>
                  <a:pt x="1982" y="8550"/>
                </a:cubicBezTo>
                <a:cubicBezTo>
                  <a:pt x="2243" y="8563"/>
                  <a:pt x="2503" y="8589"/>
                  <a:pt x="2764" y="8615"/>
                </a:cubicBezTo>
                <a:cubicBezTo>
                  <a:pt x="3885" y="8745"/>
                  <a:pt x="5006" y="8902"/>
                  <a:pt x="6140" y="8941"/>
                </a:cubicBezTo>
                <a:cubicBezTo>
                  <a:pt x="6220" y="8945"/>
                  <a:pt x="6302" y="8946"/>
                  <a:pt x="6383" y="8946"/>
                </a:cubicBezTo>
                <a:cubicBezTo>
                  <a:pt x="6581" y="8946"/>
                  <a:pt x="6781" y="8937"/>
                  <a:pt x="6974" y="8928"/>
                </a:cubicBezTo>
                <a:cubicBezTo>
                  <a:pt x="7118" y="8941"/>
                  <a:pt x="7274" y="8941"/>
                  <a:pt x="7418" y="8941"/>
                </a:cubicBezTo>
                <a:cubicBezTo>
                  <a:pt x="7568" y="8956"/>
                  <a:pt x="7723" y="8971"/>
                  <a:pt x="7877" y="8971"/>
                </a:cubicBezTo>
                <a:cubicBezTo>
                  <a:pt x="7990" y="8971"/>
                  <a:pt x="8103" y="8963"/>
                  <a:pt x="8213" y="8941"/>
                </a:cubicBezTo>
                <a:cubicBezTo>
                  <a:pt x="8643" y="8810"/>
                  <a:pt x="8565" y="8093"/>
                  <a:pt x="8604" y="7741"/>
                </a:cubicBezTo>
                <a:cubicBezTo>
                  <a:pt x="8669" y="6620"/>
                  <a:pt x="8539" y="5499"/>
                  <a:pt x="8487" y="4378"/>
                </a:cubicBezTo>
                <a:cubicBezTo>
                  <a:pt x="8434" y="3453"/>
                  <a:pt x="8330" y="2527"/>
                  <a:pt x="8252" y="1589"/>
                </a:cubicBezTo>
                <a:cubicBezTo>
                  <a:pt x="8200" y="1341"/>
                  <a:pt x="8239" y="637"/>
                  <a:pt x="8096" y="350"/>
                </a:cubicBezTo>
                <a:lnTo>
                  <a:pt x="8082" y="350"/>
                </a:lnTo>
                <a:cubicBezTo>
                  <a:pt x="8056" y="181"/>
                  <a:pt x="7952" y="51"/>
                  <a:pt x="7704" y="11"/>
                </a:cubicBezTo>
                <a:cubicBezTo>
                  <a:pt x="7645" y="4"/>
                  <a:pt x="7587" y="1"/>
                  <a:pt x="7529" y="1"/>
                </a:cubicBezTo>
                <a:close/>
              </a:path>
            </a:pathLst>
          </a:custGeom>
          <a:solidFill>
            <a:schemeClr val="bg1"/>
          </a:solidFill>
          <a:ln w="76200">
            <a:solidFill>
              <a:schemeClr val="tx1"/>
            </a:solidFill>
          </a:ln>
        </p:spPr>
        <p:txBody>
          <a:bodyPr spcFirstLastPara="1" wrap="square" lIns="91425" tIns="91425" rIns="91425" bIns="91425" anchor="ctr" anchorCtr="0">
            <a:noAutofit/>
          </a:bodyPr>
          <a:lstStyle/>
          <a:p>
            <a:pPr marL="0" lvl="0" indent="0" algn="l" rtl="0">
              <a:spcBef>
                <a:spcPts val="0"/>
              </a:spcBef>
              <a:spcAft>
                <a:spcPts val="0"/>
              </a:spcAft>
              <a:buNone/>
            </a:pPr>
            <a:endParaRPr lang="fr-CI" noProof="0">
              <a:solidFill>
                <a:schemeClr val="bg1"/>
              </a:solidFill>
              <a:latin typeface="Helvetica" panose="020B0604020202020204" pitchFamily="34" charset="0"/>
              <a:cs typeface="Helvetica" panose="020B0604020202020204" pitchFamily="34" charset="0"/>
            </a:endParaRPr>
          </a:p>
        </p:txBody>
      </p:sp>
      <p:sp>
        <p:nvSpPr>
          <p:cNvPr id="25" name="Rectangle 24">
            <a:extLst>
              <a:ext uri="{FF2B5EF4-FFF2-40B4-BE49-F238E27FC236}">
                <a16:creationId xmlns:a16="http://schemas.microsoft.com/office/drawing/2014/main" id="{9B9B23AA-050D-4543-80A0-873FE31AFFF7}"/>
              </a:ext>
            </a:extLst>
          </p:cNvPr>
          <p:cNvSpPr/>
          <p:nvPr/>
        </p:nvSpPr>
        <p:spPr>
          <a:xfrm>
            <a:off x="2446471" y="2869098"/>
            <a:ext cx="513606" cy="936923"/>
          </a:xfrm>
          <a:prstGeom prst="rect">
            <a:avLst/>
          </a:prstGeom>
        </p:spPr>
        <p:txBody>
          <a:bodyPr wrap="none" lIns="0" tIns="0" rIns="0" bIns="0">
            <a:spAutoFit/>
          </a:bodyPr>
          <a:lstStyle/>
          <a:p>
            <a:pPr lvl="0">
              <a:lnSpc>
                <a:spcPct val="110000"/>
              </a:lnSpc>
            </a:pPr>
            <a:r>
              <a:rPr lang="fr-CI" sz="4200" b="1" noProof="0">
                <a:solidFill>
                  <a:schemeClr val="bg1"/>
                </a:solidFill>
                <a:latin typeface="Helvetica" panose="020B0604020202020204" pitchFamily="34" charset="0"/>
                <a:ea typeface="Open Sans Semibold" panose="020B0706030804020204" pitchFamily="34" charset="0"/>
                <a:cs typeface="Helvetica" panose="020B0604020202020204" pitchFamily="34" charset="0"/>
              </a:rPr>
              <a:t>10</a:t>
            </a:r>
          </a:p>
        </p:txBody>
      </p:sp>
      <p:sp>
        <p:nvSpPr>
          <p:cNvPr id="10" name="Rectangle 9"/>
          <p:cNvSpPr/>
          <p:nvPr/>
        </p:nvSpPr>
        <p:spPr>
          <a:xfrm>
            <a:off x="3938554" y="2462184"/>
            <a:ext cx="3816000" cy="1200329"/>
          </a:xfrm>
          <a:prstGeom prst="rect">
            <a:avLst/>
          </a:prstGeom>
        </p:spPr>
        <p:txBody>
          <a:bodyPr wrap="square">
            <a:spAutoFit/>
          </a:bodyPr>
          <a:lstStyle/>
          <a:p>
            <a:r>
              <a:rPr lang="fr-CI" sz="3600" b="1" noProof="0">
                <a:solidFill>
                  <a:schemeClr val="bg1"/>
                </a:solidFill>
                <a:latin typeface="Helvetica" panose="020B0604020202020204" pitchFamily="34" charset="0"/>
                <a:cs typeface="Helvetica" panose="020B0604020202020204" pitchFamily="34" charset="0"/>
              </a:rPr>
              <a:t>Conformité prudentielle</a:t>
            </a:r>
          </a:p>
        </p:txBody>
      </p:sp>
      <p:pic>
        <p:nvPicPr>
          <p:cNvPr id="9" name="Image 8">
            <a:extLst>
              <a:ext uri="{FF2B5EF4-FFF2-40B4-BE49-F238E27FC236}">
                <a16:creationId xmlns:a16="http://schemas.microsoft.com/office/drawing/2014/main" id="{2C356854-0685-DCEF-E2F6-65D5E9653A47}"/>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71274" y="-185107"/>
            <a:ext cx="3179518" cy="1268781"/>
          </a:xfrm>
          <a:prstGeom prst="rect">
            <a:avLst/>
          </a:prstGeom>
        </p:spPr>
      </p:pic>
      <p:sp>
        <p:nvSpPr>
          <p:cNvPr id="6" name="Rectangle 5"/>
          <p:cNvSpPr/>
          <p:nvPr/>
        </p:nvSpPr>
        <p:spPr>
          <a:xfrm>
            <a:off x="3938554" y="3337559"/>
            <a:ext cx="3816000" cy="923330"/>
          </a:xfrm>
          <a:prstGeom prst="rect">
            <a:avLst/>
          </a:prstGeom>
        </p:spPr>
        <p:txBody>
          <a:bodyPr wrap="square">
            <a:spAutoFit/>
          </a:bodyPr>
          <a:lstStyle/>
          <a:p>
            <a:br>
              <a:rPr lang="fr-CI" noProof="0">
                <a:solidFill>
                  <a:schemeClr val="bg1"/>
                </a:solidFill>
              </a:rPr>
            </a:br>
            <a:r>
              <a:rPr lang="fr-CI" noProof="0">
                <a:solidFill>
                  <a:srgbClr val="EFAC62"/>
                </a:solidFill>
                <a:latin typeface="Helvetica" panose="020B0604020202020204" pitchFamily="34" charset="0"/>
                <a:ea typeface="Open Sans Light" panose="020B0306030504020204" pitchFamily="34" charset="0"/>
                <a:cs typeface="Helvetica" panose="020B0604020202020204" pitchFamily="34" charset="0"/>
              </a:rPr>
              <a:t>Textes UEMOA, ratios, réserves, plan comptable</a:t>
            </a:r>
          </a:p>
        </p:txBody>
      </p:sp>
      <p:pic>
        <p:nvPicPr>
          <p:cNvPr id="11" name="Image 1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865561" y="2415481"/>
            <a:ext cx="1566911" cy="1600975"/>
          </a:xfrm>
          <a:prstGeom prst="rect">
            <a:avLst/>
          </a:prstGeom>
        </p:spPr>
      </p:pic>
    </p:spTree>
    <p:extLst>
      <p:ext uri="{BB962C8B-B14F-4D97-AF65-F5344CB8AC3E}">
        <p14:creationId xmlns:p14="http://schemas.microsoft.com/office/powerpoint/2010/main" val="1985717515"/>
      </p:ext>
    </p:extLst>
  </p:cSld>
  <p:clrMapOvr>
    <a:masterClrMapping/>
  </p:clrMapOvr>
  <p:transition>
    <p:fade/>
  </p:transition>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Textes applicables</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Cinq textes fixent les règles prudentielles que le FPPN doit respecter</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Les articles cités sont lus dans les textes intégraux. Les pages scannées ont été lues par reconnaissance optique de caractères (OCR) et vérifiées à l'image</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textes cités, documentation publique de l'AIRMS fournie le 18/10/2026 (validée)</a:t>
            </a:r>
          </a:p>
        </p:txBody>
      </p:sp>
      <p:sp>
        <p:nvSpPr>
          <p:cNvPr id="31" name="TextBox 30"/>
          <p:cNvSpPr txBox="1"/>
          <p:nvPr/>
        </p:nvSpPr>
        <p:spPr>
          <a:xfrm>
            <a:off x="503999" y="1386000"/>
            <a:ext cx="11232000" cy="216000"/>
          </a:xfrm>
          <a:prstGeom prst="rect">
            <a:avLst/>
          </a:prstGeom>
          <a:noFill/>
        </p:spPr>
        <p:txBody>
          <a:bodyPr wrap="square" anchor="t" lIns="54000" rIns="54000"/>
          <a:lstStyle/>
          <a:p>
            <a:pPr algn="ctr"/>
            <a:r>
              <a:rPr sz="1200" b="0">
                <a:solidFill>
                  <a:srgbClr val="EFAC62"/>
                </a:solidFill>
                <a:latin typeface="Helvetica"/>
              </a:rPr>
              <a:t>Tableau 13 : Textes de la mutualité sociale appliqués au FPPN</a:t>
            </a:r>
          </a:p>
        </p:txBody>
      </p:sp>
      <p:graphicFrame>
        <p:nvGraphicFramePr>
          <p:cNvPr id="32" name="Table 31"/>
          <p:cNvGraphicFramePr>
            <a:graphicFrameLocks noGrp="1"/>
          </p:cNvGraphicFramePr>
          <p:nvPr/>
        </p:nvGraphicFramePr>
        <p:xfrm>
          <a:off x="503999" y="1655999"/>
          <a:ext cx="11232000" cy="2189754"/>
        </p:xfrm>
        <a:graphic>
          <a:graphicData uri="http://schemas.openxmlformats.org/drawingml/2006/table">
            <a:tbl>
              <a:tblPr firstRow="0" bandRow="0">
                <a:tableStyleId>{5940675A-B579-460E-94D1-54222C63F5DA}</a:tableStyleId>
              </a:tblPr>
              <a:tblGrid>
                <a:gridCol w="3096000"/>
                <a:gridCol w="5688000"/>
                <a:gridCol w="2448000"/>
              </a:tblGrid>
              <a:tr h="225250">
                <a:tc>
                  <a:txBody>
                    <a:bodyPr/>
                    <a:lstStyle/>
                    <a:p>
                      <a:pPr marL="0" indent="0" lvl="0">
                        <a:buNone/>
                      </a:pPr>
                      <a:r>
                        <a:rPr sz="1100" b="1">
                          <a:solidFill>
                            <a:srgbClr val="FFFFFF"/>
                          </a:solidFill>
                          <a:latin typeface="Helvetica"/>
                        </a:rPr>
                        <a:t>Texte</a:t>
                      </a:r>
                    </a:p>
                  </a:txBody>
                  <a:tcPr marL="43200" marR="43200" marT="14400" marB="14400" anchor="ctr">
                    <a:solidFill>
                      <a:srgbClr val="060606"/>
                    </a:solidFill>
                  </a:tcPr>
                </a:tc>
                <a:tc>
                  <a:txBody>
                    <a:bodyPr/>
                    <a:lstStyle/>
                    <a:p>
                      <a:pPr marL="0" indent="0" lvl="0">
                        <a:buNone/>
                      </a:pPr>
                      <a:r>
                        <a:rPr sz="1100" b="1">
                          <a:solidFill>
                            <a:srgbClr val="FFFFFF"/>
                          </a:solidFill>
                          <a:latin typeface="Helvetica"/>
                        </a:rPr>
                        <a:t>Ce qu'il impose au FPPN</a:t>
                      </a:r>
                    </a:p>
                  </a:txBody>
                  <a:tcPr marL="43200" marR="43200" marT="14400" marB="14400" anchor="ctr">
                    <a:solidFill>
                      <a:srgbClr val="060606"/>
                    </a:solidFill>
                  </a:tcPr>
                </a:tc>
                <a:tc>
                  <a:txBody>
                    <a:bodyPr/>
                    <a:lstStyle/>
                    <a:p>
                      <a:pPr marL="0" indent="0" lvl="0">
                        <a:buNone/>
                      </a:pPr>
                      <a:r>
                        <a:rPr sz="1100" b="1">
                          <a:solidFill>
                            <a:srgbClr val="FFFFFF"/>
                          </a:solidFill>
                          <a:latin typeface="Helvetica"/>
                        </a:rPr>
                        <a:t>Articles utilisés</a:t>
                      </a:r>
                    </a:p>
                  </a:txBody>
                  <a:tcPr marL="43200" marR="43200" marT="14400" marB="14400" anchor="ctr">
                    <a:solidFill>
                      <a:srgbClr val="060606"/>
                    </a:solidFill>
                  </a:tcPr>
                </a:tc>
              </a:tr>
              <a:tr h="392901">
                <a:tc>
                  <a:txBody>
                    <a:bodyPr/>
                    <a:lstStyle/>
                    <a:p>
                      <a:pPr marL="0" indent="0" lvl="0">
                        <a:buNone/>
                      </a:pPr>
                      <a:r>
                        <a:rPr sz="1100" b="1">
                          <a:solidFill>
                            <a:srgbClr val="060606"/>
                          </a:solidFill>
                          <a:latin typeface="Helvetica"/>
                        </a:rPr>
                        <a:t>Règlement n° 07/2009/CM/UEMOA du 26/06/2009</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Il impose l'agrément, une comptabilité selon le plan comptable, la répartition des excédents en réserves et le placement des fonds en banque.</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Art. 22, 28, 60 à 63, 83, 84</a:t>
                      </a:r>
                    </a:p>
                  </a:txBody>
                  <a:tcPr marL="43200" marR="43200" marT="14400" marB="14400" anchor="ctr">
                    <a:solidFill>
                      <a:srgbClr val="FFFFFF"/>
                    </a:solidFill>
                  </a:tcPr>
                </a:tc>
              </a:tr>
              <a:tr h="392901">
                <a:tc>
                  <a:txBody>
                    <a:bodyPr/>
                    <a:lstStyle/>
                    <a:p>
                      <a:pPr marL="0" indent="0" lvl="0">
                        <a:buNone/>
                      </a:pPr>
                      <a:r>
                        <a:rPr sz="1100" b="1">
                          <a:solidFill>
                            <a:srgbClr val="060606"/>
                          </a:solidFill>
                          <a:latin typeface="Helvetica"/>
                        </a:rPr>
                        <a:t>Règlement d'exécution n° 004/2022/COM/UEMOA du 01/06/2022</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Il impose des provisions suffisantes, une réserve légale, des règles propres aux risques longs et le cantonnement des patrimoines.</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Art. 3 à 27, 35</a:t>
                      </a:r>
                    </a:p>
                  </a:txBody>
                  <a:tcPr marL="43200" marR="43200" marT="14400" marB="14400" anchor="ctr">
                    <a:solidFill>
                      <a:srgbClr val="F2F2F2"/>
                    </a:solidFill>
                  </a:tcPr>
                </a:tc>
              </a:tr>
              <a:tr h="560551">
                <a:tc>
                  <a:txBody>
                    <a:bodyPr/>
                    <a:lstStyle/>
                    <a:p>
                      <a:pPr marL="0" indent="0" lvl="0">
                        <a:buNone/>
                      </a:pPr>
                      <a:r>
                        <a:rPr sz="1100" b="1">
                          <a:solidFill>
                            <a:srgbClr val="060606"/>
                          </a:solidFill>
                          <a:latin typeface="Helvetica"/>
                        </a:rPr>
                        <a:t>Décision n° 05/2022/COM/UEMOA du 01/06/2022</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Elle fixe 13 indicateurs de gouvernance, 11 indicateurs de contrôle, 9 ratios pour les risques longs, la marge de solvabilité et l'affectation des excédents.</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Annexe, tableaux 1 et 2, § 1.1 à 2.9</a:t>
                      </a:r>
                    </a:p>
                  </a:txBody>
                  <a:tcPr marL="43200" marR="43200" marT="14400" marB="14400" anchor="ctr">
                    <a:solidFill>
                      <a:srgbClr val="FFFFFF"/>
                    </a:solidFill>
                  </a:tcPr>
                </a:tc>
              </a:tr>
              <a:tr h="392901">
                <a:tc>
                  <a:txBody>
                    <a:bodyPr/>
                    <a:lstStyle/>
                    <a:p>
                      <a:pPr marL="0" indent="0" lvl="0">
                        <a:buNone/>
                      </a:pPr>
                      <a:r>
                        <a:rPr sz="1100" b="1">
                          <a:solidFill>
                            <a:srgbClr val="060606"/>
                          </a:solidFill>
                          <a:latin typeface="Helvetica"/>
                        </a:rPr>
                        <a:t>Règlement n° 03/2012/CM/UEMOA et PCMS de mai 2012</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Ils imposent le plan comptable des mutuelles sociales à partir de l'exercice ouvert le 1er janvier 2014.</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Art. 2. Liste des comptes. Fiches 1, 2, 6, 25</a:t>
                      </a:r>
                    </a:p>
                  </a:txBody>
                  <a:tcPr marL="43200" marR="43200" marT="14400" marB="14400" anchor="ctr">
                    <a:solidFill>
                      <a:srgbClr val="F2F2F2"/>
                    </a:solidFill>
                  </a:tcPr>
                </a:tc>
              </a:tr>
              <a:tr h="225250">
                <a:tc>
                  <a:txBody>
                    <a:bodyPr/>
                    <a:lstStyle/>
                    <a:p>
                      <a:pPr marL="0" indent="0" lvl="0">
                        <a:buNone/>
                      </a:pPr>
                      <a:r>
                        <a:rPr sz="1100" b="1">
                          <a:solidFill>
                            <a:srgbClr val="060606"/>
                          </a:solidFill>
                          <a:latin typeface="Helvetica"/>
                        </a:rPr>
                        <a:t>Arrêté n° 00115/MEPS/CAB du 12/12/2023</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Il fixe les sanctions administratives et pécuniaires en cas de manquement.</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Annexe, lignes 6 et 13</a:t>
                      </a:r>
                    </a:p>
                  </a:txBody>
                  <a:tcPr marL="43200" marR="43200" marT="14400" marB="14400" anchor="ctr">
                    <a:solidFill>
                      <a:srgbClr val="FFFFFF"/>
                    </a:solidFill>
                  </a:tcPr>
                </a:tc>
              </a:tr>
            </a:tbl>
          </a:graphicData>
        </a:graphic>
      </p:graphicFrame>
      <p:sp>
        <p:nvSpPr>
          <p:cNvPr id="33" name="TextBox 32"/>
          <p:cNvSpPr txBox="1"/>
          <p:nvPr/>
        </p:nvSpPr>
        <p:spPr>
          <a:xfrm>
            <a:off x="503999" y="3953756"/>
            <a:ext cx="11232000" cy="1914243"/>
          </a:xfrm>
          <a:prstGeom prst="rect">
            <a:avLst/>
          </a:prstGeom>
          <a:noFill/>
        </p:spPr>
        <p:txBody>
          <a:bodyPr wrap="square" lIns="54000" rIns="54000"/>
          <a:lstStyle/>
          <a:p>
            <a:pPr algn="just">
              <a:spcAft>
                <a:spcPts val="600"/>
              </a:spcAft>
            </a:pPr>
            <a:r>
              <a:rPr sz="1300" b="1">
                <a:solidFill>
                  <a:srgbClr val="060606"/>
                </a:solidFill>
                <a:latin typeface="Helvetica"/>
              </a:rPr>
              <a:t>Ces textes forment un ensemble complet et chiffré depuis juin 2022.</a:t>
            </a:r>
            <a:r>
              <a:rPr sz="1300" b="0">
                <a:solidFill>
                  <a:srgbClr val="060606"/>
                </a:solidFill>
                <a:latin typeface="Helvetica"/>
              </a:rPr>
              <a:t> Ils couvrent la comptabilité, les provisions, les réserves, la liquidité et les sanctions.</a:t>
            </a:r>
          </a:p>
          <a:p>
            <a:pPr algn="just">
              <a:spcAft>
                <a:spcPts val="600"/>
              </a:spcAft>
            </a:pPr>
            <a:r>
              <a:rPr sz="1300" b="1">
                <a:solidFill>
                  <a:srgbClr val="060606"/>
                </a:solidFill>
                <a:latin typeface="Helvetica"/>
              </a:rPr>
              <a:t>Implication pour le FPPN.</a:t>
            </a:r>
            <a:r>
              <a:rPr sz="1300" b="0">
                <a:solidFill>
                  <a:srgbClr val="060606"/>
                </a:solidFill>
                <a:latin typeface="Helvetica"/>
              </a:rPr>
              <a:t> Le FPPN dépasse les seuils du système normal du plan comptable (plus de 10 millions de FCFA de cotisations ou plus de 1 000 adhérents, art. 4 du règlement d'exécution) : il doit tenir une comptabilité d'engagement et produire un TAFIRE (art. 5).</a:t>
            </a:r>
          </a:p>
        </p:txBody>
      </p:sp>
      <p:sp>
        <p:nvSpPr>
          <p:cNvPr id="34" name="TextBox 33"/>
          <p:cNvSpPr txBox="1"/>
          <p:nvPr/>
        </p:nvSpPr>
        <p:spPr>
          <a:xfrm>
            <a:off x="367200" y="5932800"/>
            <a:ext cx="11430000" cy="237600"/>
          </a:xfrm>
          <a:prstGeom prst="rect">
            <a:avLst/>
          </a:prstGeom>
          <a:noFill/>
        </p:spPr>
        <p:txBody>
          <a:bodyPr wrap="square" anchor="b" lIns="54000" rIns="54000"/>
          <a:lstStyle/>
          <a:p>
            <a:pPr algn="l"/>
            <a:r>
              <a:rPr sz="650" b="0">
                <a:solidFill>
                  <a:srgbClr val="595959"/>
                </a:solidFill>
                <a:latin typeface="Helvetica"/>
              </a:rPr>
              <a:t>Sigles : FPPN : Fonds de prévoyance de la Police nationale | AIRMS : Agence ivoirienne de régulation de la mutualité sociale | UEMOA : Union économique et monétaire ouest-africaine | PCMS : plan comptable des mutuelles sociales | S/C : prestations / cotisations | MEPS : ministère de l'Emploi et de la Protection sociale | TAFIRE : tableau financier des ressources et des emplois | OCR : reconnaissance optique de caractères</a:t>
            </a:r>
          </a:p>
        </p:txBody>
      </p:sp>
    </p:spTree>
    <p:extLst>
      <p:ext uri="{BB962C8B-B14F-4D97-AF65-F5344CB8AC3E}">
        <p14:creationId xmlns:p14="http://schemas.microsoft.com/office/powerpoint/2010/main" val="2091127362"/>
      </p:ext>
    </p:extLst>
  </p:cSld>
  <p:clrMapOvr>
    <a:masterClrMapping/>
  </p:clrMapOvr>
  <p:transition>
    <p:fade/>
  </p:transition>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Risques courts et risques longs</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Le FPPN couvre des risques courts et, avec l'épargne, des risques longs</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Un risque est long quand plus d'un an sépare la cotisation de la prestation (règlement d'exécution n° 004/2022, art. 1)</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règlement d'exécution n° 004/2022/COM/UEMOA du 1er juin 2022, art. 1, 3, 12 à 15. Fichiers de précomptes. Balances du FPPN</a:t>
            </a:r>
          </a:p>
        </p:txBody>
      </p:sp>
      <p:sp>
        <p:nvSpPr>
          <p:cNvPr id="31" name="TextBox 30"/>
          <p:cNvSpPr txBox="1"/>
          <p:nvPr/>
        </p:nvSpPr>
        <p:spPr>
          <a:xfrm>
            <a:off x="503999" y="1386000"/>
            <a:ext cx="11232000" cy="216000"/>
          </a:xfrm>
          <a:prstGeom prst="rect">
            <a:avLst/>
          </a:prstGeom>
          <a:noFill/>
        </p:spPr>
        <p:txBody>
          <a:bodyPr wrap="square" anchor="t" lIns="54000" rIns="54000"/>
          <a:lstStyle/>
          <a:p>
            <a:pPr algn="ctr"/>
            <a:r>
              <a:rPr sz="1200" b="0">
                <a:solidFill>
                  <a:srgbClr val="EFAC62"/>
                </a:solidFill>
                <a:latin typeface="Helvetica"/>
              </a:rPr>
              <a:t>Tableau 14 : Qualification des garanties du FPPN</a:t>
            </a:r>
          </a:p>
        </p:txBody>
      </p:sp>
      <p:graphicFrame>
        <p:nvGraphicFramePr>
          <p:cNvPr id="32" name="Table 31"/>
          <p:cNvGraphicFramePr>
            <a:graphicFrameLocks noGrp="1"/>
          </p:cNvGraphicFramePr>
          <p:nvPr/>
        </p:nvGraphicFramePr>
        <p:xfrm>
          <a:off x="503999" y="1655999"/>
          <a:ext cx="11232000" cy="1629203"/>
        </p:xfrm>
        <a:graphic>
          <a:graphicData uri="http://schemas.openxmlformats.org/drawingml/2006/table">
            <a:tbl>
              <a:tblPr firstRow="0" bandRow="0">
                <a:tableStyleId>{5940675A-B579-460E-94D1-54222C63F5DA}</a:tableStyleId>
              </a:tblPr>
              <a:tblGrid>
                <a:gridCol w="1584000"/>
                <a:gridCol w="3024000"/>
                <a:gridCol w="2376000"/>
                <a:gridCol w="4248000"/>
              </a:tblGrid>
              <a:tr h="225250">
                <a:tc>
                  <a:txBody>
                    <a:bodyPr/>
                    <a:lstStyle/>
                    <a:p>
                      <a:pPr marL="0" indent="0" lvl="0">
                        <a:buNone/>
                      </a:pPr>
                      <a:r>
                        <a:rPr sz="1100" b="1">
                          <a:solidFill>
                            <a:srgbClr val="FFFFFF"/>
                          </a:solidFill>
                          <a:latin typeface="Helvetica"/>
                        </a:rPr>
                        <a:t>Garantie</a:t>
                      </a:r>
                    </a:p>
                  </a:txBody>
                  <a:tcPr marL="43200" marR="43200" marT="14400" marB="14400" anchor="ctr">
                    <a:solidFill>
                      <a:srgbClr val="060606"/>
                    </a:solidFill>
                  </a:tcPr>
                </a:tc>
                <a:tc>
                  <a:txBody>
                    <a:bodyPr/>
                    <a:lstStyle/>
                    <a:p>
                      <a:pPr marL="0" indent="0" lvl="0">
                        <a:buNone/>
                      </a:pPr>
                      <a:r>
                        <a:rPr sz="1100" b="1">
                          <a:solidFill>
                            <a:srgbClr val="FFFFFF"/>
                          </a:solidFill>
                          <a:latin typeface="Helvetica"/>
                        </a:rPr>
                        <a:t>Délai entre cotisation et prestation</a:t>
                      </a:r>
                    </a:p>
                  </a:txBody>
                  <a:tcPr marL="43200" marR="43200" marT="14400" marB="14400" anchor="ctr">
                    <a:solidFill>
                      <a:srgbClr val="060606"/>
                    </a:solidFill>
                  </a:tcPr>
                </a:tc>
                <a:tc>
                  <a:txBody>
                    <a:bodyPr/>
                    <a:lstStyle/>
                    <a:p>
                      <a:pPr marL="0" indent="0" lvl="0">
                        <a:buNone/>
                      </a:pPr>
                      <a:r>
                        <a:rPr sz="1100" b="1">
                          <a:solidFill>
                            <a:srgbClr val="FFFFFF"/>
                          </a:solidFill>
                          <a:latin typeface="Helvetica"/>
                        </a:rPr>
                        <a:t>Qualification proposée</a:t>
                      </a:r>
                    </a:p>
                  </a:txBody>
                  <a:tcPr marL="43200" marR="43200" marT="14400" marB="14400" anchor="ctr">
                    <a:solidFill>
                      <a:srgbClr val="060606"/>
                    </a:solidFill>
                  </a:tcPr>
                </a:tc>
                <a:tc>
                  <a:txBody>
                    <a:bodyPr/>
                    <a:lstStyle/>
                    <a:p>
                      <a:pPr marL="0" indent="0" lvl="0">
                        <a:buNone/>
                      </a:pPr>
                      <a:r>
                        <a:rPr sz="1100" b="1">
                          <a:solidFill>
                            <a:srgbClr val="FFFFFF"/>
                          </a:solidFill>
                          <a:latin typeface="Helvetica"/>
                        </a:rPr>
                        <a:t>Conséquence</a:t>
                      </a:r>
                    </a:p>
                  </a:txBody>
                  <a:tcPr marL="43200" marR="43200" marT="14400" marB="14400" anchor="ctr">
                    <a:solidFill>
                      <a:srgbClr val="060606"/>
                    </a:solidFill>
                  </a:tcPr>
                </a:tc>
              </a:tr>
              <a:tr h="225250">
                <a:tc>
                  <a:txBody>
                    <a:bodyPr/>
                    <a:lstStyle/>
                    <a:p>
                      <a:pPr marL="0" indent="0" lvl="0">
                        <a:buNone/>
                      </a:pPr>
                      <a:r>
                        <a:rPr sz="1100" b="1">
                          <a:solidFill>
                            <a:srgbClr val="060606"/>
                          </a:solidFill>
                          <a:latin typeface="Helvetica"/>
                        </a:rPr>
                        <a:t>Maladie (936, CGRAE)</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Les soins sont payés dans l'année.</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Risque court</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Ratios du tableau 1 de la Décision n° 05/2022.</a:t>
                      </a:r>
                    </a:p>
                  </a:txBody>
                  <a:tcPr marL="43200" marR="43200" marT="14400" marB="14400" anchor="ctr">
                    <a:solidFill>
                      <a:srgbClr val="FFFFFF"/>
                    </a:solidFill>
                  </a:tcPr>
                </a:tc>
              </a:tr>
              <a:tr h="392901">
                <a:tc>
                  <a:txBody>
                    <a:bodyPr/>
                    <a:lstStyle/>
                    <a:p>
                      <a:pPr marL="0" indent="0" lvl="0">
                        <a:buNone/>
                      </a:pPr>
                      <a:r>
                        <a:rPr sz="1100" b="1">
                          <a:solidFill>
                            <a:srgbClr val="060606"/>
                          </a:solidFill>
                          <a:latin typeface="Helvetica"/>
                        </a:rPr>
                        <a:t>Décès (8Z6)</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Le capital est payé au décès, sans capitalisation connue.</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Risque court</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Ratios du tableau 1. Qualification à revoir si un mécanisme de capitalisation existe.</a:t>
                      </a:r>
                    </a:p>
                  </a:txBody>
                  <a:tcPr marL="43200" marR="43200" marT="14400" marB="14400" anchor="ctr">
                    <a:solidFill>
                      <a:srgbClr val="F2F2F2"/>
                    </a:solidFill>
                  </a:tcPr>
                </a:tc>
              </a:tr>
              <a:tr h="392901">
                <a:tc>
                  <a:txBody>
                    <a:bodyPr/>
                    <a:lstStyle/>
                    <a:p>
                      <a:pPr marL="0" indent="0" lvl="0">
                        <a:buNone/>
                      </a:pPr>
                      <a:r>
                        <a:rPr sz="1100" b="1">
                          <a:solidFill>
                            <a:srgbClr val="060606"/>
                          </a:solidFill>
                          <a:latin typeface="Helvetica"/>
                        </a:rPr>
                        <a:t>EFC (870)</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L'épargne est versée en fin de carrière, des années après les versements.</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Risque long (vieillesse)</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Ratios de la section II, réserve de trésorerie, étude actuarielle, certification.</a:t>
                      </a:r>
                    </a:p>
                  </a:txBody>
                  <a:tcPr marL="43200" marR="43200" marT="14400" marB="14400" anchor="ctr">
                    <a:solidFill>
                      <a:srgbClr val="FFFFFF"/>
                    </a:solidFill>
                  </a:tcPr>
                </a:tc>
              </a:tr>
              <a:tr h="392901">
                <a:tc>
                  <a:txBody>
                    <a:bodyPr/>
                    <a:lstStyle/>
                    <a:p>
                      <a:pPr marL="0" indent="0" lvl="0">
                        <a:buNone/>
                      </a:pPr>
                      <a:r>
                        <a:rPr sz="1100" b="1">
                          <a:solidFill>
                            <a:srgbClr val="060606"/>
                          </a:solidFill>
                          <a:latin typeface="Helvetica"/>
                        </a:rPr>
                        <a:t>PEP (998)</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L'épargne est restituée à l'échéance du plan, en général après plus d'un an.</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Risque long, à confirmer</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Mêmes obligations que l'EFC si la durée du plan dépasse un an.</a:t>
                      </a:r>
                    </a:p>
                  </a:txBody>
                  <a:tcPr marL="43200" marR="43200" marT="14400" marB="14400" anchor="ctr">
                    <a:solidFill>
                      <a:srgbClr val="F2F2F2"/>
                    </a:solidFill>
                  </a:tcPr>
                </a:tc>
              </a:tr>
            </a:tbl>
          </a:graphicData>
        </a:graphic>
      </p:graphicFrame>
      <p:sp>
        <p:nvSpPr>
          <p:cNvPr id="33" name="TextBox 32"/>
          <p:cNvSpPr txBox="1"/>
          <p:nvPr/>
        </p:nvSpPr>
        <p:spPr>
          <a:xfrm>
            <a:off x="503999" y="3393204"/>
            <a:ext cx="11232000" cy="2474795"/>
          </a:xfrm>
          <a:prstGeom prst="rect">
            <a:avLst/>
          </a:prstGeom>
          <a:noFill/>
        </p:spPr>
        <p:txBody>
          <a:bodyPr wrap="square" lIns="54000" rIns="54000"/>
          <a:lstStyle/>
          <a:p>
            <a:pPr algn="just">
              <a:spcAft>
                <a:spcPts val="600"/>
              </a:spcAft>
            </a:pPr>
            <a:r>
              <a:rPr sz="1300" b="1">
                <a:solidFill>
                  <a:srgbClr val="060606"/>
                </a:solidFill>
                <a:latin typeface="Helvetica"/>
              </a:rPr>
              <a:t>Avec l'EFC et le PEP, le FPPN entre dans le champ des risques longs.</a:t>
            </a:r>
            <a:r>
              <a:rPr sz="1300" b="0">
                <a:solidFill>
                  <a:srgbClr val="060606"/>
                </a:solidFill>
                <a:latin typeface="Helvetica"/>
              </a:rPr>
              <a:t> Ces deux produits représentent 15 743 516 391 FCFA d'engagements au 31/08/2026.</a:t>
            </a:r>
          </a:p>
          <a:p>
            <a:pPr algn="just">
              <a:spcAft>
                <a:spcPts val="600"/>
              </a:spcAft>
            </a:pPr>
            <a:r>
              <a:rPr sz="1300" b="1">
                <a:solidFill>
                  <a:srgbClr val="060606"/>
                </a:solidFill>
                <a:latin typeface="Helvetica"/>
              </a:rPr>
              <a:t>Implication pour le FPPN.</a:t>
            </a:r>
            <a:r>
              <a:rPr sz="1300" b="0">
                <a:solidFill>
                  <a:srgbClr val="060606"/>
                </a:solidFill>
                <a:latin typeface="Helvetica"/>
              </a:rPr>
              <a:t> Une mutuelle qui couvre à la fois des risques courts et longs doit cantonner ses patrimoines et séparer ses opérations (art. 15), faire certifier ses comptes par un commissaire aux comptes (art. 12) et réaliser une étude actuarielle tous les cinq ans (art. 14).</a:t>
            </a:r>
          </a:p>
        </p:txBody>
      </p:sp>
      <p:sp>
        <p:nvSpPr>
          <p:cNvPr id="34" name="TextBox 33"/>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UEMOA : Union économique et monétaire ouest-africaine | CGRAE : Caisse générale de retraite des agents de l'État | PEP : Plan Épargne Plus | EFC : entraide fin de carrière | 936 : poste maladie | 8Z6 : poste décès | 870 : poste EFC | 998 : poste PEP</a:t>
            </a:r>
          </a:p>
        </p:txBody>
      </p:sp>
    </p:spTree>
    <p:extLst>
      <p:ext uri="{BB962C8B-B14F-4D97-AF65-F5344CB8AC3E}">
        <p14:creationId xmlns:p14="http://schemas.microsoft.com/office/powerpoint/2010/main" val="3219134014"/>
      </p:ext>
    </p:extLst>
  </p:cSld>
  <p:clrMapOvr>
    <a:masterClrMapping/>
  </p:clrMapOvr>
  <p:transition>
    <p:fade/>
  </p:transition>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1">
            <a:extLst>
              <a:ext uri="{FF2B5EF4-FFF2-40B4-BE49-F238E27FC236}">
                <a16:creationId xmlns:a16="http://schemas.microsoft.com/office/drawing/2014/main" id="{B8E3EC90-0B67-5A40-9A33-0584F45B7F83}"/>
              </a:ext>
            </a:extLst>
          </p:cNvPr>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15" name="ZoneTexte 14">
            <a:extLst>
              <a:ext uri="{FF2B5EF4-FFF2-40B4-BE49-F238E27FC236}">
                <a16:creationId xmlns:a16="http://schemas.microsoft.com/office/drawing/2014/main" id="{105C7D73-CA09-E6BB-E55A-DE5ED4264F4C}"/>
              </a:ext>
            </a:extLst>
          </p:cNvPr>
          <p:cNvSpPr txBox="1"/>
          <p:nvPr/>
        </p:nvSpPr>
        <p:spPr>
          <a:xfrm>
            <a:off x="222607" y="6396590"/>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3" name="Rounded Rectangle 5">
            <a:extLst>
              <a:ext uri="{FF2B5EF4-FFF2-40B4-BE49-F238E27FC236}">
                <a16:creationId xmlns:a16="http://schemas.microsoft.com/office/drawing/2014/main" id="{F036A678-2139-4604-A2D8-3656B956898F}"/>
              </a:ext>
            </a:extLst>
          </p:cNvPr>
          <p:cNvSpPr/>
          <p:nvPr/>
        </p:nvSpPr>
        <p:spPr>
          <a:xfrm>
            <a:off x="3129156" y="1489204"/>
            <a:ext cx="3270872" cy="1990634"/>
          </a:xfrm>
          <a:custGeom>
            <a:avLst/>
            <a:gdLst>
              <a:gd name="connsiteX0" fmla="*/ 0 w 2354580"/>
              <a:gd name="connsiteY0" fmla="*/ 398782 h 1432560"/>
              <a:gd name="connsiteX1" fmla="*/ 398782 w 2354580"/>
              <a:gd name="connsiteY1" fmla="*/ 0 h 1432560"/>
              <a:gd name="connsiteX2" fmla="*/ 1955798 w 2354580"/>
              <a:gd name="connsiteY2" fmla="*/ 0 h 1432560"/>
              <a:gd name="connsiteX3" fmla="*/ 2354580 w 2354580"/>
              <a:gd name="connsiteY3" fmla="*/ 398782 h 1432560"/>
              <a:gd name="connsiteX4" fmla="*/ 2354580 w 2354580"/>
              <a:gd name="connsiteY4" fmla="*/ 1033778 h 1432560"/>
              <a:gd name="connsiteX5" fmla="*/ 1955798 w 2354580"/>
              <a:gd name="connsiteY5" fmla="*/ 1432560 h 1432560"/>
              <a:gd name="connsiteX6" fmla="*/ 398782 w 2354580"/>
              <a:gd name="connsiteY6" fmla="*/ 1432560 h 1432560"/>
              <a:gd name="connsiteX7" fmla="*/ 0 w 2354580"/>
              <a:gd name="connsiteY7" fmla="*/ 1033778 h 1432560"/>
              <a:gd name="connsiteX8" fmla="*/ 0 w 2354580"/>
              <a:gd name="connsiteY8" fmla="*/ 398782 h 1432560"/>
              <a:gd name="connsiteX0" fmla="*/ 0 w 2362200"/>
              <a:gd name="connsiteY0" fmla="*/ 102717 h 1517495"/>
              <a:gd name="connsiteX1" fmla="*/ 406402 w 2362200"/>
              <a:gd name="connsiteY1" fmla="*/ 84935 h 1517495"/>
              <a:gd name="connsiteX2" fmla="*/ 1963418 w 2362200"/>
              <a:gd name="connsiteY2" fmla="*/ 84935 h 1517495"/>
              <a:gd name="connsiteX3" fmla="*/ 2362200 w 2362200"/>
              <a:gd name="connsiteY3" fmla="*/ 483717 h 1517495"/>
              <a:gd name="connsiteX4" fmla="*/ 2362200 w 2362200"/>
              <a:gd name="connsiteY4" fmla="*/ 1118713 h 1517495"/>
              <a:gd name="connsiteX5" fmla="*/ 1963418 w 2362200"/>
              <a:gd name="connsiteY5" fmla="*/ 1517495 h 1517495"/>
              <a:gd name="connsiteX6" fmla="*/ 406402 w 2362200"/>
              <a:gd name="connsiteY6" fmla="*/ 1517495 h 1517495"/>
              <a:gd name="connsiteX7" fmla="*/ 7620 w 2362200"/>
              <a:gd name="connsiteY7" fmla="*/ 1118713 h 1517495"/>
              <a:gd name="connsiteX8" fmla="*/ 0 w 2362200"/>
              <a:gd name="connsiteY8" fmla="*/ 102717 h 1517495"/>
              <a:gd name="connsiteX0" fmla="*/ 0 w 2362200"/>
              <a:gd name="connsiteY0" fmla="*/ 17782 h 1432560"/>
              <a:gd name="connsiteX1" fmla="*/ 406402 w 2362200"/>
              <a:gd name="connsiteY1" fmla="*/ 0 h 1432560"/>
              <a:gd name="connsiteX2" fmla="*/ 1963418 w 2362200"/>
              <a:gd name="connsiteY2" fmla="*/ 0 h 1432560"/>
              <a:gd name="connsiteX3" fmla="*/ 2362200 w 2362200"/>
              <a:gd name="connsiteY3" fmla="*/ 398782 h 1432560"/>
              <a:gd name="connsiteX4" fmla="*/ 2362200 w 2362200"/>
              <a:gd name="connsiteY4" fmla="*/ 1033778 h 1432560"/>
              <a:gd name="connsiteX5" fmla="*/ 1963418 w 2362200"/>
              <a:gd name="connsiteY5" fmla="*/ 1432560 h 1432560"/>
              <a:gd name="connsiteX6" fmla="*/ 406402 w 2362200"/>
              <a:gd name="connsiteY6" fmla="*/ 1432560 h 1432560"/>
              <a:gd name="connsiteX7" fmla="*/ 7620 w 2362200"/>
              <a:gd name="connsiteY7" fmla="*/ 1033778 h 1432560"/>
              <a:gd name="connsiteX8" fmla="*/ 0 w 2362200"/>
              <a:gd name="connsiteY8" fmla="*/ 17782 h 1432560"/>
              <a:gd name="connsiteX0" fmla="*/ 0 w 2362200"/>
              <a:gd name="connsiteY0" fmla="*/ 2542 h 1432560"/>
              <a:gd name="connsiteX1" fmla="*/ 406402 w 2362200"/>
              <a:gd name="connsiteY1" fmla="*/ 0 h 1432560"/>
              <a:gd name="connsiteX2" fmla="*/ 1963418 w 2362200"/>
              <a:gd name="connsiteY2" fmla="*/ 0 h 1432560"/>
              <a:gd name="connsiteX3" fmla="*/ 2362200 w 2362200"/>
              <a:gd name="connsiteY3" fmla="*/ 398782 h 1432560"/>
              <a:gd name="connsiteX4" fmla="*/ 2362200 w 2362200"/>
              <a:gd name="connsiteY4" fmla="*/ 1033778 h 1432560"/>
              <a:gd name="connsiteX5" fmla="*/ 1963418 w 2362200"/>
              <a:gd name="connsiteY5" fmla="*/ 1432560 h 1432560"/>
              <a:gd name="connsiteX6" fmla="*/ 406402 w 2362200"/>
              <a:gd name="connsiteY6" fmla="*/ 1432560 h 1432560"/>
              <a:gd name="connsiteX7" fmla="*/ 7620 w 2362200"/>
              <a:gd name="connsiteY7" fmla="*/ 1033778 h 1432560"/>
              <a:gd name="connsiteX8" fmla="*/ 0 w 2362200"/>
              <a:gd name="connsiteY8" fmla="*/ 2542 h 1432560"/>
              <a:gd name="connsiteX0" fmla="*/ 0 w 2354580"/>
              <a:gd name="connsiteY0" fmla="*/ 17782 h 1432560"/>
              <a:gd name="connsiteX1" fmla="*/ 398782 w 2354580"/>
              <a:gd name="connsiteY1" fmla="*/ 0 h 1432560"/>
              <a:gd name="connsiteX2" fmla="*/ 1955798 w 2354580"/>
              <a:gd name="connsiteY2" fmla="*/ 0 h 1432560"/>
              <a:gd name="connsiteX3" fmla="*/ 2354580 w 2354580"/>
              <a:gd name="connsiteY3" fmla="*/ 398782 h 1432560"/>
              <a:gd name="connsiteX4" fmla="*/ 2354580 w 2354580"/>
              <a:gd name="connsiteY4" fmla="*/ 1033778 h 1432560"/>
              <a:gd name="connsiteX5" fmla="*/ 1955798 w 2354580"/>
              <a:gd name="connsiteY5" fmla="*/ 1432560 h 1432560"/>
              <a:gd name="connsiteX6" fmla="*/ 398782 w 2354580"/>
              <a:gd name="connsiteY6" fmla="*/ 1432560 h 1432560"/>
              <a:gd name="connsiteX7" fmla="*/ 0 w 2354580"/>
              <a:gd name="connsiteY7" fmla="*/ 1033778 h 1432560"/>
              <a:gd name="connsiteX8" fmla="*/ 0 w 2354580"/>
              <a:gd name="connsiteY8" fmla="*/ 17782 h 1432560"/>
              <a:gd name="connsiteX0" fmla="*/ 0 w 2354580"/>
              <a:gd name="connsiteY0" fmla="*/ 0 h 1433828"/>
              <a:gd name="connsiteX1" fmla="*/ 398782 w 2354580"/>
              <a:gd name="connsiteY1" fmla="*/ 1268 h 1433828"/>
              <a:gd name="connsiteX2" fmla="*/ 1955798 w 2354580"/>
              <a:gd name="connsiteY2" fmla="*/ 1268 h 1433828"/>
              <a:gd name="connsiteX3" fmla="*/ 2354580 w 2354580"/>
              <a:gd name="connsiteY3" fmla="*/ 400050 h 1433828"/>
              <a:gd name="connsiteX4" fmla="*/ 2354580 w 2354580"/>
              <a:gd name="connsiteY4" fmla="*/ 1035046 h 1433828"/>
              <a:gd name="connsiteX5" fmla="*/ 1955798 w 2354580"/>
              <a:gd name="connsiteY5" fmla="*/ 1433828 h 1433828"/>
              <a:gd name="connsiteX6" fmla="*/ 398782 w 2354580"/>
              <a:gd name="connsiteY6" fmla="*/ 1433828 h 1433828"/>
              <a:gd name="connsiteX7" fmla="*/ 0 w 2354580"/>
              <a:gd name="connsiteY7" fmla="*/ 1035046 h 1433828"/>
              <a:gd name="connsiteX8" fmla="*/ 0 w 2354580"/>
              <a:gd name="connsiteY8" fmla="*/ 0 h 1433828"/>
              <a:gd name="connsiteX0" fmla="*/ 4763 w 2354580"/>
              <a:gd name="connsiteY0" fmla="*/ 3494 h 1432560"/>
              <a:gd name="connsiteX1" fmla="*/ 398782 w 2354580"/>
              <a:gd name="connsiteY1" fmla="*/ 0 h 1432560"/>
              <a:gd name="connsiteX2" fmla="*/ 1955798 w 2354580"/>
              <a:gd name="connsiteY2" fmla="*/ 0 h 1432560"/>
              <a:gd name="connsiteX3" fmla="*/ 2354580 w 2354580"/>
              <a:gd name="connsiteY3" fmla="*/ 398782 h 1432560"/>
              <a:gd name="connsiteX4" fmla="*/ 2354580 w 2354580"/>
              <a:gd name="connsiteY4" fmla="*/ 1033778 h 1432560"/>
              <a:gd name="connsiteX5" fmla="*/ 1955798 w 2354580"/>
              <a:gd name="connsiteY5" fmla="*/ 1432560 h 1432560"/>
              <a:gd name="connsiteX6" fmla="*/ 398782 w 2354580"/>
              <a:gd name="connsiteY6" fmla="*/ 1432560 h 1432560"/>
              <a:gd name="connsiteX7" fmla="*/ 0 w 2354580"/>
              <a:gd name="connsiteY7" fmla="*/ 1033778 h 1432560"/>
              <a:gd name="connsiteX8" fmla="*/ 4763 w 2354580"/>
              <a:gd name="connsiteY8" fmla="*/ 3494 h 1432560"/>
              <a:gd name="connsiteX0" fmla="*/ 2382 w 2354580"/>
              <a:gd name="connsiteY0" fmla="*/ 0 h 1436210"/>
              <a:gd name="connsiteX1" fmla="*/ 398782 w 2354580"/>
              <a:gd name="connsiteY1" fmla="*/ 3650 h 1436210"/>
              <a:gd name="connsiteX2" fmla="*/ 1955798 w 2354580"/>
              <a:gd name="connsiteY2" fmla="*/ 3650 h 1436210"/>
              <a:gd name="connsiteX3" fmla="*/ 2354580 w 2354580"/>
              <a:gd name="connsiteY3" fmla="*/ 402432 h 1436210"/>
              <a:gd name="connsiteX4" fmla="*/ 2354580 w 2354580"/>
              <a:gd name="connsiteY4" fmla="*/ 1037428 h 1436210"/>
              <a:gd name="connsiteX5" fmla="*/ 1955798 w 2354580"/>
              <a:gd name="connsiteY5" fmla="*/ 1436210 h 1436210"/>
              <a:gd name="connsiteX6" fmla="*/ 398782 w 2354580"/>
              <a:gd name="connsiteY6" fmla="*/ 1436210 h 1436210"/>
              <a:gd name="connsiteX7" fmla="*/ 0 w 2354580"/>
              <a:gd name="connsiteY7" fmla="*/ 1037428 h 1436210"/>
              <a:gd name="connsiteX8" fmla="*/ 2382 w 2354580"/>
              <a:gd name="connsiteY8" fmla="*/ 0 h 1436210"/>
              <a:gd name="connsiteX0" fmla="*/ 4763 w 2354580"/>
              <a:gd name="connsiteY0" fmla="*/ 5875 h 1432560"/>
              <a:gd name="connsiteX1" fmla="*/ 398782 w 2354580"/>
              <a:gd name="connsiteY1" fmla="*/ 0 h 1432560"/>
              <a:gd name="connsiteX2" fmla="*/ 1955798 w 2354580"/>
              <a:gd name="connsiteY2" fmla="*/ 0 h 1432560"/>
              <a:gd name="connsiteX3" fmla="*/ 2354580 w 2354580"/>
              <a:gd name="connsiteY3" fmla="*/ 398782 h 1432560"/>
              <a:gd name="connsiteX4" fmla="*/ 2354580 w 2354580"/>
              <a:gd name="connsiteY4" fmla="*/ 1033778 h 1432560"/>
              <a:gd name="connsiteX5" fmla="*/ 1955798 w 2354580"/>
              <a:gd name="connsiteY5" fmla="*/ 1432560 h 1432560"/>
              <a:gd name="connsiteX6" fmla="*/ 398782 w 2354580"/>
              <a:gd name="connsiteY6" fmla="*/ 1432560 h 1432560"/>
              <a:gd name="connsiteX7" fmla="*/ 0 w 2354580"/>
              <a:gd name="connsiteY7" fmla="*/ 1033778 h 1432560"/>
              <a:gd name="connsiteX8" fmla="*/ 4763 w 2354580"/>
              <a:gd name="connsiteY8" fmla="*/ 5875 h 1432560"/>
              <a:gd name="connsiteX0" fmla="*/ 4763 w 2354580"/>
              <a:gd name="connsiteY0" fmla="*/ 0 h 1433829"/>
              <a:gd name="connsiteX1" fmla="*/ 398782 w 2354580"/>
              <a:gd name="connsiteY1" fmla="*/ 1269 h 1433829"/>
              <a:gd name="connsiteX2" fmla="*/ 1955798 w 2354580"/>
              <a:gd name="connsiteY2" fmla="*/ 1269 h 1433829"/>
              <a:gd name="connsiteX3" fmla="*/ 2354580 w 2354580"/>
              <a:gd name="connsiteY3" fmla="*/ 400051 h 1433829"/>
              <a:gd name="connsiteX4" fmla="*/ 2354580 w 2354580"/>
              <a:gd name="connsiteY4" fmla="*/ 1035047 h 1433829"/>
              <a:gd name="connsiteX5" fmla="*/ 1955798 w 2354580"/>
              <a:gd name="connsiteY5" fmla="*/ 1433829 h 1433829"/>
              <a:gd name="connsiteX6" fmla="*/ 398782 w 2354580"/>
              <a:gd name="connsiteY6" fmla="*/ 1433829 h 1433829"/>
              <a:gd name="connsiteX7" fmla="*/ 0 w 2354580"/>
              <a:gd name="connsiteY7" fmla="*/ 1035047 h 1433829"/>
              <a:gd name="connsiteX8" fmla="*/ 4763 w 2354580"/>
              <a:gd name="connsiteY8" fmla="*/ 0 h 1433829"/>
              <a:gd name="connsiteX0" fmla="*/ 4763 w 2354580"/>
              <a:gd name="connsiteY0" fmla="*/ 0 h 1433829"/>
              <a:gd name="connsiteX1" fmla="*/ 398782 w 2354580"/>
              <a:gd name="connsiteY1" fmla="*/ 1269 h 1433829"/>
              <a:gd name="connsiteX2" fmla="*/ 1955798 w 2354580"/>
              <a:gd name="connsiteY2" fmla="*/ 1269 h 1433829"/>
              <a:gd name="connsiteX3" fmla="*/ 2354580 w 2354580"/>
              <a:gd name="connsiteY3" fmla="*/ 400051 h 1433829"/>
              <a:gd name="connsiteX4" fmla="*/ 2354580 w 2354580"/>
              <a:gd name="connsiteY4" fmla="*/ 1035047 h 1433829"/>
              <a:gd name="connsiteX5" fmla="*/ 1955798 w 2354580"/>
              <a:gd name="connsiteY5" fmla="*/ 1433829 h 1433829"/>
              <a:gd name="connsiteX6" fmla="*/ 398782 w 2354580"/>
              <a:gd name="connsiteY6" fmla="*/ 1433829 h 1433829"/>
              <a:gd name="connsiteX7" fmla="*/ 0 w 2354580"/>
              <a:gd name="connsiteY7" fmla="*/ 1035047 h 1433829"/>
              <a:gd name="connsiteX8" fmla="*/ 4763 w 2354580"/>
              <a:gd name="connsiteY8" fmla="*/ 0 h 1433829"/>
              <a:gd name="connsiteX0" fmla="*/ 4763 w 2354580"/>
              <a:gd name="connsiteY0" fmla="*/ 0 h 1433829"/>
              <a:gd name="connsiteX1" fmla="*/ 398782 w 2354580"/>
              <a:gd name="connsiteY1" fmla="*/ 1269 h 1433829"/>
              <a:gd name="connsiteX2" fmla="*/ 1955798 w 2354580"/>
              <a:gd name="connsiteY2" fmla="*/ 1269 h 1433829"/>
              <a:gd name="connsiteX3" fmla="*/ 2354580 w 2354580"/>
              <a:gd name="connsiteY3" fmla="*/ 400051 h 1433829"/>
              <a:gd name="connsiteX4" fmla="*/ 2354580 w 2354580"/>
              <a:gd name="connsiteY4" fmla="*/ 1035047 h 1433829"/>
              <a:gd name="connsiteX5" fmla="*/ 1955798 w 2354580"/>
              <a:gd name="connsiteY5" fmla="*/ 1433829 h 1433829"/>
              <a:gd name="connsiteX6" fmla="*/ 398782 w 2354580"/>
              <a:gd name="connsiteY6" fmla="*/ 1433829 h 1433829"/>
              <a:gd name="connsiteX7" fmla="*/ 0 w 2354580"/>
              <a:gd name="connsiteY7" fmla="*/ 1035047 h 1433829"/>
              <a:gd name="connsiteX8" fmla="*/ 4763 w 2354580"/>
              <a:gd name="connsiteY8" fmla="*/ 0 h 1433829"/>
              <a:gd name="connsiteX0" fmla="*/ 4763 w 2432776"/>
              <a:gd name="connsiteY0" fmla="*/ 0 h 1433829"/>
              <a:gd name="connsiteX1" fmla="*/ 398782 w 2432776"/>
              <a:gd name="connsiteY1" fmla="*/ 1269 h 1433829"/>
              <a:gd name="connsiteX2" fmla="*/ 1955798 w 2432776"/>
              <a:gd name="connsiteY2" fmla="*/ 1269 h 1433829"/>
              <a:gd name="connsiteX3" fmla="*/ 2354580 w 2432776"/>
              <a:gd name="connsiteY3" fmla="*/ 400051 h 1433829"/>
              <a:gd name="connsiteX4" fmla="*/ 2354580 w 2432776"/>
              <a:gd name="connsiteY4" fmla="*/ 1035047 h 1433829"/>
              <a:gd name="connsiteX5" fmla="*/ 2327273 w 2432776"/>
              <a:gd name="connsiteY5" fmla="*/ 1433829 h 1433829"/>
              <a:gd name="connsiteX6" fmla="*/ 398782 w 2432776"/>
              <a:gd name="connsiteY6" fmla="*/ 1433829 h 1433829"/>
              <a:gd name="connsiteX7" fmla="*/ 0 w 2432776"/>
              <a:gd name="connsiteY7" fmla="*/ 1035047 h 1433829"/>
              <a:gd name="connsiteX8" fmla="*/ 4763 w 2432776"/>
              <a:gd name="connsiteY8" fmla="*/ 0 h 1433829"/>
              <a:gd name="connsiteX0" fmla="*/ 4763 w 2441222"/>
              <a:gd name="connsiteY0" fmla="*/ 0 h 1433829"/>
              <a:gd name="connsiteX1" fmla="*/ 398782 w 2441222"/>
              <a:gd name="connsiteY1" fmla="*/ 1269 h 1433829"/>
              <a:gd name="connsiteX2" fmla="*/ 1955798 w 2441222"/>
              <a:gd name="connsiteY2" fmla="*/ 1269 h 1433829"/>
              <a:gd name="connsiteX3" fmla="*/ 2354580 w 2441222"/>
              <a:gd name="connsiteY3" fmla="*/ 400051 h 1433829"/>
              <a:gd name="connsiteX4" fmla="*/ 2354580 w 2441222"/>
              <a:gd name="connsiteY4" fmla="*/ 1035047 h 1433829"/>
              <a:gd name="connsiteX5" fmla="*/ 2339179 w 2441222"/>
              <a:gd name="connsiteY5" fmla="*/ 1431447 h 1433829"/>
              <a:gd name="connsiteX6" fmla="*/ 398782 w 2441222"/>
              <a:gd name="connsiteY6" fmla="*/ 1433829 h 1433829"/>
              <a:gd name="connsiteX7" fmla="*/ 0 w 2441222"/>
              <a:gd name="connsiteY7" fmla="*/ 1035047 h 1433829"/>
              <a:gd name="connsiteX8" fmla="*/ 4763 w 2441222"/>
              <a:gd name="connsiteY8" fmla="*/ 0 h 1433829"/>
              <a:gd name="connsiteX0" fmla="*/ 4763 w 2449885"/>
              <a:gd name="connsiteY0" fmla="*/ 0 h 1433829"/>
              <a:gd name="connsiteX1" fmla="*/ 398782 w 2449885"/>
              <a:gd name="connsiteY1" fmla="*/ 1269 h 1433829"/>
              <a:gd name="connsiteX2" fmla="*/ 1955798 w 2449885"/>
              <a:gd name="connsiteY2" fmla="*/ 1269 h 1433829"/>
              <a:gd name="connsiteX3" fmla="*/ 2354580 w 2449885"/>
              <a:gd name="connsiteY3" fmla="*/ 400051 h 1433829"/>
              <a:gd name="connsiteX4" fmla="*/ 2354580 w 2449885"/>
              <a:gd name="connsiteY4" fmla="*/ 1035047 h 1433829"/>
              <a:gd name="connsiteX5" fmla="*/ 2351086 w 2449885"/>
              <a:gd name="connsiteY5" fmla="*/ 1433828 h 1433829"/>
              <a:gd name="connsiteX6" fmla="*/ 398782 w 2449885"/>
              <a:gd name="connsiteY6" fmla="*/ 1433829 h 1433829"/>
              <a:gd name="connsiteX7" fmla="*/ 0 w 2449885"/>
              <a:gd name="connsiteY7" fmla="*/ 1035047 h 1433829"/>
              <a:gd name="connsiteX8" fmla="*/ 4763 w 2449885"/>
              <a:gd name="connsiteY8" fmla="*/ 0 h 1433829"/>
              <a:gd name="connsiteX0" fmla="*/ 4763 w 2355967"/>
              <a:gd name="connsiteY0" fmla="*/ 0 h 1433829"/>
              <a:gd name="connsiteX1" fmla="*/ 398782 w 2355967"/>
              <a:gd name="connsiteY1" fmla="*/ 1269 h 1433829"/>
              <a:gd name="connsiteX2" fmla="*/ 1955798 w 2355967"/>
              <a:gd name="connsiteY2" fmla="*/ 1269 h 1433829"/>
              <a:gd name="connsiteX3" fmla="*/ 2354580 w 2355967"/>
              <a:gd name="connsiteY3" fmla="*/ 400051 h 1433829"/>
              <a:gd name="connsiteX4" fmla="*/ 2354580 w 2355967"/>
              <a:gd name="connsiteY4" fmla="*/ 1035047 h 1433829"/>
              <a:gd name="connsiteX5" fmla="*/ 2351086 w 2355967"/>
              <a:gd name="connsiteY5" fmla="*/ 1433828 h 1433829"/>
              <a:gd name="connsiteX6" fmla="*/ 398782 w 2355967"/>
              <a:gd name="connsiteY6" fmla="*/ 1433829 h 1433829"/>
              <a:gd name="connsiteX7" fmla="*/ 0 w 2355967"/>
              <a:gd name="connsiteY7" fmla="*/ 1035047 h 1433829"/>
              <a:gd name="connsiteX8" fmla="*/ 4763 w 2355967"/>
              <a:gd name="connsiteY8" fmla="*/ 0 h 14338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355967" h="1433829">
                <a:moveTo>
                  <a:pt x="4763" y="0"/>
                </a:moveTo>
                <a:cubicBezTo>
                  <a:pt x="30957" y="1215"/>
                  <a:pt x="178541" y="1269"/>
                  <a:pt x="398782" y="1269"/>
                </a:cubicBezTo>
                <a:lnTo>
                  <a:pt x="1955798" y="1269"/>
                </a:lnTo>
                <a:cubicBezTo>
                  <a:pt x="2176039" y="1269"/>
                  <a:pt x="2354580" y="179810"/>
                  <a:pt x="2354580" y="400051"/>
                </a:cubicBezTo>
                <a:lnTo>
                  <a:pt x="2354580" y="1035047"/>
                </a:lnTo>
                <a:cubicBezTo>
                  <a:pt x="2354580" y="1255288"/>
                  <a:pt x="2359396" y="1431446"/>
                  <a:pt x="2351086" y="1433828"/>
                </a:cubicBezTo>
                <a:lnTo>
                  <a:pt x="398782" y="1433829"/>
                </a:lnTo>
                <a:cubicBezTo>
                  <a:pt x="178541" y="1433829"/>
                  <a:pt x="0" y="1255288"/>
                  <a:pt x="0" y="1035047"/>
                </a:cubicBezTo>
                <a:cubicBezTo>
                  <a:pt x="1588" y="691619"/>
                  <a:pt x="3175" y="343428"/>
                  <a:pt x="4763" y="0"/>
                </a:cubicBezTo>
                <a:close/>
              </a:path>
            </a:pathLst>
          </a:custGeom>
          <a:noFill/>
          <a:ln w="19050">
            <a:solidFill>
              <a:srgbClr val="112A40"/>
            </a:solidFill>
          </a:ln>
        </p:spPr>
        <p:style>
          <a:lnRef idx="2">
            <a:schemeClr val="accent1">
              <a:shade val="50000"/>
            </a:schemeClr>
          </a:lnRef>
          <a:fillRef idx="1">
            <a:schemeClr val="accent1"/>
          </a:fillRef>
          <a:effectRef idx="0">
            <a:schemeClr val="accent1"/>
          </a:effectRef>
          <a:fontRef idx="minor">
            <a:schemeClr val="lt1"/>
          </a:fontRef>
        </p:style>
        <p:txBody>
          <a:bodyPr lIns="91440" tIns="91440" rIns="91440" bIns="91440" rtlCol="0" anchor="ctr">
            <a:noAutofit/>
          </a:bodyPr>
          <a:lstStyle/>
          <a:p>
            <a:pPr algn="ctr"/>
            <a:endParaRPr lang="fr-CI" sz="1400" noProof="0">
              <a:solidFill>
                <a:schemeClr val="tx2"/>
              </a:solidFill>
            </a:endParaRPr>
          </a:p>
        </p:txBody>
      </p:sp>
      <p:sp>
        <p:nvSpPr>
          <p:cNvPr id="4" name="Rounded Rectangle 5">
            <a:extLst>
              <a:ext uri="{FF2B5EF4-FFF2-40B4-BE49-F238E27FC236}">
                <a16:creationId xmlns:a16="http://schemas.microsoft.com/office/drawing/2014/main" id="{7D09F7F3-AD70-F22F-FF80-50BF6DD57968}"/>
              </a:ext>
            </a:extLst>
          </p:cNvPr>
          <p:cNvSpPr/>
          <p:nvPr/>
        </p:nvSpPr>
        <p:spPr>
          <a:xfrm>
            <a:off x="6391951" y="3585630"/>
            <a:ext cx="3270872" cy="1990634"/>
          </a:xfrm>
          <a:custGeom>
            <a:avLst/>
            <a:gdLst>
              <a:gd name="connsiteX0" fmla="*/ 0 w 2354580"/>
              <a:gd name="connsiteY0" fmla="*/ 398782 h 1432560"/>
              <a:gd name="connsiteX1" fmla="*/ 398782 w 2354580"/>
              <a:gd name="connsiteY1" fmla="*/ 0 h 1432560"/>
              <a:gd name="connsiteX2" fmla="*/ 1955798 w 2354580"/>
              <a:gd name="connsiteY2" fmla="*/ 0 h 1432560"/>
              <a:gd name="connsiteX3" fmla="*/ 2354580 w 2354580"/>
              <a:gd name="connsiteY3" fmla="*/ 398782 h 1432560"/>
              <a:gd name="connsiteX4" fmla="*/ 2354580 w 2354580"/>
              <a:gd name="connsiteY4" fmla="*/ 1033778 h 1432560"/>
              <a:gd name="connsiteX5" fmla="*/ 1955798 w 2354580"/>
              <a:gd name="connsiteY5" fmla="*/ 1432560 h 1432560"/>
              <a:gd name="connsiteX6" fmla="*/ 398782 w 2354580"/>
              <a:gd name="connsiteY6" fmla="*/ 1432560 h 1432560"/>
              <a:gd name="connsiteX7" fmla="*/ 0 w 2354580"/>
              <a:gd name="connsiteY7" fmla="*/ 1033778 h 1432560"/>
              <a:gd name="connsiteX8" fmla="*/ 0 w 2354580"/>
              <a:gd name="connsiteY8" fmla="*/ 398782 h 1432560"/>
              <a:gd name="connsiteX0" fmla="*/ 0 w 2362200"/>
              <a:gd name="connsiteY0" fmla="*/ 102717 h 1517495"/>
              <a:gd name="connsiteX1" fmla="*/ 406402 w 2362200"/>
              <a:gd name="connsiteY1" fmla="*/ 84935 h 1517495"/>
              <a:gd name="connsiteX2" fmla="*/ 1963418 w 2362200"/>
              <a:gd name="connsiteY2" fmla="*/ 84935 h 1517495"/>
              <a:gd name="connsiteX3" fmla="*/ 2362200 w 2362200"/>
              <a:gd name="connsiteY3" fmla="*/ 483717 h 1517495"/>
              <a:gd name="connsiteX4" fmla="*/ 2362200 w 2362200"/>
              <a:gd name="connsiteY4" fmla="*/ 1118713 h 1517495"/>
              <a:gd name="connsiteX5" fmla="*/ 1963418 w 2362200"/>
              <a:gd name="connsiteY5" fmla="*/ 1517495 h 1517495"/>
              <a:gd name="connsiteX6" fmla="*/ 406402 w 2362200"/>
              <a:gd name="connsiteY6" fmla="*/ 1517495 h 1517495"/>
              <a:gd name="connsiteX7" fmla="*/ 7620 w 2362200"/>
              <a:gd name="connsiteY7" fmla="*/ 1118713 h 1517495"/>
              <a:gd name="connsiteX8" fmla="*/ 0 w 2362200"/>
              <a:gd name="connsiteY8" fmla="*/ 102717 h 1517495"/>
              <a:gd name="connsiteX0" fmla="*/ 0 w 2362200"/>
              <a:gd name="connsiteY0" fmla="*/ 17782 h 1432560"/>
              <a:gd name="connsiteX1" fmla="*/ 406402 w 2362200"/>
              <a:gd name="connsiteY1" fmla="*/ 0 h 1432560"/>
              <a:gd name="connsiteX2" fmla="*/ 1963418 w 2362200"/>
              <a:gd name="connsiteY2" fmla="*/ 0 h 1432560"/>
              <a:gd name="connsiteX3" fmla="*/ 2362200 w 2362200"/>
              <a:gd name="connsiteY3" fmla="*/ 398782 h 1432560"/>
              <a:gd name="connsiteX4" fmla="*/ 2362200 w 2362200"/>
              <a:gd name="connsiteY4" fmla="*/ 1033778 h 1432560"/>
              <a:gd name="connsiteX5" fmla="*/ 1963418 w 2362200"/>
              <a:gd name="connsiteY5" fmla="*/ 1432560 h 1432560"/>
              <a:gd name="connsiteX6" fmla="*/ 406402 w 2362200"/>
              <a:gd name="connsiteY6" fmla="*/ 1432560 h 1432560"/>
              <a:gd name="connsiteX7" fmla="*/ 7620 w 2362200"/>
              <a:gd name="connsiteY7" fmla="*/ 1033778 h 1432560"/>
              <a:gd name="connsiteX8" fmla="*/ 0 w 2362200"/>
              <a:gd name="connsiteY8" fmla="*/ 17782 h 1432560"/>
              <a:gd name="connsiteX0" fmla="*/ 0 w 2362200"/>
              <a:gd name="connsiteY0" fmla="*/ 2542 h 1432560"/>
              <a:gd name="connsiteX1" fmla="*/ 406402 w 2362200"/>
              <a:gd name="connsiteY1" fmla="*/ 0 h 1432560"/>
              <a:gd name="connsiteX2" fmla="*/ 1963418 w 2362200"/>
              <a:gd name="connsiteY2" fmla="*/ 0 h 1432560"/>
              <a:gd name="connsiteX3" fmla="*/ 2362200 w 2362200"/>
              <a:gd name="connsiteY3" fmla="*/ 398782 h 1432560"/>
              <a:gd name="connsiteX4" fmla="*/ 2362200 w 2362200"/>
              <a:gd name="connsiteY4" fmla="*/ 1033778 h 1432560"/>
              <a:gd name="connsiteX5" fmla="*/ 1963418 w 2362200"/>
              <a:gd name="connsiteY5" fmla="*/ 1432560 h 1432560"/>
              <a:gd name="connsiteX6" fmla="*/ 406402 w 2362200"/>
              <a:gd name="connsiteY6" fmla="*/ 1432560 h 1432560"/>
              <a:gd name="connsiteX7" fmla="*/ 7620 w 2362200"/>
              <a:gd name="connsiteY7" fmla="*/ 1033778 h 1432560"/>
              <a:gd name="connsiteX8" fmla="*/ 0 w 2362200"/>
              <a:gd name="connsiteY8" fmla="*/ 2542 h 1432560"/>
              <a:gd name="connsiteX0" fmla="*/ 0 w 2354580"/>
              <a:gd name="connsiteY0" fmla="*/ 17782 h 1432560"/>
              <a:gd name="connsiteX1" fmla="*/ 398782 w 2354580"/>
              <a:gd name="connsiteY1" fmla="*/ 0 h 1432560"/>
              <a:gd name="connsiteX2" fmla="*/ 1955798 w 2354580"/>
              <a:gd name="connsiteY2" fmla="*/ 0 h 1432560"/>
              <a:gd name="connsiteX3" fmla="*/ 2354580 w 2354580"/>
              <a:gd name="connsiteY3" fmla="*/ 398782 h 1432560"/>
              <a:gd name="connsiteX4" fmla="*/ 2354580 w 2354580"/>
              <a:gd name="connsiteY4" fmla="*/ 1033778 h 1432560"/>
              <a:gd name="connsiteX5" fmla="*/ 1955798 w 2354580"/>
              <a:gd name="connsiteY5" fmla="*/ 1432560 h 1432560"/>
              <a:gd name="connsiteX6" fmla="*/ 398782 w 2354580"/>
              <a:gd name="connsiteY6" fmla="*/ 1432560 h 1432560"/>
              <a:gd name="connsiteX7" fmla="*/ 0 w 2354580"/>
              <a:gd name="connsiteY7" fmla="*/ 1033778 h 1432560"/>
              <a:gd name="connsiteX8" fmla="*/ 0 w 2354580"/>
              <a:gd name="connsiteY8" fmla="*/ 17782 h 1432560"/>
              <a:gd name="connsiteX0" fmla="*/ 0 w 2354580"/>
              <a:gd name="connsiteY0" fmla="*/ 0 h 1433828"/>
              <a:gd name="connsiteX1" fmla="*/ 398782 w 2354580"/>
              <a:gd name="connsiteY1" fmla="*/ 1268 h 1433828"/>
              <a:gd name="connsiteX2" fmla="*/ 1955798 w 2354580"/>
              <a:gd name="connsiteY2" fmla="*/ 1268 h 1433828"/>
              <a:gd name="connsiteX3" fmla="*/ 2354580 w 2354580"/>
              <a:gd name="connsiteY3" fmla="*/ 400050 h 1433828"/>
              <a:gd name="connsiteX4" fmla="*/ 2354580 w 2354580"/>
              <a:gd name="connsiteY4" fmla="*/ 1035046 h 1433828"/>
              <a:gd name="connsiteX5" fmla="*/ 1955798 w 2354580"/>
              <a:gd name="connsiteY5" fmla="*/ 1433828 h 1433828"/>
              <a:gd name="connsiteX6" fmla="*/ 398782 w 2354580"/>
              <a:gd name="connsiteY6" fmla="*/ 1433828 h 1433828"/>
              <a:gd name="connsiteX7" fmla="*/ 0 w 2354580"/>
              <a:gd name="connsiteY7" fmla="*/ 1035046 h 1433828"/>
              <a:gd name="connsiteX8" fmla="*/ 0 w 2354580"/>
              <a:gd name="connsiteY8" fmla="*/ 0 h 1433828"/>
              <a:gd name="connsiteX0" fmla="*/ 4763 w 2354580"/>
              <a:gd name="connsiteY0" fmla="*/ 3494 h 1432560"/>
              <a:gd name="connsiteX1" fmla="*/ 398782 w 2354580"/>
              <a:gd name="connsiteY1" fmla="*/ 0 h 1432560"/>
              <a:gd name="connsiteX2" fmla="*/ 1955798 w 2354580"/>
              <a:gd name="connsiteY2" fmla="*/ 0 h 1432560"/>
              <a:gd name="connsiteX3" fmla="*/ 2354580 w 2354580"/>
              <a:gd name="connsiteY3" fmla="*/ 398782 h 1432560"/>
              <a:gd name="connsiteX4" fmla="*/ 2354580 w 2354580"/>
              <a:gd name="connsiteY4" fmla="*/ 1033778 h 1432560"/>
              <a:gd name="connsiteX5" fmla="*/ 1955798 w 2354580"/>
              <a:gd name="connsiteY5" fmla="*/ 1432560 h 1432560"/>
              <a:gd name="connsiteX6" fmla="*/ 398782 w 2354580"/>
              <a:gd name="connsiteY6" fmla="*/ 1432560 h 1432560"/>
              <a:gd name="connsiteX7" fmla="*/ 0 w 2354580"/>
              <a:gd name="connsiteY7" fmla="*/ 1033778 h 1432560"/>
              <a:gd name="connsiteX8" fmla="*/ 4763 w 2354580"/>
              <a:gd name="connsiteY8" fmla="*/ 3494 h 1432560"/>
              <a:gd name="connsiteX0" fmla="*/ 2382 w 2354580"/>
              <a:gd name="connsiteY0" fmla="*/ 0 h 1436210"/>
              <a:gd name="connsiteX1" fmla="*/ 398782 w 2354580"/>
              <a:gd name="connsiteY1" fmla="*/ 3650 h 1436210"/>
              <a:gd name="connsiteX2" fmla="*/ 1955798 w 2354580"/>
              <a:gd name="connsiteY2" fmla="*/ 3650 h 1436210"/>
              <a:gd name="connsiteX3" fmla="*/ 2354580 w 2354580"/>
              <a:gd name="connsiteY3" fmla="*/ 402432 h 1436210"/>
              <a:gd name="connsiteX4" fmla="*/ 2354580 w 2354580"/>
              <a:gd name="connsiteY4" fmla="*/ 1037428 h 1436210"/>
              <a:gd name="connsiteX5" fmla="*/ 1955798 w 2354580"/>
              <a:gd name="connsiteY5" fmla="*/ 1436210 h 1436210"/>
              <a:gd name="connsiteX6" fmla="*/ 398782 w 2354580"/>
              <a:gd name="connsiteY6" fmla="*/ 1436210 h 1436210"/>
              <a:gd name="connsiteX7" fmla="*/ 0 w 2354580"/>
              <a:gd name="connsiteY7" fmla="*/ 1037428 h 1436210"/>
              <a:gd name="connsiteX8" fmla="*/ 2382 w 2354580"/>
              <a:gd name="connsiteY8" fmla="*/ 0 h 1436210"/>
              <a:gd name="connsiteX0" fmla="*/ 4763 w 2354580"/>
              <a:gd name="connsiteY0" fmla="*/ 5875 h 1432560"/>
              <a:gd name="connsiteX1" fmla="*/ 398782 w 2354580"/>
              <a:gd name="connsiteY1" fmla="*/ 0 h 1432560"/>
              <a:gd name="connsiteX2" fmla="*/ 1955798 w 2354580"/>
              <a:gd name="connsiteY2" fmla="*/ 0 h 1432560"/>
              <a:gd name="connsiteX3" fmla="*/ 2354580 w 2354580"/>
              <a:gd name="connsiteY3" fmla="*/ 398782 h 1432560"/>
              <a:gd name="connsiteX4" fmla="*/ 2354580 w 2354580"/>
              <a:gd name="connsiteY4" fmla="*/ 1033778 h 1432560"/>
              <a:gd name="connsiteX5" fmla="*/ 1955798 w 2354580"/>
              <a:gd name="connsiteY5" fmla="*/ 1432560 h 1432560"/>
              <a:gd name="connsiteX6" fmla="*/ 398782 w 2354580"/>
              <a:gd name="connsiteY6" fmla="*/ 1432560 h 1432560"/>
              <a:gd name="connsiteX7" fmla="*/ 0 w 2354580"/>
              <a:gd name="connsiteY7" fmla="*/ 1033778 h 1432560"/>
              <a:gd name="connsiteX8" fmla="*/ 4763 w 2354580"/>
              <a:gd name="connsiteY8" fmla="*/ 5875 h 1432560"/>
              <a:gd name="connsiteX0" fmla="*/ 4763 w 2354580"/>
              <a:gd name="connsiteY0" fmla="*/ 0 h 1433829"/>
              <a:gd name="connsiteX1" fmla="*/ 398782 w 2354580"/>
              <a:gd name="connsiteY1" fmla="*/ 1269 h 1433829"/>
              <a:gd name="connsiteX2" fmla="*/ 1955798 w 2354580"/>
              <a:gd name="connsiteY2" fmla="*/ 1269 h 1433829"/>
              <a:gd name="connsiteX3" fmla="*/ 2354580 w 2354580"/>
              <a:gd name="connsiteY3" fmla="*/ 400051 h 1433829"/>
              <a:gd name="connsiteX4" fmla="*/ 2354580 w 2354580"/>
              <a:gd name="connsiteY4" fmla="*/ 1035047 h 1433829"/>
              <a:gd name="connsiteX5" fmla="*/ 1955798 w 2354580"/>
              <a:gd name="connsiteY5" fmla="*/ 1433829 h 1433829"/>
              <a:gd name="connsiteX6" fmla="*/ 398782 w 2354580"/>
              <a:gd name="connsiteY6" fmla="*/ 1433829 h 1433829"/>
              <a:gd name="connsiteX7" fmla="*/ 0 w 2354580"/>
              <a:gd name="connsiteY7" fmla="*/ 1035047 h 1433829"/>
              <a:gd name="connsiteX8" fmla="*/ 4763 w 2354580"/>
              <a:gd name="connsiteY8" fmla="*/ 0 h 1433829"/>
              <a:gd name="connsiteX0" fmla="*/ 4763 w 2354580"/>
              <a:gd name="connsiteY0" fmla="*/ 0 h 1433829"/>
              <a:gd name="connsiteX1" fmla="*/ 398782 w 2354580"/>
              <a:gd name="connsiteY1" fmla="*/ 1269 h 1433829"/>
              <a:gd name="connsiteX2" fmla="*/ 1955798 w 2354580"/>
              <a:gd name="connsiteY2" fmla="*/ 1269 h 1433829"/>
              <a:gd name="connsiteX3" fmla="*/ 2354580 w 2354580"/>
              <a:gd name="connsiteY3" fmla="*/ 400051 h 1433829"/>
              <a:gd name="connsiteX4" fmla="*/ 2354580 w 2354580"/>
              <a:gd name="connsiteY4" fmla="*/ 1035047 h 1433829"/>
              <a:gd name="connsiteX5" fmla="*/ 1955798 w 2354580"/>
              <a:gd name="connsiteY5" fmla="*/ 1433829 h 1433829"/>
              <a:gd name="connsiteX6" fmla="*/ 398782 w 2354580"/>
              <a:gd name="connsiteY6" fmla="*/ 1433829 h 1433829"/>
              <a:gd name="connsiteX7" fmla="*/ 0 w 2354580"/>
              <a:gd name="connsiteY7" fmla="*/ 1035047 h 1433829"/>
              <a:gd name="connsiteX8" fmla="*/ 4763 w 2354580"/>
              <a:gd name="connsiteY8" fmla="*/ 0 h 1433829"/>
              <a:gd name="connsiteX0" fmla="*/ 4763 w 2354580"/>
              <a:gd name="connsiteY0" fmla="*/ 0 h 1433829"/>
              <a:gd name="connsiteX1" fmla="*/ 398782 w 2354580"/>
              <a:gd name="connsiteY1" fmla="*/ 1269 h 1433829"/>
              <a:gd name="connsiteX2" fmla="*/ 1955798 w 2354580"/>
              <a:gd name="connsiteY2" fmla="*/ 1269 h 1433829"/>
              <a:gd name="connsiteX3" fmla="*/ 2354580 w 2354580"/>
              <a:gd name="connsiteY3" fmla="*/ 400051 h 1433829"/>
              <a:gd name="connsiteX4" fmla="*/ 2354580 w 2354580"/>
              <a:gd name="connsiteY4" fmla="*/ 1035047 h 1433829"/>
              <a:gd name="connsiteX5" fmla="*/ 1955798 w 2354580"/>
              <a:gd name="connsiteY5" fmla="*/ 1433829 h 1433829"/>
              <a:gd name="connsiteX6" fmla="*/ 398782 w 2354580"/>
              <a:gd name="connsiteY6" fmla="*/ 1433829 h 1433829"/>
              <a:gd name="connsiteX7" fmla="*/ 0 w 2354580"/>
              <a:gd name="connsiteY7" fmla="*/ 1035047 h 1433829"/>
              <a:gd name="connsiteX8" fmla="*/ 4763 w 2354580"/>
              <a:gd name="connsiteY8" fmla="*/ 0 h 1433829"/>
              <a:gd name="connsiteX0" fmla="*/ 4763 w 2432776"/>
              <a:gd name="connsiteY0" fmla="*/ 0 h 1433829"/>
              <a:gd name="connsiteX1" fmla="*/ 398782 w 2432776"/>
              <a:gd name="connsiteY1" fmla="*/ 1269 h 1433829"/>
              <a:gd name="connsiteX2" fmla="*/ 1955798 w 2432776"/>
              <a:gd name="connsiteY2" fmla="*/ 1269 h 1433829"/>
              <a:gd name="connsiteX3" fmla="*/ 2354580 w 2432776"/>
              <a:gd name="connsiteY3" fmla="*/ 400051 h 1433829"/>
              <a:gd name="connsiteX4" fmla="*/ 2354580 w 2432776"/>
              <a:gd name="connsiteY4" fmla="*/ 1035047 h 1433829"/>
              <a:gd name="connsiteX5" fmla="*/ 2327273 w 2432776"/>
              <a:gd name="connsiteY5" fmla="*/ 1433829 h 1433829"/>
              <a:gd name="connsiteX6" fmla="*/ 398782 w 2432776"/>
              <a:gd name="connsiteY6" fmla="*/ 1433829 h 1433829"/>
              <a:gd name="connsiteX7" fmla="*/ 0 w 2432776"/>
              <a:gd name="connsiteY7" fmla="*/ 1035047 h 1433829"/>
              <a:gd name="connsiteX8" fmla="*/ 4763 w 2432776"/>
              <a:gd name="connsiteY8" fmla="*/ 0 h 1433829"/>
              <a:gd name="connsiteX0" fmla="*/ 4763 w 2441222"/>
              <a:gd name="connsiteY0" fmla="*/ 0 h 1433829"/>
              <a:gd name="connsiteX1" fmla="*/ 398782 w 2441222"/>
              <a:gd name="connsiteY1" fmla="*/ 1269 h 1433829"/>
              <a:gd name="connsiteX2" fmla="*/ 1955798 w 2441222"/>
              <a:gd name="connsiteY2" fmla="*/ 1269 h 1433829"/>
              <a:gd name="connsiteX3" fmla="*/ 2354580 w 2441222"/>
              <a:gd name="connsiteY3" fmla="*/ 400051 h 1433829"/>
              <a:gd name="connsiteX4" fmla="*/ 2354580 w 2441222"/>
              <a:gd name="connsiteY4" fmla="*/ 1035047 h 1433829"/>
              <a:gd name="connsiteX5" fmla="*/ 2339179 w 2441222"/>
              <a:gd name="connsiteY5" fmla="*/ 1431447 h 1433829"/>
              <a:gd name="connsiteX6" fmla="*/ 398782 w 2441222"/>
              <a:gd name="connsiteY6" fmla="*/ 1433829 h 1433829"/>
              <a:gd name="connsiteX7" fmla="*/ 0 w 2441222"/>
              <a:gd name="connsiteY7" fmla="*/ 1035047 h 1433829"/>
              <a:gd name="connsiteX8" fmla="*/ 4763 w 2441222"/>
              <a:gd name="connsiteY8" fmla="*/ 0 h 1433829"/>
              <a:gd name="connsiteX0" fmla="*/ 4763 w 2449885"/>
              <a:gd name="connsiteY0" fmla="*/ 0 h 1433829"/>
              <a:gd name="connsiteX1" fmla="*/ 398782 w 2449885"/>
              <a:gd name="connsiteY1" fmla="*/ 1269 h 1433829"/>
              <a:gd name="connsiteX2" fmla="*/ 1955798 w 2449885"/>
              <a:gd name="connsiteY2" fmla="*/ 1269 h 1433829"/>
              <a:gd name="connsiteX3" fmla="*/ 2354580 w 2449885"/>
              <a:gd name="connsiteY3" fmla="*/ 400051 h 1433829"/>
              <a:gd name="connsiteX4" fmla="*/ 2354580 w 2449885"/>
              <a:gd name="connsiteY4" fmla="*/ 1035047 h 1433829"/>
              <a:gd name="connsiteX5" fmla="*/ 2351086 w 2449885"/>
              <a:gd name="connsiteY5" fmla="*/ 1433828 h 1433829"/>
              <a:gd name="connsiteX6" fmla="*/ 398782 w 2449885"/>
              <a:gd name="connsiteY6" fmla="*/ 1433829 h 1433829"/>
              <a:gd name="connsiteX7" fmla="*/ 0 w 2449885"/>
              <a:gd name="connsiteY7" fmla="*/ 1035047 h 1433829"/>
              <a:gd name="connsiteX8" fmla="*/ 4763 w 2449885"/>
              <a:gd name="connsiteY8" fmla="*/ 0 h 1433829"/>
              <a:gd name="connsiteX0" fmla="*/ 4763 w 2355967"/>
              <a:gd name="connsiteY0" fmla="*/ 0 h 1433829"/>
              <a:gd name="connsiteX1" fmla="*/ 398782 w 2355967"/>
              <a:gd name="connsiteY1" fmla="*/ 1269 h 1433829"/>
              <a:gd name="connsiteX2" fmla="*/ 1955798 w 2355967"/>
              <a:gd name="connsiteY2" fmla="*/ 1269 h 1433829"/>
              <a:gd name="connsiteX3" fmla="*/ 2354580 w 2355967"/>
              <a:gd name="connsiteY3" fmla="*/ 400051 h 1433829"/>
              <a:gd name="connsiteX4" fmla="*/ 2354580 w 2355967"/>
              <a:gd name="connsiteY4" fmla="*/ 1035047 h 1433829"/>
              <a:gd name="connsiteX5" fmla="*/ 2351086 w 2355967"/>
              <a:gd name="connsiteY5" fmla="*/ 1433828 h 1433829"/>
              <a:gd name="connsiteX6" fmla="*/ 398782 w 2355967"/>
              <a:gd name="connsiteY6" fmla="*/ 1433829 h 1433829"/>
              <a:gd name="connsiteX7" fmla="*/ 0 w 2355967"/>
              <a:gd name="connsiteY7" fmla="*/ 1035047 h 1433829"/>
              <a:gd name="connsiteX8" fmla="*/ 4763 w 2355967"/>
              <a:gd name="connsiteY8" fmla="*/ 0 h 14338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355967" h="1433829">
                <a:moveTo>
                  <a:pt x="4763" y="0"/>
                </a:moveTo>
                <a:cubicBezTo>
                  <a:pt x="30957" y="1215"/>
                  <a:pt x="178541" y="1269"/>
                  <a:pt x="398782" y="1269"/>
                </a:cubicBezTo>
                <a:lnTo>
                  <a:pt x="1955798" y="1269"/>
                </a:lnTo>
                <a:cubicBezTo>
                  <a:pt x="2176039" y="1269"/>
                  <a:pt x="2354580" y="179810"/>
                  <a:pt x="2354580" y="400051"/>
                </a:cubicBezTo>
                <a:lnTo>
                  <a:pt x="2354580" y="1035047"/>
                </a:lnTo>
                <a:cubicBezTo>
                  <a:pt x="2354580" y="1255288"/>
                  <a:pt x="2359396" y="1431446"/>
                  <a:pt x="2351086" y="1433828"/>
                </a:cubicBezTo>
                <a:lnTo>
                  <a:pt x="398782" y="1433829"/>
                </a:lnTo>
                <a:cubicBezTo>
                  <a:pt x="178541" y="1433829"/>
                  <a:pt x="0" y="1255288"/>
                  <a:pt x="0" y="1035047"/>
                </a:cubicBezTo>
                <a:cubicBezTo>
                  <a:pt x="1588" y="691619"/>
                  <a:pt x="3175" y="343428"/>
                  <a:pt x="4763" y="0"/>
                </a:cubicBezTo>
                <a:close/>
              </a:path>
            </a:pathLst>
          </a:custGeom>
          <a:noFill/>
          <a:ln w="19050">
            <a:solidFill>
              <a:srgbClr val="112A40"/>
            </a:solidFill>
          </a:ln>
        </p:spPr>
        <p:style>
          <a:lnRef idx="2">
            <a:schemeClr val="accent1">
              <a:shade val="50000"/>
            </a:schemeClr>
          </a:lnRef>
          <a:fillRef idx="1">
            <a:schemeClr val="accent1"/>
          </a:fillRef>
          <a:effectRef idx="0">
            <a:schemeClr val="accent1"/>
          </a:effectRef>
          <a:fontRef idx="minor">
            <a:schemeClr val="lt1"/>
          </a:fontRef>
        </p:style>
        <p:txBody>
          <a:bodyPr lIns="91440" tIns="91440" rIns="91440" bIns="91440" rtlCol="0" anchor="ctr">
            <a:noAutofit/>
          </a:bodyPr>
          <a:lstStyle/>
          <a:p>
            <a:pPr algn="ctr"/>
            <a:endParaRPr lang="fr-CI" sz="1400" noProof="0">
              <a:solidFill>
                <a:schemeClr val="tx2"/>
              </a:solidFill>
            </a:endParaRPr>
          </a:p>
        </p:txBody>
      </p:sp>
      <p:sp>
        <p:nvSpPr>
          <p:cNvPr id="5" name="Rounded Rectangle 5">
            <a:extLst>
              <a:ext uri="{FF2B5EF4-FFF2-40B4-BE49-F238E27FC236}">
                <a16:creationId xmlns:a16="http://schemas.microsoft.com/office/drawing/2014/main" id="{91CD7C4B-BFBA-DBCC-083F-B9F54E841171}"/>
              </a:ext>
            </a:extLst>
          </p:cNvPr>
          <p:cNvSpPr/>
          <p:nvPr/>
        </p:nvSpPr>
        <p:spPr>
          <a:xfrm flipV="1">
            <a:off x="6514797" y="1769837"/>
            <a:ext cx="2434660" cy="1710001"/>
          </a:xfrm>
          <a:custGeom>
            <a:avLst/>
            <a:gdLst>
              <a:gd name="connsiteX0" fmla="*/ 0 w 2354580"/>
              <a:gd name="connsiteY0" fmla="*/ 398782 h 1432560"/>
              <a:gd name="connsiteX1" fmla="*/ 398782 w 2354580"/>
              <a:gd name="connsiteY1" fmla="*/ 0 h 1432560"/>
              <a:gd name="connsiteX2" fmla="*/ 1955798 w 2354580"/>
              <a:gd name="connsiteY2" fmla="*/ 0 h 1432560"/>
              <a:gd name="connsiteX3" fmla="*/ 2354580 w 2354580"/>
              <a:gd name="connsiteY3" fmla="*/ 398782 h 1432560"/>
              <a:gd name="connsiteX4" fmla="*/ 2354580 w 2354580"/>
              <a:gd name="connsiteY4" fmla="*/ 1033778 h 1432560"/>
              <a:gd name="connsiteX5" fmla="*/ 1955798 w 2354580"/>
              <a:gd name="connsiteY5" fmla="*/ 1432560 h 1432560"/>
              <a:gd name="connsiteX6" fmla="*/ 398782 w 2354580"/>
              <a:gd name="connsiteY6" fmla="*/ 1432560 h 1432560"/>
              <a:gd name="connsiteX7" fmla="*/ 0 w 2354580"/>
              <a:gd name="connsiteY7" fmla="*/ 1033778 h 1432560"/>
              <a:gd name="connsiteX8" fmla="*/ 0 w 2354580"/>
              <a:gd name="connsiteY8" fmla="*/ 398782 h 1432560"/>
              <a:gd name="connsiteX0" fmla="*/ 0 w 2362200"/>
              <a:gd name="connsiteY0" fmla="*/ 102717 h 1517495"/>
              <a:gd name="connsiteX1" fmla="*/ 406402 w 2362200"/>
              <a:gd name="connsiteY1" fmla="*/ 84935 h 1517495"/>
              <a:gd name="connsiteX2" fmla="*/ 1963418 w 2362200"/>
              <a:gd name="connsiteY2" fmla="*/ 84935 h 1517495"/>
              <a:gd name="connsiteX3" fmla="*/ 2362200 w 2362200"/>
              <a:gd name="connsiteY3" fmla="*/ 483717 h 1517495"/>
              <a:gd name="connsiteX4" fmla="*/ 2362200 w 2362200"/>
              <a:gd name="connsiteY4" fmla="*/ 1118713 h 1517495"/>
              <a:gd name="connsiteX5" fmla="*/ 1963418 w 2362200"/>
              <a:gd name="connsiteY5" fmla="*/ 1517495 h 1517495"/>
              <a:gd name="connsiteX6" fmla="*/ 406402 w 2362200"/>
              <a:gd name="connsiteY6" fmla="*/ 1517495 h 1517495"/>
              <a:gd name="connsiteX7" fmla="*/ 7620 w 2362200"/>
              <a:gd name="connsiteY7" fmla="*/ 1118713 h 1517495"/>
              <a:gd name="connsiteX8" fmla="*/ 0 w 2362200"/>
              <a:gd name="connsiteY8" fmla="*/ 102717 h 1517495"/>
              <a:gd name="connsiteX0" fmla="*/ 0 w 2362200"/>
              <a:gd name="connsiteY0" fmla="*/ 17782 h 1432560"/>
              <a:gd name="connsiteX1" fmla="*/ 406402 w 2362200"/>
              <a:gd name="connsiteY1" fmla="*/ 0 h 1432560"/>
              <a:gd name="connsiteX2" fmla="*/ 1963418 w 2362200"/>
              <a:gd name="connsiteY2" fmla="*/ 0 h 1432560"/>
              <a:gd name="connsiteX3" fmla="*/ 2362200 w 2362200"/>
              <a:gd name="connsiteY3" fmla="*/ 398782 h 1432560"/>
              <a:gd name="connsiteX4" fmla="*/ 2362200 w 2362200"/>
              <a:gd name="connsiteY4" fmla="*/ 1033778 h 1432560"/>
              <a:gd name="connsiteX5" fmla="*/ 1963418 w 2362200"/>
              <a:gd name="connsiteY5" fmla="*/ 1432560 h 1432560"/>
              <a:gd name="connsiteX6" fmla="*/ 406402 w 2362200"/>
              <a:gd name="connsiteY6" fmla="*/ 1432560 h 1432560"/>
              <a:gd name="connsiteX7" fmla="*/ 7620 w 2362200"/>
              <a:gd name="connsiteY7" fmla="*/ 1033778 h 1432560"/>
              <a:gd name="connsiteX8" fmla="*/ 0 w 2362200"/>
              <a:gd name="connsiteY8" fmla="*/ 17782 h 1432560"/>
              <a:gd name="connsiteX0" fmla="*/ 0 w 2362200"/>
              <a:gd name="connsiteY0" fmla="*/ 2542 h 1432560"/>
              <a:gd name="connsiteX1" fmla="*/ 406402 w 2362200"/>
              <a:gd name="connsiteY1" fmla="*/ 0 h 1432560"/>
              <a:gd name="connsiteX2" fmla="*/ 1963418 w 2362200"/>
              <a:gd name="connsiteY2" fmla="*/ 0 h 1432560"/>
              <a:gd name="connsiteX3" fmla="*/ 2362200 w 2362200"/>
              <a:gd name="connsiteY3" fmla="*/ 398782 h 1432560"/>
              <a:gd name="connsiteX4" fmla="*/ 2362200 w 2362200"/>
              <a:gd name="connsiteY4" fmla="*/ 1033778 h 1432560"/>
              <a:gd name="connsiteX5" fmla="*/ 1963418 w 2362200"/>
              <a:gd name="connsiteY5" fmla="*/ 1432560 h 1432560"/>
              <a:gd name="connsiteX6" fmla="*/ 406402 w 2362200"/>
              <a:gd name="connsiteY6" fmla="*/ 1432560 h 1432560"/>
              <a:gd name="connsiteX7" fmla="*/ 7620 w 2362200"/>
              <a:gd name="connsiteY7" fmla="*/ 1033778 h 1432560"/>
              <a:gd name="connsiteX8" fmla="*/ 0 w 2362200"/>
              <a:gd name="connsiteY8" fmla="*/ 2542 h 1432560"/>
              <a:gd name="connsiteX0" fmla="*/ 0 w 2354580"/>
              <a:gd name="connsiteY0" fmla="*/ 17782 h 1432560"/>
              <a:gd name="connsiteX1" fmla="*/ 398782 w 2354580"/>
              <a:gd name="connsiteY1" fmla="*/ 0 h 1432560"/>
              <a:gd name="connsiteX2" fmla="*/ 1955798 w 2354580"/>
              <a:gd name="connsiteY2" fmla="*/ 0 h 1432560"/>
              <a:gd name="connsiteX3" fmla="*/ 2354580 w 2354580"/>
              <a:gd name="connsiteY3" fmla="*/ 398782 h 1432560"/>
              <a:gd name="connsiteX4" fmla="*/ 2354580 w 2354580"/>
              <a:gd name="connsiteY4" fmla="*/ 1033778 h 1432560"/>
              <a:gd name="connsiteX5" fmla="*/ 1955798 w 2354580"/>
              <a:gd name="connsiteY5" fmla="*/ 1432560 h 1432560"/>
              <a:gd name="connsiteX6" fmla="*/ 398782 w 2354580"/>
              <a:gd name="connsiteY6" fmla="*/ 1432560 h 1432560"/>
              <a:gd name="connsiteX7" fmla="*/ 0 w 2354580"/>
              <a:gd name="connsiteY7" fmla="*/ 1033778 h 1432560"/>
              <a:gd name="connsiteX8" fmla="*/ 0 w 2354580"/>
              <a:gd name="connsiteY8" fmla="*/ 17782 h 1432560"/>
              <a:gd name="connsiteX0" fmla="*/ 0 w 2354580"/>
              <a:gd name="connsiteY0" fmla="*/ 0 h 1433828"/>
              <a:gd name="connsiteX1" fmla="*/ 398782 w 2354580"/>
              <a:gd name="connsiteY1" fmla="*/ 1268 h 1433828"/>
              <a:gd name="connsiteX2" fmla="*/ 1955798 w 2354580"/>
              <a:gd name="connsiteY2" fmla="*/ 1268 h 1433828"/>
              <a:gd name="connsiteX3" fmla="*/ 2354580 w 2354580"/>
              <a:gd name="connsiteY3" fmla="*/ 400050 h 1433828"/>
              <a:gd name="connsiteX4" fmla="*/ 2354580 w 2354580"/>
              <a:gd name="connsiteY4" fmla="*/ 1035046 h 1433828"/>
              <a:gd name="connsiteX5" fmla="*/ 1955798 w 2354580"/>
              <a:gd name="connsiteY5" fmla="*/ 1433828 h 1433828"/>
              <a:gd name="connsiteX6" fmla="*/ 398782 w 2354580"/>
              <a:gd name="connsiteY6" fmla="*/ 1433828 h 1433828"/>
              <a:gd name="connsiteX7" fmla="*/ 0 w 2354580"/>
              <a:gd name="connsiteY7" fmla="*/ 1035046 h 1433828"/>
              <a:gd name="connsiteX8" fmla="*/ 0 w 2354580"/>
              <a:gd name="connsiteY8" fmla="*/ 0 h 1433828"/>
              <a:gd name="connsiteX0" fmla="*/ 4763 w 2354580"/>
              <a:gd name="connsiteY0" fmla="*/ 3494 h 1432560"/>
              <a:gd name="connsiteX1" fmla="*/ 398782 w 2354580"/>
              <a:gd name="connsiteY1" fmla="*/ 0 h 1432560"/>
              <a:gd name="connsiteX2" fmla="*/ 1955798 w 2354580"/>
              <a:gd name="connsiteY2" fmla="*/ 0 h 1432560"/>
              <a:gd name="connsiteX3" fmla="*/ 2354580 w 2354580"/>
              <a:gd name="connsiteY3" fmla="*/ 398782 h 1432560"/>
              <a:gd name="connsiteX4" fmla="*/ 2354580 w 2354580"/>
              <a:gd name="connsiteY4" fmla="*/ 1033778 h 1432560"/>
              <a:gd name="connsiteX5" fmla="*/ 1955798 w 2354580"/>
              <a:gd name="connsiteY5" fmla="*/ 1432560 h 1432560"/>
              <a:gd name="connsiteX6" fmla="*/ 398782 w 2354580"/>
              <a:gd name="connsiteY6" fmla="*/ 1432560 h 1432560"/>
              <a:gd name="connsiteX7" fmla="*/ 0 w 2354580"/>
              <a:gd name="connsiteY7" fmla="*/ 1033778 h 1432560"/>
              <a:gd name="connsiteX8" fmla="*/ 4763 w 2354580"/>
              <a:gd name="connsiteY8" fmla="*/ 3494 h 1432560"/>
              <a:gd name="connsiteX0" fmla="*/ 2382 w 2354580"/>
              <a:gd name="connsiteY0" fmla="*/ 0 h 1436210"/>
              <a:gd name="connsiteX1" fmla="*/ 398782 w 2354580"/>
              <a:gd name="connsiteY1" fmla="*/ 3650 h 1436210"/>
              <a:gd name="connsiteX2" fmla="*/ 1955798 w 2354580"/>
              <a:gd name="connsiteY2" fmla="*/ 3650 h 1436210"/>
              <a:gd name="connsiteX3" fmla="*/ 2354580 w 2354580"/>
              <a:gd name="connsiteY3" fmla="*/ 402432 h 1436210"/>
              <a:gd name="connsiteX4" fmla="*/ 2354580 w 2354580"/>
              <a:gd name="connsiteY4" fmla="*/ 1037428 h 1436210"/>
              <a:gd name="connsiteX5" fmla="*/ 1955798 w 2354580"/>
              <a:gd name="connsiteY5" fmla="*/ 1436210 h 1436210"/>
              <a:gd name="connsiteX6" fmla="*/ 398782 w 2354580"/>
              <a:gd name="connsiteY6" fmla="*/ 1436210 h 1436210"/>
              <a:gd name="connsiteX7" fmla="*/ 0 w 2354580"/>
              <a:gd name="connsiteY7" fmla="*/ 1037428 h 1436210"/>
              <a:gd name="connsiteX8" fmla="*/ 2382 w 2354580"/>
              <a:gd name="connsiteY8" fmla="*/ 0 h 1436210"/>
              <a:gd name="connsiteX0" fmla="*/ 4763 w 2354580"/>
              <a:gd name="connsiteY0" fmla="*/ 5875 h 1432560"/>
              <a:gd name="connsiteX1" fmla="*/ 398782 w 2354580"/>
              <a:gd name="connsiteY1" fmla="*/ 0 h 1432560"/>
              <a:gd name="connsiteX2" fmla="*/ 1955798 w 2354580"/>
              <a:gd name="connsiteY2" fmla="*/ 0 h 1432560"/>
              <a:gd name="connsiteX3" fmla="*/ 2354580 w 2354580"/>
              <a:gd name="connsiteY3" fmla="*/ 398782 h 1432560"/>
              <a:gd name="connsiteX4" fmla="*/ 2354580 w 2354580"/>
              <a:gd name="connsiteY4" fmla="*/ 1033778 h 1432560"/>
              <a:gd name="connsiteX5" fmla="*/ 1955798 w 2354580"/>
              <a:gd name="connsiteY5" fmla="*/ 1432560 h 1432560"/>
              <a:gd name="connsiteX6" fmla="*/ 398782 w 2354580"/>
              <a:gd name="connsiteY6" fmla="*/ 1432560 h 1432560"/>
              <a:gd name="connsiteX7" fmla="*/ 0 w 2354580"/>
              <a:gd name="connsiteY7" fmla="*/ 1033778 h 1432560"/>
              <a:gd name="connsiteX8" fmla="*/ 4763 w 2354580"/>
              <a:gd name="connsiteY8" fmla="*/ 5875 h 1432560"/>
              <a:gd name="connsiteX0" fmla="*/ 4763 w 2354580"/>
              <a:gd name="connsiteY0" fmla="*/ 0 h 1433829"/>
              <a:gd name="connsiteX1" fmla="*/ 398782 w 2354580"/>
              <a:gd name="connsiteY1" fmla="*/ 1269 h 1433829"/>
              <a:gd name="connsiteX2" fmla="*/ 1955798 w 2354580"/>
              <a:gd name="connsiteY2" fmla="*/ 1269 h 1433829"/>
              <a:gd name="connsiteX3" fmla="*/ 2354580 w 2354580"/>
              <a:gd name="connsiteY3" fmla="*/ 400051 h 1433829"/>
              <a:gd name="connsiteX4" fmla="*/ 2354580 w 2354580"/>
              <a:gd name="connsiteY4" fmla="*/ 1035047 h 1433829"/>
              <a:gd name="connsiteX5" fmla="*/ 1955798 w 2354580"/>
              <a:gd name="connsiteY5" fmla="*/ 1433829 h 1433829"/>
              <a:gd name="connsiteX6" fmla="*/ 398782 w 2354580"/>
              <a:gd name="connsiteY6" fmla="*/ 1433829 h 1433829"/>
              <a:gd name="connsiteX7" fmla="*/ 0 w 2354580"/>
              <a:gd name="connsiteY7" fmla="*/ 1035047 h 1433829"/>
              <a:gd name="connsiteX8" fmla="*/ 4763 w 2354580"/>
              <a:gd name="connsiteY8" fmla="*/ 0 h 1433829"/>
              <a:gd name="connsiteX0" fmla="*/ 4763 w 2354580"/>
              <a:gd name="connsiteY0" fmla="*/ 0 h 1433829"/>
              <a:gd name="connsiteX1" fmla="*/ 398782 w 2354580"/>
              <a:gd name="connsiteY1" fmla="*/ 1269 h 1433829"/>
              <a:gd name="connsiteX2" fmla="*/ 1955798 w 2354580"/>
              <a:gd name="connsiteY2" fmla="*/ 1269 h 1433829"/>
              <a:gd name="connsiteX3" fmla="*/ 2354580 w 2354580"/>
              <a:gd name="connsiteY3" fmla="*/ 400051 h 1433829"/>
              <a:gd name="connsiteX4" fmla="*/ 2354580 w 2354580"/>
              <a:gd name="connsiteY4" fmla="*/ 1035047 h 1433829"/>
              <a:gd name="connsiteX5" fmla="*/ 1955798 w 2354580"/>
              <a:gd name="connsiteY5" fmla="*/ 1433829 h 1433829"/>
              <a:gd name="connsiteX6" fmla="*/ 398782 w 2354580"/>
              <a:gd name="connsiteY6" fmla="*/ 1433829 h 1433829"/>
              <a:gd name="connsiteX7" fmla="*/ 0 w 2354580"/>
              <a:gd name="connsiteY7" fmla="*/ 1035047 h 1433829"/>
              <a:gd name="connsiteX8" fmla="*/ 4763 w 2354580"/>
              <a:gd name="connsiteY8" fmla="*/ 0 h 1433829"/>
              <a:gd name="connsiteX0" fmla="*/ 4763 w 2354580"/>
              <a:gd name="connsiteY0" fmla="*/ 0 h 1433829"/>
              <a:gd name="connsiteX1" fmla="*/ 398782 w 2354580"/>
              <a:gd name="connsiteY1" fmla="*/ 1269 h 1433829"/>
              <a:gd name="connsiteX2" fmla="*/ 1955798 w 2354580"/>
              <a:gd name="connsiteY2" fmla="*/ 1269 h 1433829"/>
              <a:gd name="connsiteX3" fmla="*/ 2354580 w 2354580"/>
              <a:gd name="connsiteY3" fmla="*/ 400051 h 1433829"/>
              <a:gd name="connsiteX4" fmla="*/ 2354580 w 2354580"/>
              <a:gd name="connsiteY4" fmla="*/ 1035047 h 1433829"/>
              <a:gd name="connsiteX5" fmla="*/ 1955798 w 2354580"/>
              <a:gd name="connsiteY5" fmla="*/ 1433829 h 1433829"/>
              <a:gd name="connsiteX6" fmla="*/ 398782 w 2354580"/>
              <a:gd name="connsiteY6" fmla="*/ 1433829 h 1433829"/>
              <a:gd name="connsiteX7" fmla="*/ 0 w 2354580"/>
              <a:gd name="connsiteY7" fmla="*/ 1035047 h 1433829"/>
              <a:gd name="connsiteX8" fmla="*/ 4763 w 2354580"/>
              <a:gd name="connsiteY8" fmla="*/ 0 h 1433829"/>
              <a:gd name="connsiteX0" fmla="*/ 4763 w 2432776"/>
              <a:gd name="connsiteY0" fmla="*/ 0 h 1433829"/>
              <a:gd name="connsiteX1" fmla="*/ 398782 w 2432776"/>
              <a:gd name="connsiteY1" fmla="*/ 1269 h 1433829"/>
              <a:gd name="connsiteX2" fmla="*/ 1955798 w 2432776"/>
              <a:gd name="connsiteY2" fmla="*/ 1269 h 1433829"/>
              <a:gd name="connsiteX3" fmla="*/ 2354580 w 2432776"/>
              <a:gd name="connsiteY3" fmla="*/ 400051 h 1433829"/>
              <a:gd name="connsiteX4" fmla="*/ 2354580 w 2432776"/>
              <a:gd name="connsiteY4" fmla="*/ 1035047 h 1433829"/>
              <a:gd name="connsiteX5" fmla="*/ 2327273 w 2432776"/>
              <a:gd name="connsiteY5" fmla="*/ 1433829 h 1433829"/>
              <a:gd name="connsiteX6" fmla="*/ 398782 w 2432776"/>
              <a:gd name="connsiteY6" fmla="*/ 1433829 h 1433829"/>
              <a:gd name="connsiteX7" fmla="*/ 0 w 2432776"/>
              <a:gd name="connsiteY7" fmla="*/ 1035047 h 1433829"/>
              <a:gd name="connsiteX8" fmla="*/ 4763 w 2432776"/>
              <a:gd name="connsiteY8" fmla="*/ 0 h 1433829"/>
              <a:gd name="connsiteX0" fmla="*/ 4763 w 2441222"/>
              <a:gd name="connsiteY0" fmla="*/ 0 h 1433829"/>
              <a:gd name="connsiteX1" fmla="*/ 398782 w 2441222"/>
              <a:gd name="connsiteY1" fmla="*/ 1269 h 1433829"/>
              <a:gd name="connsiteX2" fmla="*/ 1955798 w 2441222"/>
              <a:gd name="connsiteY2" fmla="*/ 1269 h 1433829"/>
              <a:gd name="connsiteX3" fmla="*/ 2354580 w 2441222"/>
              <a:gd name="connsiteY3" fmla="*/ 400051 h 1433829"/>
              <a:gd name="connsiteX4" fmla="*/ 2354580 w 2441222"/>
              <a:gd name="connsiteY4" fmla="*/ 1035047 h 1433829"/>
              <a:gd name="connsiteX5" fmla="*/ 2339179 w 2441222"/>
              <a:gd name="connsiteY5" fmla="*/ 1431447 h 1433829"/>
              <a:gd name="connsiteX6" fmla="*/ 398782 w 2441222"/>
              <a:gd name="connsiteY6" fmla="*/ 1433829 h 1433829"/>
              <a:gd name="connsiteX7" fmla="*/ 0 w 2441222"/>
              <a:gd name="connsiteY7" fmla="*/ 1035047 h 1433829"/>
              <a:gd name="connsiteX8" fmla="*/ 4763 w 2441222"/>
              <a:gd name="connsiteY8" fmla="*/ 0 h 1433829"/>
              <a:gd name="connsiteX0" fmla="*/ 4763 w 2449885"/>
              <a:gd name="connsiteY0" fmla="*/ 0 h 1433829"/>
              <a:gd name="connsiteX1" fmla="*/ 398782 w 2449885"/>
              <a:gd name="connsiteY1" fmla="*/ 1269 h 1433829"/>
              <a:gd name="connsiteX2" fmla="*/ 1955798 w 2449885"/>
              <a:gd name="connsiteY2" fmla="*/ 1269 h 1433829"/>
              <a:gd name="connsiteX3" fmla="*/ 2354580 w 2449885"/>
              <a:gd name="connsiteY3" fmla="*/ 400051 h 1433829"/>
              <a:gd name="connsiteX4" fmla="*/ 2354580 w 2449885"/>
              <a:gd name="connsiteY4" fmla="*/ 1035047 h 1433829"/>
              <a:gd name="connsiteX5" fmla="*/ 2351086 w 2449885"/>
              <a:gd name="connsiteY5" fmla="*/ 1433828 h 1433829"/>
              <a:gd name="connsiteX6" fmla="*/ 398782 w 2449885"/>
              <a:gd name="connsiteY6" fmla="*/ 1433829 h 1433829"/>
              <a:gd name="connsiteX7" fmla="*/ 0 w 2449885"/>
              <a:gd name="connsiteY7" fmla="*/ 1035047 h 1433829"/>
              <a:gd name="connsiteX8" fmla="*/ 4763 w 2449885"/>
              <a:gd name="connsiteY8" fmla="*/ 0 h 1433829"/>
              <a:gd name="connsiteX0" fmla="*/ 4763 w 2355967"/>
              <a:gd name="connsiteY0" fmla="*/ 0 h 1433829"/>
              <a:gd name="connsiteX1" fmla="*/ 398782 w 2355967"/>
              <a:gd name="connsiteY1" fmla="*/ 1269 h 1433829"/>
              <a:gd name="connsiteX2" fmla="*/ 1955798 w 2355967"/>
              <a:gd name="connsiteY2" fmla="*/ 1269 h 1433829"/>
              <a:gd name="connsiteX3" fmla="*/ 2354580 w 2355967"/>
              <a:gd name="connsiteY3" fmla="*/ 400051 h 1433829"/>
              <a:gd name="connsiteX4" fmla="*/ 2354580 w 2355967"/>
              <a:gd name="connsiteY4" fmla="*/ 1035047 h 1433829"/>
              <a:gd name="connsiteX5" fmla="*/ 2351086 w 2355967"/>
              <a:gd name="connsiteY5" fmla="*/ 1433828 h 1433829"/>
              <a:gd name="connsiteX6" fmla="*/ 398782 w 2355967"/>
              <a:gd name="connsiteY6" fmla="*/ 1433829 h 1433829"/>
              <a:gd name="connsiteX7" fmla="*/ 0 w 2355967"/>
              <a:gd name="connsiteY7" fmla="*/ 1035047 h 1433829"/>
              <a:gd name="connsiteX8" fmla="*/ 4763 w 2355967"/>
              <a:gd name="connsiteY8" fmla="*/ 0 h 14338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355967" h="1433829">
                <a:moveTo>
                  <a:pt x="4763" y="0"/>
                </a:moveTo>
                <a:cubicBezTo>
                  <a:pt x="30957" y="1215"/>
                  <a:pt x="178541" y="1269"/>
                  <a:pt x="398782" y="1269"/>
                </a:cubicBezTo>
                <a:lnTo>
                  <a:pt x="1955798" y="1269"/>
                </a:lnTo>
                <a:cubicBezTo>
                  <a:pt x="2176039" y="1269"/>
                  <a:pt x="2354580" y="179810"/>
                  <a:pt x="2354580" y="400051"/>
                </a:cubicBezTo>
                <a:lnTo>
                  <a:pt x="2354580" y="1035047"/>
                </a:lnTo>
                <a:cubicBezTo>
                  <a:pt x="2354580" y="1255288"/>
                  <a:pt x="2359396" y="1431446"/>
                  <a:pt x="2351086" y="1433828"/>
                </a:cubicBezTo>
                <a:lnTo>
                  <a:pt x="398782" y="1433829"/>
                </a:lnTo>
                <a:cubicBezTo>
                  <a:pt x="178541" y="1433829"/>
                  <a:pt x="0" y="1255288"/>
                  <a:pt x="0" y="1035047"/>
                </a:cubicBezTo>
                <a:cubicBezTo>
                  <a:pt x="1588" y="691619"/>
                  <a:pt x="3175" y="343428"/>
                  <a:pt x="4763" y="0"/>
                </a:cubicBezTo>
                <a:close/>
              </a:path>
            </a:pathLst>
          </a:custGeom>
          <a:noFill/>
          <a:ln w="19050">
            <a:solidFill>
              <a:srgbClr val="112A40"/>
            </a:solidFill>
          </a:ln>
        </p:spPr>
        <p:style>
          <a:lnRef idx="2">
            <a:schemeClr val="accent1">
              <a:shade val="50000"/>
            </a:schemeClr>
          </a:lnRef>
          <a:fillRef idx="1">
            <a:schemeClr val="accent1"/>
          </a:fillRef>
          <a:effectRef idx="0">
            <a:schemeClr val="accent1"/>
          </a:effectRef>
          <a:fontRef idx="minor">
            <a:schemeClr val="lt1"/>
          </a:fontRef>
        </p:style>
        <p:txBody>
          <a:bodyPr lIns="91440" tIns="91440" rIns="91440" bIns="91440" rtlCol="0" anchor="ctr">
            <a:noAutofit/>
          </a:bodyPr>
          <a:lstStyle/>
          <a:p>
            <a:pPr algn="ctr"/>
            <a:endParaRPr lang="fr-CI" sz="1400" noProof="0">
              <a:solidFill>
                <a:schemeClr val="tx2"/>
              </a:solidFill>
            </a:endParaRPr>
          </a:p>
        </p:txBody>
      </p:sp>
      <p:sp>
        <p:nvSpPr>
          <p:cNvPr id="6" name="Rectangle 5">
            <a:extLst>
              <a:ext uri="{FF2B5EF4-FFF2-40B4-BE49-F238E27FC236}">
                <a16:creationId xmlns:a16="http://schemas.microsoft.com/office/drawing/2014/main" id="{B8A5BA39-707D-4505-CF26-1E9EC5011AB5}"/>
              </a:ext>
            </a:extLst>
          </p:cNvPr>
          <p:cNvSpPr/>
          <p:nvPr/>
        </p:nvSpPr>
        <p:spPr>
          <a:xfrm>
            <a:off x="3817401" y="1634006"/>
            <a:ext cx="2426584" cy="800458"/>
          </a:xfrm>
          <a:prstGeom prst="rect">
            <a:avLst/>
          </a:prstGeom>
        </p:spPr>
        <p:txBody>
          <a:bodyPr wrap="square" lIns="0" tIns="0" rIns="0" bIns="0">
            <a:spAutoFit/>
          </a:bodyPr>
          <a:lstStyle/>
          <a:p>
            <a:pPr>
              <a:spcBef>
                <a:spcPts val="600"/>
              </a:spcBef>
            </a:pPr>
            <a:r>
              <a:rPr lang="fr-CI" sz="1400" b="1" noProof="0">
                <a:latin typeface="Helvetica" panose="020B0604020202020204" pitchFamily="34" charset="0"/>
                <a:cs typeface="Helvetica" panose="020B0604020202020204" pitchFamily="34" charset="0"/>
              </a:rPr>
              <a:t>Ressources longues</a:t>
            </a:r>
          </a:p>
          <a:p>
            <a:pPr>
              <a:spcBef>
                <a:spcPts val="600"/>
              </a:spcBef>
            </a:pPr>
            <a:r>
              <a:rPr lang="fr-CI" sz="1200" noProof="0" b="0">
                <a:latin typeface="Helvetica" panose="020B0604020202020204" pitchFamily="34" charset="0"/>
                <a:cs typeface="Helvetica" panose="020B0604020202020204" pitchFamily="34" charset="0"/>
              </a:rPr>
              <a:t>Argent qui reste longtemps à la disposition du FPPN : fonds propres, provisions, emprunts.</a:t>
            </a:r>
          </a:p>
        </p:txBody>
      </p:sp>
      <p:cxnSp>
        <p:nvCxnSpPr>
          <p:cNvPr id="7" name="Straight Connector 51">
            <a:extLst>
              <a:ext uri="{FF2B5EF4-FFF2-40B4-BE49-F238E27FC236}">
                <a16:creationId xmlns:a16="http://schemas.microsoft.com/office/drawing/2014/main" id="{D644D8CD-15C8-1174-426A-80C46730AB94}"/>
              </a:ext>
            </a:extLst>
          </p:cNvPr>
          <p:cNvCxnSpPr/>
          <p:nvPr/>
        </p:nvCxnSpPr>
        <p:spPr>
          <a:xfrm>
            <a:off x="3823408" y="1885769"/>
            <a:ext cx="2223818" cy="3600"/>
          </a:xfrm>
          <a:prstGeom prst="line">
            <a:avLst/>
          </a:prstGeom>
          <a:ln w="9525">
            <a:solidFill>
              <a:srgbClr val="BBBCBC"/>
            </a:solidFill>
            <a:headEnd type="none"/>
            <a:tailEnd type="none"/>
          </a:ln>
        </p:spPr>
        <p:style>
          <a:lnRef idx="1">
            <a:schemeClr val="accent1"/>
          </a:lnRef>
          <a:fillRef idx="0">
            <a:schemeClr val="accent1"/>
          </a:fillRef>
          <a:effectRef idx="0">
            <a:schemeClr val="accent1"/>
          </a:effectRef>
          <a:fontRef idx="minor">
            <a:schemeClr val="tx1"/>
          </a:fontRef>
        </p:style>
      </p:cxnSp>
      <p:sp>
        <p:nvSpPr>
          <p:cNvPr id="8" name="Rectangle 7">
            <a:extLst>
              <a:ext uri="{FF2B5EF4-FFF2-40B4-BE49-F238E27FC236}">
                <a16:creationId xmlns:a16="http://schemas.microsoft.com/office/drawing/2014/main" id="{15BAC69A-93C6-4C68-2B4D-52264A7239C0}"/>
              </a:ext>
            </a:extLst>
          </p:cNvPr>
          <p:cNvSpPr/>
          <p:nvPr/>
        </p:nvSpPr>
        <p:spPr>
          <a:xfrm>
            <a:off x="6667705" y="2099782"/>
            <a:ext cx="1900232" cy="654919"/>
          </a:xfrm>
          <a:prstGeom prst="rect">
            <a:avLst/>
          </a:prstGeom>
        </p:spPr>
        <p:txBody>
          <a:bodyPr wrap="square" lIns="0" tIns="0" rIns="0" bIns="0">
            <a:spAutoFit/>
          </a:bodyPr>
          <a:lstStyle/>
          <a:p>
            <a:pPr>
              <a:spcBef>
                <a:spcPts val="600"/>
              </a:spcBef>
            </a:pPr>
            <a:r>
              <a:rPr lang="fr-CI" sz="1400" b="1" noProof="0">
                <a:latin typeface="Helvetica" panose="020B0604020202020204" pitchFamily="34" charset="0"/>
                <a:cs typeface="Helvetica" panose="020B0604020202020204" pitchFamily="34" charset="0"/>
              </a:rPr>
              <a:t>Dettes à court terme</a:t>
            </a:r>
          </a:p>
          <a:p>
            <a:pPr>
              <a:spcBef>
                <a:spcPts val="600"/>
              </a:spcBef>
            </a:pPr>
            <a:r>
              <a:rPr lang="fr-CI" sz="1200" noProof="0" b="0">
                <a:latin typeface="Helvetica" panose="020B0604020202020204" pitchFamily="34" charset="0"/>
                <a:cs typeface="Helvetica" panose="020B0604020202020204" pitchFamily="34" charset="0"/>
              </a:rPr>
              <a:t>Argent que le FPPN doit rendre dans l'année : fournisseurs, cliniques, État.</a:t>
            </a:r>
          </a:p>
        </p:txBody>
      </p:sp>
      <p:cxnSp>
        <p:nvCxnSpPr>
          <p:cNvPr id="9" name="Straight Connector 53">
            <a:extLst>
              <a:ext uri="{FF2B5EF4-FFF2-40B4-BE49-F238E27FC236}">
                <a16:creationId xmlns:a16="http://schemas.microsoft.com/office/drawing/2014/main" id="{88E2B00B-A730-792A-F766-F69869238B01}"/>
              </a:ext>
            </a:extLst>
          </p:cNvPr>
          <p:cNvCxnSpPr/>
          <p:nvPr/>
        </p:nvCxnSpPr>
        <p:spPr>
          <a:xfrm>
            <a:off x="6637478" y="2360100"/>
            <a:ext cx="1489591" cy="3600"/>
          </a:xfrm>
          <a:prstGeom prst="line">
            <a:avLst/>
          </a:prstGeom>
          <a:ln w="9525">
            <a:solidFill>
              <a:srgbClr val="BBBCBC"/>
            </a:solidFill>
            <a:headEnd type="none"/>
            <a:tailEnd type="none"/>
          </a:ln>
        </p:spPr>
        <p:style>
          <a:lnRef idx="1">
            <a:schemeClr val="accent1"/>
          </a:lnRef>
          <a:fillRef idx="0">
            <a:schemeClr val="accent1"/>
          </a:fillRef>
          <a:effectRef idx="0">
            <a:schemeClr val="accent1"/>
          </a:effectRef>
          <a:fontRef idx="minor">
            <a:schemeClr val="tx1"/>
          </a:fontRef>
        </p:style>
      </p:cxnSp>
      <p:sp>
        <p:nvSpPr>
          <p:cNvPr id="10" name="Rectangle 9">
            <a:extLst>
              <a:ext uri="{FF2B5EF4-FFF2-40B4-BE49-F238E27FC236}">
                <a16:creationId xmlns:a16="http://schemas.microsoft.com/office/drawing/2014/main" id="{E49CF9D8-9183-05A2-006C-E37491C14CB6}"/>
              </a:ext>
            </a:extLst>
          </p:cNvPr>
          <p:cNvSpPr/>
          <p:nvPr/>
        </p:nvSpPr>
        <p:spPr>
          <a:xfrm>
            <a:off x="6725638" y="3799190"/>
            <a:ext cx="2304183" cy="654919"/>
          </a:xfrm>
          <a:prstGeom prst="rect">
            <a:avLst/>
          </a:prstGeom>
        </p:spPr>
        <p:txBody>
          <a:bodyPr wrap="square" lIns="0" tIns="0" rIns="0" bIns="0">
            <a:spAutoFit/>
          </a:bodyPr>
          <a:lstStyle/>
          <a:p>
            <a:pPr>
              <a:spcBef>
                <a:spcPts val="600"/>
              </a:spcBef>
            </a:pPr>
            <a:r>
              <a:rPr lang="fr-CI" sz="1400" b="1" noProof="0">
                <a:latin typeface="Helvetica" panose="020B0604020202020204" pitchFamily="34" charset="0"/>
                <a:cs typeface="Helvetica" panose="020B0604020202020204" pitchFamily="34" charset="0"/>
              </a:rPr>
              <a:t>Trésorerie</a:t>
            </a:r>
          </a:p>
          <a:p>
            <a:pPr>
              <a:spcBef>
                <a:spcPts val="600"/>
              </a:spcBef>
            </a:pPr>
            <a:r>
              <a:rPr lang="fr-CI" sz="1200" noProof="0" b="0">
                <a:latin typeface="Helvetica" panose="020B0604020202020204" pitchFamily="34" charset="0"/>
                <a:cs typeface="Helvetica" panose="020B0604020202020204" pitchFamily="34" charset="0"/>
              </a:rPr>
              <a:t>Argent disponible tout de suite ou presque : caisse, comptes en banque, dépôts à terme.</a:t>
            </a:r>
          </a:p>
        </p:txBody>
      </p:sp>
      <p:cxnSp>
        <p:nvCxnSpPr>
          <p:cNvPr id="11" name="Straight Connector 59">
            <a:extLst>
              <a:ext uri="{FF2B5EF4-FFF2-40B4-BE49-F238E27FC236}">
                <a16:creationId xmlns:a16="http://schemas.microsoft.com/office/drawing/2014/main" id="{B837FEE1-6F73-8BCD-FE32-7B970AB912B9}"/>
              </a:ext>
            </a:extLst>
          </p:cNvPr>
          <p:cNvCxnSpPr/>
          <p:nvPr/>
        </p:nvCxnSpPr>
        <p:spPr>
          <a:xfrm>
            <a:off x="6725637" y="4046526"/>
            <a:ext cx="2223818" cy="3600"/>
          </a:xfrm>
          <a:prstGeom prst="line">
            <a:avLst/>
          </a:prstGeom>
          <a:ln w="9525">
            <a:solidFill>
              <a:srgbClr val="BBBCBC"/>
            </a:solidFill>
            <a:headEnd type="none"/>
            <a:tailEnd type="none"/>
          </a:ln>
        </p:spPr>
        <p:style>
          <a:lnRef idx="1">
            <a:schemeClr val="accent1"/>
          </a:lnRef>
          <a:fillRef idx="0">
            <a:schemeClr val="accent1"/>
          </a:fillRef>
          <a:effectRef idx="0">
            <a:schemeClr val="accent1"/>
          </a:effectRef>
          <a:fontRef idx="minor">
            <a:schemeClr val="tx1"/>
          </a:fontRef>
        </p:style>
      </p:cxnSp>
      <p:sp>
        <p:nvSpPr>
          <p:cNvPr id="12" name="Rounded Rectangle 5">
            <a:extLst>
              <a:ext uri="{FF2B5EF4-FFF2-40B4-BE49-F238E27FC236}">
                <a16:creationId xmlns:a16="http://schemas.microsoft.com/office/drawing/2014/main" id="{F4681A56-7E9F-9A36-2D0F-B0DE5726AF2E}"/>
              </a:ext>
            </a:extLst>
          </p:cNvPr>
          <p:cNvSpPr/>
          <p:nvPr/>
        </p:nvSpPr>
        <p:spPr>
          <a:xfrm flipV="1">
            <a:off x="2851616" y="3585630"/>
            <a:ext cx="3540335" cy="2211916"/>
          </a:xfrm>
          <a:custGeom>
            <a:avLst/>
            <a:gdLst>
              <a:gd name="connsiteX0" fmla="*/ 0 w 2354580"/>
              <a:gd name="connsiteY0" fmla="*/ 398782 h 1432560"/>
              <a:gd name="connsiteX1" fmla="*/ 398782 w 2354580"/>
              <a:gd name="connsiteY1" fmla="*/ 0 h 1432560"/>
              <a:gd name="connsiteX2" fmla="*/ 1955798 w 2354580"/>
              <a:gd name="connsiteY2" fmla="*/ 0 h 1432560"/>
              <a:gd name="connsiteX3" fmla="*/ 2354580 w 2354580"/>
              <a:gd name="connsiteY3" fmla="*/ 398782 h 1432560"/>
              <a:gd name="connsiteX4" fmla="*/ 2354580 w 2354580"/>
              <a:gd name="connsiteY4" fmla="*/ 1033778 h 1432560"/>
              <a:gd name="connsiteX5" fmla="*/ 1955798 w 2354580"/>
              <a:gd name="connsiteY5" fmla="*/ 1432560 h 1432560"/>
              <a:gd name="connsiteX6" fmla="*/ 398782 w 2354580"/>
              <a:gd name="connsiteY6" fmla="*/ 1432560 h 1432560"/>
              <a:gd name="connsiteX7" fmla="*/ 0 w 2354580"/>
              <a:gd name="connsiteY7" fmla="*/ 1033778 h 1432560"/>
              <a:gd name="connsiteX8" fmla="*/ 0 w 2354580"/>
              <a:gd name="connsiteY8" fmla="*/ 398782 h 1432560"/>
              <a:gd name="connsiteX0" fmla="*/ 0 w 2362200"/>
              <a:gd name="connsiteY0" fmla="*/ 102717 h 1517495"/>
              <a:gd name="connsiteX1" fmla="*/ 406402 w 2362200"/>
              <a:gd name="connsiteY1" fmla="*/ 84935 h 1517495"/>
              <a:gd name="connsiteX2" fmla="*/ 1963418 w 2362200"/>
              <a:gd name="connsiteY2" fmla="*/ 84935 h 1517495"/>
              <a:gd name="connsiteX3" fmla="*/ 2362200 w 2362200"/>
              <a:gd name="connsiteY3" fmla="*/ 483717 h 1517495"/>
              <a:gd name="connsiteX4" fmla="*/ 2362200 w 2362200"/>
              <a:gd name="connsiteY4" fmla="*/ 1118713 h 1517495"/>
              <a:gd name="connsiteX5" fmla="*/ 1963418 w 2362200"/>
              <a:gd name="connsiteY5" fmla="*/ 1517495 h 1517495"/>
              <a:gd name="connsiteX6" fmla="*/ 406402 w 2362200"/>
              <a:gd name="connsiteY6" fmla="*/ 1517495 h 1517495"/>
              <a:gd name="connsiteX7" fmla="*/ 7620 w 2362200"/>
              <a:gd name="connsiteY7" fmla="*/ 1118713 h 1517495"/>
              <a:gd name="connsiteX8" fmla="*/ 0 w 2362200"/>
              <a:gd name="connsiteY8" fmla="*/ 102717 h 1517495"/>
              <a:gd name="connsiteX0" fmla="*/ 0 w 2362200"/>
              <a:gd name="connsiteY0" fmla="*/ 17782 h 1432560"/>
              <a:gd name="connsiteX1" fmla="*/ 406402 w 2362200"/>
              <a:gd name="connsiteY1" fmla="*/ 0 h 1432560"/>
              <a:gd name="connsiteX2" fmla="*/ 1963418 w 2362200"/>
              <a:gd name="connsiteY2" fmla="*/ 0 h 1432560"/>
              <a:gd name="connsiteX3" fmla="*/ 2362200 w 2362200"/>
              <a:gd name="connsiteY3" fmla="*/ 398782 h 1432560"/>
              <a:gd name="connsiteX4" fmla="*/ 2362200 w 2362200"/>
              <a:gd name="connsiteY4" fmla="*/ 1033778 h 1432560"/>
              <a:gd name="connsiteX5" fmla="*/ 1963418 w 2362200"/>
              <a:gd name="connsiteY5" fmla="*/ 1432560 h 1432560"/>
              <a:gd name="connsiteX6" fmla="*/ 406402 w 2362200"/>
              <a:gd name="connsiteY6" fmla="*/ 1432560 h 1432560"/>
              <a:gd name="connsiteX7" fmla="*/ 7620 w 2362200"/>
              <a:gd name="connsiteY7" fmla="*/ 1033778 h 1432560"/>
              <a:gd name="connsiteX8" fmla="*/ 0 w 2362200"/>
              <a:gd name="connsiteY8" fmla="*/ 17782 h 1432560"/>
              <a:gd name="connsiteX0" fmla="*/ 0 w 2362200"/>
              <a:gd name="connsiteY0" fmla="*/ 2542 h 1432560"/>
              <a:gd name="connsiteX1" fmla="*/ 406402 w 2362200"/>
              <a:gd name="connsiteY1" fmla="*/ 0 h 1432560"/>
              <a:gd name="connsiteX2" fmla="*/ 1963418 w 2362200"/>
              <a:gd name="connsiteY2" fmla="*/ 0 h 1432560"/>
              <a:gd name="connsiteX3" fmla="*/ 2362200 w 2362200"/>
              <a:gd name="connsiteY3" fmla="*/ 398782 h 1432560"/>
              <a:gd name="connsiteX4" fmla="*/ 2362200 w 2362200"/>
              <a:gd name="connsiteY4" fmla="*/ 1033778 h 1432560"/>
              <a:gd name="connsiteX5" fmla="*/ 1963418 w 2362200"/>
              <a:gd name="connsiteY5" fmla="*/ 1432560 h 1432560"/>
              <a:gd name="connsiteX6" fmla="*/ 406402 w 2362200"/>
              <a:gd name="connsiteY6" fmla="*/ 1432560 h 1432560"/>
              <a:gd name="connsiteX7" fmla="*/ 7620 w 2362200"/>
              <a:gd name="connsiteY7" fmla="*/ 1033778 h 1432560"/>
              <a:gd name="connsiteX8" fmla="*/ 0 w 2362200"/>
              <a:gd name="connsiteY8" fmla="*/ 2542 h 1432560"/>
              <a:gd name="connsiteX0" fmla="*/ 0 w 2354580"/>
              <a:gd name="connsiteY0" fmla="*/ 17782 h 1432560"/>
              <a:gd name="connsiteX1" fmla="*/ 398782 w 2354580"/>
              <a:gd name="connsiteY1" fmla="*/ 0 h 1432560"/>
              <a:gd name="connsiteX2" fmla="*/ 1955798 w 2354580"/>
              <a:gd name="connsiteY2" fmla="*/ 0 h 1432560"/>
              <a:gd name="connsiteX3" fmla="*/ 2354580 w 2354580"/>
              <a:gd name="connsiteY3" fmla="*/ 398782 h 1432560"/>
              <a:gd name="connsiteX4" fmla="*/ 2354580 w 2354580"/>
              <a:gd name="connsiteY4" fmla="*/ 1033778 h 1432560"/>
              <a:gd name="connsiteX5" fmla="*/ 1955798 w 2354580"/>
              <a:gd name="connsiteY5" fmla="*/ 1432560 h 1432560"/>
              <a:gd name="connsiteX6" fmla="*/ 398782 w 2354580"/>
              <a:gd name="connsiteY6" fmla="*/ 1432560 h 1432560"/>
              <a:gd name="connsiteX7" fmla="*/ 0 w 2354580"/>
              <a:gd name="connsiteY7" fmla="*/ 1033778 h 1432560"/>
              <a:gd name="connsiteX8" fmla="*/ 0 w 2354580"/>
              <a:gd name="connsiteY8" fmla="*/ 17782 h 1432560"/>
              <a:gd name="connsiteX0" fmla="*/ 0 w 2354580"/>
              <a:gd name="connsiteY0" fmla="*/ 0 h 1433828"/>
              <a:gd name="connsiteX1" fmla="*/ 398782 w 2354580"/>
              <a:gd name="connsiteY1" fmla="*/ 1268 h 1433828"/>
              <a:gd name="connsiteX2" fmla="*/ 1955798 w 2354580"/>
              <a:gd name="connsiteY2" fmla="*/ 1268 h 1433828"/>
              <a:gd name="connsiteX3" fmla="*/ 2354580 w 2354580"/>
              <a:gd name="connsiteY3" fmla="*/ 400050 h 1433828"/>
              <a:gd name="connsiteX4" fmla="*/ 2354580 w 2354580"/>
              <a:gd name="connsiteY4" fmla="*/ 1035046 h 1433828"/>
              <a:gd name="connsiteX5" fmla="*/ 1955798 w 2354580"/>
              <a:gd name="connsiteY5" fmla="*/ 1433828 h 1433828"/>
              <a:gd name="connsiteX6" fmla="*/ 398782 w 2354580"/>
              <a:gd name="connsiteY6" fmla="*/ 1433828 h 1433828"/>
              <a:gd name="connsiteX7" fmla="*/ 0 w 2354580"/>
              <a:gd name="connsiteY7" fmla="*/ 1035046 h 1433828"/>
              <a:gd name="connsiteX8" fmla="*/ 0 w 2354580"/>
              <a:gd name="connsiteY8" fmla="*/ 0 h 1433828"/>
              <a:gd name="connsiteX0" fmla="*/ 4763 w 2354580"/>
              <a:gd name="connsiteY0" fmla="*/ 3494 h 1432560"/>
              <a:gd name="connsiteX1" fmla="*/ 398782 w 2354580"/>
              <a:gd name="connsiteY1" fmla="*/ 0 h 1432560"/>
              <a:gd name="connsiteX2" fmla="*/ 1955798 w 2354580"/>
              <a:gd name="connsiteY2" fmla="*/ 0 h 1432560"/>
              <a:gd name="connsiteX3" fmla="*/ 2354580 w 2354580"/>
              <a:gd name="connsiteY3" fmla="*/ 398782 h 1432560"/>
              <a:gd name="connsiteX4" fmla="*/ 2354580 w 2354580"/>
              <a:gd name="connsiteY4" fmla="*/ 1033778 h 1432560"/>
              <a:gd name="connsiteX5" fmla="*/ 1955798 w 2354580"/>
              <a:gd name="connsiteY5" fmla="*/ 1432560 h 1432560"/>
              <a:gd name="connsiteX6" fmla="*/ 398782 w 2354580"/>
              <a:gd name="connsiteY6" fmla="*/ 1432560 h 1432560"/>
              <a:gd name="connsiteX7" fmla="*/ 0 w 2354580"/>
              <a:gd name="connsiteY7" fmla="*/ 1033778 h 1432560"/>
              <a:gd name="connsiteX8" fmla="*/ 4763 w 2354580"/>
              <a:gd name="connsiteY8" fmla="*/ 3494 h 1432560"/>
              <a:gd name="connsiteX0" fmla="*/ 2382 w 2354580"/>
              <a:gd name="connsiteY0" fmla="*/ 0 h 1436210"/>
              <a:gd name="connsiteX1" fmla="*/ 398782 w 2354580"/>
              <a:gd name="connsiteY1" fmla="*/ 3650 h 1436210"/>
              <a:gd name="connsiteX2" fmla="*/ 1955798 w 2354580"/>
              <a:gd name="connsiteY2" fmla="*/ 3650 h 1436210"/>
              <a:gd name="connsiteX3" fmla="*/ 2354580 w 2354580"/>
              <a:gd name="connsiteY3" fmla="*/ 402432 h 1436210"/>
              <a:gd name="connsiteX4" fmla="*/ 2354580 w 2354580"/>
              <a:gd name="connsiteY4" fmla="*/ 1037428 h 1436210"/>
              <a:gd name="connsiteX5" fmla="*/ 1955798 w 2354580"/>
              <a:gd name="connsiteY5" fmla="*/ 1436210 h 1436210"/>
              <a:gd name="connsiteX6" fmla="*/ 398782 w 2354580"/>
              <a:gd name="connsiteY6" fmla="*/ 1436210 h 1436210"/>
              <a:gd name="connsiteX7" fmla="*/ 0 w 2354580"/>
              <a:gd name="connsiteY7" fmla="*/ 1037428 h 1436210"/>
              <a:gd name="connsiteX8" fmla="*/ 2382 w 2354580"/>
              <a:gd name="connsiteY8" fmla="*/ 0 h 1436210"/>
              <a:gd name="connsiteX0" fmla="*/ 4763 w 2354580"/>
              <a:gd name="connsiteY0" fmla="*/ 5875 h 1432560"/>
              <a:gd name="connsiteX1" fmla="*/ 398782 w 2354580"/>
              <a:gd name="connsiteY1" fmla="*/ 0 h 1432560"/>
              <a:gd name="connsiteX2" fmla="*/ 1955798 w 2354580"/>
              <a:gd name="connsiteY2" fmla="*/ 0 h 1432560"/>
              <a:gd name="connsiteX3" fmla="*/ 2354580 w 2354580"/>
              <a:gd name="connsiteY3" fmla="*/ 398782 h 1432560"/>
              <a:gd name="connsiteX4" fmla="*/ 2354580 w 2354580"/>
              <a:gd name="connsiteY4" fmla="*/ 1033778 h 1432560"/>
              <a:gd name="connsiteX5" fmla="*/ 1955798 w 2354580"/>
              <a:gd name="connsiteY5" fmla="*/ 1432560 h 1432560"/>
              <a:gd name="connsiteX6" fmla="*/ 398782 w 2354580"/>
              <a:gd name="connsiteY6" fmla="*/ 1432560 h 1432560"/>
              <a:gd name="connsiteX7" fmla="*/ 0 w 2354580"/>
              <a:gd name="connsiteY7" fmla="*/ 1033778 h 1432560"/>
              <a:gd name="connsiteX8" fmla="*/ 4763 w 2354580"/>
              <a:gd name="connsiteY8" fmla="*/ 5875 h 1432560"/>
              <a:gd name="connsiteX0" fmla="*/ 4763 w 2354580"/>
              <a:gd name="connsiteY0" fmla="*/ 0 h 1433829"/>
              <a:gd name="connsiteX1" fmla="*/ 398782 w 2354580"/>
              <a:gd name="connsiteY1" fmla="*/ 1269 h 1433829"/>
              <a:gd name="connsiteX2" fmla="*/ 1955798 w 2354580"/>
              <a:gd name="connsiteY2" fmla="*/ 1269 h 1433829"/>
              <a:gd name="connsiteX3" fmla="*/ 2354580 w 2354580"/>
              <a:gd name="connsiteY3" fmla="*/ 400051 h 1433829"/>
              <a:gd name="connsiteX4" fmla="*/ 2354580 w 2354580"/>
              <a:gd name="connsiteY4" fmla="*/ 1035047 h 1433829"/>
              <a:gd name="connsiteX5" fmla="*/ 1955798 w 2354580"/>
              <a:gd name="connsiteY5" fmla="*/ 1433829 h 1433829"/>
              <a:gd name="connsiteX6" fmla="*/ 398782 w 2354580"/>
              <a:gd name="connsiteY6" fmla="*/ 1433829 h 1433829"/>
              <a:gd name="connsiteX7" fmla="*/ 0 w 2354580"/>
              <a:gd name="connsiteY7" fmla="*/ 1035047 h 1433829"/>
              <a:gd name="connsiteX8" fmla="*/ 4763 w 2354580"/>
              <a:gd name="connsiteY8" fmla="*/ 0 h 1433829"/>
              <a:gd name="connsiteX0" fmla="*/ 4763 w 2354580"/>
              <a:gd name="connsiteY0" fmla="*/ 0 h 1433829"/>
              <a:gd name="connsiteX1" fmla="*/ 398782 w 2354580"/>
              <a:gd name="connsiteY1" fmla="*/ 1269 h 1433829"/>
              <a:gd name="connsiteX2" fmla="*/ 1955798 w 2354580"/>
              <a:gd name="connsiteY2" fmla="*/ 1269 h 1433829"/>
              <a:gd name="connsiteX3" fmla="*/ 2354580 w 2354580"/>
              <a:gd name="connsiteY3" fmla="*/ 400051 h 1433829"/>
              <a:gd name="connsiteX4" fmla="*/ 2354580 w 2354580"/>
              <a:gd name="connsiteY4" fmla="*/ 1035047 h 1433829"/>
              <a:gd name="connsiteX5" fmla="*/ 1955798 w 2354580"/>
              <a:gd name="connsiteY5" fmla="*/ 1433829 h 1433829"/>
              <a:gd name="connsiteX6" fmla="*/ 398782 w 2354580"/>
              <a:gd name="connsiteY6" fmla="*/ 1433829 h 1433829"/>
              <a:gd name="connsiteX7" fmla="*/ 0 w 2354580"/>
              <a:gd name="connsiteY7" fmla="*/ 1035047 h 1433829"/>
              <a:gd name="connsiteX8" fmla="*/ 4763 w 2354580"/>
              <a:gd name="connsiteY8" fmla="*/ 0 h 1433829"/>
              <a:gd name="connsiteX0" fmla="*/ 4763 w 2354580"/>
              <a:gd name="connsiteY0" fmla="*/ 0 h 1433829"/>
              <a:gd name="connsiteX1" fmla="*/ 398782 w 2354580"/>
              <a:gd name="connsiteY1" fmla="*/ 1269 h 1433829"/>
              <a:gd name="connsiteX2" fmla="*/ 1955798 w 2354580"/>
              <a:gd name="connsiteY2" fmla="*/ 1269 h 1433829"/>
              <a:gd name="connsiteX3" fmla="*/ 2354580 w 2354580"/>
              <a:gd name="connsiteY3" fmla="*/ 400051 h 1433829"/>
              <a:gd name="connsiteX4" fmla="*/ 2354580 w 2354580"/>
              <a:gd name="connsiteY4" fmla="*/ 1035047 h 1433829"/>
              <a:gd name="connsiteX5" fmla="*/ 1955798 w 2354580"/>
              <a:gd name="connsiteY5" fmla="*/ 1433829 h 1433829"/>
              <a:gd name="connsiteX6" fmla="*/ 398782 w 2354580"/>
              <a:gd name="connsiteY6" fmla="*/ 1433829 h 1433829"/>
              <a:gd name="connsiteX7" fmla="*/ 0 w 2354580"/>
              <a:gd name="connsiteY7" fmla="*/ 1035047 h 1433829"/>
              <a:gd name="connsiteX8" fmla="*/ 4763 w 2354580"/>
              <a:gd name="connsiteY8" fmla="*/ 0 h 1433829"/>
              <a:gd name="connsiteX0" fmla="*/ 4763 w 2432776"/>
              <a:gd name="connsiteY0" fmla="*/ 0 h 1433829"/>
              <a:gd name="connsiteX1" fmla="*/ 398782 w 2432776"/>
              <a:gd name="connsiteY1" fmla="*/ 1269 h 1433829"/>
              <a:gd name="connsiteX2" fmla="*/ 1955798 w 2432776"/>
              <a:gd name="connsiteY2" fmla="*/ 1269 h 1433829"/>
              <a:gd name="connsiteX3" fmla="*/ 2354580 w 2432776"/>
              <a:gd name="connsiteY3" fmla="*/ 400051 h 1433829"/>
              <a:gd name="connsiteX4" fmla="*/ 2354580 w 2432776"/>
              <a:gd name="connsiteY4" fmla="*/ 1035047 h 1433829"/>
              <a:gd name="connsiteX5" fmla="*/ 2327273 w 2432776"/>
              <a:gd name="connsiteY5" fmla="*/ 1433829 h 1433829"/>
              <a:gd name="connsiteX6" fmla="*/ 398782 w 2432776"/>
              <a:gd name="connsiteY6" fmla="*/ 1433829 h 1433829"/>
              <a:gd name="connsiteX7" fmla="*/ 0 w 2432776"/>
              <a:gd name="connsiteY7" fmla="*/ 1035047 h 1433829"/>
              <a:gd name="connsiteX8" fmla="*/ 4763 w 2432776"/>
              <a:gd name="connsiteY8" fmla="*/ 0 h 1433829"/>
              <a:gd name="connsiteX0" fmla="*/ 4763 w 2441222"/>
              <a:gd name="connsiteY0" fmla="*/ 0 h 1433829"/>
              <a:gd name="connsiteX1" fmla="*/ 398782 w 2441222"/>
              <a:gd name="connsiteY1" fmla="*/ 1269 h 1433829"/>
              <a:gd name="connsiteX2" fmla="*/ 1955798 w 2441222"/>
              <a:gd name="connsiteY2" fmla="*/ 1269 h 1433829"/>
              <a:gd name="connsiteX3" fmla="*/ 2354580 w 2441222"/>
              <a:gd name="connsiteY3" fmla="*/ 400051 h 1433829"/>
              <a:gd name="connsiteX4" fmla="*/ 2354580 w 2441222"/>
              <a:gd name="connsiteY4" fmla="*/ 1035047 h 1433829"/>
              <a:gd name="connsiteX5" fmla="*/ 2339179 w 2441222"/>
              <a:gd name="connsiteY5" fmla="*/ 1431447 h 1433829"/>
              <a:gd name="connsiteX6" fmla="*/ 398782 w 2441222"/>
              <a:gd name="connsiteY6" fmla="*/ 1433829 h 1433829"/>
              <a:gd name="connsiteX7" fmla="*/ 0 w 2441222"/>
              <a:gd name="connsiteY7" fmla="*/ 1035047 h 1433829"/>
              <a:gd name="connsiteX8" fmla="*/ 4763 w 2441222"/>
              <a:gd name="connsiteY8" fmla="*/ 0 h 1433829"/>
              <a:gd name="connsiteX0" fmla="*/ 4763 w 2449885"/>
              <a:gd name="connsiteY0" fmla="*/ 0 h 1433829"/>
              <a:gd name="connsiteX1" fmla="*/ 398782 w 2449885"/>
              <a:gd name="connsiteY1" fmla="*/ 1269 h 1433829"/>
              <a:gd name="connsiteX2" fmla="*/ 1955798 w 2449885"/>
              <a:gd name="connsiteY2" fmla="*/ 1269 h 1433829"/>
              <a:gd name="connsiteX3" fmla="*/ 2354580 w 2449885"/>
              <a:gd name="connsiteY3" fmla="*/ 400051 h 1433829"/>
              <a:gd name="connsiteX4" fmla="*/ 2354580 w 2449885"/>
              <a:gd name="connsiteY4" fmla="*/ 1035047 h 1433829"/>
              <a:gd name="connsiteX5" fmla="*/ 2351086 w 2449885"/>
              <a:gd name="connsiteY5" fmla="*/ 1433828 h 1433829"/>
              <a:gd name="connsiteX6" fmla="*/ 398782 w 2449885"/>
              <a:gd name="connsiteY6" fmla="*/ 1433829 h 1433829"/>
              <a:gd name="connsiteX7" fmla="*/ 0 w 2449885"/>
              <a:gd name="connsiteY7" fmla="*/ 1035047 h 1433829"/>
              <a:gd name="connsiteX8" fmla="*/ 4763 w 2449885"/>
              <a:gd name="connsiteY8" fmla="*/ 0 h 1433829"/>
              <a:gd name="connsiteX0" fmla="*/ 4763 w 2355967"/>
              <a:gd name="connsiteY0" fmla="*/ 0 h 1433829"/>
              <a:gd name="connsiteX1" fmla="*/ 398782 w 2355967"/>
              <a:gd name="connsiteY1" fmla="*/ 1269 h 1433829"/>
              <a:gd name="connsiteX2" fmla="*/ 1955798 w 2355967"/>
              <a:gd name="connsiteY2" fmla="*/ 1269 h 1433829"/>
              <a:gd name="connsiteX3" fmla="*/ 2354580 w 2355967"/>
              <a:gd name="connsiteY3" fmla="*/ 400051 h 1433829"/>
              <a:gd name="connsiteX4" fmla="*/ 2354580 w 2355967"/>
              <a:gd name="connsiteY4" fmla="*/ 1035047 h 1433829"/>
              <a:gd name="connsiteX5" fmla="*/ 2351086 w 2355967"/>
              <a:gd name="connsiteY5" fmla="*/ 1433828 h 1433829"/>
              <a:gd name="connsiteX6" fmla="*/ 398782 w 2355967"/>
              <a:gd name="connsiteY6" fmla="*/ 1433829 h 1433829"/>
              <a:gd name="connsiteX7" fmla="*/ 0 w 2355967"/>
              <a:gd name="connsiteY7" fmla="*/ 1035047 h 1433829"/>
              <a:gd name="connsiteX8" fmla="*/ 4763 w 2355967"/>
              <a:gd name="connsiteY8" fmla="*/ 0 h 14338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355967" h="1433829">
                <a:moveTo>
                  <a:pt x="4763" y="0"/>
                </a:moveTo>
                <a:cubicBezTo>
                  <a:pt x="30957" y="1215"/>
                  <a:pt x="178541" y="1269"/>
                  <a:pt x="398782" y="1269"/>
                </a:cubicBezTo>
                <a:lnTo>
                  <a:pt x="1955798" y="1269"/>
                </a:lnTo>
                <a:cubicBezTo>
                  <a:pt x="2176039" y="1269"/>
                  <a:pt x="2354580" y="179810"/>
                  <a:pt x="2354580" y="400051"/>
                </a:cubicBezTo>
                <a:lnTo>
                  <a:pt x="2354580" y="1035047"/>
                </a:lnTo>
                <a:cubicBezTo>
                  <a:pt x="2354580" y="1255288"/>
                  <a:pt x="2359396" y="1431446"/>
                  <a:pt x="2351086" y="1433828"/>
                </a:cubicBezTo>
                <a:lnTo>
                  <a:pt x="398782" y="1433829"/>
                </a:lnTo>
                <a:cubicBezTo>
                  <a:pt x="178541" y="1433829"/>
                  <a:pt x="0" y="1255288"/>
                  <a:pt x="0" y="1035047"/>
                </a:cubicBezTo>
                <a:cubicBezTo>
                  <a:pt x="1588" y="691619"/>
                  <a:pt x="3175" y="343428"/>
                  <a:pt x="4763" y="0"/>
                </a:cubicBezTo>
                <a:close/>
              </a:path>
            </a:pathLst>
          </a:custGeom>
          <a:noFill/>
          <a:ln w="19050">
            <a:solidFill>
              <a:srgbClr val="112A40"/>
            </a:solidFill>
          </a:ln>
        </p:spPr>
        <p:style>
          <a:lnRef idx="2">
            <a:schemeClr val="accent1">
              <a:shade val="50000"/>
            </a:schemeClr>
          </a:lnRef>
          <a:fillRef idx="1">
            <a:schemeClr val="accent1"/>
          </a:fillRef>
          <a:effectRef idx="0">
            <a:schemeClr val="accent1"/>
          </a:effectRef>
          <a:fontRef idx="minor">
            <a:schemeClr val="lt1"/>
          </a:fontRef>
        </p:style>
        <p:txBody>
          <a:bodyPr lIns="91440" tIns="91440" rIns="91440" bIns="91440" rtlCol="0" anchor="ctr">
            <a:noAutofit/>
          </a:bodyPr>
          <a:lstStyle/>
          <a:p>
            <a:pPr algn="ctr"/>
            <a:endParaRPr lang="fr-CI" sz="1400" noProof="0">
              <a:solidFill>
                <a:schemeClr val="tx2"/>
              </a:solidFill>
            </a:endParaRPr>
          </a:p>
        </p:txBody>
      </p:sp>
      <p:sp>
        <p:nvSpPr>
          <p:cNvPr id="13" name="Rectangle 12">
            <a:extLst>
              <a:ext uri="{FF2B5EF4-FFF2-40B4-BE49-F238E27FC236}">
                <a16:creationId xmlns:a16="http://schemas.microsoft.com/office/drawing/2014/main" id="{1F18419A-23F6-2CD0-B648-53C2736789A0}"/>
              </a:ext>
            </a:extLst>
          </p:cNvPr>
          <p:cNvSpPr/>
          <p:nvPr/>
        </p:nvSpPr>
        <p:spPr>
          <a:xfrm>
            <a:off x="3806664" y="3779137"/>
            <a:ext cx="2395004" cy="800458"/>
          </a:xfrm>
          <a:prstGeom prst="rect">
            <a:avLst/>
          </a:prstGeom>
        </p:spPr>
        <p:txBody>
          <a:bodyPr wrap="square" lIns="0" tIns="0" rIns="0" bIns="0">
            <a:spAutoFit/>
          </a:bodyPr>
          <a:lstStyle/>
          <a:p>
            <a:pPr>
              <a:spcBef>
                <a:spcPts val="600"/>
              </a:spcBef>
            </a:pPr>
            <a:r>
              <a:rPr lang="fr-CI" sz="1400" b="1" noProof="0">
                <a:latin typeface="Helvetica" panose="020B0604020202020204" pitchFamily="34" charset="0"/>
                <a:cs typeface="Helvetica" panose="020B0604020202020204" pitchFamily="34" charset="0"/>
              </a:rPr>
              <a:t>Emplois longs</a:t>
            </a:r>
          </a:p>
          <a:p>
            <a:pPr>
              <a:spcBef>
                <a:spcPts val="600"/>
              </a:spcBef>
            </a:pPr>
            <a:r>
              <a:rPr lang="fr-CI" sz="1200" noProof="0" b="0">
                <a:latin typeface="Helvetica" panose="020B0604020202020204" pitchFamily="34" charset="0"/>
                <a:cs typeface="Helvetica" panose="020B0604020202020204" pitchFamily="34" charset="0"/>
              </a:rPr>
              <a:t>Argent placé pour longtemps : terrains, bâtiments, prêts, avances aux structures liées.</a:t>
            </a:r>
          </a:p>
        </p:txBody>
      </p:sp>
      <p:cxnSp>
        <p:nvCxnSpPr>
          <p:cNvPr id="14" name="Straight Connector 67">
            <a:extLst>
              <a:ext uri="{FF2B5EF4-FFF2-40B4-BE49-F238E27FC236}">
                <a16:creationId xmlns:a16="http://schemas.microsoft.com/office/drawing/2014/main" id="{1187744F-1BE7-3A28-DBC2-3AB195946082}"/>
              </a:ext>
            </a:extLst>
          </p:cNvPr>
          <p:cNvCxnSpPr/>
          <p:nvPr/>
        </p:nvCxnSpPr>
        <p:spPr>
          <a:xfrm>
            <a:off x="3806664" y="4026471"/>
            <a:ext cx="2223818" cy="3600"/>
          </a:xfrm>
          <a:prstGeom prst="line">
            <a:avLst/>
          </a:prstGeom>
          <a:ln w="9525">
            <a:solidFill>
              <a:srgbClr val="BBBCBC"/>
            </a:solidFill>
            <a:headEnd type="none"/>
            <a:tailEnd type="none"/>
          </a:ln>
        </p:spPr>
        <p:style>
          <a:lnRef idx="1">
            <a:schemeClr val="accent1"/>
          </a:lnRef>
          <a:fillRef idx="0">
            <a:schemeClr val="accent1"/>
          </a:fillRef>
          <a:effectRef idx="0">
            <a:schemeClr val="accent1"/>
          </a:effectRef>
          <a:fontRef idx="minor">
            <a:schemeClr val="tx1"/>
          </a:fontRef>
        </p:style>
      </p:cxnSp>
      <p:pic>
        <p:nvPicPr>
          <p:cNvPr id="20" name="Image 19">
            <a:extLst>
              <a:ext uri="{FF2B5EF4-FFF2-40B4-BE49-F238E27FC236}">
                <a16:creationId xmlns:a16="http://schemas.microsoft.com/office/drawing/2014/main" id="{DB69389C-778C-9663-739F-408FE8EC148F}"/>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p:blipFill>
        <p:spPr>
          <a:xfrm rot="19997307">
            <a:off x="3353573" y="1583438"/>
            <a:ext cx="372797" cy="372797"/>
          </a:xfrm>
          <a:prstGeom prst="rect">
            <a:avLst/>
          </a:prstGeom>
        </p:spPr>
      </p:pic>
      <p:pic>
        <p:nvPicPr>
          <p:cNvPr id="21" name="Image 20">
            <a:extLst>
              <a:ext uri="{FF2B5EF4-FFF2-40B4-BE49-F238E27FC236}">
                <a16:creationId xmlns:a16="http://schemas.microsoft.com/office/drawing/2014/main" id="{DC22CFF3-27E2-3D77-5D88-C5CF6EB0530C}"/>
              </a:ext>
            </a:extLst>
          </p:cNvPr>
          <p:cNvPicPr>
            <a:picLocks noChangeAspect="1"/>
          </p:cNvPicPr>
          <p:nvPr/>
        </p:nvPicPr>
        <p:blipFill>
          <a:blip r:embed="rId4" cstate="print">
            <a:extLst>
              <a:ext uri="{28A0092B-C50C-407E-A947-70E740481C1C}">
                <a14:useLocalDpi xmlns:a14="http://schemas.microsoft.com/office/drawing/2010/main" val="0"/>
              </a:ext>
            </a:extLst>
          </a:blip>
          <a:srcRect/>
          <a:stretch/>
        </p:blipFill>
        <p:spPr>
          <a:xfrm>
            <a:off x="9072301" y="3639438"/>
            <a:ext cx="398425" cy="407086"/>
          </a:xfrm>
          <a:prstGeom prst="rect">
            <a:avLst/>
          </a:prstGeom>
        </p:spPr>
      </p:pic>
      <p:pic>
        <p:nvPicPr>
          <p:cNvPr id="22" name="Image 21">
            <a:extLst>
              <a:ext uri="{FF2B5EF4-FFF2-40B4-BE49-F238E27FC236}">
                <a16:creationId xmlns:a16="http://schemas.microsoft.com/office/drawing/2014/main" id="{6B846A96-4C92-37D4-AE1E-706483CE7BB4}"/>
              </a:ext>
            </a:extLst>
          </p:cNvPr>
          <p:cNvPicPr>
            <a:picLocks noChangeAspect="1"/>
          </p:cNvPicPr>
          <p:nvPr/>
        </p:nvPicPr>
        <p:blipFill>
          <a:blip r:embed="rId5" cstate="print">
            <a:extLst>
              <a:ext uri="{28A0092B-C50C-407E-A947-70E740481C1C}">
                <a14:useLocalDpi xmlns:a14="http://schemas.microsoft.com/office/drawing/2010/main" val="0"/>
              </a:ext>
            </a:extLst>
          </a:blip>
          <a:srcRect/>
          <a:stretch/>
        </p:blipFill>
        <p:spPr>
          <a:xfrm>
            <a:off x="8278416" y="1993990"/>
            <a:ext cx="331566" cy="331566"/>
          </a:xfrm>
          <a:prstGeom prst="rect">
            <a:avLst/>
          </a:prstGeom>
        </p:spPr>
      </p:pic>
      <p:pic>
        <p:nvPicPr>
          <p:cNvPr id="23" name="Image 22">
            <a:extLst>
              <a:ext uri="{FF2B5EF4-FFF2-40B4-BE49-F238E27FC236}">
                <a16:creationId xmlns:a16="http://schemas.microsoft.com/office/drawing/2014/main" id="{78F0071B-D442-D38C-01FF-77DDC6787EAE}"/>
              </a:ext>
            </a:extLst>
          </p:cNvPr>
          <p:cNvPicPr>
            <a:picLocks noChangeAspect="1"/>
          </p:cNvPicPr>
          <p:nvPr/>
        </p:nvPicPr>
        <p:blipFill>
          <a:blip r:embed="rId6">
            <a:extLst>
              <a:ext uri="{28A0092B-C50C-407E-A947-70E740481C1C}">
                <a14:useLocalDpi xmlns:a14="http://schemas.microsoft.com/office/drawing/2010/main" val="0"/>
              </a:ext>
            </a:extLst>
          </a:blip>
          <a:srcRect/>
          <a:stretch/>
        </p:blipFill>
        <p:spPr>
          <a:xfrm>
            <a:off x="3131664" y="3693061"/>
            <a:ext cx="573169" cy="579832"/>
          </a:xfrm>
          <a:prstGeom prst="rect">
            <a:avLst/>
          </a:prstGeom>
        </p:spPr>
      </p:pic>
      <p:sp>
        <p:nvSpPr>
          <p:cNvPr id="24"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Lire un ratio : les tiroirs du bilan</a:t>
            </a:r>
          </a:p>
        </p:txBody>
      </p:sp>
      <p:sp>
        <p:nvSpPr>
          <p:cNvPr id="25"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Chaque compte est rangé dans un tiroir selon le temps que met l'argent à entrer ou sortir</a:t>
            </a:r>
          </a:p>
        </p:txBody>
      </p:sp>
      <p:sp>
        <p:nvSpPr>
          <p:cNvPr id="26"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Un ratio compare le contenu de deux tiroirs. Le classement des comptes décide donc du résultat</a:t>
            </a:r>
          </a:p>
        </p:txBody>
      </p:sp>
      <p:sp>
        <p:nvSpPr>
          <p:cNvPr id="27"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PCMS (structure des classes de comptes). Adenka</a:t>
            </a:r>
          </a:p>
        </p:txBody>
      </p:sp>
      <p:sp>
        <p:nvSpPr>
          <p:cNvPr id="28" name="TextBox 27"/>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PCMS : plan comptable des mutuelles sociales</a:t>
            </a:r>
          </a:p>
        </p:txBody>
      </p:sp>
    </p:spTree>
    <p:extLst>
      <p:ext uri="{BB962C8B-B14F-4D97-AF65-F5344CB8AC3E}">
        <p14:creationId xmlns:p14="http://schemas.microsoft.com/office/powerpoint/2010/main" val="1419168722"/>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Deux lectures : comme le FPPN, puis retraitée</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Trois groupes de comptes sont rangés dans un tiroir qui ne reflète pas leur nature</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Adenka calcule d'abord chaque ratio avec les comptes tels qu'ils sont tenus, puis avec trois reclassements motivés</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PCMS, fiches n° 1 et 25. Règlement d'exécution n° 004/2022/COM/UEMOA du 1er juin 2022, art. 3. Balances du FPPN. Classement Adenka</a:t>
            </a:r>
          </a:p>
        </p:txBody>
      </p:sp>
      <p:sp>
        <p:nvSpPr>
          <p:cNvPr id="31" name="TextBox 30"/>
          <p:cNvSpPr txBox="1"/>
          <p:nvPr/>
        </p:nvSpPr>
        <p:spPr>
          <a:xfrm>
            <a:off x="503999" y="1386000"/>
            <a:ext cx="11232000" cy="216000"/>
          </a:xfrm>
          <a:prstGeom prst="rect">
            <a:avLst/>
          </a:prstGeom>
          <a:noFill/>
        </p:spPr>
        <p:txBody>
          <a:bodyPr wrap="square" anchor="t" lIns="54000" rIns="54000"/>
          <a:lstStyle/>
          <a:p>
            <a:pPr algn="ctr"/>
            <a:r>
              <a:rPr sz="1200" b="0">
                <a:solidFill>
                  <a:srgbClr val="EFAC62"/>
                </a:solidFill>
                <a:latin typeface="Helvetica"/>
              </a:rPr>
              <a:t>Tableau 15 : Reclassements de la lecture retraitée</a:t>
            </a:r>
          </a:p>
        </p:txBody>
      </p:sp>
      <p:graphicFrame>
        <p:nvGraphicFramePr>
          <p:cNvPr id="32" name="Table 31"/>
          <p:cNvGraphicFramePr>
            <a:graphicFrameLocks noGrp="1"/>
          </p:cNvGraphicFramePr>
          <p:nvPr/>
        </p:nvGraphicFramePr>
        <p:xfrm>
          <a:off x="503999" y="1655999"/>
          <a:ext cx="11232000" cy="1571603"/>
        </p:xfrm>
        <a:graphic>
          <a:graphicData uri="http://schemas.openxmlformats.org/drawingml/2006/table">
            <a:tbl>
              <a:tblPr firstRow="0" bandRow="0">
                <a:tableStyleId>{5940675A-B579-460E-94D1-54222C63F5DA}</a:tableStyleId>
              </a:tblPr>
              <a:tblGrid>
                <a:gridCol w="2376000"/>
                <a:gridCol w="1944000"/>
                <a:gridCol w="1944000"/>
                <a:gridCol w="4968000"/>
              </a:tblGrid>
              <a:tr h="225250">
                <a:tc>
                  <a:txBody>
                    <a:bodyPr/>
                    <a:lstStyle/>
                    <a:p>
                      <a:pPr marL="0" indent="0" lvl="0">
                        <a:buNone/>
                      </a:pPr>
                      <a:r>
                        <a:rPr sz="1100" b="1">
                          <a:solidFill>
                            <a:srgbClr val="FFFFFF"/>
                          </a:solidFill>
                          <a:latin typeface="Helvetica"/>
                        </a:rPr>
                        <a:t>Comptes</a:t>
                      </a:r>
                    </a:p>
                  </a:txBody>
                  <a:tcPr marL="43200" marR="43200" marT="14400" marB="14400" anchor="ctr">
                    <a:solidFill>
                      <a:srgbClr val="060606"/>
                    </a:solidFill>
                  </a:tcPr>
                </a:tc>
                <a:tc>
                  <a:txBody>
                    <a:bodyPr/>
                    <a:lstStyle/>
                    <a:p>
                      <a:pPr marL="0" indent="0" lvl="0">
                        <a:buNone/>
                      </a:pPr>
                      <a:r>
                        <a:rPr sz="1100" b="1">
                          <a:solidFill>
                            <a:srgbClr val="FFFFFF"/>
                          </a:solidFill>
                          <a:latin typeface="Helvetica"/>
                        </a:rPr>
                        <a:t>Tiroir comme le FPPN</a:t>
                      </a:r>
                    </a:p>
                  </a:txBody>
                  <a:tcPr marL="43200" marR="43200" marT="14400" marB="14400" anchor="ctr">
                    <a:solidFill>
                      <a:srgbClr val="060606"/>
                    </a:solidFill>
                  </a:tcPr>
                </a:tc>
                <a:tc>
                  <a:txBody>
                    <a:bodyPr/>
                    <a:lstStyle/>
                    <a:p>
                      <a:pPr marL="0" indent="0" lvl="0">
                        <a:buNone/>
                      </a:pPr>
                      <a:r>
                        <a:rPr sz="1100" b="1">
                          <a:solidFill>
                            <a:srgbClr val="FFFFFF"/>
                          </a:solidFill>
                          <a:latin typeface="Helvetica"/>
                        </a:rPr>
                        <a:t>Tiroir retraité</a:t>
                      </a:r>
                    </a:p>
                  </a:txBody>
                  <a:tcPr marL="43200" marR="43200" marT="14400" marB="14400" anchor="ctr">
                    <a:solidFill>
                      <a:srgbClr val="060606"/>
                    </a:solidFill>
                  </a:tcPr>
                </a:tc>
                <a:tc>
                  <a:txBody>
                    <a:bodyPr/>
                    <a:lstStyle/>
                    <a:p>
                      <a:pPr marL="0" indent="0" lvl="0">
                        <a:buNone/>
                      </a:pPr>
                      <a:r>
                        <a:rPr sz="1100" b="1">
                          <a:solidFill>
                            <a:srgbClr val="FFFFFF"/>
                          </a:solidFill>
                          <a:latin typeface="Helvetica"/>
                        </a:rPr>
                        <a:t>Raison du reclassement</a:t>
                      </a:r>
                    </a:p>
                  </a:txBody>
                  <a:tcPr marL="43200" marR="43200" marT="14400" marB="14400" anchor="ctr">
                    <a:solidFill>
                      <a:srgbClr val="060606"/>
                    </a:solidFill>
                  </a:tcPr>
                </a:tc>
              </a:tr>
              <a:tr h="392901">
                <a:tc>
                  <a:txBody>
                    <a:bodyPr/>
                    <a:lstStyle/>
                    <a:p>
                      <a:pPr marL="0" indent="0" lvl="0">
                        <a:buNone/>
                      </a:pPr>
                      <a:r>
                        <a:rPr sz="1100" b="1">
                          <a:solidFill>
                            <a:srgbClr val="060606"/>
                          </a:solidFill>
                          <a:latin typeface="Helvetica"/>
                        </a:rPr>
                        <a:t>41195100, 41195200 : épargne PEP et EFC</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Dette à court terme (classe 4)</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Ressource longue</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L'épargne est un risque long (art. 3 du règlement d'exécution) : elle n'est pas exigible en totalité dans l'année.</a:t>
                      </a:r>
                    </a:p>
                  </a:txBody>
                  <a:tcPr marL="43200" marR="43200" marT="14400" marB="14400" anchor="ctr">
                    <a:solidFill>
                      <a:srgbClr val="FFFFFF"/>
                    </a:solidFill>
                  </a:tcPr>
                </a:tc>
              </a:tr>
              <a:tr h="560551">
                <a:tc>
                  <a:txBody>
                    <a:bodyPr/>
                    <a:lstStyle/>
                    <a:p>
                      <a:pPr marL="0" indent="0" lvl="0">
                        <a:buNone/>
                      </a:pPr>
                      <a:r>
                        <a:rPr sz="1100" b="1">
                          <a:solidFill>
                            <a:srgbClr val="060606"/>
                          </a:solidFill>
                          <a:latin typeface="Helvetica"/>
                        </a:rPr>
                        <a:t>47111100 à 47111105, 47111201, 485 : avances et créances durables</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Créance à court terme (classe 4)</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Emploi long</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Ces montants financent le CMP, le Grenier et l'Hôpital de la Police depuis plusieurs années, sans remboursement à court terme.</a:t>
                      </a:r>
                    </a:p>
                  </a:txBody>
                  <a:tcPr marL="43200" marR="43200" marT="14400" marB="14400" anchor="ctr">
                    <a:solidFill>
                      <a:srgbClr val="F2F2F2"/>
                    </a:solidFill>
                  </a:tcPr>
                </a:tc>
              </a:tr>
              <a:tr h="392901">
                <a:tc>
                  <a:txBody>
                    <a:bodyPr/>
                    <a:lstStyle/>
                    <a:p>
                      <a:pPr marL="0" indent="0" lvl="0">
                        <a:buNone/>
                      </a:pPr>
                      <a:r>
                        <a:rPr sz="1100" b="1">
                          <a:solidFill>
                            <a:srgbClr val="060606"/>
                          </a:solidFill>
                          <a:latin typeface="Helvetica"/>
                        </a:rPr>
                        <a:t>10620000 : réserve disponible</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Réserve libre (libellé du FPPN)</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Nature à confirmer</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Le PCMS réserve le compte 106 aux écarts de réévaluation des immeubles, qui ne comptent pas dans la marge de solvabilité.</a:t>
                      </a:r>
                    </a:p>
                  </a:txBody>
                  <a:tcPr marL="43200" marR="43200" marT="14400" marB="14400" anchor="ctr">
                    <a:solidFill>
                      <a:srgbClr val="FFFFFF"/>
                    </a:solidFill>
                  </a:tcPr>
                </a:tc>
              </a:tr>
            </a:tbl>
          </a:graphicData>
        </a:graphic>
      </p:graphicFrame>
      <p:sp>
        <p:nvSpPr>
          <p:cNvPr id="33" name="TextBox 32"/>
          <p:cNvSpPr txBox="1"/>
          <p:nvPr/>
        </p:nvSpPr>
        <p:spPr>
          <a:xfrm>
            <a:off x="503999" y="3335604"/>
            <a:ext cx="11232000" cy="2532395"/>
          </a:xfrm>
          <a:prstGeom prst="rect">
            <a:avLst/>
          </a:prstGeom>
          <a:noFill/>
        </p:spPr>
        <p:txBody>
          <a:bodyPr wrap="square" lIns="54000" rIns="54000"/>
          <a:lstStyle/>
          <a:p>
            <a:pPr algn="just">
              <a:spcAft>
                <a:spcPts val="600"/>
              </a:spcAft>
            </a:pPr>
            <a:r>
              <a:rPr sz="1300" b="1">
                <a:solidFill>
                  <a:srgbClr val="060606"/>
                </a:solidFill>
                <a:latin typeface="Helvetica"/>
              </a:rPr>
              <a:t>Les deux lectures encadrent la réalité.</a:t>
            </a:r>
            <a:r>
              <a:rPr sz="1300" b="0">
                <a:solidFill>
                  <a:srgbClr val="060606"/>
                </a:solidFill>
                <a:latin typeface="Helvetica"/>
              </a:rPr>
              <a:t> La lecture comme le FPPN est prudente pour l'épargne, mais optimiste pour les avances durables. La lecture retraitée corrige les deux.</a:t>
            </a:r>
          </a:p>
          <a:p>
            <a:pPr algn="just">
              <a:spcAft>
                <a:spcPts val="600"/>
              </a:spcAft>
            </a:pPr>
            <a:r>
              <a:rPr sz="1300" b="1">
                <a:solidFill>
                  <a:srgbClr val="060606"/>
                </a:solidFill>
                <a:latin typeface="Helvetica"/>
              </a:rPr>
              <a:t>Implication pour le FPPN.</a:t>
            </a:r>
            <a:r>
              <a:rPr sz="1300" b="0">
                <a:solidFill>
                  <a:srgbClr val="060606"/>
                </a:solidFill>
                <a:latin typeface="Helvetica"/>
              </a:rPr>
              <a:t> La réponse définitive dépend de l'échéancier réel de l'épargne : les conditions de retrait et les âges des épargnants trancheront entre les deux lectures.</a:t>
            </a:r>
          </a:p>
        </p:txBody>
      </p:sp>
      <p:sp>
        <p:nvSpPr>
          <p:cNvPr id="34" name="TextBox 33"/>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UEMOA : Union économique et monétaire ouest-africaine | PCMS : plan comptable des mutuelles sociales | PEP : Plan Épargne Plus | EFC : entraide fin de carrière | CMP : sigle des comptes du FPPN, signification à confirmer</a:t>
            </a:r>
          </a:p>
        </p:txBody>
      </p:sp>
    </p:spTree>
    <p:extLst>
      <p:ext uri="{BB962C8B-B14F-4D97-AF65-F5344CB8AC3E}">
        <p14:creationId xmlns:p14="http://schemas.microsoft.com/office/powerpoint/2010/main" val="2733175299"/>
      </p:ext>
    </p:extLst>
  </p:cSld>
  <p:clrMapOvr>
    <a:masterClrMapping/>
  </p:clrMapOvr>
  <p:transition>
    <p:fade/>
  </p:transition>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7" name="Image 36"/>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3" name="Rectangle 22">
            <a:extLst>
              <a:ext uri="{FF2B5EF4-FFF2-40B4-BE49-F238E27FC236}">
                <a16:creationId xmlns:a16="http://schemas.microsoft.com/office/drawing/2014/main" id="{4CD23CFE-3F31-4BA9-B26F-B9B5B351518E}"/>
              </a:ext>
            </a:extLst>
          </p:cNvPr>
          <p:cNvSpPr/>
          <p:nvPr/>
        </p:nvSpPr>
        <p:spPr>
          <a:xfrm>
            <a:off x="2106184" y="1811264"/>
            <a:ext cx="9685766" cy="901761"/>
          </a:xfrm>
          <a:prstGeom prst="rect">
            <a:avLst/>
          </a:prstGeom>
          <a:ln w="12700">
            <a:solidFill>
              <a:srgbClr val="112A40"/>
            </a:solidFill>
          </a:ln>
        </p:spPr>
        <p:txBody>
          <a:bodyPr wrap="square" lIns="162000" tIns="54000" rIns="72000" bIns="54000" anchor="ctr">
            <a:noAutofit/>
          </a:bodyPr>
          <a:lstStyle/>
          <a:p>
            <a:pPr lvl="0">
              <a:lnSpc>
                <a:spcPct val="110000"/>
              </a:lnSpc>
            </a:pPr>
            <a:r>
              <a:rPr lang="fr-CI" sz="1300" b="1" noProof="0">
                <a:latin typeface="Helvetica" panose="020B0604020202020204" pitchFamily="34" charset="0"/>
                <a:ea typeface="Open Sans Semibold" panose="020B0706030804020204" pitchFamily="34" charset="0"/>
                <a:cs typeface="Helvetica" panose="020B0604020202020204" pitchFamily="34" charset="0"/>
              </a:rPr>
              <a:t>Conforme ou non conforme</a:t>
            </a:r>
          </a:p>
          <a:p>
            <a:pPr lvl="0">
              <a:lnSpc>
                <a:spcPct val="110000"/>
              </a:lnSpc>
            </a:pPr>
            <a:r>
              <a:rPr lang="fr-CI" sz="1150" noProof="0" b="0">
                <a:latin typeface="Helvetica" panose="020B0604020202020204" pitchFamily="34" charset="0"/>
                <a:ea typeface="Open Sans Light" panose="020B0306030504020204" pitchFamily="34" charset="0"/>
                <a:cs typeface="Helvetica" panose="020B0604020202020204" pitchFamily="34" charset="0"/>
              </a:rPr>
              <a:t>Un ratio est conforme quand sa valeur respecte la norme chiffrée de la Décision n° 05/2022. Il est non conforme sinon. Pour une fourchette, une valeur au-dessus de la borne haute est signalée à part.</a:t>
            </a:r>
          </a:p>
        </p:txBody>
      </p:sp>
      <p:sp>
        <p:nvSpPr>
          <p:cNvPr id="28" name="Rectangle 27">
            <a:extLst>
              <a:ext uri="{FF2B5EF4-FFF2-40B4-BE49-F238E27FC236}">
                <a16:creationId xmlns:a16="http://schemas.microsoft.com/office/drawing/2014/main" id="{9B9B23AA-050D-4543-80A0-873FE31AFFF7}"/>
              </a:ext>
            </a:extLst>
          </p:cNvPr>
          <p:cNvSpPr/>
          <p:nvPr/>
        </p:nvSpPr>
        <p:spPr>
          <a:xfrm>
            <a:off x="1538714" y="1463475"/>
            <a:ext cx="5748535" cy="166944"/>
          </a:xfrm>
          <a:prstGeom prst="rect">
            <a:avLst/>
          </a:prstGeom>
        </p:spPr>
        <p:txBody>
          <a:bodyPr wrap="square" lIns="0" tIns="0" rIns="0" bIns="0">
            <a:spAutoFit/>
          </a:bodyPr>
          <a:lstStyle/>
          <a:p>
            <a:pPr lvl="0">
              <a:lnSpc>
                <a:spcPct val="110000"/>
              </a:lnSpc>
            </a:pPr>
            <a:r>
              <a:rPr lang="fr-CI" sz="1300" b="1" noProof="0">
                <a:latin typeface="Helvetica" panose="020B0604020202020204" pitchFamily="34" charset="0"/>
                <a:ea typeface="Open Sans Semibold" panose="020B0706030804020204" pitchFamily="34" charset="0"/>
                <a:cs typeface="Helvetica" panose="020B0604020202020204" pitchFamily="34" charset="0"/>
              </a:rPr>
              <a:t/>
            </a:r>
          </a:p>
        </p:txBody>
      </p:sp>
      <p:cxnSp>
        <p:nvCxnSpPr>
          <p:cNvPr id="29" name="Straight Connector 28">
            <a:extLst>
              <a:ext uri="{FF2B5EF4-FFF2-40B4-BE49-F238E27FC236}">
                <a16:creationId xmlns:a16="http://schemas.microsoft.com/office/drawing/2014/main" id="{09E553D9-3562-45A7-BE4B-0F12FAA0490F}"/>
              </a:ext>
            </a:extLst>
          </p:cNvPr>
          <p:cNvCxnSpPr>
            <a:cxnSpLocks/>
          </p:cNvCxnSpPr>
          <p:nvPr/>
        </p:nvCxnSpPr>
        <p:spPr>
          <a:xfrm>
            <a:off x="916803" y="1707866"/>
            <a:ext cx="0" cy="3668091"/>
          </a:xfrm>
          <a:prstGeom prst="line">
            <a:avLst/>
          </a:prstGeom>
          <a:ln w="12700">
            <a:solidFill>
              <a:srgbClr val="112A40"/>
            </a:solidFill>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DA735D38-741F-4EFB-826C-6F87FD459AB4}"/>
              </a:ext>
            </a:extLst>
          </p:cNvPr>
          <p:cNvCxnSpPr/>
          <p:nvPr/>
        </p:nvCxnSpPr>
        <p:spPr>
          <a:xfrm>
            <a:off x="916803" y="2291826"/>
            <a:ext cx="621911" cy="3600"/>
          </a:xfrm>
          <a:prstGeom prst="line">
            <a:avLst/>
          </a:prstGeom>
          <a:ln w="12700">
            <a:solidFill>
              <a:srgbClr val="112A40"/>
            </a:solidFill>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EBCFE36B-AE16-49E8-90A6-6621A0EB0473}"/>
              </a:ext>
            </a:extLst>
          </p:cNvPr>
          <p:cNvCxnSpPr/>
          <p:nvPr/>
        </p:nvCxnSpPr>
        <p:spPr>
          <a:xfrm>
            <a:off x="916803" y="3273370"/>
            <a:ext cx="621911" cy="3600"/>
          </a:xfrm>
          <a:prstGeom prst="line">
            <a:avLst/>
          </a:prstGeom>
          <a:ln w="12700">
            <a:solidFill>
              <a:srgbClr val="112A40"/>
            </a:solidFill>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2697F6E2-C26B-4E5F-B7F9-95C6E9325040}"/>
              </a:ext>
            </a:extLst>
          </p:cNvPr>
          <p:cNvCxnSpPr/>
          <p:nvPr/>
        </p:nvCxnSpPr>
        <p:spPr>
          <a:xfrm>
            <a:off x="916803" y="5368324"/>
            <a:ext cx="621911" cy="3600"/>
          </a:xfrm>
          <a:prstGeom prst="line">
            <a:avLst/>
          </a:prstGeom>
          <a:ln w="12700">
            <a:solidFill>
              <a:srgbClr val="112A40"/>
            </a:solidFill>
          </a:ln>
        </p:spPr>
        <p:style>
          <a:lnRef idx="1">
            <a:schemeClr val="accent1"/>
          </a:lnRef>
          <a:fillRef idx="0">
            <a:schemeClr val="accent1"/>
          </a:fillRef>
          <a:effectRef idx="0">
            <a:schemeClr val="accent1"/>
          </a:effectRef>
          <a:fontRef idx="minor">
            <a:schemeClr val="tx1"/>
          </a:fontRef>
        </p:style>
      </p:cxnSp>
      <p:sp>
        <p:nvSpPr>
          <p:cNvPr id="24" name="Rectangle 23">
            <a:extLst>
              <a:ext uri="{FF2B5EF4-FFF2-40B4-BE49-F238E27FC236}">
                <a16:creationId xmlns:a16="http://schemas.microsoft.com/office/drawing/2014/main" id="{4CD23CFE-3F31-4BA9-B26F-B9B5B351518E}"/>
              </a:ext>
            </a:extLst>
          </p:cNvPr>
          <p:cNvSpPr/>
          <p:nvPr/>
        </p:nvSpPr>
        <p:spPr>
          <a:xfrm>
            <a:off x="2103510" y="2847523"/>
            <a:ext cx="9685766" cy="901761"/>
          </a:xfrm>
          <a:prstGeom prst="rect">
            <a:avLst/>
          </a:prstGeom>
          <a:ln w="12700">
            <a:solidFill>
              <a:srgbClr val="112A40"/>
            </a:solidFill>
          </a:ln>
        </p:spPr>
        <p:txBody>
          <a:bodyPr wrap="square" lIns="162000" tIns="54000" rIns="72000" bIns="54000" anchor="ctr">
            <a:noAutofit/>
          </a:bodyPr>
          <a:lstStyle/>
          <a:p>
            <a:pPr lvl="0">
              <a:lnSpc>
                <a:spcPct val="110000"/>
              </a:lnSpc>
            </a:pPr>
            <a:r>
              <a:rPr lang="fr-CI" sz="1300" b="1" noProof="0">
                <a:latin typeface="Helvetica" panose="020B0604020202020204" pitchFamily="34" charset="0"/>
                <a:ea typeface="Open Sans Semibold" panose="020B0706030804020204" pitchFamily="34" charset="0"/>
                <a:cs typeface="Helvetica" panose="020B0604020202020204" pitchFamily="34" charset="0"/>
              </a:rPr>
              <a:t>En attente</a:t>
            </a:r>
          </a:p>
          <a:p>
            <a:pPr lvl="0">
              <a:lnSpc>
                <a:spcPct val="110000"/>
              </a:lnSpc>
            </a:pPr>
            <a:r>
              <a:rPr lang="fr-CI" sz="1150" noProof="0" b="0">
                <a:latin typeface="Helvetica" panose="020B0604020202020204" pitchFamily="34" charset="0"/>
                <a:ea typeface="Open Sans Light" panose="020B0306030504020204" pitchFamily="34" charset="0"/>
                <a:cs typeface="Helvetica" panose="020B0604020202020204" pitchFamily="34" charset="0"/>
              </a:rPr>
              <a:t>Un ratio est en attente quand une donnée nécessaire n'a pas été transmise : fichiers aller des postes 936 et 8Z6, procès-verbaux, registre des contrôles, cotisation au FNG.</a:t>
            </a:r>
          </a:p>
        </p:txBody>
      </p:sp>
      <p:sp>
        <p:nvSpPr>
          <p:cNvPr id="33" name="Rectangle 32">
            <a:extLst>
              <a:ext uri="{FF2B5EF4-FFF2-40B4-BE49-F238E27FC236}">
                <a16:creationId xmlns:a16="http://schemas.microsoft.com/office/drawing/2014/main" id="{4CD23CFE-3F31-4BA9-B26F-B9B5B351518E}"/>
              </a:ext>
            </a:extLst>
          </p:cNvPr>
          <p:cNvSpPr/>
          <p:nvPr/>
        </p:nvSpPr>
        <p:spPr>
          <a:xfrm>
            <a:off x="2125344" y="3881185"/>
            <a:ext cx="9685766" cy="901761"/>
          </a:xfrm>
          <a:prstGeom prst="rect">
            <a:avLst/>
          </a:prstGeom>
          <a:ln w="12700">
            <a:solidFill>
              <a:srgbClr val="112A40"/>
            </a:solidFill>
          </a:ln>
        </p:spPr>
        <p:txBody>
          <a:bodyPr wrap="square" lIns="162000" tIns="54000" rIns="72000" bIns="54000" anchor="ctr">
            <a:noAutofit/>
          </a:bodyPr>
          <a:lstStyle/>
          <a:p>
            <a:pPr lvl="0">
              <a:lnSpc>
                <a:spcPct val="110000"/>
              </a:lnSpc>
            </a:pPr>
            <a:r>
              <a:rPr lang="fr-CI" sz="1300" b="1" noProof="0">
                <a:latin typeface="Helvetica" panose="020B0604020202020204" pitchFamily="34" charset="0"/>
                <a:ea typeface="Open Sans Semibold" panose="020B0706030804020204" pitchFamily="34" charset="0"/>
                <a:cs typeface="Helvetica" panose="020B0604020202020204" pitchFamily="34" charset="0"/>
              </a:rPr>
              <a:t>À apprécier</a:t>
            </a:r>
          </a:p>
          <a:p>
            <a:pPr lvl="0">
              <a:lnSpc>
                <a:spcPct val="110000"/>
              </a:lnSpc>
            </a:pPr>
            <a:r>
              <a:rPr lang="fr-CI" sz="1150" noProof="0" b="0">
                <a:latin typeface="Helvetica" panose="020B0604020202020204" pitchFamily="34" charset="0"/>
                <a:ea typeface="Open Sans Light" panose="020B0306030504020204" pitchFamily="34" charset="0"/>
                <a:cs typeface="Helvetica" panose="020B0604020202020204" pitchFamily="34" charset="0"/>
              </a:rPr>
              <a:t>Un ratio est à apprécier quand la norme n'est pas chiffrée : délai contractuel, objectif du plan stratégique, solde « avoisinant zéro », taux moyen du marché.</a:t>
            </a:r>
          </a:p>
        </p:txBody>
      </p:sp>
      <p:sp>
        <p:nvSpPr>
          <p:cNvPr id="34" name="Rectangle 33">
            <a:extLst>
              <a:ext uri="{FF2B5EF4-FFF2-40B4-BE49-F238E27FC236}">
                <a16:creationId xmlns:a16="http://schemas.microsoft.com/office/drawing/2014/main" id="{4CD23CFE-3F31-4BA9-B26F-B9B5B351518E}"/>
              </a:ext>
            </a:extLst>
          </p:cNvPr>
          <p:cNvSpPr/>
          <p:nvPr/>
        </p:nvSpPr>
        <p:spPr>
          <a:xfrm>
            <a:off x="2122670" y="4917444"/>
            <a:ext cx="9685766" cy="901761"/>
          </a:xfrm>
          <a:prstGeom prst="rect">
            <a:avLst/>
          </a:prstGeom>
          <a:ln w="12700">
            <a:solidFill>
              <a:srgbClr val="112A40"/>
            </a:solidFill>
          </a:ln>
        </p:spPr>
        <p:txBody>
          <a:bodyPr wrap="square" lIns="162000" tIns="54000" rIns="72000" bIns="54000" anchor="ctr">
            <a:noAutofit/>
          </a:bodyPr>
          <a:lstStyle/>
          <a:p>
            <a:pPr lvl="1">
              <a:lnSpc>
                <a:spcPct val="110000"/>
              </a:lnSpc>
            </a:pPr>
            <a:r>
              <a:rPr lang="fr-CI" sz="1300" b="1" noProof="0">
                <a:latin typeface="Helvetica" panose="020B0604020202020204" pitchFamily="34" charset="0"/>
                <a:ea typeface="Open Sans Semibold" panose="020B0706030804020204" pitchFamily="34" charset="0"/>
                <a:cs typeface="Helvetica" panose="020B0604020202020204" pitchFamily="34" charset="0"/>
              </a:rPr>
              <a:t>Période jugée</a:t>
            </a:r>
          </a:p>
          <a:p>
            <a:pPr lvl="1">
              <a:lnSpc>
                <a:spcPct val="110000"/>
              </a:lnSpc>
            </a:pPr>
            <a:r>
              <a:rPr lang="fr-CI" sz="1150" noProof="0" b="0">
                <a:latin typeface="Helvetica" panose="020B0604020202020204" pitchFamily="34" charset="0"/>
                <a:ea typeface="Open Sans Light" panose="020B0306030504020204" pitchFamily="34" charset="0"/>
                <a:cs typeface="Helvetica" panose="020B0604020202020204" pitchFamily="34" charset="0"/>
              </a:rPr>
              <a:t>La Décision est entrée en vigueur le 1er juin 2022 : 2020 et 2021 sont indicatifs, comme les huit mois provisoires de 2026. Deux exercices non conformes de suite sont signalés, car l'article 84 du règlement n° 07/2009 prévoit alors le retrait d'agrément.</a:t>
            </a:r>
            <a:endParaRPr lang="fr-CI" sz="1200">
              <a:latin typeface="Helvetica" panose="020B0604020202020204" pitchFamily="34" charset="0"/>
              <a:ea typeface="Open Sans Light" panose="020B0306030504020204" pitchFamily="34" charset="0"/>
              <a:cs typeface="Helvetica" panose="020B0604020202020204" pitchFamily="34" charset="0"/>
            </a:endParaRPr>
          </a:p>
        </p:txBody>
      </p:sp>
      <p:cxnSp>
        <p:nvCxnSpPr>
          <p:cNvPr id="39" name="Straight Connector 30">
            <a:extLst>
              <a:ext uri="{FF2B5EF4-FFF2-40B4-BE49-F238E27FC236}">
                <a16:creationId xmlns:a16="http://schemas.microsoft.com/office/drawing/2014/main" id="{EBCFE36B-AE16-49E8-90A6-6621A0EB0473}"/>
              </a:ext>
            </a:extLst>
          </p:cNvPr>
          <p:cNvCxnSpPr/>
          <p:nvPr/>
        </p:nvCxnSpPr>
        <p:spPr>
          <a:xfrm>
            <a:off x="919504" y="4326976"/>
            <a:ext cx="621911" cy="3600"/>
          </a:xfrm>
          <a:prstGeom prst="line">
            <a:avLst/>
          </a:prstGeom>
          <a:ln w="12700">
            <a:solidFill>
              <a:srgbClr val="112A40"/>
            </a:solidFill>
          </a:ln>
        </p:spPr>
        <p:style>
          <a:lnRef idx="1">
            <a:schemeClr val="accent1"/>
          </a:lnRef>
          <a:fillRef idx="0">
            <a:schemeClr val="accent1"/>
          </a:fillRef>
          <a:effectRef idx="0">
            <a:schemeClr val="accent1"/>
          </a:effectRef>
          <a:fontRef idx="minor">
            <a:schemeClr val="tx1"/>
          </a:fontRef>
        </p:style>
      </p:cxnSp>
      <p:grpSp>
        <p:nvGrpSpPr>
          <p:cNvPr id="11" name="Groupe 10"/>
          <p:cNvGrpSpPr/>
          <p:nvPr/>
        </p:nvGrpSpPr>
        <p:grpSpPr>
          <a:xfrm>
            <a:off x="1554870" y="2047565"/>
            <a:ext cx="548640" cy="548640"/>
            <a:chOff x="-1153645" y="1535690"/>
            <a:chExt cx="548640" cy="548640"/>
          </a:xfrm>
        </p:grpSpPr>
        <p:sp>
          <p:nvSpPr>
            <p:cNvPr id="36" name="Oval 21">
              <a:extLst>
                <a:ext uri="{FF2B5EF4-FFF2-40B4-BE49-F238E27FC236}">
                  <a16:creationId xmlns:a16="http://schemas.microsoft.com/office/drawing/2014/main" id="{7BB796F0-2DE6-45B1-851B-D8991F423CF4}"/>
                </a:ext>
              </a:extLst>
            </p:cNvPr>
            <p:cNvSpPr/>
            <p:nvPr/>
          </p:nvSpPr>
          <p:spPr bwMode="gray">
            <a:xfrm>
              <a:off x="-1153645" y="1535690"/>
              <a:ext cx="548640" cy="548640"/>
            </a:xfrm>
            <a:prstGeom prst="ellipse">
              <a:avLst/>
            </a:prstGeom>
            <a:solidFill>
              <a:schemeClr val="tx1"/>
            </a:solidFill>
            <a:ln w="19050" algn="ctr">
              <a:noFill/>
              <a:miter lim="800000"/>
              <a:headEnd/>
              <a:tailEnd/>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 typeface="Wingdings 2" pitchFamily="18" charset="2"/>
                <a:buNone/>
                <a:tabLst/>
                <a:defRPr/>
              </a:pPr>
              <a:endParaRPr kumimoji="0" lang="fr-CI" sz="1100" b="1" i="0" u="none" strike="noStrike" kern="1200" cap="none" spc="0" normalizeH="0" baseline="0" noProof="0">
                <a:ln>
                  <a:noFill/>
                </a:ln>
                <a:solidFill>
                  <a:prstClr val="white"/>
                </a:solidFill>
                <a:effectLst/>
                <a:uLnTx/>
                <a:uFillTx/>
                <a:latin typeface="Helvetica" panose="020B0604020202020204" pitchFamily="34" charset="0"/>
                <a:ea typeface="Open Sans Semibold" panose="020B0706030804020204" pitchFamily="34" charset="0"/>
                <a:cs typeface="Helvetica" panose="020B0604020202020204" pitchFamily="34" charset="0"/>
              </a:endParaRPr>
            </a:p>
          </p:txBody>
        </p:sp>
        <p:pic>
          <p:nvPicPr>
            <p:cNvPr id="40" name="Image 39"/>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23163" y="1564148"/>
              <a:ext cx="486259" cy="491723"/>
            </a:xfrm>
            <a:prstGeom prst="rect">
              <a:avLst/>
            </a:prstGeom>
          </p:spPr>
        </p:pic>
      </p:grpSp>
      <p:grpSp>
        <p:nvGrpSpPr>
          <p:cNvPr id="12" name="Groupe 11"/>
          <p:cNvGrpSpPr/>
          <p:nvPr/>
        </p:nvGrpSpPr>
        <p:grpSpPr>
          <a:xfrm>
            <a:off x="1557425" y="3008849"/>
            <a:ext cx="548640" cy="548640"/>
            <a:chOff x="-1154302" y="2719457"/>
            <a:chExt cx="548640" cy="548640"/>
          </a:xfrm>
        </p:grpSpPr>
        <p:sp>
          <p:nvSpPr>
            <p:cNvPr id="42" name="Oval 21">
              <a:extLst>
                <a:ext uri="{FF2B5EF4-FFF2-40B4-BE49-F238E27FC236}">
                  <a16:creationId xmlns:a16="http://schemas.microsoft.com/office/drawing/2014/main" id="{7BB796F0-2DE6-45B1-851B-D8991F423CF4}"/>
                </a:ext>
              </a:extLst>
            </p:cNvPr>
            <p:cNvSpPr/>
            <p:nvPr/>
          </p:nvSpPr>
          <p:spPr bwMode="gray">
            <a:xfrm>
              <a:off x="-1154302" y="2719457"/>
              <a:ext cx="548640" cy="548640"/>
            </a:xfrm>
            <a:prstGeom prst="ellipse">
              <a:avLst/>
            </a:prstGeom>
            <a:solidFill>
              <a:schemeClr val="tx1"/>
            </a:solidFill>
            <a:ln w="19050" algn="ctr">
              <a:noFill/>
              <a:miter lim="800000"/>
              <a:headEnd/>
              <a:tailEnd/>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 typeface="Wingdings 2" pitchFamily="18" charset="2"/>
                <a:buNone/>
                <a:tabLst/>
                <a:defRPr/>
              </a:pPr>
              <a:endParaRPr kumimoji="0" lang="fr-CI" sz="1100" b="1" i="0" u="none" strike="noStrike" kern="1200" cap="none" spc="0" normalizeH="0" baseline="0" noProof="0">
                <a:ln>
                  <a:noFill/>
                </a:ln>
                <a:solidFill>
                  <a:prstClr val="white"/>
                </a:solidFill>
                <a:effectLst/>
                <a:uLnTx/>
                <a:uFillTx/>
                <a:latin typeface="Helvetica" panose="020B0604020202020204" pitchFamily="34" charset="0"/>
                <a:ea typeface="Open Sans Semibold" panose="020B0706030804020204" pitchFamily="34" charset="0"/>
                <a:cs typeface="Helvetica" panose="020B0604020202020204" pitchFamily="34" charset="0"/>
              </a:endParaRPr>
            </a:p>
          </p:txBody>
        </p:sp>
        <p:pic>
          <p:nvPicPr>
            <p:cNvPr id="7" name="Image 6"/>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74901" y="2781886"/>
              <a:ext cx="396274" cy="396274"/>
            </a:xfrm>
            <a:prstGeom prst="rect">
              <a:avLst/>
            </a:prstGeom>
          </p:spPr>
        </p:pic>
      </p:grpSp>
      <p:grpSp>
        <p:nvGrpSpPr>
          <p:cNvPr id="13" name="Groupe 12"/>
          <p:cNvGrpSpPr/>
          <p:nvPr/>
        </p:nvGrpSpPr>
        <p:grpSpPr>
          <a:xfrm>
            <a:off x="1567381" y="4044725"/>
            <a:ext cx="548640" cy="552951"/>
            <a:chOff x="-1185544" y="4122202"/>
            <a:chExt cx="548640" cy="552951"/>
          </a:xfrm>
        </p:grpSpPr>
        <p:sp>
          <p:nvSpPr>
            <p:cNvPr id="44" name="Oval 21">
              <a:extLst>
                <a:ext uri="{FF2B5EF4-FFF2-40B4-BE49-F238E27FC236}">
                  <a16:creationId xmlns:a16="http://schemas.microsoft.com/office/drawing/2014/main" id="{7BB796F0-2DE6-45B1-851B-D8991F423CF4}"/>
                </a:ext>
              </a:extLst>
            </p:cNvPr>
            <p:cNvSpPr/>
            <p:nvPr/>
          </p:nvSpPr>
          <p:spPr bwMode="gray">
            <a:xfrm>
              <a:off x="-1185544" y="4122202"/>
              <a:ext cx="548640" cy="548640"/>
            </a:xfrm>
            <a:prstGeom prst="ellipse">
              <a:avLst/>
            </a:prstGeom>
            <a:solidFill>
              <a:schemeClr val="tx1"/>
            </a:solidFill>
            <a:ln w="19050" algn="ctr">
              <a:noFill/>
              <a:miter lim="800000"/>
              <a:headEnd/>
              <a:tailEnd/>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 typeface="Wingdings 2" pitchFamily="18" charset="2"/>
                <a:buNone/>
                <a:tabLst/>
                <a:defRPr/>
              </a:pPr>
              <a:endParaRPr kumimoji="0" lang="fr-CI" sz="1100" b="1" i="0" u="none" strike="noStrike" kern="1200" cap="none" spc="0" normalizeH="0" baseline="0" noProof="0">
                <a:ln>
                  <a:noFill/>
                </a:ln>
                <a:solidFill>
                  <a:prstClr val="white"/>
                </a:solidFill>
                <a:effectLst/>
                <a:uLnTx/>
                <a:uFillTx/>
                <a:latin typeface="Helvetica" panose="020B0604020202020204" pitchFamily="34" charset="0"/>
                <a:ea typeface="Open Sans Semibold" panose="020B0706030804020204" pitchFamily="34" charset="0"/>
                <a:cs typeface="Helvetica" panose="020B0604020202020204" pitchFamily="34" charset="0"/>
              </a:endParaRPr>
            </a:p>
          </p:txBody>
        </p:sp>
        <p:pic>
          <p:nvPicPr>
            <p:cNvPr id="8" name="Image 7"/>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171838" y="4144755"/>
              <a:ext cx="524301" cy="530398"/>
            </a:xfrm>
            <a:prstGeom prst="rect">
              <a:avLst/>
            </a:prstGeom>
          </p:spPr>
        </p:pic>
      </p:grpSp>
      <p:grpSp>
        <p:nvGrpSpPr>
          <p:cNvPr id="14" name="Groupe 13"/>
          <p:cNvGrpSpPr/>
          <p:nvPr/>
        </p:nvGrpSpPr>
        <p:grpSpPr>
          <a:xfrm>
            <a:off x="1567381" y="5111071"/>
            <a:ext cx="548640" cy="548640"/>
            <a:chOff x="-1227267" y="5286500"/>
            <a:chExt cx="548640" cy="548640"/>
          </a:xfrm>
        </p:grpSpPr>
        <p:sp>
          <p:nvSpPr>
            <p:cNvPr id="45" name="Oval 21">
              <a:extLst>
                <a:ext uri="{FF2B5EF4-FFF2-40B4-BE49-F238E27FC236}">
                  <a16:creationId xmlns:a16="http://schemas.microsoft.com/office/drawing/2014/main" id="{7BB796F0-2DE6-45B1-851B-D8991F423CF4}"/>
                </a:ext>
              </a:extLst>
            </p:cNvPr>
            <p:cNvSpPr/>
            <p:nvPr/>
          </p:nvSpPr>
          <p:spPr bwMode="gray">
            <a:xfrm>
              <a:off x="-1227267" y="5286500"/>
              <a:ext cx="548640" cy="548640"/>
            </a:xfrm>
            <a:prstGeom prst="ellipse">
              <a:avLst/>
            </a:prstGeom>
            <a:solidFill>
              <a:schemeClr val="tx1"/>
            </a:solidFill>
            <a:ln w="19050" algn="ctr">
              <a:noFill/>
              <a:miter lim="800000"/>
              <a:headEnd/>
              <a:tailEnd/>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 typeface="Wingdings 2" pitchFamily="18" charset="2"/>
                <a:buNone/>
                <a:tabLst/>
                <a:defRPr/>
              </a:pPr>
              <a:endParaRPr kumimoji="0" lang="fr-CI" sz="1100" b="1" i="0" u="none" strike="noStrike" kern="1200" cap="none" spc="0" normalizeH="0" baseline="0" noProof="0">
                <a:ln>
                  <a:noFill/>
                </a:ln>
                <a:solidFill>
                  <a:prstClr val="white"/>
                </a:solidFill>
                <a:effectLst/>
                <a:uLnTx/>
                <a:uFillTx/>
                <a:latin typeface="Helvetica" panose="020B0604020202020204" pitchFamily="34" charset="0"/>
                <a:ea typeface="Open Sans Semibold" panose="020B0706030804020204" pitchFamily="34" charset="0"/>
                <a:cs typeface="Helvetica" panose="020B0604020202020204" pitchFamily="34" charset="0"/>
              </a:endParaRPr>
            </a:p>
          </p:txBody>
        </p:sp>
        <p:pic>
          <p:nvPicPr>
            <p:cNvPr id="9" name="Image 8"/>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1171838" y="5346402"/>
              <a:ext cx="422834" cy="432026"/>
            </a:xfrm>
            <a:prstGeom prst="rect">
              <a:avLst/>
            </a:prstGeom>
          </p:spPr>
        </p:pic>
      </p:grpSp>
      <p:sp>
        <p:nvSpPr>
          <p:cNvPr id="50" name="ZoneTexte 49">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pic>
        <p:nvPicPr>
          <p:cNvPr id="51" name="Image 50"/>
          <p:cNvPicPr>
            <a:picLocks noChangeAspect="1"/>
          </p:cNvPicPr>
          <p:nvPr/>
        </p:nvPicPr>
        <p:blipFill rotWithShape="1">
          <a:blip r:embed="rId7" cstate="print">
            <a:extLst>
              <a:ext uri="{28A0092B-C50C-407E-A947-70E740481C1C}">
                <a14:useLocalDpi xmlns:a14="http://schemas.microsoft.com/office/drawing/2010/main" val="0"/>
              </a:ext>
            </a:extLst>
          </a:blip>
          <a:srcRect l="4260" t="13024" r="74155" b="14121"/>
          <a:stretch/>
        </p:blipFill>
        <p:spPr>
          <a:xfrm>
            <a:off x="702475" y="1350400"/>
            <a:ext cx="392679" cy="406703"/>
          </a:xfrm>
          <a:prstGeom prst="rect">
            <a:avLst/>
          </a:prstGeom>
        </p:spPr>
      </p:pic>
      <p:sp>
        <p:nvSpPr>
          <p:cNvPr id="52"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Règle de statut</a:t>
            </a:r>
          </a:p>
        </p:txBody>
      </p:sp>
      <p:sp>
        <p:nvSpPr>
          <p:cNvPr id="53"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Le statut de chaque ratio suit une règle écrite et vérifiable</a:t>
            </a:r>
          </a:p>
        </p:txBody>
      </p:sp>
      <p:sp>
        <p:nvSpPr>
          <p:cNvPr id="54"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Le statut compare la valeur calculée à la norme du texte. Il est jugé sur les exercices 2022 à 2025</a:t>
            </a:r>
          </a:p>
        </p:txBody>
      </p:sp>
      <p:sp>
        <p:nvSpPr>
          <p:cNvPr id="55"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Décision n° 05/2022/COM/UEMOA du 1er juin 2022, annexe, article 3. Règlement n° 07/2009/CM/UEMOA du 26 juin 2009, art. 84. Adenka</a:t>
            </a:r>
          </a:p>
        </p:txBody>
      </p:sp>
      <p:sp>
        <p:nvSpPr>
          <p:cNvPr id="56" name="TextBox 55"/>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UEMOA : Union économique et monétaire ouest-africaine | FNG : fonds national de garantie | 936 : poste maladie | 8Z6 : poste décès</a:t>
            </a:r>
          </a:p>
        </p:txBody>
      </p:sp>
    </p:spTree>
    <p:extLst>
      <p:ext uri="{BB962C8B-B14F-4D97-AF65-F5344CB8AC3E}">
        <p14:creationId xmlns:p14="http://schemas.microsoft.com/office/powerpoint/2010/main" val="2779715071"/>
      </p:ext>
    </p:extLst>
  </p:cSld>
  <p:clrMapOvr>
    <a:masterClrMapping/>
  </p:clrMapOvr>
  <p:transition>
    <p:fade/>
  </p:transition>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 name="Image 15"/>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1" name="ZoneTexte 20">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9" name="Google Shape;8472;p64"/>
          <p:cNvSpPr/>
          <p:nvPr/>
        </p:nvSpPr>
        <p:spPr>
          <a:xfrm>
            <a:off x="6398615" y="4634460"/>
            <a:ext cx="27543" cy="15536"/>
          </a:xfrm>
          <a:custGeom>
            <a:avLst/>
            <a:gdLst/>
            <a:ahLst/>
            <a:cxnLst/>
            <a:rect l="l" t="t" r="r" b="b"/>
            <a:pathLst>
              <a:path w="718" h="405" extrusionOk="0">
                <a:moveTo>
                  <a:pt x="0" y="1"/>
                </a:moveTo>
                <a:cubicBezTo>
                  <a:pt x="157" y="92"/>
                  <a:pt x="313" y="196"/>
                  <a:pt x="469" y="300"/>
                </a:cubicBezTo>
                <a:cubicBezTo>
                  <a:pt x="535" y="327"/>
                  <a:pt x="587" y="379"/>
                  <a:pt x="665" y="392"/>
                </a:cubicBezTo>
                <a:cubicBezTo>
                  <a:pt x="678" y="405"/>
                  <a:pt x="691" y="405"/>
                  <a:pt x="717" y="405"/>
                </a:cubicBezTo>
                <a:cubicBezTo>
                  <a:pt x="482" y="261"/>
                  <a:pt x="248" y="118"/>
                  <a:pt x="0" y="1"/>
                </a:cubicBezTo>
                <a:close/>
              </a:path>
            </a:pathLst>
          </a:custGeom>
          <a:solidFill>
            <a:srgbClr val="BA6C2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fr-CI" noProof="0">
              <a:solidFill>
                <a:schemeClr val="bg1"/>
              </a:solidFill>
              <a:latin typeface="Helvetica" panose="020B0604020202020204" pitchFamily="34" charset="0"/>
              <a:cs typeface="Helvetica" panose="020B0604020202020204" pitchFamily="34" charset="0"/>
            </a:endParaRPr>
          </a:p>
        </p:txBody>
      </p:sp>
      <p:sp>
        <p:nvSpPr>
          <p:cNvPr id="25" name="Google Shape;6489;p32"/>
          <p:cNvSpPr/>
          <p:nvPr/>
        </p:nvSpPr>
        <p:spPr>
          <a:xfrm rot="6194666">
            <a:off x="7534623" y="3415586"/>
            <a:ext cx="510848" cy="1956086"/>
          </a:xfrm>
          <a:custGeom>
            <a:avLst/>
            <a:gdLst/>
            <a:ahLst/>
            <a:cxnLst/>
            <a:rect l="l" t="t" r="r" b="b"/>
            <a:pathLst>
              <a:path w="5410" h="10537" extrusionOk="0">
                <a:moveTo>
                  <a:pt x="4708" y="1"/>
                </a:moveTo>
                <a:cubicBezTo>
                  <a:pt x="4660" y="1"/>
                  <a:pt x="4607" y="10"/>
                  <a:pt x="4549" y="28"/>
                </a:cubicBezTo>
                <a:cubicBezTo>
                  <a:pt x="4184" y="145"/>
                  <a:pt x="3872" y="354"/>
                  <a:pt x="3533" y="523"/>
                </a:cubicBezTo>
                <a:cubicBezTo>
                  <a:pt x="2021" y="1318"/>
                  <a:pt x="887" y="2478"/>
                  <a:pt x="274" y="4095"/>
                </a:cubicBezTo>
                <a:cubicBezTo>
                  <a:pt x="65" y="4616"/>
                  <a:pt x="13" y="5164"/>
                  <a:pt x="0" y="5985"/>
                </a:cubicBezTo>
                <a:cubicBezTo>
                  <a:pt x="13" y="7067"/>
                  <a:pt x="600" y="8110"/>
                  <a:pt x="1630" y="8931"/>
                </a:cubicBezTo>
                <a:cubicBezTo>
                  <a:pt x="1825" y="9087"/>
                  <a:pt x="2034" y="9231"/>
                  <a:pt x="2242" y="9387"/>
                </a:cubicBezTo>
                <a:cubicBezTo>
                  <a:pt x="2881" y="9895"/>
                  <a:pt x="3624" y="10221"/>
                  <a:pt x="4393" y="10469"/>
                </a:cubicBezTo>
                <a:cubicBezTo>
                  <a:pt x="4517" y="10503"/>
                  <a:pt x="4651" y="10537"/>
                  <a:pt x="4786" y="10537"/>
                </a:cubicBezTo>
                <a:cubicBezTo>
                  <a:pt x="4807" y="10537"/>
                  <a:pt x="4828" y="10536"/>
                  <a:pt x="4849" y="10534"/>
                </a:cubicBezTo>
                <a:cubicBezTo>
                  <a:pt x="5136" y="10521"/>
                  <a:pt x="5358" y="10326"/>
                  <a:pt x="5384" y="10065"/>
                </a:cubicBezTo>
                <a:cubicBezTo>
                  <a:pt x="5410" y="9752"/>
                  <a:pt x="5253" y="9504"/>
                  <a:pt x="4967" y="9439"/>
                </a:cubicBezTo>
                <a:cubicBezTo>
                  <a:pt x="4693" y="9387"/>
                  <a:pt x="4419" y="9348"/>
                  <a:pt x="4158" y="9296"/>
                </a:cubicBezTo>
                <a:cubicBezTo>
                  <a:pt x="4080" y="9283"/>
                  <a:pt x="4002" y="9270"/>
                  <a:pt x="3924" y="9244"/>
                </a:cubicBezTo>
                <a:cubicBezTo>
                  <a:pt x="3259" y="8957"/>
                  <a:pt x="2594" y="8631"/>
                  <a:pt x="2008" y="8188"/>
                </a:cubicBezTo>
                <a:cubicBezTo>
                  <a:pt x="1356" y="7706"/>
                  <a:pt x="1134" y="6989"/>
                  <a:pt x="1056" y="6219"/>
                </a:cubicBezTo>
                <a:cubicBezTo>
                  <a:pt x="939" y="5242"/>
                  <a:pt x="1238" y="4382"/>
                  <a:pt x="1812" y="3586"/>
                </a:cubicBezTo>
                <a:cubicBezTo>
                  <a:pt x="2281" y="2935"/>
                  <a:pt x="2738" y="2283"/>
                  <a:pt x="3298" y="1709"/>
                </a:cubicBezTo>
                <a:cubicBezTo>
                  <a:pt x="3559" y="1462"/>
                  <a:pt x="3819" y="1240"/>
                  <a:pt x="4184" y="1162"/>
                </a:cubicBezTo>
                <a:cubicBezTo>
                  <a:pt x="4406" y="1110"/>
                  <a:pt x="4602" y="992"/>
                  <a:pt x="4797" y="862"/>
                </a:cubicBezTo>
                <a:lnTo>
                  <a:pt x="4784" y="862"/>
                </a:lnTo>
                <a:cubicBezTo>
                  <a:pt x="5019" y="706"/>
                  <a:pt x="5097" y="445"/>
                  <a:pt x="4980" y="184"/>
                </a:cubicBezTo>
                <a:cubicBezTo>
                  <a:pt x="4923" y="62"/>
                  <a:pt x="4833" y="1"/>
                  <a:pt x="4708" y="1"/>
                </a:cubicBezTo>
                <a:close/>
              </a:path>
            </a:pathLst>
          </a:custGeom>
          <a:solidFill>
            <a:srgbClr val="EFAC62"/>
          </a:solidFill>
          <a:ln w="0">
            <a:noFill/>
          </a:ln>
        </p:spPr>
        <p:txBody>
          <a:bodyPr spcFirstLastPara="1" wrap="square" lIns="91425" tIns="91425" rIns="91425" bIns="91425" anchor="ctr" anchorCtr="0">
            <a:noAutofit/>
          </a:bodyPr>
          <a:lstStyle/>
          <a:p>
            <a:pPr marL="0" lvl="0" indent="0" algn="l" rtl="0">
              <a:spcBef>
                <a:spcPts val="0"/>
              </a:spcBef>
              <a:spcAft>
                <a:spcPts val="0"/>
              </a:spcAft>
              <a:buNone/>
            </a:pPr>
            <a:endParaRPr lang="fr-CI" noProof="0"/>
          </a:p>
        </p:txBody>
      </p:sp>
      <p:sp>
        <p:nvSpPr>
          <p:cNvPr id="26" name="Google Shape;6489;p32"/>
          <p:cNvSpPr/>
          <p:nvPr/>
        </p:nvSpPr>
        <p:spPr>
          <a:xfrm rot="14662897">
            <a:off x="7323071" y="1857476"/>
            <a:ext cx="426766" cy="1747435"/>
          </a:xfrm>
          <a:custGeom>
            <a:avLst/>
            <a:gdLst/>
            <a:ahLst/>
            <a:cxnLst/>
            <a:rect l="l" t="t" r="r" b="b"/>
            <a:pathLst>
              <a:path w="5410" h="10537" extrusionOk="0">
                <a:moveTo>
                  <a:pt x="4708" y="1"/>
                </a:moveTo>
                <a:cubicBezTo>
                  <a:pt x="4660" y="1"/>
                  <a:pt x="4607" y="10"/>
                  <a:pt x="4549" y="28"/>
                </a:cubicBezTo>
                <a:cubicBezTo>
                  <a:pt x="4184" y="145"/>
                  <a:pt x="3872" y="354"/>
                  <a:pt x="3533" y="523"/>
                </a:cubicBezTo>
                <a:cubicBezTo>
                  <a:pt x="2021" y="1318"/>
                  <a:pt x="887" y="2478"/>
                  <a:pt x="274" y="4095"/>
                </a:cubicBezTo>
                <a:cubicBezTo>
                  <a:pt x="65" y="4616"/>
                  <a:pt x="13" y="5164"/>
                  <a:pt x="0" y="5985"/>
                </a:cubicBezTo>
                <a:cubicBezTo>
                  <a:pt x="13" y="7067"/>
                  <a:pt x="600" y="8110"/>
                  <a:pt x="1630" y="8931"/>
                </a:cubicBezTo>
                <a:cubicBezTo>
                  <a:pt x="1825" y="9087"/>
                  <a:pt x="2034" y="9231"/>
                  <a:pt x="2242" y="9387"/>
                </a:cubicBezTo>
                <a:cubicBezTo>
                  <a:pt x="2881" y="9895"/>
                  <a:pt x="3624" y="10221"/>
                  <a:pt x="4393" y="10469"/>
                </a:cubicBezTo>
                <a:cubicBezTo>
                  <a:pt x="4517" y="10503"/>
                  <a:pt x="4651" y="10537"/>
                  <a:pt x="4786" y="10537"/>
                </a:cubicBezTo>
                <a:cubicBezTo>
                  <a:pt x="4807" y="10537"/>
                  <a:pt x="4828" y="10536"/>
                  <a:pt x="4849" y="10534"/>
                </a:cubicBezTo>
                <a:cubicBezTo>
                  <a:pt x="5136" y="10521"/>
                  <a:pt x="5358" y="10326"/>
                  <a:pt x="5384" y="10065"/>
                </a:cubicBezTo>
                <a:cubicBezTo>
                  <a:pt x="5410" y="9752"/>
                  <a:pt x="5253" y="9504"/>
                  <a:pt x="4967" y="9439"/>
                </a:cubicBezTo>
                <a:cubicBezTo>
                  <a:pt x="4693" y="9387"/>
                  <a:pt x="4419" y="9348"/>
                  <a:pt x="4158" y="9296"/>
                </a:cubicBezTo>
                <a:cubicBezTo>
                  <a:pt x="4080" y="9283"/>
                  <a:pt x="4002" y="9270"/>
                  <a:pt x="3924" y="9244"/>
                </a:cubicBezTo>
                <a:cubicBezTo>
                  <a:pt x="3259" y="8957"/>
                  <a:pt x="2594" y="8631"/>
                  <a:pt x="2008" y="8188"/>
                </a:cubicBezTo>
                <a:cubicBezTo>
                  <a:pt x="1356" y="7706"/>
                  <a:pt x="1134" y="6989"/>
                  <a:pt x="1056" y="6219"/>
                </a:cubicBezTo>
                <a:cubicBezTo>
                  <a:pt x="939" y="5242"/>
                  <a:pt x="1238" y="4382"/>
                  <a:pt x="1812" y="3586"/>
                </a:cubicBezTo>
                <a:cubicBezTo>
                  <a:pt x="2281" y="2935"/>
                  <a:pt x="2738" y="2283"/>
                  <a:pt x="3298" y="1709"/>
                </a:cubicBezTo>
                <a:cubicBezTo>
                  <a:pt x="3559" y="1462"/>
                  <a:pt x="3819" y="1240"/>
                  <a:pt x="4184" y="1162"/>
                </a:cubicBezTo>
                <a:cubicBezTo>
                  <a:pt x="4406" y="1110"/>
                  <a:pt x="4602" y="992"/>
                  <a:pt x="4797" y="862"/>
                </a:cubicBezTo>
                <a:lnTo>
                  <a:pt x="4784" y="862"/>
                </a:lnTo>
                <a:cubicBezTo>
                  <a:pt x="5019" y="706"/>
                  <a:pt x="5097" y="445"/>
                  <a:pt x="4980" y="184"/>
                </a:cubicBezTo>
                <a:cubicBezTo>
                  <a:pt x="4923" y="62"/>
                  <a:pt x="4833" y="1"/>
                  <a:pt x="4708" y="1"/>
                </a:cubicBezTo>
                <a:close/>
              </a:path>
            </a:pathLst>
          </a:custGeom>
          <a:solidFill>
            <a:srgbClr val="EFAC6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fr-CI" noProof="0"/>
          </a:p>
        </p:txBody>
      </p:sp>
      <p:sp>
        <p:nvSpPr>
          <p:cNvPr id="27" name="Google Shape;8472;p64"/>
          <p:cNvSpPr/>
          <p:nvPr/>
        </p:nvSpPr>
        <p:spPr>
          <a:xfrm>
            <a:off x="6398615" y="4634460"/>
            <a:ext cx="27543" cy="15536"/>
          </a:xfrm>
          <a:custGeom>
            <a:avLst/>
            <a:gdLst/>
            <a:ahLst/>
            <a:cxnLst/>
            <a:rect l="l" t="t" r="r" b="b"/>
            <a:pathLst>
              <a:path w="718" h="405" extrusionOk="0">
                <a:moveTo>
                  <a:pt x="0" y="1"/>
                </a:moveTo>
                <a:cubicBezTo>
                  <a:pt x="157" y="92"/>
                  <a:pt x="313" y="196"/>
                  <a:pt x="469" y="300"/>
                </a:cubicBezTo>
                <a:cubicBezTo>
                  <a:pt x="535" y="327"/>
                  <a:pt x="587" y="379"/>
                  <a:pt x="665" y="392"/>
                </a:cubicBezTo>
                <a:cubicBezTo>
                  <a:pt x="678" y="405"/>
                  <a:pt x="691" y="405"/>
                  <a:pt x="717" y="405"/>
                </a:cubicBezTo>
                <a:cubicBezTo>
                  <a:pt x="482" y="261"/>
                  <a:pt x="248" y="118"/>
                  <a:pt x="0" y="1"/>
                </a:cubicBezTo>
                <a:close/>
              </a:path>
            </a:pathLst>
          </a:custGeom>
          <a:solidFill>
            <a:srgbClr val="BA6C2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fr-CI" noProof="0">
              <a:solidFill>
                <a:schemeClr val="bg1"/>
              </a:solidFill>
              <a:latin typeface="Helvetica" panose="020B0604020202020204" pitchFamily="34" charset="0"/>
              <a:cs typeface="Helvetica" panose="020B0604020202020204" pitchFamily="34" charset="0"/>
            </a:endParaRPr>
          </a:p>
        </p:txBody>
      </p:sp>
      <p:sp>
        <p:nvSpPr>
          <p:cNvPr id="28" name="Google Shape;6489;p32"/>
          <p:cNvSpPr/>
          <p:nvPr/>
        </p:nvSpPr>
        <p:spPr>
          <a:xfrm rot="7166758">
            <a:off x="4528324" y="1602745"/>
            <a:ext cx="510848" cy="2185420"/>
          </a:xfrm>
          <a:custGeom>
            <a:avLst/>
            <a:gdLst/>
            <a:ahLst/>
            <a:cxnLst/>
            <a:rect l="l" t="t" r="r" b="b"/>
            <a:pathLst>
              <a:path w="5410" h="10537" extrusionOk="0">
                <a:moveTo>
                  <a:pt x="4708" y="1"/>
                </a:moveTo>
                <a:cubicBezTo>
                  <a:pt x="4660" y="1"/>
                  <a:pt x="4607" y="10"/>
                  <a:pt x="4549" y="28"/>
                </a:cubicBezTo>
                <a:cubicBezTo>
                  <a:pt x="4184" y="145"/>
                  <a:pt x="3872" y="354"/>
                  <a:pt x="3533" y="523"/>
                </a:cubicBezTo>
                <a:cubicBezTo>
                  <a:pt x="2021" y="1318"/>
                  <a:pt x="887" y="2478"/>
                  <a:pt x="274" y="4095"/>
                </a:cubicBezTo>
                <a:cubicBezTo>
                  <a:pt x="65" y="4616"/>
                  <a:pt x="13" y="5164"/>
                  <a:pt x="0" y="5985"/>
                </a:cubicBezTo>
                <a:cubicBezTo>
                  <a:pt x="13" y="7067"/>
                  <a:pt x="600" y="8110"/>
                  <a:pt x="1630" y="8931"/>
                </a:cubicBezTo>
                <a:cubicBezTo>
                  <a:pt x="1825" y="9087"/>
                  <a:pt x="2034" y="9231"/>
                  <a:pt x="2242" y="9387"/>
                </a:cubicBezTo>
                <a:cubicBezTo>
                  <a:pt x="2881" y="9895"/>
                  <a:pt x="3624" y="10221"/>
                  <a:pt x="4393" y="10469"/>
                </a:cubicBezTo>
                <a:cubicBezTo>
                  <a:pt x="4517" y="10503"/>
                  <a:pt x="4651" y="10537"/>
                  <a:pt x="4786" y="10537"/>
                </a:cubicBezTo>
                <a:cubicBezTo>
                  <a:pt x="4807" y="10537"/>
                  <a:pt x="4828" y="10536"/>
                  <a:pt x="4849" y="10534"/>
                </a:cubicBezTo>
                <a:cubicBezTo>
                  <a:pt x="5136" y="10521"/>
                  <a:pt x="5358" y="10326"/>
                  <a:pt x="5384" y="10065"/>
                </a:cubicBezTo>
                <a:cubicBezTo>
                  <a:pt x="5410" y="9752"/>
                  <a:pt x="5253" y="9504"/>
                  <a:pt x="4967" y="9439"/>
                </a:cubicBezTo>
                <a:cubicBezTo>
                  <a:pt x="4693" y="9387"/>
                  <a:pt x="4419" y="9348"/>
                  <a:pt x="4158" y="9296"/>
                </a:cubicBezTo>
                <a:cubicBezTo>
                  <a:pt x="4080" y="9283"/>
                  <a:pt x="4002" y="9270"/>
                  <a:pt x="3924" y="9244"/>
                </a:cubicBezTo>
                <a:cubicBezTo>
                  <a:pt x="3259" y="8957"/>
                  <a:pt x="2594" y="8631"/>
                  <a:pt x="2008" y="8188"/>
                </a:cubicBezTo>
                <a:cubicBezTo>
                  <a:pt x="1356" y="7706"/>
                  <a:pt x="1134" y="6989"/>
                  <a:pt x="1056" y="6219"/>
                </a:cubicBezTo>
                <a:cubicBezTo>
                  <a:pt x="939" y="5242"/>
                  <a:pt x="1238" y="4382"/>
                  <a:pt x="1812" y="3586"/>
                </a:cubicBezTo>
                <a:cubicBezTo>
                  <a:pt x="2281" y="2935"/>
                  <a:pt x="2738" y="2283"/>
                  <a:pt x="3298" y="1709"/>
                </a:cubicBezTo>
                <a:cubicBezTo>
                  <a:pt x="3559" y="1462"/>
                  <a:pt x="3819" y="1240"/>
                  <a:pt x="4184" y="1162"/>
                </a:cubicBezTo>
                <a:cubicBezTo>
                  <a:pt x="4406" y="1110"/>
                  <a:pt x="4602" y="992"/>
                  <a:pt x="4797" y="862"/>
                </a:cubicBezTo>
                <a:lnTo>
                  <a:pt x="4784" y="862"/>
                </a:lnTo>
                <a:cubicBezTo>
                  <a:pt x="5019" y="706"/>
                  <a:pt x="5097" y="445"/>
                  <a:pt x="4980" y="184"/>
                </a:cubicBezTo>
                <a:cubicBezTo>
                  <a:pt x="4923" y="62"/>
                  <a:pt x="4833" y="1"/>
                  <a:pt x="4708" y="1"/>
                </a:cubicBezTo>
                <a:close/>
              </a:path>
            </a:pathLst>
          </a:custGeom>
          <a:solidFill>
            <a:srgbClr val="EFAC62"/>
          </a:solidFill>
          <a:ln w="0">
            <a:noFill/>
          </a:ln>
        </p:spPr>
        <p:txBody>
          <a:bodyPr spcFirstLastPara="1" wrap="square" lIns="91425" tIns="91425" rIns="91425" bIns="91425" anchor="ctr" anchorCtr="0">
            <a:noAutofit/>
          </a:bodyPr>
          <a:lstStyle/>
          <a:p>
            <a:pPr marL="0" lvl="0" indent="0" algn="l" rtl="0">
              <a:spcBef>
                <a:spcPts val="0"/>
              </a:spcBef>
              <a:spcAft>
                <a:spcPts val="0"/>
              </a:spcAft>
              <a:buNone/>
            </a:pPr>
            <a:endParaRPr lang="fr-CI" noProof="0"/>
          </a:p>
        </p:txBody>
      </p:sp>
      <p:sp>
        <p:nvSpPr>
          <p:cNvPr id="30" name="Google Shape;6489;p32"/>
          <p:cNvSpPr/>
          <p:nvPr/>
        </p:nvSpPr>
        <p:spPr>
          <a:xfrm rot="15357084">
            <a:off x="4507070" y="3638509"/>
            <a:ext cx="510848" cy="1998266"/>
          </a:xfrm>
          <a:custGeom>
            <a:avLst/>
            <a:gdLst/>
            <a:ahLst/>
            <a:cxnLst/>
            <a:rect l="l" t="t" r="r" b="b"/>
            <a:pathLst>
              <a:path w="5410" h="10537" extrusionOk="0">
                <a:moveTo>
                  <a:pt x="4708" y="1"/>
                </a:moveTo>
                <a:cubicBezTo>
                  <a:pt x="4660" y="1"/>
                  <a:pt x="4607" y="10"/>
                  <a:pt x="4549" y="28"/>
                </a:cubicBezTo>
                <a:cubicBezTo>
                  <a:pt x="4184" y="145"/>
                  <a:pt x="3872" y="354"/>
                  <a:pt x="3533" y="523"/>
                </a:cubicBezTo>
                <a:cubicBezTo>
                  <a:pt x="2021" y="1318"/>
                  <a:pt x="887" y="2478"/>
                  <a:pt x="274" y="4095"/>
                </a:cubicBezTo>
                <a:cubicBezTo>
                  <a:pt x="65" y="4616"/>
                  <a:pt x="13" y="5164"/>
                  <a:pt x="0" y="5985"/>
                </a:cubicBezTo>
                <a:cubicBezTo>
                  <a:pt x="13" y="7067"/>
                  <a:pt x="600" y="8110"/>
                  <a:pt x="1630" y="8931"/>
                </a:cubicBezTo>
                <a:cubicBezTo>
                  <a:pt x="1825" y="9087"/>
                  <a:pt x="2034" y="9231"/>
                  <a:pt x="2242" y="9387"/>
                </a:cubicBezTo>
                <a:cubicBezTo>
                  <a:pt x="2881" y="9895"/>
                  <a:pt x="3624" y="10221"/>
                  <a:pt x="4393" y="10469"/>
                </a:cubicBezTo>
                <a:cubicBezTo>
                  <a:pt x="4517" y="10503"/>
                  <a:pt x="4651" y="10537"/>
                  <a:pt x="4786" y="10537"/>
                </a:cubicBezTo>
                <a:cubicBezTo>
                  <a:pt x="4807" y="10537"/>
                  <a:pt x="4828" y="10536"/>
                  <a:pt x="4849" y="10534"/>
                </a:cubicBezTo>
                <a:cubicBezTo>
                  <a:pt x="5136" y="10521"/>
                  <a:pt x="5358" y="10326"/>
                  <a:pt x="5384" y="10065"/>
                </a:cubicBezTo>
                <a:cubicBezTo>
                  <a:pt x="5410" y="9752"/>
                  <a:pt x="5253" y="9504"/>
                  <a:pt x="4967" y="9439"/>
                </a:cubicBezTo>
                <a:cubicBezTo>
                  <a:pt x="4693" y="9387"/>
                  <a:pt x="4419" y="9348"/>
                  <a:pt x="4158" y="9296"/>
                </a:cubicBezTo>
                <a:cubicBezTo>
                  <a:pt x="4080" y="9283"/>
                  <a:pt x="4002" y="9270"/>
                  <a:pt x="3924" y="9244"/>
                </a:cubicBezTo>
                <a:cubicBezTo>
                  <a:pt x="3259" y="8957"/>
                  <a:pt x="2594" y="8631"/>
                  <a:pt x="2008" y="8188"/>
                </a:cubicBezTo>
                <a:cubicBezTo>
                  <a:pt x="1356" y="7706"/>
                  <a:pt x="1134" y="6989"/>
                  <a:pt x="1056" y="6219"/>
                </a:cubicBezTo>
                <a:cubicBezTo>
                  <a:pt x="939" y="5242"/>
                  <a:pt x="1238" y="4382"/>
                  <a:pt x="1812" y="3586"/>
                </a:cubicBezTo>
                <a:cubicBezTo>
                  <a:pt x="2281" y="2935"/>
                  <a:pt x="2738" y="2283"/>
                  <a:pt x="3298" y="1709"/>
                </a:cubicBezTo>
                <a:cubicBezTo>
                  <a:pt x="3559" y="1462"/>
                  <a:pt x="3819" y="1240"/>
                  <a:pt x="4184" y="1162"/>
                </a:cubicBezTo>
                <a:cubicBezTo>
                  <a:pt x="4406" y="1110"/>
                  <a:pt x="4602" y="992"/>
                  <a:pt x="4797" y="862"/>
                </a:cubicBezTo>
                <a:lnTo>
                  <a:pt x="4784" y="862"/>
                </a:lnTo>
                <a:cubicBezTo>
                  <a:pt x="5019" y="706"/>
                  <a:pt x="5097" y="445"/>
                  <a:pt x="4980" y="184"/>
                </a:cubicBezTo>
                <a:cubicBezTo>
                  <a:pt x="4923" y="62"/>
                  <a:pt x="4833" y="1"/>
                  <a:pt x="4708" y="1"/>
                </a:cubicBezTo>
                <a:close/>
              </a:path>
            </a:pathLst>
          </a:custGeom>
          <a:solidFill>
            <a:srgbClr val="EFAC6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fr-CI" noProof="0"/>
          </a:p>
        </p:txBody>
      </p:sp>
      <p:sp>
        <p:nvSpPr>
          <p:cNvPr id="31" name="Rectangle 30"/>
          <p:cNvSpPr/>
          <p:nvPr/>
        </p:nvSpPr>
        <p:spPr>
          <a:xfrm>
            <a:off x="8333454" y="1834006"/>
            <a:ext cx="3220254" cy="1083627"/>
          </a:xfrm>
          <a:prstGeom prst="rect">
            <a:avLst/>
          </a:prstGeom>
        </p:spPr>
        <p:txBody>
          <a:bodyPr wrap="square">
            <a:spAutoFit/>
          </a:bodyPr>
          <a:lstStyle/>
          <a:p>
            <a:pPr lvl="0">
              <a:lnSpc>
                <a:spcPct val="110000"/>
              </a:lnSpc>
            </a:pPr>
            <a:r>
              <a:rPr lang="fr-CI" sz="1400" b="1" noProof="0">
                <a:solidFill>
                  <a:srgbClr val="EFAC62"/>
                </a:solidFill>
                <a:latin typeface="Helvetica" panose="020B0604020202020204" pitchFamily="34" charset="0"/>
                <a:ea typeface="Open Sans Semibold" panose="020B0706030804020204" pitchFamily="34" charset="0"/>
                <a:cs typeface="Helvetica" panose="020B0604020202020204" pitchFamily="34" charset="0"/>
              </a:rPr>
              <a:t>Réserves et fonds propres</a:t>
            </a:r>
            <a:endParaRPr lang="fr-CI" sz="1600" b="1" noProof="0">
              <a:solidFill>
                <a:schemeClr val="bg1"/>
              </a:solidFill>
              <a:latin typeface="Helvetica" panose="020B0604020202020204" pitchFamily="34" charset="0"/>
              <a:ea typeface="Open Sans Semibold" panose="020B0706030804020204" pitchFamily="34" charset="0"/>
              <a:cs typeface="Helvetica" panose="020B0604020202020204" pitchFamily="34" charset="0"/>
            </a:endParaRPr>
          </a:p>
          <a:p>
            <a:r>
              <a:rPr lang="fr-CI" sz="1150" noProof="0" b="0">
                <a:latin typeface="Helvetica" panose="020B0604020202020204" pitchFamily="34" charset="0"/>
                <a:ea typeface="Open Sans Light" panose="020B0306030504020204" pitchFamily="34" charset="0"/>
                <a:cs typeface="Helvetica" panose="020B0604020202020204" pitchFamily="34" charset="0"/>
              </a:rPr>
              <a:t>Réserve obligatoire, fonds propres et assimilés, fonds des risques longs : ces ratios disent si le FPPN a mis de côté assez de ressources propres.</a:t>
            </a:r>
            <a:endParaRPr lang="fr-CI" sz="1600" noProof="0"/>
          </a:p>
        </p:txBody>
      </p:sp>
      <p:sp>
        <p:nvSpPr>
          <p:cNvPr id="32" name="Rectangle 31"/>
          <p:cNvSpPr/>
          <p:nvPr/>
        </p:nvSpPr>
        <p:spPr>
          <a:xfrm>
            <a:off x="327639" y="4236148"/>
            <a:ext cx="3220254" cy="1083627"/>
          </a:xfrm>
          <a:prstGeom prst="rect">
            <a:avLst/>
          </a:prstGeom>
        </p:spPr>
        <p:txBody>
          <a:bodyPr wrap="square">
            <a:spAutoFit/>
          </a:bodyPr>
          <a:lstStyle/>
          <a:p>
            <a:pPr lvl="0" algn="r">
              <a:lnSpc>
                <a:spcPct val="110000"/>
              </a:lnSpc>
            </a:pPr>
            <a:r>
              <a:rPr lang="fr-CI" sz="1400" b="1" noProof="0">
                <a:solidFill>
                  <a:srgbClr val="EFAC62"/>
                </a:solidFill>
                <a:latin typeface="Helvetica" panose="020B0604020202020204" pitchFamily="34" charset="0"/>
                <a:ea typeface="Open Sans Semibold" panose="020B0706030804020204" pitchFamily="34" charset="0"/>
                <a:cs typeface="Helvetica" panose="020B0604020202020204" pitchFamily="34" charset="0"/>
              </a:rPr>
              <a:t>Liquidité et équilibre</a:t>
            </a:r>
            <a:endParaRPr lang="fr-CI" sz="1600" b="1" noProof="0">
              <a:solidFill>
                <a:schemeClr val="bg1"/>
              </a:solidFill>
              <a:latin typeface="Helvetica" panose="020B0604020202020204" pitchFamily="34" charset="0"/>
              <a:ea typeface="Open Sans Semibold" panose="020B0706030804020204" pitchFamily="34" charset="0"/>
              <a:cs typeface="Helvetica" panose="020B0604020202020204" pitchFamily="34" charset="0"/>
            </a:endParaRPr>
          </a:p>
          <a:p>
            <a:pPr algn="r"/>
            <a:r>
              <a:rPr lang="fr-CI" sz="1150" noProof="0" b="0">
                <a:latin typeface="Helvetica" panose="020B0604020202020204" pitchFamily="34" charset="0"/>
                <a:ea typeface="Open Sans Light" panose="020B0306030504020204" pitchFamily="34" charset="0"/>
                <a:cs typeface="Helvetica" panose="020B0604020202020204" pitchFamily="34" charset="0"/>
              </a:rPr>
              <a:t>Liquidité, trésorerie à échéance et immédiate, équilibre stable, solvabilité de l'épargne : ces ratios disent si l'argent est disponible à temps.</a:t>
            </a:r>
            <a:endParaRPr lang="fr-CI" sz="1600" noProof="0"/>
          </a:p>
        </p:txBody>
      </p:sp>
      <p:sp>
        <p:nvSpPr>
          <p:cNvPr id="34" name="Rectangle 33"/>
          <p:cNvSpPr/>
          <p:nvPr/>
        </p:nvSpPr>
        <p:spPr>
          <a:xfrm>
            <a:off x="362962" y="1811347"/>
            <a:ext cx="3220254" cy="1083627"/>
          </a:xfrm>
          <a:prstGeom prst="rect">
            <a:avLst/>
          </a:prstGeom>
        </p:spPr>
        <p:txBody>
          <a:bodyPr wrap="square">
            <a:spAutoFit/>
          </a:bodyPr>
          <a:lstStyle/>
          <a:p>
            <a:pPr lvl="0" algn="r">
              <a:lnSpc>
                <a:spcPct val="110000"/>
              </a:lnSpc>
            </a:pPr>
            <a:r>
              <a:rPr lang="fr-CI" sz="1400" b="1" noProof="0">
                <a:solidFill>
                  <a:srgbClr val="EFAC62"/>
                </a:solidFill>
                <a:latin typeface="Helvetica" panose="020B0604020202020204" pitchFamily="34" charset="0"/>
                <a:ea typeface="Open Sans Semibold" panose="020B0706030804020204" pitchFamily="34" charset="0"/>
                <a:cs typeface="Helvetica" panose="020B0604020202020204" pitchFamily="34" charset="0"/>
              </a:rPr>
              <a:t>Sinistralité et solvabilité</a:t>
            </a:r>
            <a:endParaRPr lang="fr-CI" sz="1600" b="1" noProof="0">
              <a:solidFill>
                <a:schemeClr val="bg1"/>
              </a:solidFill>
              <a:latin typeface="Helvetica" panose="020B0604020202020204" pitchFamily="34" charset="0"/>
              <a:ea typeface="Open Sans Semibold" panose="020B0706030804020204" pitchFamily="34" charset="0"/>
              <a:cs typeface="Helvetica" panose="020B0604020202020204" pitchFamily="34" charset="0"/>
            </a:endParaRPr>
          </a:p>
          <a:p>
            <a:pPr algn="r"/>
            <a:r>
              <a:rPr lang="fr-CI" sz="1150" noProof="0" b="0">
                <a:latin typeface="Helvetica" panose="020B0604020202020204" pitchFamily="34" charset="0"/>
                <a:ea typeface="Open Sans Light" panose="020B0306030504020204" pitchFamily="34" charset="0"/>
                <a:cs typeface="Helvetica" panose="020B0604020202020204" pitchFamily="34" charset="0"/>
              </a:rPr>
              <a:t>Sinistralité, marge de solvabilité, autonomie financière, excédent net : ces ratios disent si les cotisations suffisent et si le FPPN peut absorber un choc.</a:t>
            </a:r>
            <a:endParaRPr lang="fr-CI" sz="1600" noProof="0">
              <a:solidFill>
                <a:schemeClr val="bg1"/>
              </a:solidFill>
            </a:endParaRPr>
          </a:p>
        </p:txBody>
      </p:sp>
      <p:sp>
        <p:nvSpPr>
          <p:cNvPr id="42" name="Rectangle 41"/>
          <p:cNvSpPr/>
          <p:nvPr/>
        </p:nvSpPr>
        <p:spPr>
          <a:xfrm>
            <a:off x="8677463" y="4236148"/>
            <a:ext cx="3220254" cy="1083627"/>
          </a:xfrm>
          <a:prstGeom prst="rect">
            <a:avLst/>
          </a:prstGeom>
        </p:spPr>
        <p:txBody>
          <a:bodyPr wrap="square">
            <a:spAutoFit/>
          </a:bodyPr>
          <a:lstStyle/>
          <a:p>
            <a:pPr lvl="0">
              <a:lnSpc>
                <a:spcPct val="110000"/>
              </a:lnSpc>
            </a:pPr>
            <a:r>
              <a:rPr lang="fr-CI" sz="1400" b="1" noProof="0">
                <a:solidFill>
                  <a:srgbClr val="EFAC62"/>
                </a:solidFill>
                <a:latin typeface="Helvetica" panose="020B0604020202020204" pitchFamily="34" charset="0"/>
                <a:ea typeface="Open Sans Semibold" panose="020B0706030804020204" pitchFamily="34" charset="0"/>
                <a:cs typeface="Helvetica" panose="020B0604020202020204" pitchFamily="34" charset="0"/>
              </a:rPr>
              <a:t>Gestion et gouvernance</a:t>
            </a:r>
            <a:endParaRPr lang="fr-CI" sz="1600" b="1" noProof="0">
              <a:solidFill>
                <a:schemeClr val="bg1"/>
              </a:solidFill>
              <a:latin typeface="Helvetica" panose="020B0604020202020204" pitchFamily="34" charset="0"/>
              <a:ea typeface="Open Sans Semibold" panose="020B0706030804020204" pitchFamily="34" charset="0"/>
              <a:cs typeface="Helvetica" panose="020B0604020202020204" pitchFamily="34" charset="0"/>
            </a:endParaRPr>
          </a:p>
          <a:p>
            <a:r>
              <a:rPr lang="fr-CI" sz="1150" noProof="0" b="0">
                <a:latin typeface="Helvetica" panose="020B0604020202020204" pitchFamily="34" charset="0"/>
                <a:ea typeface="Open Sans Light" panose="020B0306030504020204" pitchFamily="34" charset="0"/>
                <a:cs typeface="Helvetica" panose="020B0604020202020204" pitchFamily="34" charset="0"/>
              </a:rPr>
              <a:t>Frais, personnel, recouvrement, délais, contrôles, réunions des organes, FNG : ces ratios disent si l'organisation est efficace et contrôlée.</a:t>
            </a:r>
            <a:endParaRPr lang="fr-CI" sz="1600" noProof="0"/>
          </a:p>
        </p:txBody>
      </p:sp>
      <p:pic>
        <p:nvPicPr>
          <p:cNvPr id="43" name="Image 42"/>
          <p:cNvPicPr>
            <a:picLocks noChangeAspect="1"/>
          </p:cNvPicPr>
          <p:nvPr/>
        </p:nvPicPr>
        <p:blipFill rotWithShape="1">
          <a:blip r:embed="rId3">
            <a:extLst>
              <a:ext uri="{28A0092B-C50C-407E-A947-70E740481C1C}">
                <a14:useLocalDpi xmlns:a14="http://schemas.microsoft.com/office/drawing/2010/main" val="0"/>
              </a:ext>
            </a:extLst>
          </a:blip>
          <a:srcRect l="4165" t="11941" r="73679" b="13899"/>
          <a:stretch/>
        </p:blipFill>
        <p:spPr>
          <a:xfrm>
            <a:off x="5257860" y="2529185"/>
            <a:ext cx="2172929" cy="2231923"/>
          </a:xfrm>
          <a:prstGeom prst="rect">
            <a:avLst/>
          </a:prstGeom>
        </p:spPr>
      </p:pic>
      <p:sp>
        <p:nvSpPr>
          <p:cNvPr id="44"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Quatre familles de ratios</a:t>
            </a:r>
          </a:p>
        </p:txBody>
      </p:sp>
      <p:sp>
        <p:nvSpPr>
          <p:cNvPr id="45"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Les 36 indicateurs examinés se regroupent en quatre familles, de la plus actuarielle à la gouvernance</a:t>
            </a:r>
          </a:p>
        </p:txBody>
      </p:sp>
      <p:sp>
        <p:nvSpPr>
          <p:cNvPr id="46"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L'ordre de priorité suit l'importance pour la protection des adhérents : solvabilité d'abord, gouvernance ensuite</a:t>
            </a:r>
          </a:p>
        </p:txBody>
      </p:sp>
      <p:sp>
        <p:nvSpPr>
          <p:cNvPr id="47"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Décision n° 05/2022/COM/UEMOA du 1er juin 2022, annexe. Classement Adenka</a:t>
            </a:r>
          </a:p>
        </p:txBody>
      </p:sp>
      <p:sp>
        <p:nvSpPr>
          <p:cNvPr id="48" name="TextBox 47"/>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UEMOA : Union économique et monétaire ouest-africaine | FNG : fonds national de garantie</a:t>
            </a:r>
          </a:p>
        </p:txBody>
      </p:sp>
    </p:spTree>
    <p:extLst>
      <p:ext uri="{BB962C8B-B14F-4D97-AF65-F5344CB8AC3E}">
        <p14:creationId xmlns:p14="http://schemas.microsoft.com/office/powerpoint/2010/main" val="1762640310"/>
      </p:ext>
    </p:extLst>
  </p:cSld>
  <p:clrMapOvr>
    <a:masterClrMapping/>
  </p:clrMapOvr>
  <p:transition>
    <p:fade/>
  </p:transition>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Tableau de bord (1/4) : solvabilité et réserves</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La sinistralité globale, les réserves, les fonds propres et la liquidité sont non conformes</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Ratios de priorité actuarielle 1 à 9, lecture comme le FPPN. 2026 est indicatif</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Décision n° 05/2022/COM/UEMOA du 1er juin 2022, annexe. Règlement d'exécution n° 004/2022/COM/UEMOA du 1er juin 2022. Règlement n° 07/2009/CM/UEMOA du 26 juin 2009. Balances du FPPN. Calculs Adenka</a:t>
            </a:r>
          </a:p>
        </p:txBody>
      </p:sp>
      <p:sp>
        <p:nvSpPr>
          <p:cNvPr id="31" name="TextBox 30"/>
          <p:cNvSpPr txBox="1"/>
          <p:nvPr/>
        </p:nvSpPr>
        <p:spPr>
          <a:xfrm>
            <a:off x="503999" y="1386000"/>
            <a:ext cx="11232000" cy="216000"/>
          </a:xfrm>
          <a:prstGeom prst="rect">
            <a:avLst/>
          </a:prstGeom>
          <a:noFill/>
        </p:spPr>
        <p:txBody>
          <a:bodyPr wrap="square" anchor="t" lIns="54000" rIns="54000"/>
          <a:lstStyle/>
          <a:p>
            <a:pPr algn="ctr"/>
            <a:r>
              <a:rPr sz="1200" b="0">
                <a:solidFill>
                  <a:srgbClr val="EFAC62"/>
                </a:solidFill>
                <a:latin typeface="Helvetica"/>
              </a:rPr>
              <a:t>Tableau 16 : Tableau de bord des ratios prudentiels, priorités 1 à 9</a:t>
            </a:r>
          </a:p>
        </p:txBody>
      </p:sp>
      <p:graphicFrame>
        <p:nvGraphicFramePr>
          <p:cNvPr id="32" name="Table 31"/>
          <p:cNvGraphicFramePr>
            <a:graphicFrameLocks noGrp="1"/>
          </p:cNvGraphicFramePr>
          <p:nvPr/>
        </p:nvGraphicFramePr>
        <p:xfrm>
          <a:off x="503999" y="1655999"/>
          <a:ext cx="11232000" cy="1947680"/>
        </p:xfrm>
        <a:graphic>
          <a:graphicData uri="http://schemas.openxmlformats.org/drawingml/2006/table">
            <a:tbl>
              <a:tblPr firstRow="0" bandRow="0">
                <a:tableStyleId>{5940675A-B579-460E-94D1-54222C63F5DA}</a:tableStyleId>
              </a:tblPr>
              <a:tblGrid>
                <a:gridCol w="324000"/>
                <a:gridCol w="3024000"/>
                <a:gridCol w="1728000"/>
                <a:gridCol w="972000"/>
                <a:gridCol w="972000"/>
                <a:gridCol w="972000"/>
                <a:gridCol w="972000"/>
                <a:gridCol w="1044000"/>
                <a:gridCol w="1224000"/>
              </a:tblGrid>
              <a:tr h="194768">
                <a:tc>
                  <a:txBody>
                    <a:bodyPr/>
                    <a:lstStyle/>
                    <a:p>
                      <a:pPr marL="0" indent="0" lvl="0">
                        <a:buNone/>
                      </a:pPr>
                      <a:r>
                        <a:rPr sz="900" b="1">
                          <a:solidFill>
                            <a:srgbClr val="FFFFFF"/>
                          </a:solidFill>
                          <a:latin typeface="Helvetica"/>
                        </a:rPr>
                        <a:t>N°</a:t>
                      </a:r>
                    </a:p>
                  </a:txBody>
                  <a:tcPr marL="43200" marR="43200" marT="14400" marB="14400" anchor="ctr">
                    <a:solidFill>
                      <a:srgbClr val="060606"/>
                    </a:solidFill>
                  </a:tcPr>
                </a:tc>
                <a:tc>
                  <a:txBody>
                    <a:bodyPr/>
                    <a:lstStyle/>
                    <a:p>
                      <a:pPr marL="0" indent="0" lvl="0">
                        <a:buNone/>
                      </a:pPr>
                      <a:r>
                        <a:rPr sz="900" b="1">
                          <a:solidFill>
                            <a:srgbClr val="FFFFFF"/>
                          </a:solidFill>
                          <a:latin typeface="Helvetica"/>
                        </a:rPr>
                        <a:t>Ratio</a:t>
                      </a:r>
                    </a:p>
                  </a:txBody>
                  <a:tcPr marL="43200" marR="43200" marT="14400" marB="14400" anchor="ctr">
                    <a:solidFill>
                      <a:srgbClr val="060606"/>
                    </a:solidFill>
                  </a:tcPr>
                </a:tc>
                <a:tc>
                  <a:txBody>
                    <a:bodyPr/>
                    <a:lstStyle/>
                    <a:p>
                      <a:pPr marL="0" indent="0" lvl="0">
                        <a:buNone/>
                      </a:pPr>
                      <a:r>
                        <a:rPr sz="900" b="1">
                          <a:solidFill>
                            <a:srgbClr val="FFFFFF"/>
                          </a:solidFill>
                          <a:latin typeface="Helvetica"/>
                        </a:rPr>
                        <a:t>Norme</a:t>
                      </a:r>
                    </a:p>
                  </a:txBody>
                  <a:tcPr marL="43200" marR="43200" marT="14400" marB="14400" anchor="ctr">
                    <a:solidFill>
                      <a:srgbClr val="060606"/>
                    </a:solidFill>
                  </a:tcPr>
                </a:tc>
                <a:tc>
                  <a:txBody>
                    <a:bodyPr/>
                    <a:lstStyle/>
                    <a:p>
                      <a:pPr marL="0" indent="0" lvl="0">
                        <a:buNone/>
                      </a:pPr>
                      <a:r>
                        <a:rPr sz="900" b="1">
                          <a:solidFill>
                            <a:srgbClr val="FFFFFF"/>
                          </a:solidFill>
                          <a:latin typeface="Helvetica"/>
                        </a:rPr>
                        <a:t>2022</a:t>
                      </a:r>
                    </a:p>
                  </a:txBody>
                  <a:tcPr marL="43200" marR="43200" marT="14400" marB="14400" anchor="ctr">
                    <a:solidFill>
                      <a:srgbClr val="060606"/>
                    </a:solidFill>
                  </a:tcPr>
                </a:tc>
                <a:tc>
                  <a:txBody>
                    <a:bodyPr/>
                    <a:lstStyle/>
                    <a:p>
                      <a:pPr marL="0" indent="0" lvl="0">
                        <a:buNone/>
                      </a:pPr>
                      <a:r>
                        <a:rPr sz="900" b="1">
                          <a:solidFill>
                            <a:srgbClr val="FFFFFF"/>
                          </a:solidFill>
                          <a:latin typeface="Helvetica"/>
                        </a:rPr>
                        <a:t>2023</a:t>
                      </a:r>
                    </a:p>
                  </a:txBody>
                  <a:tcPr marL="43200" marR="43200" marT="14400" marB="14400" anchor="ctr">
                    <a:solidFill>
                      <a:srgbClr val="060606"/>
                    </a:solidFill>
                  </a:tcPr>
                </a:tc>
                <a:tc>
                  <a:txBody>
                    <a:bodyPr/>
                    <a:lstStyle/>
                    <a:p>
                      <a:pPr marL="0" indent="0" lvl="0">
                        <a:buNone/>
                      </a:pPr>
                      <a:r>
                        <a:rPr sz="900" b="1">
                          <a:solidFill>
                            <a:srgbClr val="FFFFFF"/>
                          </a:solidFill>
                          <a:latin typeface="Helvetica"/>
                        </a:rPr>
                        <a:t>2024</a:t>
                      </a:r>
                    </a:p>
                  </a:txBody>
                  <a:tcPr marL="43200" marR="43200" marT="14400" marB="14400" anchor="ctr">
                    <a:solidFill>
                      <a:srgbClr val="060606"/>
                    </a:solidFill>
                  </a:tcPr>
                </a:tc>
                <a:tc>
                  <a:txBody>
                    <a:bodyPr/>
                    <a:lstStyle/>
                    <a:p>
                      <a:pPr marL="0" indent="0" lvl="0">
                        <a:buNone/>
                      </a:pPr>
                      <a:r>
                        <a:rPr sz="900" b="1">
                          <a:solidFill>
                            <a:srgbClr val="FFFFFF"/>
                          </a:solidFill>
                          <a:latin typeface="Helvetica"/>
                        </a:rPr>
                        <a:t>2025</a:t>
                      </a:r>
                    </a:p>
                  </a:txBody>
                  <a:tcPr marL="43200" marR="43200" marT="14400" marB="14400" anchor="ctr">
                    <a:solidFill>
                      <a:srgbClr val="060606"/>
                    </a:solidFill>
                  </a:tcPr>
                </a:tc>
                <a:tc>
                  <a:txBody>
                    <a:bodyPr/>
                    <a:lstStyle/>
                    <a:p>
                      <a:pPr marL="0" indent="0" lvl="0">
                        <a:buNone/>
                      </a:pPr>
                      <a:r>
                        <a:rPr sz="900" b="1">
                          <a:solidFill>
                            <a:srgbClr val="FFFFFF"/>
                          </a:solidFill>
                          <a:latin typeface="Helvetica"/>
                        </a:rPr>
                        <a:t>2026 (8 mois)</a:t>
                      </a:r>
                    </a:p>
                  </a:txBody>
                  <a:tcPr marL="43200" marR="43200" marT="14400" marB="14400" anchor="ctr">
                    <a:solidFill>
                      <a:srgbClr val="060606"/>
                    </a:solidFill>
                  </a:tcPr>
                </a:tc>
                <a:tc>
                  <a:txBody>
                    <a:bodyPr/>
                    <a:lstStyle/>
                    <a:p>
                      <a:pPr marL="0" indent="0" lvl="0">
                        <a:buNone/>
                      </a:pPr>
                      <a:r>
                        <a:rPr sz="900" b="1">
                          <a:solidFill>
                            <a:srgbClr val="FFFFFF"/>
                          </a:solidFill>
                          <a:latin typeface="Helvetica"/>
                        </a:rPr>
                        <a:t>Statut</a:t>
                      </a:r>
                    </a:p>
                  </a:txBody>
                  <a:tcPr marL="43200" marR="43200" marT="14400" marB="14400" anchor="ctr">
                    <a:solidFill>
                      <a:srgbClr val="060606"/>
                    </a:solidFill>
                  </a:tcPr>
                </a:tc>
              </a:tr>
              <a:tr h="194768">
                <a:tc>
                  <a:txBody>
                    <a:bodyPr/>
                    <a:lstStyle/>
                    <a:p>
                      <a:pPr marL="0" indent="0" lvl="0">
                        <a:buNone/>
                      </a:pPr>
                      <a:r>
                        <a:rPr sz="900" b="1">
                          <a:solidFill>
                            <a:srgbClr val="060606"/>
                          </a:solidFill>
                          <a:latin typeface="Helvetica"/>
                        </a:rPr>
                        <a:t>1</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Taux de sinistralité</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Entre 70 % et 80 %</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9,06 %</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24,56 %</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40,34 %</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57,48 %</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75,20 %</a:t>
                      </a:r>
                    </a:p>
                  </a:txBody>
                  <a:tcPr marL="43200" marR="43200" marT="14400" marB="14400" anchor="ctr">
                    <a:solidFill>
                      <a:srgbClr val="FFFFFF"/>
                    </a:solidFill>
                  </a:tcPr>
                </a:tc>
                <a:tc>
                  <a:txBody>
                    <a:bodyPr/>
                    <a:lstStyle/>
                    <a:p>
                      <a:pPr marL="0" indent="0" lvl="0">
                        <a:buNone/>
                      </a:pPr>
                      <a:r>
                        <a:rPr sz="900" b="1">
                          <a:solidFill>
                            <a:srgbClr val="FFFFFF"/>
                          </a:solidFill>
                          <a:latin typeface="Helvetica"/>
                        </a:rPr>
                        <a:t>Non conforme</a:t>
                      </a:r>
                    </a:p>
                  </a:txBody>
                  <a:tcPr marL="43200" marR="43200" marT="14400" marB="14400" anchor="ctr">
                    <a:solidFill>
                      <a:srgbClr val="C00000"/>
                    </a:solidFill>
                  </a:tcPr>
                </a:tc>
              </a:tr>
              <a:tr h="194768">
                <a:tc>
                  <a:txBody>
                    <a:bodyPr/>
                    <a:lstStyle/>
                    <a:p>
                      <a:pPr marL="0" indent="0" lvl="0">
                        <a:buNone/>
                      </a:pPr>
                      <a:r>
                        <a:rPr sz="900" b="1">
                          <a:solidFill>
                            <a:srgbClr val="060606"/>
                          </a:solidFill>
                          <a:latin typeface="Helvetica"/>
                        </a:rPr>
                        <a:t>2</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Marge de solvabilité disponible / exigée</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Au moins 1</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6,65</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6,70</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7,22</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7,77</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7,15</a:t>
                      </a:r>
                    </a:p>
                  </a:txBody>
                  <a:tcPr marL="43200" marR="43200" marT="14400" marB="14400" anchor="ctr">
                    <a:solidFill>
                      <a:srgbClr val="F2F2F2"/>
                    </a:solidFill>
                  </a:tcPr>
                </a:tc>
                <a:tc>
                  <a:txBody>
                    <a:bodyPr/>
                    <a:lstStyle/>
                    <a:p>
                      <a:pPr marL="0" indent="0" lvl="0">
                        <a:buNone/>
                      </a:pPr>
                      <a:r>
                        <a:rPr sz="900" b="1">
                          <a:solidFill>
                            <a:srgbClr val="FFFFFF"/>
                          </a:solidFill>
                          <a:latin typeface="Helvetica"/>
                        </a:rPr>
                        <a:t>Conforme</a:t>
                      </a:r>
                    </a:p>
                  </a:txBody>
                  <a:tcPr marL="43200" marR="43200" marT="14400" marB="14400" anchor="ctr">
                    <a:solidFill>
                      <a:srgbClr val="112A40"/>
                    </a:solidFill>
                  </a:tcPr>
                </a:tc>
              </a:tr>
              <a:tr h="194768">
                <a:tc>
                  <a:txBody>
                    <a:bodyPr/>
                    <a:lstStyle/>
                    <a:p>
                      <a:pPr marL="0" indent="0" lvl="0">
                        <a:buNone/>
                      </a:pPr>
                      <a:r>
                        <a:rPr sz="900" b="1">
                          <a:solidFill>
                            <a:srgbClr val="060606"/>
                          </a:solidFill>
                          <a:latin typeface="Helvetica"/>
                        </a:rPr>
                        <a:t>3</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Ratio de réserve obligatoire</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Entre 6 et 9 mois</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-0,00 mois</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3,25 mois</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4,91 mois</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5,01 mois</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3,65 mois</a:t>
                      </a:r>
                    </a:p>
                  </a:txBody>
                  <a:tcPr marL="43200" marR="43200" marT="14400" marB="14400" anchor="ctr">
                    <a:solidFill>
                      <a:srgbClr val="FFFFFF"/>
                    </a:solidFill>
                  </a:tcPr>
                </a:tc>
                <a:tc>
                  <a:txBody>
                    <a:bodyPr/>
                    <a:lstStyle/>
                    <a:p>
                      <a:pPr marL="0" indent="0" lvl="0">
                        <a:buNone/>
                      </a:pPr>
                      <a:r>
                        <a:rPr sz="900" b="1">
                          <a:solidFill>
                            <a:srgbClr val="FFFFFF"/>
                          </a:solidFill>
                          <a:latin typeface="Helvetica"/>
                        </a:rPr>
                        <a:t>Non conforme</a:t>
                      </a:r>
                    </a:p>
                  </a:txBody>
                  <a:tcPr marL="43200" marR="43200" marT="14400" marB="14400" anchor="ctr">
                    <a:solidFill>
                      <a:srgbClr val="C00000"/>
                    </a:solidFill>
                  </a:tcPr>
                </a:tc>
              </a:tr>
              <a:tr h="194768">
                <a:tc>
                  <a:txBody>
                    <a:bodyPr/>
                    <a:lstStyle/>
                    <a:p>
                      <a:pPr marL="0" indent="0" lvl="0">
                        <a:buNone/>
                      </a:pPr>
                      <a:r>
                        <a:rPr sz="900" b="1">
                          <a:solidFill>
                            <a:srgbClr val="060606"/>
                          </a:solidFill>
                          <a:latin typeface="Helvetica"/>
                        </a:rPr>
                        <a:t>4</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Ratio des fonds propres et assimilés</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Au moins 1</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0,13</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0,19</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0,21</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0,22</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0,17</a:t>
                      </a:r>
                    </a:p>
                  </a:txBody>
                  <a:tcPr marL="43200" marR="43200" marT="14400" marB="14400" anchor="ctr">
                    <a:solidFill>
                      <a:srgbClr val="F2F2F2"/>
                    </a:solidFill>
                  </a:tcPr>
                </a:tc>
                <a:tc>
                  <a:txBody>
                    <a:bodyPr/>
                    <a:lstStyle/>
                    <a:p>
                      <a:pPr marL="0" indent="0" lvl="0">
                        <a:buNone/>
                      </a:pPr>
                      <a:r>
                        <a:rPr sz="900" b="1">
                          <a:solidFill>
                            <a:srgbClr val="FFFFFF"/>
                          </a:solidFill>
                          <a:latin typeface="Helvetica"/>
                        </a:rPr>
                        <a:t>Non conforme</a:t>
                      </a:r>
                    </a:p>
                  </a:txBody>
                  <a:tcPr marL="43200" marR="43200" marT="14400" marB="14400" anchor="ctr">
                    <a:solidFill>
                      <a:srgbClr val="C00000"/>
                    </a:solidFill>
                  </a:tcPr>
                </a:tc>
              </a:tr>
              <a:tr h="194768">
                <a:tc>
                  <a:txBody>
                    <a:bodyPr/>
                    <a:lstStyle/>
                    <a:p>
                      <a:pPr marL="0" indent="0" lvl="0">
                        <a:buNone/>
                      </a:pPr>
                      <a:r>
                        <a:rPr sz="900" b="1">
                          <a:solidFill>
                            <a:srgbClr val="060606"/>
                          </a:solidFill>
                          <a:latin typeface="Helvetica"/>
                        </a:rPr>
                        <a:t>5</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Ratio de liquidité</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Au moins 1</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0,10</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0,11</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0,07</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0,13</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0,19</a:t>
                      </a:r>
                    </a:p>
                  </a:txBody>
                  <a:tcPr marL="43200" marR="43200" marT="14400" marB="14400" anchor="ctr">
                    <a:solidFill>
                      <a:srgbClr val="FFFFFF"/>
                    </a:solidFill>
                  </a:tcPr>
                </a:tc>
                <a:tc>
                  <a:txBody>
                    <a:bodyPr/>
                    <a:lstStyle/>
                    <a:p>
                      <a:pPr marL="0" indent="0" lvl="0">
                        <a:buNone/>
                      </a:pPr>
                      <a:r>
                        <a:rPr sz="900" b="1">
                          <a:solidFill>
                            <a:srgbClr val="FFFFFF"/>
                          </a:solidFill>
                          <a:latin typeface="Helvetica"/>
                        </a:rPr>
                        <a:t>Non conforme</a:t>
                      </a:r>
                    </a:p>
                  </a:txBody>
                  <a:tcPr marL="43200" marR="43200" marT="14400" marB="14400" anchor="ctr">
                    <a:solidFill>
                      <a:srgbClr val="C00000"/>
                    </a:solidFill>
                  </a:tcPr>
                </a:tc>
              </a:tr>
              <a:tr h="194768">
                <a:tc>
                  <a:txBody>
                    <a:bodyPr/>
                    <a:lstStyle/>
                    <a:p>
                      <a:pPr marL="0" indent="0" lvl="0">
                        <a:buNone/>
                      </a:pPr>
                      <a:r>
                        <a:rPr sz="900" b="1">
                          <a:solidFill>
                            <a:srgbClr val="060606"/>
                          </a:solidFill>
                          <a:latin typeface="Helvetica"/>
                        </a:rPr>
                        <a:t>6</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Ratio d'équilibre stable</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Au plus 1</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2,13</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1,61</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1,70</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1,54</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1,72</a:t>
                      </a:r>
                    </a:p>
                  </a:txBody>
                  <a:tcPr marL="43200" marR="43200" marT="14400" marB="14400" anchor="ctr">
                    <a:solidFill>
                      <a:srgbClr val="F2F2F2"/>
                    </a:solidFill>
                  </a:tcPr>
                </a:tc>
                <a:tc>
                  <a:txBody>
                    <a:bodyPr/>
                    <a:lstStyle/>
                    <a:p>
                      <a:pPr marL="0" indent="0" lvl="0">
                        <a:buNone/>
                      </a:pPr>
                      <a:r>
                        <a:rPr sz="900" b="1">
                          <a:solidFill>
                            <a:srgbClr val="FFFFFF"/>
                          </a:solidFill>
                          <a:latin typeface="Helvetica"/>
                        </a:rPr>
                        <a:t>Non conforme</a:t>
                      </a:r>
                    </a:p>
                  </a:txBody>
                  <a:tcPr marL="43200" marR="43200" marT="14400" marB="14400" anchor="ctr">
                    <a:solidFill>
                      <a:srgbClr val="C00000"/>
                    </a:solidFill>
                  </a:tcPr>
                </a:tc>
              </a:tr>
              <a:tr h="194768">
                <a:tc>
                  <a:txBody>
                    <a:bodyPr/>
                    <a:lstStyle/>
                    <a:p>
                      <a:pPr marL="0" indent="0" lvl="0">
                        <a:buNone/>
                      </a:pPr>
                      <a:r>
                        <a:rPr sz="900" b="1">
                          <a:solidFill>
                            <a:srgbClr val="060606"/>
                          </a:solidFill>
                          <a:latin typeface="Helvetica"/>
                        </a:rPr>
                        <a:t>7</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Ratio d'autonomie financière</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Au moins 1</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1,74</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1,40</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1,29</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1,05</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0,84</a:t>
                      </a:r>
                    </a:p>
                  </a:txBody>
                  <a:tcPr marL="43200" marR="43200" marT="14400" marB="14400" anchor="ctr">
                    <a:solidFill>
                      <a:srgbClr val="FFFFFF"/>
                    </a:solidFill>
                  </a:tcPr>
                </a:tc>
                <a:tc>
                  <a:txBody>
                    <a:bodyPr/>
                    <a:lstStyle/>
                    <a:p>
                      <a:pPr marL="0" indent="0" lvl="0">
                        <a:buNone/>
                      </a:pPr>
                      <a:r>
                        <a:rPr sz="900" b="1">
                          <a:solidFill>
                            <a:srgbClr val="FFFFFF"/>
                          </a:solidFill>
                          <a:latin typeface="Helvetica"/>
                        </a:rPr>
                        <a:t>Conforme</a:t>
                      </a:r>
                    </a:p>
                  </a:txBody>
                  <a:tcPr marL="43200" marR="43200" marT="14400" marB="14400" anchor="ctr">
                    <a:solidFill>
                      <a:srgbClr val="112A40"/>
                    </a:solidFill>
                  </a:tcPr>
                </a:tc>
              </a:tr>
              <a:tr h="194768">
                <a:tc>
                  <a:txBody>
                    <a:bodyPr/>
                    <a:lstStyle/>
                    <a:p>
                      <a:pPr marL="0" indent="0" lvl="0">
                        <a:buNone/>
                      </a:pPr>
                      <a:r>
                        <a:rPr sz="900" b="1">
                          <a:solidFill>
                            <a:srgbClr val="060606"/>
                          </a:solidFill>
                          <a:latin typeface="Helvetica"/>
                        </a:rPr>
                        <a:t>8</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Taux d'excédent net</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Au plus 5 %</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80,64 %</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33,55 %</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25,18 %</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12,81 %</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-18,45 %</a:t>
                      </a:r>
                    </a:p>
                  </a:txBody>
                  <a:tcPr marL="43200" marR="43200" marT="14400" marB="14400" anchor="ctr">
                    <a:solidFill>
                      <a:srgbClr val="F2F2F2"/>
                    </a:solidFill>
                  </a:tcPr>
                </a:tc>
                <a:tc>
                  <a:txBody>
                    <a:bodyPr/>
                    <a:lstStyle/>
                    <a:p>
                      <a:pPr marL="0" indent="0" lvl="0">
                        <a:buNone/>
                      </a:pPr>
                      <a:r>
                        <a:rPr sz="900" b="1">
                          <a:solidFill>
                            <a:srgbClr val="FFFFFF"/>
                          </a:solidFill>
                          <a:latin typeface="Helvetica"/>
                        </a:rPr>
                        <a:t>Non conforme</a:t>
                      </a:r>
                    </a:p>
                  </a:txBody>
                  <a:tcPr marL="43200" marR="43200" marT="14400" marB="14400" anchor="ctr">
                    <a:solidFill>
                      <a:srgbClr val="C00000"/>
                    </a:solidFill>
                  </a:tcPr>
                </a:tc>
              </a:tr>
              <a:tr h="194768">
                <a:tc>
                  <a:txBody>
                    <a:bodyPr/>
                    <a:lstStyle/>
                    <a:p>
                      <a:pPr marL="0" indent="0" lvl="0">
                        <a:buNone/>
                      </a:pPr>
                      <a:r>
                        <a:rPr sz="900" b="1">
                          <a:solidFill>
                            <a:srgbClr val="060606"/>
                          </a:solidFill>
                          <a:latin typeface="Helvetica"/>
                        </a:rPr>
                        <a:t>9</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Taux de financement propre</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Au moins 100 %</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240,20 %</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146,82 %</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132,48 %</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113,47 %</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84,54 %</a:t>
                      </a:r>
                    </a:p>
                  </a:txBody>
                  <a:tcPr marL="43200" marR="43200" marT="14400" marB="14400" anchor="ctr">
                    <a:solidFill>
                      <a:srgbClr val="FFFFFF"/>
                    </a:solidFill>
                  </a:tcPr>
                </a:tc>
                <a:tc>
                  <a:txBody>
                    <a:bodyPr/>
                    <a:lstStyle/>
                    <a:p>
                      <a:pPr marL="0" indent="0" lvl="0">
                        <a:buNone/>
                      </a:pPr>
                      <a:r>
                        <a:rPr sz="900" b="1">
                          <a:solidFill>
                            <a:srgbClr val="FFFFFF"/>
                          </a:solidFill>
                          <a:latin typeface="Helvetica"/>
                        </a:rPr>
                        <a:t>Conforme</a:t>
                      </a:r>
                    </a:p>
                  </a:txBody>
                  <a:tcPr marL="43200" marR="43200" marT="14400" marB="14400" anchor="ctr">
                    <a:solidFill>
                      <a:srgbClr val="112A40"/>
                    </a:solidFill>
                  </a:tcPr>
                </a:tc>
              </a:tr>
            </a:tbl>
          </a:graphicData>
        </a:graphic>
      </p:graphicFrame>
      <p:sp>
        <p:nvSpPr>
          <p:cNvPr id="33" name="TextBox 32"/>
          <p:cNvSpPr txBox="1"/>
          <p:nvPr/>
        </p:nvSpPr>
        <p:spPr>
          <a:xfrm>
            <a:off x="503999" y="3711686"/>
            <a:ext cx="11232000" cy="2156313"/>
          </a:xfrm>
          <a:prstGeom prst="rect">
            <a:avLst/>
          </a:prstGeom>
          <a:noFill/>
        </p:spPr>
        <p:txBody>
          <a:bodyPr wrap="square" lIns="54000" rIns="54000"/>
          <a:lstStyle/>
          <a:p>
            <a:pPr algn="just">
              <a:spcAft>
                <a:spcPts val="600"/>
              </a:spcAft>
            </a:pPr>
            <a:r>
              <a:rPr sz="1300" b="1">
                <a:solidFill>
                  <a:srgbClr val="060606"/>
                </a:solidFill>
                <a:latin typeface="Helvetica"/>
              </a:rPr>
              <a:t>Six des neuf ratios prioritaires sont non conformes plusieurs années de suite.</a:t>
            </a:r>
            <a:r>
              <a:rPr sz="1300" b="0">
                <a:solidFill>
                  <a:srgbClr val="060606"/>
                </a:solidFill>
                <a:latin typeface="Helvetica"/>
              </a:rPr>
              <a:t> Seuls l'autonomie financière, le financement propre et la marge de solvabilité calculée comme le FPPN respectent la norme.</a:t>
            </a:r>
          </a:p>
          <a:p>
            <a:pPr algn="just">
              <a:spcAft>
                <a:spcPts val="600"/>
              </a:spcAft>
            </a:pPr>
            <a:r>
              <a:rPr sz="1300" b="1">
                <a:solidFill>
                  <a:srgbClr val="060606"/>
                </a:solidFill>
                <a:latin typeface="Helvetica"/>
              </a:rPr>
              <a:t>Implication pour le FPPN.</a:t>
            </a:r>
            <a:r>
              <a:rPr sz="1300" b="0">
                <a:solidFill>
                  <a:srgbClr val="060606"/>
                </a:solidFill>
                <a:latin typeface="Helvetica"/>
              </a:rPr>
              <a:t> La non-conformité répétée de la réserve obligatoire, des fonds propres et de la liquidité expose le FPPN aux sanctions prévues pour le non-respect des règles prudentielles sur deux exercices.</a:t>
            </a:r>
          </a:p>
        </p:txBody>
      </p:sp>
      <p:sp>
        <p:nvSpPr>
          <p:cNvPr id="34" name="TextBox 33"/>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UEMOA : Union économique et monétaire ouest-africaine</a:t>
            </a:r>
          </a:p>
        </p:txBody>
      </p:sp>
    </p:spTree>
    <p:extLst>
      <p:ext uri="{BB962C8B-B14F-4D97-AF65-F5344CB8AC3E}">
        <p14:creationId xmlns:p14="http://schemas.microsoft.com/office/powerpoint/2010/main" val="3400124241"/>
      </p:ext>
    </p:extLst>
  </p:cSld>
  <p:clrMapOvr>
    <a:masterClrMapping/>
  </p:clrMapOvr>
  <p:transition>
    <p:fade/>
  </p:transition>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Tableau de bord (2/4) : risques longs</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Aucun ratio propre aux risques longs n'est respecté</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Ratios de priorité 10 à 16, applicables à l'épargne EFC et PEP qualifiée de risque long</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Décision n° 05/2022/COM/UEMOA du 1er juin 2022, annexe. Règlement d'exécution n° 004/2022/COM/UEMOA du 1er juin 2022. Règlement n° 07/2009/CM/UEMOA du 26 juin 2009. Balances du FPPN. Calculs Adenka</a:t>
            </a:r>
          </a:p>
        </p:txBody>
      </p:sp>
      <p:sp>
        <p:nvSpPr>
          <p:cNvPr id="31" name="TextBox 30"/>
          <p:cNvSpPr txBox="1"/>
          <p:nvPr/>
        </p:nvSpPr>
        <p:spPr>
          <a:xfrm>
            <a:off x="503999" y="1386000"/>
            <a:ext cx="11232000" cy="216000"/>
          </a:xfrm>
          <a:prstGeom prst="rect">
            <a:avLst/>
          </a:prstGeom>
          <a:noFill/>
        </p:spPr>
        <p:txBody>
          <a:bodyPr wrap="square" anchor="t" lIns="54000" rIns="54000"/>
          <a:lstStyle/>
          <a:p>
            <a:pPr algn="ctr"/>
            <a:r>
              <a:rPr sz="1200" b="0">
                <a:solidFill>
                  <a:srgbClr val="EFAC62"/>
                </a:solidFill>
                <a:latin typeface="Helvetica"/>
              </a:rPr>
              <a:t>Tableau 17 : Tableau de bord des ratios des risques longs, priorités 10 à 16</a:t>
            </a:r>
          </a:p>
        </p:txBody>
      </p:sp>
      <p:graphicFrame>
        <p:nvGraphicFramePr>
          <p:cNvPr id="32" name="Table 31"/>
          <p:cNvGraphicFramePr>
            <a:graphicFrameLocks noGrp="1"/>
          </p:cNvGraphicFramePr>
          <p:nvPr/>
        </p:nvGraphicFramePr>
        <p:xfrm>
          <a:off x="503999" y="1655999"/>
          <a:ext cx="11232000" cy="2106820"/>
        </p:xfrm>
        <a:graphic>
          <a:graphicData uri="http://schemas.openxmlformats.org/drawingml/2006/table">
            <a:tbl>
              <a:tblPr firstRow="0" bandRow="0">
                <a:tableStyleId>{5940675A-B579-460E-94D1-54222C63F5DA}</a:tableStyleId>
              </a:tblPr>
              <a:tblGrid>
                <a:gridCol w="324000"/>
                <a:gridCol w="3024000"/>
                <a:gridCol w="1728000"/>
                <a:gridCol w="972000"/>
                <a:gridCol w="972000"/>
                <a:gridCol w="972000"/>
                <a:gridCol w="972000"/>
                <a:gridCol w="1044000"/>
                <a:gridCol w="1224000"/>
              </a:tblGrid>
              <a:tr h="194768">
                <a:tc>
                  <a:txBody>
                    <a:bodyPr/>
                    <a:lstStyle/>
                    <a:p>
                      <a:pPr marL="0" indent="0" lvl="0">
                        <a:buNone/>
                      </a:pPr>
                      <a:r>
                        <a:rPr sz="900" b="1">
                          <a:solidFill>
                            <a:srgbClr val="FFFFFF"/>
                          </a:solidFill>
                          <a:latin typeface="Helvetica"/>
                        </a:rPr>
                        <a:t>N°</a:t>
                      </a:r>
                    </a:p>
                  </a:txBody>
                  <a:tcPr marL="43200" marR="43200" marT="14400" marB="14400" anchor="ctr">
                    <a:solidFill>
                      <a:srgbClr val="060606"/>
                    </a:solidFill>
                  </a:tcPr>
                </a:tc>
                <a:tc>
                  <a:txBody>
                    <a:bodyPr/>
                    <a:lstStyle/>
                    <a:p>
                      <a:pPr marL="0" indent="0" lvl="0">
                        <a:buNone/>
                      </a:pPr>
                      <a:r>
                        <a:rPr sz="900" b="1">
                          <a:solidFill>
                            <a:srgbClr val="FFFFFF"/>
                          </a:solidFill>
                          <a:latin typeface="Helvetica"/>
                        </a:rPr>
                        <a:t>Ratio</a:t>
                      </a:r>
                    </a:p>
                  </a:txBody>
                  <a:tcPr marL="43200" marR="43200" marT="14400" marB="14400" anchor="ctr">
                    <a:solidFill>
                      <a:srgbClr val="060606"/>
                    </a:solidFill>
                  </a:tcPr>
                </a:tc>
                <a:tc>
                  <a:txBody>
                    <a:bodyPr/>
                    <a:lstStyle/>
                    <a:p>
                      <a:pPr marL="0" indent="0" lvl="0">
                        <a:buNone/>
                      </a:pPr>
                      <a:r>
                        <a:rPr sz="900" b="1">
                          <a:solidFill>
                            <a:srgbClr val="FFFFFF"/>
                          </a:solidFill>
                          <a:latin typeface="Helvetica"/>
                        </a:rPr>
                        <a:t>Norme</a:t>
                      </a:r>
                    </a:p>
                  </a:txBody>
                  <a:tcPr marL="43200" marR="43200" marT="14400" marB="14400" anchor="ctr">
                    <a:solidFill>
                      <a:srgbClr val="060606"/>
                    </a:solidFill>
                  </a:tcPr>
                </a:tc>
                <a:tc>
                  <a:txBody>
                    <a:bodyPr/>
                    <a:lstStyle/>
                    <a:p>
                      <a:pPr marL="0" indent="0" lvl="0">
                        <a:buNone/>
                      </a:pPr>
                      <a:r>
                        <a:rPr sz="900" b="1">
                          <a:solidFill>
                            <a:srgbClr val="FFFFFF"/>
                          </a:solidFill>
                          <a:latin typeface="Helvetica"/>
                        </a:rPr>
                        <a:t>2022</a:t>
                      </a:r>
                    </a:p>
                  </a:txBody>
                  <a:tcPr marL="43200" marR="43200" marT="14400" marB="14400" anchor="ctr">
                    <a:solidFill>
                      <a:srgbClr val="060606"/>
                    </a:solidFill>
                  </a:tcPr>
                </a:tc>
                <a:tc>
                  <a:txBody>
                    <a:bodyPr/>
                    <a:lstStyle/>
                    <a:p>
                      <a:pPr marL="0" indent="0" lvl="0">
                        <a:buNone/>
                      </a:pPr>
                      <a:r>
                        <a:rPr sz="900" b="1">
                          <a:solidFill>
                            <a:srgbClr val="FFFFFF"/>
                          </a:solidFill>
                          <a:latin typeface="Helvetica"/>
                        </a:rPr>
                        <a:t>2023</a:t>
                      </a:r>
                    </a:p>
                  </a:txBody>
                  <a:tcPr marL="43200" marR="43200" marT="14400" marB="14400" anchor="ctr">
                    <a:solidFill>
                      <a:srgbClr val="060606"/>
                    </a:solidFill>
                  </a:tcPr>
                </a:tc>
                <a:tc>
                  <a:txBody>
                    <a:bodyPr/>
                    <a:lstStyle/>
                    <a:p>
                      <a:pPr marL="0" indent="0" lvl="0">
                        <a:buNone/>
                      </a:pPr>
                      <a:r>
                        <a:rPr sz="900" b="1">
                          <a:solidFill>
                            <a:srgbClr val="FFFFFF"/>
                          </a:solidFill>
                          <a:latin typeface="Helvetica"/>
                        </a:rPr>
                        <a:t>2024</a:t>
                      </a:r>
                    </a:p>
                  </a:txBody>
                  <a:tcPr marL="43200" marR="43200" marT="14400" marB="14400" anchor="ctr">
                    <a:solidFill>
                      <a:srgbClr val="060606"/>
                    </a:solidFill>
                  </a:tcPr>
                </a:tc>
                <a:tc>
                  <a:txBody>
                    <a:bodyPr/>
                    <a:lstStyle/>
                    <a:p>
                      <a:pPr marL="0" indent="0" lvl="0">
                        <a:buNone/>
                      </a:pPr>
                      <a:r>
                        <a:rPr sz="900" b="1">
                          <a:solidFill>
                            <a:srgbClr val="FFFFFF"/>
                          </a:solidFill>
                          <a:latin typeface="Helvetica"/>
                        </a:rPr>
                        <a:t>2025</a:t>
                      </a:r>
                    </a:p>
                  </a:txBody>
                  <a:tcPr marL="43200" marR="43200" marT="14400" marB="14400" anchor="ctr">
                    <a:solidFill>
                      <a:srgbClr val="060606"/>
                    </a:solidFill>
                  </a:tcPr>
                </a:tc>
                <a:tc>
                  <a:txBody>
                    <a:bodyPr/>
                    <a:lstStyle/>
                    <a:p>
                      <a:pPr marL="0" indent="0" lvl="0">
                        <a:buNone/>
                      </a:pPr>
                      <a:r>
                        <a:rPr sz="900" b="1">
                          <a:solidFill>
                            <a:srgbClr val="FFFFFF"/>
                          </a:solidFill>
                          <a:latin typeface="Helvetica"/>
                        </a:rPr>
                        <a:t>2026 (8 mois)</a:t>
                      </a:r>
                    </a:p>
                  </a:txBody>
                  <a:tcPr marL="43200" marR="43200" marT="14400" marB="14400" anchor="ctr">
                    <a:solidFill>
                      <a:srgbClr val="060606"/>
                    </a:solidFill>
                  </a:tcPr>
                </a:tc>
                <a:tc>
                  <a:txBody>
                    <a:bodyPr/>
                    <a:lstStyle/>
                    <a:p>
                      <a:pPr marL="0" indent="0" lvl="0">
                        <a:buNone/>
                      </a:pPr>
                      <a:r>
                        <a:rPr sz="900" b="1">
                          <a:solidFill>
                            <a:srgbClr val="FFFFFF"/>
                          </a:solidFill>
                          <a:latin typeface="Helvetica"/>
                        </a:rPr>
                        <a:t>Statut</a:t>
                      </a:r>
                    </a:p>
                  </a:txBody>
                  <a:tcPr marL="43200" marR="43200" marT="14400" marB="14400" anchor="ctr">
                    <a:solidFill>
                      <a:srgbClr val="060606"/>
                    </a:solidFill>
                  </a:tcPr>
                </a:tc>
              </a:tr>
              <a:tr h="194768">
                <a:tc>
                  <a:txBody>
                    <a:bodyPr/>
                    <a:lstStyle/>
                    <a:p>
                      <a:pPr marL="0" indent="0" lvl="0">
                        <a:buNone/>
                      </a:pPr>
                      <a:r>
                        <a:rPr sz="900" b="1">
                          <a:solidFill>
                            <a:srgbClr val="060606"/>
                          </a:solidFill>
                          <a:latin typeface="Helvetica"/>
                        </a:rPr>
                        <a:t>10</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Ratio de solvabilité de la branche épargne</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Au moins 1</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0,09</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0,09</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0,06</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0,12</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0,16</a:t>
                      </a:r>
                    </a:p>
                  </a:txBody>
                  <a:tcPr marL="43200" marR="43200" marT="14400" marB="14400" anchor="ctr">
                    <a:solidFill>
                      <a:srgbClr val="FFFFFF"/>
                    </a:solidFill>
                  </a:tcPr>
                </a:tc>
                <a:tc>
                  <a:txBody>
                    <a:bodyPr/>
                    <a:lstStyle/>
                    <a:p>
                      <a:pPr marL="0" indent="0" lvl="0">
                        <a:buNone/>
                      </a:pPr>
                      <a:r>
                        <a:rPr sz="900" b="1">
                          <a:solidFill>
                            <a:srgbClr val="FFFFFF"/>
                          </a:solidFill>
                          <a:latin typeface="Helvetica"/>
                        </a:rPr>
                        <a:t>Non conforme</a:t>
                      </a:r>
                    </a:p>
                  </a:txBody>
                  <a:tcPr marL="43200" marR="43200" marT="14400" marB="14400" anchor="ctr">
                    <a:solidFill>
                      <a:srgbClr val="C00000"/>
                    </a:solidFill>
                  </a:tcPr>
                </a:tc>
              </a:tr>
              <a:tr h="194768">
                <a:tc>
                  <a:txBody>
                    <a:bodyPr/>
                    <a:lstStyle/>
                    <a:p>
                      <a:pPr marL="0" indent="0" lvl="0">
                        <a:buNone/>
                      </a:pPr>
                      <a:r>
                        <a:rPr sz="900" b="1">
                          <a:solidFill>
                            <a:srgbClr val="060606"/>
                          </a:solidFill>
                          <a:latin typeface="Helvetica"/>
                        </a:rPr>
                        <a:t>11</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Ratio de trésorerie à échéance</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Supérieur à 1</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0,12</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0,11</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0,13</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0,17</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0,19</a:t>
                      </a:r>
                    </a:p>
                  </a:txBody>
                  <a:tcPr marL="43200" marR="43200" marT="14400" marB="14400" anchor="ctr">
                    <a:solidFill>
                      <a:srgbClr val="F2F2F2"/>
                    </a:solidFill>
                  </a:tcPr>
                </a:tc>
                <a:tc>
                  <a:txBody>
                    <a:bodyPr/>
                    <a:lstStyle/>
                    <a:p>
                      <a:pPr marL="0" indent="0" lvl="0">
                        <a:buNone/>
                      </a:pPr>
                      <a:r>
                        <a:rPr sz="900" b="1">
                          <a:solidFill>
                            <a:srgbClr val="FFFFFF"/>
                          </a:solidFill>
                          <a:latin typeface="Helvetica"/>
                        </a:rPr>
                        <a:t>Non conforme</a:t>
                      </a:r>
                    </a:p>
                  </a:txBody>
                  <a:tcPr marL="43200" marR="43200" marT="14400" marB="14400" anchor="ctr">
                    <a:solidFill>
                      <a:srgbClr val="C00000"/>
                    </a:solidFill>
                  </a:tcPr>
                </a:tc>
              </a:tr>
              <a:tr h="194768">
                <a:tc>
                  <a:txBody>
                    <a:bodyPr/>
                    <a:lstStyle/>
                    <a:p>
                      <a:pPr marL="0" indent="0" lvl="0">
                        <a:buNone/>
                      </a:pPr>
                      <a:r>
                        <a:rPr sz="900" b="1">
                          <a:solidFill>
                            <a:srgbClr val="060606"/>
                          </a:solidFill>
                          <a:latin typeface="Helvetica"/>
                        </a:rPr>
                        <a:t>12</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Ratio de trésorerie immédiate</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Au moins 1</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0,10</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0,11</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0,07</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0,13</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0,19</a:t>
                      </a:r>
                    </a:p>
                  </a:txBody>
                  <a:tcPr marL="43200" marR="43200" marT="14400" marB="14400" anchor="ctr">
                    <a:solidFill>
                      <a:srgbClr val="FFFFFF"/>
                    </a:solidFill>
                  </a:tcPr>
                </a:tc>
                <a:tc>
                  <a:txBody>
                    <a:bodyPr/>
                    <a:lstStyle/>
                    <a:p>
                      <a:pPr marL="0" indent="0" lvl="0">
                        <a:buNone/>
                      </a:pPr>
                      <a:r>
                        <a:rPr sz="900" b="1">
                          <a:solidFill>
                            <a:srgbClr val="FFFFFF"/>
                          </a:solidFill>
                          <a:latin typeface="Helvetica"/>
                        </a:rPr>
                        <a:t>Non conforme</a:t>
                      </a:r>
                    </a:p>
                  </a:txBody>
                  <a:tcPr marL="43200" marR="43200" marT="14400" marB="14400" anchor="ctr">
                    <a:solidFill>
                      <a:srgbClr val="C00000"/>
                    </a:solidFill>
                  </a:tcPr>
                </a:tc>
              </a:tr>
              <a:tr h="331937">
                <a:tc>
                  <a:txBody>
                    <a:bodyPr/>
                    <a:lstStyle/>
                    <a:p>
                      <a:pPr marL="0" indent="0" lvl="0">
                        <a:buNone/>
                      </a:pPr>
                      <a:r>
                        <a:rPr sz="900" b="1">
                          <a:solidFill>
                            <a:srgbClr val="060606"/>
                          </a:solidFill>
                          <a:latin typeface="Helvetica"/>
                        </a:rPr>
                        <a:t>13</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Réserve de trésorerie des risques longs (un trimestre d'engagements et de frais)</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Au moins 1 trimestre</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0,00</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0,00</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0,00</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0,00</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0,00</a:t>
                      </a:r>
                    </a:p>
                  </a:txBody>
                  <a:tcPr marL="43200" marR="43200" marT="14400" marB="14400" anchor="ctr">
                    <a:solidFill>
                      <a:srgbClr val="F2F2F2"/>
                    </a:solidFill>
                  </a:tcPr>
                </a:tc>
                <a:tc>
                  <a:txBody>
                    <a:bodyPr/>
                    <a:lstStyle/>
                    <a:p>
                      <a:pPr marL="0" indent="0" lvl="0">
                        <a:buNone/>
                      </a:pPr>
                      <a:r>
                        <a:rPr sz="900" b="1">
                          <a:solidFill>
                            <a:srgbClr val="FFFFFF"/>
                          </a:solidFill>
                          <a:latin typeface="Helvetica"/>
                        </a:rPr>
                        <a:t>Non conforme</a:t>
                      </a:r>
                    </a:p>
                  </a:txBody>
                  <a:tcPr marL="43200" marR="43200" marT="14400" marB="14400" anchor="ctr">
                    <a:solidFill>
                      <a:srgbClr val="C00000"/>
                    </a:solidFill>
                  </a:tcPr>
                </a:tc>
              </a:tr>
              <a:tr h="331937">
                <a:tc>
                  <a:txBody>
                    <a:bodyPr/>
                    <a:lstStyle/>
                    <a:p>
                      <a:pPr marL="0" indent="0" lvl="0">
                        <a:buNone/>
                      </a:pPr>
                      <a:r>
                        <a:rPr sz="900" b="1">
                          <a:solidFill>
                            <a:srgbClr val="060606"/>
                          </a:solidFill>
                          <a:latin typeface="Helvetica"/>
                        </a:rPr>
                        <a:t>14</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Fonds propres / prestations des risques longs des deux derniers exercices</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Au moins 1</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-0,65</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-0,34</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-0,21</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-0,15</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-0,31</a:t>
                      </a:r>
                    </a:p>
                  </a:txBody>
                  <a:tcPr marL="43200" marR="43200" marT="14400" marB="14400" anchor="ctr">
                    <a:solidFill>
                      <a:srgbClr val="FFFFFF"/>
                    </a:solidFill>
                  </a:tcPr>
                </a:tc>
                <a:tc>
                  <a:txBody>
                    <a:bodyPr/>
                    <a:lstStyle/>
                    <a:p>
                      <a:pPr marL="0" indent="0" lvl="0">
                        <a:buNone/>
                      </a:pPr>
                      <a:r>
                        <a:rPr sz="900" b="1">
                          <a:solidFill>
                            <a:srgbClr val="FFFFFF"/>
                          </a:solidFill>
                          <a:latin typeface="Helvetica"/>
                        </a:rPr>
                        <a:t>Non conforme</a:t>
                      </a:r>
                    </a:p>
                  </a:txBody>
                  <a:tcPr marL="43200" marR="43200" marT="14400" marB="14400" anchor="ctr">
                    <a:solidFill>
                      <a:srgbClr val="C00000"/>
                    </a:solidFill>
                  </a:tcPr>
                </a:tc>
              </a:tr>
              <a:tr h="331937">
                <a:tc>
                  <a:txBody>
                    <a:bodyPr/>
                    <a:lstStyle/>
                    <a:p>
                      <a:pPr marL="0" indent="0" lvl="0">
                        <a:buNone/>
                      </a:pPr>
                      <a:r>
                        <a:rPr sz="900" b="1">
                          <a:solidFill>
                            <a:srgbClr val="060606"/>
                          </a:solidFill>
                          <a:latin typeface="Helvetica"/>
                        </a:rPr>
                        <a:t>15</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Taux brut de rentabilité des placements</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Au moins le taux moyen du marché</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1,30 %</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1,28 %</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1,73 %</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22,88 %</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n.d.</a:t>
                      </a:r>
                    </a:p>
                  </a:txBody>
                  <a:tcPr marL="43200" marR="43200" marT="14400" marB="14400" anchor="ctr">
                    <a:solidFill>
                      <a:srgbClr val="F2F2F2"/>
                    </a:solidFill>
                  </a:tcPr>
                </a:tc>
                <a:tc>
                  <a:txBody>
                    <a:bodyPr/>
                    <a:lstStyle/>
                    <a:p>
                      <a:pPr marL="0" indent="0" lvl="0">
                        <a:buNone/>
                      </a:pPr>
                      <a:r>
                        <a:rPr sz="900" b="1">
                          <a:solidFill>
                            <a:srgbClr val="060606"/>
                          </a:solidFill>
                          <a:latin typeface="Helvetica"/>
                        </a:rPr>
                        <a:t>À apprécier</a:t>
                      </a:r>
                    </a:p>
                  </a:txBody>
                  <a:tcPr marL="43200" marR="43200" marT="14400" marB="14400" anchor="ctr">
                    <a:solidFill>
                      <a:srgbClr val="BBBCBC"/>
                    </a:solidFill>
                  </a:tcPr>
                </a:tc>
              </a:tr>
              <a:tr h="331937">
                <a:tc>
                  <a:txBody>
                    <a:bodyPr/>
                    <a:lstStyle/>
                    <a:p>
                      <a:pPr marL="0" indent="0" lvl="0">
                        <a:buNone/>
                      </a:pPr>
                      <a:r>
                        <a:rPr sz="900" b="1">
                          <a:solidFill>
                            <a:srgbClr val="060606"/>
                          </a:solidFill>
                          <a:latin typeface="Helvetica"/>
                        </a:rPr>
                        <a:t>16</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Solde moyen des comptes courants non rémunérés</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Avoisinant zéro</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638 155 842 FCFA</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695 388 139 FCFA</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438 360 275 FCFA</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1 449 586 812 FCFA</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2 356 399 123 FCFA</a:t>
                      </a:r>
                    </a:p>
                  </a:txBody>
                  <a:tcPr marL="43200" marR="43200" marT="14400" marB="14400" anchor="ctr">
                    <a:solidFill>
                      <a:srgbClr val="FFFFFF"/>
                    </a:solidFill>
                  </a:tcPr>
                </a:tc>
                <a:tc>
                  <a:txBody>
                    <a:bodyPr/>
                    <a:lstStyle/>
                    <a:p>
                      <a:pPr marL="0" indent="0" lvl="0">
                        <a:buNone/>
                      </a:pPr>
                      <a:r>
                        <a:rPr sz="900" b="1">
                          <a:solidFill>
                            <a:srgbClr val="060606"/>
                          </a:solidFill>
                          <a:latin typeface="Helvetica"/>
                        </a:rPr>
                        <a:t>À apprécier</a:t>
                      </a:r>
                    </a:p>
                  </a:txBody>
                  <a:tcPr marL="43200" marR="43200" marT="14400" marB="14400" anchor="ctr">
                    <a:solidFill>
                      <a:srgbClr val="BBBCBC"/>
                    </a:solidFill>
                  </a:tcPr>
                </a:tc>
              </a:tr>
            </a:tbl>
          </a:graphicData>
        </a:graphic>
      </p:graphicFrame>
      <p:sp>
        <p:nvSpPr>
          <p:cNvPr id="33" name="TextBox 32"/>
          <p:cNvSpPr txBox="1"/>
          <p:nvPr/>
        </p:nvSpPr>
        <p:spPr>
          <a:xfrm>
            <a:off x="503999" y="3870823"/>
            <a:ext cx="11232000" cy="1997176"/>
          </a:xfrm>
          <a:prstGeom prst="rect">
            <a:avLst/>
          </a:prstGeom>
          <a:noFill/>
        </p:spPr>
        <p:txBody>
          <a:bodyPr wrap="square" lIns="54000" rIns="54000"/>
          <a:lstStyle/>
          <a:p>
            <a:pPr algn="just">
              <a:spcAft>
                <a:spcPts val="600"/>
              </a:spcAft>
            </a:pPr>
            <a:r>
              <a:rPr sz="1300" b="1">
                <a:solidFill>
                  <a:srgbClr val="060606"/>
                </a:solidFill>
                <a:latin typeface="Helvetica"/>
              </a:rPr>
              <a:t>Les engagements d'épargne ne sont adossés ni à des actifs réservés suffisants, ni à une réserve de trésorerie, ni à des fonds propres positifs.</a:t>
            </a:r>
            <a:r>
              <a:rPr sz="1300" b="0">
                <a:solidFill>
                  <a:srgbClr val="060606"/>
                </a:solidFill>
                <a:latin typeface="Helvetica"/>
              </a:rPr>
              <a:t> Les deux derniers indicateurs n'ont pas de seuil chiffré et sont à apprécier.</a:t>
            </a:r>
          </a:p>
          <a:p>
            <a:pPr algn="just">
              <a:spcAft>
                <a:spcPts val="600"/>
              </a:spcAft>
            </a:pPr>
            <a:r>
              <a:rPr sz="1300" b="1">
                <a:solidFill>
                  <a:srgbClr val="060606"/>
                </a:solidFill>
                <a:latin typeface="Helvetica"/>
              </a:rPr>
              <a:t>Implication pour le FPPN.</a:t>
            </a:r>
            <a:r>
              <a:rPr sz="1300" b="0">
                <a:solidFill>
                  <a:srgbClr val="060606"/>
                </a:solidFill>
                <a:latin typeface="Helvetica"/>
              </a:rPr>
              <a:t> Pour les risques longs, le règlement d'exécution exige aussi une étude actuarielle tous les cinq ans et la certification des comptes : le FPPN doit indiquer s'il les a réalisées.</a:t>
            </a:r>
          </a:p>
        </p:txBody>
      </p:sp>
      <p:sp>
        <p:nvSpPr>
          <p:cNvPr id="34" name="TextBox 33"/>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UEMOA : Union économique et monétaire ouest-africaine | PEP : Plan Épargne Plus | EFC : entraide fin de carrière</a:t>
            </a:r>
          </a:p>
        </p:txBody>
      </p:sp>
    </p:spTree>
    <p:extLst>
      <p:ext uri="{BB962C8B-B14F-4D97-AF65-F5344CB8AC3E}">
        <p14:creationId xmlns:p14="http://schemas.microsoft.com/office/powerpoint/2010/main" val="122047346"/>
      </p:ext>
    </p:extLst>
  </p:cSld>
  <p:clrMapOvr>
    <a:masterClrMapping/>
  </p:clrMapOvr>
  <p:transition>
    <p:fade/>
  </p:transition>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Tableau de bord (3/4) : gestion</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Les frais dépassent nettement les normes, alors que le personnel et la fidélisation sont conformes</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Ratios de gestion de priorité 17 à 25. Le recouvrement n'est mesurable que pour les retraités</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Décision n° 05/2022/COM/UEMOA du 1er juin 2022, annexe. Règlement d'exécution n° 004/2022/COM/UEMOA du 1er juin 2022. Règlement n° 07/2009/CM/UEMOA du 26 juin 2009. Balances du FPPN. Calculs Adenka. Fichiers de précomptes</a:t>
            </a:r>
          </a:p>
        </p:txBody>
      </p:sp>
      <p:sp>
        <p:nvSpPr>
          <p:cNvPr id="31" name="TextBox 30"/>
          <p:cNvSpPr txBox="1"/>
          <p:nvPr/>
        </p:nvSpPr>
        <p:spPr>
          <a:xfrm>
            <a:off x="503999" y="1386000"/>
            <a:ext cx="11232000" cy="216000"/>
          </a:xfrm>
          <a:prstGeom prst="rect">
            <a:avLst/>
          </a:prstGeom>
          <a:noFill/>
        </p:spPr>
        <p:txBody>
          <a:bodyPr wrap="square" anchor="t" lIns="54000" rIns="54000"/>
          <a:lstStyle/>
          <a:p>
            <a:pPr algn="ctr"/>
            <a:r>
              <a:rPr sz="1200" b="0">
                <a:solidFill>
                  <a:srgbClr val="EFAC62"/>
                </a:solidFill>
                <a:latin typeface="Helvetica"/>
              </a:rPr>
              <a:t>Tableau 18 : Tableau de bord des ratios de gestion, priorités 17 à 25</a:t>
            </a:r>
          </a:p>
        </p:txBody>
      </p:sp>
      <p:graphicFrame>
        <p:nvGraphicFramePr>
          <p:cNvPr id="32" name="Table 31"/>
          <p:cNvGraphicFramePr>
            <a:graphicFrameLocks noGrp="1"/>
          </p:cNvGraphicFramePr>
          <p:nvPr/>
        </p:nvGraphicFramePr>
        <p:xfrm>
          <a:off x="503999" y="1655999"/>
          <a:ext cx="11232000" cy="2359187"/>
        </p:xfrm>
        <a:graphic>
          <a:graphicData uri="http://schemas.openxmlformats.org/drawingml/2006/table">
            <a:tbl>
              <a:tblPr firstRow="0" bandRow="0">
                <a:tableStyleId>{5940675A-B579-460E-94D1-54222C63F5DA}</a:tableStyleId>
              </a:tblPr>
              <a:tblGrid>
                <a:gridCol w="324000"/>
                <a:gridCol w="3024000"/>
                <a:gridCol w="1728000"/>
                <a:gridCol w="972000"/>
                <a:gridCol w="972000"/>
                <a:gridCol w="972000"/>
                <a:gridCol w="972000"/>
                <a:gridCol w="1044000"/>
                <a:gridCol w="1224000"/>
              </a:tblGrid>
              <a:tr h="194768">
                <a:tc>
                  <a:txBody>
                    <a:bodyPr/>
                    <a:lstStyle/>
                    <a:p>
                      <a:pPr marL="0" indent="0" lvl="0">
                        <a:buNone/>
                      </a:pPr>
                      <a:r>
                        <a:rPr sz="900" b="1">
                          <a:solidFill>
                            <a:srgbClr val="FFFFFF"/>
                          </a:solidFill>
                          <a:latin typeface="Helvetica"/>
                        </a:rPr>
                        <a:t>N°</a:t>
                      </a:r>
                    </a:p>
                  </a:txBody>
                  <a:tcPr marL="43200" marR="43200" marT="14400" marB="14400" anchor="ctr">
                    <a:solidFill>
                      <a:srgbClr val="060606"/>
                    </a:solidFill>
                  </a:tcPr>
                </a:tc>
                <a:tc>
                  <a:txBody>
                    <a:bodyPr/>
                    <a:lstStyle/>
                    <a:p>
                      <a:pPr marL="0" indent="0" lvl="0">
                        <a:buNone/>
                      </a:pPr>
                      <a:r>
                        <a:rPr sz="900" b="1">
                          <a:solidFill>
                            <a:srgbClr val="FFFFFF"/>
                          </a:solidFill>
                          <a:latin typeface="Helvetica"/>
                        </a:rPr>
                        <a:t>Ratio</a:t>
                      </a:r>
                    </a:p>
                  </a:txBody>
                  <a:tcPr marL="43200" marR="43200" marT="14400" marB="14400" anchor="ctr">
                    <a:solidFill>
                      <a:srgbClr val="060606"/>
                    </a:solidFill>
                  </a:tcPr>
                </a:tc>
                <a:tc>
                  <a:txBody>
                    <a:bodyPr/>
                    <a:lstStyle/>
                    <a:p>
                      <a:pPr marL="0" indent="0" lvl="0">
                        <a:buNone/>
                      </a:pPr>
                      <a:r>
                        <a:rPr sz="900" b="1">
                          <a:solidFill>
                            <a:srgbClr val="FFFFFF"/>
                          </a:solidFill>
                          <a:latin typeface="Helvetica"/>
                        </a:rPr>
                        <a:t>Norme</a:t>
                      </a:r>
                    </a:p>
                  </a:txBody>
                  <a:tcPr marL="43200" marR="43200" marT="14400" marB="14400" anchor="ctr">
                    <a:solidFill>
                      <a:srgbClr val="060606"/>
                    </a:solidFill>
                  </a:tcPr>
                </a:tc>
                <a:tc>
                  <a:txBody>
                    <a:bodyPr/>
                    <a:lstStyle/>
                    <a:p>
                      <a:pPr marL="0" indent="0" lvl="0">
                        <a:buNone/>
                      </a:pPr>
                      <a:r>
                        <a:rPr sz="900" b="1">
                          <a:solidFill>
                            <a:srgbClr val="FFFFFF"/>
                          </a:solidFill>
                          <a:latin typeface="Helvetica"/>
                        </a:rPr>
                        <a:t>2022</a:t>
                      </a:r>
                    </a:p>
                  </a:txBody>
                  <a:tcPr marL="43200" marR="43200" marT="14400" marB="14400" anchor="ctr">
                    <a:solidFill>
                      <a:srgbClr val="060606"/>
                    </a:solidFill>
                  </a:tcPr>
                </a:tc>
                <a:tc>
                  <a:txBody>
                    <a:bodyPr/>
                    <a:lstStyle/>
                    <a:p>
                      <a:pPr marL="0" indent="0" lvl="0">
                        <a:buNone/>
                      </a:pPr>
                      <a:r>
                        <a:rPr sz="900" b="1">
                          <a:solidFill>
                            <a:srgbClr val="FFFFFF"/>
                          </a:solidFill>
                          <a:latin typeface="Helvetica"/>
                        </a:rPr>
                        <a:t>2023</a:t>
                      </a:r>
                    </a:p>
                  </a:txBody>
                  <a:tcPr marL="43200" marR="43200" marT="14400" marB="14400" anchor="ctr">
                    <a:solidFill>
                      <a:srgbClr val="060606"/>
                    </a:solidFill>
                  </a:tcPr>
                </a:tc>
                <a:tc>
                  <a:txBody>
                    <a:bodyPr/>
                    <a:lstStyle/>
                    <a:p>
                      <a:pPr marL="0" indent="0" lvl="0">
                        <a:buNone/>
                      </a:pPr>
                      <a:r>
                        <a:rPr sz="900" b="1">
                          <a:solidFill>
                            <a:srgbClr val="FFFFFF"/>
                          </a:solidFill>
                          <a:latin typeface="Helvetica"/>
                        </a:rPr>
                        <a:t>2024</a:t>
                      </a:r>
                    </a:p>
                  </a:txBody>
                  <a:tcPr marL="43200" marR="43200" marT="14400" marB="14400" anchor="ctr">
                    <a:solidFill>
                      <a:srgbClr val="060606"/>
                    </a:solidFill>
                  </a:tcPr>
                </a:tc>
                <a:tc>
                  <a:txBody>
                    <a:bodyPr/>
                    <a:lstStyle/>
                    <a:p>
                      <a:pPr marL="0" indent="0" lvl="0">
                        <a:buNone/>
                      </a:pPr>
                      <a:r>
                        <a:rPr sz="900" b="1">
                          <a:solidFill>
                            <a:srgbClr val="FFFFFF"/>
                          </a:solidFill>
                          <a:latin typeface="Helvetica"/>
                        </a:rPr>
                        <a:t>2025</a:t>
                      </a:r>
                    </a:p>
                  </a:txBody>
                  <a:tcPr marL="43200" marR="43200" marT="14400" marB="14400" anchor="ctr">
                    <a:solidFill>
                      <a:srgbClr val="060606"/>
                    </a:solidFill>
                  </a:tcPr>
                </a:tc>
                <a:tc>
                  <a:txBody>
                    <a:bodyPr/>
                    <a:lstStyle/>
                    <a:p>
                      <a:pPr marL="0" indent="0" lvl="0">
                        <a:buNone/>
                      </a:pPr>
                      <a:r>
                        <a:rPr sz="900" b="1">
                          <a:solidFill>
                            <a:srgbClr val="FFFFFF"/>
                          </a:solidFill>
                          <a:latin typeface="Helvetica"/>
                        </a:rPr>
                        <a:t>2026 (8 mois)</a:t>
                      </a:r>
                    </a:p>
                  </a:txBody>
                  <a:tcPr marL="43200" marR="43200" marT="14400" marB="14400" anchor="ctr">
                    <a:solidFill>
                      <a:srgbClr val="060606"/>
                    </a:solidFill>
                  </a:tcPr>
                </a:tc>
                <a:tc>
                  <a:txBody>
                    <a:bodyPr/>
                    <a:lstStyle/>
                    <a:p>
                      <a:pPr marL="0" indent="0" lvl="0">
                        <a:buNone/>
                      </a:pPr>
                      <a:r>
                        <a:rPr sz="900" b="1">
                          <a:solidFill>
                            <a:srgbClr val="FFFFFF"/>
                          </a:solidFill>
                          <a:latin typeface="Helvetica"/>
                        </a:rPr>
                        <a:t>Statut</a:t>
                      </a:r>
                    </a:p>
                  </a:txBody>
                  <a:tcPr marL="43200" marR="43200" marT="14400" marB="14400" anchor="ctr">
                    <a:solidFill>
                      <a:srgbClr val="060606"/>
                    </a:solidFill>
                  </a:tcPr>
                </a:tc>
              </a:tr>
              <a:tr h="194768">
                <a:tc>
                  <a:txBody>
                    <a:bodyPr/>
                    <a:lstStyle/>
                    <a:p>
                      <a:pPr marL="0" indent="0" lvl="0">
                        <a:buNone/>
                      </a:pPr>
                      <a:r>
                        <a:rPr sz="900" b="1">
                          <a:solidFill>
                            <a:srgbClr val="060606"/>
                          </a:solidFill>
                          <a:latin typeface="Helvetica"/>
                        </a:rPr>
                        <a:t>17</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Taux des charges de fonctionnement</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Au plus 20 %</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47,35 %</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44,82 %</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36,07 %</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36,34 %</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44,12 %</a:t>
                      </a:r>
                    </a:p>
                  </a:txBody>
                  <a:tcPr marL="43200" marR="43200" marT="14400" marB="14400" anchor="ctr">
                    <a:solidFill>
                      <a:srgbClr val="FFFFFF"/>
                    </a:solidFill>
                  </a:tcPr>
                </a:tc>
                <a:tc>
                  <a:txBody>
                    <a:bodyPr/>
                    <a:lstStyle/>
                    <a:p>
                      <a:pPr marL="0" indent="0" lvl="0">
                        <a:buNone/>
                      </a:pPr>
                      <a:r>
                        <a:rPr sz="900" b="1">
                          <a:solidFill>
                            <a:srgbClr val="FFFFFF"/>
                          </a:solidFill>
                          <a:latin typeface="Helvetica"/>
                        </a:rPr>
                        <a:t>Non conforme</a:t>
                      </a:r>
                    </a:p>
                  </a:txBody>
                  <a:tcPr marL="43200" marR="43200" marT="14400" marB="14400" anchor="ctr">
                    <a:solidFill>
                      <a:srgbClr val="C00000"/>
                    </a:solidFill>
                  </a:tcPr>
                </a:tc>
              </a:tr>
              <a:tr h="194768">
                <a:tc>
                  <a:txBody>
                    <a:bodyPr/>
                    <a:lstStyle/>
                    <a:p>
                      <a:pPr marL="0" indent="0" lvl="0">
                        <a:buNone/>
                      </a:pPr>
                      <a:r>
                        <a:rPr sz="900" b="1">
                          <a:solidFill>
                            <a:srgbClr val="060606"/>
                          </a:solidFill>
                          <a:latin typeface="Helvetica"/>
                        </a:rPr>
                        <a:t>18</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Taux des charges de fonctionnement brut</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Au plus 15 %</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35,08 %</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43,81 %</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36,20 %</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34,86 %</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43,74 %</a:t>
                      </a:r>
                    </a:p>
                  </a:txBody>
                  <a:tcPr marL="43200" marR="43200" marT="14400" marB="14400" anchor="ctr">
                    <a:solidFill>
                      <a:srgbClr val="F2F2F2"/>
                    </a:solidFill>
                  </a:tcPr>
                </a:tc>
                <a:tc>
                  <a:txBody>
                    <a:bodyPr/>
                    <a:lstStyle/>
                    <a:p>
                      <a:pPr marL="0" indent="0" lvl="0">
                        <a:buNone/>
                      </a:pPr>
                      <a:r>
                        <a:rPr sz="900" b="1">
                          <a:solidFill>
                            <a:srgbClr val="FFFFFF"/>
                          </a:solidFill>
                          <a:latin typeface="Helvetica"/>
                        </a:rPr>
                        <a:t>Non conforme</a:t>
                      </a:r>
                    </a:p>
                  </a:txBody>
                  <a:tcPr marL="43200" marR="43200" marT="14400" marB="14400" anchor="ctr">
                    <a:solidFill>
                      <a:srgbClr val="C00000"/>
                    </a:solidFill>
                  </a:tcPr>
                </a:tc>
              </a:tr>
              <a:tr h="194768">
                <a:tc>
                  <a:txBody>
                    <a:bodyPr/>
                    <a:lstStyle/>
                    <a:p>
                      <a:pPr marL="0" indent="0" lvl="0">
                        <a:buNone/>
                      </a:pPr>
                      <a:r>
                        <a:rPr sz="900" b="1">
                          <a:solidFill>
                            <a:srgbClr val="060606"/>
                          </a:solidFill>
                          <a:latin typeface="Helvetica"/>
                        </a:rPr>
                        <a:t>19</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Coût par unité monétaire prestée</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Au plus 15 %</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522,78 %</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182,49 %</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89,40 %</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63,21 %</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58,67 %</a:t>
                      </a:r>
                    </a:p>
                  </a:txBody>
                  <a:tcPr marL="43200" marR="43200" marT="14400" marB="14400" anchor="ctr">
                    <a:solidFill>
                      <a:srgbClr val="FFFFFF"/>
                    </a:solidFill>
                  </a:tcPr>
                </a:tc>
                <a:tc>
                  <a:txBody>
                    <a:bodyPr/>
                    <a:lstStyle/>
                    <a:p>
                      <a:pPr marL="0" indent="0" lvl="0">
                        <a:buNone/>
                      </a:pPr>
                      <a:r>
                        <a:rPr sz="900" b="1">
                          <a:solidFill>
                            <a:srgbClr val="FFFFFF"/>
                          </a:solidFill>
                          <a:latin typeface="Helvetica"/>
                        </a:rPr>
                        <a:t>Non conforme</a:t>
                      </a:r>
                    </a:p>
                  </a:txBody>
                  <a:tcPr marL="43200" marR="43200" marT="14400" marB="14400" anchor="ctr">
                    <a:solidFill>
                      <a:srgbClr val="C00000"/>
                    </a:solidFill>
                  </a:tcPr>
                </a:tc>
              </a:tr>
              <a:tr h="194768">
                <a:tc>
                  <a:txBody>
                    <a:bodyPr/>
                    <a:lstStyle/>
                    <a:p>
                      <a:pPr marL="0" indent="0" lvl="0">
                        <a:buNone/>
                      </a:pPr>
                      <a:r>
                        <a:rPr sz="900" b="1">
                          <a:solidFill>
                            <a:srgbClr val="060606"/>
                          </a:solidFill>
                          <a:latin typeface="Helvetica"/>
                        </a:rPr>
                        <a:t>20</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Taux de charges de personnel</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Au plus 85 %</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19,26 %</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23,21 %</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24,83 %</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26,57 %</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25,83 %</a:t>
                      </a:r>
                    </a:p>
                  </a:txBody>
                  <a:tcPr marL="43200" marR="43200" marT="14400" marB="14400" anchor="ctr">
                    <a:solidFill>
                      <a:srgbClr val="F2F2F2"/>
                    </a:solidFill>
                  </a:tcPr>
                </a:tc>
                <a:tc>
                  <a:txBody>
                    <a:bodyPr/>
                    <a:lstStyle/>
                    <a:p>
                      <a:pPr marL="0" indent="0" lvl="0">
                        <a:buNone/>
                      </a:pPr>
                      <a:r>
                        <a:rPr sz="900" b="1">
                          <a:solidFill>
                            <a:srgbClr val="FFFFFF"/>
                          </a:solidFill>
                          <a:latin typeface="Helvetica"/>
                        </a:rPr>
                        <a:t>Conforme</a:t>
                      </a:r>
                    </a:p>
                  </a:txBody>
                  <a:tcPr marL="43200" marR="43200" marT="14400" marB="14400" anchor="ctr">
                    <a:solidFill>
                      <a:srgbClr val="112A40"/>
                    </a:solidFill>
                  </a:tcPr>
                </a:tc>
              </a:tr>
              <a:tr h="194768">
                <a:tc>
                  <a:txBody>
                    <a:bodyPr/>
                    <a:lstStyle/>
                    <a:p>
                      <a:pPr marL="0" indent="0" lvl="0">
                        <a:buNone/>
                      </a:pPr>
                      <a:r>
                        <a:rPr sz="900" b="1">
                          <a:solidFill>
                            <a:srgbClr val="060606"/>
                          </a:solidFill>
                          <a:latin typeface="Helvetica"/>
                        </a:rPr>
                        <a:t>22</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Taux de fidélisation</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Au moins 80 %</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n.d.</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n.d.</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n.d.</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96,49 %</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97,83 %</a:t>
                      </a:r>
                    </a:p>
                  </a:txBody>
                  <a:tcPr marL="43200" marR="43200" marT="14400" marB="14400" anchor="ctr">
                    <a:solidFill>
                      <a:srgbClr val="FFFFFF"/>
                    </a:solidFill>
                  </a:tcPr>
                </a:tc>
                <a:tc>
                  <a:txBody>
                    <a:bodyPr/>
                    <a:lstStyle/>
                    <a:p>
                      <a:pPr marL="0" indent="0" lvl="0">
                        <a:buNone/>
                      </a:pPr>
                      <a:r>
                        <a:rPr sz="900" b="1">
                          <a:solidFill>
                            <a:srgbClr val="FFFFFF"/>
                          </a:solidFill>
                          <a:latin typeface="Helvetica"/>
                        </a:rPr>
                        <a:t>Conforme</a:t>
                      </a:r>
                    </a:p>
                  </a:txBody>
                  <a:tcPr marL="43200" marR="43200" marT="14400" marB="14400" anchor="ctr">
                    <a:solidFill>
                      <a:srgbClr val="112A40"/>
                    </a:solidFill>
                  </a:tcPr>
                </a:tc>
              </a:tr>
              <a:tr h="331937">
                <a:tc>
                  <a:txBody>
                    <a:bodyPr/>
                    <a:lstStyle/>
                    <a:p>
                      <a:pPr marL="0" indent="0" lvl="0">
                        <a:buNone/>
                      </a:pPr>
                      <a:r>
                        <a:rPr sz="900" b="1">
                          <a:solidFill>
                            <a:srgbClr val="060606"/>
                          </a:solidFill>
                          <a:latin typeface="Helvetica"/>
                        </a:rPr>
                        <a:t>23</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Délai moyen de paiement des prestataires de soins</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Délai contractuel</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841 jours</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145 jours</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68 jours</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45 jours</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93 jours</a:t>
                      </a:r>
                    </a:p>
                  </a:txBody>
                  <a:tcPr marL="43200" marR="43200" marT="14400" marB="14400" anchor="ctr">
                    <a:solidFill>
                      <a:srgbClr val="F2F2F2"/>
                    </a:solidFill>
                  </a:tcPr>
                </a:tc>
                <a:tc>
                  <a:txBody>
                    <a:bodyPr/>
                    <a:lstStyle/>
                    <a:p>
                      <a:pPr marL="0" indent="0" lvl="0">
                        <a:buNone/>
                      </a:pPr>
                      <a:r>
                        <a:rPr sz="900" b="1">
                          <a:solidFill>
                            <a:srgbClr val="060606"/>
                          </a:solidFill>
                          <a:latin typeface="Helvetica"/>
                        </a:rPr>
                        <a:t>À apprécier</a:t>
                      </a:r>
                    </a:p>
                  </a:txBody>
                  <a:tcPr marL="43200" marR="43200" marT="14400" marB="14400" anchor="ctr">
                    <a:solidFill>
                      <a:srgbClr val="BBBCBC"/>
                    </a:solidFill>
                  </a:tcPr>
                </a:tc>
              </a:tr>
              <a:tr h="194768">
                <a:tc>
                  <a:txBody>
                    <a:bodyPr/>
                    <a:lstStyle/>
                    <a:p>
                      <a:pPr marL="0" indent="0" lvl="0">
                        <a:buNone/>
                      </a:pPr>
                      <a:r>
                        <a:rPr sz="900" b="1">
                          <a:solidFill>
                            <a:srgbClr val="060606"/>
                          </a:solidFill>
                          <a:latin typeface="Helvetica"/>
                        </a:rPr>
                        <a:t>24</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Taux d'investissement brut en formation</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Au plus 3 %</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0,01 %</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0,19 %</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0,04 %</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0,75 %</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0,04 %</a:t>
                      </a:r>
                    </a:p>
                  </a:txBody>
                  <a:tcPr marL="43200" marR="43200" marT="14400" marB="14400" anchor="ctr">
                    <a:solidFill>
                      <a:srgbClr val="FFFFFF"/>
                    </a:solidFill>
                  </a:tcPr>
                </a:tc>
                <a:tc>
                  <a:txBody>
                    <a:bodyPr/>
                    <a:lstStyle/>
                    <a:p>
                      <a:pPr marL="0" indent="0" lvl="0">
                        <a:buNone/>
                      </a:pPr>
                      <a:r>
                        <a:rPr sz="900" b="1">
                          <a:solidFill>
                            <a:srgbClr val="FFFFFF"/>
                          </a:solidFill>
                          <a:latin typeface="Helvetica"/>
                        </a:rPr>
                        <a:t>Conforme</a:t>
                      </a:r>
                    </a:p>
                  </a:txBody>
                  <a:tcPr marL="43200" marR="43200" marT="14400" marB="14400" anchor="ctr">
                    <a:solidFill>
                      <a:srgbClr val="112A40"/>
                    </a:solidFill>
                  </a:tcPr>
                </a:tc>
              </a:tr>
              <a:tr h="331937">
                <a:tc>
                  <a:txBody>
                    <a:bodyPr/>
                    <a:lstStyle/>
                    <a:p>
                      <a:pPr marL="0" indent="0" lvl="0">
                        <a:buNone/>
                      </a:pPr>
                      <a:r>
                        <a:rPr sz="900" b="1">
                          <a:solidFill>
                            <a:srgbClr val="060606"/>
                          </a:solidFill>
                          <a:latin typeface="Helvetica"/>
                        </a:rPr>
                        <a:t>25</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Taux de croissance brute des bénéficiaires</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Objectif du plan de développement stratégique</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n.d.</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n.d.</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n.d.</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10,73 %</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n.d.</a:t>
                      </a:r>
                    </a:p>
                  </a:txBody>
                  <a:tcPr marL="43200" marR="43200" marT="14400" marB="14400" anchor="ctr">
                    <a:solidFill>
                      <a:srgbClr val="F2F2F2"/>
                    </a:solidFill>
                  </a:tcPr>
                </a:tc>
                <a:tc>
                  <a:txBody>
                    <a:bodyPr/>
                    <a:lstStyle/>
                    <a:p>
                      <a:pPr marL="0" indent="0" lvl="0">
                        <a:buNone/>
                      </a:pPr>
                      <a:r>
                        <a:rPr sz="900" b="1">
                          <a:solidFill>
                            <a:srgbClr val="060606"/>
                          </a:solidFill>
                          <a:latin typeface="Helvetica"/>
                        </a:rPr>
                        <a:t>À apprécier</a:t>
                      </a:r>
                    </a:p>
                  </a:txBody>
                  <a:tcPr marL="43200" marR="43200" marT="14400" marB="14400" anchor="ctr">
                    <a:solidFill>
                      <a:srgbClr val="BBBCBC"/>
                    </a:solidFill>
                  </a:tcPr>
                </a:tc>
              </a:tr>
              <a:tr h="331937">
                <a:tc>
                  <a:txBody>
                    <a:bodyPr/>
                    <a:lstStyle/>
                    <a:p>
                      <a:pPr marL="0" indent="0" lvl="0">
                        <a:buNone/>
                      </a:pPr>
                      <a:r>
                        <a:rPr sz="900" b="1">
                          <a:solidFill>
                            <a:srgbClr val="060606"/>
                          </a:solidFill>
                          <a:latin typeface="Helvetica"/>
                        </a:rPr>
                        <a:t>21</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Taux de recouvrement des cotisations</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Au moins 90 %</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100,19 %</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
                      </a:r>
                    </a:p>
                  </a:txBody>
                  <a:tcPr marL="43200" marR="43200" marT="14400" marB="14400" anchor="ctr">
                    <a:solidFill>
                      <a:srgbClr val="FFFFFF"/>
                    </a:solidFill>
                  </a:tcPr>
                </a:tc>
                <a:tc>
                  <a:txBody>
                    <a:bodyPr/>
                    <a:lstStyle/>
                    <a:p>
                      <a:pPr marL="0" indent="0" lvl="0">
                        <a:buNone/>
                      </a:pPr>
                      <a:r>
                        <a:rPr sz="900" b="1">
                          <a:solidFill>
                            <a:srgbClr val="FFFFFF"/>
                          </a:solidFill>
                          <a:latin typeface="Helvetica"/>
                        </a:rPr>
                        <a:t>Conforme (retraités)</a:t>
                      </a:r>
                    </a:p>
                  </a:txBody>
                  <a:tcPr marL="43200" marR="43200" marT="14400" marB="14400" anchor="ctr">
                    <a:solidFill>
                      <a:srgbClr val="112A40"/>
                    </a:solidFill>
                  </a:tcPr>
                </a:tc>
              </a:tr>
            </a:tbl>
          </a:graphicData>
        </a:graphic>
      </p:graphicFrame>
      <p:sp>
        <p:nvSpPr>
          <p:cNvPr id="33" name="TextBox 32"/>
          <p:cNvSpPr txBox="1"/>
          <p:nvPr/>
        </p:nvSpPr>
        <p:spPr>
          <a:xfrm>
            <a:off x="503999" y="4123192"/>
            <a:ext cx="11232000" cy="1744807"/>
          </a:xfrm>
          <a:prstGeom prst="rect">
            <a:avLst/>
          </a:prstGeom>
          <a:noFill/>
        </p:spPr>
        <p:txBody>
          <a:bodyPr wrap="square" lIns="54000" rIns="54000"/>
          <a:lstStyle/>
          <a:p>
            <a:pPr algn="just">
              <a:spcAft>
                <a:spcPts val="600"/>
              </a:spcAft>
            </a:pPr>
            <a:r>
              <a:rPr sz="1300" b="1">
                <a:solidFill>
                  <a:srgbClr val="060606"/>
                </a:solidFill>
                <a:latin typeface="Helvetica"/>
              </a:rPr>
              <a:t>Les trois ratios de frais sont non conformes chaque année.</a:t>
            </a:r>
            <a:r>
              <a:rPr sz="1300" b="0">
                <a:solidFill>
                  <a:srgbClr val="060606"/>
                </a:solidFill>
                <a:latin typeface="Helvetica"/>
              </a:rPr>
              <a:t> Les frais de fonctionnement absorbent plus d'un tiers des cotisations, contre 20 % au plus selon la norme.</a:t>
            </a:r>
          </a:p>
          <a:p>
            <a:pPr algn="just">
              <a:spcAft>
                <a:spcPts val="600"/>
              </a:spcAft>
            </a:pPr>
            <a:r>
              <a:rPr sz="1300" b="1">
                <a:solidFill>
                  <a:srgbClr val="060606"/>
                </a:solidFill>
                <a:latin typeface="Helvetica"/>
              </a:rPr>
              <a:t>Implication pour le FPPN.</a:t>
            </a:r>
            <a:r>
              <a:rPr sz="1300" b="0">
                <a:solidFill>
                  <a:srgbClr val="060606"/>
                </a:solidFill>
                <a:latin typeface="Helvetica"/>
              </a:rPr>
              <a:t> La baisse du coût par unité prestée vient surtout de la hausse des prestations, pas d'une baisse des frais : le FPPN doit présenter un plan de réduction des charges de fonctionnement.</a:t>
            </a:r>
          </a:p>
        </p:txBody>
      </p:sp>
      <p:sp>
        <p:nvSpPr>
          <p:cNvPr id="34" name="TextBox 33"/>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UEMOA : Union économique et monétaire ouest-africaine</a:t>
            </a:r>
          </a:p>
        </p:txBody>
      </p:sp>
    </p:spTree>
    <p:extLst>
      <p:ext uri="{BB962C8B-B14F-4D97-AF65-F5344CB8AC3E}">
        <p14:creationId xmlns:p14="http://schemas.microsoft.com/office/powerpoint/2010/main" val="958507001"/>
      </p:ext>
    </p:extLst>
  </p:cSld>
  <p:clrMapOvr>
    <a:masterClrMapping/>
  </p:clrMapOvr>
  <p:transition>
    <p:fade/>
  </p:transition>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Tableau de bord (4/4) : données en attente</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Onze indicateurs attendent des documents de gestion ou de gouvernance</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Ces indicateurs ne sont pas exclus : ils seront calculés dès réception des pièces demandées</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Décision n° 05/2022/COM/UEMOA du 1er juin 2022, annexe. Règlement d'exécution n° 004/2022/COM/UEMOA du 1er juin 2022. Règlement n° 07/2009/CM/UEMOA du 26 juin 2009. Balances du FPPN. Calculs Adenka. Liste des documents demandés (PBC)</a:t>
            </a:r>
          </a:p>
        </p:txBody>
      </p:sp>
      <p:sp>
        <p:nvSpPr>
          <p:cNvPr id="31" name="TextBox 30"/>
          <p:cNvSpPr txBox="1"/>
          <p:nvPr/>
        </p:nvSpPr>
        <p:spPr>
          <a:xfrm>
            <a:off x="503999" y="1386000"/>
            <a:ext cx="11232000" cy="216000"/>
          </a:xfrm>
          <a:prstGeom prst="rect">
            <a:avLst/>
          </a:prstGeom>
          <a:noFill/>
        </p:spPr>
        <p:txBody>
          <a:bodyPr wrap="square" anchor="t" lIns="54000" rIns="54000"/>
          <a:lstStyle/>
          <a:p>
            <a:pPr algn="ctr"/>
            <a:r>
              <a:rPr sz="1200" b="0">
                <a:solidFill>
                  <a:srgbClr val="EFAC62"/>
                </a:solidFill>
                <a:latin typeface="Helvetica"/>
              </a:rPr>
              <a:t>Tableau 19 : Indicateurs en attente de documents, priorités 26 à 36</a:t>
            </a:r>
          </a:p>
        </p:txBody>
      </p:sp>
      <p:graphicFrame>
        <p:nvGraphicFramePr>
          <p:cNvPr id="32" name="Table 31"/>
          <p:cNvGraphicFramePr>
            <a:graphicFrameLocks noGrp="1"/>
          </p:cNvGraphicFramePr>
          <p:nvPr/>
        </p:nvGraphicFramePr>
        <p:xfrm>
          <a:off x="503999" y="1655999"/>
          <a:ext cx="11232000" cy="3023061"/>
        </p:xfrm>
        <a:graphic>
          <a:graphicData uri="http://schemas.openxmlformats.org/drawingml/2006/table">
            <a:tbl>
              <a:tblPr firstRow="0" bandRow="0">
                <a:tableStyleId>{5940675A-B579-460E-94D1-54222C63F5DA}</a:tableStyleId>
              </a:tblPr>
              <a:tblGrid>
                <a:gridCol w="324000"/>
                <a:gridCol w="3960000"/>
                <a:gridCol w="2160000"/>
                <a:gridCol w="4788000"/>
              </a:tblGrid>
              <a:tr h="194768">
                <a:tc>
                  <a:txBody>
                    <a:bodyPr/>
                    <a:lstStyle/>
                    <a:p>
                      <a:pPr marL="0" indent="0" lvl="0">
                        <a:buNone/>
                      </a:pPr>
                      <a:r>
                        <a:rPr sz="900" b="1">
                          <a:solidFill>
                            <a:srgbClr val="FFFFFF"/>
                          </a:solidFill>
                          <a:latin typeface="Helvetica"/>
                        </a:rPr>
                        <a:t>N°</a:t>
                      </a:r>
                    </a:p>
                  </a:txBody>
                  <a:tcPr marL="43200" marR="43200" marT="14400" marB="14400" anchor="ctr">
                    <a:solidFill>
                      <a:srgbClr val="060606"/>
                    </a:solidFill>
                  </a:tcPr>
                </a:tc>
                <a:tc>
                  <a:txBody>
                    <a:bodyPr/>
                    <a:lstStyle/>
                    <a:p>
                      <a:pPr marL="0" indent="0" lvl="0">
                        <a:buNone/>
                      </a:pPr>
                      <a:r>
                        <a:rPr sz="900" b="1">
                          <a:solidFill>
                            <a:srgbClr val="FFFFFF"/>
                          </a:solidFill>
                          <a:latin typeface="Helvetica"/>
                        </a:rPr>
                        <a:t>Indicateur</a:t>
                      </a:r>
                    </a:p>
                  </a:txBody>
                  <a:tcPr marL="43200" marR="43200" marT="14400" marB="14400" anchor="ctr">
                    <a:solidFill>
                      <a:srgbClr val="060606"/>
                    </a:solidFill>
                  </a:tcPr>
                </a:tc>
                <a:tc>
                  <a:txBody>
                    <a:bodyPr/>
                    <a:lstStyle/>
                    <a:p>
                      <a:pPr marL="0" indent="0" lvl="0">
                        <a:buNone/>
                      </a:pPr>
                      <a:r>
                        <a:rPr sz="900" b="1">
                          <a:solidFill>
                            <a:srgbClr val="FFFFFF"/>
                          </a:solidFill>
                          <a:latin typeface="Helvetica"/>
                        </a:rPr>
                        <a:t>Norme</a:t>
                      </a:r>
                    </a:p>
                  </a:txBody>
                  <a:tcPr marL="43200" marR="43200" marT="14400" marB="14400" anchor="ctr">
                    <a:solidFill>
                      <a:srgbClr val="060606"/>
                    </a:solidFill>
                  </a:tcPr>
                </a:tc>
                <a:tc>
                  <a:txBody>
                    <a:bodyPr/>
                    <a:lstStyle/>
                    <a:p>
                      <a:pPr marL="0" indent="0" lvl="0">
                        <a:buNone/>
                      </a:pPr>
                      <a:r>
                        <a:rPr sz="900" b="1">
                          <a:solidFill>
                            <a:srgbClr val="FFFFFF"/>
                          </a:solidFill>
                          <a:latin typeface="Helvetica"/>
                        </a:rPr>
                        <a:t>Pièce à obtenir</a:t>
                      </a:r>
                    </a:p>
                  </a:txBody>
                  <a:tcPr marL="43200" marR="43200" marT="14400" marB="14400" anchor="ctr">
                    <a:solidFill>
                      <a:srgbClr val="060606"/>
                    </a:solidFill>
                  </a:tcPr>
                </a:tc>
              </a:tr>
              <a:tr h="331937">
                <a:tc>
                  <a:txBody>
                    <a:bodyPr/>
                    <a:lstStyle/>
                    <a:p>
                      <a:pPr marL="0" indent="0" lvl="0">
                        <a:buNone/>
                      </a:pPr>
                      <a:r>
                        <a:rPr sz="900" b="1">
                          <a:solidFill>
                            <a:srgbClr val="060606"/>
                          </a:solidFill>
                          <a:latin typeface="Helvetica"/>
                        </a:rPr>
                        <a:t>26</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Ratio bénéficiaire-adhérent</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Objectif du plan de développement stratégique</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Fichier des ayants droit non transmis.</a:t>
                      </a:r>
                    </a:p>
                  </a:txBody>
                  <a:tcPr marL="43200" marR="43200" marT="14400" marB="14400" anchor="ctr">
                    <a:solidFill>
                      <a:srgbClr val="FFFFFF"/>
                    </a:solidFill>
                  </a:tcPr>
                </a:tc>
              </a:tr>
              <a:tr h="331937">
                <a:tc>
                  <a:txBody>
                    <a:bodyPr/>
                    <a:lstStyle/>
                    <a:p>
                      <a:pPr marL="0" indent="0" lvl="0">
                        <a:buNone/>
                      </a:pPr>
                      <a:r>
                        <a:rPr sz="900" b="1">
                          <a:solidFill>
                            <a:srgbClr val="060606"/>
                          </a:solidFill>
                          <a:latin typeface="Helvetica"/>
                        </a:rPr>
                        <a:t>27</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Taux de pénétration</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Objectif du plan de développement stratégique</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Effectif total de la Police nationale non transmis.</a:t>
                      </a:r>
                    </a:p>
                  </a:txBody>
                  <a:tcPr marL="43200" marR="43200" marT="14400" marB="14400" anchor="ctr">
                    <a:solidFill>
                      <a:srgbClr val="F2F2F2"/>
                    </a:solidFill>
                  </a:tcPr>
                </a:tc>
              </a:tr>
              <a:tr h="194768">
                <a:tc>
                  <a:txBody>
                    <a:bodyPr/>
                    <a:lstStyle/>
                    <a:p>
                      <a:pPr marL="0" indent="0" lvl="0">
                        <a:buNone/>
                      </a:pPr>
                      <a:r>
                        <a:rPr sz="900" b="1">
                          <a:solidFill>
                            <a:srgbClr val="060606"/>
                          </a:solidFill>
                          <a:latin typeface="Helvetica"/>
                        </a:rPr>
                        <a:t>28</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Taux de prestations indues</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Au plus 2 %</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Rapports de contrôle a posteriori non transmis.</a:t>
                      </a:r>
                    </a:p>
                  </a:txBody>
                  <a:tcPr marL="43200" marR="43200" marT="14400" marB="14400" anchor="ctr">
                    <a:solidFill>
                      <a:srgbClr val="FFFFFF"/>
                    </a:solidFill>
                  </a:tcPr>
                </a:tc>
              </a:tr>
              <a:tr h="331937">
                <a:tc>
                  <a:txBody>
                    <a:bodyPr/>
                    <a:lstStyle/>
                    <a:p>
                      <a:pPr marL="0" indent="0" lvl="0">
                        <a:buNone/>
                      </a:pPr>
                      <a:r>
                        <a:rPr sz="900" b="1">
                          <a:solidFill>
                            <a:srgbClr val="060606"/>
                          </a:solidFill>
                          <a:latin typeface="Helvetica"/>
                        </a:rPr>
                        <a:t>29</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Ratio de contrôle a posteriori</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Au moins 5 % (10 % pour les risques longs)</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Registre des contrôles non transmis.</a:t>
                      </a:r>
                    </a:p>
                  </a:txBody>
                  <a:tcPr marL="43200" marR="43200" marT="14400" marB="14400" anchor="ctr">
                    <a:solidFill>
                      <a:srgbClr val="F2F2F2"/>
                    </a:solidFill>
                  </a:tcPr>
                </a:tc>
              </a:tr>
              <a:tr h="194768">
                <a:tc>
                  <a:txBody>
                    <a:bodyPr/>
                    <a:lstStyle/>
                    <a:p>
                      <a:pPr marL="0" indent="0" lvl="0">
                        <a:buNone/>
                      </a:pPr>
                      <a:r>
                        <a:rPr sz="900" b="1">
                          <a:solidFill>
                            <a:srgbClr val="060606"/>
                          </a:solidFill>
                          <a:latin typeface="Helvetica"/>
                        </a:rPr>
                        <a:t>30</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Délai de liquidation des premières demandes (risques longs)</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Au plus 30 jours</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Dossiers de prestations avec dates non transmis.</a:t>
                      </a:r>
                    </a:p>
                  </a:txBody>
                  <a:tcPr marL="43200" marR="43200" marT="14400" marB="14400" anchor="ctr">
                    <a:solidFill>
                      <a:srgbClr val="FFFFFF"/>
                    </a:solidFill>
                  </a:tcPr>
                </a:tc>
              </a:tr>
              <a:tr h="194768">
                <a:tc>
                  <a:txBody>
                    <a:bodyPr/>
                    <a:lstStyle/>
                    <a:p>
                      <a:pPr marL="0" indent="0" lvl="0">
                        <a:buNone/>
                      </a:pPr>
                      <a:r>
                        <a:rPr sz="900" b="1">
                          <a:solidFill>
                            <a:srgbClr val="060606"/>
                          </a:solidFill>
                          <a:latin typeface="Helvetica"/>
                        </a:rPr>
                        <a:t>31</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Restes à traiter en fin de période (risques longs)</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Au plus 5 %</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Dossiers de prestations avec statut non transmis.</a:t>
                      </a:r>
                    </a:p>
                  </a:txBody>
                  <a:tcPr marL="43200" marR="43200" marT="14400" marB="14400" anchor="ctr">
                    <a:solidFill>
                      <a:srgbClr val="F2F2F2"/>
                    </a:solidFill>
                  </a:tcPr>
                </a:tc>
              </a:tr>
              <a:tr h="331937">
                <a:tc>
                  <a:txBody>
                    <a:bodyPr/>
                    <a:lstStyle/>
                    <a:p>
                      <a:pPr marL="0" indent="0" lvl="0">
                        <a:buNone/>
                      </a:pPr>
                      <a:r>
                        <a:rPr sz="900" b="1">
                          <a:solidFill>
                            <a:srgbClr val="060606"/>
                          </a:solidFill>
                          <a:latin typeface="Helvetica"/>
                        </a:rPr>
                        <a:t>32</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Délai de remise en banque des titres de paiement (risques longs)</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Au plus 1 jour</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Registre des encaissements non transmis.</a:t>
                      </a:r>
                    </a:p>
                  </a:txBody>
                  <a:tcPr marL="43200" marR="43200" marT="14400" marB="14400" anchor="ctr">
                    <a:solidFill>
                      <a:srgbClr val="FFFFFF"/>
                    </a:solidFill>
                  </a:tcPr>
                </a:tc>
              </a:tr>
              <a:tr h="331937">
                <a:tc>
                  <a:txBody>
                    <a:bodyPr/>
                    <a:lstStyle/>
                    <a:p>
                      <a:pPr marL="0" indent="0" lvl="0">
                        <a:buNone/>
                      </a:pPr>
                      <a:r>
                        <a:rPr sz="900" b="1">
                          <a:solidFill>
                            <a:srgbClr val="060606"/>
                          </a:solidFill>
                          <a:latin typeface="Helvetica"/>
                        </a:rPr>
                        <a:t>33</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Taux de règlement de la cotisation au Fonds national de garantie</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100 %</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Aucun compte FNG (FOMUS-CI) dans les balances : adhésion et cotisation à confirmer.</a:t>
                      </a:r>
                    </a:p>
                  </a:txBody>
                  <a:tcPr marL="43200" marR="43200" marT="14400" marB="14400" anchor="ctr">
                    <a:solidFill>
                      <a:srgbClr val="F2F2F2"/>
                    </a:solidFill>
                  </a:tcPr>
                </a:tc>
              </a:tr>
              <a:tr h="194768">
                <a:tc>
                  <a:txBody>
                    <a:bodyPr/>
                    <a:lstStyle/>
                    <a:p>
                      <a:pPr marL="0" indent="0" lvl="0">
                        <a:buNone/>
                      </a:pPr>
                      <a:r>
                        <a:rPr sz="900" b="1">
                          <a:solidFill>
                            <a:srgbClr val="060606"/>
                          </a:solidFill>
                          <a:latin typeface="Helvetica"/>
                        </a:rPr>
                        <a:t>34</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Taux de tenue des réunions des organes</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100 %</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Procès-verbaux non transmis.</a:t>
                      </a:r>
                    </a:p>
                  </a:txBody>
                  <a:tcPr marL="43200" marR="43200" marT="14400" marB="14400" anchor="ctr">
                    <a:solidFill>
                      <a:srgbClr val="FFFFFF"/>
                    </a:solidFill>
                  </a:tcPr>
                </a:tc>
              </a:tr>
              <a:tr h="194768">
                <a:tc>
                  <a:txBody>
                    <a:bodyPr/>
                    <a:lstStyle/>
                    <a:p>
                      <a:pPr marL="0" indent="0" lvl="0">
                        <a:buNone/>
                      </a:pPr>
                      <a:r>
                        <a:rPr sz="900" b="1">
                          <a:solidFill>
                            <a:srgbClr val="060606"/>
                          </a:solidFill>
                          <a:latin typeface="Helvetica"/>
                        </a:rPr>
                        <a:t>35</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Existence et tenue des outils de suivi administratif</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Existence et tenue</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Contrôle sur place, hors du champ des données reçues.</a:t>
                      </a:r>
                    </a:p>
                  </a:txBody>
                  <a:tcPr marL="43200" marR="43200" marT="14400" marB="14400" anchor="ctr">
                    <a:solidFill>
                      <a:srgbClr val="F2F2F2"/>
                    </a:solidFill>
                  </a:tcPr>
                </a:tc>
              </a:tr>
              <a:tr h="194768">
                <a:tc>
                  <a:txBody>
                    <a:bodyPr/>
                    <a:lstStyle/>
                    <a:p>
                      <a:pPr marL="0" indent="0" lvl="0">
                        <a:buNone/>
                      </a:pPr>
                      <a:r>
                        <a:rPr sz="900" b="1">
                          <a:solidFill>
                            <a:srgbClr val="060606"/>
                          </a:solidFill>
                          <a:latin typeface="Helvetica"/>
                        </a:rPr>
                        <a:t>36</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Existence et tenue des outils de suivi comptable et financier</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Existence et tenue</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Contrôle sur place, hors du champ des données reçues.</a:t>
                      </a:r>
                    </a:p>
                  </a:txBody>
                  <a:tcPr marL="43200" marR="43200" marT="14400" marB="14400" anchor="ctr">
                    <a:solidFill>
                      <a:srgbClr val="FFFFFF"/>
                    </a:solidFill>
                  </a:tcPr>
                </a:tc>
              </a:tr>
            </a:tbl>
          </a:graphicData>
        </a:graphic>
      </p:graphicFrame>
      <p:sp>
        <p:nvSpPr>
          <p:cNvPr id="33" name="TextBox 32"/>
          <p:cNvSpPr txBox="1"/>
          <p:nvPr/>
        </p:nvSpPr>
        <p:spPr>
          <a:xfrm>
            <a:off x="503999" y="4787066"/>
            <a:ext cx="11232000" cy="1080933"/>
          </a:xfrm>
          <a:prstGeom prst="rect">
            <a:avLst/>
          </a:prstGeom>
          <a:noFill/>
        </p:spPr>
        <p:txBody>
          <a:bodyPr wrap="square" lIns="54000" rIns="54000"/>
          <a:lstStyle/>
          <a:p>
            <a:pPr algn="just">
              <a:spcAft>
                <a:spcPts val="600"/>
              </a:spcAft>
            </a:pPr>
            <a:r>
              <a:rPr sz="1300" b="1">
                <a:solidFill>
                  <a:srgbClr val="060606"/>
                </a:solidFill>
                <a:latin typeface="Helvetica"/>
              </a:rPr>
              <a:t>L'absence de compte du fonds national de garantie dans les balances est le point le plus sensible.</a:t>
            </a:r>
            <a:r>
              <a:rPr sz="1300" b="0">
                <a:solidFill>
                  <a:srgbClr val="060606"/>
                </a:solidFill>
                <a:latin typeface="Helvetica"/>
              </a:rPr>
              <a:t> L'adhésion au fonds est obligatoire (règlement n° 07/2009, art. 63), et son défaut est sanctionné (arrêté n° 00115/MEPS/CAB, ligne 8).</a:t>
            </a:r>
          </a:p>
        </p:txBody>
      </p:sp>
      <p:sp>
        <p:nvSpPr>
          <p:cNvPr id="34" name="TextBox 33"/>
          <p:cNvSpPr txBox="1"/>
          <p:nvPr/>
        </p:nvSpPr>
        <p:spPr>
          <a:xfrm>
            <a:off x="367200" y="5932800"/>
            <a:ext cx="11430000" cy="237600"/>
          </a:xfrm>
          <a:prstGeom prst="rect">
            <a:avLst/>
          </a:prstGeom>
          <a:noFill/>
        </p:spPr>
        <p:txBody>
          <a:bodyPr wrap="square" anchor="b" lIns="54000" rIns="54000"/>
          <a:lstStyle/>
          <a:p>
            <a:pPr algn="l"/>
            <a:r>
              <a:rPr sz="650" b="0">
                <a:solidFill>
                  <a:srgbClr val="595959"/>
                </a:solidFill>
                <a:latin typeface="Helvetica"/>
              </a:rPr>
              <a:t>Sigles : FPPN : Fonds de prévoyance de la Police nationale | UEMOA : Union économique et monétaire ouest-africaine | S/C : prestations / cotisations | PBC : liste des documents demandés au client | FNG : fonds national de garantie | FOMUS-CI : fonds de garantie des mutuelles sociales de Côte d'Ivoire | MEPS : ministère de l'Emploi et de la Protection sociale</a:t>
            </a:r>
          </a:p>
        </p:txBody>
      </p:sp>
    </p:spTree>
    <p:extLst>
      <p:ext uri="{BB962C8B-B14F-4D97-AF65-F5344CB8AC3E}">
        <p14:creationId xmlns:p14="http://schemas.microsoft.com/office/powerpoint/2010/main" val="3304057772"/>
      </p:ext>
    </p:extLst>
  </p:cSld>
  <p:clrMapOvr>
    <a:masterClrMapping/>
  </p:clrMapOvr>
  <p:transition>
    <p:fade/>
  </p:transition>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Liquidité et équilibre : deux lectures</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Le classement de l'épargne décide de la conformité de la liquidité et de l'équilibre stable</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Liquidité 2025 : 0,13 comme le FPPN, 1,15 retraitée. Équilibre stable 2025 : 1,54 et 0,94</a:t>
            </a:r>
          </a:p>
        </p:txBody>
      </p:sp>
      <p:sp>
        <p:nvSpPr>
          <p:cNvPr id="30" name="TextBox 29"/>
          <p:cNvSpPr txBox="1"/>
          <p:nvPr/>
        </p:nvSpPr>
        <p:spPr>
          <a:xfrm>
            <a:off x="503999" y="1386000"/>
            <a:ext cx="5976000" cy="251999"/>
          </a:xfrm>
          <a:prstGeom prst="rect">
            <a:avLst/>
          </a:prstGeom>
          <a:noFill/>
        </p:spPr>
        <p:txBody>
          <a:bodyPr wrap="square">
            <a:spAutoFit/>
          </a:bodyPr>
          <a:lstStyle/>
          <a:p>
            <a:pPr algn="ctr">
              <a:spcAft>
                <a:spcPts val="0"/>
              </a:spcAft>
            </a:pPr>
            <a:r>
              <a:rPr sz="1200" b="0">
                <a:solidFill>
                  <a:srgbClr val="EFAC62"/>
                </a:solidFill>
                <a:latin typeface="Helvetica"/>
              </a:rPr>
              <a:t>Figure 31 : Liquidité et équilibre stable, comme le FPPN et retraités</a:t>
            </a:r>
          </a:p>
        </p:txBody>
      </p:sp>
      <p:sp>
        <p:nvSpPr>
          <p:cNvPr id="31" name="TextBox 30"/>
          <p:cNvSpPr txBox="1"/>
          <p:nvPr/>
        </p:nvSpPr>
        <p:spPr>
          <a:xfrm>
            <a:off x="503999" y="1602000"/>
            <a:ext cx="5976000" cy="162000"/>
          </a:xfrm>
          <a:prstGeom prst="rect">
            <a:avLst/>
          </a:prstGeom>
          <a:noFill/>
        </p:spPr>
        <p:txBody>
          <a:bodyPr wrap="square">
            <a:spAutoFit/>
          </a:bodyPr>
          <a:lstStyle/>
          <a:p>
            <a:pPr algn="l">
              <a:spcAft>
                <a:spcPts val="0"/>
              </a:spcAft>
            </a:pPr>
            <a:r>
              <a:rPr sz="900" b="0">
                <a:solidFill>
                  <a:srgbClr val="060606"/>
                </a:solidFill>
                <a:latin typeface="Helvetica"/>
              </a:rPr>
              <a:t>Ratio (sans unité)</a:t>
            </a:r>
          </a:p>
        </p:txBody>
      </p:sp>
      <p:graphicFrame>
        <p:nvGraphicFramePr>
          <p:cNvPr id="32" name="Chart 31"/>
          <p:cNvGraphicFramePr>
            <a:graphicFrameLocks noGrp="1"/>
          </p:cNvGraphicFramePr>
          <p:nvPr/>
        </p:nvGraphicFramePr>
        <p:xfrm>
          <a:off x="503999" y="1782000"/>
          <a:ext cx="5976000" cy="4086000"/>
        </p:xfrm>
        <a:graphic>
          <a:graphicData uri="http://schemas.openxmlformats.org/drawingml/2006/chart">
            <c:chart xmlns:c="http://schemas.openxmlformats.org/drawingml/2006/chart" r:id="rId6"/>
          </a:graphicData>
        </a:graphic>
      </p:graphicFrame>
      <p:sp>
        <p:nvSpPr>
          <p:cNvPr id="33"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Décision n° 05/2022/COM/UEMOA du 1er juin 2022, annexe. Règlement d'exécution n° 004/2022/COM/UEMOA du 1er juin 2022. Règlement n° 07/2009/CM/UEMOA du 26 juin 2009. Balances du FPPN. Calculs Adenka</a:t>
            </a:r>
          </a:p>
        </p:txBody>
      </p:sp>
      <p:sp>
        <p:nvSpPr>
          <p:cNvPr id="34" name="TextBox 33"/>
          <p:cNvSpPr txBox="1"/>
          <p:nvPr/>
        </p:nvSpPr>
        <p:spPr>
          <a:xfrm>
            <a:off x="6696000" y="1440000"/>
            <a:ext cx="5040000" cy="4428000"/>
          </a:xfrm>
          <a:prstGeom prst="rect">
            <a:avLst/>
          </a:prstGeom>
          <a:noFill/>
        </p:spPr>
        <p:txBody>
          <a:bodyPr wrap="square" lIns="54000" rIns="54000"/>
          <a:lstStyle/>
          <a:p>
            <a:pPr algn="just">
              <a:spcAft>
                <a:spcPts val="600"/>
              </a:spcAft>
            </a:pPr>
            <a:r>
              <a:rPr sz="1400" b="1">
                <a:solidFill>
                  <a:srgbClr val="060606"/>
                </a:solidFill>
                <a:latin typeface="Helvetica"/>
              </a:rPr>
              <a:t>Comme le FPPN tient ses comptes, la liquidité n'atteint jamais 1.</a:t>
            </a:r>
            <a:r>
              <a:rPr sz="1400" b="0">
                <a:solidFill>
                  <a:srgbClr val="060606"/>
                </a:solidFill>
                <a:latin typeface="Helvetica"/>
              </a:rPr>
              <a:t> Elle vaut au mieux 0,19 en 2021, car l'épargne figure parmi les dettes à court terme.</a:t>
            </a:r>
          </a:p>
          <a:p>
            <a:pPr algn="just">
              <a:spcAft>
                <a:spcPts val="600"/>
              </a:spcAft>
            </a:pPr>
            <a:r>
              <a:rPr sz="1400" b="1">
                <a:solidFill>
                  <a:srgbClr val="060606"/>
                </a:solidFill>
                <a:latin typeface="Helvetica"/>
              </a:rPr>
              <a:t>Retraitée, la liquidité devient conforme en 2025 et sur les huit mois de 2026.</a:t>
            </a:r>
            <a:r>
              <a:rPr sz="1400" b="0">
                <a:solidFill>
                  <a:srgbClr val="060606"/>
                </a:solidFill>
                <a:latin typeface="Helvetica"/>
              </a:rPr>
              <a:t> La trésorerie a fortement augmenté pendant que les dettes à court terme hors épargne restaient stables.</a:t>
            </a:r>
          </a:p>
          <a:p>
            <a:pPr algn="just">
              <a:spcAft>
                <a:spcPts val="600"/>
              </a:spcAft>
            </a:pPr>
            <a:r>
              <a:rPr sz="1400" b="1">
                <a:solidFill>
                  <a:srgbClr val="060606"/>
                </a:solidFill>
                <a:latin typeface="Helvetica"/>
              </a:rPr>
              <a:t>Retraité, l'équilibre stable devient conforme en 2025</a:t>
            </a:r>
            <a:r>
              <a:rPr sz="1400" b="0">
                <a:solidFill>
                  <a:srgbClr val="060606"/>
                </a:solidFill>
                <a:latin typeface="Helvetica"/>
              </a:rPr>
              <a:t> (0,94), car l'épargne finance alors durablement les emplois longs.</a:t>
            </a:r>
          </a:p>
          <a:p>
            <a:pPr algn="just">
              <a:spcAft>
                <a:spcPts val="600"/>
              </a:spcAft>
            </a:pPr>
            <a:r>
              <a:rPr sz="1400" b="1">
                <a:solidFill>
                  <a:srgbClr val="060606"/>
                </a:solidFill>
                <a:latin typeface="Helvetica"/>
              </a:rPr>
              <a:t>Implication pour le FPPN.</a:t>
            </a:r>
            <a:r>
              <a:rPr sz="1400" b="0">
                <a:solidFill>
                  <a:srgbClr val="060606"/>
                </a:solidFill>
                <a:latin typeface="Helvetica"/>
              </a:rPr>
              <a:t> La conformité dépend de la part réellement exigible de l'épargne dans l'année : le FPPN doit établir l'échéancier de l'EFC (départs à la retraite) et du PEP (échéances des plans).</a:t>
            </a:r>
          </a:p>
        </p:txBody>
      </p:sp>
      <p:sp>
        <p:nvSpPr>
          <p:cNvPr id="35" name="TextBox 34"/>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UEMOA : Union économique et monétaire ouest-africaine | PEP : Plan Épargne Plus | EFC : entraide fin de carrière</a:t>
            </a:r>
          </a:p>
        </p:txBody>
      </p:sp>
    </p:spTree>
    <p:extLst>
      <p:ext uri="{BB962C8B-B14F-4D97-AF65-F5344CB8AC3E}">
        <p14:creationId xmlns:p14="http://schemas.microsoft.com/office/powerpoint/2010/main" val="1627952083"/>
      </p:ext>
    </p:extLst>
  </p:cSld>
  <p:clrMapOvr>
    <a:masterClrMapping/>
  </p:clrMapOvr>
  <p:transition>
    <p:fade/>
  </p:transition>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Calcul pas à pas : sinistralité réglementaire 2025</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La sinistralité globale est sous la fourchette parce que le décès consomme peu</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Charges de prestations 1 964 772 027 FCFA / cotisations acquises 3 418 141 722 FCFA = 57,48 %</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balances des comptes du FPPN (Sage 100), exercices 2020 à 2025 et du 01/01 au 31/08/2026 (provisoire). Traitements Adenka. Décision n° 05/2022/COM/UEMOA du 1er juin 2022, annexe, § 1.2.1.2.5</a:t>
            </a:r>
          </a:p>
        </p:txBody>
      </p:sp>
      <p:sp>
        <p:nvSpPr>
          <p:cNvPr id="31" name="TextBox 30"/>
          <p:cNvSpPr txBox="1"/>
          <p:nvPr/>
        </p:nvSpPr>
        <p:spPr>
          <a:xfrm>
            <a:off x="503999" y="1350000"/>
            <a:ext cx="6552000" cy="180000"/>
          </a:xfrm>
          <a:prstGeom prst="rect">
            <a:avLst/>
          </a:prstGeom>
          <a:noFill/>
        </p:spPr>
        <p:txBody>
          <a:bodyPr wrap="square" anchor="t" lIns="54000" rIns="54000"/>
          <a:lstStyle/>
          <a:p>
            <a:pPr algn="l"/>
            <a:r>
              <a:rPr sz="900" b="0">
                <a:solidFill>
                  <a:srgbClr val="53565A"/>
                </a:solidFill>
                <a:latin typeface="Helvetica"/>
              </a:rPr>
              <a:t>Extrait : AUDIT ADENKA\DAFC\2025\BALANCE FPPN 2025.xlsx</a:t>
            </a:r>
          </a:p>
        </p:txBody>
      </p:sp>
      <p:graphicFrame>
        <p:nvGraphicFramePr>
          <p:cNvPr id="32" name="Table 31"/>
          <p:cNvGraphicFramePr>
            <a:graphicFrameLocks noGrp="1"/>
          </p:cNvGraphicFramePr>
          <p:nvPr/>
        </p:nvGraphicFramePr>
        <p:xfrm>
          <a:off x="503999" y="1548000"/>
          <a:ext cx="6551999" cy="2100090"/>
        </p:xfrm>
        <a:graphic>
          <a:graphicData uri="http://schemas.openxmlformats.org/drawingml/2006/table">
            <a:tbl>
              <a:tblPr firstRow="0" bandRow="0">
                <a:tableStyleId>{5940675A-B579-460E-94D1-54222C63F5DA}</a:tableStyleId>
              </a:tblPr>
              <a:tblGrid>
                <a:gridCol w="2232000"/>
                <a:gridCol w="2304000"/>
                <a:gridCol w="2015999"/>
              </a:tblGrid>
              <a:tr h="210009">
                <a:tc>
                  <a:txBody>
                    <a:bodyPr/>
                    <a:lstStyle/>
                    <a:p>
                      <a:pPr marL="0" indent="0" lvl="0">
                        <a:buNone/>
                      </a:pPr>
                      <a:r>
                        <a:rPr sz="1000" b="1">
                          <a:solidFill>
                            <a:srgbClr val="FFFFFF"/>
                          </a:solidFill>
                          <a:latin typeface="Helvetica"/>
                        </a:rPr>
                        <a:t>Élément</a:t>
                      </a:r>
                    </a:p>
                  </a:txBody>
                  <a:tcPr marL="43200" marR="43200" marT="14400" marB="14400" anchor="ctr">
                    <a:solidFill>
                      <a:srgbClr val="060606"/>
                    </a:solidFill>
                  </a:tcPr>
                </a:tc>
                <a:tc>
                  <a:txBody>
                    <a:bodyPr/>
                    <a:lstStyle/>
                    <a:p>
                      <a:pPr marL="0" indent="0" lvl="0">
                        <a:buNone/>
                      </a:pPr>
                      <a:r>
                        <a:rPr sz="1000" b="1">
                          <a:solidFill>
                            <a:srgbClr val="FFFFFF"/>
                          </a:solidFill>
                          <a:latin typeface="Helvetica"/>
                        </a:rPr>
                        <a:t>Comptes</a:t>
                      </a:r>
                    </a:p>
                  </a:txBody>
                  <a:tcPr marL="43200" marR="43200" marT="14400" marB="14400" anchor="ctr">
                    <a:solidFill>
                      <a:srgbClr val="060606"/>
                    </a:solidFill>
                  </a:tcPr>
                </a:tc>
                <a:tc>
                  <a:txBody>
                    <a:bodyPr/>
                    <a:lstStyle/>
                    <a:p>
                      <a:pPr marL="0" indent="0" lvl="0">
                        <a:buNone/>
                      </a:pPr>
                      <a:r>
                        <a:rPr sz="1000" b="1">
                          <a:solidFill>
                            <a:srgbClr val="FFFFFF"/>
                          </a:solidFill>
                          <a:latin typeface="Helvetica"/>
                        </a:rPr>
                        <a:t>Montant 2025</a:t>
                      </a:r>
                    </a:p>
                  </a:txBody>
                  <a:tcPr marL="43200" marR="43200" marT="14400" marB="14400" anchor="ctr">
                    <a:solidFill>
                      <a:srgbClr val="060606"/>
                    </a:solidFill>
                  </a:tcPr>
                </a:tc>
              </a:tr>
              <a:tr h="210009">
                <a:tc>
                  <a:txBody>
                    <a:bodyPr/>
                    <a:lstStyle/>
                    <a:p>
                      <a:pPr marL="0" indent="0" lvl="0">
                        <a:buNone/>
                      </a:pPr>
                      <a:r>
                        <a:rPr sz="1000" b="1">
                          <a:solidFill>
                            <a:srgbClr val="060606"/>
                          </a:solidFill>
                          <a:latin typeface="Helvetica"/>
                        </a:rPr>
                        <a:t>Cotisations maladie</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701</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2 409 281 030 FCFA</a:t>
                      </a:r>
                    </a:p>
                  </a:txBody>
                  <a:tcPr marL="43200" marR="43200" marT="14400" marB="14400" anchor="ctr">
                    <a:solidFill>
                      <a:srgbClr val="FFFFFF"/>
                    </a:solidFill>
                  </a:tcPr>
                </a:tc>
              </a:tr>
              <a:tr h="210009">
                <a:tc>
                  <a:txBody>
                    <a:bodyPr/>
                    <a:lstStyle/>
                    <a:p>
                      <a:pPr marL="0" indent="0" lvl="0">
                        <a:buNone/>
                      </a:pPr>
                      <a:r>
                        <a:rPr sz="1000" b="1">
                          <a:solidFill>
                            <a:srgbClr val="060606"/>
                          </a:solidFill>
                          <a:latin typeface="Helvetica"/>
                        </a:rPr>
                        <a:t>Cotisations décès et MEDOC</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702</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1 008 860 692 FCFA</a:t>
                      </a:r>
                    </a:p>
                  </a:txBody>
                  <a:tcPr marL="43200" marR="43200" marT="14400" marB="14400" anchor="ctr">
                    <a:solidFill>
                      <a:srgbClr val="F2F2F2"/>
                    </a:solidFill>
                  </a:tcPr>
                </a:tc>
              </a:tr>
              <a:tr h="210009">
                <a:tc>
                  <a:txBody>
                    <a:bodyPr/>
                    <a:lstStyle/>
                    <a:p>
                      <a:pPr marL="0" indent="0" lvl="0">
                        <a:buNone/>
                      </a:pPr>
                      <a:r>
                        <a:rPr sz="1000" b="1">
                          <a:solidFill>
                            <a:srgbClr val="060606"/>
                          </a:solidFill>
                          <a:latin typeface="Helvetica"/>
                        </a:rPr>
                        <a:t>Autres produits techniques</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704</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0 FCFA</a:t>
                      </a:r>
                    </a:p>
                  </a:txBody>
                  <a:tcPr marL="43200" marR="43200" marT="14400" marB="14400" anchor="ctr">
                    <a:solidFill>
                      <a:srgbClr val="FFFFFF"/>
                    </a:solidFill>
                  </a:tcPr>
                </a:tc>
              </a:tr>
              <a:tr h="210009">
                <a:tc>
                  <a:txBody>
                    <a:bodyPr/>
                    <a:lstStyle/>
                    <a:p>
                      <a:pPr marL="0" indent="0" lvl="0">
                        <a:buNone/>
                      </a:pPr>
                      <a:r>
                        <a:rPr sz="1000" b="1">
                          <a:solidFill>
                            <a:srgbClr val="060606"/>
                          </a:solidFill>
                          <a:latin typeface="Helvetica"/>
                        </a:rPr>
                        <a:t>Cotisations acquises</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70</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3 418 141 722 FCFA</a:t>
                      </a:r>
                    </a:p>
                  </a:txBody>
                  <a:tcPr marL="43200" marR="43200" marT="14400" marB="14400" anchor="ctr">
                    <a:solidFill>
                      <a:srgbClr val="F2F2F2"/>
                    </a:solidFill>
                  </a:tcPr>
                </a:tc>
              </a:tr>
              <a:tr h="210009">
                <a:tc>
                  <a:txBody>
                    <a:bodyPr/>
                    <a:lstStyle/>
                    <a:p>
                      <a:pPr marL="0" indent="0" lvl="0">
                        <a:buNone/>
                      </a:pPr>
                      <a:r>
                        <a:rPr sz="1000" b="1">
                          <a:solidFill>
                            <a:srgbClr val="060606"/>
                          </a:solidFill>
                          <a:latin typeface="Helvetica"/>
                        </a:rPr>
                        <a:t>Prestations maladie</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601, 6013, 6018, 60800007</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1 771 635 361 FCFA</a:t>
                      </a:r>
                    </a:p>
                  </a:txBody>
                  <a:tcPr marL="43200" marR="43200" marT="14400" marB="14400" anchor="ctr">
                    <a:solidFill>
                      <a:srgbClr val="FFFFFF"/>
                    </a:solidFill>
                  </a:tcPr>
                </a:tc>
              </a:tr>
              <a:tr h="210009">
                <a:tc>
                  <a:txBody>
                    <a:bodyPr/>
                    <a:lstStyle/>
                    <a:p>
                      <a:pPr marL="0" indent="0" lvl="0">
                        <a:buNone/>
                      </a:pPr>
                      <a:r>
                        <a:rPr sz="1000" b="1">
                          <a:solidFill>
                            <a:srgbClr val="060606"/>
                          </a:solidFill>
                          <a:latin typeface="Helvetica"/>
                        </a:rPr>
                        <a:t>Prestations décès</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6021, 6024</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193 136 666 FCFA</a:t>
                      </a:r>
                    </a:p>
                  </a:txBody>
                  <a:tcPr marL="43200" marR="43200" marT="14400" marB="14400" anchor="ctr">
                    <a:solidFill>
                      <a:srgbClr val="F2F2F2"/>
                    </a:solidFill>
                  </a:tcPr>
                </a:tc>
              </a:tr>
              <a:tr h="210009">
                <a:tc>
                  <a:txBody>
                    <a:bodyPr/>
                    <a:lstStyle/>
                    <a:p>
                      <a:pPr marL="0" indent="0" lvl="0">
                        <a:buNone/>
                      </a:pPr>
                      <a:r>
                        <a:rPr sz="1000" b="1">
                          <a:solidFill>
                            <a:srgbClr val="060606"/>
                          </a:solidFill>
                          <a:latin typeface="Helvetica"/>
                        </a:rPr>
                        <a:t>Autres prestations</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60800008, 60850000</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0 FCFA</a:t>
                      </a:r>
                    </a:p>
                  </a:txBody>
                  <a:tcPr marL="43200" marR="43200" marT="14400" marB="14400" anchor="ctr">
                    <a:solidFill>
                      <a:srgbClr val="FFFFFF"/>
                    </a:solidFill>
                  </a:tcPr>
                </a:tc>
              </a:tr>
              <a:tr h="210009">
                <a:tc>
                  <a:txBody>
                    <a:bodyPr/>
                    <a:lstStyle/>
                    <a:p>
                      <a:pPr marL="0" indent="0" lvl="0">
                        <a:buNone/>
                      </a:pPr>
                      <a:r>
                        <a:rPr sz="1000" b="1">
                          <a:solidFill>
                            <a:srgbClr val="060606"/>
                          </a:solidFill>
                          <a:latin typeface="Helvetica"/>
                        </a:rPr>
                        <a:t>Charges de prestations</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60</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1 964 772 027 FCFA</a:t>
                      </a:r>
                    </a:p>
                  </a:txBody>
                  <a:tcPr marL="43200" marR="43200" marT="14400" marB="14400" anchor="ctr">
                    <a:solidFill>
                      <a:srgbClr val="F2F2F2"/>
                    </a:solidFill>
                  </a:tcPr>
                </a:tc>
              </a:tr>
              <a:tr h="210009">
                <a:tc>
                  <a:txBody>
                    <a:bodyPr/>
                    <a:lstStyle/>
                    <a:p>
                      <a:pPr marL="0" indent="0" lvl="0">
                        <a:buNone/>
                      </a:pPr>
                      <a:r>
                        <a:rPr sz="1000" b="1">
                          <a:solidFill>
                            <a:srgbClr val="060606"/>
                          </a:solidFill>
                          <a:latin typeface="Helvetica"/>
                        </a:rPr>
                        <a:t>Taux de sinistralité</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60 / 70</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57,48 %</a:t>
                      </a:r>
                    </a:p>
                  </a:txBody>
                  <a:tcPr marL="43200" marR="43200" marT="14400" marB="14400" anchor="ctr">
                    <a:solidFill>
                      <a:srgbClr val="FFFFFF"/>
                    </a:solidFill>
                  </a:tcPr>
                </a:tc>
              </a:tr>
            </a:tbl>
          </a:graphicData>
        </a:graphic>
      </p:graphicFrame>
      <p:sp>
        <p:nvSpPr>
          <p:cNvPr id="33" name="Rounded Rectangle 32"/>
          <p:cNvSpPr/>
          <p:nvPr/>
        </p:nvSpPr>
        <p:spPr>
          <a:xfrm>
            <a:off x="5022000" y="2377238"/>
            <a:ext cx="2051999" cy="231609"/>
          </a:xfrm>
          <a:prstGeom prst="roundRect">
            <a:avLst/>
          </a:prstGeom>
          <a:noFill/>
          <a:ln w="28575">
            <a:solidFill>
              <a:srgbClr val="C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876000" y="2226038"/>
            <a:ext cx="270000" cy="2700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100" b="1">
                <a:solidFill>
                  <a:srgbClr val="FFFFFF"/>
                </a:solidFill>
                <a:latin typeface="Helvetica"/>
              </a:rPr>
              <a:t>1</a:t>
            </a:r>
          </a:p>
        </p:txBody>
      </p:sp>
      <p:sp>
        <p:nvSpPr>
          <p:cNvPr id="35" name="Rounded Rectangle 34"/>
          <p:cNvSpPr/>
          <p:nvPr/>
        </p:nvSpPr>
        <p:spPr>
          <a:xfrm>
            <a:off x="5022000" y="3217276"/>
            <a:ext cx="2051999" cy="231609"/>
          </a:xfrm>
          <a:prstGeom prst="roundRect">
            <a:avLst/>
          </a:prstGeom>
          <a:noFill/>
          <a:ln w="28575">
            <a:solidFill>
              <a:srgbClr val="C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Oval 35"/>
          <p:cNvSpPr/>
          <p:nvPr/>
        </p:nvSpPr>
        <p:spPr>
          <a:xfrm>
            <a:off x="6876000" y="3066076"/>
            <a:ext cx="270000" cy="2700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100" b="1">
                <a:solidFill>
                  <a:srgbClr val="FFFFFF"/>
                </a:solidFill>
                <a:latin typeface="Helvetica"/>
              </a:rPr>
              <a:t>2</a:t>
            </a:r>
          </a:p>
        </p:txBody>
      </p:sp>
      <p:sp>
        <p:nvSpPr>
          <p:cNvPr id="37" name="Rounded Rectangle 36"/>
          <p:cNvSpPr/>
          <p:nvPr/>
        </p:nvSpPr>
        <p:spPr>
          <a:xfrm>
            <a:off x="5022000" y="3427286"/>
            <a:ext cx="2051999" cy="231609"/>
          </a:xfrm>
          <a:prstGeom prst="roundRect">
            <a:avLst/>
          </a:prstGeom>
          <a:noFill/>
          <a:ln w="28575">
            <a:solidFill>
              <a:srgbClr val="C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Oval 37"/>
          <p:cNvSpPr/>
          <p:nvPr/>
        </p:nvSpPr>
        <p:spPr>
          <a:xfrm>
            <a:off x="6876000" y="3276086"/>
            <a:ext cx="270000" cy="2700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100" b="1">
                <a:solidFill>
                  <a:srgbClr val="FFFFFF"/>
                </a:solidFill>
                <a:latin typeface="Helvetica"/>
              </a:rPr>
              <a:t>3</a:t>
            </a:r>
          </a:p>
        </p:txBody>
      </p:sp>
      <p:sp>
        <p:nvSpPr>
          <p:cNvPr id="39" name="Oval 38"/>
          <p:cNvSpPr/>
          <p:nvPr/>
        </p:nvSpPr>
        <p:spPr>
          <a:xfrm>
            <a:off x="7272000" y="1548000"/>
            <a:ext cx="270000" cy="2700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100" b="1">
                <a:solidFill>
                  <a:srgbClr val="FFFFFF"/>
                </a:solidFill>
                <a:latin typeface="Helvetica"/>
              </a:rPr>
              <a:t>1</a:t>
            </a:r>
          </a:p>
        </p:txBody>
      </p:sp>
      <p:sp>
        <p:nvSpPr>
          <p:cNvPr id="40" name="TextBox 39"/>
          <p:cNvSpPr txBox="1"/>
          <p:nvPr/>
        </p:nvSpPr>
        <p:spPr>
          <a:xfrm>
            <a:off x="7632000" y="1530000"/>
            <a:ext cx="4104000" cy="484084"/>
          </a:xfrm>
          <a:prstGeom prst="rect">
            <a:avLst/>
          </a:prstGeom>
          <a:noFill/>
        </p:spPr>
        <p:txBody>
          <a:bodyPr wrap="square" anchor="t" lIns="54000" rIns="54000"/>
          <a:lstStyle/>
          <a:p>
            <a:pPr algn="l"/>
            <a:r>
              <a:rPr sz="1200" b="0">
                <a:solidFill>
                  <a:srgbClr val="060606"/>
                </a:solidFill>
                <a:latin typeface="Helvetica"/>
              </a:rPr>
              <a:t>Les cotisations acquises additionnent toute la classe 70, y compris les autres produits techniques.</a:t>
            </a:r>
          </a:p>
        </p:txBody>
      </p:sp>
      <p:sp>
        <p:nvSpPr>
          <p:cNvPr id="41" name="Oval 40"/>
          <p:cNvSpPr/>
          <p:nvPr/>
        </p:nvSpPr>
        <p:spPr>
          <a:xfrm>
            <a:off x="7272000" y="2122084"/>
            <a:ext cx="270000" cy="2700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100" b="1">
                <a:solidFill>
                  <a:srgbClr val="FFFFFF"/>
                </a:solidFill>
                <a:latin typeface="Helvetica"/>
              </a:rPr>
              <a:t>2</a:t>
            </a:r>
          </a:p>
        </p:txBody>
      </p:sp>
      <p:sp>
        <p:nvSpPr>
          <p:cNvPr id="42" name="TextBox 41"/>
          <p:cNvSpPr txBox="1"/>
          <p:nvPr/>
        </p:nvSpPr>
        <p:spPr>
          <a:xfrm>
            <a:off x="7632000" y="2104084"/>
            <a:ext cx="4104000" cy="484084"/>
          </a:xfrm>
          <a:prstGeom prst="rect">
            <a:avLst/>
          </a:prstGeom>
          <a:noFill/>
        </p:spPr>
        <p:txBody>
          <a:bodyPr wrap="square" anchor="t" lIns="54000" rIns="54000"/>
          <a:lstStyle/>
          <a:p>
            <a:pPr algn="l"/>
            <a:r>
              <a:rPr sz="1200" b="0">
                <a:solidFill>
                  <a:srgbClr val="060606"/>
                </a:solidFill>
                <a:latin typeface="Helvetica"/>
              </a:rPr>
              <a:t>Les charges de prestations additionnent toute la classe 60, maladie et décès confondus.</a:t>
            </a:r>
          </a:p>
        </p:txBody>
      </p:sp>
      <p:sp>
        <p:nvSpPr>
          <p:cNvPr id="43" name="Oval 42"/>
          <p:cNvSpPr/>
          <p:nvPr/>
        </p:nvSpPr>
        <p:spPr>
          <a:xfrm>
            <a:off x="7272000" y="2696168"/>
            <a:ext cx="270000" cy="2700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100" b="1">
                <a:solidFill>
                  <a:srgbClr val="FFFFFF"/>
                </a:solidFill>
                <a:latin typeface="Helvetica"/>
              </a:rPr>
              <a:t>3</a:t>
            </a:r>
          </a:p>
        </p:txBody>
      </p:sp>
      <p:sp>
        <p:nvSpPr>
          <p:cNvPr id="44" name="TextBox 43"/>
          <p:cNvSpPr txBox="1"/>
          <p:nvPr/>
        </p:nvSpPr>
        <p:spPr>
          <a:xfrm>
            <a:off x="7632000" y="2678168"/>
            <a:ext cx="4104000" cy="484084"/>
          </a:xfrm>
          <a:prstGeom prst="rect">
            <a:avLst/>
          </a:prstGeom>
          <a:noFill/>
        </p:spPr>
        <p:txBody>
          <a:bodyPr wrap="square" anchor="t" lIns="54000" rIns="54000"/>
          <a:lstStyle/>
          <a:p>
            <a:pPr algn="l"/>
            <a:r>
              <a:rPr sz="1200" b="0">
                <a:solidFill>
                  <a:srgbClr val="060606"/>
                </a:solidFill>
                <a:latin typeface="Helvetica"/>
              </a:rPr>
              <a:t>Le taux global se situe sous la borne basse de 70 % de la norme.</a:t>
            </a:r>
          </a:p>
        </p:txBody>
      </p:sp>
      <p:sp>
        <p:nvSpPr>
          <p:cNvPr id="45" name="TextBox 44"/>
          <p:cNvSpPr txBox="1"/>
          <p:nvPr/>
        </p:nvSpPr>
        <p:spPr>
          <a:xfrm>
            <a:off x="7272000" y="3342252"/>
            <a:ext cx="4464000" cy="2525747"/>
          </a:xfrm>
          <a:prstGeom prst="rect">
            <a:avLst/>
          </a:prstGeom>
          <a:noFill/>
        </p:spPr>
        <p:txBody>
          <a:bodyPr wrap="square" lIns="54000" rIns="54000"/>
          <a:lstStyle/>
          <a:p>
            <a:pPr algn="just">
              <a:spcAft>
                <a:spcPts val="600"/>
              </a:spcAft>
            </a:pPr>
            <a:r>
              <a:rPr sz="1200" b="1">
                <a:solidFill>
                  <a:srgbClr val="060606"/>
                </a:solidFill>
                <a:latin typeface="Helvetica"/>
              </a:rPr>
              <a:t>Une sinistralité trop basse est aussi un écart à la norme.</a:t>
            </a:r>
            <a:r>
              <a:rPr sz="1200" b="0">
                <a:solidFill>
                  <a:srgbClr val="060606"/>
                </a:solidFill>
                <a:latin typeface="Helvetica"/>
              </a:rPr>
              <a:t> La fourchette de 70 % à 80 % vise à ce que les cotisations reviennent aux adhérents sous forme de prestations.</a:t>
            </a:r>
          </a:p>
          <a:p>
            <a:pPr algn="just">
              <a:spcAft>
                <a:spcPts val="600"/>
              </a:spcAft>
            </a:pPr>
            <a:r>
              <a:rPr sz="1200" b="1">
                <a:solidFill>
                  <a:srgbClr val="060606"/>
                </a:solidFill>
                <a:latin typeface="Helvetica"/>
              </a:rPr>
              <a:t>Implication pour le FPPN.</a:t>
            </a:r>
            <a:r>
              <a:rPr sz="1200" b="0">
                <a:solidFill>
                  <a:srgbClr val="060606"/>
                </a:solidFill>
                <a:latin typeface="Helvetica"/>
              </a:rPr>
              <a:t> Appliqué à la seule maladie, le taux 2025 (73,53 %) se situe dans la fourchette. L'écart global vient de la garantie décès : son niveau de cotisation mérite d'être revu au vu de la mortalité observée, dès réception des données.</a:t>
            </a:r>
          </a:p>
        </p:txBody>
      </p:sp>
      <p:sp>
        <p:nvSpPr>
          <p:cNvPr id="46" name="TextBox 45"/>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UEMOA : Union économique et monétaire ouest-africaine | MEDOC : produit santé complémentaire du poste 8Z7</a:t>
            </a:r>
          </a:p>
        </p:txBody>
      </p:sp>
    </p:spTree>
    <p:extLst>
      <p:ext uri="{BB962C8B-B14F-4D97-AF65-F5344CB8AC3E}">
        <p14:creationId xmlns:p14="http://schemas.microsoft.com/office/powerpoint/2010/main" val="1717548199"/>
      </p:ext>
    </p:extLst>
  </p:cSld>
  <p:clrMapOvr>
    <a:masterClrMapping/>
  </p:clrMapOvr>
  <p:transition>
    <p:fade/>
  </p:transition>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Calcul pas à pas : marge de solvabilité 2025</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La marge est conforme si l'on ignore les pertes reportées, non conforme sinon</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Marge exigée 566 209 845 FCFA. Marge disponible 4 396 841 817 FCFA comme le FPPN, -438 242 200 FCFA nette des pertes</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balances des comptes du FPPN (Sage 100), exercices 2020 à 2025 et du 01/01 au 31/08/2026 (provisoire). Traitements Adenka. Décision n° 05/2022/COM/UEMOA du 1er juin 2022, annexe, § 1.1.1. PCMS, fiche n° 2</a:t>
            </a:r>
          </a:p>
        </p:txBody>
      </p:sp>
      <p:sp>
        <p:nvSpPr>
          <p:cNvPr id="31" name="TextBox 30"/>
          <p:cNvSpPr txBox="1"/>
          <p:nvPr/>
        </p:nvSpPr>
        <p:spPr>
          <a:xfrm>
            <a:off x="503999" y="1350000"/>
            <a:ext cx="6696000" cy="180000"/>
          </a:xfrm>
          <a:prstGeom prst="rect">
            <a:avLst/>
          </a:prstGeom>
          <a:noFill/>
        </p:spPr>
        <p:txBody>
          <a:bodyPr wrap="square" anchor="t" lIns="54000" rIns="54000"/>
          <a:lstStyle/>
          <a:p>
            <a:pPr algn="l"/>
            <a:r>
              <a:rPr sz="900" b="0">
                <a:solidFill>
                  <a:srgbClr val="53565A"/>
                </a:solidFill>
                <a:latin typeface="Helvetica"/>
              </a:rPr>
              <a:t>Extrait : AUDIT ADENKA\DAFC\2024 et 2025 (balances des comptes)</a:t>
            </a:r>
          </a:p>
        </p:txBody>
      </p:sp>
      <p:graphicFrame>
        <p:nvGraphicFramePr>
          <p:cNvPr id="32" name="Table 31"/>
          <p:cNvGraphicFramePr>
            <a:graphicFrameLocks noGrp="1"/>
          </p:cNvGraphicFramePr>
          <p:nvPr/>
        </p:nvGraphicFramePr>
        <p:xfrm>
          <a:off x="503999" y="1548000"/>
          <a:ext cx="6696000" cy="2404910"/>
        </p:xfrm>
        <a:graphic>
          <a:graphicData uri="http://schemas.openxmlformats.org/drawingml/2006/table">
            <a:tbl>
              <a:tblPr firstRow="0" bandRow="0">
                <a:tableStyleId>{5940675A-B579-460E-94D1-54222C63F5DA}</a:tableStyleId>
              </a:tblPr>
              <a:tblGrid>
                <a:gridCol w="2376000"/>
                <a:gridCol w="2520000"/>
                <a:gridCol w="1800000"/>
              </a:tblGrid>
              <a:tr h="210009">
                <a:tc>
                  <a:txBody>
                    <a:bodyPr/>
                    <a:lstStyle/>
                    <a:p>
                      <a:pPr marL="0" indent="0" lvl="0">
                        <a:buNone/>
                      </a:pPr>
                      <a:r>
                        <a:rPr sz="1000" b="1">
                          <a:solidFill>
                            <a:srgbClr val="FFFFFF"/>
                          </a:solidFill>
                          <a:latin typeface="Helvetica"/>
                        </a:rPr>
                        <a:t>Élément</a:t>
                      </a:r>
                    </a:p>
                  </a:txBody>
                  <a:tcPr marL="43200" marR="43200" marT="14400" marB="14400" anchor="ctr">
                    <a:solidFill>
                      <a:srgbClr val="060606"/>
                    </a:solidFill>
                  </a:tcPr>
                </a:tc>
                <a:tc>
                  <a:txBody>
                    <a:bodyPr/>
                    <a:lstStyle/>
                    <a:p>
                      <a:pPr marL="0" indent="0" lvl="0">
                        <a:buNone/>
                      </a:pPr>
                      <a:r>
                        <a:rPr sz="1000" b="1">
                          <a:solidFill>
                            <a:srgbClr val="FFFFFF"/>
                          </a:solidFill>
                          <a:latin typeface="Helvetica"/>
                        </a:rPr>
                        <a:t>Calcul</a:t>
                      </a:r>
                    </a:p>
                  </a:txBody>
                  <a:tcPr marL="43200" marR="43200" marT="14400" marB="14400" anchor="ctr">
                    <a:solidFill>
                      <a:srgbClr val="060606"/>
                    </a:solidFill>
                  </a:tcPr>
                </a:tc>
                <a:tc>
                  <a:txBody>
                    <a:bodyPr/>
                    <a:lstStyle/>
                    <a:p>
                      <a:pPr marL="0" indent="0" lvl="0">
                        <a:buNone/>
                      </a:pPr>
                      <a:r>
                        <a:rPr sz="1000" b="1">
                          <a:solidFill>
                            <a:srgbClr val="FFFFFF"/>
                          </a:solidFill>
                          <a:latin typeface="Helvetica"/>
                        </a:rPr>
                        <a:t>Montant</a:t>
                      </a:r>
                    </a:p>
                  </a:txBody>
                  <a:tcPr marL="43200" marR="43200" marT="14400" marB="14400" anchor="ctr">
                    <a:solidFill>
                      <a:srgbClr val="060606"/>
                    </a:solidFill>
                  </a:tcPr>
                </a:tc>
              </a:tr>
              <a:tr h="362419">
                <a:tc>
                  <a:txBody>
                    <a:bodyPr/>
                    <a:lstStyle/>
                    <a:p>
                      <a:pPr marL="0" indent="0" lvl="0">
                        <a:buNone/>
                      </a:pPr>
                      <a:r>
                        <a:rPr sz="1000" b="1">
                          <a:solidFill>
                            <a:srgbClr val="060606"/>
                          </a:solidFill>
                          <a:latin typeface="Helvetica"/>
                        </a:rPr>
                        <a:t>18 % des cotisations acquises 2024</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18 % x 3 145 610 249 FCFA</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566 209 845 FCFA</a:t>
                      </a:r>
                    </a:p>
                  </a:txBody>
                  <a:tcPr marL="43200" marR="43200" marT="14400" marB="14400" anchor="ctr">
                    <a:solidFill>
                      <a:srgbClr val="FFFFFF"/>
                    </a:solidFill>
                  </a:tcPr>
                </a:tc>
              </a:tr>
              <a:tr h="362419">
                <a:tc>
                  <a:txBody>
                    <a:bodyPr/>
                    <a:lstStyle/>
                    <a:p>
                      <a:pPr marL="0" indent="0" lvl="0">
                        <a:buNone/>
                      </a:pPr>
                      <a:r>
                        <a:rPr sz="1000" b="1">
                          <a:solidFill>
                            <a:srgbClr val="060606"/>
                          </a:solidFill>
                          <a:latin typeface="Helvetica"/>
                        </a:rPr>
                        <a:t>26 % des prestations maladie 2023 à 2025</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26 % x moyenne sur 3 ans</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290 598 477 FCFA</a:t>
                      </a:r>
                    </a:p>
                  </a:txBody>
                  <a:tcPr marL="43200" marR="43200" marT="14400" marB="14400" anchor="ctr">
                    <a:solidFill>
                      <a:srgbClr val="F2F2F2"/>
                    </a:solidFill>
                  </a:tcPr>
                </a:tc>
              </a:tr>
              <a:tr h="210009">
                <a:tc>
                  <a:txBody>
                    <a:bodyPr/>
                    <a:lstStyle/>
                    <a:p>
                      <a:pPr marL="0" indent="0" lvl="0">
                        <a:buNone/>
                      </a:pPr>
                      <a:r>
                        <a:rPr sz="1000" b="1">
                          <a:solidFill>
                            <a:srgbClr val="060606"/>
                          </a:solidFill>
                          <a:latin typeface="Helvetica"/>
                        </a:rPr>
                        <a:t>Marge exigée</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le maximum des deux</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566 209 845 FCFA</a:t>
                      </a:r>
                    </a:p>
                  </a:txBody>
                  <a:tcPr marL="43200" marR="43200" marT="14400" marB="14400" anchor="ctr">
                    <a:solidFill>
                      <a:srgbClr val="FFFFFF"/>
                    </a:solidFill>
                  </a:tcPr>
                </a:tc>
              </a:tr>
              <a:tr h="210009">
                <a:tc>
                  <a:txBody>
                    <a:bodyPr/>
                    <a:lstStyle/>
                    <a:p>
                      <a:pPr marL="0" indent="0" lvl="0">
                        <a:buNone/>
                      </a:pPr>
                      <a:r>
                        <a:rPr sz="1000" b="1">
                          <a:solidFill>
                            <a:srgbClr val="060606"/>
                          </a:solidFill>
                          <a:latin typeface="Helvetica"/>
                        </a:rPr>
                        <a:t>Réserve obligatoire</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compte 111</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820 232 819 FCFA</a:t>
                      </a:r>
                    </a:p>
                  </a:txBody>
                  <a:tcPr marL="43200" marR="43200" marT="14400" marB="14400" anchor="ctr">
                    <a:solidFill>
                      <a:srgbClr val="F2F2F2"/>
                    </a:solidFill>
                  </a:tcPr>
                </a:tc>
              </a:tr>
              <a:tr h="210009">
                <a:tc>
                  <a:txBody>
                    <a:bodyPr/>
                    <a:lstStyle/>
                    <a:p>
                      <a:pPr marL="0" indent="0" lvl="0">
                        <a:buNone/>
                      </a:pPr>
                      <a:r>
                        <a:rPr sz="1000" b="1">
                          <a:solidFill>
                            <a:srgbClr val="060606"/>
                          </a:solidFill>
                          <a:latin typeface="Helvetica"/>
                        </a:rPr>
                        <a:t>Réserves libres</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compte 1188</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677 208 998 FCFA</a:t>
                      </a:r>
                    </a:p>
                  </a:txBody>
                  <a:tcPr marL="43200" marR="43200" marT="14400" marB="14400" anchor="ctr">
                    <a:solidFill>
                      <a:srgbClr val="FFFFFF"/>
                    </a:solidFill>
                  </a:tcPr>
                </a:tc>
              </a:tr>
              <a:tr h="210009">
                <a:tc>
                  <a:txBody>
                    <a:bodyPr/>
                    <a:lstStyle/>
                    <a:p>
                      <a:pPr marL="0" indent="0" lvl="0">
                        <a:buNone/>
                      </a:pPr>
                      <a:r>
                        <a:rPr sz="1000" b="1">
                          <a:solidFill>
                            <a:srgbClr val="060606"/>
                          </a:solidFill>
                          <a:latin typeface="Helvetica"/>
                        </a:rPr>
                        <a:t>Réserve disponible</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compte 106</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2 899 400 000 FCFA</a:t>
                      </a:r>
                    </a:p>
                  </a:txBody>
                  <a:tcPr marL="43200" marR="43200" marT="14400" marB="14400" anchor="ctr">
                    <a:solidFill>
                      <a:srgbClr val="F2F2F2"/>
                    </a:solidFill>
                  </a:tcPr>
                </a:tc>
              </a:tr>
              <a:tr h="210009">
                <a:tc>
                  <a:txBody>
                    <a:bodyPr/>
                    <a:lstStyle/>
                    <a:p>
                      <a:pPr marL="0" indent="0" lvl="0">
                        <a:buNone/>
                      </a:pPr>
                      <a:r>
                        <a:rPr sz="1000" b="1">
                          <a:solidFill>
                            <a:srgbClr val="060606"/>
                          </a:solidFill>
                          <a:latin typeface="Helvetica"/>
                        </a:rPr>
                        <a:t>Marge disponible comme le FPPN</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111 + 1188 + 106</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4 396 841 817 FCFA</a:t>
                      </a:r>
                    </a:p>
                  </a:txBody>
                  <a:tcPr marL="43200" marR="43200" marT="14400" marB="14400" anchor="ctr">
                    <a:solidFill>
                      <a:srgbClr val="FFFFFF"/>
                    </a:solidFill>
                  </a:tcPr>
                </a:tc>
              </a:tr>
              <a:tr h="210009">
                <a:tc>
                  <a:txBody>
                    <a:bodyPr/>
                    <a:lstStyle/>
                    <a:p>
                      <a:pPr marL="0" indent="0" lvl="0">
                        <a:buNone/>
                      </a:pPr>
                      <a:r>
                        <a:rPr sz="1000" b="1">
                          <a:solidFill>
                            <a:srgbClr val="060606"/>
                          </a:solidFill>
                          <a:latin typeface="Helvetica"/>
                        </a:rPr>
                        <a:t>Pertes reportées et résultat</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129, 121, résultat 2025</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-4 835 084 017 FCFA</a:t>
                      </a:r>
                    </a:p>
                  </a:txBody>
                  <a:tcPr marL="43200" marR="43200" marT="14400" marB="14400" anchor="ctr">
                    <a:solidFill>
                      <a:srgbClr val="F2F2F2"/>
                    </a:solidFill>
                  </a:tcPr>
                </a:tc>
              </a:tr>
              <a:tr h="210009">
                <a:tc>
                  <a:txBody>
                    <a:bodyPr/>
                    <a:lstStyle/>
                    <a:p>
                      <a:pPr marL="0" indent="0" lvl="0">
                        <a:buNone/>
                      </a:pPr>
                      <a:r>
                        <a:rPr sz="1000" b="1">
                          <a:solidFill>
                            <a:srgbClr val="060606"/>
                          </a:solidFill>
                          <a:latin typeface="Helvetica"/>
                        </a:rPr>
                        <a:t>Marge disponible nette</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fonds propres</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-438 242 200 FCFA</a:t>
                      </a:r>
                    </a:p>
                  </a:txBody>
                  <a:tcPr marL="43200" marR="43200" marT="14400" marB="14400" anchor="ctr">
                    <a:solidFill>
                      <a:srgbClr val="FFFFFF"/>
                    </a:solidFill>
                  </a:tcPr>
                </a:tc>
              </a:tr>
            </a:tbl>
          </a:graphicData>
        </a:graphic>
      </p:graphicFrame>
      <p:sp>
        <p:nvSpPr>
          <p:cNvPr id="33" name="Rounded Rectangle 32"/>
          <p:cNvSpPr/>
          <p:nvPr/>
        </p:nvSpPr>
        <p:spPr>
          <a:xfrm>
            <a:off x="5382000" y="2472047"/>
            <a:ext cx="1835999" cy="231609"/>
          </a:xfrm>
          <a:prstGeom prst="roundRect">
            <a:avLst/>
          </a:prstGeom>
          <a:noFill/>
          <a:ln w="28575">
            <a:solidFill>
              <a:srgbClr val="C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7020000" y="2320847"/>
            <a:ext cx="270000" cy="2700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100" b="1">
                <a:solidFill>
                  <a:srgbClr val="FFFFFF"/>
                </a:solidFill>
                <a:latin typeface="Helvetica"/>
              </a:rPr>
              <a:t>1</a:t>
            </a:r>
          </a:p>
        </p:txBody>
      </p:sp>
      <p:sp>
        <p:nvSpPr>
          <p:cNvPr id="35" name="Rounded Rectangle 34"/>
          <p:cNvSpPr/>
          <p:nvPr/>
        </p:nvSpPr>
        <p:spPr>
          <a:xfrm>
            <a:off x="5382000" y="3312086"/>
            <a:ext cx="1835999" cy="231609"/>
          </a:xfrm>
          <a:prstGeom prst="roundRect">
            <a:avLst/>
          </a:prstGeom>
          <a:noFill/>
          <a:ln w="28575">
            <a:solidFill>
              <a:srgbClr val="C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Oval 35"/>
          <p:cNvSpPr/>
          <p:nvPr/>
        </p:nvSpPr>
        <p:spPr>
          <a:xfrm>
            <a:off x="7020000" y="3160886"/>
            <a:ext cx="270000" cy="2700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100" b="1">
                <a:solidFill>
                  <a:srgbClr val="FFFFFF"/>
                </a:solidFill>
                <a:latin typeface="Helvetica"/>
              </a:rPr>
              <a:t>2</a:t>
            </a:r>
          </a:p>
        </p:txBody>
      </p:sp>
      <p:sp>
        <p:nvSpPr>
          <p:cNvPr id="37" name="Rounded Rectangle 36"/>
          <p:cNvSpPr/>
          <p:nvPr/>
        </p:nvSpPr>
        <p:spPr>
          <a:xfrm>
            <a:off x="5382000" y="3732105"/>
            <a:ext cx="1835999" cy="231609"/>
          </a:xfrm>
          <a:prstGeom prst="roundRect">
            <a:avLst/>
          </a:prstGeom>
          <a:noFill/>
          <a:ln w="28575">
            <a:solidFill>
              <a:srgbClr val="C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Oval 37"/>
          <p:cNvSpPr/>
          <p:nvPr/>
        </p:nvSpPr>
        <p:spPr>
          <a:xfrm>
            <a:off x="7020000" y="3580905"/>
            <a:ext cx="270000" cy="2700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100" b="1">
                <a:solidFill>
                  <a:srgbClr val="FFFFFF"/>
                </a:solidFill>
                <a:latin typeface="Helvetica"/>
              </a:rPr>
              <a:t>3</a:t>
            </a:r>
          </a:p>
        </p:txBody>
      </p:sp>
      <p:sp>
        <p:nvSpPr>
          <p:cNvPr id="39" name="Oval 38"/>
          <p:cNvSpPr/>
          <p:nvPr/>
        </p:nvSpPr>
        <p:spPr>
          <a:xfrm>
            <a:off x="7416000" y="1548000"/>
            <a:ext cx="270000" cy="2700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100" b="1">
                <a:solidFill>
                  <a:srgbClr val="FFFFFF"/>
                </a:solidFill>
                <a:latin typeface="Helvetica"/>
              </a:rPr>
              <a:t>1</a:t>
            </a:r>
          </a:p>
        </p:txBody>
      </p:sp>
      <p:sp>
        <p:nvSpPr>
          <p:cNvPr id="40" name="TextBox 39"/>
          <p:cNvSpPr txBox="1"/>
          <p:nvPr/>
        </p:nvSpPr>
        <p:spPr>
          <a:xfrm>
            <a:off x="7776000" y="1530000"/>
            <a:ext cx="3959999" cy="484084"/>
          </a:xfrm>
          <a:prstGeom prst="rect">
            <a:avLst/>
          </a:prstGeom>
          <a:noFill/>
        </p:spPr>
        <p:txBody>
          <a:bodyPr wrap="square" anchor="t" lIns="54000" rIns="54000"/>
          <a:lstStyle/>
          <a:p>
            <a:pPr algn="l"/>
            <a:r>
              <a:rPr sz="1200" b="0">
                <a:solidFill>
                  <a:srgbClr val="060606"/>
                </a:solidFill>
                <a:latin typeface="Helvetica"/>
              </a:rPr>
              <a:t>La marge exigée vient de la règle des 18 % des cotisations, supérieure à celle des prestations.</a:t>
            </a:r>
          </a:p>
        </p:txBody>
      </p:sp>
      <p:sp>
        <p:nvSpPr>
          <p:cNvPr id="41" name="Oval 40"/>
          <p:cNvSpPr/>
          <p:nvPr/>
        </p:nvSpPr>
        <p:spPr>
          <a:xfrm>
            <a:off x="7416000" y="2122084"/>
            <a:ext cx="270000" cy="2700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100" b="1">
                <a:solidFill>
                  <a:srgbClr val="FFFFFF"/>
                </a:solidFill>
                <a:latin typeface="Helvetica"/>
              </a:rPr>
              <a:t>2</a:t>
            </a:r>
          </a:p>
        </p:txBody>
      </p:sp>
      <p:sp>
        <p:nvSpPr>
          <p:cNvPr id="42" name="TextBox 41"/>
          <p:cNvSpPr txBox="1"/>
          <p:nvPr/>
        </p:nvSpPr>
        <p:spPr>
          <a:xfrm>
            <a:off x="7776000" y="2104084"/>
            <a:ext cx="3959999" cy="484084"/>
          </a:xfrm>
          <a:prstGeom prst="rect">
            <a:avLst/>
          </a:prstGeom>
          <a:noFill/>
        </p:spPr>
        <p:txBody>
          <a:bodyPr wrap="square" anchor="t" lIns="54000" rIns="54000"/>
          <a:lstStyle/>
          <a:p>
            <a:pPr algn="l"/>
            <a:r>
              <a:rPr sz="1200" b="0">
                <a:solidFill>
                  <a:srgbClr val="060606"/>
                </a:solidFill>
                <a:latin typeface="Helvetica"/>
              </a:rPr>
              <a:t>Sans déduire les pertes, la marge disponible dépasse largement la marge exigée.</a:t>
            </a:r>
          </a:p>
        </p:txBody>
      </p:sp>
      <p:sp>
        <p:nvSpPr>
          <p:cNvPr id="43" name="Oval 42"/>
          <p:cNvSpPr/>
          <p:nvPr/>
        </p:nvSpPr>
        <p:spPr>
          <a:xfrm>
            <a:off x="7416000" y="2696168"/>
            <a:ext cx="270000" cy="2700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100" b="1">
                <a:solidFill>
                  <a:srgbClr val="FFFFFF"/>
                </a:solidFill>
                <a:latin typeface="Helvetica"/>
              </a:rPr>
              <a:t>3</a:t>
            </a:r>
          </a:p>
        </p:txBody>
      </p:sp>
      <p:sp>
        <p:nvSpPr>
          <p:cNvPr id="44" name="TextBox 43"/>
          <p:cNvSpPr txBox="1"/>
          <p:nvPr/>
        </p:nvSpPr>
        <p:spPr>
          <a:xfrm>
            <a:off x="7776000" y="2678168"/>
            <a:ext cx="3959999" cy="484084"/>
          </a:xfrm>
          <a:prstGeom prst="rect">
            <a:avLst/>
          </a:prstGeom>
          <a:noFill/>
        </p:spPr>
        <p:txBody>
          <a:bodyPr wrap="square" anchor="t" lIns="54000" rIns="54000"/>
          <a:lstStyle/>
          <a:p>
            <a:pPr algn="l"/>
            <a:r>
              <a:rPr sz="1200" b="0">
                <a:solidFill>
                  <a:srgbClr val="060606"/>
                </a:solidFill>
                <a:latin typeface="Helvetica"/>
              </a:rPr>
              <a:t>Une fois les pertes reportées déduites, la marge disponible devient négative.</a:t>
            </a:r>
          </a:p>
        </p:txBody>
      </p:sp>
      <p:sp>
        <p:nvSpPr>
          <p:cNvPr id="45" name="TextBox 44"/>
          <p:cNvSpPr txBox="1"/>
          <p:nvPr/>
        </p:nvSpPr>
        <p:spPr>
          <a:xfrm>
            <a:off x="7416000" y="3342252"/>
            <a:ext cx="4319999" cy="2525747"/>
          </a:xfrm>
          <a:prstGeom prst="rect">
            <a:avLst/>
          </a:prstGeom>
          <a:noFill/>
        </p:spPr>
        <p:txBody>
          <a:bodyPr wrap="square" lIns="54000" rIns="54000"/>
          <a:lstStyle/>
          <a:p>
            <a:pPr algn="just">
              <a:spcAft>
                <a:spcPts val="600"/>
              </a:spcAft>
            </a:pPr>
            <a:r>
              <a:rPr sz="1200" b="1">
                <a:solidFill>
                  <a:srgbClr val="060606"/>
                </a:solidFill>
                <a:latin typeface="Helvetica"/>
              </a:rPr>
              <a:t>La conformité dépend de la lecture des pertes reportées.</a:t>
            </a:r>
            <a:r>
              <a:rPr sz="1200" b="0">
                <a:solidFill>
                  <a:srgbClr val="060606"/>
                </a:solidFill>
                <a:latin typeface="Helvetica"/>
              </a:rPr>
              <a:t> Le ratio vaut 7,77 comme le FPPN et -0,77 net des pertes.</a:t>
            </a:r>
          </a:p>
          <a:p>
            <a:pPr algn="just">
              <a:spcAft>
                <a:spcPts val="600"/>
              </a:spcAft>
            </a:pPr>
            <a:r>
              <a:rPr sz="1200" b="1">
                <a:solidFill>
                  <a:srgbClr val="060606"/>
                </a:solidFill>
                <a:latin typeface="Helvetica"/>
              </a:rPr>
              <a:t>Implication pour le FPPN.</a:t>
            </a:r>
            <a:r>
              <a:rPr sz="1200" b="0">
                <a:solidFill>
                  <a:srgbClr val="060606"/>
                </a:solidFill>
                <a:latin typeface="Helvetica"/>
              </a:rPr>
              <a:t> Le FPPN n'a pas de fonds d'établissement, alors que la Décision exige un niveau minimal égal au tiers de la marge exigée, soit 188 736 615 FCFA en 2025.</a:t>
            </a:r>
          </a:p>
        </p:txBody>
      </p:sp>
      <p:sp>
        <p:nvSpPr>
          <p:cNvPr id="46" name="TextBox 45"/>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UEMOA : Union économique et monétaire ouest-africaine | PCMS : plan comptable des mutuelles sociales</a:t>
            </a:r>
          </a:p>
        </p:txBody>
      </p:sp>
    </p:spTree>
    <p:extLst>
      <p:ext uri="{BB962C8B-B14F-4D97-AF65-F5344CB8AC3E}">
        <p14:creationId xmlns:p14="http://schemas.microsoft.com/office/powerpoint/2010/main" val="3402626378"/>
      </p:ext>
    </p:extLst>
  </p:cSld>
  <p:clrMapOvr>
    <a:masterClrMapping/>
  </p:clrMapOvr>
  <p:transition>
    <p:fade/>
  </p:transition>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Calcul pas à pas : réserve obligatoire 2025</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La réserve obligatoire couvre cinq mois de prestations, contre six au minimum</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820 232 819 FCFA x 12 / 1 964 772 027 FCFA = 5,01 mois</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balances des comptes du FPPN (Sage 100), exercices 2020 à 2025 et du 01/01 au 31/08/2026 (provisoire). Traitements Adenka. Décision n° 05/2022/COM/UEMOA du 1er juin 2022, annexe, tableau 1 et § 1.2.2.5.4</a:t>
            </a:r>
          </a:p>
        </p:txBody>
      </p:sp>
      <p:sp>
        <p:nvSpPr>
          <p:cNvPr id="31" name="TextBox 30"/>
          <p:cNvSpPr txBox="1"/>
          <p:nvPr/>
        </p:nvSpPr>
        <p:spPr>
          <a:xfrm>
            <a:off x="503999" y="1350000"/>
            <a:ext cx="6552000" cy="180000"/>
          </a:xfrm>
          <a:prstGeom prst="rect">
            <a:avLst/>
          </a:prstGeom>
          <a:noFill/>
        </p:spPr>
        <p:txBody>
          <a:bodyPr wrap="square" anchor="t" lIns="54000" rIns="54000"/>
          <a:lstStyle/>
          <a:p>
            <a:pPr algn="l"/>
            <a:r>
              <a:rPr sz="900" b="0">
                <a:solidFill>
                  <a:srgbClr val="53565A"/>
                </a:solidFill>
                <a:latin typeface="Helvetica"/>
              </a:rPr>
              <a:t>Extrait : AUDIT ADENKA\DAFC\2025\BALANCE FPPN 2025.xlsx</a:t>
            </a:r>
          </a:p>
        </p:txBody>
      </p:sp>
      <p:graphicFrame>
        <p:nvGraphicFramePr>
          <p:cNvPr id="32" name="Table 31"/>
          <p:cNvGraphicFramePr>
            <a:graphicFrameLocks noGrp="1"/>
          </p:cNvGraphicFramePr>
          <p:nvPr/>
        </p:nvGraphicFramePr>
        <p:xfrm>
          <a:off x="503999" y="1548000"/>
          <a:ext cx="6552000" cy="1260054"/>
        </p:xfrm>
        <a:graphic>
          <a:graphicData uri="http://schemas.openxmlformats.org/drawingml/2006/table">
            <a:tbl>
              <a:tblPr firstRow="0" bandRow="0">
                <a:tableStyleId>{5940675A-B579-460E-94D1-54222C63F5DA}</a:tableStyleId>
              </a:tblPr>
              <a:tblGrid>
                <a:gridCol w="2448000"/>
                <a:gridCol w="1872000"/>
                <a:gridCol w="2232000"/>
              </a:tblGrid>
              <a:tr h="210009">
                <a:tc>
                  <a:txBody>
                    <a:bodyPr/>
                    <a:lstStyle/>
                    <a:p>
                      <a:pPr marL="0" indent="0" lvl="0">
                        <a:buNone/>
                      </a:pPr>
                      <a:r>
                        <a:rPr sz="1000" b="1">
                          <a:solidFill>
                            <a:srgbClr val="FFFFFF"/>
                          </a:solidFill>
                          <a:latin typeface="Helvetica"/>
                        </a:rPr>
                        <a:t>Élément</a:t>
                      </a:r>
                    </a:p>
                  </a:txBody>
                  <a:tcPr marL="43200" marR="43200" marT="14400" marB="14400" anchor="ctr">
                    <a:solidFill>
                      <a:srgbClr val="060606"/>
                    </a:solidFill>
                  </a:tcPr>
                </a:tc>
                <a:tc>
                  <a:txBody>
                    <a:bodyPr/>
                    <a:lstStyle/>
                    <a:p>
                      <a:pPr marL="0" indent="0" lvl="0">
                        <a:buNone/>
                      </a:pPr>
                      <a:r>
                        <a:rPr sz="1000" b="1">
                          <a:solidFill>
                            <a:srgbClr val="FFFFFF"/>
                          </a:solidFill>
                          <a:latin typeface="Helvetica"/>
                        </a:rPr>
                        <a:t>Calcul</a:t>
                      </a:r>
                    </a:p>
                  </a:txBody>
                  <a:tcPr marL="43200" marR="43200" marT="14400" marB="14400" anchor="ctr">
                    <a:solidFill>
                      <a:srgbClr val="060606"/>
                    </a:solidFill>
                  </a:tcPr>
                </a:tc>
                <a:tc>
                  <a:txBody>
                    <a:bodyPr/>
                    <a:lstStyle/>
                    <a:p>
                      <a:pPr marL="0" indent="0" lvl="0">
                        <a:buNone/>
                      </a:pPr>
                      <a:r>
                        <a:rPr sz="1000" b="1">
                          <a:solidFill>
                            <a:srgbClr val="FFFFFF"/>
                          </a:solidFill>
                          <a:latin typeface="Helvetica"/>
                        </a:rPr>
                        <a:t>Montant</a:t>
                      </a:r>
                    </a:p>
                  </a:txBody>
                  <a:tcPr marL="43200" marR="43200" marT="14400" marB="14400" anchor="ctr">
                    <a:solidFill>
                      <a:srgbClr val="060606"/>
                    </a:solidFill>
                  </a:tcPr>
                </a:tc>
              </a:tr>
              <a:tr h="210009">
                <a:tc>
                  <a:txBody>
                    <a:bodyPr/>
                    <a:lstStyle/>
                    <a:p>
                      <a:pPr marL="0" indent="0" lvl="0">
                        <a:buNone/>
                      </a:pPr>
                      <a:r>
                        <a:rPr sz="1000" b="1">
                          <a:solidFill>
                            <a:srgbClr val="060606"/>
                          </a:solidFill>
                          <a:latin typeface="Helvetica"/>
                        </a:rPr>
                        <a:t>Réserve obligatoire</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compte 111</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820 232 819 FCFA</a:t>
                      </a:r>
                    </a:p>
                  </a:txBody>
                  <a:tcPr marL="43200" marR="43200" marT="14400" marB="14400" anchor="ctr">
                    <a:solidFill>
                      <a:srgbClr val="FFFFFF"/>
                    </a:solidFill>
                  </a:tcPr>
                </a:tc>
              </a:tr>
              <a:tr h="210009">
                <a:tc>
                  <a:txBody>
                    <a:bodyPr/>
                    <a:lstStyle/>
                    <a:p>
                      <a:pPr marL="0" indent="0" lvl="0">
                        <a:buNone/>
                      </a:pPr>
                      <a:r>
                        <a:rPr sz="1000" b="1">
                          <a:solidFill>
                            <a:srgbClr val="060606"/>
                          </a:solidFill>
                          <a:latin typeface="Helvetica"/>
                        </a:rPr>
                        <a:t>Charges de prestations</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classe 60</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1 964 772 027 FCFA</a:t>
                      </a:r>
                    </a:p>
                  </a:txBody>
                  <a:tcPr marL="43200" marR="43200" marT="14400" marB="14400" anchor="ctr">
                    <a:solidFill>
                      <a:srgbClr val="F2F2F2"/>
                    </a:solidFill>
                  </a:tcPr>
                </a:tc>
              </a:tr>
              <a:tr h="210009">
                <a:tc>
                  <a:txBody>
                    <a:bodyPr/>
                    <a:lstStyle/>
                    <a:p>
                      <a:pPr marL="0" indent="0" lvl="0">
                        <a:buNone/>
                      </a:pPr>
                      <a:r>
                        <a:rPr sz="1000" b="1">
                          <a:solidFill>
                            <a:srgbClr val="060606"/>
                          </a:solidFill>
                          <a:latin typeface="Helvetica"/>
                        </a:rPr>
                        <a:t>Ratio de réserve obligatoire</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111 x 12 / 60</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5,01 mois</a:t>
                      </a:r>
                    </a:p>
                  </a:txBody>
                  <a:tcPr marL="43200" marR="43200" marT="14400" marB="14400" anchor="ctr">
                    <a:solidFill>
                      <a:srgbClr val="FFFFFF"/>
                    </a:solidFill>
                  </a:tcPr>
                </a:tc>
              </a:tr>
              <a:tr h="210009">
                <a:tc>
                  <a:txBody>
                    <a:bodyPr/>
                    <a:lstStyle/>
                    <a:p>
                      <a:pPr marL="0" indent="0" lvl="0">
                        <a:buNone/>
                      </a:pPr>
                      <a:r>
                        <a:rPr sz="1000" b="1">
                          <a:solidFill>
                            <a:srgbClr val="060606"/>
                          </a:solidFill>
                          <a:latin typeface="Helvetica"/>
                        </a:rPr>
                        <a:t>Réserve nécessaire pour 6 mois</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60 x 6 / 12</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982 386 014 FCFA</a:t>
                      </a:r>
                    </a:p>
                  </a:txBody>
                  <a:tcPr marL="43200" marR="43200" marT="14400" marB="14400" anchor="ctr">
                    <a:solidFill>
                      <a:srgbClr val="F2F2F2"/>
                    </a:solidFill>
                  </a:tcPr>
                </a:tc>
              </a:tr>
              <a:tr h="210009">
                <a:tc>
                  <a:txBody>
                    <a:bodyPr/>
                    <a:lstStyle/>
                    <a:p>
                      <a:pPr marL="0" indent="0" lvl="0">
                        <a:buNone/>
                      </a:pPr>
                      <a:r>
                        <a:rPr sz="1000" b="1">
                          <a:solidFill>
                            <a:srgbClr val="060606"/>
                          </a:solidFill>
                          <a:latin typeface="Helvetica"/>
                        </a:rPr>
                        <a:t>Écart à combler</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besoin - réserve</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162 153 194 FCFA</a:t>
                      </a:r>
                    </a:p>
                  </a:txBody>
                  <a:tcPr marL="43200" marR="43200" marT="14400" marB="14400" anchor="ctr">
                    <a:solidFill>
                      <a:srgbClr val="FFFFFF"/>
                    </a:solidFill>
                  </a:tcPr>
                </a:tc>
              </a:tr>
            </a:tbl>
          </a:graphicData>
        </a:graphic>
      </p:graphicFrame>
      <p:sp>
        <p:nvSpPr>
          <p:cNvPr id="33" name="Rounded Rectangle 32"/>
          <p:cNvSpPr/>
          <p:nvPr/>
        </p:nvSpPr>
        <p:spPr>
          <a:xfrm>
            <a:off x="4806000" y="2167228"/>
            <a:ext cx="2268000" cy="231609"/>
          </a:xfrm>
          <a:prstGeom prst="roundRect">
            <a:avLst/>
          </a:prstGeom>
          <a:noFill/>
          <a:ln w="28575">
            <a:solidFill>
              <a:srgbClr val="C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876000" y="2016028"/>
            <a:ext cx="270000" cy="2700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100" b="1">
                <a:solidFill>
                  <a:srgbClr val="FFFFFF"/>
                </a:solidFill>
                <a:latin typeface="Helvetica"/>
              </a:rPr>
              <a:t>1</a:t>
            </a:r>
          </a:p>
        </p:txBody>
      </p:sp>
      <p:sp>
        <p:nvSpPr>
          <p:cNvPr id="35" name="Rounded Rectangle 34"/>
          <p:cNvSpPr/>
          <p:nvPr/>
        </p:nvSpPr>
        <p:spPr>
          <a:xfrm>
            <a:off x="4806000" y="2587247"/>
            <a:ext cx="2268000" cy="231609"/>
          </a:xfrm>
          <a:prstGeom prst="roundRect">
            <a:avLst/>
          </a:prstGeom>
          <a:noFill/>
          <a:ln w="28575">
            <a:solidFill>
              <a:srgbClr val="C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Oval 35"/>
          <p:cNvSpPr/>
          <p:nvPr/>
        </p:nvSpPr>
        <p:spPr>
          <a:xfrm>
            <a:off x="6876000" y="2436047"/>
            <a:ext cx="270000" cy="2700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100" b="1">
                <a:solidFill>
                  <a:srgbClr val="FFFFFF"/>
                </a:solidFill>
                <a:latin typeface="Helvetica"/>
              </a:rPr>
              <a:t>2</a:t>
            </a:r>
          </a:p>
        </p:txBody>
      </p:sp>
      <p:sp>
        <p:nvSpPr>
          <p:cNvPr id="37" name="Oval 36"/>
          <p:cNvSpPr/>
          <p:nvPr/>
        </p:nvSpPr>
        <p:spPr>
          <a:xfrm>
            <a:off x="7272000" y="1548000"/>
            <a:ext cx="270000" cy="2700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100" b="1">
                <a:solidFill>
                  <a:srgbClr val="FFFFFF"/>
                </a:solidFill>
                <a:latin typeface="Helvetica"/>
              </a:rPr>
              <a:t>1</a:t>
            </a:r>
          </a:p>
        </p:txBody>
      </p:sp>
      <p:sp>
        <p:nvSpPr>
          <p:cNvPr id="38" name="TextBox 37"/>
          <p:cNvSpPr txBox="1"/>
          <p:nvPr/>
        </p:nvSpPr>
        <p:spPr>
          <a:xfrm>
            <a:off x="7632000" y="1530000"/>
            <a:ext cx="4104000" cy="484084"/>
          </a:xfrm>
          <a:prstGeom prst="rect">
            <a:avLst/>
          </a:prstGeom>
          <a:noFill/>
        </p:spPr>
        <p:txBody>
          <a:bodyPr wrap="square" anchor="t" lIns="54000" rIns="54000"/>
          <a:lstStyle/>
          <a:p>
            <a:pPr algn="l"/>
            <a:r>
              <a:rPr sz="1200" b="0">
                <a:solidFill>
                  <a:srgbClr val="060606"/>
                </a:solidFill>
                <a:latin typeface="Helvetica"/>
              </a:rPr>
              <a:t>La réserve obligatoire couvre un peu plus de cinq mois de prestations.</a:t>
            </a:r>
          </a:p>
        </p:txBody>
      </p:sp>
      <p:sp>
        <p:nvSpPr>
          <p:cNvPr id="39" name="Oval 38"/>
          <p:cNvSpPr/>
          <p:nvPr/>
        </p:nvSpPr>
        <p:spPr>
          <a:xfrm>
            <a:off x="7272000" y="2122084"/>
            <a:ext cx="270000" cy="2700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100" b="1">
                <a:solidFill>
                  <a:srgbClr val="FFFFFF"/>
                </a:solidFill>
                <a:latin typeface="Helvetica"/>
              </a:rPr>
              <a:t>2</a:t>
            </a:r>
          </a:p>
        </p:txBody>
      </p:sp>
      <p:sp>
        <p:nvSpPr>
          <p:cNvPr id="40" name="TextBox 39"/>
          <p:cNvSpPr txBox="1"/>
          <p:nvPr/>
        </p:nvSpPr>
        <p:spPr>
          <a:xfrm>
            <a:off x="7632000" y="2104084"/>
            <a:ext cx="4104000" cy="484084"/>
          </a:xfrm>
          <a:prstGeom prst="rect">
            <a:avLst/>
          </a:prstGeom>
          <a:noFill/>
        </p:spPr>
        <p:txBody>
          <a:bodyPr wrap="square" anchor="t" lIns="54000" rIns="54000"/>
          <a:lstStyle/>
          <a:p>
            <a:pPr algn="l"/>
            <a:r>
              <a:rPr sz="1200" b="0">
                <a:solidFill>
                  <a:srgbClr val="060606"/>
                </a:solidFill>
                <a:latin typeface="Helvetica"/>
              </a:rPr>
              <a:t>Il manque ce montant pour atteindre la borne basse de six mois.</a:t>
            </a:r>
          </a:p>
        </p:txBody>
      </p:sp>
      <p:sp>
        <p:nvSpPr>
          <p:cNvPr id="41" name="TextBox 40"/>
          <p:cNvSpPr txBox="1"/>
          <p:nvPr/>
        </p:nvSpPr>
        <p:spPr>
          <a:xfrm>
            <a:off x="7272000" y="2768168"/>
            <a:ext cx="4464000" cy="3099831"/>
          </a:xfrm>
          <a:prstGeom prst="rect">
            <a:avLst/>
          </a:prstGeom>
          <a:noFill/>
        </p:spPr>
        <p:txBody>
          <a:bodyPr wrap="square" lIns="54000" rIns="54000"/>
          <a:lstStyle/>
          <a:p>
            <a:pPr algn="just">
              <a:spcAft>
                <a:spcPts val="600"/>
              </a:spcAft>
            </a:pPr>
            <a:r>
              <a:rPr sz="1200" b="1">
                <a:solidFill>
                  <a:srgbClr val="060606"/>
                </a:solidFill>
                <a:latin typeface="Helvetica"/>
              </a:rPr>
              <a:t>La réserve progresse, mais moins vite que les prestations.</a:t>
            </a:r>
            <a:r>
              <a:rPr sz="1200" b="0">
                <a:solidFill>
                  <a:srgbClr val="060606"/>
                </a:solidFill>
                <a:latin typeface="Helvetica"/>
              </a:rPr>
              <a:t> Elle vaut zéro jusqu'en 2022 et couvre 3,25 mois en 2023, puis 5,01 mois en 2025.</a:t>
            </a:r>
          </a:p>
          <a:p>
            <a:pPr algn="just">
              <a:spcAft>
                <a:spcPts val="600"/>
              </a:spcAft>
            </a:pPr>
            <a:r>
              <a:rPr sz="1200" b="1">
                <a:solidFill>
                  <a:srgbClr val="060606"/>
                </a:solidFill>
                <a:latin typeface="Helvetica"/>
              </a:rPr>
              <a:t>Implication pour le FPPN.</a:t>
            </a:r>
            <a:r>
              <a:rPr sz="1200" b="0">
                <a:solidFill>
                  <a:srgbClr val="060606"/>
                </a:solidFill>
                <a:latin typeface="Helvetica"/>
              </a:rPr>
              <a:t> Comme les prestations augmentent chaque année, le besoin de réserve augmente aussi : la dotation annuelle doit suivre la sinistralité et non seulement le résultat.</a:t>
            </a:r>
          </a:p>
        </p:txBody>
      </p:sp>
      <p:sp>
        <p:nvSpPr>
          <p:cNvPr id="42" name="TextBox 41"/>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UEMOA : Union économique et monétaire ouest-africaine</a:t>
            </a:r>
          </a:p>
        </p:txBody>
      </p:sp>
    </p:spTree>
    <p:extLst>
      <p:ext uri="{BB962C8B-B14F-4D97-AF65-F5344CB8AC3E}">
        <p14:creationId xmlns:p14="http://schemas.microsoft.com/office/powerpoint/2010/main" val="3662170412"/>
      </p:ext>
    </p:extLst>
  </p:cSld>
  <p:clrMapOvr>
    <a:masterClrMapping/>
  </p:clrMapOvr>
  <p:transition>
    <p:fade/>
  </p:transition>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Calcul pas à pas : fonds propres et assimilés 2025</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Les ressources propres et les provisions couvrent un cinquième des dettes</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Fonds propres et assimilés 4 391 056 090 FCFA / dettes 20 393 111 235 FCFA = 0,22</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balances des comptes du FPPN (Sage 100), exercices 2020 à 2025 et du 01/01 au 31/08/2026 (provisoire). Traitements Adenka. Décision n° 05/2022/COM/UEMOA du 1er juin 2022, annexe, § 1.2.2.5.3</a:t>
            </a:r>
          </a:p>
        </p:txBody>
      </p:sp>
      <p:sp>
        <p:nvSpPr>
          <p:cNvPr id="31" name="TextBox 30"/>
          <p:cNvSpPr txBox="1"/>
          <p:nvPr/>
        </p:nvSpPr>
        <p:spPr>
          <a:xfrm>
            <a:off x="503999" y="1350000"/>
            <a:ext cx="6552000" cy="180000"/>
          </a:xfrm>
          <a:prstGeom prst="rect">
            <a:avLst/>
          </a:prstGeom>
          <a:noFill/>
        </p:spPr>
        <p:txBody>
          <a:bodyPr wrap="square" anchor="t" lIns="54000" rIns="54000"/>
          <a:lstStyle/>
          <a:p>
            <a:pPr algn="l"/>
            <a:r>
              <a:rPr sz="900" b="0">
                <a:solidFill>
                  <a:srgbClr val="53565A"/>
                </a:solidFill>
                <a:latin typeface="Helvetica"/>
              </a:rPr>
              <a:t>Extrait : AUDIT ADENKA\DAFC\2025\BALANCE FPPN 2025.xlsx</a:t>
            </a:r>
          </a:p>
        </p:txBody>
      </p:sp>
      <p:graphicFrame>
        <p:nvGraphicFramePr>
          <p:cNvPr id="32" name="Table 31"/>
          <p:cNvGraphicFramePr>
            <a:graphicFrameLocks noGrp="1"/>
          </p:cNvGraphicFramePr>
          <p:nvPr/>
        </p:nvGraphicFramePr>
        <p:xfrm>
          <a:off x="503999" y="1548000"/>
          <a:ext cx="6552000" cy="2347311"/>
        </p:xfrm>
        <a:graphic>
          <a:graphicData uri="http://schemas.openxmlformats.org/drawingml/2006/table">
            <a:tbl>
              <a:tblPr firstRow="0" bandRow="0">
                <a:tableStyleId>{5940675A-B579-460E-94D1-54222C63F5DA}</a:tableStyleId>
              </a:tblPr>
              <a:tblGrid>
                <a:gridCol w="2448000"/>
                <a:gridCol w="2160000"/>
                <a:gridCol w="1944000"/>
              </a:tblGrid>
              <a:tr h="210009">
                <a:tc>
                  <a:txBody>
                    <a:bodyPr/>
                    <a:lstStyle/>
                    <a:p>
                      <a:pPr marL="0" indent="0" lvl="0">
                        <a:buNone/>
                      </a:pPr>
                      <a:r>
                        <a:rPr sz="1000" b="1">
                          <a:solidFill>
                            <a:srgbClr val="FFFFFF"/>
                          </a:solidFill>
                          <a:latin typeface="Helvetica"/>
                        </a:rPr>
                        <a:t>Élément</a:t>
                      </a:r>
                    </a:p>
                  </a:txBody>
                  <a:tcPr marL="43200" marR="43200" marT="14400" marB="14400" anchor="ctr">
                    <a:solidFill>
                      <a:srgbClr val="060606"/>
                    </a:solidFill>
                  </a:tcPr>
                </a:tc>
                <a:tc>
                  <a:txBody>
                    <a:bodyPr/>
                    <a:lstStyle/>
                    <a:p>
                      <a:pPr marL="0" indent="0" lvl="0">
                        <a:buNone/>
                      </a:pPr>
                      <a:r>
                        <a:rPr sz="1000" b="1">
                          <a:solidFill>
                            <a:srgbClr val="FFFFFF"/>
                          </a:solidFill>
                          <a:latin typeface="Helvetica"/>
                        </a:rPr>
                        <a:t>Comptes</a:t>
                      </a:r>
                    </a:p>
                  </a:txBody>
                  <a:tcPr marL="43200" marR="43200" marT="14400" marB="14400" anchor="ctr">
                    <a:solidFill>
                      <a:srgbClr val="060606"/>
                    </a:solidFill>
                  </a:tcPr>
                </a:tc>
                <a:tc>
                  <a:txBody>
                    <a:bodyPr/>
                    <a:lstStyle/>
                    <a:p>
                      <a:pPr marL="0" indent="0" lvl="0">
                        <a:buNone/>
                      </a:pPr>
                      <a:r>
                        <a:rPr sz="1000" b="1">
                          <a:solidFill>
                            <a:srgbClr val="FFFFFF"/>
                          </a:solidFill>
                          <a:latin typeface="Helvetica"/>
                        </a:rPr>
                        <a:t>Montant 2025</a:t>
                      </a:r>
                    </a:p>
                  </a:txBody>
                  <a:tcPr marL="43200" marR="43200" marT="14400" marB="14400" anchor="ctr">
                    <a:solidFill>
                      <a:srgbClr val="060606"/>
                    </a:solidFill>
                  </a:tcPr>
                </a:tc>
              </a:tr>
              <a:tr h="210009">
                <a:tc>
                  <a:txBody>
                    <a:bodyPr/>
                    <a:lstStyle/>
                    <a:p>
                      <a:pPr marL="0" indent="0" lvl="0">
                        <a:buNone/>
                      </a:pPr>
                      <a:r>
                        <a:rPr sz="1000" b="1">
                          <a:solidFill>
                            <a:srgbClr val="060606"/>
                          </a:solidFill>
                          <a:latin typeface="Helvetica"/>
                        </a:rPr>
                        <a:t>Fonds propres</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10, 11, 12, résultat</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-438 242 200 FCFA</a:t>
                      </a:r>
                    </a:p>
                  </a:txBody>
                  <a:tcPr marL="43200" marR="43200" marT="14400" marB="14400" anchor="ctr">
                    <a:solidFill>
                      <a:srgbClr val="FFFFFF"/>
                    </a:solidFill>
                  </a:tcPr>
                </a:tc>
              </a:tr>
              <a:tr h="210009">
                <a:tc>
                  <a:txBody>
                    <a:bodyPr/>
                    <a:lstStyle/>
                    <a:p>
                      <a:pPr marL="0" indent="0" lvl="0">
                        <a:buNone/>
                      </a:pPr>
                      <a:r>
                        <a:rPr sz="1000" b="1">
                          <a:solidFill>
                            <a:srgbClr val="060606"/>
                          </a:solidFill>
                          <a:latin typeface="Helvetica"/>
                        </a:rPr>
                        <a:t>Provisions techniques</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15801000, 15802000</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4 829 298 290 FCFA</a:t>
                      </a:r>
                    </a:p>
                  </a:txBody>
                  <a:tcPr marL="43200" marR="43200" marT="14400" marB="14400" anchor="ctr">
                    <a:solidFill>
                      <a:srgbClr val="F2F2F2"/>
                    </a:solidFill>
                  </a:tcPr>
                </a:tc>
              </a:tr>
              <a:tr h="210009">
                <a:tc>
                  <a:txBody>
                    <a:bodyPr/>
                    <a:lstStyle/>
                    <a:p>
                      <a:pPr marL="0" indent="0" lvl="0">
                        <a:buNone/>
                      </a:pPr>
                      <a:r>
                        <a:rPr sz="1000" b="1">
                          <a:solidFill>
                            <a:srgbClr val="060606"/>
                          </a:solidFill>
                          <a:latin typeface="Helvetica"/>
                        </a:rPr>
                        <a:t>Fonds propres et assimilés</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numérateur</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4 391 056 090 FCFA</a:t>
                      </a:r>
                    </a:p>
                  </a:txBody>
                  <a:tcPr marL="43200" marR="43200" marT="14400" marB="14400" anchor="ctr">
                    <a:solidFill>
                      <a:srgbClr val="FFFFFF"/>
                    </a:solidFill>
                  </a:tcPr>
                </a:tc>
              </a:tr>
              <a:tr h="362419">
                <a:tc>
                  <a:txBody>
                    <a:bodyPr/>
                    <a:lstStyle/>
                    <a:p>
                      <a:pPr marL="0" indent="0" lvl="0">
                        <a:buNone/>
                      </a:pPr>
                      <a:r>
                        <a:rPr sz="1000" b="1">
                          <a:solidFill>
                            <a:srgbClr val="060606"/>
                          </a:solidFill>
                          <a:latin typeface="Helvetica"/>
                        </a:rPr>
                        <a:t>Dettes à court terme</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classe 4 créditrice, 5 créditeur</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15 520 146 267 FCFA</a:t>
                      </a:r>
                    </a:p>
                  </a:txBody>
                  <a:tcPr marL="43200" marR="43200" marT="14400" marB="14400" anchor="ctr">
                    <a:solidFill>
                      <a:srgbClr val="F2F2F2"/>
                    </a:solidFill>
                  </a:tcPr>
                </a:tc>
              </a:tr>
              <a:tr h="210009">
                <a:tc>
                  <a:txBody>
                    <a:bodyPr/>
                    <a:lstStyle/>
                    <a:p>
                      <a:pPr marL="0" indent="0" lvl="0">
                        <a:buNone/>
                      </a:pPr>
                      <a:r>
                        <a:rPr sz="1000" b="1">
                          <a:solidFill>
                            <a:srgbClr val="060606"/>
                          </a:solidFill>
                          <a:latin typeface="Helvetica"/>
                        </a:rPr>
                        <a:t>dont épargne PEP et EFC</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41195100, 41195200</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13 814 066 964 FCFA</a:t>
                      </a:r>
                    </a:p>
                  </a:txBody>
                  <a:tcPr marL="43200" marR="43200" marT="14400" marB="14400" anchor="ctr">
                    <a:solidFill>
                      <a:srgbClr val="FFFFFF"/>
                    </a:solidFill>
                  </a:tcPr>
                </a:tc>
              </a:tr>
              <a:tr h="362419">
                <a:tc>
                  <a:txBody>
                    <a:bodyPr/>
                    <a:lstStyle/>
                    <a:p>
                      <a:pPr marL="0" indent="0" lvl="0">
                        <a:buNone/>
                      </a:pPr>
                      <a:r>
                        <a:rPr sz="1000" b="1">
                          <a:solidFill>
                            <a:srgbClr val="060606"/>
                          </a:solidFill>
                          <a:latin typeface="Helvetica"/>
                        </a:rPr>
                        <a:t>Provisions et autres dettes longues</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15, 16, 196</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4 872 964 968 FCFA</a:t>
                      </a:r>
                    </a:p>
                  </a:txBody>
                  <a:tcPr marL="43200" marR="43200" marT="14400" marB="14400" anchor="ctr">
                    <a:solidFill>
                      <a:srgbClr val="F2F2F2"/>
                    </a:solidFill>
                  </a:tcPr>
                </a:tc>
              </a:tr>
              <a:tr h="210009">
                <a:tc>
                  <a:txBody>
                    <a:bodyPr/>
                    <a:lstStyle/>
                    <a:p>
                      <a:pPr marL="0" indent="0" lvl="0">
                        <a:buNone/>
                      </a:pPr>
                      <a:r>
                        <a:rPr sz="1000" b="1">
                          <a:solidFill>
                            <a:srgbClr val="060606"/>
                          </a:solidFill>
                          <a:latin typeface="Helvetica"/>
                        </a:rPr>
                        <a:t>Dettes, provisions comprises</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dénominateur</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20 393 111 235 FCFA</a:t>
                      </a:r>
                    </a:p>
                  </a:txBody>
                  <a:tcPr marL="43200" marR="43200" marT="14400" marB="14400" anchor="ctr">
                    <a:solidFill>
                      <a:srgbClr val="FFFFFF"/>
                    </a:solidFill>
                  </a:tcPr>
                </a:tc>
              </a:tr>
              <a:tr h="362419">
                <a:tc>
                  <a:txBody>
                    <a:bodyPr/>
                    <a:lstStyle/>
                    <a:p>
                      <a:pPr marL="0" indent="0" lvl="0">
                        <a:buNone/>
                      </a:pPr>
                      <a:r>
                        <a:rPr sz="1000" b="1">
                          <a:solidFill>
                            <a:srgbClr val="060606"/>
                          </a:solidFill>
                          <a:latin typeface="Helvetica"/>
                        </a:rPr>
                        <a:t>Ratio des fonds propres et assimilés</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numérateur / dénominateur</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0,22</a:t>
                      </a:r>
                    </a:p>
                  </a:txBody>
                  <a:tcPr marL="43200" marR="43200" marT="14400" marB="14400" anchor="ctr">
                    <a:solidFill>
                      <a:srgbClr val="F2F2F2"/>
                    </a:solidFill>
                  </a:tcPr>
                </a:tc>
              </a:tr>
            </a:tbl>
          </a:graphicData>
        </a:graphic>
      </p:graphicFrame>
      <p:sp>
        <p:nvSpPr>
          <p:cNvPr id="33" name="Rounded Rectangle 32"/>
          <p:cNvSpPr/>
          <p:nvPr/>
        </p:nvSpPr>
        <p:spPr>
          <a:xfrm>
            <a:off x="5094000" y="1747209"/>
            <a:ext cx="1980000" cy="231609"/>
          </a:xfrm>
          <a:prstGeom prst="roundRect">
            <a:avLst/>
          </a:prstGeom>
          <a:noFill/>
          <a:ln w="28575">
            <a:solidFill>
              <a:srgbClr val="C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876000" y="1596009"/>
            <a:ext cx="270000" cy="2700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100" b="1">
                <a:solidFill>
                  <a:srgbClr val="FFFFFF"/>
                </a:solidFill>
                <a:latin typeface="Helvetica"/>
              </a:rPr>
              <a:t>1</a:t>
            </a:r>
          </a:p>
        </p:txBody>
      </p:sp>
      <p:sp>
        <p:nvSpPr>
          <p:cNvPr id="35" name="Rounded Rectangle 34"/>
          <p:cNvSpPr/>
          <p:nvPr/>
        </p:nvSpPr>
        <p:spPr>
          <a:xfrm>
            <a:off x="5094000" y="2739657"/>
            <a:ext cx="1980000" cy="231609"/>
          </a:xfrm>
          <a:prstGeom prst="roundRect">
            <a:avLst/>
          </a:prstGeom>
          <a:noFill/>
          <a:ln w="28575">
            <a:solidFill>
              <a:srgbClr val="C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Oval 35"/>
          <p:cNvSpPr/>
          <p:nvPr/>
        </p:nvSpPr>
        <p:spPr>
          <a:xfrm>
            <a:off x="6876000" y="2588457"/>
            <a:ext cx="270000" cy="2700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100" b="1">
                <a:solidFill>
                  <a:srgbClr val="FFFFFF"/>
                </a:solidFill>
                <a:latin typeface="Helvetica"/>
              </a:rPr>
              <a:t>2</a:t>
            </a:r>
          </a:p>
        </p:txBody>
      </p:sp>
      <p:sp>
        <p:nvSpPr>
          <p:cNvPr id="37" name="Rounded Rectangle 36"/>
          <p:cNvSpPr/>
          <p:nvPr/>
        </p:nvSpPr>
        <p:spPr>
          <a:xfrm>
            <a:off x="5094000" y="3522096"/>
            <a:ext cx="1980000" cy="384019"/>
          </a:xfrm>
          <a:prstGeom prst="roundRect">
            <a:avLst/>
          </a:prstGeom>
          <a:noFill/>
          <a:ln w="28575">
            <a:solidFill>
              <a:srgbClr val="C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Oval 37"/>
          <p:cNvSpPr/>
          <p:nvPr/>
        </p:nvSpPr>
        <p:spPr>
          <a:xfrm>
            <a:off x="6876000" y="3370896"/>
            <a:ext cx="270000" cy="2700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100" b="1">
                <a:solidFill>
                  <a:srgbClr val="FFFFFF"/>
                </a:solidFill>
                <a:latin typeface="Helvetica"/>
              </a:rPr>
              <a:t>3</a:t>
            </a:r>
          </a:p>
        </p:txBody>
      </p:sp>
      <p:sp>
        <p:nvSpPr>
          <p:cNvPr id="39" name="Oval 38"/>
          <p:cNvSpPr/>
          <p:nvPr/>
        </p:nvSpPr>
        <p:spPr>
          <a:xfrm>
            <a:off x="7272000" y="1548000"/>
            <a:ext cx="270000" cy="2700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100" b="1">
                <a:solidFill>
                  <a:srgbClr val="FFFFFF"/>
                </a:solidFill>
                <a:latin typeface="Helvetica"/>
              </a:rPr>
              <a:t>1</a:t>
            </a:r>
          </a:p>
        </p:txBody>
      </p:sp>
      <p:sp>
        <p:nvSpPr>
          <p:cNvPr id="40" name="TextBox 39"/>
          <p:cNvSpPr txBox="1"/>
          <p:nvPr/>
        </p:nvSpPr>
        <p:spPr>
          <a:xfrm>
            <a:off x="7632000" y="1530000"/>
            <a:ext cx="4104000" cy="484084"/>
          </a:xfrm>
          <a:prstGeom prst="rect">
            <a:avLst/>
          </a:prstGeom>
          <a:noFill/>
        </p:spPr>
        <p:txBody>
          <a:bodyPr wrap="square" anchor="t" lIns="54000" rIns="54000"/>
          <a:lstStyle/>
          <a:p>
            <a:pPr algn="l"/>
            <a:r>
              <a:rPr sz="1200" b="0">
                <a:solidFill>
                  <a:srgbClr val="060606"/>
                </a:solidFill>
                <a:latin typeface="Helvetica"/>
              </a:rPr>
              <a:t>Les fonds propres sont négatifs : seules les provisions rendent le numérateur positif.</a:t>
            </a:r>
          </a:p>
        </p:txBody>
      </p:sp>
      <p:sp>
        <p:nvSpPr>
          <p:cNvPr id="41" name="Oval 40"/>
          <p:cNvSpPr/>
          <p:nvPr/>
        </p:nvSpPr>
        <p:spPr>
          <a:xfrm>
            <a:off x="7272000" y="2122084"/>
            <a:ext cx="270000" cy="2700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100" b="1">
                <a:solidFill>
                  <a:srgbClr val="FFFFFF"/>
                </a:solidFill>
                <a:latin typeface="Helvetica"/>
              </a:rPr>
              <a:t>2</a:t>
            </a:r>
          </a:p>
        </p:txBody>
      </p:sp>
      <p:sp>
        <p:nvSpPr>
          <p:cNvPr id="42" name="TextBox 41"/>
          <p:cNvSpPr txBox="1"/>
          <p:nvPr/>
        </p:nvSpPr>
        <p:spPr>
          <a:xfrm>
            <a:off x="7632000" y="2104084"/>
            <a:ext cx="4104000" cy="298144"/>
          </a:xfrm>
          <a:prstGeom prst="rect">
            <a:avLst/>
          </a:prstGeom>
          <a:noFill/>
        </p:spPr>
        <p:txBody>
          <a:bodyPr wrap="square" anchor="t" lIns="54000" rIns="54000"/>
          <a:lstStyle/>
          <a:p>
            <a:pPr algn="l"/>
            <a:r>
              <a:rPr sz="1200" b="0">
                <a:solidFill>
                  <a:srgbClr val="060606"/>
                </a:solidFill>
                <a:latin typeface="Helvetica"/>
              </a:rPr>
              <a:t>L'épargne représente l'essentiel des dettes.</a:t>
            </a:r>
          </a:p>
        </p:txBody>
      </p:sp>
      <p:sp>
        <p:nvSpPr>
          <p:cNvPr id="43" name="Oval 42"/>
          <p:cNvSpPr/>
          <p:nvPr/>
        </p:nvSpPr>
        <p:spPr>
          <a:xfrm>
            <a:off x="7272000" y="2510228"/>
            <a:ext cx="270000" cy="2700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100" b="1">
                <a:solidFill>
                  <a:srgbClr val="FFFFFF"/>
                </a:solidFill>
                <a:latin typeface="Helvetica"/>
              </a:rPr>
              <a:t>3</a:t>
            </a:r>
          </a:p>
        </p:txBody>
      </p:sp>
      <p:sp>
        <p:nvSpPr>
          <p:cNvPr id="44" name="TextBox 43"/>
          <p:cNvSpPr txBox="1"/>
          <p:nvPr/>
        </p:nvSpPr>
        <p:spPr>
          <a:xfrm>
            <a:off x="7632000" y="2492228"/>
            <a:ext cx="4104000" cy="298144"/>
          </a:xfrm>
          <a:prstGeom prst="rect">
            <a:avLst/>
          </a:prstGeom>
          <a:noFill/>
        </p:spPr>
        <p:txBody>
          <a:bodyPr wrap="square" anchor="t" lIns="54000" rIns="54000"/>
          <a:lstStyle/>
          <a:p>
            <a:pPr algn="l"/>
            <a:r>
              <a:rPr sz="1200" b="0">
                <a:solidFill>
                  <a:srgbClr val="060606"/>
                </a:solidFill>
                <a:latin typeface="Helvetica"/>
              </a:rPr>
              <a:t>Le ratio reste très loin de la norme d'au moins 1.</a:t>
            </a:r>
          </a:p>
        </p:txBody>
      </p:sp>
      <p:sp>
        <p:nvSpPr>
          <p:cNvPr id="45" name="TextBox 44"/>
          <p:cNvSpPr txBox="1"/>
          <p:nvPr/>
        </p:nvSpPr>
        <p:spPr>
          <a:xfrm>
            <a:off x="7272000" y="2970373"/>
            <a:ext cx="4464000" cy="2897626"/>
          </a:xfrm>
          <a:prstGeom prst="rect">
            <a:avLst/>
          </a:prstGeom>
          <a:noFill/>
        </p:spPr>
        <p:txBody>
          <a:bodyPr wrap="square" lIns="54000" rIns="54000"/>
          <a:lstStyle/>
          <a:p>
            <a:pPr algn="just">
              <a:spcAft>
                <a:spcPts val="600"/>
              </a:spcAft>
            </a:pPr>
            <a:r>
              <a:rPr sz="1200" b="1">
                <a:solidFill>
                  <a:srgbClr val="060606"/>
                </a:solidFill>
                <a:latin typeface="Helvetica"/>
              </a:rPr>
              <a:t>Même en comptant les provisions comme des fonds propres, le FPPN reste loin de la norme.</a:t>
            </a:r>
            <a:r>
              <a:rPr sz="1200" b="0">
                <a:solidFill>
                  <a:srgbClr val="060606"/>
                </a:solidFill>
                <a:latin typeface="Helvetica"/>
              </a:rPr>
              <a:t> Le ratio passe de 0,13 en 2022 à 0,22 en 2025.</a:t>
            </a:r>
          </a:p>
          <a:p>
            <a:pPr algn="just">
              <a:spcAft>
                <a:spcPts val="600"/>
              </a:spcAft>
            </a:pPr>
            <a:r>
              <a:rPr sz="1200" b="1">
                <a:solidFill>
                  <a:srgbClr val="060606"/>
                </a:solidFill>
                <a:latin typeface="Helvetica"/>
              </a:rPr>
              <a:t>Implication pour le FPPN.</a:t>
            </a:r>
            <a:r>
              <a:rPr sz="1200" b="0">
                <a:solidFill>
                  <a:srgbClr val="060606"/>
                </a:solidFill>
                <a:latin typeface="Helvetica"/>
              </a:rPr>
              <a:t> Ce ratio ne peut s'améliorer que par des excédents mis en réserve pendant plusieurs années : il mesure la profondeur du retard de fonds propres, plus qu'un problème de l'année.</a:t>
            </a:r>
          </a:p>
        </p:txBody>
      </p:sp>
      <p:sp>
        <p:nvSpPr>
          <p:cNvPr id="46" name="TextBox 45"/>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UEMOA : Union économique et monétaire ouest-africaine | PEP : Plan Épargne Plus | EFC : entraide fin de carrière</a:t>
            </a:r>
          </a:p>
        </p:txBody>
      </p:sp>
    </p:spTree>
    <p:extLst>
      <p:ext uri="{BB962C8B-B14F-4D97-AF65-F5344CB8AC3E}">
        <p14:creationId xmlns:p14="http://schemas.microsoft.com/office/powerpoint/2010/main" val="1943575330"/>
      </p:ext>
    </p:extLst>
  </p:cSld>
  <p:clrMapOvr>
    <a:masterClrMapping/>
  </p:clrMapOvr>
  <p:transition>
    <p:fade/>
  </p:transition>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Calcul pas à pas : liquidité 2025</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La trésorerie couvre un huitième des dettes à court terme, épargne comprise</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Liquidité 0,13 comme le FPPN, 1,15 sans l'épargne. Trésorerie à échéance 0,17 et 1,59</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balances des comptes du FPPN (Sage 100), exercices 2020 à 2025 et du 01/01 au 31/08/2026 (provisoire). Traitements Adenka. Décision n° 05/2022/COM/UEMOA du 1er juin 2022, annexe, § 1.2.2.5.2 et section II</a:t>
            </a:r>
          </a:p>
        </p:txBody>
      </p:sp>
      <p:sp>
        <p:nvSpPr>
          <p:cNvPr id="31" name="TextBox 30"/>
          <p:cNvSpPr txBox="1"/>
          <p:nvPr/>
        </p:nvSpPr>
        <p:spPr>
          <a:xfrm>
            <a:off x="503999" y="1350000"/>
            <a:ext cx="6768000" cy="180000"/>
          </a:xfrm>
          <a:prstGeom prst="rect">
            <a:avLst/>
          </a:prstGeom>
          <a:noFill/>
        </p:spPr>
        <p:txBody>
          <a:bodyPr wrap="square" anchor="t" lIns="54000" rIns="54000"/>
          <a:lstStyle/>
          <a:p>
            <a:pPr algn="l"/>
            <a:r>
              <a:rPr sz="900" b="0">
                <a:solidFill>
                  <a:srgbClr val="53565A"/>
                </a:solidFill>
                <a:latin typeface="Helvetica"/>
              </a:rPr>
              <a:t>Extrait : AUDIT ADENKA\DAFC\2025\BALANCE FPPN 2025.xlsx</a:t>
            </a:r>
          </a:p>
        </p:txBody>
      </p:sp>
      <p:graphicFrame>
        <p:nvGraphicFramePr>
          <p:cNvPr id="32" name="Table 31"/>
          <p:cNvGraphicFramePr>
            <a:graphicFrameLocks noGrp="1"/>
          </p:cNvGraphicFramePr>
          <p:nvPr/>
        </p:nvGraphicFramePr>
        <p:xfrm>
          <a:off x="503999" y="1548000"/>
          <a:ext cx="6768000" cy="1832482"/>
        </p:xfrm>
        <a:graphic>
          <a:graphicData uri="http://schemas.openxmlformats.org/drawingml/2006/table">
            <a:tbl>
              <a:tblPr firstRow="0" bandRow="0">
                <a:tableStyleId>{5940675A-B579-460E-94D1-54222C63F5DA}</a:tableStyleId>
              </a:tblPr>
              <a:tblGrid>
                <a:gridCol w="2376000"/>
                <a:gridCol w="2664000"/>
                <a:gridCol w="1728000"/>
              </a:tblGrid>
              <a:tr h="210009">
                <a:tc>
                  <a:txBody>
                    <a:bodyPr/>
                    <a:lstStyle/>
                    <a:p>
                      <a:pPr marL="0" indent="0" lvl="0">
                        <a:buNone/>
                      </a:pPr>
                      <a:r>
                        <a:rPr sz="1000" b="1">
                          <a:solidFill>
                            <a:srgbClr val="FFFFFF"/>
                          </a:solidFill>
                          <a:latin typeface="Helvetica"/>
                        </a:rPr>
                        <a:t>Élément</a:t>
                      </a:r>
                    </a:p>
                  </a:txBody>
                  <a:tcPr marL="43200" marR="43200" marT="14400" marB="14400" anchor="ctr">
                    <a:solidFill>
                      <a:srgbClr val="060606"/>
                    </a:solidFill>
                  </a:tcPr>
                </a:tc>
                <a:tc>
                  <a:txBody>
                    <a:bodyPr/>
                    <a:lstStyle/>
                    <a:p>
                      <a:pPr marL="0" indent="0" lvl="0">
                        <a:buNone/>
                      </a:pPr>
                      <a:r>
                        <a:rPr sz="1000" b="1">
                          <a:solidFill>
                            <a:srgbClr val="FFFFFF"/>
                          </a:solidFill>
                          <a:latin typeface="Helvetica"/>
                        </a:rPr>
                        <a:t>Comptes</a:t>
                      </a:r>
                    </a:p>
                  </a:txBody>
                  <a:tcPr marL="43200" marR="43200" marT="14400" marB="14400" anchor="ctr">
                    <a:solidFill>
                      <a:srgbClr val="060606"/>
                    </a:solidFill>
                  </a:tcPr>
                </a:tc>
                <a:tc>
                  <a:txBody>
                    <a:bodyPr/>
                    <a:lstStyle/>
                    <a:p>
                      <a:pPr marL="0" indent="0" lvl="0">
                        <a:buNone/>
                      </a:pPr>
                      <a:r>
                        <a:rPr sz="1000" b="1">
                          <a:solidFill>
                            <a:srgbClr val="FFFFFF"/>
                          </a:solidFill>
                          <a:latin typeface="Helvetica"/>
                        </a:rPr>
                        <a:t>Montant 2025</a:t>
                      </a:r>
                    </a:p>
                  </a:txBody>
                  <a:tcPr marL="43200" marR="43200" marT="14400" marB="14400" anchor="ctr">
                    <a:solidFill>
                      <a:srgbClr val="060606"/>
                    </a:solidFill>
                  </a:tcPr>
                </a:tc>
              </a:tr>
              <a:tr h="210009">
                <a:tc>
                  <a:txBody>
                    <a:bodyPr/>
                    <a:lstStyle/>
                    <a:p>
                      <a:pPr marL="0" indent="0" lvl="0">
                        <a:buNone/>
                      </a:pPr>
                      <a:r>
                        <a:rPr sz="1000" b="1">
                          <a:solidFill>
                            <a:srgbClr val="060606"/>
                          </a:solidFill>
                          <a:latin typeface="Helvetica"/>
                        </a:rPr>
                        <a:t>Trésorerie actif</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classe 5 débitrice</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1 964 171 543 FCFA</a:t>
                      </a:r>
                    </a:p>
                  </a:txBody>
                  <a:tcPr marL="43200" marR="43200" marT="14400" marB="14400" anchor="ctr">
                    <a:solidFill>
                      <a:srgbClr val="FFFFFF"/>
                    </a:solidFill>
                  </a:tcPr>
                </a:tc>
              </a:tr>
              <a:tr h="362419">
                <a:tc>
                  <a:txBody>
                    <a:bodyPr/>
                    <a:lstStyle/>
                    <a:p>
                      <a:pPr marL="0" indent="0" lvl="0">
                        <a:buNone/>
                      </a:pPr>
                      <a:r>
                        <a:rPr sz="1000" b="1">
                          <a:solidFill>
                            <a:srgbClr val="060606"/>
                          </a:solidFill>
                          <a:latin typeface="Helvetica"/>
                        </a:rPr>
                        <a:t>Créances à court terme</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classes 3 et 4 débitrices, hors avances durables</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750 837 284 FCFA</a:t>
                      </a:r>
                    </a:p>
                  </a:txBody>
                  <a:tcPr marL="43200" marR="43200" marT="14400" marB="14400" anchor="ctr">
                    <a:solidFill>
                      <a:srgbClr val="F2F2F2"/>
                    </a:solidFill>
                  </a:tcPr>
                </a:tc>
              </a:tr>
              <a:tr h="210009">
                <a:tc>
                  <a:txBody>
                    <a:bodyPr/>
                    <a:lstStyle/>
                    <a:p>
                      <a:pPr marL="0" indent="0" lvl="0">
                        <a:buNone/>
                      </a:pPr>
                      <a:r>
                        <a:rPr sz="1000" b="1">
                          <a:solidFill>
                            <a:srgbClr val="060606"/>
                          </a:solidFill>
                          <a:latin typeface="Helvetica"/>
                        </a:rPr>
                        <a:t>Dettes à court terme</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classe 4 créditrice, 5 créditeur</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15 520 146 267 FCFA</a:t>
                      </a:r>
                    </a:p>
                  </a:txBody>
                  <a:tcPr marL="43200" marR="43200" marT="14400" marB="14400" anchor="ctr">
                    <a:solidFill>
                      <a:srgbClr val="FFFFFF"/>
                    </a:solidFill>
                  </a:tcPr>
                </a:tc>
              </a:tr>
              <a:tr h="210009">
                <a:tc>
                  <a:txBody>
                    <a:bodyPr/>
                    <a:lstStyle/>
                    <a:p>
                      <a:pPr marL="0" indent="0" lvl="0">
                        <a:buNone/>
                      </a:pPr>
                      <a:r>
                        <a:rPr sz="1000" b="1">
                          <a:solidFill>
                            <a:srgbClr val="060606"/>
                          </a:solidFill>
                          <a:latin typeface="Helvetica"/>
                        </a:rPr>
                        <a:t>dont épargne PEP et EFC</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41195100, 41195200</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13 814 066 964 FCFA</a:t>
                      </a:r>
                    </a:p>
                  </a:txBody>
                  <a:tcPr marL="43200" marR="43200" marT="14400" marB="14400" anchor="ctr">
                    <a:solidFill>
                      <a:srgbClr val="F2F2F2"/>
                    </a:solidFill>
                  </a:tcPr>
                </a:tc>
              </a:tr>
              <a:tr h="210009">
                <a:tc>
                  <a:txBody>
                    <a:bodyPr/>
                    <a:lstStyle/>
                    <a:p>
                      <a:pPr marL="0" indent="0" lvl="0">
                        <a:buNone/>
                      </a:pPr>
                      <a:r>
                        <a:rPr sz="1000" b="1">
                          <a:solidFill>
                            <a:srgbClr val="060606"/>
                          </a:solidFill>
                          <a:latin typeface="Helvetica"/>
                        </a:rPr>
                        <a:t>Dettes à court terme hors épargne</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lecture retraitée</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1 706 079 303 FCFA</a:t>
                      </a:r>
                    </a:p>
                  </a:txBody>
                  <a:tcPr marL="43200" marR="43200" marT="14400" marB="14400" anchor="ctr">
                    <a:solidFill>
                      <a:srgbClr val="FFFFFF"/>
                    </a:solidFill>
                  </a:tcPr>
                </a:tc>
              </a:tr>
              <a:tr h="210009">
                <a:tc>
                  <a:txBody>
                    <a:bodyPr/>
                    <a:lstStyle/>
                    <a:p>
                      <a:pPr marL="0" indent="0" lvl="0">
                        <a:buNone/>
                      </a:pPr>
                      <a:r>
                        <a:rPr sz="1000" b="1">
                          <a:solidFill>
                            <a:srgbClr val="060606"/>
                          </a:solidFill>
                          <a:latin typeface="Helvetica"/>
                        </a:rPr>
                        <a:t>Liquidité comme le FPPN</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trésorerie / dettes</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0,13</a:t>
                      </a:r>
                    </a:p>
                  </a:txBody>
                  <a:tcPr marL="43200" marR="43200" marT="14400" marB="14400" anchor="ctr">
                    <a:solidFill>
                      <a:srgbClr val="F2F2F2"/>
                    </a:solidFill>
                  </a:tcPr>
                </a:tc>
              </a:tr>
              <a:tr h="210009">
                <a:tc>
                  <a:txBody>
                    <a:bodyPr/>
                    <a:lstStyle/>
                    <a:p>
                      <a:pPr marL="0" indent="0" lvl="0">
                        <a:buNone/>
                      </a:pPr>
                      <a:r>
                        <a:rPr sz="1000" b="1">
                          <a:solidFill>
                            <a:srgbClr val="060606"/>
                          </a:solidFill>
                          <a:latin typeface="Helvetica"/>
                        </a:rPr>
                        <a:t>Liquidité retraitée</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trésorerie / dettes hors épargne</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1,15</a:t>
                      </a:r>
                    </a:p>
                  </a:txBody>
                  <a:tcPr marL="43200" marR="43200" marT="14400" marB="14400" anchor="ctr">
                    <a:solidFill>
                      <a:srgbClr val="FFFFFF"/>
                    </a:solidFill>
                  </a:tcPr>
                </a:tc>
              </a:tr>
            </a:tbl>
          </a:graphicData>
        </a:graphic>
      </p:graphicFrame>
      <p:sp>
        <p:nvSpPr>
          <p:cNvPr id="33" name="Rounded Rectangle 32"/>
          <p:cNvSpPr/>
          <p:nvPr/>
        </p:nvSpPr>
        <p:spPr>
          <a:xfrm>
            <a:off x="5526000" y="2529647"/>
            <a:ext cx="1763999" cy="231609"/>
          </a:xfrm>
          <a:prstGeom prst="roundRect">
            <a:avLst/>
          </a:prstGeom>
          <a:noFill/>
          <a:ln w="28575">
            <a:solidFill>
              <a:srgbClr val="C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7092000" y="2378447"/>
            <a:ext cx="270000" cy="2700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100" b="1">
                <a:solidFill>
                  <a:srgbClr val="FFFFFF"/>
                </a:solidFill>
                <a:latin typeface="Helvetica"/>
              </a:rPr>
              <a:t>1</a:t>
            </a:r>
          </a:p>
        </p:txBody>
      </p:sp>
      <p:sp>
        <p:nvSpPr>
          <p:cNvPr id="35" name="Rounded Rectangle 34"/>
          <p:cNvSpPr/>
          <p:nvPr/>
        </p:nvSpPr>
        <p:spPr>
          <a:xfrm>
            <a:off x="5526000" y="2949667"/>
            <a:ext cx="1763999" cy="231609"/>
          </a:xfrm>
          <a:prstGeom prst="roundRect">
            <a:avLst/>
          </a:prstGeom>
          <a:noFill/>
          <a:ln w="28575">
            <a:solidFill>
              <a:srgbClr val="C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Oval 35"/>
          <p:cNvSpPr/>
          <p:nvPr/>
        </p:nvSpPr>
        <p:spPr>
          <a:xfrm>
            <a:off x="7092000" y="2798467"/>
            <a:ext cx="270000" cy="2700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100" b="1">
                <a:solidFill>
                  <a:srgbClr val="FFFFFF"/>
                </a:solidFill>
                <a:latin typeface="Helvetica"/>
              </a:rPr>
              <a:t>2</a:t>
            </a:r>
          </a:p>
        </p:txBody>
      </p:sp>
      <p:sp>
        <p:nvSpPr>
          <p:cNvPr id="37" name="Rounded Rectangle 36"/>
          <p:cNvSpPr/>
          <p:nvPr/>
        </p:nvSpPr>
        <p:spPr>
          <a:xfrm>
            <a:off x="5526000" y="3159676"/>
            <a:ext cx="1763999" cy="231609"/>
          </a:xfrm>
          <a:prstGeom prst="roundRect">
            <a:avLst/>
          </a:prstGeom>
          <a:noFill/>
          <a:ln w="28575">
            <a:solidFill>
              <a:srgbClr val="C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Oval 37"/>
          <p:cNvSpPr/>
          <p:nvPr/>
        </p:nvSpPr>
        <p:spPr>
          <a:xfrm>
            <a:off x="7092000" y="3008476"/>
            <a:ext cx="270000" cy="2700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100" b="1">
                <a:solidFill>
                  <a:srgbClr val="FFFFFF"/>
                </a:solidFill>
                <a:latin typeface="Helvetica"/>
              </a:rPr>
              <a:t>3</a:t>
            </a:r>
          </a:p>
        </p:txBody>
      </p:sp>
      <p:sp>
        <p:nvSpPr>
          <p:cNvPr id="39" name="Oval 38"/>
          <p:cNvSpPr/>
          <p:nvPr/>
        </p:nvSpPr>
        <p:spPr>
          <a:xfrm>
            <a:off x="7488000" y="1548000"/>
            <a:ext cx="270000" cy="2700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100" b="1">
                <a:solidFill>
                  <a:srgbClr val="FFFFFF"/>
                </a:solidFill>
                <a:latin typeface="Helvetica"/>
              </a:rPr>
              <a:t>1</a:t>
            </a:r>
          </a:p>
        </p:txBody>
      </p:sp>
      <p:sp>
        <p:nvSpPr>
          <p:cNvPr id="40" name="TextBox 39"/>
          <p:cNvSpPr txBox="1"/>
          <p:nvPr/>
        </p:nvSpPr>
        <p:spPr>
          <a:xfrm>
            <a:off x="7848000" y="1530000"/>
            <a:ext cx="3887999" cy="484084"/>
          </a:xfrm>
          <a:prstGeom prst="rect">
            <a:avLst/>
          </a:prstGeom>
          <a:noFill/>
        </p:spPr>
        <p:txBody>
          <a:bodyPr wrap="square" anchor="t" lIns="54000" rIns="54000"/>
          <a:lstStyle/>
          <a:p>
            <a:pPr algn="l"/>
            <a:r>
              <a:rPr sz="1200" b="0">
                <a:solidFill>
                  <a:srgbClr val="060606"/>
                </a:solidFill>
                <a:latin typeface="Helvetica"/>
              </a:rPr>
              <a:t>L'épargne représente presque toutes les dettes à court terme du plan comptable.</a:t>
            </a:r>
          </a:p>
        </p:txBody>
      </p:sp>
      <p:sp>
        <p:nvSpPr>
          <p:cNvPr id="41" name="Oval 40"/>
          <p:cNvSpPr/>
          <p:nvPr/>
        </p:nvSpPr>
        <p:spPr>
          <a:xfrm>
            <a:off x="7488000" y="2122084"/>
            <a:ext cx="270000" cy="2700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100" b="1">
                <a:solidFill>
                  <a:srgbClr val="FFFFFF"/>
                </a:solidFill>
                <a:latin typeface="Helvetica"/>
              </a:rPr>
              <a:t>2</a:t>
            </a:r>
          </a:p>
        </p:txBody>
      </p:sp>
      <p:sp>
        <p:nvSpPr>
          <p:cNvPr id="42" name="TextBox 41"/>
          <p:cNvSpPr txBox="1"/>
          <p:nvPr/>
        </p:nvSpPr>
        <p:spPr>
          <a:xfrm>
            <a:off x="7848000" y="2104084"/>
            <a:ext cx="3887999" cy="484084"/>
          </a:xfrm>
          <a:prstGeom prst="rect">
            <a:avLst/>
          </a:prstGeom>
          <a:noFill/>
        </p:spPr>
        <p:txBody>
          <a:bodyPr wrap="square" anchor="t" lIns="54000" rIns="54000"/>
          <a:lstStyle/>
          <a:p>
            <a:pPr algn="l"/>
            <a:r>
              <a:rPr sz="1200" b="0">
                <a:solidFill>
                  <a:srgbClr val="060606"/>
                </a:solidFill>
                <a:latin typeface="Helvetica"/>
              </a:rPr>
              <a:t>Dans cette lecture, la trésorerie couvre environ un huitième des dettes.</a:t>
            </a:r>
          </a:p>
        </p:txBody>
      </p:sp>
      <p:sp>
        <p:nvSpPr>
          <p:cNvPr id="43" name="Oval 42"/>
          <p:cNvSpPr/>
          <p:nvPr/>
        </p:nvSpPr>
        <p:spPr>
          <a:xfrm>
            <a:off x="7488000" y="2696168"/>
            <a:ext cx="270000" cy="2700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100" b="1">
                <a:solidFill>
                  <a:srgbClr val="FFFFFF"/>
                </a:solidFill>
                <a:latin typeface="Helvetica"/>
              </a:rPr>
              <a:t>3</a:t>
            </a:r>
          </a:p>
        </p:txBody>
      </p:sp>
      <p:sp>
        <p:nvSpPr>
          <p:cNvPr id="44" name="TextBox 43"/>
          <p:cNvSpPr txBox="1"/>
          <p:nvPr/>
        </p:nvSpPr>
        <p:spPr>
          <a:xfrm>
            <a:off x="7848000" y="2678168"/>
            <a:ext cx="3887999" cy="484084"/>
          </a:xfrm>
          <a:prstGeom prst="rect">
            <a:avLst/>
          </a:prstGeom>
          <a:noFill/>
        </p:spPr>
        <p:txBody>
          <a:bodyPr wrap="square" anchor="t" lIns="54000" rIns="54000"/>
          <a:lstStyle/>
          <a:p>
            <a:pPr algn="l"/>
            <a:r>
              <a:rPr sz="1200" b="0">
                <a:solidFill>
                  <a:srgbClr val="060606"/>
                </a:solidFill>
                <a:latin typeface="Helvetica"/>
              </a:rPr>
              <a:t>Sans l'épargne, la trésorerie couvre toutes les dettes à court terme.</a:t>
            </a:r>
          </a:p>
        </p:txBody>
      </p:sp>
      <p:sp>
        <p:nvSpPr>
          <p:cNvPr id="45" name="TextBox 44"/>
          <p:cNvSpPr txBox="1"/>
          <p:nvPr/>
        </p:nvSpPr>
        <p:spPr>
          <a:xfrm>
            <a:off x="7488000" y="3342252"/>
            <a:ext cx="4248000" cy="2525747"/>
          </a:xfrm>
          <a:prstGeom prst="rect">
            <a:avLst/>
          </a:prstGeom>
          <a:noFill/>
        </p:spPr>
        <p:txBody>
          <a:bodyPr wrap="square" lIns="54000" rIns="54000"/>
          <a:lstStyle/>
          <a:p>
            <a:pPr algn="just">
              <a:spcAft>
                <a:spcPts val="600"/>
              </a:spcAft>
            </a:pPr>
            <a:r>
              <a:rPr sz="1200" b="1">
                <a:solidFill>
                  <a:srgbClr val="060606"/>
                </a:solidFill>
                <a:latin typeface="Helvetica"/>
              </a:rPr>
              <a:t>Toute la question de la liquidité se ramène à l'épargne.</a:t>
            </a:r>
            <a:r>
              <a:rPr sz="1200" b="0">
                <a:solidFill>
                  <a:srgbClr val="060606"/>
                </a:solidFill>
                <a:latin typeface="Helvetica"/>
              </a:rPr>
              <a:t> Les autres dettes à court terme sont couvertes par la trésorerie en 2025.</a:t>
            </a:r>
          </a:p>
          <a:p>
            <a:pPr algn="just">
              <a:spcAft>
                <a:spcPts val="600"/>
              </a:spcAft>
            </a:pPr>
            <a:r>
              <a:rPr sz="1200" b="1">
                <a:solidFill>
                  <a:srgbClr val="060606"/>
                </a:solidFill>
                <a:latin typeface="Helvetica"/>
              </a:rPr>
              <a:t>Implication pour le FPPN.</a:t>
            </a:r>
            <a:r>
              <a:rPr sz="1200" b="0">
                <a:solidFill>
                  <a:srgbClr val="060606"/>
                </a:solidFill>
                <a:latin typeface="Helvetica"/>
              </a:rPr>
              <a:t> Le FPPN doit connaître la part de l'épargne exigible dans l'année : sans cet échéancier, la lecture prudente du plan comptable s'impose et la liquidité est non conforme.</a:t>
            </a:r>
          </a:p>
        </p:txBody>
      </p:sp>
      <p:sp>
        <p:nvSpPr>
          <p:cNvPr id="46" name="TextBox 45"/>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UEMOA : Union économique et monétaire ouest-africaine | PEP : Plan Épargne Plus | EFC : entraide fin de carrière</a:t>
            </a:r>
          </a:p>
        </p:txBody>
      </p:sp>
    </p:spTree>
    <p:extLst>
      <p:ext uri="{BB962C8B-B14F-4D97-AF65-F5344CB8AC3E}">
        <p14:creationId xmlns:p14="http://schemas.microsoft.com/office/powerpoint/2010/main" val="3523832420"/>
      </p:ext>
    </p:extLst>
  </p:cSld>
  <p:clrMapOvr>
    <a:masterClrMapping/>
  </p:clrMapOvr>
  <p:transition>
    <p:fade/>
  </p:transition>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Calcul pas à pas : équilibre stable 2025</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Les emplois longs dépassent les ressources longues, sauf si l'épargne est une ressource longue</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Équilibre stable 1,54 comme le FPPN, 0,94 retraité. Norme d'au plus 1</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balances des comptes du FPPN (Sage 100), exercices 2020 à 2025 et du 01/01 au 31/08/2026 (provisoire). Traitements Adenka. Décision n° 05/2022/COM/UEMOA du 1er juin 2022, annexe, § 1.2.3.1</a:t>
            </a:r>
          </a:p>
        </p:txBody>
      </p:sp>
      <p:sp>
        <p:nvSpPr>
          <p:cNvPr id="31" name="TextBox 30"/>
          <p:cNvSpPr txBox="1"/>
          <p:nvPr/>
        </p:nvSpPr>
        <p:spPr>
          <a:xfrm>
            <a:off x="503999" y="1350000"/>
            <a:ext cx="6768000" cy="180000"/>
          </a:xfrm>
          <a:prstGeom prst="rect">
            <a:avLst/>
          </a:prstGeom>
          <a:noFill/>
        </p:spPr>
        <p:txBody>
          <a:bodyPr wrap="square" anchor="t" lIns="54000" rIns="54000"/>
          <a:lstStyle/>
          <a:p>
            <a:pPr algn="l"/>
            <a:r>
              <a:rPr sz="900" b="0">
                <a:solidFill>
                  <a:srgbClr val="53565A"/>
                </a:solidFill>
                <a:latin typeface="Helvetica"/>
              </a:rPr>
              <a:t>Extrait : AUDIT ADENKA\DAFC\2025\BALANCE FPPN 2025.xlsx</a:t>
            </a:r>
          </a:p>
        </p:txBody>
      </p:sp>
      <p:graphicFrame>
        <p:nvGraphicFramePr>
          <p:cNvPr id="32" name="Table 31"/>
          <p:cNvGraphicFramePr>
            <a:graphicFrameLocks noGrp="1"/>
          </p:cNvGraphicFramePr>
          <p:nvPr/>
        </p:nvGraphicFramePr>
        <p:xfrm>
          <a:off x="503999" y="1548000"/>
          <a:ext cx="6768000" cy="1470063"/>
        </p:xfrm>
        <a:graphic>
          <a:graphicData uri="http://schemas.openxmlformats.org/drawingml/2006/table">
            <a:tbl>
              <a:tblPr firstRow="0" bandRow="0">
                <a:tableStyleId>{5940675A-B579-460E-94D1-54222C63F5DA}</a:tableStyleId>
              </a:tblPr>
              <a:tblGrid>
                <a:gridCol w="2376000"/>
                <a:gridCol w="2664000"/>
                <a:gridCol w="1728000"/>
              </a:tblGrid>
              <a:tr h="210009">
                <a:tc>
                  <a:txBody>
                    <a:bodyPr/>
                    <a:lstStyle/>
                    <a:p>
                      <a:pPr marL="0" indent="0" lvl="0">
                        <a:buNone/>
                      </a:pPr>
                      <a:r>
                        <a:rPr sz="1000" b="1">
                          <a:solidFill>
                            <a:srgbClr val="FFFFFF"/>
                          </a:solidFill>
                          <a:latin typeface="Helvetica"/>
                        </a:rPr>
                        <a:t>Élément</a:t>
                      </a:r>
                    </a:p>
                  </a:txBody>
                  <a:tcPr marL="43200" marR="43200" marT="14400" marB="14400" anchor="ctr">
                    <a:solidFill>
                      <a:srgbClr val="060606"/>
                    </a:solidFill>
                  </a:tcPr>
                </a:tc>
                <a:tc>
                  <a:txBody>
                    <a:bodyPr/>
                    <a:lstStyle/>
                    <a:p>
                      <a:pPr marL="0" indent="0" lvl="0">
                        <a:buNone/>
                      </a:pPr>
                      <a:r>
                        <a:rPr sz="1000" b="1">
                          <a:solidFill>
                            <a:srgbClr val="FFFFFF"/>
                          </a:solidFill>
                          <a:latin typeface="Helvetica"/>
                        </a:rPr>
                        <a:t>Comptes</a:t>
                      </a:r>
                    </a:p>
                  </a:txBody>
                  <a:tcPr marL="43200" marR="43200" marT="14400" marB="14400" anchor="ctr">
                    <a:solidFill>
                      <a:srgbClr val="060606"/>
                    </a:solidFill>
                  </a:tcPr>
                </a:tc>
                <a:tc>
                  <a:txBody>
                    <a:bodyPr/>
                    <a:lstStyle/>
                    <a:p>
                      <a:pPr marL="0" indent="0" lvl="0">
                        <a:buNone/>
                      </a:pPr>
                      <a:r>
                        <a:rPr sz="1000" b="1">
                          <a:solidFill>
                            <a:srgbClr val="FFFFFF"/>
                          </a:solidFill>
                          <a:latin typeface="Helvetica"/>
                        </a:rPr>
                        <a:t>Montant 2025</a:t>
                      </a:r>
                    </a:p>
                  </a:txBody>
                  <a:tcPr marL="43200" marR="43200" marT="14400" marB="14400" anchor="ctr">
                    <a:solidFill>
                      <a:srgbClr val="060606"/>
                    </a:solidFill>
                  </a:tcPr>
                </a:tc>
              </a:tr>
              <a:tr h="210009">
                <a:tc>
                  <a:txBody>
                    <a:bodyPr/>
                    <a:lstStyle/>
                    <a:p>
                      <a:pPr marL="0" indent="0" lvl="0">
                        <a:buNone/>
                      </a:pPr>
                      <a:r>
                        <a:rPr sz="1000" b="1">
                          <a:solidFill>
                            <a:srgbClr val="060606"/>
                          </a:solidFill>
                          <a:latin typeface="Helvetica"/>
                        </a:rPr>
                        <a:t>Actif immobilisé net</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classe 2</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6 814 784 076 FCFA</a:t>
                      </a:r>
                    </a:p>
                  </a:txBody>
                  <a:tcPr marL="43200" marR="43200" marT="14400" marB="14400" anchor="ctr">
                    <a:solidFill>
                      <a:srgbClr val="FFFFFF"/>
                    </a:solidFill>
                  </a:tcPr>
                </a:tc>
              </a:tr>
              <a:tr h="210009">
                <a:tc>
                  <a:txBody>
                    <a:bodyPr/>
                    <a:lstStyle/>
                    <a:p>
                      <a:pPr marL="0" indent="0" lvl="0">
                        <a:buNone/>
                      </a:pPr>
                      <a:r>
                        <a:rPr sz="1000" b="1">
                          <a:solidFill>
                            <a:srgbClr val="060606"/>
                          </a:solidFill>
                          <a:latin typeface="Helvetica"/>
                        </a:rPr>
                        <a:t>Avances et créances durables</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47111100 à 47111105, 47111201, 485</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10 425 076 132 FCFA</a:t>
                      </a:r>
                    </a:p>
                  </a:txBody>
                  <a:tcPr marL="43200" marR="43200" marT="14400" marB="14400" anchor="ctr">
                    <a:solidFill>
                      <a:srgbClr val="F2F2F2"/>
                    </a:solidFill>
                  </a:tcPr>
                </a:tc>
              </a:tr>
              <a:tr h="210009">
                <a:tc>
                  <a:txBody>
                    <a:bodyPr/>
                    <a:lstStyle/>
                    <a:p>
                      <a:pPr marL="0" indent="0" lvl="0">
                        <a:buNone/>
                      </a:pPr>
                      <a:r>
                        <a:rPr sz="1000" b="1">
                          <a:solidFill>
                            <a:srgbClr val="060606"/>
                          </a:solidFill>
                          <a:latin typeface="Helvetica"/>
                        </a:rPr>
                        <a:t>Ressources longues</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10 à 19</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4 434 722 768 FCFA</a:t>
                      </a:r>
                    </a:p>
                  </a:txBody>
                  <a:tcPr marL="43200" marR="43200" marT="14400" marB="14400" anchor="ctr">
                    <a:solidFill>
                      <a:srgbClr val="FFFFFF"/>
                    </a:solidFill>
                  </a:tcPr>
                </a:tc>
              </a:tr>
              <a:tr h="210009">
                <a:tc>
                  <a:txBody>
                    <a:bodyPr/>
                    <a:lstStyle/>
                    <a:p>
                      <a:pPr marL="0" indent="0" lvl="0">
                        <a:buNone/>
                      </a:pPr>
                      <a:r>
                        <a:rPr sz="1000" b="1">
                          <a:solidFill>
                            <a:srgbClr val="060606"/>
                          </a:solidFill>
                          <a:latin typeface="Helvetica"/>
                        </a:rPr>
                        <a:t>Épargne PEP et EFC</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41195100, 41195200</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13 814 066 964 FCFA</a:t>
                      </a:r>
                    </a:p>
                  </a:txBody>
                  <a:tcPr marL="43200" marR="43200" marT="14400" marB="14400" anchor="ctr">
                    <a:solidFill>
                      <a:srgbClr val="F2F2F2"/>
                    </a:solidFill>
                  </a:tcPr>
                </a:tc>
              </a:tr>
              <a:tr h="210009">
                <a:tc>
                  <a:txBody>
                    <a:bodyPr/>
                    <a:lstStyle/>
                    <a:p>
                      <a:pPr marL="0" indent="0" lvl="0">
                        <a:buNone/>
                      </a:pPr>
                      <a:r>
                        <a:rPr sz="1000" b="1">
                          <a:solidFill>
                            <a:srgbClr val="060606"/>
                          </a:solidFill>
                          <a:latin typeface="Helvetica"/>
                        </a:rPr>
                        <a:t>Équilibre stable comme le FPPN</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classe 2 / classe 1</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1,54</a:t>
                      </a:r>
                    </a:p>
                  </a:txBody>
                  <a:tcPr marL="43200" marR="43200" marT="14400" marB="14400" anchor="ctr">
                    <a:solidFill>
                      <a:srgbClr val="FFFFFF"/>
                    </a:solidFill>
                  </a:tcPr>
                </a:tc>
              </a:tr>
              <a:tr h="210009">
                <a:tc>
                  <a:txBody>
                    <a:bodyPr/>
                    <a:lstStyle/>
                    <a:p>
                      <a:pPr marL="0" indent="0" lvl="0">
                        <a:buNone/>
                      </a:pPr>
                      <a:r>
                        <a:rPr sz="1000" b="1">
                          <a:solidFill>
                            <a:srgbClr val="060606"/>
                          </a:solidFill>
                          <a:latin typeface="Helvetica"/>
                        </a:rPr>
                        <a:t>Équilibre stable retraité</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(2 + avances) / (1 + épargne)</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0,94</a:t>
                      </a:r>
                    </a:p>
                  </a:txBody>
                  <a:tcPr marL="43200" marR="43200" marT="14400" marB="14400" anchor="ctr">
                    <a:solidFill>
                      <a:srgbClr val="F2F2F2"/>
                    </a:solidFill>
                  </a:tcPr>
                </a:tc>
              </a:tr>
            </a:tbl>
          </a:graphicData>
        </a:graphic>
      </p:graphicFrame>
      <p:sp>
        <p:nvSpPr>
          <p:cNvPr id="33" name="Rounded Rectangle 32"/>
          <p:cNvSpPr/>
          <p:nvPr/>
        </p:nvSpPr>
        <p:spPr>
          <a:xfrm>
            <a:off x="5526000" y="1957219"/>
            <a:ext cx="1763999" cy="231609"/>
          </a:xfrm>
          <a:prstGeom prst="roundRect">
            <a:avLst/>
          </a:prstGeom>
          <a:noFill/>
          <a:ln w="28575">
            <a:solidFill>
              <a:srgbClr val="C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7092000" y="1806019"/>
            <a:ext cx="270000" cy="2700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100" b="1">
                <a:solidFill>
                  <a:srgbClr val="FFFFFF"/>
                </a:solidFill>
                <a:latin typeface="Helvetica"/>
              </a:rPr>
              <a:t>1</a:t>
            </a:r>
          </a:p>
        </p:txBody>
      </p:sp>
      <p:sp>
        <p:nvSpPr>
          <p:cNvPr id="35" name="Rounded Rectangle 34"/>
          <p:cNvSpPr/>
          <p:nvPr/>
        </p:nvSpPr>
        <p:spPr>
          <a:xfrm>
            <a:off x="5526000" y="2587247"/>
            <a:ext cx="1763999" cy="231609"/>
          </a:xfrm>
          <a:prstGeom prst="roundRect">
            <a:avLst/>
          </a:prstGeom>
          <a:noFill/>
          <a:ln w="28575">
            <a:solidFill>
              <a:srgbClr val="C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Oval 35"/>
          <p:cNvSpPr/>
          <p:nvPr/>
        </p:nvSpPr>
        <p:spPr>
          <a:xfrm>
            <a:off x="7092000" y="2436047"/>
            <a:ext cx="270000" cy="2700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100" b="1">
                <a:solidFill>
                  <a:srgbClr val="FFFFFF"/>
                </a:solidFill>
                <a:latin typeface="Helvetica"/>
              </a:rPr>
              <a:t>2</a:t>
            </a:r>
          </a:p>
        </p:txBody>
      </p:sp>
      <p:sp>
        <p:nvSpPr>
          <p:cNvPr id="37" name="Rounded Rectangle 36"/>
          <p:cNvSpPr/>
          <p:nvPr/>
        </p:nvSpPr>
        <p:spPr>
          <a:xfrm>
            <a:off x="5526000" y="2797257"/>
            <a:ext cx="1763999" cy="231609"/>
          </a:xfrm>
          <a:prstGeom prst="roundRect">
            <a:avLst/>
          </a:prstGeom>
          <a:noFill/>
          <a:ln w="28575">
            <a:solidFill>
              <a:srgbClr val="C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Oval 37"/>
          <p:cNvSpPr/>
          <p:nvPr/>
        </p:nvSpPr>
        <p:spPr>
          <a:xfrm>
            <a:off x="7092000" y="2646057"/>
            <a:ext cx="270000" cy="2700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100" b="1">
                <a:solidFill>
                  <a:srgbClr val="FFFFFF"/>
                </a:solidFill>
                <a:latin typeface="Helvetica"/>
              </a:rPr>
              <a:t>3</a:t>
            </a:r>
          </a:p>
        </p:txBody>
      </p:sp>
      <p:sp>
        <p:nvSpPr>
          <p:cNvPr id="39" name="Oval 38"/>
          <p:cNvSpPr/>
          <p:nvPr/>
        </p:nvSpPr>
        <p:spPr>
          <a:xfrm>
            <a:off x="7488000" y="1548000"/>
            <a:ext cx="270000" cy="2700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100" b="1">
                <a:solidFill>
                  <a:srgbClr val="FFFFFF"/>
                </a:solidFill>
                <a:latin typeface="Helvetica"/>
              </a:rPr>
              <a:t>1</a:t>
            </a:r>
          </a:p>
        </p:txBody>
      </p:sp>
      <p:sp>
        <p:nvSpPr>
          <p:cNvPr id="40" name="TextBox 39"/>
          <p:cNvSpPr txBox="1"/>
          <p:nvPr/>
        </p:nvSpPr>
        <p:spPr>
          <a:xfrm>
            <a:off x="7848000" y="1530000"/>
            <a:ext cx="3887999" cy="484084"/>
          </a:xfrm>
          <a:prstGeom prst="rect">
            <a:avLst/>
          </a:prstGeom>
          <a:noFill/>
        </p:spPr>
        <p:txBody>
          <a:bodyPr wrap="square" anchor="t" lIns="54000" rIns="54000"/>
          <a:lstStyle/>
          <a:p>
            <a:pPr algn="l"/>
            <a:r>
              <a:rPr sz="1200" b="0">
                <a:solidFill>
                  <a:srgbClr val="060606"/>
                </a:solidFill>
                <a:latin typeface="Helvetica"/>
              </a:rPr>
              <a:t>Des avances durables supérieures à l'actif immobilisé sont suivies hors de la classe 2.</a:t>
            </a:r>
          </a:p>
        </p:txBody>
      </p:sp>
      <p:sp>
        <p:nvSpPr>
          <p:cNvPr id="41" name="Oval 40"/>
          <p:cNvSpPr/>
          <p:nvPr/>
        </p:nvSpPr>
        <p:spPr>
          <a:xfrm>
            <a:off x="7488000" y="2122084"/>
            <a:ext cx="270000" cy="2700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100" b="1">
                <a:solidFill>
                  <a:srgbClr val="FFFFFF"/>
                </a:solidFill>
                <a:latin typeface="Helvetica"/>
              </a:rPr>
              <a:t>2</a:t>
            </a:r>
          </a:p>
        </p:txBody>
      </p:sp>
      <p:sp>
        <p:nvSpPr>
          <p:cNvPr id="42" name="TextBox 41"/>
          <p:cNvSpPr txBox="1"/>
          <p:nvPr/>
        </p:nvSpPr>
        <p:spPr>
          <a:xfrm>
            <a:off x="7848000" y="2104084"/>
            <a:ext cx="3887999" cy="484084"/>
          </a:xfrm>
          <a:prstGeom prst="rect">
            <a:avLst/>
          </a:prstGeom>
          <a:noFill/>
        </p:spPr>
        <p:txBody>
          <a:bodyPr wrap="square" anchor="t" lIns="54000" rIns="54000"/>
          <a:lstStyle/>
          <a:p>
            <a:pPr algn="l"/>
            <a:r>
              <a:rPr sz="1200" b="0">
                <a:solidFill>
                  <a:srgbClr val="060606"/>
                </a:solidFill>
                <a:latin typeface="Helvetica"/>
              </a:rPr>
              <a:t>Comme le FPPN, les emplois longs valent plus d'une fois et demie les ressources longues.</a:t>
            </a:r>
          </a:p>
        </p:txBody>
      </p:sp>
      <p:sp>
        <p:nvSpPr>
          <p:cNvPr id="43" name="Oval 42"/>
          <p:cNvSpPr/>
          <p:nvPr/>
        </p:nvSpPr>
        <p:spPr>
          <a:xfrm>
            <a:off x="7488000" y="2696168"/>
            <a:ext cx="270000" cy="2700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100" b="1">
                <a:solidFill>
                  <a:srgbClr val="FFFFFF"/>
                </a:solidFill>
                <a:latin typeface="Helvetica"/>
              </a:rPr>
              <a:t>3</a:t>
            </a:r>
          </a:p>
        </p:txBody>
      </p:sp>
      <p:sp>
        <p:nvSpPr>
          <p:cNvPr id="44" name="TextBox 43"/>
          <p:cNvSpPr txBox="1"/>
          <p:nvPr/>
        </p:nvSpPr>
        <p:spPr>
          <a:xfrm>
            <a:off x="7848000" y="2678168"/>
            <a:ext cx="3887999" cy="484084"/>
          </a:xfrm>
          <a:prstGeom prst="rect">
            <a:avLst/>
          </a:prstGeom>
          <a:noFill/>
        </p:spPr>
        <p:txBody>
          <a:bodyPr wrap="square" anchor="t" lIns="54000" rIns="54000"/>
          <a:lstStyle/>
          <a:p>
            <a:pPr algn="l"/>
            <a:r>
              <a:rPr sz="1200" b="0">
                <a:solidFill>
                  <a:srgbClr val="060606"/>
                </a:solidFill>
                <a:latin typeface="Helvetica"/>
              </a:rPr>
              <a:t>Avec l'épargne en ressource longue, l'équilibre est respecté de peu.</a:t>
            </a:r>
          </a:p>
        </p:txBody>
      </p:sp>
      <p:sp>
        <p:nvSpPr>
          <p:cNvPr id="45" name="TextBox 44"/>
          <p:cNvSpPr txBox="1"/>
          <p:nvPr/>
        </p:nvSpPr>
        <p:spPr>
          <a:xfrm>
            <a:off x="7488000" y="3342252"/>
            <a:ext cx="4248000" cy="2525747"/>
          </a:xfrm>
          <a:prstGeom prst="rect">
            <a:avLst/>
          </a:prstGeom>
          <a:noFill/>
        </p:spPr>
        <p:txBody>
          <a:bodyPr wrap="square" lIns="54000" rIns="54000"/>
          <a:lstStyle/>
          <a:p>
            <a:pPr algn="just">
              <a:spcAft>
                <a:spcPts val="600"/>
              </a:spcAft>
            </a:pPr>
            <a:r>
              <a:rPr sz="1200" b="1">
                <a:solidFill>
                  <a:srgbClr val="060606"/>
                </a:solidFill>
                <a:latin typeface="Helvetica"/>
              </a:rPr>
              <a:t>L'épargne des adhérents finance les emplois longs du FPPN.</a:t>
            </a:r>
            <a:r>
              <a:rPr sz="1200" b="0">
                <a:solidFill>
                  <a:srgbClr val="060606"/>
                </a:solidFill>
                <a:latin typeface="Helvetica"/>
              </a:rPr>
              <a:t> Sans elle, les ressources longues ne couvrent pas les terrains, les bâtiments et les avances durables.</a:t>
            </a:r>
          </a:p>
          <a:p>
            <a:pPr algn="just">
              <a:spcAft>
                <a:spcPts val="600"/>
              </a:spcAft>
            </a:pPr>
            <a:r>
              <a:rPr sz="1200" b="1">
                <a:solidFill>
                  <a:srgbClr val="060606"/>
                </a:solidFill>
                <a:latin typeface="Helvetica"/>
              </a:rPr>
              <a:t>Implication pour le FPPN.</a:t>
            </a:r>
            <a:r>
              <a:rPr sz="1200" b="0">
                <a:solidFill>
                  <a:srgbClr val="060606"/>
                </a:solidFill>
                <a:latin typeface="Helvetica"/>
              </a:rPr>
              <a:t> Financer des emplois longs avec de l'épargne n'est soutenable que si cette épargne reste longtemps : c'est précisément ce que l'échéancier de l'EFC et du PEP doit démontrer.</a:t>
            </a:r>
          </a:p>
        </p:txBody>
      </p:sp>
      <p:sp>
        <p:nvSpPr>
          <p:cNvPr id="46" name="TextBox 45"/>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UEMOA : Union économique et monétaire ouest-africaine | PEP : Plan Épargne Plus | EFC : entraide fin de carrière</a:t>
            </a:r>
          </a:p>
        </p:txBody>
      </p:sp>
    </p:spTree>
    <p:extLst>
      <p:ext uri="{BB962C8B-B14F-4D97-AF65-F5344CB8AC3E}">
        <p14:creationId xmlns:p14="http://schemas.microsoft.com/office/powerpoint/2010/main" val="3957678353"/>
      </p:ext>
    </p:extLst>
  </p:cSld>
  <p:clrMapOvr>
    <a:masterClrMapping/>
  </p:clrMapOvr>
  <p:transition>
    <p:fade/>
  </p:transition>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Calcul pas à pas : taux d'excédent net 2025</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L'excédent dépasse le plafond de 5 % des cotisations, ce qui sert à reconstituer les fonds propres</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Excédent net 437 899 911 FCFA / cotisations acquises 3 418 141 722 FCFA = 12,81 %</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balances des comptes du FPPN (Sage 100), exercices 2020 à 2025 et du 01/01 au 31/08/2026 (provisoire). Traitements Adenka. Décision n° 05/2022/COM/UEMOA du 1er juin 2022, annexe, § 1.2.2.5.5</a:t>
            </a:r>
          </a:p>
        </p:txBody>
      </p:sp>
      <p:sp>
        <p:nvSpPr>
          <p:cNvPr id="31" name="TextBox 30"/>
          <p:cNvSpPr txBox="1"/>
          <p:nvPr/>
        </p:nvSpPr>
        <p:spPr>
          <a:xfrm>
            <a:off x="503999" y="1350000"/>
            <a:ext cx="6480000" cy="180000"/>
          </a:xfrm>
          <a:prstGeom prst="rect">
            <a:avLst/>
          </a:prstGeom>
          <a:noFill/>
        </p:spPr>
        <p:txBody>
          <a:bodyPr wrap="square" anchor="t" lIns="54000" rIns="54000"/>
          <a:lstStyle/>
          <a:p>
            <a:pPr algn="l"/>
            <a:r>
              <a:rPr sz="900" b="0">
                <a:solidFill>
                  <a:srgbClr val="53565A"/>
                </a:solidFill>
                <a:latin typeface="Helvetica"/>
              </a:rPr>
              <a:t>Extrait : AUDIT ADENKA\DAFC\2025\BALANCE FPPN 2025.xlsx</a:t>
            </a:r>
          </a:p>
        </p:txBody>
      </p:sp>
      <p:graphicFrame>
        <p:nvGraphicFramePr>
          <p:cNvPr id="32" name="Table 31"/>
          <p:cNvGraphicFramePr>
            <a:graphicFrameLocks noGrp="1"/>
          </p:cNvGraphicFramePr>
          <p:nvPr/>
        </p:nvGraphicFramePr>
        <p:xfrm>
          <a:off x="503999" y="1548000"/>
          <a:ext cx="6479998" cy="1470063"/>
        </p:xfrm>
        <a:graphic>
          <a:graphicData uri="http://schemas.openxmlformats.org/drawingml/2006/table">
            <a:tbl>
              <a:tblPr firstRow="0" bandRow="0">
                <a:tableStyleId>{5940675A-B579-460E-94D1-54222C63F5DA}</a:tableStyleId>
              </a:tblPr>
              <a:tblGrid>
                <a:gridCol w="2448000"/>
                <a:gridCol w="2015999"/>
                <a:gridCol w="2015999"/>
              </a:tblGrid>
              <a:tr h="210009">
                <a:tc>
                  <a:txBody>
                    <a:bodyPr/>
                    <a:lstStyle/>
                    <a:p>
                      <a:pPr marL="0" indent="0" lvl="0">
                        <a:buNone/>
                      </a:pPr>
                      <a:r>
                        <a:rPr sz="1000" b="1">
                          <a:solidFill>
                            <a:srgbClr val="FFFFFF"/>
                          </a:solidFill>
                          <a:latin typeface="Helvetica"/>
                        </a:rPr>
                        <a:t>Élément</a:t>
                      </a:r>
                    </a:p>
                  </a:txBody>
                  <a:tcPr marL="43200" marR="43200" marT="14400" marB="14400" anchor="ctr">
                    <a:solidFill>
                      <a:srgbClr val="060606"/>
                    </a:solidFill>
                  </a:tcPr>
                </a:tc>
                <a:tc>
                  <a:txBody>
                    <a:bodyPr/>
                    <a:lstStyle/>
                    <a:p>
                      <a:pPr marL="0" indent="0" lvl="0">
                        <a:buNone/>
                      </a:pPr>
                      <a:r>
                        <a:rPr sz="1000" b="1">
                          <a:solidFill>
                            <a:srgbClr val="FFFFFF"/>
                          </a:solidFill>
                          <a:latin typeface="Helvetica"/>
                        </a:rPr>
                        <a:t>Comptes</a:t>
                      </a:r>
                    </a:p>
                  </a:txBody>
                  <a:tcPr marL="43200" marR="43200" marT="14400" marB="14400" anchor="ctr">
                    <a:solidFill>
                      <a:srgbClr val="060606"/>
                    </a:solidFill>
                  </a:tcPr>
                </a:tc>
                <a:tc>
                  <a:txBody>
                    <a:bodyPr/>
                    <a:lstStyle/>
                    <a:p>
                      <a:pPr marL="0" indent="0" lvl="0">
                        <a:buNone/>
                      </a:pPr>
                      <a:r>
                        <a:rPr sz="1000" b="1">
                          <a:solidFill>
                            <a:srgbClr val="FFFFFF"/>
                          </a:solidFill>
                          <a:latin typeface="Helvetica"/>
                        </a:rPr>
                        <a:t>Montant 2025</a:t>
                      </a:r>
                    </a:p>
                  </a:txBody>
                  <a:tcPr marL="43200" marR="43200" marT="14400" marB="14400" anchor="ctr">
                    <a:solidFill>
                      <a:srgbClr val="060606"/>
                    </a:solidFill>
                  </a:tcPr>
                </a:tc>
              </a:tr>
              <a:tr h="210009">
                <a:tc>
                  <a:txBody>
                    <a:bodyPr/>
                    <a:lstStyle/>
                    <a:p>
                      <a:pPr marL="0" indent="0" lvl="0">
                        <a:buNone/>
                      </a:pPr>
                      <a:r>
                        <a:rPr sz="1000" b="1">
                          <a:solidFill>
                            <a:srgbClr val="060606"/>
                          </a:solidFill>
                          <a:latin typeface="Helvetica"/>
                        </a:rPr>
                        <a:t>Produits des activités ordinaires</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classe 7</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3 671 499 865 FCFA</a:t>
                      </a:r>
                    </a:p>
                  </a:txBody>
                  <a:tcPr marL="43200" marR="43200" marT="14400" marB="14400" anchor="ctr">
                    <a:solidFill>
                      <a:srgbClr val="FFFFFF"/>
                    </a:solidFill>
                  </a:tcPr>
                </a:tc>
              </a:tr>
              <a:tr h="210009">
                <a:tc>
                  <a:txBody>
                    <a:bodyPr/>
                    <a:lstStyle/>
                    <a:p>
                      <a:pPr marL="0" indent="0" lvl="0">
                        <a:buNone/>
                      </a:pPr>
                      <a:r>
                        <a:rPr sz="1000" b="1">
                          <a:solidFill>
                            <a:srgbClr val="060606"/>
                          </a:solidFill>
                          <a:latin typeface="Helvetica"/>
                        </a:rPr>
                        <a:t>Charges des activités ordinaires</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classe 6</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3 250 431 812 FCFA</a:t>
                      </a:r>
                    </a:p>
                  </a:txBody>
                  <a:tcPr marL="43200" marR="43200" marT="14400" marB="14400" anchor="ctr">
                    <a:solidFill>
                      <a:srgbClr val="F2F2F2"/>
                    </a:solidFill>
                  </a:tcPr>
                </a:tc>
              </a:tr>
              <a:tr h="210009">
                <a:tc>
                  <a:txBody>
                    <a:bodyPr/>
                    <a:lstStyle/>
                    <a:p>
                      <a:pPr marL="0" indent="0" lvl="0">
                        <a:buNone/>
                      </a:pPr>
                      <a:r>
                        <a:rPr sz="1000" b="1">
                          <a:solidFill>
                            <a:srgbClr val="060606"/>
                          </a:solidFill>
                          <a:latin typeface="Helvetica"/>
                        </a:rPr>
                        <a:t>Résultat hors activités ordinaires</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classe 8</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16 831 858 FCFA</a:t>
                      </a:r>
                    </a:p>
                  </a:txBody>
                  <a:tcPr marL="43200" marR="43200" marT="14400" marB="14400" anchor="ctr">
                    <a:solidFill>
                      <a:srgbClr val="FFFFFF"/>
                    </a:solidFill>
                  </a:tcPr>
                </a:tc>
              </a:tr>
              <a:tr h="210009">
                <a:tc>
                  <a:txBody>
                    <a:bodyPr/>
                    <a:lstStyle/>
                    <a:p>
                      <a:pPr marL="0" indent="0" lvl="0">
                        <a:buNone/>
                      </a:pPr>
                      <a:r>
                        <a:rPr sz="1000" b="1">
                          <a:solidFill>
                            <a:srgbClr val="060606"/>
                          </a:solidFill>
                          <a:latin typeface="Helvetica"/>
                        </a:rPr>
                        <a:t>Excédent net</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7 - 6 + 8</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437 899 911 FCFA</a:t>
                      </a:r>
                    </a:p>
                  </a:txBody>
                  <a:tcPr marL="43200" marR="43200" marT="14400" marB="14400" anchor="ctr">
                    <a:solidFill>
                      <a:srgbClr val="F2F2F2"/>
                    </a:solidFill>
                  </a:tcPr>
                </a:tc>
              </a:tr>
              <a:tr h="210009">
                <a:tc>
                  <a:txBody>
                    <a:bodyPr/>
                    <a:lstStyle/>
                    <a:p>
                      <a:pPr marL="0" indent="0" lvl="0">
                        <a:buNone/>
                      </a:pPr>
                      <a:r>
                        <a:rPr sz="1000" b="1">
                          <a:solidFill>
                            <a:srgbClr val="060606"/>
                          </a:solidFill>
                          <a:latin typeface="Helvetica"/>
                        </a:rPr>
                        <a:t>Cotisations acquises</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classe 70</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3 418 141 722 FCFA</a:t>
                      </a:r>
                    </a:p>
                  </a:txBody>
                  <a:tcPr marL="43200" marR="43200" marT="14400" marB="14400" anchor="ctr">
                    <a:solidFill>
                      <a:srgbClr val="FFFFFF"/>
                    </a:solidFill>
                  </a:tcPr>
                </a:tc>
              </a:tr>
              <a:tr h="210009">
                <a:tc>
                  <a:txBody>
                    <a:bodyPr/>
                    <a:lstStyle/>
                    <a:p>
                      <a:pPr marL="0" indent="0" lvl="0">
                        <a:buNone/>
                      </a:pPr>
                      <a:r>
                        <a:rPr sz="1000" b="1">
                          <a:solidFill>
                            <a:srgbClr val="060606"/>
                          </a:solidFill>
                          <a:latin typeface="Helvetica"/>
                        </a:rPr>
                        <a:t>Taux d'excédent net</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excédent / cotisations</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12,81 %</a:t>
                      </a:r>
                    </a:p>
                  </a:txBody>
                  <a:tcPr marL="43200" marR="43200" marT="14400" marB="14400" anchor="ctr">
                    <a:solidFill>
                      <a:srgbClr val="F2F2F2"/>
                    </a:solidFill>
                  </a:tcPr>
                </a:tc>
              </a:tr>
            </a:tbl>
          </a:graphicData>
        </a:graphic>
      </p:graphicFrame>
      <p:sp>
        <p:nvSpPr>
          <p:cNvPr id="33" name="Rounded Rectangle 32"/>
          <p:cNvSpPr/>
          <p:nvPr/>
        </p:nvSpPr>
        <p:spPr>
          <a:xfrm>
            <a:off x="4949999" y="2377238"/>
            <a:ext cx="2051999" cy="231609"/>
          </a:xfrm>
          <a:prstGeom prst="roundRect">
            <a:avLst/>
          </a:prstGeom>
          <a:noFill/>
          <a:ln w="28575">
            <a:solidFill>
              <a:srgbClr val="C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803999" y="2226038"/>
            <a:ext cx="270000" cy="2700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100" b="1">
                <a:solidFill>
                  <a:srgbClr val="FFFFFF"/>
                </a:solidFill>
                <a:latin typeface="Helvetica"/>
              </a:rPr>
              <a:t>1</a:t>
            </a:r>
          </a:p>
        </p:txBody>
      </p:sp>
      <p:sp>
        <p:nvSpPr>
          <p:cNvPr id="35" name="Rounded Rectangle 34"/>
          <p:cNvSpPr/>
          <p:nvPr/>
        </p:nvSpPr>
        <p:spPr>
          <a:xfrm>
            <a:off x="4949999" y="2797257"/>
            <a:ext cx="2051999" cy="231609"/>
          </a:xfrm>
          <a:prstGeom prst="roundRect">
            <a:avLst/>
          </a:prstGeom>
          <a:noFill/>
          <a:ln w="28575">
            <a:solidFill>
              <a:srgbClr val="C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Oval 35"/>
          <p:cNvSpPr/>
          <p:nvPr/>
        </p:nvSpPr>
        <p:spPr>
          <a:xfrm>
            <a:off x="6803999" y="2646057"/>
            <a:ext cx="270000" cy="2700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100" b="1">
                <a:solidFill>
                  <a:srgbClr val="FFFFFF"/>
                </a:solidFill>
                <a:latin typeface="Helvetica"/>
              </a:rPr>
              <a:t>2</a:t>
            </a:r>
          </a:p>
        </p:txBody>
      </p:sp>
      <p:sp>
        <p:nvSpPr>
          <p:cNvPr id="37" name="Oval 36"/>
          <p:cNvSpPr/>
          <p:nvPr/>
        </p:nvSpPr>
        <p:spPr>
          <a:xfrm>
            <a:off x="7200000" y="1548000"/>
            <a:ext cx="270000" cy="2700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100" b="1">
                <a:solidFill>
                  <a:srgbClr val="FFFFFF"/>
                </a:solidFill>
                <a:latin typeface="Helvetica"/>
              </a:rPr>
              <a:t>1</a:t>
            </a:r>
          </a:p>
        </p:txBody>
      </p:sp>
      <p:sp>
        <p:nvSpPr>
          <p:cNvPr id="38" name="TextBox 37"/>
          <p:cNvSpPr txBox="1"/>
          <p:nvPr/>
        </p:nvSpPr>
        <p:spPr>
          <a:xfrm>
            <a:off x="7560000" y="1530000"/>
            <a:ext cx="4176000" cy="484084"/>
          </a:xfrm>
          <a:prstGeom prst="rect">
            <a:avLst/>
          </a:prstGeom>
          <a:noFill/>
        </p:spPr>
        <p:txBody>
          <a:bodyPr wrap="square" anchor="t" lIns="54000" rIns="54000"/>
          <a:lstStyle/>
          <a:p>
            <a:pPr algn="l"/>
            <a:r>
              <a:rPr sz="1200" b="0">
                <a:solidFill>
                  <a:srgbClr val="060606"/>
                </a:solidFill>
                <a:latin typeface="Helvetica"/>
              </a:rPr>
              <a:t>L'excédent net 2025 est positif, mais il baisse depuis 2021.</a:t>
            </a:r>
          </a:p>
        </p:txBody>
      </p:sp>
      <p:sp>
        <p:nvSpPr>
          <p:cNvPr id="39" name="Oval 38"/>
          <p:cNvSpPr/>
          <p:nvPr/>
        </p:nvSpPr>
        <p:spPr>
          <a:xfrm>
            <a:off x="7200000" y="2122084"/>
            <a:ext cx="270000" cy="2700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100" b="1">
                <a:solidFill>
                  <a:srgbClr val="FFFFFF"/>
                </a:solidFill>
                <a:latin typeface="Helvetica"/>
              </a:rPr>
              <a:t>2</a:t>
            </a:r>
          </a:p>
        </p:txBody>
      </p:sp>
      <p:sp>
        <p:nvSpPr>
          <p:cNvPr id="40" name="TextBox 39"/>
          <p:cNvSpPr txBox="1"/>
          <p:nvPr/>
        </p:nvSpPr>
        <p:spPr>
          <a:xfrm>
            <a:off x="7560000" y="2104084"/>
            <a:ext cx="4176000" cy="298144"/>
          </a:xfrm>
          <a:prstGeom prst="rect">
            <a:avLst/>
          </a:prstGeom>
          <a:noFill/>
        </p:spPr>
        <p:txBody>
          <a:bodyPr wrap="square" anchor="t" lIns="54000" rIns="54000"/>
          <a:lstStyle/>
          <a:p>
            <a:pPr algn="l"/>
            <a:r>
              <a:rPr sz="1200" b="0">
                <a:solidFill>
                  <a:srgbClr val="060606"/>
                </a:solidFill>
                <a:latin typeface="Helvetica"/>
              </a:rPr>
              <a:t>Le taux dépasse le plafond de 5 % fixé par la norme.</a:t>
            </a:r>
          </a:p>
        </p:txBody>
      </p:sp>
      <p:sp>
        <p:nvSpPr>
          <p:cNvPr id="41" name="TextBox 40"/>
          <p:cNvSpPr txBox="1"/>
          <p:nvPr/>
        </p:nvSpPr>
        <p:spPr>
          <a:xfrm>
            <a:off x="7200000" y="2582228"/>
            <a:ext cx="4536000" cy="3285771"/>
          </a:xfrm>
          <a:prstGeom prst="rect">
            <a:avLst/>
          </a:prstGeom>
          <a:noFill/>
        </p:spPr>
        <p:txBody>
          <a:bodyPr wrap="square" lIns="54000" rIns="54000"/>
          <a:lstStyle/>
          <a:p>
            <a:pPr algn="just">
              <a:spcAft>
                <a:spcPts val="600"/>
              </a:spcAft>
            </a:pPr>
            <a:r>
              <a:rPr sz="1200" b="1">
                <a:solidFill>
                  <a:srgbClr val="060606"/>
                </a:solidFill>
                <a:latin typeface="Helvetica"/>
              </a:rPr>
              <a:t>Ce dépassement n'est pas un défaut en soi pour le FPPN.</a:t>
            </a:r>
            <a:r>
              <a:rPr sz="1200" b="0">
                <a:solidFill>
                  <a:srgbClr val="060606"/>
                </a:solidFill>
                <a:latin typeface="Helvetica"/>
              </a:rPr>
              <a:t> Ses fonds propres sont négatifs, et les excédents sont le seul moyen de les reconstituer et de doter la réserve obligatoire.</a:t>
            </a:r>
          </a:p>
          <a:p>
            <a:pPr algn="just">
              <a:spcAft>
                <a:spcPts val="600"/>
              </a:spcAft>
            </a:pPr>
            <a:r>
              <a:rPr sz="1200" b="1">
                <a:solidFill>
                  <a:srgbClr val="060606"/>
                </a:solidFill>
                <a:latin typeface="Helvetica"/>
              </a:rPr>
              <a:t>Implication pour le FPPN.</a:t>
            </a:r>
            <a:r>
              <a:rPr sz="1200" b="0">
                <a:solidFill>
                  <a:srgbClr val="060606"/>
                </a:solidFill>
                <a:latin typeface="Helvetica"/>
              </a:rPr>
              <a:t> Un plan de mise en conformité présenté à l'AIRMS doit justifier ce dépassement temporaire par l'objectif de fonds propres, avec un calendrier de retour sous le plafond.</a:t>
            </a:r>
          </a:p>
        </p:txBody>
      </p:sp>
      <p:sp>
        <p:nvSpPr>
          <p:cNvPr id="42" name="TextBox 41"/>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AIRMS : Agence ivoirienne de régulation de la mutualité sociale | UEMOA : Union économique et monétaire ouest-africaine</a:t>
            </a:r>
          </a:p>
        </p:txBody>
      </p:sp>
    </p:spTree>
    <p:extLst>
      <p:ext uri="{BB962C8B-B14F-4D97-AF65-F5344CB8AC3E}">
        <p14:creationId xmlns:p14="http://schemas.microsoft.com/office/powerpoint/2010/main" val="660077988"/>
      </p:ext>
    </p:extLst>
  </p:cSld>
  <p:clrMapOvr>
    <a:masterClrMapping/>
  </p:clrMapOvr>
  <p:transition>
    <p:fade/>
  </p:transition>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Calcul pas à pas : frais de fonctionnement 2025</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Les charges de fonctionnement absorbent plus d'un tiers des cotisations</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Taux des charges de fonctionnement 36,34 % (norme 20 %), brut 34,86 % (norme 15 %), par unité prestée 63,21 % (norme 15 %)</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balances des comptes du FPPN (Sage 100), exercices 2020 à 2025 et du 01/01 au 31/08/2026 (provisoire). Traitements Adenka. Décision n° 05/2022/COM/UEMOA du 1er juin 2022, annexe, § 1.2.1.2.1 à 1.2.1.2.4</a:t>
            </a:r>
          </a:p>
        </p:txBody>
      </p:sp>
      <p:sp>
        <p:nvSpPr>
          <p:cNvPr id="31" name="TextBox 30"/>
          <p:cNvSpPr txBox="1"/>
          <p:nvPr/>
        </p:nvSpPr>
        <p:spPr>
          <a:xfrm>
            <a:off x="503999" y="1350000"/>
            <a:ext cx="6552000" cy="180000"/>
          </a:xfrm>
          <a:prstGeom prst="rect">
            <a:avLst/>
          </a:prstGeom>
          <a:noFill/>
        </p:spPr>
        <p:txBody>
          <a:bodyPr wrap="square" anchor="t" lIns="54000" rIns="54000"/>
          <a:lstStyle/>
          <a:p>
            <a:pPr algn="l"/>
            <a:r>
              <a:rPr sz="900" b="0">
                <a:solidFill>
                  <a:srgbClr val="53565A"/>
                </a:solidFill>
                <a:latin typeface="Helvetica"/>
              </a:rPr>
              <a:t>Extrait : AUDIT ADENKA\DAFC\2025\BALANCE FPPN 2025.xlsx</a:t>
            </a:r>
          </a:p>
        </p:txBody>
      </p:sp>
      <p:graphicFrame>
        <p:nvGraphicFramePr>
          <p:cNvPr id="32" name="Table 31"/>
          <p:cNvGraphicFramePr>
            <a:graphicFrameLocks noGrp="1"/>
          </p:cNvGraphicFramePr>
          <p:nvPr/>
        </p:nvGraphicFramePr>
        <p:xfrm>
          <a:off x="503999" y="1548000"/>
          <a:ext cx="6552000" cy="2252500"/>
        </p:xfrm>
        <a:graphic>
          <a:graphicData uri="http://schemas.openxmlformats.org/drawingml/2006/table">
            <a:tbl>
              <a:tblPr firstRow="0" bandRow="0">
                <a:tableStyleId>{5940675A-B579-460E-94D1-54222C63F5DA}</a:tableStyleId>
              </a:tblPr>
              <a:tblGrid>
                <a:gridCol w="2592000"/>
                <a:gridCol w="2232000"/>
                <a:gridCol w="1728000"/>
              </a:tblGrid>
              <a:tr h="210009">
                <a:tc>
                  <a:txBody>
                    <a:bodyPr/>
                    <a:lstStyle/>
                    <a:p>
                      <a:pPr marL="0" indent="0" lvl="0">
                        <a:buNone/>
                      </a:pPr>
                      <a:r>
                        <a:rPr sz="1000" b="1">
                          <a:solidFill>
                            <a:srgbClr val="FFFFFF"/>
                          </a:solidFill>
                          <a:latin typeface="Helvetica"/>
                        </a:rPr>
                        <a:t>Élément</a:t>
                      </a:r>
                    </a:p>
                  </a:txBody>
                  <a:tcPr marL="43200" marR="43200" marT="14400" marB="14400" anchor="ctr">
                    <a:solidFill>
                      <a:srgbClr val="060606"/>
                    </a:solidFill>
                  </a:tcPr>
                </a:tc>
                <a:tc>
                  <a:txBody>
                    <a:bodyPr/>
                    <a:lstStyle/>
                    <a:p>
                      <a:pPr marL="0" indent="0" lvl="0">
                        <a:buNone/>
                      </a:pPr>
                      <a:r>
                        <a:rPr sz="1000" b="1">
                          <a:solidFill>
                            <a:srgbClr val="FFFFFF"/>
                          </a:solidFill>
                          <a:latin typeface="Helvetica"/>
                        </a:rPr>
                        <a:t>Comptes</a:t>
                      </a:r>
                    </a:p>
                  </a:txBody>
                  <a:tcPr marL="43200" marR="43200" marT="14400" marB="14400" anchor="ctr">
                    <a:solidFill>
                      <a:srgbClr val="060606"/>
                    </a:solidFill>
                  </a:tcPr>
                </a:tc>
                <a:tc>
                  <a:txBody>
                    <a:bodyPr/>
                    <a:lstStyle/>
                    <a:p>
                      <a:pPr marL="0" indent="0" lvl="0">
                        <a:buNone/>
                      </a:pPr>
                      <a:r>
                        <a:rPr sz="1000" b="1">
                          <a:solidFill>
                            <a:srgbClr val="FFFFFF"/>
                          </a:solidFill>
                          <a:latin typeface="Helvetica"/>
                        </a:rPr>
                        <a:t>Montant 2025</a:t>
                      </a:r>
                    </a:p>
                  </a:txBody>
                  <a:tcPr marL="43200" marR="43200" marT="14400" marB="14400" anchor="ctr">
                    <a:solidFill>
                      <a:srgbClr val="060606"/>
                    </a:solidFill>
                  </a:tcPr>
                </a:tc>
              </a:tr>
              <a:tr h="210009">
                <a:tc>
                  <a:txBody>
                    <a:bodyPr/>
                    <a:lstStyle/>
                    <a:p>
                      <a:pPr marL="0" indent="0" lvl="0">
                        <a:buNone/>
                      </a:pPr>
                      <a:r>
                        <a:rPr sz="1000" b="1">
                          <a:solidFill>
                            <a:srgbClr val="060606"/>
                          </a:solidFill>
                          <a:latin typeface="Helvetica"/>
                        </a:rPr>
                        <a:t>Charges de fonctionnement</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612, 613, 618, 62 à 68</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1 241 993 107 FCFA</a:t>
                      </a:r>
                    </a:p>
                  </a:txBody>
                  <a:tcPr marL="43200" marR="43200" marT="14400" marB="14400" anchor="ctr">
                    <a:solidFill>
                      <a:srgbClr val="FFFFFF"/>
                    </a:solidFill>
                  </a:tcPr>
                </a:tc>
              </a:tr>
              <a:tr h="210009">
                <a:tc>
                  <a:txBody>
                    <a:bodyPr/>
                    <a:lstStyle/>
                    <a:p>
                      <a:pPr marL="0" indent="0" lvl="0">
                        <a:buNone/>
                      </a:pPr>
                      <a:r>
                        <a:rPr sz="1000" b="1">
                          <a:solidFill>
                            <a:srgbClr val="060606"/>
                          </a:solidFill>
                          <a:latin typeface="Helvetica"/>
                        </a:rPr>
                        <a:t>Cotisations acquises</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70</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3 418 141 722 FCFA</a:t>
                      </a:r>
                    </a:p>
                  </a:txBody>
                  <a:tcPr marL="43200" marR="43200" marT="14400" marB="14400" anchor="ctr">
                    <a:solidFill>
                      <a:srgbClr val="F2F2F2"/>
                    </a:solidFill>
                  </a:tcPr>
                </a:tc>
              </a:tr>
              <a:tr h="210009">
                <a:tc>
                  <a:txBody>
                    <a:bodyPr/>
                    <a:lstStyle/>
                    <a:p>
                      <a:pPr marL="0" indent="0" lvl="0">
                        <a:buNone/>
                      </a:pPr>
                      <a:r>
                        <a:rPr sz="1000" b="1">
                          <a:solidFill>
                            <a:srgbClr val="060606"/>
                          </a:solidFill>
                          <a:latin typeface="Helvetica"/>
                        </a:rPr>
                        <a:t>Taux des charges de fonctionnement</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norme : au plus 20 %</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36,34 %</a:t>
                      </a:r>
                    </a:p>
                  </a:txBody>
                  <a:tcPr marL="43200" marR="43200" marT="14400" marB="14400" anchor="ctr">
                    <a:solidFill>
                      <a:srgbClr val="FFFFFF"/>
                    </a:solidFill>
                  </a:tcPr>
                </a:tc>
              </a:tr>
              <a:tr h="210009">
                <a:tc>
                  <a:txBody>
                    <a:bodyPr/>
                    <a:lstStyle/>
                    <a:p>
                      <a:pPr marL="0" indent="0" lvl="0">
                        <a:buNone/>
                      </a:pPr>
                      <a:r>
                        <a:rPr sz="1000" b="1">
                          <a:solidFill>
                            <a:srgbClr val="060606"/>
                          </a:solidFill>
                          <a:latin typeface="Helvetica"/>
                        </a:rPr>
                        <a:t>Charges de fonctionnement brut</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61 à 68, 691, 697</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1 285 659 785 FCFA</a:t>
                      </a:r>
                    </a:p>
                  </a:txBody>
                  <a:tcPr marL="43200" marR="43200" marT="14400" marB="14400" anchor="ctr">
                    <a:solidFill>
                      <a:srgbClr val="F2F2F2"/>
                    </a:solidFill>
                  </a:tcPr>
                </a:tc>
              </a:tr>
              <a:tr h="210009">
                <a:tc>
                  <a:txBody>
                    <a:bodyPr/>
                    <a:lstStyle/>
                    <a:p>
                      <a:pPr marL="0" indent="0" lvl="0">
                        <a:buNone/>
                      </a:pPr>
                      <a:r>
                        <a:rPr sz="1000" b="1">
                          <a:solidFill>
                            <a:srgbClr val="060606"/>
                          </a:solidFill>
                          <a:latin typeface="Helvetica"/>
                        </a:rPr>
                        <a:t>Total des produits</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liste de l'annexe</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3 688 331 723 FCFA</a:t>
                      </a:r>
                    </a:p>
                  </a:txBody>
                  <a:tcPr marL="43200" marR="43200" marT="14400" marB="14400" anchor="ctr">
                    <a:solidFill>
                      <a:srgbClr val="FFFFFF"/>
                    </a:solidFill>
                  </a:tcPr>
                </a:tc>
              </a:tr>
              <a:tr h="210009">
                <a:tc>
                  <a:txBody>
                    <a:bodyPr/>
                    <a:lstStyle/>
                    <a:p>
                      <a:pPr marL="0" indent="0" lvl="0">
                        <a:buNone/>
                      </a:pPr>
                      <a:r>
                        <a:rPr sz="1000" b="1">
                          <a:solidFill>
                            <a:srgbClr val="060606"/>
                          </a:solidFill>
                          <a:latin typeface="Helvetica"/>
                        </a:rPr>
                        <a:t>Taux brut</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norme : au plus 15 %</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34,86 %</a:t>
                      </a:r>
                    </a:p>
                  </a:txBody>
                  <a:tcPr marL="43200" marR="43200" marT="14400" marB="14400" anchor="ctr">
                    <a:solidFill>
                      <a:srgbClr val="F2F2F2"/>
                    </a:solidFill>
                  </a:tcPr>
                </a:tc>
              </a:tr>
              <a:tr h="210009">
                <a:tc>
                  <a:txBody>
                    <a:bodyPr/>
                    <a:lstStyle/>
                    <a:p>
                      <a:pPr marL="0" indent="0" lvl="0">
                        <a:buNone/>
                      </a:pPr>
                      <a:r>
                        <a:rPr sz="1000" b="1">
                          <a:solidFill>
                            <a:srgbClr val="060606"/>
                          </a:solidFill>
                          <a:latin typeface="Helvetica"/>
                        </a:rPr>
                        <a:t>Charges de prestations</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60</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1 964 772 027 FCFA</a:t>
                      </a:r>
                    </a:p>
                  </a:txBody>
                  <a:tcPr marL="43200" marR="43200" marT="14400" marB="14400" anchor="ctr">
                    <a:solidFill>
                      <a:srgbClr val="FFFFFF"/>
                    </a:solidFill>
                  </a:tcPr>
                </a:tc>
              </a:tr>
              <a:tr h="210009">
                <a:tc>
                  <a:txBody>
                    <a:bodyPr/>
                    <a:lstStyle/>
                    <a:p>
                      <a:pPr marL="0" indent="0" lvl="0">
                        <a:buNone/>
                      </a:pPr>
                      <a:r>
                        <a:rPr sz="1000" b="1">
                          <a:solidFill>
                            <a:srgbClr val="060606"/>
                          </a:solidFill>
                          <a:latin typeface="Helvetica"/>
                        </a:rPr>
                        <a:t>Coût par unité prestée</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norme : au plus 15 %</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63,21 %</a:t>
                      </a:r>
                    </a:p>
                  </a:txBody>
                  <a:tcPr marL="43200" marR="43200" marT="14400" marB="14400" anchor="ctr">
                    <a:solidFill>
                      <a:srgbClr val="F2F2F2"/>
                    </a:solidFill>
                  </a:tcPr>
                </a:tc>
              </a:tr>
              <a:tr h="362419">
                <a:tc>
                  <a:txBody>
                    <a:bodyPr/>
                    <a:lstStyle/>
                    <a:p>
                      <a:pPr marL="0" indent="0" lvl="0">
                        <a:buNone/>
                      </a:pPr>
                      <a:r>
                        <a:rPr sz="1000" b="1">
                          <a:solidFill>
                            <a:srgbClr val="060606"/>
                          </a:solidFill>
                          <a:latin typeface="Helvetica"/>
                        </a:rPr>
                        <a:t>Charges de personnel / fonctionnement brut</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66, norme : moins de 85 %</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26,57 %</a:t>
                      </a:r>
                    </a:p>
                  </a:txBody>
                  <a:tcPr marL="43200" marR="43200" marT="14400" marB="14400" anchor="ctr">
                    <a:solidFill>
                      <a:srgbClr val="FFFFFF"/>
                    </a:solidFill>
                  </a:tcPr>
                </a:tc>
              </a:tr>
            </a:tbl>
          </a:graphicData>
        </a:graphic>
      </p:graphicFrame>
      <p:sp>
        <p:nvSpPr>
          <p:cNvPr id="33" name="Rounded Rectangle 32"/>
          <p:cNvSpPr/>
          <p:nvPr/>
        </p:nvSpPr>
        <p:spPr>
          <a:xfrm>
            <a:off x="5310000" y="2167228"/>
            <a:ext cx="1763999" cy="231609"/>
          </a:xfrm>
          <a:prstGeom prst="roundRect">
            <a:avLst/>
          </a:prstGeom>
          <a:noFill/>
          <a:ln w="28575">
            <a:solidFill>
              <a:srgbClr val="C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876000" y="2016028"/>
            <a:ext cx="270000" cy="2700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100" b="1">
                <a:solidFill>
                  <a:srgbClr val="FFFFFF"/>
                </a:solidFill>
                <a:latin typeface="Helvetica"/>
              </a:rPr>
              <a:t>1</a:t>
            </a:r>
          </a:p>
        </p:txBody>
      </p:sp>
      <p:sp>
        <p:nvSpPr>
          <p:cNvPr id="35" name="Rounded Rectangle 34"/>
          <p:cNvSpPr/>
          <p:nvPr/>
        </p:nvSpPr>
        <p:spPr>
          <a:xfrm>
            <a:off x="5310000" y="2797257"/>
            <a:ext cx="1763999" cy="231609"/>
          </a:xfrm>
          <a:prstGeom prst="roundRect">
            <a:avLst/>
          </a:prstGeom>
          <a:noFill/>
          <a:ln w="28575">
            <a:solidFill>
              <a:srgbClr val="C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Oval 35"/>
          <p:cNvSpPr/>
          <p:nvPr/>
        </p:nvSpPr>
        <p:spPr>
          <a:xfrm>
            <a:off x="6876000" y="2646057"/>
            <a:ext cx="270000" cy="2700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100" b="1">
                <a:solidFill>
                  <a:srgbClr val="FFFFFF"/>
                </a:solidFill>
                <a:latin typeface="Helvetica"/>
              </a:rPr>
              <a:t>2</a:t>
            </a:r>
          </a:p>
        </p:txBody>
      </p:sp>
      <p:sp>
        <p:nvSpPr>
          <p:cNvPr id="37" name="Rounded Rectangle 36"/>
          <p:cNvSpPr/>
          <p:nvPr/>
        </p:nvSpPr>
        <p:spPr>
          <a:xfrm>
            <a:off x="5310000" y="3217276"/>
            <a:ext cx="1763999" cy="231609"/>
          </a:xfrm>
          <a:prstGeom prst="roundRect">
            <a:avLst/>
          </a:prstGeom>
          <a:noFill/>
          <a:ln w="28575">
            <a:solidFill>
              <a:srgbClr val="C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Oval 37"/>
          <p:cNvSpPr/>
          <p:nvPr/>
        </p:nvSpPr>
        <p:spPr>
          <a:xfrm>
            <a:off x="6876000" y="3066076"/>
            <a:ext cx="270000" cy="2700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100" b="1">
                <a:solidFill>
                  <a:srgbClr val="FFFFFF"/>
                </a:solidFill>
                <a:latin typeface="Helvetica"/>
              </a:rPr>
              <a:t>3</a:t>
            </a:r>
          </a:p>
        </p:txBody>
      </p:sp>
      <p:sp>
        <p:nvSpPr>
          <p:cNvPr id="39" name="Oval 38"/>
          <p:cNvSpPr/>
          <p:nvPr/>
        </p:nvSpPr>
        <p:spPr>
          <a:xfrm>
            <a:off x="7272000" y="1548000"/>
            <a:ext cx="270000" cy="2700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100" b="1">
                <a:solidFill>
                  <a:srgbClr val="FFFFFF"/>
                </a:solidFill>
                <a:latin typeface="Helvetica"/>
              </a:rPr>
              <a:t>1</a:t>
            </a:r>
          </a:p>
        </p:txBody>
      </p:sp>
      <p:sp>
        <p:nvSpPr>
          <p:cNvPr id="40" name="TextBox 39"/>
          <p:cNvSpPr txBox="1"/>
          <p:nvPr/>
        </p:nvSpPr>
        <p:spPr>
          <a:xfrm>
            <a:off x="7632000" y="1530000"/>
            <a:ext cx="4104000" cy="484084"/>
          </a:xfrm>
          <a:prstGeom prst="rect">
            <a:avLst/>
          </a:prstGeom>
          <a:noFill/>
        </p:spPr>
        <p:txBody>
          <a:bodyPr wrap="square" anchor="t" lIns="54000" rIns="54000"/>
          <a:lstStyle/>
          <a:p>
            <a:pPr algn="l"/>
            <a:r>
              <a:rPr sz="1200" b="0">
                <a:solidFill>
                  <a:srgbClr val="060606"/>
                </a:solidFill>
                <a:latin typeface="Helvetica"/>
              </a:rPr>
              <a:t>Les charges de fonctionnement représentent plus d'un tiers des cotisations.</a:t>
            </a:r>
          </a:p>
        </p:txBody>
      </p:sp>
      <p:sp>
        <p:nvSpPr>
          <p:cNvPr id="41" name="Oval 40"/>
          <p:cNvSpPr/>
          <p:nvPr/>
        </p:nvSpPr>
        <p:spPr>
          <a:xfrm>
            <a:off x="7272000" y="2122084"/>
            <a:ext cx="270000" cy="2700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100" b="1">
                <a:solidFill>
                  <a:srgbClr val="FFFFFF"/>
                </a:solidFill>
                <a:latin typeface="Helvetica"/>
              </a:rPr>
              <a:t>2</a:t>
            </a:r>
          </a:p>
        </p:txBody>
      </p:sp>
      <p:sp>
        <p:nvSpPr>
          <p:cNvPr id="42" name="TextBox 41"/>
          <p:cNvSpPr txBox="1"/>
          <p:nvPr/>
        </p:nvSpPr>
        <p:spPr>
          <a:xfrm>
            <a:off x="7632000" y="2104084"/>
            <a:ext cx="4104000" cy="298144"/>
          </a:xfrm>
          <a:prstGeom prst="rect">
            <a:avLst/>
          </a:prstGeom>
          <a:noFill/>
        </p:spPr>
        <p:txBody>
          <a:bodyPr wrap="square" anchor="t" lIns="54000" rIns="54000"/>
          <a:lstStyle/>
          <a:p>
            <a:pPr algn="l"/>
            <a:r>
              <a:rPr sz="1200" b="0">
                <a:solidFill>
                  <a:srgbClr val="060606"/>
                </a:solidFill>
                <a:latin typeface="Helvetica"/>
              </a:rPr>
              <a:t>Le taux brut dépasse aussi sa norme de 15 %.</a:t>
            </a:r>
          </a:p>
        </p:txBody>
      </p:sp>
      <p:sp>
        <p:nvSpPr>
          <p:cNvPr id="43" name="Oval 42"/>
          <p:cNvSpPr/>
          <p:nvPr/>
        </p:nvSpPr>
        <p:spPr>
          <a:xfrm>
            <a:off x="7272000" y="2510228"/>
            <a:ext cx="270000" cy="2700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100" b="1">
                <a:solidFill>
                  <a:srgbClr val="FFFFFF"/>
                </a:solidFill>
                <a:latin typeface="Helvetica"/>
              </a:rPr>
              <a:t>3</a:t>
            </a:r>
          </a:p>
        </p:txBody>
      </p:sp>
      <p:sp>
        <p:nvSpPr>
          <p:cNvPr id="44" name="TextBox 43"/>
          <p:cNvSpPr txBox="1"/>
          <p:nvPr/>
        </p:nvSpPr>
        <p:spPr>
          <a:xfrm>
            <a:off x="7632000" y="2492228"/>
            <a:ext cx="4104000" cy="484084"/>
          </a:xfrm>
          <a:prstGeom prst="rect">
            <a:avLst/>
          </a:prstGeom>
          <a:noFill/>
        </p:spPr>
        <p:txBody>
          <a:bodyPr wrap="square" anchor="t" lIns="54000" rIns="54000"/>
          <a:lstStyle/>
          <a:p>
            <a:pPr algn="l"/>
            <a:r>
              <a:rPr sz="1200" b="0">
                <a:solidFill>
                  <a:srgbClr val="060606"/>
                </a:solidFill>
                <a:latin typeface="Helvetica"/>
              </a:rPr>
              <a:t>Le FPPN dépense 63 FCFA de fonctionnement pour 100 FCFA de prestations.</a:t>
            </a:r>
          </a:p>
        </p:txBody>
      </p:sp>
      <p:sp>
        <p:nvSpPr>
          <p:cNvPr id="45" name="TextBox 44"/>
          <p:cNvSpPr txBox="1"/>
          <p:nvPr/>
        </p:nvSpPr>
        <p:spPr>
          <a:xfrm>
            <a:off x="7272000" y="3156312"/>
            <a:ext cx="4464000" cy="2711687"/>
          </a:xfrm>
          <a:prstGeom prst="rect">
            <a:avLst/>
          </a:prstGeom>
          <a:noFill/>
        </p:spPr>
        <p:txBody>
          <a:bodyPr wrap="square" lIns="54000" rIns="54000"/>
          <a:lstStyle/>
          <a:p>
            <a:pPr algn="just">
              <a:spcAft>
                <a:spcPts val="600"/>
              </a:spcAft>
            </a:pPr>
            <a:r>
              <a:rPr sz="1200" b="1">
                <a:solidFill>
                  <a:srgbClr val="060606"/>
                </a:solidFill>
                <a:latin typeface="Helvetica"/>
              </a:rPr>
              <a:t>Le personnel n'explique pas l'écart.</a:t>
            </a:r>
            <a:r>
              <a:rPr sz="1200" b="0">
                <a:solidFill>
                  <a:srgbClr val="060606"/>
                </a:solidFill>
                <a:latin typeface="Helvetica"/>
              </a:rPr>
              <a:t> Les charges de personnel ne représentent qu'un quart des charges de fonctionnement brut. Les indemnités des organes, les services extérieurs et les amortissements pèsent ensemble davantage.</a:t>
            </a:r>
          </a:p>
          <a:p>
            <a:pPr algn="just">
              <a:spcAft>
                <a:spcPts val="600"/>
              </a:spcAft>
            </a:pPr>
            <a:r>
              <a:rPr sz="1200" b="1">
                <a:solidFill>
                  <a:srgbClr val="060606"/>
                </a:solidFill>
                <a:latin typeface="Helvetica"/>
              </a:rPr>
              <a:t>Implication pour le FPPN.</a:t>
            </a:r>
            <a:r>
              <a:rPr sz="1200" b="0">
                <a:solidFill>
                  <a:srgbClr val="060606"/>
                </a:solidFill>
                <a:latin typeface="Helvetica"/>
              </a:rPr>
              <a:t> Pour atteindre 20 % des cotisations de 2025, les charges de fonctionnement doivent baisser de 558 364 763 FCFA : l'effort doit porter sur les postes autres que le personnel.</a:t>
            </a:r>
          </a:p>
        </p:txBody>
      </p:sp>
      <p:sp>
        <p:nvSpPr>
          <p:cNvPr id="46" name="TextBox 45"/>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UEMOA : Union économique et monétaire ouest-africaine</a:t>
            </a:r>
          </a:p>
        </p:txBody>
      </p:sp>
    </p:spTree>
    <p:extLst>
      <p:ext uri="{BB962C8B-B14F-4D97-AF65-F5344CB8AC3E}">
        <p14:creationId xmlns:p14="http://schemas.microsoft.com/office/powerpoint/2010/main" val="1600648222"/>
      </p:ext>
    </p:extLst>
  </p:cSld>
  <p:clrMapOvr>
    <a:masterClrMapping/>
  </p:clrMapOvr>
  <p:transition>
    <p:fade/>
  </p:transition>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Calcul pas à pas : réserves des risques longs 2025</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Aucune réserve de trésorerie n'est constituée pour l'épargne, et les fonds propres sont négatifs</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Besoin d'un trimestre d'engagements et de frais : 588 613 821 FCFA. Réserve de trésorerie constituée : 0 FCFA</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balances des comptes du FPPN (Sage 100), exercices 2020 à 2025 et du 01/01 au 31/08/2026 (provisoire). Traitements Adenka. Règlement d'exécution n° 004/2022/COM/UEMOA du 1er juin 2022, art. 19 et 21</a:t>
            </a:r>
          </a:p>
        </p:txBody>
      </p:sp>
      <p:sp>
        <p:nvSpPr>
          <p:cNvPr id="31" name="TextBox 30"/>
          <p:cNvSpPr txBox="1"/>
          <p:nvPr/>
        </p:nvSpPr>
        <p:spPr>
          <a:xfrm>
            <a:off x="503999" y="1350000"/>
            <a:ext cx="6696000" cy="180000"/>
          </a:xfrm>
          <a:prstGeom prst="rect">
            <a:avLst/>
          </a:prstGeom>
          <a:noFill/>
        </p:spPr>
        <p:txBody>
          <a:bodyPr wrap="square" anchor="t" lIns="54000" rIns="54000"/>
          <a:lstStyle/>
          <a:p>
            <a:pPr algn="l"/>
            <a:r>
              <a:rPr sz="900" b="0">
                <a:solidFill>
                  <a:srgbClr val="53565A"/>
                </a:solidFill>
                <a:latin typeface="Helvetica"/>
              </a:rPr>
              <a:t>Extrait : AUDIT ADENKA\DAFC\2024 et 2025 (balances des comptes)</a:t>
            </a:r>
          </a:p>
        </p:txBody>
      </p:sp>
      <p:graphicFrame>
        <p:nvGraphicFramePr>
          <p:cNvPr id="32" name="Table 31"/>
          <p:cNvGraphicFramePr>
            <a:graphicFrameLocks noGrp="1"/>
          </p:cNvGraphicFramePr>
          <p:nvPr/>
        </p:nvGraphicFramePr>
        <p:xfrm>
          <a:off x="503999" y="1548000"/>
          <a:ext cx="6695999" cy="2194901"/>
        </p:xfrm>
        <a:graphic>
          <a:graphicData uri="http://schemas.openxmlformats.org/drawingml/2006/table">
            <a:tbl>
              <a:tblPr firstRow="0" bandRow="0">
                <a:tableStyleId>{5940675A-B579-460E-94D1-54222C63F5DA}</a:tableStyleId>
              </a:tblPr>
              <a:tblGrid>
                <a:gridCol w="2520000"/>
                <a:gridCol w="2520000"/>
                <a:gridCol w="1655999"/>
              </a:tblGrid>
              <a:tr h="210009">
                <a:tc>
                  <a:txBody>
                    <a:bodyPr/>
                    <a:lstStyle/>
                    <a:p>
                      <a:pPr marL="0" indent="0" lvl="0">
                        <a:buNone/>
                      </a:pPr>
                      <a:r>
                        <a:rPr sz="1000" b="1">
                          <a:solidFill>
                            <a:srgbClr val="FFFFFF"/>
                          </a:solidFill>
                          <a:latin typeface="Helvetica"/>
                        </a:rPr>
                        <a:t>Élément</a:t>
                      </a:r>
                    </a:p>
                  </a:txBody>
                  <a:tcPr marL="43200" marR="43200" marT="14400" marB="14400" anchor="ctr">
                    <a:solidFill>
                      <a:srgbClr val="060606"/>
                    </a:solidFill>
                  </a:tcPr>
                </a:tc>
                <a:tc>
                  <a:txBody>
                    <a:bodyPr/>
                    <a:lstStyle/>
                    <a:p>
                      <a:pPr marL="0" indent="0" lvl="0">
                        <a:buNone/>
                      </a:pPr>
                      <a:r>
                        <a:rPr sz="1000" b="1">
                          <a:solidFill>
                            <a:srgbClr val="FFFFFF"/>
                          </a:solidFill>
                          <a:latin typeface="Helvetica"/>
                        </a:rPr>
                        <a:t>Calcul</a:t>
                      </a:r>
                    </a:p>
                  </a:txBody>
                  <a:tcPr marL="43200" marR="43200" marT="14400" marB="14400" anchor="ctr">
                    <a:solidFill>
                      <a:srgbClr val="060606"/>
                    </a:solidFill>
                  </a:tcPr>
                </a:tc>
                <a:tc>
                  <a:txBody>
                    <a:bodyPr/>
                    <a:lstStyle/>
                    <a:p>
                      <a:pPr marL="0" indent="0" lvl="0">
                        <a:buNone/>
                      </a:pPr>
                      <a:r>
                        <a:rPr sz="1000" b="1">
                          <a:solidFill>
                            <a:srgbClr val="FFFFFF"/>
                          </a:solidFill>
                          <a:latin typeface="Helvetica"/>
                        </a:rPr>
                        <a:t>Montant 2025</a:t>
                      </a:r>
                    </a:p>
                  </a:txBody>
                  <a:tcPr marL="43200" marR="43200" marT="14400" marB="14400" anchor="ctr">
                    <a:solidFill>
                      <a:srgbClr val="060606"/>
                    </a:solidFill>
                  </a:tcPr>
                </a:tc>
              </a:tr>
              <a:tr h="210009">
                <a:tc>
                  <a:txBody>
                    <a:bodyPr/>
                    <a:lstStyle/>
                    <a:p>
                      <a:pPr marL="0" indent="0" lvl="0">
                        <a:buNone/>
                      </a:pPr>
                      <a:r>
                        <a:rPr sz="1000" b="1">
                          <a:solidFill>
                            <a:srgbClr val="060606"/>
                          </a:solidFill>
                          <a:latin typeface="Helvetica"/>
                        </a:rPr>
                        <a:t>Sorties d'épargne</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débits 41195100 et 41195200</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1 358 821 103 FCFA</a:t>
                      </a:r>
                    </a:p>
                  </a:txBody>
                  <a:tcPr marL="43200" marR="43200" marT="14400" marB="14400" anchor="ctr">
                    <a:solidFill>
                      <a:srgbClr val="FFFFFF"/>
                    </a:solidFill>
                  </a:tcPr>
                </a:tc>
              </a:tr>
              <a:tr h="362419">
                <a:tc>
                  <a:txBody>
                    <a:bodyPr/>
                    <a:lstStyle/>
                    <a:p>
                      <a:pPr marL="0" indent="0" lvl="0">
                        <a:buNone/>
                      </a:pPr>
                      <a:r>
                        <a:rPr sz="1000" b="1">
                          <a:solidFill>
                            <a:srgbClr val="060606"/>
                          </a:solidFill>
                          <a:latin typeface="Helvetica"/>
                        </a:rPr>
                        <a:t>Frais attribués à l'épargne</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prorata épargne / (épargne + cotisations)</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995 634 179 FCFA</a:t>
                      </a:r>
                    </a:p>
                  </a:txBody>
                  <a:tcPr marL="43200" marR="43200" marT="14400" marB="14400" anchor="ctr">
                    <a:solidFill>
                      <a:srgbClr val="F2F2F2"/>
                    </a:solidFill>
                  </a:tcPr>
                </a:tc>
              </a:tr>
              <a:tr h="210009">
                <a:tc>
                  <a:txBody>
                    <a:bodyPr/>
                    <a:lstStyle/>
                    <a:p>
                      <a:pPr marL="0" indent="0" lvl="0">
                        <a:buNone/>
                      </a:pPr>
                      <a:r>
                        <a:rPr sz="1000" b="1">
                          <a:solidFill>
                            <a:srgbClr val="060606"/>
                          </a:solidFill>
                          <a:latin typeface="Helvetica"/>
                        </a:rPr>
                        <a:t>Besoin d'un trimestre</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(sorties + frais) / 4</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588 613 821 FCFA</a:t>
                      </a:r>
                    </a:p>
                  </a:txBody>
                  <a:tcPr marL="43200" marR="43200" marT="14400" marB="14400" anchor="ctr">
                    <a:solidFill>
                      <a:srgbClr val="FFFFFF"/>
                    </a:solidFill>
                  </a:tcPr>
                </a:tc>
              </a:tr>
              <a:tr h="210009">
                <a:tc>
                  <a:txBody>
                    <a:bodyPr/>
                    <a:lstStyle/>
                    <a:p>
                      <a:pPr marL="0" indent="0" lvl="0">
                        <a:buNone/>
                      </a:pPr>
                      <a:r>
                        <a:rPr sz="1000" b="1">
                          <a:solidFill>
                            <a:srgbClr val="060606"/>
                          </a:solidFill>
                          <a:latin typeface="Helvetica"/>
                        </a:rPr>
                        <a:t>Réserve de trésorerie constituée</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aucun compte identifié</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0 FCFA</a:t>
                      </a:r>
                    </a:p>
                  </a:txBody>
                  <a:tcPr marL="43200" marR="43200" marT="14400" marB="14400" anchor="ctr">
                    <a:solidFill>
                      <a:srgbClr val="F2F2F2"/>
                    </a:solidFill>
                  </a:tcPr>
                </a:tc>
              </a:tr>
              <a:tr h="362419">
                <a:tc>
                  <a:txBody>
                    <a:bodyPr/>
                    <a:lstStyle/>
                    <a:p>
                      <a:pPr marL="0" indent="0" lvl="0">
                        <a:buNone/>
                      </a:pPr>
                      <a:r>
                        <a:rPr sz="1000" b="1">
                          <a:solidFill>
                            <a:srgbClr val="060606"/>
                          </a:solidFill>
                          <a:latin typeface="Helvetica"/>
                        </a:rPr>
                        <a:t>Actifs réservés à l'épargne (pour comparaison)</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banques, DAT et FCP réservés</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1 608 155 525 FCFA</a:t>
                      </a:r>
                    </a:p>
                  </a:txBody>
                  <a:tcPr marL="43200" marR="43200" marT="14400" marB="14400" anchor="ctr">
                    <a:solidFill>
                      <a:srgbClr val="FFFFFF"/>
                    </a:solidFill>
                  </a:tcPr>
                </a:tc>
              </a:tr>
              <a:tr h="210009">
                <a:tc>
                  <a:txBody>
                    <a:bodyPr/>
                    <a:lstStyle/>
                    <a:p>
                      <a:pPr marL="0" indent="0" lvl="0">
                        <a:buNone/>
                      </a:pPr>
                      <a:r>
                        <a:rPr sz="1000" b="1">
                          <a:solidFill>
                            <a:srgbClr val="060606"/>
                          </a:solidFill>
                          <a:latin typeface="Helvetica"/>
                        </a:rPr>
                        <a:t>Fonds propres</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10 à 14 + résultat</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-438 242 200 FCFA</a:t>
                      </a:r>
                    </a:p>
                  </a:txBody>
                  <a:tcPr marL="43200" marR="43200" marT="14400" marB="14400" anchor="ctr">
                    <a:solidFill>
                      <a:srgbClr val="F2F2F2"/>
                    </a:solidFill>
                  </a:tcPr>
                </a:tc>
              </a:tr>
              <a:tr h="210009">
                <a:tc>
                  <a:txBody>
                    <a:bodyPr/>
                    <a:lstStyle/>
                    <a:p>
                      <a:pPr marL="0" indent="0" lvl="0">
                        <a:buNone/>
                      </a:pPr>
                      <a:r>
                        <a:rPr sz="1000" b="1">
                          <a:solidFill>
                            <a:srgbClr val="060606"/>
                          </a:solidFill>
                          <a:latin typeface="Helvetica"/>
                        </a:rPr>
                        <a:t>Sorties d'épargne 2024 et 2025</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art. 21</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2 993 682 337 FCFA</a:t>
                      </a:r>
                    </a:p>
                  </a:txBody>
                  <a:tcPr marL="43200" marR="43200" marT="14400" marB="14400" anchor="ctr">
                    <a:solidFill>
                      <a:srgbClr val="FFFFFF"/>
                    </a:solidFill>
                  </a:tcPr>
                </a:tc>
              </a:tr>
              <a:tr h="210009">
                <a:tc>
                  <a:txBody>
                    <a:bodyPr/>
                    <a:lstStyle/>
                    <a:p>
                      <a:pPr marL="0" indent="0" lvl="0">
                        <a:buNone/>
                      </a:pPr>
                      <a:r>
                        <a:rPr sz="1000" b="1">
                          <a:solidFill>
                            <a:srgbClr val="060606"/>
                          </a:solidFill>
                          <a:latin typeface="Helvetica"/>
                        </a:rPr>
                        <a:t>Fonds propres / sorties de deux ans</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norme : au moins 1</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-0,15</a:t>
                      </a:r>
                    </a:p>
                  </a:txBody>
                  <a:tcPr marL="43200" marR="43200" marT="14400" marB="14400" anchor="ctr">
                    <a:solidFill>
                      <a:srgbClr val="F2F2F2"/>
                    </a:solidFill>
                  </a:tcPr>
                </a:tc>
              </a:tr>
            </a:tbl>
          </a:graphicData>
        </a:graphic>
      </p:graphicFrame>
      <p:sp>
        <p:nvSpPr>
          <p:cNvPr id="33" name="Rounded Rectangle 32"/>
          <p:cNvSpPr/>
          <p:nvPr/>
        </p:nvSpPr>
        <p:spPr>
          <a:xfrm>
            <a:off x="5526000" y="2319638"/>
            <a:ext cx="1691999" cy="231609"/>
          </a:xfrm>
          <a:prstGeom prst="roundRect">
            <a:avLst/>
          </a:prstGeom>
          <a:noFill/>
          <a:ln w="28575">
            <a:solidFill>
              <a:srgbClr val="C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7020000" y="2168438"/>
            <a:ext cx="270000" cy="2700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100" b="1">
                <a:solidFill>
                  <a:srgbClr val="FFFFFF"/>
                </a:solidFill>
                <a:latin typeface="Helvetica"/>
              </a:rPr>
              <a:t>1</a:t>
            </a:r>
          </a:p>
        </p:txBody>
      </p:sp>
      <p:sp>
        <p:nvSpPr>
          <p:cNvPr id="35" name="Rounded Rectangle 34"/>
          <p:cNvSpPr/>
          <p:nvPr/>
        </p:nvSpPr>
        <p:spPr>
          <a:xfrm>
            <a:off x="5526000" y="2529647"/>
            <a:ext cx="1691999" cy="231609"/>
          </a:xfrm>
          <a:prstGeom prst="roundRect">
            <a:avLst/>
          </a:prstGeom>
          <a:noFill/>
          <a:ln w="28575">
            <a:solidFill>
              <a:srgbClr val="C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Oval 35"/>
          <p:cNvSpPr/>
          <p:nvPr/>
        </p:nvSpPr>
        <p:spPr>
          <a:xfrm>
            <a:off x="7020000" y="2378447"/>
            <a:ext cx="270000" cy="2700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100" b="1">
                <a:solidFill>
                  <a:srgbClr val="FFFFFF"/>
                </a:solidFill>
                <a:latin typeface="Helvetica"/>
              </a:rPr>
              <a:t>2</a:t>
            </a:r>
          </a:p>
        </p:txBody>
      </p:sp>
      <p:sp>
        <p:nvSpPr>
          <p:cNvPr id="37" name="Rounded Rectangle 36"/>
          <p:cNvSpPr/>
          <p:nvPr/>
        </p:nvSpPr>
        <p:spPr>
          <a:xfrm>
            <a:off x="5526000" y="3522096"/>
            <a:ext cx="1691999" cy="231609"/>
          </a:xfrm>
          <a:prstGeom prst="roundRect">
            <a:avLst/>
          </a:prstGeom>
          <a:noFill/>
          <a:ln w="28575">
            <a:solidFill>
              <a:srgbClr val="C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Oval 37"/>
          <p:cNvSpPr/>
          <p:nvPr/>
        </p:nvSpPr>
        <p:spPr>
          <a:xfrm>
            <a:off x="7020000" y="3370896"/>
            <a:ext cx="270000" cy="2700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100" b="1">
                <a:solidFill>
                  <a:srgbClr val="FFFFFF"/>
                </a:solidFill>
                <a:latin typeface="Helvetica"/>
              </a:rPr>
              <a:t>3</a:t>
            </a:r>
          </a:p>
        </p:txBody>
      </p:sp>
      <p:sp>
        <p:nvSpPr>
          <p:cNvPr id="39" name="Oval 38"/>
          <p:cNvSpPr/>
          <p:nvPr/>
        </p:nvSpPr>
        <p:spPr>
          <a:xfrm>
            <a:off x="7416000" y="1548000"/>
            <a:ext cx="270000" cy="2700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100" b="1">
                <a:solidFill>
                  <a:srgbClr val="FFFFFF"/>
                </a:solidFill>
                <a:latin typeface="Helvetica"/>
              </a:rPr>
              <a:t>1</a:t>
            </a:r>
          </a:p>
        </p:txBody>
      </p:sp>
      <p:sp>
        <p:nvSpPr>
          <p:cNvPr id="40" name="TextBox 39"/>
          <p:cNvSpPr txBox="1"/>
          <p:nvPr/>
        </p:nvSpPr>
        <p:spPr>
          <a:xfrm>
            <a:off x="7776000" y="1530000"/>
            <a:ext cx="3959999" cy="484084"/>
          </a:xfrm>
          <a:prstGeom prst="rect">
            <a:avLst/>
          </a:prstGeom>
          <a:noFill/>
        </p:spPr>
        <p:txBody>
          <a:bodyPr wrap="square" anchor="t" lIns="54000" rIns="54000"/>
          <a:lstStyle/>
          <a:p>
            <a:pPr algn="l"/>
            <a:r>
              <a:rPr sz="1200" b="0">
                <a:solidFill>
                  <a:srgbClr val="060606"/>
                </a:solidFill>
                <a:latin typeface="Helvetica"/>
              </a:rPr>
              <a:t>Le besoin d'un trimestre se calcule à partir des sorties réelles d'épargne.</a:t>
            </a:r>
          </a:p>
        </p:txBody>
      </p:sp>
      <p:sp>
        <p:nvSpPr>
          <p:cNvPr id="41" name="Oval 40"/>
          <p:cNvSpPr/>
          <p:nvPr/>
        </p:nvSpPr>
        <p:spPr>
          <a:xfrm>
            <a:off x="7416000" y="2122084"/>
            <a:ext cx="270000" cy="2700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100" b="1">
                <a:solidFill>
                  <a:srgbClr val="FFFFFF"/>
                </a:solidFill>
                <a:latin typeface="Helvetica"/>
              </a:rPr>
              <a:t>2</a:t>
            </a:r>
          </a:p>
        </p:txBody>
      </p:sp>
      <p:sp>
        <p:nvSpPr>
          <p:cNvPr id="42" name="TextBox 41"/>
          <p:cNvSpPr txBox="1"/>
          <p:nvPr/>
        </p:nvSpPr>
        <p:spPr>
          <a:xfrm>
            <a:off x="7776000" y="2104084"/>
            <a:ext cx="3959999" cy="484084"/>
          </a:xfrm>
          <a:prstGeom prst="rect">
            <a:avLst/>
          </a:prstGeom>
          <a:noFill/>
        </p:spPr>
        <p:txBody>
          <a:bodyPr wrap="square" anchor="t" lIns="54000" rIns="54000"/>
          <a:lstStyle/>
          <a:p>
            <a:pPr algn="l"/>
            <a:r>
              <a:rPr sz="1200" b="0">
                <a:solidFill>
                  <a:srgbClr val="060606"/>
                </a:solidFill>
                <a:latin typeface="Helvetica"/>
              </a:rPr>
              <a:t>Aucun compte de réserve de trésorerie n'existe dans les balances.</a:t>
            </a:r>
          </a:p>
        </p:txBody>
      </p:sp>
      <p:sp>
        <p:nvSpPr>
          <p:cNvPr id="43" name="Oval 42"/>
          <p:cNvSpPr/>
          <p:nvPr/>
        </p:nvSpPr>
        <p:spPr>
          <a:xfrm>
            <a:off x="7416000" y="2696168"/>
            <a:ext cx="270000" cy="2700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100" b="1">
                <a:solidFill>
                  <a:srgbClr val="FFFFFF"/>
                </a:solidFill>
                <a:latin typeface="Helvetica"/>
              </a:rPr>
              <a:t>3</a:t>
            </a:r>
          </a:p>
        </p:txBody>
      </p:sp>
      <p:sp>
        <p:nvSpPr>
          <p:cNvPr id="44" name="TextBox 43"/>
          <p:cNvSpPr txBox="1"/>
          <p:nvPr/>
        </p:nvSpPr>
        <p:spPr>
          <a:xfrm>
            <a:off x="7776000" y="2678168"/>
            <a:ext cx="3959999" cy="484084"/>
          </a:xfrm>
          <a:prstGeom prst="rect">
            <a:avLst/>
          </a:prstGeom>
          <a:noFill/>
        </p:spPr>
        <p:txBody>
          <a:bodyPr wrap="square" anchor="t" lIns="54000" rIns="54000"/>
          <a:lstStyle/>
          <a:p>
            <a:pPr algn="l"/>
            <a:r>
              <a:rPr sz="1200" b="0">
                <a:solidFill>
                  <a:srgbClr val="060606"/>
                </a:solidFill>
                <a:latin typeface="Helvetica"/>
              </a:rPr>
              <a:t>Les fonds propres négatifs rendent le ratio de l'article 21 négatif.</a:t>
            </a:r>
          </a:p>
        </p:txBody>
      </p:sp>
      <p:sp>
        <p:nvSpPr>
          <p:cNvPr id="45" name="TextBox 44"/>
          <p:cNvSpPr txBox="1"/>
          <p:nvPr/>
        </p:nvSpPr>
        <p:spPr>
          <a:xfrm>
            <a:off x="7416000" y="3342252"/>
            <a:ext cx="4319999" cy="2525747"/>
          </a:xfrm>
          <a:prstGeom prst="rect">
            <a:avLst/>
          </a:prstGeom>
          <a:noFill/>
        </p:spPr>
        <p:txBody>
          <a:bodyPr wrap="square" lIns="54000" rIns="54000"/>
          <a:lstStyle/>
          <a:p>
            <a:pPr algn="just">
              <a:spcAft>
                <a:spcPts val="600"/>
              </a:spcAft>
            </a:pPr>
            <a:r>
              <a:rPr sz="1200" b="1">
                <a:solidFill>
                  <a:srgbClr val="060606"/>
                </a:solidFill>
                <a:latin typeface="Helvetica"/>
              </a:rPr>
              <a:t>Les actifs réservés à l'épargne dépassent le besoin d'un trimestre, mais ils ne forment pas une réserve.</a:t>
            </a:r>
            <a:r>
              <a:rPr sz="1200" b="0">
                <a:solidFill>
                  <a:srgbClr val="060606"/>
                </a:solidFill>
                <a:latin typeface="Helvetica"/>
              </a:rPr>
              <a:t> Une réserve est une part des fonds propres affectée, et les fonds propres du FPPN sont négatifs.</a:t>
            </a:r>
          </a:p>
          <a:p>
            <a:pPr algn="just">
              <a:spcAft>
                <a:spcPts val="600"/>
              </a:spcAft>
            </a:pPr>
            <a:r>
              <a:rPr sz="1200" b="1">
                <a:solidFill>
                  <a:srgbClr val="060606"/>
                </a:solidFill>
                <a:latin typeface="Helvetica"/>
              </a:rPr>
              <a:t>Implication pour le FPPN.</a:t>
            </a:r>
            <a:r>
              <a:rPr sz="1200" b="0">
                <a:solidFill>
                  <a:srgbClr val="060606"/>
                </a:solidFill>
                <a:latin typeface="Helvetica"/>
              </a:rPr>
              <a:t> La constitution de cette réserve passe par l'affectation d'excédents futurs, après reconstitution des fonds propres : elle doit figurer dans le plan de mise en conformité.</a:t>
            </a:r>
          </a:p>
        </p:txBody>
      </p:sp>
      <p:sp>
        <p:nvSpPr>
          <p:cNvPr id="46" name="TextBox 45"/>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UEMOA : Union économique et monétaire ouest-africaine | FCP : fonds commun de placement | DAT : dépôt à terme</a:t>
            </a:r>
          </a:p>
        </p:txBody>
      </p:sp>
    </p:spTree>
    <p:extLst>
      <p:ext uri="{BB962C8B-B14F-4D97-AF65-F5344CB8AC3E}">
        <p14:creationId xmlns:p14="http://schemas.microsoft.com/office/powerpoint/2010/main" val="2661958144"/>
      </p:ext>
    </p:extLst>
  </p:cSld>
  <p:clrMapOvr>
    <a:masterClrMapping/>
  </p:clrMapOvr>
  <p:transition>
    <p:fade/>
  </p:transition>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7" name="Image 36"/>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3" name="Rectangle 22">
            <a:extLst>
              <a:ext uri="{FF2B5EF4-FFF2-40B4-BE49-F238E27FC236}">
                <a16:creationId xmlns:a16="http://schemas.microsoft.com/office/drawing/2014/main" id="{4CD23CFE-3F31-4BA9-B26F-B9B5B351518E}"/>
              </a:ext>
            </a:extLst>
          </p:cNvPr>
          <p:cNvSpPr/>
          <p:nvPr/>
        </p:nvSpPr>
        <p:spPr>
          <a:xfrm>
            <a:off x="2106184" y="1811264"/>
            <a:ext cx="9685766" cy="901761"/>
          </a:xfrm>
          <a:prstGeom prst="rect">
            <a:avLst/>
          </a:prstGeom>
          <a:ln w="12700">
            <a:solidFill>
              <a:srgbClr val="112A40"/>
            </a:solidFill>
          </a:ln>
        </p:spPr>
        <p:txBody>
          <a:bodyPr wrap="square" lIns="162000" tIns="54000" rIns="72000" bIns="54000" anchor="ctr">
            <a:noAutofit/>
          </a:bodyPr>
          <a:lstStyle/>
          <a:p>
            <a:pPr lvl="0">
              <a:lnSpc>
                <a:spcPct val="110000"/>
              </a:lnSpc>
            </a:pPr>
            <a:r>
              <a:rPr lang="fr-CI" sz="1300" b="1" noProof="0">
                <a:latin typeface="Helvetica" panose="020B0604020202020204" pitchFamily="34" charset="0"/>
                <a:ea typeface="Open Sans Semibold" panose="020B0706030804020204" pitchFamily="34" charset="0"/>
                <a:cs typeface="Helvetica" panose="020B0604020202020204" pitchFamily="34" charset="0"/>
              </a:rPr>
              <a:t>Ce que dit la norme</a:t>
            </a:r>
          </a:p>
          <a:p>
            <a:pPr lvl="0">
              <a:lnSpc>
                <a:spcPct val="110000"/>
              </a:lnSpc>
            </a:pPr>
            <a:r>
              <a:rPr lang="fr-CI" sz="1150" noProof="0" b="0">
                <a:latin typeface="Helvetica" panose="020B0604020202020204" pitchFamily="34" charset="0"/>
                <a:ea typeface="Open Sans Light" panose="020B0306030504020204" pitchFamily="34" charset="0"/>
                <a:cs typeface="Helvetica" panose="020B0604020202020204" pitchFamily="34" charset="0"/>
              </a:rPr>
              <a:t>La Décision n° 05/2022 impose d'affecter à la réserve obligatoire au moins 30 % de l'excédent net du risque maladie et au moins 50 % de celui des autres risques (§ 1.1.1). Le règlement d'exécution fixe une dotation de 20 à 50 % du résultat excédentaire de l'exercice précédent (art. 18).</a:t>
            </a:r>
          </a:p>
        </p:txBody>
      </p:sp>
      <p:sp>
        <p:nvSpPr>
          <p:cNvPr id="28" name="Rectangle 27">
            <a:extLst>
              <a:ext uri="{FF2B5EF4-FFF2-40B4-BE49-F238E27FC236}">
                <a16:creationId xmlns:a16="http://schemas.microsoft.com/office/drawing/2014/main" id="{9B9B23AA-050D-4543-80A0-873FE31AFFF7}"/>
              </a:ext>
            </a:extLst>
          </p:cNvPr>
          <p:cNvSpPr/>
          <p:nvPr/>
        </p:nvSpPr>
        <p:spPr>
          <a:xfrm>
            <a:off x="1538714" y="1463475"/>
            <a:ext cx="5748535" cy="166944"/>
          </a:xfrm>
          <a:prstGeom prst="rect">
            <a:avLst/>
          </a:prstGeom>
        </p:spPr>
        <p:txBody>
          <a:bodyPr wrap="square" lIns="0" tIns="0" rIns="0" bIns="0">
            <a:spAutoFit/>
          </a:bodyPr>
          <a:lstStyle/>
          <a:p>
            <a:pPr lvl="0">
              <a:lnSpc>
                <a:spcPct val="110000"/>
              </a:lnSpc>
            </a:pPr>
            <a:r>
              <a:rPr lang="fr-CI" sz="1300" b="1" noProof="0">
                <a:latin typeface="Helvetica" panose="020B0604020202020204" pitchFamily="34" charset="0"/>
                <a:ea typeface="Open Sans Semibold" panose="020B0706030804020204" pitchFamily="34" charset="0"/>
                <a:cs typeface="Helvetica" panose="020B0604020202020204" pitchFamily="34" charset="0"/>
              </a:rPr>
              <a:t/>
            </a:r>
          </a:p>
        </p:txBody>
      </p:sp>
      <p:cxnSp>
        <p:nvCxnSpPr>
          <p:cNvPr id="29" name="Straight Connector 28">
            <a:extLst>
              <a:ext uri="{FF2B5EF4-FFF2-40B4-BE49-F238E27FC236}">
                <a16:creationId xmlns:a16="http://schemas.microsoft.com/office/drawing/2014/main" id="{09E553D9-3562-45A7-BE4B-0F12FAA0490F}"/>
              </a:ext>
            </a:extLst>
          </p:cNvPr>
          <p:cNvCxnSpPr>
            <a:cxnSpLocks/>
          </p:cNvCxnSpPr>
          <p:nvPr/>
        </p:nvCxnSpPr>
        <p:spPr>
          <a:xfrm>
            <a:off x="916803" y="1707866"/>
            <a:ext cx="0" cy="3668091"/>
          </a:xfrm>
          <a:prstGeom prst="line">
            <a:avLst/>
          </a:prstGeom>
          <a:ln w="12700">
            <a:solidFill>
              <a:srgbClr val="112A40"/>
            </a:solidFill>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DA735D38-741F-4EFB-826C-6F87FD459AB4}"/>
              </a:ext>
            </a:extLst>
          </p:cNvPr>
          <p:cNvCxnSpPr/>
          <p:nvPr/>
        </p:nvCxnSpPr>
        <p:spPr>
          <a:xfrm>
            <a:off x="916803" y="2291826"/>
            <a:ext cx="621911" cy="3600"/>
          </a:xfrm>
          <a:prstGeom prst="line">
            <a:avLst/>
          </a:prstGeom>
          <a:ln w="12700">
            <a:solidFill>
              <a:srgbClr val="112A40"/>
            </a:solidFill>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EBCFE36B-AE16-49E8-90A6-6621A0EB0473}"/>
              </a:ext>
            </a:extLst>
          </p:cNvPr>
          <p:cNvCxnSpPr/>
          <p:nvPr/>
        </p:nvCxnSpPr>
        <p:spPr>
          <a:xfrm>
            <a:off x="916803" y="3273370"/>
            <a:ext cx="621911" cy="3600"/>
          </a:xfrm>
          <a:prstGeom prst="line">
            <a:avLst/>
          </a:prstGeom>
          <a:ln w="12700">
            <a:solidFill>
              <a:srgbClr val="112A40"/>
            </a:solidFill>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2697F6E2-C26B-4E5F-B7F9-95C6E9325040}"/>
              </a:ext>
            </a:extLst>
          </p:cNvPr>
          <p:cNvCxnSpPr/>
          <p:nvPr/>
        </p:nvCxnSpPr>
        <p:spPr>
          <a:xfrm>
            <a:off x="916803" y="5368324"/>
            <a:ext cx="621911" cy="3600"/>
          </a:xfrm>
          <a:prstGeom prst="line">
            <a:avLst/>
          </a:prstGeom>
          <a:ln w="12700">
            <a:solidFill>
              <a:srgbClr val="112A40"/>
            </a:solidFill>
          </a:ln>
        </p:spPr>
        <p:style>
          <a:lnRef idx="1">
            <a:schemeClr val="accent1"/>
          </a:lnRef>
          <a:fillRef idx="0">
            <a:schemeClr val="accent1"/>
          </a:fillRef>
          <a:effectRef idx="0">
            <a:schemeClr val="accent1"/>
          </a:effectRef>
          <a:fontRef idx="minor">
            <a:schemeClr val="tx1"/>
          </a:fontRef>
        </p:style>
      </p:cxnSp>
      <p:sp>
        <p:nvSpPr>
          <p:cNvPr id="24" name="Rectangle 23">
            <a:extLst>
              <a:ext uri="{FF2B5EF4-FFF2-40B4-BE49-F238E27FC236}">
                <a16:creationId xmlns:a16="http://schemas.microsoft.com/office/drawing/2014/main" id="{4CD23CFE-3F31-4BA9-B26F-B9B5B351518E}"/>
              </a:ext>
            </a:extLst>
          </p:cNvPr>
          <p:cNvSpPr/>
          <p:nvPr/>
        </p:nvSpPr>
        <p:spPr>
          <a:xfrm>
            <a:off x="2103510" y="2847523"/>
            <a:ext cx="9685766" cy="901761"/>
          </a:xfrm>
          <a:prstGeom prst="rect">
            <a:avLst/>
          </a:prstGeom>
          <a:ln w="12700">
            <a:solidFill>
              <a:srgbClr val="112A40"/>
            </a:solidFill>
          </a:ln>
        </p:spPr>
        <p:txBody>
          <a:bodyPr wrap="square" lIns="162000" tIns="54000" rIns="72000" bIns="54000" anchor="ctr">
            <a:noAutofit/>
          </a:bodyPr>
          <a:lstStyle/>
          <a:p>
            <a:pPr lvl="0">
              <a:lnSpc>
                <a:spcPct val="110000"/>
              </a:lnSpc>
            </a:pPr>
            <a:r>
              <a:rPr lang="fr-CI" sz="1300" b="1" noProof="0">
                <a:latin typeface="Helvetica" panose="020B0604020202020204" pitchFamily="34" charset="0"/>
                <a:ea typeface="Open Sans Semibold" panose="020B0706030804020204" pitchFamily="34" charset="0"/>
                <a:cs typeface="Helvetica" panose="020B0604020202020204" pitchFamily="34" charset="0"/>
              </a:rPr>
              <a:t>Ce qui nous y a conduits</a:t>
            </a:r>
          </a:p>
          <a:p>
            <a:pPr lvl="0">
              <a:lnSpc>
                <a:spcPct val="110000"/>
              </a:lnSpc>
            </a:pPr>
            <a:r>
              <a:rPr lang="fr-CI" sz="1150" noProof="0" b="0">
                <a:latin typeface="Helvetica" panose="020B0604020202020204" pitchFamily="34" charset="0"/>
                <a:ea typeface="Open Sans Light" panose="020B0306030504020204" pitchFamily="34" charset="0"/>
                <a:cs typeface="Helvetica" panose="020B0604020202020204" pitchFamily="34" charset="0"/>
              </a:rPr>
              <a:t>Le résultat global du FPPN est positif, mais la sinistralité maladie monte vite pendant que le décès reste très excédentaire (partie 5). Un excédent global peut donc cacher un déficit de la maladie, ce que la norme veut précisément rendre visible.</a:t>
            </a:r>
          </a:p>
        </p:txBody>
      </p:sp>
      <p:sp>
        <p:nvSpPr>
          <p:cNvPr id="33" name="Rectangle 32">
            <a:extLst>
              <a:ext uri="{FF2B5EF4-FFF2-40B4-BE49-F238E27FC236}">
                <a16:creationId xmlns:a16="http://schemas.microsoft.com/office/drawing/2014/main" id="{4CD23CFE-3F31-4BA9-B26F-B9B5B351518E}"/>
              </a:ext>
            </a:extLst>
          </p:cNvPr>
          <p:cNvSpPr/>
          <p:nvPr/>
        </p:nvSpPr>
        <p:spPr>
          <a:xfrm>
            <a:off x="2125344" y="3881185"/>
            <a:ext cx="9685766" cy="901761"/>
          </a:xfrm>
          <a:prstGeom prst="rect">
            <a:avLst/>
          </a:prstGeom>
          <a:ln w="12700">
            <a:solidFill>
              <a:srgbClr val="112A40"/>
            </a:solidFill>
          </a:ln>
        </p:spPr>
        <p:txBody>
          <a:bodyPr wrap="square" lIns="162000" tIns="54000" rIns="72000" bIns="54000" anchor="ctr">
            <a:noAutofit/>
          </a:bodyPr>
          <a:lstStyle/>
          <a:p>
            <a:pPr lvl="0">
              <a:lnSpc>
                <a:spcPct val="110000"/>
              </a:lnSpc>
            </a:pPr>
            <a:r>
              <a:rPr lang="fr-CI" sz="1300" b="1" noProof="0">
                <a:latin typeface="Helvetica" panose="020B0604020202020204" pitchFamily="34" charset="0"/>
                <a:ea typeface="Open Sans Semibold" panose="020B0706030804020204" pitchFamily="34" charset="0"/>
                <a:cs typeface="Helvetica" panose="020B0604020202020204" pitchFamily="34" charset="0"/>
              </a:rPr>
              <a:t>Ce que fait le FPPN</a:t>
            </a:r>
          </a:p>
          <a:p>
            <a:pPr lvl="0">
              <a:lnSpc>
                <a:spcPct val="110000"/>
              </a:lnSpc>
            </a:pPr>
            <a:r>
              <a:rPr lang="fr-CI" sz="1150" noProof="0" b="0">
                <a:latin typeface="Helvetica" panose="020B0604020202020204" pitchFamily="34" charset="0"/>
                <a:ea typeface="Open Sans Light" panose="020B0306030504020204" pitchFamily="34" charset="0"/>
                <a:cs typeface="Helvetica" panose="020B0604020202020204" pitchFamily="34" charset="0"/>
              </a:rPr>
              <a:t>La comptabilité sépare les cotisations et les prestations de chaque risque, mais pas les frais de fonctionnement. Adenka reprend d'abord la dotation réellement passée en réserve, telle que le FPPN l'a décidée.</a:t>
            </a:r>
          </a:p>
        </p:txBody>
      </p:sp>
      <p:sp>
        <p:nvSpPr>
          <p:cNvPr id="34" name="Rectangle 33">
            <a:extLst>
              <a:ext uri="{FF2B5EF4-FFF2-40B4-BE49-F238E27FC236}">
                <a16:creationId xmlns:a16="http://schemas.microsoft.com/office/drawing/2014/main" id="{4CD23CFE-3F31-4BA9-B26F-B9B5B351518E}"/>
              </a:ext>
            </a:extLst>
          </p:cNvPr>
          <p:cNvSpPr/>
          <p:nvPr/>
        </p:nvSpPr>
        <p:spPr>
          <a:xfrm>
            <a:off x="2122670" y="4917444"/>
            <a:ext cx="9685766" cy="901761"/>
          </a:xfrm>
          <a:prstGeom prst="rect">
            <a:avLst/>
          </a:prstGeom>
          <a:ln w="12700">
            <a:solidFill>
              <a:srgbClr val="112A40"/>
            </a:solidFill>
          </a:ln>
        </p:spPr>
        <p:txBody>
          <a:bodyPr wrap="square" lIns="162000" tIns="54000" rIns="72000" bIns="54000" anchor="ctr">
            <a:noAutofit/>
          </a:bodyPr>
          <a:lstStyle/>
          <a:p>
            <a:pPr lvl="1">
              <a:lnSpc>
                <a:spcPct val="110000"/>
              </a:lnSpc>
            </a:pPr>
            <a:r>
              <a:rPr lang="fr-CI" sz="1300" b="1" noProof="0">
                <a:latin typeface="Helvetica" panose="020B0604020202020204" pitchFamily="34" charset="0"/>
                <a:ea typeface="Open Sans Semibold" panose="020B0706030804020204" pitchFamily="34" charset="0"/>
                <a:cs typeface="Helvetica" panose="020B0604020202020204" pitchFamily="34" charset="0"/>
              </a:rPr>
              <a:t>Pourquoi répartir les frais</a:t>
            </a:r>
          </a:p>
          <a:p>
            <a:pPr lvl="1">
              <a:lnSpc>
                <a:spcPct val="110000"/>
              </a:lnSpc>
            </a:pPr>
            <a:r>
              <a:rPr lang="fr-CI" sz="1150" noProof="0" b="0">
                <a:latin typeface="Helvetica" panose="020B0604020202020204" pitchFamily="34" charset="0"/>
                <a:ea typeface="Open Sans Light" panose="020B0306030504020204" pitchFamily="34" charset="0"/>
                <a:cs typeface="Helvetica" panose="020B0604020202020204" pitchFamily="34" charset="0"/>
              </a:rPr>
              <a:t>L'excédent par risque est la différence entre les produits et toutes les charges affectées au risque (Décision, § 1.1.1). Sans clé fournie par le FPPN, Adenka répartit les frais au prorata des cotisations de chaque risque, la clé la plus neutre.</a:t>
            </a:r>
            <a:endParaRPr lang="fr-CI" sz="1200">
              <a:latin typeface="Helvetica" panose="020B0604020202020204" pitchFamily="34" charset="0"/>
              <a:ea typeface="Open Sans Light" panose="020B0306030504020204" pitchFamily="34" charset="0"/>
              <a:cs typeface="Helvetica" panose="020B0604020202020204" pitchFamily="34" charset="0"/>
            </a:endParaRPr>
          </a:p>
        </p:txBody>
      </p:sp>
      <p:cxnSp>
        <p:nvCxnSpPr>
          <p:cNvPr id="39" name="Straight Connector 30">
            <a:extLst>
              <a:ext uri="{FF2B5EF4-FFF2-40B4-BE49-F238E27FC236}">
                <a16:creationId xmlns:a16="http://schemas.microsoft.com/office/drawing/2014/main" id="{EBCFE36B-AE16-49E8-90A6-6621A0EB0473}"/>
              </a:ext>
            </a:extLst>
          </p:cNvPr>
          <p:cNvCxnSpPr/>
          <p:nvPr/>
        </p:nvCxnSpPr>
        <p:spPr>
          <a:xfrm>
            <a:off x="919504" y="4326976"/>
            <a:ext cx="621911" cy="3600"/>
          </a:xfrm>
          <a:prstGeom prst="line">
            <a:avLst/>
          </a:prstGeom>
          <a:ln w="12700">
            <a:solidFill>
              <a:srgbClr val="112A40"/>
            </a:solidFill>
          </a:ln>
        </p:spPr>
        <p:style>
          <a:lnRef idx="1">
            <a:schemeClr val="accent1"/>
          </a:lnRef>
          <a:fillRef idx="0">
            <a:schemeClr val="accent1"/>
          </a:fillRef>
          <a:effectRef idx="0">
            <a:schemeClr val="accent1"/>
          </a:effectRef>
          <a:fontRef idx="minor">
            <a:schemeClr val="tx1"/>
          </a:fontRef>
        </p:style>
      </p:cxnSp>
      <p:grpSp>
        <p:nvGrpSpPr>
          <p:cNvPr id="11" name="Groupe 10"/>
          <p:cNvGrpSpPr/>
          <p:nvPr/>
        </p:nvGrpSpPr>
        <p:grpSpPr>
          <a:xfrm>
            <a:off x="1554870" y="2047565"/>
            <a:ext cx="548640" cy="548640"/>
            <a:chOff x="-1153645" y="1535690"/>
            <a:chExt cx="548640" cy="548640"/>
          </a:xfrm>
        </p:grpSpPr>
        <p:sp>
          <p:nvSpPr>
            <p:cNvPr id="36" name="Oval 21">
              <a:extLst>
                <a:ext uri="{FF2B5EF4-FFF2-40B4-BE49-F238E27FC236}">
                  <a16:creationId xmlns:a16="http://schemas.microsoft.com/office/drawing/2014/main" id="{7BB796F0-2DE6-45B1-851B-D8991F423CF4}"/>
                </a:ext>
              </a:extLst>
            </p:cNvPr>
            <p:cNvSpPr/>
            <p:nvPr/>
          </p:nvSpPr>
          <p:spPr bwMode="gray">
            <a:xfrm>
              <a:off x="-1153645" y="1535690"/>
              <a:ext cx="548640" cy="548640"/>
            </a:xfrm>
            <a:prstGeom prst="ellipse">
              <a:avLst/>
            </a:prstGeom>
            <a:solidFill>
              <a:schemeClr val="tx1"/>
            </a:solidFill>
            <a:ln w="19050" algn="ctr">
              <a:noFill/>
              <a:miter lim="800000"/>
              <a:headEnd/>
              <a:tailEnd/>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 typeface="Wingdings 2" pitchFamily="18" charset="2"/>
                <a:buNone/>
                <a:tabLst/>
                <a:defRPr/>
              </a:pPr>
              <a:endParaRPr kumimoji="0" lang="fr-CI" sz="1100" b="1" i="0" u="none" strike="noStrike" kern="1200" cap="none" spc="0" normalizeH="0" baseline="0" noProof="0">
                <a:ln>
                  <a:noFill/>
                </a:ln>
                <a:solidFill>
                  <a:prstClr val="white"/>
                </a:solidFill>
                <a:effectLst/>
                <a:uLnTx/>
                <a:uFillTx/>
                <a:latin typeface="Helvetica" panose="020B0604020202020204" pitchFamily="34" charset="0"/>
                <a:ea typeface="Open Sans Semibold" panose="020B0706030804020204" pitchFamily="34" charset="0"/>
                <a:cs typeface="Helvetica" panose="020B0604020202020204" pitchFamily="34" charset="0"/>
              </a:endParaRPr>
            </a:p>
          </p:txBody>
        </p:sp>
        <p:pic>
          <p:nvPicPr>
            <p:cNvPr id="40" name="Image 39"/>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23163" y="1564148"/>
              <a:ext cx="486259" cy="491723"/>
            </a:xfrm>
            <a:prstGeom prst="rect">
              <a:avLst/>
            </a:prstGeom>
          </p:spPr>
        </p:pic>
      </p:grpSp>
      <p:grpSp>
        <p:nvGrpSpPr>
          <p:cNvPr id="12" name="Groupe 11"/>
          <p:cNvGrpSpPr/>
          <p:nvPr/>
        </p:nvGrpSpPr>
        <p:grpSpPr>
          <a:xfrm>
            <a:off x="1557425" y="3008849"/>
            <a:ext cx="548640" cy="548640"/>
            <a:chOff x="-1154302" y="2719457"/>
            <a:chExt cx="548640" cy="548640"/>
          </a:xfrm>
        </p:grpSpPr>
        <p:sp>
          <p:nvSpPr>
            <p:cNvPr id="42" name="Oval 21">
              <a:extLst>
                <a:ext uri="{FF2B5EF4-FFF2-40B4-BE49-F238E27FC236}">
                  <a16:creationId xmlns:a16="http://schemas.microsoft.com/office/drawing/2014/main" id="{7BB796F0-2DE6-45B1-851B-D8991F423CF4}"/>
                </a:ext>
              </a:extLst>
            </p:cNvPr>
            <p:cNvSpPr/>
            <p:nvPr/>
          </p:nvSpPr>
          <p:spPr bwMode="gray">
            <a:xfrm>
              <a:off x="-1154302" y="2719457"/>
              <a:ext cx="548640" cy="548640"/>
            </a:xfrm>
            <a:prstGeom prst="ellipse">
              <a:avLst/>
            </a:prstGeom>
            <a:solidFill>
              <a:schemeClr val="tx1"/>
            </a:solidFill>
            <a:ln w="19050" algn="ctr">
              <a:noFill/>
              <a:miter lim="800000"/>
              <a:headEnd/>
              <a:tailEnd/>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 typeface="Wingdings 2" pitchFamily="18" charset="2"/>
                <a:buNone/>
                <a:tabLst/>
                <a:defRPr/>
              </a:pPr>
              <a:endParaRPr kumimoji="0" lang="fr-CI" sz="1100" b="1" i="0" u="none" strike="noStrike" kern="1200" cap="none" spc="0" normalizeH="0" baseline="0" noProof="0">
                <a:ln>
                  <a:noFill/>
                </a:ln>
                <a:solidFill>
                  <a:prstClr val="white"/>
                </a:solidFill>
                <a:effectLst/>
                <a:uLnTx/>
                <a:uFillTx/>
                <a:latin typeface="Helvetica" panose="020B0604020202020204" pitchFamily="34" charset="0"/>
                <a:ea typeface="Open Sans Semibold" panose="020B0706030804020204" pitchFamily="34" charset="0"/>
                <a:cs typeface="Helvetica" panose="020B0604020202020204" pitchFamily="34" charset="0"/>
              </a:endParaRPr>
            </a:p>
          </p:txBody>
        </p:sp>
        <p:pic>
          <p:nvPicPr>
            <p:cNvPr id="7" name="Image 6"/>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74901" y="2781886"/>
              <a:ext cx="396274" cy="396274"/>
            </a:xfrm>
            <a:prstGeom prst="rect">
              <a:avLst/>
            </a:prstGeom>
          </p:spPr>
        </p:pic>
      </p:grpSp>
      <p:grpSp>
        <p:nvGrpSpPr>
          <p:cNvPr id="13" name="Groupe 12"/>
          <p:cNvGrpSpPr/>
          <p:nvPr/>
        </p:nvGrpSpPr>
        <p:grpSpPr>
          <a:xfrm>
            <a:off x="1567381" y="4044725"/>
            <a:ext cx="548640" cy="552951"/>
            <a:chOff x="-1185544" y="4122202"/>
            <a:chExt cx="548640" cy="552951"/>
          </a:xfrm>
        </p:grpSpPr>
        <p:sp>
          <p:nvSpPr>
            <p:cNvPr id="44" name="Oval 21">
              <a:extLst>
                <a:ext uri="{FF2B5EF4-FFF2-40B4-BE49-F238E27FC236}">
                  <a16:creationId xmlns:a16="http://schemas.microsoft.com/office/drawing/2014/main" id="{7BB796F0-2DE6-45B1-851B-D8991F423CF4}"/>
                </a:ext>
              </a:extLst>
            </p:cNvPr>
            <p:cNvSpPr/>
            <p:nvPr/>
          </p:nvSpPr>
          <p:spPr bwMode="gray">
            <a:xfrm>
              <a:off x="-1185544" y="4122202"/>
              <a:ext cx="548640" cy="548640"/>
            </a:xfrm>
            <a:prstGeom prst="ellipse">
              <a:avLst/>
            </a:prstGeom>
            <a:solidFill>
              <a:schemeClr val="tx1"/>
            </a:solidFill>
            <a:ln w="19050" algn="ctr">
              <a:noFill/>
              <a:miter lim="800000"/>
              <a:headEnd/>
              <a:tailEnd/>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 typeface="Wingdings 2" pitchFamily="18" charset="2"/>
                <a:buNone/>
                <a:tabLst/>
                <a:defRPr/>
              </a:pPr>
              <a:endParaRPr kumimoji="0" lang="fr-CI" sz="1100" b="1" i="0" u="none" strike="noStrike" kern="1200" cap="none" spc="0" normalizeH="0" baseline="0" noProof="0">
                <a:ln>
                  <a:noFill/>
                </a:ln>
                <a:solidFill>
                  <a:prstClr val="white"/>
                </a:solidFill>
                <a:effectLst/>
                <a:uLnTx/>
                <a:uFillTx/>
                <a:latin typeface="Helvetica" panose="020B0604020202020204" pitchFamily="34" charset="0"/>
                <a:ea typeface="Open Sans Semibold" panose="020B0706030804020204" pitchFamily="34" charset="0"/>
                <a:cs typeface="Helvetica" panose="020B0604020202020204" pitchFamily="34" charset="0"/>
              </a:endParaRPr>
            </a:p>
          </p:txBody>
        </p:sp>
        <p:pic>
          <p:nvPicPr>
            <p:cNvPr id="8" name="Image 7"/>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171838" y="4144755"/>
              <a:ext cx="524301" cy="530398"/>
            </a:xfrm>
            <a:prstGeom prst="rect">
              <a:avLst/>
            </a:prstGeom>
          </p:spPr>
        </p:pic>
      </p:grpSp>
      <p:grpSp>
        <p:nvGrpSpPr>
          <p:cNvPr id="14" name="Groupe 13"/>
          <p:cNvGrpSpPr/>
          <p:nvPr/>
        </p:nvGrpSpPr>
        <p:grpSpPr>
          <a:xfrm>
            <a:off x="1567381" y="5111071"/>
            <a:ext cx="548640" cy="548640"/>
            <a:chOff x="-1227267" y="5286500"/>
            <a:chExt cx="548640" cy="548640"/>
          </a:xfrm>
        </p:grpSpPr>
        <p:sp>
          <p:nvSpPr>
            <p:cNvPr id="45" name="Oval 21">
              <a:extLst>
                <a:ext uri="{FF2B5EF4-FFF2-40B4-BE49-F238E27FC236}">
                  <a16:creationId xmlns:a16="http://schemas.microsoft.com/office/drawing/2014/main" id="{7BB796F0-2DE6-45B1-851B-D8991F423CF4}"/>
                </a:ext>
              </a:extLst>
            </p:cNvPr>
            <p:cNvSpPr/>
            <p:nvPr/>
          </p:nvSpPr>
          <p:spPr bwMode="gray">
            <a:xfrm>
              <a:off x="-1227267" y="5286500"/>
              <a:ext cx="548640" cy="548640"/>
            </a:xfrm>
            <a:prstGeom prst="ellipse">
              <a:avLst/>
            </a:prstGeom>
            <a:solidFill>
              <a:schemeClr val="tx1"/>
            </a:solidFill>
            <a:ln w="19050" algn="ctr">
              <a:noFill/>
              <a:miter lim="800000"/>
              <a:headEnd/>
              <a:tailEnd/>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 typeface="Wingdings 2" pitchFamily="18" charset="2"/>
                <a:buNone/>
                <a:tabLst/>
                <a:defRPr/>
              </a:pPr>
              <a:endParaRPr kumimoji="0" lang="fr-CI" sz="1100" b="1" i="0" u="none" strike="noStrike" kern="1200" cap="none" spc="0" normalizeH="0" baseline="0" noProof="0">
                <a:ln>
                  <a:noFill/>
                </a:ln>
                <a:solidFill>
                  <a:prstClr val="white"/>
                </a:solidFill>
                <a:effectLst/>
                <a:uLnTx/>
                <a:uFillTx/>
                <a:latin typeface="Helvetica" panose="020B0604020202020204" pitchFamily="34" charset="0"/>
                <a:ea typeface="Open Sans Semibold" panose="020B0706030804020204" pitchFamily="34" charset="0"/>
                <a:cs typeface="Helvetica" panose="020B0604020202020204" pitchFamily="34" charset="0"/>
              </a:endParaRPr>
            </a:p>
          </p:txBody>
        </p:sp>
        <p:pic>
          <p:nvPicPr>
            <p:cNvPr id="9" name="Image 8"/>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1171838" y="5346402"/>
              <a:ext cx="422834" cy="432026"/>
            </a:xfrm>
            <a:prstGeom prst="rect">
              <a:avLst/>
            </a:prstGeom>
          </p:spPr>
        </p:pic>
      </p:grpSp>
      <p:sp>
        <p:nvSpPr>
          <p:cNvPr id="50" name="ZoneTexte 49">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pic>
        <p:nvPicPr>
          <p:cNvPr id="51" name="Image 50"/>
          <p:cNvPicPr>
            <a:picLocks noChangeAspect="1"/>
          </p:cNvPicPr>
          <p:nvPr/>
        </p:nvPicPr>
        <p:blipFill rotWithShape="1">
          <a:blip r:embed="rId7" cstate="print">
            <a:extLst>
              <a:ext uri="{28A0092B-C50C-407E-A947-70E740481C1C}">
                <a14:useLocalDpi xmlns:a14="http://schemas.microsoft.com/office/drawing/2010/main" val="0"/>
              </a:ext>
            </a:extLst>
          </a:blip>
          <a:srcRect l="4260" t="13024" r="74155" b="14121"/>
          <a:stretch/>
        </p:blipFill>
        <p:spPr>
          <a:xfrm>
            <a:off x="702475" y="1350400"/>
            <a:ext cx="392679" cy="406703"/>
          </a:xfrm>
          <a:prstGeom prst="rect">
            <a:avLst/>
          </a:prstGeom>
        </p:spPr>
      </p:pic>
      <p:sp>
        <p:nvSpPr>
          <p:cNvPr id="52"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Excédent par risque : pourquoi le calculer</a:t>
            </a:r>
          </a:p>
        </p:txBody>
      </p:sp>
      <p:sp>
        <p:nvSpPr>
          <p:cNvPr id="53"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La norme d'affectation des excédents oblige à connaître le résultat de chaque risque</a:t>
            </a:r>
          </a:p>
        </p:txBody>
      </p:sp>
      <p:sp>
        <p:nvSpPr>
          <p:cNvPr id="54"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Le FPPN ne présente qu'un résultat global. Adenka reconstitue le résultat de la maladie et du décès</a:t>
            </a:r>
          </a:p>
        </p:txBody>
      </p:sp>
      <p:sp>
        <p:nvSpPr>
          <p:cNvPr id="55"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Décision n° 05/2022/COM/UEMOA du 1er juin 2022, annexe, § 1.1.1. Règlement d'exécution n° 004/2022/COM/UEMOA du 1er juin 2022, art. 18. Adenka</a:t>
            </a:r>
          </a:p>
        </p:txBody>
      </p:sp>
      <p:sp>
        <p:nvSpPr>
          <p:cNvPr id="56" name="TextBox 55"/>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UEMOA : Union économique et monétaire ouest-africaine</a:t>
            </a:r>
          </a:p>
        </p:txBody>
      </p:sp>
    </p:spTree>
    <p:extLst>
      <p:ext uri="{BB962C8B-B14F-4D97-AF65-F5344CB8AC3E}">
        <p14:creationId xmlns:p14="http://schemas.microsoft.com/office/powerpoint/2010/main" val="666676059"/>
      </p:ext>
    </p:extLst>
  </p:cSld>
  <p:clrMapOvr>
    <a:masterClrMapping/>
  </p:clrMapOvr>
  <p:transition>
    <p:fade/>
  </p:transition>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Excédent par risque</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Depuis 2025, la maladie est déficitaire et le décès finance l'ensemble</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Excédent maladie 2025 : -237 774 567 FCFA. Excédent décès 2025 : 449 151 155 FCFA</a:t>
            </a:r>
          </a:p>
        </p:txBody>
      </p:sp>
      <p:sp>
        <p:nvSpPr>
          <p:cNvPr id="30" name="TextBox 29"/>
          <p:cNvSpPr txBox="1"/>
          <p:nvPr/>
        </p:nvSpPr>
        <p:spPr>
          <a:xfrm>
            <a:off x="503999" y="1386000"/>
            <a:ext cx="6552000" cy="251999"/>
          </a:xfrm>
          <a:prstGeom prst="rect">
            <a:avLst/>
          </a:prstGeom>
          <a:noFill/>
        </p:spPr>
        <p:txBody>
          <a:bodyPr wrap="square">
            <a:spAutoFit/>
          </a:bodyPr>
          <a:lstStyle/>
          <a:p>
            <a:pPr algn="ctr">
              <a:spcAft>
                <a:spcPts val="0"/>
              </a:spcAft>
            </a:pPr>
            <a:r>
              <a:rPr sz="1200" b="0">
                <a:solidFill>
                  <a:srgbClr val="EFAC62"/>
                </a:solidFill>
                <a:latin typeface="Helvetica"/>
              </a:rPr>
              <a:t>Figure 32 : Excédent technique par risque, frais répartis au prorata des cotisations</a:t>
            </a:r>
          </a:p>
        </p:txBody>
      </p:sp>
      <p:sp>
        <p:nvSpPr>
          <p:cNvPr id="31" name="TextBox 30"/>
          <p:cNvSpPr txBox="1"/>
          <p:nvPr/>
        </p:nvSpPr>
        <p:spPr>
          <a:xfrm>
            <a:off x="503999" y="1602000"/>
            <a:ext cx="6552000" cy="162000"/>
          </a:xfrm>
          <a:prstGeom prst="rect">
            <a:avLst/>
          </a:prstGeom>
          <a:noFill/>
        </p:spPr>
        <p:txBody>
          <a:bodyPr wrap="square">
            <a:spAutoFit/>
          </a:bodyPr>
          <a:lstStyle/>
          <a:p>
            <a:pPr algn="l">
              <a:spcAft>
                <a:spcPts val="0"/>
              </a:spcAft>
            </a:pPr>
            <a:r>
              <a:rPr sz="900" b="0">
                <a:solidFill>
                  <a:srgbClr val="060606"/>
                </a:solidFill>
                <a:latin typeface="Helvetica"/>
              </a:rPr>
              <a:t>En millions de FCFA</a:t>
            </a:r>
          </a:p>
        </p:txBody>
      </p:sp>
      <p:graphicFrame>
        <p:nvGraphicFramePr>
          <p:cNvPr id="32" name="Chart 31"/>
          <p:cNvGraphicFramePr>
            <a:graphicFrameLocks noGrp="1"/>
          </p:cNvGraphicFramePr>
          <p:nvPr/>
        </p:nvGraphicFramePr>
        <p:xfrm>
          <a:off x="503999" y="1782000"/>
          <a:ext cx="6552000" cy="4086000"/>
        </p:xfrm>
        <a:graphic>
          <a:graphicData uri="http://schemas.openxmlformats.org/drawingml/2006/chart">
            <c:chart xmlns:c="http://schemas.openxmlformats.org/drawingml/2006/chart" r:id="rId6"/>
          </a:graphicData>
        </a:graphic>
      </p:graphicFrame>
      <p:sp>
        <p:nvSpPr>
          <p:cNvPr id="33"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balances des comptes du FPPN (Sage 100), exercices 2020 à 2025 et du 01/01 au 31/08/2026 (provisoire). Traitements Adenka. Répartition des frais par Adenka</a:t>
            </a:r>
          </a:p>
        </p:txBody>
      </p:sp>
      <p:sp>
        <p:nvSpPr>
          <p:cNvPr id="34" name="TextBox 33"/>
          <p:cNvSpPr txBox="1"/>
          <p:nvPr/>
        </p:nvSpPr>
        <p:spPr>
          <a:xfrm>
            <a:off x="7272000" y="1440000"/>
            <a:ext cx="4464000" cy="4428000"/>
          </a:xfrm>
          <a:prstGeom prst="rect">
            <a:avLst/>
          </a:prstGeom>
          <a:noFill/>
        </p:spPr>
        <p:txBody>
          <a:bodyPr wrap="square" lIns="54000" rIns="54000"/>
          <a:lstStyle/>
          <a:p>
            <a:pPr algn="just">
              <a:spcAft>
                <a:spcPts val="600"/>
              </a:spcAft>
            </a:pPr>
            <a:r>
              <a:rPr sz="1400" b="1">
                <a:solidFill>
                  <a:srgbClr val="060606"/>
                </a:solidFill>
                <a:latin typeface="Helvetica"/>
              </a:rPr>
              <a:t>La maladie devient déficitaire en 2025, une fois ses frais pris en compte.</a:t>
            </a:r>
            <a:r>
              <a:rPr sz="1400" b="0">
                <a:solidFill>
                  <a:srgbClr val="060606"/>
                </a:solidFill>
                <a:latin typeface="Helvetica"/>
              </a:rPr>
              <a:t> Son excédent passe de 818 990 532 FCFA en 2022 à -237 774 567 FCFA en 2025.</a:t>
            </a:r>
          </a:p>
          <a:p>
            <a:pPr algn="just">
              <a:spcAft>
                <a:spcPts val="600"/>
              </a:spcAft>
            </a:pPr>
            <a:r>
              <a:rPr sz="1400" b="1">
                <a:solidFill>
                  <a:srgbClr val="060606"/>
                </a:solidFill>
                <a:latin typeface="Helvetica"/>
              </a:rPr>
              <a:t>Le décès est excédentaire chaque année depuis 2022.</a:t>
            </a:r>
            <a:r>
              <a:rPr sz="1400" b="0">
                <a:solidFill>
                  <a:srgbClr val="060606"/>
                </a:solidFill>
                <a:latin typeface="Helvetica"/>
              </a:rPr>
              <a:t> Il dégage 449 151 155 FCFA en 2025.</a:t>
            </a:r>
          </a:p>
          <a:p>
            <a:pPr algn="just">
              <a:spcAft>
                <a:spcPts val="600"/>
              </a:spcAft>
            </a:pPr>
            <a:r>
              <a:rPr sz="1400" b="1">
                <a:solidFill>
                  <a:srgbClr val="060606"/>
                </a:solidFill>
                <a:latin typeface="Helvetica"/>
              </a:rPr>
              <a:t>Sur les huit mois de 2026, le déficit maladie atteint -701 679 552 FCFA.</a:t>
            </a:r>
          </a:p>
          <a:p>
            <a:pPr algn="just">
              <a:spcAft>
                <a:spcPts val="600"/>
              </a:spcAft>
            </a:pPr>
            <a:r>
              <a:rPr sz="1400" b="1">
                <a:solidFill>
                  <a:srgbClr val="060606"/>
                </a:solidFill>
                <a:latin typeface="Helvetica"/>
              </a:rPr>
              <a:t>Implication pour le FPPN.</a:t>
            </a:r>
            <a:r>
              <a:rPr sz="1400" b="0">
                <a:solidFill>
                  <a:srgbClr val="060606"/>
                </a:solidFill>
                <a:latin typeface="Helvetica"/>
              </a:rPr>
              <a:t> Le décès subventionne la maladie : si le barème officiel confirme une clé de 70 % pour la maladie, la cotisation maladie ne couvre plus son coût complet et doit être revue.</a:t>
            </a:r>
          </a:p>
        </p:txBody>
      </p:sp>
      <p:sp>
        <p:nvSpPr>
          <p:cNvPr id="35" name="TextBox 34"/>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a:t>
            </a:r>
          </a:p>
        </p:txBody>
      </p:sp>
    </p:spTree>
    <p:extLst>
      <p:ext uri="{BB962C8B-B14F-4D97-AF65-F5344CB8AC3E}">
        <p14:creationId xmlns:p14="http://schemas.microsoft.com/office/powerpoint/2010/main" val="3595459400"/>
      </p:ext>
    </p:extLst>
  </p:cSld>
  <p:clrMapOvr>
    <a:masterClrMapping/>
  </p:clrMapOvr>
  <p:transition>
    <p:fade/>
  </p:transition>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Affectation des excédents</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Depuis 2024, la dotation à la réserve obligatoire atteint le minimum exigé par risque</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Dotation de la réserve légale (compte 111) rapportée au résultat de l'exercice précédent, puis comparée aux deux normes</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balances des comptes du FPPN (Sage 100), exercices 2020 à 2025 et du 01/01 au 31/08/2026 (provisoire). Traitements Adenka. Décision n° 05/2022/COM/UEMOA du 1er juin 2022, annexe, § 1.1.1. Règlement d'exécution n° 004/2022/COM/UEMOA du 1er juin 2022, art. 18</a:t>
            </a:r>
          </a:p>
        </p:txBody>
      </p:sp>
      <p:sp>
        <p:nvSpPr>
          <p:cNvPr id="31" name="TextBox 30"/>
          <p:cNvSpPr txBox="1"/>
          <p:nvPr/>
        </p:nvSpPr>
        <p:spPr>
          <a:xfrm>
            <a:off x="503999" y="1386000"/>
            <a:ext cx="10368000" cy="216000"/>
          </a:xfrm>
          <a:prstGeom prst="rect">
            <a:avLst/>
          </a:prstGeom>
          <a:noFill/>
        </p:spPr>
        <p:txBody>
          <a:bodyPr wrap="square" anchor="t" lIns="54000" rIns="54000"/>
          <a:lstStyle/>
          <a:p>
            <a:pPr algn="ctr"/>
            <a:r>
              <a:rPr sz="1200" b="0">
                <a:solidFill>
                  <a:srgbClr val="EFAC62"/>
                </a:solidFill>
                <a:latin typeface="Helvetica"/>
              </a:rPr>
              <a:t>Tableau 20 : Dotation de la réserve obligatoire et normes</a:t>
            </a:r>
          </a:p>
        </p:txBody>
      </p:sp>
      <p:graphicFrame>
        <p:nvGraphicFramePr>
          <p:cNvPr id="32" name="Table 31"/>
          <p:cNvGraphicFramePr>
            <a:graphicFrameLocks noGrp="1"/>
          </p:cNvGraphicFramePr>
          <p:nvPr/>
        </p:nvGraphicFramePr>
        <p:xfrm>
          <a:off x="503999" y="1655999"/>
          <a:ext cx="10368000" cy="992446"/>
        </p:xfrm>
        <a:graphic>
          <a:graphicData uri="http://schemas.openxmlformats.org/drawingml/2006/table">
            <a:tbl>
              <a:tblPr firstRow="0" bandRow="0">
                <a:tableStyleId>{5940675A-B579-460E-94D1-54222C63F5DA}</a:tableStyleId>
              </a:tblPr>
              <a:tblGrid>
                <a:gridCol w="1152000"/>
                <a:gridCol w="1800000"/>
                <a:gridCol w="1584000"/>
                <a:gridCol w="936000"/>
                <a:gridCol w="1584000"/>
                <a:gridCol w="1584000"/>
                <a:gridCol w="1728000"/>
              </a:tblGrid>
              <a:tr h="362419">
                <a:tc>
                  <a:txBody>
                    <a:bodyPr/>
                    <a:lstStyle/>
                    <a:p>
                      <a:pPr marL="0" indent="0" lvl="0">
                        <a:buNone/>
                      </a:pPr>
                      <a:r>
                        <a:rPr sz="1000" b="1">
                          <a:solidFill>
                            <a:srgbClr val="FFFFFF"/>
                          </a:solidFill>
                          <a:latin typeface="Helvetica"/>
                        </a:rPr>
                        <a:t>Affectation en</a:t>
                      </a:r>
                    </a:p>
                  </a:txBody>
                  <a:tcPr marL="43200" marR="43200" marT="14400" marB="14400" anchor="ctr">
                    <a:solidFill>
                      <a:srgbClr val="060606"/>
                    </a:solidFill>
                  </a:tcPr>
                </a:tc>
                <a:tc>
                  <a:txBody>
                    <a:bodyPr/>
                    <a:lstStyle/>
                    <a:p>
                      <a:pPr marL="0" indent="0" lvl="0">
                        <a:buNone/>
                      </a:pPr>
                      <a:r>
                        <a:rPr sz="1000" b="1">
                          <a:solidFill>
                            <a:srgbClr val="FFFFFF"/>
                          </a:solidFill>
                          <a:latin typeface="Helvetica"/>
                        </a:rPr>
                        <a:t>Résultat de l'exercice précédent</a:t>
                      </a:r>
                    </a:p>
                  </a:txBody>
                  <a:tcPr marL="43200" marR="43200" marT="14400" marB="14400" anchor="ctr">
                    <a:solidFill>
                      <a:srgbClr val="060606"/>
                    </a:solidFill>
                  </a:tcPr>
                </a:tc>
                <a:tc>
                  <a:txBody>
                    <a:bodyPr/>
                    <a:lstStyle/>
                    <a:p>
                      <a:pPr marL="0" indent="0" lvl="0">
                        <a:buNone/>
                      </a:pPr>
                      <a:r>
                        <a:rPr sz="1000" b="1">
                          <a:solidFill>
                            <a:srgbClr val="FFFFFF"/>
                          </a:solidFill>
                          <a:latin typeface="Helvetica"/>
                        </a:rPr>
                        <a:t>Dotation réelle</a:t>
                      </a:r>
                    </a:p>
                  </a:txBody>
                  <a:tcPr marL="43200" marR="43200" marT="14400" marB="14400" anchor="ctr">
                    <a:solidFill>
                      <a:srgbClr val="060606"/>
                    </a:solidFill>
                  </a:tcPr>
                </a:tc>
                <a:tc>
                  <a:txBody>
                    <a:bodyPr/>
                    <a:lstStyle/>
                    <a:p>
                      <a:pPr marL="0" indent="0" lvl="0">
                        <a:buNone/>
                      </a:pPr>
                      <a:r>
                        <a:rPr sz="1000" b="1">
                          <a:solidFill>
                            <a:srgbClr val="FFFFFF"/>
                          </a:solidFill>
                          <a:latin typeface="Helvetica"/>
                        </a:rPr>
                        <a:t>Taux</a:t>
                      </a:r>
                    </a:p>
                  </a:txBody>
                  <a:tcPr marL="43200" marR="43200" marT="14400" marB="14400" anchor="ctr">
                    <a:solidFill>
                      <a:srgbClr val="060606"/>
                    </a:solidFill>
                  </a:tcPr>
                </a:tc>
                <a:tc>
                  <a:txBody>
                    <a:bodyPr/>
                    <a:lstStyle/>
                    <a:p>
                      <a:pPr marL="0" indent="0" lvl="0">
                        <a:buNone/>
                      </a:pPr>
                      <a:r>
                        <a:rPr sz="1000" b="1">
                          <a:solidFill>
                            <a:srgbClr val="FFFFFF"/>
                          </a:solidFill>
                          <a:latin typeface="Helvetica"/>
                        </a:rPr>
                        <a:t>Minimum de 20 %</a:t>
                      </a:r>
                    </a:p>
                  </a:txBody>
                  <a:tcPr marL="43200" marR="43200" marT="14400" marB="14400" anchor="ctr">
                    <a:solidFill>
                      <a:srgbClr val="060606"/>
                    </a:solidFill>
                  </a:tcPr>
                </a:tc>
                <a:tc>
                  <a:txBody>
                    <a:bodyPr/>
                    <a:lstStyle/>
                    <a:p>
                      <a:pPr marL="0" indent="0" lvl="0">
                        <a:buNone/>
                      </a:pPr>
                      <a:r>
                        <a:rPr sz="1000" b="1">
                          <a:solidFill>
                            <a:srgbClr val="FFFFFF"/>
                          </a:solidFill>
                          <a:latin typeface="Helvetica"/>
                        </a:rPr>
                        <a:t>Minimum par risque</a:t>
                      </a:r>
                    </a:p>
                  </a:txBody>
                  <a:tcPr marL="43200" marR="43200" marT="14400" marB="14400" anchor="ctr">
                    <a:solidFill>
                      <a:srgbClr val="060606"/>
                    </a:solidFill>
                  </a:tcPr>
                </a:tc>
                <a:tc>
                  <a:txBody>
                    <a:bodyPr/>
                    <a:lstStyle/>
                    <a:p>
                      <a:pPr marL="0" indent="0" lvl="0">
                        <a:buNone/>
                      </a:pPr>
                      <a:r>
                        <a:rPr sz="1000" b="1">
                          <a:solidFill>
                            <a:srgbClr val="FFFFFF"/>
                          </a:solidFill>
                          <a:latin typeface="Helvetica"/>
                        </a:rPr>
                        <a:t>Écart au minimum par risque</a:t>
                      </a:r>
                    </a:p>
                  </a:txBody>
                  <a:tcPr marL="43200" marR="43200" marT="14400" marB="14400" anchor="ctr">
                    <a:solidFill>
                      <a:srgbClr val="060606"/>
                    </a:solidFill>
                  </a:tcPr>
                </a:tc>
              </a:tr>
              <a:tr h="210009">
                <a:tc>
                  <a:txBody>
                    <a:bodyPr/>
                    <a:lstStyle/>
                    <a:p>
                      <a:pPr marL="0" indent="0" lvl="0">
                        <a:buNone/>
                      </a:pPr>
                      <a:r>
                        <a:rPr sz="1000" b="1">
                          <a:solidFill>
                            <a:srgbClr val="060606"/>
                          </a:solidFill>
                          <a:latin typeface="Helvetica"/>
                        </a:rPr>
                        <a:t>2023</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2 060 332 677 FCFA</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184 219 879 FCFA</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8,94 %</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412 066 535 FCFA</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387 843 936 FCFA</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-203 624 057 FCFA</a:t>
                      </a:r>
                    </a:p>
                  </a:txBody>
                  <a:tcPr marL="43200" marR="43200" marT="14400" marB="14400" anchor="ctr">
                    <a:solidFill>
                      <a:srgbClr val="FFFFFF"/>
                    </a:solidFill>
                  </a:tcPr>
                </a:tc>
              </a:tr>
              <a:tr h="210009">
                <a:tc>
                  <a:txBody>
                    <a:bodyPr/>
                    <a:lstStyle/>
                    <a:p>
                      <a:pPr marL="0" indent="0" lvl="0">
                        <a:buNone/>
                      </a:pPr>
                      <a:r>
                        <a:rPr sz="1000" b="1">
                          <a:solidFill>
                            <a:srgbClr val="060606"/>
                          </a:solidFill>
                          <a:latin typeface="Helvetica"/>
                        </a:rPr>
                        <a:t>2024</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930 629 102 FCFA</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335 026 477 FCFA</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36,00 %</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186 125 820 FCFA</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320 983 343 FCFA</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14 043 134 FCFA</a:t>
                      </a:r>
                    </a:p>
                  </a:txBody>
                  <a:tcPr marL="43200" marR="43200" marT="14400" marB="14400" anchor="ctr">
                    <a:solidFill>
                      <a:srgbClr val="F2F2F2"/>
                    </a:solidFill>
                  </a:tcPr>
                </a:tc>
              </a:tr>
              <a:tr h="210009">
                <a:tc>
                  <a:txBody>
                    <a:bodyPr/>
                    <a:lstStyle/>
                    <a:p>
                      <a:pPr marL="0" indent="0" lvl="0">
                        <a:buNone/>
                      </a:pPr>
                      <a:r>
                        <a:rPr sz="1000" b="1">
                          <a:solidFill>
                            <a:srgbClr val="060606"/>
                          </a:solidFill>
                          <a:latin typeface="Helvetica"/>
                        </a:rPr>
                        <a:t>2025</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792 069 641 FCFA</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300 986 463 FCFA</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38,00 %</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158 413 928 FCFA</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300 300 308 FCFA</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686 155 FCFA</a:t>
                      </a:r>
                    </a:p>
                  </a:txBody>
                  <a:tcPr marL="43200" marR="43200" marT="14400" marB="14400" anchor="ctr">
                    <a:solidFill>
                      <a:srgbClr val="FFFFFF"/>
                    </a:solidFill>
                  </a:tcPr>
                </a:tc>
              </a:tr>
            </a:tbl>
          </a:graphicData>
        </a:graphic>
      </p:graphicFrame>
      <p:sp>
        <p:nvSpPr>
          <p:cNvPr id="33" name="TextBox 32"/>
          <p:cNvSpPr txBox="1"/>
          <p:nvPr/>
        </p:nvSpPr>
        <p:spPr>
          <a:xfrm>
            <a:off x="503999" y="2756448"/>
            <a:ext cx="11232000" cy="3111552"/>
          </a:xfrm>
          <a:prstGeom prst="rect">
            <a:avLst/>
          </a:prstGeom>
          <a:noFill/>
        </p:spPr>
        <p:txBody>
          <a:bodyPr wrap="square" lIns="54000" rIns="54000"/>
          <a:lstStyle/>
          <a:p>
            <a:pPr algn="just">
              <a:spcAft>
                <a:spcPts val="600"/>
              </a:spcAft>
            </a:pPr>
            <a:r>
              <a:rPr sz="1300" b="1">
                <a:solidFill>
                  <a:srgbClr val="060606"/>
                </a:solidFill>
                <a:latin typeface="Helvetica"/>
              </a:rPr>
              <a:t>La dotation passe de 8,94 % du résultat en 2023 à 38,00 % en 2025.</a:t>
            </a:r>
            <a:r>
              <a:rPr sz="1300" b="0">
                <a:solidFill>
                  <a:srgbClr val="060606"/>
                </a:solidFill>
                <a:latin typeface="Helvetica"/>
              </a:rPr>
              <a:t> En 2023, elle restait sous les deux minimums, pendant le délai de mise en conformité de trois ans.</a:t>
            </a:r>
          </a:p>
          <a:p>
            <a:pPr algn="just">
              <a:spcAft>
                <a:spcPts val="600"/>
              </a:spcAft>
            </a:pPr>
            <a:r>
              <a:rPr sz="1300" b="1">
                <a:solidFill>
                  <a:srgbClr val="060606"/>
                </a:solidFill>
                <a:latin typeface="Helvetica"/>
              </a:rPr>
              <a:t>En 2024, une partie des excédents a aussi servi à apurer les pertes reportées et à doter les réserves facultatives.</a:t>
            </a:r>
          </a:p>
          <a:p>
            <a:pPr algn="just">
              <a:spcAft>
                <a:spcPts val="600"/>
              </a:spcAft>
            </a:pPr>
            <a:r>
              <a:rPr sz="1300" b="1">
                <a:solidFill>
                  <a:srgbClr val="060606"/>
                </a:solidFill>
                <a:latin typeface="Helvetica"/>
              </a:rPr>
              <a:t>Implication pour le FPPN.</a:t>
            </a:r>
            <a:r>
              <a:rPr sz="1300" b="0">
                <a:solidFill>
                  <a:srgbClr val="060606"/>
                </a:solidFill>
                <a:latin typeface="Helvetica"/>
              </a:rPr>
              <a:t> Le FPPN respecte désormais la règle d'affectation, mais la réserve reste sous six mois de prestations : la règle d'affectation seule ne suffit pas à rattraper le retard.</a:t>
            </a:r>
          </a:p>
        </p:txBody>
      </p:sp>
      <p:sp>
        <p:nvSpPr>
          <p:cNvPr id="34" name="TextBox 33"/>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UEMOA : Union économique et monétaire ouest-africaine</a:t>
            </a:r>
          </a:p>
        </p:txBody>
      </p:sp>
    </p:spTree>
    <p:extLst>
      <p:ext uri="{BB962C8B-B14F-4D97-AF65-F5344CB8AC3E}">
        <p14:creationId xmlns:p14="http://schemas.microsoft.com/office/powerpoint/2010/main" val="1241320503"/>
      </p:ext>
    </p:extLst>
  </p:cSld>
  <p:clrMapOvr>
    <a:masterClrMapping/>
  </p:clrMapOvr>
  <p:transition>
    <p:fade/>
  </p:transition>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Marge de solvabilité</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La marge disponible ne couvre la marge exigée que si l'on ignore les pertes reportées</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2025 : marge exigée 566 209 845 FCFA, disponible 4 396 841 817 FCFA comme le FPPN, -438 242 200 FCFA nette des pertes</a:t>
            </a:r>
          </a:p>
        </p:txBody>
      </p:sp>
      <p:sp>
        <p:nvSpPr>
          <p:cNvPr id="30" name="TextBox 29"/>
          <p:cNvSpPr txBox="1"/>
          <p:nvPr/>
        </p:nvSpPr>
        <p:spPr>
          <a:xfrm>
            <a:off x="503999" y="1386000"/>
            <a:ext cx="6552000" cy="251999"/>
          </a:xfrm>
          <a:prstGeom prst="rect">
            <a:avLst/>
          </a:prstGeom>
          <a:noFill/>
        </p:spPr>
        <p:txBody>
          <a:bodyPr wrap="square">
            <a:spAutoFit/>
          </a:bodyPr>
          <a:lstStyle/>
          <a:p>
            <a:pPr algn="ctr">
              <a:spcAft>
                <a:spcPts val="0"/>
              </a:spcAft>
            </a:pPr>
            <a:r>
              <a:rPr sz="1200" b="0">
                <a:solidFill>
                  <a:srgbClr val="EFAC62"/>
                </a:solidFill>
                <a:latin typeface="Helvetica"/>
              </a:rPr>
              <a:t>Figure 33 : Marge de solvabilité exigée et disponible</a:t>
            </a:r>
          </a:p>
        </p:txBody>
      </p:sp>
      <p:sp>
        <p:nvSpPr>
          <p:cNvPr id="31" name="TextBox 30"/>
          <p:cNvSpPr txBox="1"/>
          <p:nvPr/>
        </p:nvSpPr>
        <p:spPr>
          <a:xfrm>
            <a:off x="503999" y="1602000"/>
            <a:ext cx="6552000" cy="162000"/>
          </a:xfrm>
          <a:prstGeom prst="rect">
            <a:avLst/>
          </a:prstGeom>
          <a:noFill/>
        </p:spPr>
        <p:txBody>
          <a:bodyPr wrap="square">
            <a:spAutoFit/>
          </a:bodyPr>
          <a:lstStyle/>
          <a:p>
            <a:pPr algn="l">
              <a:spcAft>
                <a:spcPts val="0"/>
              </a:spcAft>
            </a:pPr>
            <a:r>
              <a:rPr sz="900" b="0">
                <a:solidFill>
                  <a:srgbClr val="060606"/>
                </a:solidFill>
                <a:latin typeface="Helvetica"/>
              </a:rPr>
              <a:t>En millions de FCFA</a:t>
            </a:r>
          </a:p>
        </p:txBody>
      </p:sp>
      <p:graphicFrame>
        <p:nvGraphicFramePr>
          <p:cNvPr id="32" name="Chart 31"/>
          <p:cNvGraphicFramePr>
            <a:graphicFrameLocks noGrp="1"/>
          </p:cNvGraphicFramePr>
          <p:nvPr/>
        </p:nvGraphicFramePr>
        <p:xfrm>
          <a:off x="503999" y="1782000"/>
          <a:ext cx="6552000" cy="4086000"/>
        </p:xfrm>
        <a:graphic>
          <a:graphicData uri="http://schemas.openxmlformats.org/drawingml/2006/chart">
            <c:chart xmlns:c="http://schemas.openxmlformats.org/drawingml/2006/chart" r:id="rId6"/>
          </a:graphicData>
        </a:graphic>
      </p:graphicFrame>
      <p:sp>
        <p:nvSpPr>
          <p:cNvPr id="33"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balances des comptes du FPPN (Sage 100), exercices 2020 à 2025 et du 01/01 au 31/08/2026 (provisoire). Traitements Adenka. Décision n° 05/2022/COM/UEMOA du 1er juin 2022, annexe, § 1.1.1. PCMS, fiche n° 1</a:t>
            </a:r>
          </a:p>
        </p:txBody>
      </p:sp>
      <p:sp>
        <p:nvSpPr>
          <p:cNvPr id="34" name="TextBox 33"/>
          <p:cNvSpPr txBox="1"/>
          <p:nvPr/>
        </p:nvSpPr>
        <p:spPr>
          <a:xfrm>
            <a:off x="7272000" y="1440000"/>
            <a:ext cx="4464000" cy="4428000"/>
          </a:xfrm>
          <a:prstGeom prst="rect">
            <a:avLst/>
          </a:prstGeom>
          <a:noFill/>
        </p:spPr>
        <p:txBody>
          <a:bodyPr wrap="square" lIns="54000" rIns="54000"/>
          <a:lstStyle/>
          <a:p>
            <a:pPr algn="just">
              <a:spcAft>
                <a:spcPts val="600"/>
              </a:spcAft>
            </a:pPr>
            <a:r>
              <a:rPr sz="1400" b="1">
                <a:solidFill>
                  <a:srgbClr val="060606"/>
                </a:solidFill>
                <a:latin typeface="Helvetica"/>
              </a:rPr>
              <a:t>La marge disponible comme le FPPN repose surtout sur la réserve disponible du compte 10620000</a:t>
            </a:r>
            <a:r>
              <a:rPr sz="1400" b="0">
                <a:solidFill>
                  <a:srgbClr val="060606"/>
                </a:solidFill>
                <a:latin typeface="Helvetica"/>
              </a:rPr>
              <a:t> (2 899 400 000 FCFA), dont la nature reste à confirmer.</a:t>
            </a:r>
          </a:p>
          <a:p>
            <a:pPr algn="just">
              <a:spcAft>
                <a:spcPts val="600"/>
              </a:spcAft>
            </a:pPr>
            <a:r>
              <a:rPr sz="1400" b="1">
                <a:solidFill>
                  <a:srgbClr val="060606"/>
                </a:solidFill>
                <a:latin typeface="Helvetica"/>
              </a:rPr>
              <a:t>Nette des pertes reportées, la marge disponible est négative chaque année</a:t>
            </a:r>
            <a:r>
              <a:rPr sz="1400" b="0">
                <a:solidFill>
                  <a:srgbClr val="060606"/>
                </a:solidFill>
                <a:latin typeface="Helvetica"/>
              </a:rPr>
              <a:t>, même si elle se rapproche de zéro jusqu'en 2025.</a:t>
            </a:r>
          </a:p>
          <a:p>
            <a:pPr algn="just">
              <a:spcAft>
                <a:spcPts val="600"/>
              </a:spcAft>
            </a:pPr>
            <a:r>
              <a:rPr sz="1400" b="1">
                <a:solidFill>
                  <a:srgbClr val="060606"/>
                </a:solidFill>
                <a:latin typeface="Helvetica"/>
              </a:rPr>
              <a:t>La marge exigée augmente avec les cotisations</a:t>
            </a:r>
            <a:r>
              <a:rPr sz="1400" b="0">
                <a:solidFill>
                  <a:srgbClr val="060606"/>
                </a:solidFill>
                <a:latin typeface="Helvetica"/>
              </a:rPr>
              <a:t> : elle passe de 423 039 138 FCFA en 2021 à 615 265 510 FCFA en 2026.</a:t>
            </a:r>
          </a:p>
          <a:p>
            <a:pPr algn="just">
              <a:spcAft>
                <a:spcPts val="600"/>
              </a:spcAft>
            </a:pPr>
            <a:r>
              <a:rPr sz="1400" b="1">
                <a:solidFill>
                  <a:srgbClr val="060606"/>
                </a:solidFill>
                <a:latin typeface="Helvetica"/>
              </a:rPr>
              <a:t>Implication pour le FPPN.</a:t>
            </a:r>
            <a:r>
              <a:rPr sz="1400" b="0">
                <a:solidFill>
                  <a:srgbClr val="060606"/>
                </a:solidFill>
                <a:latin typeface="Helvetica"/>
              </a:rPr>
              <a:t> Si le compte 10620000 est un écart de réévaluation, comme son numéro l'indique dans le PCMS, il ne compte pas dans la marge, et le FPPN est non conforme dans les deux lectures. Le FPPN doit documenter l'origine de ce montant.</a:t>
            </a:r>
          </a:p>
        </p:txBody>
      </p:sp>
      <p:sp>
        <p:nvSpPr>
          <p:cNvPr id="35" name="TextBox 34"/>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UEMOA : Union économique et monétaire ouest-africaine | PCMS : plan comptable des mutuelles sociales</a:t>
            </a:r>
          </a:p>
        </p:txBody>
      </p:sp>
    </p:spTree>
    <p:extLst>
      <p:ext uri="{BB962C8B-B14F-4D97-AF65-F5344CB8AC3E}">
        <p14:creationId xmlns:p14="http://schemas.microsoft.com/office/powerpoint/2010/main" val="725773809"/>
      </p:ext>
    </p:extLst>
  </p:cSld>
  <p:clrMapOvr>
    <a:masterClrMapping/>
  </p:clrMapOvr>
  <p:transition>
    <p:fade/>
  </p:transition>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Contrôle du plan comptable</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Deux écarts au plan comptable touchent directement les calculs actuariels</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Contrôle limité aux comptes qui alimentent les provisions, les réserves, l'épargne, les cotisations, les prestations et les placements</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PCMS (mai 2012), liste des comptes et fiches n° 1, 2, 6 et 25. Balances du FPPN</a:t>
            </a:r>
          </a:p>
        </p:txBody>
      </p:sp>
      <p:sp>
        <p:nvSpPr>
          <p:cNvPr id="31" name="TextBox 30"/>
          <p:cNvSpPr txBox="1"/>
          <p:nvPr/>
        </p:nvSpPr>
        <p:spPr>
          <a:xfrm>
            <a:off x="503999" y="1386000"/>
            <a:ext cx="11231999" cy="216000"/>
          </a:xfrm>
          <a:prstGeom prst="rect">
            <a:avLst/>
          </a:prstGeom>
          <a:noFill/>
        </p:spPr>
        <p:txBody>
          <a:bodyPr wrap="square" anchor="t" lIns="54000" rIns="54000"/>
          <a:lstStyle/>
          <a:p>
            <a:pPr algn="ctr"/>
            <a:r>
              <a:rPr sz="1200" b="0">
                <a:solidFill>
                  <a:srgbClr val="EFAC62"/>
                </a:solidFill>
                <a:latin typeface="Helvetica"/>
              </a:rPr>
              <a:t>Tableau 21 : Contrôle du classement des comptes selon le PCMS</a:t>
            </a:r>
          </a:p>
        </p:txBody>
      </p:sp>
      <p:graphicFrame>
        <p:nvGraphicFramePr>
          <p:cNvPr id="32" name="Table 31"/>
          <p:cNvGraphicFramePr>
            <a:graphicFrameLocks noGrp="1"/>
          </p:cNvGraphicFramePr>
          <p:nvPr/>
        </p:nvGraphicFramePr>
        <p:xfrm>
          <a:off x="503999" y="1655999"/>
          <a:ext cx="11231996" cy="3478505"/>
        </p:xfrm>
        <a:graphic>
          <a:graphicData uri="http://schemas.openxmlformats.org/drawingml/2006/table">
            <a:tbl>
              <a:tblPr firstRow="0" bandRow="0">
                <a:tableStyleId>{5940675A-B579-460E-94D1-54222C63F5DA}</a:tableStyleId>
              </a:tblPr>
              <a:tblGrid>
                <a:gridCol w="1655999"/>
                <a:gridCol w="2951999"/>
                <a:gridCol w="3311999"/>
                <a:gridCol w="3311999"/>
              </a:tblGrid>
              <a:tr h="194768">
                <a:tc>
                  <a:txBody>
                    <a:bodyPr/>
                    <a:lstStyle/>
                    <a:p>
                      <a:pPr marL="0" indent="0" lvl="0">
                        <a:buNone/>
                      </a:pPr>
                      <a:r>
                        <a:rPr sz="900" b="1">
                          <a:solidFill>
                            <a:srgbClr val="FFFFFF"/>
                          </a:solidFill>
                          <a:latin typeface="Helvetica"/>
                        </a:rPr>
                        <a:t>Point</a:t>
                      </a:r>
                    </a:p>
                  </a:txBody>
                  <a:tcPr marL="43200" marR="43200" marT="14400" marB="14400" anchor="ctr">
                    <a:solidFill>
                      <a:srgbClr val="060606"/>
                    </a:solidFill>
                  </a:tcPr>
                </a:tc>
                <a:tc>
                  <a:txBody>
                    <a:bodyPr/>
                    <a:lstStyle/>
                    <a:p>
                      <a:pPr marL="0" indent="0" lvl="0">
                        <a:buNone/>
                      </a:pPr>
                      <a:r>
                        <a:rPr sz="900" b="1">
                          <a:solidFill>
                            <a:srgbClr val="FFFFFF"/>
                          </a:solidFill>
                          <a:latin typeface="Helvetica"/>
                        </a:rPr>
                        <a:t>Attendu selon le PCMS</a:t>
                      </a:r>
                    </a:p>
                  </a:txBody>
                  <a:tcPr marL="43200" marR="43200" marT="14400" marB="14400" anchor="ctr">
                    <a:solidFill>
                      <a:srgbClr val="060606"/>
                    </a:solidFill>
                  </a:tcPr>
                </a:tc>
                <a:tc>
                  <a:txBody>
                    <a:bodyPr/>
                    <a:lstStyle/>
                    <a:p>
                      <a:pPr marL="0" indent="0" lvl="0">
                        <a:buNone/>
                      </a:pPr>
                      <a:r>
                        <a:rPr sz="900" b="1">
                          <a:solidFill>
                            <a:srgbClr val="FFFFFF"/>
                          </a:solidFill>
                          <a:latin typeface="Helvetica"/>
                        </a:rPr>
                        <a:t>Constat</a:t>
                      </a:r>
                    </a:p>
                  </a:txBody>
                  <a:tcPr marL="43200" marR="43200" marT="14400" marB="14400" anchor="ctr">
                    <a:solidFill>
                      <a:srgbClr val="060606"/>
                    </a:solidFill>
                  </a:tcPr>
                </a:tc>
                <a:tc>
                  <a:txBody>
                    <a:bodyPr/>
                    <a:lstStyle/>
                    <a:p>
                      <a:pPr marL="0" indent="0" lvl="0">
                        <a:buNone/>
                      </a:pPr>
                      <a:r>
                        <a:rPr sz="900" b="1">
                          <a:solidFill>
                            <a:srgbClr val="FFFFFF"/>
                          </a:solidFill>
                          <a:latin typeface="Helvetica"/>
                        </a:rPr>
                        <a:t>Incidence</a:t>
                      </a:r>
                    </a:p>
                  </a:txBody>
                  <a:tcPr marL="43200" marR="43200" marT="14400" marB="14400" anchor="ctr">
                    <a:solidFill>
                      <a:srgbClr val="060606"/>
                    </a:solidFill>
                  </a:tcPr>
                </a:tc>
              </a:tr>
              <a:tr h="606274">
                <a:tc>
                  <a:txBody>
                    <a:bodyPr/>
                    <a:lstStyle/>
                    <a:p>
                      <a:pPr marL="0" indent="0" lvl="0">
                        <a:buNone/>
                      </a:pPr>
                      <a:r>
                        <a:rPr sz="900" b="1">
                          <a:solidFill>
                            <a:srgbClr val="060606"/>
                          </a:solidFill>
                          <a:latin typeface="Helvetica"/>
                        </a:rPr>
                        <a:t>Provisions pour prestations à payer</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19011 et 19012 (classe 19, provisions techniques). La rubrique 15 est réservée aux provisions réglementées à caractère fiscal.</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Conforme de 2020 à 2023. Depuis 2024, les provisions techniques sont classées en provisions réglementées (158), sans changement de montant.</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Aucune sur les montants. Les provisions techniques n'apparaissent plus comme telles dans le bilan, ce qui gêne leur lecture et le contrôle de l'article 7 du règlement d'exécution.</a:t>
                      </a:r>
                    </a:p>
                  </a:txBody>
                  <a:tcPr marL="43200" marR="43200" marT="14400" marB="14400" anchor="ctr">
                    <a:solidFill>
                      <a:srgbClr val="FFFFFF"/>
                    </a:solidFill>
                  </a:tcPr>
                </a:tc>
              </a:tr>
              <a:tr h="469105">
                <a:tc>
                  <a:txBody>
                    <a:bodyPr/>
                    <a:lstStyle/>
                    <a:p>
                      <a:pPr marL="0" indent="0" lvl="0">
                        <a:buNone/>
                      </a:pPr>
                      <a:r>
                        <a:rPr sz="900" b="1">
                          <a:solidFill>
                            <a:srgbClr val="060606"/>
                          </a:solidFill>
                          <a:latin typeface="Helvetica"/>
                        </a:rPr>
                        <a:t>Réserve disponible</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106 = écarts de réévaluation des immeubles (fonds mutualistes). Les réserves vont en 11.</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Libellé et rubrique ne concordent pas. L'origine du montant (réévaluation ou excédents mis en réserve) n'est pas documentée.</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Le montant compte ou non dans la marge de solvabilité selon sa nature : à confirmer par le FPPN.</a:t>
                      </a:r>
                    </a:p>
                  </a:txBody>
                  <a:tcPr marL="43200" marR="43200" marT="14400" marB="14400" anchor="ctr">
                    <a:solidFill>
                      <a:srgbClr val="F2F2F2"/>
                    </a:solidFill>
                  </a:tcPr>
                </a:tc>
              </a:tr>
              <a:tr h="331937">
                <a:tc>
                  <a:txBody>
                    <a:bodyPr/>
                    <a:lstStyle/>
                    <a:p>
                      <a:pPr marL="0" indent="0" lvl="0">
                        <a:buNone/>
                      </a:pPr>
                      <a:r>
                        <a:rPr sz="900" b="1">
                          <a:solidFill>
                            <a:srgbClr val="060606"/>
                          </a:solidFill>
                          <a:latin typeface="Helvetica"/>
                        </a:rPr>
                        <a:t>Réserves légales et facultatives</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111 réserves légales, 118 autres réserves</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Conforme.</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Base du ratio de réserve obligatoire et de la marge de solvabilité.</a:t>
                      </a:r>
                    </a:p>
                  </a:txBody>
                  <a:tcPr marL="43200" marR="43200" marT="14400" marB="14400" anchor="ctr">
                    <a:solidFill>
                      <a:srgbClr val="FFFFFF"/>
                    </a:solidFill>
                  </a:tcPr>
                </a:tc>
              </a:tr>
              <a:tr h="606274">
                <a:tc>
                  <a:txBody>
                    <a:bodyPr/>
                    <a:lstStyle/>
                    <a:p>
                      <a:pPr marL="0" indent="0" lvl="0">
                        <a:buNone/>
                      </a:pPr>
                      <a:r>
                        <a:rPr sz="900" b="1">
                          <a:solidFill>
                            <a:srgbClr val="060606"/>
                          </a:solidFill>
                          <a:latin typeface="Helvetica"/>
                        </a:rPr>
                        <a:t>Épargne des adhérents (PEP, EFC)</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41195 « Autres comptes créditeurs des adhérents » (classe 4, tiers).</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Compte conforme au PCMS. Le PCMS ne prévoit pas de compte propre aux risques longs. Le règlement d'exécution exige des états financiers par risque long (art. 13).</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Classée en dette à court terme, l'épargne pèse sur les ratios de liquidité. Son échéance réelle reste à établir avec les âges.</a:t>
                      </a:r>
                    </a:p>
                  </a:txBody>
                  <a:tcPr marL="43200" marR="43200" marT="14400" marB="14400" anchor="ctr">
                    <a:solidFill>
                      <a:srgbClr val="F2F2F2"/>
                    </a:solidFill>
                  </a:tcPr>
                </a:tc>
              </a:tr>
              <a:tr h="469105">
                <a:tc>
                  <a:txBody>
                    <a:bodyPr/>
                    <a:lstStyle/>
                    <a:p>
                      <a:pPr marL="0" indent="0" lvl="0">
                        <a:buNone/>
                      </a:pPr>
                      <a:r>
                        <a:rPr sz="900" b="1">
                          <a:solidFill>
                            <a:srgbClr val="060606"/>
                          </a:solidFill>
                          <a:latin typeface="Helvetica"/>
                        </a:rPr>
                        <a:t>Avances au CMP, au Grenier et créance sur l'Hôpital de la Police</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471 = comptes d'attente débiteurs (opérations à régulariser). Les prêts et placements durables relèvent des classes 26 et 27.</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Des emplois durables de 11 603 989 675 FCFA au 31/08/2026 sont suivis en comptes d'attente ou de tiers.</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Ils sont comptés en court terme dans les ratios de liquidité et absents des emplois longs du ratio d'équilibre stable.</a:t>
                      </a:r>
                    </a:p>
                  </a:txBody>
                  <a:tcPr marL="43200" marR="43200" marT="14400" marB="14400" anchor="ctr">
                    <a:solidFill>
                      <a:srgbClr val="FFFFFF"/>
                    </a:solidFill>
                  </a:tcPr>
                </a:tc>
              </a:tr>
              <a:tr h="331937">
                <a:tc>
                  <a:txBody>
                    <a:bodyPr/>
                    <a:lstStyle/>
                    <a:p>
                      <a:pPr marL="0" indent="0" lvl="0">
                        <a:buNone/>
                      </a:pPr>
                      <a:r>
                        <a:rPr sz="900" b="1">
                          <a:solidFill>
                            <a:srgbClr val="060606"/>
                          </a:solidFill>
                          <a:latin typeface="Helvetica"/>
                        </a:rPr>
                        <a:t>Cotisations et prestations</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701 maladie, 702 décès. 601 maladie, 602 obsèques, 608 autres prestations</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Conforme.</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Base de la sinistralité réglementaire.</a:t>
                      </a:r>
                    </a:p>
                  </a:txBody>
                  <a:tcPr marL="43200" marR="43200" marT="14400" marB="14400" anchor="ctr">
                    <a:solidFill>
                      <a:srgbClr val="F2F2F2"/>
                    </a:solidFill>
                  </a:tcPr>
                </a:tc>
              </a:tr>
              <a:tr h="469105">
                <a:tc>
                  <a:txBody>
                    <a:bodyPr/>
                    <a:lstStyle/>
                    <a:p>
                      <a:pPr marL="0" indent="0" lvl="0">
                        <a:buNone/>
                      </a:pPr>
                      <a:r>
                        <a:rPr sz="900" b="1">
                          <a:solidFill>
                            <a:srgbClr val="060606"/>
                          </a:solidFill>
                          <a:latin typeface="Helvetica"/>
                        </a:rPr>
                        <a:t>Primes, indemnités et supplément familial du personnel</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641 = impôts et taxes sur salaires. Les rémunérations relèvent de 66.</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Ces montants sont classés en impôts et taxes.</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Faible (moins de 8 000 000 FCFA par an) : le taux de charges de personnel est légèrement sous-estimé.</a:t>
                      </a:r>
                    </a:p>
                  </a:txBody>
                  <a:tcPr marL="43200" marR="43200" marT="14400" marB="14400" anchor="ctr">
                    <a:solidFill>
                      <a:srgbClr val="FFFFFF"/>
                    </a:solidFill>
                  </a:tcPr>
                </a:tc>
              </a:tr>
            </a:tbl>
          </a:graphicData>
        </a:graphic>
      </p:graphicFrame>
      <p:sp>
        <p:nvSpPr>
          <p:cNvPr id="33" name="TextBox 32"/>
          <p:cNvSpPr txBox="1"/>
          <p:nvPr/>
        </p:nvSpPr>
        <p:spPr>
          <a:xfrm>
            <a:off x="503999" y="5242510"/>
            <a:ext cx="11232000" cy="625489"/>
          </a:xfrm>
          <a:prstGeom prst="rect">
            <a:avLst/>
          </a:prstGeom>
          <a:noFill/>
        </p:spPr>
        <p:txBody>
          <a:bodyPr wrap="square" lIns="54000" rIns="54000"/>
          <a:lstStyle/>
          <a:p>
            <a:pPr algn="just">
              <a:spcAft>
                <a:spcPts val="600"/>
              </a:spcAft>
            </a:pPr>
            <a:r>
              <a:rPr sz="1300" b="1">
                <a:solidFill>
                  <a:srgbClr val="060606"/>
                </a:solidFill>
                <a:latin typeface="Helvetica"/>
              </a:rPr>
              <a:t>Le reclassement des provisions techniques en provisions réglementées depuis 2024 et l'usage du compte 106 sont les deux écarts qui changent la lecture du bilan.</a:t>
            </a:r>
            <a:r>
              <a:rPr sz="1300" b="0">
                <a:solidFill>
                  <a:srgbClr val="060606"/>
                </a:solidFill>
                <a:latin typeface="Helvetica"/>
              </a:rPr>
              <a:t> Les autres comptes suivent le plan comptable.</a:t>
            </a:r>
          </a:p>
        </p:txBody>
      </p:sp>
      <p:sp>
        <p:nvSpPr>
          <p:cNvPr id="34" name="TextBox 33"/>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PCMS : plan comptable des mutuelles sociales | PEP : Plan Épargne Plus | EFC : entraide fin de carrière | CMP : sigle des comptes du FPPN, signification à confirmer</a:t>
            </a:r>
          </a:p>
        </p:txBody>
      </p:sp>
    </p:spTree>
    <p:extLst>
      <p:ext uri="{BB962C8B-B14F-4D97-AF65-F5344CB8AC3E}">
        <p14:creationId xmlns:p14="http://schemas.microsoft.com/office/powerpoint/2010/main" val="3063637212"/>
      </p:ext>
    </p:extLst>
  </p:cSld>
  <p:clrMapOvr>
    <a:masterClrMapping/>
  </p:clrMapOvr>
  <p:transition>
    <p:fade/>
  </p:transition>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Exigences non chiffrées</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Plusieurs obligations du règlement d'exécution ne se mesurent pas par un ratio</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Chaque obligation est comparée aux pièces disponibles. Plusieurs restent à documenter par le FPPN</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règlement d'exécution n° 004/2022/COM/UEMOA du 1er juin 2022. Règlement n° 07/2009/CM/UEMOA du 26 juin 2009. Documents reçus le 15/10/2026</a:t>
            </a:r>
          </a:p>
        </p:txBody>
      </p:sp>
      <p:sp>
        <p:nvSpPr>
          <p:cNvPr id="31" name="TextBox 30"/>
          <p:cNvSpPr txBox="1"/>
          <p:nvPr/>
        </p:nvSpPr>
        <p:spPr>
          <a:xfrm>
            <a:off x="503999" y="1386000"/>
            <a:ext cx="11232000" cy="216000"/>
          </a:xfrm>
          <a:prstGeom prst="rect">
            <a:avLst/>
          </a:prstGeom>
          <a:noFill/>
        </p:spPr>
        <p:txBody>
          <a:bodyPr wrap="square" anchor="t" lIns="54000" rIns="54000"/>
          <a:lstStyle/>
          <a:p>
            <a:pPr algn="ctr"/>
            <a:r>
              <a:rPr sz="1200" b="0">
                <a:solidFill>
                  <a:srgbClr val="EFAC62"/>
                </a:solidFill>
                <a:latin typeface="Helvetica"/>
              </a:rPr>
              <a:t>Tableau 22 : Exigences non chiffrées et situation du FPPN</a:t>
            </a:r>
          </a:p>
        </p:txBody>
      </p:sp>
      <p:graphicFrame>
        <p:nvGraphicFramePr>
          <p:cNvPr id="32" name="Table 31"/>
          <p:cNvGraphicFramePr>
            <a:graphicFrameLocks noGrp="1"/>
          </p:cNvGraphicFramePr>
          <p:nvPr/>
        </p:nvGraphicFramePr>
        <p:xfrm>
          <a:off x="503999" y="1655999"/>
          <a:ext cx="11232000" cy="2301588"/>
        </p:xfrm>
        <a:graphic>
          <a:graphicData uri="http://schemas.openxmlformats.org/drawingml/2006/table">
            <a:tbl>
              <a:tblPr firstRow="0" bandRow="0">
                <a:tableStyleId>{5940675A-B579-460E-94D1-54222C63F5DA}</a:tableStyleId>
              </a:tblPr>
              <a:tblGrid>
                <a:gridCol w="3456000"/>
                <a:gridCol w="2232000"/>
                <a:gridCol w="5544000"/>
              </a:tblGrid>
              <a:tr h="194768">
                <a:tc>
                  <a:txBody>
                    <a:bodyPr/>
                    <a:lstStyle/>
                    <a:p>
                      <a:pPr marL="0" indent="0" lvl="0">
                        <a:buNone/>
                      </a:pPr>
                      <a:r>
                        <a:rPr sz="900" b="1">
                          <a:solidFill>
                            <a:srgbClr val="FFFFFF"/>
                          </a:solidFill>
                          <a:latin typeface="Helvetica"/>
                        </a:rPr>
                        <a:t>Exigence</a:t>
                      </a:r>
                    </a:p>
                  </a:txBody>
                  <a:tcPr marL="43200" marR="43200" marT="14400" marB="14400" anchor="ctr">
                    <a:solidFill>
                      <a:srgbClr val="060606"/>
                    </a:solidFill>
                  </a:tcPr>
                </a:tc>
                <a:tc>
                  <a:txBody>
                    <a:bodyPr/>
                    <a:lstStyle/>
                    <a:p>
                      <a:pPr marL="0" indent="0" lvl="0">
                        <a:buNone/>
                      </a:pPr>
                      <a:r>
                        <a:rPr sz="900" b="1">
                          <a:solidFill>
                            <a:srgbClr val="FFFFFF"/>
                          </a:solidFill>
                          <a:latin typeface="Helvetica"/>
                        </a:rPr>
                        <a:t>Texte</a:t>
                      </a:r>
                    </a:p>
                  </a:txBody>
                  <a:tcPr marL="43200" marR="43200" marT="14400" marB="14400" anchor="ctr">
                    <a:solidFill>
                      <a:srgbClr val="060606"/>
                    </a:solidFill>
                  </a:tcPr>
                </a:tc>
                <a:tc>
                  <a:txBody>
                    <a:bodyPr/>
                    <a:lstStyle/>
                    <a:p>
                      <a:pPr marL="0" indent="0" lvl="0">
                        <a:buNone/>
                      </a:pPr>
                      <a:r>
                        <a:rPr sz="900" b="1">
                          <a:solidFill>
                            <a:srgbClr val="FFFFFF"/>
                          </a:solidFill>
                          <a:latin typeface="Helvetica"/>
                        </a:rPr>
                        <a:t>Situation constatée</a:t>
                      </a:r>
                    </a:p>
                  </a:txBody>
                  <a:tcPr marL="43200" marR="43200" marT="14400" marB="14400" anchor="ctr">
                    <a:solidFill>
                      <a:srgbClr val="060606"/>
                    </a:solidFill>
                  </a:tcPr>
                </a:tc>
              </a:tr>
              <a:tr h="331937">
                <a:tc>
                  <a:txBody>
                    <a:bodyPr/>
                    <a:lstStyle/>
                    <a:p>
                      <a:pPr marL="0" indent="0" lvl="0">
                        <a:buNone/>
                      </a:pPr>
                      <a:r>
                        <a:rPr sz="900" b="1">
                          <a:solidFill>
                            <a:srgbClr val="060606"/>
                          </a:solidFill>
                          <a:latin typeface="Helvetica"/>
                        </a:rPr>
                        <a:t>Provisions techniques suffisantes à tout moment, calculées dossier par dossier</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Règl. d'exécution, art. 7 à 11</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Montant identique de 2020 à 2026 : la provision n'est pas recalculée (partie 9).</a:t>
                      </a:r>
                    </a:p>
                  </a:txBody>
                  <a:tcPr marL="43200" marR="43200" marT="14400" marB="14400" anchor="ctr">
                    <a:solidFill>
                      <a:srgbClr val="FFFFFF"/>
                    </a:solidFill>
                  </a:tcPr>
                </a:tc>
              </a:tr>
              <a:tr h="331937">
                <a:tc>
                  <a:txBody>
                    <a:bodyPr/>
                    <a:lstStyle/>
                    <a:p>
                      <a:pPr marL="0" indent="0" lvl="0">
                        <a:buNone/>
                      </a:pPr>
                      <a:r>
                        <a:rPr sz="900" b="1">
                          <a:solidFill>
                            <a:srgbClr val="060606"/>
                          </a:solidFill>
                          <a:latin typeface="Helvetica"/>
                        </a:rPr>
                        <a:t>Comptes certifiés par un commissaire aux comptes (risques longs)</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Règl. d'exécution, art. 12</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Aucun rapport de commissaire aux comptes n'a été transmis.</a:t>
                      </a:r>
                    </a:p>
                  </a:txBody>
                  <a:tcPr marL="43200" marR="43200" marT="14400" marB="14400" anchor="ctr">
                    <a:solidFill>
                      <a:srgbClr val="F2F2F2"/>
                    </a:solidFill>
                  </a:tcPr>
                </a:tc>
              </a:tr>
              <a:tr h="194768">
                <a:tc>
                  <a:txBody>
                    <a:bodyPr/>
                    <a:lstStyle/>
                    <a:p>
                      <a:pPr marL="0" indent="0" lvl="0">
                        <a:buNone/>
                      </a:pPr>
                      <a:r>
                        <a:rPr sz="900" b="1">
                          <a:solidFill>
                            <a:srgbClr val="060606"/>
                          </a:solidFill>
                          <a:latin typeface="Helvetica"/>
                        </a:rPr>
                        <a:t>États financiers propres à chaque risque long</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Règl. d'exécution, art. 13</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Les balances ne séparent pas l'EFC et le PEP en états distincts.</a:t>
                      </a:r>
                    </a:p>
                  </a:txBody>
                  <a:tcPr marL="43200" marR="43200" marT="14400" marB="14400" anchor="ctr">
                    <a:solidFill>
                      <a:srgbClr val="FFFFFF"/>
                    </a:solidFill>
                  </a:tcPr>
                </a:tc>
              </a:tr>
              <a:tr h="194768">
                <a:tc>
                  <a:txBody>
                    <a:bodyPr/>
                    <a:lstStyle/>
                    <a:p>
                      <a:pPr marL="0" indent="0" lvl="0">
                        <a:buNone/>
                      </a:pPr>
                      <a:r>
                        <a:rPr sz="900" b="1">
                          <a:solidFill>
                            <a:srgbClr val="060606"/>
                          </a:solidFill>
                          <a:latin typeface="Helvetica"/>
                        </a:rPr>
                        <a:t>Étude actuarielle tous les cinq ans (risques longs)</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Règl. d'exécution, art. 14</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Aucune étude antérieure n'a été transmise. La présente mission peut y contribuer.</a:t>
                      </a:r>
                    </a:p>
                  </a:txBody>
                  <a:tcPr marL="43200" marR="43200" marT="14400" marB="14400" anchor="ctr">
                    <a:solidFill>
                      <a:srgbClr val="F2F2F2"/>
                    </a:solidFill>
                  </a:tcPr>
                </a:tc>
              </a:tr>
              <a:tr h="331937">
                <a:tc>
                  <a:txBody>
                    <a:bodyPr/>
                    <a:lstStyle/>
                    <a:p>
                      <a:pPr marL="0" indent="0" lvl="0">
                        <a:buNone/>
                      </a:pPr>
                      <a:r>
                        <a:rPr sz="900" b="1">
                          <a:solidFill>
                            <a:srgbClr val="060606"/>
                          </a:solidFill>
                          <a:latin typeface="Helvetica"/>
                        </a:rPr>
                        <a:t>Cantonnement des patrimoines entre risques courts et longs</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Règl. d'exécution, art. 15</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Des comptes bancaires réservés existent, mais ils couvrent seulement 16,28 % de l'épargne.</a:t>
                      </a:r>
                    </a:p>
                  </a:txBody>
                  <a:tcPr marL="43200" marR="43200" marT="14400" marB="14400" anchor="ctr">
                    <a:solidFill>
                      <a:srgbClr val="FFFFFF"/>
                    </a:solidFill>
                  </a:tcPr>
                </a:tc>
              </a:tr>
              <a:tr h="194768">
                <a:tc>
                  <a:txBody>
                    <a:bodyPr/>
                    <a:lstStyle/>
                    <a:p>
                      <a:pPr marL="0" indent="0" lvl="0">
                        <a:buNone/>
                      </a:pPr>
                      <a:r>
                        <a:rPr sz="900" b="1">
                          <a:solidFill>
                            <a:srgbClr val="060606"/>
                          </a:solidFill>
                          <a:latin typeface="Helvetica"/>
                        </a:rPr>
                        <a:t>Placements sûrs, rentables, liquides et diversifiés</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Règl. d'exécution, art. 17</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La décision ministérielle qui fixe ces conditions n'a pas été transmise.</a:t>
                      </a:r>
                    </a:p>
                  </a:txBody>
                  <a:tcPr marL="43200" marR="43200" marT="14400" marB="14400" anchor="ctr">
                    <a:solidFill>
                      <a:srgbClr val="F2F2F2"/>
                    </a:solidFill>
                  </a:tcPr>
                </a:tc>
              </a:tr>
              <a:tr h="331937">
                <a:tc>
                  <a:txBody>
                    <a:bodyPr/>
                    <a:lstStyle/>
                    <a:p>
                      <a:pPr marL="0" indent="0" lvl="0">
                        <a:buNone/>
                      </a:pPr>
                      <a:r>
                        <a:rPr sz="900" b="1">
                          <a:solidFill>
                            <a:srgbClr val="060606"/>
                          </a:solidFill>
                          <a:latin typeface="Helvetica"/>
                        </a:rPr>
                        <a:t>Pertes des activités sanitaires non couvertes par les cotisations</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Règl. d'exécution, art. 27</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Le FPPN finance des charges de fonctionnement « au CMP » sans comptabilité séparée transmise.</a:t>
                      </a:r>
                    </a:p>
                  </a:txBody>
                  <a:tcPr marL="43200" marR="43200" marT="14400" marB="14400" anchor="ctr">
                    <a:solidFill>
                      <a:srgbClr val="FFFFFF"/>
                    </a:solidFill>
                  </a:tcPr>
                </a:tc>
              </a:tr>
              <a:tr h="194768">
                <a:tc>
                  <a:txBody>
                    <a:bodyPr/>
                    <a:lstStyle/>
                    <a:p>
                      <a:pPr marL="0" indent="0" lvl="0">
                        <a:buNone/>
                      </a:pPr>
                      <a:r>
                        <a:rPr sz="900" b="1">
                          <a:solidFill>
                            <a:srgbClr val="060606"/>
                          </a:solidFill>
                          <a:latin typeface="Helvetica"/>
                        </a:rPr>
                        <a:t>Adhésion et cotisation au fonds national de garantie</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Règl. n° 07/2009, art. 63</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Aucun compte du fonds de garantie n'apparaît dans les balances.</a:t>
                      </a:r>
                    </a:p>
                  </a:txBody>
                  <a:tcPr marL="43200" marR="43200" marT="14400" marB="14400" anchor="ctr">
                    <a:solidFill>
                      <a:srgbClr val="F2F2F2"/>
                    </a:solidFill>
                  </a:tcPr>
                </a:tc>
              </a:tr>
            </a:tbl>
          </a:graphicData>
        </a:graphic>
      </p:graphicFrame>
      <p:sp>
        <p:nvSpPr>
          <p:cNvPr id="33" name="TextBox 32"/>
          <p:cNvSpPr txBox="1"/>
          <p:nvPr/>
        </p:nvSpPr>
        <p:spPr>
          <a:xfrm>
            <a:off x="503999" y="4065592"/>
            <a:ext cx="11232000" cy="1802407"/>
          </a:xfrm>
          <a:prstGeom prst="rect">
            <a:avLst/>
          </a:prstGeom>
          <a:noFill/>
        </p:spPr>
        <p:txBody>
          <a:bodyPr wrap="square" lIns="54000" rIns="54000"/>
          <a:lstStyle/>
          <a:p>
            <a:pPr algn="just">
              <a:spcAft>
                <a:spcPts val="600"/>
              </a:spcAft>
            </a:pPr>
            <a:r>
              <a:rPr sz="1300" b="1">
                <a:solidFill>
                  <a:srgbClr val="060606"/>
                </a:solidFill>
                <a:latin typeface="Helvetica"/>
              </a:rPr>
              <a:t>Les exigences propres aux risques longs ne sont pas documentées.</a:t>
            </a:r>
            <a:r>
              <a:rPr sz="1300" b="0">
                <a:solidFill>
                  <a:srgbClr val="060606"/>
                </a:solidFill>
                <a:latin typeface="Helvetica"/>
              </a:rPr>
              <a:t> Elles découlent pourtant directement de la gestion de l'EFC et du PEP.</a:t>
            </a:r>
          </a:p>
        </p:txBody>
      </p:sp>
      <p:sp>
        <p:nvSpPr>
          <p:cNvPr id="34" name="TextBox 33"/>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UEMOA : Union économique et monétaire ouest-africaine | PEP : Plan Épargne Plus | EFC : entraide fin de carrière | CMP : sigle des comptes du FPPN, signification à confirmer</a:t>
            </a:r>
          </a:p>
        </p:txBody>
      </p:sp>
    </p:spTree>
    <p:extLst>
      <p:ext uri="{BB962C8B-B14F-4D97-AF65-F5344CB8AC3E}">
        <p14:creationId xmlns:p14="http://schemas.microsoft.com/office/powerpoint/2010/main" val="3622453498"/>
      </p:ext>
    </p:extLst>
  </p:cSld>
  <p:clrMapOvr>
    <a:masterClrMapping/>
  </p:clrMapOvr>
  <p:transition>
    <p:fade/>
  </p:transition>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Exposition aux sanctions</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Le non-respect des règles prudentielles expose le FPPN à des sanctions graduées</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Barème de l'arrêté n° 00115/MEPS/CAB du 12/12/2023 pour une mutuelle de plus de 10 000 000 FCFA de cotisations</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arrêté n° 00115/MEPS/CAB du 12/12/2023, annexe. Règlement n° 07/2009/CM/UEMOA du 26 juin 2009, art. 83 et 84. Règlement d'exécution n° 004/2022/COM/UEMOA du 1er juin 2022, art. 38 à 41</a:t>
            </a:r>
          </a:p>
        </p:txBody>
      </p:sp>
      <p:sp>
        <p:nvSpPr>
          <p:cNvPr id="31" name="TextBox 30"/>
          <p:cNvSpPr txBox="1"/>
          <p:nvPr/>
        </p:nvSpPr>
        <p:spPr>
          <a:xfrm>
            <a:off x="503999" y="1386000"/>
            <a:ext cx="11232000" cy="216000"/>
          </a:xfrm>
          <a:prstGeom prst="rect">
            <a:avLst/>
          </a:prstGeom>
          <a:noFill/>
        </p:spPr>
        <p:txBody>
          <a:bodyPr wrap="square" anchor="t" lIns="54000" rIns="54000"/>
          <a:lstStyle/>
          <a:p>
            <a:pPr algn="ctr"/>
            <a:r>
              <a:rPr sz="1200" b="0">
                <a:solidFill>
                  <a:srgbClr val="EFAC62"/>
                </a:solidFill>
                <a:latin typeface="Helvetica"/>
              </a:rPr>
              <a:t>Tableau 23 : Manquements liés aux constats du rapport et sanctions prévues</a:t>
            </a:r>
          </a:p>
        </p:txBody>
      </p:sp>
      <p:graphicFrame>
        <p:nvGraphicFramePr>
          <p:cNvPr id="32" name="Table 31"/>
          <p:cNvGraphicFramePr>
            <a:graphicFrameLocks noGrp="1"/>
          </p:cNvGraphicFramePr>
          <p:nvPr/>
        </p:nvGraphicFramePr>
        <p:xfrm>
          <a:off x="503999" y="1655999"/>
          <a:ext cx="11231999" cy="1602085"/>
        </p:xfrm>
        <a:graphic>
          <a:graphicData uri="http://schemas.openxmlformats.org/drawingml/2006/table">
            <a:tbl>
              <a:tblPr firstRow="0" bandRow="0">
                <a:tableStyleId>{5940675A-B579-460E-94D1-54222C63F5DA}</a:tableStyleId>
              </a:tblPr>
              <a:tblGrid>
                <a:gridCol w="3600000"/>
                <a:gridCol w="1224000"/>
                <a:gridCol w="3671999"/>
                <a:gridCol w="2736000"/>
              </a:tblGrid>
              <a:tr h="362419">
                <a:tc>
                  <a:txBody>
                    <a:bodyPr/>
                    <a:lstStyle/>
                    <a:p>
                      <a:pPr marL="0" indent="0" lvl="0">
                        <a:buNone/>
                      </a:pPr>
                      <a:r>
                        <a:rPr sz="1000" b="1">
                          <a:solidFill>
                            <a:srgbClr val="FFFFFF"/>
                          </a:solidFill>
                          <a:latin typeface="Helvetica"/>
                        </a:rPr>
                        <a:t>Manquement</a:t>
                      </a:r>
                    </a:p>
                  </a:txBody>
                  <a:tcPr marL="43200" marR="43200" marT="14400" marB="14400" anchor="ctr">
                    <a:solidFill>
                      <a:srgbClr val="060606"/>
                    </a:solidFill>
                  </a:tcPr>
                </a:tc>
                <a:tc>
                  <a:txBody>
                    <a:bodyPr/>
                    <a:lstStyle/>
                    <a:p>
                      <a:pPr marL="0" indent="0" lvl="0">
                        <a:buNone/>
                      </a:pPr>
                      <a:r>
                        <a:rPr sz="1000" b="1">
                          <a:solidFill>
                            <a:srgbClr val="FFFFFF"/>
                          </a:solidFill>
                          <a:latin typeface="Helvetica"/>
                        </a:rPr>
                        <a:t>Ligne de l'arrêté</a:t>
                      </a:r>
                    </a:p>
                  </a:txBody>
                  <a:tcPr marL="43200" marR="43200" marT="14400" marB="14400" anchor="ctr">
                    <a:solidFill>
                      <a:srgbClr val="060606"/>
                    </a:solidFill>
                  </a:tcPr>
                </a:tc>
                <a:tc>
                  <a:txBody>
                    <a:bodyPr/>
                    <a:lstStyle/>
                    <a:p>
                      <a:pPr marL="0" indent="0" lvl="0">
                        <a:buNone/>
                      </a:pPr>
                      <a:r>
                        <a:rPr sz="1000" b="1">
                          <a:solidFill>
                            <a:srgbClr val="FFFFFF"/>
                          </a:solidFill>
                          <a:latin typeface="Helvetica"/>
                        </a:rPr>
                        <a:t>Sanction</a:t>
                      </a:r>
                    </a:p>
                  </a:txBody>
                  <a:tcPr marL="43200" marR="43200" marT="14400" marB="14400" anchor="ctr">
                    <a:solidFill>
                      <a:srgbClr val="060606"/>
                    </a:solidFill>
                  </a:tcPr>
                </a:tc>
                <a:tc>
                  <a:txBody>
                    <a:bodyPr/>
                    <a:lstStyle/>
                    <a:p>
                      <a:pPr marL="0" indent="0" lvl="0">
                        <a:buNone/>
                      </a:pPr>
                      <a:r>
                        <a:rPr sz="1000" b="1">
                          <a:solidFill>
                            <a:srgbClr val="FFFFFF"/>
                          </a:solidFill>
                          <a:latin typeface="Helvetica"/>
                        </a:rPr>
                        <a:t>Peine pécuniaire</a:t>
                      </a:r>
                    </a:p>
                  </a:txBody>
                  <a:tcPr marL="43200" marR="43200" marT="14400" marB="14400" anchor="ctr">
                    <a:solidFill>
                      <a:srgbClr val="060606"/>
                    </a:solidFill>
                  </a:tcPr>
                </a:tc>
              </a:tr>
              <a:tr h="514828">
                <a:tc>
                  <a:txBody>
                    <a:bodyPr/>
                    <a:lstStyle/>
                    <a:p>
                      <a:pPr marL="0" indent="0" lvl="0">
                        <a:buNone/>
                      </a:pPr>
                      <a:r>
                        <a:rPr sz="1000" b="1">
                          <a:solidFill>
                            <a:srgbClr val="060606"/>
                          </a:solidFill>
                          <a:latin typeface="Helvetica"/>
                        </a:rPr>
                        <a:t>Non-respect des règles comptables et prudentielles durant un exercice</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6</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Avertissement, injonction de régularisation, suspension des dirigeants ou suspension provisoire de l'agrément</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1 000 000 FCFA</a:t>
                      </a:r>
                    </a:p>
                  </a:txBody>
                  <a:tcPr marL="43200" marR="43200" marT="14400" marB="14400" anchor="ctr">
                    <a:solidFill>
                      <a:srgbClr val="FFFFFF"/>
                    </a:solidFill>
                  </a:tcPr>
                </a:tc>
              </a:tr>
              <a:tr h="362419">
                <a:tc>
                  <a:txBody>
                    <a:bodyPr/>
                    <a:lstStyle/>
                    <a:p>
                      <a:pPr marL="0" indent="0" lvl="0">
                        <a:buNone/>
                      </a:pPr>
                      <a:r>
                        <a:rPr sz="1000" b="1">
                          <a:solidFill>
                            <a:srgbClr val="060606"/>
                          </a:solidFill>
                          <a:latin typeface="Helvetica"/>
                        </a:rPr>
                        <a:t>Défaut d'adhésion ou de versement au fonds national de garantie</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8</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Mêmes sanctions que la ligne 6</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1 000 000 FCFA</a:t>
                      </a:r>
                    </a:p>
                  </a:txBody>
                  <a:tcPr marL="43200" marR="43200" marT="14400" marB="14400" anchor="ctr">
                    <a:solidFill>
                      <a:srgbClr val="F2F2F2"/>
                    </a:solidFill>
                  </a:tcPr>
                </a:tc>
              </a:tr>
              <a:tr h="362419">
                <a:tc>
                  <a:txBody>
                    <a:bodyPr/>
                    <a:lstStyle/>
                    <a:p>
                      <a:pPr marL="0" indent="0" lvl="0">
                        <a:buNone/>
                      </a:pPr>
                      <a:r>
                        <a:rPr sz="1000" b="1">
                          <a:solidFill>
                            <a:srgbClr val="060606"/>
                          </a:solidFill>
                          <a:latin typeface="Helvetica"/>
                        </a:rPr>
                        <a:t>Non-respect des règles prudentielles sur deux exercices</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13</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Retrait de l'agrément (règlement n° 07/2009, art. 84)</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3 000 000 FCFA</a:t>
                      </a:r>
                    </a:p>
                  </a:txBody>
                  <a:tcPr marL="43200" marR="43200" marT="14400" marB="14400" anchor="ctr">
                    <a:solidFill>
                      <a:srgbClr val="FFFFFF"/>
                    </a:solidFill>
                  </a:tcPr>
                </a:tc>
              </a:tr>
            </a:tbl>
          </a:graphicData>
        </a:graphic>
      </p:graphicFrame>
      <p:sp>
        <p:nvSpPr>
          <p:cNvPr id="33" name="TextBox 32"/>
          <p:cNvSpPr txBox="1"/>
          <p:nvPr/>
        </p:nvSpPr>
        <p:spPr>
          <a:xfrm>
            <a:off x="503999" y="3366086"/>
            <a:ext cx="11232000" cy="2501913"/>
          </a:xfrm>
          <a:prstGeom prst="rect">
            <a:avLst/>
          </a:prstGeom>
          <a:noFill/>
        </p:spPr>
        <p:txBody>
          <a:bodyPr wrap="square" lIns="54000" rIns="54000"/>
          <a:lstStyle/>
          <a:p>
            <a:pPr algn="just">
              <a:spcAft>
                <a:spcPts val="600"/>
              </a:spcAft>
            </a:pPr>
            <a:r>
              <a:rPr sz="1300" b="1">
                <a:solidFill>
                  <a:srgbClr val="060606"/>
                </a:solidFill>
                <a:latin typeface="Helvetica"/>
              </a:rPr>
              <a:t>Les peines pécuniaires sont faibles. La sanction lourde est le retrait d'agrément.</a:t>
            </a:r>
            <a:r>
              <a:rPr sz="1300" b="0">
                <a:solidFill>
                  <a:srgbClr val="060606"/>
                </a:solidFill>
                <a:latin typeface="Helvetica"/>
              </a:rPr>
              <a:t> Celui-ci emporte la dissolution de la mutuelle dès sa publication au Journal officiel (règlement n° 07/2009, art. 84).</a:t>
            </a:r>
          </a:p>
          <a:p>
            <a:pPr algn="just">
              <a:spcAft>
                <a:spcPts val="600"/>
              </a:spcAft>
            </a:pPr>
            <a:r>
              <a:rPr sz="1300" b="1">
                <a:solidFill>
                  <a:srgbClr val="060606"/>
                </a:solidFill>
                <a:latin typeface="Helvetica"/>
              </a:rPr>
              <a:t>Implication pour le FPPN.</a:t>
            </a:r>
            <a:r>
              <a:rPr sz="1300" b="0">
                <a:solidFill>
                  <a:srgbClr val="060606"/>
                </a:solidFill>
                <a:latin typeface="Helvetica"/>
              </a:rPr>
              <a:t> Un plan de mise en conformité daté et chiffré, présenté à l'AIRMS, est le meilleur moyen de démontrer la volonté de régularisation et d'éviter les sanctions les plus lourdes.</a:t>
            </a:r>
          </a:p>
        </p:txBody>
      </p:sp>
      <p:sp>
        <p:nvSpPr>
          <p:cNvPr id="34" name="TextBox 33"/>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AIRMS : Agence ivoirienne de régulation de la mutualité sociale | UEMOA : Union économique et monétaire ouest-africaine | S/C : prestations / cotisations | MEPS : ministère de l'Emploi et de la Protection sociale</a:t>
            </a:r>
          </a:p>
        </p:txBody>
      </p:sp>
    </p:spTree>
    <p:extLst>
      <p:ext uri="{BB962C8B-B14F-4D97-AF65-F5344CB8AC3E}">
        <p14:creationId xmlns:p14="http://schemas.microsoft.com/office/powerpoint/2010/main" val="1588987881"/>
      </p:ext>
    </p:extLst>
  </p:cSld>
  <p:clrMapOvr>
    <a:masterClrMapping/>
  </p:clrMapOvr>
  <p:transition>
    <p:fade/>
  </p:transition>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6" name="Image 25"/>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30" name="ZoneTexte 29">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9" name="Google Shape;7386;p39"/>
          <p:cNvSpPr/>
          <p:nvPr/>
        </p:nvSpPr>
        <p:spPr>
          <a:xfrm rot="10800000">
            <a:off x="1748072" y="1436295"/>
            <a:ext cx="3625790" cy="329031"/>
          </a:xfrm>
          <a:custGeom>
            <a:avLst/>
            <a:gdLst/>
            <a:ahLst/>
            <a:cxnLst/>
            <a:rect l="l" t="t" r="r" b="b"/>
            <a:pathLst>
              <a:path w="40007" h="30221" extrusionOk="0">
                <a:moveTo>
                  <a:pt x="19007" y="1"/>
                </a:moveTo>
                <a:cubicBezTo>
                  <a:pt x="17909" y="1"/>
                  <a:pt x="16810" y="17"/>
                  <a:pt x="15708" y="53"/>
                </a:cubicBezTo>
                <a:cubicBezTo>
                  <a:pt x="13270" y="131"/>
                  <a:pt x="10885" y="275"/>
                  <a:pt x="8512" y="548"/>
                </a:cubicBezTo>
                <a:cubicBezTo>
                  <a:pt x="6088" y="835"/>
                  <a:pt x="4524" y="1500"/>
                  <a:pt x="4041" y="2712"/>
                </a:cubicBezTo>
                <a:cubicBezTo>
                  <a:pt x="4015" y="2777"/>
                  <a:pt x="3976" y="2843"/>
                  <a:pt x="3937" y="2908"/>
                </a:cubicBezTo>
                <a:cubicBezTo>
                  <a:pt x="2777" y="4902"/>
                  <a:pt x="2282" y="6949"/>
                  <a:pt x="1734" y="8995"/>
                </a:cubicBezTo>
                <a:cubicBezTo>
                  <a:pt x="1160" y="11120"/>
                  <a:pt x="613" y="13232"/>
                  <a:pt x="391" y="15357"/>
                </a:cubicBezTo>
                <a:cubicBezTo>
                  <a:pt x="183" y="17325"/>
                  <a:pt x="0" y="19293"/>
                  <a:pt x="79" y="21092"/>
                </a:cubicBezTo>
                <a:cubicBezTo>
                  <a:pt x="52" y="23074"/>
                  <a:pt x="144" y="24899"/>
                  <a:pt x="365" y="26710"/>
                </a:cubicBezTo>
                <a:cubicBezTo>
                  <a:pt x="522" y="28079"/>
                  <a:pt x="1721" y="29096"/>
                  <a:pt x="4419" y="29656"/>
                </a:cubicBezTo>
                <a:cubicBezTo>
                  <a:pt x="6296" y="30048"/>
                  <a:pt x="8265" y="30178"/>
                  <a:pt x="10259" y="30204"/>
                </a:cubicBezTo>
                <a:cubicBezTo>
                  <a:pt x="11143" y="30216"/>
                  <a:pt x="12026" y="30220"/>
                  <a:pt x="12908" y="30220"/>
                </a:cubicBezTo>
                <a:cubicBezTo>
                  <a:pt x="15996" y="30220"/>
                  <a:pt x="19078" y="30165"/>
                  <a:pt x="22161" y="30165"/>
                </a:cubicBezTo>
                <a:cubicBezTo>
                  <a:pt x="24859" y="30165"/>
                  <a:pt x="27557" y="30204"/>
                  <a:pt x="30243" y="30204"/>
                </a:cubicBezTo>
                <a:cubicBezTo>
                  <a:pt x="31690" y="30191"/>
                  <a:pt x="33123" y="30113"/>
                  <a:pt x="34505" y="29852"/>
                </a:cubicBezTo>
                <a:cubicBezTo>
                  <a:pt x="35470" y="29683"/>
                  <a:pt x="36330" y="29435"/>
                  <a:pt x="36917" y="29005"/>
                </a:cubicBezTo>
                <a:cubicBezTo>
                  <a:pt x="37881" y="28288"/>
                  <a:pt x="38677" y="27519"/>
                  <a:pt x="39120" y="26684"/>
                </a:cubicBezTo>
                <a:cubicBezTo>
                  <a:pt x="39732" y="25485"/>
                  <a:pt x="39954" y="24260"/>
                  <a:pt x="39954" y="23021"/>
                </a:cubicBezTo>
                <a:cubicBezTo>
                  <a:pt x="39954" y="19372"/>
                  <a:pt x="40006" y="15709"/>
                  <a:pt x="39563" y="12059"/>
                </a:cubicBezTo>
                <a:cubicBezTo>
                  <a:pt x="39367" y="10403"/>
                  <a:pt x="39485" y="8748"/>
                  <a:pt x="39237" y="7105"/>
                </a:cubicBezTo>
                <a:cubicBezTo>
                  <a:pt x="39068" y="6023"/>
                  <a:pt x="38794" y="4941"/>
                  <a:pt x="37920" y="3938"/>
                </a:cubicBezTo>
                <a:cubicBezTo>
                  <a:pt x="37282" y="3208"/>
                  <a:pt x="36773" y="2438"/>
                  <a:pt x="35665" y="1826"/>
                </a:cubicBezTo>
                <a:cubicBezTo>
                  <a:pt x="34192" y="1031"/>
                  <a:pt x="32237" y="666"/>
                  <a:pt x="30138" y="496"/>
                </a:cubicBezTo>
                <a:cubicBezTo>
                  <a:pt x="26451" y="194"/>
                  <a:pt x="22741" y="1"/>
                  <a:pt x="19007" y="1"/>
                </a:cubicBezTo>
                <a:close/>
              </a:path>
            </a:pathLst>
          </a:custGeom>
          <a:solidFill>
            <a:srgbClr val="112A40"/>
          </a:solidFill>
          <a:ln>
            <a:noFill/>
          </a:ln>
          <a:effectLst>
            <a:outerShdw blurRad="57150" dist="9525" algn="bl" rotWithShape="0">
              <a:srgbClr val="000000"/>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lang="fr-CI" noProof="0"/>
          </a:p>
        </p:txBody>
      </p:sp>
      <p:sp>
        <p:nvSpPr>
          <p:cNvPr id="10" name="Google Shape;7367;p39"/>
          <p:cNvSpPr/>
          <p:nvPr/>
        </p:nvSpPr>
        <p:spPr>
          <a:xfrm rot="16200000">
            <a:off x="2201124" y="215006"/>
            <a:ext cx="2027916" cy="4306666"/>
          </a:xfrm>
          <a:custGeom>
            <a:avLst/>
            <a:gdLst/>
            <a:ahLst/>
            <a:cxnLst/>
            <a:rect l="l" t="t" r="r" b="b"/>
            <a:pathLst>
              <a:path w="25081" h="54128" extrusionOk="0">
                <a:moveTo>
                  <a:pt x="19843" y="0"/>
                </a:moveTo>
                <a:cubicBezTo>
                  <a:pt x="19654" y="0"/>
                  <a:pt x="19462" y="7"/>
                  <a:pt x="19267" y="21"/>
                </a:cubicBezTo>
                <a:cubicBezTo>
                  <a:pt x="17781" y="125"/>
                  <a:pt x="16282" y="99"/>
                  <a:pt x="14796" y="112"/>
                </a:cubicBezTo>
                <a:cubicBezTo>
                  <a:pt x="13909" y="125"/>
                  <a:pt x="13010" y="112"/>
                  <a:pt x="12123" y="177"/>
                </a:cubicBezTo>
                <a:cubicBezTo>
                  <a:pt x="10272" y="333"/>
                  <a:pt x="8421" y="503"/>
                  <a:pt x="6570" y="633"/>
                </a:cubicBezTo>
                <a:cubicBezTo>
                  <a:pt x="5267" y="738"/>
                  <a:pt x="3989" y="933"/>
                  <a:pt x="2764" y="1259"/>
                </a:cubicBezTo>
                <a:cubicBezTo>
                  <a:pt x="1943" y="1481"/>
                  <a:pt x="1408" y="1872"/>
                  <a:pt x="1226" y="2471"/>
                </a:cubicBezTo>
                <a:cubicBezTo>
                  <a:pt x="991" y="3292"/>
                  <a:pt x="861" y="4140"/>
                  <a:pt x="965" y="4974"/>
                </a:cubicBezTo>
                <a:cubicBezTo>
                  <a:pt x="991" y="5248"/>
                  <a:pt x="1030" y="5508"/>
                  <a:pt x="991" y="5782"/>
                </a:cubicBezTo>
                <a:cubicBezTo>
                  <a:pt x="835" y="6877"/>
                  <a:pt x="678" y="7972"/>
                  <a:pt x="587" y="9067"/>
                </a:cubicBezTo>
                <a:cubicBezTo>
                  <a:pt x="470" y="10488"/>
                  <a:pt x="378" y="11896"/>
                  <a:pt x="300" y="13317"/>
                </a:cubicBezTo>
                <a:cubicBezTo>
                  <a:pt x="274" y="13825"/>
                  <a:pt x="352" y="14333"/>
                  <a:pt x="339" y="14829"/>
                </a:cubicBezTo>
                <a:cubicBezTo>
                  <a:pt x="313" y="15820"/>
                  <a:pt x="157" y="16797"/>
                  <a:pt x="118" y="17775"/>
                </a:cubicBezTo>
                <a:cubicBezTo>
                  <a:pt x="53" y="19391"/>
                  <a:pt x="0" y="21008"/>
                  <a:pt x="40" y="22624"/>
                </a:cubicBezTo>
                <a:cubicBezTo>
                  <a:pt x="66" y="24149"/>
                  <a:pt x="157" y="25661"/>
                  <a:pt x="144" y="27173"/>
                </a:cubicBezTo>
                <a:cubicBezTo>
                  <a:pt x="131" y="28646"/>
                  <a:pt x="105" y="30132"/>
                  <a:pt x="131" y="31605"/>
                </a:cubicBezTo>
                <a:cubicBezTo>
                  <a:pt x="209" y="35412"/>
                  <a:pt x="405" y="39218"/>
                  <a:pt x="274" y="43051"/>
                </a:cubicBezTo>
                <a:cubicBezTo>
                  <a:pt x="235" y="44237"/>
                  <a:pt x="287" y="45436"/>
                  <a:pt x="300" y="46622"/>
                </a:cubicBezTo>
                <a:cubicBezTo>
                  <a:pt x="300" y="46687"/>
                  <a:pt x="300" y="46753"/>
                  <a:pt x="287" y="46818"/>
                </a:cubicBezTo>
                <a:cubicBezTo>
                  <a:pt x="222" y="48004"/>
                  <a:pt x="313" y="49190"/>
                  <a:pt x="535" y="50363"/>
                </a:cubicBezTo>
                <a:cubicBezTo>
                  <a:pt x="665" y="51054"/>
                  <a:pt x="1004" y="51706"/>
                  <a:pt x="1239" y="52384"/>
                </a:cubicBezTo>
                <a:cubicBezTo>
                  <a:pt x="1486" y="53075"/>
                  <a:pt x="2164" y="53492"/>
                  <a:pt x="3129" y="53700"/>
                </a:cubicBezTo>
                <a:cubicBezTo>
                  <a:pt x="3812" y="53854"/>
                  <a:pt x="4517" y="53911"/>
                  <a:pt x="5223" y="53911"/>
                </a:cubicBezTo>
                <a:cubicBezTo>
                  <a:pt x="5299" y="53911"/>
                  <a:pt x="5374" y="53910"/>
                  <a:pt x="5449" y="53909"/>
                </a:cubicBezTo>
                <a:cubicBezTo>
                  <a:pt x="5591" y="53907"/>
                  <a:pt x="5733" y="53906"/>
                  <a:pt x="5875" y="53906"/>
                </a:cubicBezTo>
                <a:cubicBezTo>
                  <a:pt x="7594" y="53906"/>
                  <a:pt x="9293" y="54042"/>
                  <a:pt x="11015" y="54078"/>
                </a:cubicBezTo>
                <a:cubicBezTo>
                  <a:pt x="11655" y="54087"/>
                  <a:pt x="12288" y="54128"/>
                  <a:pt x="12924" y="54128"/>
                </a:cubicBezTo>
                <a:cubicBezTo>
                  <a:pt x="13273" y="54128"/>
                  <a:pt x="13623" y="54115"/>
                  <a:pt x="13974" y="54078"/>
                </a:cubicBezTo>
                <a:cubicBezTo>
                  <a:pt x="15239" y="53948"/>
                  <a:pt x="16516" y="53870"/>
                  <a:pt x="17781" y="53779"/>
                </a:cubicBezTo>
                <a:cubicBezTo>
                  <a:pt x="18850" y="53700"/>
                  <a:pt x="19919" y="53583"/>
                  <a:pt x="20961" y="53375"/>
                </a:cubicBezTo>
                <a:cubicBezTo>
                  <a:pt x="22043" y="53153"/>
                  <a:pt x="22956" y="52749"/>
                  <a:pt x="23503" y="52019"/>
                </a:cubicBezTo>
                <a:cubicBezTo>
                  <a:pt x="23855" y="51537"/>
                  <a:pt x="24142" y="51028"/>
                  <a:pt x="24233" y="50494"/>
                </a:cubicBezTo>
                <a:cubicBezTo>
                  <a:pt x="24416" y="49464"/>
                  <a:pt x="24429" y="48434"/>
                  <a:pt x="24546" y="47404"/>
                </a:cubicBezTo>
                <a:cubicBezTo>
                  <a:pt x="24690" y="45957"/>
                  <a:pt x="24768" y="44510"/>
                  <a:pt x="24833" y="43064"/>
                </a:cubicBezTo>
                <a:cubicBezTo>
                  <a:pt x="24924" y="41395"/>
                  <a:pt x="24898" y="39726"/>
                  <a:pt x="24898" y="38058"/>
                </a:cubicBezTo>
                <a:cubicBezTo>
                  <a:pt x="24885" y="36402"/>
                  <a:pt x="24794" y="34760"/>
                  <a:pt x="24794" y="33104"/>
                </a:cubicBezTo>
                <a:cubicBezTo>
                  <a:pt x="24794" y="31332"/>
                  <a:pt x="24755" y="29546"/>
                  <a:pt x="24768" y="27760"/>
                </a:cubicBezTo>
                <a:cubicBezTo>
                  <a:pt x="24794" y="26196"/>
                  <a:pt x="24807" y="24631"/>
                  <a:pt x="24846" y="23067"/>
                </a:cubicBezTo>
                <a:cubicBezTo>
                  <a:pt x="24885" y="21503"/>
                  <a:pt x="24911" y="19952"/>
                  <a:pt x="24911" y="18387"/>
                </a:cubicBezTo>
                <a:cubicBezTo>
                  <a:pt x="24911" y="16967"/>
                  <a:pt x="24937" y="15533"/>
                  <a:pt x="24989" y="14112"/>
                </a:cubicBezTo>
                <a:cubicBezTo>
                  <a:pt x="25028" y="12795"/>
                  <a:pt x="25081" y="11479"/>
                  <a:pt x="25068" y="10162"/>
                </a:cubicBezTo>
                <a:cubicBezTo>
                  <a:pt x="25068" y="8924"/>
                  <a:pt x="25002" y="7685"/>
                  <a:pt x="24963" y="6447"/>
                </a:cubicBezTo>
                <a:lnTo>
                  <a:pt x="24950" y="6447"/>
                </a:lnTo>
                <a:cubicBezTo>
                  <a:pt x="25055" y="5561"/>
                  <a:pt x="24963" y="4674"/>
                  <a:pt x="24872" y="3801"/>
                </a:cubicBezTo>
                <a:cubicBezTo>
                  <a:pt x="24807" y="3175"/>
                  <a:pt x="24664" y="2562"/>
                  <a:pt x="24403" y="1963"/>
                </a:cubicBezTo>
                <a:cubicBezTo>
                  <a:pt x="24194" y="1481"/>
                  <a:pt x="23803" y="1103"/>
                  <a:pt x="23204" y="803"/>
                </a:cubicBezTo>
                <a:cubicBezTo>
                  <a:pt x="22185" y="293"/>
                  <a:pt x="21087" y="0"/>
                  <a:pt x="19843" y="0"/>
                </a:cubicBezTo>
                <a:close/>
              </a:path>
            </a:pathLst>
          </a:custGeom>
          <a:noFill/>
          <a:ln w="19050">
            <a:solidFill>
              <a:schemeClr val="tx1"/>
            </a:solidFill>
          </a:ln>
          <a:effectLst>
            <a:outerShdw blurRad="57150" dist="9525" algn="bl" rotWithShape="0">
              <a:srgbClr val="000000"/>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lang="fr-CI" noProof="0"/>
          </a:p>
        </p:txBody>
      </p:sp>
      <p:sp>
        <p:nvSpPr>
          <p:cNvPr id="4" name="Rectangle 3"/>
          <p:cNvSpPr/>
          <p:nvPr/>
        </p:nvSpPr>
        <p:spPr>
          <a:xfrm>
            <a:off x="2946575" y="1442741"/>
            <a:ext cx="1322389" cy="295488"/>
          </a:xfrm>
          <a:prstGeom prst="rect">
            <a:avLst/>
          </a:prstGeom>
        </p:spPr>
        <p:txBody>
          <a:bodyPr wrap="none">
            <a:spAutoFit/>
          </a:bodyPr>
          <a:lstStyle/>
          <a:p>
            <a:pPr lvl="0">
              <a:lnSpc>
                <a:spcPct val="110000"/>
              </a:lnSpc>
            </a:pPr>
            <a:r>
              <a:rPr lang="fr-CI" sz="1400" b="1" noProof="0">
                <a:solidFill>
                  <a:schemeClr val="bg1"/>
                </a:solidFill>
                <a:latin typeface="Helvetica" panose="020B0604020202020204" pitchFamily="34" charset="0"/>
                <a:ea typeface="Open Sans Semibold" panose="020B0706030804020204" pitchFamily="34" charset="0"/>
                <a:cs typeface="Helvetica" panose="020B0604020202020204" pitchFamily="34" charset="0"/>
              </a:rPr>
              <a:t>Constat</a:t>
            </a:r>
          </a:p>
        </p:txBody>
      </p:sp>
      <p:sp>
        <p:nvSpPr>
          <p:cNvPr id="20" name="Google Shape;7386;p39"/>
          <p:cNvSpPr/>
          <p:nvPr/>
        </p:nvSpPr>
        <p:spPr>
          <a:xfrm rot="10800000">
            <a:off x="6372314" y="1459724"/>
            <a:ext cx="3625790" cy="329031"/>
          </a:xfrm>
          <a:custGeom>
            <a:avLst/>
            <a:gdLst/>
            <a:ahLst/>
            <a:cxnLst/>
            <a:rect l="l" t="t" r="r" b="b"/>
            <a:pathLst>
              <a:path w="40007" h="30221" extrusionOk="0">
                <a:moveTo>
                  <a:pt x="19007" y="1"/>
                </a:moveTo>
                <a:cubicBezTo>
                  <a:pt x="17909" y="1"/>
                  <a:pt x="16810" y="17"/>
                  <a:pt x="15708" y="53"/>
                </a:cubicBezTo>
                <a:cubicBezTo>
                  <a:pt x="13270" y="131"/>
                  <a:pt x="10885" y="275"/>
                  <a:pt x="8512" y="548"/>
                </a:cubicBezTo>
                <a:cubicBezTo>
                  <a:pt x="6088" y="835"/>
                  <a:pt x="4524" y="1500"/>
                  <a:pt x="4041" y="2712"/>
                </a:cubicBezTo>
                <a:cubicBezTo>
                  <a:pt x="4015" y="2777"/>
                  <a:pt x="3976" y="2843"/>
                  <a:pt x="3937" y="2908"/>
                </a:cubicBezTo>
                <a:cubicBezTo>
                  <a:pt x="2777" y="4902"/>
                  <a:pt x="2282" y="6949"/>
                  <a:pt x="1734" y="8995"/>
                </a:cubicBezTo>
                <a:cubicBezTo>
                  <a:pt x="1160" y="11120"/>
                  <a:pt x="613" y="13232"/>
                  <a:pt x="391" y="15357"/>
                </a:cubicBezTo>
                <a:cubicBezTo>
                  <a:pt x="183" y="17325"/>
                  <a:pt x="0" y="19293"/>
                  <a:pt x="79" y="21092"/>
                </a:cubicBezTo>
                <a:cubicBezTo>
                  <a:pt x="52" y="23074"/>
                  <a:pt x="144" y="24899"/>
                  <a:pt x="365" y="26710"/>
                </a:cubicBezTo>
                <a:cubicBezTo>
                  <a:pt x="522" y="28079"/>
                  <a:pt x="1721" y="29096"/>
                  <a:pt x="4419" y="29656"/>
                </a:cubicBezTo>
                <a:cubicBezTo>
                  <a:pt x="6296" y="30048"/>
                  <a:pt x="8265" y="30178"/>
                  <a:pt x="10259" y="30204"/>
                </a:cubicBezTo>
                <a:cubicBezTo>
                  <a:pt x="11143" y="30216"/>
                  <a:pt x="12026" y="30220"/>
                  <a:pt x="12908" y="30220"/>
                </a:cubicBezTo>
                <a:cubicBezTo>
                  <a:pt x="15996" y="30220"/>
                  <a:pt x="19078" y="30165"/>
                  <a:pt x="22161" y="30165"/>
                </a:cubicBezTo>
                <a:cubicBezTo>
                  <a:pt x="24859" y="30165"/>
                  <a:pt x="27557" y="30204"/>
                  <a:pt x="30243" y="30204"/>
                </a:cubicBezTo>
                <a:cubicBezTo>
                  <a:pt x="31690" y="30191"/>
                  <a:pt x="33123" y="30113"/>
                  <a:pt x="34505" y="29852"/>
                </a:cubicBezTo>
                <a:cubicBezTo>
                  <a:pt x="35470" y="29683"/>
                  <a:pt x="36330" y="29435"/>
                  <a:pt x="36917" y="29005"/>
                </a:cubicBezTo>
                <a:cubicBezTo>
                  <a:pt x="37881" y="28288"/>
                  <a:pt x="38677" y="27519"/>
                  <a:pt x="39120" y="26684"/>
                </a:cubicBezTo>
                <a:cubicBezTo>
                  <a:pt x="39732" y="25485"/>
                  <a:pt x="39954" y="24260"/>
                  <a:pt x="39954" y="23021"/>
                </a:cubicBezTo>
                <a:cubicBezTo>
                  <a:pt x="39954" y="19372"/>
                  <a:pt x="40006" y="15709"/>
                  <a:pt x="39563" y="12059"/>
                </a:cubicBezTo>
                <a:cubicBezTo>
                  <a:pt x="39367" y="10403"/>
                  <a:pt x="39485" y="8748"/>
                  <a:pt x="39237" y="7105"/>
                </a:cubicBezTo>
                <a:cubicBezTo>
                  <a:pt x="39068" y="6023"/>
                  <a:pt x="38794" y="4941"/>
                  <a:pt x="37920" y="3938"/>
                </a:cubicBezTo>
                <a:cubicBezTo>
                  <a:pt x="37282" y="3208"/>
                  <a:pt x="36773" y="2438"/>
                  <a:pt x="35665" y="1826"/>
                </a:cubicBezTo>
                <a:cubicBezTo>
                  <a:pt x="34192" y="1031"/>
                  <a:pt x="32237" y="666"/>
                  <a:pt x="30138" y="496"/>
                </a:cubicBezTo>
                <a:cubicBezTo>
                  <a:pt x="26451" y="194"/>
                  <a:pt x="22741" y="1"/>
                  <a:pt x="19007" y="1"/>
                </a:cubicBezTo>
                <a:close/>
              </a:path>
            </a:pathLst>
          </a:custGeom>
          <a:solidFill>
            <a:srgbClr val="112A40"/>
          </a:solidFill>
          <a:ln>
            <a:noFill/>
          </a:ln>
          <a:effectLst>
            <a:outerShdw blurRad="57150" dist="9525" algn="bl" rotWithShape="0">
              <a:srgbClr val="000000"/>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lang="fr-CI" noProof="0"/>
          </a:p>
        </p:txBody>
      </p:sp>
      <p:sp>
        <p:nvSpPr>
          <p:cNvPr id="21" name="Google Shape;7367;p39"/>
          <p:cNvSpPr/>
          <p:nvPr/>
        </p:nvSpPr>
        <p:spPr>
          <a:xfrm rot="16200000">
            <a:off x="7569073" y="228570"/>
            <a:ext cx="2000788" cy="4306666"/>
          </a:xfrm>
          <a:custGeom>
            <a:avLst/>
            <a:gdLst/>
            <a:ahLst/>
            <a:cxnLst/>
            <a:rect l="l" t="t" r="r" b="b"/>
            <a:pathLst>
              <a:path w="25081" h="54128" extrusionOk="0">
                <a:moveTo>
                  <a:pt x="19843" y="0"/>
                </a:moveTo>
                <a:cubicBezTo>
                  <a:pt x="19654" y="0"/>
                  <a:pt x="19462" y="7"/>
                  <a:pt x="19267" y="21"/>
                </a:cubicBezTo>
                <a:cubicBezTo>
                  <a:pt x="17781" y="125"/>
                  <a:pt x="16282" y="99"/>
                  <a:pt x="14796" y="112"/>
                </a:cubicBezTo>
                <a:cubicBezTo>
                  <a:pt x="13909" y="125"/>
                  <a:pt x="13010" y="112"/>
                  <a:pt x="12123" y="177"/>
                </a:cubicBezTo>
                <a:cubicBezTo>
                  <a:pt x="10272" y="333"/>
                  <a:pt x="8421" y="503"/>
                  <a:pt x="6570" y="633"/>
                </a:cubicBezTo>
                <a:cubicBezTo>
                  <a:pt x="5267" y="738"/>
                  <a:pt x="3989" y="933"/>
                  <a:pt x="2764" y="1259"/>
                </a:cubicBezTo>
                <a:cubicBezTo>
                  <a:pt x="1943" y="1481"/>
                  <a:pt x="1408" y="1872"/>
                  <a:pt x="1226" y="2471"/>
                </a:cubicBezTo>
                <a:cubicBezTo>
                  <a:pt x="991" y="3292"/>
                  <a:pt x="861" y="4140"/>
                  <a:pt x="965" y="4974"/>
                </a:cubicBezTo>
                <a:cubicBezTo>
                  <a:pt x="991" y="5248"/>
                  <a:pt x="1030" y="5508"/>
                  <a:pt x="991" y="5782"/>
                </a:cubicBezTo>
                <a:cubicBezTo>
                  <a:pt x="835" y="6877"/>
                  <a:pt x="678" y="7972"/>
                  <a:pt x="587" y="9067"/>
                </a:cubicBezTo>
                <a:cubicBezTo>
                  <a:pt x="470" y="10488"/>
                  <a:pt x="378" y="11896"/>
                  <a:pt x="300" y="13317"/>
                </a:cubicBezTo>
                <a:cubicBezTo>
                  <a:pt x="274" y="13825"/>
                  <a:pt x="352" y="14333"/>
                  <a:pt x="339" y="14829"/>
                </a:cubicBezTo>
                <a:cubicBezTo>
                  <a:pt x="313" y="15820"/>
                  <a:pt x="157" y="16797"/>
                  <a:pt x="118" y="17775"/>
                </a:cubicBezTo>
                <a:cubicBezTo>
                  <a:pt x="53" y="19391"/>
                  <a:pt x="0" y="21008"/>
                  <a:pt x="40" y="22624"/>
                </a:cubicBezTo>
                <a:cubicBezTo>
                  <a:pt x="66" y="24149"/>
                  <a:pt x="157" y="25661"/>
                  <a:pt x="144" y="27173"/>
                </a:cubicBezTo>
                <a:cubicBezTo>
                  <a:pt x="131" y="28646"/>
                  <a:pt x="105" y="30132"/>
                  <a:pt x="131" y="31605"/>
                </a:cubicBezTo>
                <a:cubicBezTo>
                  <a:pt x="209" y="35412"/>
                  <a:pt x="405" y="39218"/>
                  <a:pt x="274" y="43051"/>
                </a:cubicBezTo>
                <a:cubicBezTo>
                  <a:pt x="235" y="44237"/>
                  <a:pt x="287" y="45436"/>
                  <a:pt x="300" y="46622"/>
                </a:cubicBezTo>
                <a:cubicBezTo>
                  <a:pt x="300" y="46687"/>
                  <a:pt x="300" y="46753"/>
                  <a:pt x="287" y="46818"/>
                </a:cubicBezTo>
                <a:cubicBezTo>
                  <a:pt x="222" y="48004"/>
                  <a:pt x="313" y="49190"/>
                  <a:pt x="535" y="50363"/>
                </a:cubicBezTo>
                <a:cubicBezTo>
                  <a:pt x="665" y="51054"/>
                  <a:pt x="1004" y="51706"/>
                  <a:pt x="1239" y="52384"/>
                </a:cubicBezTo>
                <a:cubicBezTo>
                  <a:pt x="1486" y="53075"/>
                  <a:pt x="2164" y="53492"/>
                  <a:pt x="3129" y="53700"/>
                </a:cubicBezTo>
                <a:cubicBezTo>
                  <a:pt x="3812" y="53854"/>
                  <a:pt x="4517" y="53911"/>
                  <a:pt x="5223" y="53911"/>
                </a:cubicBezTo>
                <a:cubicBezTo>
                  <a:pt x="5299" y="53911"/>
                  <a:pt x="5374" y="53910"/>
                  <a:pt x="5449" y="53909"/>
                </a:cubicBezTo>
                <a:cubicBezTo>
                  <a:pt x="5591" y="53907"/>
                  <a:pt x="5733" y="53906"/>
                  <a:pt x="5875" y="53906"/>
                </a:cubicBezTo>
                <a:cubicBezTo>
                  <a:pt x="7594" y="53906"/>
                  <a:pt x="9293" y="54042"/>
                  <a:pt x="11015" y="54078"/>
                </a:cubicBezTo>
                <a:cubicBezTo>
                  <a:pt x="11655" y="54087"/>
                  <a:pt x="12288" y="54128"/>
                  <a:pt x="12924" y="54128"/>
                </a:cubicBezTo>
                <a:cubicBezTo>
                  <a:pt x="13273" y="54128"/>
                  <a:pt x="13623" y="54115"/>
                  <a:pt x="13974" y="54078"/>
                </a:cubicBezTo>
                <a:cubicBezTo>
                  <a:pt x="15239" y="53948"/>
                  <a:pt x="16516" y="53870"/>
                  <a:pt x="17781" y="53779"/>
                </a:cubicBezTo>
                <a:cubicBezTo>
                  <a:pt x="18850" y="53700"/>
                  <a:pt x="19919" y="53583"/>
                  <a:pt x="20961" y="53375"/>
                </a:cubicBezTo>
                <a:cubicBezTo>
                  <a:pt x="22043" y="53153"/>
                  <a:pt x="22956" y="52749"/>
                  <a:pt x="23503" y="52019"/>
                </a:cubicBezTo>
                <a:cubicBezTo>
                  <a:pt x="23855" y="51537"/>
                  <a:pt x="24142" y="51028"/>
                  <a:pt x="24233" y="50494"/>
                </a:cubicBezTo>
                <a:cubicBezTo>
                  <a:pt x="24416" y="49464"/>
                  <a:pt x="24429" y="48434"/>
                  <a:pt x="24546" y="47404"/>
                </a:cubicBezTo>
                <a:cubicBezTo>
                  <a:pt x="24690" y="45957"/>
                  <a:pt x="24768" y="44510"/>
                  <a:pt x="24833" y="43064"/>
                </a:cubicBezTo>
                <a:cubicBezTo>
                  <a:pt x="24924" y="41395"/>
                  <a:pt x="24898" y="39726"/>
                  <a:pt x="24898" y="38058"/>
                </a:cubicBezTo>
                <a:cubicBezTo>
                  <a:pt x="24885" y="36402"/>
                  <a:pt x="24794" y="34760"/>
                  <a:pt x="24794" y="33104"/>
                </a:cubicBezTo>
                <a:cubicBezTo>
                  <a:pt x="24794" y="31332"/>
                  <a:pt x="24755" y="29546"/>
                  <a:pt x="24768" y="27760"/>
                </a:cubicBezTo>
                <a:cubicBezTo>
                  <a:pt x="24794" y="26196"/>
                  <a:pt x="24807" y="24631"/>
                  <a:pt x="24846" y="23067"/>
                </a:cubicBezTo>
                <a:cubicBezTo>
                  <a:pt x="24885" y="21503"/>
                  <a:pt x="24911" y="19952"/>
                  <a:pt x="24911" y="18387"/>
                </a:cubicBezTo>
                <a:cubicBezTo>
                  <a:pt x="24911" y="16967"/>
                  <a:pt x="24937" y="15533"/>
                  <a:pt x="24989" y="14112"/>
                </a:cubicBezTo>
                <a:cubicBezTo>
                  <a:pt x="25028" y="12795"/>
                  <a:pt x="25081" y="11479"/>
                  <a:pt x="25068" y="10162"/>
                </a:cubicBezTo>
                <a:cubicBezTo>
                  <a:pt x="25068" y="8924"/>
                  <a:pt x="25002" y="7685"/>
                  <a:pt x="24963" y="6447"/>
                </a:cubicBezTo>
                <a:lnTo>
                  <a:pt x="24950" y="6447"/>
                </a:lnTo>
                <a:cubicBezTo>
                  <a:pt x="25055" y="5561"/>
                  <a:pt x="24963" y="4674"/>
                  <a:pt x="24872" y="3801"/>
                </a:cubicBezTo>
                <a:cubicBezTo>
                  <a:pt x="24807" y="3175"/>
                  <a:pt x="24664" y="2562"/>
                  <a:pt x="24403" y="1963"/>
                </a:cubicBezTo>
                <a:cubicBezTo>
                  <a:pt x="24194" y="1481"/>
                  <a:pt x="23803" y="1103"/>
                  <a:pt x="23204" y="803"/>
                </a:cubicBezTo>
                <a:cubicBezTo>
                  <a:pt x="22185" y="293"/>
                  <a:pt x="21087" y="0"/>
                  <a:pt x="19843" y="0"/>
                </a:cubicBezTo>
                <a:close/>
              </a:path>
            </a:pathLst>
          </a:custGeom>
          <a:noFill/>
          <a:ln w="19050">
            <a:solidFill>
              <a:srgbClr val="060606"/>
            </a:solidFill>
          </a:ln>
          <a:effectLst>
            <a:outerShdw blurRad="57150" dist="9525" algn="bl" rotWithShape="0">
              <a:srgbClr val="000000"/>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lang="fr-CI" noProof="0"/>
          </a:p>
        </p:txBody>
      </p:sp>
      <p:sp>
        <p:nvSpPr>
          <p:cNvPr id="24" name="Rectangle 23"/>
          <p:cNvSpPr/>
          <p:nvPr/>
        </p:nvSpPr>
        <p:spPr>
          <a:xfrm>
            <a:off x="7570816" y="1466170"/>
            <a:ext cx="1322389" cy="295488"/>
          </a:xfrm>
          <a:prstGeom prst="rect">
            <a:avLst/>
          </a:prstGeom>
        </p:spPr>
        <p:txBody>
          <a:bodyPr wrap="none">
            <a:spAutoFit/>
          </a:bodyPr>
          <a:lstStyle/>
          <a:p>
            <a:pPr lvl="0">
              <a:lnSpc>
                <a:spcPct val="110000"/>
              </a:lnSpc>
            </a:pPr>
            <a:r>
              <a:rPr lang="fr-CI" sz="1400" b="1" noProof="0">
                <a:solidFill>
                  <a:schemeClr val="bg1"/>
                </a:solidFill>
                <a:latin typeface="Helvetica" panose="020B0604020202020204" pitchFamily="34" charset="0"/>
                <a:ea typeface="Open Sans Semibold" panose="020B0706030804020204" pitchFamily="34" charset="0"/>
                <a:cs typeface="Helvetica" panose="020B0604020202020204" pitchFamily="34" charset="0"/>
              </a:rPr>
              <a:t>Preuves</a:t>
            </a:r>
          </a:p>
        </p:txBody>
      </p:sp>
      <p:sp>
        <p:nvSpPr>
          <p:cNvPr id="37" name="Google Shape;7386;p39"/>
          <p:cNvSpPr/>
          <p:nvPr/>
        </p:nvSpPr>
        <p:spPr>
          <a:xfrm rot="10800000">
            <a:off x="1854215" y="3845744"/>
            <a:ext cx="3625790" cy="329031"/>
          </a:xfrm>
          <a:custGeom>
            <a:avLst/>
            <a:gdLst/>
            <a:ahLst/>
            <a:cxnLst/>
            <a:rect l="l" t="t" r="r" b="b"/>
            <a:pathLst>
              <a:path w="40007" h="30221" extrusionOk="0">
                <a:moveTo>
                  <a:pt x="19007" y="1"/>
                </a:moveTo>
                <a:cubicBezTo>
                  <a:pt x="17909" y="1"/>
                  <a:pt x="16810" y="17"/>
                  <a:pt x="15708" y="53"/>
                </a:cubicBezTo>
                <a:cubicBezTo>
                  <a:pt x="13270" y="131"/>
                  <a:pt x="10885" y="275"/>
                  <a:pt x="8512" y="548"/>
                </a:cubicBezTo>
                <a:cubicBezTo>
                  <a:pt x="6088" y="835"/>
                  <a:pt x="4524" y="1500"/>
                  <a:pt x="4041" y="2712"/>
                </a:cubicBezTo>
                <a:cubicBezTo>
                  <a:pt x="4015" y="2777"/>
                  <a:pt x="3976" y="2843"/>
                  <a:pt x="3937" y="2908"/>
                </a:cubicBezTo>
                <a:cubicBezTo>
                  <a:pt x="2777" y="4902"/>
                  <a:pt x="2282" y="6949"/>
                  <a:pt x="1734" y="8995"/>
                </a:cubicBezTo>
                <a:cubicBezTo>
                  <a:pt x="1160" y="11120"/>
                  <a:pt x="613" y="13232"/>
                  <a:pt x="391" y="15357"/>
                </a:cubicBezTo>
                <a:cubicBezTo>
                  <a:pt x="183" y="17325"/>
                  <a:pt x="0" y="19293"/>
                  <a:pt x="79" y="21092"/>
                </a:cubicBezTo>
                <a:cubicBezTo>
                  <a:pt x="52" y="23074"/>
                  <a:pt x="144" y="24899"/>
                  <a:pt x="365" y="26710"/>
                </a:cubicBezTo>
                <a:cubicBezTo>
                  <a:pt x="522" y="28079"/>
                  <a:pt x="1721" y="29096"/>
                  <a:pt x="4419" y="29656"/>
                </a:cubicBezTo>
                <a:cubicBezTo>
                  <a:pt x="6296" y="30048"/>
                  <a:pt x="8265" y="30178"/>
                  <a:pt x="10259" y="30204"/>
                </a:cubicBezTo>
                <a:cubicBezTo>
                  <a:pt x="11143" y="30216"/>
                  <a:pt x="12026" y="30220"/>
                  <a:pt x="12908" y="30220"/>
                </a:cubicBezTo>
                <a:cubicBezTo>
                  <a:pt x="15996" y="30220"/>
                  <a:pt x="19078" y="30165"/>
                  <a:pt x="22161" y="30165"/>
                </a:cubicBezTo>
                <a:cubicBezTo>
                  <a:pt x="24859" y="30165"/>
                  <a:pt x="27557" y="30204"/>
                  <a:pt x="30243" y="30204"/>
                </a:cubicBezTo>
                <a:cubicBezTo>
                  <a:pt x="31690" y="30191"/>
                  <a:pt x="33123" y="30113"/>
                  <a:pt x="34505" y="29852"/>
                </a:cubicBezTo>
                <a:cubicBezTo>
                  <a:pt x="35470" y="29683"/>
                  <a:pt x="36330" y="29435"/>
                  <a:pt x="36917" y="29005"/>
                </a:cubicBezTo>
                <a:cubicBezTo>
                  <a:pt x="37881" y="28288"/>
                  <a:pt x="38677" y="27519"/>
                  <a:pt x="39120" y="26684"/>
                </a:cubicBezTo>
                <a:cubicBezTo>
                  <a:pt x="39732" y="25485"/>
                  <a:pt x="39954" y="24260"/>
                  <a:pt x="39954" y="23021"/>
                </a:cubicBezTo>
                <a:cubicBezTo>
                  <a:pt x="39954" y="19372"/>
                  <a:pt x="40006" y="15709"/>
                  <a:pt x="39563" y="12059"/>
                </a:cubicBezTo>
                <a:cubicBezTo>
                  <a:pt x="39367" y="10403"/>
                  <a:pt x="39485" y="8748"/>
                  <a:pt x="39237" y="7105"/>
                </a:cubicBezTo>
                <a:cubicBezTo>
                  <a:pt x="39068" y="6023"/>
                  <a:pt x="38794" y="4941"/>
                  <a:pt x="37920" y="3938"/>
                </a:cubicBezTo>
                <a:cubicBezTo>
                  <a:pt x="37282" y="3208"/>
                  <a:pt x="36773" y="2438"/>
                  <a:pt x="35665" y="1826"/>
                </a:cubicBezTo>
                <a:cubicBezTo>
                  <a:pt x="34192" y="1031"/>
                  <a:pt x="32237" y="666"/>
                  <a:pt x="30138" y="496"/>
                </a:cubicBezTo>
                <a:cubicBezTo>
                  <a:pt x="26451" y="194"/>
                  <a:pt x="22741" y="1"/>
                  <a:pt x="19007" y="1"/>
                </a:cubicBezTo>
                <a:close/>
              </a:path>
            </a:pathLst>
          </a:custGeom>
          <a:solidFill>
            <a:srgbClr val="112A40"/>
          </a:solidFill>
          <a:ln>
            <a:noFill/>
          </a:ln>
          <a:effectLst>
            <a:outerShdw blurRad="57150" dist="9525" algn="bl" rotWithShape="0">
              <a:srgbClr val="000000"/>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lang="fr-CI" noProof="0"/>
          </a:p>
        </p:txBody>
      </p:sp>
      <p:sp>
        <p:nvSpPr>
          <p:cNvPr id="38" name="Google Shape;7367;p39"/>
          <p:cNvSpPr/>
          <p:nvPr/>
        </p:nvSpPr>
        <p:spPr>
          <a:xfrm rot="16200000">
            <a:off x="2838223" y="3190772"/>
            <a:ext cx="1751381" cy="3719393"/>
          </a:xfrm>
          <a:custGeom>
            <a:avLst/>
            <a:gdLst/>
            <a:ahLst/>
            <a:cxnLst/>
            <a:rect l="l" t="t" r="r" b="b"/>
            <a:pathLst>
              <a:path w="25081" h="54128" extrusionOk="0">
                <a:moveTo>
                  <a:pt x="19843" y="0"/>
                </a:moveTo>
                <a:cubicBezTo>
                  <a:pt x="19654" y="0"/>
                  <a:pt x="19462" y="7"/>
                  <a:pt x="19267" y="21"/>
                </a:cubicBezTo>
                <a:cubicBezTo>
                  <a:pt x="17781" y="125"/>
                  <a:pt x="16282" y="99"/>
                  <a:pt x="14796" y="112"/>
                </a:cubicBezTo>
                <a:cubicBezTo>
                  <a:pt x="13909" y="125"/>
                  <a:pt x="13010" y="112"/>
                  <a:pt x="12123" y="177"/>
                </a:cubicBezTo>
                <a:cubicBezTo>
                  <a:pt x="10272" y="333"/>
                  <a:pt x="8421" y="503"/>
                  <a:pt x="6570" y="633"/>
                </a:cubicBezTo>
                <a:cubicBezTo>
                  <a:pt x="5267" y="738"/>
                  <a:pt x="3989" y="933"/>
                  <a:pt x="2764" y="1259"/>
                </a:cubicBezTo>
                <a:cubicBezTo>
                  <a:pt x="1943" y="1481"/>
                  <a:pt x="1408" y="1872"/>
                  <a:pt x="1226" y="2471"/>
                </a:cubicBezTo>
                <a:cubicBezTo>
                  <a:pt x="991" y="3292"/>
                  <a:pt x="861" y="4140"/>
                  <a:pt x="965" y="4974"/>
                </a:cubicBezTo>
                <a:cubicBezTo>
                  <a:pt x="991" y="5248"/>
                  <a:pt x="1030" y="5508"/>
                  <a:pt x="991" y="5782"/>
                </a:cubicBezTo>
                <a:cubicBezTo>
                  <a:pt x="835" y="6877"/>
                  <a:pt x="678" y="7972"/>
                  <a:pt x="587" y="9067"/>
                </a:cubicBezTo>
                <a:cubicBezTo>
                  <a:pt x="470" y="10488"/>
                  <a:pt x="378" y="11896"/>
                  <a:pt x="300" y="13317"/>
                </a:cubicBezTo>
                <a:cubicBezTo>
                  <a:pt x="274" y="13825"/>
                  <a:pt x="352" y="14333"/>
                  <a:pt x="339" y="14829"/>
                </a:cubicBezTo>
                <a:cubicBezTo>
                  <a:pt x="313" y="15820"/>
                  <a:pt x="157" y="16797"/>
                  <a:pt x="118" y="17775"/>
                </a:cubicBezTo>
                <a:cubicBezTo>
                  <a:pt x="53" y="19391"/>
                  <a:pt x="0" y="21008"/>
                  <a:pt x="40" y="22624"/>
                </a:cubicBezTo>
                <a:cubicBezTo>
                  <a:pt x="66" y="24149"/>
                  <a:pt x="157" y="25661"/>
                  <a:pt x="144" y="27173"/>
                </a:cubicBezTo>
                <a:cubicBezTo>
                  <a:pt x="131" y="28646"/>
                  <a:pt x="105" y="30132"/>
                  <a:pt x="131" y="31605"/>
                </a:cubicBezTo>
                <a:cubicBezTo>
                  <a:pt x="209" y="35412"/>
                  <a:pt x="405" y="39218"/>
                  <a:pt x="274" y="43051"/>
                </a:cubicBezTo>
                <a:cubicBezTo>
                  <a:pt x="235" y="44237"/>
                  <a:pt x="287" y="45436"/>
                  <a:pt x="300" y="46622"/>
                </a:cubicBezTo>
                <a:cubicBezTo>
                  <a:pt x="300" y="46687"/>
                  <a:pt x="300" y="46753"/>
                  <a:pt x="287" y="46818"/>
                </a:cubicBezTo>
                <a:cubicBezTo>
                  <a:pt x="222" y="48004"/>
                  <a:pt x="313" y="49190"/>
                  <a:pt x="535" y="50363"/>
                </a:cubicBezTo>
                <a:cubicBezTo>
                  <a:pt x="665" y="51054"/>
                  <a:pt x="1004" y="51706"/>
                  <a:pt x="1239" y="52384"/>
                </a:cubicBezTo>
                <a:cubicBezTo>
                  <a:pt x="1486" y="53075"/>
                  <a:pt x="2164" y="53492"/>
                  <a:pt x="3129" y="53700"/>
                </a:cubicBezTo>
                <a:cubicBezTo>
                  <a:pt x="3812" y="53854"/>
                  <a:pt x="4517" y="53911"/>
                  <a:pt x="5223" y="53911"/>
                </a:cubicBezTo>
                <a:cubicBezTo>
                  <a:pt x="5299" y="53911"/>
                  <a:pt x="5374" y="53910"/>
                  <a:pt x="5449" y="53909"/>
                </a:cubicBezTo>
                <a:cubicBezTo>
                  <a:pt x="5591" y="53907"/>
                  <a:pt x="5733" y="53906"/>
                  <a:pt x="5875" y="53906"/>
                </a:cubicBezTo>
                <a:cubicBezTo>
                  <a:pt x="7594" y="53906"/>
                  <a:pt x="9293" y="54042"/>
                  <a:pt x="11015" y="54078"/>
                </a:cubicBezTo>
                <a:cubicBezTo>
                  <a:pt x="11655" y="54087"/>
                  <a:pt x="12288" y="54128"/>
                  <a:pt x="12924" y="54128"/>
                </a:cubicBezTo>
                <a:cubicBezTo>
                  <a:pt x="13273" y="54128"/>
                  <a:pt x="13623" y="54115"/>
                  <a:pt x="13974" y="54078"/>
                </a:cubicBezTo>
                <a:cubicBezTo>
                  <a:pt x="15239" y="53948"/>
                  <a:pt x="16516" y="53870"/>
                  <a:pt x="17781" y="53779"/>
                </a:cubicBezTo>
                <a:cubicBezTo>
                  <a:pt x="18850" y="53700"/>
                  <a:pt x="19919" y="53583"/>
                  <a:pt x="20961" y="53375"/>
                </a:cubicBezTo>
                <a:cubicBezTo>
                  <a:pt x="22043" y="53153"/>
                  <a:pt x="22956" y="52749"/>
                  <a:pt x="23503" y="52019"/>
                </a:cubicBezTo>
                <a:cubicBezTo>
                  <a:pt x="23855" y="51537"/>
                  <a:pt x="24142" y="51028"/>
                  <a:pt x="24233" y="50494"/>
                </a:cubicBezTo>
                <a:cubicBezTo>
                  <a:pt x="24416" y="49464"/>
                  <a:pt x="24429" y="48434"/>
                  <a:pt x="24546" y="47404"/>
                </a:cubicBezTo>
                <a:cubicBezTo>
                  <a:pt x="24690" y="45957"/>
                  <a:pt x="24768" y="44510"/>
                  <a:pt x="24833" y="43064"/>
                </a:cubicBezTo>
                <a:cubicBezTo>
                  <a:pt x="24924" y="41395"/>
                  <a:pt x="24898" y="39726"/>
                  <a:pt x="24898" y="38058"/>
                </a:cubicBezTo>
                <a:cubicBezTo>
                  <a:pt x="24885" y="36402"/>
                  <a:pt x="24794" y="34760"/>
                  <a:pt x="24794" y="33104"/>
                </a:cubicBezTo>
                <a:cubicBezTo>
                  <a:pt x="24794" y="31332"/>
                  <a:pt x="24755" y="29546"/>
                  <a:pt x="24768" y="27760"/>
                </a:cubicBezTo>
                <a:cubicBezTo>
                  <a:pt x="24794" y="26196"/>
                  <a:pt x="24807" y="24631"/>
                  <a:pt x="24846" y="23067"/>
                </a:cubicBezTo>
                <a:cubicBezTo>
                  <a:pt x="24885" y="21503"/>
                  <a:pt x="24911" y="19952"/>
                  <a:pt x="24911" y="18387"/>
                </a:cubicBezTo>
                <a:cubicBezTo>
                  <a:pt x="24911" y="16967"/>
                  <a:pt x="24937" y="15533"/>
                  <a:pt x="24989" y="14112"/>
                </a:cubicBezTo>
                <a:cubicBezTo>
                  <a:pt x="25028" y="12795"/>
                  <a:pt x="25081" y="11479"/>
                  <a:pt x="25068" y="10162"/>
                </a:cubicBezTo>
                <a:cubicBezTo>
                  <a:pt x="25068" y="8924"/>
                  <a:pt x="25002" y="7685"/>
                  <a:pt x="24963" y="6447"/>
                </a:cubicBezTo>
                <a:lnTo>
                  <a:pt x="24950" y="6447"/>
                </a:lnTo>
                <a:cubicBezTo>
                  <a:pt x="25055" y="5561"/>
                  <a:pt x="24963" y="4674"/>
                  <a:pt x="24872" y="3801"/>
                </a:cubicBezTo>
                <a:cubicBezTo>
                  <a:pt x="24807" y="3175"/>
                  <a:pt x="24664" y="2562"/>
                  <a:pt x="24403" y="1963"/>
                </a:cubicBezTo>
                <a:cubicBezTo>
                  <a:pt x="24194" y="1481"/>
                  <a:pt x="23803" y="1103"/>
                  <a:pt x="23204" y="803"/>
                </a:cubicBezTo>
                <a:cubicBezTo>
                  <a:pt x="22185" y="293"/>
                  <a:pt x="21087" y="0"/>
                  <a:pt x="19843" y="0"/>
                </a:cubicBezTo>
                <a:close/>
              </a:path>
            </a:pathLst>
          </a:custGeom>
          <a:noFill/>
          <a:ln w="19050">
            <a:solidFill>
              <a:srgbClr val="060606"/>
            </a:solidFill>
          </a:ln>
          <a:effectLst>
            <a:outerShdw blurRad="57150" dist="9525" algn="bl" rotWithShape="0">
              <a:srgbClr val="000000"/>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lang="fr-CI" noProof="0"/>
          </a:p>
        </p:txBody>
      </p:sp>
      <p:sp>
        <p:nvSpPr>
          <p:cNvPr id="40" name="Rectangle 39"/>
          <p:cNvSpPr/>
          <p:nvPr/>
        </p:nvSpPr>
        <p:spPr>
          <a:xfrm>
            <a:off x="3052718" y="3852190"/>
            <a:ext cx="1322389" cy="295488"/>
          </a:xfrm>
          <a:prstGeom prst="rect">
            <a:avLst/>
          </a:prstGeom>
        </p:spPr>
        <p:txBody>
          <a:bodyPr wrap="none">
            <a:spAutoFit/>
          </a:bodyPr>
          <a:lstStyle/>
          <a:p>
            <a:pPr lvl="0">
              <a:lnSpc>
                <a:spcPct val="110000"/>
              </a:lnSpc>
            </a:pPr>
            <a:r>
              <a:rPr lang="fr-CI" sz="1400" b="1" noProof="0">
                <a:solidFill>
                  <a:schemeClr val="bg1"/>
                </a:solidFill>
                <a:latin typeface="Helvetica" panose="020B0604020202020204" pitchFamily="34" charset="0"/>
                <a:ea typeface="Open Sans Semibold" panose="020B0706030804020204" pitchFamily="34" charset="0"/>
                <a:cs typeface="Helvetica" panose="020B0604020202020204" pitchFamily="34" charset="0"/>
              </a:rPr>
              <a:t>Implication</a:t>
            </a:r>
          </a:p>
        </p:txBody>
      </p:sp>
      <p:sp>
        <p:nvSpPr>
          <p:cNvPr id="42" name="Google Shape;7386;p39"/>
          <p:cNvSpPr/>
          <p:nvPr/>
        </p:nvSpPr>
        <p:spPr>
          <a:xfrm rot="10800000">
            <a:off x="6478457" y="3869173"/>
            <a:ext cx="3625790" cy="329031"/>
          </a:xfrm>
          <a:custGeom>
            <a:avLst/>
            <a:gdLst/>
            <a:ahLst/>
            <a:cxnLst/>
            <a:rect l="l" t="t" r="r" b="b"/>
            <a:pathLst>
              <a:path w="40007" h="30221" extrusionOk="0">
                <a:moveTo>
                  <a:pt x="19007" y="1"/>
                </a:moveTo>
                <a:cubicBezTo>
                  <a:pt x="17909" y="1"/>
                  <a:pt x="16810" y="17"/>
                  <a:pt x="15708" y="53"/>
                </a:cubicBezTo>
                <a:cubicBezTo>
                  <a:pt x="13270" y="131"/>
                  <a:pt x="10885" y="275"/>
                  <a:pt x="8512" y="548"/>
                </a:cubicBezTo>
                <a:cubicBezTo>
                  <a:pt x="6088" y="835"/>
                  <a:pt x="4524" y="1500"/>
                  <a:pt x="4041" y="2712"/>
                </a:cubicBezTo>
                <a:cubicBezTo>
                  <a:pt x="4015" y="2777"/>
                  <a:pt x="3976" y="2843"/>
                  <a:pt x="3937" y="2908"/>
                </a:cubicBezTo>
                <a:cubicBezTo>
                  <a:pt x="2777" y="4902"/>
                  <a:pt x="2282" y="6949"/>
                  <a:pt x="1734" y="8995"/>
                </a:cubicBezTo>
                <a:cubicBezTo>
                  <a:pt x="1160" y="11120"/>
                  <a:pt x="613" y="13232"/>
                  <a:pt x="391" y="15357"/>
                </a:cubicBezTo>
                <a:cubicBezTo>
                  <a:pt x="183" y="17325"/>
                  <a:pt x="0" y="19293"/>
                  <a:pt x="79" y="21092"/>
                </a:cubicBezTo>
                <a:cubicBezTo>
                  <a:pt x="52" y="23074"/>
                  <a:pt x="144" y="24899"/>
                  <a:pt x="365" y="26710"/>
                </a:cubicBezTo>
                <a:cubicBezTo>
                  <a:pt x="522" y="28079"/>
                  <a:pt x="1721" y="29096"/>
                  <a:pt x="4419" y="29656"/>
                </a:cubicBezTo>
                <a:cubicBezTo>
                  <a:pt x="6296" y="30048"/>
                  <a:pt x="8265" y="30178"/>
                  <a:pt x="10259" y="30204"/>
                </a:cubicBezTo>
                <a:cubicBezTo>
                  <a:pt x="11143" y="30216"/>
                  <a:pt x="12026" y="30220"/>
                  <a:pt x="12908" y="30220"/>
                </a:cubicBezTo>
                <a:cubicBezTo>
                  <a:pt x="15996" y="30220"/>
                  <a:pt x="19078" y="30165"/>
                  <a:pt x="22161" y="30165"/>
                </a:cubicBezTo>
                <a:cubicBezTo>
                  <a:pt x="24859" y="30165"/>
                  <a:pt x="27557" y="30204"/>
                  <a:pt x="30243" y="30204"/>
                </a:cubicBezTo>
                <a:cubicBezTo>
                  <a:pt x="31690" y="30191"/>
                  <a:pt x="33123" y="30113"/>
                  <a:pt x="34505" y="29852"/>
                </a:cubicBezTo>
                <a:cubicBezTo>
                  <a:pt x="35470" y="29683"/>
                  <a:pt x="36330" y="29435"/>
                  <a:pt x="36917" y="29005"/>
                </a:cubicBezTo>
                <a:cubicBezTo>
                  <a:pt x="37881" y="28288"/>
                  <a:pt x="38677" y="27519"/>
                  <a:pt x="39120" y="26684"/>
                </a:cubicBezTo>
                <a:cubicBezTo>
                  <a:pt x="39732" y="25485"/>
                  <a:pt x="39954" y="24260"/>
                  <a:pt x="39954" y="23021"/>
                </a:cubicBezTo>
                <a:cubicBezTo>
                  <a:pt x="39954" y="19372"/>
                  <a:pt x="40006" y="15709"/>
                  <a:pt x="39563" y="12059"/>
                </a:cubicBezTo>
                <a:cubicBezTo>
                  <a:pt x="39367" y="10403"/>
                  <a:pt x="39485" y="8748"/>
                  <a:pt x="39237" y="7105"/>
                </a:cubicBezTo>
                <a:cubicBezTo>
                  <a:pt x="39068" y="6023"/>
                  <a:pt x="38794" y="4941"/>
                  <a:pt x="37920" y="3938"/>
                </a:cubicBezTo>
                <a:cubicBezTo>
                  <a:pt x="37282" y="3208"/>
                  <a:pt x="36773" y="2438"/>
                  <a:pt x="35665" y="1826"/>
                </a:cubicBezTo>
                <a:cubicBezTo>
                  <a:pt x="34192" y="1031"/>
                  <a:pt x="32237" y="666"/>
                  <a:pt x="30138" y="496"/>
                </a:cubicBezTo>
                <a:cubicBezTo>
                  <a:pt x="26451" y="194"/>
                  <a:pt x="22741" y="1"/>
                  <a:pt x="19007" y="1"/>
                </a:cubicBezTo>
                <a:close/>
              </a:path>
            </a:pathLst>
          </a:custGeom>
          <a:solidFill>
            <a:srgbClr val="112A40"/>
          </a:solidFill>
          <a:ln>
            <a:noFill/>
          </a:ln>
          <a:effectLst>
            <a:outerShdw blurRad="57150" dist="9525" algn="bl" rotWithShape="0">
              <a:srgbClr val="000000"/>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lang="fr-CI" noProof="0"/>
          </a:p>
        </p:txBody>
      </p:sp>
      <p:sp>
        <p:nvSpPr>
          <p:cNvPr id="43" name="Google Shape;7367;p39"/>
          <p:cNvSpPr/>
          <p:nvPr/>
        </p:nvSpPr>
        <p:spPr>
          <a:xfrm rot="16200000">
            <a:off x="7474179" y="3202486"/>
            <a:ext cx="1727953" cy="3719393"/>
          </a:xfrm>
          <a:custGeom>
            <a:avLst/>
            <a:gdLst/>
            <a:ahLst/>
            <a:cxnLst/>
            <a:rect l="l" t="t" r="r" b="b"/>
            <a:pathLst>
              <a:path w="25081" h="54128" extrusionOk="0">
                <a:moveTo>
                  <a:pt x="19843" y="0"/>
                </a:moveTo>
                <a:cubicBezTo>
                  <a:pt x="19654" y="0"/>
                  <a:pt x="19462" y="7"/>
                  <a:pt x="19267" y="21"/>
                </a:cubicBezTo>
                <a:cubicBezTo>
                  <a:pt x="17781" y="125"/>
                  <a:pt x="16282" y="99"/>
                  <a:pt x="14796" y="112"/>
                </a:cubicBezTo>
                <a:cubicBezTo>
                  <a:pt x="13909" y="125"/>
                  <a:pt x="13010" y="112"/>
                  <a:pt x="12123" y="177"/>
                </a:cubicBezTo>
                <a:cubicBezTo>
                  <a:pt x="10272" y="333"/>
                  <a:pt x="8421" y="503"/>
                  <a:pt x="6570" y="633"/>
                </a:cubicBezTo>
                <a:cubicBezTo>
                  <a:pt x="5267" y="738"/>
                  <a:pt x="3989" y="933"/>
                  <a:pt x="2764" y="1259"/>
                </a:cubicBezTo>
                <a:cubicBezTo>
                  <a:pt x="1943" y="1481"/>
                  <a:pt x="1408" y="1872"/>
                  <a:pt x="1226" y="2471"/>
                </a:cubicBezTo>
                <a:cubicBezTo>
                  <a:pt x="991" y="3292"/>
                  <a:pt x="861" y="4140"/>
                  <a:pt x="965" y="4974"/>
                </a:cubicBezTo>
                <a:cubicBezTo>
                  <a:pt x="991" y="5248"/>
                  <a:pt x="1030" y="5508"/>
                  <a:pt x="991" y="5782"/>
                </a:cubicBezTo>
                <a:cubicBezTo>
                  <a:pt x="835" y="6877"/>
                  <a:pt x="678" y="7972"/>
                  <a:pt x="587" y="9067"/>
                </a:cubicBezTo>
                <a:cubicBezTo>
                  <a:pt x="470" y="10488"/>
                  <a:pt x="378" y="11896"/>
                  <a:pt x="300" y="13317"/>
                </a:cubicBezTo>
                <a:cubicBezTo>
                  <a:pt x="274" y="13825"/>
                  <a:pt x="352" y="14333"/>
                  <a:pt x="339" y="14829"/>
                </a:cubicBezTo>
                <a:cubicBezTo>
                  <a:pt x="313" y="15820"/>
                  <a:pt x="157" y="16797"/>
                  <a:pt x="118" y="17775"/>
                </a:cubicBezTo>
                <a:cubicBezTo>
                  <a:pt x="53" y="19391"/>
                  <a:pt x="0" y="21008"/>
                  <a:pt x="40" y="22624"/>
                </a:cubicBezTo>
                <a:cubicBezTo>
                  <a:pt x="66" y="24149"/>
                  <a:pt x="157" y="25661"/>
                  <a:pt x="144" y="27173"/>
                </a:cubicBezTo>
                <a:cubicBezTo>
                  <a:pt x="131" y="28646"/>
                  <a:pt x="105" y="30132"/>
                  <a:pt x="131" y="31605"/>
                </a:cubicBezTo>
                <a:cubicBezTo>
                  <a:pt x="209" y="35412"/>
                  <a:pt x="405" y="39218"/>
                  <a:pt x="274" y="43051"/>
                </a:cubicBezTo>
                <a:cubicBezTo>
                  <a:pt x="235" y="44237"/>
                  <a:pt x="287" y="45436"/>
                  <a:pt x="300" y="46622"/>
                </a:cubicBezTo>
                <a:cubicBezTo>
                  <a:pt x="300" y="46687"/>
                  <a:pt x="300" y="46753"/>
                  <a:pt x="287" y="46818"/>
                </a:cubicBezTo>
                <a:cubicBezTo>
                  <a:pt x="222" y="48004"/>
                  <a:pt x="313" y="49190"/>
                  <a:pt x="535" y="50363"/>
                </a:cubicBezTo>
                <a:cubicBezTo>
                  <a:pt x="665" y="51054"/>
                  <a:pt x="1004" y="51706"/>
                  <a:pt x="1239" y="52384"/>
                </a:cubicBezTo>
                <a:cubicBezTo>
                  <a:pt x="1486" y="53075"/>
                  <a:pt x="2164" y="53492"/>
                  <a:pt x="3129" y="53700"/>
                </a:cubicBezTo>
                <a:cubicBezTo>
                  <a:pt x="3812" y="53854"/>
                  <a:pt x="4517" y="53911"/>
                  <a:pt x="5223" y="53911"/>
                </a:cubicBezTo>
                <a:cubicBezTo>
                  <a:pt x="5299" y="53911"/>
                  <a:pt x="5374" y="53910"/>
                  <a:pt x="5449" y="53909"/>
                </a:cubicBezTo>
                <a:cubicBezTo>
                  <a:pt x="5591" y="53907"/>
                  <a:pt x="5733" y="53906"/>
                  <a:pt x="5875" y="53906"/>
                </a:cubicBezTo>
                <a:cubicBezTo>
                  <a:pt x="7594" y="53906"/>
                  <a:pt x="9293" y="54042"/>
                  <a:pt x="11015" y="54078"/>
                </a:cubicBezTo>
                <a:cubicBezTo>
                  <a:pt x="11655" y="54087"/>
                  <a:pt x="12288" y="54128"/>
                  <a:pt x="12924" y="54128"/>
                </a:cubicBezTo>
                <a:cubicBezTo>
                  <a:pt x="13273" y="54128"/>
                  <a:pt x="13623" y="54115"/>
                  <a:pt x="13974" y="54078"/>
                </a:cubicBezTo>
                <a:cubicBezTo>
                  <a:pt x="15239" y="53948"/>
                  <a:pt x="16516" y="53870"/>
                  <a:pt x="17781" y="53779"/>
                </a:cubicBezTo>
                <a:cubicBezTo>
                  <a:pt x="18850" y="53700"/>
                  <a:pt x="19919" y="53583"/>
                  <a:pt x="20961" y="53375"/>
                </a:cubicBezTo>
                <a:cubicBezTo>
                  <a:pt x="22043" y="53153"/>
                  <a:pt x="22956" y="52749"/>
                  <a:pt x="23503" y="52019"/>
                </a:cubicBezTo>
                <a:cubicBezTo>
                  <a:pt x="23855" y="51537"/>
                  <a:pt x="24142" y="51028"/>
                  <a:pt x="24233" y="50494"/>
                </a:cubicBezTo>
                <a:cubicBezTo>
                  <a:pt x="24416" y="49464"/>
                  <a:pt x="24429" y="48434"/>
                  <a:pt x="24546" y="47404"/>
                </a:cubicBezTo>
                <a:cubicBezTo>
                  <a:pt x="24690" y="45957"/>
                  <a:pt x="24768" y="44510"/>
                  <a:pt x="24833" y="43064"/>
                </a:cubicBezTo>
                <a:cubicBezTo>
                  <a:pt x="24924" y="41395"/>
                  <a:pt x="24898" y="39726"/>
                  <a:pt x="24898" y="38058"/>
                </a:cubicBezTo>
                <a:cubicBezTo>
                  <a:pt x="24885" y="36402"/>
                  <a:pt x="24794" y="34760"/>
                  <a:pt x="24794" y="33104"/>
                </a:cubicBezTo>
                <a:cubicBezTo>
                  <a:pt x="24794" y="31332"/>
                  <a:pt x="24755" y="29546"/>
                  <a:pt x="24768" y="27760"/>
                </a:cubicBezTo>
                <a:cubicBezTo>
                  <a:pt x="24794" y="26196"/>
                  <a:pt x="24807" y="24631"/>
                  <a:pt x="24846" y="23067"/>
                </a:cubicBezTo>
                <a:cubicBezTo>
                  <a:pt x="24885" y="21503"/>
                  <a:pt x="24911" y="19952"/>
                  <a:pt x="24911" y="18387"/>
                </a:cubicBezTo>
                <a:cubicBezTo>
                  <a:pt x="24911" y="16967"/>
                  <a:pt x="24937" y="15533"/>
                  <a:pt x="24989" y="14112"/>
                </a:cubicBezTo>
                <a:cubicBezTo>
                  <a:pt x="25028" y="12795"/>
                  <a:pt x="25081" y="11479"/>
                  <a:pt x="25068" y="10162"/>
                </a:cubicBezTo>
                <a:cubicBezTo>
                  <a:pt x="25068" y="8924"/>
                  <a:pt x="25002" y="7685"/>
                  <a:pt x="24963" y="6447"/>
                </a:cubicBezTo>
                <a:lnTo>
                  <a:pt x="24950" y="6447"/>
                </a:lnTo>
                <a:cubicBezTo>
                  <a:pt x="25055" y="5561"/>
                  <a:pt x="24963" y="4674"/>
                  <a:pt x="24872" y="3801"/>
                </a:cubicBezTo>
                <a:cubicBezTo>
                  <a:pt x="24807" y="3175"/>
                  <a:pt x="24664" y="2562"/>
                  <a:pt x="24403" y="1963"/>
                </a:cubicBezTo>
                <a:cubicBezTo>
                  <a:pt x="24194" y="1481"/>
                  <a:pt x="23803" y="1103"/>
                  <a:pt x="23204" y="803"/>
                </a:cubicBezTo>
                <a:cubicBezTo>
                  <a:pt x="22185" y="293"/>
                  <a:pt x="21087" y="0"/>
                  <a:pt x="19843" y="0"/>
                </a:cubicBezTo>
                <a:close/>
              </a:path>
            </a:pathLst>
          </a:custGeom>
          <a:noFill/>
          <a:ln w="19050">
            <a:solidFill>
              <a:schemeClr val="tx1"/>
            </a:solidFill>
          </a:ln>
          <a:effectLst>
            <a:outerShdw blurRad="57150" dist="9525" algn="bl" rotWithShape="0">
              <a:srgbClr val="000000"/>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lang="fr-CI" noProof="0"/>
          </a:p>
        </p:txBody>
      </p:sp>
      <p:sp>
        <p:nvSpPr>
          <p:cNvPr id="45" name="Rectangle 44"/>
          <p:cNvSpPr/>
          <p:nvPr/>
        </p:nvSpPr>
        <p:spPr>
          <a:xfrm>
            <a:off x="7676960" y="3875619"/>
            <a:ext cx="1322389" cy="295488"/>
          </a:xfrm>
          <a:prstGeom prst="rect">
            <a:avLst/>
          </a:prstGeom>
        </p:spPr>
        <p:txBody>
          <a:bodyPr wrap="none">
            <a:spAutoFit/>
          </a:bodyPr>
          <a:lstStyle/>
          <a:p>
            <a:pPr lvl="0">
              <a:lnSpc>
                <a:spcPct val="110000"/>
              </a:lnSpc>
            </a:pPr>
            <a:r>
              <a:rPr lang="fr-CI" sz="1400" b="1" noProof="0">
                <a:solidFill>
                  <a:schemeClr val="bg1"/>
                </a:solidFill>
                <a:latin typeface="Helvetica" panose="020B0604020202020204" pitchFamily="34" charset="0"/>
                <a:ea typeface="Open Sans Semibold" panose="020B0706030804020204" pitchFamily="34" charset="0"/>
                <a:cs typeface="Helvetica" panose="020B0604020202020204" pitchFamily="34" charset="0"/>
              </a:rPr>
              <a:t>Action</a:t>
            </a:r>
          </a:p>
        </p:txBody>
      </p:sp>
      <p:pic>
        <p:nvPicPr>
          <p:cNvPr id="47" name="Image 46"/>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147871" y="3850143"/>
            <a:ext cx="334029" cy="337914"/>
          </a:xfrm>
          <a:prstGeom prst="rect">
            <a:avLst/>
          </a:prstGeom>
        </p:spPr>
      </p:pic>
      <p:pic>
        <p:nvPicPr>
          <p:cNvPr id="50" name="Image 49">
            <a:extLst>
              <a:ext uri="{FF2B5EF4-FFF2-40B4-BE49-F238E27FC236}">
                <a16:creationId xmlns:a16="http://schemas.microsoft.com/office/drawing/2014/main" id="{593DA389-08F4-31D9-6AB9-E96812D83B72}"/>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6768142" y="1475503"/>
            <a:ext cx="294700" cy="294700"/>
          </a:xfrm>
          <a:prstGeom prst="rect">
            <a:avLst/>
          </a:prstGeom>
        </p:spPr>
      </p:pic>
      <p:pic>
        <p:nvPicPr>
          <p:cNvPr id="25" name="Image 24"/>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2156977" y="1457088"/>
            <a:ext cx="281624" cy="284788"/>
          </a:xfrm>
          <a:prstGeom prst="rect">
            <a:avLst/>
          </a:prstGeom>
        </p:spPr>
      </p:pic>
      <p:pic>
        <p:nvPicPr>
          <p:cNvPr id="28" name="Image 27"/>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6791905" y="3883760"/>
            <a:ext cx="270937" cy="276827"/>
          </a:xfrm>
          <a:prstGeom prst="rect">
            <a:avLst/>
          </a:prstGeom>
        </p:spPr>
      </p:pic>
      <p:sp>
        <p:nvSpPr>
          <p:cNvPr id="31" name="Rectangle 30"/>
          <p:cNvSpPr/>
          <p:nvPr/>
        </p:nvSpPr>
        <p:spPr>
          <a:xfrm>
            <a:off x="1999671" y="1962253"/>
            <a:ext cx="3122592" cy="1428712"/>
          </a:xfrm>
          <a:prstGeom prst="rect">
            <a:avLst/>
          </a:prstGeom>
        </p:spPr>
        <p:txBody>
          <a:bodyPr wrap="square">
            <a:spAutoFit/>
          </a:bodyPr>
          <a:lstStyle/>
          <a:p>
            <a:pPr lvl="0" marL="0" indent="0">
              <a:buNone/>
              <a:spcBef>
                <a:spcPts val="300"/>
              </a:spcBef>
              <a:defRPr/>
            </a:pPr>
            <a:r>
              <a:rPr kumimoji="1" lang="fr-CI" sz="1250" b="0" noProof="0">
                <a:latin typeface="Helvetica" panose="020B0604020202020204" pitchFamily="34" charset="0"/>
                <a:cs typeface="Helvetica" panose="020B0604020202020204" pitchFamily="34" charset="0"/>
              </a:rPr>
              <a:t>Le FPPN respecte les ratios d'activité courante, mais pas ceux de réserves, de fonds propres, de liquidité et de frais.</a:t>
            </a:r>
          </a:p>
        </p:txBody>
      </p:sp>
      <p:sp>
        <p:nvSpPr>
          <p:cNvPr id="32" name="Rectangle 31"/>
          <p:cNvSpPr/>
          <p:nvPr/>
        </p:nvSpPr>
        <p:spPr>
          <a:xfrm>
            <a:off x="6623912" y="1926662"/>
            <a:ext cx="3122592" cy="1428712"/>
          </a:xfrm>
          <a:prstGeom prst="rect">
            <a:avLst/>
          </a:prstGeom>
        </p:spPr>
        <p:txBody>
          <a:bodyPr wrap="square">
            <a:spAutoFit/>
          </a:bodyPr>
          <a:lstStyle/>
          <a:p>
            <a:pPr lvl="0" marL="0" indent="0">
              <a:buNone/>
              <a:spcBef>
                <a:spcPts val="300"/>
              </a:spcBef>
              <a:defRPr/>
            </a:pPr>
            <a:r>
              <a:rPr kumimoji="1" lang="fr-CI" sz="1250" b="0" noProof="0">
                <a:latin typeface="Helvetica" panose="020B0604020202020204" pitchFamily="34" charset="0"/>
                <a:cs typeface="Helvetica" panose="020B0604020202020204" pitchFamily="34" charset="0"/>
              </a:rPr>
              <a:t>La réserve obligatoire couvre 5,01 mois de prestations, les fonds propres et assimilés 0,22 fois les dettes, et les frais 36,34 % des cotisations.</a:t>
            </a:r>
          </a:p>
        </p:txBody>
      </p:sp>
      <p:sp>
        <p:nvSpPr>
          <p:cNvPr id="33" name="Rectangle 32"/>
          <p:cNvSpPr/>
          <p:nvPr/>
        </p:nvSpPr>
        <p:spPr>
          <a:xfrm>
            <a:off x="2093705" y="4388689"/>
            <a:ext cx="3122592" cy="1428712"/>
          </a:xfrm>
          <a:prstGeom prst="rect">
            <a:avLst/>
          </a:prstGeom>
        </p:spPr>
        <p:txBody>
          <a:bodyPr wrap="square">
            <a:spAutoFit/>
          </a:bodyPr>
          <a:lstStyle/>
          <a:p>
            <a:pPr lvl="0" marL="0" indent="0">
              <a:buNone/>
              <a:spcBef>
                <a:spcPts val="300"/>
              </a:spcBef>
              <a:defRPr/>
            </a:pPr>
            <a:r>
              <a:rPr kumimoji="1" lang="fr-CI" sz="1250" b="0" noProof="0">
                <a:latin typeface="Helvetica" panose="020B0604020202020204" pitchFamily="34" charset="0"/>
                <a:cs typeface="Helvetica" panose="020B0604020202020204" pitchFamily="34" charset="0"/>
              </a:rPr>
              <a:t>Des non-conformités répétées exposent le FPPN au retrait d'agrément prévu par l'article 84 du règlement n° 07/2009.</a:t>
            </a:r>
          </a:p>
        </p:txBody>
      </p:sp>
      <p:sp>
        <p:nvSpPr>
          <p:cNvPr id="34" name="Rectangle 33"/>
          <p:cNvSpPr/>
          <p:nvPr/>
        </p:nvSpPr>
        <p:spPr>
          <a:xfrm>
            <a:off x="6768142" y="4336111"/>
            <a:ext cx="3122592" cy="1428712"/>
          </a:xfrm>
          <a:prstGeom prst="rect">
            <a:avLst/>
          </a:prstGeom>
        </p:spPr>
        <p:txBody>
          <a:bodyPr wrap="square">
            <a:spAutoFit/>
          </a:bodyPr>
          <a:lstStyle/>
          <a:p>
            <a:pPr lvl="0" marL="0" indent="0">
              <a:buNone/>
              <a:spcBef>
                <a:spcPts val="300"/>
              </a:spcBef>
              <a:defRPr/>
            </a:pPr>
            <a:r>
              <a:rPr kumimoji="1" lang="fr-CI" sz="1250" b="0" noProof="0">
                <a:latin typeface="Helvetica" panose="020B0604020202020204" pitchFamily="34" charset="0"/>
                <a:cs typeface="Helvetica" panose="020B0604020202020204" pitchFamily="34" charset="0"/>
              </a:rPr>
              <a:t>Le FPPN doit présenter à l'AIRMS un plan de mise en conformité daté, et documenter le compte 106, le fonds de garantie et l'échéancier de l'épargne.</a:t>
            </a:r>
          </a:p>
        </p:txBody>
      </p:sp>
      <p:sp>
        <p:nvSpPr>
          <p:cNvPr id="51"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À retenir : conformité prudentielle</a:t>
            </a:r>
          </a:p>
        </p:txBody>
      </p:sp>
      <p:sp>
        <p:nvSpPr>
          <p:cNvPr id="52"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Les normes de solidité financière de l'UEMOA ne sont pas respectées</a:t>
            </a:r>
          </a:p>
        </p:txBody>
      </p:sp>
      <p:sp>
        <p:nvSpPr>
          <p:cNvPr id="53"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14 ratios non conformes sur 36, souvent plusieurs années de suite</a:t>
            </a:r>
          </a:p>
        </p:txBody>
      </p:sp>
      <p:sp>
        <p:nvSpPr>
          <p:cNvPr id="54"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analyses Adenka</a:t>
            </a:r>
          </a:p>
        </p:txBody>
      </p:sp>
      <p:sp>
        <p:nvSpPr>
          <p:cNvPr id="55" name="TextBox 54"/>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AIRMS : Agence ivoirienne de régulation de la mutualité sociale | UEMOA : Union économique et monétaire ouest-africaine</a:t>
            </a:r>
          </a:p>
        </p:txBody>
      </p:sp>
    </p:spTree>
    <p:extLst>
      <p:ext uri="{BB962C8B-B14F-4D97-AF65-F5344CB8AC3E}">
        <p14:creationId xmlns:p14="http://schemas.microsoft.com/office/powerpoint/2010/main" val="2798306422"/>
      </p:ext>
    </p:extLst>
  </p:cSld>
  <p:clrMapOvr>
    <a:masterClrMapping/>
  </p:clrMapOvr>
  <p:transition>
    <p:fade/>
  </p:transition>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Google Shape;8651;p70"/>
          <p:cNvSpPr/>
          <p:nvPr/>
        </p:nvSpPr>
        <p:spPr>
          <a:xfrm>
            <a:off x="2013108" y="2588204"/>
            <a:ext cx="1380332" cy="1428252"/>
          </a:xfrm>
          <a:custGeom>
            <a:avLst/>
            <a:gdLst/>
            <a:ahLst/>
            <a:cxnLst/>
            <a:rect l="l" t="t" r="r" b="b"/>
            <a:pathLst>
              <a:path w="8670" h="8971" extrusionOk="0">
                <a:moveTo>
                  <a:pt x="7105" y="1302"/>
                </a:moveTo>
                <a:cubicBezTo>
                  <a:pt x="7105" y="1315"/>
                  <a:pt x="7105" y="1328"/>
                  <a:pt x="7105" y="1341"/>
                </a:cubicBezTo>
                <a:cubicBezTo>
                  <a:pt x="7118" y="1980"/>
                  <a:pt x="7183" y="2619"/>
                  <a:pt x="7183" y="3283"/>
                </a:cubicBezTo>
                <a:cubicBezTo>
                  <a:pt x="7170" y="4404"/>
                  <a:pt x="7183" y="5525"/>
                  <a:pt x="7222" y="6646"/>
                </a:cubicBezTo>
                <a:cubicBezTo>
                  <a:pt x="7235" y="6959"/>
                  <a:pt x="7222" y="7259"/>
                  <a:pt x="7222" y="7559"/>
                </a:cubicBezTo>
                <a:lnTo>
                  <a:pt x="7222" y="7585"/>
                </a:lnTo>
                <a:cubicBezTo>
                  <a:pt x="6935" y="7598"/>
                  <a:pt x="6649" y="7611"/>
                  <a:pt x="6362" y="7611"/>
                </a:cubicBezTo>
                <a:cubicBezTo>
                  <a:pt x="6101" y="7598"/>
                  <a:pt x="5853" y="7585"/>
                  <a:pt x="5593" y="7585"/>
                </a:cubicBezTo>
                <a:cubicBezTo>
                  <a:pt x="4159" y="7559"/>
                  <a:pt x="2712" y="7559"/>
                  <a:pt x="1291" y="7442"/>
                </a:cubicBezTo>
                <a:cubicBezTo>
                  <a:pt x="1278" y="7207"/>
                  <a:pt x="1239" y="6959"/>
                  <a:pt x="1226" y="6725"/>
                </a:cubicBezTo>
                <a:cubicBezTo>
                  <a:pt x="1200" y="6255"/>
                  <a:pt x="1187" y="5799"/>
                  <a:pt x="1200" y="5330"/>
                </a:cubicBezTo>
                <a:cubicBezTo>
                  <a:pt x="1213" y="4222"/>
                  <a:pt x="1226" y="3101"/>
                  <a:pt x="1343" y="1993"/>
                </a:cubicBezTo>
                <a:lnTo>
                  <a:pt x="1552" y="1993"/>
                </a:lnTo>
                <a:cubicBezTo>
                  <a:pt x="2138" y="1980"/>
                  <a:pt x="2725" y="1889"/>
                  <a:pt x="3312" y="1810"/>
                </a:cubicBezTo>
                <a:cubicBezTo>
                  <a:pt x="4576" y="1641"/>
                  <a:pt x="5840" y="1524"/>
                  <a:pt x="7105" y="1302"/>
                </a:cubicBezTo>
                <a:close/>
                <a:moveTo>
                  <a:pt x="7529" y="1"/>
                </a:moveTo>
                <a:cubicBezTo>
                  <a:pt x="7291" y="1"/>
                  <a:pt x="7059" y="53"/>
                  <a:pt x="6818" y="64"/>
                </a:cubicBezTo>
                <a:cubicBezTo>
                  <a:pt x="6375" y="103"/>
                  <a:pt x="5932" y="142"/>
                  <a:pt x="5488" y="194"/>
                </a:cubicBezTo>
                <a:cubicBezTo>
                  <a:pt x="4824" y="259"/>
                  <a:pt x="4107" y="350"/>
                  <a:pt x="3429" y="389"/>
                </a:cubicBezTo>
                <a:cubicBezTo>
                  <a:pt x="2686" y="429"/>
                  <a:pt x="1943" y="481"/>
                  <a:pt x="1213" y="598"/>
                </a:cubicBezTo>
                <a:cubicBezTo>
                  <a:pt x="913" y="624"/>
                  <a:pt x="652" y="728"/>
                  <a:pt x="509" y="976"/>
                </a:cubicBezTo>
                <a:cubicBezTo>
                  <a:pt x="470" y="1028"/>
                  <a:pt x="444" y="1080"/>
                  <a:pt x="431" y="1146"/>
                </a:cubicBezTo>
                <a:cubicBezTo>
                  <a:pt x="300" y="1524"/>
                  <a:pt x="287" y="1928"/>
                  <a:pt x="300" y="2332"/>
                </a:cubicBezTo>
                <a:cubicBezTo>
                  <a:pt x="209" y="3010"/>
                  <a:pt x="209" y="3700"/>
                  <a:pt x="209" y="4378"/>
                </a:cubicBezTo>
                <a:cubicBezTo>
                  <a:pt x="170" y="4769"/>
                  <a:pt x="144" y="5173"/>
                  <a:pt x="131" y="5565"/>
                </a:cubicBezTo>
                <a:cubicBezTo>
                  <a:pt x="105" y="6203"/>
                  <a:pt x="14" y="6842"/>
                  <a:pt x="14" y="7481"/>
                </a:cubicBezTo>
                <a:cubicBezTo>
                  <a:pt x="1" y="7911"/>
                  <a:pt x="157" y="8315"/>
                  <a:pt x="613" y="8419"/>
                </a:cubicBezTo>
                <a:cubicBezTo>
                  <a:pt x="1056" y="8550"/>
                  <a:pt x="1526" y="8524"/>
                  <a:pt x="1982" y="8550"/>
                </a:cubicBezTo>
                <a:cubicBezTo>
                  <a:pt x="2243" y="8563"/>
                  <a:pt x="2503" y="8589"/>
                  <a:pt x="2764" y="8615"/>
                </a:cubicBezTo>
                <a:cubicBezTo>
                  <a:pt x="3885" y="8745"/>
                  <a:pt x="5006" y="8902"/>
                  <a:pt x="6140" y="8941"/>
                </a:cubicBezTo>
                <a:cubicBezTo>
                  <a:pt x="6220" y="8945"/>
                  <a:pt x="6302" y="8946"/>
                  <a:pt x="6383" y="8946"/>
                </a:cubicBezTo>
                <a:cubicBezTo>
                  <a:pt x="6581" y="8946"/>
                  <a:pt x="6781" y="8937"/>
                  <a:pt x="6974" y="8928"/>
                </a:cubicBezTo>
                <a:cubicBezTo>
                  <a:pt x="7118" y="8941"/>
                  <a:pt x="7274" y="8941"/>
                  <a:pt x="7418" y="8941"/>
                </a:cubicBezTo>
                <a:cubicBezTo>
                  <a:pt x="7568" y="8956"/>
                  <a:pt x="7723" y="8971"/>
                  <a:pt x="7877" y="8971"/>
                </a:cubicBezTo>
                <a:cubicBezTo>
                  <a:pt x="7990" y="8971"/>
                  <a:pt x="8103" y="8963"/>
                  <a:pt x="8213" y="8941"/>
                </a:cubicBezTo>
                <a:cubicBezTo>
                  <a:pt x="8643" y="8810"/>
                  <a:pt x="8565" y="8093"/>
                  <a:pt x="8604" y="7741"/>
                </a:cubicBezTo>
                <a:cubicBezTo>
                  <a:pt x="8669" y="6620"/>
                  <a:pt x="8539" y="5499"/>
                  <a:pt x="8487" y="4378"/>
                </a:cubicBezTo>
                <a:cubicBezTo>
                  <a:pt x="8434" y="3453"/>
                  <a:pt x="8330" y="2527"/>
                  <a:pt x="8252" y="1589"/>
                </a:cubicBezTo>
                <a:cubicBezTo>
                  <a:pt x="8200" y="1341"/>
                  <a:pt x="8239" y="637"/>
                  <a:pt x="8096" y="350"/>
                </a:cubicBezTo>
                <a:lnTo>
                  <a:pt x="8082" y="350"/>
                </a:lnTo>
                <a:cubicBezTo>
                  <a:pt x="8056" y="181"/>
                  <a:pt x="7952" y="51"/>
                  <a:pt x="7704" y="11"/>
                </a:cubicBezTo>
                <a:cubicBezTo>
                  <a:pt x="7645" y="4"/>
                  <a:pt x="7587" y="1"/>
                  <a:pt x="7529" y="1"/>
                </a:cubicBezTo>
                <a:close/>
              </a:path>
            </a:pathLst>
          </a:custGeom>
          <a:solidFill>
            <a:schemeClr val="bg1"/>
          </a:solidFill>
          <a:ln w="76200">
            <a:solidFill>
              <a:schemeClr val="tx1"/>
            </a:solidFill>
          </a:ln>
        </p:spPr>
        <p:txBody>
          <a:bodyPr spcFirstLastPara="1" wrap="square" lIns="91425" tIns="91425" rIns="91425" bIns="91425" anchor="ctr" anchorCtr="0">
            <a:noAutofit/>
          </a:bodyPr>
          <a:lstStyle/>
          <a:p>
            <a:pPr marL="0" lvl="0" indent="0" algn="l" rtl="0">
              <a:spcBef>
                <a:spcPts val="0"/>
              </a:spcBef>
              <a:spcAft>
                <a:spcPts val="0"/>
              </a:spcAft>
              <a:buNone/>
            </a:pPr>
            <a:endParaRPr lang="fr-CI" noProof="0">
              <a:solidFill>
                <a:schemeClr val="bg1"/>
              </a:solidFill>
              <a:latin typeface="Helvetica" panose="020B0604020202020204" pitchFamily="34" charset="0"/>
              <a:cs typeface="Helvetica" panose="020B0604020202020204" pitchFamily="34" charset="0"/>
            </a:endParaRPr>
          </a:p>
        </p:txBody>
      </p:sp>
      <p:sp>
        <p:nvSpPr>
          <p:cNvPr id="25" name="Rectangle 24">
            <a:extLst>
              <a:ext uri="{FF2B5EF4-FFF2-40B4-BE49-F238E27FC236}">
                <a16:creationId xmlns:a16="http://schemas.microsoft.com/office/drawing/2014/main" id="{9B9B23AA-050D-4543-80A0-873FE31AFFF7}"/>
              </a:ext>
            </a:extLst>
          </p:cNvPr>
          <p:cNvSpPr/>
          <p:nvPr/>
        </p:nvSpPr>
        <p:spPr>
          <a:xfrm>
            <a:off x="2446471" y="2869098"/>
            <a:ext cx="513606" cy="936923"/>
          </a:xfrm>
          <a:prstGeom prst="rect">
            <a:avLst/>
          </a:prstGeom>
        </p:spPr>
        <p:txBody>
          <a:bodyPr wrap="none" lIns="0" tIns="0" rIns="0" bIns="0">
            <a:spAutoFit/>
          </a:bodyPr>
          <a:lstStyle/>
          <a:p>
            <a:pPr lvl="0">
              <a:lnSpc>
                <a:spcPct val="110000"/>
              </a:lnSpc>
            </a:pPr>
            <a:r>
              <a:rPr lang="fr-CI" sz="4200" b="1" noProof="0">
                <a:solidFill>
                  <a:schemeClr val="bg1"/>
                </a:solidFill>
                <a:latin typeface="Helvetica" panose="020B0604020202020204" pitchFamily="34" charset="0"/>
                <a:ea typeface="Open Sans Semibold" panose="020B0706030804020204" pitchFamily="34" charset="0"/>
                <a:cs typeface="Helvetica" panose="020B0604020202020204" pitchFamily="34" charset="0"/>
              </a:rPr>
              <a:t>11</a:t>
            </a:r>
          </a:p>
        </p:txBody>
      </p:sp>
      <p:sp>
        <p:nvSpPr>
          <p:cNvPr id="10" name="Rectangle 9"/>
          <p:cNvSpPr/>
          <p:nvPr/>
        </p:nvSpPr>
        <p:spPr>
          <a:xfrm>
            <a:off x="3938554" y="2462184"/>
            <a:ext cx="3816000" cy="1200329"/>
          </a:xfrm>
          <a:prstGeom prst="rect">
            <a:avLst/>
          </a:prstGeom>
        </p:spPr>
        <p:txBody>
          <a:bodyPr wrap="square">
            <a:spAutoFit/>
          </a:bodyPr>
          <a:lstStyle/>
          <a:p>
            <a:r>
              <a:rPr lang="fr-CI" sz="3600" b="1" noProof="0">
                <a:solidFill>
                  <a:schemeClr val="bg1"/>
                </a:solidFill>
                <a:latin typeface="Helvetica" panose="020B0604020202020204" pitchFamily="34" charset="0"/>
                <a:cs typeface="Helvetica" panose="020B0604020202020204" pitchFamily="34" charset="0"/>
              </a:rPr>
              <a:t>Tables de mortalité</a:t>
            </a:r>
          </a:p>
        </p:txBody>
      </p:sp>
      <p:pic>
        <p:nvPicPr>
          <p:cNvPr id="9" name="Image 8">
            <a:extLst>
              <a:ext uri="{FF2B5EF4-FFF2-40B4-BE49-F238E27FC236}">
                <a16:creationId xmlns:a16="http://schemas.microsoft.com/office/drawing/2014/main" id="{2C356854-0685-DCEF-E2F6-65D5E9653A47}"/>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71274" y="-185107"/>
            <a:ext cx="3179518" cy="1268781"/>
          </a:xfrm>
          <a:prstGeom prst="rect">
            <a:avLst/>
          </a:prstGeom>
        </p:spPr>
      </p:pic>
      <p:sp>
        <p:nvSpPr>
          <p:cNvPr id="6" name="Rectangle 5"/>
          <p:cNvSpPr/>
          <p:nvPr/>
        </p:nvSpPr>
        <p:spPr>
          <a:xfrm>
            <a:off x="3938554" y="3337559"/>
            <a:ext cx="3816000" cy="923330"/>
          </a:xfrm>
          <a:prstGeom prst="rect">
            <a:avLst/>
          </a:prstGeom>
        </p:spPr>
        <p:txBody>
          <a:bodyPr wrap="square">
            <a:spAutoFit/>
          </a:bodyPr>
          <a:lstStyle/>
          <a:p>
            <a:br>
              <a:rPr lang="fr-CI" noProof="0">
                <a:solidFill>
                  <a:schemeClr val="bg1"/>
                </a:solidFill>
              </a:rPr>
            </a:br>
            <a:r>
              <a:rPr lang="fr-CI" noProof="0">
                <a:solidFill>
                  <a:srgbClr val="EFAC62"/>
                </a:solidFill>
                <a:latin typeface="Helvetica" panose="020B0604020202020204" pitchFamily="34" charset="0"/>
                <a:ea typeface="Open Sans Light" panose="020B0306030504020204" pitchFamily="34" charset="0"/>
                <a:cs typeface="Helvetica" panose="020B0604020202020204" pitchFamily="34" charset="0"/>
              </a:rPr>
              <a:t>Rôle, choix des tables, indicateurs de référence</a:t>
            </a:r>
          </a:p>
        </p:txBody>
      </p:sp>
      <p:pic>
        <p:nvPicPr>
          <p:cNvPr id="11" name="Image 1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865561" y="2415481"/>
            <a:ext cx="1566911" cy="1600975"/>
          </a:xfrm>
          <a:prstGeom prst="rect">
            <a:avLst/>
          </a:prstGeom>
        </p:spPr>
      </p:pic>
    </p:spTree>
    <p:extLst>
      <p:ext uri="{BB962C8B-B14F-4D97-AF65-F5344CB8AC3E}">
        <p14:creationId xmlns:p14="http://schemas.microsoft.com/office/powerpoint/2010/main" val="515417801"/>
      </p:ext>
    </p:extLst>
  </p:cSld>
  <p:clrMapOvr>
    <a:masterClrMapping/>
  </p:clrMapOvr>
  <p:transition>
    <p:fade/>
  </p:transition>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7" name="Image 36"/>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3" name="Rectangle 22">
            <a:extLst>
              <a:ext uri="{FF2B5EF4-FFF2-40B4-BE49-F238E27FC236}">
                <a16:creationId xmlns:a16="http://schemas.microsoft.com/office/drawing/2014/main" id="{4CD23CFE-3F31-4BA9-B26F-B9B5B351518E}"/>
              </a:ext>
            </a:extLst>
          </p:cNvPr>
          <p:cNvSpPr/>
          <p:nvPr/>
        </p:nvSpPr>
        <p:spPr>
          <a:xfrm>
            <a:off x="2106184" y="1811264"/>
            <a:ext cx="9685766" cy="901761"/>
          </a:xfrm>
          <a:prstGeom prst="rect">
            <a:avLst/>
          </a:prstGeom>
          <a:ln w="12700">
            <a:solidFill>
              <a:srgbClr val="112A40"/>
            </a:solidFill>
          </a:ln>
        </p:spPr>
        <p:txBody>
          <a:bodyPr wrap="square" lIns="162000" tIns="54000" rIns="72000" bIns="54000" anchor="ctr">
            <a:noAutofit/>
          </a:bodyPr>
          <a:lstStyle/>
          <a:p>
            <a:pPr lvl="0">
              <a:lnSpc>
                <a:spcPct val="110000"/>
              </a:lnSpc>
            </a:pPr>
            <a:r>
              <a:rPr lang="fr-CI" sz="1300" b="1" noProof="0">
                <a:latin typeface="Helvetica" panose="020B0604020202020204" pitchFamily="34" charset="0"/>
                <a:ea typeface="Open Sans Semibold" panose="020B0706030804020204" pitchFamily="34" charset="0"/>
                <a:cs typeface="Helvetica" panose="020B0604020202020204" pitchFamily="34" charset="0"/>
              </a:rPr>
              <a:t>qx</a:t>
            </a:r>
          </a:p>
          <a:p>
            <a:pPr lvl="0">
              <a:lnSpc>
                <a:spcPct val="110000"/>
              </a:lnSpc>
            </a:pPr>
            <a:r>
              <a:rPr lang="fr-CI" sz="1150" noProof="0" b="0">
                <a:latin typeface="Helvetica" panose="020B0604020202020204" pitchFamily="34" charset="0"/>
                <a:ea typeface="Open Sans Light" panose="020B0306030504020204" pitchFamily="34" charset="0"/>
                <a:cs typeface="Helvetica" panose="020B0604020202020204" pitchFamily="34" charset="0"/>
              </a:rPr>
              <a:t>La table donne, pour chaque âge x, la probabilité de décéder avant l'âge x + 1. C'est la brique de base de tous les calculs.</a:t>
            </a:r>
          </a:p>
        </p:txBody>
      </p:sp>
      <p:sp>
        <p:nvSpPr>
          <p:cNvPr id="28" name="Rectangle 27">
            <a:extLst>
              <a:ext uri="{FF2B5EF4-FFF2-40B4-BE49-F238E27FC236}">
                <a16:creationId xmlns:a16="http://schemas.microsoft.com/office/drawing/2014/main" id="{9B9B23AA-050D-4543-80A0-873FE31AFFF7}"/>
              </a:ext>
            </a:extLst>
          </p:cNvPr>
          <p:cNvSpPr/>
          <p:nvPr/>
        </p:nvSpPr>
        <p:spPr>
          <a:xfrm>
            <a:off x="1538714" y="1463475"/>
            <a:ext cx="5748535" cy="166944"/>
          </a:xfrm>
          <a:prstGeom prst="rect">
            <a:avLst/>
          </a:prstGeom>
        </p:spPr>
        <p:txBody>
          <a:bodyPr wrap="square" lIns="0" tIns="0" rIns="0" bIns="0">
            <a:spAutoFit/>
          </a:bodyPr>
          <a:lstStyle/>
          <a:p>
            <a:pPr lvl="0">
              <a:lnSpc>
                <a:spcPct val="110000"/>
              </a:lnSpc>
            </a:pPr>
            <a:r>
              <a:rPr lang="fr-CI" sz="1300" b="1" noProof="0">
                <a:latin typeface="Helvetica" panose="020B0604020202020204" pitchFamily="34" charset="0"/>
                <a:ea typeface="Open Sans Semibold" panose="020B0706030804020204" pitchFamily="34" charset="0"/>
                <a:cs typeface="Helvetica" panose="020B0604020202020204" pitchFamily="34" charset="0"/>
              </a:rPr>
              <a:t/>
            </a:r>
          </a:p>
        </p:txBody>
      </p:sp>
      <p:cxnSp>
        <p:nvCxnSpPr>
          <p:cNvPr id="29" name="Straight Connector 28">
            <a:extLst>
              <a:ext uri="{FF2B5EF4-FFF2-40B4-BE49-F238E27FC236}">
                <a16:creationId xmlns:a16="http://schemas.microsoft.com/office/drawing/2014/main" id="{09E553D9-3562-45A7-BE4B-0F12FAA0490F}"/>
              </a:ext>
            </a:extLst>
          </p:cNvPr>
          <p:cNvCxnSpPr>
            <a:cxnSpLocks/>
          </p:cNvCxnSpPr>
          <p:nvPr/>
        </p:nvCxnSpPr>
        <p:spPr>
          <a:xfrm>
            <a:off x="916803" y="1707866"/>
            <a:ext cx="0" cy="3668091"/>
          </a:xfrm>
          <a:prstGeom prst="line">
            <a:avLst/>
          </a:prstGeom>
          <a:ln w="12700">
            <a:solidFill>
              <a:srgbClr val="112A40"/>
            </a:solidFill>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DA735D38-741F-4EFB-826C-6F87FD459AB4}"/>
              </a:ext>
            </a:extLst>
          </p:cNvPr>
          <p:cNvCxnSpPr/>
          <p:nvPr/>
        </p:nvCxnSpPr>
        <p:spPr>
          <a:xfrm>
            <a:off x="916803" y="2291826"/>
            <a:ext cx="621911" cy="3600"/>
          </a:xfrm>
          <a:prstGeom prst="line">
            <a:avLst/>
          </a:prstGeom>
          <a:ln w="12700">
            <a:solidFill>
              <a:srgbClr val="112A40"/>
            </a:solidFill>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EBCFE36B-AE16-49E8-90A6-6621A0EB0473}"/>
              </a:ext>
            </a:extLst>
          </p:cNvPr>
          <p:cNvCxnSpPr/>
          <p:nvPr/>
        </p:nvCxnSpPr>
        <p:spPr>
          <a:xfrm>
            <a:off x="916803" y="3273370"/>
            <a:ext cx="621911" cy="3600"/>
          </a:xfrm>
          <a:prstGeom prst="line">
            <a:avLst/>
          </a:prstGeom>
          <a:ln w="12700">
            <a:solidFill>
              <a:srgbClr val="112A40"/>
            </a:solidFill>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2697F6E2-C26B-4E5F-B7F9-95C6E9325040}"/>
              </a:ext>
            </a:extLst>
          </p:cNvPr>
          <p:cNvCxnSpPr/>
          <p:nvPr/>
        </p:nvCxnSpPr>
        <p:spPr>
          <a:xfrm>
            <a:off x="916803" y="5368324"/>
            <a:ext cx="621911" cy="3600"/>
          </a:xfrm>
          <a:prstGeom prst="line">
            <a:avLst/>
          </a:prstGeom>
          <a:ln w="12700">
            <a:solidFill>
              <a:srgbClr val="112A40"/>
            </a:solidFill>
          </a:ln>
        </p:spPr>
        <p:style>
          <a:lnRef idx="1">
            <a:schemeClr val="accent1"/>
          </a:lnRef>
          <a:fillRef idx="0">
            <a:schemeClr val="accent1"/>
          </a:fillRef>
          <a:effectRef idx="0">
            <a:schemeClr val="accent1"/>
          </a:effectRef>
          <a:fontRef idx="minor">
            <a:schemeClr val="tx1"/>
          </a:fontRef>
        </p:style>
      </p:cxnSp>
      <p:sp>
        <p:nvSpPr>
          <p:cNvPr id="24" name="Rectangle 23">
            <a:extLst>
              <a:ext uri="{FF2B5EF4-FFF2-40B4-BE49-F238E27FC236}">
                <a16:creationId xmlns:a16="http://schemas.microsoft.com/office/drawing/2014/main" id="{4CD23CFE-3F31-4BA9-B26F-B9B5B351518E}"/>
              </a:ext>
            </a:extLst>
          </p:cNvPr>
          <p:cNvSpPr/>
          <p:nvPr/>
        </p:nvSpPr>
        <p:spPr>
          <a:xfrm>
            <a:off x="2103510" y="2847523"/>
            <a:ext cx="9685766" cy="901761"/>
          </a:xfrm>
          <a:prstGeom prst="rect">
            <a:avLst/>
          </a:prstGeom>
          <a:ln w="12700">
            <a:solidFill>
              <a:srgbClr val="112A40"/>
            </a:solidFill>
          </a:ln>
        </p:spPr>
        <p:txBody>
          <a:bodyPr wrap="square" lIns="162000" tIns="54000" rIns="72000" bIns="54000" anchor="ctr">
            <a:noAutofit/>
          </a:bodyPr>
          <a:lstStyle/>
          <a:p>
            <a:pPr lvl="0">
              <a:lnSpc>
                <a:spcPct val="110000"/>
              </a:lnSpc>
            </a:pPr>
            <a:r>
              <a:rPr lang="fr-CI" sz="1300" b="1" noProof="0">
                <a:latin typeface="Helvetica" panose="020B0604020202020204" pitchFamily="34" charset="0"/>
                <a:ea typeface="Open Sans Semibold" panose="020B0706030804020204" pitchFamily="34" charset="0"/>
                <a:cs typeface="Helvetica" panose="020B0604020202020204" pitchFamily="34" charset="0"/>
              </a:rPr>
              <a:t>Lx</a:t>
            </a:r>
          </a:p>
          <a:p>
            <a:pPr lvl="0">
              <a:lnSpc>
                <a:spcPct val="110000"/>
              </a:lnSpc>
            </a:pPr>
            <a:r>
              <a:rPr lang="fr-CI" sz="1150" noProof="0" b="0">
                <a:latin typeface="Helvetica" panose="020B0604020202020204" pitchFamily="34" charset="0"/>
                <a:ea typeface="Open Sans Light" panose="020B0306030504020204" pitchFamily="34" charset="0"/>
                <a:cs typeface="Helvetica" panose="020B0604020202020204" pitchFamily="34" charset="0"/>
              </a:rPr>
              <a:t>La table donne aussi le nombre de survivants à chaque âge, sur 1 000 000 de naissances. Le rapport de deux Lx donne une probabilité de survie.</a:t>
            </a:r>
          </a:p>
        </p:txBody>
      </p:sp>
      <p:sp>
        <p:nvSpPr>
          <p:cNvPr id="33" name="Rectangle 32">
            <a:extLst>
              <a:ext uri="{FF2B5EF4-FFF2-40B4-BE49-F238E27FC236}">
                <a16:creationId xmlns:a16="http://schemas.microsoft.com/office/drawing/2014/main" id="{4CD23CFE-3F31-4BA9-B26F-B9B5B351518E}"/>
              </a:ext>
            </a:extLst>
          </p:cNvPr>
          <p:cNvSpPr/>
          <p:nvPr/>
        </p:nvSpPr>
        <p:spPr>
          <a:xfrm>
            <a:off x="2125344" y="3881185"/>
            <a:ext cx="9685766" cy="901761"/>
          </a:xfrm>
          <a:prstGeom prst="rect">
            <a:avLst/>
          </a:prstGeom>
          <a:ln w="12700">
            <a:solidFill>
              <a:srgbClr val="112A40"/>
            </a:solidFill>
          </a:ln>
        </p:spPr>
        <p:txBody>
          <a:bodyPr wrap="square" lIns="162000" tIns="54000" rIns="72000" bIns="54000" anchor="ctr">
            <a:noAutofit/>
          </a:bodyPr>
          <a:lstStyle/>
          <a:p>
            <a:pPr lvl="0">
              <a:lnSpc>
                <a:spcPct val="110000"/>
              </a:lnSpc>
            </a:pPr>
            <a:r>
              <a:rPr lang="fr-CI" sz="1300" b="1" noProof="0">
                <a:latin typeface="Helvetica" panose="020B0604020202020204" pitchFamily="34" charset="0"/>
                <a:ea typeface="Open Sans Semibold" panose="020B0706030804020204" pitchFamily="34" charset="0"/>
                <a:cs typeface="Helvetica" panose="020B0604020202020204" pitchFamily="34" charset="0"/>
              </a:rPr>
              <a:t>Premier usage</a:t>
            </a:r>
          </a:p>
          <a:p>
            <a:pPr lvl="0">
              <a:lnSpc>
                <a:spcPct val="110000"/>
              </a:lnSpc>
            </a:pPr>
            <a:r>
              <a:rPr lang="fr-CI" sz="1150" noProof="0" b="0">
                <a:latin typeface="Helvetica" panose="020B0604020202020204" pitchFamily="34" charset="0"/>
                <a:ea typeface="Open Sans Light" panose="020B0306030504020204" pitchFamily="34" charset="0"/>
                <a:cs typeface="Helvetica" panose="020B0604020202020204" pitchFamily="34" charset="0"/>
              </a:rPr>
              <a:t>Comparer la mortalité réelle des policiers à la table de référence dit si la cotisation décès est bien calibrée.</a:t>
            </a:r>
          </a:p>
        </p:txBody>
      </p:sp>
      <p:sp>
        <p:nvSpPr>
          <p:cNvPr id="34" name="Rectangle 33">
            <a:extLst>
              <a:ext uri="{FF2B5EF4-FFF2-40B4-BE49-F238E27FC236}">
                <a16:creationId xmlns:a16="http://schemas.microsoft.com/office/drawing/2014/main" id="{4CD23CFE-3F31-4BA9-B26F-B9B5B351518E}"/>
              </a:ext>
            </a:extLst>
          </p:cNvPr>
          <p:cNvSpPr/>
          <p:nvPr/>
        </p:nvSpPr>
        <p:spPr>
          <a:xfrm>
            <a:off x="2122670" y="4917444"/>
            <a:ext cx="9685766" cy="901761"/>
          </a:xfrm>
          <a:prstGeom prst="rect">
            <a:avLst/>
          </a:prstGeom>
          <a:ln w="12700">
            <a:solidFill>
              <a:srgbClr val="112A40"/>
            </a:solidFill>
          </a:ln>
        </p:spPr>
        <p:txBody>
          <a:bodyPr wrap="square" lIns="162000" tIns="54000" rIns="72000" bIns="54000" anchor="ctr">
            <a:noAutofit/>
          </a:bodyPr>
          <a:lstStyle/>
          <a:p>
            <a:pPr lvl="1">
              <a:lnSpc>
                <a:spcPct val="110000"/>
              </a:lnSpc>
            </a:pPr>
            <a:r>
              <a:rPr lang="fr-CI" sz="1300" b="1" noProof="0">
                <a:latin typeface="Helvetica" panose="020B0604020202020204" pitchFamily="34" charset="0"/>
                <a:ea typeface="Open Sans Semibold" panose="020B0706030804020204" pitchFamily="34" charset="0"/>
                <a:cs typeface="Helvetica" panose="020B0604020202020204" pitchFamily="34" charset="0"/>
              </a:rPr>
              <a:t>Second usage</a:t>
            </a:r>
          </a:p>
          <a:p>
            <a:pPr lvl="1">
              <a:lnSpc>
                <a:spcPct val="110000"/>
              </a:lnSpc>
            </a:pPr>
            <a:r>
              <a:rPr lang="fr-CI" sz="1150" noProof="0" b="0">
                <a:latin typeface="Helvetica" panose="020B0604020202020204" pitchFamily="34" charset="0"/>
                <a:ea typeface="Open Sans Light" panose="020B0306030504020204" pitchFamily="34" charset="0"/>
                <a:cs typeface="Helvetica" panose="020B0604020202020204" pitchFamily="34" charset="0"/>
              </a:rPr>
              <a:t>Les tables permettent de calculer la valeur des engagements qui durent toute la vie, comme une prise en charge santé maintenue aux retraités.</a:t>
            </a:r>
            <a:endParaRPr lang="fr-CI" sz="1200">
              <a:latin typeface="Helvetica" panose="020B0604020202020204" pitchFamily="34" charset="0"/>
              <a:ea typeface="Open Sans Light" panose="020B0306030504020204" pitchFamily="34" charset="0"/>
              <a:cs typeface="Helvetica" panose="020B0604020202020204" pitchFamily="34" charset="0"/>
            </a:endParaRPr>
          </a:p>
        </p:txBody>
      </p:sp>
      <p:cxnSp>
        <p:nvCxnSpPr>
          <p:cNvPr id="39" name="Straight Connector 30">
            <a:extLst>
              <a:ext uri="{FF2B5EF4-FFF2-40B4-BE49-F238E27FC236}">
                <a16:creationId xmlns:a16="http://schemas.microsoft.com/office/drawing/2014/main" id="{EBCFE36B-AE16-49E8-90A6-6621A0EB0473}"/>
              </a:ext>
            </a:extLst>
          </p:cNvPr>
          <p:cNvCxnSpPr/>
          <p:nvPr/>
        </p:nvCxnSpPr>
        <p:spPr>
          <a:xfrm>
            <a:off x="919504" y="4326976"/>
            <a:ext cx="621911" cy="3600"/>
          </a:xfrm>
          <a:prstGeom prst="line">
            <a:avLst/>
          </a:prstGeom>
          <a:ln w="12700">
            <a:solidFill>
              <a:srgbClr val="112A40"/>
            </a:solidFill>
          </a:ln>
        </p:spPr>
        <p:style>
          <a:lnRef idx="1">
            <a:schemeClr val="accent1"/>
          </a:lnRef>
          <a:fillRef idx="0">
            <a:schemeClr val="accent1"/>
          </a:fillRef>
          <a:effectRef idx="0">
            <a:schemeClr val="accent1"/>
          </a:effectRef>
          <a:fontRef idx="minor">
            <a:schemeClr val="tx1"/>
          </a:fontRef>
        </p:style>
      </p:cxnSp>
      <p:grpSp>
        <p:nvGrpSpPr>
          <p:cNvPr id="11" name="Groupe 10"/>
          <p:cNvGrpSpPr/>
          <p:nvPr/>
        </p:nvGrpSpPr>
        <p:grpSpPr>
          <a:xfrm>
            <a:off x="1554870" y="2047565"/>
            <a:ext cx="548640" cy="548640"/>
            <a:chOff x="-1153645" y="1535690"/>
            <a:chExt cx="548640" cy="548640"/>
          </a:xfrm>
        </p:grpSpPr>
        <p:sp>
          <p:nvSpPr>
            <p:cNvPr id="36" name="Oval 21">
              <a:extLst>
                <a:ext uri="{FF2B5EF4-FFF2-40B4-BE49-F238E27FC236}">
                  <a16:creationId xmlns:a16="http://schemas.microsoft.com/office/drawing/2014/main" id="{7BB796F0-2DE6-45B1-851B-D8991F423CF4}"/>
                </a:ext>
              </a:extLst>
            </p:cNvPr>
            <p:cNvSpPr/>
            <p:nvPr/>
          </p:nvSpPr>
          <p:spPr bwMode="gray">
            <a:xfrm>
              <a:off x="-1153645" y="1535690"/>
              <a:ext cx="548640" cy="548640"/>
            </a:xfrm>
            <a:prstGeom prst="ellipse">
              <a:avLst/>
            </a:prstGeom>
            <a:solidFill>
              <a:schemeClr val="tx1"/>
            </a:solidFill>
            <a:ln w="19050" algn="ctr">
              <a:noFill/>
              <a:miter lim="800000"/>
              <a:headEnd/>
              <a:tailEnd/>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 typeface="Wingdings 2" pitchFamily="18" charset="2"/>
                <a:buNone/>
                <a:tabLst/>
                <a:defRPr/>
              </a:pPr>
              <a:endParaRPr kumimoji="0" lang="fr-CI" sz="1100" b="1" i="0" u="none" strike="noStrike" kern="1200" cap="none" spc="0" normalizeH="0" baseline="0" noProof="0">
                <a:ln>
                  <a:noFill/>
                </a:ln>
                <a:solidFill>
                  <a:prstClr val="white"/>
                </a:solidFill>
                <a:effectLst/>
                <a:uLnTx/>
                <a:uFillTx/>
                <a:latin typeface="Helvetica" panose="020B0604020202020204" pitchFamily="34" charset="0"/>
                <a:ea typeface="Open Sans Semibold" panose="020B0706030804020204" pitchFamily="34" charset="0"/>
                <a:cs typeface="Helvetica" panose="020B0604020202020204" pitchFamily="34" charset="0"/>
              </a:endParaRPr>
            </a:p>
          </p:txBody>
        </p:sp>
        <p:pic>
          <p:nvPicPr>
            <p:cNvPr id="40" name="Image 39"/>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23163" y="1564148"/>
              <a:ext cx="486259" cy="491723"/>
            </a:xfrm>
            <a:prstGeom prst="rect">
              <a:avLst/>
            </a:prstGeom>
          </p:spPr>
        </p:pic>
      </p:grpSp>
      <p:grpSp>
        <p:nvGrpSpPr>
          <p:cNvPr id="12" name="Groupe 11"/>
          <p:cNvGrpSpPr/>
          <p:nvPr/>
        </p:nvGrpSpPr>
        <p:grpSpPr>
          <a:xfrm>
            <a:off x="1557425" y="3008849"/>
            <a:ext cx="548640" cy="548640"/>
            <a:chOff x="-1154302" y="2719457"/>
            <a:chExt cx="548640" cy="548640"/>
          </a:xfrm>
        </p:grpSpPr>
        <p:sp>
          <p:nvSpPr>
            <p:cNvPr id="42" name="Oval 21">
              <a:extLst>
                <a:ext uri="{FF2B5EF4-FFF2-40B4-BE49-F238E27FC236}">
                  <a16:creationId xmlns:a16="http://schemas.microsoft.com/office/drawing/2014/main" id="{7BB796F0-2DE6-45B1-851B-D8991F423CF4}"/>
                </a:ext>
              </a:extLst>
            </p:cNvPr>
            <p:cNvSpPr/>
            <p:nvPr/>
          </p:nvSpPr>
          <p:spPr bwMode="gray">
            <a:xfrm>
              <a:off x="-1154302" y="2719457"/>
              <a:ext cx="548640" cy="548640"/>
            </a:xfrm>
            <a:prstGeom prst="ellipse">
              <a:avLst/>
            </a:prstGeom>
            <a:solidFill>
              <a:schemeClr val="tx1"/>
            </a:solidFill>
            <a:ln w="19050" algn="ctr">
              <a:noFill/>
              <a:miter lim="800000"/>
              <a:headEnd/>
              <a:tailEnd/>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 typeface="Wingdings 2" pitchFamily="18" charset="2"/>
                <a:buNone/>
                <a:tabLst/>
                <a:defRPr/>
              </a:pPr>
              <a:endParaRPr kumimoji="0" lang="fr-CI" sz="1100" b="1" i="0" u="none" strike="noStrike" kern="1200" cap="none" spc="0" normalizeH="0" baseline="0" noProof="0">
                <a:ln>
                  <a:noFill/>
                </a:ln>
                <a:solidFill>
                  <a:prstClr val="white"/>
                </a:solidFill>
                <a:effectLst/>
                <a:uLnTx/>
                <a:uFillTx/>
                <a:latin typeface="Helvetica" panose="020B0604020202020204" pitchFamily="34" charset="0"/>
                <a:ea typeface="Open Sans Semibold" panose="020B0706030804020204" pitchFamily="34" charset="0"/>
                <a:cs typeface="Helvetica" panose="020B0604020202020204" pitchFamily="34" charset="0"/>
              </a:endParaRPr>
            </a:p>
          </p:txBody>
        </p:sp>
        <p:pic>
          <p:nvPicPr>
            <p:cNvPr id="7" name="Image 6"/>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74901" y="2781886"/>
              <a:ext cx="396274" cy="396274"/>
            </a:xfrm>
            <a:prstGeom prst="rect">
              <a:avLst/>
            </a:prstGeom>
          </p:spPr>
        </p:pic>
      </p:grpSp>
      <p:grpSp>
        <p:nvGrpSpPr>
          <p:cNvPr id="13" name="Groupe 12"/>
          <p:cNvGrpSpPr/>
          <p:nvPr/>
        </p:nvGrpSpPr>
        <p:grpSpPr>
          <a:xfrm>
            <a:off x="1567381" y="4044725"/>
            <a:ext cx="548640" cy="552951"/>
            <a:chOff x="-1185544" y="4122202"/>
            <a:chExt cx="548640" cy="552951"/>
          </a:xfrm>
        </p:grpSpPr>
        <p:sp>
          <p:nvSpPr>
            <p:cNvPr id="44" name="Oval 21">
              <a:extLst>
                <a:ext uri="{FF2B5EF4-FFF2-40B4-BE49-F238E27FC236}">
                  <a16:creationId xmlns:a16="http://schemas.microsoft.com/office/drawing/2014/main" id="{7BB796F0-2DE6-45B1-851B-D8991F423CF4}"/>
                </a:ext>
              </a:extLst>
            </p:cNvPr>
            <p:cNvSpPr/>
            <p:nvPr/>
          </p:nvSpPr>
          <p:spPr bwMode="gray">
            <a:xfrm>
              <a:off x="-1185544" y="4122202"/>
              <a:ext cx="548640" cy="548640"/>
            </a:xfrm>
            <a:prstGeom prst="ellipse">
              <a:avLst/>
            </a:prstGeom>
            <a:solidFill>
              <a:schemeClr val="tx1"/>
            </a:solidFill>
            <a:ln w="19050" algn="ctr">
              <a:noFill/>
              <a:miter lim="800000"/>
              <a:headEnd/>
              <a:tailEnd/>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 typeface="Wingdings 2" pitchFamily="18" charset="2"/>
                <a:buNone/>
                <a:tabLst/>
                <a:defRPr/>
              </a:pPr>
              <a:endParaRPr kumimoji="0" lang="fr-CI" sz="1100" b="1" i="0" u="none" strike="noStrike" kern="1200" cap="none" spc="0" normalizeH="0" baseline="0" noProof="0">
                <a:ln>
                  <a:noFill/>
                </a:ln>
                <a:solidFill>
                  <a:prstClr val="white"/>
                </a:solidFill>
                <a:effectLst/>
                <a:uLnTx/>
                <a:uFillTx/>
                <a:latin typeface="Helvetica" panose="020B0604020202020204" pitchFamily="34" charset="0"/>
                <a:ea typeface="Open Sans Semibold" panose="020B0706030804020204" pitchFamily="34" charset="0"/>
                <a:cs typeface="Helvetica" panose="020B0604020202020204" pitchFamily="34" charset="0"/>
              </a:endParaRPr>
            </a:p>
          </p:txBody>
        </p:sp>
        <p:pic>
          <p:nvPicPr>
            <p:cNvPr id="8" name="Image 7"/>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171838" y="4144755"/>
              <a:ext cx="524301" cy="530398"/>
            </a:xfrm>
            <a:prstGeom prst="rect">
              <a:avLst/>
            </a:prstGeom>
          </p:spPr>
        </p:pic>
      </p:grpSp>
      <p:grpSp>
        <p:nvGrpSpPr>
          <p:cNvPr id="14" name="Groupe 13"/>
          <p:cNvGrpSpPr/>
          <p:nvPr/>
        </p:nvGrpSpPr>
        <p:grpSpPr>
          <a:xfrm>
            <a:off x="1567381" y="5111071"/>
            <a:ext cx="548640" cy="548640"/>
            <a:chOff x="-1227267" y="5286500"/>
            <a:chExt cx="548640" cy="548640"/>
          </a:xfrm>
        </p:grpSpPr>
        <p:sp>
          <p:nvSpPr>
            <p:cNvPr id="45" name="Oval 21">
              <a:extLst>
                <a:ext uri="{FF2B5EF4-FFF2-40B4-BE49-F238E27FC236}">
                  <a16:creationId xmlns:a16="http://schemas.microsoft.com/office/drawing/2014/main" id="{7BB796F0-2DE6-45B1-851B-D8991F423CF4}"/>
                </a:ext>
              </a:extLst>
            </p:cNvPr>
            <p:cNvSpPr/>
            <p:nvPr/>
          </p:nvSpPr>
          <p:spPr bwMode="gray">
            <a:xfrm>
              <a:off x="-1227267" y="5286500"/>
              <a:ext cx="548640" cy="548640"/>
            </a:xfrm>
            <a:prstGeom prst="ellipse">
              <a:avLst/>
            </a:prstGeom>
            <a:solidFill>
              <a:schemeClr val="tx1"/>
            </a:solidFill>
            <a:ln w="19050" algn="ctr">
              <a:noFill/>
              <a:miter lim="800000"/>
              <a:headEnd/>
              <a:tailEnd/>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 typeface="Wingdings 2" pitchFamily="18" charset="2"/>
                <a:buNone/>
                <a:tabLst/>
                <a:defRPr/>
              </a:pPr>
              <a:endParaRPr kumimoji="0" lang="fr-CI" sz="1100" b="1" i="0" u="none" strike="noStrike" kern="1200" cap="none" spc="0" normalizeH="0" baseline="0" noProof="0">
                <a:ln>
                  <a:noFill/>
                </a:ln>
                <a:solidFill>
                  <a:prstClr val="white"/>
                </a:solidFill>
                <a:effectLst/>
                <a:uLnTx/>
                <a:uFillTx/>
                <a:latin typeface="Helvetica" panose="020B0604020202020204" pitchFamily="34" charset="0"/>
                <a:ea typeface="Open Sans Semibold" panose="020B0706030804020204" pitchFamily="34" charset="0"/>
                <a:cs typeface="Helvetica" panose="020B0604020202020204" pitchFamily="34" charset="0"/>
              </a:endParaRPr>
            </a:p>
          </p:txBody>
        </p:sp>
        <p:pic>
          <p:nvPicPr>
            <p:cNvPr id="9" name="Image 8"/>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1171838" y="5346402"/>
              <a:ext cx="422834" cy="432026"/>
            </a:xfrm>
            <a:prstGeom prst="rect">
              <a:avLst/>
            </a:prstGeom>
          </p:spPr>
        </p:pic>
      </p:grpSp>
      <p:sp>
        <p:nvSpPr>
          <p:cNvPr id="50" name="ZoneTexte 49">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pic>
        <p:nvPicPr>
          <p:cNvPr id="51" name="Image 50"/>
          <p:cNvPicPr>
            <a:picLocks noChangeAspect="1"/>
          </p:cNvPicPr>
          <p:nvPr/>
        </p:nvPicPr>
        <p:blipFill rotWithShape="1">
          <a:blip r:embed="rId7" cstate="print">
            <a:extLst>
              <a:ext uri="{28A0092B-C50C-407E-A947-70E740481C1C}">
                <a14:useLocalDpi xmlns:a14="http://schemas.microsoft.com/office/drawing/2010/main" val="0"/>
              </a:ext>
            </a:extLst>
          </a:blip>
          <a:srcRect l="4260" t="13024" r="74155" b="14121"/>
          <a:stretch/>
        </p:blipFill>
        <p:spPr>
          <a:xfrm>
            <a:off x="702475" y="1350400"/>
            <a:ext cx="392679" cy="406703"/>
          </a:xfrm>
          <a:prstGeom prst="rect">
            <a:avLst/>
          </a:prstGeom>
        </p:spPr>
      </p:pic>
      <p:sp>
        <p:nvSpPr>
          <p:cNvPr id="52"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Pourquoi des tables de mortalité</a:t>
            </a:r>
          </a:p>
        </p:txBody>
      </p:sp>
      <p:sp>
        <p:nvSpPr>
          <p:cNvPr id="53"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Les tables servent à mesurer et à évaluer tout engagement lié à la vie humaine</a:t>
            </a:r>
          </a:p>
        </p:txBody>
      </p:sp>
      <p:sp>
        <p:nvSpPr>
          <p:cNvPr id="54"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Elles préparent deux analyses de la mission : la mortalité des policiers et les engagements viagers</a:t>
            </a:r>
          </a:p>
        </p:txBody>
      </p:sp>
      <p:sp>
        <p:nvSpPr>
          <p:cNvPr id="55"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tables de mortalité CIMA H, CIMA F, TD CIMA et TV CIMA (fichiers fournis le 18/10/2026). Table ronde CIMA FANAF 2011. Calculs Adenka</a:t>
            </a:r>
          </a:p>
        </p:txBody>
      </p:sp>
      <p:sp>
        <p:nvSpPr>
          <p:cNvPr id="56" name="TextBox 55"/>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CIMA : Conférence interafricaine des marchés d'assurances | FANAF : Fédération des sociétés d'assurances de droit national africaines | qx : probabilité de décès entre x et x + 1 ans | Lx : survivants à l'âge x | TD, TV : anciennes tables CIMA de décès et de survie</a:t>
            </a:r>
          </a:p>
        </p:txBody>
      </p:sp>
    </p:spTree>
    <p:extLst>
      <p:ext uri="{BB962C8B-B14F-4D97-AF65-F5344CB8AC3E}">
        <p14:creationId xmlns:p14="http://schemas.microsoft.com/office/powerpoint/2010/main" val="1627150823"/>
      </p:ext>
    </p:extLst>
  </p:cSld>
  <p:clrMapOvr>
    <a:masterClrMapping/>
  </p:clrMapOvr>
  <p:transition>
    <p:fade/>
  </p:transition>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Choix des tables</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Le principe de prudence fixe la table selon le risque porté</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CIMA H pour le risque décès, CIMA F pour le risque de survie, TD et TV en comparaison historique</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tables de mortalité CIMA H, CIMA F, TD CIMA et TV CIMA (fichiers fournis le 18/10/2026). Table ronde CIMA FANAF 2011. Calculs Adenka</a:t>
            </a:r>
          </a:p>
        </p:txBody>
      </p:sp>
      <p:sp>
        <p:nvSpPr>
          <p:cNvPr id="31" name="TextBox 30"/>
          <p:cNvSpPr txBox="1"/>
          <p:nvPr/>
        </p:nvSpPr>
        <p:spPr>
          <a:xfrm>
            <a:off x="503999" y="1386000"/>
            <a:ext cx="11232000" cy="216000"/>
          </a:xfrm>
          <a:prstGeom prst="rect">
            <a:avLst/>
          </a:prstGeom>
          <a:noFill/>
        </p:spPr>
        <p:txBody>
          <a:bodyPr wrap="square" anchor="t" lIns="54000" rIns="54000"/>
          <a:lstStyle/>
          <a:p>
            <a:pPr algn="ctr"/>
            <a:r>
              <a:rPr sz="1200" b="0">
                <a:solidFill>
                  <a:srgbClr val="EFAC62"/>
                </a:solidFill>
                <a:latin typeface="Helvetica"/>
              </a:rPr>
              <a:t>Tableau 24 : Tables de mortalité CIMA et usage retenu</a:t>
            </a:r>
          </a:p>
        </p:txBody>
      </p:sp>
      <p:graphicFrame>
        <p:nvGraphicFramePr>
          <p:cNvPr id="32" name="Table 31"/>
          <p:cNvGraphicFramePr>
            <a:graphicFrameLocks noGrp="1"/>
          </p:cNvGraphicFramePr>
          <p:nvPr/>
        </p:nvGraphicFramePr>
        <p:xfrm>
          <a:off x="503999" y="1655999"/>
          <a:ext cx="11231999" cy="1461552"/>
        </p:xfrm>
        <a:graphic>
          <a:graphicData uri="http://schemas.openxmlformats.org/drawingml/2006/table">
            <a:tbl>
              <a:tblPr firstRow="0" bandRow="0">
                <a:tableStyleId>{5940675A-B579-460E-94D1-54222C63F5DA}</a:tableStyleId>
              </a:tblPr>
              <a:tblGrid>
                <a:gridCol w="1368000"/>
                <a:gridCol w="2015999"/>
                <a:gridCol w="2520000"/>
                <a:gridCol w="5328000"/>
              </a:tblGrid>
              <a:tr h="225250">
                <a:tc>
                  <a:txBody>
                    <a:bodyPr/>
                    <a:lstStyle/>
                    <a:p>
                      <a:pPr marL="0" indent="0" lvl="0">
                        <a:buNone/>
                      </a:pPr>
                      <a:r>
                        <a:rPr sz="1100" b="1">
                          <a:solidFill>
                            <a:srgbClr val="FFFFFF"/>
                          </a:solidFill>
                          <a:latin typeface="Helvetica"/>
                        </a:rPr>
                        <a:t>Table</a:t>
                      </a:r>
                    </a:p>
                  </a:txBody>
                  <a:tcPr marL="43200" marR="43200" marT="14400" marB="14400" anchor="ctr">
                    <a:solidFill>
                      <a:srgbClr val="060606"/>
                    </a:solidFill>
                  </a:tcPr>
                </a:tc>
                <a:tc>
                  <a:txBody>
                    <a:bodyPr/>
                    <a:lstStyle/>
                    <a:p>
                      <a:pPr marL="0" indent="0" lvl="0">
                        <a:buNone/>
                      </a:pPr>
                      <a:r>
                        <a:rPr sz="1100" b="1">
                          <a:solidFill>
                            <a:srgbClr val="FFFFFF"/>
                          </a:solidFill>
                          <a:latin typeface="Helvetica"/>
                        </a:rPr>
                        <a:t>Feuille du fichier</a:t>
                      </a:r>
                    </a:p>
                  </a:txBody>
                  <a:tcPr marL="43200" marR="43200" marT="14400" marB="14400" anchor="ctr">
                    <a:solidFill>
                      <a:srgbClr val="060606"/>
                    </a:solidFill>
                  </a:tcPr>
                </a:tc>
                <a:tc>
                  <a:txBody>
                    <a:bodyPr/>
                    <a:lstStyle/>
                    <a:p>
                      <a:pPr marL="0" indent="0" lvl="0">
                        <a:buNone/>
                      </a:pPr>
                      <a:r>
                        <a:rPr sz="1100" b="1">
                          <a:solidFill>
                            <a:srgbClr val="FFFFFF"/>
                          </a:solidFill>
                          <a:latin typeface="Helvetica"/>
                        </a:rPr>
                        <a:t>Risque</a:t>
                      </a:r>
                    </a:p>
                  </a:txBody>
                  <a:tcPr marL="43200" marR="43200" marT="14400" marB="14400" anchor="ctr">
                    <a:solidFill>
                      <a:srgbClr val="060606"/>
                    </a:solidFill>
                  </a:tcPr>
                </a:tc>
                <a:tc>
                  <a:txBody>
                    <a:bodyPr/>
                    <a:lstStyle/>
                    <a:p>
                      <a:pPr marL="0" indent="0" lvl="0">
                        <a:buNone/>
                      </a:pPr>
                      <a:r>
                        <a:rPr sz="1100" b="1">
                          <a:solidFill>
                            <a:srgbClr val="FFFFFF"/>
                          </a:solidFill>
                          <a:latin typeface="Helvetica"/>
                        </a:rPr>
                        <a:t>Usage dans la mission</a:t>
                      </a:r>
                    </a:p>
                  </a:txBody>
                  <a:tcPr marL="43200" marR="43200" marT="14400" marB="14400" anchor="ctr">
                    <a:solidFill>
                      <a:srgbClr val="060606"/>
                    </a:solidFill>
                  </a:tcPr>
                </a:tc>
              </a:tr>
              <a:tr h="392901">
                <a:tc>
                  <a:txBody>
                    <a:bodyPr/>
                    <a:lstStyle/>
                    <a:p>
                      <a:pPr marL="0" indent="0" lvl="0">
                        <a:buNone/>
                      </a:pPr>
                      <a:r>
                        <a:rPr sz="1100" b="1">
                          <a:solidFill>
                            <a:srgbClr val="060606"/>
                          </a:solidFill>
                          <a:latin typeface="Helvetica"/>
                        </a:rPr>
                        <a:t>CIMA H</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CIMA_H (décès)</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Décès (paiement au décès)</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Calibrage de la cotisation décès et comparaison à la mortalité observée</a:t>
                      </a:r>
                    </a:p>
                  </a:txBody>
                  <a:tcPr marL="43200" marR="43200" marT="14400" marB="14400" anchor="ctr">
                    <a:solidFill>
                      <a:srgbClr val="FFFFFF"/>
                    </a:solidFill>
                  </a:tcPr>
                </a:tc>
              </a:tr>
              <a:tr h="392901">
                <a:tc>
                  <a:txBody>
                    <a:bodyPr/>
                    <a:lstStyle/>
                    <a:p>
                      <a:pPr marL="0" indent="0" lvl="0">
                        <a:buNone/>
                      </a:pPr>
                      <a:r>
                        <a:rPr sz="1100" b="1">
                          <a:solidFill>
                            <a:srgbClr val="060606"/>
                          </a:solidFill>
                          <a:latin typeface="Helvetica"/>
                        </a:rPr>
                        <a:t>CIMA F</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CIMA_F (vie)</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Survie (paiement tant que la personne vit)</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Engagements viagers : prise en charge des retraités, rentes</a:t>
                      </a:r>
                    </a:p>
                  </a:txBody>
                  <a:tcPr marL="43200" marR="43200" marT="14400" marB="14400" anchor="ctr">
                    <a:solidFill>
                      <a:srgbClr val="F2F2F2"/>
                    </a:solidFill>
                  </a:tcPr>
                </a:tc>
              </a:tr>
              <a:tr h="225250">
                <a:tc>
                  <a:txBody>
                    <a:bodyPr/>
                    <a:lstStyle/>
                    <a:p>
                      <a:pPr marL="0" indent="0" lvl="0">
                        <a:buNone/>
                      </a:pPr>
                      <a:r>
                        <a:rPr sz="1100" b="1">
                          <a:solidFill>
                            <a:srgbClr val="060606"/>
                          </a:solidFill>
                          <a:latin typeface="Helvetica"/>
                        </a:rPr>
                        <a:t>TD CIMA</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TD_CIMA (décès)</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Décès (ancienne table)</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Comparaison historique</a:t>
                      </a:r>
                    </a:p>
                  </a:txBody>
                  <a:tcPr marL="43200" marR="43200" marT="14400" marB="14400" anchor="ctr">
                    <a:solidFill>
                      <a:srgbClr val="FFFFFF"/>
                    </a:solidFill>
                  </a:tcPr>
                </a:tc>
              </a:tr>
              <a:tr h="225250">
                <a:tc>
                  <a:txBody>
                    <a:bodyPr/>
                    <a:lstStyle/>
                    <a:p>
                      <a:pPr marL="0" indent="0" lvl="0">
                        <a:buNone/>
                      </a:pPr>
                      <a:r>
                        <a:rPr sz="1100" b="1">
                          <a:solidFill>
                            <a:srgbClr val="060606"/>
                          </a:solidFill>
                          <a:latin typeface="Helvetica"/>
                        </a:rPr>
                        <a:t>TV CIMA</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TV_CIMA (vie)</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Survie (ancienne table)</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Comparaison historique</a:t>
                      </a:r>
                    </a:p>
                  </a:txBody>
                  <a:tcPr marL="43200" marR="43200" marT="14400" marB="14400" anchor="ctr">
                    <a:solidFill>
                      <a:srgbClr val="F2F2F2"/>
                    </a:solidFill>
                  </a:tcPr>
                </a:tc>
              </a:tr>
            </a:tbl>
          </a:graphicData>
        </a:graphic>
      </p:graphicFrame>
      <p:sp>
        <p:nvSpPr>
          <p:cNvPr id="33" name="TextBox 32"/>
          <p:cNvSpPr txBox="1"/>
          <p:nvPr/>
        </p:nvSpPr>
        <p:spPr>
          <a:xfrm>
            <a:off x="503999" y="3225553"/>
            <a:ext cx="11232000" cy="2642446"/>
          </a:xfrm>
          <a:prstGeom prst="rect">
            <a:avLst/>
          </a:prstGeom>
          <a:noFill/>
        </p:spPr>
        <p:txBody>
          <a:bodyPr wrap="square" lIns="54000" rIns="54000"/>
          <a:lstStyle/>
          <a:p>
            <a:pPr algn="just">
              <a:spcAft>
                <a:spcPts val="600"/>
              </a:spcAft>
            </a:pPr>
            <a:r>
              <a:rPr sz="1300" b="1">
                <a:solidFill>
                  <a:srgbClr val="060606"/>
                </a:solidFill>
                <a:latin typeface="Helvetica"/>
              </a:rPr>
              <a:t>La prudence change de sens selon le risque.</a:t>
            </a:r>
            <a:r>
              <a:rPr sz="1300" b="0">
                <a:solidFill>
                  <a:srgbClr val="060606"/>
                </a:solidFill>
                <a:latin typeface="Helvetica"/>
              </a:rPr>
              <a:t> Une même table peut être prudente pour un capital décès et imprudente pour une rente : c'est pourquoi deux tables sont retenues.</a:t>
            </a:r>
          </a:p>
          <a:p>
            <a:pPr algn="just">
              <a:spcAft>
                <a:spcPts val="600"/>
              </a:spcAft>
            </a:pPr>
            <a:r>
              <a:rPr sz="1300" b="1">
                <a:solidFill>
                  <a:srgbClr val="060606"/>
                </a:solidFill>
                <a:latin typeface="Helvetica"/>
              </a:rPr>
              <a:t>Implication pour le FPPN.</a:t>
            </a:r>
            <a:r>
              <a:rPr sz="1300" b="0">
                <a:solidFill>
                  <a:srgbClr val="060606"/>
                </a:solidFill>
                <a:latin typeface="Helvetica"/>
              </a:rPr>
              <a:t> Le FPPN porte les deux risques (capital décès et, potentiellement, prise en charge viagère des retraités) : chaque engagement sera évalué avec la table qui le défavorise.</a:t>
            </a:r>
          </a:p>
        </p:txBody>
      </p:sp>
      <p:sp>
        <p:nvSpPr>
          <p:cNvPr id="34" name="TextBox 33"/>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CIMA : Conférence interafricaine des marchés d'assurances | FANAF : Fédération des sociétés d'assurances de droit national africaines | TD, TV : anciennes tables CIMA de décès et de survie</a:t>
            </a:r>
          </a:p>
        </p:txBody>
      </p:sp>
    </p:spTree>
    <p:extLst>
      <p:ext uri="{BB962C8B-B14F-4D97-AF65-F5344CB8AC3E}">
        <p14:creationId xmlns:p14="http://schemas.microsoft.com/office/powerpoint/2010/main" val="619013853"/>
      </p:ext>
    </p:extLst>
  </p:cSld>
  <p:clrMapOvr>
    <a:masterClrMapping/>
  </p:clrMapOvr>
  <p:transition>
    <p:fade/>
  </p:transition>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Courbes de survie</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Les tables de survie prévoient des vies plus longues que les tables de décès</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Survivants à 60 ans sur 100 naissances : 81,51 (CIMA H), 89,58 (CIMA F)</a:t>
            </a:r>
          </a:p>
        </p:txBody>
      </p:sp>
      <p:sp>
        <p:nvSpPr>
          <p:cNvPr id="30" name="TextBox 29"/>
          <p:cNvSpPr txBox="1"/>
          <p:nvPr/>
        </p:nvSpPr>
        <p:spPr>
          <a:xfrm>
            <a:off x="503999" y="1386000"/>
            <a:ext cx="6552000" cy="251999"/>
          </a:xfrm>
          <a:prstGeom prst="rect">
            <a:avLst/>
          </a:prstGeom>
          <a:noFill/>
        </p:spPr>
        <p:txBody>
          <a:bodyPr wrap="square">
            <a:spAutoFit/>
          </a:bodyPr>
          <a:lstStyle/>
          <a:p>
            <a:pPr algn="ctr">
              <a:spcAft>
                <a:spcPts val="0"/>
              </a:spcAft>
            </a:pPr>
            <a:r>
              <a:rPr sz="1200" b="0">
                <a:solidFill>
                  <a:srgbClr val="EFAC62"/>
                </a:solidFill>
                <a:latin typeface="Helvetica"/>
              </a:rPr>
              <a:t>Figure 34 : Survivants pour 100 naissances, par âge</a:t>
            </a:r>
          </a:p>
        </p:txBody>
      </p:sp>
      <p:sp>
        <p:nvSpPr>
          <p:cNvPr id="31" name="TextBox 30"/>
          <p:cNvSpPr txBox="1"/>
          <p:nvPr/>
        </p:nvSpPr>
        <p:spPr>
          <a:xfrm>
            <a:off x="503999" y="1602000"/>
            <a:ext cx="6552000" cy="162000"/>
          </a:xfrm>
          <a:prstGeom prst="rect">
            <a:avLst/>
          </a:prstGeom>
          <a:noFill/>
        </p:spPr>
        <p:txBody>
          <a:bodyPr wrap="square">
            <a:spAutoFit/>
          </a:bodyPr>
          <a:lstStyle/>
          <a:p>
            <a:pPr algn="l">
              <a:spcAft>
                <a:spcPts val="0"/>
              </a:spcAft>
            </a:pPr>
            <a:r>
              <a:rPr sz="900" b="0">
                <a:solidFill>
                  <a:srgbClr val="060606"/>
                </a:solidFill>
                <a:latin typeface="Helvetica"/>
              </a:rPr>
              <a:t>En % des naissances</a:t>
            </a:r>
          </a:p>
        </p:txBody>
      </p:sp>
      <p:graphicFrame>
        <p:nvGraphicFramePr>
          <p:cNvPr id="32" name="Chart 31"/>
          <p:cNvGraphicFramePr>
            <a:graphicFrameLocks noGrp="1"/>
          </p:cNvGraphicFramePr>
          <p:nvPr/>
        </p:nvGraphicFramePr>
        <p:xfrm>
          <a:off x="503999" y="1782000"/>
          <a:ext cx="6552000" cy="4086000"/>
        </p:xfrm>
        <a:graphic>
          <a:graphicData uri="http://schemas.openxmlformats.org/drawingml/2006/chart">
            <c:chart xmlns:c="http://schemas.openxmlformats.org/drawingml/2006/chart" r:id="rId6"/>
          </a:graphicData>
        </a:graphic>
      </p:graphicFrame>
      <p:sp>
        <p:nvSpPr>
          <p:cNvPr id="33"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tables de mortalité CIMA H, CIMA F, TD CIMA et TV CIMA (fichiers fournis le 18/10/2026). Table ronde CIMA FANAF 2011. Calculs Adenka</a:t>
            </a:r>
          </a:p>
        </p:txBody>
      </p:sp>
      <p:sp>
        <p:nvSpPr>
          <p:cNvPr id="34" name="TextBox 33"/>
          <p:cNvSpPr txBox="1"/>
          <p:nvPr/>
        </p:nvSpPr>
        <p:spPr>
          <a:xfrm>
            <a:off x="7272000" y="1440000"/>
            <a:ext cx="4464000" cy="4428000"/>
          </a:xfrm>
          <a:prstGeom prst="rect">
            <a:avLst/>
          </a:prstGeom>
          <a:noFill/>
        </p:spPr>
        <p:txBody>
          <a:bodyPr wrap="square" lIns="54000" rIns="54000"/>
          <a:lstStyle/>
          <a:p>
            <a:pPr algn="just">
              <a:spcAft>
                <a:spcPts val="600"/>
              </a:spcAft>
            </a:pPr>
            <a:r>
              <a:rPr sz="1400" b="1">
                <a:solidFill>
                  <a:srgbClr val="060606"/>
                </a:solidFill>
                <a:latin typeface="Helvetica"/>
              </a:rPr>
              <a:t>L'espérance de vie à la naissance vaut 73,50 ans avec CIMA H et 81,64 ans avec CIMA F.</a:t>
            </a:r>
          </a:p>
          <a:p>
            <a:pPr algn="just">
              <a:spcAft>
                <a:spcPts val="600"/>
              </a:spcAft>
            </a:pPr>
            <a:r>
              <a:rPr sz="1400" b="1">
                <a:solidFill>
                  <a:srgbClr val="060606"/>
                </a:solidFill>
                <a:latin typeface="Helvetica"/>
              </a:rPr>
              <a:t>Les anciennes tables prévoient davantage de décès</a:t>
            </a:r>
            <a:r>
              <a:rPr sz="1400" b="0">
                <a:solidFill>
                  <a:srgbClr val="060606"/>
                </a:solidFill>
                <a:latin typeface="Helvetica"/>
              </a:rPr>
              <a:t> : 67,51 ans avec TD et 74,56 ans avec TV.</a:t>
            </a:r>
          </a:p>
          <a:p>
            <a:pPr algn="just">
              <a:spcAft>
                <a:spcPts val="600"/>
              </a:spcAft>
            </a:pPr>
            <a:r>
              <a:rPr sz="1400" b="1">
                <a:solidFill>
                  <a:srgbClr val="060606"/>
                </a:solidFill>
                <a:latin typeface="Helvetica"/>
              </a:rPr>
              <a:t>Le choix de la table change donc fortement les montants calculés.</a:t>
            </a:r>
          </a:p>
          <a:p>
            <a:pPr algn="just">
              <a:spcAft>
                <a:spcPts val="600"/>
              </a:spcAft>
            </a:pPr>
            <a:r>
              <a:rPr sz="1400" b="1">
                <a:solidFill>
                  <a:srgbClr val="060606"/>
                </a:solidFill>
                <a:latin typeface="Helvetica"/>
              </a:rPr>
              <a:t>Implication pour le FPPN.</a:t>
            </a:r>
            <a:r>
              <a:rPr sz="1400" b="0">
                <a:solidFill>
                  <a:srgbClr val="060606"/>
                </a:solidFill>
                <a:latin typeface="Helvetica"/>
              </a:rPr>
              <a:t> Un engagement viager évalué avec une ancienne table est sous-estimé : les calculs de la mission utiliseront les tables en vigueur depuis 2012.</a:t>
            </a:r>
          </a:p>
        </p:txBody>
      </p:sp>
      <p:sp>
        <p:nvSpPr>
          <p:cNvPr id="35" name="TextBox 34"/>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CIMA : Conférence interafricaine des marchés d'assurances | FANAF : Fédération des sociétés d'assurances de droit national africaines | TD, TV : anciennes tables CIMA de décès et de survie</a:t>
            </a:r>
          </a:p>
        </p:txBody>
      </p:sp>
    </p:spTree>
    <p:extLst>
      <p:ext uri="{BB962C8B-B14F-4D97-AF65-F5344CB8AC3E}">
        <p14:creationId xmlns:p14="http://schemas.microsoft.com/office/powerpoint/2010/main" val="2773761934"/>
      </p:ext>
    </p:extLst>
  </p:cSld>
  <p:clrMapOvr>
    <a:masterClrMapping/>
  </p:clrMapOvr>
  <p:transition>
    <p:fade/>
  </p:transition>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Probabilités de décès</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La probabilité de décès double environ tous les dix ans aux âges actifs</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Probabilité de décès à 40 ans : 3,50 pour mille (CIMA H), 1,89 pour mille (CIMA F)</a:t>
            </a:r>
          </a:p>
        </p:txBody>
      </p:sp>
      <p:sp>
        <p:nvSpPr>
          <p:cNvPr id="30" name="TextBox 29"/>
          <p:cNvSpPr txBox="1"/>
          <p:nvPr/>
        </p:nvSpPr>
        <p:spPr>
          <a:xfrm>
            <a:off x="503999" y="1386000"/>
            <a:ext cx="6552000" cy="251999"/>
          </a:xfrm>
          <a:prstGeom prst="rect">
            <a:avLst/>
          </a:prstGeom>
          <a:noFill/>
        </p:spPr>
        <p:txBody>
          <a:bodyPr wrap="square">
            <a:spAutoFit/>
          </a:bodyPr>
          <a:lstStyle/>
          <a:p>
            <a:pPr algn="ctr">
              <a:spcAft>
                <a:spcPts val="0"/>
              </a:spcAft>
            </a:pPr>
            <a:r>
              <a:rPr sz="1200" b="0">
                <a:solidFill>
                  <a:srgbClr val="EFAC62"/>
                </a:solidFill>
                <a:latin typeface="Helvetica"/>
              </a:rPr>
              <a:t>Figure 35 : Probabilité de décès dans l'année (qx), par âge</a:t>
            </a:r>
          </a:p>
        </p:txBody>
      </p:sp>
      <p:sp>
        <p:nvSpPr>
          <p:cNvPr id="31" name="TextBox 30"/>
          <p:cNvSpPr txBox="1"/>
          <p:nvPr/>
        </p:nvSpPr>
        <p:spPr>
          <a:xfrm>
            <a:off x="503999" y="1602000"/>
            <a:ext cx="6552000" cy="162000"/>
          </a:xfrm>
          <a:prstGeom prst="rect">
            <a:avLst/>
          </a:prstGeom>
          <a:noFill/>
        </p:spPr>
        <p:txBody>
          <a:bodyPr wrap="square">
            <a:spAutoFit/>
          </a:bodyPr>
          <a:lstStyle/>
          <a:p>
            <a:pPr algn="l">
              <a:spcAft>
                <a:spcPts val="0"/>
              </a:spcAft>
            </a:pPr>
            <a:r>
              <a:rPr sz="900" b="0">
                <a:solidFill>
                  <a:srgbClr val="060606"/>
                </a:solidFill>
                <a:latin typeface="Helvetica"/>
              </a:rPr>
              <a:t>En pour mille</a:t>
            </a:r>
          </a:p>
        </p:txBody>
      </p:sp>
      <p:graphicFrame>
        <p:nvGraphicFramePr>
          <p:cNvPr id="32" name="Chart 31"/>
          <p:cNvGraphicFramePr>
            <a:graphicFrameLocks noGrp="1"/>
          </p:cNvGraphicFramePr>
          <p:nvPr/>
        </p:nvGraphicFramePr>
        <p:xfrm>
          <a:off x="503999" y="1782000"/>
          <a:ext cx="6552000" cy="4086000"/>
        </p:xfrm>
        <a:graphic>
          <a:graphicData uri="http://schemas.openxmlformats.org/drawingml/2006/chart">
            <c:chart xmlns:c="http://schemas.openxmlformats.org/drawingml/2006/chart" r:id="rId6"/>
          </a:graphicData>
        </a:graphic>
      </p:graphicFrame>
      <p:sp>
        <p:nvSpPr>
          <p:cNvPr id="33"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tables de mortalité CIMA H, CIMA F, TD CIMA et TV CIMA (fichiers fournis le 18/10/2026). Table ronde CIMA FANAF 2011. Calculs Adenka</a:t>
            </a:r>
          </a:p>
        </p:txBody>
      </p:sp>
      <p:sp>
        <p:nvSpPr>
          <p:cNvPr id="34" name="TextBox 33"/>
          <p:cNvSpPr txBox="1"/>
          <p:nvPr/>
        </p:nvSpPr>
        <p:spPr>
          <a:xfrm>
            <a:off x="7272000" y="1440000"/>
            <a:ext cx="4464000" cy="4428000"/>
          </a:xfrm>
          <a:prstGeom prst="rect">
            <a:avLst/>
          </a:prstGeom>
          <a:noFill/>
        </p:spPr>
        <p:txBody>
          <a:bodyPr wrap="square" lIns="54000" rIns="54000"/>
          <a:lstStyle/>
          <a:p>
            <a:pPr algn="just">
              <a:spcAft>
                <a:spcPts val="600"/>
              </a:spcAft>
            </a:pPr>
            <a:r>
              <a:rPr sz="1400" b="1">
                <a:solidFill>
                  <a:srgbClr val="060606"/>
                </a:solidFill>
                <a:latin typeface="Helvetica"/>
              </a:rPr>
              <a:t>À 55 ans, la probabilité de décès vaut 9,38 pour mille avec CIMA H et 5,09 pour mille avec CIMA F.</a:t>
            </a:r>
          </a:p>
          <a:p>
            <a:pPr algn="just">
              <a:spcAft>
                <a:spcPts val="600"/>
              </a:spcAft>
            </a:pPr>
            <a:r>
              <a:rPr sz="1400" b="1">
                <a:solidFill>
                  <a:srgbClr val="060606"/>
                </a:solidFill>
                <a:latin typeface="Helvetica"/>
              </a:rPr>
              <a:t>Entre 20 et 60 ans, CIMA H prévoit 18,77 % de décès de moins que TD</a:t>
            </a:r>
            <a:r>
              <a:rPr sz="1400" b="0">
                <a:solidFill>
                  <a:srgbClr val="060606"/>
                </a:solidFill>
                <a:latin typeface="Helvetica"/>
              </a:rPr>
              <a:t>, et CIMA F 9,06 % de moins que TV.</a:t>
            </a:r>
          </a:p>
          <a:p>
            <a:pPr algn="just">
              <a:spcAft>
                <a:spcPts val="600"/>
              </a:spcAft>
            </a:pPr>
            <a:r>
              <a:rPr sz="1400" b="1">
                <a:solidFill>
                  <a:srgbClr val="060606"/>
                </a:solidFill>
                <a:latin typeface="Helvetica"/>
              </a:rPr>
              <a:t>La table ronde CIMA FANAF de 2011 indique des écarts de 17 % pour CIMA H et d'environ 4 % pour CIMA F, sur l'ensemble des âges.</a:t>
            </a:r>
          </a:p>
          <a:p>
            <a:pPr algn="just">
              <a:spcAft>
                <a:spcPts val="600"/>
              </a:spcAft>
            </a:pPr>
            <a:r>
              <a:rPr sz="1400" b="1">
                <a:solidFill>
                  <a:srgbClr val="060606"/>
                </a:solidFill>
                <a:latin typeface="Helvetica"/>
              </a:rPr>
              <a:t>Implication pour le FPPN.</a:t>
            </a:r>
            <a:r>
              <a:rPr sz="1400" b="0">
                <a:solidFill>
                  <a:srgbClr val="060606"/>
                </a:solidFill>
                <a:latin typeface="Helvetica"/>
              </a:rPr>
              <a:t> Pour une population de policiers, exposée à des risques professionnels, la mortalité réelle peut s'écarter de la table : seul le rapport décès observés / décès attendus le dira.</a:t>
            </a:r>
          </a:p>
        </p:txBody>
      </p:sp>
      <p:sp>
        <p:nvSpPr>
          <p:cNvPr id="35" name="TextBox 34"/>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CIMA : Conférence interafricaine des marchés d'assurances | FANAF : Fédération des sociétés d'assurances de droit national africaines | qx : probabilité de décès entre x et x + 1 ans | TD, TV : anciennes tables CIMA de décès et de survie</a:t>
            </a:r>
          </a:p>
        </p:txBody>
      </p:sp>
    </p:spTree>
    <p:extLst>
      <p:ext uri="{BB962C8B-B14F-4D97-AF65-F5344CB8AC3E}">
        <p14:creationId xmlns:p14="http://schemas.microsoft.com/office/powerpoint/2010/main" val="1166591915"/>
      </p:ext>
    </p:extLst>
  </p:cSld>
  <p:clrMapOvr>
    <a:masterClrMapping/>
  </p:clrMapOvr>
  <p:transition>
    <p:fade/>
  </p:transition>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Indicateurs de référence</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Une rente viagère vaut entre 12 et 18 années de paiement selon l'âge et la table</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Valeur d'une rente de 1 FCFA par an à 60 ans, au taux de 3,5 % : 16,84 (CIMA F), 14,26 (CIMA H)</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tables de mortalité CIMA H, CIMA F, TD CIMA et TV CIMA (fichiers fournis le 18/10/2026). Table ronde CIMA FANAF 2011. Calculs Adenka</a:t>
            </a:r>
          </a:p>
        </p:txBody>
      </p:sp>
      <p:sp>
        <p:nvSpPr>
          <p:cNvPr id="31" name="TextBox 30"/>
          <p:cNvSpPr txBox="1"/>
          <p:nvPr/>
        </p:nvSpPr>
        <p:spPr>
          <a:xfrm>
            <a:off x="503999" y="1386000"/>
            <a:ext cx="6768000" cy="216000"/>
          </a:xfrm>
          <a:prstGeom prst="rect">
            <a:avLst/>
          </a:prstGeom>
          <a:noFill/>
        </p:spPr>
        <p:txBody>
          <a:bodyPr wrap="square" anchor="t" lIns="54000" rIns="54000"/>
          <a:lstStyle/>
          <a:p>
            <a:pPr algn="ctr"/>
            <a:r>
              <a:rPr sz="1200" b="0">
                <a:solidFill>
                  <a:srgbClr val="EFAC62"/>
                </a:solidFill>
                <a:latin typeface="Helvetica"/>
              </a:rPr>
              <a:t>Tableau 25 : Espérance de vie et valeur de la rente viagère (taux de 3,5 %)</a:t>
            </a:r>
          </a:p>
        </p:txBody>
      </p:sp>
      <p:graphicFrame>
        <p:nvGraphicFramePr>
          <p:cNvPr id="32" name="Table 31"/>
          <p:cNvGraphicFramePr>
            <a:graphicFrameLocks noGrp="1"/>
          </p:cNvGraphicFramePr>
          <p:nvPr/>
        </p:nvGraphicFramePr>
        <p:xfrm>
          <a:off x="503999" y="1655999"/>
          <a:ext cx="6768000" cy="1126250"/>
        </p:xfrm>
        <a:graphic>
          <a:graphicData uri="http://schemas.openxmlformats.org/drawingml/2006/table">
            <a:tbl>
              <a:tblPr firstRow="0" bandRow="0">
                <a:tableStyleId>{5940675A-B579-460E-94D1-54222C63F5DA}</a:tableStyleId>
              </a:tblPr>
              <a:tblGrid>
                <a:gridCol w="1368000"/>
                <a:gridCol w="1080000"/>
                <a:gridCol w="1080000"/>
                <a:gridCol w="1080000"/>
                <a:gridCol w="1080000"/>
                <a:gridCol w="1080000"/>
              </a:tblGrid>
              <a:tr h="225250">
                <a:tc>
                  <a:txBody>
                    <a:bodyPr/>
                    <a:lstStyle/>
                    <a:p>
                      <a:pPr marL="0" indent="0" lvl="0">
                        <a:buNone/>
                      </a:pPr>
                      <a:r>
                        <a:rPr sz="1100" b="1">
                          <a:solidFill>
                            <a:srgbClr val="FFFFFF"/>
                          </a:solidFill>
                          <a:latin typeface="Helvetica"/>
                        </a:rPr>
                        <a:t>Table</a:t>
                      </a:r>
                    </a:p>
                  </a:txBody>
                  <a:tcPr marL="43200" marR="43200" marT="14400" marB="14400" anchor="ctr">
                    <a:solidFill>
                      <a:srgbClr val="060606"/>
                    </a:solidFill>
                  </a:tcPr>
                </a:tc>
                <a:tc>
                  <a:txBody>
                    <a:bodyPr/>
                    <a:lstStyle/>
                    <a:p>
                      <a:pPr marL="0" indent="0" lvl="0">
                        <a:buNone/>
                      </a:pPr>
                      <a:r>
                        <a:rPr sz="1100" b="1">
                          <a:solidFill>
                            <a:srgbClr val="FFFFFF"/>
                          </a:solidFill>
                          <a:latin typeface="Helvetica"/>
                        </a:rPr>
                        <a:t>e55 (ans)</a:t>
                      </a:r>
                    </a:p>
                  </a:txBody>
                  <a:tcPr marL="43200" marR="43200" marT="14400" marB="14400" anchor="ctr">
                    <a:solidFill>
                      <a:srgbClr val="060606"/>
                    </a:solidFill>
                  </a:tcPr>
                </a:tc>
                <a:tc>
                  <a:txBody>
                    <a:bodyPr/>
                    <a:lstStyle/>
                    <a:p>
                      <a:pPr marL="0" indent="0" lvl="0">
                        <a:buNone/>
                      </a:pPr>
                      <a:r>
                        <a:rPr sz="1100" b="1">
                          <a:solidFill>
                            <a:srgbClr val="FFFFFF"/>
                          </a:solidFill>
                          <a:latin typeface="Helvetica"/>
                        </a:rPr>
                        <a:t>e60 (ans)</a:t>
                      </a:r>
                    </a:p>
                  </a:txBody>
                  <a:tcPr marL="43200" marR="43200" marT="14400" marB="14400" anchor="ctr">
                    <a:solidFill>
                      <a:srgbClr val="060606"/>
                    </a:solidFill>
                  </a:tcPr>
                </a:tc>
                <a:tc>
                  <a:txBody>
                    <a:bodyPr/>
                    <a:lstStyle/>
                    <a:p>
                      <a:pPr marL="0" indent="0" lvl="0">
                        <a:buNone/>
                      </a:pPr>
                      <a:r>
                        <a:rPr sz="1100" b="1">
                          <a:solidFill>
                            <a:srgbClr val="FFFFFF"/>
                          </a:solidFill>
                          <a:latin typeface="Helvetica"/>
                        </a:rPr>
                        <a:t>ä55</a:t>
                      </a:r>
                    </a:p>
                  </a:txBody>
                  <a:tcPr marL="43200" marR="43200" marT="14400" marB="14400" anchor="ctr">
                    <a:solidFill>
                      <a:srgbClr val="060606"/>
                    </a:solidFill>
                  </a:tcPr>
                </a:tc>
                <a:tc>
                  <a:txBody>
                    <a:bodyPr/>
                    <a:lstStyle/>
                    <a:p>
                      <a:pPr marL="0" indent="0" lvl="0">
                        <a:buNone/>
                      </a:pPr>
                      <a:r>
                        <a:rPr sz="1100" b="1">
                          <a:solidFill>
                            <a:srgbClr val="FFFFFF"/>
                          </a:solidFill>
                          <a:latin typeface="Helvetica"/>
                        </a:rPr>
                        <a:t>ä60</a:t>
                      </a:r>
                    </a:p>
                  </a:txBody>
                  <a:tcPr marL="43200" marR="43200" marT="14400" marB="14400" anchor="ctr">
                    <a:solidFill>
                      <a:srgbClr val="060606"/>
                    </a:solidFill>
                  </a:tcPr>
                </a:tc>
                <a:tc>
                  <a:txBody>
                    <a:bodyPr/>
                    <a:lstStyle/>
                    <a:p>
                      <a:pPr marL="0" indent="0" lvl="0">
                        <a:buNone/>
                      </a:pPr>
                      <a:r>
                        <a:rPr sz="1100" b="1">
                          <a:solidFill>
                            <a:srgbClr val="FFFFFF"/>
                          </a:solidFill>
                          <a:latin typeface="Helvetica"/>
                        </a:rPr>
                        <a:t>ä65</a:t>
                      </a:r>
                    </a:p>
                  </a:txBody>
                  <a:tcPr marL="43200" marR="43200" marT="14400" marB="14400" anchor="ctr">
                    <a:solidFill>
                      <a:srgbClr val="060606"/>
                    </a:solidFill>
                  </a:tcPr>
                </a:tc>
              </a:tr>
              <a:tr h="225250">
                <a:tc>
                  <a:txBody>
                    <a:bodyPr/>
                    <a:lstStyle/>
                    <a:p>
                      <a:pPr marL="0" indent="0" lvl="0">
                        <a:buNone/>
                      </a:pPr>
                      <a:r>
                        <a:rPr sz="1100" b="1">
                          <a:solidFill>
                            <a:srgbClr val="060606"/>
                          </a:solidFill>
                          <a:latin typeface="Helvetica"/>
                        </a:rPr>
                        <a:t>CIMA H</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24,15</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20,34</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15,96</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14,26</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12,52</a:t>
                      </a:r>
                    </a:p>
                  </a:txBody>
                  <a:tcPr marL="43200" marR="43200" marT="14400" marB="14400" anchor="ctr">
                    <a:solidFill>
                      <a:srgbClr val="FFFFFF"/>
                    </a:solidFill>
                  </a:tcPr>
                </a:tc>
              </a:tr>
              <a:tr h="225250">
                <a:tc>
                  <a:txBody>
                    <a:bodyPr/>
                    <a:lstStyle/>
                    <a:p>
                      <a:pPr marL="0" indent="0" lvl="0">
                        <a:buNone/>
                      </a:pPr>
                      <a:r>
                        <a:rPr sz="1100" b="1">
                          <a:solidFill>
                            <a:srgbClr val="060606"/>
                          </a:solidFill>
                          <a:latin typeface="Helvetica"/>
                        </a:rPr>
                        <a:t>CIMA F</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30,23</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26,04</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18,39</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16,84</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15,17</a:t>
                      </a:r>
                    </a:p>
                  </a:txBody>
                  <a:tcPr marL="43200" marR="43200" marT="14400" marB="14400" anchor="ctr">
                    <a:solidFill>
                      <a:srgbClr val="F2F2F2"/>
                    </a:solidFill>
                  </a:tcPr>
                </a:tc>
              </a:tr>
              <a:tr h="225250">
                <a:tc>
                  <a:txBody>
                    <a:bodyPr/>
                    <a:lstStyle/>
                    <a:p>
                      <a:pPr marL="0" indent="0" lvl="0">
                        <a:buNone/>
                      </a:pPr>
                      <a:r>
                        <a:rPr sz="1100" b="1">
                          <a:solidFill>
                            <a:srgbClr val="060606"/>
                          </a:solidFill>
                          <a:latin typeface="Helvetica"/>
                        </a:rPr>
                        <a:t>TD CIMA</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19,36</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15,80</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13,82</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11,98</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10,13</a:t>
                      </a:r>
                    </a:p>
                  </a:txBody>
                  <a:tcPr marL="43200" marR="43200" marT="14400" marB="14400" anchor="ctr">
                    <a:solidFill>
                      <a:srgbClr val="FFFFFF"/>
                    </a:solidFill>
                  </a:tcPr>
                </a:tc>
              </a:tr>
              <a:tr h="225250">
                <a:tc>
                  <a:txBody>
                    <a:bodyPr/>
                    <a:lstStyle/>
                    <a:p>
                      <a:pPr marL="0" indent="0" lvl="0">
                        <a:buNone/>
                      </a:pPr>
                      <a:r>
                        <a:rPr sz="1100" b="1">
                          <a:solidFill>
                            <a:srgbClr val="060606"/>
                          </a:solidFill>
                          <a:latin typeface="Helvetica"/>
                        </a:rPr>
                        <a:t>TV CIMA</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24,04</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19,90</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16,10</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14,20</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12,21</a:t>
                      </a:r>
                    </a:p>
                  </a:txBody>
                  <a:tcPr marL="43200" marR="43200" marT="14400" marB="14400" anchor="ctr">
                    <a:solidFill>
                      <a:srgbClr val="F2F2F2"/>
                    </a:solidFill>
                  </a:tcPr>
                </a:tc>
              </a:tr>
            </a:tbl>
          </a:graphicData>
        </a:graphic>
      </p:graphicFrame>
      <p:sp>
        <p:nvSpPr>
          <p:cNvPr id="33" name="TextBox 32"/>
          <p:cNvSpPr txBox="1"/>
          <p:nvPr/>
        </p:nvSpPr>
        <p:spPr>
          <a:xfrm>
            <a:off x="7488000" y="1386000"/>
            <a:ext cx="4248000" cy="4482000"/>
          </a:xfrm>
          <a:prstGeom prst="rect">
            <a:avLst/>
          </a:prstGeom>
          <a:noFill/>
        </p:spPr>
        <p:txBody>
          <a:bodyPr wrap="square" lIns="54000" rIns="54000"/>
          <a:lstStyle/>
          <a:p>
            <a:pPr algn="just">
              <a:spcAft>
                <a:spcPts val="600"/>
              </a:spcAft>
            </a:pPr>
            <a:r>
              <a:rPr sz="1400" b="1">
                <a:solidFill>
                  <a:srgbClr val="060606"/>
                </a:solidFill>
                <a:latin typeface="Helvetica"/>
              </a:rPr>
              <a:t>Une rente servie à partir de 60 ans vaut 16,84 années de paiement avec CIMA F.</a:t>
            </a:r>
            <a:r>
              <a:rPr sz="1400" b="0">
                <a:solidFill>
                  <a:srgbClr val="060606"/>
                </a:solidFill>
                <a:latin typeface="Helvetica"/>
              </a:rPr>
              <a:t> Avec CIMA H, elle n'en vaut que 14,26.</a:t>
            </a:r>
          </a:p>
          <a:p>
            <a:pPr algn="just">
              <a:spcAft>
                <a:spcPts val="600"/>
              </a:spcAft>
            </a:pPr>
            <a:r>
              <a:rPr sz="1400" b="1">
                <a:solidFill>
                  <a:srgbClr val="060606"/>
                </a:solidFill>
                <a:latin typeface="Helvetica"/>
              </a:rPr>
              <a:t>L'écart entre les deux tables dépasse deux années de paiement à 60 ans.</a:t>
            </a:r>
            <a:r>
              <a:rPr sz="1400" b="0">
                <a:solidFill>
                  <a:srgbClr val="060606"/>
                </a:solidFill>
                <a:latin typeface="Helvetica"/>
              </a:rPr>
              <a:t> C'est l'ordre de grandeur de l'enjeu du choix de la table.</a:t>
            </a:r>
          </a:p>
          <a:p>
            <a:pPr algn="just">
              <a:spcAft>
                <a:spcPts val="600"/>
              </a:spcAft>
            </a:pPr>
            <a:r>
              <a:rPr sz="1400" b="1">
                <a:solidFill>
                  <a:srgbClr val="060606"/>
                </a:solidFill>
                <a:latin typeface="Helvetica"/>
              </a:rPr>
              <a:t>Implication pour le FPPN.</a:t>
            </a:r>
            <a:r>
              <a:rPr sz="1400" b="0">
                <a:solidFill>
                  <a:srgbClr val="060606"/>
                </a:solidFill>
                <a:latin typeface="Helvetica"/>
              </a:rPr>
              <a:t> Ces facteurs serviront à évaluer tout engagement viager du FPPN dès que les âges et les coûts annuels seront connus.</a:t>
            </a:r>
          </a:p>
        </p:txBody>
      </p:sp>
      <p:sp>
        <p:nvSpPr>
          <p:cNvPr id="34" name="TextBox 33"/>
          <p:cNvSpPr txBox="1"/>
          <p:nvPr/>
        </p:nvSpPr>
        <p:spPr>
          <a:xfrm>
            <a:off x="367200" y="5932800"/>
            <a:ext cx="11430000" cy="237600"/>
          </a:xfrm>
          <a:prstGeom prst="rect">
            <a:avLst/>
          </a:prstGeom>
          <a:noFill/>
        </p:spPr>
        <p:txBody>
          <a:bodyPr wrap="square" anchor="b" lIns="54000" rIns="54000"/>
          <a:lstStyle/>
          <a:p>
            <a:pPr algn="l"/>
            <a:r>
              <a:rPr sz="650" b="0">
                <a:solidFill>
                  <a:srgbClr val="595959"/>
                </a:solidFill>
                <a:latin typeface="Helvetica"/>
              </a:rPr>
              <a:t>Sigles : FPPN : Fonds de prévoyance de la Police nationale | CIMA : Conférence interafricaine des marchés d'assurances | FANAF : Fédération des sociétés d'assurances de droit national africaines | e_x : espérance de vie à l'âge x | ä_x : valeur d'une rente viagère de 1 par an à l'âge x | TD, TV : anciennes tables CIMA de décès et de survie</a:t>
            </a:r>
          </a:p>
        </p:txBody>
      </p:sp>
    </p:spTree>
    <p:extLst>
      <p:ext uri="{BB962C8B-B14F-4D97-AF65-F5344CB8AC3E}">
        <p14:creationId xmlns:p14="http://schemas.microsoft.com/office/powerpoint/2010/main" val="3354399396"/>
      </p:ext>
    </p:extLst>
  </p:cSld>
  <p:clrMapOvr>
    <a:masterClrMapping/>
  </p:clrMapOvr>
  <p:transition>
    <p:fade/>
  </p:transition>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6" name="Image 25"/>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30" name="ZoneTexte 29">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9" name="Google Shape;7386;p39"/>
          <p:cNvSpPr/>
          <p:nvPr/>
        </p:nvSpPr>
        <p:spPr>
          <a:xfrm rot="10800000">
            <a:off x="1748072" y="1436295"/>
            <a:ext cx="3625790" cy="329031"/>
          </a:xfrm>
          <a:custGeom>
            <a:avLst/>
            <a:gdLst/>
            <a:ahLst/>
            <a:cxnLst/>
            <a:rect l="l" t="t" r="r" b="b"/>
            <a:pathLst>
              <a:path w="40007" h="30221" extrusionOk="0">
                <a:moveTo>
                  <a:pt x="19007" y="1"/>
                </a:moveTo>
                <a:cubicBezTo>
                  <a:pt x="17909" y="1"/>
                  <a:pt x="16810" y="17"/>
                  <a:pt x="15708" y="53"/>
                </a:cubicBezTo>
                <a:cubicBezTo>
                  <a:pt x="13270" y="131"/>
                  <a:pt x="10885" y="275"/>
                  <a:pt x="8512" y="548"/>
                </a:cubicBezTo>
                <a:cubicBezTo>
                  <a:pt x="6088" y="835"/>
                  <a:pt x="4524" y="1500"/>
                  <a:pt x="4041" y="2712"/>
                </a:cubicBezTo>
                <a:cubicBezTo>
                  <a:pt x="4015" y="2777"/>
                  <a:pt x="3976" y="2843"/>
                  <a:pt x="3937" y="2908"/>
                </a:cubicBezTo>
                <a:cubicBezTo>
                  <a:pt x="2777" y="4902"/>
                  <a:pt x="2282" y="6949"/>
                  <a:pt x="1734" y="8995"/>
                </a:cubicBezTo>
                <a:cubicBezTo>
                  <a:pt x="1160" y="11120"/>
                  <a:pt x="613" y="13232"/>
                  <a:pt x="391" y="15357"/>
                </a:cubicBezTo>
                <a:cubicBezTo>
                  <a:pt x="183" y="17325"/>
                  <a:pt x="0" y="19293"/>
                  <a:pt x="79" y="21092"/>
                </a:cubicBezTo>
                <a:cubicBezTo>
                  <a:pt x="52" y="23074"/>
                  <a:pt x="144" y="24899"/>
                  <a:pt x="365" y="26710"/>
                </a:cubicBezTo>
                <a:cubicBezTo>
                  <a:pt x="522" y="28079"/>
                  <a:pt x="1721" y="29096"/>
                  <a:pt x="4419" y="29656"/>
                </a:cubicBezTo>
                <a:cubicBezTo>
                  <a:pt x="6296" y="30048"/>
                  <a:pt x="8265" y="30178"/>
                  <a:pt x="10259" y="30204"/>
                </a:cubicBezTo>
                <a:cubicBezTo>
                  <a:pt x="11143" y="30216"/>
                  <a:pt x="12026" y="30220"/>
                  <a:pt x="12908" y="30220"/>
                </a:cubicBezTo>
                <a:cubicBezTo>
                  <a:pt x="15996" y="30220"/>
                  <a:pt x="19078" y="30165"/>
                  <a:pt x="22161" y="30165"/>
                </a:cubicBezTo>
                <a:cubicBezTo>
                  <a:pt x="24859" y="30165"/>
                  <a:pt x="27557" y="30204"/>
                  <a:pt x="30243" y="30204"/>
                </a:cubicBezTo>
                <a:cubicBezTo>
                  <a:pt x="31690" y="30191"/>
                  <a:pt x="33123" y="30113"/>
                  <a:pt x="34505" y="29852"/>
                </a:cubicBezTo>
                <a:cubicBezTo>
                  <a:pt x="35470" y="29683"/>
                  <a:pt x="36330" y="29435"/>
                  <a:pt x="36917" y="29005"/>
                </a:cubicBezTo>
                <a:cubicBezTo>
                  <a:pt x="37881" y="28288"/>
                  <a:pt x="38677" y="27519"/>
                  <a:pt x="39120" y="26684"/>
                </a:cubicBezTo>
                <a:cubicBezTo>
                  <a:pt x="39732" y="25485"/>
                  <a:pt x="39954" y="24260"/>
                  <a:pt x="39954" y="23021"/>
                </a:cubicBezTo>
                <a:cubicBezTo>
                  <a:pt x="39954" y="19372"/>
                  <a:pt x="40006" y="15709"/>
                  <a:pt x="39563" y="12059"/>
                </a:cubicBezTo>
                <a:cubicBezTo>
                  <a:pt x="39367" y="10403"/>
                  <a:pt x="39485" y="8748"/>
                  <a:pt x="39237" y="7105"/>
                </a:cubicBezTo>
                <a:cubicBezTo>
                  <a:pt x="39068" y="6023"/>
                  <a:pt x="38794" y="4941"/>
                  <a:pt x="37920" y="3938"/>
                </a:cubicBezTo>
                <a:cubicBezTo>
                  <a:pt x="37282" y="3208"/>
                  <a:pt x="36773" y="2438"/>
                  <a:pt x="35665" y="1826"/>
                </a:cubicBezTo>
                <a:cubicBezTo>
                  <a:pt x="34192" y="1031"/>
                  <a:pt x="32237" y="666"/>
                  <a:pt x="30138" y="496"/>
                </a:cubicBezTo>
                <a:cubicBezTo>
                  <a:pt x="26451" y="194"/>
                  <a:pt x="22741" y="1"/>
                  <a:pt x="19007" y="1"/>
                </a:cubicBezTo>
                <a:close/>
              </a:path>
            </a:pathLst>
          </a:custGeom>
          <a:solidFill>
            <a:srgbClr val="112A40"/>
          </a:solidFill>
          <a:ln>
            <a:noFill/>
          </a:ln>
          <a:effectLst>
            <a:outerShdw blurRad="57150" dist="9525" algn="bl" rotWithShape="0">
              <a:srgbClr val="000000"/>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lang="fr-CI" noProof="0"/>
          </a:p>
        </p:txBody>
      </p:sp>
      <p:sp>
        <p:nvSpPr>
          <p:cNvPr id="10" name="Google Shape;7367;p39"/>
          <p:cNvSpPr/>
          <p:nvPr/>
        </p:nvSpPr>
        <p:spPr>
          <a:xfrm rot="16200000">
            <a:off x="2201124" y="215006"/>
            <a:ext cx="2027916" cy="4306666"/>
          </a:xfrm>
          <a:custGeom>
            <a:avLst/>
            <a:gdLst/>
            <a:ahLst/>
            <a:cxnLst/>
            <a:rect l="l" t="t" r="r" b="b"/>
            <a:pathLst>
              <a:path w="25081" h="54128" extrusionOk="0">
                <a:moveTo>
                  <a:pt x="19843" y="0"/>
                </a:moveTo>
                <a:cubicBezTo>
                  <a:pt x="19654" y="0"/>
                  <a:pt x="19462" y="7"/>
                  <a:pt x="19267" y="21"/>
                </a:cubicBezTo>
                <a:cubicBezTo>
                  <a:pt x="17781" y="125"/>
                  <a:pt x="16282" y="99"/>
                  <a:pt x="14796" y="112"/>
                </a:cubicBezTo>
                <a:cubicBezTo>
                  <a:pt x="13909" y="125"/>
                  <a:pt x="13010" y="112"/>
                  <a:pt x="12123" y="177"/>
                </a:cubicBezTo>
                <a:cubicBezTo>
                  <a:pt x="10272" y="333"/>
                  <a:pt x="8421" y="503"/>
                  <a:pt x="6570" y="633"/>
                </a:cubicBezTo>
                <a:cubicBezTo>
                  <a:pt x="5267" y="738"/>
                  <a:pt x="3989" y="933"/>
                  <a:pt x="2764" y="1259"/>
                </a:cubicBezTo>
                <a:cubicBezTo>
                  <a:pt x="1943" y="1481"/>
                  <a:pt x="1408" y="1872"/>
                  <a:pt x="1226" y="2471"/>
                </a:cubicBezTo>
                <a:cubicBezTo>
                  <a:pt x="991" y="3292"/>
                  <a:pt x="861" y="4140"/>
                  <a:pt x="965" y="4974"/>
                </a:cubicBezTo>
                <a:cubicBezTo>
                  <a:pt x="991" y="5248"/>
                  <a:pt x="1030" y="5508"/>
                  <a:pt x="991" y="5782"/>
                </a:cubicBezTo>
                <a:cubicBezTo>
                  <a:pt x="835" y="6877"/>
                  <a:pt x="678" y="7972"/>
                  <a:pt x="587" y="9067"/>
                </a:cubicBezTo>
                <a:cubicBezTo>
                  <a:pt x="470" y="10488"/>
                  <a:pt x="378" y="11896"/>
                  <a:pt x="300" y="13317"/>
                </a:cubicBezTo>
                <a:cubicBezTo>
                  <a:pt x="274" y="13825"/>
                  <a:pt x="352" y="14333"/>
                  <a:pt x="339" y="14829"/>
                </a:cubicBezTo>
                <a:cubicBezTo>
                  <a:pt x="313" y="15820"/>
                  <a:pt x="157" y="16797"/>
                  <a:pt x="118" y="17775"/>
                </a:cubicBezTo>
                <a:cubicBezTo>
                  <a:pt x="53" y="19391"/>
                  <a:pt x="0" y="21008"/>
                  <a:pt x="40" y="22624"/>
                </a:cubicBezTo>
                <a:cubicBezTo>
                  <a:pt x="66" y="24149"/>
                  <a:pt x="157" y="25661"/>
                  <a:pt x="144" y="27173"/>
                </a:cubicBezTo>
                <a:cubicBezTo>
                  <a:pt x="131" y="28646"/>
                  <a:pt x="105" y="30132"/>
                  <a:pt x="131" y="31605"/>
                </a:cubicBezTo>
                <a:cubicBezTo>
                  <a:pt x="209" y="35412"/>
                  <a:pt x="405" y="39218"/>
                  <a:pt x="274" y="43051"/>
                </a:cubicBezTo>
                <a:cubicBezTo>
                  <a:pt x="235" y="44237"/>
                  <a:pt x="287" y="45436"/>
                  <a:pt x="300" y="46622"/>
                </a:cubicBezTo>
                <a:cubicBezTo>
                  <a:pt x="300" y="46687"/>
                  <a:pt x="300" y="46753"/>
                  <a:pt x="287" y="46818"/>
                </a:cubicBezTo>
                <a:cubicBezTo>
                  <a:pt x="222" y="48004"/>
                  <a:pt x="313" y="49190"/>
                  <a:pt x="535" y="50363"/>
                </a:cubicBezTo>
                <a:cubicBezTo>
                  <a:pt x="665" y="51054"/>
                  <a:pt x="1004" y="51706"/>
                  <a:pt x="1239" y="52384"/>
                </a:cubicBezTo>
                <a:cubicBezTo>
                  <a:pt x="1486" y="53075"/>
                  <a:pt x="2164" y="53492"/>
                  <a:pt x="3129" y="53700"/>
                </a:cubicBezTo>
                <a:cubicBezTo>
                  <a:pt x="3812" y="53854"/>
                  <a:pt x="4517" y="53911"/>
                  <a:pt x="5223" y="53911"/>
                </a:cubicBezTo>
                <a:cubicBezTo>
                  <a:pt x="5299" y="53911"/>
                  <a:pt x="5374" y="53910"/>
                  <a:pt x="5449" y="53909"/>
                </a:cubicBezTo>
                <a:cubicBezTo>
                  <a:pt x="5591" y="53907"/>
                  <a:pt x="5733" y="53906"/>
                  <a:pt x="5875" y="53906"/>
                </a:cubicBezTo>
                <a:cubicBezTo>
                  <a:pt x="7594" y="53906"/>
                  <a:pt x="9293" y="54042"/>
                  <a:pt x="11015" y="54078"/>
                </a:cubicBezTo>
                <a:cubicBezTo>
                  <a:pt x="11655" y="54087"/>
                  <a:pt x="12288" y="54128"/>
                  <a:pt x="12924" y="54128"/>
                </a:cubicBezTo>
                <a:cubicBezTo>
                  <a:pt x="13273" y="54128"/>
                  <a:pt x="13623" y="54115"/>
                  <a:pt x="13974" y="54078"/>
                </a:cubicBezTo>
                <a:cubicBezTo>
                  <a:pt x="15239" y="53948"/>
                  <a:pt x="16516" y="53870"/>
                  <a:pt x="17781" y="53779"/>
                </a:cubicBezTo>
                <a:cubicBezTo>
                  <a:pt x="18850" y="53700"/>
                  <a:pt x="19919" y="53583"/>
                  <a:pt x="20961" y="53375"/>
                </a:cubicBezTo>
                <a:cubicBezTo>
                  <a:pt x="22043" y="53153"/>
                  <a:pt x="22956" y="52749"/>
                  <a:pt x="23503" y="52019"/>
                </a:cubicBezTo>
                <a:cubicBezTo>
                  <a:pt x="23855" y="51537"/>
                  <a:pt x="24142" y="51028"/>
                  <a:pt x="24233" y="50494"/>
                </a:cubicBezTo>
                <a:cubicBezTo>
                  <a:pt x="24416" y="49464"/>
                  <a:pt x="24429" y="48434"/>
                  <a:pt x="24546" y="47404"/>
                </a:cubicBezTo>
                <a:cubicBezTo>
                  <a:pt x="24690" y="45957"/>
                  <a:pt x="24768" y="44510"/>
                  <a:pt x="24833" y="43064"/>
                </a:cubicBezTo>
                <a:cubicBezTo>
                  <a:pt x="24924" y="41395"/>
                  <a:pt x="24898" y="39726"/>
                  <a:pt x="24898" y="38058"/>
                </a:cubicBezTo>
                <a:cubicBezTo>
                  <a:pt x="24885" y="36402"/>
                  <a:pt x="24794" y="34760"/>
                  <a:pt x="24794" y="33104"/>
                </a:cubicBezTo>
                <a:cubicBezTo>
                  <a:pt x="24794" y="31332"/>
                  <a:pt x="24755" y="29546"/>
                  <a:pt x="24768" y="27760"/>
                </a:cubicBezTo>
                <a:cubicBezTo>
                  <a:pt x="24794" y="26196"/>
                  <a:pt x="24807" y="24631"/>
                  <a:pt x="24846" y="23067"/>
                </a:cubicBezTo>
                <a:cubicBezTo>
                  <a:pt x="24885" y="21503"/>
                  <a:pt x="24911" y="19952"/>
                  <a:pt x="24911" y="18387"/>
                </a:cubicBezTo>
                <a:cubicBezTo>
                  <a:pt x="24911" y="16967"/>
                  <a:pt x="24937" y="15533"/>
                  <a:pt x="24989" y="14112"/>
                </a:cubicBezTo>
                <a:cubicBezTo>
                  <a:pt x="25028" y="12795"/>
                  <a:pt x="25081" y="11479"/>
                  <a:pt x="25068" y="10162"/>
                </a:cubicBezTo>
                <a:cubicBezTo>
                  <a:pt x="25068" y="8924"/>
                  <a:pt x="25002" y="7685"/>
                  <a:pt x="24963" y="6447"/>
                </a:cubicBezTo>
                <a:lnTo>
                  <a:pt x="24950" y="6447"/>
                </a:lnTo>
                <a:cubicBezTo>
                  <a:pt x="25055" y="5561"/>
                  <a:pt x="24963" y="4674"/>
                  <a:pt x="24872" y="3801"/>
                </a:cubicBezTo>
                <a:cubicBezTo>
                  <a:pt x="24807" y="3175"/>
                  <a:pt x="24664" y="2562"/>
                  <a:pt x="24403" y="1963"/>
                </a:cubicBezTo>
                <a:cubicBezTo>
                  <a:pt x="24194" y="1481"/>
                  <a:pt x="23803" y="1103"/>
                  <a:pt x="23204" y="803"/>
                </a:cubicBezTo>
                <a:cubicBezTo>
                  <a:pt x="22185" y="293"/>
                  <a:pt x="21087" y="0"/>
                  <a:pt x="19843" y="0"/>
                </a:cubicBezTo>
                <a:close/>
              </a:path>
            </a:pathLst>
          </a:custGeom>
          <a:noFill/>
          <a:ln w="19050">
            <a:solidFill>
              <a:schemeClr val="tx1"/>
            </a:solidFill>
          </a:ln>
          <a:effectLst>
            <a:outerShdw blurRad="57150" dist="9525" algn="bl" rotWithShape="0">
              <a:srgbClr val="000000"/>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lang="fr-CI" noProof="0"/>
          </a:p>
        </p:txBody>
      </p:sp>
      <p:sp>
        <p:nvSpPr>
          <p:cNvPr id="4" name="Rectangle 3"/>
          <p:cNvSpPr/>
          <p:nvPr/>
        </p:nvSpPr>
        <p:spPr>
          <a:xfrm>
            <a:off x="2946575" y="1442741"/>
            <a:ext cx="1322389" cy="295488"/>
          </a:xfrm>
          <a:prstGeom prst="rect">
            <a:avLst/>
          </a:prstGeom>
        </p:spPr>
        <p:txBody>
          <a:bodyPr wrap="none">
            <a:spAutoFit/>
          </a:bodyPr>
          <a:lstStyle/>
          <a:p>
            <a:pPr lvl="0">
              <a:lnSpc>
                <a:spcPct val="110000"/>
              </a:lnSpc>
            </a:pPr>
            <a:r>
              <a:rPr lang="fr-CI" sz="1400" b="1" noProof="0">
                <a:solidFill>
                  <a:schemeClr val="bg1"/>
                </a:solidFill>
                <a:latin typeface="Helvetica" panose="020B0604020202020204" pitchFamily="34" charset="0"/>
                <a:ea typeface="Open Sans Semibold" panose="020B0706030804020204" pitchFamily="34" charset="0"/>
                <a:cs typeface="Helvetica" panose="020B0604020202020204" pitchFamily="34" charset="0"/>
              </a:rPr>
              <a:t>Constat</a:t>
            </a:r>
          </a:p>
        </p:txBody>
      </p:sp>
      <p:sp>
        <p:nvSpPr>
          <p:cNvPr id="20" name="Google Shape;7386;p39"/>
          <p:cNvSpPr/>
          <p:nvPr/>
        </p:nvSpPr>
        <p:spPr>
          <a:xfrm rot="10800000">
            <a:off x="6372314" y="1459724"/>
            <a:ext cx="3625790" cy="329031"/>
          </a:xfrm>
          <a:custGeom>
            <a:avLst/>
            <a:gdLst/>
            <a:ahLst/>
            <a:cxnLst/>
            <a:rect l="l" t="t" r="r" b="b"/>
            <a:pathLst>
              <a:path w="40007" h="30221" extrusionOk="0">
                <a:moveTo>
                  <a:pt x="19007" y="1"/>
                </a:moveTo>
                <a:cubicBezTo>
                  <a:pt x="17909" y="1"/>
                  <a:pt x="16810" y="17"/>
                  <a:pt x="15708" y="53"/>
                </a:cubicBezTo>
                <a:cubicBezTo>
                  <a:pt x="13270" y="131"/>
                  <a:pt x="10885" y="275"/>
                  <a:pt x="8512" y="548"/>
                </a:cubicBezTo>
                <a:cubicBezTo>
                  <a:pt x="6088" y="835"/>
                  <a:pt x="4524" y="1500"/>
                  <a:pt x="4041" y="2712"/>
                </a:cubicBezTo>
                <a:cubicBezTo>
                  <a:pt x="4015" y="2777"/>
                  <a:pt x="3976" y="2843"/>
                  <a:pt x="3937" y="2908"/>
                </a:cubicBezTo>
                <a:cubicBezTo>
                  <a:pt x="2777" y="4902"/>
                  <a:pt x="2282" y="6949"/>
                  <a:pt x="1734" y="8995"/>
                </a:cubicBezTo>
                <a:cubicBezTo>
                  <a:pt x="1160" y="11120"/>
                  <a:pt x="613" y="13232"/>
                  <a:pt x="391" y="15357"/>
                </a:cubicBezTo>
                <a:cubicBezTo>
                  <a:pt x="183" y="17325"/>
                  <a:pt x="0" y="19293"/>
                  <a:pt x="79" y="21092"/>
                </a:cubicBezTo>
                <a:cubicBezTo>
                  <a:pt x="52" y="23074"/>
                  <a:pt x="144" y="24899"/>
                  <a:pt x="365" y="26710"/>
                </a:cubicBezTo>
                <a:cubicBezTo>
                  <a:pt x="522" y="28079"/>
                  <a:pt x="1721" y="29096"/>
                  <a:pt x="4419" y="29656"/>
                </a:cubicBezTo>
                <a:cubicBezTo>
                  <a:pt x="6296" y="30048"/>
                  <a:pt x="8265" y="30178"/>
                  <a:pt x="10259" y="30204"/>
                </a:cubicBezTo>
                <a:cubicBezTo>
                  <a:pt x="11143" y="30216"/>
                  <a:pt x="12026" y="30220"/>
                  <a:pt x="12908" y="30220"/>
                </a:cubicBezTo>
                <a:cubicBezTo>
                  <a:pt x="15996" y="30220"/>
                  <a:pt x="19078" y="30165"/>
                  <a:pt x="22161" y="30165"/>
                </a:cubicBezTo>
                <a:cubicBezTo>
                  <a:pt x="24859" y="30165"/>
                  <a:pt x="27557" y="30204"/>
                  <a:pt x="30243" y="30204"/>
                </a:cubicBezTo>
                <a:cubicBezTo>
                  <a:pt x="31690" y="30191"/>
                  <a:pt x="33123" y="30113"/>
                  <a:pt x="34505" y="29852"/>
                </a:cubicBezTo>
                <a:cubicBezTo>
                  <a:pt x="35470" y="29683"/>
                  <a:pt x="36330" y="29435"/>
                  <a:pt x="36917" y="29005"/>
                </a:cubicBezTo>
                <a:cubicBezTo>
                  <a:pt x="37881" y="28288"/>
                  <a:pt x="38677" y="27519"/>
                  <a:pt x="39120" y="26684"/>
                </a:cubicBezTo>
                <a:cubicBezTo>
                  <a:pt x="39732" y="25485"/>
                  <a:pt x="39954" y="24260"/>
                  <a:pt x="39954" y="23021"/>
                </a:cubicBezTo>
                <a:cubicBezTo>
                  <a:pt x="39954" y="19372"/>
                  <a:pt x="40006" y="15709"/>
                  <a:pt x="39563" y="12059"/>
                </a:cubicBezTo>
                <a:cubicBezTo>
                  <a:pt x="39367" y="10403"/>
                  <a:pt x="39485" y="8748"/>
                  <a:pt x="39237" y="7105"/>
                </a:cubicBezTo>
                <a:cubicBezTo>
                  <a:pt x="39068" y="6023"/>
                  <a:pt x="38794" y="4941"/>
                  <a:pt x="37920" y="3938"/>
                </a:cubicBezTo>
                <a:cubicBezTo>
                  <a:pt x="37282" y="3208"/>
                  <a:pt x="36773" y="2438"/>
                  <a:pt x="35665" y="1826"/>
                </a:cubicBezTo>
                <a:cubicBezTo>
                  <a:pt x="34192" y="1031"/>
                  <a:pt x="32237" y="666"/>
                  <a:pt x="30138" y="496"/>
                </a:cubicBezTo>
                <a:cubicBezTo>
                  <a:pt x="26451" y="194"/>
                  <a:pt x="22741" y="1"/>
                  <a:pt x="19007" y="1"/>
                </a:cubicBezTo>
                <a:close/>
              </a:path>
            </a:pathLst>
          </a:custGeom>
          <a:solidFill>
            <a:srgbClr val="112A40"/>
          </a:solidFill>
          <a:ln>
            <a:noFill/>
          </a:ln>
          <a:effectLst>
            <a:outerShdw blurRad="57150" dist="9525" algn="bl" rotWithShape="0">
              <a:srgbClr val="000000"/>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lang="fr-CI" noProof="0"/>
          </a:p>
        </p:txBody>
      </p:sp>
      <p:sp>
        <p:nvSpPr>
          <p:cNvPr id="21" name="Google Shape;7367;p39"/>
          <p:cNvSpPr/>
          <p:nvPr/>
        </p:nvSpPr>
        <p:spPr>
          <a:xfrm rot="16200000">
            <a:off x="7569073" y="228570"/>
            <a:ext cx="2000788" cy="4306666"/>
          </a:xfrm>
          <a:custGeom>
            <a:avLst/>
            <a:gdLst/>
            <a:ahLst/>
            <a:cxnLst/>
            <a:rect l="l" t="t" r="r" b="b"/>
            <a:pathLst>
              <a:path w="25081" h="54128" extrusionOk="0">
                <a:moveTo>
                  <a:pt x="19843" y="0"/>
                </a:moveTo>
                <a:cubicBezTo>
                  <a:pt x="19654" y="0"/>
                  <a:pt x="19462" y="7"/>
                  <a:pt x="19267" y="21"/>
                </a:cubicBezTo>
                <a:cubicBezTo>
                  <a:pt x="17781" y="125"/>
                  <a:pt x="16282" y="99"/>
                  <a:pt x="14796" y="112"/>
                </a:cubicBezTo>
                <a:cubicBezTo>
                  <a:pt x="13909" y="125"/>
                  <a:pt x="13010" y="112"/>
                  <a:pt x="12123" y="177"/>
                </a:cubicBezTo>
                <a:cubicBezTo>
                  <a:pt x="10272" y="333"/>
                  <a:pt x="8421" y="503"/>
                  <a:pt x="6570" y="633"/>
                </a:cubicBezTo>
                <a:cubicBezTo>
                  <a:pt x="5267" y="738"/>
                  <a:pt x="3989" y="933"/>
                  <a:pt x="2764" y="1259"/>
                </a:cubicBezTo>
                <a:cubicBezTo>
                  <a:pt x="1943" y="1481"/>
                  <a:pt x="1408" y="1872"/>
                  <a:pt x="1226" y="2471"/>
                </a:cubicBezTo>
                <a:cubicBezTo>
                  <a:pt x="991" y="3292"/>
                  <a:pt x="861" y="4140"/>
                  <a:pt x="965" y="4974"/>
                </a:cubicBezTo>
                <a:cubicBezTo>
                  <a:pt x="991" y="5248"/>
                  <a:pt x="1030" y="5508"/>
                  <a:pt x="991" y="5782"/>
                </a:cubicBezTo>
                <a:cubicBezTo>
                  <a:pt x="835" y="6877"/>
                  <a:pt x="678" y="7972"/>
                  <a:pt x="587" y="9067"/>
                </a:cubicBezTo>
                <a:cubicBezTo>
                  <a:pt x="470" y="10488"/>
                  <a:pt x="378" y="11896"/>
                  <a:pt x="300" y="13317"/>
                </a:cubicBezTo>
                <a:cubicBezTo>
                  <a:pt x="274" y="13825"/>
                  <a:pt x="352" y="14333"/>
                  <a:pt x="339" y="14829"/>
                </a:cubicBezTo>
                <a:cubicBezTo>
                  <a:pt x="313" y="15820"/>
                  <a:pt x="157" y="16797"/>
                  <a:pt x="118" y="17775"/>
                </a:cubicBezTo>
                <a:cubicBezTo>
                  <a:pt x="53" y="19391"/>
                  <a:pt x="0" y="21008"/>
                  <a:pt x="40" y="22624"/>
                </a:cubicBezTo>
                <a:cubicBezTo>
                  <a:pt x="66" y="24149"/>
                  <a:pt x="157" y="25661"/>
                  <a:pt x="144" y="27173"/>
                </a:cubicBezTo>
                <a:cubicBezTo>
                  <a:pt x="131" y="28646"/>
                  <a:pt x="105" y="30132"/>
                  <a:pt x="131" y="31605"/>
                </a:cubicBezTo>
                <a:cubicBezTo>
                  <a:pt x="209" y="35412"/>
                  <a:pt x="405" y="39218"/>
                  <a:pt x="274" y="43051"/>
                </a:cubicBezTo>
                <a:cubicBezTo>
                  <a:pt x="235" y="44237"/>
                  <a:pt x="287" y="45436"/>
                  <a:pt x="300" y="46622"/>
                </a:cubicBezTo>
                <a:cubicBezTo>
                  <a:pt x="300" y="46687"/>
                  <a:pt x="300" y="46753"/>
                  <a:pt x="287" y="46818"/>
                </a:cubicBezTo>
                <a:cubicBezTo>
                  <a:pt x="222" y="48004"/>
                  <a:pt x="313" y="49190"/>
                  <a:pt x="535" y="50363"/>
                </a:cubicBezTo>
                <a:cubicBezTo>
                  <a:pt x="665" y="51054"/>
                  <a:pt x="1004" y="51706"/>
                  <a:pt x="1239" y="52384"/>
                </a:cubicBezTo>
                <a:cubicBezTo>
                  <a:pt x="1486" y="53075"/>
                  <a:pt x="2164" y="53492"/>
                  <a:pt x="3129" y="53700"/>
                </a:cubicBezTo>
                <a:cubicBezTo>
                  <a:pt x="3812" y="53854"/>
                  <a:pt x="4517" y="53911"/>
                  <a:pt x="5223" y="53911"/>
                </a:cubicBezTo>
                <a:cubicBezTo>
                  <a:pt x="5299" y="53911"/>
                  <a:pt x="5374" y="53910"/>
                  <a:pt x="5449" y="53909"/>
                </a:cubicBezTo>
                <a:cubicBezTo>
                  <a:pt x="5591" y="53907"/>
                  <a:pt x="5733" y="53906"/>
                  <a:pt x="5875" y="53906"/>
                </a:cubicBezTo>
                <a:cubicBezTo>
                  <a:pt x="7594" y="53906"/>
                  <a:pt x="9293" y="54042"/>
                  <a:pt x="11015" y="54078"/>
                </a:cubicBezTo>
                <a:cubicBezTo>
                  <a:pt x="11655" y="54087"/>
                  <a:pt x="12288" y="54128"/>
                  <a:pt x="12924" y="54128"/>
                </a:cubicBezTo>
                <a:cubicBezTo>
                  <a:pt x="13273" y="54128"/>
                  <a:pt x="13623" y="54115"/>
                  <a:pt x="13974" y="54078"/>
                </a:cubicBezTo>
                <a:cubicBezTo>
                  <a:pt x="15239" y="53948"/>
                  <a:pt x="16516" y="53870"/>
                  <a:pt x="17781" y="53779"/>
                </a:cubicBezTo>
                <a:cubicBezTo>
                  <a:pt x="18850" y="53700"/>
                  <a:pt x="19919" y="53583"/>
                  <a:pt x="20961" y="53375"/>
                </a:cubicBezTo>
                <a:cubicBezTo>
                  <a:pt x="22043" y="53153"/>
                  <a:pt x="22956" y="52749"/>
                  <a:pt x="23503" y="52019"/>
                </a:cubicBezTo>
                <a:cubicBezTo>
                  <a:pt x="23855" y="51537"/>
                  <a:pt x="24142" y="51028"/>
                  <a:pt x="24233" y="50494"/>
                </a:cubicBezTo>
                <a:cubicBezTo>
                  <a:pt x="24416" y="49464"/>
                  <a:pt x="24429" y="48434"/>
                  <a:pt x="24546" y="47404"/>
                </a:cubicBezTo>
                <a:cubicBezTo>
                  <a:pt x="24690" y="45957"/>
                  <a:pt x="24768" y="44510"/>
                  <a:pt x="24833" y="43064"/>
                </a:cubicBezTo>
                <a:cubicBezTo>
                  <a:pt x="24924" y="41395"/>
                  <a:pt x="24898" y="39726"/>
                  <a:pt x="24898" y="38058"/>
                </a:cubicBezTo>
                <a:cubicBezTo>
                  <a:pt x="24885" y="36402"/>
                  <a:pt x="24794" y="34760"/>
                  <a:pt x="24794" y="33104"/>
                </a:cubicBezTo>
                <a:cubicBezTo>
                  <a:pt x="24794" y="31332"/>
                  <a:pt x="24755" y="29546"/>
                  <a:pt x="24768" y="27760"/>
                </a:cubicBezTo>
                <a:cubicBezTo>
                  <a:pt x="24794" y="26196"/>
                  <a:pt x="24807" y="24631"/>
                  <a:pt x="24846" y="23067"/>
                </a:cubicBezTo>
                <a:cubicBezTo>
                  <a:pt x="24885" y="21503"/>
                  <a:pt x="24911" y="19952"/>
                  <a:pt x="24911" y="18387"/>
                </a:cubicBezTo>
                <a:cubicBezTo>
                  <a:pt x="24911" y="16967"/>
                  <a:pt x="24937" y="15533"/>
                  <a:pt x="24989" y="14112"/>
                </a:cubicBezTo>
                <a:cubicBezTo>
                  <a:pt x="25028" y="12795"/>
                  <a:pt x="25081" y="11479"/>
                  <a:pt x="25068" y="10162"/>
                </a:cubicBezTo>
                <a:cubicBezTo>
                  <a:pt x="25068" y="8924"/>
                  <a:pt x="25002" y="7685"/>
                  <a:pt x="24963" y="6447"/>
                </a:cubicBezTo>
                <a:lnTo>
                  <a:pt x="24950" y="6447"/>
                </a:lnTo>
                <a:cubicBezTo>
                  <a:pt x="25055" y="5561"/>
                  <a:pt x="24963" y="4674"/>
                  <a:pt x="24872" y="3801"/>
                </a:cubicBezTo>
                <a:cubicBezTo>
                  <a:pt x="24807" y="3175"/>
                  <a:pt x="24664" y="2562"/>
                  <a:pt x="24403" y="1963"/>
                </a:cubicBezTo>
                <a:cubicBezTo>
                  <a:pt x="24194" y="1481"/>
                  <a:pt x="23803" y="1103"/>
                  <a:pt x="23204" y="803"/>
                </a:cubicBezTo>
                <a:cubicBezTo>
                  <a:pt x="22185" y="293"/>
                  <a:pt x="21087" y="0"/>
                  <a:pt x="19843" y="0"/>
                </a:cubicBezTo>
                <a:close/>
              </a:path>
            </a:pathLst>
          </a:custGeom>
          <a:noFill/>
          <a:ln w="19050">
            <a:solidFill>
              <a:srgbClr val="060606"/>
            </a:solidFill>
          </a:ln>
          <a:effectLst>
            <a:outerShdw blurRad="57150" dist="9525" algn="bl" rotWithShape="0">
              <a:srgbClr val="000000"/>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lang="fr-CI" noProof="0"/>
          </a:p>
        </p:txBody>
      </p:sp>
      <p:sp>
        <p:nvSpPr>
          <p:cNvPr id="24" name="Rectangle 23"/>
          <p:cNvSpPr/>
          <p:nvPr/>
        </p:nvSpPr>
        <p:spPr>
          <a:xfrm>
            <a:off x="7570816" y="1466170"/>
            <a:ext cx="1322389" cy="295488"/>
          </a:xfrm>
          <a:prstGeom prst="rect">
            <a:avLst/>
          </a:prstGeom>
        </p:spPr>
        <p:txBody>
          <a:bodyPr wrap="none">
            <a:spAutoFit/>
          </a:bodyPr>
          <a:lstStyle/>
          <a:p>
            <a:pPr lvl="0">
              <a:lnSpc>
                <a:spcPct val="110000"/>
              </a:lnSpc>
            </a:pPr>
            <a:r>
              <a:rPr lang="fr-CI" sz="1400" b="1" noProof="0">
                <a:solidFill>
                  <a:schemeClr val="bg1"/>
                </a:solidFill>
                <a:latin typeface="Helvetica" panose="020B0604020202020204" pitchFamily="34" charset="0"/>
                <a:ea typeface="Open Sans Semibold" panose="020B0706030804020204" pitchFamily="34" charset="0"/>
                <a:cs typeface="Helvetica" panose="020B0604020202020204" pitchFamily="34" charset="0"/>
              </a:rPr>
              <a:t>Preuves</a:t>
            </a:r>
          </a:p>
        </p:txBody>
      </p:sp>
      <p:sp>
        <p:nvSpPr>
          <p:cNvPr id="37" name="Google Shape;7386;p39"/>
          <p:cNvSpPr/>
          <p:nvPr/>
        </p:nvSpPr>
        <p:spPr>
          <a:xfrm rot="10800000">
            <a:off x="1854215" y="3845744"/>
            <a:ext cx="3625790" cy="329031"/>
          </a:xfrm>
          <a:custGeom>
            <a:avLst/>
            <a:gdLst/>
            <a:ahLst/>
            <a:cxnLst/>
            <a:rect l="l" t="t" r="r" b="b"/>
            <a:pathLst>
              <a:path w="40007" h="30221" extrusionOk="0">
                <a:moveTo>
                  <a:pt x="19007" y="1"/>
                </a:moveTo>
                <a:cubicBezTo>
                  <a:pt x="17909" y="1"/>
                  <a:pt x="16810" y="17"/>
                  <a:pt x="15708" y="53"/>
                </a:cubicBezTo>
                <a:cubicBezTo>
                  <a:pt x="13270" y="131"/>
                  <a:pt x="10885" y="275"/>
                  <a:pt x="8512" y="548"/>
                </a:cubicBezTo>
                <a:cubicBezTo>
                  <a:pt x="6088" y="835"/>
                  <a:pt x="4524" y="1500"/>
                  <a:pt x="4041" y="2712"/>
                </a:cubicBezTo>
                <a:cubicBezTo>
                  <a:pt x="4015" y="2777"/>
                  <a:pt x="3976" y="2843"/>
                  <a:pt x="3937" y="2908"/>
                </a:cubicBezTo>
                <a:cubicBezTo>
                  <a:pt x="2777" y="4902"/>
                  <a:pt x="2282" y="6949"/>
                  <a:pt x="1734" y="8995"/>
                </a:cubicBezTo>
                <a:cubicBezTo>
                  <a:pt x="1160" y="11120"/>
                  <a:pt x="613" y="13232"/>
                  <a:pt x="391" y="15357"/>
                </a:cubicBezTo>
                <a:cubicBezTo>
                  <a:pt x="183" y="17325"/>
                  <a:pt x="0" y="19293"/>
                  <a:pt x="79" y="21092"/>
                </a:cubicBezTo>
                <a:cubicBezTo>
                  <a:pt x="52" y="23074"/>
                  <a:pt x="144" y="24899"/>
                  <a:pt x="365" y="26710"/>
                </a:cubicBezTo>
                <a:cubicBezTo>
                  <a:pt x="522" y="28079"/>
                  <a:pt x="1721" y="29096"/>
                  <a:pt x="4419" y="29656"/>
                </a:cubicBezTo>
                <a:cubicBezTo>
                  <a:pt x="6296" y="30048"/>
                  <a:pt x="8265" y="30178"/>
                  <a:pt x="10259" y="30204"/>
                </a:cubicBezTo>
                <a:cubicBezTo>
                  <a:pt x="11143" y="30216"/>
                  <a:pt x="12026" y="30220"/>
                  <a:pt x="12908" y="30220"/>
                </a:cubicBezTo>
                <a:cubicBezTo>
                  <a:pt x="15996" y="30220"/>
                  <a:pt x="19078" y="30165"/>
                  <a:pt x="22161" y="30165"/>
                </a:cubicBezTo>
                <a:cubicBezTo>
                  <a:pt x="24859" y="30165"/>
                  <a:pt x="27557" y="30204"/>
                  <a:pt x="30243" y="30204"/>
                </a:cubicBezTo>
                <a:cubicBezTo>
                  <a:pt x="31690" y="30191"/>
                  <a:pt x="33123" y="30113"/>
                  <a:pt x="34505" y="29852"/>
                </a:cubicBezTo>
                <a:cubicBezTo>
                  <a:pt x="35470" y="29683"/>
                  <a:pt x="36330" y="29435"/>
                  <a:pt x="36917" y="29005"/>
                </a:cubicBezTo>
                <a:cubicBezTo>
                  <a:pt x="37881" y="28288"/>
                  <a:pt x="38677" y="27519"/>
                  <a:pt x="39120" y="26684"/>
                </a:cubicBezTo>
                <a:cubicBezTo>
                  <a:pt x="39732" y="25485"/>
                  <a:pt x="39954" y="24260"/>
                  <a:pt x="39954" y="23021"/>
                </a:cubicBezTo>
                <a:cubicBezTo>
                  <a:pt x="39954" y="19372"/>
                  <a:pt x="40006" y="15709"/>
                  <a:pt x="39563" y="12059"/>
                </a:cubicBezTo>
                <a:cubicBezTo>
                  <a:pt x="39367" y="10403"/>
                  <a:pt x="39485" y="8748"/>
                  <a:pt x="39237" y="7105"/>
                </a:cubicBezTo>
                <a:cubicBezTo>
                  <a:pt x="39068" y="6023"/>
                  <a:pt x="38794" y="4941"/>
                  <a:pt x="37920" y="3938"/>
                </a:cubicBezTo>
                <a:cubicBezTo>
                  <a:pt x="37282" y="3208"/>
                  <a:pt x="36773" y="2438"/>
                  <a:pt x="35665" y="1826"/>
                </a:cubicBezTo>
                <a:cubicBezTo>
                  <a:pt x="34192" y="1031"/>
                  <a:pt x="32237" y="666"/>
                  <a:pt x="30138" y="496"/>
                </a:cubicBezTo>
                <a:cubicBezTo>
                  <a:pt x="26451" y="194"/>
                  <a:pt x="22741" y="1"/>
                  <a:pt x="19007" y="1"/>
                </a:cubicBezTo>
                <a:close/>
              </a:path>
            </a:pathLst>
          </a:custGeom>
          <a:solidFill>
            <a:srgbClr val="112A40"/>
          </a:solidFill>
          <a:ln>
            <a:noFill/>
          </a:ln>
          <a:effectLst>
            <a:outerShdw blurRad="57150" dist="9525" algn="bl" rotWithShape="0">
              <a:srgbClr val="000000"/>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lang="fr-CI" noProof="0"/>
          </a:p>
        </p:txBody>
      </p:sp>
      <p:sp>
        <p:nvSpPr>
          <p:cNvPr id="38" name="Google Shape;7367;p39"/>
          <p:cNvSpPr/>
          <p:nvPr/>
        </p:nvSpPr>
        <p:spPr>
          <a:xfrm rot="16200000">
            <a:off x="2838223" y="3190772"/>
            <a:ext cx="1751381" cy="3719393"/>
          </a:xfrm>
          <a:custGeom>
            <a:avLst/>
            <a:gdLst/>
            <a:ahLst/>
            <a:cxnLst/>
            <a:rect l="l" t="t" r="r" b="b"/>
            <a:pathLst>
              <a:path w="25081" h="54128" extrusionOk="0">
                <a:moveTo>
                  <a:pt x="19843" y="0"/>
                </a:moveTo>
                <a:cubicBezTo>
                  <a:pt x="19654" y="0"/>
                  <a:pt x="19462" y="7"/>
                  <a:pt x="19267" y="21"/>
                </a:cubicBezTo>
                <a:cubicBezTo>
                  <a:pt x="17781" y="125"/>
                  <a:pt x="16282" y="99"/>
                  <a:pt x="14796" y="112"/>
                </a:cubicBezTo>
                <a:cubicBezTo>
                  <a:pt x="13909" y="125"/>
                  <a:pt x="13010" y="112"/>
                  <a:pt x="12123" y="177"/>
                </a:cubicBezTo>
                <a:cubicBezTo>
                  <a:pt x="10272" y="333"/>
                  <a:pt x="8421" y="503"/>
                  <a:pt x="6570" y="633"/>
                </a:cubicBezTo>
                <a:cubicBezTo>
                  <a:pt x="5267" y="738"/>
                  <a:pt x="3989" y="933"/>
                  <a:pt x="2764" y="1259"/>
                </a:cubicBezTo>
                <a:cubicBezTo>
                  <a:pt x="1943" y="1481"/>
                  <a:pt x="1408" y="1872"/>
                  <a:pt x="1226" y="2471"/>
                </a:cubicBezTo>
                <a:cubicBezTo>
                  <a:pt x="991" y="3292"/>
                  <a:pt x="861" y="4140"/>
                  <a:pt x="965" y="4974"/>
                </a:cubicBezTo>
                <a:cubicBezTo>
                  <a:pt x="991" y="5248"/>
                  <a:pt x="1030" y="5508"/>
                  <a:pt x="991" y="5782"/>
                </a:cubicBezTo>
                <a:cubicBezTo>
                  <a:pt x="835" y="6877"/>
                  <a:pt x="678" y="7972"/>
                  <a:pt x="587" y="9067"/>
                </a:cubicBezTo>
                <a:cubicBezTo>
                  <a:pt x="470" y="10488"/>
                  <a:pt x="378" y="11896"/>
                  <a:pt x="300" y="13317"/>
                </a:cubicBezTo>
                <a:cubicBezTo>
                  <a:pt x="274" y="13825"/>
                  <a:pt x="352" y="14333"/>
                  <a:pt x="339" y="14829"/>
                </a:cubicBezTo>
                <a:cubicBezTo>
                  <a:pt x="313" y="15820"/>
                  <a:pt x="157" y="16797"/>
                  <a:pt x="118" y="17775"/>
                </a:cubicBezTo>
                <a:cubicBezTo>
                  <a:pt x="53" y="19391"/>
                  <a:pt x="0" y="21008"/>
                  <a:pt x="40" y="22624"/>
                </a:cubicBezTo>
                <a:cubicBezTo>
                  <a:pt x="66" y="24149"/>
                  <a:pt x="157" y="25661"/>
                  <a:pt x="144" y="27173"/>
                </a:cubicBezTo>
                <a:cubicBezTo>
                  <a:pt x="131" y="28646"/>
                  <a:pt x="105" y="30132"/>
                  <a:pt x="131" y="31605"/>
                </a:cubicBezTo>
                <a:cubicBezTo>
                  <a:pt x="209" y="35412"/>
                  <a:pt x="405" y="39218"/>
                  <a:pt x="274" y="43051"/>
                </a:cubicBezTo>
                <a:cubicBezTo>
                  <a:pt x="235" y="44237"/>
                  <a:pt x="287" y="45436"/>
                  <a:pt x="300" y="46622"/>
                </a:cubicBezTo>
                <a:cubicBezTo>
                  <a:pt x="300" y="46687"/>
                  <a:pt x="300" y="46753"/>
                  <a:pt x="287" y="46818"/>
                </a:cubicBezTo>
                <a:cubicBezTo>
                  <a:pt x="222" y="48004"/>
                  <a:pt x="313" y="49190"/>
                  <a:pt x="535" y="50363"/>
                </a:cubicBezTo>
                <a:cubicBezTo>
                  <a:pt x="665" y="51054"/>
                  <a:pt x="1004" y="51706"/>
                  <a:pt x="1239" y="52384"/>
                </a:cubicBezTo>
                <a:cubicBezTo>
                  <a:pt x="1486" y="53075"/>
                  <a:pt x="2164" y="53492"/>
                  <a:pt x="3129" y="53700"/>
                </a:cubicBezTo>
                <a:cubicBezTo>
                  <a:pt x="3812" y="53854"/>
                  <a:pt x="4517" y="53911"/>
                  <a:pt x="5223" y="53911"/>
                </a:cubicBezTo>
                <a:cubicBezTo>
                  <a:pt x="5299" y="53911"/>
                  <a:pt x="5374" y="53910"/>
                  <a:pt x="5449" y="53909"/>
                </a:cubicBezTo>
                <a:cubicBezTo>
                  <a:pt x="5591" y="53907"/>
                  <a:pt x="5733" y="53906"/>
                  <a:pt x="5875" y="53906"/>
                </a:cubicBezTo>
                <a:cubicBezTo>
                  <a:pt x="7594" y="53906"/>
                  <a:pt x="9293" y="54042"/>
                  <a:pt x="11015" y="54078"/>
                </a:cubicBezTo>
                <a:cubicBezTo>
                  <a:pt x="11655" y="54087"/>
                  <a:pt x="12288" y="54128"/>
                  <a:pt x="12924" y="54128"/>
                </a:cubicBezTo>
                <a:cubicBezTo>
                  <a:pt x="13273" y="54128"/>
                  <a:pt x="13623" y="54115"/>
                  <a:pt x="13974" y="54078"/>
                </a:cubicBezTo>
                <a:cubicBezTo>
                  <a:pt x="15239" y="53948"/>
                  <a:pt x="16516" y="53870"/>
                  <a:pt x="17781" y="53779"/>
                </a:cubicBezTo>
                <a:cubicBezTo>
                  <a:pt x="18850" y="53700"/>
                  <a:pt x="19919" y="53583"/>
                  <a:pt x="20961" y="53375"/>
                </a:cubicBezTo>
                <a:cubicBezTo>
                  <a:pt x="22043" y="53153"/>
                  <a:pt x="22956" y="52749"/>
                  <a:pt x="23503" y="52019"/>
                </a:cubicBezTo>
                <a:cubicBezTo>
                  <a:pt x="23855" y="51537"/>
                  <a:pt x="24142" y="51028"/>
                  <a:pt x="24233" y="50494"/>
                </a:cubicBezTo>
                <a:cubicBezTo>
                  <a:pt x="24416" y="49464"/>
                  <a:pt x="24429" y="48434"/>
                  <a:pt x="24546" y="47404"/>
                </a:cubicBezTo>
                <a:cubicBezTo>
                  <a:pt x="24690" y="45957"/>
                  <a:pt x="24768" y="44510"/>
                  <a:pt x="24833" y="43064"/>
                </a:cubicBezTo>
                <a:cubicBezTo>
                  <a:pt x="24924" y="41395"/>
                  <a:pt x="24898" y="39726"/>
                  <a:pt x="24898" y="38058"/>
                </a:cubicBezTo>
                <a:cubicBezTo>
                  <a:pt x="24885" y="36402"/>
                  <a:pt x="24794" y="34760"/>
                  <a:pt x="24794" y="33104"/>
                </a:cubicBezTo>
                <a:cubicBezTo>
                  <a:pt x="24794" y="31332"/>
                  <a:pt x="24755" y="29546"/>
                  <a:pt x="24768" y="27760"/>
                </a:cubicBezTo>
                <a:cubicBezTo>
                  <a:pt x="24794" y="26196"/>
                  <a:pt x="24807" y="24631"/>
                  <a:pt x="24846" y="23067"/>
                </a:cubicBezTo>
                <a:cubicBezTo>
                  <a:pt x="24885" y="21503"/>
                  <a:pt x="24911" y="19952"/>
                  <a:pt x="24911" y="18387"/>
                </a:cubicBezTo>
                <a:cubicBezTo>
                  <a:pt x="24911" y="16967"/>
                  <a:pt x="24937" y="15533"/>
                  <a:pt x="24989" y="14112"/>
                </a:cubicBezTo>
                <a:cubicBezTo>
                  <a:pt x="25028" y="12795"/>
                  <a:pt x="25081" y="11479"/>
                  <a:pt x="25068" y="10162"/>
                </a:cubicBezTo>
                <a:cubicBezTo>
                  <a:pt x="25068" y="8924"/>
                  <a:pt x="25002" y="7685"/>
                  <a:pt x="24963" y="6447"/>
                </a:cubicBezTo>
                <a:lnTo>
                  <a:pt x="24950" y="6447"/>
                </a:lnTo>
                <a:cubicBezTo>
                  <a:pt x="25055" y="5561"/>
                  <a:pt x="24963" y="4674"/>
                  <a:pt x="24872" y="3801"/>
                </a:cubicBezTo>
                <a:cubicBezTo>
                  <a:pt x="24807" y="3175"/>
                  <a:pt x="24664" y="2562"/>
                  <a:pt x="24403" y="1963"/>
                </a:cubicBezTo>
                <a:cubicBezTo>
                  <a:pt x="24194" y="1481"/>
                  <a:pt x="23803" y="1103"/>
                  <a:pt x="23204" y="803"/>
                </a:cubicBezTo>
                <a:cubicBezTo>
                  <a:pt x="22185" y="293"/>
                  <a:pt x="21087" y="0"/>
                  <a:pt x="19843" y="0"/>
                </a:cubicBezTo>
                <a:close/>
              </a:path>
            </a:pathLst>
          </a:custGeom>
          <a:noFill/>
          <a:ln w="19050">
            <a:solidFill>
              <a:srgbClr val="060606"/>
            </a:solidFill>
          </a:ln>
          <a:effectLst>
            <a:outerShdw blurRad="57150" dist="9525" algn="bl" rotWithShape="0">
              <a:srgbClr val="000000"/>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lang="fr-CI" noProof="0"/>
          </a:p>
        </p:txBody>
      </p:sp>
      <p:sp>
        <p:nvSpPr>
          <p:cNvPr id="40" name="Rectangle 39"/>
          <p:cNvSpPr/>
          <p:nvPr/>
        </p:nvSpPr>
        <p:spPr>
          <a:xfrm>
            <a:off x="3052718" y="3852190"/>
            <a:ext cx="1322389" cy="295488"/>
          </a:xfrm>
          <a:prstGeom prst="rect">
            <a:avLst/>
          </a:prstGeom>
        </p:spPr>
        <p:txBody>
          <a:bodyPr wrap="none">
            <a:spAutoFit/>
          </a:bodyPr>
          <a:lstStyle/>
          <a:p>
            <a:pPr lvl="0">
              <a:lnSpc>
                <a:spcPct val="110000"/>
              </a:lnSpc>
            </a:pPr>
            <a:r>
              <a:rPr lang="fr-CI" sz="1400" b="1" noProof="0">
                <a:solidFill>
                  <a:schemeClr val="bg1"/>
                </a:solidFill>
                <a:latin typeface="Helvetica" panose="020B0604020202020204" pitchFamily="34" charset="0"/>
                <a:ea typeface="Open Sans Semibold" panose="020B0706030804020204" pitchFamily="34" charset="0"/>
                <a:cs typeface="Helvetica" panose="020B0604020202020204" pitchFamily="34" charset="0"/>
              </a:rPr>
              <a:t>Implication</a:t>
            </a:r>
          </a:p>
        </p:txBody>
      </p:sp>
      <p:sp>
        <p:nvSpPr>
          <p:cNvPr id="42" name="Google Shape;7386;p39"/>
          <p:cNvSpPr/>
          <p:nvPr/>
        </p:nvSpPr>
        <p:spPr>
          <a:xfrm rot="10800000">
            <a:off x="6478457" y="3869173"/>
            <a:ext cx="3625790" cy="329031"/>
          </a:xfrm>
          <a:custGeom>
            <a:avLst/>
            <a:gdLst/>
            <a:ahLst/>
            <a:cxnLst/>
            <a:rect l="l" t="t" r="r" b="b"/>
            <a:pathLst>
              <a:path w="40007" h="30221" extrusionOk="0">
                <a:moveTo>
                  <a:pt x="19007" y="1"/>
                </a:moveTo>
                <a:cubicBezTo>
                  <a:pt x="17909" y="1"/>
                  <a:pt x="16810" y="17"/>
                  <a:pt x="15708" y="53"/>
                </a:cubicBezTo>
                <a:cubicBezTo>
                  <a:pt x="13270" y="131"/>
                  <a:pt x="10885" y="275"/>
                  <a:pt x="8512" y="548"/>
                </a:cubicBezTo>
                <a:cubicBezTo>
                  <a:pt x="6088" y="835"/>
                  <a:pt x="4524" y="1500"/>
                  <a:pt x="4041" y="2712"/>
                </a:cubicBezTo>
                <a:cubicBezTo>
                  <a:pt x="4015" y="2777"/>
                  <a:pt x="3976" y="2843"/>
                  <a:pt x="3937" y="2908"/>
                </a:cubicBezTo>
                <a:cubicBezTo>
                  <a:pt x="2777" y="4902"/>
                  <a:pt x="2282" y="6949"/>
                  <a:pt x="1734" y="8995"/>
                </a:cubicBezTo>
                <a:cubicBezTo>
                  <a:pt x="1160" y="11120"/>
                  <a:pt x="613" y="13232"/>
                  <a:pt x="391" y="15357"/>
                </a:cubicBezTo>
                <a:cubicBezTo>
                  <a:pt x="183" y="17325"/>
                  <a:pt x="0" y="19293"/>
                  <a:pt x="79" y="21092"/>
                </a:cubicBezTo>
                <a:cubicBezTo>
                  <a:pt x="52" y="23074"/>
                  <a:pt x="144" y="24899"/>
                  <a:pt x="365" y="26710"/>
                </a:cubicBezTo>
                <a:cubicBezTo>
                  <a:pt x="522" y="28079"/>
                  <a:pt x="1721" y="29096"/>
                  <a:pt x="4419" y="29656"/>
                </a:cubicBezTo>
                <a:cubicBezTo>
                  <a:pt x="6296" y="30048"/>
                  <a:pt x="8265" y="30178"/>
                  <a:pt x="10259" y="30204"/>
                </a:cubicBezTo>
                <a:cubicBezTo>
                  <a:pt x="11143" y="30216"/>
                  <a:pt x="12026" y="30220"/>
                  <a:pt x="12908" y="30220"/>
                </a:cubicBezTo>
                <a:cubicBezTo>
                  <a:pt x="15996" y="30220"/>
                  <a:pt x="19078" y="30165"/>
                  <a:pt x="22161" y="30165"/>
                </a:cubicBezTo>
                <a:cubicBezTo>
                  <a:pt x="24859" y="30165"/>
                  <a:pt x="27557" y="30204"/>
                  <a:pt x="30243" y="30204"/>
                </a:cubicBezTo>
                <a:cubicBezTo>
                  <a:pt x="31690" y="30191"/>
                  <a:pt x="33123" y="30113"/>
                  <a:pt x="34505" y="29852"/>
                </a:cubicBezTo>
                <a:cubicBezTo>
                  <a:pt x="35470" y="29683"/>
                  <a:pt x="36330" y="29435"/>
                  <a:pt x="36917" y="29005"/>
                </a:cubicBezTo>
                <a:cubicBezTo>
                  <a:pt x="37881" y="28288"/>
                  <a:pt x="38677" y="27519"/>
                  <a:pt x="39120" y="26684"/>
                </a:cubicBezTo>
                <a:cubicBezTo>
                  <a:pt x="39732" y="25485"/>
                  <a:pt x="39954" y="24260"/>
                  <a:pt x="39954" y="23021"/>
                </a:cubicBezTo>
                <a:cubicBezTo>
                  <a:pt x="39954" y="19372"/>
                  <a:pt x="40006" y="15709"/>
                  <a:pt x="39563" y="12059"/>
                </a:cubicBezTo>
                <a:cubicBezTo>
                  <a:pt x="39367" y="10403"/>
                  <a:pt x="39485" y="8748"/>
                  <a:pt x="39237" y="7105"/>
                </a:cubicBezTo>
                <a:cubicBezTo>
                  <a:pt x="39068" y="6023"/>
                  <a:pt x="38794" y="4941"/>
                  <a:pt x="37920" y="3938"/>
                </a:cubicBezTo>
                <a:cubicBezTo>
                  <a:pt x="37282" y="3208"/>
                  <a:pt x="36773" y="2438"/>
                  <a:pt x="35665" y="1826"/>
                </a:cubicBezTo>
                <a:cubicBezTo>
                  <a:pt x="34192" y="1031"/>
                  <a:pt x="32237" y="666"/>
                  <a:pt x="30138" y="496"/>
                </a:cubicBezTo>
                <a:cubicBezTo>
                  <a:pt x="26451" y="194"/>
                  <a:pt x="22741" y="1"/>
                  <a:pt x="19007" y="1"/>
                </a:cubicBezTo>
                <a:close/>
              </a:path>
            </a:pathLst>
          </a:custGeom>
          <a:solidFill>
            <a:srgbClr val="112A40"/>
          </a:solidFill>
          <a:ln>
            <a:noFill/>
          </a:ln>
          <a:effectLst>
            <a:outerShdw blurRad="57150" dist="9525" algn="bl" rotWithShape="0">
              <a:srgbClr val="000000"/>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lang="fr-CI" noProof="0"/>
          </a:p>
        </p:txBody>
      </p:sp>
      <p:sp>
        <p:nvSpPr>
          <p:cNvPr id="43" name="Google Shape;7367;p39"/>
          <p:cNvSpPr/>
          <p:nvPr/>
        </p:nvSpPr>
        <p:spPr>
          <a:xfrm rot="16200000">
            <a:off x="7474179" y="3202486"/>
            <a:ext cx="1727953" cy="3719393"/>
          </a:xfrm>
          <a:custGeom>
            <a:avLst/>
            <a:gdLst/>
            <a:ahLst/>
            <a:cxnLst/>
            <a:rect l="l" t="t" r="r" b="b"/>
            <a:pathLst>
              <a:path w="25081" h="54128" extrusionOk="0">
                <a:moveTo>
                  <a:pt x="19843" y="0"/>
                </a:moveTo>
                <a:cubicBezTo>
                  <a:pt x="19654" y="0"/>
                  <a:pt x="19462" y="7"/>
                  <a:pt x="19267" y="21"/>
                </a:cubicBezTo>
                <a:cubicBezTo>
                  <a:pt x="17781" y="125"/>
                  <a:pt x="16282" y="99"/>
                  <a:pt x="14796" y="112"/>
                </a:cubicBezTo>
                <a:cubicBezTo>
                  <a:pt x="13909" y="125"/>
                  <a:pt x="13010" y="112"/>
                  <a:pt x="12123" y="177"/>
                </a:cubicBezTo>
                <a:cubicBezTo>
                  <a:pt x="10272" y="333"/>
                  <a:pt x="8421" y="503"/>
                  <a:pt x="6570" y="633"/>
                </a:cubicBezTo>
                <a:cubicBezTo>
                  <a:pt x="5267" y="738"/>
                  <a:pt x="3989" y="933"/>
                  <a:pt x="2764" y="1259"/>
                </a:cubicBezTo>
                <a:cubicBezTo>
                  <a:pt x="1943" y="1481"/>
                  <a:pt x="1408" y="1872"/>
                  <a:pt x="1226" y="2471"/>
                </a:cubicBezTo>
                <a:cubicBezTo>
                  <a:pt x="991" y="3292"/>
                  <a:pt x="861" y="4140"/>
                  <a:pt x="965" y="4974"/>
                </a:cubicBezTo>
                <a:cubicBezTo>
                  <a:pt x="991" y="5248"/>
                  <a:pt x="1030" y="5508"/>
                  <a:pt x="991" y="5782"/>
                </a:cubicBezTo>
                <a:cubicBezTo>
                  <a:pt x="835" y="6877"/>
                  <a:pt x="678" y="7972"/>
                  <a:pt x="587" y="9067"/>
                </a:cubicBezTo>
                <a:cubicBezTo>
                  <a:pt x="470" y="10488"/>
                  <a:pt x="378" y="11896"/>
                  <a:pt x="300" y="13317"/>
                </a:cubicBezTo>
                <a:cubicBezTo>
                  <a:pt x="274" y="13825"/>
                  <a:pt x="352" y="14333"/>
                  <a:pt x="339" y="14829"/>
                </a:cubicBezTo>
                <a:cubicBezTo>
                  <a:pt x="313" y="15820"/>
                  <a:pt x="157" y="16797"/>
                  <a:pt x="118" y="17775"/>
                </a:cubicBezTo>
                <a:cubicBezTo>
                  <a:pt x="53" y="19391"/>
                  <a:pt x="0" y="21008"/>
                  <a:pt x="40" y="22624"/>
                </a:cubicBezTo>
                <a:cubicBezTo>
                  <a:pt x="66" y="24149"/>
                  <a:pt x="157" y="25661"/>
                  <a:pt x="144" y="27173"/>
                </a:cubicBezTo>
                <a:cubicBezTo>
                  <a:pt x="131" y="28646"/>
                  <a:pt x="105" y="30132"/>
                  <a:pt x="131" y="31605"/>
                </a:cubicBezTo>
                <a:cubicBezTo>
                  <a:pt x="209" y="35412"/>
                  <a:pt x="405" y="39218"/>
                  <a:pt x="274" y="43051"/>
                </a:cubicBezTo>
                <a:cubicBezTo>
                  <a:pt x="235" y="44237"/>
                  <a:pt x="287" y="45436"/>
                  <a:pt x="300" y="46622"/>
                </a:cubicBezTo>
                <a:cubicBezTo>
                  <a:pt x="300" y="46687"/>
                  <a:pt x="300" y="46753"/>
                  <a:pt x="287" y="46818"/>
                </a:cubicBezTo>
                <a:cubicBezTo>
                  <a:pt x="222" y="48004"/>
                  <a:pt x="313" y="49190"/>
                  <a:pt x="535" y="50363"/>
                </a:cubicBezTo>
                <a:cubicBezTo>
                  <a:pt x="665" y="51054"/>
                  <a:pt x="1004" y="51706"/>
                  <a:pt x="1239" y="52384"/>
                </a:cubicBezTo>
                <a:cubicBezTo>
                  <a:pt x="1486" y="53075"/>
                  <a:pt x="2164" y="53492"/>
                  <a:pt x="3129" y="53700"/>
                </a:cubicBezTo>
                <a:cubicBezTo>
                  <a:pt x="3812" y="53854"/>
                  <a:pt x="4517" y="53911"/>
                  <a:pt x="5223" y="53911"/>
                </a:cubicBezTo>
                <a:cubicBezTo>
                  <a:pt x="5299" y="53911"/>
                  <a:pt x="5374" y="53910"/>
                  <a:pt x="5449" y="53909"/>
                </a:cubicBezTo>
                <a:cubicBezTo>
                  <a:pt x="5591" y="53907"/>
                  <a:pt x="5733" y="53906"/>
                  <a:pt x="5875" y="53906"/>
                </a:cubicBezTo>
                <a:cubicBezTo>
                  <a:pt x="7594" y="53906"/>
                  <a:pt x="9293" y="54042"/>
                  <a:pt x="11015" y="54078"/>
                </a:cubicBezTo>
                <a:cubicBezTo>
                  <a:pt x="11655" y="54087"/>
                  <a:pt x="12288" y="54128"/>
                  <a:pt x="12924" y="54128"/>
                </a:cubicBezTo>
                <a:cubicBezTo>
                  <a:pt x="13273" y="54128"/>
                  <a:pt x="13623" y="54115"/>
                  <a:pt x="13974" y="54078"/>
                </a:cubicBezTo>
                <a:cubicBezTo>
                  <a:pt x="15239" y="53948"/>
                  <a:pt x="16516" y="53870"/>
                  <a:pt x="17781" y="53779"/>
                </a:cubicBezTo>
                <a:cubicBezTo>
                  <a:pt x="18850" y="53700"/>
                  <a:pt x="19919" y="53583"/>
                  <a:pt x="20961" y="53375"/>
                </a:cubicBezTo>
                <a:cubicBezTo>
                  <a:pt x="22043" y="53153"/>
                  <a:pt x="22956" y="52749"/>
                  <a:pt x="23503" y="52019"/>
                </a:cubicBezTo>
                <a:cubicBezTo>
                  <a:pt x="23855" y="51537"/>
                  <a:pt x="24142" y="51028"/>
                  <a:pt x="24233" y="50494"/>
                </a:cubicBezTo>
                <a:cubicBezTo>
                  <a:pt x="24416" y="49464"/>
                  <a:pt x="24429" y="48434"/>
                  <a:pt x="24546" y="47404"/>
                </a:cubicBezTo>
                <a:cubicBezTo>
                  <a:pt x="24690" y="45957"/>
                  <a:pt x="24768" y="44510"/>
                  <a:pt x="24833" y="43064"/>
                </a:cubicBezTo>
                <a:cubicBezTo>
                  <a:pt x="24924" y="41395"/>
                  <a:pt x="24898" y="39726"/>
                  <a:pt x="24898" y="38058"/>
                </a:cubicBezTo>
                <a:cubicBezTo>
                  <a:pt x="24885" y="36402"/>
                  <a:pt x="24794" y="34760"/>
                  <a:pt x="24794" y="33104"/>
                </a:cubicBezTo>
                <a:cubicBezTo>
                  <a:pt x="24794" y="31332"/>
                  <a:pt x="24755" y="29546"/>
                  <a:pt x="24768" y="27760"/>
                </a:cubicBezTo>
                <a:cubicBezTo>
                  <a:pt x="24794" y="26196"/>
                  <a:pt x="24807" y="24631"/>
                  <a:pt x="24846" y="23067"/>
                </a:cubicBezTo>
                <a:cubicBezTo>
                  <a:pt x="24885" y="21503"/>
                  <a:pt x="24911" y="19952"/>
                  <a:pt x="24911" y="18387"/>
                </a:cubicBezTo>
                <a:cubicBezTo>
                  <a:pt x="24911" y="16967"/>
                  <a:pt x="24937" y="15533"/>
                  <a:pt x="24989" y="14112"/>
                </a:cubicBezTo>
                <a:cubicBezTo>
                  <a:pt x="25028" y="12795"/>
                  <a:pt x="25081" y="11479"/>
                  <a:pt x="25068" y="10162"/>
                </a:cubicBezTo>
                <a:cubicBezTo>
                  <a:pt x="25068" y="8924"/>
                  <a:pt x="25002" y="7685"/>
                  <a:pt x="24963" y="6447"/>
                </a:cubicBezTo>
                <a:lnTo>
                  <a:pt x="24950" y="6447"/>
                </a:lnTo>
                <a:cubicBezTo>
                  <a:pt x="25055" y="5561"/>
                  <a:pt x="24963" y="4674"/>
                  <a:pt x="24872" y="3801"/>
                </a:cubicBezTo>
                <a:cubicBezTo>
                  <a:pt x="24807" y="3175"/>
                  <a:pt x="24664" y="2562"/>
                  <a:pt x="24403" y="1963"/>
                </a:cubicBezTo>
                <a:cubicBezTo>
                  <a:pt x="24194" y="1481"/>
                  <a:pt x="23803" y="1103"/>
                  <a:pt x="23204" y="803"/>
                </a:cubicBezTo>
                <a:cubicBezTo>
                  <a:pt x="22185" y="293"/>
                  <a:pt x="21087" y="0"/>
                  <a:pt x="19843" y="0"/>
                </a:cubicBezTo>
                <a:close/>
              </a:path>
            </a:pathLst>
          </a:custGeom>
          <a:noFill/>
          <a:ln w="19050">
            <a:solidFill>
              <a:schemeClr val="tx1"/>
            </a:solidFill>
          </a:ln>
          <a:effectLst>
            <a:outerShdw blurRad="57150" dist="9525" algn="bl" rotWithShape="0">
              <a:srgbClr val="000000"/>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lang="fr-CI" noProof="0"/>
          </a:p>
        </p:txBody>
      </p:sp>
      <p:sp>
        <p:nvSpPr>
          <p:cNvPr id="45" name="Rectangle 44"/>
          <p:cNvSpPr/>
          <p:nvPr/>
        </p:nvSpPr>
        <p:spPr>
          <a:xfrm>
            <a:off x="7676960" y="3875619"/>
            <a:ext cx="1322389" cy="295488"/>
          </a:xfrm>
          <a:prstGeom prst="rect">
            <a:avLst/>
          </a:prstGeom>
        </p:spPr>
        <p:txBody>
          <a:bodyPr wrap="none">
            <a:spAutoFit/>
          </a:bodyPr>
          <a:lstStyle/>
          <a:p>
            <a:pPr lvl="0">
              <a:lnSpc>
                <a:spcPct val="110000"/>
              </a:lnSpc>
            </a:pPr>
            <a:r>
              <a:rPr lang="fr-CI" sz="1400" b="1" noProof="0">
                <a:solidFill>
                  <a:schemeClr val="bg1"/>
                </a:solidFill>
                <a:latin typeface="Helvetica" panose="020B0604020202020204" pitchFamily="34" charset="0"/>
                <a:ea typeface="Open Sans Semibold" panose="020B0706030804020204" pitchFamily="34" charset="0"/>
                <a:cs typeface="Helvetica" panose="020B0604020202020204" pitchFamily="34" charset="0"/>
              </a:rPr>
              <a:t>Action</a:t>
            </a:r>
          </a:p>
        </p:txBody>
      </p:sp>
      <p:pic>
        <p:nvPicPr>
          <p:cNvPr id="47" name="Image 46"/>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147871" y="3850143"/>
            <a:ext cx="334029" cy="337914"/>
          </a:xfrm>
          <a:prstGeom prst="rect">
            <a:avLst/>
          </a:prstGeom>
        </p:spPr>
      </p:pic>
      <p:pic>
        <p:nvPicPr>
          <p:cNvPr id="50" name="Image 49">
            <a:extLst>
              <a:ext uri="{FF2B5EF4-FFF2-40B4-BE49-F238E27FC236}">
                <a16:creationId xmlns:a16="http://schemas.microsoft.com/office/drawing/2014/main" id="{593DA389-08F4-31D9-6AB9-E96812D83B72}"/>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6768142" y="1475503"/>
            <a:ext cx="294700" cy="294700"/>
          </a:xfrm>
          <a:prstGeom prst="rect">
            <a:avLst/>
          </a:prstGeom>
        </p:spPr>
      </p:pic>
      <p:pic>
        <p:nvPicPr>
          <p:cNvPr id="25" name="Image 24"/>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2156977" y="1457088"/>
            <a:ext cx="281624" cy="284788"/>
          </a:xfrm>
          <a:prstGeom prst="rect">
            <a:avLst/>
          </a:prstGeom>
        </p:spPr>
      </p:pic>
      <p:pic>
        <p:nvPicPr>
          <p:cNvPr id="28" name="Image 27"/>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6791905" y="3883760"/>
            <a:ext cx="270937" cy="276827"/>
          </a:xfrm>
          <a:prstGeom prst="rect">
            <a:avLst/>
          </a:prstGeom>
        </p:spPr>
      </p:pic>
      <p:sp>
        <p:nvSpPr>
          <p:cNvPr id="31" name="Rectangle 30"/>
          <p:cNvSpPr/>
          <p:nvPr/>
        </p:nvSpPr>
        <p:spPr>
          <a:xfrm>
            <a:off x="1999671" y="1962253"/>
            <a:ext cx="3122592" cy="1428712"/>
          </a:xfrm>
          <a:prstGeom prst="rect">
            <a:avLst/>
          </a:prstGeom>
        </p:spPr>
        <p:txBody>
          <a:bodyPr wrap="square">
            <a:spAutoFit/>
          </a:bodyPr>
          <a:lstStyle/>
          <a:p>
            <a:pPr lvl="0" marL="0" indent="0">
              <a:buNone/>
              <a:spcBef>
                <a:spcPts val="300"/>
              </a:spcBef>
              <a:defRPr/>
            </a:pPr>
            <a:r>
              <a:rPr kumimoji="1" lang="fr-CI" sz="1250" b="0" noProof="0">
                <a:latin typeface="Helvetica" panose="020B0604020202020204" pitchFamily="34" charset="0"/>
                <a:cs typeface="Helvetica" panose="020B0604020202020204" pitchFamily="34" charset="0"/>
              </a:rPr>
              <a:t>Les outils de calcul sont en place, mais ils ne peuvent pas être appliqués aux mutualistes du FPPN sans leurs âges.</a:t>
            </a:r>
          </a:p>
        </p:txBody>
      </p:sp>
      <p:sp>
        <p:nvSpPr>
          <p:cNvPr id="32" name="Rectangle 31"/>
          <p:cNvSpPr/>
          <p:nvPr/>
        </p:nvSpPr>
        <p:spPr>
          <a:xfrm>
            <a:off x="6623912" y="1926662"/>
            <a:ext cx="3122592" cy="1428712"/>
          </a:xfrm>
          <a:prstGeom prst="rect">
            <a:avLst/>
          </a:prstGeom>
        </p:spPr>
        <p:txBody>
          <a:bodyPr wrap="square">
            <a:spAutoFit/>
          </a:bodyPr>
          <a:lstStyle/>
          <a:p>
            <a:pPr lvl="0" marL="0" indent="0">
              <a:buNone/>
              <a:spcBef>
                <a:spcPts val="300"/>
              </a:spcBef>
              <a:defRPr/>
            </a:pPr>
            <a:r>
              <a:rPr kumimoji="1" lang="fr-CI" sz="1250" b="0" noProof="0">
                <a:latin typeface="Helvetica" panose="020B0604020202020204" pitchFamily="34" charset="0"/>
                <a:cs typeface="Helvetica" panose="020B0604020202020204" pitchFamily="34" charset="0"/>
              </a:rPr>
              <a:t>Une rente à 60 ans vaut 16,84 années de paiement avec CIMA F, contre 14,26 avec CIMA H. Les anciennes tables sous-estiment la durée de vie.</a:t>
            </a:r>
          </a:p>
        </p:txBody>
      </p:sp>
      <p:sp>
        <p:nvSpPr>
          <p:cNvPr id="33" name="Rectangle 32"/>
          <p:cNvSpPr/>
          <p:nvPr/>
        </p:nvSpPr>
        <p:spPr>
          <a:xfrm>
            <a:off x="2093705" y="4388689"/>
            <a:ext cx="3122592" cy="1428712"/>
          </a:xfrm>
          <a:prstGeom prst="rect">
            <a:avLst/>
          </a:prstGeom>
        </p:spPr>
        <p:txBody>
          <a:bodyPr wrap="square">
            <a:spAutoFit/>
          </a:bodyPr>
          <a:lstStyle/>
          <a:p>
            <a:pPr lvl="0" marL="0" indent="0">
              <a:buNone/>
              <a:spcBef>
                <a:spcPts val="300"/>
              </a:spcBef>
              <a:defRPr/>
            </a:pPr>
            <a:r>
              <a:rPr kumimoji="1" lang="fr-CI" sz="1250" b="0" noProof="0">
                <a:latin typeface="Helvetica" panose="020B0604020202020204" pitchFamily="34" charset="0"/>
                <a:cs typeface="Helvetica" panose="020B0604020202020204" pitchFamily="34" charset="0"/>
              </a:rPr>
              <a:t>La mortalité des policiers et la valeur des engagements viagers restent inconnues tant que les dates de naissance manquent.</a:t>
            </a:r>
          </a:p>
        </p:txBody>
      </p:sp>
      <p:sp>
        <p:nvSpPr>
          <p:cNvPr id="34" name="Rectangle 33"/>
          <p:cNvSpPr/>
          <p:nvPr/>
        </p:nvSpPr>
        <p:spPr>
          <a:xfrm>
            <a:off x="6768142" y="4336111"/>
            <a:ext cx="3122592" cy="1428712"/>
          </a:xfrm>
          <a:prstGeom prst="rect">
            <a:avLst/>
          </a:prstGeom>
        </p:spPr>
        <p:txBody>
          <a:bodyPr wrap="square">
            <a:spAutoFit/>
          </a:bodyPr>
          <a:lstStyle/>
          <a:p>
            <a:pPr lvl="0" marL="0" indent="0">
              <a:buNone/>
              <a:spcBef>
                <a:spcPts val="300"/>
              </a:spcBef>
              <a:defRPr/>
            </a:pPr>
            <a:r>
              <a:rPr kumimoji="1" lang="fr-CI" sz="1250" b="0" noProof="0">
                <a:latin typeface="Helvetica" panose="020B0604020202020204" pitchFamily="34" charset="0"/>
                <a:cs typeface="Helvetica" panose="020B0604020202020204" pitchFamily="34" charset="0"/>
              </a:rPr>
              <a:t>Le FPPN doit transmettre le fichier des mutualistes avec date de naissance et sexe (PBC, item 9) et la base des décès (item 28).</a:t>
            </a:r>
          </a:p>
        </p:txBody>
      </p:sp>
      <p:sp>
        <p:nvSpPr>
          <p:cNvPr id="51"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À retenir : tables de mortalité</a:t>
            </a:r>
          </a:p>
        </p:txBody>
      </p:sp>
      <p:sp>
        <p:nvSpPr>
          <p:cNvPr id="52"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Les tables CIMA sont prêtes. Il manque les dates de naissance pour les appliquer</a:t>
            </a:r>
          </a:p>
        </p:txBody>
      </p:sp>
      <p:sp>
        <p:nvSpPr>
          <p:cNvPr id="53"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Choix prudent : CIMA H pour le décès, CIMA F pour la survie</a:t>
            </a:r>
          </a:p>
        </p:txBody>
      </p:sp>
      <p:sp>
        <p:nvSpPr>
          <p:cNvPr id="54"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analyses Adenka</a:t>
            </a:r>
          </a:p>
        </p:txBody>
      </p:sp>
      <p:sp>
        <p:nvSpPr>
          <p:cNvPr id="55" name="TextBox 54"/>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CIMA : Conférence interafricaine des marchés d'assurances | PBC : liste des documents demandés au client</a:t>
            </a:r>
          </a:p>
        </p:txBody>
      </p:sp>
    </p:spTree>
    <p:extLst>
      <p:ext uri="{BB962C8B-B14F-4D97-AF65-F5344CB8AC3E}">
        <p14:creationId xmlns:p14="http://schemas.microsoft.com/office/powerpoint/2010/main" val="2221833901"/>
      </p:ext>
    </p:extLst>
  </p:cSld>
  <p:clrMapOvr>
    <a:masterClrMapping/>
  </p:clrMapOvr>
  <p:transition>
    <p:fade/>
  </p:transition>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Google Shape;8651;p70"/>
          <p:cNvSpPr/>
          <p:nvPr/>
        </p:nvSpPr>
        <p:spPr>
          <a:xfrm>
            <a:off x="2013108" y="2588204"/>
            <a:ext cx="1380332" cy="1428252"/>
          </a:xfrm>
          <a:custGeom>
            <a:avLst/>
            <a:gdLst/>
            <a:ahLst/>
            <a:cxnLst/>
            <a:rect l="l" t="t" r="r" b="b"/>
            <a:pathLst>
              <a:path w="8670" h="8971" extrusionOk="0">
                <a:moveTo>
                  <a:pt x="7105" y="1302"/>
                </a:moveTo>
                <a:cubicBezTo>
                  <a:pt x="7105" y="1315"/>
                  <a:pt x="7105" y="1328"/>
                  <a:pt x="7105" y="1341"/>
                </a:cubicBezTo>
                <a:cubicBezTo>
                  <a:pt x="7118" y="1980"/>
                  <a:pt x="7183" y="2619"/>
                  <a:pt x="7183" y="3283"/>
                </a:cubicBezTo>
                <a:cubicBezTo>
                  <a:pt x="7170" y="4404"/>
                  <a:pt x="7183" y="5525"/>
                  <a:pt x="7222" y="6646"/>
                </a:cubicBezTo>
                <a:cubicBezTo>
                  <a:pt x="7235" y="6959"/>
                  <a:pt x="7222" y="7259"/>
                  <a:pt x="7222" y="7559"/>
                </a:cubicBezTo>
                <a:lnTo>
                  <a:pt x="7222" y="7585"/>
                </a:lnTo>
                <a:cubicBezTo>
                  <a:pt x="6935" y="7598"/>
                  <a:pt x="6649" y="7611"/>
                  <a:pt x="6362" y="7611"/>
                </a:cubicBezTo>
                <a:cubicBezTo>
                  <a:pt x="6101" y="7598"/>
                  <a:pt x="5853" y="7585"/>
                  <a:pt x="5593" y="7585"/>
                </a:cubicBezTo>
                <a:cubicBezTo>
                  <a:pt x="4159" y="7559"/>
                  <a:pt x="2712" y="7559"/>
                  <a:pt x="1291" y="7442"/>
                </a:cubicBezTo>
                <a:cubicBezTo>
                  <a:pt x="1278" y="7207"/>
                  <a:pt x="1239" y="6959"/>
                  <a:pt x="1226" y="6725"/>
                </a:cubicBezTo>
                <a:cubicBezTo>
                  <a:pt x="1200" y="6255"/>
                  <a:pt x="1187" y="5799"/>
                  <a:pt x="1200" y="5330"/>
                </a:cubicBezTo>
                <a:cubicBezTo>
                  <a:pt x="1213" y="4222"/>
                  <a:pt x="1226" y="3101"/>
                  <a:pt x="1343" y="1993"/>
                </a:cubicBezTo>
                <a:lnTo>
                  <a:pt x="1552" y="1993"/>
                </a:lnTo>
                <a:cubicBezTo>
                  <a:pt x="2138" y="1980"/>
                  <a:pt x="2725" y="1889"/>
                  <a:pt x="3312" y="1810"/>
                </a:cubicBezTo>
                <a:cubicBezTo>
                  <a:pt x="4576" y="1641"/>
                  <a:pt x="5840" y="1524"/>
                  <a:pt x="7105" y="1302"/>
                </a:cubicBezTo>
                <a:close/>
                <a:moveTo>
                  <a:pt x="7529" y="1"/>
                </a:moveTo>
                <a:cubicBezTo>
                  <a:pt x="7291" y="1"/>
                  <a:pt x="7059" y="53"/>
                  <a:pt x="6818" y="64"/>
                </a:cubicBezTo>
                <a:cubicBezTo>
                  <a:pt x="6375" y="103"/>
                  <a:pt x="5932" y="142"/>
                  <a:pt x="5488" y="194"/>
                </a:cubicBezTo>
                <a:cubicBezTo>
                  <a:pt x="4824" y="259"/>
                  <a:pt x="4107" y="350"/>
                  <a:pt x="3429" y="389"/>
                </a:cubicBezTo>
                <a:cubicBezTo>
                  <a:pt x="2686" y="429"/>
                  <a:pt x="1943" y="481"/>
                  <a:pt x="1213" y="598"/>
                </a:cubicBezTo>
                <a:cubicBezTo>
                  <a:pt x="913" y="624"/>
                  <a:pt x="652" y="728"/>
                  <a:pt x="509" y="976"/>
                </a:cubicBezTo>
                <a:cubicBezTo>
                  <a:pt x="470" y="1028"/>
                  <a:pt x="444" y="1080"/>
                  <a:pt x="431" y="1146"/>
                </a:cubicBezTo>
                <a:cubicBezTo>
                  <a:pt x="300" y="1524"/>
                  <a:pt x="287" y="1928"/>
                  <a:pt x="300" y="2332"/>
                </a:cubicBezTo>
                <a:cubicBezTo>
                  <a:pt x="209" y="3010"/>
                  <a:pt x="209" y="3700"/>
                  <a:pt x="209" y="4378"/>
                </a:cubicBezTo>
                <a:cubicBezTo>
                  <a:pt x="170" y="4769"/>
                  <a:pt x="144" y="5173"/>
                  <a:pt x="131" y="5565"/>
                </a:cubicBezTo>
                <a:cubicBezTo>
                  <a:pt x="105" y="6203"/>
                  <a:pt x="14" y="6842"/>
                  <a:pt x="14" y="7481"/>
                </a:cubicBezTo>
                <a:cubicBezTo>
                  <a:pt x="1" y="7911"/>
                  <a:pt x="157" y="8315"/>
                  <a:pt x="613" y="8419"/>
                </a:cubicBezTo>
                <a:cubicBezTo>
                  <a:pt x="1056" y="8550"/>
                  <a:pt x="1526" y="8524"/>
                  <a:pt x="1982" y="8550"/>
                </a:cubicBezTo>
                <a:cubicBezTo>
                  <a:pt x="2243" y="8563"/>
                  <a:pt x="2503" y="8589"/>
                  <a:pt x="2764" y="8615"/>
                </a:cubicBezTo>
                <a:cubicBezTo>
                  <a:pt x="3885" y="8745"/>
                  <a:pt x="5006" y="8902"/>
                  <a:pt x="6140" y="8941"/>
                </a:cubicBezTo>
                <a:cubicBezTo>
                  <a:pt x="6220" y="8945"/>
                  <a:pt x="6302" y="8946"/>
                  <a:pt x="6383" y="8946"/>
                </a:cubicBezTo>
                <a:cubicBezTo>
                  <a:pt x="6581" y="8946"/>
                  <a:pt x="6781" y="8937"/>
                  <a:pt x="6974" y="8928"/>
                </a:cubicBezTo>
                <a:cubicBezTo>
                  <a:pt x="7118" y="8941"/>
                  <a:pt x="7274" y="8941"/>
                  <a:pt x="7418" y="8941"/>
                </a:cubicBezTo>
                <a:cubicBezTo>
                  <a:pt x="7568" y="8956"/>
                  <a:pt x="7723" y="8971"/>
                  <a:pt x="7877" y="8971"/>
                </a:cubicBezTo>
                <a:cubicBezTo>
                  <a:pt x="7990" y="8971"/>
                  <a:pt x="8103" y="8963"/>
                  <a:pt x="8213" y="8941"/>
                </a:cubicBezTo>
                <a:cubicBezTo>
                  <a:pt x="8643" y="8810"/>
                  <a:pt x="8565" y="8093"/>
                  <a:pt x="8604" y="7741"/>
                </a:cubicBezTo>
                <a:cubicBezTo>
                  <a:pt x="8669" y="6620"/>
                  <a:pt x="8539" y="5499"/>
                  <a:pt x="8487" y="4378"/>
                </a:cubicBezTo>
                <a:cubicBezTo>
                  <a:pt x="8434" y="3453"/>
                  <a:pt x="8330" y="2527"/>
                  <a:pt x="8252" y="1589"/>
                </a:cubicBezTo>
                <a:cubicBezTo>
                  <a:pt x="8200" y="1341"/>
                  <a:pt x="8239" y="637"/>
                  <a:pt x="8096" y="350"/>
                </a:cubicBezTo>
                <a:lnTo>
                  <a:pt x="8082" y="350"/>
                </a:lnTo>
                <a:cubicBezTo>
                  <a:pt x="8056" y="181"/>
                  <a:pt x="7952" y="51"/>
                  <a:pt x="7704" y="11"/>
                </a:cubicBezTo>
                <a:cubicBezTo>
                  <a:pt x="7645" y="4"/>
                  <a:pt x="7587" y="1"/>
                  <a:pt x="7529" y="1"/>
                </a:cubicBezTo>
                <a:close/>
              </a:path>
            </a:pathLst>
          </a:custGeom>
          <a:solidFill>
            <a:schemeClr val="bg1"/>
          </a:solidFill>
          <a:ln w="76200">
            <a:solidFill>
              <a:schemeClr val="tx1"/>
            </a:solidFill>
          </a:ln>
        </p:spPr>
        <p:txBody>
          <a:bodyPr spcFirstLastPara="1" wrap="square" lIns="91425" tIns="91425" rIns="91425" bIns="91425" anchor="ctr" anchorCtr="0">
            <a:noAutofit/>
          </a:bodyPr>
          <a:lstStyle/>
          <a:p>
            <a:pPr marL="0" lvl="0" indent="0" algn="l" rtl="0">
              <a:spcBef>
                <a:spcPts val="0"/>
              </a:spcBef>
              <a:spcAft>
                <a:spcPts val="0"/>
              </a:spcAft>
              <a:buNone/>
            </a:pPr>
            <a:endParaRPr lang="fr-CI" noProof="0">
              <a:solidFill>
                <a:schemeClr val="bg1"/>
              </a:solidFill>
              <a:latin typeface="Helvetica" panose="020B0604020202020204" pitchFamily="34" charset="0"/>
              <a:cs typeface="Helvetica" panose="020B0604020202020204" pitchFamily="34" charset="0"/>
            </a:endParaRPr>
          </a:p>
        </p:txBody>
      </p:sp>
      <p:sp>
        <p:nvSpPr>
          <p:cNvPr id="25" name="Rectangle 24">
            <a:extLst>
              <a:ext uri="{FF2B5EF4-FFF2-40B4-BE49-F238E27FC236}">
                <a16:creationId xmlns:a16="http://schemas.microsoft.com/office/drawing/2014/main" id="{9B9B23AA-050D-4543-80A0-873FE31AFFF7}"/>
              </a:ext>
            </a:extLst>
          </p:cNvPr>
          <p:cNvSpPr/>
          <p:nvPr/>
        </p:nvSpPr>
        <p:spPr>
          <a:xfrm>
            <a:off x="2446471" y="2869098"/>
            <a:ext cx="513606" cy="936923"/>
          </a:xfrm>
          <a:prstGeom prst="rect">
            <a:avLst/>
          </a:prstGeom>
        </p:spPr>
        <p:txBody>
          <a:bodyPr wrap="none" lIns="0" tIns="0" rIns="0" bIns="0">
            <a:spAutoFit/>
          </a:bodyPr>
          <a:lstStyle/>
          <a:p>
            <a:pPr lvl="0">
              <a:lnSpc>
                <a:spcPct val="110000"/>
              </a:lnSpc>
            </a:pPr>
            <a:r>
              <a:rPr lang="fr-CI" sz="4200" b="1" noProof="0">
                <a:solidFill>
                  <a:schemeClr val="bg1"/>
                </a:solidFill>
                <a:latin typeface="Helvetica" panose="020B0604020202020204" pitchFamily="34" charset="0"/>
                <a:ea typeface="Open Sans Semibold" panose="020B0706030804020204" pitchFamily="34" charset="0"/>
                <a:cs typeface="Helvetica" panose="020B0604020202020204" pitchFamily="34" charset="0"/>
              </a:rPr>
              <a:t>12</a:t>
            </a:r>
          </a:p>
        </p:txBody>
      </p:sp>
      <p:sp>
        <p:nvSpPr>
          <p:cNvPr id="10" name="Rectangle 9"/>
          <p:cNvSpPr/>
          <p:nvPr/>
        </p:nvSpPr>
        <p:spPr>
          <a:xfrm>
            <a:off x="3938554" y="2462184"/>
            <a:ext cx="3816000" cy="1200329"/>
          </a:xfrm>
          <a:prstGeom prst="rect">
            <a:avLst/>
          </a:prstGeom>
        </p:spPr>
        <p:txBody>
          <a:bodyPr wrap="square">
            <a:spAutoFit/>
          </a:bodyPr>
          <a:lstStyle/>
          <a:p>
            <a:r>
              <a:rPr lang="fr-CI" sz="3600" b="1" noProof="0">
                <a:solidFill>
                  <a:schemeClr val="bg1"/>
                </a:solidFill>
                <a:latin typeface="Helvetica" panose="020B0604020202020204" pitchFamily="34" charset="0"/>
                <a:cs typeface="Helvetica" panose="020B0604020202020204" pitchFamily="34" charset="0"/>
              </a:rPr>
              <a:t>Méthodes actuarielles</a:t>
            </a:r>
          </a:p>
        </p:txBody>
      </p:sp>
      <p:pic>
        <p:nvPicPr>
          <p:cNvPr id="9" name="Image 8">
            <a:extLst>
              <a:ext uri="{FF2B5EF4-FFF2-40B4-BE49-F238E27FC236}">
                <a16:creationId xmlns:a16="http://schemas.microsoft.com/office/drawing/2014/main" id="{2C356854-0685-DCEF-E2F6-65D5E9653A47}"/>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71274" y="-185107"/>
            <a:ext cx="3179518" cy="1268781"/>
          </a:xfrm>
          <a:prstGeom prst="rect">
            <a:avLst/>
          </a:prstGeom>
        </p:spPr>
      </p:pic>
      <p:sp>
        <p:nvSpPr>
          <p:cNvPr id="6" name="Rectangle 5"/>
          <p:cNvSpPr/>
          <p:nvPr/>
        </p:nvSpPr>
        <p:spPr>
          <a:xfrm>
            <a:off x="3938554" y="3337559"/>
            <a:ext cx="3816000" cy="923330"/>
          </a:xfrm>
          <a:prstGeom prst="rect">
            <a:avLst/>
          </a:prstGeom>
        </p:spPr>
        <p:txBody>
          <a:bodyPr wrap="square">
            <a:spAutoFit/>
          </a:bodyPr>
          <a:lstStyle/>
          <a:p>
            <a:br>
              <a:rPr lang="fr-CI" noProof="0">
                <a:solidFill>
                  <a:schemeClr val="bg1"/>
                </a:solidFill>
              </a:rPr>
            </a:br>
            <a:r>
              <a:rPr lang="fr-CI" noProof="0">
                <a:solidFill>
                  <a:srgbClr val="EFAC62"/>
                </a:solidFill>
                <a:latin typeface="Helvetica" panose="020B0604020202020204" pitchFamily="34" charset="0"/>
                <a:ea typeface="Open Sans Light" panose="020B0306030504020204" pitchFamily="34" charset="0"/>
                <a:cs typeface="Helvetica" panose="020B0604020202020204" pitchFamily="34" charset="0"/>
              </a:rPr>
              <a:t>À venir : provisions, mortalité, projection</a:t>
            </a:r>
          </a:p>
        </p:txBody>
      </p:sp>
      <p:pic>
        <p:nvPicPr>
          <p:cNvPr id="11" name="Image 1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865561" y="2415481"/>
            <a:ext cx="1566911" cy="1600975"/>
          </a:xfrm>
          <a:prstGeom prst="rect">
            <a:avLst/>
          </a:prstGeom>
        </p:spPr>
      </p:pic>
    </p:spTree>
    <p:extLst>
      <p:ext uri="{BB962C8B-B14F-4D97-AF65-F5344CB8AC3E}">
        <p14:creationId xmlns:p14="http://schemas.microsoft.com/office/powerpoint/2010/main" val="2082647605"/>
      </p:ext>
    </p:extLst>
  </p:cSld>
  <p:clrMapOvr>
    <a:masterClrMapping/>
  </p:clrMapOvr>
  <p:transition>
    <p:fade/>
  </p:transition>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7" name="Image 36"/>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3" name="Rectangle 22">
            <a:extLst>
              <a:ext uri="{FF2B5EF4-FFF2-40B4-BE49-F238E27FC236}">
                <a16:creationId xmlns:a16="http://schemas.microsoft.com/office/drawing/2014/main" id="{4CD23CFE-3F31-4BA9-B26F-B9B5B351518E}"/>
              </a:ext>
            </a:extLst>
          </p:cNvPr>
          <p:cNvSpPr/>
          <p:nvPr/>
        </p:nvSpPr>
        <p:spPr>
          <a:xfrm>
            <a:off x="2106184" y="1759603"/>
            <a:ext cx="9685766" cy="800764"/>
          </a:xfrm>
          <a:prstGeom prst="rect">
            <a:avLst/>
          </a:prstGeom>
          <a:ln w="12700">
            <a:solidFill>
              <a:srgbClr val="112A40"/>
            </a:solidFill>
          </a:ln>
        </p:spPr>
        <p:txBody>
          <a:bodyPr wrap="square" lIns="162000" tIns="54000" rIns="72000" bIns="54000" anchor="ctr">
            <a:noAutofit/>
          </a:bodyPr>
          <a:lstStyle/>
          <a:p>
            <a:pPr lvl="0">
              <a:lnSpc>
                <a:spcPct val="110000"/>
              </a:lnSpc>
            </a:pPr>
            <a:r>
              <a:rPr lang="fr-CI" sz="1300" b="1" noProof="0">
                <a:latin typeface="Helvetica" panose="020B0604020202020204" pitchFamily="34" charset="0"/>
                <a:ea typeface="Open Sans Semibold" panose="020B0706030804020204" pitchFamily="34" charset="0"/>
                <a:cs typeface="Helvetica" panose="020B0604020202020204" pitchFamily="34" charset="0"/>
              </a:rPr>
              <a:t>Dossiers connus</a:t>
            </a:r>
          </a:p>
          <a:p>
            <a:pPr lvl="0">
              <a:lnSpc>
                <a:spcPct val="110000"/>
              </a:lnSpc>
            </a:pPr>
            <a:r>
              <a:rPr lang="fr-CI" sz="1150" noProof="0" b="0">
                <a:latin typeface="Helvetica" panose="020B0604020202020204" pitchFamily="34" charset="0"/>
                <a:ea typeface="Open Sans Light" panose="020B0306030504020204" pitchFamily="34" charset="0"/>
                <a:cs typeface="Helvetica" panose="020B0604020202020204" pitchFamily="34" charset="0"/>
              </a:rPr>
              <a:t>Adenka additionne les montants dus des dossiers déclarés et non payés, dossier par dossier (PBC 14 et 29).</a:t>
            </a:r>
          </a:p>
        </p:txBody>
      </p:sp>
      <p:sp>
        <p:nvSpPr>
          <p:cNvPr id="28" name="Rectangle 27">
            <a:extLst>
              <a:ext uri="{FF2B5EF4-FFF2-40B4-BE49-F238E27FC236}">
                <a16:creationId xmlns:a16="http://schemas.microsoft.com/office/drawing/2014/main" id="{9B9B23AA-050D-4543-80A0-873FE31AFFF7}"/>
              </a:ext>
            </a:extLst>
          </p:cNvPr>
          <p:cNvSpPr/>
          <p:nvPr/>
        </p:nvSpPr>
        <p:spPr>
          <a:xfrm>
            <a:off x="1538714" y="1450766"/>
            <a:ext cx="5748535" cy="148246"/>
          </a:xfrm>
          <a:prstGeom prst="rect">
            <a:avLst/>
          </a:prstGeom>
        </p:spPr>
        <p:txBody>
          <a:bodyPr wrap="square" lIns="0" tIns="0" rIns="0" bIns="0">
            <a:spAutoFit/>
          </a:bodyPr>
          <a:lstStyle/>
          <a:p>
            <a:pPr lvl="0">
              <a:lnSpc>
                <a:spcPct val="110000"/>
              </a:lnSpc>
            </a:pPr>
            <a:r>
              <a:rPr lang="fr-CI" sz="1300" b="1" noProof="0">
                <a:latin typeface="Helvetica" panose="020B0604020202020204" pitchFamily="34" charset="0"/>
                <a:ea typeface="Open Sans Semibold" panose="020B0706030804020204" pitchFamily="34" charset="0"/>
                <a:cs typeface="Helvetica" panose="020B0604020202020204" pitchFamily="34" charset="0"/>
              </a:rPr>
              <a:t/>
            </a:r>
          </a:p>
        </p:txBody>
      </p:sp>
      <p:cxnSp>
        <p:nvCxnSpPr>
          <p:cNvPr id="29" name="Straight Connector 28">
            <a:extLst>
              <a:ext uri="{FF2B5EF4-FFF2-40B4-BE49-F238E27FC236}">
                <a16:creationId xmlns:a16="http://schemas.microsoft.com/office/drawing/2014/main" id="{09E553D9-3562-45A7-BE4B-0F12FAA0490F}"/>
              </a:ext>
            </a:extLst>
          </p:cNvPr>
          <p:cNvCxnSpPr>
            <a:cxnSpLocks/>
          </p:cNvCxnSpPr>
          <p:nvPr/>
        </p:nvCxnSpPr>
        <p:spPr>
          <a:xfrm>
            <a:off x="916803" y="1667785"/>
            <a:ext cx="0" cy="3257265"/>
          </a:xfrm>
          <a:prstGeom prst="line">
            <a:avLst/>
          </a:prstGeom>
          <a:ln w="12700">
            <a:solidFill>
              <a:srgbClr val="112A40"/>
            </a:solidFill>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DA735D38-741F-4EFB-826C-6F87FD459AB4}"/>
              </a:ext>
            </a:extLst>
          </p:cNvPr>
          <p:cNvCxnSpPr/>
          <p:nvPr/>
        </p:nvCxnSpPr>
        <p:spPr>
          <a:xfrm>
            <a:off x="916803" y="2186341"/>
            <a:ext cx="621911" cy="3600"/>
          </a:xfrm>
          <a:prstGeom prst="line">
            <a:avLst/>
          </a:prstGeom>
          <a:ln w="12700">
            <a:solidFill>
              <a:srgbClr val="112A40"/>
            </a:solidFill>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EBCFE36B-AE16-49E8-90A6-6621A0EB0473}"/>
              </a:ext>
            </a:extLst>
          </p:cNvPr>
          <p:cNvCxnSpPr/>
          <p:nvPr/>
        </p:nvCxnSpPr>
        <p:spPr>
          <a:xfrm>
            <a:off x="916803" y="3057953"/>
            <a:ext cx="621911" cy="3600"/>
          </a:xfrm>
          <a:prstGeom prst="line">
            <a:avLst/>
          </a:prstGeom>
          <a:ln w="12700">
            <a:solidFill>
              <a:srgbClr val="112A40"/>
            </a:solidFill>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2697F6E2-C26B-4E5F-B7F9-95C6E9325040}"/>
              </a:ext>
            </a:extLst>
          </p:cNvPr>
          <p:cNvCxnSpPr/>
          <p:nvPr/>
        </p:nvCxnSpPr>
        <p:spPr>
          <a:xfrm>
            <a:off x="916803" y="4918272"/>
            <a:ext cx="621911" cy="3600"/>
          </a:xfrm>
          <a:prstGeom prst="line">
            <a:avLst/>
          </a:prstGeom>
          <a:ln w="12700">
            <a:solidFill>
              <a:srgbClr val="112A40"/>
            </a:solidFill>
          </a:ln>
        </p:spPr>
        <p:style>
          <a:lnRef idx="1">
            <a:schemeClr val="accent1"/>
          </a:lnRef>
          <a:fillRef idx="0">
            <a:schemeClr val="accent1"/>
          </a:fillRef>
          <a:effectRef idx="0">
            <a:schemeClr val="accent1"/>
          </a:effectRef>
          <a:fontRef idx="minor">
            <a:schemeClr val="tx1"/>
          </a:fontRef>
        </p:style>
      </p:cxnSp>
      <p:sp>
        <p:nvSpPr>
          <p:cNvPr id="24" name="Rectangle 23">
            <a:extLst>
              <a:ext uri="{FF2B5EF4-FFF2-40B4-BE49-F238E27FC236}">
                <a16:creationId xmlns:a16="http://schemas.microsoft.com/office/drawing/2014/main" id="{4CD23CFE-3F31-4BA9-B26F-B9B5B351518E}"/>
              </a:ext>
            </a:extLst>
          </p:cNvPr>
          <p:cNvSpPr/>
          <p:nvPr/>
        </p:nvSpPr>
        <p:spPr>
          <a:xfrm>
            <a:off x="2103510" y="2679801"/>
            <a:ext cx="9685766" cy="800764"/>
          </a:xfrm>
          <a:prstGeom prst="rect">
            <a:avLst/>
          </a:prstGeom>
          <a:ln w="12700">
            <a:solidFill>
              <a:srgbClr val="112A40"/>
            </a:solidFill>
          </a:ln>
        </p:spPr>
        <p:txBody>
          <a:bodyPr wrap="square" lIns="162000" tIns="54000" rIns="72000" bIns="54000" anchor="ctr">
            <a:noAutofit/>
          </a:bodyPr>
          <a:lstStyle/>
          <a:p>
            <a:pPr lvl="0">
              <a:lnSpc>
                <a:spcPct val="110000"/>
              </a:lnSpc>
            </a:pPr>
            <a:r>
              <a:rPr lang="fr-CI" sz="1300" b="1" noProof="0">
                <a:latin typeface="Helvetica" panose="020B0604020202020204" pitchFamily="34" charset="0"/>
                <a:ea typeface="Open Sans Semibold" panose="020B0706030804020204" pitchFamily="34" charset="0"/>
                <a:cs typeface="Helvetica" panose="020B0604020202020204" pitchFamily="34" charset="0"/>
              </a:rPr>
              <a:t>Sinistres tardifs (IBNR)</a:t>
            </a:r>
          </a:p>
          <a:p>
            <a:pPr lvl="0">
              <a:lnSpc>
                <a:spcPct val="110000"/>
              </a:lnSpc>
            </a:pPr>
            <a:r>
              <a:rPr lang="fr-CI" sz="1150" noProof="0" b="0">
                <a:latin typeface="Helvetica" panose="020B0604020202020204" pitchFamily="34" charset="0"/>
                <a:ea typeface="Open Sans Light" panose="020B0306030504020204" pitchFamily="34" charset="0"/>
                <a:cs typeface="Helvetica" panose="020B0604020202020204" pitchFamily="34" charset="0"/>
              </a:rPr>
              <a:t>Adenka estime les sinistres survenus mais non encore déclarés à partir des délais observés dans le passé, par la méthode Chain Ladder (PBC 13, 28 et 40).</a:t>
            </a:r>
          </a:p>
        </p:txBody>
      </p:sp>
      <p:sp>
        <p:nvSpPr>
          <p:cNvPr id="33" name="Rectangle 32">
            <a:extLst>
              <a:ext uri="{FF2B5EF4-FFF2-40B4-BE49-F238E27FC236}">
                <a16:creationId xmlns:a16="http://schemas.microsoft.com/office/drawing/2014/main" id="{4CD23CFE-3F31-4BA9-B26F-B9B5B351518E}"/>
              </a:ext>
            </a:extLst>
          </p:cNvPr>
          <p:cNvSpPr/>
          <p:nvPr/>
        </p:nvSpPr>
        <p:spPr>
          <a:xfrm>
            <a:off x="2125344" y="3597692"/>
            <a:ext cx="9685766" cy="800764"/>
          </a:xfrm>
          <a:prstGeom prst="rect">
            <a:avLst/>
          </a:prstGeom>
          <a:ln w="12700">
            <a:solidFill>
              <a:srgbClr val="112A40"/>
            </a:solidFill>
          </a:ln>
        </p:spPr>
        <p:txBody>
          <a:bodyPr wrap="square" lIns="162000" tIns="54000" rIns="72000" bIns="54000" anchor="ctr">
            <a:noAutofit/>
          </a:bodyPr>
          <a:lstStyle/>
          <a:p>
            <a:pPr lvl="0">
              <a:lnSpc>
                <a:spcPct val="110000"/>
              </a:lnSpc>
            </a:pPr>
            <a:r>
              <a:rPr lang="fr-CI" sz="1300" b="1" noProof="0">
                <a:latin typeface="Helvetica" panose="020B0604020202020204" pitchFamily="34" charset="0"/>
                <a:ea typeface="Open Sans Semibold" panose="020B0706030804020204" pitchFamily="34" charset="0"/>
                <a:cs typeface="Helvetica" panose="020B0604020202020204" pitchFamily="34" charset="0"/>
              </a:rPr>
              <a:t>Provision totale</a:t>
            </a:r>
          </a:p>
          <a:p>
            <a:pPr lvl="0">
              <a:lnSpc>
                <a:spcPct val="110000"/>
              </a:lnSpc>
            </a:pPr>
            <a:r>
              <a:rPr lang="fr-CI" sz="1150" noProof="0" b="0">
                <a:latin typeface="Helvetica" panose="020B0604020202020204" pitchFamily="34" charset="0"/>
                <a:ea typeface="Open Sans Light" panose="020B0306030504020204" pitchFamily="34" charset="0"/>
                <a:cs typeface="Helvetica" panose="020B0604020202020204" pitchFamily="34" charset="0"/>
              </a:rPr>
              <a:t>La provision additionne les dossiers connus et les tardifs, par garantie et par clôture, comme l'exige l'article 10 du règlement d'exécution.</a:t>
            </a:r>
          </a:p>
        </p:txBody>
      </p:sp>
      <p:sp>
        <p:nvSpPr>
          <p:cNvPr id="34" name="Rectangle 33">
            <a:extLst>
              <a:ext uri="{FF2B5EF4-FFF2-40B4-BE49-F238E27FC236}">
                <a16:creationId xmlns:a16="http://schemas.microsoft.com/office/drawing/2014/main" id="{4CD23CFE-3F31-4BA9-B26F-B9B5B351518E}"/>
              </a:ext>
            </a:extLst>
          </p:cNvPr>
          <p:cNvSpPr/>
          <p:nvPr/>
        </p:nvSpPr>
        <p:spPr>
          <a:xfrm>
            <a:off x="2122670" y="4517890"/>
            <a:ext cx="9685766" cy="800764"/>
          </a:xfrm>
          <a:prstGeom prst="rect">
            <a:avLst/>
          </a:prstGeom>
          <a:ln w="12700">
            <a:solidFill>
              <a:srgbClr val="112A40"/>
            </a:solidFill>
          </a:ln>
        </p:spPr>
        <p:txBody>
          <a:bodyPr wrap="square" lIns="162000" tIns="54000" rIns="72000" bIns="54000" anchor="ctr">
            <a:noAutofit/>
          </a:bodyPr>
          <a:lstStyle/>
          <a:p>
            <a:pPr lvl="1">
              <a:lnSpc>
                <a:spcPct val="110000"/>
              </a:lnSpc>
            </a:pPr>
            <a:r>
              <a:rPr lang="fr-CI" sz="1300" b="1" noProof="0">
                <a:latin typeface="Helvetica" panose="020B0604020202020204" pitchFamily="34" charset="0"/>
                <a:ea typeface="Open Sans Semibold" panose="020B0706030804020204" pitchFamily="34" charset="0"/>
                <a:cs typeface="Helvetica" panose="020B0604020202020204" pitchFamily="34" charset="0"/>
              </a:rPr>
              <a:t>Comparaison</a:t>
            </a:r>
          </a:p>
          <a:p>
            <a:pPr lvl="1">
              <a:lnSpc>
                <a:spcPct val="110000"/>
              </a:lnSpc>
            </a:pPr>
            <a:r>
              <a:rPr lang="fr-CI" sz="1150" noProof="0" b="0">
                <a:latin typeface="Helvetica" panose="020B0604020202020204" pitchFamily="34" charset="0"/>
                <a:ea typeface="Open Sans Light" panose="020B0306030504020204" pitchFamily="34" charset="0"/>
                <a:cs typeface="Helvetica" panose="020B0604020202020204" pitchFamily="34" charset="0"/>
              </a:rPr>
              <a:t>Adenka compare la provision calculée aux comptes 15801000 et 15802000, et mesure l'écart (boni ou mali) à chaque clôture.</a:t>
            </a:r>
            <a:endParaRPr lang="fr-CI" sz="1200">
              <a:latin typeface="Helvetica" panose="020B0604020202020204" pitchFamily="34" charset="0"/>
              <a:ea typeface="Open Sans Light" panose="020B0306030504020204" pitchFamily="34" charset="0"/>
              <a:cs typeface="Helvetica" panose="020B0604020202020204" pitchFamily="34" charset="0"/>
            </a:endParaRPr>
          </a:p>
        </p:txBody>
      </p:sp>
      <p:cxnSp>
        <p:nvCxnSpPr>
          <p:cNvPr id="39" name="Straight Connector 30">
            <a:extLst>
              <a:ext uri="{FF2B5EF4-FFF2-40B4-BE49-F238E27FC236}">
                <a16:creationId xmlns:a16="http://schemas.microsoft.com/office/drawing/2014/main" id="{EBCFE36B-AE16-49E8-90A6-6621A0EB0473}"/>
              </a:ext>
            </a:extLst>
          </p:cNvPr>
          <p:cNvCxnSpPr/>
          <p:nvPr/>
        </p:nvCxnSpPr>
        <p:spPr>
          <a:xfrm>
            <a:off x="919504" y="3993555"/>
            <a:ext cx="621911" cy="3600"/>
          </a:xfrm>
          <a:prstGeom prst="line">
            <a:avLst/>
          </a:prstGeom>
          <a:ln w="12700">
            <a:solidFill>
              <a:srgbClr val="112A40"/>
            </a:solidFill>
          </a:ln>
        </p:spPr>
        <p:style>
          <a:lnRef idx="1">
            <a:schemeClr val="accent1"/>
          </a:lnRef>
          <a:fillRef idx="0">
            <a:schemeClr val="accent1"/>
          </a:fillRef>
          <a:effectRef idx="0">
            <a:schemeClr val="accent1"/>
          </a:effectRef>
          <a:fontRef idx="minor">
            <a:schemeClr val="tx1"/>
          </a:fontRef>
        </p:style>
      </p:cxnSp>
      <p:grpSp>
        <p:nvGrpSpPr>
          <p:cNvPr id="11" name="Groupe 10"/>
          <p:cNvGrpSpPr/>
          <p:nvPr/>
        </p:nvGrpSpPr>
        <p:grpSpPr>
          <a:xfrm>
            <a:off x="1554870" y="1938714"/>
            <a:ext cx="548640" cy="548640"/>
            <a:chOff x="-1153645" y="1535690"/>
            <a:chExt cx="548640" cy="548640"/>
          </a:xfrm>
        </p:grpSpPr>
        <p:sp>
          <p:nvSpPr>
            <p:cNvPr id="36" name="Oval 21">
              <a:extLst>
                <a:ext uri="{FF2B5EF4-FFF2-40B4-BE49-F238E27FC236}">
                  <a16:creationId xmlns:a16="http://schemas.microsoft.com/office/drawing/2014/main" id="{7BB796F0-2DE6-45B1-851B-D8991F423CF4}"/>
                </a:ext>
              </a:extLst>
            </p:cNvPr>
            <p:cNvSpPr/>
            <p:nvPr/>
          </p:nvSpPr>
          <p:spPr bwMode="gray">
            <a:xfrm>
              <a:off x="-1153645" y="1535690"/>
              <a:ext cx="548640" cy="548640"/>
            </a:xfrm>
            <a:prstGeom prst="ellipse">
              <a:avLst/>
            </a:prstGeom>
            <a:solidFill>
              <a:schemeClr val="tx1"/>
            </a:solidFill>
            <a:ln w="19050" algn="ctr">
              <a:noFill/>
              <a:miter lim="800000"/>
              <a:headEnd/>
              <a:tailEnd/>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 typeface="Wingdings 2" pitchFamily="18" charset="2"/>
                <a:buNone/>
                <a:tabLst/>
                <a:defRPr/>
              </a:pPr>
              <a:endParaRPr kumimoji="0" lang="fr-CI" sz="1100" b="1" i="0" u="none" strike="noStrike" kern="1200" cap="none" spc="0" normalizeH="0" baseline="0" noProof="0">
                <a:ln>
                  <a:noFill/>
                </a:ln>
                <a:solidFill>
                  <a:prstClr val="white"/>
                </a:solidFill>
                <a:effectLst/>
                <a:uLnTx/>
                <a:uFillTx/>
                <a:latin typeface="Helvetica" panose="020B0604020202020204" pitchFamily="34" charset="0"/>
                <a:ea typeface="Open Sans Semibold" panose="020B0706030804020204" pitchFamily="34" charset="0"/>
                <a:cs typeface="Helvetica" panose="020B0604020202020204" pitchFamily="34" charset="0"/>
              </a:endParaRPr>
            </a:p>
          </p:txBody>
        </p:sp>
        <p:pic>
          <p:nvPicPr>
            <p:cNvPr id="40" name="Image 39"/>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23163" y="1564148"/>
              <a:ext cx="486259" cy="491723"/>
            </a:xfrm>
            <a:prstGeom prst="rect">
              <a:avLst/>
            </a:prstGeom>
          </p:spPr>
        </p:pic>
      </p:grpSp>
      <p:grpSp>
        <p:nvGrpSpPr>
          <p:cNvPr id="12" name="Groupe 11"/>
          <p:cNvGrpSpPr/>
          <p:nvPr/>
        </p:nvGrpSpPr>
        <p:grpSpPr>
          <a:xfrm>
            <a:off x="1557425" y="2792334"/>
            <a:ext cx="548640" cy="548640"/>
            <a:chOff x="-1154302" y="2719457"/>
            <a:chExt cx="548640" cy="548640"/>
          </a:xfrm>
        </p:grpSpPr>
        <p:sp>
          <p:nvSpPr>
            <p:cNvPr id="42" name="Oval 21">
              <a:extLst>
                <a:ext uri="{FF2B5EF4-FFF2-40B4-BE49-F238E27FC236}">
                  <a16:creationId xmlns:a16="http://schemas.microsoft.com/office/drawing/2014/main" id="{7BB796F0-2DE6-45B1-851B-D8991F423CF4}"/>
                </a:ext>
              </a:extLst>
            </p:cNvPr>
            <p:cNvSpPr/>
            <p:nvPr/>
          </p:nvSpPr>
          <p:spPr bwMode="gray">
            <a:xfrm>
              <a:off x="-1154302" y="2719457"/>
              <a:ext cx="548640" cy="548640"/>
            </a:xfrm>
            <a:prstGeom prst="ellipse">
              <a:avLst/>
            </a:prstGeom>
            <a:solidFill>
              <a:schemeClr val="tx1"/>
            </a:solidFill>
            <a:ln w="19050" algn="ctr">
              <a:noFill/>
              <a:miter lim="800000"/>
              <a:headEnd/>
              <a:tailEnd/>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 typeface="Wingdings 2" pitchFamily="18" charset="2"/>
                <a:buNone/>
                <a:tabLst/>
                <a:defRPr/>
              </a:pPr>
              <a:endParaRPr kumimoji="0" lang="fr-CI" sz="1100" b="1" i="0" u="none" strike="noStrike" kern="1200" cap="none" spc="0" normalizeH="0" baseline="0" noProof="0">
                <a:ln>
                  <a:noFill/>
                </a:ln>
                <a:solidFill>
                  <a:prstClr val="white"/>
                </a:solidFill>
                <a:effectLst/>
                <a:uLnTx/>
                <a:uFillTx/>
                <a:latin typeface="Helvetica" panose="020B0604020202020204" pitchFamily="34" charset="0"/>
                <a:ea typeface="Open Sans Semibold" panose="020B0706030804020204" pitchFamily="34" charset="0"/>
                <a:cs typeface="Helvetica" panose="020B0604020202020204" pitchFamily="34" charset="0"/>
              </a:endParaRPr>
            </a:p>
          </p:txBody>
        </p:sp>
        <p:pic>
          <p:nvPicPr>
            <p:cNvPr id="7" name="Image 6"/>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74901" y="2781886"/>
              <a:ext cx="396274" cy="396274"/>
            </a:xfrm>
            <a:prstGeom prst="rect">
              <a:avLst/>
            </a:prstGeom>
          </p:spPr>
        </p:pic>
      </p:grpSp>
      <p:grpSp>
        <p:nvGrpSpPr>
          <p:cNvPr id="13" name="Groupe 12"/>
          <p:cNvGrpSpPr/>
          <p:nvPr/>
        </p:nvGrpSpPr>
        <p:grpSpPr>
          <a:xfrm>
            <a:off x="1567381" y="3711951"/>
            <a:ext cx="548640" cy="552951"/>
            <a:chOff x="-1185544" y="4122202"/>
            <a:chExt cx="548640" cy="552951"/>
          </a:xfrm>
        </p:grpSpPr>
        <p:sp>
          <p:nvSpPr>
            <p:cNvPr id="44" name="Oval 21">
              <a:extLst>
                <a:ext uri="{FF2B5EF4-FFF2-40B4-BE49-F238E27FC236}">
                  <a16:creationId xmlns:a16="http://schemas.microsoft.com/office/drawing/2014/main" id="{7BB796F0-2DE6-45B1-851B-D8991F423CF4}"/>
                </a:ext>
              </a:extLst>
            </p:cNvPr>
            <p:cNvSpPr/>
            <p:nvPr/>
          </p:nvSpPr>
          <p:spPr bwMode="gray">
            <a:xfrm>
              <a:off x="-1185544" y="4122202"/>
              <a:ext cx="548640" cy="548640"/>
            </a:xfrm>
            <a:prstGeom prst="ellipse">
              <a:avLst/>
            </a:prstGeom>
            <a:solidFill>
              <a:schemeClr val="tx1"/>
            </a:solidFill>
            <a:ln w="19050" algn="ctr">
              <a:noFill/>
              <a:miter lim="800000"/>
              <a:headEnd/>
              <a:tailEnd/>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 typeface="Wingdings 2" pitchFamily="18" charset="2"/>
                <a:buNone/>
                <a:tabLst/>
                <a:defRPr/>
              </a:pPr>
              <a:endParaRPr kumimoji="0" lang="fr-CI" sz="1100" b="1" i="0" u="none" strike="noStrike" kern="1200" cap="none" spc="0" normalizeH="0" baseline="0" noProof="0">
                <a:ln>
                  <a:noFill/>
                </a:ln>
                <a:solidFill>
                  <a:prstClr val="white"/>
                </a:solidFill>
                <a:effectLst/>
                <a:uLnTx/>
                <a:uFillTx/>
                <a:latin typeface="Helvetica" panose="020B0604020202020204" pitchFamily="34" charset="0"/>
                <a:ea typeface="Open Sans Semibold" panose="020B0706030804020204" pitchFamily="34" charset="0"/>
                <a:cs typeface="Helvetica" panose="020B0604020202020204" pitchFamily="34" charset="0"/>
              </a:endParaRPr>
            </a:p>
          </p:txBody>
        </p:sp>
        <p:pic>
          <p:nvPicPr>
            <p:cNvPr id="8" name="Image 7"/>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171838" y="4144755"/>
              <a:ext cx="524301" cy="530398"/>
            </a:xfrm>
            <a:prstGeom prst="rect">
              <a:avLst/>
            </a:prstGeom>
          </p:spPr>
        </p:pic>
      </p:grpSp>
      <p:grpSp>
        <p:nvGrpSpPr>
          <p:cNvPr id="14" name="Groupe 13"/>
          <p:cNvGrpSpPr/>
          <p:nvPr/>
        </p:nvGrpSpPr>
        <p:grpSpPr>
          <a:xfrm>
            <a:off x="1567381" y="4659107"/>
            <a:ext cx="548640" cy="548640"/>
            <a:chOff x="-1227267" y="5286500"/>
            <a:chExt cx="548640" cy="548640"/>
          </a:xfrm>
        </p:grpSpPr>
        <p:sp>
          <p:nvSpPr>
            <p:cNvPr id="45" name="Oval 21">
              <a:extLst>
                <a:ext uri="{FF2B5EF4-FFF2-40B4-BE49-F238E27FC236}">
                  <a16:creationId xmlns:a16="http://schemas.microsoft.com/office/drawing/2014/main" id="{7BB796F0-2DE6-45B1-851B-D8991F423CF4}"/>
                </a:ext>
              </a:extLst>
            </p:cNvPr>
            <p:cNvSpPr/>
            <p:nvPr/>
          </p:nvSpPr>
          <p:spPr bwMode="gray">
            <a:xfrm>
              <a:off x="-1227267" y="5286500"/>
              <a:ext cx="548640" cy="548640"/>
            </a:xfrm>
            <a:prstGeom prst="ellipse">
              <a:avLst/>
            </a:prstGeom>
            <a:solidFill>
              <a:schemeClr val="tx1"/>
            </a:solidFill>
            <a:ln w="19050" algn="ctr">
              <a:noFill/>
              <a:miter lim="800000"/>
              <a:headEnd/>
              <a:tailEnd/>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 typeface="Wingdings 2" pitchFamily="18" charset="2"/>
                <a:buNone/>
                <a:tabLst/>
                <a:defRPr/>
              </a:pPr>
              <a:endParaRPr kumimoji="0" lang="fr-CI" sz="1100" b="1" i="0" u="none" strike="noStrike" kern="1200" cap="none" spc="0" normalizeH="0" baseline="0" noProof="0">
                <a:ln>
                  <a:noFill/>
                </a:ln>
                <a:solidFill>
                  <a:prstClr val="white"/>
                </a:solidFill>
                <a:effectLst/>
                <a:uLnTx/>
                <a:uFillTx/>
                <a:latin typeface="Helvetica" panose="020B0604020202020204" pitchFamily="34" charset="0"/>
                <a:ea typeface="Open Sans Semibold" panose="020B0706030804020204" pitchFamily="34" charset="0"/>
                <a:cs typeface="Helvetica" panose="020B0604020202020204" pitchFamily="34" charset="0"/>
              </a:endParaRPr>
            </a:p>
          </p:txBody>
        </p:sp>
        <p:pic>
          <p:nvPicPr>
            <p:cNvPr id="9" name="Image 8"/>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1171838" y="5346402"/>
              <a:ext cx="422834" cy="432026"/>
            </a:xfrm>
            <a:prstGeom prst="rect">
              <a:avLst/>
            </a:prstGeom>
          </p:spPr>
        </p:pic>
      </p:grpSp>
      <p:sp>
        <p:nvSpPr>
          <p:cNvPr id="50" name="ZoneTexte 49">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pic>
        <p:nvPicPr>
          <p:cNvPr id="51" name="Image 50"/>
          <p:cNvPicPr>
            <a:picLocks noChangeAspect="1"/>
          </p:cNvPicPr>
          <p:nvPr/>
        </p:nvPicPr>
        <p:blipFill rotWithShape="1">
          <a:blip r:embed="rId7" cstate="print">
            <a:extLst>
              <a:ext uri="{28A0092B-C50C-407E-A947-70E740481C1C}">
                <a14:useLocalDpi xmlns:a14="http://schemas.microsoft.com/office/drawing/2010/main" val="0"/>
              </a:ext>
            </a:extLst>
          </a:blip>
          <a:srcRect l="4260" t="13024" r="74155" b="14121"/>
          <a:stretch/>
        </p:blipFill>
        <p:spPr>
          <a:xfrm>
            <a:off x="702475" y="1327580"/>
            <a:ext cx="392679" cy="406703"/>
          </a:xfrm>
          <a:prstGeom prst="rect">
            <a:avLst/>
          </a:prstGeom>
        </p:spPr>
      </p:pic>
      <p:sp>
        <p:nvSpPr>
          <p:cNvPr id="52"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Provisions : méthode PSAP</a:t>
            </a:r>
          </a:p>
        </p:txBody>
      </p:sp>
      <p:sp>
        <p:nvSpPr>
          <p:cNvPr id="53"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La provision pour sinistres à payer additionne dossiers connus et sinistres non déclarés</a:t>
            </a:r>
          </a:p>
        </p:txBody>
      </p:sp>
      <p:sp>
        <p:nvSpPr>
          <p:cNvPr id="54"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PSAP = dossiers déclarés non payés + sinistres survenus non encore déclarés (IBNR), par garantie et par clôture</a:t>
            </a:r>
          </a:p>
        </p:txBody>
      </p:sp>
      <p:sp>
        <p:nvSpPr>
          <p:cNvPr id="55"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Adenka. Règlement d'exécution n° 004/2022/COM/UEMOA du 1er juin 2022, art. 10</a:t>
            </a:r>
          </a:p>
        </p:txBody>
      </p:sp>
      <p:sp>
        <p:nvSpPr>
          <p:cNvPr id="56" name="Rounded Rectangle 55"/>
          <p:cNvSpPr/>
          <p:nvPr/>
        </p:nvSpPr>
        <p:spPr>
          <a:xfrm>
            <a:off x="503999" y="5454000"/>
            <a:ext cx="11232000" cy="342000"/>
          </a:xfrm>
          <a:prstGeom prst="roundRect">
            <a:avLst/>
          </a:prstGeom>
          <a:solidFill>
            <a:srgbClr val="EFAC62"/>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300" b="1">
                <a:solidFill>
                  <a:srgbClr val="060606"/>
                </a:solidFill>
                <a:latin typeface="Helvetica"/>
              </a:rPr>
              <a:t>Travail en attente des données : voir la liste des données manquantes (PBC pointée et partie 14)</a:t>
            </a:r>
          </a:p>
        </p:txBody>
      </p:sp>
      <p:sp>
        <p:nvSpPr>
          <p:cNvPr id="57" name="TextBox 56"/>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UEMOA : Union économique et monétaire ouest-africaine | PSAP : provision pour sinistres à payer | IBNR : sinistres survenus non encore déclarés | PBC : liste des documents demandés au client</a:t>
            </a:r>
          </a:p>
        </p:txBody>
      </p:sp>
    </p:spTree>
    <p:extLst>
      <p:ext uri="{BB962C8B-B14F-4D97-AF65-F5344CB8AC3E}">
        <p14:creationId xmlns:p14="http://schemas.microsoft.com/office/powerpoint/2010/main" val="2137896670"/>
      </p:ext>
    </p:extLst>
  </p:cSld>
  <p:clrMapOvr>
    <a:masterClrMapping/>
  </p:clrMapOvr>
  <p:transition>
    <p:fade/>
  </p:transition>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 name="Image 16"/>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35" name="Google Shape;7418;p41"/>
          <p:cNvSpPr/>
          <p:nvPr/>
        </p:nvSpPr>
        <p:spPr>
          <a:xfrm rot="21013821">
            <a:off x="6297998" y="3758663"/>
            <a:ext cx="1054440" cy="808361"/>
          </a:xfrm>
          <a:custGeom>
            <a:avLst/>
            <a:gdLst/>
            <a:ahLst/>
            <a:cxnLst/>
            <a:rect l="l" t="t" r="r" b="b"/>
            <a:pathLst>
              <a:path w="40007" h="30221" extrusionOk="0">
                <a:moveTo>
                  <a:pt x="19007" y="1"/>
                </a:moveTo>
                <a:cubicBezTo>
                  <a:pt x="17909" y="1"/>
                  <a:pt x="16810" y="17"/>
                  <a:pt x="15708" y="53"/>
                </a:cubicBezTo>
                <a:cubicBezTo>
                  <a:pt x="13270" y="131"/>
                  <a:pt x="10885" y="275"/>
                  <a:pt x="8512" y="548"/>
                </a:cubicBezTo>
                <a:cubicBezTo>
                  <a:pt x="6088" y="835"/>
                  <a:pt x="4524" y="1500"/>
                  <a:pt x="4041" y="2712"/>
                </a:cubicBezTo>
                <a:cubicBezTo>
                  <a:pt x="4015" y="2777"/>
                  <a:pt x="3976" y="2843"/>
                  <a:pt x="3937" y="2908"/>
                </a:cubicBezTo>
                <a:cubicBezTo>
                  <a:pt x="2777" y="4902"/>
                  <a:pt x="2282" y="6949"/>
                  <a:pt x="1734" y="8995"/>
                </a:cubicBezTo>
                <a:cubicBezTo>
                  <a:pt x="1160" y="11120"/>
                  <a:pt x="613" y="13232"/>
                  <a:pt x="391" y="15357"/>
                </a:cubicBezTo>
                <a:cubicBezTo>
                  <a:pt x="183" y="17325"/>
                  <a:pt x="0" y="19293"/>
                  <a:pt x="79" y="21092"/>
                </a:cubicBezTo>
                <a:cubicBezTo>
                  <a:pt x="52" y="23074"/>
                  <a:pt x="144" y="24899"/>
                  <a:pt x="365" y="26710"/>
                </a:cubicBezTo>
                <a:cubicBezTo>
                  <a:pt x="522" y="28079"/>
                  <a:pt x="1721" y="29096"/>
                  <a:pt x="4419" y="29656"/>
                </a:cubicBezTo>
                <a:cubicBezTo>
                  <a:pt x="6296" y="30048"/>
                  <a:pt x="8265" y="30178"/>
                  <a:pt x="10259" y="30204"/>
                </a:cubicBezTo>
                <a:cubicBezTo>
                  <a:pt x="11143" y="30216"/>
                  <a:pt x="12026" y="30220"/>
                  <a:pt x="12908" y="30220"/>
                </a:cubicBezTo>
                <a:cubicBezTo>
                  <a:pt x="15996" y="30220"/>
                  <a:pt x="19078" y="30165"/>
                  <a:pt x="22161" y="30165"/>
                </a:cubicBezTo>
                <a:cubicBezTo>
                  <a:pt x="24859" y="30165"/>
                  <a:pt x="27557" y="30204"/>
                  <a:pt x="30243" y="30204"/>
                </a:cubicBezTo>
                <a:cubicBezTo>
                  <a:pt x="31690" y="30191"/>
                  <a:pt x="33123" y="30113"/>
                  <a:pt x="34505" y="29852"/>
                </a:cubicBezTo>
                <a:cubicBezTo>
                  <a:pt x="35470" y="29683"/>
                  <a:pt x="36330" y="29435"/>
                  <a:pt x="36917" y="29005"/>
                </a:cubicBezTo>
                <a:cubicBezTo>
                  <a:pt x="37881" y="28288"/>
                  <a:pt x="38677" y="27519"/>
                  <a:pt x="39120" y="26684"/>
                </a:cubicBezTo>
                <a:cubicBezTo>
                  <a:pt x="39732" y="25485"/>
                  <a:pt x="39954" y="24260"/>
                  <a:pt x="39954" y="23021"/>
                </a:cubicBezTo>
                <a:cubicBezTo>
                  <a:pt x="39954" y="19372"/>
                  <a:pt x="40006" y="15709"/>
                  <a:pt x="39563" y="12059"/>
                </a:cubicBezTo>
                <a:cubicBezTo>
                  <a:pt x="39367" y="10403"/>
                  <a:pt x="39485" y="8748"/>
                  <a:pt x="39237" y="7105"/>
                </a:cubicBezTo>
                <a:cubicBezTo>
                  <a:pt x="39068" y="6023"/>
                  <a:pt x="38794" y="4941"/>
                  <a:pt x="37920" y="3938"/>
                </a:cubicBezTo>
                <a:cubicBezTo>
                  <a:pt x="37282" y="3208"/>
                  <a:pt x="36773" y="2438"/>
                  <a:pt x="35665" y="1826"/>
                </a:cubicBezTo>
                <a:cubicBezTo>
                  <a:pt x="34192" y="1031"/>
                  <a:pt x="32237" y="666"/>
                  <a:pt x="30138" y="496"/>
                </a:cubicBezTo>
                <a:cubicBezTo>
                  <a:pt x="26451" y="194"/>
                  <a:pt x="22741" y="1"/>
                  <a:pt x="19007" y="1"/>
                </a:cubicBezTo>
                <a:close/>
              </a:path>
            </a:pathLst>
          </a:custGeom>
          <a:solidFill>
            <a:srgbClr val="112A40"/>
          </a:solidFill>
          <a:ln w="28575" cap="flat" cmpd="sng">
            <a:solidFill>
              <a:schemeClr val="lt1"/>
            </a:solidFill>
            <a:prstDash val="solid"/>
            <a:round/>
            <a:headEnd type="none" w="sm" len="sm"/>
            <a:tailEnd type="none" w="sm" len="sm"/>
          </a:ln>
          <a:effectLst>
            <a:outerShdw blurRad="57150" dist="9525" algn="bl" rotWithShape="0">
              <a:srgbClr val="000000"/>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lang="fr-CI" sz="1200" noProof="0">
              <a:solidFill>
                <a:schemeClr val="bg1"/>
              </a:solidFill>
              <a:latin typeface="Helvetica" panose="020B0604020202020204" pitchFamily="34" charset="0"/>
              <a:cs typeface="Helvetica" panose="020B0604020202020204" pitchFamily="34" charset="0"/>
            </a:endParaRPr>
          </a:p>
        </p:txBody>
      </p:sp>
      <p:sp>
        <p:nvSpPr>
          <p:cNvPr id="38" name="Google Shape;7421;p41"/>
          <p:cNvSpPr/>
          <p:nvPr/>
        </p:nvSpPr>
        <p:spPr>
          <a:xfrm rot="356255">
            <a:off x="6295963" y="1811723"/>
            <a:ext cx="1054365" cy="808304"/>
          </a:xfrm>
          <a:custGeom>
            <a:avLst/>
            <a:gdLst/>
            <a:ahLst/>
            <a:cxnLst/>
            <a:rect l="l" t="t" r="r" b="b"/>
            <a:pathLst>
              <a:path w="40007" h="30221" extrusionOk="0">
                <a:moveTo>
                  <a:pt x="19007" y="1"/>
                </a:moveTo>
                <a:cubicBezTo>
                  <a:pt x="17909" y="1"/>
                  <a:pt x="16810" y="17"/>
                  <a:pt x="15708" y="53"/>
                </a:cubicBezTo>
                <a:cubicBezTo>
                  <a:pt x="13270" y="131"/>
                  <a:pt x="10885" y="275"/>
                  <a:pt x="8512" y="548"/>
                </a:cubicBezTo>
                <a:cubicBezTo>
                  <a:pt x="6088" y="835"/>
                  <a:pt x="4524" y="1500"/>
                  <a:pt x="4041" y="2712"/>
                </a:cubicBezTo>
                <a:cubicBezTo>
                  <a:pt x="4015" y="2777"/>
                  <a:pt x="3976" y="2843"/>
                  <a:pt x="3937" y="2908"/>
                </a:cubicBezTo>
                <a:cubicBezTo>
                  <a:pt x="2777" y="4902"/>
                  <a:pt x="2282" y="6949"/>
                  <a:pt x="1734" y="8995"/>
                </a:cubicBezTo>
                <a:cubicBezTo>
                  <a:pt x="1160" y="11120"/>
                  <a:pt x="613" y="13232"/>
                  <a:pt x="391" y="15357"/>
                </a:cubicBezTo>
                <a:cubicBezTo>
                  <a:pt x="183" y="17325"/>
                  <a:pt x="0" y="19293"/>
                  <a:pt x="79" y="21092"/>
                </a:cubicBezTo>
                <a:cubicBezTo>
                  <a:pt x="52" y="23074"/>
                  <a:pt x="144" y="24899"/>
                  <a:pt x="365" y="26710"/>
                </a:cubicBezTo>
                <a:cubicBezTo>
                  <a:pt x="522" y="28079"/>
                  <a:pt x="1721" y="29096"/>
                  <a:pt x="4419" y="29656"/>
                </a:cubicBezTo>
                <a:cubicBezTo>
                  <a:pt x="6296" y="30048"/>
                  <a:pt x="8265" y="30178"/>
                  <a:pt x="10259" y="30204"/>
                </a:cubicBezTo>
                <a:cubicBezTo>
                  <a:pt x="11143" y="30216"/>
                  <a:pt x="12026" y="30220"/>
                  <a:pt x="12908" y="30220"/>
                </a:cubicBezTo>
                <a:cubicBezTo>
                  <a:pt x="15996" y="30220"/>
                  <a:pt x="19078" y="30165"/>
                  <a:pt x="22161" y="30165"/>
                </a:cubicBezTo>
                <a:cubicBezTo>
                  <a:pt x="24859" y="30165"/>
                  <a:pt x="27557" y="30204"/>
                  <a:pt x="30243" y="30204"/>
                </a:cubicBezTo>
                <a:cubicBezTo>
                  <a:pt x="31690" y="30191"/>
                  <a:pt x="33123" y="30113"/>
                  <a:pt x="34505" y="29852"/>
                </a:cubicBezTo>
                <a:cubicBezTo>
                  <a:pt x="35470" y="29683"/>
                  <a:pt x="36330" y="29435"/>
                  <a:pt x="36917" y="29005"/>
                </a:cubicBezTo>
                <a:cubicBezTo>
                  <a:pt x="37881" y="28288"/>
                  <a:pt x="38677" y="27519"/>
                  <a:pt x="39120" y="26684"/>
                </a:cubicBezTo>
                <a:cubicBezTo>
                  <a:pt x="39732" y="25485"/>
                  <a:pt x="39954" y="24260"/>
                  <a:pt x="39954" y="23021"/>
                </a:cubicBezTo>
                <a:cubicBezTo>
                  <a:pt x="39954" y="19372"/>
                  <a:pt x="40006" y="15709"/>
                  <a:pt x="39563" y="12059"/>
                </a:cubicBezTo>
                <a:cubicBezTo>
                  <a:pt x="39367" y="10403"/>
                  <a:pt x="39485" y="8748"/>
                  <a:pt x="39237" y="7105"/>
                </a:cubicBezTo>
                <a:cubicBezTo>
                  <a:pt x="39068" y="6023"/>
                  <a:pt x="38794" y="4941"/>
                  <a:pt x="37920" y="3938"/>
                </a:cubicBezTo>
                <a:cubicBezTo>
                  <a:pt x="37282" y="3208"/>
                  <a:pt x="36773" y="2438"/>
                  <a:pt x="35665" y="1826"/>
                </a:cubicBezTo>
                <a:cubicBezTo>
                  <a:pt x="34192" y="1031"/>
                  <a:pt x="32237" y="666"/>
                  <a:pt x="30138" y="496"/>
                </a:cubicBezTo>
                <a:cubicBezTo>
                  <a:pt x="26451" y="194"/>
                  <a:pt x="22741" y="1"/>
                  <a:pt x="19007" y="1"/>
                </a:cubicBezTo>
                <a:close/>
              </a:path>
            </a:pathLst>
          </a:custGeom>
          <a:solidFill>
            <a:srgbClr val="112A40"/>
          </a:solidFill>
          <a:ln w="28575" cap="flat" cmpd="sng">
            <a:solidFill>
              <a:schemeClr val="lt1"/>
            </a:solidFill>
            <a:prstDash val="solid"/>
            <a:round/>
            <a:headEnd type="none" w="sm" len="sm"/>
            <a:tailEnd type="none" w="sm" len="sm"/>
          </a:ln>
          <a:effectLst>
            <a:outerShdw blurRad="57150" dist="9525" algn="bl" rotWithShape="0">
              <a:srgbClr val="000000"/>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lang="fr-CI" sz="1200" noProof="0">
              <a:solidFill>
                <a:schemeClr val="bg1"/>
              </a:solidFill>
              <a:latin typeface="Helvetica" panose="020B0604020202020204" pitchFamily="34" charset="0"/>
              <a:cs typeface="Helvetica" panose="020B0604020202020204" pitchFamily="34" charset="0"/>
            </a:endParaRPr>
          </a:p>
        </p:txBody>
      </p:sp>
      <p:sp>
        <p:nvSpPr>
          <p:cNvPr id="41" name="Google Shape;7424;p41"/>
          <p:cNvSpPr/>
          <p:nvPr/>
        </p:nvSpPr>
        <p:spPr>
          <a:xfrm rot="282502">
            <a:off x="1008889" y="3758495"/>
            <a:ext cx="1054406" cy="808335"/>
          </a:xfrm>
          <a:custGeom>
            <a:avLst/>
            <a:gdLst/>
            <a:ahLst/>
            <a:cxnLst/>
            <a:rect l="l" t="t" r="r" b="b"/>
            <a:pathLst>
              <a:path w="40007" h="30221" extrusionOk="0">
                <a:moveTo>
                  <a:pt x="19007" y="1"/>
                </a:moveTo>
                <a:cubicBezTo>
                  <a:pt x="17909" y="1"/>
                  <a:pt x="16810" y="17"/>
                  <a:pt x="15708" y="53"/>
                </a:cubicBezTo>
                <a:cubicBezTo>
                  <a:pt x="13270" y="131"/>
                  <a:pt x="10885" y="275"/>
                  <a:pt x="8512" y="548"/>
                </a:cubicBezTo>
                <a:cubicBezTo>
                  <a:pt x="6088" y="835"/>
                  <a:pt x="4524" y="1500"/>
                  <a:pt x="4041" y="2712"/>
                </a:cubicBezTo>
                <a:cubicBezTo>
                  <a:pt x="4015" y="2777"/>
                  <a:pt x="3976" y="2843"/>
                  <a:pt x="3937" y="2908"/>
                </a:cubicBezTo>
                <a:cubicBezTo>
                  <a:pt x="2777" y="4902"/>
                  <a:pt x="2282" y="6949"/>
                  <a:pt x="1734" y="8995"/>
                </a:cubicBezTo>
                <a:cubicBezTo>
                  <a:pt x="1160" y="11120"/>
                  <a:pt x="613" y="13232"/>
                  <a:pt x="391" y="15357"/>
                </a:cubicBezTo>
                <a:cubicBezTo>
                  <a:pt x="183" y="17325"/>
                  <a:pt x="0" y="19293"/>
                  <a:pt x="79" y="21092"/>
                </a:cubicBezTo>
                <a:cubicBezTo>
                  <a:pt x="52" y="23074"/>
                  <a:pt x="144" y="24899"/>
                  <a:pt x="365" y="26710"/>
                </a:cubicBezTo>
                <a:cubicBezTo>
                  <a:pt x="522" y="28079"/>
                  <a:pt x="1721" y="29096"/>
                  <a:pt x="4419" y="29656"/>
                </a:cubicBezTo>
                <a:cubicBezTo>
                  <a:pt x="6296" y="30048"/>
                  <a:pt x="8265" y="30178"/>
                  <a:pt x="10259" y="30204"/>
                </a:cubicBezTo>
                <a:cubicBezTo>
                  <a:pt x="11143" y="30216"/>
                  <a:pt x="12026" y="30220"/>
                  <a:pt x="12908" y="30220"/>
                </a:cubicBezTo>
                <a:cubicBezTo>
                  <a:pt x="15996" y="30220"/>
                  <a:pt x="19078" y="30165"/>
                  <a:pt x="22161" y="30165"/>
                </a:cubicBezTo>
                <a:cubicBezTo>
                  <a:pt x="24859" y="30165"/>
                  <a:pt x="27557" y="30204"/>
                  <a:pt x="30243" y="30204"/>
                </a:cubicBezTo>
                <a:cubicBezTo>
                  <a:pt x="31690" y="30191"/>
                  <a:pt x="33123" y="30113"/>
                  <a:pt x="34505" y="29852"/>
                </a:cubicBezTo>
                <a:cubicBezTo>
                  <a:pt x="35470" y="29683"/>
                  <a:pt x="36330" y="29435"/>
                  <a:pt x="36917" y="29005"/>
                </a:cubicBezTo>
                <a:cubicBezTo>
                  <a:pt x="37881" y="28288"/>
                  <a:pt x="38677" y="27519"/>
                  <a:pt x="39120" y="26684"/>
                </a:cubicBezTo>
                <a:cubicBezTo>
                  <a:pt x="39732" y="25485"/>
                  <a:pt x="39954" y="24260"/>
                  <a:pt x="39954" y="23021"/>
                </a:cubicBezTo>
                <a:cubicBezTo>
                  <a:pt x="39954" y="19372"/>
                  <a:pt x="40006" y="15709"/>
                  <a:pt x="39563" y="12059"/>
                </a:cubicBezTo>
                <a:cubicBezTo>
                  <a:pt x="39367" y="10403"/>
                  <a:pt x="39485" y="8748"/>
                  <a:pt x="39237" y="7105"/>
                </a:cubicBezTo>
                <a:cubicBezTo>
                  <a:pt x="39068" y="6023"/>
                  <a:pt x="38794" y="4941"/>
                  <a:pt x="37920" y="3938"/>
                </a:cubicBezTo>
                <a:cubicBezTo>
                  <a:pt x="37282" y="3208"/>
                  <a:pt x="36773" y="2438"/>
                  <a:pt x="35665" y="1826"/>
                </a:cubicBezTo>
                <a:cubicBezTo>
                  <a:pt x="34192" y="1031"/>
                  <a:pt x="32237" y="666"/>
                  <a:pt x="30138" y="496"/>
                </a:cubicBezTo>
                <a:cubicBezTo>
                  <a:pt x="26451" y="194"/>
                  <a:pt x="22741" y="1"/>
                  <a:pt x="19007" y="1"/>
                </a:cubicBezTo>
                <a:close/>
              </a:path>
            </a:pathLst>
          </a:custGeom>
          <a:solidFill>
            <a:srgbClr val="112A40"/>
          </a:solidFill>
          <a:ln w="28575" cap="flat" cmpd="sng">
            <a:solidFill>
              <a:schemeClr val="lt1"/>
            </a:solidFill>
            <a:prstDash val="solid"/>
            <a:round/>
            <a:headEnd type="none" w="sm" len="sm"/>
            <a:tailEnd type="none" w="sm" len="sm"/>
          </a:ln>
          <a:effectLst>
            <a:outerShdw blurRad="57150" dist="9525" algn="bl" rotWithShape="0">
              <a:srgbClr val="000000"/>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lang="fr-CI" sz="1200" noProof="0">
              <a:solidFill>
                <a:schemeClr val="bg1"/>
              </a:solidFill>
              <a:latin typeface="Helvetica" panose="020B0604020202020204" pitchFamily="34" charset="0"/>
              <a:cs typeface="Helvetica" panose="020B0604020202020204" pitchFamily="34" charset="0"/>
            </a:endParaRPr>
          </a:p>
        </p:txBody>
      </p:sp>
      <p:sp>
        <p:nvSpPr>
          <p:cNvPr id="44" name="Google Shape;7427;p41"/>
          <p:cNvSpPr/>
          <p:nvPr/>
        </p:nvSpPr>
        <p:spPr>
          <a:xfrm rot="21275242">
            <a:off x="1044421" y="1815519"/>
            <a:ext cx="1054398" cy="808329"/>
          </a:xfrm>
          <a:custGeom>
            <a:avLst/>
            <a:gdLst/>
            <a:ahLst/>
            <a:cxnLst/>
            <a:rect l="l" t="t" r="r" b="b"/>
            <a:pathLst>
              <a:path w="40007" h="30221" extrusionOk="0">
                <a:moveTo>
                  <a:pt x="19007" y="1"/>
                </a:moveTo>
                <a:cubicBezTo>
                  <a:pt x="17909" y="1"/>
                  <a:pt x="16810" y="17"/>
                  <a:pt x="15708" y="53"/>
                </a:cubicBezTo>
                <a:cubicBezTo>
                  <a:pt x="13270" y="131"/>
                  <a:pt x="10885" y="275"/>
                  <a:pt x="8512" y="548"/>
                </a:cubicBezTo>
                <a:cubicBezTo>
                  <a:pt x="6088" y="835"/>
                  <a:pt x="4524" y="1500"/>
                  <a:pt x="4041" y="2712"/>
                </a:cubicBezTo>
                <a:cubicBezTo>
                  <a:pt x="4015" y="2777"/>
                  <a:pt x="3976" y="2843"/>
                  <a:pt x="3937" y="2908"/>
                </a:cubicBezTo>
                <a:cubicBezTo>
                  <a:pt x="2777" y="4902"/>
                  <a:pt x="2282" y="6949"/>
                  <a:pt x="1734" y="8995"/>
                </a:cubicBezTo>
                <a:cubicBezTo>
                  <a:pt x="1160" y="11120"/>
                  <a:pt x="613" y="13232"/>
                  <a:pt x="391" y="15357"/>
                </a:cubicBezTo>
                <a:cubicBezTo>
                  <a:pt x="183" y="17325"/>
                  <a:pt x="0" y="19293"/>
                  <a:pt x="79" y="21092"/>
                </a:cubicBezTo>
                <a:cubicBezTo>
                  <a:pt x="52" y="23074"/>
                  <a:pt x="144" y="24899"/>
                  <a:pt x="365" y="26710"/>
                </a:cubicBezTo>
                <a:cubicBezTo>
                  <a:pt x="522" y="28079"/>
                  <a:pt x="1721" y="29096"/>
                  <a:pt x="4419" y="29656"/>
                </a:cubicBezTo>
                <a:cubicBezTo>
                  <a:pt x="6296" y="30048"/>
                  <a:pt x="8265" y="30178"/>
                  <a:pt x="10259" y="30204"/>
                </a:cubicBezTo>
                <a:cubicBezTo>
                  <a:pt x="11143" y="30216"/>
                  <a:pt x="12026" y="30220"/>
                  <a:pt x="12908" y="30220"/>
                </a:cubicBezTo>
                <a:cubicBezTo>
                  <a:pt x="15996" y="30220"/>
                  <a:pt x="19078" y="30165"/>
                  <a:pt x="22161" y="30165"/>
                </a:cubicBezTo>
                <a:cubicBezTo>
                  <a:pt x="24859" y="30165"/>
                  <a:pt x="27557" y="30204"/>
                  <a:pt x="30243" y="30204"/>
                </a:cubicBezTo>
                <a:cubicBezTo>
                  <a:pt x="31690" y="30191"/>
                  <a:pt x="33123" y="30113"/>
                  <a:pt x="34505" y="29852"/>
                </a:cubicBezTo>
                <a:cubicBezTo>
                  <a:pt x="35470" y="29683"/>
                  <a:pt x="36330" y="29435"/>
                  <a:pt x="36917" y="29005"/>
                </a:cubicBezTo>
                <a:cubicBezTo>
                  <a:pt x="37881" y="28288"/>
                  <a:pt x="38677" y="27519"/>
                  <a:pt x="39120" y="26684"/>
                </a:cubicBezTo>
                <a:cubicBezTo>
                  <a:pt x="39732" y="25485"/>
                  <a:pt x="39954" y="24260"/>
                  <a:pt x="39954" y="23021"/>
                </a:cubicBezTo>
                <a:cubicBezTo>
                  <a:pt x="39954" y="19372"/>
                  <a:pt x="40006" y="15709"/>
                  <a:pt x="39563" y="12059"/>
                </a:cubicBezTo>
                <a:cubicBezTo>
                  <a:pt x="39367" y="10403"/>
                  <a:pt x="39485" y="8748"/>
                  <a:pt x="39237" y="7105"/>
                </a:cubicBezTo>
                <a:cubicBezTo>
                  <a:pt x="39068" y="6023"/>
                  <a:pt x="38794" y="4941"/>
                  <a:pt x="37920" y="3938"/>
                </a:cubicBezTo>
                <a:cubicBezTo>
                  <a:pt x="37282" y="3208"/>
                  <a:pt x="36773" y="2438"/>
                  <a:pt x="35665" y="1826"/>
                </a:cubicBezTo>
                <a:cubicBezTo>
                  <a:pt x="34192" y="1031"/>
                  <a:pt x="32237" y="666"/>
                  <a:pt x="30138" y="496"/>
                </a:cubicBezTo>
                <a:cubicBezTo>
                  <a:pt x="26451" y="194"/>
                  <a:pt x="22741" y="1"/>
                  <a:pt x="19007" y="1"/>
                </a:cubicBezTo>
                <a:close/>
              </a:path>
            </a:pathLst>
          </a:custGeom>
          <a:solidFill>
            <a:srgbClr val="112A40"/>
          </a:solidFill>
          <a:ln w="28575" cap="flat" cmpd="sng">
            <a:solidFill>
              <a:schemeClr val="lt1"/>
            </a:solidFill>
            <a:prstDash val="solid"/>
            <a:round/>
            <a:headEnd type="none" w="sm" len="sm"/>
            <a:tailEnd type="none" w="sm" len="sm"/>
          </a:ln>
          <a:effectLst>
            <a:outerShdw blurRad="57150" dist="9525" algn="bl" rotWithShape="0">
              <a:srgbClr val="000000"/>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lang="fr-CI" sz="1200" noProof="0">
              <a:solidFill>
                <a:schemeClr val="bg1"/>
              </a:solidFill>
              <a:latin typeface="Helvetica" panose="020B0604020202020204" pitchFamily="34" charset="0"/>
              <a:cs typeface="Helvetica" panose="020B0604020202020204" pitchFamily="34" charset="0"/>
            </a:endParaRPr>
          </a:p>
        </p:txBody>
      </p:sp>
      <p:sp>
        <p:nvSpPr>
          <p:cNvPr id="47" name="Google Shape;7431;p41"/>
          <p:cNvSpPr txBox="1">
            <a:spLocks/>
          </p:cNvSpPr>
          <p:nvPr/>
        </p:nvSpPr>
        <p:spPr>
          <a:xfrm rot="21238167">
            <a:off x="1055515" y="1969994"/>
            <a:ext cx="961801" cy="526899"/>
          </a:xfrm>
          <a:prstGeom prst="rect">
            <a:avLst/>
          </a:prstGeom>
        </p:spPr>
        <p:txBody>
          <a:bodyPr spcFirstLastPara="1" wrap="square" lIns="91425" tIns="91425" rIns="91425" bIns="91425" anchor="ctr" anchorCtr="0">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spcBef>
                <a:spcPts val="0"/>
              </a:spcBef>
            </a:pPr>
            <a:r>
              <a:rPr lang="fr-CI" sz="3200" noProof="0">
                <a:solidFill>
                  <a:schemeClr val="bg1"/>
                </a:solidFill>
                <a:latin typeface="Helvetica" panose="020B0604020202020204" pitchFamily="34" charset="0"/>
                <a:cs typeface="Helvetica" panose="020B0604020202020204" pitchFamily="34" charset="0"/>
              </a:rPr>
              <a:t>01</a:t>
            </a:r>
          </a:p>
        </p:txBody>
      </p:sp>
      <p:sp>
        <p:nvSpPr>
          <p:cNvPr id="48" name="Google Shape;7432;p41"/>
          <p:cNvSpPr txBox="1">
            <a:spLocks/>
          </p:cNvSpPr>
          <p:nvPr/>
        </p:nvSpPr>
        <p:spPr>
          <a:xfrm rot="395864">
            <a:off x="1055515" y="3896894"/>
            <a:ext cx="961801" cy="526899"/>
          </a:xfrm>
          <a:prstGeom prst="rect">
            <a:avLst/>
          </a:prstGeom>
        </p:spPr>
        <p:txBody>
          <a:bodyPr spcFirstLastPara="1" wrap="square" lIns="91425" tIns="91425" rIns="91425" bIns="91425" anchor="ctr" anchorCtr="0">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spcBef>
                <a:spcPts val="0"/>
              </a:spcBef>
            </a:pPr>
            <a:r>
              <a:rPr lang="fr-CI" sz="3200" noProof="0">
                <a:solidFill>
                  <a:schemeClr val="bg1"/>
                </a:solidFill>
                <a:latin typeface="Helvetica" panose="020B0604020202020204" pitchFamily="34" charset="0"/>
                <a:cs typeface="Helvetica" panose="020B0604020202020204" pitchFamily="34" charset="0"/>
              </a:rPr>
              <a:t>02</a:t>
            </a:r>
          </a:p>
        </p:txBody>
      </p:sp>
      <p:sp>
        <p:nvSpPr>
          <p:cNvPr id="53" name="Google Shape;7437;p41"/>
          <p:cNvSpPr txBox="1">
            <a:spLocks/>
          </p:cNvSpPr>
          <p:nvPr/>
        </p:nvSpPr>
        <p:spPr>
          <a:xfrm rot="354388">
            <a:off x="6338696" y="1969994"/>
            <a:ext cx="970153" cy="526899"/>
          </a:xfrm>
          <a:prstGeom prst="rect">
            <a:avLst/>
          </a:prstGeom>
        </p:spPr>
        <p:txBody>
          <a:bodyPr spcFirstLastPara="1" wrap="square" lIns="91425" tIns="91425" rIns="91425" bIns="91425" anchor="ctr" anchorCtr="0">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spcBef>
                <a:spcPts val="0"/>
              </a:spcBef>
            </a:pPr>
            <a:r>
              <a:rPr lang="fr-CI" sz="3200" noProof="0">
                <a:solidFill>
                  <a:schemeClr val="bg1"/>
                </a:solidFill>
                <a:latin typeface="Helvetica" panose="020B0604020202020204" pitchFamily="34" charset="0"/>
                <a:cs typeface="Helvetica" panose="020B0604020202020204" pitchFamily="34" charset="0"/>
              </a:rPr>
              <a:t>03</a:t>
            </a:r>
          </a:p>
        </p:txBody>
      </p:sp>
      <p:sp>
        <p:nvSpPr>
          <p:cNvPr id="54" name="Google Shape;7438;p41"/>
          <p:cNvSpPr txBox="1">
            <a:spLocks/>
          </p:cNvSpPr>
          <p:nvPr/>
        </p:nvSpPr>
        <p:spPr>
          <a:xfrm rot="21176429">
            <a:off x="6338696" y="3896894"/>
            <a:ext cx="970153" cy="526899"/>
          </a:xfrm>
          <a:prstGeom prst="rect">
            <a:avLst/>
          </a:prstGeom>
        </p:spPr>
        <p:txBody>
          <a:bodyPr spcFirstLastPara="1" wrap="square" lIns="91425" tIns="91425" rIns="91425" bIns="91425" anchor="ctr" anchorCtr="0">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spcBef>
                <a:spcPts val="0"/>
              </a:spcBef>
            </a:pPr>
            <a:r>
              <a:rPr lang="fr-CI" sz="3200" noProof="0">
                <a:solidFill>
                  <a:schemeClr val="bg1"/>
                </a:solidFill>
                <a:latin typeface="Helvetica" panose="020B0604020202020204" pitchFamily="34" charset="0"/>
                <a:cs typeface="Helvetica" panose="020B0604020202020204" pitchFamily="34" charset="0"/>
              </a:rPr>
              <a:t>04</a:t>
            </a:r>
          </a:p>
        </p:txBody>
      </p:sp>
      <p:sp>
        <p:nvSpPr>
          <p:cNvPr id="19" name="Rectangle 18"/>
          <p:cNvSpPr/>
          <p:nvPr/>
        </p:nvSpPr>
        <p:spPr>
          <a:xfrm>
            <a:off x="2312337" y="1513126"/>
            <a:ext cx="3277758" cy="1579645"/>
          </a:xfrm>
          <a:prstGeom prst="rect">
            <a:avLst/>
          </a:prstGeom>
        </p:spPr>
        <p:txBody>
          <a:bodyPr wrap="square">
            <a:spAutoFit/>
          </a:bodyPr>
          <a:lstStyle/>
          <a:p>
            <a:pPr lvl="0">
              <a:lnSpc>
                <a:spcPct val="110000"/>
              </a:lnSpc>
            </a:pPr>
            <a:r>
              <a:rPr lang="fr-CI" sz="1400" b="1" noProof="0">
                <a:solidFill>
                  <a:srgbClr val="112A40"/>
                </a:solidFill>
                <a:latin typeface="Helvetica" panose="020B0604020202020204" pitchFamily="34" charset="0"/>
                <a:ea typeface="Open Sans Semibold" panose="020B0706030804020204" pitchFamily="34" charset="0"/>
                <a:cs typeface="Helvetica" panose="020B0604020202020204" pitchFamily="34" charset="0"/>
              </a:rPr>
              <a:t>Ranger</a:t>
            </a:r>
          </a:p>
          <a:p>
            <a:r>
              <a:rPr lang="fr-CI" sz="1200" noProof="0" b="0">
                <a:latin typeface="Helvetica" panose="020B0604020202020204" pitchFamily="34" charset="0"/>
                <a:ea typeface="Open Sans Light" panose="020B0306030504020204" pitchFamily="34" charset="0"/>
                <a:cs typeface="Helvetica" panose="020B0604020202020204" pitchFamily="34" charset="0"/>
              </a:rPr>
              <a:t>Adenka range les paiements cumulés dans un triangle : une ligne par année de survenance, une colonne par délai de règlement.</a:t>
            </a:r>
            <a:endParaRPr lang="fr-CI" sz="1600" noProof="0"/>
          </a:p>
        </p:txBody>
      </p:sp>
      <p:sp>
        <p:nvSpPr>
          <p:cNvPr id="20" name="Rectangle 19"/>
          <p:cNvSpPr/>
          <p:nvPr/>
        </p:nvSpPr>
        <p:spPr>
          <a:xfrm>
            <a:off x="2312337" y="3590006"/>
            <a:ext cx="3277758" cy="1579645"/>
          </a:xfrm>
          <a:prstGeom prst="rect">
            <a:avLst/>
          </a:prstGeom>
        </p:spPr>
        <p:txBody>
          <a:bodyPr wrap="square">
            <a:spAutoFit/>
          </a:bodyPr>
          <a:lstStyle/>
          <a:p>
            <a:pPr lvl="0">
              <a:lnSpc>
                <a:spcPct val="110000"/>
              </a:lnSpc>
            </a:pPr>
            <a:r>
              <a:rPr lang="fr-CI" sz="1400" b="1" noProof="0">
                <a:solidFill>
                  <a:srgbClr val="112A40"/>
                </a:solidFill>
                <a:latin typeface="Helvetica" panose="020B0604020202020204" pitchFamily="34" charset="0"/>
                <a:ea typeface="Open Sans Semibold" panose="020B0706030804020204" pitchFamily="34" charset="0"/>
                <a:cs typeface="Helvetica" panose="020B0604020202020204" pitchFamily="34" charset="0"/>
              </a:rPr>
              <a:t>Mesurer</a:t>
            </a:r>
          </a:p>
          <a:p>
            <a:r>
              <a:rPr lang="fr-CI" sz="1200" noProof="0" b="0">
                <a:latin typeface="Helvetica" panose="020B0604020202020204" pitchFamily="34" charset="0"/>
                <a:ea typeface="Open Sans Light" panose="020B0306030504020204" pitchFamily="34" charset="0"/>
                <a:cs typeface="Helvetica" panose="020B0604020202020204" pitchFamily="34" charset="0"/>
              </a:rPr>
              <a:t>Adenka calcule pour chaque délai le facteur de développement : la progression moyenne des paiements d'un délai au suivant.</a:t>
            </a:r>
            <a:endParaRPr lang="fr-CI" sz="1600" noProof="0"/>
          </a:p>
        </p:txBody>
      </p:sp>
      <p:sp>
        <p:nvSpPr>
          <p:cNvPr id="22" name="Rectangle 21"/>
          <p:cNvSpPr/>
          <p:nvPr/>
        </p:nvSpPr>
        <p:spPr>
          <a:xfrm>
            <a:off x="7611772" y="1516817"/>
            <a:ext cx="3277758" cy="1579645"/>
          </a:xfrm>
          <a:prstGeom prst="rect">
            <a:avLst/>
          </a:prstGeom>
        </p:spPr>
        <p:txBody>
          <a:bodyPr wrap="square">
            <a:spAutoFit/>
          </a:bodyPr>
          <a:lstStyle/>
          <a:p>
            <a:pPr lvl="0">
              <a:lnSpc>
                <a:spcPct val="110000"/>
              </a:lnSpc>
            </a:pPr>
            <a:r>
              <a:rPr lang="fr-CI" sz="1400" b="1" noProof="0">
                <a:solidFill>
                  <a:srgbClr val="112A40"/>
                </a:solidFill>
                <a:latin typeface="Helvetica" panose="020B0604020202020204" pitchFamily="34" charset="0"/>
                <a:ea typeface="Open Sans Semibold" panose="020B0706030804020204" pitchFamily="34" charset="0"/>
                <a:cs typeface="Helvetica" panose="020B0604020202020204" pitchFamily="34" charset="0"/>
              </a:rPr>
              <a:t>Compléter</a:t>
            </a:r>
          </a:p>
          <a:p>
            <a:r>
              <a:rPr lang="fr-CI" sz="1200" noProof="0" b="0">
                <a:latin typeface="Helvetica" panose="020B0604020202020204" pitchFamily="34" charset="0"/>
                <a:ea typeface="Open Sans Light" panose="020B0306030504020204" pitchFamily="34" charset="0"/>
                <a:cs typeface="Helvetica" panose="020B0604020202020204" pitchFamily="34" charset="0"/>
              </a:rPr>
              <a:t>Adenka complète le triangle avec ces facteurs pour obtenir la charge ultime de chaque année de survenance.</a:t>
            </a:r>
            <a:endParaRPr lang="fr-CI" sz="1600" noProof="0"/>
          </a:p>
        </p:txBody>
      </p:sp>
      <p:sp>
        <p:nvSpPr>
          <p:cNvPr id="23" name="Rectangle 22"/>
          <p:cNvSpPr/>
          <p:nvPr/>
        </p:nvSpPr>
        <p:spPr>
          <a:xfrm>
            <a:off x="7611772" y="3593696"/>
            <a:ext cx="3277758" cy="1579645"/>
          </a:xfrm>
          <a:prstGeom prst="rect">
            <a:avLst/>
          </a:prstGeom>
        </p:spPr>
        <p:txBody>
          <a:bodyPr wrap="square">
            <a:spAutoFit/>
          </a:bodyPr>
          <a:lstStyle/>
          <a:p>
            <a:pPr lvl="0">
              <a:lnSpc>
                <a:spcPct val="110000"/>
              </a:lnSpc>
            </a:pPr>
            <a:r>
              <a:rPr lang="fr-CI" sz="1400" b="1" noProof="0">
                <a:solidFill>
                  <a:srgbClr val="112A40"/>
                </a:solidFill>
                <a:latin typeface="Helvetica" panose="020B0604020202020204" pitchFamily="34" charset="0"/>
                <a:ea typeface="Open Sans Semibold" panose="020B0706030804020204" pitchFamily="34" charset="0"/>
                <a:cs typeface="Helvetica" panose="020B0604020202020204" pitchFamily="34" charset="0"/>
              </a:rPr>
              <a:t>Provisionner</a:t>
            </a:r>
          </a:p>
          <a:p>
            <a:r>
              <a:rPr lang="fr-CI" sz="1200" noProof="0" b="0">
                <a:latin typeface="Helvetica" panose="020B0604020202020204" pitchFamily="34" charset="0"/>
                <a:ea typeface="Open Sans Light" panose="020B0306030504020204" pitchFamily="34" charset="0"/>
                <a:cs typeface="Helvetica" panose="020B0604020202020204" pitchFamily="34" charset="0"/>
              </a:rPr>
              <a:t>La provision est la charge ultime moins les paiements déjà faits. Elle s'ajoute aux dossiers connus.</a:t>
            </a:r>
            <a:endParaRPr lang="fr-CI" sz="1600" noProof="0"/>
          </a:p>
        </p:txBody>
      </p:sp>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55"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Méthode Chain Ladder</a:t>
            </a:r>
          </a:p>
        </p:txBody>
      </p:sp>
      <p:sp>
        <p:nvSpPr>
          <p:cNvPr id="56"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Le triangle des paiements révèle le rythme de règlement des sinistres</a:t>
            </a:r>
          </a:p>
        </p:txBody>
      </p:sp>
      <p:sp>
        <p:nvSpPr>
          <p:cNvPr id="57"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Quatre étapes, de la base des prestations à la provision pour sinistres tardifs</a:t>
            </a:r>
          </a:p>
        </p:txBody>
      </p:sp>
      <p:sp>
        <p:nvSpPr>
          <p:cNvPr id="58"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Adenka (méthode actuarielle standard)</a:t>
            </a:r>
          </a:p>
        </p:txBody>
      </p:sp>
      <p:sp>
        <p:nvSpPr>
          <p:cNvPr id="59" name="Rounded Rectangle 58"/>
          <p:cNvSpPr/>
          <p:nvPr/>
        </p:nvSpPr>
        <p:spPr>
          <a:xfrm>
            <a:off x="503999" y="5454000"/>
            <a:ext cx="11232000" cy="342000"/>
          </a:xfrm>
          <a:prstGeom prst="roundRect">
            <a:avLst/>
          </a:prstGeom>
          <a:solidFill>
            <a:srgbClr val="EFAC62"/>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300" b="1">
                <a:solidFill>
                  <a:srgbClr val="060606"/>
                </a:solidFill>
                <a:latin typeface="Helvetica"/>
              </a:rPr>
              <a:t>Travail en attente des données : voir la liste des données manquantes (PBC pointée et partie 14)</a:t>
            </a:r>
          </a:p>
        </p:txBody>
      </p:sp>
      <p:sp>
        <p:nvSpPr>
          <p:cNvPr id="60" name="TextBox 59"/>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PBC : liste des documents demandés au client</a:t>
            </a:r>
          </a:p>
        </p:txBody>
      </p:sp>
    </p:spTree>
    <p:extLst>
      <p:ext uri="{BB962C8B-B14F-4D97-AF65-F5344CB8AC3E}">
        <p14:creationId xmlns:p14="http://schemas.microsoft.com/office/powerpoint/2010/main" val="3038081743"/>
      </p:ext>
    </p:extLst>
  </p:cSld>
  <p:clrMapOvr>
    <a:masterClrMapping/>
  </p:clrMapOvr>
  <p:transition>
    <p:fade/>
  </p:transition>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Chain Ladder : le triangle</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Les cases « ? » sont les paiements futurs que la méthode estime</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Facteur de développement f(j) = Σ C(i, j+1) / Σ C(i, j). Charge ultime = dernier montant connu x produit des facteurs suivants</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Adenka (méthode actuarielle standard)</a:t>
            </a:r>
          </a:p>
        </p:txBody>
      </p:sp>
      <p:graphicFrame>
        <p:nvGraphicFramePr>
          <p:cNvPr id="31" name="Table 30"/>
          <p:cNvGraphicFramePr>
            <a:graphicFrameLocks noGrp="1"/>
          </p:cNvGraphicFramePr>
          <p:nvPr/>
        </p:nvGraphicFramePr>
        <p:xfrm>
          <a:off x="503999" y="1548000"/>
          <a:ext cx="6839999" cy="1980000"/>
        </p:xfrm>
        <a:graphic>
          <a:graphicData uri="http://schemas.openxmlformats.org/drawingml/2006/table">
            <a:tbl>
              <a:tblPr firstRow="0" bandRow="0">
                <a:tableStyleId>{5940675A-B579-460E-94D1-54222C63F5DA}</a:tableStyleId>
              </a:tblPr>
              <a:tblGrid>
                <a:gridCol w="1655999"/>
                <a:gridCol w="1296000"/>
                <a:gridCol w="1296000"/>
                <a:gridCol w="1296000"/>
                <a:gridCol w="1296000"/>
              </a:tblGrid>
              <a:tr h="396000">
                <a:tc>
                  <a:txBody>
                    <a:bodyPr/>
                    <a:lstStyle/>
                    <a:p>
                      <a:pPr marL="0" indent="0" lvl="0">
                        <a:buNone/>
                      </a:pPr>
                      <a:r>
                        <a:rPr sz="1400" b="1">
                          <a:solidFill>
                            <a:srgbClr val="FFFFFF"/>
                          </a:solidFill>
                          <a:latin typeface="Helvetica"/>
                        </a:rPr>
                        <a:t>Survenance</a:t>
                      </a:r>
                    </a:p>
                  </a:txBody>
                  <a:tcPr marL="43200" marR="43200" marT="14400" marB="14400" anchor="ctr">
                    <a:solidFill>
                      <a:srgbClr val="060606"/>
                    </a:solidFill>
                  </a:tcPr>
                </a:tc>
                <a:tc>
                  <a:txBody>
                    <a:bodyPr/>
                    <a:lstStyle/>
                    <a:p>
                      <a:pPr marL="0" indent="0" lvl="0">
                        <a:buNone/>
                      </a:pPr>
                      <a:r>
                        <a:rPr sz="1400" b="1">
                          <a:solidFill>
                            <a:srgbClr val="FFFFFF"/>
                          </a:solidFill>
                          <a:latin typeface="Helvetica"/>
                        </a:rPr>
                        <a:t>Délai 1</a:t>
                      </a:r>
                    </a:p>
                  </a:txBody>
                  <a:tcPr marL="43200" marR="43200" marT="14400" marB="14400" anchor="ctr">
                    <a:solidFill>
                      <a:srgbClr val="060606"/>
                    </a:solidFill>
                  </a:tcPr>
                </a:tc>
                <a:tc>
                  <a:txBody>
                    <a:bodyPr/>
                    <a:lstStyle/>
                    <a:p>
                      <a:pPr marL="0" indent="0" lvl="0">
                        <a:buNone/>
                      </a:pPr>
                      <a:r>
                        <a:rPr sz="1400" b="1">
                          <a:solidFill>
                            <a:srgbClr val="FFFFFF"/>
                          </a:solidFill>
                          <a:latin typeface="Helvetica"/>
                        </a:rPr>
                        <a:t>Délai 2</a:t>
                      </a:r>
                    </a:p>
                  </a:txBody>
                  <a:tcPr marL="43200" marR="43200" marT="14400" marB="14400" anchor="ctr">
                    <a:solidFill>
                      <a:srgbClr val="060606"/>
                    </a:solidFill>
                  </a:tcPr>
                </a:tc>
                <a:tc>
                  <a:txBody>
                    <a:bodyPr/>
                    <a:lstStyle/>
                    <a:p>
                      <a:pPr marL="0" indent="0" lvl="0">
                        <a:buNone/>
                      </a:pPr>
                      <a:r>
                        <a:rPr sz="1400" b="1">
                          <a:solidFill>
                            <a:srgbClr val="FFFFFF"/>
                          </a:solidFill>
                          <a:latin typeface="Helvetica"/>
                        </a:rPr>
                        <a:t>Délai 3</a:t>
                      </a:r>
                    </a:p>
                  </a:txBody>
                  <a:tcPr marL="43200" marR="43200" marT="14400" marB="14400" anchor="ctr">
                    <a:solidFill>
                      <a:srgbClr val="060606"/>
                    </a:solidFill>
                  </a:tcPr>
                </a:tc>
                <a:tc>
                  <a:txBody>
                    <a:bodyPr/>
                    <a:lstStyle/>
                    <a:p>
                      <a:pPr marL="0" indent="0" lvl="0">
                        <a:buNone/>
                      </a:pPr>
                      <a:r>
                        <a:rPr sz="1400" b="1">
                          <a:solidFill>
                            <a:srgbClr val="FFFFFF"/>
                          </a:solidFill>
                          <a:latin typeface="Helvetica"/>
                        </a:rPr>
                        <a:t>Délai 4</a:t>
                      </a:r>
                    </a:p>
                  </a:txBody>
                  <a:tcPr marL="43200" marR="43200" marT="14400" marB="14400" anchor="ctr">
                    <a:solidFill>
                      <a:srgbClr val="060606"/>
                    </a:solidFill>
                  </a:tcPr>
                </a:tc>
              </a:tr>
              <a:tr h="396000">
                <a:tc>
                  <a:txBody>
                    <a:bodyPr/>
                    <a:lstStyle/>
                    <a:p>
                      <a:pPr marL="0" indent="0" lvl="0">
                        <a:buNone/>
                      </a:pPr>
                      <a:r>
                        <a:rPr sz="1400" b="1">
                          <a:solidFill>
                            <a:srgbClr val="060606"/>
                          </a:solidFill>
                          <a:latin typeface="Helvetica"/>
                        </a:rPr>
                        <a:t>Année n-3</a:t>
                      </a:r>
                    </a:p>
                  </a:txBody>
                  <a:tcPr marL="43200" marR="43200" marT="14400" marB="14400" anchor="ctr">
                    <a:solidFill>
                      <a:srgbClr val="FFFFFF"/>
                    </a:solidFill>
                  </a:tcPr>
                </a:tc>
                <a:tc>
                  <a:txBody>
                    <a:bodyPr/>
                    <a:lstStyle/>
                    <a:p>
                      <a:pPr marL="0" indent="0" lvl="0">
                        <a:buNone/>
                      </a:pPr>
                      <a:r>
                        <a:rPr sz="1400" b="0">
                          <a:solidFill>
                            <a:srgbClr val="060606"/>
                          </a:solidFill>
                          <a:latin typeface="Helvetica"/>
                        </a:rPr>
                        <a:t>C(1,1)</a:t>
                      </a:r>
                    </a:p>
                  </a:txBody>
                  <a:tcPr marL="43200" marR="43200" marT="14400" marB="14400" anchor="ctr">
                    <a:solidFill>
                      <a:srgbClr val="FFFFFF"/>
                    </a:solidFill>
                  </a:tcPr>
                </a:tc>
                <a:tc>
                  <a:txBody>
                    <a:bodyPr/>
                    <a:lstStyle/>
                    <a:p>
                      <a:pPr marL="0" indent="0" lvl="0">
                        <a:buNone/>
                      </a:pPr>
                      <a:r>
                        <a:rPr sz="1400" b="0">
                          <a:solidFill>
                            <a:srgbClr val="060606"/>
                          </a:solidFill>
                          <a:latin typeface="Helvetica"/>
                        </a:rPr>
                        <a:t>C(1,2)</a:t>
                      </a:r>
                    </a:p>
                  </a:txBody>
                  <a:tcPr marL="43200" marR="43200" marT="14400" marB="14400" anchor="ctr">
                    <a:solidFill>
                      <a:srgbClr val="FFFFFF"/>
                    </a:solidFill>
                  </a:tcPr>
                </a:tc>
                <a:tc>
                  <a:txBody>
                    <a:bodyPr/>
                    <a:lstStyle/>
                    <a:p>
                      <a:pPr marL="0" indent="0" lvl="0">
                        <a:buNone/>
                      </a:pPr>
                      <a:r>
                        <a:rPr sz="1400" b="0">
                          <a:solidFill>
                            <a:srgbClr val="060606"/>
                          </a:solidFill>
                          <a:latin typeface="Helvetica"/>
                        </a:rPr>
                        <a:t>C(1,3)</a:t>
                      </a:r>
                    </a:p>
                  </a:txBody>
                  <a:tcPr marL="43200" marR="43200" marT="14400" marB="14400" anchor="ctr">
                    <a:solidFill>
                      <a:srgbClr val="FFFFFF"/>
                    </a:solidFill>
                  </a:tcPr>
                </a:tc>
                <a:tc>
                  <a:txBody>
                    <a:bodyPr/>
                    <a:lstStyle/>
                    <a:p>
                      <a:pPr marL="0" indent="0" lvl="0">
                        <a:buNone/>
                      </a:pPr>
                      <a:r>
                        <a:rPr sz="1400" b="0">
                          <a:solidFill>
                            <a:srgbClr val="060606"/>
                          </a:solidFill>
                          <a:latin typeface="Helvetica"/>
                        </a:rPr>
                        <a:t>C(1,4)</a:t>
                      </a:r>
                    </a:p>
                  </a:txBody>
                  <a:tcPr marL="43200" marR="43200" marT="14400" marB="14400" anchor="ctr">
                    <a:solidFill>
                      <a:srgbClr val="FFFFFF"/>
                    </a:solidFill>
                  </a:tcPr>
                </a:tc>
              </a:tr>
              <a:tr h="396000">
                <a:tc>
                  <a:txBody>
                    <a:bodyPr/>
                    <a:lstStyle/>
                    <a:p>
                      <a:pPr marL="0" indent="0" lvl="0">
                        <a:buNone/>
                      </a:pPr>
                      <a:r>
                        <a:rPr sz="1400" b="1">
                          <a:solidFill>
                            <a:srgbClr val="060606"/>
                          </a:solidFill>
                          <a:latin typeface="Helvetica"/>
                        </a:rPr>
                        <a:t>Année n-2</a:t>
                      </a:r>
                    </a:p>
                  </a:txBody>
                  <a:tcPr marL="43200" marR="43200" marT="14400" marB="14400" anchor="ctr">
                    <a:solidFill>
                      <a:srgbClr val="F2F2F2"/>
                    </a:solidFill>
                  </a:tcPr>
                </a:tc>
                <a:tc>
                  <a:txBody>
                    <a:bodyPr/>
                    <a:lstStyle/>
                    <a:p>
                      <a:pPr marL="0" indent="0" lvl="0">
                        <a:buNone/>
                      </a:pPr>
                      <a:r>
                        <a:rPr sz="1400" b="0">
                          <a:solidFill>
                            <a:srgbClr val="060606"/>
                          </a:solidFill>
                          <a:latin typeface="Helvetica"/>
                        </a:rPr>
                        <a:t>C(2,1)</a:t>
                      </a:r>
                    </a:p>
                  </a:txBody>
                  <a:tcPr marL="43200" marR="43200" marT="14400" marB="14400" anchor="ctr">
                    <a:solidFill>
                      <a:srgbClr val="F2F2F2"/>
                    </a:solidFill>
                  </a:tcPr>
                </a:tc>
                <a:tc>
                  <a:txBody>
                    <a:bodyPr/>
                    <a:lstStyle/>
                    <a:p>
                      <a:pPr marL="0" indent="0" lvl="0">
                        <a:buNone/>
                      </a:pPr>
                      <a:r>
                        <a:rPr sz="1400" b="0">
                          <a:solidFill>
                            <a:srgbClr val="060606"/>
                          </a:solidFill>
                          <a:latin typeface="Helvetica"/>
                        </a:rPr>
                        <a:t>C(2,2)</a:t>
                      </a:r>
                    </a:p>
                  </a:txBody>
                  <a:tcPr marL="43200" marR="43200" marT="14400" marB="14400" anchor="ctr">
                    <a:solidFill>
                      <a:srgbClr val="F2F2F2"/>
                    </a:solidFill>
                  </a:tcPr>
                </a:tc>
                <a:tc>
                  <a:txBody>
                    <a:bodyPr/>
                    <a:lstStyle/>
                    <a:p>
                      <a:pPr marL="0" indent="0" lvl="0">
                        <a:buNone/>
                      </a:pPr>
                      <a:r>
                        <a:rPr sz="1400" b="0">
                          <a:solidFill>
                            <a:srgbClr val="060606"/>
                          </a:solidFill>
                          <a:latin typeface="Helvetica"/>
                        </a:rPr>
                        <a:t>C(2,3)</a:t>
                      </a:r>
                    </a:p>
                  </a:txBody>
                  <a:tcPr marL="43200" marR="43200" marT="14400" marB="14400" anchor="ctr">
                    <a:solidFill>
                      <a:srgbClr val="F2F2F2"/>
                    </a:solidFill>
                  </a:tcPr>
                </a:tc>
                <a:tc>
                  <a:txBody>
                    <a:bodyPr/>
                    <a:lstStyle/>
                    <a:p>
                      <a:pPr marL="0" indent="0" lvl="0">
                        <a:buNone/>
                      </a:pPr>
                      <a:r>
                        <a:rPr sz="1400" b="0">
                          <a:solidFill>
                            <a:srgbClr val="060606"/>
                          </a:solidFill>
                          <a:latin typeface="Helvetica"/>
                        </a:rPr>
                        <a:t>?</a:t>
                      </a:r>
                    </a:p>
                  </a:txBody>
                  <a:tcPr marL="43200" marR="43200" marT="14400" marB="14400" anchor="ctr">
                    <a:solidFill>
                      <a:srgbClr val="F2F2F2"/>
                    </a:solidFill>
                  </a:tcPr>
                </a:tc>
              </a:tr>
              <a:tr h="396000">
                <a:tc>
                  <a:txBody>
                    <a:bodyPr/>
                    <a:lstStyle/>
                    <a:p>
                      <a:pPr marL="0" indent="0" lvl="0">
                        <a:buNone/>
                      </a:pPr>
                      <a:r>
                        <a:rPr sz="1400" b="1">
                          <a:solidFill>
                            <a:srgbClr val="060606"/>
                          </a:solidFill>
                          <a:latin typeface="Helvetica"/>
                        </a:rPr>
                        <a:t>Année n-1</a:t>
                      </a:r>
                    </a:p>
                  </a:txBody>
                  <a:tcPr marL="43200" marR="43200" marT="14400" marB="14400" anchor="ctr">
                    <a:solidFill>
                      <a:srgbClr val="FFFFFF"/>
                    </a:solidFill>
                  </a:tcPr>
                </a:tc>
                <a:tc>
                  <a:txBody>
                    <a:bodyPr/>
                    <a:lstStyle/>
                    <a:p>
                      <a:pPr marL="0" indent="0" lvl="0">
                        <a:buNone/>
                      </a:pPr>
                      <a:r>
                        <a:rPr sz="1400" b="0">
                          <a:solidFill>
                            <a:srgbClr val="060606"/>
                          </a:solidFill>
                          <a:latin typeface="Helvetica"/>
                        </a:rPr>
                        <a:t>C(3,1)</a:t>
                      </a:r>
                    </a:p>
                  </a:txBody>
                  <a:tcPr marL="43200" marR="43200" marT="14400" marB="14400" anchor="ctr">
                    <a:solidFill>
                      <a:srgbClr val="FFFFFF"/>
                    </a:solidFill>
                  </a:tcPr>
                </a:tc>
                <a:tc>
                  <a:txBody>
                    <a:bodyPr/>
                    <a:lstStyle/>
                    <a:p>
                      <a:pPr marL="0" indent="0" lvl="0">
                        <a:buNone/>
                      </a:pPr>
                      <a:r>
                        <a:rPr sz="1400" b="0">
                          <a:solidFill>
                            <a:srgbClr val="060606"/>
                          </a:solidFill>
                          <a:latin typeface="Helvetica"/>
                        </a:rPr>
                        <a:t>C(3,2)</a:t>
                      </a:r>
                    </a:p>
                  </a:txBody>
                  <a:tcPr marL="43200" marR="43200" marT="14400" marB="14400" anchor="ctr">
                    <a:solidFill>
                      <a:srgbClr val="FFFFFF"/>
                    </a:solidFill>
                  </a:tcPr>
                </a:tc>
                <a:tc>
                  <a:txBody>
                    <a:bodyPr/>
                    <a:lstStyle/>
                    <a:p>
                      <a:pPr marL="0" indent="0" lvl="0">
                        <a:buNone/>
                      </a:pPr>
                      <a:r>
                        <a:rPr sz="1400" b="0">
                          <a:solidFill>
                            <a:srgbClr val="060606"/>
                          </a:solidFill>
                          <a:latin typeface="Helvetica"/>
                        </a:rPr>
                        <a:t>?</a:t>
                      </a:r>
                    </a:p>
                  </a:txBody>
                  <a:tcPr marL="43200" marR="43200" marT="14400" marB="14400" anchor="ctr">
                    <a:solidFill>
                      <a:srgbClr val="FFFFFF"/>
                    </a:solidFill>
                  </a:tcPr>
                </a:tc>
                <a:tc>
                  <a:txBody>
                    <a:bodyPr/>
                    <a:lstStyle/>
                    <a:p>
                      <a:pPr marL="0" indent="0" lvl="0">
                        <a:buNone/>
                      </a:pPr>
                      <a:r>
                        <a:rPr sz="1400" b="0">
                          <a:solidFill>
                            <a:srgbClr val="060606"/>
                          </a:solidFill>
                          <a:latin typeface="Helvetica"/>
                        </a:rPr>
                        <a:t>?</a:t>
                      </a:r>
                    </a:p>
                  </a:txBody>
                  <a:tcPr marL="43200" marR="43200" marT="14400" marB="14400" anchor="ctr">
                    <a:solidFill>
                      <a:srgbClr val="FFFFFF"/>
                    </a:solidFill>
                  </a:tcPr>
                </a:tc>
              </a:tr>
              <a:tr h="396000">
                <a:tc>
                  <a:txBody>
                    <a:bodyPr/>
                    <a:lstStyle/>
                    <a:p>
                      <a:pPr marL="0" indent="0" lvl="0">
                        <a:buNone/>
                      </a:pPr>
                      <a:r>
                        <a:rPr sz="1400" b="1">
                          <a:solidFill>
                            <a:srgbClr val="060606"/>
                          </a:solidFill>
                          <a:latin typeface="Helvetica"/>
                        </a:rPr>
                        <a:t>Année n</a:t>
                      </a:r>
                    </a:p>
                  </a:txBody>
                  <a:tcPr marL="43200" marR="43200" marT="14400" marB="14400" anchor="ctr">
                    <a:solidFill>
                      <a:srgbClr val="F2F2F2"/>
                    </a:solidFill>
                  </a:tcPr>
                </a:tc>
                <a:tc>
                  <a:txBody>
                    <a:bodyPr/>
                    <a:lstStyle/>
                    <a:p>
                      <a:pPr marL="0" indent="0" lvl="0">
                        <a:buNone/>
                      </a:pPr>
                      <a:r>
                        <a:rPr sz="1400" b="0">
                          <a:solidFill>
                            <a:srgbClr val="060606"/>
                          </a:solidFill>
                          <a:latin typeface="Helvetica"/>
                        </a:rPr>
                        <a:t>C(4,1)</a:t>
                      </a:r>
                    </a:p>
                  </a:txBody>
                  <a:tcPr marL="43200" marR="43200" marT="14400" marB="14400" anchor="ctr">
                    <a:solidFill>
                      <a:srgbClr val="F2F2F2"/>
                    </a:solidFill>
                  </a:tcPr>
                </a:tc>
                <a:tc>
                  <a:txBody>
                    <a:bodyPr/>
                    <a:lstStyle/>
                    <a:p>
                      <a:pPr marL="0" indent="0" lvl="0">
                        <a:buNone/>
                      </a:pPr>
                      <a:r>
                        <a:rPr sz="1400" b="0">
                          <a:solidFill>
                            <a:srgbClr val="060606"/>
                          </a:solidFill>
                          <a:latin typeface="Helvetica"/>
                        </a:rPr>
                        <a:t>?</a:t>
                      </a:r>
                    </a:p>
                  </a:txBody>
                  <a:tcPr marL="43200" marR="43200" marT="14400" marB="14400" anchor="ctr">
                    <a:solidFill>
                      <a:srgbClr val="F2F2F2"/>
                    </a:solidFill>
                  </a:tcPr>
                </a:tc>
                <a:tc>
                  <a:txBody>
                    <a:bodyPr/>
                    <a:lstStyle/>
                    <a:p>
                      <a:pPr marL="0" indent="0" lvl="0">
                        <a:buNone/>
                      </a:pPr>
                      <a:r>
                        <a:rPr sz="1400" b="0">
                          <a:solidFill>
                            <a:srgbClr val="060606"/>
                          </a:solidFill>
                          <a:latin typeface="Helvetica"/>
                        </a:rPr>
                        <a:t>?</a:t>
                      </a:r>
                    </a:p>
                  </a:txBody>
                  <a:tcPr marL="43200" marR="43200" marT="14400" marB="14400" anchor="ctr">
                    <a:solidFill>
                      <a:srgbClr val="F2F2F2"/>
                    </a:solidFill>
                  </a:tcPr>
                </a:tc>
                <a:tc>
                  <a:txBody>
                    <a:bodyPr/>
                    <a:lstStyle/>
                    <a:p>
                      <a:pPr marL="0" indent="0" lvl="0">
                        <a:buNone/>
                      </a:pPr>
                      <a:r>
                        <a:rPr sz="1400" b="0">
                          <a:solidFill>
                            <a:srgbClr val="060606"/>
                          </a:solidFill>
                          <a:latin typeface="Helvetica"/>
                        </a:rPr>
                        <a:t>?</a:t>
                      </a:r>
                    </a:p>
                  </a:txBody>
                  <a:tcPr marL="43200" marR="43200" marT="14400" marB="14400" anchor="ctr">
                    <a:solidFill>
                      <a:srgbClr val="F2F2F2"/>
                    </a:solidFill>
                  </a:tcPr>
                </a:tc>
              </a:tr>
            </a:tbl>
          </a:graphicData>
        </a:graphic>
      </p:graphicFrame>
      <p:sp>
        <p:nvSpPr>
          <p:cNvPr id="32" name="TextBox 31"/>
          <p:cNvSpPr txBox="1"/>
          <p:nvPr/>
        </p:nvSpPr>
        <p:spPr>
          <a:xfrm>
            <a:off x="503999" y="3744000"/>
            <a:ext cx="6840000" cy="1584000"/>
          </a:xfrm>
          <a:prstGeom prst="rect">
            <a:avLst/>
          </a:prstGeom>
          <a:noFill/>
        </p:spPr>
        <p:txBody>
          <a:bodyPr wrap="square" anchor="t" lIns="54000" rIns="54000"/>
          <a:lstStyle/>
          <a:p>
            <a:pPr algn="l"/>
            <a:r>
              <a:rPr sz="1300" b="0">
                <a:solidFill>
                  <a:srgbClr val="060606"/>
                </a:solidFill>
                <a:latin typeface="Helvetica"/>
              </a:rPr>
              <a:t>C(i, j) : paiements cumulés de l'année de survenance i, au délai j.</a:t>
            </a:r>
          </a:p>
          <a:p>
            <a:pPr algn="l"/>
            <a:r>
              <a:rPr sz="1300" b="0">
                <a:solidFill>
                  <a:srgbClr val="060606"/>
                </a:solidFill>
                <a:latin typeface="Helvetica"/>
              </a:rPr>
              <a:t>« ? » : montants futurs à estimer.</a:t>
            </a:r>
          </a:p>
          <a:p>
            <a:pPr algn="l"/>
            <a:r>
              <a:rPr sz="1300" b="0">
                <a:solidFill>
                  <a:srgbClr val="060606"/>
                </a:solidFill>
                <a:latin typeface="Helvetica"/>
              </a:rPr>
              <a:t>Facteur de développement : f(j) = Σ C(i, j+1) / Σ C(i, j).</a:t>
            </a:r>
          </a:p>
          <a:p>
            <a:pPr algn="l"/>
            <a:r>
              <a:rPr sz="1300" b="0">
                <a:solidFill>
                  <a:srgbClr val="060606"/>
                </a:solidFill>
                <a:latin typeface="Helvetica"/>
              </a:rPr>
              <a:t>Charge ultime = dernier montant connu × produit des facteurs suivants.</a:t>
            </a:r>
          </a:p>
          <a:p>
            <a:pPr algn="l"/>
            <a:r>
              <a:rPr sz="1300" b="0">
                <a:solidFill>
                  <a:srgbClr val="060606"/>
                </a:solidFill>
                <a:latin typeface="Helvetica"/>
              </a:rPr>
              <a:t>Provision = charge ultime - paiements déjà faits.</a:t>
            </a:r>
          </a:p>
        </p:txBody>
      </p:sp>
      <p:sp>
        <p:nvSpPr>
          <p:cNvPr id="33" name="Rounded Rectangle 32"/>
          <p:cNvSpPr/>
          <p:nvPr/>
        </p:nvSpPr>
        <p:spPr>
          <a:xfrm>
            <a:off x="7776000" y="1548000"/>
            <a:ext cx="3960000" cy="1764000"/>
          </a:xfrm>
          <a:prstGeom prst="round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500" b="1">
                <a:solidFill>
                  <a:srgbClr val="060606"/>
                </a:solidFill>
                <a:latin typeface="Helvetica"/>
              </a:rPr>
              <a:t>Hypothèse</a:t>
            </a:r>
          </a:p>
          <a:p>
            <a:pPr algn="ctr"/>
            <a:r>
              <a:rPr sz="1300" b="0">
                <a:solidFill>
                  <a:srgbClr val="060606"/>
                </a:solidFill>
                <a:latin typeface="Helvetica"/>
              </a:rPr>
              <a:t>Le rythme de règlement passé se répète dans le futur.</a:t>
            </a:r>
          </a:p>
        </p:txBody>
      </p:sp>
      <p:sp>
        <p:nvSpPr>
          <p:cNvPr id="34" name="Rounded Rectangle 33"/>
          <p:cNvSpPr/>
          <p:nvPr/>
        </p:nvSpPr>
        <p:spPr>
          <a:xfrm>
            <a:off x="7776000" y="3456000"/>
            <a:ext cx="3960000" cy="1764000"/>
          </a:xfrm>
          <a:prstGeom prst="round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500" b="1">
                <a:solidFill>
                  <a:srgbClr val="060606"/>
                </a:solidFill>
                <a:latin typeface="Helvetica"/>
              </a:rPr>
              <a:t>Données</a:t>
            </a:r>
          </a:p>
          <a:p>
            <a:pPr algn="ctr"/>
            <a:r>
              <a:rPr sz="1300" b="0">
                <a:solidFill>
                  <a:srgbClr val="060606"/>
                </a:solidFill>
                <a:latin typeface="Helvetica"/>
              </a:rPr>
              <a:t>Paiements par année de survenance et par délai, issus des bases de prestations (PBC 13, 28, 40).</a:t>
            </a:r>
          </a:p>
        </p:txBody>
      </p:sp>
      <p:sp>
        <p:nvSpPr>
          <p:cNvPr id="35" name="Rounded Rectangle 34"/>
          <p:cNvSpPr/>
          <p:nvPr/>
        </p:nvSpPr>
        <p:spPr>
          <a:xfrm>
            <a:off x="503999" y="5454000"/>
            <a:ext cx="11232000" cy="342000"/>
          </a:xfrm>
          <a:prstGeom prst="roundRect">
            <a:avLst/>
          </a:prstGeom>
          <a:solidFill>
            <a:srgbClr val="EFAC62"/>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300" b="1">
                <a:solidFill>
                  <a:srgbClr val="060606"/>
                </a:solidFill>
                <a:latin typeface="Helvetica"/>
              </a:rPr>
              <a:t>Travail en attente des données : voir la liste des données manquantes (PBC pointée et partie 14)</a:t>
            </a:r>
          </a:p>
        </p:txBody>
      </p:sp>
      <p:sp>
        <p:nvSpPr>
          <p:cNvPr id="36" name="TextBox 35"/>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PBC : liste des documents demandés au client</a:t>
            </a:r>
          </a:p>
        </p:txBody>
      </p:sp>
    </p:spTree>
    <p:extLst>
      <p:ext uri="{BB962C8B-B14F-4D97-AF65-F5344CB8AC3E}">
        <p14:creationId xmlns:p14="http://schemas.microsoft.com/office/powerpoint/2010/main" val="3068921077"/>
      </p:ext>
    </p:extLst>
  </p:cSld>
  <p:clrMapOvr>
    <a:masterClrMapping/>
  </p:clrMapOvr>
  <p:transition>
    <p:fade/>
  </p:transition>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7" name="Image 36"/>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3" name="Rectangle 22">
            <a:extLst>
              <a:ext uri="{FF2B5EF4-FFF2-40B4-BE49-F238E27FC236}">
                <a16:creationId xmlns:a16="http://schemas.microsoft.com/office/drawing/2014/main" id="{4CD23CFE-3F31-4BA9-B26F-B9B5B351518E}"/>
              </a:ext>
            </a:extLst>
          </p:cNvPr>
          <p:cNvSpPr/>
          <p:nvPr/>
        </p:nvSpPr>
        <p:spPr>
          <a:xfrm>
            <a:off x="2106184" y="1759603"/>
            <a:ext cx="9685766" cy="800764"/>
          </a:xfrm>
          <a:prstGeom prst="rect">
            <a:avLst/>
          </a:prstGeom>
          <a:ln w="12700">
            <a:solidFill>
              <a:srgbClr val="112A40"/>
            </a:solidFill>
          </a:ln>
        </p:spPr>
        <p:txBody>
          <a:bodyPr wrap="square" lIns="162000" tIns="54000" rIns="72000" bIns="54000" anchor="ctr">
            <a:noAutofit/>
          </a:bodyPr>
          <a:lstStyle/>
          <a:p>
            <a:pPr lvl="0">
              <a:lnSpc>
                <a:spcPct val="110000"/>
              </a:lnSpc>
            </a:pPr>
            <a:r>
              <a:rPr lang="fr-CI" sz="1300" b="1" noProof="0">
                <a:latin typeface="Helvetica" panose="020B0604020202020204" pitchFamily="34" charset="0"/>
                <a:ea typeface="Open Sans Semibold" panose="020B0706030804020204" pitchFamily="34" charset="0"/>
                <a:cs typeface="Helvetica" panose="020B0604020202020204" pitchFamily="34" charset="0"/>
              </a:rPr>
              <a:t>Exposition</a:t>
            </a:r>
          </a:p>
          <a:p>
            <a:pPr lvl="0">
              <a:lnSpc>
                <a:spcPct val="110000"/>
              </a:lnSpc>
            </a:pPr>
            <a:r>
              <a:rPr lang="fr-CI" sz="1150" noProof="0" b="0">
                <a:latin typeface="Helvetica" panose="020B0604020202020204" pitchFamily="34" charset="0"/>
                <a:ea typeface="Open Sans Light" panose="020B0306030504020204" pitchFamily="34" charset="0"/>
                <a:cs typeface="Helvetica" panose="020B0604020202020204" pitchFamily="34" charset="0"/>
              </a:rPr>
              <a:t>Adenka calcule le nombre d'années-personnes passées à chaque âge pendant la période, à partir des dates de naissance, d'entrée et de sortie.</a:t>
            </a:r>
          </a:p>
        </p:txBody>
      </p:sp>
      <p:sp>
        <p:nvSpPr>
          <p:cNvPr id="28" name="Rectangle 27">
            <a:extLst>
              <a:ext uri="{FF2B5EF4-FFF2-40B4-BE49-F238E27FC236}">
                <a16:creationId xmlns:a16="http://schemas.microsoft.com/office/drawing/2014/main" id="{9B9B23AA-050D-4543-80A0-873FE31AFFF7}"/>
              </a:ext>
            </a:extLst>
          </p:cNvPr>
          <p:cNvSpPr/>
          <p:nvPr/>
        </p:nvSpPr>
        <p:spPr>
          <a:xfrm>
            <a:off x="1538714" y="1450766"/>
            <a:ext cx="5748535" cy="148246"/>
          </a:xfrm>
          <a:prstGeom prst="rect">
            <a:avLst/>
          </a:prstGeom>
        </p:spPr>
        <p:txBody>
          <a:bodyPr wrap="square" lIns="0" tIns="0" rIns="0" bIns="0">
            <a:spAutoFit/>
          </a:bodyPr>
          <a:lstStyle/>
          <a:p>
            <a:pPr lvl="0">
              <a:lnSpc>
                <a:spcPct val="110000"/>
              </a:lnSpc>
            </a:pPr>
            <a:r>
              <a:rPr lang="fr-CI" sz="1300" b="1" noProof="0">
                <a:latin typeface="Helvetica" panose="020B0604020202020204" pitchFamily="34" charset="0"/>
                <a:ea typeface="Open Sans Semibold" panose="020B0706030804020204" pitchFamily="34" charset="0"/>
                <a:cs typeface="Helvetica" panose="020B0604020202020204" pitchFamily="34" charset="0"/>
              </a:rPr>
              <a:t/>
            </a:r>
          </a:p>
        </p:txBody>
      </p:sp>
      <p:cxnSp>
        <p:nvCxnSpPr>
          <p:cNvPr id="29" name="Straight Connector 28">
            <a:extLst>
              <a:ext uri="{FF2B5EF4-FFF2-40B4-BE49-F238E27FC236}">
                <a16:creationId xmlns:a16="http://schemas.microsoft.com/office/drawing/2014/main" id="{09E553D9-3562-45A7-BE4B-0F12FAA0490F}"/>
              </a:ext>
            </a:extLst>
          </p:cNvPr>
          <p:cNvCxnSpPr>
            <a:cxnSpLocks/>
          </p:cNvCxnSpPr>
          <p:nvPr/>
        </p:nvCxnSpPr>
        <p:spPr>
          <a:xfrm>
            <a:off x="916803" y="1667785"/>
            <a:ext cx="0" cy="3257265"/>
          </a:xfrm>
          <a:prstGeom prst="line">
            <a:avLst/>
          </a:prstGeom>
          <a:ln w="12700">
            <a:solidFill>
              <a:srgbClr val="112A40"/>
            </a:solidFill>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DA735D38-741F-4EFB-826C-6F87FD459AB4}"/>
              </a:ext>
            </a:extLst>
          </p:cNvPr>
          <p:cNvCxnSpPr/>
          <p:nvPr/>
        </p:nvCxnSpPr>
        <p:spPr>
          <a:xfrm>
            <a:off x="916803" y="2186341"/>
            <a:ext cx="621911" cy="3600"/>
          </a:xfrm>
          <a:prstGeom prst="line">
            <a:avLst/>
          </a:prstGeom>
          <a:ln w="12700">
            <a:solidFill>
              <a:srgbClr val="112A40"/>
            </a:solidFill>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EBCFE36B-AE16-49E8-90A6-6621A0EB0473}"/>
              </a:ext>
            </a:extLst>
          </p:cNvPr>
          <p:cNvCxnSpPr/>
          <p:nvPr/>
        </p:nvCxnSpPr>
        <p:spPr>
          <a:xfrm>
            <a:off x="916803" y="3057953"/>
            <a:ext cx="621911" cy="3600"/>
          </a:xfrm>
          <a:prstGeom prst="line">
            <a:avLst/>
          </a:prstGeom>
          <a:ln w="12700">
            <a:solidFill>
              <a:srgbClr val="112A40"/>
            </a:solidFill>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2697F6E2-C26B-4E5F-B7F9-95C6E9325040}"/>
              </a:ext>
            </a:extLst>
          </p:cNvPr>
          <p:cNvCxnSpPr/>
          <p:nvPr/>
        </p:nvCxnSpPr>
        <p:spPr>
          <a:xfrm>
            <a:off x="916803" y="4918272"/>
            <a:ext cx="621911" cy="3600"/>
          </a:xfrm>
          <a:prstGeom prst="line">
            <a:avLst/>
          </a:prstGeom>
          <a:ln w="12700">
            <a:solidFill>
              <a:srgbClr val="112A40"/>
            </a:solidFill>
          </a:ln>
        </p:spPr>
        <p:style>
          <a:lnRef idx="1">
            <a:schemeClr val="accent1"/>
          </a:lnRef>
          <a:fillRef idx="0">
            <a:schemeClr val="accent1"/>
          </a:fillRef>
          <a:effectRef idx="0">
            <a:schemeClr val="accent1"/>
          </a:effectRef>
          <a:fontRef idx="minor">
            <a:schemeClr val="tx1"/>
          </a:fontRef>
        </p:style>
      </p:cxnSp>
      <p:sp>
        <p:nvSpPr>
          <p:cNvPr id="24" name="Rectangle 23">
            <a:extLst>
              <a:ext uri="{FF2B5EF4-FFF2-40B4-BE49-F238E27FC236}">
                <a16:creationId xmlns:a16="http://schemas.microsoft.com/office/drawing/2014/main" id="{4CD23CFE-3F31-4BA9-B26F-B9B5B351518E}"/>
              </a:ext>
            </a:extLst>
          </p:cNvPr>
          <p:cNvSpPr/>
          <p:nvPr/>
        </p:nvSpPr>
        <p:spPr>
          <a:xfrm>
            <a:off x="2103510" y="2679801"/>
            <a:ext cx="9685766" cy="800764"/>
          </a:xfrm>
          <a:prstGeom prst="rect">
            <a:avLst/>
          </a:prstGeom>
          <a:ln w="12700">
            <a:solidFill>
              <a:srgbClr val="112A40"/>
            </a:solidFill>
          </a:ln>
        </p:spPr>
        <p:txBody>
          <a:bodyPr wrap="square" lIns="162000" tIns="54000" rIns="72000" bIns="54000" anchor="ctr">
            <a:noAutofit/>
          </a:bodyPr>
          <a:lstStyle/>
          <a:p>
            <a:pPr lvl="0">
              <a:lnSpc>
                <a:spcPct val="110000"/>
              </a:lnSpc>
            </a:pPr>
            <a:r>
              <a:rPr lang="fr-CI" sz="1300" b="1" noProof="0">
                <a:latin typeface="Helvetica" panose="020B0604020202020204" pitchFamily="34" charset="0"/>
                <a:ea typeface="Open Sans Semibold" panose="020B0706030804020204" pitchFamily="34" charset="0"/>
                <a:cs typeface="Helvetica" panose="020B0604020202020204" pitchFamily="34" charset="0"/>
              </a:rPr>
              <a:t>Décès attendus</a:t>
            </a:r>
          </a:p>
          <a:p>
            <a:pPr lvl="0">
              <a:lnSpc>
                <a:spcPct val="110000"/>
              </a:lnSpc>
            </a:pPr>
            <a:r>
              <a:rPr lang="fr-CI" sz="1150" noProof="0" b="0">
                <a:latin typeface="Helvetica" panose="020B0604020202020204" pitchFamily="34" charset="0"/>
                <a:ea typeface="Open Sans Light" panose="020B0306030504020204" pitchFamily="34" charset="0"/>
                <a:cs typeface="Helvetica" panose="020B0604020202020204" pitchFamily="34" charset="0"/>
              </a:rPr>
              <a:t>Les décès attendus sont l'exposition de chaque âge multipliée par la probabilité de décès de la table CIMA H, additionnée sur tous les âges.</a:t>
            </a:r>
          </a:p>
        </p:txBody>
      </p:sp>
      <p:sp>
        <p:nvSpPr>
          <p:cNvPr id="33" name="Rectangle 32">
            <a:extLst>
              <a:ext uri="{FF2B5EF4-FFF2-40B4-BE49-F238E27FC236}">
                <a16:creationId xmlns:a16="http://schemas.microsoft.com/office/drawing/2014/main" id="{4CD23CFE-3F31-4BA9-B26F-B9B5B351518E}"/>
              </a:ext>
            </a:extLst>
          </p:cNvPr>
          <p:cNvSpPr/>
          <p:nvPr/>
        </p:nvSpPr>
        <p:spPr>
          <a:xfrm>
            <a:off x="2125344" y="3597692"/>
            <a:ext cx="9685766" cy="800764"/>
          </a:xfrm>
          <a:prstGeom prst="rect">
            <a:avLst/>
          </a:prstGeom>
          <a:ln w="12700">
            <a:solidFill>
              <a:srgbClr val="112A40"/>
            </a:solidFill>
          </a:ln>
        </p:spPr>
        <p:txBody>
          <a:bodyPr wrap="square" lIns="162000" tIns="54000" rIns="72000" bIns="54000" anchor="ctr">
            <a:noAutofit/>
          </a:bodyPr>
          <a:lstStyle/>
          <a:p>
            <a:pPr lvl="0">
              <a:lnSpc>
                <a:spcPct val="110000"/>
              </a:lnSpc>
            </a:pPr>
            <a:r>
              <a:rPr lang="fr-CI" sz="1300" b="1" noProof="0">
                <a:latin typeface="Helvetica" panose="020B0604020202020204" pitchFamily="34" charset="0"/>
                <a:ea typeface="Open Sans Semibold" panose="020B0706030804020204" pitchFamily="34" charset="0"/>
                <a:cs typeface="Helvetica" panose="020B0604020202020204" pitchFamily="34" charset="0"/>
              </a:rPr>
              <a:t>Ratio A/E</a:t>
            </a:r>
          </a:p>
          <a:p>
            <a:pPr lvl="0">
              <a:lnSpc>
                <a:spcPct val="110000"/>
              </a:lnSpc>
            </a:pPr>
            <a:r>
              <a:rPr lang="fr-CI" sz="1150" noProof="0" b="0">
                <a:latin typeface="Helvetica" panose="020B0604020202020204" pitchFamily="34" charset="0"/>
                <a:ea typeface="Open Sans Light" panose="020B0306030504020204" pitchFamily="34" charset="0"/>
                <a:cs typeface="Helvetica" panose="020B0604020202020204" pitchFamily="34" charset="0"/>
              </a:rPr>
              <a:t>Le ratio rapporte les décès observés aux décès attendus. Un ratio supérieur à 100 % signifie une mortalité plus forte que la table.</a:t>
            </a:r>
          </a:p>
        </p:txBody>
      </p:sp>
      <p:sp>
        <p:nvSpPr>
          <p:cNvPr id="34" name="Rectangle 33">
            <a:extLst>
              <a:ext uri="{FF2B5EF4-FFF2-40B4-BE49-F238E27FC236}">
                <a16:creationId xmlns:a16="http://schemas.microsoft.com/office/drawing/2014/main" id="{4CD23CFE-3F31-4BA9-B26F-B9B5B351518E}"/>
              </a:ext>
            </a:extLst>
          </p:cNvPr>
          <p:cNvSpPr/>
          <p:nvPr/>
        </p:nvSpPr>
        <p:spPr>
          <a:xfrm>
            <a:off x="2122670" y="4517890"/>
            <a:ext cx="9685766" cy="800764"/>
          </a:xfrm>
          <a:prstGeom prst="rect">
            <a:avLst/>
          </a:prstGeom>
          <a:ln w="12700">
            <a:solidFill>
              <a:srgbClr val="112A40"/>
            </a:solidFill>
          </a:ln>
        </p:spPr>
        <p:txBody>
          <a:bodyPr wrap="square" lIns="162000" tIns="54000" rIns="72000" bIns="54000" anchor="ctr">
            <a:noAutofit/>
          </a:bodyPr>
          <a:lstStyle/>
          <a:p>
            <a:pPr lvl="1">
              <a:lnSpc>
                <a:spcPct val="110000"/>
              </a:lnSpc>
            </a:pPr>
            <a:r>
              <a:rPr lang="fr-CI" sz="1300" b="1" noProof="0">
                <a:latin typeface="Helvetica" panose="020B0604020202020204" pitchFamily="34" charset="0"/>
                <a:ea typeface="Open Sans Semibold" panose="020B0706030804020204" pitchFamily="34" charset="0"/>
                <a:cs typeface="Helvetica" panose="020B0604020202020204" pitchFamily="34" charset="0"/>
              </a:rPr>
              <a:t>Signification</a:t>
            </a:r>
          </a:p>
          <a:p>
            <a:pPr lvl="1">
              <a:lnSpc>
                <a:spcPct val="110000"/>
              </a:lnSpc>
            </a:pPr>
            <a:r>
              <a:rPr lang="fr-CI" sz="1150" noProof="0" b="0">
                <a:latin typeface="Helvetica" panose="020B0604020202020204" pitchFamily="34" charset="0"/>
                <a:ea typeface="Open Sans Light" panose="020B0306030504020204" pitchFamily="34" charset="0"/>
                <a:cs typeface="Helvetica" panose="020B0604020202020204" pitchFamily="34" charset="0"/>
              </a:rPr>
              <a:t>Un intervalle de confiance fondé sur la loi de Poisson dit si l'écart à la table est significatif ou dû au hasard.</a:t>
            </a:r>
            <a:endParaRPr lang="fr-CI" sz="1200">
              <a:latin typeface="Helvetica" panose="020B0604020202020204" pitchFamily="34" charset="0"/>
              <a:ea typeface="Open Sans Light" panose="020B0306030504020204" pitchFamily="34" charset="0"/>
              <a:cs typeface="Helvetica" panose="020B0604020202020204" pitchFamily="34" charset="0"/>
            </a:endParaRPr>
          </a:p>
        </p:txBody>
      </p:sp>
      <p:cxnSp>
        <p:nvCxnSpPr>
          <p:cNvPr id="39" name="Straight Connector 30">
            <a:extLst>
              <a:ext uri="{FF2B5EF4-FFF2-40B4-BE49-F238E27FC236}">
                <a16:creationId xmlns:a16="http://schemas.microsoft.com/office/drawing/2014/main" id="{EBCFE36B-AE16-49E8-90A6-6621A0EB0473}"/>
              </a:ext>
            </a:extLst>
          </p:cNvPr>
          <p:cNvCxnSpPr/>
          <p:nvPr/>
        </p:nvCxnSpPr>
        <p:spPr>
          <a:xfrm>
            <a:off x="919504" y="3993555"/>
            <a:ext cx="621911" cy="3600"/>
          </a:xfrm>
          <a:prstGeom prst="line">
            <a:avLst/>
          </a:prstGeom>
          <a:ln w="12700">
            <a:solidFill>
              <a:srgbClr val="112A40"/>
            </a:solidFill>
          </a:ln>
        </p:spPr>
        <p:style>
          <a:lnRef idx="1">
            <a:schemeClr val="accent1"/>
          </a:lnRef>
          <a:fillRef idx="0">
            <a:schemeClr val="accent1"/>
          </a:fillRef>
          <a:effectRef idx="0">
            <a:schemeClr val="accent1"/>
          </a:effectRef>
          <a:fontRef idx="minor">
            <a:schemeClr val="tx1"/>
          </a:fontRef>
        </p:style>
      </p:cxnSp>
      <p:grpSp>
        <p:nvGrpSpPr>
          <p:cNvPr id="11" name="Groupe 10"/>
          <p:cNvGrpSpPr/>
          <p:nvPr/>
        </p:nvGrpSpPr>
        <p:grpSpPr>
          <a:xfrm>
            <a:off x="1554870" y="1938714"/>
            <a:ext cx="548640" cy="548640"/>
            <a:chOff x="-1153645" y="1535690"/>
            <a:chExt cx="548640" cy="548640"/>
          </a:xfrm>
        </p:grpSpPr>
        <p:sp>
          <p:nvSpPr>
            <p:cNvPr id="36" name="Oval 21">
              <a:extLst>
                <a:ext uri="{FF2B5EF4-FFF2-40B4-BE49-F238E27FC236}">
                  <a16:creationId xmlns:a16="http://schemas.microsoft.com/office/drawing/2014/main" id="{7BB796F0-2DE6-45B1-851B-D8991F423CF4}"/>
                </a:ext>
              </a:extLst>
            </p:cNvPr>
            <p:cNvSpPr/>
            <p:nvPr/>
          </p:nvSpPr>
          <p:spPr bwMode="gray">
            <a:xfrm>
              <a:off x="-1153645" y="1535690"/>
              <a:ext cx="548640" cy="548640"/>
            </a:xfrm>
            <a:prstGeom prst="ellipse">
              <a:avLst/>
            </a:prstGeom>
            <a:solidFill>
              <a:schemeClr val="tx1"/>
            </a:solidFill>
            <a:ln w="19050" algn="ctr">
              <a:noFill/>
              <a:miter lim="800000"/>
              <a:headEnd/>
              <a:tailEnd/>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 typeface="Wingdings 2" pitchFamily="18" charset="2"/>
                <a:buNone/>
                <a:tabLst/>
                <a:defRPr/>
              </a:pPr>
              <a:endParaRPr kumimoji="0" lang="fr-CI" sz="1100" b="1" i="0" u="none" strike="noStrike" kern="1200" cap="none" spc="0" normalizeH="0" baseline="0" noProof="0">
                <a:ln>
                  <a:noFill/>
                </a:ln>
                <a:solidFill>
                  <a:prstClr val="white"/>
                </a:solidFill>
                <a:effectLst/>
                <a:uLnTx/>
                <a:uFillTx/>
                <a:latin typeface="Helvetica" panose="020B0604020202020204" pitchFamily="34" charset="0"/>
                <a:ea typeface="Open Sans Semibold" panose="020B0706030804020204" pitchFamily="34" charset="0"/>
                <a:cs typeface="Helvetica" panose="020B0604020202020204" pitchFamily="34" charset="0"/>
              </a:endParaRPr>
            </a:p>
          </p:txBody>
        </p:sp>
        <p:pic>
          <p:nvPicPr>
            <p:cNvPr id="40" name="Image 39"/>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23163" y="1564148"/>
              <a:ext cx="486259" cy="491723"/>
            </a:xfrm>
            <a:prstGeom prst="rect">
              <a:avLst/>
            </a:prstGeom>
          </p:spPr>
        </p:pic>
      </p:grpSp>
      <p:grpSp>
        <p:nvGrpSpPr>
          <p:cNvPr id="12" name="Groupe 11"/>
          <p:cNvGrpSpPr/>
          <p:nvPr/>
        </p:nvGrpSpPr>
        <p:grpSpPr>
          <a:xfrm>
            <a:off x="1557425" y="2792334"/>
            <a:ext cx="548640" cy="548640"/>
            <a:chOff x="-1154302" y="2719457"/>
            <a:chExt cx="548640" cy="548640"/>
          </a:xfrm>
        </p:grpSpPr>
        <p:sp>
          <p:nvSpPr>
            <p:cNvPr id="42" name="Oval 21">
              <a:extLst>
                <a:ext uri="{FF2B5EF4-FFF2-40B4-BE49-F238E27FC236}">
                  <a16:creationId xmlns:a16="http://schemas.microsoft.com/office/drawing/2014/main" id="{7BB796F0-2DE6-45B1-851B-D8991F423CF4}"/>
                </a:ext>
              </a:extLst>
            </p:cNvPr>
            <p:cNvSpPr/>
            <p:nvPr/>
          </p:nvSpPr>
          <p:spPr bwMode="gray">
            <a:xfrm>
              <a:off x="-1154302" y="2719457"/>
              <a:ext cx="548640" cy="548640"/>
            </a:xfrm>
            <a:prstGeom prst="ellipse">
              <a:avLst/>
            </a:prstGeom>
            <a:solidFill>
              <a:schemeClr val="tx1"/>
            </a:solidFill>
            <a:ln w="19050" algn="ctr">
              <a:noFill/>
              <a:miter lim="800000"/>
              <a:headEnd/>
              <a:tailEnd/>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 typeface="Wingdings 2" pitchFamily="18" charset="2"/>
                <a:buNone/>
                <a:tabLst/>
                <a:defRPr/>
              </a:pPr>
              <a:endParaRPr kumimoji="0" lang="fr-CI" sz="1100" b="1" i="0" u="none" strike="noStrike" kern="1200" cap="none" spc="0" normalizeH="0" baseline="0" noProof="0">
                <a:ln>
                  <a:noFill/>
                </a:ln>
                <a:solidFill>
                  <a:prstClr val="white"/>
                </a:solidFill>
                <a:effectLst/>
                <a:uLnTx/>
                <a:uFillTx/>
                <a:latin typeface="Helvetica" panose="020B0604020202020204" pitchFamily="34" charset="0"/>
                <a:ea typeface="Open Sans Semibold" panose="020B0706030804020204" pitchFamily="34" charset="0"/>
                <a:cs typeface="Helvetica" panose="020B0604020202020204" pitchFamily="34" charset="0"/>
              </a:endParaRPr>
            </a:p>
          </p:txBody>
        </p:sp>
        <p:pic>
          <p:nvPicPr>
            <p:cNvPr id="7" name="Image 6"/>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74901" y="2781886"/>
              <a:ext cx="396274" cy="396274"/>
            </a:xfrm>
            <a:prstGeom prst="rect">
              <a:avLst/>
            </a:prstGeom>
          </p:spPr>
        </p:pic>
      </p:grpSp>
      <p:grpSp>
        <p:nvGrpSpPr>
          <p:cNvPr id="13" name="Groupe 12"/>
          <p:cNvGrpSpPr/>
          <p:nvPr/>
        </p:nvGrpSpPr>
        <p:grpSpPr>
          <a:xfrm>
            <a:off x="1567381" y="3711951"/>
            <a:ext cx="548640" cy="552951"/>
            <a:chOff x="-1185544" y="4122202"/>
            <a:chExt cx="548640" cy="552951"/>
          </a:xfrm>
        </p:grpSpPr>
        <p:sp>
          <p:nvSpPr>
            <p:cNvPr id="44" name="Oval 21">
              <a:extLst>
                <a:ext uri="{FF2B5EF4-FFF2-40B4-BE49-F238E27FC236}">
                  <a16:creationId xmlns:a16="http://schemas.microsoft.com/office/drawing/2014/main" id="{7BB796F0-2DE6-45B1-851B-D8991F423CF4}"/>
                </a:ext>
              </a:extLst>
            </p:cNvPr>
            <p:cNvSpPr/>
            <p:nvPr/>
          </p:nvSpPr>
          <p:spPr bwMode="gray">
            <a:xfrm>
              <a:off x="-1185544" y="4122202"/>
              <a:ext cx="548640" cy="548640"/>
            </a:xfrm>
            <a:prstGeom prst="ellipse">
              <a:avLst/>
            </a:prstGeom>
            <a:solidFill>
              <a:schemeClr val="tx1"/>
            </a:solidFill>
            <a:ln w="19050" algn="ctr">
              <a:noFill/>
              <a:miter lim="800000"/>
              <a:headEnd/>
              <a:tailEnd/>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 typeface="Wingdings 2" pitchFamily="18" charset="2"/>
                <a:buNone/>
                <a:tabLst/>
                <a:defRPr/>
              </a:pPr>
              <a:endParaRPr kumimoji="0" lang="fr-CI" sz="1100" b="1" i="0" u="none" strike="noStrike" kern="1200" cap="none" spc="0" normalizeH="0" baseline="0" noProof="0">
                <a:ln>
                  <a:noFill/>
                </a:ln>
                <a:solidFill>
                  <a:prstClr val="white"/>
                </a:solidFill>
                <a:effectLst/>
                <a:uLnTx/>
                <a:uFillTx/>
                <a:latin typeface="Helvetica" panose="020B0604020202020204" pitchFamily="34" charset="0"/>
                <a:ea typeface="Open Sans Semibold" panose="020B0706030804020204" pitchFamily="34" charset="0"/>
                <a:cs typeface="Helvetica" panose="020B0604020202020204" pitchFamily="34" charset="0"/>
              </a:endParaRPr>
            </a:p>
          </p:txBody>
        </p:sp>
        <p:pic>
          <p:nvPicPr>
            <p:cNvPr id="8" name="Image 7"/>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171838" y="4144755"/>
              <a:ext cx="524301" cy="530398"/>
            </a:xfrm>
            <a:prstGeom prst="rect">
              <a:avLst/>
            </a:prstGeom>
          </p:spPr>
        </p:pic>
      </p:grpSp>
      <p:grpSp>
        <p:nvGrpSpPr>
          <p:cNvPr id="14" name="Groupe 13"/>
          <p:cNvGrpSpPr/>
          <p:nvPr/>
        </p:nvGrpSpPr>
        <p:grpSpPr>
          <a:xfrm>
            <a:off x="1567381" y="4659107"/>
            <a:ext cx="548640" cy="548640"/>
            <a:chOff x="-1227267" y="5286500"/>
            <a:chExt cx="548640" cy="548640"/>
          </a:xfrm>
        </p:grpSpPr>
        <p:sp>
          <p:nvSpPr>
            <p:cNvPr id="45" name="Oval 21">
              <a:extLst>
                <a:ext uri="{FF2B5EF4-FFF2-40B4-BE49-F238E27FC236}">
                  <a16:creationId xmlns:a16="http://schemas.microsoft.com/office/drawing/2014/main" id="{7BB796F0-2DE6-45B1-851B-D8991F423CF4}"/>
                </a:ext>
              </a:extLst>
            </p:cNvPr>
            <p:cNvSpPr/>
            <p:nvPr/>
          </p:nvSpPr>
          <p:spPr bwMode="gray">
            <a:xfrm>
              <a:off x="-1227267" y="5286500"/>
              <a:ext cx="548640" cy="548640"/>
            </a:xfrm>
            <a:prstGeom prst="ellipse">
              <a:avLst/>
            </a:prstGeom>
            <a:solidFill>
              <a:schemeClr val="tx1"/>
            </a:solidFill>
            <a:ln w="19050" algn="ctr">
              <a:noFill/>
              <a:miter lim="800000"/>
              <a:headEnd/>
              <a:tailEnd/>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 typeface="Wingdings 2" pitchFamily="18" charset="2"/>
                <a:buNone/>
                <a:tabLst/>
                <a:defRPr/>
              </a:pPr>
              <a:endParaRPr kumimoji="0" lang="fr-CI" sz="1100" b="1" i="0" u="none" strike="noStrike" kern="1200" cap="none" spc="0" normalizeH="0" baseline="0" noProof="0">
                <a:ln>
                  <a:noFill/>
                </a:ln>
                <a:solidFill>
                  <a:prstClr val="white"/>
                </a:solidFill>
                <a:effectLst/>
                <a:uLnTx/>
                <a:uFillTx/>
                <a:latin typeface="Helvetica" panose="020B0604020202020204" pitchFamily="34" charset="0"/>
                <a:ea typeface="Open Sans Semibold" panose="020B0706030804020204" pitchFamily="34" charset="0"/>
                <a:cs typeface="Helvetica" panose="020B0604020202020204" pitchFamily="34" charset="0"/>
              </a:endParaRPr>
            </a:p>
          </p:txBody>
        </p:sp>
        <p:pic>
          <p:nvPicPr>
            <p:cNvPr id="9" name="Image 8"/>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1171838" y="5346402"/>
              <a:ext cx="422834" cy="432026"/>
            </a:xfrm>
            <a:prstGeom prst="rect">
              <a:avLst/>
            </a:prstGeom>
          </p:spPr>
        </p:pic>
      </p:grpSp>
      <p:sp>
        <p:nvSpPr>
          <p:cNvPr id="50" name="ZoneTexte 49">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pic>
        <p:nvPicPr>
          <p:cNvPr id="51" name="Image 50"/>
          <p:cNvPicPr>
            <a:picLocks noChangeAspect="1"/>
          </p:cNvPicPr>
          <p:nvPr/>
        </p:nvPicPr>
        <p:blipFill rotWithShape="1">
          <a:blip r:embed="rId7" cstate="print">
            <a:extLst>
              <a:ext uri="{28A0092B-C50C-407E-A947-70E740481C1C}">
                <a14:useLocalDpi xmlns:a14="http://schemas.microsoft.com/office/drawing/2010/main" val="0"/>
              </a:ext>
            </a:extLst>
          </a:blip>
          <a:srcRect l="4260" t="13024" r="74155" b="14121"/>
          <a:stretch/>
        </p:blipFill>
        <p:spPr>
          <a:xfrm>
            <a:off x="702475" y="1327580"/>
            <a:ext cx="392679" cy="406703"/>
          </a:xfrm>
          <a:prstGeom prst="rect">
            <a:avLst/>
          </a:prstGeom>
        </p:spPr>
      </p:pic>
      <p:sp>
        <p:nvSpPr>
          <p:cNvPr id="52"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Mortalité observée</a:t>
            </a:r>
          </a:p>
        </p:txBody>
      </p:sp>
      <p:sp>
        <p:nvSpPr>
          <p:cNvPr id="53"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Le rapport décès observés / décès attendus mesure l'écart à la table</a:t>
            </a:r>
          </a:p>
        </p:txBody>
      </p:sp>
      <p:sp>
        <p:nvSpPr>
          <p:cNvPr id="54"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Ratio A/E = décès observés / Σ qx(table) × exposition au risque, par âge</a:t>
            </a:r>
          </a:p>
        </p:txBody>
      </p:sp>
      <p:sp>
        <p:nvSpPr>
          <p:cNvPr id="55"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Adenka</a:t>
            </a:r>
          </a:p>
        </p:txBody>
      </p:sp>
      <p:sp>
        <p:nvSpPr>
          <p:cNvPr id="56" name="Rounded Rectangle 55"/>
          <p:cNvSpPr/>
          <p:nvPr/>
        </p:nvSpPr>
        <p:spPr>
          <a:xfrm>
            <a:off x="503999" y="5454000"/>
            <a:ext cx="11232000" cy="342000"/>
          </a:xfrm>
          <a:prstGeom prst="roundRect">
            <a:avLst/>
          </a:prstGeom>
          <a:solidFill>
            <a:srgbClr val="EFAC62"/>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300" b="1">
                <a:solidFill>
                  <a:srgbClr val="060606"/>
                </a:solidFill>
                <a:latin typeface="Helvetica"/>
              </a:rPr>
              <a:t>Travail en attente des données : voir la liste des données manquantes (PBC pointée et partie 14)</a:t>
            </a:r>
          </a:p>
        </p:txBody>
      </p:sp>
      <p:sp>
        <p:nvSpPr>
          <p:cNvPr id="57" name="TextBox 56"/>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CIMA : Conférence interafricaine des marchés d'assurances | A/E : décès observés / décès attendus | PBC : liste des documents demandés au client | qx : probabilité de décès entre x et x + 1 ans</a:t>
            </a:r>
          </a:p>
        </p:txBody>
      </p:sp>
    </p:spTree>
    <p:extLst>
      <p:ext uri="{BB962C8B-B14F-4D97-AF65-F5344CB8AC3E}">
        <p14:creationId xmlns:p14="http://schemas.microsoft.com/office/powerpoint/2010/main" val="2724841110"/>
      </p:ext>
    </p:extLst>
  </p:cSld>
  <p:clrMapOvr>
    <a:masterClrMapping/>
  </p:clrMapOvr>
  <p:transition>
    <p:fade/>
  </p:transition>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3" name="Image 32"/>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32" name="ZoneTexte 31">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35" name="Google Shape;7418;p41"/>
          <p:cNvSpPr/>
          <p:nvPr/>
        </p:nvSpPr>
        <p:spPr>
          <a:xfrm rot="21013821">
            <a:off x="6401695" y="3070947"/>
            <a:ext cx="1054440" cy="808361"/>
          </a:xfrm>
          <a:custGeom>
            <a:avLst/>
            <a:gdLst/>
            <a:ahLst/>
            <a:cxnLst/>
            <a:rect l="l" t="t" r="r" b="b"/>
            <a:pathLst>
              <a:path w="40007" h="30221" extrusionOk="0">
                <a:moveTo>
                  <a:pt x="19007" y="1"/>
                </a:moveTo>
                <a:cubicBezTo>
                  <a:pt x="17909" y="1"/>
                  <a:pt x="16810" y="17"/>
                  <a:pt x="15708" y="53"/>
                </a:cubicBezTo>
                <a:cubicBezTo>
                  <a:pt x="13270" y="131"/>
                  <a:pt x="10885" y="275"/>
                  <a:pt x="8512" y="548"/>
                </a:cubicBezTo>
                <a:cubicBezTo>
                  <a:pt x="6088" y="835"/>
                  <a:pt x="4524" y="1500"/>
                  <a:pt x="4041" y="2712"/>
                </a:cubicBezTo>
                <a:cubicBezTo>
                  <a:pt x="4015" y="2777"/>
                  <a:pt x="3976" y="2843"/>
                  <a:pt x="3937" y="2908"/>
                </a:cubicBezTo>
                <a:cubicBezTo>
                  <a:pt x="2777" y="4902"/>
                  <a:pt x="2282" y="6949"/>
                  <a:pt x="1734" y="8995"/>
                </a:cubicBezTo>
                <a:cubicBezTo>
                  <a:pt x="1160" y="11120"/>
                  <a:pt x="613" y="13232"/>
                  <a:pt x="391" y="15357"/>
                </a:cubicBezTo>
                <a:cubicBezTo>
                  <a:pt x="183" y="17325"/>
                  <a:pt x="0" y="19293"/>
                  <a:pt x="79" y="21092"/>
                </a:cubicBezTo>
                <a:cubicBezTo>
                  <a:pt x="52" y="23074"/>
                  <a:pt x="144" y="24899"/>
                  <a:pt x="365" y="26710"/>
                </a:cubicBezTo>
                <a:cubicBezTo>
                  <a:pt x="522" y="28079"/>
                  <a:pt x="1721" y="29096"/>
                  <a:pt x="4419" y="29656"/>
                </a:cubicBezTo>
                <a:cubicBezTo>
                  <a:pt x="6296" y="30048"/>
                  <a:pt x="8265" y="30178"/>
                  <a:pt x="10259" y="30204"/>
                </a:cubicBezTo>
                <a:cubicBezTo>
                  <a:pt x="11143" y="30216"/>
                  <a:pt x="12026" y="30220"/>
                  <a:pt x="12908" y="30220"/>
                </a:cubicBezTo>
                <a:cubicBezTo>
                  <a:pt x="15996" y="30220"/>
                  <a:pt x="19078" y="30165"/>
                  <a:pt x="22161" y="30165"/>
                </a:cubicBezTo>
                <a:cubicBezTo>
                  <a:pt x="24859" y="30165"/>
                  <a:pt x="27557" y="30204"/>
                  <a:pt x="30243" y="30204"/>
                </a:cubicBezTo>
                <a:cubicBezTo>
                  <a:pt x="31690" y="30191"/>
                  <a:pt x="33123" y="30113"/>
                  <a:pt x="34505" y="29852"/>
                </a:cubicBezTo>
                <a:cubicBezTo>
                  <a:pt x="35470" y="29683"/>
                  <a:pt x="36330" y="29435"/>
                  <a:pt x="36917" y="29005"/>
                </a:cubicBezTo>
                <a:cubicBezTo>
                  <a:pt x="37881" y="28288"/>
                  <a:pt x="38677" y="27519"/>
                  <a:pt x="39120" y="26684"/>
                </a:cubicBezTo>
                <a:cubicBezTo>
                  <a:pt x="39732" y="25485"/>
                  <a:pt x="39954" y="24260"/>
                  <a:pt x="39954" y="23021"/>
                </a:cubicBezTo>
                <a:cubicBezTo>
                  <a:pt x="39954" y="19372"/>
                  <a:pt x="40006" y="15709"/>
                  <a:pt x="39563" y="12059"/>
                </a:cubicBezTo>
                <a:cubicBezTo>
                  <a:pt x="39367" y="10403"/>
                  <a:pt x="39485" y="8748"/>
                  <a:pt x="39237" y="7105"/>
                </a:cubicBezTo>
                <a:cubicBezTo>
                  <a:pt x="39068" y="6023"/>
                  <a:pt x="38794" y="4941"/>
                  <a:pt x="37920" y="3938"/>
                </a:cubicBezTo>
                <a:cubicBezTo>
                  <a:pt x="37282" y="3208"/>
                  <a:pt x="36773" y="2438"/>
                  <a:pt x="35665" y="1826"/>
                </a:cubicBezTo>
                <a:cubicBezTo>
                  <a:pt x="34192" y="1031"/>
                  <a:pt x="32237" y="666"/>
                  <a:pt x="30138" y="496"/>
                </a:cubicBezTo>
                <a:cubicBezTo>
                  <a:pt x="26451" y="194"/>
                  <a:pt x="22741" y="1"/>
                  <a:pt x="19007" y="1"/>
                </a:cubicBezTo>
                <a:close/>
              </a:path>
            </a:pathLst>
          </a:custGeom>
          <a:solidFill>
            <a:srgbClr val="112A40"/>
          </a:solidFill>
          <a:ln w="28575" cap="flat" cmpd="sng">
            <a:solidFill>
              <a:schemeClr val="lt1"/>
            </a:solidFill>
            <a:prstDash val="solid"/>
            <a:round/>
            <a:headEnd type="none" w="sm" len="sm"/>
            <a:tailEnd type="none" w="sm" len="sm"/>
          </a:ln>
          <a:effectLst>
            <a:outerShdw blurRad="57150" dist="9525" algn="bl" rotWithShape="0">
              <a:srgbClr val="000000"/>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lang="fr-CI" sz="1200" noProof="0">
              <a:solidFill>
                <a:schemeClr val="bg1"/>
              </a:solidFill>
              <a:latin typeface="Helvetica" panose="020B0604020202020204" pitchFamily="34" charset="0"/>
              <a:cs typeface="Helvetica" panose="020B0604020202020204" pitchFamily="34" charset="0"/>
            </a:endParaRPr>
          </a:p>
        </p:txBody>
      </p:sp>
      <p:sp>
        <p:nvSpPr>
          <p:cNvPr id="38" name="Google Shape;7421;p41"/>
          <p:cNvSpPr/>
          <p:nvPr/>
        </p:nvSpPr>
        <p:spPr>
          <a:xfrm rot="356255">
            <a:off x="6399660" y="1666087"/>
            <a:ext cx="1054365" cy="808304"/>
          </a:xfrm>
          <a:custGeom>
            <a:avLst/>
            <a:gdLst/>
            <a:ahLst/>
            <a:cxnLst/>
            <a:rect l="l" t="t" r="r" b="b"/>
            <a:pathLst>
              <a:path w="40007" h="30221" extrusionOk="0">
                <a:moveTo>
                  <a:pt x="19007" y="1"/>
                </a:moveTo>
                <a:cubicBezTo>
                  <a:pt x="17909" y="1"/>
                  <a:pt x="16810" y="17"/>
                  <a:pt x="15708" y="53"/>
                </a:cubicBezTo>
                <a:cubicBezTo>
                  <a:pt x="13270" y="131"/>
                  <a:pt x="10885" y="275"/>
                  <a:pt x="8512" y="548"/>
                </a:cubicBezTo>
                <a:cubicBezTo>
                  <a:pt x="6088" y="835"/>
                  <a:pt x="4524" y="1500"/>
                  <a:pt x="4041" y="2712"/>
                </a:cubicBezTo>
                <a:cubicBezTo>
                  <a:pt x="4015" y="2777"/>
                  <a:pt x="3976" y="2843"/>
                  <a:pt x="3937" y="2908"/>
                </a:cubicBezTo>
                <a:cubicBezTo>
                  <a:pt x="2777" y="4902"/>
                  <a:pt x="2282" y="6949"/>
                  <a:pt x="1734" y="8995"/>
                </a:cubicBezTo>
                <a:cubicBezTo>
                  <a:pt x="1160" y="11120"/>
                  <a:pt x="613" y="13232"/>
                  <a:pt x="391" y="15357"/>
                </a:cubicBezTo>
                <a:cubicBezTo>
                  <a:pt x="183" y="17325"/>
                  <a:pt x="0" y="19293"/>
                  <a:pt x="79" y="21092"/>
                </a:cubicBezTo>
                <a:cubicBezTo>
                  <a:pt x="52" y="23074"/>
                  <a:pt x="144" y="24899"/>
                  <a:pt x="365" y="26710"/>
                </a:cubicBezTo>
                <a:cubicBezTo>
                  <a:pt x="522" y="28079"/>
                  <a:pt x="1721" y="29096"/>
                  <a:pt x="4419" y="29656"/>
                </a:cubicBezTo>
                <a:cubicBezTo>
                  <a:pt x="6296" y="30048"/>
                  <a:pt x="8265" y="30178"/>
                  <a:pt x="10259" y="30204"/>
                </a:cubicBezTo>
                <a:cubicBezTo>
                  <a:pt x="11143" y="30216"/>
                  <a:pt x="12026" y="30220"/>
                  <a:pt x="12908" y="30220"/>
                </a:cubicBezTo>
                <a:cubicBezTo>
                  <a:pt x="15996" y="30220"/>
                  <a:pt x="19078" y="30165"/>
                  <a:pt x="22161" y="30165"/>
                </a:cubicBezTo>
                <a:cubicBezTo>
                  <a:pt x="24859" y="30165"/>
                  <a:pt x="27557" y="30204"/>
                  <a:pt x="30243" y="30204"/>
                </a:cubicBezTo>
                <a:cubicBezTo>
                  <a:pt x="31690" y="30191"/>
                  <a:pt x="33123" y="30113"/>
                  <a:pt x="34505" y="29852"/>
                </a:cubicBezTo>
                <a:cubicBezTo>
                  <a:pt x="35470" y="29683"/>
                  <a:pt x="36330" y="29435"/>
                  <a:pt x="36917" y="29005"/>
                </a:cubicBezTo>
                <a:cubicBezTo>
                  <a:pt x="37881" y="28288"/>
                  <a:pt x="38677" y="27519"/>
                  <a:pt x="39120" y="26684"/>
                </a:cubicBezTo>
                <a:cubicBezTo>
                  <a:pt x="39732" y="25485"/>
                  <a:pt x="39954" y="24260"/>
                  <a:pt x="39954" y="23021"/>
                </a:cubicBezTo>
                <a:cubicBezTo>
                  <a:pt x="39954" y="19372"/>
                  <a:pt x="40006" y="15709"/>
                  <a:pt x="39563" y="12059"/>
                </a:cubicBezTo>
                <a:cubicBezTo>
                  <a:pt x="39367" y="10403"/>
                  <a:pt x="39485" y="8748"/>
                  <a:pt x="39237" y="7105"/>
                </a:cubicBezTo>
                <a:cubicBezTo>
                  <a:pt x="39068" y="6023"/>
                  <a:pt x="38794" y="4941"/>
                  <a:pt x="37920" y="3938"/>
                </a:cubicBezTo>
                <a:cubicBezTo>
                  <a:pt x="37282" y="3208"/>
                  <a:pt x="36773" y="2438"/>
                  <a:pt x="35665" y="1826"/>
                </a:cubicBezTo>
                <a:cubicBezTo>
                  <a:pt x="34192" y="1031"/>
                  <a:pt x="32237" y="666"/>
                  <a:pt x="30138" y="496"/>
                </a:cubicBezTo>
                <a:cubicBezTo>
                  <a:pt x="26451" y="194"/>
                  <a:pt x="22741" y="1"/>
                  <a:pt x="19007" y="1"/>
                </a:cubicBezTo>
                <a:close/>
              </a:path>
            </a:pathLst>
          </a:custGeom>
          <a:solidFill>
            <a:srgbClr val="112A40"/>
          </a:solidFill>
          <a:ln w="28575" cap="flat" cmpd="sng">
            <a:solidFill>
              <a:schemeClr val="lt1"/>
            </a:solidFill>
            <a:prstDash val="solid"/>
            <a:round/>
            <a:headEnd type="none" w="sm" len="sm"/>
            <a:tailEnd type="none" w="sm" len="sm"/>
          </a:ln>
          <a:effectLst>
            <a:outerShdw blurRad="57150" dist="9525" algn="bl" rotWithShape="0">
              <a:srgbClr val="000000"/>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lang="fr-CI" sz="1200" noProof="0">
              <a:solidFill>
                <a:schemeClr val="bg1"/>
              </a:solidFill>
              <a:latin typeface="Helvetica" panose="020B0604020202020204" pitchFamily="34" charset="0"/>
              <a:cs typeface="Helvetica" panose="020B0604020202020204" pitchFamily="34" charset="0"/>
            </a:endParaRPr>
          </a:p>
        </p:txBody>
      </p:sp>
      <p:sp>
        <p:nvSpPr>
          <p:cNvPr id="41" name="Google Shape;7424;p41"/>
          <p:cNvSpPr/>
          <p:nvPr/>
        </p:nvSpPr>
        <p:spPr>
          <a:xfrm rot="282502">
            <a:off x="1112586" y="3070779"/>
            <a:ext cx="1054406" cy="808335"/>
          </a:xfrm>
          <a:custGeom>
            <a:avLst/>
            <a:gdLst/>
            <a:ahLst/>
            <a:cxnLst/>
            <a:rect l="l" t="t" r="r" b="b"/>
            <a:pathLst>
              <a:path w="40007" h="30221" extrusionOk="0">
                <a:moveTo>
                  <a:pt x="19007" y="1"/>
                </a:moveTo>
                <a:cubicBezTo>
                  <a:pt x="17909" y="1"/>
                  <a:pt x="16810" y="17"/>
                  <a:pt x="15708" y="53"/>
                </a:cubicBezTo>
                <a:cubicBezTo>
                  <a:pt x="13270" y="131"/>
                  <a:pt x="10885" y="275"/>
                  <a:pt x="8512" y="548"/>
                </a:cubicBezTo>
                <a:cubicBezTo>
                  <a:pt x="6088" y="835"/>
                  <a:pt x="4524" y="1500"/>
                  <a:pt x="4041" y="2712"/>
                </a:cubicBezTo>
                <a:cubicBezTo>
                  <a:pt x="4015" y="2777"/>
                  <a:pt x="3976" y="2843"/>
                  <a:pt x="3937" y="2908"/>
                </a:cubicBezTo>
                <a:cubicBezTo>
                  <a:pt x="2777" y="4902"/>
                  <a:pt x="2282" y="6949"/>
                  <a:pt x="1734" y="8995"/>
                </a:cubicBezTo>
                <a:cubicBezTo>
                  <a:pt x="1160" y="11120"/>
                  <a:pt x="613" y="13232"/>
                  <a:pt x="391" y="15357"/>
                </a:cubicBezTo>
                <a:cubicBezTo>
                  <a:pt x="183" y="17325"/>
                  <a:pt x="0" y="19293"/>
                  <a:pt x="79" y="21092"/>
                </a:cubicBezTo>
                <a:cubicBezTo>
                  <a:pt x="52" y="23074"/>
                  <a:pt x="144" y="24899"/>
                  <a:pt x="365" y="26710"/>
                </a:cubicBezTo>
                <a:cubicBezTo>
                  <a:pt x="522" y="28079"/>
                  <a:pt x="1721" y="29096"/>
                  <a:pt x="4419" y="29656"/>
                </a:cubicBezTo>
                <a:cubicBezTo>
                  <a:pt x="6296" y="30048"/>
                  <a:pt x="8265" y="30178"/>
                  <a:pt x="10259" y="30204"/>
                </a:cubicBezTo>
                <a:cubicBezTo>
                  <a:pt x="11143" y="30216"/>
                  <a:pt x="12026" y="30220"/>
                  <a:pt x="12908" y="30220"/>
                </a:cubicBezTo>
                <a:cubicBezTo>
                  <a:pt x="15996" y="30220"/>
                  <a:pt x="19078" y="30165"/>
                  <a:pt x="22161" y="30165"/>
                </a:cubicBezTo>
                <a:cubicBezTo>
                  <a:pt x="24859" y="30165"/>
                  <a:pt x="27557" y="30204"/>
                  <a:pt x="30243" y="30204"/>
                </a:cubicBezTo>
                <a:cubicBezTo>
                  <a:pt x="31690" y="30191"/>
                  <a:pt x="33123" y="30113"/>
                  <a:pt x="34505" y="29852"/>
                </a:cubicBezTo>
                <a:cubicBezTo>
                  <a:pt x="35470" y="29683"/>
                  <a:pt x="36330" y="29435"/>
                  <a:pt x="36917" y="29005"/>
                </a:cubicBezTo>
                <a:cubicBezTo>
                  <a:pt x="37881" y="28288"/>
                  <a:pt x="38677" y="27519"/>
                  <a:pt x="39120" y="26684"/>
                </a:cubicBezTo>
                <a:cubicBezTo>
                  <a:pt x="39732" y="25485"/>
                  <a:pt x="39954" y="24260"/>
                  <a:pt x="39954" y="23021"/>
                </a:cubicBezTo>
                <a:cubicBezTo>
                  <a:pt x="39954" y="19372"/>
                  <a:pt x="40006" y="15709"/>
                  <a:pt x="39563" y="12059"/>
                </a:cubicBezTo>
                <a:cubicBezTo>
                  <a:pt x="39367" y="10403"/>
                  <a:pt x="39485" y="8748"/>
                  <a:pt x="39237" y="7105"/>
                </a:cubicBezTo>
                <a:cubicBezTo>
                  <a:pt x="39068" y="6023"/>
                  <a:pt x="38794" y="4941"/>
                  <a:pt x="37920" y="3938"/>
                </a:cubicBezTo>
                <a:cubicBezTo>
                  <a:pt x="37282" y="3208"/>
                  <a:pt x="36773" y="2438"/>
                  <a:pt x="35665" y="1826"/>
                </a:cubicBezTo>
                <a:cubicBezTo>
                  <a:pt x="34192" y="1031"/>
                  <a:pt x="32237" y="666"/>
                  <a:pt x="30138" y="496"/>
                </a:cubicBezTo>
                <a:cubicBezTo>
                  <a:pt x="26451" y="194"/>
                  <a:pt x="22741" y="1"/>
                  <a:pt x="19007" y="1"/>
                </a:cubicBezTo>
                <a:close/>
              </a:path>
            </a:pathLst>
          </a:custGeom>
          <a:solidFill>
            <a:srgbClr val="112A40"/>
          </a:solidFill>
          <a:ln w="28575" cap="flat" cmpd="sng">
            <a:solidFill>
              <a:schemeClr val="lt1"/>
            </a:solidFill>
            <a:prstDash val="solid"/>
            <a:round/>
            <a:headEnd type="none" w="sm" len="sm"/>
            <a:tailEnd type="none" w="sm" len="sm"/>
          </a:ln>
          <a:effectLst>
            <a:outerShdw blurRad="57150" dist="9525" algn="bl" rotWithShape="0">
              <a:srgbClr val="000000"/>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lang="fr-CI" sz="1200" noProof="0">
              <a:solidFill>
                <a:schemeClr val="bg1"/>
              </a:solidFill>
              <a:latin typeface="Helvetica" panose="020B0604020202020204" pitchFamily="34" charset="0"/>
              <a:cs typeface="Helvetica" panose="020B0604020202020204" pitchFamily="34" charset="0"/>
            </a:endParaRPr>
          </a:p>
        </p:txBody>
      </p:sp>
      <p:sp>
        <p:nvSpPr>
          <p:cNvPr id="44" name="Google Shape;7427;p41"/>
          <p:cNvSpPr/>
          <p:nvPr/>
        </p:nvSpPr>
        <p:spPr>
          <a:xfrm rot="21275242">
            <a:off x="1148118" y="1669883"/>
            <a:ext cx="1054398" cy="808329"/>
          </a:xfrm>
          <a:custGeom>
            <a:avLst/>
            <a:gdLst/>
            <a:ahLst/>
            <a:cxnLst/>
            <a:rect l="l" t="t" r="r" b="b"/>
            <a:pathLst>
              <a:path w="40007" h="30221" extrusionOk="0">
                <a:moveTo>
                  <a:pt x="19007" y="1"/>
                </a:moveTo>
                <a:cubicBezTo>
                  <a:pt x="17909" y="1"/>
                  <a:pt x="16810" y="17"/>
                  <a:pt x="15708" y="53"/>
                </a:cubicBezTo>
                <a:cubicBezTo>
                  <a:pt x="13270" y="131"/>
                  <a:pt x="10885" y="275"/>
                  <a:pt x="8512" y="548"/>
                </a:cubicBezTo>
                <a:cubicBezTo>
                  <a:pt x="6088" y="835"/>
                  <a:pt x="4524" y="1500"/>
                  <a:pt x="4041" y="2712"/>
                </a:cubicBezTo>
                <a:cubicBezTo>
                  <a:pt x="4015" y="2777"/>
                  <a:pt x="3976" y="2843"/>
                  <a:pt x="3937" y="2908"/>
                </a:cubicBezTo>
                <a:cubicBezTo>
                  <a:pt x="2777" y="4902"/>
                  <a:pt x="2282" y="6949"/>
                  <a:pt x="1734" y="8995"/>
                </a:cubicBezTo>
                <a:cubicBezTo>
                  <a:pt x="1160" y="11120"/>
                  <a:pt x="613" y="13232"/>
                  <a:pt x="391" y="15357"/>
                </a:cubicBezTo>
                <a:cubicBezTo>
                  <a:pt x="183" y="17325"/>
                  <a:pt x="0" y="19293"/>
                  <a:pt x="79" y="21092"/>
                </a:cubicBezTo>
                <a:cubicBezTo>
                  <a:pt x="52" y="23074"/>
                  <a:pt x="144" y="24899"/>
                  <a:pt x="365" y="26710"/>
                </a:cubicBezTo>
                <a:cubicBezTo>
                  <a:pt x="522" y="28079"/>
                  <a:pt x="1721" y="29096"/>
                  <a:pt x="4419" y="29656"/>
                </a:cubicBezTo>
                <a:cubicBezTo>
                  <a:pt x="6296" y="30048"/>
                  <a:pt x="8265" y="30178"/>
                  <a:pt x="10259" y="30204"/>
                </a:cubicBezTo>
                <a:cubicBezTo>
                  <a:pt x="11143" y="30216"/>
                  <a:pt x="12026" y="30220"/>
                  <a:pt x="12908" y="30220"/>
                </a:cubicBezTo>
                <a:cubicBezTo>
                  <a:pt x="15996" y="30220"/>
                  <a:pt x="19078" y="30165"/>
                  <a:pt x="22161" y="30165"/>
                </a:cubicBezTo>
                <a:cubicBezTo>
                  <a:pt x="24859" y="30165"/>
                  <a:pt x="27557" y="30204"/>
                  <a:pt x="30243" y="30204"/>
                </a:cubicBezTo>
                <a:cubicBezTo>
                  <a:pt x="31690" y="30191"/>
                  <a:pt x="33123" y="30113"/>
                  <a:pt x="34505" y="29852"/>
                </a:cubicBezTo>
                <a:cubicBezTo>
                  <a:pt x="35470" y="29683"/>
                  <a:pt x="36330" y="29435"/>
                  <a:pt x="36917" y="29005"/>
                </a:cubicBezTo>
                <a:cubicBezTo>
                  <a:pt x="37881" y="28288"/>
                  <a:pt x="38677" y="27519"/>
                  <a:pt x="39120" y="26684"/>
                </a:cubicBezTo>
                <a:cubicBezTo>
                  <a:pt x="39732" y="25485"/>
                  <a:pt x="39954" y="24260"/>
                  <a:pt x="39954" y="23021"/>
                </a:cubicBezTo>
                <a:cubicBezTo>
                  <a:pt x="39954" y="19372"/>
                  <a:pt x="40006" y="15709"/>
                  <a:pt x="39563" y="12059"/>
                </a:cubicBezTo>
                <a:cubicBezTo>
                  <a:pt x="39367" y="10403"/>
                  <a:pt x="39485" y="8748"/>
                  <a:pt x="39237" y="7105"/>
                </a:cubicBezTo>
                <a:cubicBezTo>
                  <a:pt x="39068" y="6023"/>
                  <a:pt x="38794" y="4941"/>
                  <a:pt x="37920" y="3938"/>
                </a:cubicBezTo>
                <a:cubicBezTo>
                  <a:pt x="37282" y="3208"/>
                  <a:pt x="36773" y="2438"/>
                  <a:pt x="35665" y="1826"/>
                </a:cubicBezTo>
                <a:cubicBezTo>
                  <a:pt x="34192" y="1031"/>
                  <a:pt x="32237" y="666"/>
                  <a:pt x="30138" y="496"/>
                </a:cubicBezTo>
                <a:cubicBezTo>
                  <a:pt x="26451" y="194"/>
                  <a:pt x="22741" y="1"/>
                  <a:pt x="19007" y="1"/>
                </a:cubicBezTo>
                <a:close/>
              </a:path>
            </a:pathLst>
          </a:custGeom>
          <a:solidFill>
            <a:srgbClr val="112A40"/>
          </a:solidFill>
          <a:ln w="28575" cap="flat" cmpd="sng">
            <a:solidFill>
              <a:schemeClr val="lt1"/>
            </a:solidFill>
            <a:prstDash val="solid"/>
            <a:round/>
            <a:headEnd type="none" w="sm" len="sm"/>
            <a:tailEnd type="none" w="sm" len="sm"/>
          </a:ln>
          <a:effectLst>
            <a:outerShdw blurRad="57150" dist="9525" algn="bl" rotWithShape="0">
              <a:srgbClr val="000000"/>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lang="fr-CI" sz="1200" noProof="0">
              <a:solidFill>
                <a:schemeClr val="bg1"/>
              </a:solidFill>
              <a:latin typeface="Helvetica" panose="020B0604020202020204" pitchFamily="34" charset="0"/>
              <a:cs typeface="Helvetica" panose="020B0604020202020204" pitchFamily="34" charset="0"/>
            </a:endParaRPr>
          </a:p>
        </p:txBody>
      </p:sp>
      <p:sp>
        <p:nvSpPr>
          <p:cNvPr id="47" name="Google Shape;7431;p41"/>
          <p:cNvSpPr txBox="1">
            <a:spLocks/>
          </p:cNvSpPr>
          <p:nvPr/>
        </p:nvSpPr>
        <p:spPr>
          <a:xfrm rot="21433306">
            <a:off x="1159212" y="1824358"/>
            <a:ext cx="961801" cy="526899"/>
          </a:xfrm>
          <a:prstGeom prst="rect">
            <a:avLst/>
          </a:prstGeom>
        </p:spPr>
        <p:txBody>
          <a:bodyPr spcFirstLastPara="1" wrap="square" lIns="91425" tIns="91425" rIns="91425" bIns="91425" anchor="ctr" anchorCtr="0">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spcBef>
                <a:spcPts val="0"/>
              </a:spcBef>
            </a:pPr>
            <a:r>
              <a:rPr lang="fr-CI" sz="3200" noProof="0">
                <a:solidFill>
                  <a:schemeClr val="bg1"/>
                </a:solidFill>
                <a:latin typeface="Helvetica" panose="020B0604020202020204" pitchFamily="34" charset="0"/>
                <a:cs typeface="Helvetica" panose="020B0604020202020204" pitchFamily="34" charset="0"/>
              </a:rPr>
              <a:t>01</a:t>
            </a:r>
          </a:p>
        </p:txBody>
      </p:sp>
      <p:sp>
        <p:nvSpPr>
          <p:cNvPr id="48" name="Google Shape;7432;p41"/>
          <p:cNvSpPr txBox="1">
            <a:spLocks/>
          </p:cNvSpPr>
          <p:nvPr/>
        </p:nvSpPr>
        <p:spPr>
          <a:xfrm rot="442454">
            <a:off x="1159212" y="3209179"/>
            <a:ext cx="961801" cy="526899"/>
          </a:xfrm>
          <a:prstGeom prst="rect">
            <a:avLst/>
          </a:prstGeom>
        </p:spPr>
        <p:txBody>
          <a:bodyPr spcFirstLastPara="1" wrap="square" lIns="91425" tIns="91425" rIns="91425" bIns="91425" anchor="ctr" anchorCtr="0">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spcBef>
                <a:spcPts val="0"/>
              </a:spcBef>
            </a:pPr>
            <a:r>
              <a:rPr lang="fr-CI" sz="3200" noProof="0">
                <a:solidFill>
                  <a:schemeClr val="bg1"/>
                </a:solidFill>
                <a:latin typeface="Helvetica" panose="020B0604020202020204" pitchFamily="34" charset="0"/>
                <a:cs typeface="Helvetica" panose="020B0604020202020204" pitchFamily="34" charset="0"/>
              </a:rPr>
              <a:t>02</a:t>
            </a:r>
          </a:p>
        </p:txBody>
      </p:sp>
      <p:sp>
        <p:nvSpPr>
          <p:cNvPr id="53" name="Google Shape;7437;p41"/>
          <p:cNvSpPr txBox="1">
            <a:spLocks/>
          </p:cNvSpPr>
          <p:nvPr/>
        </p:nvSpPr>
        <p:spPr>
          <a:xfrm rot="494524">
            <a:off x="6442393" y="1824358"/>
            <a:ext cx="970153" cy="526899"/>
          </a:xfrm>
          <a:prstGeom prst="rect">
            <a:avLst/>
          </a:prstGeom>
        </p:spPr>
        <p:txBody>
          <a:bodyPr spcFirstLastPara="1" wrap="square" lIns="91425" tIns="91425" rIns="91425" bIns="91425" anchor="ctr" anchorCtr="0">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spcBef>
                <a:spcPts val="0"/>
              </a:spcBef>
            </a:pPr>
            <a:r>
              <a:rPr lang="fr-CI" sz="3200" noProof="0">
                <a:solidFill>
                  <a:schemeClr val="bg1"/>
                </a:solidFill>
                <a:latin typeface="Helvetica" panose="020B0604020202020204" pitchFamily="34" charset="0"/>
                <a:cs typeface="Helvetica" panose="020B0604020202020204" pitchFamily="34" charset="0"/>
              </a:rPr>
              <a:t>03</a:t>
            </a:r>
          </a:p>
        </p:txBody>
      </p:sp>
      <p:sp>
        <p:nvSpPr>
          <p:cNvPr id="54" name="Google Shape;7438;p41"/>
          <p:cNvSpPr txBox="1">
            <a:spLocks/>
          </p:cNvSpPr>
          <p:nvPr/>
        </p:nvSpPr>
        <p:spPr>
          <a:xfrm rot="21135267">
            <a:off x="6442393" y="3209179"/>
            <a:ext cx="970153" cy="526899"/>
          </a:xfrm>
          <a:prstGeom prst="rect">
            <a:avLst/>
          </a:prstGeom>
        </p:spPr>
        <p:txBody>
          <a:bodyPr spcFirstLastPara="1" wrap="square" lIns="91425" tIns="91425" rIns="91425" bIns="91425" anchor="ctr" anchorCtr="0">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spcBef>
                <a:spcPts val="0"/>
              </a:spcBef>
            </a:pPr>
            <a:r>
              <a:rPr lang="fr-CI" sz="3200" noProof="0">
                <a:solidFill>
                  <a:schemeClr val="bg1"/>
                </a:solidFill>
                <a:latin typeface="Helvetica" panose="020B0604020202020204" pitchFamily="34" charset="0"/>
                <a:cs typeface="Helvetica" panose="020B0604020202020204" pitchFamily="34" charset="0"/>
              </a:rPr>
              <a:t>04</a:t>
            </a:r>
          </a:p>
        </p:txBody>
      </p:sp>
      <p:sp>
        <p:nvSpPr>
          <p:cNvPr id="19" name="Rectangle 18"/>
          <p:cNvSpPr/>
          <p:nvPr/>
        </p:nvSpPr>
        <p:spPr>
          <a:xfrm>
            <a:off x="2416034" y="1530450"/>
            <a:ext cx="3277758" cy="945673"/>
          </a:xfrm>
          <a:prstGeom prst="rect">
            <a:avLst/>
          </a:prstGeom>
        </p:spPr>
        <p:txBody>
          <a:bodyPr wrap="square">
            <a:spAutoFit/>
          </a:bodyPr>
          <a:lstStyle/>
          <a:p>
            <a:pPr lvl="0">
              <a:lnSpc>
                <a:spcPct val="110000"/>
              </a:lnSpc>
            </a:pPr>
            <a:r>
              <a:rPr lang="fr-CI" sz="1300" b="1" noProof="0">
                <a:solidFill>
                  <a:srgbClr val="112A40"/>
                </a:solidFill>
                <a:latin typeface="Helvetica" panose="020B0604020202020204" pitchFamily="34" charset="0"/>
                <a:ea typeface="Open Sans Semibold" panose="020B0706030804020204" pitchFamily="34" charset="0"/>
                <a:cs typeface="Helvetica" panose="020B0604020202020204" pitchFamily="34" charset="0"/>
              </a:rPr>
              <a:t>Population</a:t>
            </a:r>
          </a:p>
          <a:p>
            <a:r>
              <a:rPr lang="fr-CI" sz="1100" noProof="0" b="0">
                <a:latin typeface="Helvetica" panose="020B0604020202020204" pitchFamily="34" charset="0"/>
                <a:ea typeface="Open Sans Light" panose="020B0306030504020204" pitchFamily="34" charset="0"/>
                <a:cs typeface="Helvetica" panose="020B0604020202020204" pitchFamily="34" charset="0"/>
              </a:rPr>
              <a:t>Adenka répartit les mutualistes par âge, sexe et statut (actif, retraité), à partir du fichier des dates de naissance.</a:t>
            </a:r>
            <a:endParaRPr lang="fr-CI" sz="1600" noProof="0"/>
          </a:p>
        </p:txBody>
      </p:sp>
      <p:sp>
        <p:nvSpPr>
          <p:cNvPr id="20" name="Rectangle 19"/>
          <p:cNvSpPr/>
          <p:nvPr/>
        </p:nvSpPr>
        <p:spPr>
          <a:xfrm>
            <a:off x="2416034" y="2902290"/>
            <a:ext cx="3277758" cy="945673"/>
          </a:xfrm>
          <a:prstGeom prst="rect">
            <a:avLst/>
          </a:prstGeom>
        </p:spPr>
        <p:txBody>
          <a:bodyPr wrap="square">
            <a:spAutoFit/>
          </a:bodyPr>
          <a:lstStyle/>
          <a:p>
            <a:pPr lvl="0">
              <a:lnSpc>
                <a:spcPct val="110000"/>
              </a:lnSpc>
            </a:pPr>
            <a:r>
              <a:rPr lang="fr-CI" sz="1300" b="1" noProof="0">
                <a:solidFill>
                  <a:srgbClr val="112A40"/>
                </a:solidFill>
                <a:latin typeface="Helvetica" panose="020B0604020202020204" pitchFamily="34" charset="0"/>
                <a:ea typeface="Open Sans Semibold" panose="020B0706030804020204" pitchFamily="34" charset="0"/>
                <a:cs typeface="Helvetica" panose="020B0604020202020204" pitchFamily="34" charset="0"/>
              </a:rPr>
              <a:t>Vieillissement</a:t>
            </a:r>
          </a:p>
          <a:p>
            <a:r>
              <a:rPr lang="fr-CI" sz="1100" noProof="0" b="0">
                <a:latin typeface="Helvetica" panose="020B0604020202020204" pitchFamily="34" charset="0"/>
                <a:ea typeface="Open Sans Light" panose="020B0306030504020204" pitchFamily="34" charset="0"/>
                <a:cs typeface="Helvetica" panose="020B0604020202020204" pitchFamily="34" charset="0"/>
              </a:rPr>
              <a:t>Chaque année, la population vieillit d'un an. Les décès suivent la table CIMA H et les départs à la retraite suivent l'âge légal.</a:t>
            </a:r>
            <a:endParaRPr lang="fr-CI" sz="1600" noProof="0"/>
          </a:p>
        </p:txBody>
      </p:sp>
      <p:sp>
        <p:nvSpPr>
          <p:cNvPr id="22" name="Rectangle 21"/>
          <p:cNvSpPr/>
          <p:nvPr/>
        </p:nvSpPr>
        <p:spPr>
          <a:xfrm>
            <a:off x="7755371" y="1512644"/>
            <a:ext cx="3277758" cy="945673"/>
          </a:xfrm>
          <a:prstGeom prst="rect">
            <a:avLst/>
          </a:prstGeom>
        </p:spPr>
        <p:txBody>
          <a:bodyPr wrap="square">
            <a:spAutoFit/>
          </a:bodyPr>
          <a:lstStyle/>
          <a:p>
            <a:pPr lvl="0">
              <a:lnSpc>
                <a:spcPct val="110000"/>
              </a:lnSpc>
            </a:pPr>
            <a:r>
              <a:rPr lang="fr-CI" sz="1300" b="1" noProof="0">
                <a:solidFill>
                  <a:srgbClr val="112A40"/>
                </a:solidFill>
                <a:latin typeface="Helvetica" panose="020B0604020202020204" pitchFamily="34" charset="0"/>
                <a:ea typeface="Open Sans Semibold" panose="020B0706030804020204" pitchFamily="34" charset="0"/>
                <a:cs typeface="Helvetica" panose="020B0604020202020204" pitchFamily="34" charset="0"/>
              </a:rPr>
              <a:t>Entrées</a:t>
            </a:r>
          </a:p>
          <a:p>
            <a:r>
              <a:rPr lang="fr-CI" sz="1100" noProof="0" b="0">
                <a:latin typeface="Helvetica" panose="020B0604020202020204" pitchFamily="34" charset="0"/>
                <a:ea typeface="Open Sans Light" panose="020B0306030504020204" pitchFamily="34" charset="0"/>
                <a:cs typeface="Helvetica" panose="020B0604020202020204" pitchFamily="34" charset="0"/>
              </a:rPr>
              <a:t>Les promotions de recrues de juillet sont ajoutées selon une hypothèse de recrutement à valider avec le FPPN.</a:t>
            </a:r>
            <a:endParaRPr lang="fr-CI" sz="1600" noProof="0"/>
          </a:p>
        </p:txBody>
      </p:sp>
      <p:sp>
        <p:nvSpPr>
          <p:cNvPr id="23" name="Rectangle 22"/>
          <p:cNvSpPr/>
          <p:nvPr/>
        </p:nvSpPr>
        <p:spPr>
          <a:xfrm>
            <a:off x="7715469" y="2905981"/>
            <a:ext cx="3277758" cy="945673"/>
          </a:xfrm>
          <a:prstGeom prst="rect">
            <a:avLst/>
          </a:prstGeom>
        </p:spPr>
        <p:txBody>
          <a:bodyPr wrap="square">
            <a:spAutoFit/>
          </a:bodyPr>
          <a:lstStyle/>
          <a:p>
            <a:pPr lvl="0">
              <a:lnSpc>
                <a:spcPct val="110000"/>
              </a:lnSpc>
            </a:pPr>
            <a:r>
              <a:rPr lang="fr-CI" sz="1300" b="1" noProof="0">
                <a:solidFill>
                  <a:srgbClr val="112A40"/>
                </a:solidFill>
                <a:latin typeface="Helvetica" panose="020B0604020202020204" pitchFamily="34" charset="0"/>
                <a:ea typeface="Open Sans Semibold" panose="020B0706030804020204" pitchFamily="34" charset="0"/>
                <a:cs typeface="Helvetica" panose="020B0604020202020204" pitchFamily="34" charset="0"/>
              </a:rPr>
              <a:t>Cotisations</a:t>
            </a:r>
          </a:p>
          <a:p>
            <a:r>
              <a:rPr lang="fr-CI" sz="1100" noProof="0" b="0">
                <a:latin typeface="Helvetica" panose="020B0604020202020204" pitchFamily="34" charset="0"/>
                <a:ea typeface="Open Sans Light" panose="020B0306030504020204" pitchFamily="34" charset="0"/>
                <a:cs typeface="Helvetica" panose="020B0604020202020204" pitchFamily="34" charset="0"/>
              </a:rPr>
              <a:t>Les cotisations futures sont les salaires projetés multipliés par le taux de 5 % du barème officiel.</a:t>
            </a:r>
            <a:endParaRPr lang="fr-CI" sz="1600" noProof="0"/>
          </a:p>
        </p:txBody>
      </p:sp>
      <p:sp>
        <p:nvSpPr>
          <p:cNvPr id="25" name="Google Shape;7418;p41"/>
          <p:cNvSpPr/>
          <p:nvPr/>
        </p:nvSpPr>
        <p:spPr>
          <a:xfrm rot="21013821">
            <a:off x="6441597" y="4488763"/>
            <a:ext cx="1054440" cy="808361"/>
          </a:xfrm>
          <a:custGeom>
            <a:avLst/>
            <a:gdLst/>
            <a:ahLst/>
            <a:cxnLst/>
            <a:rect l="l" t="t" r="r" b="b"/>
            <a:pathLst>
              <a:path w="40007" h="30221" extrusionOk="0">
                <a:moveTo>
                  <a:pt x="19007" y="1"/>
                </a:moveTo>
                <a:cubicBezTo>
                  <a:pt x="17909" y="1"/>
                  <a:pt x="16810" y="17"/>
                  <a:pt x="15708" y="53"/>
                </a:cubicBezTo>
                <a:cubicBezTo>
                  <a:pt x="13270" y="131"/>
                  <a:pt x="10885" y="275"/>
                  <a:pt x="8512" y="548"/>
                </a:cubicBezTo>
                <a:cubicBezTo>
                  <a:pt x="6088" y="835"/>
                  <a:pt x="4524" y="1500"/>
                  <a:pt x="4041" y="2712"/>
                </a:cubicBezTo>
                <a:cubicBezTo>
                  <a:pt x="4015" y="2777"/>
                  <a:pt x="3976" y="2843"/>
                  <a:pt x="3937" y="2908"/>
                </a:cubicBezTo>
                <a:cubicBezTo>
                  <a:pt x="2777" y="4902"/>
                  <a:pt x="2282" y="6949"/>
                  <a:pt x="1734" y="8995"/>
                </a:cubicBezTo>
                <a:cubicBezTo>
                  <a:pt x="1160" y="11120"/>
                  <a:pt x="613" y="13232"/>
                  <a:pt x="391" y="15357"/>
                </a:cubicBezTo>
                <a:cubicBezTo>
                  <a:pt x="183" y="17325"/>
                  <a:pt x="0" y="19293"/>
                  <a:pt x="79" y="21092"/>
                </a:cubicBezTo>
                <a:cubicBezTo>
                  <a:pt x="52" y="23074"/>
                  <a:pt x="144" y="24899"/>
                  <a:pt x="365" y="26710"/>
                </a:cubicBezTo>
                <a:cubicBezTo>
                  <a:pt x="522" y="28079"/>
                  <a:pt x="1721" y="29096"/>
                  <a:pt x="4419" y="29656"/>
                </a:cubicBezTo>
                <a:cubicBezTo>
                  <a:pt x="6296" y="30048"/>
                  <a:pt x="8265" y="30178"/>
                  <a:pt x="10259" y="30204"/>
                </a:cubicBezTo>
                <a:cubicBezTo>
                  <a:pt x="11143" y="30216"/>
                  <a:pt x="12026" y="30220"/>
                  <a:pt x="12908" y="30220"/>
                </a:cubicBezTo>
                <a:cubicBezTo>
                  <a:pt x="15996" y="30220"/>
                  <a:pt x="19078" y="30165"/>
                  <a:pt x="22161" y="30165"/>
                </a:cubicBezTo>
                <a:cubicBezTo>
                  <a:pt x="24859" y="30165"/>
                  <a:pt x="27557" y="30204"/>
                  <a:pt x="30243" y="30204"/>
                </a:cubicBezTo>
                <a:cubicBezTo>
                  <a:pt x="31690" y="30191"/>
                  <a:pt x="33123" y="30113"/>
                  <a:pt x="34505" y="29852"/>
                </a:cubicBezTo>
                <a:cubicBezTo>
                  <a:pt x="35470" y="29683"/>
                  <a:pt x="36330" y="29435"/>
                  <a:pt x="36917" y="29005"/>
                </a:cubicBezTo>
                <a:cubicBezTo>
                  <a:pt x="37881" y="28288"/>
                  <a:pt x="38677" y="27519"/>
                  <a:pt x="39120" y="26684"/>
                </a:cubicBezTo>
                <a:cubicBezTo>
                  <a:pt x="39732" y="25485"/>
                  <a:pt x="39954" y="24260"/>
                  <a:pt x="39954" y="23021"/>
                </a:cubicBezTo>
                <a:cubicBezTo>
                  <a:pt x="39954" y="19372"/>
                  <a:pt x="40006" y="15709"/>
                  <a:pt x="39563" y="12059"/>
                </a:cubicBezTo>
                <a:cubicBezTo>
                  <a:pt x="39367" y="10403"/>
                  <a:pt x="39485" y="8748"/>
                  <a:pt x="39237" y="7105"/>
                </a:cubicBezTo>
                <a:cubicBezTo>
                  <a:pt x="39068" y="6023"/>
                  <a:pt x="38794" y="4941"/>
                  <a:pt x="37920" y="3938"/>
                </a:cubicBezTo>
                <a:cubicBezTo>
                  <a:pt x="37282" y="3208"/>
                  <a:pt x="36773" y="2438"/>
                  <a:pt x="35665" y="1826"/>
                </a:cubicBezTo>
                <a:cubicBezTo>
                  <a:pt x="34192" y="1031"/>
                  <a:pt x="32237" y="666"/>
                  <a:pt x="30138" y="496"/>
                </a:cubicBezTo>
                <a:cubicBezTo>
                  <a:pt x="26451" y="194"/>
                  <a:pt x="22741" y="1"/>
                  <a:pt x="19007" y="1"/>
                </a:cubicBezTo>
                <a:close/>
              </a:path>
            </a:pathLst>
          </a:custGeom>
          <a:solidFill>
            <a:srgbClr val="112A40"/>
          </a:solidFill>
          <a:ln w="28575" cap="flat" cmpd="sng">
            <a:solidFill>
              <a:schemeClr val="lt1"/>
            </a:solidFill>
            <a:prstDash val="solid"/>
            <a:round/>
            <a:headEnd type="none" w="sm" len="sm"/>
            <a:tailEnd type="none" w="sm" len="sm"/>
          </a:ln>
          <a:effectLst>
            <a:outerShdw blurRad="57150" dist="9525" algn="bl" rotWithShape="0">
              <a:srgbClr val="000000"/>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lang="fr-CI" sz="1200" noProof="0">
              <a:solidFill>
                <a:schemeClr val="bg1"/>
              </a:solidFill>
              <a:latin typeface="Helvetica" panose="020B0604020202020204" pitchFamily="34" charset="0"/>
              <a:cs typeface="Helvetica" panose="020B0604020202020204" pitchFamily="34" charset="0"/>
            </a:endParaRPr>
          </a:p>
        </p:txBody>
      </p:sp>
      <p:sp>
        <p:nvSpPr>
          <p:cNvPr id="26" name="Google Shape;7424;p41"/>
          <p:cNvSpPr/>
          <p:nvPr/>
        </p:nvSpPr>
        <p:spPr>
          <a:xfrm rot="282502">
            <a:off x="1152488" y="4488595"/>
            <a:ext cx="1054406" cy="808335"/>
          </a:xfrm>
          <a:custGeom>
            <a:avLst/>
            <a:gdLst/>
            <a:ahLst/>
            <a:cxnLst/>
            <a:rect l="l" t="t" r="r" b="b"/>
            <a:pathLst>
              <a:path w="40007" h="30221" extrusionOk="0">
                <a:moveTo>
                  <a:pt x="19007" y="1"/>
                </a:moveTo>
                <a:cubicBezTo>
                  <a:pt x="17909" y="1"/>
                  <a:pt x="16810" y="17"/>
                  <a:pt x="15708" y="53"/>
                </a:cubicBezTo>
                <a:cubicBezTo>
                  <a:pt x="13270" y="131"/>
                  <a:pt x="10885" y="275"/>
                  <a:pt x="8512" y="548"/>
                </a:cubicBezTo>
                <a:cubicBezTo>
                  <a:pt x="6088" y="835"/>
                  <a:pt x="4524" y="1500"/>
                  <a:pt x="4041" y="2712"/>
                </a:cubicBezTo>
                <a:cubicBezTo>
                  <a:pt x="4015" y="2777"/>
                  <a:pt x="3976" y="2843"/>
                  <a:pt x="3937" y="2908"/>
                </a:cubicBezTo>
                <a:cubicBezTo>
                  <a:pt x="2777" y="4902"/>
                  <a:pt x="2282" y="6949"/>
                  <a:pt x="1734" y="8995"/>
                </a:cubicBezTo>
                <a:cubicBezTo>
                  <a:pt x="1160" y="11120"/>
                  <a:pt x="613" y="13232"/>
                  <a:pt x="391" y="15357"/>
                </a:cubicBezTo>
                <a:cubicBezTo>
                  <a:pt x="183" y="17325"/>
                  <a:pt x="0" y="19293"/>
                  <a:pt x="79" y="21092"/>
                </a:cubicBezTo>
                <a:cubicBezTo>
                  <a:pt x="52" y="23074"/>
                  <a:pt x="144" y="24899"/>
                  <a:pt x="365" y="26710"/>
                </a:cubicBezTo>
                <a:cubicBezTo>
                  <a:pt x="522" y="28079"/>
                  <a:pt x="1721" y="29096"/>
                  <a:pt x="4419" y="29656"/>
                </a:cubicBezTo>
                <a:cubicBezTo>
                  <a:pt x="6296" y="30048"/>
                  <a:pt x="8265" y="30178"/>
                  <a:pt x="10259" y="30204"/>
                </a:cubicBezTo>
                <a:cubicBezTo>
                  <a:pt x="11143" y="30216"/>
                  <a:pt x="12026" y="30220"/>
                  <a:pt x="12908" y="30220"/>
                </a:cubicBezTo>
                <a:cubicBezTo>
                  <a:pt x="15996" y="30220"/>
                  <a:pt x="19078" y="30165"/>
                  <a:pt x="22161" y="30165"/>
                </a:cubicBezTo>
                <a:cubicBezTo>
                  <a:pt x="24859" y="30165"/>
                  <a:pt x="27557" y="30204"/>
                  <a:pt x="30243" y="30204"/>
                </a:cubicBezTo>
                <a:cubicBezTo>
                  <a:pt x="31690" y="30191"/>
                  <a:pt x="33123" y="30113"/>
                  <a:pt x="34505" y="29852"/>
                </a:cubicBezTo>
                <a:cubicBezTo>
                  <a:pt x="35470" y="29683"/>
                  <a:pt x="36330" y="29435"/>
                  <a:pt x="36917" y="29005"/>
                </a:cubicBezTo>
                <a:cubicBezTo>
                  <a:pt x="37881" y="28288"/>
                  <a:pt x="38677" y="27519"/>
                  <a:pt x="39120" y="26684"/>
                </a:cubicBezTo>
                <a:cubicBezTo>
                  <a:pt x="39732" y="25485"/>
                  <a:pt x="39954" y="24260"/>
                  <a:pt x="39954" y="23021"/>
                </a:cubicBezTo>
                <a:cubicBezTo>
                  <a:pt x="39954" y="19372"/>
                  <a:pt x="40006" y="15709"/>
                  <a:pt x="39563" y="12059"/>
                </a:cubicBezTo>
                <a:cubicBezTo>
                  <a:pt x="39367" y="10403"/>
                  <a:pt x="39485" y="8748"/>
                  <a:pt x="39237" y="7105"/>
                </a:cubicBezTo>
                <a:cubicBezTo>
                  <a:pt x="39068" y="6023"/>
                  <a:pt x="38794" y="4941"/>
                  <a:pt x="37920" y="3938"/>
                </a:cubicBezTo>
                <a:cubicBezTo>
                  <a:pt x="37282" y="3208"/>
                  <a:pt x="36773" y="2438"/>
                  <a:pt x="35665" y="1826"/>
                </a:cubicBezTo>
                <a:cubicBezTo>
                  <a:pt x="34192" y="1031"/>
                  <a:pt x="32237" y="666"/>
                  <a:pt x="30138" y="496"/>
                </a:cubicBezTo>
                <a:cubicBezTo>
                  <a:pt x="26451" y="194"/>
                  <a:pt x="22741" y="1"/>
                  <a:pt x="19007" y="1"/>
                </a:cubicBezTo>
                <a:close/>
              </a:path>
            </a:pathLst>
          </a:custGeom>
          <a:solidFill>
            <a:srgbClr val="112A40"/>
          </a:solidFill>
          <a:ln w="28575" cap="flat" cmpd="sng">
            <a:solidFill>
              <a:schemeClr val="lt1"/>
            </a:solidFill>
            <a:prstDash val="solid"/>
            <a:round/>
            <a:headEnd type="none" w="sm" len="sm"/>
            <a:tailEnd type="none" w="sm" len="sm"/>
          </a:ln>
          <a:effectLst>
            <a:outerShdw blurRad="57150" dist="9525" algn="bl" rotWithShape="0">
              <a:srgbClr val="000000"/>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lang="fr-CI" sz="1200" noProof="0">
              <a:solidFill>
                <a:schemeClr val="bg1"/>
              </a:solidFill>
              <a:latin typeface="Helvetica" panose="020B0604020202020204" pitchFamily="34" charset="0"/>
              <a:cs typeface="Helvetica" panose="020B0604020202020204" pitchFamily="34" charset="0"/>
            </a:endParaRPr>
          </a:p>
        </p:txBody>
      </p:sp>
      <p:sp>
        <p:nvSpPr>
          <p:cNvPr id="27" name="Google Shape;7432;p41"/>
          <p:cNvSpPr txBox="1">
            <a:spLocks/>
          </p:cNvSpPr>
          <p:nvPr/>
        </p:nvSpPr>
        <p:spPr>
          <a:xfrm rot="422494">
            <a:off x="1199114" y="4626994"/>
            <a:ext cx="961801" cy="526899"/>
          </a:xfrm>
          <a:prstGeom prst="rect">
            <a:avLst/>
          </a:prstGeom>
        </p:spPr>
        <p:txBody>
          <a:bodyPr spcFirstLastPara="1" wrap="square" lIns="91425" tIns="91425" rIns="91425" bIns="91425" anchor="ctr" anchorCtr="0">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spcBef>
                <a:spcPts val="0"/>
              </a:spcBef>
            </a:pPr>
            <a:r>
              <a:rPr lang="fr-CI" sz="3200" noProof="0">
                <a:solidFill>
                  <a:schemeClr val="bg1"/>
                </a:solidFill>
                <a:latin typeface="Helvetica" panose="020B0604020202020204" pitchFamily="34" charset="0"/>
                <a:cs typeface="Helvetica" panose="020B0604020202020204" pitchFamily="34" charset="0"/>
              </a:rPr>
              <a:t>05</a:t>
            </a:r>
          </a:p>
        </p:txBody>
      </p:sp>
      <p:sp>
        <p:nvSpPr>
          <p:cNvPr id="28" name="Google Shape;7438;p41"/>
          <p:cNvSpPr txBox="1">
            <a:spLocks/>
          </p:cNvSpPr>
          <p:nvPr/>
        </p:nvSpPr>
        <p:spPr>
          <a:xfrm rot="21292494">
            <a:off x="6482295" y="4626994"/>
            <a:ext cx="970153" cy="526899"/>
          </a:xfrm>
          <a:prstGeom prst="rect">
            <a:avLst/>
          </a:prstGeom>
        </p:spPr>
        <p:txBody>
          <a:bodyPr spcFirstLastPara="1" wrap="square" lIns="91425" tIns="91425" rIns="91425" bIns="91425" anchor="ctr" anchorCtr="0">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spcBef>
                <a:spcPts val="0"/>
              </a:spcBef>
            </a:pPr>
            <a:r>
              <a:rPr lang="fr-CI" sz="3200" noProof="0">
                <a:solidFill>
                  <a:schemeClr val="bg1"/>
                </a:solidFill>
                <a:latin typeface="Helvetica" panose="020B0604020202020204" pitchFamily="34" charset="0"/>
                <a:cs typeface="Helvetica" panose="020B0604020202020204" pitchFamily="34" charset="0"/>
              </a:rPr>
              <a:t>06</a:t>
            </a:r>
          </a:p>
        </p:txBody>
      </p:sp>
      <p:sp>
        <p:nvSpPr>
          <p:cNvPr id="29" name="Rectangle 28"/>
          <p:cNvSpPr/>
          <p:nvPr/>
        </p:nvSpPr>
        <p:spPr>
          <a:xfrm>
            <a:off x="2455936" y="4320106"/>
            <a:ext cx="3277758" cy="945673"/>
          </a:xfrm>
          <a:prstGeom prst="rect">
            <a:avLst/>
          </a:prstGeom>
        </p:spPr>
        <p:txBody>
          <a:bodyPr wrap="square">
            <a:spAutoFit/>
          </a:bodyPr>
          <a:lstStyle/>
          <a:p>
            <a:pPr lvl="0">
              <a:lnSpc>
                <a:spcPct val="110000"/>
              </a:lnSpc>
            </a:pPr>
            <a:r>
              <a:rPr lang="fr-CI" sz="1300" b="1" noProof="0">
                <a:solidFill>
                  <a:srgbClr val="112A40"/>
                </a:solidFill>
                <a:latin typeface="Helvetica" panose="020B0604020202020204" pitchFamily="34" charset="0"/>
                <a:ea typeface="Open Sans Semibold" panose="020B0706030804020204" pitchFamily="34" charset="0"/>
                <a:cs typeface="Helvetica" panose="020B0604020202020204" pitchFamily="34" charset="0"/>
              </a:rPr>
              <a:t>Prestations</a:t>
            </a:r>
          </a:p>
          <a:p>
            <a:r>
              <a:rPr lang="fr-CI" sz="1100" noProof="0" b="0">
                <a:latin typeface="Helvetica" panose="020B0604020202020204" pitchFamily="34" charset="0"/>
                <a:ea typeface="Open Sans Light" panose="020B0306030504020204" pitchFamily="34" charset="0"/>
                <a:cs typeface="Helvetica" panose="020B0604020202020204" pitchFamily="34" charset="0"/>
              </a:rPr>
              <a:t>Les prestations futures sont les effectifs par âge multipliés par le coût moyen des soins et des décès à chaque âge.</a:t>
            </a:r>
            <a:endParaRPr lang="fr-CI" sz="1600" noProof="0"/>
          </a:p>
        </p:txBody>
      </p:sp>
      <p:sp>
        <p:nvSpPr>
          <p:cNvPr id="30" name="Rectangle 29"/>
          <p:cNvSpPr/>
          <p:nvPr/>
        </p:nvSpPr>
        <p:spPr>
          <a:xfrm>
            <a:off x="7755371" y="4323796"/>
            <a:ext cx="3277758" cy="945673"/>
          </a:xfrm>
          <a:prstGeom prst="rect">
            <a:avLst/>
          </a:prstGeom>
        </p:spPr>
        <p:txBody>
          <a:bodyPr wrap="square">
            <a:spAutoFit/>
          </a:bodyPr>
          <a:lstStyle/>
          <a:p>
            <a:pPr lvl="0">
              <a:lnSpc>
                <a:spcPct val="110000"/>
              </a:lnSpc>
            </a:pPr>
            <a:r>
              <a:rPr lang="fr-CI" sz="1300" b="1" noProof="0">
                <a:solidFill>
                  <a:srgbClr val="112A40"/>
                </a:solidFill>
                <a:latin typeface="Helvetica" panose="020B0604020202020204" pitchFamily="34" charset="0"/>
                <a:ea typeface="Open Sans Semibold" panose="020B0706030804020204" pitchFamily="34" charset="0"/>
                <a:cs typeface="Helvetica" panose="020B0604020202020204" pitchFamily="34" charset="0"/>
              </a:rPr>
              <a:t>Équilibre</a:t>
            </a:r>
          </a:p>
          <a:p>
            <a:r>
              <a:rPr lang="fr-CI" sz="1100" noProof="0" b="0">
                <a:latin typeface="Helvetica" panose="020B0604020202020204" pitchFamily="34" charset="0"/>
                <a:ea typeface="Open Sans Light" panose="020B0306030504020204" pitchFamily="34" charset="0"/>
                <a:cs typeface="Helvetica" panose="020B0604020202020204" pitchFamily="34" charset="0"/>
              </a:rPr>
              <a:t>L'écart entre cotisations, prestations et frais donne l'équilibre de chaque année, testé par des sensibilités.</a:t>
            </a:r>
            <a:endParaRPr lang="fr-CI" sz="1600" noProof="0"/>
          </a:p>
        </p:txBody>
      </p:sp>
      <p:sp>
        <p:nvSpPr>
          <p:cNvPr id="55"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Projection de l'équilibre technique</a:t>
            </a:r>
          </a:p>
        </p:txBody>
      </p:sp>
      <p:sp>
        <p:nvSpPr>
          <p:cNvPr id="56"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La projection teste si les cotisations futures couvriront les prestations futures</a:t>
            </a:r>
          </a:p>
        </p:txBody>
      </p:sp>
      <p:sp>
        <p:nvSpPr>
          <p:cNvPr id="57"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Six étapes, de la population d'aujourd'hui à l'équilibre de chaque année sur 5 à 10 ans</a:t>
            </a:r>
          </a:p>
        </p:txBody>
      </p:sp>
      <p:sp>
        <p:nvSpPr>
          <p:cNvPr id="58"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Adenka</a:t>
            </a:r>
          </a:p>
        </p:txBody>
      </p:sp>
      <p:sp>
        <p:nvSpPr>
          <p:cNvPr id="59" name="Rounded Rectangle 58"/>
          <p:cNvSpPr/>
          <p:nvPr/>
        </p:nvSpPr>
        <p:spPr>
          <a:xfrm>
            <a:off x="503999" y="5454000"/>
            <a:ext cx="11232000" cy="342000"/>
          </a:xfrm>
          <a:prstGeom prst="roundRect">
            <a:avLst/>
          </a:prstGeom>
          <a:solidFill>
            <a:srgbClr val="EFAC62"/>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300" b="1">
                <a:solidFill>
                  <a:srgbClr val="060606"/>
                </a:solidFill>
                <a:latin typeface="Helvetica"/>
              </a:rPr>
              <a:t>Travail en attente des données : voir la liste des données manquantes (PBC pointée et partie 14)</a:t>
            </a:r>
          </a:p>
        </p:txBody>
      </p:sp>
      <p:sp>
        <p:nvSpPr>
          <p:cNvPr id="60" name="TextBox 59"/>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CIMA : Conférence interafricaine des marchés d'assurances | PBC : liste des documents demandés au client</a:t>
            </a:r>
          </a:p>
        </p:txBody>
      </p:sp>
    </p:spTree>
    <p:extLst>
      <p:ext uri="{BB962C8B-B14F-4D97-AF65-F5344CB8AC3E}">
        <p14:creationId xmlns:p14="http://schemas.microsoft.com/office/powerpoint/2010/main" val="616628544"/>
      </p:ext>
    </p:extLst>
  </p:cSld>
  <p:clrMapOvr>
    <a:masterClrMapping/>
  </p:clrMapOvr>
  <p:transition>
    <p:fade/>
  </p:transition>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Travaux en attente des données</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Ces méthodes seront appliquées dès réception des données listées</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Voir la liste des documents demandés (PBC pointée) et la partie 14 du rapport</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liste des documents demandés (PBC) pointée au 18/10/2026</a:t>
            </a:r>
          </a:p>
        </p:txBody>
      </p:sp>
      <p:sp>
        <p:nvSpPr>
          <p:cNvPr id="31" name="TextBox 30"/>
          <p:cNvSpPr txBox="1"/>
          <p:nvPr/>
        </p:nvSpPr>
        <p:spPr>
          <a:xfrm>
            <a:off x="503999" y="1386000"/>
            <a:ext cx="11232000" cy="216000"/>
          </a:xfrm>
          <a:prstGeom prst="rect">
            <a:avLst/>
          </a:prstGeom>
          <a:noFill/>
        </p:spPr>
        <p:txBody>
          <a:bodyPr wrap="square" anchor="t" lIns="54000" rIns="54000"/>
          <a:lstStyle/>
          <a:p>
            <a:pPr algn="ctr"/>
            <a:r>
              <a:rPr sz="1200" b="0">
                <a:solidFill>
                  <a:srgbClr val="EFAC62"/>
                </a:solidFill>
                <a:latin typeface="Helvetica"/>
              </a:rPr>
              <a:t>Tableau 26 : Méthodes en attente et données nécessaires</a:t>
            </a:r>
          </a:p>
        </p:txBody>
      </p:sp>
      <p:graphicFrame>
        <p:nvGraphicFramePr>
          <p:cNvPr id="32" name="Table 31"/>
          <p:cNvGraphicFramePr>
            <a:graphicFrameLocks noGrp="1"/>
          </p:cNvGraphicFramePr>
          <p:nvPr/>
        </p:nvGraphicFramePr>
        <p:xfrm>
          <a:off x="503999" y="1655999"/>
          <a:ext cx="11232000" cy="1519151"/>
        </p:xfrm>
        <a:graphic>
          <a:graphicData uri="http://schemas.openxmlformats.org/drawingml/2006/table">
            <a:tbl>
              <a:tblPr firstRow="0" bandRow="0">
                <a:tableStyleId>{5940675A-B579-460E-94D1-54222C63F5DA}</a:tableStyleId>
              </a:tblPr>
              <a:tblGrid>
                <a:gridCol w="2664000"/>
                <a:gridCol w="6480000"/>
                <a:gridCol w="2088000"/>
              </a:tblGrid>
              <a:tr h="225250">
                <a:tc>
                  <a:txBody>
                    <a:bodyPr/>
                    <a:lstStyle/>
                    <a:p>
                      <a:pPr marL="0" indent="0" lvl="0">
                        <a:buNone/>
                      </a:pPr>
                      <a:r>
                        <a:rPr sz="1100" b="1">
                          <a:solidFill>
                            <a:srgbClr val="FFFFFF"/>
                          </a:solidFill>
                          <a:latin typeface="Helvetica"/>
                        </a:rPr>
                        <a:t>Méthode</a:t>
                      </a:r>
                    </a:p>
                  </a:txBody>
                  <a:tcPr marL="43200" marR="43200" marT="14400" marB="14400" anchor="ctr">
                    <a:solidFill>
                      <a:srgbClr val="060606"/>
                    </a:solidFill>
                  </a:tcPr>
                </a:tc>
                <a:tc>
                  <a:txBody>
                    <a:bodyPr/>
                    <a:lstStyle/>
                    <a:p>
                      <a:pPr marL="0" indent="0" lvl="0">
                        <a:buNone/>
                      </a:pPr>
                      <a:r>
                        <a:rPr sz="1100" b="1">
                          <a:solidFill>
                            <a:srgbClr val="FFFFFF"/>
                          </a:solidFill>
                          <a:latin typeface="Helvetica"/>
                        </a:rPr>
                        <a:t>Données nécessaires</a:t>
                      </a:r>
                    </a:p>
                  </a:txBody>
                  <a:tcPr marL="43200" marR="43200" marT="14400" marB="14400" anchor="ctr">
                    <a:solidFill>
                      <a:srgbClr val="060606"/>
                    </a:solidFill>
                  </a:tcPr>
                </a:tc>
                <a:tc>
                  <a:txBody>
                    <a:bodyPr/>
                    <a:lstStyle/>
                    <a:p>
                      <a:pPr marL="0" indent="0" lvl="0">
                        <a:buNone/>
                      </a:pPr>
                      <a:r>
                        <a:rPr sz="1100" b="1">
                          <a:solidFill>
                            <a:srgbClr val="FFFFFF"/>
                          </a:solidFill>
                          <a:latin typeface="Helvetica"/>
                        </a:rPr>
                        <a:t>PBC</a:t>
                      </a:r>
                    </a:p>
                  </a:txBody>
                  <a:tcPr marL="43200" marR="43200" marT="14400" marB="14400" anchor="ctr">
                    <a:solidFill>
                      <a:srgbClr val="060606"/>
                    </a:solidFill>
                  </a:tcPr>
                </a:tc>
              </a:tr>
              <a:tr h="225250">
                <a:tc>
                  <a:txBody>
                    <a:bodyPr/>
                    <a:lstStyle/>
                    <a:p>
                      <a:pPr marL="0" indent="0" lvl="0">
                        <a:buNone/>
                      </a:pPr>
                      <a:r>
                        <a:rPr sz="1100" b="1">
                          <a:solidFill>
                            <a:srgbClr val="060606"/>
                          </a:solidFill>
                          <a:latin typeface="Helvetica"/>
                        </a:rPr>
                        <a:t>PSAP et Chain Ladder</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Bases des prestations avec dates, dossiers non payés à chaque clôture</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13, 14, 28, 29, 40</a:t>
                      </a:r>
                    </a:p>
                  </a:txBody>
                  <a:tcPr marL="43200" marR="43200" marT="14400" marB="14400" anchor="ctr">
                    <a:solidFill>
                      <a:srgbClr val="FFFFFF"/>
                    </a:solidFill>
                  </a:tcPr>
                </a:tc>
              </a:tr>
              <a:tr h="225250">
                <a:tc>
                  <a:txBody>
                    <a:bodyPr/>
                    <a:lstStyle/>
                    <a:p>
                      <a:pPr marL="0" indent="0" lvl="0">
                        <a:buNone/>
                      </a:pPr>
                      <a:r>
                        <a:rPr sz="1100" b="1">
                          <a:solidFill>
                            <a:srgbClr val="060606"/>
                          </a:solidFill>
                          <a:latin typeface="Helvetica"/>
                        </a:rPr>
                        <a:t>Mortalité observée (A/E)</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Mutualistes avec date de naissance, sexe, entrée et sortie, base des décès</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9, 10, 11, 28</a:t>
                      </a:r>
                    </a:p>
                  </a:txBody>
                  <a:tcPr marL="43200" marR="43200" marT="14400" marB="14400" anchor="ctr">
                    <a:solidFill>
                      <a:srgbClr val="F2F2F2"/>
                    </a:solidFill>
                  </a:tcPr>
                </a:tc>
              </a:tr>
              <a:tr h="392901">
                <a:tc>
                  <a:txBody>
                    <a:bodyPr/>
                    <a:lstStyle/>
                    <a:p>
                      <a:pPr marL="0" indent="0" lvl="0">
                        <a:buNone/>
                      </a:pPr>
                      <a:r>
                        <a:rPr sz="1100" b="1">
                          <a:solidFill>
                            <a:srgbClr val="060606"/>
                          </a:solidFill>
                          <a:latin typeface="Helvetica"/>
                        </a:rPr>
                        <a:t>Ratios de gestion en attente</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Fichiers aller 936 et 8Z6, contrôles a posteriori, procès-verbaux, cotisation au fonds de garantie</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Nouveaux points PBC</a:t>
                      </a:r>
                    </a:p>
                  </a:txBody>
                  <a:tcPr marL="43200" marR="43200" marT="14400" marB="14400" anchor="ctr">
                    <a:solidFill>
                      <a:srgbClr val="FFFFFF"/>
                    </a:solidFill>
                  </a:tcPr>
                </a:tc>
              </a:tr>
              <a:tr h="225250">
                <a:tc>
                  <a:txBody>
                    <a:bodyPr/>
                    <a:lstStyle/>
                    <a:p>
                      <a:pPr marL="0" indent="0" lvl="0">
                        <a:buNone/>
                      </a:pPr>
                      <a:r>
                        <a:rPr sz="1100" b="1">
                          <a:solidFill>
                            <a:srgbClr val="060606"/>
                          </a:solidFill>
                          <a:latin typeface="Helvetica"/>
                        </a:rPr>
                        <a:t>Projection de l'équilibre</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Âges, barèmes, coût des soins par âge, hypothèses de recrutement</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1, 2, 3, 9, 40</a:t>
                      </a:r>
                    </a:p>
                  </a:txBody>
                  <a:tcPr marL="43200" marR="43200" marT="14400" marB="14400" anchor="ctr">
                    <a:solidFill>
                      <a:srgbClr val="F2F2F2"/>
                    </a:solidFill>
                  </a:tcPr>
                </a:tc>
              </a:tr>
              <a:tr h="225250">
                <a:tc>
                  <a:txBody>
                    <a:bodyPr/>
                    <a:lstStyle/>
                    <a:p>
                      <a:pPr marL="0" indent="0" lvl="0">
                        <a:buNone/>
                      </a:pPr>
                      <a:r>
                        <a:rPr sz="1100" b="1">
                          <a:solidFill>
                            <a:srgbClr val="060606"/>
                          </a:solidFill>
                          <a:latin typeface="Helvetica"/>
                        </a:rPr>
                        <a:t>Engagements d'épargne</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Comptes individuels PEP et EFC, règlement des produits</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16, 17, 18, 19</a:t>
                      </a:r>
                    </a:p>
                  </a:txBody>
                  <a:tcPr marL="43200" marR="43200" marT="14400" marB="14400" anchor="ctr">
                    <a:solidFill>
                      <a:srgbClr val="FFFFFF"/>
                    </a:solidFill>
                  </a:tcPr>
                </a:tc>
              </a:tr>
            </a:tbl>
          </a:graphicData>
        </a:graphic>
      </p:graphicFrame>
      <p:sp>
        <p:nvSpPr>
          <p:cNvPr id="33" name="TextBox 32"/>
          <p:cNvSpPr txBox="1"/>
          <p:nvPr/>
        </p:nvSpPr>
        <p:spPr>
          <a:xfrm>
            <a:off x="503999" y="3283153"/>
            <a:ext cx="11232000" cy="2584846"/>
          </a:xfrm>
          <a:prstGeom prst="rect">
            <a:avLst/>
          </a:prstGeom>
          <a:noFill/>
        </p:spPr>
        <p:txBody>
          <a:bodyPr wrap="square" lIns="54000" rIns="54000"/>
          <a:lstStyle/>
          <a:p>
            <a:pPr algn="just">
              <a:spcAft>
                <a:spcPts val="600"/>
              </a:spcAft>
            </a:pPr>
            <a:r>
              <a:rPr sz="1300" b="1">
                <a:solidFill>
                  <a:srgbClr val="060606"/>
                </a:solidFill>
                <a:latin typeface="Helvetica"/>
              </a:rPr>
              <a:t>Toutes les méthodes en attente dépendent de trois fichiers</a:t>
            </a:r>
            <a:r>
              <a:rPr sz="1300" b="0">
                <a:solidFill>
                  <a:srgbClr val="060606"/>
                </a:solidFill>
                <a:latin typeface="Helvetica"/>
              </a:rPr>
              <a:t> : les bases de prestations, le fichier des mutualistes avec dates de naissance et les comptes individuels d'épargne.</a:t>
            </a:r>
          </a:p>
          <a:p>
            <a:pPr algn="just">
              <a:spcAft>
                <a:spcPts val="600"/>
              </a:spcAft>
            </a:pPr>
            <a:r>
              <a:rPr sz="1300" b="1">
                <a:solidFill>
                  <a:srgbClr val="060606"/>
                </a:solidFill>
                <a:latin typeface="Helvetica"/>
              </a:rPr>
              <a:t>Implication pour le FPPN.</a:t>
            </a:r>
            <a:r>
              <a:rPr sz="1300" b="0">
                <a:solidFill>
                  <a:srgbClr val="060606"/>
                </a:solidFill>
                <a:latin typeface="Helvetica"/>
              </a:rPr>
              <a:t> Ces trois fichiers permettront aussi de réaliser l'étude actuarielle quinquennale exigée pour les risques longs (art. 14 du règlement d'exécution).</a:t>
            </a:r>
          </a:p>
        </p:txBody>
      </p:sp>
      <p:sp>
        <p:nvSpPr>
          <p:cNvPr id="34" name="TextBox 33"/>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PEP : Plan Épargne Plus | EFC : entraide fin de carrière | PSAP : provision pour sinistres à payer | A/E : décès observés / décès attendus | PBC : liste des documents demandés au client | 8Z6 : poste décès</a:t>
            </a:r>
          </a:p>
        </p:txBody>
      </p:sp>
    </p:spTree>
    <p:extLst>
      <p:ext uri="{BB962C8B-B14F-4D97-AF65-F5344CB8AC3E}">
        <p14:creationId xmlns:p14="http://schemas.microsoft.com/office/powerpoint/2010/main" val="3264537204"/>
      </p:ext>
    </p:extLst>
  </p:cSld>
  <p:clrMapOvr>
    <a:masterClrMapping/>
  </p:clrMapOvr>
  <p:transition>
    <p:fade/>
  </p:transition>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Google Shape;8651;p70"/>
          <p:cNvSpPr/>
          <p:nvPr/>
        </p:nvSpPr>
        <p:spPr>
          <a:xfrm>
            <a:off x="2013108" y="2588204"/>
            <a:ext cx="1380332" cy="1428252"/>
          </a:xfrm>
          <a:custGeom>
            <a:avLst/>
            <a:gdLst/>
            <a:ahLst/>
            <a:cxnLst/>
            <a:rect l="l" t="t" r="r" b="b"/>
            <a:pathLst>
              <a:path w="8670" h="8971" extrusionOk="0">
                <a:moveTo>
                  <a:pt x="7105" y="1302"/>
                </a:moveTo>
                <a:cubicBezTo>
                  <a:pt x="7105" y="1315"/>
                  <a:pt x="7105" y="1328"/>
                  <a:pt x="7105" y="1341"/>
                </a:cubicBezTo>
                <a:cubicBezTo>
                  <a:pt x="7118" y="1980"/>
                  <a:pt x="7183" y="2619"/>
                  <a:pt x="7183" y="3283"/>
                </a:cubicBezTo>
                <a:cubicBezTo>
                  <a:pt x="7170" y="4404"/>
                  <a:pt x="7183" y="5525"/>
                  <a:pt x="7222" y="6646"/>
                </a:cubicBezTo>
                <a:cubicBezTo>
                  <a:pt x="7235" y="6959"/>
                  <a:pt x="7222" y="7259"/>
                  <a:pt x="7222" y="7559"/>
                </a:cubicBezTo>
                <a:lnTo>
                  <a:pt x="7222" y="7585"/>
                </a:lnTo>
                <a:cubicBezTo>
                  <a:pt x="6935" y="7598"/>
                  <a:pt x="6649" y="7611"/>
                  <a:pt x="6362" y="7611"/>
                </a:cubicBezTo>
                <a:cubicBezTo>
                  <a:pt x="6101" y="7598"/>
                  <a:pt x="5853" y="7585"/>
                  <a:pt x="5593" y="7585"/>
                </a:cubicBezTo>
                <a:cubicBezTo>
                  <a:pt x="4159" y="7559"/>
                  <a:pt x="2712" y="7559"/>
                  <a:pt x="1291" y="7442"/>
                </a:cubicBezTo>
                <a:cubicBezTo>
                  <a:pt x="1278" y="7207"/>
                  <a:pt x="1239" y="6959"/>
                  <a:pt x="1226" y="6725"/>
                </a:cubicBezTo>
                <a:cubicBezTo>
                  <a:pt x="1200" y="6255"/>
                  <a:pt x="1187" y="5799"/>
                  <a:pt x="1200" y="5330"/>
                </a:cubicBezTo>
                <a:cubicBezTo>
                  <a:pt x="1213" y="4222"/>
                  <a:pt x="1226" y="3101"/>
                  <a:pt x="1343" y="1993"/>
                </a:cubicBezTo>
                <a:lnTo>
                  <a:pt x="1552" y="1993"/>
                </a:lnTo>
                <a:cubicBezTo>
                  <a:pt x="2138" y="1980"/>
                  <a:pt x="2725" y="1889"/>
                  <a:pt x="3312" y="1810"/>
                </a:cubicBezTo>
                <a:cubicBezTo>
                  <a:pt x="4576" y="1641"/>
                  <a:pt x="5840" y="1524"/>
                  <a:pt x="7105" y="1302"/>
                </a:cubicBezTo>
                <a:close/>
                <a:moveTo>
                  <a:pt x="7529" y="1"/>
                </a:moveTo>
                <a:cubicBezTo>
                  <a:pt x="7291" y="1"/>
                  <a:pt x="7059" y="53"/>
                  <a:pt x="6818" y="64"/>
                </a:cubicBezTo>
                <a:cubicBezTo>
                  <a:pt x="6375" y="103"/>
                  <a:pt x="5932" y="142"/>
                  <a:pt x="5488" y="194"/>
                </a:cubicBezTo>
                <a:cubicBezTo>
                  <a:pt x="4824" y="259"/>
                  <a:pt x="4107" y="350"/>
                  <a:pt x="3429" y="389"/>
                </a:cubicBezTo>
                <a:cubicBezTo>
                  <a:pt x="2686" y="429"/>
                  <a:pt x="1943" y="481"/>
                  <a:pt x="1213" y="598"/>
                </a:cubicBezTo>
                <a:cubicBezTo>
                  <a:pt x="913" y="624"/>
                  <a:pt x="652" y="728"/>
                  <a:pt x="509" y="976"/>
                </a:cubicBezTo>
                <a:cubicBezTo>
                  <a:pt x="470" y="1028"/>
                  <a:pt x="444" y="1080"/>
                  <a:pt x="431" y="1146"/>
                </a:cubicBezTo>
                <a:cubicBezTo>
                  <a:pt x="300" y="1524"/>
                  <a:pt x="287" y="1928"/>
                  <a:pt x="300" y="2332"/>
                </a:cubicBezTo>
                <a:cubicBezTo>
                  <a:pt x="209" y="3010"/>
                  <a:pt x="209" y="3700"/>
                  <a:pt x="209" y="4378"/>
                </a:cubicBezTo>
                <a:cubicBezTo>
                  <a:pt x="170" y="4769"/>
                  <a:pt x="144" y="5173"/>
                  <a:pt x="131" y="5565"/>
                </a:cubicBezTo>
                <a:cubicBezTo>
                  <a:pt x="105" y="6203"/>
                  <a:pt x="14" y="6842"/>
                  <a:pt x="14" y="7481"/>
                </a:cubicBezTo>
                <a:cubicBezTo>
                  <a:pt x="1" y="7911"/>
                  <a:pt x="157" y="8315"/>
                  <a:pt x="613" y="8419"/>
                </a:cubicBezTo>
                <a:cubicBezTo>
                  <a:pt x="1056" y="8550"/>
                  <a:pt x="1526" y="8524"/>
                  <a:pt x="1982" y="8550"/>
                </a:cubicBezTo>
                <a:cubicBezTo>
                  <a:pt x="2243" y="8563"/>
                  <a:pt x="2503" y="8589"/>
                  <a:pt x="2764" y="8615"/>
                </a:cubicBezTo>
                <a:cubicBezTo>
                  <a:pt x="3885" y="8745"/>
                  <a:pt x="5006" y="8902"/>
                  <a:pt x="6140" y="8941"/>
                </a:cubicBezTo>
                <a:cubicBezTo>
                  <a:pt x="6220" y="8945"/>
                  <a:pt x="6302" y="8946"/>
                  <a:pt x="6383" y="8946"/>
                </a:cubicBezTo>
                <a:cubicBezTo>
                  <a:pt x="6581" y="8946"/>
                  <a:pt x="6781" y="8937"/>
                  <a:pt x="6974" y="8928"/>
                </a:cubicBezTo>
                <a:cubicBezTo>
                  <a:pt x="7118" y="8941"/>
                  <a:pt x="7274" y="8941"/>
                  <a:pt x="7418" y="8941"/>
                </a:cubicBezTo>
                <a:cubicBezTo>
                  <a:pt x="7568" y="8956"/>
                  <a:pt x="7723" y="8971"/>
                  <a:pt x="7877" y="8971"/>
                </a:cubicBezTo>
                <a:cubicBezTo>
                  <a:pt x="7990" y="8971"/>
                  <a:pt x="8103" y="8963"/>
                  <a:pt x="8213" y="8941"/>
                </a:cubicBezTo>
                <a:cubicBezTo>
                  <a:pt x="8643" y="8810"/>
                  <a:pt x="8565" y="8093"/>
                  <a:pt x="8604" y="7741"/>
                </a:cubicBezTo>
                <a:cubicBezTo>
                  <a:pt x="8669" y="6620"/>
                  <a:pt x="8539" y="5499"/>
                  <a:pt x="8487" y="4378"/>
                </a:cubicBezTo>
                <a:cubicBezTo>
                  <a:pt x="8434" y="3453"/>
                  <a:pt x="8330" y="2527"/>
                  <a:pt x="8252" y="1589"/>
                </a:cubicBezTo>
                <a:cubicBezTo>
                  <a:pt x="8200" y="1341"/>
                  <a:pt x="8239" y="637"/>
                  <a:pt x="8096" y="350"/>
                </a:cubicBezTo>
                <a:lnTo>
                  <a:pt x="8082" y="350"/>
                </a:lnTo>
                <a:cubicBezTo>
                  <a:pt x="8056" y="181"/>
                  <a:pt x="7952" y="51"/>
                  <a:pt x="7704" y="11"/>
                </a:cubicBezTo>
                <a:cubicBezTo>
                  <a:pt x="7645" y="4"/>
                  <a:pt x="7587" y="1"/>
                  <a:pt x="7529" y="1"/>
                </a:cubicBezTo>
                <a:close/>
              </a:path>
            </a:pathLst>
          </a:custGeom>
          <a:solidFill>
            <a:schemeClr val="bg1"/>
          </a:solidFill>
          <a:ln w="76200">
            <a:solidFill>
              <a:schemeClr val="tx1"/>
            </a:solidFill>
          </a:ln>
        </p:spPr>
        <p:txBody>
          <a:bodyPr spcFirstLastPara="1" wrap="square" lIns="91425" tIns="91425" rIns="91425" bIns="91425" anchor="ctr" anchorCtr="0">
            <a:noAutofit/>
          </a:bodyPr>
          <a:lstStyle/>
          <a:p>
            <a:pPr marL="0" lvl="0" indent="0" algn="l" rtl="0">
              <a:spcBef>
                <a:spcPts val="0"/>
              </a:spcBef>
              <a:spcAft>
                <a:spcPts val="0"/>
              </a:spcAft>
              <a:buNone/>
            </a:pPr>
            <a:endParaRPr lang="fr-CI" noProof="0">
              <a:solidFill>
                <a:schemeClr val="bg1"/>
              </a:solidFill>
              <a:latin typeface="Helvetica" panose="020B0604020202020204" pitchFamily="34" charset="0"/>
              <a:cs typeface="Helvetica" panose="020B0604020202020204" pitchFamily="34" charset="0"/>
            </a:endParaRPr>
          </a:p>
        </p:txBody>
      </p:sp>
      <p:sp>
        <p:nvSpPr>
          <p:cNvPr id="25" name="Rectangle 24">
            <a:extLst>
              <a:ext uri="{FF2B5EF4-FFF2-40B4-BE49-F238E27FC236}">
                <a16:creationId xmlns:a16="http://schemas.microsoft.com/office/drawing/2014/main" id="{9B9B23AA-050D-4543-80A0-873FE31AFFF7}"/>
              </a:ext>
            </a:extLst>
          </p:cNvPr>
          <p:cNvSpPr/>
          <p:nvPr/>
        </p:nvSpPr>
        <p:spPr>
          <a:xfrm>
            <a:off x="2446471" y="2869098"/>
            <a:ext cx="513606" cy="936923"/>
          </a:xfrm>
          <a:prstGeom prst="rect">
            <a:avLst/>
          </a:prstGeom>
        </p:spPr>
        <p:txBody>
          <a:bodyPr wrap="none" lIns="0" tIns="0" rIns="0" bIns="0">
            <a:spAutoFit/>
          </a:bodyPr>
          <a:lstStyle/>
          <a:p>
            <a:pPr lvl="0">
              <a:lnSpc>
                <a:spcPct val="110000"/>
              </a:lnSpc>
            </a:pPr>
            <a:r>
              <a:rPr lang="fr-CI" sz="4200" b="1" noProof="0">
                <a:solidFill>
                  <a:schemeClr val="bg1"/>
                </a:solidFill>
                <a:latin typeface="Helvetica" panose="020B0604020202020204" pitchFamily="34" charset="0"/>
                <a:ea typeface="Open Sans Semibold" panose="020B0706030804020204" pitchFamily="34" charset="0"/>
                <a:cs typeface="Helvetica" panose="020B0604020202020204" pitchFamily="34" charset="0"/>
              </a:rPr>
              <a:t>13</a:t>
            </a:r>
          </a:p>
        </p:txBody>
      </p:sp>
      <p:sp>
        <p:nvSpPr>
          <p:cNvPr id="10" name="Rectangle 9"/>
          <p:cNvSpPr/>
          <p:nvPr/>
        </p:nvSpPr>
        <p:spPr>
          <a:xfrm>
            <a:off x="3938554" y="2462184"/>
            <a:ext cx="3816000" cy="1200329"/>
          </a:xfrm>
          <a:prstGeom prst="rect">
            <a:avLst/>
          </a:prstGeom>
        </p:spPr>
        <p:txBody>
          <a:bodyPr wrap="square">
            <a:spAutoFit/>
          </a:bodyPr>
          <a:lstStyle/>
          <a:p>
            <a:r>
              <a:rPr lang="fr-CI" sz="3600" b="1" noProof="0">
                <a:solidFill>
                  <a:schemeClr val="bg1"/>
                </a:solidFill>
                <a:latin typeface="Helvetica" panose="020B0604020202020204" pitchFamily="34" charset="0"/>
                <a:cs typeface="Helvetica" panose="020B0604020202020204" pitchFamily="34" charset="0"/>
              </a:rPr>
              <a:t>Outils et traçabilité</a:t>
            </a:r>
          </a:p>
        </p:txBody>
      </p:sp>
      <p:pic>
        <p:nvPicPr>
          <p:cNvPr id="9" name="Image 8">
            <a:extLst>
              <a:ext uri="{FF2B5EF4-FFF2-40B4-BE49-F238E27FC236}">
                <a16:creationId xmlns:a16="http://schemas.microsoft.com/office/drawing/2014/main" id="{2C356854-0685-DCEF-E2F6-65D5E9653A47}"/>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71274" y="-185107"/>
            <a:ext cx="3179518" cy="1268781"/>
          </a:xfrm>
          <a:prstGeom prst="rect">
            <a:avLst/>
          </a:prstGeom>
        </p:spPr>
      </p:pic>
      <p:sp>
        <p:nvSpPr>
          <p:cNvPr id="6" name="Rectangle 5"/>
          <p:cNvSpPr/>
          <p:nvPr/>
        </p:nvSpPr>
        <p:spPr>
          <a:xfrm>
            <a:off x="3938554" y="3337559"/>
            <a:ext cx="3816000" cy="923330"/>
          </a:xfrm>
          <a:prstGeom prst="rect">
            <a:avLst/>
          </a:prstGeom>
        </p:spPr>
        <p:txBody>
          <a:bodyPr wrap="square">
            <a:spAutoFit/>
          </a:bodyPr>
          <a:lstStyle/>
          <a:p>
            <a:br>
              <a:rPr lang="fr-CI" noProof="0">
                <a:solidFill>
                  <a:schemeClr val="bg1"/>
                </a:solidFill>
              </a:rPr>
            </a:br>
            <a:r>
              <a:rPr lang="fr-CI" noProof="0">
                <a:solidFill>
                  <a:srgbClr val="EFAC62"/>
                </a:solidFill>
                <a:latin typeface="Helvetica" panose="020B0604020202020204" pitchFamily="34" charset="0"/>
                <a:ea typeface="Open Sans Light" panose="020B0306030504020204" pitchFamily="34" charset="0"/>
                <a:cs typeface="Helvetica" panose="020B0604020202020204" pitchFamily="34" charset="0"/>
              </a:rPr>
              <a:t>Chaîne de traitement, extraits de code, contrôle des chiffres</a:t>
            </a:r>
          </a:p>
        </p:txBody>
      </p:sp>
      <p:pic>
        <p:nvPicPr>
          <p:cNvPr id="11" name="Image 1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865561" y="2415481"/>
            <a:ext cx="1566911" cy="1600975"/>
          </a:xfrm>
          <a:prstGeom prst="rect">
            <a:avLst/>
          </a:prstGeom>
        </p:spPr>
      </p:pic>
    </p:spTree>
    <p:extLst>
      <p:ext uri="{BB962C8B-B14F-4D97-AF65-F5344CB8AC3E}">
        <p14:creationId xmlns:p14="http://schemas.microsoft.com/office/powerpoint/2010/main" val="126600764"/>
      </p:ext>
    </p:extLst>
  </p:cSld>
  <p:clrMapOvr>
    <a:masterClrMapping/>
  </p:clrMapOvr>
  <p:transition>
    <p:fade/>
  </p:transition>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Environnement de travail</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Les traitements sont écrits en Python et exécutés dans VS Code sous Windows</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Dix scripts conservés, rejouables à chaque nouvel envoi du FPPN</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dépôt de la mission (dossier scripts)</a:t>
            </a:r>
          </a:p>
        </p:txBody>
      </p:sp>
      <p:sp>
        <p:nvSpPr>
          <p:cNvPr id="31" name="TextBox 30"/>
          <p:cNvSpPr txBox="1"/>
          <p:nvPr/>
        </p:nvSpPr>
        <p:spPr>
          <a:xfrm>
            <a:off x="503999" y="1386000"/>
            <a:ext cx="11232000" cy="216000"/>
          </a:xfrm>
          <a:prstGeom prst="rect">
            <a:avLst/>
          </a:prstGeom>
          <a:noFill/>
        </p:spPr>
        <p:txBody>
          <a:bodyPr wrap="square" anchor="t" lIns="54000" rIns="54000"/>
          <a:lstStyle/>
          <a:p>
            <a:pPr algn="ctr"/>
            <a:r>
              <a:rPr sz="1200" b="0">
                <a:solidFill>
                  <a:srgbClr val="EFAC62"/>
                </a:solidFill>
                <a:latin typeface="Helvetica"/>
              </a:rPr>
              <a:t>Tableau 27 : Scripts de la mission</a:t>
            </a:r>
          </a:p>
        </p:txBody>
      </p:sp>
      <p:graphicFrame>
        <p:nvGraphicFramePr>
          <p:cNvPr id="32" name="Table 31"/>
          <p:cNvGraphicFramePr>
            <a:graphicFrameLocks noGrp="1"/>
          </p:cNvGraphicFramePr>
          <p:nvPr/>
        </p:nvGraphicFramePr>
        <p:xfrm>
          <a:off x="503999" y="1655999"/>
          <a:ext cx="11232000" cy="2472604"/>
        </p:xfrm>
        <a:graphic>
          <a:graphicData uri="http://schemas.openxmlformats.org/drawingml/2006/table">
            <a:tbl>
              <a:tblPr firstRow="0" bandRow="0">
                <a:tableStyleId>{5940675A-B579-460E-94D1-54222C63F5DA}</a:tableStyleId>
              </a:tblPr>
              <a:tblGrid>
                <a:gridCol w="2664000"/>
                <a:gridCol w="4464000"/>
                <a:gridCol w="4104000"/>
              </a:tblGrid>
              <a:tr h="225250">
                <a:tc>
                  <a:txBody>
                    <a:bodyPr/>
                    <a:lstStyle/>
                    <a:p>
                      <a:pPr marL="0" indent="0" lvl="0">
                        <a:buNone/>
                      </a:pPr>
                      <a:r>
                        <a:rPr sz="1100" b="1">
                          <a:solidFill>
                            <a:srgbClr val="FFFFFF"/>
                          </a:solidFill>
                          <a:latin typeface="Helvetica"/>
                        </a:rPr>
                        <a:t>Script</a:t>
                      </a:r>
                    </a:p>
                  </a:txBody>
                  <a:tcPr marL="43200" marR="43200" marT="14400" marB="14400" anchor="ctr">
                    <a:solidFill>
                      <a:srgbClr val="060606"/>
                    </a:solidFill>
                  </a:tcPr>
                </a:tc>
                <a:tc>
                  <a:txBody>
                    <a:bodyPr/>
                    <a:lstStyle/>
                    <a:p>
                      <a:pPr marL="0" indent="0" lvl="0">
                        <a:buNone/>
                      </a:pPr>
                      <a:r>
                        <a:rPr sz="1100" b="1">
                          <a:solidFill>
                            <a:srgbClr val="FFFFFF"/>
                          </a:solidFill>
                          <a:latin typeface="Helvetica"/>
                        </a:rPr>
                        <a:t>Rôle</a:t>
                      </a:r>
                    </a:p>
                  </a:txBody>
                  <a:tcPr marL="43200" marR="43200" marT="14400" marB="14400" anchor="ctr">
                    <a:solidFill>
                      <a:srgbClr val="060606"/>
                    </a:solidFill>
                  </a:tcPr>
                </a:tc>
                <a:tc>
                  <a:txBody>
                    <a:bodyPr/>
                    <a:lstStyle/>
                    <a:p>
                      <a:pPr marL="0" indent="0" lvl="0">
                        <a:buNone/>
                      </a:pPr>
                      <a:r>
                        <a:rPr sz="1100" b="1">
                          <a:solidFill>
                            <a:srgbClr val="FFFFFF"/>
                          </a:solidFill>
                          <a:latin typeface="Helvetica"/>
                        </a:rPr>
                        <a:t>Contrôle intégré</a:t>
                      </a:r>
                    </a:p>
                  </a:txBody>
                  <a:tcPr marL="43200" marR="43200" marT="14400" marB="14400" anchor="ctr">
                    <a:solidFill>
                      <a:srgbClr val="060606"/>
                    </a:solidFill>
                  </a:tcPr>
                </a:tc>
              </a:tr>
              <a:tr h="225250">
                <a:tc>
                  <a:txBody>
                    <a:bodyPr/>
                    <a:lstStyle/>
                    <a:p>
                      <a:pPr marL="0" indent="0" lvl="0">
                        <a:buNone/>
                      </a:pPr>
                      <a:r>
                        <a:rPr sz="1100" b="1">
                          <a:solidFill>
                            <a:srgbClr val="060606"/>
                          </a:solidFill>
                          <a:latin typeface="Helvetica"/>
                        </a:rPr>
                        <a:t>extraction_fppn.py</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Extraction sans perte, archive découpée pour l'envoi</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Empreintes SHA-256, lignes et cellules</a:t>
                      </a:r>
                    </a:p>
                  </a:txBody>
                  <a:tcPr marL="43200" marR="43200" marT="14400" marB="14400" anchor="ctr">
                    <a:solidFill>
                      <a:srgbClr val="FFFFFF"/>
                    </a:solidFill>
                  </a:tcPr>
                </a:tc>
              </a:tr>
              <a:tr h="225250">
                <a:tc>
                  <a:txBody>
                    <a:bodyPr/>
                    <a:lstStyle/>
                    <a:p>
                      <a:pPr marL="0" indent="0" lvl="0">
                        <a:buNone/>
                      </a:pPr>
                      <a:r>
                        <a:rPr sz="1100" b="1">
                          <a:solidFill>
                            <a:srgbClr val="060606"/>
                          </a:solidFill>
                          <a:latin typeface="Helvetica"/>
                        </a:rPr>
                        <a:t>envoi_fichiers_fppn.py</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Envoi de fichiers précis en parties</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Empreinte de chaque partie</a:t>
                      </a:r>
                    </a:p>
                  </a:txBody>
                  <a:tcPr marL="43200" marR="43200" marT="14400" marB="14400" anchor="ctr">
                    <a:solidFill>
                      <a:srgbClr val="F2F2F2"/>
                    </a:solidFill>
                  </a:tcPr>
                </a:tc>
              </a:tr>
              <a:tr h="225250">
                <a:tc>
                  <a:txBody>
                    <a:bodyPr/>
                    <a:lstStyle/>
                    <a:p>
                      <a:pPr marL="0" indent="0" lvl="0">
                        <a:buNone/>
                      </a:pPr>
                      <a:r>
                        <a:rPr sz="1100" b="1">
                          <a:solidFill>
                            <a:srgbClr val="060606"/>
                          </a:solidFill>
                          <a:latin typeface="Helvetica"/>
                        </a:rPr>
                        <a:t>base_fppn.py</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Base d'analyse : lecture par en-tête ou par contenu</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Lignes de total, montants doublés</a:t>
                      </a:r>
                    </a:p>
                  </a:txBody>
                  <a:tcPr marL="43200" marR="43200" marT="14400" marB="14400" anchor="ctr">
                    <a:solidFill>
                      <a:srgbClr val="FFFFFF"/>
                    </a:solidFill>
                  </a:tcPr>
                </a:tc>
              </a:tr>
              <a:tr h="392901">
                <a:tc>
                  <a:txBody>
                    <a:bodyPr/>
                    <a:lstStyle/>
                    <a:p>
                      <a:pPr marL="0" indent="0" lvl="0">
                        <a:buNone/>
                      </a:pPr>
                      <a:r>
                        <a:rPr sz="1100" b="1">
                          <a:solidFill>
                            <a:srgbClr val="060606"/>
                          </a:solidFill>
                          <a:latin typeface="Helvetica"/>
                        </a:rPr>
                        <a:t>grenier_fppn.py, compta_fppn.py</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Lecture des exports du logiciel de prêts et des balances Sage</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Totaux imprimés retrouvés, débit = crédit</a:t>
                      </a:r>
                    </a:p>
                  </a:txBody>
                  <a:tcPr marL="43200" marR="43200" marT="14400" marB="14400" anchor="ctr">
                    <a:solidFill>
                      <a:srgbClr val="F2F2F2"/>
                    </a:solidFill>
                  </a:tcPr>
                </a:tc>
              </a:tr>
              <a:tr h="392901">
                <a:tc>
                  <a:txBody>
                    <a:bodyPr/>
                    <a:lstStyle/>
                    <a:p>
                      <a:pPr marL="0" indent="0" lvl="0">
                        <a:buNone/>
                      </a:pPr>
                      <a:r>
                        <a:rPr sz="1100" b="1">
                          <a:solidFill>
                            <a:srgbClr val="060606"/>
                          </a:solidFill>
                          <a:latin typeface="Helvetica"/>
                        </a:rPr>
                        <a:t>analyses_fppn.py, analyses_complements_fppn.py</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Indicateurs, tests, sensibilités, tables CIMA</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Classeur des calculs</a:t>
                      </a:r>
                    </a:p>
                  </a:txBody>
                  <a:tcPr marL="43200" marR="43200" marT="14400" marB="14400" anchor="ctr">
                    <a:solidFill>
                      <a:srgbClr val="FFFFFF"/>
                    </a:solidFill>
                  </a:tcPr>
                </a:tc>
              </a:tr>
              <a:tr h="392901">
                <a:tc>
                  <a:txBody>
                    <a:bodyPr/>
                    <a:lstStyle/>
                    <a:p>
                      <a:pPr marL="0" indent="0" lvl="0">
                        <a:buNone/>
                      </a:pPr>
                      <a:r>
                        <a:rPr sz="1100" b="1">
                          <a:solidFill>
                            <a:srgbClr val="060606"/>
                          </a:solidFill>
                          <a:latin typeface="Helvetica"/>
                        </a:rPr>
                        <a:t>ratios_airms_fppn.py</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Ratios prudentiels, classement des comptes, excédent par risque</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Rapprochement avec les agrégats de la version 2</a:t>
                      </a:r>
                    </a:p>
                  </a:txBody>
                  <a:tcPr marL="43200" marR="43200" marT="14400" marB="14400" anchor="ctr">
                    <a:solidFill>
                      <a:srgbClr val="F2F2F2"/>
                    </a:solidFill>
                  </a:tcPr>
                </a:tc>
              </a:tr>
              <a:tr h="392901">
                <a:tc>
                  <a:txBody>
                    <a:bodyPr/>
                    <a:lstStyle/>
                    <a:p>
                      <a:pPr marL="0" indent="0" lvl="0">
                        <a:buNone/>
                      </a:pPr>
                      <a:r>
                        <a:rPr sz="1100" b="1">
                          <a:solidFill>
                            <a:srgbClr val="060606"/>
                          </a:solidFill>
                          <a:latin typeface="Helvetica"/>
                        </a:rPr>
                        <a:t>rapport_v3_fppn.py, classeur_v2_fppn.py</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Rapport, graphiques et tableaux natifs, classeur</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Contrôle automatique des chiffres</a:t>
                      </a:r>
                    </a:p>
                  </a:txBody>
                  <a:tcPr marL="43200" marR="43200" marT="14400" marB="14400" anchor="ctr">
                    <a:solidFill>
                      <a:srgbClr val="FFFFFF"/>
                    </a:solidFill>
                  </a:tcPr>
                </a:tc>
              </a:tr>
            </a:tbl>
          </a:graphicData>
        </a:graphic>
      </p:graphicFrame>
      <p:sp>
        <p:nvSpPr>
          <p:cNvPr id="33" name="TextBox 32"/>
          <p:cNvSpPr txBox="1"/>
          <p:nvPr/>
        </p:nvSpPr>
        <p:spPr>
          <a:xfrm>
            <a:off x="503999" y="4236606"/>
            <a:ext cx="11232000" cy="1631393"/>
          </a:xfrm>
          <a:prstGeom prst="rect">
            <a:avLst/>
          </a:prstGeom>
          <a:noFill/>
        </p:spPr>
        <p:txBody>
          <a:bodyPr wrap="square" lIns="54000" rIns="54000"/>
          <a:lstStyle/>
          <a:p>
            <a:pPr algn="just">
              <a:spcAft>
                <a:spcPts val="600"/>
              </a:spcAft>
            </a:pPr>
            <a:r>
              <a:rPr sz="1300" b="1">
                <a:solidFill>
                  <a:srgbClr val="060606"/>
                </a:solidFill>
                <a:latin typeface="Helvetica"/>
              </a:rPr>
              <a:t>Chaque chiffre du rapport peut être recalculé par un tiers.</a:t>
            </a:r>
            <a:r>
              <a:rPr sz="1300" b="0">
                <a:solidFill>
                  <a:srgbClr val="060606"/>
                </a:solidFill>
                <a:latin typeface="Helvetica"/>
              </a:rPr>
              <a:t> Les scripts sont conservés dans le dossier de la mission et rejoués à chaque nouvel envoi.</a:t>
            </a:r>
          </a:p>
        </p:txBody>
      </p:sp>
      <p:sp>
        <p:nvSpPr>
          <p:cNvPr id="34" name="TextBox 33"/>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CIMA : Conférence interafricaine des marchés d'assurances | SHA-256 : algorithme d'empreinte numérique</a:t>
            </a:r>
          </a:p>
        </p:txBody>
      </p:sp>
    </p:spTree>
    <p:extLst>
      <p:ext uri="{BB962C8B-B14F-4D97-AF65-F5344CB8AC3E}">
        <p14:creationId xmlns:p14="http://schemas.microsoft.com/office/powerpoint/2010/main" val="120465516"/>
      </p:ext>
    </p:extLst>
  </p:cSld>
  <p:clrMapOvr>
    <a:masterClrMapping/>
  </p:clrMapOvr>
  <p:transition>
    <p:fade/>
  </p:transition>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6" name="Image 25"/>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30" name="ZoneTexte 29">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9" name="Google Shape;7386;p39"/>
          <p:cNvSpPr/>
          <p:nvPr/>
        </p:nvSpPr>
        <p:spPr>
          <a:xfrm rot="10800000">
            <a:off x="1748072" y="1436295"/>
            <a:ext cx="3625790" cy="329031"/>
          </a:xfrm>
          <a:custGeom>
            <a:avLst/>
            <a:gdLst/>
            <a:ahLst/>
            <a:cxnLst/>
            <a:rect l="l" t="t" r="r" b="b"/>
            <a:pathLst>
              <a:path w="40007" h="30221" extrusionOk="0">
                <a:moveTo>
                  <a:pt x="19007" y="1"/>
                </a:moveTo>
                <a:cubicBezTo>
                  <a:pt x="17909" y="1"/>
                  <a:pt x="16810" y="17"/>
                  <a:pt x="15708" y="53"/>
                </a:cubicBezTo>
                <a:cubicBezTo>
                  <a:pt x="13270" y="131"/>
                  <a:pt x="10885" y="275"/>
                  <a:pt x="8512" y="548"/>
                </a:cubicBezTo>
                <a:cubicBezTo>
                  <a:pt x="6088" y="835"/>
                  <a:pt x="4524" y="1500"/>
                  <a:pt x="4041" y="2712"/>
                </a:cubicBezTo>
                <a:cubicBezTo>
                  <a:pt x="4015" y="2777"/>
                  <a:pt x="3976" y="2843"/>
                  <a:pt x="3937" y="2908"/>
                </a:cubicBezTo>
                <a:cubicBezTo>
                  <a:pt x="2777" y="4902"/>
                  <a:pt x="2282" y="6949"/>
                  <a:pt x="1734" y="8995"/>
                </a:cubicBezTo>
                <a:cubicBezTo>
                  <a:pt x="1160" y="11120"/>
                  <a:pt x="613" y="13232"/>
                  <a:pt x="391" y="15357"/>
                </a:cubicBezTo>
                <a:cubicBezTo>
                  <a:pt x="183" y="17325"/>
                  <a:pt x="0" y="19293"/>
                  <a:pt x="79" y="21092"/>
                </a:cubicBezTo>
                <a:cubicBezTo>
                  <a:pt x="52" y="23074"/>
                  <a:pt x="144" y="24899"/>
                  <a:pt x="365" y="26710"/>
                </a:cubicBezTo>
                <a:cubicBezTo>
                  <a:pt x="522" y="28079"/>
                  <a:pt x="1721" y="29096"/>
                  <a:pt x="4419" y="29656"/>
                </a:cubicBezTo>
                <a:cubicBezTo>
                  <a:pt x="6296" y="30048"/>
                  <a:pt x="8265" y="30178"/>
                  <a:pt x="10259" y="30204"/>
                </a:cubicBezTo>
                <a:cubicBezTo>
                  <a:pt x="11143" y="30216"/>
                  <a:pt x="12026" y="30220"/>
                  <a:pt x="12908" y="30220"/>
                </a:cubicBezTo>
                <a:cubicBezTo>
                  <a:pt x="15996" y="30220"/>
                  <a:pt x="19078" y="30165"/>
                  <a:pt x="22161" y="30165"/>
                </a:cubicBezTo>
                <a:cubicBezTo>
                  <a:pt x="24859" y="30165"/>
                  <a:pt x="27557" y="30204"/>
                  <a:pt x="30243" y="30204"/>
                </a:cubicBezTo>
                <a:cubicBezTo>
                  <a:pt x="31690" y="30191"/>
                  <a:pt x="33123" y="30113"/>
                  <a:pt x="34505" y="29852"/>
                </a:cubicBezTo>
                <a:cubicBezTo>
                  <a:pt x="35470" y="29683"/>
                  <a:pt x="36330" y="29435"/>
                  <a:pt x="36917" y="29005"/>
                </a:cubicBezTo>
                <a:cubicBezTo>
                  <a:pt x="37881" y="28288"/>
                  <a:pt x="38677" y="27519"/>
                  <a:pt x="39120" y="26684"/>
                </a:cubicBezTo>
                <a:cubicBezTo>
                  <a:pt x="39732" y="25485"/>
                  <a:pt x="39954" y="24260"/>
                  <a:pt x="39954" y="23021"/>
                </a:cubicBezTo>
                <a:cubicBezTo>
                  <a:pt x="39954" y="19372"/>
                  <a:pt x="40006" y="15709"/>
                  <a:pt x="39563" y="12059"/>
                </a:cubicBezTo>
                <a:cubicBezTo>
                  <a:pt x="39367" y="10403"/>
                  <a:pt x="39485" y="8748"/>
                  <a:pt x="39237" y="7105"/>
                </a:cubicBezTo>
                <a:cubicBezTo>
                  <a:pt x="39068" y="6023"/>
                  <a:pt x="38794" y="4941"/>
                  <a:pt x="37920" y="3938"/>
                </a:cubicBezTo>
                <a:cubicBezTo>
                  <a:pt x="37282" y="3208"/>
                  <a:pt x="36773" y="2438"/>
                  <a:pt x="35665" y="1826"/>
                </a:cubicBezTo>
                <a:cubicBezTo>
                  <a:pt x="34192" y="1031"/>
                  <a:pt x="32237" y="666"/>
                  <a:pt x="30138" y="496"/>
                </a:cubicBezTo>
                <a:cubicBezTo>
                  <a:pt x="26451" y="194"/>
                  <a:pt x="22741" y="1"/>
                  <a:pt x="19007" y="1"/>
                </a:cubicBezTo>
                <a:close/>
              </a:path>
            </a:pathLst>
          </a:custGeom>
          <a:solidFill>
            <a:srgbClr val="112A40"/>
          </a:solidFill>
          <a:ln>
            <a:noFill/>
          </a:ln>
          <a:effectLst>
            <a:outerShdw blurRad="57150" dist="9525" algn="bl" rotWithShape="0">
              <a:srgbClr val="000000"/>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lang="fr-CI" noProof="0"/>
          </a:p>
        </p:txBody>
      </p:sp>
      <p:sp>
        <p:nvSpPr>
          <p:cNvPr id="10" name="Google Shape;7367;p39"/>
          <p:cNvSpPr/>
          <p:nvPr/>
        </p:nvSpPr>
        <p:spPr>
          <a:xfrm rot="16200000">
            <a:off x="2201124" y="215006"/>
            <a:ext cx="2027916" cy="4306666"/>
          </a:xfrm>
          <a:custGeom>
            <a:avLst/>
            <a:gdLst/>
            <a:ahLst/>
            <a:cxnLst/>
            <a:rect l="l" t="t" r="r" b="b"/>
            <a:pathLst>
              <a:path w="25081" h="54128" extrusionOk="0">
                <a:moveTo>
                  <a:pt x="19843" y="0"/>
                </a:moveTo>
                <a:cubicBezTo>
                  <a:pt x="19654" y="0"/>
                  <a:pt x="19462" y="7"/>
                  <a:pt x="19267" y="21"/>
                </a:cubicBezTo>
                <a:cubicBezTo>
                  <a:pt x="17781" y="125"/>
                  <a:pt x="16282" y="99"/>
                  <a:pt x="14796" y="112"/>
                </a:cubicBezTo>
                <a:cubicBezTo>
                  <a:pt x="13909" y="125"/>
                  <a:pt x="13010" y="112"/>
                  <a:pt x="12123" y="177"/>
                </a:cubicBezTo>
                <a:cubicBezTo>
                  <a:pt x="10272" y="333"/>
                  <a:pt x="8421" y="503"/>
                  <a:pt x="6570" y="633"/>
                </a:cubicBezTo>
                <a:cubicBezTo>
                  <a:pt x="5267" y="738"/>
                  <a:pt x="3989" y="933"/>
                  <a:pt x="2764" y="1259"/>
                </a:cubicBezTo>
                <a:cubicBezTo>
                  <a:pt x="1943" y="1481"/>
                  <a:pt x="1408" y="1872"/>
                  <a:pt x="1226" y="2471"/>
                </a:cubicBezTo>
                <a:cubicBezTo>
                  <a:pt x="991" y="3292"/>
                  <a:pt x="861" y="4140"/>
                  <a:pt x="965" y="4974"/>
                </a:cubicBezTo>
                <a:cubicBezTo>
                  <a:pt x="991" y="5248"/>
                  <a:pt x="1030" y="5508"/>
                  <a:pt x="991" y="5782"/>
                </a:cubicBezTo>
                <a:cubicBezTo>
                  <a:pt x="835" y="6877"/>
                  <a:pt x="678" y="7972"/>
                  <a:pt x="587" y="9067"/>
                </a:cubicBezTo>
                <a:cubicBezTo>
                  <a:pt x="470" y="10488"/>
                  <a:pt x="378" y="11896"/>
                  <a:pt x="300" y="13317"/>
                </a:cubicBezTo>
                <a:cubicBezTo>
                  <a:pt x="274" y="13825"/>
                  <a:pt x="352" y="14333"/>
                  <a:pt x="339" y="14829"/>
                </a:cubicBezTo>
                <a:cubicBezTo>
                  <a:pt x="313" y="15820"/>
                  <a:pt x="157" y="16797"/>
                  <a:pt x="118" y="17775"/>
                </a:cubicBezTo>
                <a:cubicBezTo>
                  <a:pt x="53" y="19391"/>
                  <a:pt x="0" y="21008"/>
                  <a:pt x="40" y="22624"/>
                </a:cubicBezTo>
                <a:cubicBezTo>
                  <a:pt x="66" y="24149"/>
                  <a:pt x="157" y="25661"/>
                  <a:pt x="144" y="27173"/>
                </a:cubicBezTo>
                <a:cubicBezTo>
                  <a:pt x="131" y="28646"/>
                  <a:pt x="105" y="30132"/>
                  <a:pt x="131" y="31605"/>
                </a:cubicBezTo>
                <a:cubicBezTo>
                  <a:pt x="209" y="35412"/>
                  <a:pt x="405" y="39218"/>
                  <a:pt x="274" y="43051"/>
                </a:cubicBezTo>
                <a:cubicBezTo>
                  <a:pt x="235" y="44237"/>
                  <a:pt x="287" y="45436"/>
                  <a:pt x="300" y="46622"/>
                </a:cubicBezTo>
                <a:cubicBezTo>
                  <a:pt x="300" y="46687"/>
                  <a:pt x="300" y="46753"/>
                  <a:pt x="287" y="46818"/>
                </a:cubicBezTo>
                <a:cubicBezTo>
                  <a:pt x="222" y="48004"/>
                  <a:pt x="313" y="49190"/>
                  <a:pt x="535" y="50363"/>
                </a:cubicBezTo>
                <a:cubicBezTo>
                  <a:pt x="665" y="51054"/>
                  <a:pt x="1004" y="51706"/>
                  <a:pt x="1239" y="52384"/>
                </a:cubicBezTo>
                <a:cubicBezTo>
                  <a:pt x="1486" y="53075"/>
                  <a:pt x="2164" y="53492"/>
                  <a:pt x="3129" y="53700"/>
                </a:cubicBezTo>
                <a:cubicBezTo>
                  <a:pt x="3812" y="53854"/>
                  <a:pt x="4517" y="53911"/>
                  <a:pt x="5223" y="53911"/>
                </a:cubicBezTo>
                <a:cubicBezTo>
                  <a:pt x="5299" y="53911"/>
                  <a:pt x="5374" y="53910"/>
                  <a:pt x="5449" y="53909"/>
                </a:cubicBezTo>
                <a:cubicBezTo>
                  <a:pt x="5591" y="53907"/>
                  <a:pt x="5733" y="53906"/>
                  <a:pt x="5875" y="53906"/>
                </a:cubicBezTo>
                <a:cubicBezTo>
                  <a:pt x="7594" y="53906"/>
                  <a:pt x="9293" y="54042"/>
                  <a:pt x="11015" y="54078"/>
                </a:cubicBezTo>
                <a:cubicBezTo>
                  <a:pt x="11655" y="54087"/>
                  <a:pt x="12288" y="54128"/>
                  <a:pt x="12924" y="54128"/>
                </a:cubicBezTo>
                <a:cubicBezTo>
                  <a:pt x="13273" y="54128"/>
                  <a:pt x="13623" y="54115"/>
                  <a:pt x="13974" y="54078"/>
                </a:cubicBezTo>
                <a:cubicBezTo>
                  <a:pt x="15239" y="53948"/>
                  <a:pt x="16516" y="53870"/>
                  <a:pt x="17781" y="53779"/>
                </a:cubicBezTo>
                <a:cubicBezTo>
                  <a:pt x="18850" y="53700"/>
                  <a:pt x="19919" y="53583"/>
                  <a:pt x="20961" y="53375"/>
                </a:cubicBezTo>
                <a:cubicBezTo>
                  <a:pt x="22043" y="53153"/>
                  <a:pt x="22956" y="52749"/>
                  <a:pt x="23503" y="52019"/>
                </a:cubicBezTo>
                <a:cubicBezTo>
                  <a:pt x="23855" y="51537"/>
                  <a:pt x="24142" y="51028"/>
                  <a:pt x="24233" y="50494"/>
                </a:cubicBezTo>
                <a:cubicBezTo>
                  <a:pt x="24416" y="49464"/>
                  <a:pt x="24429" y="48434"/>
                  <a:pt x="24546" y="47404"/>
                </a:cubicBezTo>
                <a:cubicBezTo>
                  <a:pt x="24690" y="45957"/>
                  <a:pt x="24768" y="44510"/>
                  <a:pt x="24833" y="43064"/>
                </a:cubicBezTo>
                <a:cubicBezTo>
                  <a:pt x="24924" y="41395"/>
                  <a:pt x="24898" y="39726"/>
                  <a:pt x="24898" y="38058"/>
                </a:cubicBezTo>
                <a:cubicBezTo>
                  <a:pt x="24885" y="36402"/>
                  <a:pt x="24794" y="34760"/>
                  <a:pt x="24794" y="33104"/>
                </a:cubicBezTo>
                <a:cubicBezTo>
                  <a:pt x="24794" y="31332"/>
                  <a:pt x="24755" y="29546"/>
                  <a:pt x="24768" y="27760"/>
                </a:cubicBezTo>
                <a:cubicBezTo>
                  <a:pt x="24794" y="26196"/>
                  <a:pt x="24807" y="24631"/>
                  <a:pt x="24846" y="23067"/>
                </a:cubicBezTo>
                <a:cubicBezTo>
                  <a:pt x="24885" y="21503"/>
                  <a:pt x="24911" y="19952"/>
                  <a:pt x="24911" y="18387"/>
                </a:cubicBezTo>
                <a:cubicBezTo>
                  <a:pt x="24911" y="16967"/>
                  <a:pt x="24937" y="15533"/>
                  <a:pt x="24989" y="14112"/>
                </a:cubicBezTo>
                <a:cubicBezTo>
                  <a:pt x="25028" y="12795"/>
                  <a:pt x="25081" y="11479"/>
                  <a:pt x="25068" y="10162"/>
                </a:cubicBezTo>
                <a:cubicBezTo>
                  <a:pt x="25068" y="8924"/>
                  <a:pt x="25002" y="7685"/>
                  <a:pt x="24963" y="6447"/>
                </a:cubicBezTo>
                <a:lnTo>
                  <a:pt x="24950" y="6447"/>
                </a:lnTo>
                <a:cubicBezTo>
                  <a:pt x="25055" y="5561"/>
                  <a:pt x="24963" y="4674"/>
                  <a:pt x="24872" y="3801"/>
                </a:cubicBezTo>
                <a:cubicBezTo>
                  <a:pt x="24807" y="3175"/>
                  <a:pt x="24664" y="2562"/>
                  <a:pt x="24403" y="1963"/>
                </a:cubicBezTo>
                <a:cubicBezTo>
                  <a:pt x="24194" y="1481"/>
                  <a:pt x="23803" y="1103"/>
                  <a:pt x="23204" y="803"/>
                </a:cubicBezTo>
                <a:cubicBezTo>
                  <a:pt x="22185" y="293"/>
                  <a:pt x="21087" y="0"/>
                  <a:pt x="19843" y="0"/>
                </a:cubicBezTo>
                <a:close/>
              </a:path>
            </a:pathLst>
          </a:custGeom>
          <a:noFill/>
          <a:ln w="19050">
            <a:solidFill>
              <a:schemeClr val="tx1"/>
            </a:solidFill>
          </a:ln>
          <a:effectLst>
            <a:outerShdw blurRad="57150" dist="9525" algn="bl" rotWithShape="0">
              <a:srgbClr val="000000"/>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lang="fr-CI" noProof="0"/>
          </a:p>
        </p:txBody>
      </p:sp>
      <p:sp>
        <p:nvSpPr>
          <p:cNvPr id="4" name="Rectangle 3"/>
          <p:cNvSpPr/>
          <p:nvPr/>
        </p:nvSpPr>
        <p:spPr>
          <a:xfrm>
            <a:off x="2946575" y="1442741"/>
            <a:ext cx="1322389" cy="295488"/>
          </a:xfrm>
          <a:prstGeom prst="rect">
            <a:avLst/>
          </a:prstGeom>
        </p:spPr>
        <p:txBody>
          <a:bodyPr wrap="none">
            <a:spAutoFit/>
          </a:bodyPr>
          <a:lstStyle/>
          <a:p>
            <a:pPr lvl="0">
              <a:lnSpc>
                <a:spcPct val="110000"/>
              </a:lnSpc>
            </a:pPr>
            <a:r>
              <a:rPr lang="fr-CI" sz="1400" b="1" noProof="0">
                <a:solidFill>
                  <a:schemeClr val="bg1"/>
                </a:solidFill>
                <a:latin typeface="Helvetica" panose="020B0604020202020204" pitchFamily="34" charset="0"/>
                <a:ea typeface="Open Sans Semibold" panose="020B0706030804020204" pitchFamily="34" charset="0"/>
                <a:cs typeface="Helvetica" panose="020B0604020202020204" pitchFamily="34" charset="0"/>
              </a:rPr>
              <a:t>Entrée</a:t>
            </a:r>
          </a:p>
        </p:txBody>
      </p:sp>
      <p:sp>
        <p:nvSpPr>
          <p:cNvPr id="20" name="Google Shape;7386;p39"/>
          <p:cNvSpPr/>
          <p:nvPr/>
        </p:nvSpPr>
        <p:spPr>
          <a:xfrm rot="10800000">
            <a:off x="6372314" y="1459724"/>
            <a:ext cx="3625790" cy="329031"/>
          </a:xfrm>
          <a:custGeom>
            <a:avLst/>
            <a:gdLst/>
            <a:ahLst/>
            <a:cxnLst/>
            <a:rect l="l" t="t" r="r" b="b"/>
            <a:pathLst>
              <a:path w="40007" h="30221" extrusionOk="0">
                <a:moveTo>
                  <a:pt x="19007" y="1"/>
                </a:moveTo>
                <a:cubicBezTo>
                  <a:pt x="17909" y="1"/>
                  <a:pt x="16810" y="17"/>
                  <a:pt x="15708" y="53"/>
                </a:cubicBezTo>
                <a:cubicBezTo>
                  <a:pt x="13270" y="131"/>
                  <a:pt x="10885" y="275"/>
                  <a:pt x="8512" y="548"/>
                </a:cubicBezTo>
                <a:cubicBezTo>
                  <a:pt x="6088" y="835"/>
                  <a:pt x="4524" y="1500"/>
                  <a:pt x="4041" y="2712"/>
                </a:cubicBezTo>
                <a:cubicBezTo>
                  <a:pt x="4015" y="2777"/>
                  <a:pt x="3976" y="2843"/>
                  <a:pt x="3937" y="2908"/>
                </a:cubicBezTo>
                <a:cubicBezTo>
                  <a:pt x="2777" y="4902"/>
                  <a:pt x="2282" y="6949"/>
                  <a:pt x="1734" y="8995"/>
                </a:cubicBezTo>
                <a:cubicBezTo>
                  <a:pt x="1160" y="11120"/>
                  <a:pt x="613" y="13232"/>
                  <a:pt x="391" y="15357"/>
                </a:cubicBezTo>
                <a:cubicBezTo>
                  <a:pt x="183" y="17325"/>
                  <a:pt x="0" y="19293"/>
                  <a:pt x="79" y="21092"/>
                </a:cubicBezTo>
                <a:cubicBezTo>
                  <a:pt x="52" y="23074"/>
                  <a:pt x="144" y="24899"/>
                  <a:pt x="365" y="26710"/>
                </a:cubicBezTo>
                <a:cubicBezTo>
                  <a:pt x="522" y="28079"/>
                  <a:pt x="1721" y="29096"/>
                  <a:pt x="4419" y="29656"/>
                </a:cubicBezTo>
                <a:cubicBezTo>
                  <a:pt x="6296" y="30048"/>
                  <a:pt x="8265" y="30178"/>
                  <a:pt x="10259" y="30204"/>
                </a:cubicBezTo>
                <a:cubicBezTo>
                  <a:pt x="11143" y="30216"/>
                  <a:pt x="12026" y="30220"/>
                  <a:pt x="12908" y="30220"/>
                </a:cubicBezTo>
                <a:cubicBezTo>
                  <a:pt x="15996" y="30220"/>
                  <a:pt x="19078" y="30165"/>
                  <a:pt x="22161" y="30165"/>
                </a:cubicBezTo>
                <a:cubicBezTo>
                  <a:pt x="24859" y="30165"/>
                  <a:pt x="27557" y="30204"/>
                  <a:pt x="30243" y="30204"/>
                </a:cubicBezTo>
                <a:cubicBezTo>
                  <a:pt x="31690" y="30191"/>
                  <a:pt x="33123" y="30113"/>
                  <a:pt x="34505" y="29852"/>
                </a:cubicBezTo>
                <a:cubicBezTo>
                  <a:pt x="35470" y="29683"/>
                  <a:pt x="36330" y="29435"/>
                  <a:pt x="36917" y="29005"/>
                </a:cubicBezTo>
                <a:cubicBezTo>
                  <a:pt x="37881" y="28288"/>
                  <a:pt x="38677" y="27519"/>
                  <a:pt x="39120" y="26684"/>
                </a:cubicBezTo>
                <a:cubicBezTo>
                  <a:pt x="39732" y="25485"/>
                  <a:pt x="39954" y="24260"/>
                  <a:pt x="39954" y="23021"/>
                </a:cubicBezTo>
                <a:cubicBezTo>
                  <a:pt x="39954" y="19372"/>
                  <a:pt x="40006" y="15709"/>
                  <a:pt x="39563" y="12059"/>
                </a:cubicBezTo>
                <a:cubicBezTo>
                  <a:pt x="39367" y="10403"/>
                  <a:pt x="39485" y="8748"/>
                  <a:pt x="39237" y="7105"/>
                </a:cubicBezTo>
                <a:cubicBezTo>
                  <a:pt x="39068" y="6023"/>
                  <a:pt x="38794" y="4941"/>
                  <a:pt x="37920" y="3938"/>
                </a:cubicBezTo>
                <a:cubicBezTo>
                  <a:pt x="37282" y="3208"/>
                  <a:pt x="36773" y="2438"/>
                  <a:pt x="35665" y="1826"/>
                </a:cubicBezTo>
                <a:cubicBezTo>
                  <a:pt x="34192" y="1031"/>
                  <a:pt x="32237" y="666"/>
                  <a:pt x="30138" y="496"/>
                </a:cubicBezTo>
                <a:cubicBezTo>
                  <a:pt x="26451" y="194"/>
                  <a:pt x="22741" y="1"/>
                  <a:pt x="19007" y="1"/>
                </a:cubicBezTo>
                <a:close/>
              </a:path>
            </a:pathLst>
          </a:custGeom>
          <a:solidFill>
            <a:srgbClr val="112A40"/>
          </a:solidFill>
          <a:ln>
            <a:noFill/>
          </a:ln>
          <a:effectLst>
            <a:outerShdw blurRad="57150" dist="9525" algn="bl" rotWithShape="0">
              <a:srgbClr val="000000"/>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lang="fr-CI" noProof="0"/>
          </a:p>
        </p:txBody>
      </p:sp>
      <p:sp>
        <p:nvSpPr>
          <p:cNvPr id="21" name="Google Shape;7367;p39"/>
          <p:cNvSpPr/>
          <p:nvPr/>
        </p:nvSpPr>
        <p:spPr>
          <a:xfrm rot="16200000">
            <a:off x="7569073" y="228570"/>
            <a:ext cx="2000788" cy="4306666"/>
          </a:xfrm>
          <a:custGeom>
            <a:avLst/>
            <a:gdLst/>
            <a:ahLst/>
            <a:cxnLst/>
            <a:rect l="l" t="t" r="r" b="b"/>
            <a:pathLst>
              <a:path w="25081" h="54128" extrusionOk="0">
                <a:moveTo>
                  <a:pt x="19843" y="0"/>
                </a:moveTo>
                <a:cubicBezTo>
                  <a:pt x="19654" y="0"/>
                  <a:pt x="19462" y="7"/>
                  <a:pt x="19267" y="21"/>
                </a:cubicBezTo>
                <a:cubicBezTo>
                  <a:pt x="17781" y="125"/>
                  <a:pt x="16282" y="99"/>
                  <a:pt x="14796" y="112"/>
                </a:cubicBezTo>
                <a:cubicBezTo>
                  <a:pt x="13909" y="125"/>
                  <a:pt x="13010" y="112"/>
                  <a:pt x="12123" y="177"/>
                </a:cubicBezTo>
                <a:cubicBezTo>
                  <a:pt x="10272" y="333"/>
                  <a:pt x="8421" y="503"/>
                  <a:pt x="6570" y="633"/>
                </a:cubicBezTo>
                <a:cubicBezTo>
                  <a:pt x="5267" y="738"/>
                  <a:pt x="3989" y="933"/>
                  <a:pt x="2764" y="1259"/>
                </a:cubicBezTo>
                <a:cubicBezTo>
                  <a:pt x="1943" y="1481"/>
                  <a:pt x="1408" y="1872"/>
                  <a:pt x="1226" y="2471"/>
                </a:cubicBezTo>
                <a:cubicBezTo>
                  <a:pt x="991" y="3292"/>
                  <a:pt x="861" y="4140"/>
                  <a:pt x="965" y="4974"/>
                </a:cubicBezTo>
                <a:cubicBezTo>
                  <a:pt x="991" y="5248"/>
                  <a:pt x="1030" y="5508"/>
                  <a:pt x="991" y="5782"/>
                </a:cubicBezTo>
                <a:cubicBezTo>
                  <a:pt x="835" y="6877"/>
                  <a:pt x="678" y="7972"/>
                  <a:pt x="587" y="9067"/>
                </a:cubicBezTo>
                <a:cubicBezTo>
                  <a:pt x="470" y="10488"/>
                  <a:pt x="378" y="11896"/>
                  <a:pt x="300" y="13317"/>
                </a:cubicBezTo>
                <a:cubicBezTo>
                  <a:pt x="274" y="13825"/>
                  <a:pt x="352" y="14333"/>
                  <a:pt x="339" y="14829"/>
                </a:cubicBezTo>
                <a:cubicBezTo>
                  <a:pt x="313" y="15820"/>
                  <a:pt x="157" y="16797"/>
                  <a:pt x="118" y="17775"/>
                </a:cubicBezTo>
                <a:cubicBezTo>
                  <a:pt x="53" y="19391"/>
                  <a:pt x="0" y="21008"/>
                  <a:pt x="40" y="22624"/>
                </a:cubicBezTo>
                <a:cubicBezTo>
                  <a:pt x="66" y="24149"/>
                  <a:pt x="157" y="25661"/>
                  <a:pt x="144" y="27173"/>
                </a:cubicBezTo>
                <a:cubicBezTo>
                  <a:pt x="131" y="28646"/>
                  <a:pt x="105" y="30132"/>
                  <a:pt x="131" y="31605"/>
                </a:cubicBezTo>
                <a:cubicBezTo>
                  <a:pt x="209" y="35412"/>
                  <a:pt x="405" y="39218"/>
                  <a:pt x="274" y="43051"/>
                </a:cubicBezTo>
                <a:cubicBezTo>
                  <a:pt x="235" y="44237"/>
                  <a:pt x="287" y="45436"/>
                  <a:pt x="300" y="46622"/>
                </a:cubicBezTo>
                <a:cubicBezTo>
                  <a:pt x="300" y="46687"/>
                  <a:pt x="300" y="46753"/>
                  <a:pt x="287" y="46818"/>
                </a:cubicBezTo>
                <a:cubicBezTo>
                  <a:pt x="222" y="48004"/>
                  <a:pt x="313" y="49190"/>
                  <a:pt x="535" y="50363"/>
                </a:cubicBezTo>
                <a:cubicBezTo>
                  <a:pt x="665" y="51054"/>
                  <a:pt x="1004" y="51706"/>
                  <a:pt x="1239" y="52384"/>
                </a:cubicBezTo>
                <a:cubicBezTo>
                  <a:pt x="1486" y="53075"/>
                  <a:pt x="2164" y="53492"/>
                  <a:pt x="3129" y="53700"/>
                </a:cubicBezTo>
                <a:cubicBezTo>
                  <a:pt x="3812" y="53854"/>
                  <a:pt x="4517" y="53911"/>
                  <a:pt x="5223" y="53911"/>
                </a:cubicBezTo>
                <a:cubicBezTo>
                  <a:pt x="5299" y="53911"/>
                  <a:pt x="5374" y="53910"/>
                  <a:pt x="5449" y="53909"/>
                </a:cubicBezTo>
                <a:cubicBezTo>
                  <a:pt x="5591" y="53907"/>
                  <a:pt x="5733" y="53906"/>
                  <a:pt x="5875" y="53906"/>
                </a:cubicBezTo>
                <a:cubicBezTo>
                  <a:pt x="7594" y="53906"/>
                  <a:pt x="9293" y="54042"/>
                  <a:pt x="11015" y="54078"/>
                </a:cubicBezTo>
                <a:cubicBezTo>
                  <a:pt x="11655" y="54087"/>
                  <a:pt x="12288" y="54128"/>
                  <a:pt x="12924" y="54128"/>
                </a:cubicBezTo>
                <a:cubicBezTo>
                  <a:pt x="13273" y="54128"/>
                  <a:pt x="13623" y="54115"/>
                  <a:pt x="13974" y="54078"/>
                </a:cubicBezTo>
                <a:cubicBezTo>
                  <a:pt x="15239" y="53948"/>
                  <a:pt x="16516" y="53870"/>
                  <a:pt x="17781" y="53779"/>
                </a:cubicBezTo>
                <a:cubicBezTo>
                  <a:pt x="18850" y="53700"/>
                  <a:pt x="19919" y="53583"/>
                  <a:pt x="20961" y="53375"/>
                </a:cubicBezTo>
                <a:cubicBezTo>
                  <a:pt x="22043" y="53153"/>
                  <a:pt x="22956" y="52749"/>
                  <a:pt x="23503" y="52019"/>
                </a:cubicBezTo>
                <a:cubicBezTo>
                  <a:pt x="23855" y="51537"/>
                  <a:pt x="24142" y="51028"/>
                  <a:pt x="24233" y="50494"/>
                </a:cubicBezTo>
                <a:cubicBezTo>
                  <a:pt x="24416" y="49464"/>
                  <a:pt x="24429" y="48434"/>
                  <a:pt x="24546" y="47404"/>
                </a:cubicBezTo>
                <a:cubicBezTo>
                  <a:pt x="24690" y="45957"/>
                  <a:pt x="24768" y="44510"/>
                  <a:pt x="24833" y="43064"/>
                </a:cubicBezTo>
                <a:cubicBezTo>
                  <a:pt x="24924" y="41395"/>
                  <a:pt x="24898" y="39726"/>
                  <a:pt x="24898" y="38058"/>
                </a:cubicBezTo>
                <a:cubicBezTo>
                  <a:pt x="24885" y="36402"/>
                  <a:pt x="24794" y="34760"/>
                  <a:pt x="24794" y="33104"/>
                </a:cubicBezTo>
                <a:cubicBezTo>
                  <a:pt x="24794" y="31332"/>
                  <a:pt x="24755" y="29546"/>
                  <a:pt x="24768" y="27760"/>
                </a:cubicBezTo>
                <a:cubicBezTo>
                  <a:pt x="24794" y="26196"/>
                  <a:pt x="24807" y="24631"/>
                  <a:pt x="24846" y="23067"/>
                </a:cubicBezTo>
                <a:cubicBezTo>
                  <a:pt x="24885" y="21503"/>
                  <a:pt x="24911" y="19952"/>
                  <a:pt x="24911" y="18387"/>
                </a:cubicBezTo>
                <a:cubicBezTo>
                  <a:pt x="24911" y="16967"/>
                  <a:pt x="24937" y="15533"/>
                  <a:pt x="24989" y="14112"/>
                </a:cubicBezTo>
                <a:cubicBezTo>
                  <a:pt x="25028" y="12795"/>
                  <a:pt x="25081" y="11479"/>
                  <a:pt x="25068" y="10162"/>
                </a:cubicBezTo>
                <a:cubicBezTo>
                  <a:pt x="25068" y="8924"/>
                  <a:pt x="25002" y="7685"/>
                  <a:pt x="24963" y="6447"/>
                </a:cubicBezTo>
                <a:lnTo>
                  <a:pt x="24950" y="6447"/>
                </a:lnTo>
                <a:cubicBezTo>
                  <a:pt x="25055" y="5561"/>
                  <a:pt x="24963" y="4674"/>
                  <a:pt x="24872" y="3801"/>
                </a:cubicBezTo>
                <a:cubicBezTo>
                  <a:pt x="24807" y="3175"/>
                  <a:pt x="24664" y="2562"/>
                  <a:pt x="24403" y="1963"/>
                </a:cubicBezTo>
                <a:cubicBezTo>
                  <a:pt x="24194" y="1481"/>
                  <a:pt x="23803" y="1103"/>
                  <a:pt x="23204" y="803"/>
                </a:cubicBezTo>
                <a:cubicBezTo>
                  <a:pt x="22185" y="293"/>
                  <a:pt x="21087" y="0"/>
                  <a:pt x="19843" y="0"/>
                </a:cubicBezTo>
                <a:close/>
              </a:path>
            </a:pathLst>
          </a:custGeom>
          <a:noFill/>
          <a:ln w="19050">
            <a:solidFill>
              <a:srgbClr val="060606"/>
            </a:solidFill>
          </a:ln>
          <a:effectLst>
            <a:outerShdw blurRad="57150" dist="9525" algn="bl" rotWithShape="0">
              <a:srgbClr val="000000"/>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lang="fr-CI" noProof="0"/>
          </a:p>
        </p:txBody>
      </p:sp>
      <p:sp>
        <p:nvSpPr>
          <p:cNvPr id="24" name="Rectangle 23"/>
          <p:cNvSpPr/>
          <p:nvPr/>
        </p:nvSpPr>
        <p:spPr>
          <a:xfrm>
            <a:off x="7570816" y="1466170"/>
            <a:ext cx="1322389" cy="295488"/>
          </a:xfrm>
          <a:prstGeom prst="rect">
            <a:avLst/>
          </a:prstGeom>
        </p:spPr>
        <p:txBody>
          <a:bodyPr wrap="none">
            <a:spAutoFit/>
          </a:bodyPr>
          <a:lstStyle/>
          <a:p>
            <a:pPr lvl="0">
              <a:lnSpc>
                <a:spcPct val="110000"/>
              </a:lnSpc>
            </a:pPr>
            <a:r>
              <a:rPr lang="fr-CI" sz="1400" b="1" noProof="0">
                <a:solidFill>
                  <a:schemeClr val="bg1"/>
                </a:solidFill>
                <a:latin typeface="Helvetica" panose="020B0604020202020204" pitchFamily="34" charset="0"/>
                <a:ea typeface="Open Sans Semibold" panose="020B0706030804020204" pitchFamily="34" charset="0"/>
                <a:cs typeface="Helvetica" panose="020B0604020202020204" pitchFamily="34" charset="0"/>
              </a:rPr>
              <a:t>Traitement</a:t>
            </a:r>
          </a:p>
        </p:txBody>
      </p:sp>
      <p:sp>
        <p:nvSpPr>
          <p:cNvPr id="37" name="Google Shape;7386;p39"/>
          <p:cNvSpPr/>
          <p:nvPr/>
        </p:nvSpPr>
        <p:spPr>
          <a:xfrm rot="10800000">
            <a:off x="1854215" y="3845744"/>
            <a:ext cx="3625790" cy="329031"/>
          </a:xfrm>
          <a:custGeom>
            <a:avLst/>
            <a:gdLst/>
            <a:ahLst/>
            <a:cxnLst/>
            <a:rect l="l" t="t" r="r" b="b"/>
            <a:pathLst>
              <a:path w="40007" h="30221" extrusionOk="0">
                <a:moveTo>
                  <a:pt x="19007" y="1"/>
                </a:moveTo>
                <a:cubicBezTo>
                  <a:pt x="17909" y="1"/>
                  <a:pt x="16810" y="17"/>
                  <a:pt x="15708" y="53"/>
                </a:cubicBezTo>
                <a:cubicBezTo>
                  <a:pt x="13270" y="131"/>
                  <a:pt x="10885" y="275"/>
                  <a:pt x="8512" y="548"/>
                </a:cubicBezTo>
                <a:cubicBezTo>
                  <a:pt x="6088" y="835"/>
                  <a:pt x="4524" y="1500"/>
                  <a:pt x="4041" y="2712"/>
                </a:cubicBezTo>
                <a:cubicBezTo>
                  <a:pt x="4015" y="2777"/>
                  <a:pt x="3976" y="2843"/>
                  <a:pt x="3937" y="2908"/>
                </a:cubicBezTo>
                <a:cubicBezTo>
                  <a:pt x="2777" y="4902"/>
                  <a:pt x="2282" y="6949"/>
                  <a:pt x="1734" y="8995"/>
                </a:cubicBezTo>
                <a:cubicBezTo>
                  <a:pt x="1160" y="11120"/>
                  <a:pt x="613" y="13232"/>
                  <a:pt x="391" y="15357"/>
                </a:cubicBezTo>
                <a:cubicBezTo>
                  <a:pt x="183" y="17325"/>
                  <a:pt x="0" y="19293"/>
                  <a:pt x="79" y="21092"/>
                </a:cubicBezTo>
                <a:cubicBezTo>
                  <a:pt x="52" y="23074"/>
                  <a:pt x="144" y="24899"/>
                  <a:pt x="365" y="26710"/>
                </a:cubicBezTo>
                <a:cubicBezTo>
                  <a:pt x="522" y="28079"/>
                  <a:pt x="1721" y="29096"/>
                  <a:pt x="4419" y="29656"/>
                </a:cubicBezTo>
                <a:cubicBezTo>
                  <a:pt x="6296" y="30048"/>
                  <a:pt x="8265" y="30178"/>
                  <a:pt x="10259" y="30204"/>
                </a:cubicBezTo>
                <a:cubicBezTo>
                  <a:pt x="11143" y="30216"/>
                  <a:pt x="12026" y="30220"/>
                  <a:pt x="12908" y="30220"/>
                </a:cubicBezTo>
                <a:cubicBezTo>
                  <a:pt x="15996" y="30220"/>
                  <a:pt x="19078" y="30165"/>
                  <a:pt x="22161" y="30165"/>
                </a:cubicBezTo>
                <a:cubicBezTo>
                  <a:pt x="24859" y="30165"/>
                  <a:pt x="27557" y="30204"/>
                  <a:pt x="30243" y="30204"/>
                </a:cubicBezTo>
                <a:cubicBezTo>
                  <a:pt x="31690" y="30191"/>
                  <a:pt x="33123" y="30113"/>
                  <a:pt x="34505" y="29852"/>
                </a:cubicBezTo>
                <a:cubicBezTo>
                  <a:pt x="35470" y="29683"/>
                  <a:pt x="36330" y="29435"/>
                  <a:pt x="36917" y="29005"/>
                </a:cubicBezTo>
                <a:cubicBezTo>
                  <a:pt x="37881" y="28288"/>
                  <a:pt x="38677" y="27519"/>
                  <a:pt x="39120" y="26684"/>
                </a:cubicBezTo>
                <a:cubicBezTo>
                  <a:pt x="39732" y="25485"/>
                  <a:pt x="39954" y="24260"/>
                  <a:pt x="39954" y="23021"/>
                </a:cubicBezTo>
                <a:cubicBezTo>
                  <a:pt x="39954" y="19372"/>
                  <a:pt x="40006" y="15709"/>
                  <a:pt x="39563" y="12059"/>
                </a:cubicBezTo>
                <a:cubicBezTo>
                  <a:pt x="39367" y="10403"/>
                  <a:pt x="39485" y="8748"/>
                  <a:pt x="39237" y="7105"/>
                </a:cubicBezTo>
                <a:cubicBezTo>
                  <a:pt x="39068" y="6023"/>
                  <a:pt x="38794" y="4941"/>
                  <a:pt x="37920" y="3938"/>
                </a:cubicBezTo>
                <a:cubicBezTo>
                  <a:pt x="37282" y="3208"/>
                  <a:pt x="36773" y="2438"/>
                  <a:pt x="35665" y="1826"/>
                </a:cubicBezTo>
                <a:cubicBezTo>
                  <a:pt x="34192" y="1031"/>
                  <a:pt x="32237" y="666"/>
                  <a:pt x="30138" y="496"/>
                </a:cubicBezTo>
                <a:cubicBezTo>
                  <a:pt x="26451" y="194"/>
                  <a:pt x="22741" y="1"/>
                  <a:pt x="19007" y="1"/>
                </a:cubicBezTo>
                <a:close/>
              </a:path>
            </a:pathLst>
          </a:custGeom>
          <a:solidFill>
            <a:srgbClr val="112A40"/>
          </a:solidFill>
          <a:ln>
            <a:noFill/>
          </a:ln>
          <a:effectLst>
            <a:outerShdw blurRad="57150" dist="9525" algn="bl" rotWithShape="0">
              <a:srgbClr val="000000"/>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lang="fr-CI" noProof="0"/>
          </a:p>
        </p:txBody>
      </p:sp>
      <p:sp>
        <p:nvSpPr>
          <p:cNvPr id="38" name="Google Shape;7367;p39"/>
          <p:cNvSpPr/>
          <p:nvPr/>
        </p:nvSpPr>
        <p:spPr>
          <a:xfrm rot="16200000">
            <a:off x="2838223" y="3190772"/>
            <a:ext cx="1751381" cy="3719393"/>
          </a:xfrm>
          <a:custGeom>
            <a:avLst/>
            <a:gdLst/>
            <a:ahLst/>
            <a:cxnLst/>
            <a:rect l="l" t="t" r="r" b="b"/>
            <a:pathLst>
              <a:path w="25081" h="54128" extrusionOk="0">
                <a:moveTo>
                  <a:pt x="19843" y="0"/>
                </a:moveTo>
                <a:cubicBezTo>
                  <a:pt x="19654" y="0"/>
                  <a:pt x="19462" y="7"/>
                  <a:pt x="19267" y="21"/>
                </a:cubicBezTo>
                <a:cubicBezTo>
                  <a:pt x="17781" y="125"/>
                  <a:pt x="16282" y="99"/>
                  <a:pt x="14796" y="112"/>
                </a:cubicBezTo>
                <a:cubicBezTo>
                  <a:pt x="13909" y="125"/>
                  <a:pt x="13010" y="112"/>
                  <a:pt x="12123" y="177"/>
                </a:cubicBezTo>
                <a:cubicBezTo>
                  <a:pt x="10272" y="333"/>
                  <a:pt x="8421" y="503"/>
                  <a:pt x="6570" y="633"/>
                </a:cubicBezTo>
                <a:cubicBezTo>
                  <a:pt x="5267" y="738"/>
                  <a:pt x="3989" y="933"/>
                  <a:pt x="2764" y="1259"/>
                </a:cubicBezTo>
                <a:cubicBezTo>
                  <a:pt x="1943" y="1481"/>
                  <a:pt x="1408" y="1872"/>
                  <a:pt x="1226" y="2471"/>
                </a:cubicBezTo>
                <a:cubicBezTo>
                  <a:pt x="991" y="3292"/>
                  <a:pt x="861" y="4140"/>
                  <a:pt x="965" y="4974"/>
                </a:cubicBezTo>
                <a:cubicBezTo>
                  <a:pt x="991" y="5248"/>
                  <a:pt x="1030" y="5508"/>
                  <a:pt x="991" y="5782"/>
                </a:cubicBezTo>
                <a:cubicBezTo>
                  <a:pt x="835" y="6877"/>
                  <a:pt x="678" y="7972"/>
                  <a:pt x="587" y="9067"/>
                </a:cubicBezTo>
                <a:cubicBezTo>
                  <a:pt x="470" y="10488"/>
                  <a:pt x="378" y="11896"/>
                  <a:pt x="300" y="13317"/>
                </a:cubicBezTo>
                <a:cubicBezTo>
                  <a:pt x="274" y="13825"/>
                  <a:pt x="352" y="14333"/>
                  <a:pt x="339" y="14829"/>
                </a:cubicBezTo>
                <a:cubicBezTo>
                  <a:pt x="313" y="15820"/>
                  <a:pt x="157" y="16797"/>
                  <a:pt x="118" y="17775"/>
                </a:cubicBezTo>
                <a:cubicBezTo>
                  <a:pt x="53" y="19391"/>
                  <a:pt x="0" y="21008"/>
                  <a:pt x="40" y="22624"/>
                </a:cubicBezTo>
                <a:cubicBezTo>
                  <a:pt x="66" y="24149"/>
                  <a:pt x="157" y="25661"/>
                  <a:pt x="144" y="27173"/>
                </a:cubicBezTo>
                <a:cubicBezTo>
                  <a:pt x="131" y="28646"/>
                  <a:pt x="105" y="30132"/>
                  <a:pt x="131" y="31605"/>
                </a:cubicBezTo>
                <a:cubicBezTo>
                  <a:pt x="209" y="35412"/>
                  <a:pt x="405" y="39218"/>
                  <a:pt x="274" y="43051"/>
                </a:cubicBezTo>
                <a:cubicBezTo>
                  <a:pt x="235" y="44237"/>
                  <a:pt x="287" y="45436"/>
                  <a:pt x="300" y="46622"/>
                </a:cubicBezTo>
                <a:cubicBezTo>
                  <a:pt x="300" y="46687"/>
                  <a:pt x="300" y="46753"/>
                  <a:pt x="287" y="46818"/>
                </a:cubicBezTo>
                <a:cubicBezTo>
                  <a:pt x="222" y="48004"/>
                  <a:pt x="313" y="49190"/>
                  <a:pt x="535" y="50363"/>
                </a:cubicBezTo>
                <a:cubicBezTo>
                  <a:pt x="665" y="51054"/>
                  <a:pt x="1004" y="51706"/>
                  <a:pt x="1239" y="52384"/>
                </a:cubicBezTo>
                <a:cubicBezTo>
                  <a:pt x="1486" y="53075"/>
                  <a:pt x="2164" y="53492"/>
                  <a:pt x="3129" y="53700"/>
                </a:cubicBezTo>
                <a:cubicBezTo>
                  <a:pt x="3812" y="53854"/>
                  <a:pt x="4517" y="53911"/>
                  <a:pt x="5223" y="53911"/>
                </a:cubicBezTo>
                <a:cubicBezTo>
                  <a:pt x="5299" y="53911"/>
                  <a:pt x="5374" y="53910"/>
                  <a:pt x="5449" y="53909"/>
                </a:cubicBezTo>
                <a:cubicBezTo>
                  <a:pt x="5591" y="53907"/>
                  <a:pt x="5733" y="53906"/>
                  <a:pt x="5875" y="53906"/>
                </a:cubicBezTo>
                <a:cubicBezTo>
                  <a:pt x="7594" y="53906"/>
                  <a:pt x="9293" y="54042"/>
                  <a:pt x="11015" y="54078"/>
                </a:cubicBezTo>
                <a:cubicBezTo>
                  <a:pt x="11655" y="54087"/>
                  <a:pt x="12288" y="54128"/>
                  <a:pt x="12924" y="54128"/>
                </a:cubicBezTo>
                <a:cubicBezTo>
                  <a:pt x="13273" y="54128"/>
                  <a:pt x="13623" y="54115"/>
                  <a:pt x="13974" y="54078"/>
                </a:cubicBezTo>
                <a:cubicBezTo>
                  <a:pt x="15239" y="53948"/>
                  <a:pt x="16516" y="53870"/>
                  <a:pt x="17781" y="53779"/>
                </a:cubicBezTo>
                <a:cubicBezTo>
                  <a:pt x="18850" y="53700"/>
                  <a:pt x="19919" y="53583"/>
                  <a:pt x="20961" y="53375"/>
                </a:cubicBezTo>
                <a:cubicBezTo>
                  <a:pt x="22043" y="53153"/>
                  <a:pt x="22956" y="52749"/>
                  <a:pt x="23503" y="52019"/>
                </a:cubicBezTo>
                <a:cubicBezTo>
                  <a:pt x="23855" y="51537"/>
                  <a:pt x="24142" y="51028"/>
                  <a:pt x="24233" y="50494"/>
                </a:cubicBezTo>
                <a:cubicBezTo>
                  <a:pt x="24416" y="49464"/>
                  <a:pt x="24429" y="48434"/>
                  <a:pt x="24546" y="47404"/>
                </a:cubicBezTo>
                <a:cubicBezTo>
                  <a:pt x="24690" y="45957"/>
                  <a:pt x="24768" y="44510"/>
                  <a:pt x="24833" y="43064"/>
                </a:cubicBezTo>
                <a:cubicBezTo>
                  <a:pt x="24924" y="41395"/>
                  <a:pt x="24898" y="39726"/>
                  <a:pt x="24898" y="38058"/>
                </a:cubicBezTo>
                <a:cubicBezTo>
                  <a:pt x="24885" y="36402"/>
                  <a:pt x="24794" y="34760"/>
                  <a:pt x="24794" y="33104"/>
                </a:cubicBezTo>
                <a:cubicBezTo>
                  <a:pt x="24794" y="31332"/>
                  <a:pt x="24755" y="29546"/>
                  <a:pt x="24768" y="27760"/>
                </a:cubicBezTo>
                <a:cubicBezTo>
                  <a:pt x="24794" y="26196"/>
                  <a:pt x="24807" y="24631"/>
                  <a:pt x="24846" y="23067"/>
                </a:cubicBezTo>
                <a:cubicBezTo>
                  <a:pt x="24885" y="21503"/>
                  <a:pt x="24911" y="19952"/>
                  <a:pt x="24911" y="18387"/>
                </a:cubicBezTo>
                <a:cubicBezTo>
                  <a:pt x="24911" y="16967"/>
                  <a:pt x="24937" y="15533"/>
                  <a:pt x="24989" y="14112"/>
                </a:cubicBezTo>
                <a:cubicBezTo>
                  <a:pt x="25028" y="12795"/>
                  <a:pt x="25081" y="11479"/>
                  <a:pt x="25068" y="10162"/>
                </a:cubicBezTo>
                <a:cubicBezTo>
                  <a:pt x="25068" y="8924"/>
                  <a:pt x="25002" y="7685"/>
                  <a:pt x="24963" y="6447"/>
                </a:cubicBezTo>
                <a:lnTo>
                  <a:pt x="24950" y="6447"/>
                </a:lnTo>
                <a:cubicBezTo>
                  <a:pt x="25055" y="5561"/>
                  <a:pt x="24963" y="4674"/>
                  <a:pt x="24872" y="3801"/>
                </a:cubicBezTo>
                <a:cubicBezTo>
                  <a:pt x="24807" y="3175"/>
                  <a:pt x="24664" y="2562"/>
                  <a:pt x="24403" y="1963"/>
                </a:cubicBezTo>
                <a:cubicBezTo>
                  <a:pt x="24194" y="1481"/>
                  <a:pt x="23803" y="1103"/>
                  <a:pt x="23204" y="803"/>
                </a:cubicBezTo>
                <a:cubicBezTo>
                  <a:pt x="22185" y="293"/>
                  <a:pt x="21087" y="0"/>
                  <a:pt x="19843" y="0"/>
                </a:cubicBezTo>
                <a:close/>
              </a:path>
            </a:pathLst>
          </a:custGeom>
          <a:noFill/>
          <a:ln w="19050">
            <a:solidFill>
              <a:srgbClr val="060606"/>
            </a:solidFill>
          </a:ln>
          <a:effectLst>
            <a:outerShdw blurRad="57150" dist="9525" algn="bl" rotWithShape="0">
              <a:srgbClr val="000000"/>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lang="fr-CI" noProof="0"/>
          </a:p>
        </p:txBody>
      </p:sp>
      <p:sp>
        <p:nvSpPr>
          <p:cNvPr id="40" name="Rectangle 39"/>
          <p:cNvSpPr/>
          <p:nvPr/>
        </p:nvSpPr>
        <p:spPr>
          <a:xfrm>
            <a:off x="3052718" y="3852190"/>
            <a:ext cx="1322389" cy="295488"/>
          </a:xfrm>
          <a:prstGeom prst="rect">
            <a:avLst/>
          </a:prstGeom>
        </p:spPr>
        <p:txBody>
          <a:bodyPr wrap="none">
            <a:spAutoFit/>
          </a:bodyPr>
          <a:lstStyle/>
          <a:p>
            <a:pPr lvl="0">
              <a:lnSpc>
                <a:spcPct val="110000"/>
              </a:lnSpc>
            </a:pPr>
            <a:r>
              <a:rPr lang="fr-CI" sz="1400" b="1" noProof="0">
                <a:solidFill>
                  <a:schemeClr val="bg1"/>
                </a:solidFill>
                <a:latin typeface="Helvetica" panose="020B0604020202020204" pitchFamily="34" charset="0"/>
                <a:ea typeface="Open Sans Semibold" panose="020B0706030804020204" pitchFamily="34" charset="0"/>
                <a:cs typeface="Helvetica" panose="020B0604020202020204" pitchFamily="34" charset="0"/>
              </a:rPr>
              <a:t>Contrôle</a:t>
            </a:r>
          </a:p>
        </p:txBody>
      </p:sp>
      <p:sp>
        <p:nvSpPr>
          <p:cNvPr id="42" name="Google Shape;7386;p39"/>
          <p:cNvSpPr/>
          <p:nvPr/>
        </p:nvSpPr>
        <p:spPr>
          <a:xfrm rot="10800000">
            <a:off x="6478457" y="3869173"/>
            <a:ext cx="3625790" cy="329031"/>
          </a:xfrm>
          <a:custGeom>
            <a:avLst/>
            <a:gdLst/>
            <a:ahLst/>
            <a:cxnLst/>
            <a:rect l="l" t="t" r="r" b="b"/>
            <a:pathLst>
              <a:path w="40007" h="30221" extrusionOk="0">
                <a:moveTo>
                  <a:pt x="19007" y="1"/>
                </a:moveTo>
                <a:cubicBezTo>
                  <a:pt x="17909" y="1"/>
                  <a:pt x="16810" y="17"/>
                  <a:pt x="15708" y="53"/>
                </a:cubicBezTo>
                <a:cubicBezTo>
                  <a:pt x="13270" y="131"/>
                  <a:pt x="10885" y="275"/>
                  <a:pt x="8512" y="548"/>
                </a:cubicBezTo>
                <a:cubicBezTo>
                  <a:pt x="6088" y="835"/>
                  <a:pt x="4524" y="1500"/>
                  <a:pt x="4041" y="2712"/>
                </a:cubicBezTo>
                <a:cubicBezTo>
                  <a:pt x="4015" y="2777"/>
                  <a:pt x="3976" y="2843"/>
                  <a:pt x="3937" y="2908"/>
                </a:cubicBezTo>
                <a:cubicBezTo>
                  <a:pt x="2777" y="4902"/>
                  <a:pt x="2282" y="6949"/>
                  <a:pt x="1734" y="8995"/>
                </a:cubicBezTo>
                <a:cubicBezTo>
                  <a:pt x="1160" y="11120"/>
                  <a:pt x="613" y="13232"/>
                  <a:pt x="391" y="15357"/>
                </a:cubicBezTo>
                <a:cubicBezTo>
                  <a:pt x="183" y="17325"/>
                  <a:pt x="0" y="19293"/>
                  <a:pt x="79" y="21092"/>
                </a:cubicBezTo>
                <a:cubicBezTo>
                  <a:pt x="52" y="23074"/>
                  <a:pt x="144" y="24899"/>
                  <a:pt x="365" y="26710"/>
                </a:cubicBezTo>
                <a:cubicBezTo>
                  <a:pt x="522" y="28079"/>
                  <a:pt x="1721" y="29096"/>
                  <a:pt x="4419" y="29656"/>
                </a:cubicBezTo>
                <a:cubicBezTo>
                  <a:pt x="6296" y="30048"/>
                  <a:pt x="8265" y="30178"/>
                  <a:pt x="10259" y="30204"/>
                </a:cubicBezTo>
                <a:cubicBezTo>
                  <a:pt x="11143" y="30216"/>
                  <a:pt x="12026" y="30220"/>
                  <a:pt x="12908" y="30220"/>
                </a:cubicBezTo>
                <a:cubicBezTo>
                  <a:pt x="15996" y="30220"/>
                  <a:pt x="19078" y="30165"/>
                  <a:pt x="22161" y="30165"/>
                </a:cubicBezTo>
                <a:cubicBezTo>
                  <a:pt x="24859" y="30165"/>
                  <a:pt x="27557" y="30204"/>
                  <a:pt x="30243" y="30204"/>
                </a:cubicBezTo>
                <a:cubicBezTo>
                  <a:pt x="31690" y="30191"/>
                  <a:pt x="33123" y="30113"/>
                  <a:pt x="34505" y="29852"/>
                </a:cubicBezTo>
                <a:cubicBezTo>
                  <a:pt x="35470" y="29683"/>
                  <a:pt x="36330" y="29435"/>
                  <a:pt x="36917" y="29005"/>
                </a:cubicBezTo>
                <a:cubicBezTo>
                  <a:pt x="37881" y="28288"/>
                  <a:pt x="38677" y="27519"/>
                  <a:pt x="39120" y="26684"/>
                </a:cubicBezTo>
                <a:cubicBezTo>
                  <a:pt x="39732" y="25485"/>
                  <a:pt x="39954" y="24260"/>
                  <a:pt x="39954" y="23021"/>
                </a:cubicBezTo>
                <a:cubicBezTo>
                  <a:pt x="39954" y="19372"/>
                  <a:pt x="40006" y="15709"/>
                  <a:pt x="39563" y="12059"/>
                </a:cubicBezTo>
                <a:cubicBezTo>
                  <a:pt x="39367" y="10403"/>
                  <a:pt x="39485" y="8748"/>
                  <a:pt x="39237" y="7105"/>
                </a:cubicBezTo>
                <a:cubicBezTo>
                  <a:pt x="39068" y="6023"/>
                  <a:pt x="38794" y="4941"/>
                  <a:pt x="37920" y="3938"/>
                </a:cubicBezTo>
                <a:cubicBezTo>
                  <a:pt x="37282" y="3208"/>
                  <a:pt x="36773" y="2438"/>
                  <a:pt x="35665" y="1826"/>
                </a:cubicBezTo>
                <a:cubicBezTo>
                  <a:pt x="34192" y="1031"/>
                  <a:pt x="32237" y="666"/>
                  <a:pt x="30138" y="496"/>
                </a:cubicBezTo>
                <a:cubicBezTo>
                  <a:pt x="26451" y="194"/>
                  <a:pt x="22741" y="1"/>
                  <a:pt x="19007" y="1"/>
                </a:cubicBezTo>
                <a:close/>
              </a:path>
            </a:pathLst>
          </a:custGeom>
          <a:solidFill>
            <a:srgbClr val="112A40"/>
          </a:solidFill>
          <a:ln>
            <a:noFill/>
          </a:ln>
          <a:effectLst>
            <a:outerShdw blurRad="57150" dist="9525" algn="bl" rotWithShape="0">
              <a:srgbClr val="000000"/>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lang="fr-CI" noProof="0"/>
          </a:p>
        </p:txBody>
      </p:sp>
      <p:sp>
        <p:nvSpPr>
          <p:cNvPr id="43" name="Google Shape;7367;p39"/>
          <p:cNvSpPr/>
          <p:nvPr/>
        </p:nvSpPr>
        <p:spPr>
          <a:xfrm rot="16200000">
            <a:off x="7474179" y="3202486"/>
            <a:ext cx="1727953" cy="3719393"/>
          </a:xfrm>
          <a:custGeom>
            <a:avLst/>
            <a:gdLst/>
            <a:ahLst/>
            <a:cxnLst/>
            <a:rect l="l" t="t" r="r" b="b"/>
            <a:pathLst>
              <a:path w="25081" h="54128" extrusionOk="0">
                <a:moveTo>
                  <a:pt x="19843" y="0"/>
                </a:moveTo>
                <a:cubicBezTo>
                  <a:pt x="19654" y="0"/>
                  <a:pt x="19462" y="7"/>
                  <a:pt x="19267" y="21"/>
                </a:cubicBezTo>
                <a:cubicBezTo>
                  <a:pt x="17781" y="125"/>
                  <a:pt x="16282" y="99"/>
                  <a:pt x="14796" y="112"/>
                </a:cubicBezTo>
                <a:cubicBezTo>
                  <a:pt x="13909" y="125"/>
                  <a:pt x="13010" y="112"/>
                  <a:pt x="12123" y="177"/>
                </a:cubicBezTo>
                <a:cubicBezTo>
                  <a:pt x="10272" y="333"/>
                  <a:pt x="8421" y="503"/>
                  <a:pt x="6570" y="633"/>
                </a:cubicBezTo>
                <a:cubicBezTo>
                  <a:pt x="5267" y="738"/>
                  <a:pt x="3989" y="933"/>
                  <a:pt x="2764" y="1259"/>
                </a:cubicBezTo>
                <a:cubicBezTo>
                  <a:pt x="1943" y="1481"/>
                  <a:pt x="1408" y="1872"/>
                  <a:pt x="1226" y="2471"/>
                </a:cubicBezTo>
                <a:cubicBezTo>
                  <a:pt x="991" y="3292"/>
                  <a:pt x="861" y="4140"/>
                  <a:pt x="965" y="4974"/>
                </a:cubicBezTo>
                <a:cubicBezTo>
                  <a:pt x="991" y="5248"/>
                  <a:pt x="1030" y="5508"/>
                  <a:pt x="991" y="5782"/>
                </a:cubicBezTo>
                <a:cubicBezTo>
                  <a:pt x="835" y="6877"/>
                  <a:pt x="678" y="7972"/>
                  <a:pt x="587" y="9067"/>
                </a:cubicBezTo>
                <a:cubicBezTo>
                  <a:pt x="470" y="10488"/>
                  <a:pt x="378" y="11896"/>
                  <a:pt x="300" y="13317"/>
                </a:cubicBezTo>
                <a:cubicBezTo>
                  <a:pt x="274" y="13825"/>
                  <a:pt x="352" y="14333"/>
                  <a:pt x="339" y="14829"/>
                </a:cubicBezTo>
                <a:cubicBezTo>
                  <a:pt x="313" y="15820"/>
                  <a:pt x="157" y="16797"/>
                  <a:pt x="118" y="17775"/>
                </a:cubicBezTo>
                <a:cubicBezTo>
                  <a:pt x="53" y="19391"/>
                  <a:pt x="0" y="21008"/>
                  <a:pt x="40" y="22624"/>
                </a:cubicBezTo>
                <a:cubicBezTo>
                  <a:pt x="66" y="24149"/>
                  <a:pt x="157" y="25661"/>
                  <a:pt x="144" y="27173"/>
                </a:cubicBezTo>
                <a:cubicBezTo>
                  <a:pt x="131" y="28646"/>
                  <a:pt x="105" y="30132"/>
                  <a:pt x="131" y="31605"/>
                </a:cubicBezTo>
                <a:cubicBezTo>
                  <a:pt x="209" y="35412"/>
                  <a:pt x="405" y="39218"/>
                  <a:pt x="274" y="43051"/>
                </a:cubicBezTo>
                <a:cubicBezTo>
                  <a:pt x="235" y="44237"/>
                  <a:pt x="287" y="45436"/>
                  <a:pt x="300" y="46622"/>
                </a:cubicBezTo>
                <a:cubicBezTo>
                  <a:pt x="300" y="46687"/>
                  <a:pt x="300" y="46753"/>
                  <a:pt x="287" y="46818"/>
                </a:cubicBezTo>
                <a:cubicBezTo>
                  <a:pt x="222" y="48004"/>
                  <a:pt x="313" y="49190"/>
                  <a:pt x="535" y="50363"/>
                </a:cubicBezTo>
                <a:cubicBezTo>
                  <a:pt x="665" y="51054"/>
                  <a:pt x="1004" y="51706"/>
                  <a:pt x="1239" y="52384"/>
                </a:cubicBezTo>
                <a:cubicBezTo>
                  <a:pt x="1486" y="53075"/>
                  <a:pt x="2164" y="53492"/>
                  <a:pt x="3129" y="53700"/>
                </a:cubicBezTo>
                <a:cubicBezTo>
                  <a:pt x="3812" y="53854"/>
                  <a:pt x="4517" y="53911"/>
                  <a:pt x="5223" y="53911"/>
                </a:cubicBezTo>
                <a:cubicBezTo>
                  <a:pt x="5299" y="53911"/>
                  <a:pt x="5374" y="53910"/>
                  <a:pt x="5449" y="53909"/>
                </a:cubicBezTo>
                <a:cubicBezTo>
                  <a:pt x="5591" y="53907"/>
                  <a:pt x="5733" y="53906"/>
                  <a:pt x="5875" y="53906"/>
                </a:cubicBezTo>
                <a:cubicBezTo>
                  <a:pt x="7594" y="53906"/>
                  <a:pt x="9293" y="54042"/>
                  <a:pt x="11015" y="54078"/>
                </a:cubicBezTo>
                <a:cubicBezTo>
                  <a:pt x="11655" y="54087"/>
                  <a:pt x="12288" y="54128"/>
                  <a:pt x="12924" y="54128"/>
                </a:cubicBezTo>
                <a:cubicBezTo>
                  <a:pt x="13273" y="54128"/>
                  <a:pt x="13623" y="54115"/>
                  <a:pt x="13974" y="54078"/>
                </a:cubicBezTo>
                <a:cubicBezTo>
                  <a:pt x="15239" y="53948"/>
                  <a:pt x="16516" y="53870"/>
                  <a:pt x="17781" y="53779"/>
                </a:cubicBezTo>
                <a:cubicBezTo>
                  <a:pt x="18850" y="53700"/>
                  <a:pt x="19919" y="53583"/>
                  <a:pt x="20961" y="53375"/>
                </a:cubicBezTo>
                <a:cubicBezTo>
                  <a:pt x="22043" y="53153"/>
                  <a:pt x="22956" y="52749"/>
                  <a:pt x="23503" y="52019"/>
                </a:cubicBezTo>
                <a:cubicBezTo>
                  <a:pt x="23855" y="51537"/>
                  <a:pt x="24142" y="51028"/>
                  <a:pt x="24233" y="50494"/>
                </a:cubicBezTo>
                <a:cubicBezTo>
                  <a:pt x="24416" y="49464"/>
                  <a:pt x="24429" y="48434"/>
                  <a:pt x="24546" y="47404"/>
                </a:cubicBezTo>
                <a:cubicBezTo>
                  <a:pt x="24690" y="45957"/>
                  <a:pt x="24768" y="44510"/>
                  <a:pt x="24833" y="43064"/>
                </a:cubicBezTo>
                <a:cubicBezTo>
                  <a:pt x="24924" y="41395"/>
                  <a:pt x="24898" y="39726"/>
                  <a:pt x="24898" y="38058"/>
                </a:cubicBezTo>
                <a:cubicBezTo>
                  <a:pt x="24885" y="36402"/>
                  <a:pt x="24794" y="34760"/>
                  <a:pt x="24794" y="33104"/>
                </a:cubicBezTo>
                <a:cubicBezTo>
                  <a:pt x="24794" y="31332"/>
                  <a:pt x="24755" y="29546"/>
                  <a:pt x="24768" y="27760"/>
                </a:cubicBezTo>
                <a:cubicBezTo>
                  <a:pt x="24794" y="26196"/>
                  <a:pt x="24807" y="24631"/>
                  <a:pt x="24846" y="23067"/>
                </a:cubicBezTo>
                <a:cubicBezTo>
                  <a:pt x="24885" y="21503"/>
                  <a:pt x="24911" y="19952"/>
                  <a:pt x="24911" y="18387"/>
                </a:cubicBezTo>
                <a:cubicBezTo>
                  <a:pt x="24911" y="16967"/>
                  <a:pt x="24937" y="15533"/>
                  <a:pt x="24989" y="14112"/>
                </a:cubicBezTo>
                <a:cubicBezTo>
                  <a:pt x="25028" y="12795"/>
                  <a:pt x="25081" y="11479"/>
                  <a:pt x="25068" y="10162"/>
                </a:cubicBezTo>
                <a:cubicBezTo>
                  <a:pt x="25068" y="8924"/>
                  <a:pt x="25002" y="7685"/>
                  <a:pt x="24963" y="6447"/>
                </a:cubicBezTo>
                <a:lnTo>
                  <a:pt x="24950" y="6447"/>
                </a:lnTo>
                <a:cubicBezTo>
                  <a:pt x="25055" y="5561"/>
                  <a:pt x="24963" y="4674"/>
                  <a:pt x="24872" y="3801"/>
                </a:cubicBezTo>
                <a:cubicBezTo>
                  <a:pt x="24807" y="3175"/>
                  <a:pt x="24664" y="2562"/>
                  <a:pt x="24403" y="1963"/>
                </a:cubicBezTo>
                <a:cubicBezTo>
                  <a:pt x="24194" y="1481"/>
                  <a:pt x="23803" y="1103"/>
                  <a:pt x="23204" y="803"/>
                </a:cubicBezTo>
                <a:cubicBezTo>
                  <a:pt x="22185" y="293"/>
                  <a:pt x="21087" y="0"/>
                  <a:pt x="19843" y="0"/>
                </a:cubicBezTo>
                <a:close/>
              </a:path>
            </a:pathLst>
          </a:custGeom>
          <a:noFill/>
          <a:ln w="19050">
            <a:solidFill>
              <a:schemeClr val="tx1"/>
            </a:solidFill>
          </a:ln>
          <a:effectLst>
            <a:outerShdw blurRad="57150" dist="9525" algn="bl" rotWithShape="0">
              <a:srgbClr val="000000"/>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lang="fr-CI" noProof="0"/>
          </a:p>
        </p:txBody>
      </p:sp>
      <p:sp>
        <p:nvSpPr>
          <p:cNvPr id="45" name="Rectangle 44"/>
          <p:cNvSpPr/>
          <p:nvPr/>
        </p:nvSpPr>
        <p:spPr>
          <a:xfrm>
            <a:off x="7676960" y="3875619"/>
            <a:ext cx="1322389" cy="295488"/>
          </a:xfrm>
          <a:prstGeom prst="rect">
            <a:avLst/>
          </a:prstGeom>
        </p:spPr>
        <p:txBody>
          <a:bodyPr wrap="none">
            <a:spAutoFit/>
          </a:bodyPr>
          <a:lstStyle/>
          <a:p>
            <a:pPr lvl="0">
              <a:lnSpc>
                <a:spcPct val="110000"/>
              </a:lnSpc>
            </a:pPr>
            <a:r>
              <a:rPr lang="fr-CI" sz="1400" b="1" noProof="0">
                <a:solidFill>
                  <a:schemeClr val="bg1"/>
                </a:solidFill>
                <a:latin typeface="Helvetica" panose="020B0604020202020204" pitchFamily="34" charset="0"/>
                <a:ea typeface="Open Sans Semibold" panose="020B0706030804020204" pitchFamily="34" charset="0"/>
                <a:cs typeface="Helvetica" panose="020B0604020202020204" pitchFamily="34" charset="0"/>
              </a:rPr>
              <a:t>Sortie</a:t>
            </a:r>
          </a:p>
        </p:txBody>
      </p:sp>
      <p:pic>
        <p:nvPicPr>
          <p:cNvPr id="47" name="Image 46"/>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147871" y="3850143"/>
            <a:ext cx="334029" cy="337914"/>
          </a:xfrm>
          <a:prstGeom prst="rect">
            <a:avLst/>
          </a:prstGeom>
        </p:spPr>
      </p:pic>
      <p:pic>
        <p:nvPicPr>
          <p:cNvPr id="50" name="Image 49">
            <a:extLst>
              <a:ext uri="{FF2B5EF4-FFF2-40B4-BE49-F238E27FC236}">
                <a16:creationId xmlns:a16="http://schemas.microsoft.com/office/drawing/2014/main" id="{593DA389-08F4-31D9-6AB9-E96812D83B72}"/>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6768142" y="1475503"/>
            <a:ext cx="294700" cy="294700"/>
          </a:xfrm>
          <a:prstGeom prst="rect">
            <a:avLst/>
          </a:prstGeom>
        </p:spPr>
      </p:pic>
      <p:pic>
        <p:nvPicPr>
          <p:cNvPr id="25" name="Image 24"/>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2156977" y="1457088"/>
            <a:ext cx="281624" cy="284788"/>
          </a:xfrm>
          <a:prstGeom prst="rect">
            <a:avLst/>
          </a:prstGeom>
        </p:spPr>
      </p:pic>
      <p:pic>
        <p:nvPicPr>
          <p:cNvPr id="28" name="Image 27"/>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6791905" y="3883760"/>
            <a:ext cx="270937" cy="276827"/>
          </a:xfrm>
          <a:prstGeom prst="rect">
            <a:avLst/>
          </a:prstGeom>
        </p:spPr>
      </p:pic>
      <p:sp>
        <p:nvSpPr>
          <p:cNvPr id="31" name="Rectangle 30"/>
          <p:cNvSpPr/>
          <p:nvPr/>
        </p:nvSpPr>
        <p:spPr>
          <a:xfrm>
            <a:off x="1999671" y="1962253"/>
            <a:ext cx="3122592" cy="1428712"/>
          </a:xfrm>
          <a:prstGeom prst="rect">
            <a:avLst/>
          </a:prstGeom>
        </p:spPr>
        <p:txBody>
          <a:bodyPr wrap="square">
            <a:spAutoFit/>
          </a:bodyPr>
          <a:lstStyle/>
          <a:p>
            <a:pPr lvl="0" marL="0" indent="0">
              <a:buNone/>
              <a:spcBef>
                <a:spcPts val="300"/>
              </a:spcBef>
              <a:defRPr/>
            </a:pPr>
            <a:r>
              <a:rPr kumimoji="1" lang="fr-CI" sz="1250" b="0" noProof="0">
                <a:latin typeface="Helvetica" panose="020B0604020202020204" pitchFamily="34" charset="0"/>
                <a:cs typeface="Helvetica" panose="020B0604020202020204" pitchFamily="34" charset="0"/>
              </a:rPr>
              <a:t>4 287 fichiers envoyés par le FPPN, dont des exports de logiciels et des PDF.</a:t>
            </a:r>
          </a:p>
        </p:txBody>
      </p:sp>
      <p:sp>
        <p:nvSpPr>
          <p:cNvPr id="32" name="Rectangle 31"/>
          <p:cNvSpPr/>
          <p:nvPr/>
        </p:nvSpPr>
        <p:spPr>
          <a:xfrm>
            <a:off x="6623912" y="1926662"/>
            <a:ext cx="3122592" cy="1428712"/>
          </a:xfrm>
          <a:prstGeom prst="rect">
            <a:avLst/>
          </a:prstGeom>
        </p:spPr>
        <p:txBody>
          <a:bodyPr wrap="square">
            <a:spAutoFit/>
          </a:bodyPr>
          <a:lstStyle/>
          <a:p>
            <a:pPr lvl="0" marL="0" indent="0">
              <a:buNone/>
              <a:spcBef>
                <a:spcPts val="300"/>
              </a:spcBef>
              <a:defRPr/>
            </a:pPr>
            <a:r>
              <a:rPr kumimoji="1" lang="fr-CI" sz="1250" b="0" noProof="0">
                <a:latin typeface="Helvetica" panose="020B0604020202020204" pitchFamily="34" charset="0"/>
                <a:cs typeface="Helvetica" panose="020B0604020202020204" pitchFamily="34" charset="0"/>
              </a:rPr>
              <a:t>Le script dresse l'inventaire, repère doublons, fichiers vides et formats mal nommés.</a:t>
            </a:r>
          </a:p>
        </p:txBody>
      </p:sp>
      <p:sp>
        <p:nvSpPr>
          <p:cNvPr id="33" name="Rectangle 32"/>
          <p:cNvSpPr/>
          <p:nvPr/>
        </p:nvSpPr>
        <p:spPr>
          <a:xfrm>
            <a:off x="2093705" y="4388689"/>
            <a:ext cx="3122592" cy="1428712"/>
          </a:xfrm>
          <a:prstGeom prst="rect">
            <a:avLst/>
          </a:prstGeom>
        </p:spPr>
        <p:txBody>
          <a:bodyPr wrap="square">
            <a:spAutoFit/>
          </a:bodyPr>
          <a:lstStyle/>
          <a:p>
            <a:pPr lvl="0" marL="0" indent="0">
              <a:buNone/>
              <a:spcBef>
                <a:spcPts val="300"/>
              </a:spcBef>
              <a:defRPr/>
            </a:pPr>
            <a:r>
              <a:rPr kumimoji="1" lang="fr-CI" sz="1250" b="0" noProof="0">
                <a:latin typeface="Helvetica" panose="020B0604020202020204" pitchFamily="34" charset="0"/>
                <a:cs typeface="Helvetica" panose="020B0604020202020204" pitchFamily="34" charset="0"/>
              </a:rPr>
              <a:t>Chaque fichier reçoit une empreinte SHA-256 qui prouve qu'il n'a pas changé.</a:t>
            </a:r>
          </a:p>
        </p:txBody>
      </p:sp>
      <p:sp>
        <p:nvSpPr>
          <p:cNvPr id="34" name="Rectangle 33"/>
          <p:cNvSpPr/>
          <p:nvPr/>
        </p:nvSpPr>
        <p:spPr>
          <a:xfrm>
            <a:off x="6768142" y="4336111"/>
            <a:ext cx="3122592" cy="1428712"/>
          </a:xfrm>
          <a:prstGeom prst="rect">
            <a:avLst/>
          </a:prstGeom>
        </p:spPr>
        <p:txBody>
          <a:bodyPr wrap="square">
            <a:spAutoFit/>
          </a:bodyPr>
          <a:lstStyle/>
          <a:p>
            <a:pPr lvl="0" marL="0" indent="0">
              <a:buNone/>
              <a:spcBef>
                <a:spcPts val="300"/>
              </a:spcBef>
              <a:defRPr/>
            </a:pPr>
            <a:r>
              <a:rPr kumimoji="1" lang="fr-CI" sz="1250" b="0" noProof="0">
                <a:latin typeface="Helvetica" panose="020B0604020202020204" pitchFamily="34" charset="0"/>
                <a:cs typeface="Helvetica" panose="020B0604020202020204" pitchFamily="34" charset="0"/>
              </a:rPr>
              <a:t>Inventaire des fichiers et liste des fichiers à renvoyer.</a:t>
            </a:r>
          </a:p>
        </p:txBody>
      </p:sp>
      <p:sp>
        <p:nvSpPr>
          <p:cNvPr id="51"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Chaîne de traitement : réception</a:t>
            </a:r>
          </a:p>
        </p:txBody>
      </p:sp>
      <p:sp>
        <p:nvSpPr>
          <p:cNvPr id="52"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L'étape « Réception » transforme une entrée en sortie, avec un contrôle automatique</a:t>
            </a:r>
          </a:p>
        </p:txBody>
      </p:sp>
      <p:sp>
        <p:nvSpPr>
          <p:cNvPr id="53"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Entrée, traitement, contrôle et sortie de l'étape. Schéma modifiable, complété au fil des entretiens</a:t>
            </a:r>
          </a:p>
        </p:txBody>
      </p:sp>
      <p:sp>
        <p:nvSpPr>
          <p:cNvPr id="54"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scripts Python Adenka (dossier scripts de la mission)</a:t>
            </a:r>
          </a:p>
        </p:txBody>
      </p:sp>
      <p:sp>
        <p:nvSpPr>
          <p:cNvPr id="55" name="TextBox 54"/>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SHA-256 : algorithme d'empreinte numérique</a:t>
            </a:r>
          </a:p>
        </p:txBody>
      </p:sp>
    </p:spTree>
    <p:extLst>
      <p:ext uri="{BB962C8B-B14F-4D97-AF65-F5344CB8AC3E}">
        <p14:creationId xmlns:p14="http://schemas.microsoft.com/office/powerpoint/2010/main" val="2801211273"/>
      </p:ext>
    </p:extLst>
  </p:cSld>
  <p:clrMapOvr>
    <a:masterClrMapping/>
  </p:clrMapOvr>
  <p:transition>
    <p:fade/>
  </p:transition>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6" name="Image 25"/>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30" name="ZoneTexte 29">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9" name="Google Shape;7386;p39"/>
          <p:cNvSpPr/>
          <p:nvPr/>
        </p:nvSpPr>
        <p:spPr>
          <a:xfrm rot="10800000">
            <a:off x="1748072" y="1436295"/>
            <a:ext cx="3625790" cy="329031"/>
          </a:xfrm>
          <a:custGeom>
            <a:avLst/>
            <a:gdLst/>
            <a:ahLst/>
            <a:cxnLst/>
            <a:rect l="l" t="t" r="r" b="b"/>
            <a:pathLst>
              <a:path w="40007" h="30221" extrusionOk="0">
                <a:moveTo>
                  <a:pt x="19007" y="1"/>
                </a:moveTo>
                <a:cubicBezTo>
                  <a:pt x="17909" y="1"/>
                  <a:pt x="16810" y="17"/>
                  <a:pt x="15708" y="53"/>
                </a:cubicBezTo>
                <a:cubicBezTo>
                  <a:pt x="13270" y="131"/>
                  <a:pt x="10885" y="275"/>
                  <a:pt x="8512" y="548"/>
                </a:cubicBezTo>
                <a:cubicBezTo>
                  <a:pt x="6088" y="835"/>
                  <a:pt x="4524" y="1500"/>
                  <a:pt x="4041" y="2712"/>
                </a:cubicBezTo>
                <a:cubicBezTo>
                  <a:pt x="4015" y="2777"/>
                  <a:pt x="3976" y="2843"/>
                  <a:pt x="3937" y="2908"/>
                </a:cubicBezTo>
                <a:cubicBezTo>
                  <a:pt x="2777" y="4902"/>
                  <a:pt x="2282" y="6949"/>
                  <a:pt x="1734" y="8995"/>
                </a:cubicBezTo>
                <a:cubicBezTo>
                  <a:pt x="1160" y="11120"/>
                  <a:pt x="613" y="13232"/>
                  <a:pt x="391" y="15357"/>
                </a:cubicBezTo>
                <a:cubicBezTo>
                  <a:pt x="183" y="17325"/>
                  <a:pt x="0" y="19293"/>
                  <a:pt x="79" y="21092"/>
                </a:cubicBezTo>
                <a:cubicBezTo>
                  <a:pt x="52" y="23074"/>
                  <a:pt x="144" y="24899"/>
                  <a:pt x="365" y="26710"/>
                </a:cubicBezTo>
                <a:cubicBezTo>
                  <a:pt x="522" y="28079"/>
                  <a:pt x="1721" y="29096"/>
                  <a:pt x="4419" y="29656"/>
                </a:cubicBezTo>
                <a:cubicBezTo>
                  <a:pt x="6296" y="30048"/>
                  <a:pt x="8265" y="30178"/>
                  <a:pt x="10259" y="30204"/>
                </a:cubicBezTo>
                <a:cubicBezTo>
                  <a:pt x="11143" y="30216"/>
                  <a:pt x="12026" y="30220"/>
                  <a:pt x="12908" y="30220"/>
                </a:cubicBezTo>
                <a:cubicBezTo>
                  <a:pt x="15996" y="30220"/>
                  <a:pt x="19078" y="30165"/>
                  <a:pt x="22161" y="30165"/>
                </a:cubicBezTo>
                <a:cubicBezTo>
                  <a:pt x="24859" y="30165"/>
                  <a:pt x="27557" y="30204"/>
                  <a:pt x="30243" y="30204"/>
                </a:cubicBezTo>
                <a:cubicBezTo>
                  <a:pt x="31690" y="30191"/>
                  <a:pt x="33123" y="30113"/>
                  <a:pt x="34505" y="29852"/>
                </a:cubicBezTo>
                <a:cubicBezTo>
                  <a:pt x="35470" y="29683"/>
                  <a:pt x="36330" y="29435"/>
                  <a:pt x="36917" y="29005"/>
                </a:cubicBezTo>
                <a:cubicBezTo>
                  <a:pt x="37881" y="28288"/>
                  <a:pt x="38677" y="27519"/>
                  <a:pt x="39120" y="26684"/>
                </a:cubicBezTo>
                <a:cubicBezTo>
                  <a:pt x="39732" y="25485"/>
                  <a:pt x="39954" y="24260"/>
                  <a:pt x="39954" y="23021"/>
                </a:cubicBezTo>
                <a:cubicBezTo>
                  <a:pt x="39954" y="19372"/>
                  <a:pt x="40006" y="15709"/>
                  <a:pt x="39563" y="12059"/>
                </a:cubicBezTo>
                <a:cubicBezTo>
                  <a:pt x="39367" y="10403"/>
                  <a:pt x="39485" y="8748"/>
                  <a:pt x="39237" y="7105"/>
                </a:cubicBezTo>
                <a:cubicBezTo>
                  <a:pt x="39068" y="6023"/>
                  <a:pt x="38794" y="4941"/>
                  <a:pt x="37920" y="3938"/>
                </a:cubicBezTo>
                <a:cubicBezTo>
                  <a:pt x="37282" y="3208"/>
                  <a:pt x="36773" y="2438"/>
                  <a:pt x="35665" y="1826"/>
                </a:cubicBezTo>
                <a:cubicBezTo>
                  <a:pt x="34192" y="1031"/>
                  <a:pt x="32237" y="666"/>
                  <a:pt x="30138" y="496"/>
                </a:cubicBezTo>
                <a:cubicBezTo>
                  <a:pt x="26451" y="194"/>
                  <a:pt x="22741" y="1"/>
                  <a:pt x="19007" y="1"/>
                </a:cubicBezTo>
                <a:close/>
              </a:path>
            </a:pathLst>
          </a:custGeom>
          <a:solidFill>
            <a:srgbClr val="112A40"/>
          </a:solidFill>
          <a:ln>
            <a:noFill/>
          </a:ln>
          <a:effectLst>
            <a:outerShdw blurRad="57150" dist="9525" algn="bl" rotWithShape="0">
              <a:srgbClr val="000000"/>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lang="fr-CI" noProof="0"/>
          </a:p>
        </p:txBody>
      </p:sp>
      <p:sp>
        <p:nvSpPr>
          <p:cNvPr id="10" name="Google Shape;7367;p39"/>
          <p:cNvSpPr/>
          <p:nvPr/>
        </p:nvSpPr>
        <p:spPr>
          <a:xfrm rot="16200000">
            <a:off x="2201124" y="215006"/>
            <a:ext cx="2027916" cy="4306666"/>
          </a:xfrm>
          <a:custGeom>
            <a:avLst/>
            <a:gdLst/>
            <a:ahLst/>
            <a:cxnLst/>
            <a:rect l="l" t="t" r="r" b="b"/>
            <a:pathLst>
              <a:path w="25081" h="54128" extrusionOk="0">
                <a:moveTo>
                  <a:pt x="19843" y="0"/>
                </a:moveTo>
                <a:cubicBezTo>
                  <a:pt x="19654" y="0"/>
                  <a:pt x="19462" y="7"/>
                  <a:pt x="19267" y="21"/>
                </a:cubicBezTo>
                <a:cubicBezTo>
                  <a:pt x="17781" y="125"/>
                  <a:pt x="16282" y="99"/>
                  <a:pt x="14796" y="112"/>
                </a:cubicBezTo>
                <a:cubicBezTo>
                  <a:pt x="13909" y="125"/>
                  <a:pt x="13010" y="112"/>
                  <a:pt x="12123" y="177"/>
                </a:cubicBezTo>
                <a:cubicBezTo>
                  <a:pt x="10272" y="333"/>
                  <a:pt x="8421" y="503"/>
                  <a:pt x="6570" y="633"/>
                </a:cubicBezTo>
                <a:cubicBezTo>
                  <a:pt x="5267" y="738"/>
                  <a:pt x="3989" y="933"/>
                  <a:pt x="2764" y="1259"/>
                </a:cubicBezTo>
                <a:cubicBezTo>
                  <a:pt x="1943" y="1481"/>
                  <a:pt x="1408" y="1872"/>
                  <a:pt x="1226" y="2471"/>
                </a:cubicBezTo>
                <a:cubicBezTo>
                  <a:pt x="991" y="3292"/>
                  <a:pt x="861" y="4140"/>
                  <a:pt x="965" y="4974"/>
                </a:cubicBezTo>
                <a:cubicBezTo>
                  <a:pt x="991" y="5248"/>
                  <a:pt x="1030" y="5508"/>
                  <a:pt x="991" y="5782"/>
                </a:cubicBezTo>
                <a:cubicBezTo>
                  <a:pt x="835" y="6877"/>
                  <a:pt x="678" y="7972"/>
                  <a:pt x="587" y="9067"/>
                </a:cubicBezTo>
                <a:cubicBezTo>
                  <a:pt x="470" y="10488"/>
                  <a:pt x="378" y="11896"/>
                  <a:pt x="300" y="13317"/>
                </a:cubicBezTo>
                <a:cubicBezTo>
                  <a:pt x="274" y="13825"/>
                  <a:pt x="352" y="14333"/>
                  <a:pt x="339" y="14829"/>
                </a:cubicBezTo>
                <a:cubicBezTo>
                  <a:pt x="313" y="15820"/>
                  <a:pt x="157" y="16797"/>
                  <a:pt x="118" y="17775"/>
                </a:cubicBezTo>
                <a:cubicBezTo>
                  <a:pt x="53" y="19391"/>
                  <a:pt x="0" y="21008"/>
                  <a:pt x="40" y="22624"/>
                </a:cubicBezTo>
                <a:cubicBezTo>
                  <a:pt x="66" y="24149"/>
                  <a:pt x="157" y="25661"/>
                  <a:pt x="144" y="27173"/>
                </a:cubicBezTo>
                <a:cubicBezTo>
                  <a:pt x="131" y="28646"/>
                  <a:pt x="105" y="30132"/>
                  <a:pt x="131" y="31605"/>
                </a:cubicBezTo>
                <a:cubicBezTo>
                  <a:pt x="209" y="35412"/>
                  <a:pt x="405" y="39218"/>
                  <a:pt x="274" y="43051"/>
                </a:cubicBezTo>
                <a:cubicBezTo>
                  <a:pt x="235" y="44237"/>
                  <a:pt x="287" y="45436"/>
                  <a:pt x="300" y="46622"/>
                </a:cubicBezTo>
                <a:cubicBezTo>
                  <a:pt x="300" y="46687"/>
                  <a:pt x="300" y="46753"/>
                  <a:pt x="287" y="46818"/>
                </a:cubicBezTo>
                <a:cubicBezTo>
                  <a:pt x="222" y="48004"/>
                  <a:pt x="313" y="49190"/>
                  <a:pt x="535" y="50363"/>
                </a:cubicBezTo>
                <a:cubicBezTo>
                  <a:pt x="665" y="51054"/>
                  <a:pt x="1004" y="51706"/>
                  <a:pt x="1239" y="52384"/>
                </a:cubicBezTo>
                <a:cubicBezTo>
                  <a:pt x="1486" y="53075"/>
                  <a:pt x="2164" y="53492"/>
                  <a:pt x="3129" y="53700"/>
                </a:cubicBezTo>
                <a:cubicBezTo>
                  <a:pt x="3812" y="53854"/>
                  <a:pt x="4517" y="53911"/>
                  <a:pt x="5223" y="53911"/>
                </a:cubicBezTo>
                <a:cubicBezTo>
                  <a:pt x="5299" y="53911"/>
                  <a:pt x="5374" y="53910"/>
                  <a:pt x="5449" y="53909"/>
                </a:cubicBezTo>
                <a:cubicBezTo>
                  <a:pt x="5591" y="53907"/>
                  <a:pt x="5733" y="53906"/>
                  <a:pt x="5875" y="53906"/>
                </a:cubicBezTo>
                <a:cubicBezTo>
                  <a:pt x="7594" y="53906"/>
                  <a:pt x="9293" y="54042"/>
                  <a:pt x="11015" y="54078"/>
                </a:cubicBezTo>
                <a:cubicBezTo>
                  <a:pt x="11655" y="54087"/>
                  <a:pt x="12288" y="54128"/>
                  <a:pt x="12924" y="54128"/>
                </a:cubicBezTo>
                <a:cubicBezTo>
                  <a:pt x="13273" y="54128"/>
                  <a:pt x="13623" y="54115"/>
                  <a:pt x="13974" y="54078"/>
                </a:cubicBezTo>
                <a:cubicBezTo>
                  <a:pt x="15239" y="53948"/>
                  <a:pt x="16516" y="53870"/>
                  <a:pt x="17781" y="53779"/>
                </a:cubicBezTo>
                <a:cubicBezTo>
                  <a:pt x="18850" y="53700"/>
                  <a:pt x="19919" y="53583"/>
                  <a:pt x="20961" y="53375"/>
                </a:cubicBezTo>
                <a:cubicBezTo>
                  <a:pt x="22043" y="53153"/>
                  <a:pt x="22956" y="52749"/>
                  <a:pt x="23503" y="52019"/>
                </a:cubicBezTo>
                <a:cubicBezTo>
                  <a:pt x="23855" y="51537"/>
                  <a:pt x="24142" y="51028"/>
                  <a:pt x="24233" y="50494"/>
                </a:cubicBezTo>
                <a:cubicBezTo>
                  <a:pt x="24416" y="49464"/>
                  <a:pt x="24429" y="48434"/>
                  <a:pt x="24546" y="47404"/>
                </a:cubicBezTo>
                <a:cubicBezTo>
                  <a:pt x="24690" y="45957"/>
                  <a:pt x="24768" y="44510"/>
                  <a:pt x="24833" y="43064"/>
                </a:cubicBezTo>
                <a:cubicBezTo>
                  <a:pt x="24924" y="41395"/>
                  <a:pt x="24898" y="39726"/>
                  <a:pt x="24898" y="38058"/>
                </a:cubicBezTo>
                <a:cubicBezTo>
                  <a:pt x="24885" y="36402"/>
                  <a:pt x="24794" y="34760"/>
                  <a:pt x="24794" y="33104"/>
                </a:cubicBezTo>
                <a:cubicBezTo>
                  <a:pt x="24794" y="31332"/>
                  <a:pt x="24755" y="29546"/>
                  <a:pt x="24768" y="27760"/>
                </a:cubicBezTo>
                <a:cubicBezTo>
                  <a:pt x="24794" y="26196"/>
                  <a:pt x="24807" y="24631"/>
                  <a:pt x="24846" y="23067"/>
                </a:cubicBezTo>
                <a:cubicBezTo>
                  <a:pt x="24885" y="21503"/>
                  <a:pt x="24911" y="19952"/>
                  <a:pt x="24911" y="18387"/>
                </a:cubicBezTo>
                <a:cubicBezTo>
                  <a:pt x="24911" y="16967"/>
                  <a:pt x="24937" y="15533"/>
                  <a:pt x="24989" y="14112"/>
                </a:cubicBezTo>
                <a:cubicBezTo>
                  <a:pt x="25028" y="12795"/>
                  <a:pt x="25081" y="11479"/>
                  <a:pt x="25068" y="10162"/>
                </a:cubicBezTo>
                <a:cubicBezTo>
                  <a:pt x="25068" y="8924"/>
                  <a:pt x="25002" y="7685"/>
                  <a:pt x="24963" y="6447"/>
                </a:cubicBezTo>
                <a:lnTo>
                  <a:pt x="24950" y="6447"/>
                </a:lnTo>
                <a:cubicBezTo>
                  <a:pt x="25055" y="5561"/>
                  <a:pt x="24963" y="4674"/>
                  <a:pt x="24872" y="3801"/>
                </a:cubicBezTo>
                <a:cubicBezTo>
                  <a:pt x="24807" y="3175"/>
                  <a:pt x="24664" y="2562"/>
                  <a:pt x="24403" y="1963"/>
                </a:cubicBezTo>
                <a:cubicBezTo>
                  <a:pt x="24194" y="1481"/>
                  <a:pt x="23803" y="1103"/>
                  <a:pt x="23204" y="803"/>
                </a:cubicBezTo>
                <a:cubicBezTo>
                  <a:pt x="22185" y="293"/>
                  <a:pt x="21087" y="0"/>
                  <a:pt x="19843" y="0"/>
                </a:cubicBezTo>
                <a:close/>
              </a:path>
            </a:pathLst>
          </a:custGeom>
          <a:noFill/>
          <a:ln w="19050">
            <a:solidFill>
              <a:schemeClr val="tx1"/>
            </a:solidFill>
          </a:ln>
          <a:effectLst>
            <a:outerShdw blurRad="57150" dist="9525" algn="bl" rotWithShape="0">
              <a:srgbClr val="000000"/>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lang="fr-CI" noProof="0"/>
          </a:p>
        </p:txBody>
      </p:sp>
      <p:sp>
        <p:nvSpPr>
          <p:cNvPr id="4" name="Rectangle 3"/>
          <p:cNvSpPr/>
          <p:nvPr/>
        </p:nvSpPr>
        <p:spPr>
          <a:xfrm>
            <a:off x="2946575" y="1442741"/>
            <a:ext cx="1322389" cy="295488"/>
          </a:xfrm>
          <a:prstGeom prst="rect">
            <a:avLst/>
          </a:prstGeom>
        </p:spPr>
        <p:txBody>
          <a:bodyPr wrap="none">
            <a:spAutoFit/>
          </a:bodyPr>
          <a:lstStyle/>
          <a:p>
            <a:pPr lvl="0">
              <a:lnSpc>
                <a:spcPct val="110000"/>
              </a:lnSpc>
            </a:pPr>
            <a:r>
              <a:rPr lang="fr-CI" sz="1400" b="1" noProof="0">
                <a:solidFill>
                  <a:schemeClr val="bg1"/>
                </a:solidFill>
                <a:latin typeface="Helvetica" panose="020B0604020202020204" pitchFamily="34" charset="0"/>
                <a:ea typeface="Open Sans Semibold" panose="020B0706030804020204" pitchFamily="34" charset="0"/>
                <a:cs typeface="Helvetica" panose="020B0604020202020204" pitchFamily="34" charset="0"/>
              </a:rPr>
              <a:t>Entrée</a:t>
            </a:r>
          </a:p>
        </p:txBody>
      </p:sp>
      <p:sp>
        <p:nvSpPr>
          <p:cNvPr id="20" name="Google Shape;7386;p39"/>
          <p:cNvSpPr/>
          <p:nvPr/>
        </p:nvSpPr>
        <p:spPr>
          <a:xfrm rot="10800000">
            <a:off x="6372314" y="1459724"/>
            <a:ext cx="3625790" cy="329031"/>
          </a:xfrm>
          <a:custGeom>
            <a:avLst/>
            <a:gdLst/>
            <a:ahLst/>
            <a:cxnLst/>
            <a:rect l="l" t="t" r="r" b="b"/>
            <a:pathLst>
              <a:path w="40007" h="30221" extrusionOk="0">
                <a:moveTo>
                  <a:pt x="19007" y="1"/>
                </a:moveTo>
                <a:cubicBezTo>
                  <a:pt x="17909" y="1"/>
                  <a:pt x="16810" y="17"/>
                  <a:pt x="15708" y="53"/>
                </a:cubicBezTo>
                <a:cubicBezTo>
                  <a:pt x="13270" y="131"/>
                  <a:pt x="10885" y="275"/>
                  <a:pt x="8512" y="548"/>
                </a:cubicBezTo>
                <a:cubicBezTo>
                  <a:pt x="6088" y="835"/>
                  <a:pt x="4524" y="1500"/>
                  <a:pt x="4041" y="2712"/>
                </a:cubicBezTo>
                <a:cubicBezTo>
                  <a:pt x="4015" y="2777"/>
                  <a:pt x="3976" y="2843"/>
                  <a:pt x="3937" y="2908"/>
                </a:cubicBezTo>
                <a:cubicBezTo>
                  <a:pt x="2777" y="4902"/>
                  <a:pt x="2282" y="6949"/>
                  <a:pt x="1734" y="8995"/>
                </a:cubicBezTo>
                <a:cubicBezTo>
                  <a:pt x="1160" y="11120"/>
                  <a:pt x="613" y="13232"/>
                  <a:pt x="391" y="15357"/>
                </a:cubicBezTo>
                <a:cubicBezTo>
                  <a:pt x="183" y="17325"/>
                  <a:pt x="0" y="19293"/>
                  <a:pt x="79" y="21092"/>
                </a:cubicBezTo>
                <a:cubicBezTo>
                  <a:pt x="52" y="23074"/>
                  <a:pt x="144" y="24899"/>
                  <a:pt x="365" y="26710"/>
                </a:cubicBezTo>
                <a:cubicBezTo>
                  <a:pt x="522" y="28079"/>
                  <a:pt x="1721" y="29096"/>
                  <a:pt x="4419" y="29656"/>
                </a:cubicBezTo>
                <a:cubicBezTo>
                  <a:pt x="6296" y="30048"/>
                  <a:pt x="8265" y="30178"/>
                  <a:pt x="10259" y="30204"/>
                </a:cubicBezTo>
                <a:cubicBezTo>
                  <a:pt x="11143" y="30216"/>
                  <a:pt x="12026" y="30220"/>
                  <a:pt x="12908" y="30220"/>
                </a:cubicBezTo>
                <a:cubicBezTo>
                  <a:pt x="15996" y="30220"/>
                  <a:pt x="19078" y="30165"/>
                  <a:pt x="22161" y="30165"/>
                </a:cubicBezTo>
                <a:cubicBezTo>
                  <a:pt x="24859" y="30165"/>
                  <a:pt x="27557" y="30204"/>
                  <a:pt x="30243" y="30204"/>
                </a:cubicBezTo>
                <a:cubicBezTo>
                  <a:pt x="31690" y="30191"/>
                  <a:pt x="33123" y="30113"/>
                  <a:pt x="34505" y="29852"/>
                </a:cubicBezTo>
                <a:cubicBezTo>
                  <a:pt x="35470" y="29683"/>
                  <a:pt x="36330" y="29435"/>
                  <a:pt x="36917" y="29005"/>
                </a:cubicBezTo>
                <a:cubicBezTo>
                  <a:pt x="37881" y="28288"/>
                  <a:pt x="38677" y="27519"/>
                  <a:pt x="39120" y="26684"/>
                </a:cubicBezTo>
                <a:cubicBezTo>
                  <a:pt x="39732" y="25485"/>
                  <a:pt x="39954" y="24260"/>
                  <a:pt x="39954" y="23021"/>
                </a:cubicBezTo>
                <a:cubicBezTo>
                  <a:pt x="39954" y="19372"/>
                  <a:pt x="40006" y="15709"/>
                  <a:pt x="39563" y="12059"/>
                </a:cubicBezTo>
                <a:cubicBezTo>
                  <a:pt x="39367" y="10403"/>
                  <a:pt x="39485" y="8748"/>
                  <a:pt x="39237" y="7105"/>
                </a:cubicBezTo>
                <a:cubicBezTo>
                  <a:pt x="39068" y="6023"/>
                  <a:pt x="38794" y="4941"/>
                  <a:pt x="37920" y="3938"/>
                </a:cubicBezTo>
                <a:cubicBezTo>
                  <a:pt x="37282" y="3208"/>
                  <a:pt x="36773" y="2438"/>
                  <a:pt x="35665" y="1826"/>
                </a:cubicBezTo>
                <a:cubicBezTo>
                  <a:pt x="34192" y="1031"/>
                  <a:pt x="32237" y="666"/>
                  <a:pt x="30138" y="496"/>
                </a:cubicBezTo>
                <a:cubicBezTo>
                  <a:pt x="26451" y="194"/>
                  <a:pt x="22741" y="1"/>
                  <a:pt x="19007" y="1"/>
                </a:cubicBezTo>
                <a:close/>
              </a:path>
            </a:pathLst>
          </a:custGeom>
          <a:solidFill>
            <a:srgbClr val="112A40"/>
          </a:solidFill>
          <a:ln>
            <a:noFill/>
          </a:ln>
          <a:effectLst>
            <a:outerShdw blurRad="57150" dist="9525" algn="bl" rotWithShape="0">
              <a:srgbClr val="000000"/>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lang="fr-CI" noProof="0"/>
          </a:p>
        </p:txBody>
      </p:sp>
      <p:sp>
        <p:nvSpPr>
          <p:cNvPr id="21" name="Google Shape;7367;p39"/>
          <p:cNvSpPr/>
          <p:nvPr/>
        </p:nvSpPr>
        <p:spPr>
          <a:xfrm rot="16200000">
            <a:off x="7569073" y="228570"/>
            <a:ext cx="2000788" cy="4306666"/>
          </a:xfrm>
          <a:custGeom>
            <a:avLst/>
            <a:gdLst/>
            <a:ahLst/>
            <a:cxnLst/>
            <a:rect l="l" t="t" r="r" b="b"/>
            <a:pathLst>
              <a:path w="25081" h="54128" extrusionOk="0">
                <a:moveTo>
                  <a:pt x="19843" y="0"/>
                </a:moveTo>
                <a:cubicBezTo>
                  <a:pt x="19654" y="0"/>
                  <a:pt x="19462" y="7"/>
                  <a:pt x="19267" y="21"/>
                </a:cubicBezTo>
                <a:cubicBezTo>
                  <a:pt x="17781" y="125"/>
                  <a:pt x="16282" y="99"/>
                  <a:pt x="14796" y="112"/>
                </a:cubicBezTo>
                <a:cubicBezTo>
                  <a:pt x="13909" y="125"/>
                  <a:pt x="13010" y="112"/>
                  <a:pt x="12123" y="177"/>
                </a:cubicBezTo>
                <a:cubicBezTo>
                  <a:pt x="10272" y="333"/>
                  <a:pt x="8421" y="503"/>
                  <a:pt x="6570" y="633"/>
                </a:cubicBezTo>
                <a:cubicBezTo>
                  <a:pt x="5267" y="738"/>
                  <a:pt x="3989" y="933"/>
                  <a:pt x="2764" y="1259"/>
                </a:cubicBezTo>
                <a:cubicBezTo>
                  <a:pt x="1943" y="1481"/>
                  <a:pt x="1408" y="1872"/>
                  <a:pt x="1226" y="2471"/>
                </a:cubicBezTo>
                <a:cubicBezTo>
                  <a:pt x="991" y="3292"/>
                  <a:pt x="861" y="4140"/>
                  <a:pt x="965" y="4974"/>
                </a:cubicBezTo>
                <a:cubicBezTo>
                  <a:pt x="991" y="5248"/>
                  <a:pt x="1030" y="5508"/>
                  <a:pt x="991" y="5782"/>
                </a:cubicBezTo>
                <a:cubicBezTo>
                  <a:pt x="835" y="6877"/>
                  <a:pt x="678" y="7972"/>
                  <a:pt x="587" y="9067"/>
                </a:cubicBezTo>
                <a:cubicBezTo>
                  <a:pt x="470" y="10488"/>
                  <a:pt x="378" y="11896"/>
                  <a:pt x="300" y="13317"/>
                </a:cubicBezTo>
                <a:cubicBezTo>
                  <a:pt x="274" y="13825"/>
                  <a:pt x="352" y="14333"/>
                  <a:pt x="339" y="14829"/>
                </a:cubicBezTo>
                <a:cubicBezTo>
                  <a:pt x="313" y="15820"/>
                  <a:pt x="157" y="16797"/>
                  <a:pt x="118" y="17775"/>
                </a:cubicBezTo>
                <a:cubicBezTo>
                  <a:pt x="53" y="19391"/>
                  <a:pt x="0" y="21008"/>
                  <a:pt x="40" y="22624"/>
                </a:cubicBezTo>
                <a:cubicBezTo>
                  <a:pt x="66" y="24149"/>
                  <a:pt x="157" y="25661"/>
                  <a:pt x="144" y="27173"/>
                </a:cubicBezTo>
                <a:cubicBezTo>
                  <a:pt x="131" y="28646"/>
                  <a:pt x="105" y="30132"/>
                  <a:pt x="131" y="31605"/>
                </a:cubicBezTo>
                <a:cubicBezTo>
                  <a:pt x="209" y="35412"/>
                  <a:pt x="405" y="39218"/>
                  <a:pt x="274" y="43051"/>
                </a:cubicBezTo>
                <a:cubicBezTo>
                  <a:pt x="235" y="44237"/>
                  <a:pt x="287" y="45436"/>
                  <a:pt x="300" y="46622"/>
                </a:cubicBezTo>
                <a:cubicBezTo>
                  <a:pt x="300" y="46687"/>
                  <a:pt x="300" y="46753"/>
                  <a:pt x="287" y="46818"/>
                </a:cubicBezTo>
                <a:cubicBezTo>
                  <a:pt x="222" y="48004"/>
                  <a:pt x="313" y="49190"/>
                  <a:pt x="535" y="50363"/>
                </a:cubicBezTo>
                <a:cubicBezTo>
                  <a:pt x="665" y="51054"/>
                  <a:pt x="1004" y="51706"/>
                  <a:pt x="1239" y="52384"/>
                </a:cubicBezTo>
                <a:cubicBezTo>
                  <a:pt x="1486" y="53075"/>
                  <a:pt x="2164" y="53492"/>
                  <a:pt x="3129" y="53700"/>
                </a:cubicBezTo>
                <a:cubicBezTo>
                  <a:pt x="3812" y="53854"/>
                  <a:pt x="4517" y="53911"/>
                  <a:pt x="5223" y="53911"/>
                </a:cubicBezTo>
                <a:cubicBezTo>
                  <a:pt x="5299" y="53911"/>
                  <a:pt x="5374" y="53910"/>
                  <a:pt x="5449" y="53909"/>
                </a:cubicBezTo>
                <a:cubicBezTo>
                  <a:pt x="5591" y="53907"/>
                  <a:pt x="5733" y="53906"/>
                  <a:pt x="5875" y="53906"/>
                </a:cubicBezTo>
                <a:cubicBezTo>
                  <a:pt x="7594" y="53906"/>
                  <a:pt x="9293" y="54042"/>
                  <a:pt x="11015" y="54078"/>
                </a:cubicBezTo>
                <a:cubicBezTo>
                  <a:pt x="11655" y="54087"/>
                  <a:pt x="12288" y="54128"/>
                  <a:pt x="12924" y="54128"/>
                </a:cubicBezTo>
                <a:cubicBezTo>
                  <a:pt x="13273" y="54128"/>
                  <a:pt x="13623" y="54115"/>
                  <a:pt x="13974" y="54078"/>
                </a:cubicBezTo>
                <a:cubicBezTo>
                  <a:pt x="15239" y="53948"/>
                  <a:pt x="16516" y="53870"/>
                  <a:pt x="17781" y="53779"/>
                </a:cubicBezTo>
                <a:cubicBezTo>
                  <a:pt x="18850" y="53700"/>
                  <a:pt x="19919" y="53583"/>
                  <a:pt x="20961" y="53375"/>
                </a:cubicBezTo>
                <a:cubicBezTo>
                  <a:pt x="22043" y="53153"/>
                  <a:pt x="22956" y="52749"/>
                  <a:pt x="23503" y="52019"/>
                </a:cubicBezTo>
                <a:cubicBezTo>
                  <a:pt x="23855" y="51537"/>
                  <a:pt x="24142" y="51028"/>
                  <a:pt x="24233" y="50494"/>
                </a:cubicBezTo>
                <a:cubicBezTo>
                  <a:pt x="24416" y="49464"/>
                  <a:pt x="24429" y="48434"/>
                  <a:pt x="24546" y="47404"/>
                </a:cubicBezTo>
                <a:cubicBezTo>
                  <a:pt x="24690" y="45957"/>
                  <a:pt x="24768" y="44510"/>
                  <a:pt x="24833" y="43064"/>
                </a:cubicBezTo>
                <a:cubicBezTo>
                  <a:pt x="24924" y="41395"/>
                  <a:pt x="24898" y="39726"/>
                  <a:pt x="24898" y="38058"/>
                </a:cubicBezTo>
                <a:cubicBezTo>
                  <a:pt x="24885" y="36402"/>
                  <a:pt x="24794" y="34760"/>
                  <a:pt x="24794" y="33104"/>
                </a:cubicBezTo>
                <a:cubicBezTo>
                  <a:pt x="24794" y="31332"/>
                  <a:pt x="24755" y="29546"/>
                  <a:pt x="24768" y="27760"/>
                </a:cubicBezTo>
                <a:cubicBezTo>
                  <a:pt x="24794" y="26196"/>
                  <a:pt x="24807" y="24631"/>
                  <a:pt x="24846" y="23067"/>
                </a:cubicBezTo>
                <a:cubicBezTo>
                  <a:pt x="24885" y="21503"/>
                  <a:pt x="24911" y="19952"/>
                  <a:pt x="24911" y="18387"/>
                </a:cubicBezTo>
                <a:cubicBezTo>
                  <a:pt x="24911" y="16967"/>
                  <a:pt x="24937" y="15533"/>
                  <a:pt x="24989" y="14112"/>
                </a:cubicBezTo>
                <a:cubicBezTo>
                  <a:pt x="25028" y="12795"/>
                  <a:pt x="25081" y="11479"/>
                  <a:pt x="25068" y="10162"/>
                </a:cubicBezTo>
                <a:cubicBezTo>
                  <a:pt x="25068" y="8924"/>
                  <a:pt x="25002" y="7685"/>
                  <a:pt x="24963" y="6447"/>
                </a:cubicBezTo>
                <a:lnTo>
                  <a:pt x="24950" y="6447"/>
                </a:lnTo>
                <a:cubicBezTo>
                  <a:pt x="25055" y="5561"/>
                  <a:pt x="24963" y="4674"/>
                  <a:pt x="24872" y="3801"/>
                </a:cubicBezTo>
                <a:cubicBezTo>
                  <a:pt x="24807" y="3175"/>
                  <a:pt x="24664" y="2562"/>
                  <a:pt x="24403" y="1963"/>
                </a:cubicBezTo>
                <a:cubicBezTo>
                  <a:pt x="24194" y="1481"/>
                  <a:pt x="23803" y="1103"/>
                  <a:pt x="23204" y="803"/>
                </a:cubicBezTo>
                <a:cubicBezTo>
                  <a:pt x="22185" y="293"/>
                  <a:pt x="21087" y="0"/>
                  <a:pt x="19843" y="0"/>
                </a:cubicBezTo>
                <a:close/>
              </a:path>
            </a:pathLst>
          </a:custGeom>
          <a:noFill/>
          <a:ln w="19050">
            <a:solidFill>
              <a:srgbClr val="060606"/>
            </a:solidFill>
          </a:ln>
          <a:effectLst>
            <a:outerShdw blurRad="57150" dist="9525" algn="bl" rotWithShape="0">
              <a:srgbClr val="000000"/>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lang="fr-CI" noProof="0"/>
          </a:p>
        </p:txBody>
      </p:sp>
      <p:sp>
        <p:nvSpPr>
          <p:cNvPr id="24" name="Rectangle 23"/>
          <p:cNvSpPr/>
          <p:nvPr/>
        </p:nvSpPr>
        <p:spPr>
          <a:xfrm>
            <a:off x="7570816" y="1466170"/>
            <a:ext cx="1322389" cy="295488"/>
          </a:xfrm>
          <a:prstGeom prst="rect">
            <a:avLst/>
          </a:prstGeom>
        </p:spPr>
        <p:txBody>
          <a:bodyPr wrap="none">
            <a:spAutoFit/>
          </a:bodyPr>
          <a:lstStyle/>
          <a:p>
            <a:pPr lvl="0">
              <a:lnSpc>
                <a:spcPct val="110000"/>
              </a:lnSpc>
            </a:pPr>
            <a:r>
              <a:rPr lang="fr-CI" sz="1400" b="1" noProof="0">
                <a:solidFill>
                  <a:schemeClr val="bg1"/>
                </a:solidFill>
                <a:latin typeface="Helvetica" panose="020B0604020202020204" pitchFamily="34" charset="0"/>
                <a:ea typeface="Open Sans Semibold" panose="020B0706030804020204" pitchFamily="34" charset="0"/>
                <a:cs typeface="Helvetica" panose="020B0604020202020204" pitchFamily="34" charset="0"/>
              </a:rPr>
              <a:t>Traitement</a:t>
            </a:r>
          </a:p>
        </p:txBody>
      </p:sp>
      <p:sp>
        <p:nvSpPr>
          <p:cNvPr id="37" name="Google Shape;7386;p39"/>
          <p:cNvSpPr/>
          <p:nvPr/>
        </p:nvSpPr>
        <p:spPr>
          <a:xfrm rot="10800000">
            <a:off x="1854215" y="3845744"/>
            <a:ext cx="3625790" cy="329031"/>
          </a:xfrm>
          <a:custGeom>
            <a:avLst/>
            <a:gdLst/>
            <a:ahLst/>
            <a:cxnLst/>
            <a:rect l="l" t="t" r="r" b="b"/>
            <a:pathLst>
              <a:path w="40007" h="30221" extrusionOk="0">
                <a:moveTo>
                  <a:pt x="19007" y="1"/>
                </a:moveTo>
                <a:cubicBezTo>
                  <a:pt x="17909" y="1"/>
                  <a:pt x="16810" y="17"/>
                  <a:pt x="15708" y="53"/>
                </a:cubicBezTo>
                <a:cubicBezTo>
                  <a:pt x="13270" y="131"/>
                  <a:pt x="10885" y="275"/>
                  <a:pt x="8512" y="548"/>
                </a:cubicBezTo>
                <a:cubicBezTo>
                  <a:pt x="6088" y="835"/>
                  <a:pt x="4524" y="1500"/>
                  <a:pt x="4041" y="2712"/>
                </a:cubicBezTo>
                <a:cubicBezTo>
                  <a:pt x="4015" y="2777"/>
                  <a:pt x="3976" y="2843"/>
                  <a:pt x="3937" y="2908"/>
                </a:cubicBezTo>
                <a:cubicBezTo>
                  <a:pt x="2777" y="4902"/>
                  <a:pt x="2282" y="6949"/>
                  <a:pt x="1734" y="8995"/>
                </a:cubicBezTo>
                <a:cubicBezTo>
                  <a:pt x="1160" y="11120"/>
                  <a:pt x="613" y="13232"/>
                  <a:pt x="391" y="15357"/>
                </a:cubicBezTo>
                <a:cubicBezTo>
                  <a:pt x="183" y="17325"/>
                  <a:pt x="0" y="19293"/>
                  <a:pt x="79" y="21092"/>
                </a:cubicBezTo>
                <a:cubicBezTo>
                  <a:pt x="52" y="23074"/>
                  <a:pt x="144" y="24899"/>
                  <a:pt x="365" y="26710"/>
                </a:cubicBezTo>
                <a:cubicBezTo>
                  <a:pt x="522" y="28079"/>
                  <a:pt x="1721" y="29096"/>
                  <a:pt x="4419" y="29656"/>
                </a:cubicBezTo>
                <a:cubicBezTo>
                  <a:pt x="6296" y="30048"/>
                  <a:pt x="8265" y="30178"/>
                  <a:pt x="10259" y="30204"/>
                </a:cubicBezTo>
                <a:cubicBezTo>
                  <a:pt x="11143" y="30216"/>
                  <a:pt x="12026" y="30220"/>
                  <a:pt x="12908" y="30220"/>
                </a:cubicBezTo>
                <a:cubicBezTo>
                  <a:pt x="15996" y="30220"/>
                  <a:pt x="19078" y="30165"/>
                  <a:pt x="22161" y="30165"/>
                </a:cubicBezTo>
                <a:cubicBezTo>
                  <a:pt x="24859" y="30165"/>
                  <a:pt x="27557" y="30204"/>
                  <a:pt x="30243" y="30204"/>
                </a:cubicBezTo>
                <a:cubicBezTo>
                  <a:pt x="31690" y="30191"/>
                  <a:pt x="33123" y="30113"/>
                  <a:pt x="34505" y="29852"/>
                </a:cubicBezTo>
                <a:cubicBezTo>
                  <a:pt x="35470" y="29683"/>
                  <a:pt x="36330" y="29435"/>
                  <a:pt x="36917" y="29005"/>
                </a:cubicBezTo>
                <a:cubicBezTo>
                  <a:pt x="37881" y="28288"/>
                  <a:pt x="38677" y="27519"/>
                  <a:pt x="39120" y="26684"/>
                </a:cubicBezTo>
                <a:cubicBezTo>
                  <a:pt x="39732" y="25485"/>
                  <a:pt x="39954" y="24260"/>
                  <a:pt x="39954" y="23021"/>
                </a:cubicBezTo>
                <a:cubicBezTo>
                  <a:pt x="39954" y="19372"/>
                  <a:pt x="40006" y="15709"/>
                  <a:pt x="39563" y="12059"/>
                </a:cubicBezTo>
                <a:cubicBezTo>
                  <a:pt x="39367" y="10403"/>
                  <a:pt x="39485" y="8748"/>
                  <a:pt x="39237" y="7105"/>
                </a:cubicBezTo>
                <a:cubicBezTo>
                  <a:pt x="39068" y="6023"/>
                  <a:pt x="38794" y="4941"/>
                  <a:pt x="37920" y="3938"/>
                </a:cubicBezTo>
                <a:cubicBezTo>
                  <a:pt x="37282" y="3208"/>
                  <a:pt x="36773" y="2438"/>
                  <a:pt x="35665" y="1826"/>
                </a:cubicBezTo>
                <a:cubicBezTo>
                  <a:pt x="34192" y="1031"/>
                  <a:pt x="32237" y="666"/>
                  <a:pt x="30138" y="496"/>
                </a:cubicBezTo>
                <a:cubicBezTo>
                  <a:pt x="26451" y="194"/>
                  <a:pt x="22741" y="1"/>
                  <a:pt x="19007" y="1"/>
                </a:cubicBezTo>
                <a:close/>
              </a:path>
            </a:pathLst>
          </a:custGeom>
          <a:solidFill>
            <a:srgbClr val="112A40"/>
          </a:solidFill>
          <a:ln>
            <a:noFill/>
          </a:ln>
          <a:effectLst>
            <a:outerShdw blurRad="57150" dist="9525" algn="bl" rotWithShape="0">
              <a:srgbClr val="000000"/>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lang="fr-CI" noProof="0"/>
          </a:p>
        </p:txBody>
      </p:sp>
      <p:sp>
        <p:nvSpPr>
          <p:cNvPr id="38" name="Google Shape;7367;p39"/>
          <p:cNvSpPr/>
          <p:nvPr/>
        </p:nvSpPr>
        <p:spPr>
          <a:xfrm rot="16200000">
            <a:off x="2838223" y="3190772"/>
            <a:ext cx="1751381" cy="3719393"/>
          </a:xfrm>
          <a:custGeom>
            <a:avLst/>
            <a:gdLst/>
            <a:ahLst/>
            <a:cxnLst/>
            <a:rect l="l" t="t" r="r" b="b"/>
            <a:pathLst>
              <a:path w="25081" h="54128" extrusionOk="0">
                <a:moveTo>
                  <a:pt x="19843" y="0"/>
                </a:moveTo>
                <a:cubicBezTo>
                  <a:pt x="19654" y="0"/>
                  <a:pt x="19462" y="7"/>
                  <a:pt x="19267" y="21"/>
                </a:cubicBezTo>
                <a:cubicBezTo>
                  <a:pt x="17781" y="125"/>
                  <a:pt x="16282" y="99"/>
                  <a:pt x="14796" y="112"/>
                </a:cubicBezTo>
                <a:cubicBezTo>
                  <a:pt x="13909" y="125"/>
                  <a:pt x="13010" y="112"/>
                  <a:pt x="12123" y="177"/>
                </a:cubicBezTo>
                <a:cubicBezTo>
                  <a:pt x="10272" y="333"/>
                  <a:pt x="8421" y="503"/>
                  <a:pt x="6570" y="633"/>
                </a:cubicBezTo>
                <a:cubicBezTo>
                  <a:pt x="5267" y="738"/>
                  <a:pt x="3989" y="933"/>
                  <a:pt x="2764" y="1259"/>
                </a:cubicBezTo>
                <a:cubicBezTo>
                  <a:pt x="1943" y="1481"/>
                  <a:pt x="1408" y="1872"/>
                  <a:pt x="1226" y="2471"/>
                </a:cubicBezTo>
                <a:cubicBezTo>
                  <a:pt x="991" y="3292"/>
                  <a:pt x="861" y="4140"/>
                  <a:pt x="965" y="4974"/>
                </a:cubicBezTo>
                <a:cubicBezTo>
                  <a:pt x="991" y="5248"/>
                  <a:pt x="1030" y="5508"/>
                  <a:pt x="991" y="5782"/>
                </a:cubicBezTo>
                <a:cubicBezTo>
                  <a:pt x="835" y="6877"/>
                  <a:pt x="678" y="7972"/>
                  <a:pt x="587" y="9067"/>
                </a:cubicBezTo>
                <a:cubicBezTo>
                  <a:pt x="470" y="10488"/>
                  <a:pt x="378" y="11896"/>
                  <a:pt x="300" y="13317"/>
                </a:cubicBezTo>
                <a:cubicBezTo>
                  <a:pt x="274" y="13825"/>
                  <a:pt x="352" y="14333"/>
                  <a:pt x="339" y="14829"/>
                </a:cubicBezTo>
                <a:cubicBezTo>
                  <a:pt x="313" y="15820"/>
                  <a:pt x="157" y="16797"/>
                  <a:pt x="118" y="17775"/>
                </a:cubicBezTo>
                <a:cubicBezTo>
                  <a:pt x="53" y="19391"/>
                  <a:pt x="0" y="21008"/>
                  <a:pt x="40" y="22624"/>
                </a:cubicBezTo>
                <a:cubicBezTo>
                  <a:pt x="66" y="24149"/>
                  <a:pt x="157" y="25661"/>
                  <a:pt x="144" y="27173"/>
                </a:cubicBezTo>
                <a:cubicBezTo>
                  <a:pt x="131" y="28646"/>
                  <a:pt x="105" y="30132"/>
                  <a:pt x="131" y="31605"/>
                </a:cubicBezTo>
                <a:cubicBezTo>
                  <a:pt x="209" y="35412"/>
                  <a:pt x="405" y="39218"/>
                  <a:pt x="274" y="43051"/>
                </a:cubicBezTo>
                <a:cubicBezTo>
                  <a:pt x="235" y="44237"/>
                  <a:pt x="287" y="45436"/>
                  <a:pt x="300" y="46622"/>
                </a:cubicBezTo>
                <a:cubicBezTo>
                  <a:pt x="300" y="46687"/>
                  <a:pt x="300" y="46753"/>
                  <a:pt x="287" y="46818"/>
                </a:cubicBezTo>
                <a:cubicBezTo>
                  <a:pt x="222" y="48004"/>
                  <a:pt x="313" y="49190"/>
                  <a:pt x="535" y="50363"/>
                </a:cubicBezTo>
                <a:cubicBezTo>
                  <a:pt x="665" y="51054"/>
                  <a:pt x="1004" y="51706"/>
                  <a:pt x="1239" y="52384"/>
                </a:cubicBezTo>
                <a:cubicBezTo>
                  <a:pt x="1486" y="53075"/>
                  <a:pt x="2164" y="53492"/>
                  <a:pt x="3129" y="53700"/>
                </a:cubicBezTo>
                <a:cubicBezTo>
                  <a:pt x="3812" y="53854"/>
                  <a:pt x="4517" y="53911"/>
                  <a:pt x="5223" y="53911"/>
                </a:cubicBezTo>
                <a:cubicBezTo>
                  <a:pt x="5299" y="53911"/>
                  <a:pt x="5374" y="53910"/>
                  <a:pt x="5449" y="53909"/>
                </a:cubicBezTo>
                <a:cubicBezTo>
                  <a:pt x="5591" y="53907"/>
                  <a:pt x="5733" y="53906"/>
                  <a:pt x="5875" y="53906"/>
                </a:cubicBezTo>
                <a:cubicBezTo>
                  <a:pt x="7594" y="53906"/>
                  <a:pt x="9293" y="54042"/>
                  <a:pt x="11015" y="54078"/>
                </a:cubicBezTo>
                <a:cubicBezTo>
                  <a:pt x="11655" y="54087"/>
                  <a:pt x="12288" y="54128"/>
                  <a:pt x="12924" y="54128"/>
                </a:cubicBezTo>
                <a:cubicBezTo>
                  <a:pt x="13273" y="54128"/>
                  <a:pt x="13623" y="54115"/>
                  <a:pt x="13974" y="54078"/>
                </a:cubicBezTo>
                <a:cubicBezTo>
                  <a:pt x="15239" y="53948"/>
                  <a:pt x="16516" y="53870"/>
                  <a:pt x="17781" y="53779"/>
                </a:cubicBezTo>
                <a:cubicBezTo>
                  <a:pt x="18850" y="53700"/>
                  <a:pt x="19919" y="53583"/>
                  <a:pt x="20961" y="53375"/>
                </a:cubicBezTo>
                <a:cubicBezTo>
                  <a:pt x="22043" y="53153"/>
                  <a:pt x="22956" y="52749"/>
                  <a:pt x="23503" y="52019"/>
                </a:cubicBezTo>
                <a:cubicBezTo>
                  <a:pt x="23855" y="51537"/>
                  <a:pt x="24142" y="51028"/>
                  <a:pt x="24233" y="50494"/>
                </a:cubicBezTo>
                <a:cubicBezTo>
                  <a:pt x="24416" y="49464"/>
                  <a:pt x="24429" y="48434"/>
                  <a:pt x="24546" y="47404"/>
                </a:cubicBezTo>
                <a:cubicBezTo>
                  <a:pt x="24690" y="45957"/>
                  <a:pt x="24768" y="44510"/>
                  <a:pt x="24833" y="43064"/>
                </a:cubicBezTo>
                <a:cubicBezTo>
                  <a:pt x="24924" y="41395"/>
                  <a:pt x="24898" y="39726"/>
                  <a:pt x="24898" y="38058"/>
                </a:cubicBezTo>
                <a:cubicBezTo>
                  <a:pt x="24885" y="36402"/>
                  <a:pt x="24794" y="34760"/>
                  <a:pt x="24794" y="33104"/>
                </a:cubicBezTo>
                <a:cubicBezTo>
                  <a:pt x="24794" y="31332"/>
                  <a:pt x="24755" y="29546"/>
                  <a:pt x="24768" y="27760"/>
                </a:cubicBezTo>
                <a:cubicBezTo>
                  <a:pt x="24794" y="26196"/>
                  <a:pt x="24807" y="24631"/>
                  <a:pt x="24846" y="23067"/>
                </a:cubicBezTo>
                <a:cubicBezTo>
                  <a:pt x="24885" y="21503"/>
                  <a:pt x="24911" y="19952"/>
                  <a:pt x="24911" y="18387"/>
                </a:cubicBezTo>
                <a:cubicBezTo>
                  <a:pt x="24911" y="16967"/>
                  <a:pt x="24937" y="15533"/>
                  <a:pt x="24989" y="14112"/>
                </a:cubicBezTo>
                <a:cubicBezTo>
                  <a:pt x="25028" y="12795"/>
                  <a:pt x="25081" y="11479"/>
                  <a:pt x="25068" y="10162"/>
                </a:cubicBezTo>
                <a:cubicBezTo>
                  <a:pt x="25068" y="8924"/>
                  <a:pt x="25002" y="7685"/>
                  <a:pt x="24963" y="6447"/>
                </a:cubicBezTo>
                <a:lnTo>
                  <a:pt x="24950" y="6447"/>
                </a:lnTo>
                <a:cubicBezTo>
                  <a:pt x="25055" y="5561"/>
                  <a:pt x="24963" y="4674"/>
                  <a:pt x="24872" y="3801"/>
                </a:cubicBezTo>
                <a:cubicBezTo>
                  <a:pt x="24807" y="3175"/>
                  <a:pt x="24664" y="2562"/>
                  <a:pt x="24403" y="1963"/>
                </a:cubicBezTo>
                <a:cubicBezTo>
                  <a:pt x="24194" y="1481"/>
                  <a:pt x="23803" y="1103"/>
                  <a:pt x="23204" y="803"/>
                </a:cubicBezTo>
                <a:cubicBezTo>
                  <a:pt x="22185" y="293"/>
                  <a:pt x="21087" y="0"/>
                  <a:pt x="19843" y="0"/>
                </a:cubicBezTo>
                <a:close/>
              </a:path>
            </a:pathLst>
          </a:custGeom>
          <a:noFill/>
          <a:ln w="19050">
            <a:solidFill>
              <a:srgbClr val="060606"/>
            </a:solidFill>
          </a:ln>
          <a:effectLst>
            <a:outerShdw blurRad="57150" dist="9525" algn="bl" rotWithShape="0">
              <a:srgbClr val="000000"/>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lang="fr-CI" noProof="0"/>
          </a:p>
        </p:txBody>
      </p:sp>
      <p:sp>
        <p:nvSpPr>
          <p:cNvPr id="40" name="Rectangle 39"/>
          <p:cNvSpPr/>
          <p:nvPr/>
        </p:nvSpPr>
        <p:spPr>
          <a:xfrm>
            <a:off x="3052718" y="3852190"/>
            <a:ext cx="1322389" cy="295488"/>
          </a:xfrm>
          <a:prstGeom prst="rect">
            <a:avLst/>
          </a:prstGeom>
        </p:spPr>
        <p:txBody>
          <a:bodyPr wrap="none">
            <a:spAutoFit/>
          </a:bodyPr>
          <a:lstStyle/>
          <a:p>
            <a:pPr lvl="0">
              <a:lnSpc>
                <a:spcPct val="110000"/>
              </a:lnSpc>
            </a:pPr>
            <a:r>
              <a:rPr lang="fr-CI" sz="1400" b="1" noProof="0">
                <a:solidFill>
                  <a:schemeClr val="bg1"/>
                </a:solidFill>
                <a:latin typeface="Helvetica" panose="020B0604020202020204" pitchFamily="34" charset="0"/>
                <a:ea typeface="Open Sans Semibold" panose="020B0706030804020204" pitchFamily="34" charset="0"/>
                <a:cs typeface="Helvetica" panose="020B0604020202020204" pitchFamily="34" charset="0"/>
              </a:rPr>
              <a:t>Contrôle</a:t>
            </a:r>
          </a:p>
        </p:txBody>
      </p:sp>
      <p:sp>
        <p:nvSpPr>
          <p:cNvPr id="42" name="Google Shape;7386;p39"/>
          <p:cNvSpPr/>
          <p:nvPr/>
        </p:nvSpPr>
        <p:spPr>
          <a:xfrm rot="10800000">
            <a:off x="6478457" y="3869173"/>
            <a:ext cx="3625790" cy="329031"/>
          </a:xfrm>
          <a:custGeom>
            <a:avLst/>
            <a:gdLst/>
            <a:ahLst/>
            <a:cxnLst/>
            <a:rect l="l" t="t" r="r" b="b"/>
            <a:pathLst>
              <a:path w="40007" h="30221" extrusionOk="0">
                <a:moveTo>
                  <a:pt x="19007" y="1"/>
                </a:moveTo>
                <a:cubicBezTo>
                  <a:pt x="17909" y="1"/>
                  <a:pt x="16810" y="17"/>
                  <a:pt x="15708" y="53"/>
                </a:cubicBezTo>
                <a:cubicBezTo>
                  <a:pt x="13270" y="131"/>
                  <a:pt x="10885" y="275"/>
                  <a:pt x="8512" y="548"/>
                </a:cubicBezTo>
                <a:cubicBezTo>
                  <a:pt x="6088" y="835"/>
                  <a:pt x="4524" y="1500"/>
                  <a:pt x="4041" y="2712"/>
                </a:cubicBezTo>
                <a:cubicBezTo>
                  <a:pt x="4015" y="2777"/>
                  <a:pt x="3976" y="2843"/>
                  <a:pt x="3937" y="2908"/>
                </a:cubicBezTo>
                <a:cubicBezTo>
                  <a:pt x="2777" y="4902"/>
                  <a:pt x="2282" y="6949"/>
                  <a:pt x="1734" y="8995"/>
                </a:cubicBezTo>
                <a:cubicBezTo>
                  <a:pt x="1160" y="11120"/>
                  <a:pt x="613" y="13232"/>
                  <a:pt x="391" y="15357"/>
                </a:cubicBezTo>
                <a:cubicBezTo>
                  <a:pt x="183" y="17325"/>
                  <a:pt x="0" y="19293"/>
                  <a:pt x="79" y="21092"/>
                </a:cubicBezTo>
                <a:cubicBezTo>
                  <a:pt x="52" y="23074"/>
                  <a:pt x="144" y="24899"/>
                  <a:pt x="365" y="26710"/>
                </a:cubicBezTo>
                <a:cubicBezTo>
                  <a:pt x="522" y="28079"/>
                  <a:pt x="1721" y="29096"/>
                  <a:pt x="4419" y="29656"/>
                </a:cubicBezTo>
                <a:cubicBezTo>
                  <a:pt x="6296" y="30048"/>
                  <a:pt x="8265" y="30178"/>
                  <a:pt x="10259" y="30204"/>
                </a:cubicBezTo>
                <a:cubicBezTo>
                  <a:pt x="11143" y="30216"/>
                  <a:pt x="12026" y="30220"/>
                  <a:pt x="12908" y="30220"/>
                </a:cubicBezTo>
                <a:cubicBezTo>
                  <a:pt x="15996" y="30220"/>
                  <a:pt x="19078" y="30165"/>
                  <a:pt x="22161" y="30165"/>
                </a:cubicBezTo>
                <a:cubicBezTo>
                  <a:pt x="24859" y="30165"/>
                  <a:pt x="27557" y="30204"/>
                  <a:pt x="30243" y="30204"/>
                </a:cubicBezTo>
                <a:cubicBezTo>
                  <a:pt x="31690" y="30191"/>
                  <a:pt x="33123" y="30113"/>
                  <a:pt x="34505" y="29852"/>
                </a:cubicBezTo>
                <a:cubicBezTo>
                  <a:pt x="35470" y="29683"/>
                  <a:pt x="36330" y="29435"/>
                  <a:pt x="36917" y="29005"/>
                </a:cubicBezTo>
                <a:cubicBezTo>
                  <a:pt x="37881" y="28288"/>
                  <a:pt x="38677" y="27519"/>
                  <a:pt x="39120" y="26684"/>
                </a:cubicBezTo>
                <a:cubicBezTo>
                  <a:pt x="39732" y="25485"/>
                  <a:pt x="39954" y="24260"/>
                  <a:pt x="39954" y="23021"/>
                </a:cubicBezTo>
                <a:cubicBezTo>
                  <a:pt x="39954" y="19372"/>
                  <a:pt x="40006" y="15709"/>
                  <a:pt x="39563" y="12059"/>
                </a:cubicBezTo>
                <a:cubicBezTo>
                  <a:pt x="39367" y="10403"/>
                  <a:pt x="39485" y="8748"/>
                  <a:pt x="39237" y="7105"/>
                </a:cubicBezTo>
                <a:cubicBezTo>
                  <a:pt x="39068" y="6023"/>
                  <a:pt x="38794" y="4941"/>
                  <a:pt x="37920" y="3938"/>
                </a:cubicBezTo>
                <a:cubicBezTo>
                  <a:pt x="37282" y="3208"/>
                  <a:pt x="36773" y="2438"/>
                  <a:pt x="35665" y="1826"/>
                </a:cubicBezTo>
                <a:cubicBezTo>
                  <a:pt x="34192" y="1031"/>
                  <a:pt x="32237" y="666"/>
                  <a:pt x="30138" y="496"/>
                </a:cubicBezTo>
                <a:cubicBezTo>
                  <a:pt x="26451" y="194"/>
                  <a:pt x="22741" y="1"/>
                  <a:pt x="19007" y="1"/>
                </a:cubicBezTo>
                <a:close/>
              </a:path>
            </a:pathLst>
          </a:custGeom>
          <a:solidFill>
            <a:srgbClr val="112A40"/>
          </a:solidFill>
          <a:ln>
            <a:noFill/>
          </a:ln>
          <a:effectLst>
            <a:outerShdw blurRad="57150" dist="9525" algn="bl" rotWithShape="0">
              <a:srgbClr val="000000"/>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lang="fr-CI" noProof="0"/>
          </a:p>
        </p:txBody>
      </p:sp>
      <p:sp>
        <p:nvSpPr>
          <p:cNvPr id="43" name="Google Shape;7367;p39"/>
          <p:cNvSpPr/>
          <p:nvPr/>
        </p:nvSpPr>
        <p:spPr>
          <a:xfrm rot="16200000">
            <a:off x="7474179" y="3202486"/>
            <a:ext cx="1727953" cy="3719393"/>
          </a:xfrm>
          <a:custGeom>
            <a:avLst/>
            <a:gdLst/>
            <a:ahLst/>
            <a:cxnLst/>
            <a:rect l="l" t="t" r="r" b="b"/>
            <a:pathLst>
              <a:path w="25081" h="54128" extrusionOk="0">
                <a:moveTo>
                  <a:pt x="19843" y="0"/>
                </a:moveTo>
                <a:cubicBezTo>
                  <a:pt x="19654" y="0"/>
                  <a:pt x="19462" y="7"/>
                  <a:pt x="19267" y="21"/>
                </a:cubicBezTo>
                <a:cubicBezTo>
                  <a:pt x="17781" y="125"/>
                  <a:pt x="16282" y="99"/>
                  <a:pt x="14796" y="112"/>
                </a:cubicBezTo>
                <a:cubicBezTo>
                  <a:pt x="13909" y="125"/>
                  <a:pt x="13010" y="112"/>
                  <a:pt x="12123" y="177"/>
                </a:cubicBezTo>
                <a:cubicBezTo>
                  <a:pt x="10272" y="333"/>
                  <a:pt x="8421" y="503"/>
                  <a:pt x="6570" y="633"/>
                </a:cubicBezTo>
                <a:cubicBezTo>
                  <a:pt x="5267" y="738"/>
                  <a:pt x="3989" y="933"/>
                  <a:pt x="2764" y="1259"/>
                </a:cubicBezTo>
                <a:cubicBezTo>
                  <a:pt x="1943" y="1481"/>
                  <a:pt x="1408" y="1872"/>
                  <a:pt x="1226" y="2471"/>
                </a:cubicBezTo>
                <a:cubicBezTo>
                  <a:pt x="991" y="3292"/>
                  <a:pt x="861" y="4140"/>
                  <a:pt x="965" y="4974"/>
                </a:cubicBezTo>
                <a:cubicBezTo>
                  <a:pt x="991" y="5248"/>
                  <a:pt x="1030" y="5508"/>
                  <a:pt x="991" y="5782"/>
                </a:cubicBezTo>
                <a:cubicBezTo>
                  <a:pt x="835" y="6877"/>
                  <a:pt x="678" y="7972"/>
                  <a:pt x="587" y="9067"/>
                </a:cubicBezTo>
                <a:cubicBezTo>
                  <a:pt x="470" y="10488"/>
                  <a:pt x="378" y="11896"/>
                  <a:pt x="300" y="13317"/>
                </a:cubicBezTo>
                <a:cubicBezTo>
                  <a:pt x="274" y="13825"/>
                  <a:pt x="352" y="14333"/>
                  <a:pt x="339" y="14829"/>
                </a:cubicBezTo>
                <a:cubicBezTo>
                  <a:pt x="313" y="15820"/>
                  <a:pt x="157" y="16797"/>
                  <a:pt x="118" y="17775"/>
                </a:cubicBezTo>
                <a:cubicBezTo>
                  <a:pt x="53" y="19391"/>
                  <a:pt x="0" y="21008"/>
                  <a:pt x="40" y="22624"/>
                </a:cubicBezTo>
                <a:cubicBezTo>
                  <a:pt x="66" y="24149"/>
                  <a:pt x="157" y="25661"/>
                  <a:pt x="144" y="27173"/>
                </a:cubicBezTo>
                <a:cubicBezTo>
                  <a:pt x="131" y="28646"/>
                  <a:pt x="105" y="30132"/>
                  <a:pt x="131" y="31605"/>
                </a:cubicBezTo>
                <a:cubicBezTo>
                  <a:pt x="209" y="35412"/>
                  <a:pt x="405" y="39218"/>
                  <a:pt x="274" y="43051"/>
                </a:cubicBezTo>
                <a:cubicBezTo>
                  <a:pt x="235" y="44237"/>
                  <a:pt x="287" y="45436"/>
                  <a:pt x="300" y="46622"/>
                </a:cubicBezTo>
                <a:cubicBezTo>
                  <a:pt x="300" y="46687"/>
                  <a:pt x="300" y="46753"/>
                  <a:pt x="287" y="46818"/>
                </a:cubicBezTo>
                <a:cubicBezTo>
                  <a:pt x="222" y="48004"/>
                  <a:pt x="313" y="49190"/>
                  <a:pt x="535" y="50363"/>
                </a:cubicBezTo>
                <a:cubicBezTo>
                  <a:pt x="665" y="51054"/>
                  <a:pt x="1004" y="51706"/>
                  <a:pt x="1239" y="52384"/>
                </a:cubicBezTo>
                <a:cubicBezTo>
                  <a:pt x="1486" y="53075"/>
                  <a:pt x="2164" y="53492"/>
                  <a:pt x="3129" y="53700"/>
                </a:cubicBezTo>
                <a:cubicBezTo>
                  <a:pt x="3812" y="53854"/>
                  <a:pt x="4517" y="53911"/>
                  <a:pt x="5223" y="53911"/>
                </a:cubicBezTo>
                <a:cubicBezTo>
                  <a:pt x="5299" y="53911"/>
                  <a:pt x="5374" y="53910"/>
                  <a:pt x="5449" y="53909"/>
                </a:cubicBezTo>
                <a:cubicBezTo>
                  <a:pt x="5591" y="53907"/>
                  <a:pt x="5733" y="53906"/>
                  <a:pt x="5875" y="53906"/>
                </a:cubicBezTo>
                <a:cubicBezTo>
                  <a:pt x="7594" y="53906"/>
                  <a:pt x="9293" y="54042"/>
                  <a:pt x="11015" y="54078"/>
                </a:cubicBezTo>
                <a:cubicBezTo>
                  <a:pt x="11655" y="54087"/>
                  <a:pt x="12288" y="54128"/>
                  <a:pt x="12924" y="54128"/>
                </a:cubicBezTo>
                <a:cubicBezTo>
                  <a:pt x="13273" y="54128"/>
                  <a:pt x="13623" y="54115"/>
                  <a:pt x="13974" y="54078"/>
                </a:cubicBezTo>
                <a:cubicBezTo>
                  <a:pt x="15239" y="53948"/>
                  <a:pt x="16516" y="53870"/>
                  <a:pt x="17781" y="53779"/>
                </a:cubicBezTo>
                <a:cubicBezTo>
                  <a:pt x="18850" y="53700"/>
                  <a:pt x="19919" y="53583"/>
                  <a:pt x="20961" y="53375"/>
                </a:cubicBezTo>
                <a:cubicBezTo>
                  <a:pt x="22043" y="53153"/>
                  <a:pt x="22956" y="52749"/>
                  <a:pt x="23503" y="52019"/>
                </a:cubicBezTo>
                <a:cubicBezTo>
                  <a:pt x="23855" y="51537"/>
                  <a:pt x="24142" y="51028"/>
                  <a:pt x="24233" y="50494"/>
                </a:cubicBezTo>
                <a:cubicBezTo>
                  <a:pt x="24416" y="49464"/>
                  <a:pt x="24429" y="48434"/>
                  <a:pt x="24546" y="47404"/>
                </a:cubicBezTo>
                <a:cubicBezTo>
                  <a:pt x="24690" y="45957"/>
                  <a:pt x="24768" y="44510"/>
                  <a:pt x="24833" y="43064"/>
                </a:cubicBezTo>
                <a:cubicBezTo>
                  <a:pt x="24924" y="41395"/>
                  <a:pt x="24898" y="39726"/>
                  <a:pt x="24898" y="38058"/>
                </a:cubicBezTo>
                <a:cubicBezTo>
                  <a:pt x="24885" y="36402"/>
                  <a:pt x="24794" y="34760"/>
                  <a:pt x="24794" y="33104"/>
                </a:cubicBezTo>
                <a:cubicBezTo>
                  <a:pt x="24794" y="31332"/>
                  <a:pt x="24755" y="29546"/>
                  <a:pt x="24768" y="27760"/>
                </a:cubicBezTo>
                <a:cubicBezTo>
                  <a:pt x="24794" y="26196"/>
                  <a:pt x="24807" y="24631"/>
                  <a:pt x="24846" y="23067"/>
                </a:cubicBezTo>
                <a:cubicBezTo>
                  <a:pt x="24885" y="21503"/>
                  <a:pt x="24911" y="19952"/>
                  <a:pt x="24911" y="18387"/>
                </a:cubicBezTo>
                <a:cubicBezTo>
                  <a:pt x="24911" y="16967"/>
                  <a:pt x="24937" y="15533"/>
                  <a:pt x="24989" y="14112"/>
                </a:cubicBezTo>
                <a:cubicBezTo>
                  <a:pt x="25028" y="12795"/>
                  <a:pt x="25081" y="11479"/>
                  <a:pt x="25068" y="10162"/>
                </a:cubicBezTo>
                <a:cubicBezTo>
                  <a:pt x="25068" y="8924"/>
                  <a:pt x="25002" y="7685"/>
                  <a:pt x="24963" y="6447"/>
                </a:cubicBezTo>
                <a:lnTo>
                  <a:pt x="24950" y="6447"/>
                </a:lnTo>
                <a:cubicBezTo>
                  <a:pt x="25055" y="5561"/>
                  <a:pt x="24963" y="4674"/>
                  <a:pt x="24872" y="3801"/>
                </a:cubicBezTo>
                <a:cubicBezTo>
                  <a:pt x="24807" y="3175"/>
                  <a:pt x="24664" y="2562"/>
                  <a:pt x="24403" y="1963"/>
                </a:cubicBezTo>
                <a:cubicBezTo>
                  <a:pt x="24194" y="1481"/>
                  <a:pt x="23803" y="1103"/>
                  <a:pt x="23204" y="803"/>
                </a:cubicBezTo>
                <a:cubicBezTo>
                  <a:pt x="22185" y="293"/>
                  <a:pt x="21087" y="0"/>
                  <a:pt x="19843" y="0"/>
                </a:cubicBezTo>
                <a:close/>
              </a:path>
            </a:pathLst>
          </a:custGeom>
          <a:noFill/>
          <a:ln w="19050">
            <a:solidFill>
              <a:schemeClr val="tx1"/>
            </a:solidFill>
          </a:ln>
          <a:effectLst>
            <a:outerShdw blurRad="57150" dist="9525" algn="bl" rotWithShape="0">
              <a:srgbClr val="000000"/>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lang="fr-CI" noProof="0"/>
          </a:p>
        </p:txBody>
      </p:sp>
      <p:sp>
        <p:nvSpPr>
          <p:cNvPr id="45" name="Rectangle 44"/>
          <p:cNvSpPr/>
          <p:nvPr/>
        </p:nvSpPr>
        <p:spPr>
          <a:xfrm>
            <a:off x="7676960" y="3875619"/>
            <a:ext cx="1322389" cy="295488"/>
          </a:xfrm>
          <a:prstGeom prst="rect">
            <a:avLst/>
          </a:prstGeom>
        </p:spPr>
        <p:txBody>
          <a:bodyPr wrap="none">
            <a:spAutoFit/>
          </a:bodyPr>
          <a:lstStyle/>
          <a:p>
            <a:pPr lvl="0">
              <a:lnSpc>
                <a:spcPct val="110000"/>
              </a:lnSpc>
            </a:pPr>
            <a:r>
              <a:rPr lang="fr-CI" sz="1400" b="1" noProof="0">
                <a:solidFill>
                  <a:schemeClr val="bg1"/>
                </a:solidFill>
                <a:latin typeface="Helvetica" panose="020B0604020202020204" pitchFamily="34" charset="0"/>
                <a:ea typeface="Open Sans Semibold" panose="020B0706030804020204" pitchFamily="34" charset="0"/>
                <a:cs typeface="Helvetica" panose="020B0604020202020204" pitchFamily="34" charset="0"/>
              </a:rPr>
              <a:t>Sortie</a:t>
            </a:r>
          </a:p>
        </p:txBody>
      </p:sp>
      <p:pic>
        <p:nvPicPr>
          <p:cNvPr id="47" name="Image 46"/>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147871" y="3850143"/>
            <a:ext cx="334029" cy="337914"/>
          </a:xfrm>
          <a:prstGeom prst="rect">
            <a:avLst/>
          </a:prstGeom>
        </p:spPr>
      </p:pic>
      <p:pic>
        <p:nvPicPr>
          <p:cNvPr id="50" name="Image 49">
            <a:extLst>
              <a:ext uri="{FF2B5EF4-FFF2-40B4-BE49-F238E27FC236}">
                <a16:creationId xmlns:a16="http://schemas.microsoft.com/office/drawing/2014/main" id="{593DA389-08F4-31D9-6AB9-E96812D83B72}"/>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6768142" y="1475503"/>
            <a:ext cx="294700" cy="294700"/>
          </a:xfrm>
          <a:prstGeom prst="rect">
            <a:avLst/>
          </a:prstGeom>
        </p:spPr>
      </p:pic>
      <p:pic>
        <p:nvPicPr>
          <p:cNvPr id="25" name="Image 24"/>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2156977" y="1457088"/>
            <a:ext cx="281624" cy="284788"/>
          </a:xfrm>
          <a:prstGeom prst="rect">
            <a:avLst/>
          </a:prstGeom>
        </p:spPr>
      </p:pic>
      <p:pic>
        <p:nvPicPr>
          <p:cNvPr id="28" name="Image 27"/>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6791905" y="3883760"/>
            <a:ext cx="270937" cy="276827"/>
          </a:xfrm>
          <a:prstGeom prst="rect">
            <a:avLst/>
          </a:prstGeom>
        </p:spPr>
      </p:pic>
      <p:sp>
        <p:nvSpPr>
          <p:cNvPr id="31" name="Rectangle 30"/>
          <p:cNvSpPr/>
          <p:nvPr/>
        </p:nvSpPr>
        <p:spPr>
          <a:xfrm>
            <a:off x="1999671" y="1962253"/>
            <a:ext cx="3122592" cy="1428712"/>
          </a:xfrm>
          <a:prstGeom prst="rect">
            <a:avLst/>
          </a:prstGeom>
        </p:spPr>
        <p:txBody>
          <a:bodyPr wrap="square">
            <a:spAutoFit/>
          </a:bodyPr>
          <a:lstStyle/>
          <a:p>
            <a:pPr lvl="0" marL="0" indent="0">
              <a:buNone/>
              <a:spcBef>
                <a:spcPts val="300"/>
              </a:spcBef>
              <a:defRPr/>
            </a:pPr>
            <a:r>
              <a:rPr kumimoji="1" lang="fr-CI" sz="1250" b="0" noProof="0">
                <a:latin typeface="Helvetica" panose="020B0604020202020204" pitchFamily="34" charset="0"/>
                <a:cs typeface="Helvetica" panose="020B0604020202020204" pitchFamily="34" charset="0"/>
              </a:rPr>
              <a:t>Tableurs Excel, pages web nommées « .xls » et fichiers texte de la Solde.</a:t>
            </a:r>
          </a:p>
        </p:txBody>
      </p:sp>
      <p:sp>
        <p:nvSpPr>
          <p:cNvPr id="32" name="Rectangle 31"/>
          <p:cNvSpPr/>
          <p:nvPr/>
        </p:nvSpPr>
        <p:spPr>
          <a:xfrm>
            <a:off x="6623912" y="1926662"/>
            <a:ext cx="3122592" cy="1428712"/>
          </a:xfrm>
          <a:prstGeom prst="rect">
            <a:avLst/>
          </a:prstGeom>
        </p:spPr>
        <p:txBody>
          <a:bodyPr wrap="square">
            <a:spAutoFit/>
          </a:bodyPr>
          <a:lstStyle/>
          <a:p>
            <a:pPr lvl="0" marL="0" indent="0">
              <a:buNone/>
              <a:spcBef>
                <a:spcPts val="300"/>
              </a:spcBef>
              <a:defRPr/>
            </a:pPr>
            <a:r>
              <a:rPr kumimoji="1" lang="fr-CI" sz="1250" b="0" noProof="0">
                <a:latin typeface="Helvetica" panose="020B0604020202020204" pitchFamily="34" charset="0"/>
                <a:cs typeface="Helvetica" panose="020B0604020202020204" pitchFamily="34" charset="0"/>
              </a:rPr>
              <a:t>Le script lit les premiers octets pour reconnaître le vrai format, puis convertit chaque feuille en CSV sans perte.</a:t>
            </a:r>
          </a:p>
        </p:txBody>
      </p:sp>
      <p:sp>
        <p:nvSpPr>
          <p:cNvPr id="33" name="Rectangle 32"/>
          <p:cNvSpPr/>
          <p:nvPr/>
        </p:nvSpPr>
        <p:spPr>
          <a:xfrm>
            <a:off x="2093705" y="4388689"/>
            <a:ext cx="3122592" cy="1428712"/>
          </a:xfrm>
          <a:prstGeom prst="rect">
            <a:avLst/>
          </a:prstGeom>
        </p:spPr>
        <p:txBody>
          <a:bodyPr wrap="square">
            <a:spAutoFit/>
          </a:bodyPr>
          <a:lstStyle/>
          <a:p>
            <a:pPr lvl="0" marL="0" indent="0">
              <a:buNone/>
              <a:spcBef>
                <a:spcPts val="300"/>
              </a:spcBef>
              <a:defRPr/>
            </a:pPr>
            <a:r>
              <a:rPr kumimoji="1" lang="fr-CI" sz="1250" b="0" noProof="0">
                <a:latin typeface="Helvetica" panose="020B0604020202020204" pitchFamily="34" charset="0"/>
                <a:cs typeface="Helvetica" panose="020B0604020202020204" pitchFamily="34" charset="0"/>
              </a:rPr>
              <a:t>Les lignes et les cellules sont comptées avant et après conversion : 491 feuilles identiques.</a:t>
            </a:r>
          </a:p>
        </p:txBody>
      </p:sp>
      <p:sp>
        <p:nvSpPr>
          <p:cNvPr id="34" name="Rectangle 33"/>
          <p:cNvSpPr/>
          <p:nvPr/>
        </p:nvSpPr>
        <p:spPr>
          <a:xfrm>
            <a:off x="6768142" y="4336111"/>
            <a:ext cx="3122592" cy="1428712"/>
          </a:xfrm>
          <a:prstGeom prst="rect">
            <a:avLst/>
          </a:prstGeom>
        </p:spPr>
        <p:txBody>
          <a:bodyPr wrap="square">
            <a:spAutoFit/>
          </a:bodyPr>
          <a:lstStyle/>
          <a:p>
            <a:pPr lvl="0" marL="0" indent="0">
              <a:buNone/>
              <a:spcBef>
                <a:spcPts val="300"/>
              </a:spcBef>
              <a:defRPr/>
            </a:pPr>
            <a:r>
              <a:rPr kumimoji="1" lang="fr-CI" sz="1250" b="0" noProof="0">
                <a:latin typeface="Helvetica" panose="020B0604020202020204" pitchFamily="34" charset="0"/>
                <a:cs typeface="Helvetica" panose="020B0604020202020204" pitchFamily="34" charset="0"/>
              </a:rPr>
              <a:t>Fichiers CSV et journal des feuilles converties.</a:t>
            </a:r>
          </a:p>
        </p:txBody>
      </p:sp>
      <p:sp>
        <p:nvSpPr>
          <p:cNvPr id="51"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Chaîne de traitement : extraction</a:t>
            </a:r>
          </a:p>
        </p:txBody>
      </p:sp>
      <p:sp>
        <p:nvSpPr>
          <p:cNvPr id="52"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L'étape « Extraction » transforme une entrée en sortie, avec un contrôle automatique</a:t>
            </a:r>
          </a:p>
        </p:txBody>
      </p:sp>
      <p:sp>
        <p:nvSpPr>
          <p:cNvPr id="53"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Entrée, traitement, contrôle et sortie de l'étape. Schéma modifiable, complété au fil des entretiens</a:t>
            </a:r>
          </a:p>
        </p:txBody>
      </p:sp>
      <p:sp>
        <p:nvSpPr>
          <p:cNvPr id="54"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scripts Python Adenka (dossier scripts de la mission)</a:t>
            </a:r>
          </a:p>
        </p:txBody>
      </p:sp>
      <p:sp>
        <p:nvSpPr>
          <p:cNvPr id="55" name="TextBox 54"/>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CSV : fichier texte de tableau</a:t>
            </a:r>
          </a:p>
        </p:txBody>
      </p:sp>
    </p:spTree>
    <p:extLst>
      <p:ext uri="{BB962C8B-B14F-4D97-AF65-F5344CB8AC3E}">
        <p14:creationId xmlns:p14="http://schemas.microsoft.com/office/powerpoint/2010/main" val="450545802"/>
      </p:ext>
    </p:extLst>
  </p:cSld>
  <p:clrMapOvr>
    <a:masterClrMapping/>
  </p:clrMapOvr>
  <p:transition>
    <p:fade/>
  </p:transition>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6" name="Image 25"/>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30" name="ZoneTexte 29">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9" name="Google Shape;7386;p39"/>
          <p:cNvSpPr/>
          <p:nvPr/>
        </p:nvSpPr>
        <p:spPr>
          <a:xfrm rot="10800000">
            <a:off x="1748072" y="1436295"/>
            <a:ext cx="3625790" cy="329031"/>
          </a:xfrm>
          <a:custGeom>
            <a:avLst/>
            <a:gdLst/>
            <a:ahLst/>
            <a:cxnLst/>
            <a:rect l="l" t="t" r="r" b="b"/>
            <a:pathLst>
              <a:path w="40007" h="30221" extrusionOk="0">
                <a:moveTo>
                  <a:pt x="19007" y="1"/>
                </a:moveTo>
                <a:cubicBezTo>
                  <a:pt x="17909" y="1"/>
                  <a:pt x="16810" y="17"/>
                  <a:pt x="15708" y="53"/>
                </a:cubicBezTo>
                <a:cubicBezTo>
                  <a:pt x="13270" y="131"/>
                  <a:pt x="10885" y="275"/>
                  <a:pt x="8512" y="548"/>
                </a:cubicBezTo>
                <a:cubicBezTo>
                  <a:pt x="6088" y="835"/>
                  <a:pt x="4524" y="1500"/>
                  <a:pt x="4041" y="2712"/>
                </a:cubicBezTo>
                <a:cubicBezTo>
                  <a:pt x="4015" y="2777"/>
                  <a:pt x="3976" y="2843"/>
                  <a:pt x="3937" y="2908"/>
                </a:cubicBezTo>
                <a:cubicBezTo>
                  <a:pt x="2777" y="4902"/>
                  <a:pt x="2282" y="6949"/>
                  <a:pt x="1734" y="8995"/>
                </a:cubicBezTo>
                <a:cubicBezTo>
                  <a:pt x="1160" y="11120"/>
                  <a:pt x="613" y="13232"/>
                  <a:pt x="391" y="15357"/>
                </a:cubicBezTo>
                <a:cubicBezTo>
                  <a:pt x="183" y="17325"/>
                  <a:pt x="0" y="19293"/>
                  <a:pt x="79" y="21092"/>
                </a:cubicBezTo>
                <a:cubicBezTo>
                  <a:pt x="52" y="23074"/>
                  <a:pt x="144" y="24899"/>
                  <a:pt x="365" y="26710"/>
                </a:cubicBezTo>
                <a:cubicBezTo>
                  <a:pt x="522" y="28079"/>
                  <a:pt x="1721" y="29096"/>
                  <a:pt x="4419" y="29656"/>
                </a:cubicBezTo>
                <a:cubicBezTo>
                  <a:pt x="6296" y="30048"/>
                  <a:pt x="8265" y="30178"/>
                  <a:pt x="10259" y="30204"/>
                </a:cubicBezTo>
                <a:cubicBezTo>
                  <a:pt x="11143" y="30216"/>
                  <a:pt x="12026" y="30220"/>
                  <a:pt x="12908" y="30220"/>
                </a:cubicBezTo>
                <a:cubicBezTo>
                  <a:pt x="15996" y="30220"/>
                  <a:pt x="19078" y="30165"/>
                  <a:pt x="22161" y="30165"/>
                </a:cubicBezTo>
                <a:cubicBezTo>
                  <a:pt x="24859" y="30165"/>
                  <a:pt x="27557" y="30204"/>
                  <a:pt x="30243" y="30204"/>
                </a:cubicBezTo>
                <a:cubicBezTo>
                  <a:pt x="31690" y="30191"/>
                  <a:pt x="33123" y="30113"/>
                  <a:pt x="34505" y="29852"/>
                </a:cubicBezTo>
                <a:cubicBezTo>
                  <a:pt x="35470" y="29683"/>
                  <a:pt x="36330" y="29435"/>
                  <a:pt x="36917" y="29005"/>
                </a:cubicBezTo>
                <a:cubicBezTo>
                  <a:pt x="37881" y="28288"/>
                  <a:pt x="38677" y="27519"/>
                  <a:pt x="39120" y="26684"/>
                </a:cubicBezTo>
                <a:cubicBezTo>
                  <a:pt x="39732" y="25485"/>
                  <a:pt x="39954" y="24260"/>
                  <a:pt x="39954" y="23021"/>
                </a:cubicBezTo>
                <a:cubicBezTo>
                  <a:pt x="39954" y="19372"/>
                  <a:pt x="40006" y="15709"/>
                  <a:pt x="39563" y="12059"/>
                </a:cubicBezTo>
                <a:cubicBezTo>
                  <a:pt x="39367" y="10403"/>
                  <a:pt x="39485" y="8748"/>
                  <a:pt x="39237" y="7105"/>
                </a:cubicBezTo>
                <a:cubicBezTo>
                  <a:pt x="39068" y="6023"/>
                  <a:pt x="38794" y="4941"/>
                  <a:pt x="37920" y="3938"/>
                </a:cubicBezTo>
                <a:cubicBezTo>
                  <a:pt x="37282" y="3208"/>
                  <a:pt x="36773" y="2438"/>
                  <a:pt x="35665" y="1826"/>
                </a:cubicBezTo>
                <a:cubicBezTo>
                  <a:pt x="34192" y="1031"/>
                  <a:pt x="32237" y="666"/>
                  <a:pt x="30138" y="496"/>
                </a:cubicBezTo>
                <a:cubicBezTo>
                  <a:pt x="26451" y="194"/>
                  <a:pt x="22741" y="1"/>
                  <a:pt x="19007" y="1"/>
                </a:cubicBezTo>
                <a:close/>
              </a:path>
            </a:pathLst>
          </a:custGeom>
          <a:solidFill>
            <a:srgbClr val="112A40"/>
          </a:solidFill>
          <a:ln>
            <a:noFill/>
          </a:ln>
          <a:effectLst>
            <a:outerShdw blurRad="57150" dist="9525" algn="bl" rotWithShape="0">
              <a:srgbClr val="000000"/>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lang="fr-CI" noProof="0"/>
          </a:p>
        </p:txBody>
      </p:sp>
      <p:sp>
        <p:nvSpPr>
          <p:cNvPr id="10" name="Google Shape;7367;p39"/>
          <p:cNvSpPr/>
          <p:nvPr/>
        </p:nvSpPr>
        <p:spPr>
          <a:xfrm rot="16200000">
            <a:off x="2201124" y="215006"/>
            <a:ext cx="2027916" cy="4306666"/>
          </a:xfrm>
          <a:custGeom>
            <a:avLst/>
            <a:gdLst/>
            <a:ahLst/>
            <a:cxnLst/>
            <a:rect l="l" t="t" r="r" b="b"/>
            <a:pathLst>
              <a:path w="25081" h="54128" extrusionOk="0">
                <a:moveTo>
                  <a:pt x="19843" y="0"/>
                </a:moveTo>
                <a:cubicBezTo>
                  <a:pt x="19654" y="0"/>
                  <a:pt x="19462" y="7"/>
                  <a:pt x="19267" y="21"/>
                </a:cubicBezTo>
                <a:cubicBezTo>
                  <a:pt x="17781" y="125"/>
                  <a:pt x="16282" y="99"/>
                  <a:pt x="14796" y="112"/>
                </a:cubicBezTo>
                <a:cubicBezTo>
                  <a:pt x="13909" y="125"/>
                  <a:pt x="13010" y="112"/>
                  <a:pt x="12123" y="177"/>
                </a:cubicBezTo>
                <a:cubicBezTo>
                  <a:pt x="10272" y="333"/>
                  <a:pt x="8421" y="503"/>
                  <a:pt x="6570" y="633"/>
                </a:cubicBezTo>
                <a:cubicBezTo>
                  <a:pt x="5267" y="738"/>
                  <a:pt x="3989" y="933"/>
                  <a:pt x="2764" y="1259"/>
                </a:cubicBezTo>
                <a:cubicBezTo>
                  <a:pt x="1943" y="1481"/>
                  <a:pt x="1408" y="1872"/>
                  <a:pt x="1226" y="2471"/>
                </a:cubicBezTo>
                <a:cubicBezTo>
                  <a:pt x="991" y="3292"/>
                  <a:pt x="861" y="4140"/>
                  <a:pt x="965" y="4974"/>
                </a:cubicBezTo>
                <a:cubicBezTo>
                  <a:pt x="991" y="5248"/>
                  <a:pt x="1030" y="5508"/>
                  <a:pt x="991" y="5782"/>
                </a:cubicBezTo>
                <a:cubicBezTo>
                  <a:pt x="835" y="6877"/>
                  <a:pt x="678" y="7972"/>
                  <a:pt x="587" y="9067"/>
                </a:cubicBezTo>
                <a:cubicBezTo>
                  <a:pt x="470" y="10488"/>
                  <a:pt x="378" y="11896"/>
                  <a:pt x="300" y="13317"/>
                </a:cubicBezTo>
                <a:cubicBezTo>
                  <a:pt x="274" y="13825"/>
                  <a:pt x="352" y="14333"/>
                  <a:pt x="339" y="14829"/>
                </a:cubicBezTo>
                <a:cubicBezTo>
                  <a:pt x="313" y="15820"/>
                  <a:pt x="157" y="16797"/>
                  <a:pt x="118" y="17775"/>
                </a:cubicBezTo>
                <a:cubicBezTo>
                  <a:pt x="53" y="19391"/>
                  <a:pt x="0" y="21008"/>
                  <a:pt x="40" y="22624"/>
                </a:cubicBezTo>
                <a:cubicBezTo>
                  <a:pt x="66" y="24149"/>
                  <a:pt x="157" y="25661"/>
                  <a:pt x="144" y="27173"/>
                </a:cubicBezTo>
                <a:cubicBezTo>
                  <a:pt x="131" y="28646"/>
                  <a:pt x="105" y="30132"/>
                  <a:pt x="131" y="31605"/>
                </a:cubicBezTo>
                <a:cubicBezTo>
                  <a:pt x="209" y="35412"/>
                  <a:pt x="405" y="39218"/>
                  <a:pt x="274" y="43051"/>
                </a:cubicBezTo>
                <a:cubicBezTo>
                  <a:pt x="235" y="44237"/>
                  <a:pt x="287" y="45436"/>
                  <a:pt x="300" y="46622"/>
                </a:cubicBezTo>
                <a:cubicBezTo>
                  <a:pt x="300" y="46687"/>
                  <a:pt x="300" y="46753"/>
                  <a:pt x="287" y="46818"/>
                </a:cubicBezTo>
                <a:cubicBezTo>
                  <a:pt x="222" y="48004"/>
                  <a:pt x="313" y="49190"/>
                  <a:pt x="535" y="50363"/>
                </a:cubicBezTo>
                <a:cubicBezTo>
                  <a:pt x="665" y="51054"/>
                  <a:pt x="1004" y="51706"/>
                  <a:pt x="1239" y="52384"/>
                </a:cubicBezTo>
                <a:cubicBezTo>
                  <a:pt x="1486" y="53075"/>
                  <a:pt x="2164" y="53492"/>
                  <a:pt x="3129" y="53700"/>
                </a:cubicBezTo>
                <a:cubicBezTo>
                  <a:pt x="3812" y="53854"/>
                  <a:pt x="4517" y="53911"/>
                  <a:pt x="5223" y="53911"/>
                </a:cubicBezTo>
                <a:cubicBezTo>
                  <a:pt x="5299" y="53911"/>
                  <a:pt x="5374" y="53910"/>
                  <a:pt x="5449" y="53909"/>
                </a:cubicBezTo>
                <a:cubicBezTo>
                  <a:pt x="5591" y="53907"/>
                  <a:pt x="5733" y="53906"/>
                  <a:pt x="5875" y="53906"/>
                </a:cubicBezTo>
                <a:cubicBezTo>
                  <a:pt x="7594" y="53906"/>
                  <a:pt x="9293" y="54042"/>
                  <a:pt x="11015" y="54078"/>
                </a:cubicBezTo>
                <a:cubicBezTo>
                  <a:pt x="11655" y="54087"/>
                  <a:pt x="12288" y="54128"/>
                  <a:pt x="12924" y="54128"/>
                </a:cubicBezTo>
                <a:cubicBezTo>
                  <a:pt x="13273" y="54128"/>
                  <a:pt x="13623" y="54115"/>
                  <a:pt x="13974" y="54078"/>
                </a:cubicBezTo>
                <a:cubicBezTo>
                  <a:pt x="15239" y="53948"/>
                  <a:pt x="16516" y="53870"/>
                  <a:pt x="17781" y="53779"/>
                </a:cubicBezTo>
                <a:cubicBezTo>
                  <a:pt x="18850" y="53700"/>
                  <a:pt x="19919" y="53583"/>
                  <a:pt x="20961" y="53375"/>
                </a:cubicBezTo>
                <a:cubicBezTo>
                  <a:pt x="22043" y="53153"/>
                  <a:pt x="22956" y="52749"/>
                  <a:pt x="23503" y="52019"/>
                </a:cubicBezTo>
                <a:cubicBezTo>
                  <a:pt x="23855" y="51537"/>
                  <a:pt x="24142" y="51028"/>
                  <a:pt x="24233" y="50494"/>
                </a:cubicBezTo>
                <a:cubicBezTo>
                  <a:pt x="24416" y="49464"/>
                  <a:pt x="24429" y="48434"/>
                  <a:pt x="24546" y="47404"/>
                </a:cubicBezTo>
                <a:cubicBezTo>
                  <a:pt x="24690" y="45957"/>
                  <a:pt x="24768" y="44510"/>
                  <a:pt x="24833" y="43064"/>
                </a:cubicBezTo>
                <a:cubicBezTo>
                  <a:pt x="24924" y="41395"/>
                  <a:pt x="24898" y="39726"/>
                  <a:pt x="24898" y="38058"/>
                </a:cubicBezTo>
                <a:cubicBezTo>
                  <a:pt x="24885" y="36402"/>
                  <a:pt x="24794" y="34760"/>
                  <a:pt x="24794" y="33104"/>
                </a:cubicBezTo>
                <a:cubicBezTo>
                  <a:pt x="24794" y="31332"/>
                  <a:pt x="24755" y="29546"/>
                  <a:pt x="24768" y="27760"/>
                </a:cubicBezTo>
                <a:cubicBezTo>
                  <a:pt x="24794" y="26196"/>
                  <a:pt x="24807" y="24631"/>
                  <a:pt x="24846" y="23067"/>
                </a:cubicBezTo>
                <a:cubicBezTo>
                  <a:pt x="24885" y="21503"/>
                  <a:pt x="24911" y="19952"/>
                  <a:pt x="24911" y="18387"/>
                </a:cubicBezTo>
                <a:cubicBezTo>
                  <a:pt x="24911" y="16967"/>
                  <a:pt x="24937" y="15533"/>
                  <a:pt x="24989" y="14112"/>
                </a:cubicBezTo>
                <a:cubicBezTo>
                  <a:pt x="25028" y="12795"/>
                  <a:pt x="25081" y="11479"/>
                  <a:pt x="25068" y="10162"/>
                </a:cubicBezTo>
                <a:cubicBezTo>
                  <a:pt x="25068" y="8924"/>
                  <a:pt x="25002" y="7685"/>
                  <a:pt x="24963" y="6447"/>
                </a:cubicBezTo>
                <a:lnTo>
                  <a:pt x="24950" y="6447"/>
                </a:lnTo>
                <a:cubicBezTo>
                  <a:pt x="25055" y="5561"/>
                  <a:pt x="24963" y="4674"/>
                  <a:pt x="24872" y="3801"/>
                </a:cubicBezTo>
                <a:cubicBezTo>
                  <a:pt x="24807" y="3175"/>
                  <a:pt x="24664" y="2562"/>
                  <a:pt x="24403" y="1963"/>
                </a:cubicBezTo>
                <a:cubicBezTo>
                  <a:pt x="24194" y="1481"/>
                  <a:pt x="23803" y="1103"/>
                  <a:pt x="23204" y="803"/>
                </a:cubicBezTo>
                <a:cubicBezTo>
                  <a:pt x="22185" y="293"/>
                  <a:pt x="21087" y="0"/>
                  <a:pt x="19843" y="0"/>
                </a:cubicBezTo>
                <a:close/>
              </a:path>
            </a:pathLst>
          </a:custGeom>
          <a:noFill/>
          <a:ln w="19050">
            <a:solidFill>
              <a:schemeClr val="tx1"/>
            </a:solidFill>
          </a:ln>
          <a:effectLst>
            <a:outerShdw blurRad="57150" dist="9525" algn="bl" rotWithShape="0">
              <a:srgbClr val="000000"/>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lang="fr-CI" noProof="0"/>
          </a:p>
        </p:txBody>
      </p:sp>
      <p:sp>
        <p:nvSpPr>
          <p:cNvPr id="4" name="Rectangle 3"/>
          <p:cNvSpPr/>
          <p:nvPr/>
        </p:nvSpPr>
        <p:spPr>
          <a:xfrm>
            <a:off x="2946575" y="1442741"/>
            <a:ext cx="1322389" cy="295488"/>
          </a:xfrm>
          <a:prstGeom prst="rect">
            <a:avLst/>
          </a:prstGeom>
        </p:spPr>
        <p:txBody>
          <a:bodyPr wrap="none">
            <a:spAutoFit/>
          </a:bodyPr>
          <a:lstStyle/>
          <a:p>
            <a:pPr lvl="0">
              <a:lnSpc>
                <a:spcPct val="110000"/>
              </a:lnSpc>
            </a:pPr>
            <a:r>
              <a:rPr lang="fr-CI" sz="1400" b="1" noProof="0">
                <a:solidFill>
                  <a:schemeClr val="bg1"/>
                </a:solidFill>
                <a:latin typeface="Helvetica" panose="020B0604020202020204" pitchFamily="34" charset="0"/>
                <a:ea typeface="Open Sans Semibold" panose="020B0706030804020204" pitchFamily="34" charset="0"/>
                <a:cs typeface="Helvetica" panose="020B0604020202020204" pitchFamily="34" charset="0"/>
              </a:rPr>
              <a:t>Entrée</a:t>
            </a:r>
          </a:p>
        </p:txBody>
      </p:sp>
      <p:sp>
        <p:nvSpPr>
          <p:cNvPr id="20" name="Google Shape;7386;p39"/>
          <p:cNvSpPr/>
          <p:nvPr/>
        </p:nvSpPr>
        <p:spPr>
          <a:xfrm rot="10800000">
            <a:off x="6372314" y="1459724"/>
            <a:ext cx="3625790" cy="329031"/>
          </a:xfrm>
          <a:custGeom>
            <a:avLst/>
            <a:gdLst/>
            <a:ahLst/>
            <a:cxnLst/>
            <a:rect l="l" t="t" r="r" b="b"/>
            <a:pathLst>
              <a:path w="40007" h="30221" extrusionOk="0">
                <a:moveTo>
                  <a:pt x="19007" y="1"/>
                </a:moveTo>
                <a:cubicBezTo>
                  <a:pt x="17909" y="1"/>
                  <a:pt x="16810" y="17"/>
                  <a:pt x="15708" y="53"/>
                </a:cubicBezTo>
                <a:cubicBezTo>
                  <a:pt x="13270" y="131"/>
                  <a:pt x="10885" y="275"/>
                  <a:pt x="8512" y="548"/>
                </a:cubicBezTo>
                <a:cubicBezTo>
                  <a:pt x="6088" y="835"/>
                  <a:pt x="4524" y="1500"/>
                  <a:pt x="4041" y="2712"/>
                </a:cubicBezTo>
                <a:cubicBezTo>
                  <a:pt x="4015" y="2777"/>
                  <a:pt x="3976" y="2843"/>
                  <a:pt x="3937" y="2908"/>
                </a:cubicBezTo>
                <a:cubicBezTo>
                  <a:pt x="2777" y="4902"/>
                  <a:pt x="2282" y="6949"/>
                  <a:pt x="1734" y="8995"/>
                </a:cubicBezTo>
                <a:cubicBezTo>
                  <a:pt x="1160" y="11120"/>
                  <a:pt x="613" y="13232"/>
                  <a:pt x="391" y="15357"/>
                </a:cubicBezTo>
                <a:cubicBezTo>
                  <a:pt x="183" y="17325"/>
                  <a:pt x="0" y="19293"/>
                  <a:pt x="79" y="21092"/>
                </a:cubicBezTo>
                <a:cubicBezTo>
                  <a:pt x="52" y="23074"/>
                  <a:pt x="144" y="24899"/>
                  <a:pt x="365" y="26710"/>
                </a:cubicBezTo>
                <a:cubicBezTo>
                  <a:pt x="522" y="28079"/>
                  <a:pt x="1721" y="29096"/>
                  <a:pt x="4419" y="29656"/>
                </a:cubicBezTo>
                <a:cubicBezTo>
                  <a:pt x="6296" y="30048"/>
                  <a:pt x="8265" y="30178"/>
                  <a:pt x="10259" y="30204"/>
                </a:cubicBezTo>
                <a:cubicBezTo>
                  <a:pt x="11143" y="30216"/>
                  <a:pt x="12026" y="30220"/>
                  <a:pt x="12908" y="30220"/>
                </a:cubicBezTo>
                <a:cubicBezTo>
                  <a:pt x="15996" y="30220"/>
                  <a:pt x="19078" y="30165"/>
                  <a:pt x="22161" y="30165"/>
                </a:cubicBezTo>
                <a:cubicBezTo>
                  <a:pt x="24859" y="30165"/>
                  <a:pt x="27557" y="30204"/>
                  <a:pt x="30243" y="30204"/>
                </a:cubicBezTo>
                <a:cubicBezTo>
                  <a:pt x="31690" y="30191"/>
                  <a:pt x="33123" y="30113"/>
                  <a:pt x="34505" y="29852"/>
                </a:cubicBezTo>
                <a:cubicBezTo>
                  <a:pt x="35470" y="29683"/>
                  <a:pt x="36330" y="29435"/>
                  <a:pt x="36917" y="29005"/>
                </a:cubicBezTo>
                <a:cubicBezTo>
                  <a:pt x="37881" y="28288"/>
                  <a:pt x="38677" y="27519"/>
                  <a:pt x="39120" y="26684"/>
                </a:cubicBezTo>
                <a:cubicBezTo>
                  <a:pt x="39732" y="25485"/>
                  <a:pt x="39954" y="24260"/>
                  <a:pt x="39954" y="23021"/>
                </a:cubicBezTo>
                <a:cubicBezTo>
                  <a:pt x="39954" y="19372"/>
                  <a:pt x="40006" y="15709"/>
                  <a:pt x="39563" y="12059"/>
                </a:cubicBezTo>
                <a:cubicBezTo>
                  <a:pt x="39367" y="10403"/>
                  <a:pt x="39485" y="8748"/>
                  <a:pt x="39237" y="7105"/>
                </a:cubicBezTo>
                <a:cubicBezTo>
                  <a:pt x="39068" y="6023"/>
                  <a:pt x="38794" y="4941"/>
                  <a:pt x="37920" y="3938"/>
                </a:cubicBezTo>
                <a:cubicBezTo>
                  <a:pt x="37282" y="3208"/>
                  <a:pt x="36773" y="2438"/>
                  <a:pt x="35665" y="1826"/>
                </a:cubicBezTo>
                <a:cubicBezTo>
                  <a:pt x="34192" y="1031"/>
                  <a:pt x="32237" y="666"/>
                  <a:pt x="30138" y="496"/>
                </a:cubicBezTo>
                <a:cubicBezTo>
                  <a:pt x="26451" y="194"/>
                  <a:pt x="22741" y="1"/>
                  <a:pt x="19007" y="1"/>
                </a:cubicBezTo>
                <a:close/>
              </a:path>
            </a:pathLst>
          </a:custGeom>
          <a:solidFill>
            <a:srgbClr val="112A40"/>
          </a:solidFill>
          <a:ln>
            <a:noFill/>
          </a:ln>
          <a:effectLst>
            <a:outerShdw blurRad="57150" dist="9525" algn="bl" rotWithShape="0">
              <a:srgbClr val="000000"/>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lang="fr-CI" noProof="0"/>
          </a:p>
        </p:txBody>
      </p:sp>
      <p:sp>
        <p:nvSpPr>
          <p:cNvPr id="21" name="Google Shape;7367;p39"/>
          <p:cNvSpPr/>
          <p:nvPr/>
        </p:nvSpPr>
        <p:spPr>
          <a:xfrm rot="16200000">
            <a:off x="7569073" y="228570"/>
            <a:ext cx="2000788" cy="4306666"/>
          </a:xfrm>
          <a:custGeom>
            <a:avLst/>
            <a:gdLst/>
            <a:ahLst/>
            <a:cxnLst/>
            <a:rect l="l" t="t" r="r" b="b"/>
            <a:pathLst>
              <a:path w="25081" h="54128" extrusionOk="0">
                <a:moveTo>
                  <a:pt x="19843" y="0"/>
                </a:moveTo>
                <a:cubicBezTo>
                  <a:pt x="19654" y="0"/>
                  <a:pt x="19462" y="7"/>
                  <a:pt x="19267" y="21"/>
                </a:cubicBezTo>
                <a:cubicBezTo>
                  <a:pt x="17781" y="125"/>
                  <a:pt x="16282" y="99"/>
                  <a:pt x="14796" y="112"/>
                </a:cubicBezTo>
                <a:cubicBezTo>
                  <a:pt x="13909" y="125"/>
                  <a:pt x="13010" y="112"/>
                  <a:pt x="12123" y="177"/>
                </a:cubicBezTo>
                <a:cubicBezTo>
                  <a:pt x="10272" y="333"/>
                  <a:pt x="8421" y="503"/>
                  <a:pt x="6570" y="633"/>
                </a:cubicBezTo>
                <a:cubicBezTo>
                  <a:pt x="5267" y="738"/>
                  <a:pt x="3989" y="933"/>
                  <a:pt x="2764" y="1259"/>
                </a:cubicBezTo>
                <a:cubicBezTo>
                  <a:pt x="1943" y="1481"/>
                  <a:pt x="1408" y="1872"/>
                  <a:pt x="1226" y="2471"/>
                </a:cubicBezTo>
                <a:cubicBezTo>
                  <a:pt x="991" y="3292"/>
                  <a:pt x="861" y="4140"/>
                  <a:pt x="965" y="4974"/>
                </a:cubicBezTo>
                <a:cubicBezTo>
                  <a:pt x="991" y="5248"/>
                  <a:pt x="1030" y="5508"/>
                  <a:pt x="991" y="5782"/>
                </a:cubicBezTo>
                <a:cubicBezTo>
                  <a:pt x="835" y="6877"/>
                  <a:pt x="678" y="7972"/>
                  <a:pt x="587" y="9067"/>
                </a:cubicBezTo>
                <a:cubicBezTo>
                  <a:pt x="470" y="10488"/>
                  <a:pt x="378" y="11896"/>
                  <a:pt x="300" y="13317"/>
                </a:cubicBezTo>
                <a:cubicBezTo>
                  <a:pt x="274" y="13825"/>
                  <a:pt x="352" y="14333"/>
                  <a:pt x="339" y="14829"/>
                </a:cubicBezTo>
                <a:cubicBezTo>
                  <a:pt x="313" y="15820"/>
                  <a:pt x="157" y="16797"/>
                  <a:pt x="118" y="17775"/>
                </a:cubicBezTo>
                <a:cubicBezTo>
                  <a:pt x="53" y="19391"/>
                  <a:pt x="0" y="21008"/>
                  <a:pt x="40" y="22624"/>
                </a:cubicBezTo>
                <a:cubicBezTo>
                  <a:pt x="66" y="24149"/>
                  <a:pt x="157" y="25661"/>
                  <a:pt x="144" y="27173"/>
                </a:cubicBezTo>
                <a:cubicBezTo>
                  <a:pt x="131" y="28646"/>
                  <a:pt x="105" y="30132"/>
                  <a:pt x="131" y="31605"/>
                </a:cubicBezTo>
                <a:cubicBezTo>
                  <a:pt x="209" y="35412"/>
                  <a:pt x="405" y="39218"/>
                  <a:pt x="274" y="43051"/>
                </a:cubicBezTo>
                <a:cubicBezTo>
                  <a:pt x="235" y="44237"/>
                  <a:pt x="287" y="45436"/>
                  <a:pt x="300" y="46622"/>
                </a:cubicBezTo>
                <a:cubicBezTo>
                  <a:pt x="300" y="46687"/>
                  <a:pt x="300" y="46753"/>
                  <a:pt x="287" y="46818"/>
                </a:cubicBezTo>
                <a:cubicBezTo>
                  <a:pt x="222" y="48004"/>
                  <a:pt x="313" y="49190"/>
                  <a:pt x="535" y="50363"/>
                </a:cubicBezTo>
                <a:cubicBezTo>
                  <a:pt x="665" y="51054"/>
                  <a:pt x="1004" y="51706"/>
                  <a:pt x="1239" y="52384"/>
                </a:cubicBezTo>
                <a:cubicBezTo>
                  <a:pt x="1486" y="53075"/>
                  <a:pt x="2164" y="53492"/>
                  <a:pt x="3129" y="53700"/>
                </a:cubicBezTo>
                <a:cubicBezTo>
                  <a:pt x="3812" y="53854"/>
                  <a:pt x="4517" y="53911"/>
                  <a:pt x="5223" y="53911"/>
                </a:cubicBezTo>
                <a:cubicBezTo>
                  <a:pt x="5299" y="53911"/>
                  <a:pt x="5374" y="53910"/>
                  <a:pt x="5449" y="53909"/>
                </a:cubicBezTo>
                <a:cubicBezTo>
                  <a:pt x="5591" y="53907"/>
                  <a:pt x="5733" y="53906"/>
                  <a:pt x="5875" y="53906"/>
                </a:cubicBezTo>
                <a:cubicBezTo>
                  <a:pt x="7594" y="53906"/>
                  <a:pt x="9293" y="54042"/>
                  <a:pt x="11015" y="54078"/>
                </a:cubicBezTo>
                <a:cubicBezTo>
                  <a:pt x="11655" y="54087"/>
                  <a:pt x="12288" y="54128"/>
                  <a:pt x="12924" y="54128"/>
                </a:cubicBezTo>
                <a:cubicBezTo>
                  <a:pt x="13273" y="54128"/>
                  <a:pt x="13623" y="54115"/>
                  <a:pt x="13974" y="54078"/>
                </a:cubicBezTo>
                <a:cubicBezTo>
                  <a:pt x="15239" y="53948"/>
                  <a:pt x="16516" y="53870"/>
                  <a:pt x="17781" y="53779"/>
                </a:cubicBezTo>
                <a:cubicBezTo>
                  <a:pt x="18850" y="53700"/>
                  <a:pt x="19919" y="53583"/>
                  <a:pt x="20961" y="53375"/>
                </a:cubicBezTo>
                <a:cubicBezTo>
                  <a:pt x="22043" y="53153"/>
                  <a:pt x="22956" y="52749"/>
                  <a:pt x="23503" y="52019"/>
                </a:cubicBezTo>
                <a:cubicBezTo>
                  <a:pt x="23855" y="51537"/>
                  <a:pt x="24142" y="51028"/>
                  <a:pt x="24233" y="50494"/>
                </a:cubicBezTo>
                <a:cubicBezTo>
                  <a:pt x="24416" y="49464"/>
                  <a:pt x="24429" y="48434"/>
                  <a:pt x="24546" y="47404"/>
                </a:cubicBezTo>
                <a:cubicBezTo>
                  <a:pt x="24690" y="45957"/>
                  <a:pt x="24768" y="44510"/>
                  <a:pt x="24833" y="43064"/>
                </a:cubicBezTo>
                <a:cubicBezTo>
                  <a:pt x="24924" y="41395"/>
                  <a:pt x="24898" y="39726"/>
                  <a:pt x="24898" y="38058"/>
                </a:cubicBezTo>
                <a:cubicBezTo>
                  <a:pt x="24885" y="36402"/>
                  <a:pt x="24794" y="34760"/>
                  <a:pt x="24794" y="33104"/>
                </a:cubicBezTo>
                <a:cubicBezTo>
                  <a:pt x="24794" y="31332"/>
                  <a:pt x="24755" y="29546"/>
                  <a:pt x="24768" y="27760"/>
                </a:cubicBezTo>
                <a:cubicBezTo>
                  <a:pt x="24794" y="26196"/>
                  <a:pt x="24807" y="24631"/>
                  <a:pt x="24846" y="23067"/>
                </a:cubicBezTo>
                <a:cubicBezTo>
                  <a:pt x="24885" y="21503"/>
                  <a:pt x="24911" y="19952"/>
                  <a:pt x="24911" y="18387"/>
                </a:cubicBezTo>
                <a:cubicBezTo>
                  <a:pt x="24911" y="16967"/>
                  <a:pt x="24937" y="15533"/>
                  <a:pt x="24989" y="14112"/>
                </a:cubicBezTo>
                <a:cubicBezTo>
                  <a:pt x="25028" y="12795"/>
                  <a:pt x="25081" y="11479"/>
                  <a:pt x="25068" y="10162"/>
                </a:cubicBezTo>
                <a:cubicBezTo>
                  <a:pt x="25068" y="8924"/>
                  <a:pt x="25002" y="7685"/>
                  <a:pt x="24963" y="6447"/>
                </a:cubicBezTo>
                <a:lnTo>
                  <a:pt x="24950" y="6447"/>
                </a:lnTo>
                <a:cubicBezTo>
                  <a:pt x="25055" y="5561"/>
                  <a:pt x="24963" y="4674"/>
                  <a:pt x="24872" y="3801"/>
                </a:cubicBezTo>
                <a:cubicBezTo>
                  <a:pt x="24807" y="3175"/>
                  <a:pt x="24664" y="2562"/>
                  <a:pt x="24403" y="1963"/>
                </a:cubicBezTo>
                <a:cubicBezTo>
                  <a:pt x="24194" y="1481"/>
                  <a:pt x="23803" y="1103"/>
                  <a:pt x="23204" y="803"/>
                </a:cubicBezTo>
                <a:cubicBezTo>
                  <a:pt x="22185" y="293"/>
                  <a:pt x="21087" y="0"/>
                  <a:pt x="19843" y="0"/>
                </a:cubicBezTo>
                <a:close/>
              </a:path>
            </a:pathLst>
          </a:custGeom>
          <a:noFill/>
          <a:ln w="19050">
            <a:solidFill>
              <a:srgbClr val="060606"/>
            </a:solidFill>
          </a:ln>
          <a:effectLst>
            <a:outerShdw blurRad="57150" dist="9525" algn="bl" rotWithShape="0">
              <a:srgbClr val="000000"/>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lang="fr-CI" noProof="0"/>
          </a:p>
        </p:txBody>
      </p:sp>
      <p:sp>
        <p:nvSpPr>
          <p:cNvPr id="24" name="Rectangle 23"/>
          <p:cNvSpPr/>
          <p:nvPr/>
        </p:nvSpPr>
        <p:spPr>
          <a:xfrm>
            <a:off x="7570816" y="1466170"/>
            <a:ext cx="1322389" cy="295488"/>
          </a:xfrm>
          <a:prstGeom prst="rect">
            <a:avLst/>
          </a:prstGeom>
        </p:spPr>
        <p:txBody>
          <a:bodyPr wrap="none">
            <a:spAutoFit/>
          </a:bodyPr>
          <a:lstStyle/>
          <a:p>
            <a:pPr lvl="0">
              <a:lnSpc>
                <a:spcPct val="110000"/>
              </a:lnSpc>
            </a:pPr>
            <a:r>
              <a:rPr lang="fr-CI" sz="1400" b="1" noProof="0">
                <a:solidFill>
                  <a:schemeClr val="bg1"/>
                </a:solidFill>
                <a:latin typeface="Helvetica" panose="020B0604020202020204" pitchFamily="34" charset="0"/>
                <a:ea typeface="Open Sans Semibold" panose="020B0706030804020204" pitchFamily="34" charset="0"/>
                <a:cs typeface="Helvetica" panose="020B0604020202020204" pitchFamily="34" charset="0"/>
              </a:rPr>
              <a:t>Traitement</a:t>
            </a:r>
          </a:p>
        </p:txBody>
      </p:sp>
      <p:sp>
        <p:nvSpPr>
          <p:cNvPr id="37" name="Google Shape;7386;p39"/>
          <p:cNvSpPr/>
          <p:nvPr/>
        </p:nvSpPr>
        <p:spPr>
          <a:xfrm rot="10800000">
            <a:off x="1854215" y="3845744"/>
            <a:ext cx="3625790" cy="329031"/>
          </a:xfrm>
          <a:custGeom>
            <a:avLst/>
            <a:gdLst/>
            <a:ahLst/>
            <a:cxnLst/>
            <a:rect l="l" t="t" r="r" b="b"/>
            <a:pathLst>
              <a:path w="40007" h="30221" extrusionOk="0">
                <a:moveTo>
                  <a:pt x="19007" y="1"/>
                </a:moveTo>
                <a:cubicBezTo>
                  <a:pt x="17909" y="1"/>
                  <a:pt x="16810" y="17"/>
                  <a:pt x="15708" y="53"/>
                </a:cubicBezTo>
                <a:cubicBezTo>
                  <a:pt x="13270" y="131"/>
                  <a:pt x="10885" y="275"/>
                  <a:pt x="8512" y="548"/>
                </a:cubicBezTo>
                <a:cubicBezTo>
                  <a:pt x="6088" y="835"/>
                  <a:pt x="4524" y="1500"/>
                  <a:pt x="4041" y="2712"/>
                </a:cubicBezTo>
                <a:cubicBezTo>
                  <a:pt x="4015" y="2777"/>
                  <a:pt x="3976" y="2843"/>
                  <a:pt x="3937" y="2908"/>
                </a:cubicBezTo>
                <a:cubicBezTo>
                  <a:pt x="2777" y="4902"/>
                  <a:pt x="2282" y="6949"/>
                  <a:pt x="1734" y="8995"/>
                </a:cubicBezTo>
                <a:cubicBezTo>
                  <a:pt x="1160" y="11120"/>
                  <a:pt x="613" y="13232"/>
                  <a:pt x="391" y="15357"/>
                </a:cubicBezTo>
                <a:cubicBezTo>
                  <a:pt x="183" y="17325"/>
                  <a:pt x="0" y="19293"/>
                  <a:pt x="79" y="21092"/>
                </a:cubicBezTo>
                <a:cubicBezTo>
                  <a:pt x="52" y="23074"/>
                  <a:pt x="144" y="24899"/>
                  <a:pt x="365" y="26710"/>
                </a:cubicBezTo>
                <a:cubicBezTo>
                  <a:pt x="522" y="28079"/>
                  <a:pt x="1721" y="29096"/>
                  <a:pt x="4419" y="29656"/>
                </a:cubicBezTo>
                <a:cubicBezTo>
                  <a:pt x="6296" y="30048"/>
                  <a:pt x="8265" y="30178"/>
                  <a:pt x="10259" y="30204"/>
                </a:cubicBezTo>
                <a:cubicBezTo>
                  <a:pt x="11143" y="30216"/>
                  <a:pt x="12026" y="30220"/>
                  <a:pt x="12908" y="30220"/>
                </a:cubicBezTo>
                <a:cubicBezTo>
                  <a:pt x="15996" y="30220"/>
                  <a:pt x="19078" y="30165"/>
                  <a:pt x="22161" y="30165"/>
                </a:cubicBezTo>
                <a:cubicBezTo>
                  <a:pt x="24859" y="30165"/>
                  <a:pt x="27557" y="30204"/>
                  <a:pt x="30243" y="30204"/>
                </a:cubicBezTo>
                <a:cubicBezTo>
                  <a:pt x="31690" y="30191"/>
                  <a:pt x="33123" y="30113"/>
                  <a:pt x="34505" y="29852"/>
                </a:cubicBezTo>
                <a:cubicBezTo>
                  <a:pt x="35470" y="29683"/>
                  <a:pt x="36330" y="29435"/>
                  <a:pt x="36917" y="29005"/>
                </a:cubicBezTo>
                <a:cubicBezTo>
                  <a:pt x="37881" y="28288"/>
                  <a:pt x="38677" y="27519"/>
                  <a:pt x="39120" y="26684"/>
                </a:cubicBezTo>
                <a:cubicBezTo>
                  <a:pt x="39732" y="25485"/>
                  <a:pt x="39954" y="24260"/>
                  <a:pt x="39954" y="23021"/>
                </a:cubicBezTo>
                <a:cubicBezTo>
                  <a:pt x="39954" y="19372"/>
                  <a:pt x="40006" y="15709"/>
                  <a:pt x="39563" y="12059"/>
                </a:cubicBezTo>
                <a:cubicBezTo>
                  <a:pt x="39367" y="10403"/>
                  <a:pt x="39485" y="8748"/>
                  <a:pt x="39237" y="7105"/>
                </a:cubicBezTo>
                <a:cubicBezTo>
                  <a:pt x="39068" y="6023"/>
                  <a:pt x="38794" y="4941"/>
                  <a:pt x="37920" y="3938"/>
                </a:cubicBezTo>
                <a:cubicBezTo>
                  <a:pt x="37282" y="3208"/>
                  <a:pt x="36773" y="2438"/>
                  <a:pt x="35665" y="1826"/>
                </a:cubicBezTo>
                <a:cubicBezTo>
                  <a:pt x="34192" y="1031"/>
                  <a:pt x="32237" y="666"/>
                  <a:pt x="30138" y="496"/>
                </a:cubicBezTo>
                <a:cubicBezTo>
                  <a:pt x="26451" y="194"/>
                  <a:pt x="22741" y="1"/>
                  <a:pt x="19007" y="1"/>
                </a:cubicBezTo>
                <a:close/>
              </a:path>
            </a:pathLst>
          </a:custGeom>
          <a:solidFill>
            <a:srgbClr val="112A40"/>
          </a:solidFill>
          <a:ln>
            <a:noFill/>
          </a:ln>
          <a:effectLst>
            <a:outerShdw blurRad="57150" dist="9525" algn="bl" rotWithShape="0">
              <a:srgbClr val="000000"/>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lang="fr-CI" noProof="0"/>
          </a:p>
        </p:txBody>
      </p:sp>
      <p:sp>
        <p:nvSpPr>
          <p:cNvPr id="38" name="Google Shape;7367;p39"/>
          <p:cNvSpPr/>
          <p:nvPr/>
        </p:nvSpPr>
        <p:spPr>
          <a:xfrm rot="16200000">
            <a:off x="2838223" y="3190772"/>
            <a:ext cx="1751381" cy="3719393"/>
          </a:xfrm>
          <a:custGeom>
            <a:avLst/>
            <a:gdLst/>
            <a:ahLst/>
            <a:cxnLst/>
            <a:rect l="l" t="t" r="r" b="b"/>
            <a:pathLst>
              <a:path w="25081" h="54128" extrusionOk="0">
                <a:moveTo>
                  <a:pt x="19843" y="0"/>
                </a:moveTo>
                <a:cubicBezTo>
                  <a:pt x="19654" y="0"/>
                  <a:pt x="19462" y="7"/>
                  <a:pt x="19267" y="21"/>
                </a:cubicBezTo>
                <a:cubicBezTo>
                  <a:pt x="17781" y="125"/>
                  <a:pt x="16282" y="99"/>
                  <a:pt x="14796" y="112"/>
                </a:cubicBezTo>
                <a:cubicBezTo>
                  <a:pt x="13909" y="125"/>
                  <a:pt x="13010" y="112"/>
                  <a:pt x="12123" y="177"/>
                </a:cubicBezTo>
                <a:cubicBezTo>
                  <a:pt x="10272" y="333"/>
                  <a:pt x="8421" y="503"/>
                  <a:pt x="6570" y="633"/>
                </a:cubicBezTo>
                <a:cubicBezTo>
                  <a:pt x="5267" y="738"/>
                  <a:pt x="3989" y="933"/>
                  <a:pt x="2764" y="1259"/>
                </a:cubicBezTo>
                <a:cubicBezTo>
                  <a:pt x="1943" y="1481"/>
                  <a:pt x="1408" y="1872"/>
                  <a:pt x="1226" y="2471"/>
                </a:cubicBezTo>
                <a:cubicBezTo>
                  <a:pt x="991" y="3292"/>
                  <a:pt x="861" y="4140"/>
                  <a:pt x="965" y="4974"/>
                </a:cubicBezTo>
                <a:cubicBezTo>
                  <a:pt x="991" y="5248"/>
                  <a:pt x="1030" y="5508"/>
                  <a:pt x="991" y="5782"/>
                </a:cubicBezTo>
                <a:cubicBezTo>
                  <a:pt x="835" y="6877"/>
                  <a:pt x="678" y="7972"/>
                  <a:pt x="587" y="9067"/>
                </a:cubicBezTo>
                <a:cubicBezTo>
                  <a:pt x="470" y="10488"/>
                  <a:pt x="378" y="11896"/>
                  <a:pt x="300" y="13317"/>
                </a:cubicBezTo>
                <a:cubicBezTo>
                  <a:pt x="274" y="13825"/>
                  <a:pt x="352" y="14333"/>
                  <a:pt x="339" y="14829"/>
                </a:cubicBezTo>
                <a:cubicBezTo>
                  <a:pt x="313" y="15820"/>
                  <a:pt x="157" y="16797"/>
                  <a:pt x="118" y="17775"/>
                </a:cubicBezTo>
                <a:cubicBezTo>
                  <a:pt x="53" y="19391"/>
                  <a:pt x="0" y="21008"/>
                  <a:pt x="40" y="22624"/>
                </a:cubicBezTo>
                <a:cubicBezTo>
                  <a:pt x="66" y="24149"/>
                  <a:pt x="157" y="25661"/>
                  <a:pt x="144" y="27173"/>
                </a:cubicBezTo>
                <a:cubicBezTo>
                  <a:pt x="131" y="28646"/>
                  <a:pt x="105" y="30132"/>
                  <a:pt x="131" y="31605"/>
                </a:cubicBezTo>
                <a:cubicBezTo>
                  <a:pt x="209" y="35412"/>
                  <a:pt x="405" y="39218"/>
                  <a:pt x="274" y="43051"/>
                </a:cubicBezTo>
                <a:cubicBezTo>
                  <a:pt x="235" y="44237"/>
                  <a:pt x="287" y="45436"/>
                  <a:pt x="300" y="46622"/>
                </a:cubicBezTo>
                <a:cubicBezTo>
                  <a:pt x="300" y="46687"/>
                  <a:pt x="300" y="46753"/>
                  <a:pt x="287" y="46818"/>
                </a:cubicBezTo>
                <a:cubicBezTo>
                  <a:pt x="222" y="48004"/>
                  <a:pt x="313" y="49190"/>
                  <a:pt x="535" y="50363"/>
                </a:cubicBezTo>
                <a:cubicBezTo>
                  <a:pt x="665" y="51054"/>
                  <a:pt x="1004" y="51706"/>
                  <a:pt x="1239" y="52384"/>
                </a:cubicBezTo>
                <a:cubicBezTo>
                  <a:pt x="1486" y="53075"/>
                  <a:pt x="2164" y="53492"/>
                  <a:pt x="3129" y="53700"/>
                </a:cubicBezTo>
                <a:cubicBezTo>
                  <a:pt x="3812" y="53854"/>
                  <a:pt x="4517" y="53911"/>
                  <a:pt x="5223" y="53911"/>
                </a:cubicBezTo>
                <a:cubicBezTo>
                  <a:pt x="5299" y="53911"/>
                  <a:pt x="5374" y="53910"/>
                  <a:pt x="5449" y="53909"/>
                </a:cubicBezTo>
                <a:cubicBezTo>
                  <a:pt x="5591" y="53907"/>
                  <a:pt x="5733" y="53906"/>
                  <a:pt x="5875" y="53906"/>
                </a:cubicBezTo>
                <a:cubicBezTo>
                  <a:pt x="7594" y="53906"/>
                  <a:pt x="9293" y="54042"/>
                  <a:pt x="11015" y="54078"/>
                </a:cubicBezTo>
                <a:cubicBezTo>
                  <a:pt x="11655" y="54087"/>
                  <a:pt x="12288" y="54128"/>
                  <a:pt x="12924" y="54128"/>
                </a:cubicBezTo>
                <a:cubicBezTo>
                  <a:pt x="13273" y="54128"/>
                  <a:pt x="13623" y="54115"/>
                  <a:pt x="13974" y="54078"/>
                </a:cubicBezTo>
                <a:cubicBezTo>
                  <a:pt x="15239" y="53948"/>
                  <a:pt x="16516" y="53870"/>
                  <a:pt x="17781" y="53779"/>
                </a:cubicBezTo>
                <a:cubicBezTo>
                  <a:pt x="18850" y="53700"/>
                  <a:pt x="19919" y="53583"/>
                  <a:pt x="20961" y="53375"/>
                </a:cubicBezTo>
                <a:cubicBezTo>
                  <a:pt x="22043" y="53153"/>
                  <a:pt x="22956" y="52749"/>
                  <a:pt x="23503" y="52019"/>
                </a:cubicBezTo>
                <a:cubicBezTo>
                  <a:pt x="23855" y="51537"/>
                  <a:pt x="24142" y="51028"/>
                  <a:pt x="24233" y="50494"/>
                </a:cubicBezTo>
                <a:cubicBezTo>
                  <a:pt x="24416" y="49464"/>
                  <a:pt x="24429" y="48434"/>
                  <a:pt x="24546" y="47404"/>
                </a:cubicBezTo>
                <a:cubicBezTo>
                  <a:pt x="24690" y="45957"/>
                  <a:pt x="24768" y="44510"/>
                  <a:pt x="24833" y="43064"/>
                </a:cubicBezTo>
                <a:cubicBezTo>
                  <a:pt x="24924" y="41395"/>
                  <a:pt x="24898" y="39726"/>
                  <a:pt x="24898" y="38058"/>
                </a:cubicBezTo>
                <a:cubicBezTo>
                  <a:pt x="24885" y="36402"/>
                  <a:pt x="24794" y="34760"/>
                  <a:pt x="24794" y="33104"/>
                </a:cubicBezTo>
                <a:cubicBezTo>
                  <a:pt x="24794" y="31332"/>
                  <a:pt x="24755" y="29546"/>
                  <a:pt x="24768" y="27760"/>
                </a:cubicBezTo>
                <a:cubicBezTo>
                  <a:pt x="24794" y="26196"/>
                  <a:pt x="24807" y="24631"/>
                  <a:pt x="24846" y="23067"/>
                </a:cubicBezTo>
                <a:cubicBezTo>
                  <a:pt x="24885" y="21503"/>
                  <a:pt x="24911" y="19952"/>
                  <a:pt x="24911" y="18387"/>
                </a:cubicBezTo>
                <a:cubicBezTo>
                  <a:pt x="24911" y="16967"/>
                  <a:pt x="24937" y="15533"/>
                  <a:pt x="24989" y="14112"/>
                </a:cubicBezTo>
                <a:cubicBezTo>
                  <a:pt x="25028" y="12795"/>
                  <a:pt x="25081" y="11479"/>
                  <a:pt x="25068" y="10162"/>
                </a:cubicBezTo>
                <a:cubicBezTo>
                  <a:pt x="25068" y="8924"/>
                  <a:pt x="25002" y="7685"/>
                  <a:pt x="24963" y="6447"/>
                </a:cubicBezTo>
                <a:lnTo>
                  <a:pt x="24950" y="6447"/>
                </a:lnTo>
                <a:cubicBezTo>
                  <a:pt x="25055" y="5561"/>
                  <a:pt x="24963" y="4674"/>
                  <a:pt x="24872" y="3801"/>
                </a:cubicBezTo>
                <a:cubicBezTo>
                  <a:pt x="24807" y="3175"/>
                  <a:pt x="24664" y="2562"/>
                  <a:pt x="24403" y="1963"/>
                </a:cubicBezTo>
                <a:cubicBezTo>
                  <a:pt x="24194" y="1481"/>
                  <a:pt x="23803" y="1103"/>
                  <a:pt x="23204" y="803"/>
                </a:cubicBezTo>
                <a:cubicBezTo>
                  <a:pt x="22185" y="293"/>
                  <a:pt x="21087" y="0"/>
                  <a:pt x="19843" y="0"/>
                </a:cubicBezTo>
                <a:close/>
              </a:path>
            </a:pathLst>
          </a:custGeom>
          <a:noFill/>
          <a:ln w="19050">
            <a:solidFill>
              <a:srgbClr val="060606"/>
            </a:solidFill>
          </a:ln>
          <a:effectLst>
            <a:outerShdw blurRad="57150" dist="9525" algn="bl" rotWithShape="0">
              <a:srgbClr val="000000"/>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lang="fr-CI" noProof="0"/>
          </a:p>
        </p:txBody>
      </p:sp>
      <p:sp>
        <p:nvSpPr>
          <p:cNvPr id="40" name="Rectangle 39"/>
          <p:cNvSpPr/>
          <p:nvPr/>
        </p:nvSpPr>
        <p:spPr>
          <a:xfrm>
            <a:off x="3052718" y="3852190"/>
            <a:ext cx="1322389" cy="295488"/>
          </a:xfrm>
          <a:prstGeom prst="rect">
            <a:avLst/>
          </a:prstGeom>
        </p:spPr>
        <p:txBody>
          <a:bodyPr wrap="none">
            <a:spAutoFit/>
          </a:bodyPr>
          <a:lstStyle/>
          <a:p>
            <a:pPr lvl="0">
              <a:lnSpc>
                <a:spcPct val="110000"/>
              </a:lnSpc>
            </a:pPr>
            <a:r>
              <a:rPr lang="fr-CI" sz="1400" b="1" noProof="0">
                <a:solidFill>
                  <a:schemeClr val="bg1"/>
                </a:solidFill>
                <a:latin typeface="Helvetica" panose="020B0604020202020204" pitchFamily="34" charset="0"/>
                <a:ea typeface="Open Sans Semibold" panose="020B0706030804020204" pitchFamily="34" charset="0"/>
                <a:cs typeface="Helvetica" panose="020B0604020202020204" pitchFamily="34" charset="0"/>
              </a:rPr>
              <a:t>Contrôle</a:t>
            </a:r>
          </a:p>
        </p:txBody>
      </p:sp>
      <p:sp>
        <p:nvSpPr>
          <p:cNvPr id="42" name="Google Shape;7386;p39"/>
          <p:cNvSpPr/>
          <p:nvPr/>
        </p:nvSpPr>
        <p:spPr>
          <a:xfrm rot="10800000">
            <a:off x="6478457" y="3869173"/>
            <a:ext cx="3625790" cy="329031"/>
          </a:xfrm>
          <a:custGeom>
            <a:avLst/>
            <a:gdLst/>
            <a:ahLst/>
            <a:cxnLst/>
            <a:rect l="l" t="t" r="r" b="b"/>
            <a:pathLst>
              <a:path w="40007" h="30221" extrusionOk="0">
                <a:moveTo>
                  <a:pt x="19007" y="1"/>
                </a:moveTo>
                <a:cubicBezTo>
                  <a:pt x="17909" y="1"/>
                  <a:pt x="16810" y="17"/>
                  <a:pt x="15708" y="53"/>
                </a:cubicBezTo>
                <a:cubicBezTo>
                  <a:pt x="13270" y="131"/>
                  <a:pt x="10885" y="275"/>
                  <a:pt x="8512" y="548"/>
                </a:cubicBezTo>
                <a:cubicBezTo>
                  <a:pt x="6088" y="835"/>
                  <a:pt x="4524" y="1500"/>
                  <a:pt x="4041" y="2712"/>
                </a:cubicBezTo>
                <a:cubicBezTo>
                  <a:pt x="4015" y="2777"/>
                  <a:pt x="3976" y="2843"/>
                  <a:pt x="3937" y="2908"/>
                </a:cubicBezTo>
                <a:cubicBezTo>
                  <a:pt x="2777" y="4902"/>
                  <a:pt x="2282" y="6949"/>
                  <a:pt x="1734" y="8995"/>
                </a:cubicBezTo>
                <a:cubicBezTo>
                  <a:pt x="1160" y="11120"/>
                  <a:pt x="613" y="13232"/>
                  <a:pt x="391" y="15357"/>
                </a:cubicBezTo>
                <a:cubicBezTo>
                  <a:pt x="183" y="17325"/>
                  <a:pt x="0" y="19293"/>
                  <a:pt x="79" y="21092"/>
                </a:cubicBezTo>
                <a:cubicBezTo>
                  <a:pt x="52" y="23074"/>
                  <a:pt x="144" y="24899"/>
                  <a:pt x="365" y="26710"/>
                </a:cubicBezTo>
                <a:cubicBezTo>
                  <a:pt x="522" y="28079"/>
                  <a:pt x="1721" y="29096"/>
                  <a:pt x="4419" y="29656"/>
                </a:cubicBezTo>
                <a:cubicBezTo>
                  <a:pt x="6296" y="30048"/>
                  <a:pt x="8265" y="30178"/>
                  <a:pt x="10259" y="30204"/>
                </a:cubicBezTo>
                <a:cubicBezTo>
                  <a:pt x="11143" y="30216"/>
                  <a:pt x="12026" y="30220"/>
                  <a:pt x="12908" y="30220"/>
                </a:cubicBezTo>
                <a:cubicBezTo>
                  <a:pt x="15996" y="30220"/>
                  <a:pt x="19078" y="30165"/>
                  <a:pt x="22161" y="30165"/>
                </a:cubicBezTo>
                <a:cubicBezTo>
                  <a:pt x="24859" y="30165"/>
                  <a:pt x="27557" y="30204"/>
                  <a:pt x="30243" y="30204"/>
                </a:cubicBezTo>
                <a:cubicBezTo>
                  <a:pt x="31690" y="30191"/>
                  <a:pt x="33123" y="30113"/>
                  <a:pt x="34505" y="29852"/>
                </a:cubicBezTo>
                <a:cubicBezTo>
                  <a:pt x="35470" y="29683"/>
                  <a:pt x="36330" y="29435"/>
                  <a:pt x="36917" y="29005"/>
                </a:cubicBezTo>
                <a:cubicBezTo>
                  <a:pt x="37881" y="28288"/>
                  <a:pt x="38677" y="27519"/>
                  <a:pt x="39120" y="26684"/>
                </a:cubicBezTo>
                <a:cubicBezTo>
                  <a:pt x="39732" y="25485"/>
                  <a:pt x="39954" y="24260"/>
                  <a:pt x="39954" y="23021"/>
                </a:cubicBezTo>
                <a:cubicBezTo>
                  <a:pt x="39954" y="19372"/>
                  <a:pt x="40006" y="15709"/>
                  <a:pt x="39563" y="12059"/>
                </a:cubicBezTo>
                <a:cubicBezTo>
                  <a:pt x="39367" y="10403"/>
                  <a:pt x="39485" y="8748"/>
                  <a:pt x="39237" y="7105"/>
                </a:cubicBezTo>
                <a:cubicBezTo>
                  <a:pt x="39068" y="6023"/>
                  <a:pt x="38794" y="4941"/>
                  <a:pt x="37920" y="3938"/>
                </a:cubicBezTo>
                <a:cubicBezTo>
                  <a:pt x="37282" y="3208"/>
                  <a:pt x="36773" y="2438"/>
                  <a:pt x="35665" y="1826"/>
                </a:cubicBezTo>
                <a:cubicBezTo>
                  <a:pt x="34192" y="1031"/>
                  <a:pt x="32237" y="666"/>
                  <a:pt x="30138" y="496"/>
                </a:cubicBezTo>
                <a:cubicBezTo>
                  <a:pt x="26451" y="194"/>
                  <a:pt x="22741" y="1"/>
                  <a:pt x="19007" y="1"/>
                </a:cubicBezTo>
                <a:close/>
              </a:path>
            </a:pathLst>
          </a:custGeom>
          <a:solidFill>
            <a:srgbClr val="112A40"/>
          </a:solidFill>
          <a:ln>
            <a:noFill/>
          </a:ln>
          <a:effectLst>
            <a:outerShdw blurRad="57150" dist="9525" algn="bl" rotWithShape="0">
              <a:srgbClr val="000000"/>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lang="fr-CI" noProof="0"/>
          </a:p>
        </p:txBody>
      </p:sp>
      <p:sp>
        <p:nvSpPr>
          <p:cNvPr id="43" name="Google Shape;7367;p39"/>
          <p:cNvSpPr/>
          <p:nvPr/>
        </p:nvSpPr>
        <p:spPr>
          <a:xfrm rot="16200000">
            <a:off x="7474179" y="3202486"/>
            <a:ext cx="1727953" cy="3719393"/>
          </a:xfrm>
          <a:custGeom>
            <a:avLst/>
            <a:gdLst/>
            <a:ahLst/>
            <a:cxnLst/>
            <a:rect l="l" t="t" r="r" b="b"/>
            <a:pathLst>
              <a:path w="25081" h="54128" extrusionOk="0">
                <a:moveTo>
                  <a:pt x="19843" y="0"/>
                </a:moveTo>
                <a:cubicBezTo>
                  <a:pt x="19654" y="0"/>
                  <a:pt x="19462" y="7"/>
                  <a:pt x="19267" y="21"/>
                </a:cubicBezTo>
                <a:cubicBezTo>
                  <a:pt x="17781" y="125"/>
                  <a:pt x="16282" y="99"/>
                  <a:pt x="14796" y="112"/>
                </a:cubicBezTo>
                <a:cubicBezTo>
                  <a:pt x="13909" y="125"/>
                  <a:pt x="13010" y="112"/>
                  <a:pt x="12123" y="177"/>
                </a:cubicBezTo>
                <a:cubicBezTo>
                  <a:pt x="10272" y="333"/>
                  <a:pt x="8421" y="503"/>
                  <a:pt x="6570" y="633"/>
                </a:cubicBezTo>
                <a:cubicBezTo>
                  <a:pt x="5267" y="738"/>
                  <a:pt x="3989" y="933"/>
                  <a:pt x="2764" y="1259"/>
                </a:cubicBezTo>
                <a:cubicBezTo>
                  <a:pt x="1943" y="1481"/>
                  <a:pt x="1408" y="1872"/>
                  <a:pt x="1226" y="2471"/>
                </a:cubicBezTo>
                <a:cubicBezTo>
                  <a:pt x="991" y="3292"/>
                  <a:pt x="861" y="4140"/>
                  <a:pt x="965" y="4974"/>
                </a:cubicBezTo>
                <a:cubicBezTo>
                  <a:pt x="991" y="5248"/>
                  <a:pt x="1030" y="5508"/>
                  <a:pt x="991" y="5782"/>
                </a:cubicBezTo>
                <a:cubicBezTo>
                  <a:pt x="835" y="6877"/>
                  <a:pt x="678" y="7972"/>
                  <a:pt x="587" y="9067"/>
                </a:cubicBezTo>
                <a:cubicBezTo>
                  <a:pt x="470" y="10488"/>
                  <a:pt x="378" y="11896"/>
                  <a:pt x="300" y="13317"/>
                </a:cubicBezTo>
                <a:cubicBezTo>
                  <a:pt x="274" y="13825"/>
                  <a:pt x="352" y="14333"/>
                  <a:pt x="339" y="14829"/>
                </a:cubicBezTo>
                <a:cubicBezTo>
                  <a:pt x="313" y="15820"/>
                  <a:pt x="157" y="16797"/>
                  <a:pt x="118" y="17775"/>
                </a:cubicBezTo>
                <a:cubicBezTo>
                  <a:pt x="53" y="19391"/>
                  <a:pt x="0" y="21008"/>
                  <a:pt x="40" y="22624"/>
                </a:cubicBezTo>
                <a:cubicBezTo>
                  <a:pt x="66" y="24149"/>
                  <a:pt x="157" y="25661"/>
                  <a:pt x="144" y="27173"/>
                </a:cubicBezTo>
                <a:cubicBezTo>
                  <a:pt x="131" y="28646"/>
                  <a:pt x="105" y="30132"/>
                  <a:pt x="131" y="31605"/>
                </a:cubicBezTo>
                <a:cubicBezTo>
                  <a:pt x="209" y="35412"/>
                  <a:pt x="405" y="39218"/>
                  <a:pt x="274" y="43051"/>
                </a:cubicBezTo>
                <a:cubicBezTo>
                  <a:pt x="235" y="44237"/>
                  <a:pt x="287" y="45436"/>
                  <a:pt x="300" y="46622"/>
                </a:cubicBezTo>
                <a:cubicBezTo>
                  <a:pt x="300" y="46687"/>
                  <a:pt x="300" y="46753"/>
                  <a:pt x="287" y="46818"/>
                </a:cubicBezTo>
                <a:cubicBezTo>
                  <a:pt x="222" y="48004"/>
                  <a:pt x="313" y="49190"/>
                  <a:pt x="535" y="50363"/>
                </a:cubicBezTo>
                <a:cubicBezTo>
                  <a:pt x="665" y="51054"/>
                  <a:pt x="1004" y="51706"/>
                  <a:pt x="1239" y="52384"/>
                </a:cubicBezTo>
                <a:cubicBezTo>
                  <a:pt x="1486" y="53075"/>
                  <a:pt x="2164" y="53492"/>
                  <a:pt x="3129" y="53700"/>
                </a:cubicBezTo>
                <a:cubicBezTo>
                  <a:pt x="3812" y="53854"/>
                  <a:pt x="4517" y="53911"/>
                  <a:pt x="5223" y="53911"/>
                </a:cubicBezTo>
                <a:cubicBezTo>
                  <a:pt x="5299" y="53911"/>
                  <a:pt x="5374" y="53910"/>
                  <a:pt x="5449" y="53909"/>
                </a:cubicBezTo>
                <a:cubicBezTo>
                  <a:pt x="5591" y="53907"/>
                  <a:pt x="5733" y="53906"/>
                  <a:pt x="5875" y="53906"/>
                </a:cubicBezTo>
                <a:cubicBezTo>
                  <a:pt x="7594" y="53906"/>
                  <a:pt x="9293" y="54042"/>
                  <a:pt x="11015" y="54078"/>
                </a:cubicBezTo>
                <a:cubicBezTo>
                  <a:pt x="11655" y="54087"/>
                  <a:pt x="12288" y="54128"/>
                  <a:pt x="12924" y="54128"/>
                </a:cubicBezTo>
                <a:cubicBezTo>
                  <a:pt x="13273" y="54128"/>
                  <a:pt x="13623" y="54115"/>
                  <a:pt x="13974" y="54078"/>
                </a:cubicBezTo>
                <a:cubicBezTo>
                  <a:pt x="15239" y="53948"/>
                  <a:pt x="16516" y="53870"/>
                  <a:pt x="17781" y="53779"/>
                </a:cubicBezTo>
                <a:cubicBezTo>
                  <a:pt x="18850" y="53700"/>
                  <a:pt x="19919" y="53583"/>
                  <a:pt x="20961" y="53375"/>
                </a:cubicBezTo>
                <a:cubicBezTo>
                  <a:pt x="22043" y="53153"/>
                  <a:pt x="22956" y="52749"/>
                  <a:pt x="23503" y="52019"/>
                </a:cubicBezTo>
                <a:cubicBezTo>
                  <a:pt x="23855" y="51537"/>
                  <a:pt x="24142" y="51028"/>
                  <a:pt x="24233" y="50494"/>
                </a:cubicBezTo>
                <a:cubicBezTo>
                  <a:pt x="24416" y="49464"/>
                  <a:pt x="24429" y="48434"/>
                  <a:pt x="24546" y="47404"/>
                </a:cubicBezTo>
                <a:cubicBezTo>
                  <a:pt x="24690" y="45957"/>
                  <a:pt x="24768" y="44510"/>
                  <a:pt x="24833" y="43064"/>
                </a:cubicBezTo>
                <a:cubicBezTo>
                  <a:pt x="24924" y="41395"/>
                  <a:pt x="24898" y="39726"/>
                  <a:pt x="24898" y="38058"/>
                </a:cubicBezTo>
                <a:cubicBezTo>
                  <a:pt x="24885" y="36402"/>
                  <a:pt x="24794" y="34760"/>
                  <a:pt x="24794" y="33104"/>
                </a:cubicBezTo>
                <a:cubicBezTo>
                  <a:pt x="24794" y="31332"/>
                  <a:pt x="24755" y="29546"/>
                  <a:pt x="24768" y="27760"/>
                </a:cubicBezTo>
                <a:cubicBezTo>
                  <a:pt x="24794" y="26196"/>
                  <a:pt x="24807" y="24631"/>
                  <a:pt x="24846" y="23067"/>
                </a:cubicBezTo>
                <a:cubicBezTo>
                  <a:pt x="24885" y="21503"/>
                  <a:pt x="24911" y="19952"/>
                  <a:pt x="24911" y="18387"/>
                </a:cubicBezTo>
                <a:cubicBezTo>
                  <a:pt x="24911" y="16967"/>
                  <a:pt x="24937" y="15533"/>
                  <a:pt x="24989" y="14112"/>
                </a:cubicBezTo>
                <a:cubicBezTo>
                  <a:pt x="25028" y="12795"/>
                  <a:pt x="25081" y="11479"/>
                  <a:pt x="25068" y="10162"/>
                </a:cubicBezTo>
                <a:cubicBezTo>
                  <a:pt x="25068" y="8924"/>
                  <a:pt x="25002" y="7685"/>
                  <a:pt x="24963" y="6447"/>
                </a:cubicBezTo>
                <a:lnTo>
                  <a:pt x="24950" y="6447"/>
                </a:lnTo>
                <a:cubicBezTo>
                  <a:pt x="25055" y="5561"/>
                  <a:pt x="24963" y="4674"/>
                  <a:pt x="24872" y="3801"/>
                </a:cubicBezTo>
                <a:cubicBezTo>
                  <a:pt x="24807" y="3175"/>
                  <a:pt x="24664" y="2562"/>
                  <a:pt x="24403" y="1963"/>
                </a:cubicBezTo>
                <a:cubicBezTo>
                  <a:pt x="24194" y="1481"/>
                  <a:pt x="23803" y="1103"/>
                  <a:pt x="23204" y="803"/>
                </a:cubicBezTo>
                <a:cubicBezTo>
                  <a:pt x="22185" y="293"/>
                  <a:pt x="21087" y="0"/>
                  <a:pt x="19843" y="0"/>
                </a:cubicBezTo>
                <a:close/>
              </a:path>
            </a:pathLst>
          </a:custGeom>
          <a:noFill/>
          <a:ln w="19050">
            <a:solidFill>
              <a:schemeClr val="tx1"/>
            </a:solidFill>
          </a:ln>
          <a:effectLst>
            <a:outerShdw blurRad="57150" dist="9525" algn="bl" rotWithShape="0">
              <a:srgbClr val="000000"/>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lang="fr-CI" noProof="0"/>
          </a:p>
        </p:txBody>
      </p:sp>
      <p:sp>
        <p:nvSpPr>
          <p:cNvPr id="45" name="Rectangle 44"/>
          <p:cNvSpPr/>
          <p:nvPr/>
        </p:nvSpPr>
        <p:spPr>
          <a:xfrm>
            <a:off x="7676960" y="3875619"/>
            <a:ext cx="1322389" cy="295488"/>
          </a:xfrm>
          <a:prstGeom prst="rect">
            <a:avLst/>
          </a:prstGeom>
        </p:spPr>
        <p:txBody>
          <a:bodyPr wrap="none">
            <a:spAutoFit/>
          </a:bodyPr>
          <a:lstStyle/>
          <a:p>
            <a:pPr lvl="0">
              <a:lnSpc>
                <a:spcPct val="110000"/>
              </a:lnSpc>
            </a:pPr>
            <a:r>
              <a:rPr lang="fr-CI" sz="1400" b="1" noProof="0">
                <a:solidFill>
                  <a:schemeClr val="bg1"/>
                </a:solidFill>
                <a:latin typeface="Helvetica" panose="020B0604020202020204" pitchFamily="34" charset="0"/>
                <a:ea typeface="Open Sans Semibold" panose="020B0706030804020204" pitchFamily="34" charset="0"/>
                <a:cs typeface="Helvetica" panose="020B0604020202020204" pitchFamily="34" charset="0"/>
              </a:rPr>
              <a:t>Sortie</a:t>
            </a:r>
          </a:p>
        </p:txBody>
      </p:sp>
      <p:pic>
        <p:nvPicPr>
          <p:cNvPr id="47" name="Image 46"/>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147871" y="3850143"/>
            <a:ext cx="334029" cy="337914"/>
          </a:xfrm>
          <a:prstGeom prst="rect">
            <a:avLst/>
          </a:prstGeom>
        </p:spPr>
      </p:pic>
      <p:pic>
        <p:nvPicPr>
          <p:cNvPr id="50" name="Image 49">
            <a:extLst>
              <a:ext uri="{FF2B5EF4-FFF2-40B4-BE49-F238E27FC236}">
                <a16:creationId xmlns:a16="http://schemas.microsoft.com/office/drawing/2014/main" id="{593DA389-08F4-31D9-6AB9-E96812D83B72}"/>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6768142" y="1475503"/>
            <a:ext cx="294700" cy="294700"/>
          </a:xfrm>
          <a:prstGeom prst="rect">
            <a:avLst/>
          </a:prstGeom>
        </p:spPr>
      </p:pic>
      <p:pic>
        <p:nvPicPr>
          <p:cNvPr id="25" name="Image 24"/>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2156977" y="1457088"/>
            <a:ext cx="281624" cy="284788"/>
          </a:xfrm>
          <a:prstGeom prst="rect">
            <a:avLst/>
          </a:prstGeom>
        </p:spPr>
      </p:pic>
      <p:pic>
        <p:nvPicPr>
          <p:cNvPr id="28" name="Image 27"/>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6791905" y="3883760"/>
            <a:ext cx="270937" cy="276827"/>
          </a:xfrm>
          <a:prstGeom prst="rect">
            <a:avLst/>
          </a:prstGeom>
        </p:spPr>
      </p:pic>
      <p:sp>
        <p:nvSpPr>
          <p:cNvPr id="31" name="Rectangle 30"/>
          <p:cNvSpPr/>
          <p:nvPr/>
        </p:nvSpPr>
        <p:spPr>
          <a:xfrm>
            <a:off x="1999671" y="1962253"/>
            <a:ext cx="3122592" cy="1428712"/>
          </a:xfrm>
          <a:prstGeom prst="rect">
            <a:avLst/>
          </a:prstGeom>
        </p:spPr>
        <p:txBody>
          <a:bodyPr wrap="square">
            <a:spAutoFit/>
          </a:bodyPr>
          <a:lstStyle/>
          <a:p>
            <a:pPr lvl="0" marL="0" indent="0">
              <a:buNone/>
              <a:spcBef>
                <a:spcPts val="300"/>
              </a:spcBef>
              <a:defRPr/>
            </a:pPr>
            <a:r>
              <a:rPr kumimoji="1" lang="fr-CI" sz="1250" b="0" noProof="0">
                <a:latin typeface="Helvetica" panose="020B0604020202020204" pitchFamily="34" charset="0"/>
                <a:cs typeface="Helvetica" panose="020B0604020202020204" pitchFamily="34" charset="0"/>
              </a:rPr>
              <a:t>Fichiers CSV des précomptes, des balances et du Grenier.</a:t>
            </a:r>
          </a:p>
        </p:txBody>
      </p:sp>
      <p:sp>
        <p:nvSpPr>
          <p:cNvPr id="32" name="Rectangle 31"/>
          <p:cNvSpPr/>
          <p:nvPr/>
        </p:nvSpPr>
        <p:spPr>
          <a:xfrm>
            <a:off x="6623912" y="1926662"/>
            <a:ext cx="3122592" cy="1428712"/>
          </a:xfrm>
          <a:prstGeom prst="rect">
            <a:avLst/>
          </a:prstGeom>
        </p:spPr>
        <p:txBody>
          <a:bodyPr wrap="square">
            <a:spAutoFit/>
          </a:bodyPr>
          <a:lstStyle/>
          <a:p>
            <a:pPr lvl="0" marL="0" indent="0">
              <a:buNone/>
              <a:spcBef>
                <a:spcPts val="300"/>
              </a:spcBef>
              <a:defRPr/>
            </a:pPr>
            <a:r>
              <a:rPr kumimoji="1" lang="fr-CI" sz="1250" b="0" noProof="0">
                <a:latin typeface="Helvetica" panose="020B0604020202020204" pitchFamily="34" charset="0"/>
                <a:cs typeface="Helvetica" panose="020B0604020202020204" pitchFamily="34" charset="0"/>
              </a:rPr>
              <a:t>Le script reconnaît les colonnes par leur en-tête ou par leur contenu, puis réunit 4,45 millions de lignes.</a:t>
            </a:r>
          </a:p>
        </p:txBody>
      </p:sp>
      <p:sp>
        <p:nvSpPr>
          <p:cNvPr id="33" name="Rectangle 32"/>
          <p:cNvSpPr/>
          <p:nvPr/>
        </p:nvSpPr>
        <p:spPr>
          <a:xfrm>
            <a:off x="2093705" y="4388689"/>
            <a:ext cx="3122592" cy="1428712"/>
          </a:xfrm>
          <a:prstGeom prst="rect">
            <a:avLst/>
          </a:prstGeom>
        </p:spPr>
        <p:txBody>
          <a:bodyPr wrap="square">
            <a:spAutoFit/>
          </a:bodyPr>
          <a:lstStyle/>
          <a:p>
            <a:pPr lvl="0" marL="0" indent="0">
              <a:buNone/>
              <a:spcBef>
                <a:spcPts val="300"/>
              </a:spcBef>
              <a:defRPr/>
            </a:pPr>
            <a:r>
              <a:rPr kumimoji="1" lang="fr-CI" sz="1250" b="0" noProof="0">
                <a:latin typeface="Helvetica" panose="020B0604020202020204" pitchFamily="34" charset="0"/>
                <a:cs typeface="Helvetica" panose="020B0604020202020204" pitchFamily="34" charset="0"/>
              </a:rPr>
              <a:t>Les lignes de total et les montants doublés sont écartés et enregistrés à part.</a:t>
            </a:r>
          </a:p>
        </p:txBody>
      </p:sp>
      <p:sp>
        <p:nvSpPr>
          <p:cNvPr id="34" name="Rectangle 33"/>
          <p:cNvSpPr/>
          <p:nvPr/>
        </p:nvSpPr>
        <p:spPr>
          <a:xfrm>
            <a:off x="6768142" y="4336111"/>
            <a:ext cx="3122592" cy="1428712"/>
          </a:xfrm>
          <a:prstGeom prst="rect">
            <a:avLst/>
          </a:prstGeom>
        </p:spPr>
        <p:txBody>
          <a:bodyPr wrap="square">
            <a:spAutoFit/>
          </a:bodyPr>
          <a:lstStyle/>
          <a:p>
            <a:pPr lvl="0" marL="0" indent="0">
              <a:buNone/>
              <a:spcBef>
                <a:spcPts val="300"/>
              </a:spcBef>
              <a:defRPr/>
            </a:pPr>
            <a:r>
              <a:rPr kumimoji="1" lang="fr-CI" sz="1250" b="0" noProof="0">
                <a:latin typeface="Helvetica" panose="020B0604020202020204" pitchFamily="34" charset="0"/>
                <a:cs typeface="Helvetica" panose="020B0604020202020204" pitchFamily="34" charset="0"/>
              </a:rPr>
              <a:t>Base d'analyse au format Parquet et journal des rejets.</a:t>
            </a:r>
          </a:p>
        </p:txBody>
      </p:sp>
      <p:sp>
        <p:nvSpPr>
          <p:cNvPr id="51"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Chaîne de traitement : base</a:t>
            </a:r>
          </a:p>
        </p:txBody>
      </p:sp>
      <p:sp>
        <p:nvSpPr>
          <p:cNvPr id="52"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L'étape « Base » transforme une entrée en sortie, avec un contrôle automatique</a:t>
            </a:r>
          </a:p>
        </p:txBody>
      </p:sp>
      <p:sp>
        <p:nvSpPr>
          <p:cNvPr id="53"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Entrée, traitement, contrôle et sortie de l'étape. Schéma modifiable, complété au fil des entretiens</a:t>
            </a:r>
          </a:p>
        </p:txBody>
      </p:sp>
      <p:sp>
        <p:nvSpPr>
          <p:cNvPr id="54"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scripts Python Adenka (dossier scripts de la mission)</a:t>
            </a:r>
          </a:p>
        </p:txBody>
      </p:sp>
      <p:sp>
        <p:nvSpPr>
          <p:cNvPr id="55" name="TextBox 54"/>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CSV : fichier texte de tableau</a:t>
            </a:r>
          </a:p>
        </p:txBody>
      </p:sp>
    </p:spTree>
    <p:extLst>
      <p:ext uri="{BB962C8B-B14F-4D97-AF65-F5344CB8AC3E}">
        <p14:creationId xmlns:p14="http://schemas.microsoft.com/office/powerpoint/2010/main" val="451356926"/>
      </p:ext>
    </p:extLst>
  </p:cSld>
  <p:clrMapOvr>
    <a:masterClrMapping/>
  </p:clrMapOvr>
  <p:transition>
    <p:fade/>
  </p:transition>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6" name="Image 25"/>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30" name="ZoneTexte 29">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9" name="Google Shape;7386;p39"/>
          <p:cNvSpPr/>
          <p:nvPr/>
        </p:nvSpPr>
        <p:spPr>
          <a:xfrm rot="10800000">
            <a:off x="1748072" y="1436295"/>
            <a:ext cx="3625790" cy="329031"/>
          </a:xfrm>
          <a:custGeom>
            <a:avLst/>
            <a:gdLst/>
            <a:ahLst/>
            <a:cxnLst/>
            <a:rect l="l" t="t" r="r" b="b"/>
            <a:pathLst>
              <a:path w="40007" h="30221" extrusionOk="0">
                <a:moveTo>
                  <a:pt x="19007" y="1"/>
                </a:moveTo>
                <a:cubicBezTo>
                  <a:pt x="17909" y="1"/>
                  <a:pt x="16810" y="17"/>
                  <a:pt x="15708" y="53"/>
                </a:cubicBezTo>
                <a:cubicBezTo>
                  <a:pt x="13270" y="131"/>
                  <a:pt x="10885" y="275"/>
                  <a:pt x="8512" y="548"/>
                </a:cubicBezTo>
                <a:cubicBezTo>
                  <a:pt x="6088" y="835"/>
                  <a:pt x="4524" y="1500"/>
                  <a:pt x="4041" y="2712"/>
                </a:cubicBezTo>
                <a:cubicBezTo>
                  <a:pt x="4015" y="2777"/>
                  <a:pt x="3976" y="2843"/>
                  <a:pt x="3937" y="2908"/>
                </a:cubicBezTo>
                <a:cubicBezTo>
                  <a:pt x="2777" y="4902"/>
                  <a:pt x="2282" y="6949"/>
                  <a:pt x="1734" y="8995"/>
                </a:cubicBezTo>
                <a:cubicBezTo>
                  <a:pt x="1160" y="11120"/>
                  <a:pt x="613" y="13232"/>
                  <a:pt x="391" y="15357"/>
                </a:cubicBezTo>
                <a:cubicBezTo>
                  <a:pt x="183" y="17325"/>
                  <a:pt x="0" y="19293"/>
                  <a:pt x="79" y="21092"/>
                </a:cubicBezTo>
                <a:cubicBezTo>
                  <a:pt x="52" y="23074"/>
                  <a:pt x="144" y="24899"/>
                  <a:pt x="365" y="26710"/>
                </a:cubicBezTo>
                <a:cubicBezTo>
                  <a:pt x="522" y="28079"/>
                  <a:pt x="1721" y="29096"/>
                  <a:pt x="4419" y="29656"/>
                </a:cubicBezTo>
                <a:cubicBezTo>
                  <a:pt x="6296" y="30048"/>
                  <a:pt x="8265" y="30178"/>
                  <a:pt x="10259" y="30204"/>
                </a:cubicBezTo>
                <a:cubicBezTo>
                  <a:pt x="11143" y="30216"/>
                  <a:pt x="12026" y="30220"/>
                  <a:pt x="12908" y="30220"/>
                </a:cubicBezTo>
                <a:cubicBezTo>
                  <a:pt x="15996" y="30220"/>
                  <a:pt x="19078" y="30165"/>
                  <a:pt x="22161" y="30165"/>
                </a:cubicBezTo>
                <a:cubicBezTo>
                  <a:pt x="24859" y="30165"/>
                  <a:pt x="27557" y="30204"/>
                  <a:pt x="30243" y="30204"/>
                </a:cubicBezTo>
                <a:cubicBezTo>
                  <a:pt x="31690" y="30191"/>
                  <a:pt x="33123" y="30113"/>
                  <a:pt x="34505" y="29852"/>
                </a:cubicBezTo>
                <a:cubicBezTo>
                  <a:pt x="35470" y="29683"/>
                  <a:pt x="36330" y="29435"/>
                  <a:pt x="36917" y="29005"/>
                </a:cubicBezTo>
                <a:cubicBezTo>
                  <a:pt x="37881" y="28288"/>
                  <a:pt x="38677" y="27519"/>
                  <a:pt x="39120" y="26684"/>
                </a:cubicBezTo>
                <a:cubicBezTo>
                  <a:pt x="39732" y="25485"/>
                  <a:pt x="39954" y="24260"/>
                  <a:pt x="39954" y="23021"/>
                </a:cubicBezTo>
                <a:cubicBezTo>
                  <a:pt x="39954" y="19372"/>
                  <a:pt x="40006" y="15709"/>
                  <a:pt x="39563" y="12059"/>
                </a:cubicBezTo>
                <a:cubicBezTo>
                  <a:pt x="39367" y="10403"/>
                  <a:pt x="39485" y="8748"/>
                  <a:pt x="39237" y="7105"/>
                </a:cubicBezTo>
                <a:cubicBezTo>
                  <a:pt x="39068" y="6023"/>
                  <a:pt x="38794" y="4941"/>
                  <a:pt x="37920" y="3938"/>
                </a:cubicBezTo>
                <a:cubicBezTo>
                  <a:pt x="37282" y="3208"/>
                  <a:pt x="36773" y="2438"/>
                  <a:pt x="35665" y="1826"/>
                </a:cubicBezTo>
                <a:cubicBezTo>
                  <a:pt x="34192" y="1031"/>
                  <a:pt x="32237" y="666"/>
                  <a:pt x="30138" y="496"/>
                </a:cubicBezTo>
                <a:cubicBezTo>
                  <a:pt x="26451" y="194"/>
                  <a:pt x="22741" y="1"/>
                  <a:pt x="19007" y="1"/>
                </a:cubicBezTo>
                <a:close/>
              </a:path>
            </a:pathLst>
          </a:custGeom>
          <a:solidFill>
            <a:srgbClr val="112A40"/>
          </a:solidFill>
          <a:ln>
            <a:noFill/>
          </a:ln>
          <a:effectLst>
            <a:outerShdw blurRad="57150" dist="9525" algn="bl" rotWithShape="0">
              <a:srgbClr val="000000"/>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lang="fr-CI" noProof="0"/>
          </a:p>
        </p:txBody>
      </p:sp>
      <p:sp>
        <p:nvSpPr>
          <p:cNvPr id="10" name="Google Shape;7367;p39"/>
          <p:cNvSpPr/>
          <p:nvPr/>
        </p:nvSpPr>
        <p:spPr>
          <a:xfrm rot="16200000">
            <a:off x="2201124" y="215006"/>
            <a:ext cx="2027916" cy="4306666"/>
          </a:xfrm>
          <a:custGeom>
            <a:avLst/>
            <a:gdLst/>
            <a:ahLst/>
            <a:cxnLst/>
            <a:rect l="l" t="t" r="r" b="b"/>
            <a:pathLst>
              <a:path w="25081" h="54128" extrusionOk="0">
                <a:moveTo>
                  <a:pt x="19843" y="0"/>
                </a:moveTo>
                <a:cubicBezTo>
                  <a:pt x="19654" y="0"/>
                  <a:pt x="19462" y="7"/>
                  <a:pt x="19267" y="21"/>
                </a:cubicBezTo>
                <a:cubicBezTo>
                  <a:pt x="17781" y="125"/>
                  <a:pt x="16282" y="99"/>
                  <a:pt x="14796" y="112"/>
                </a:cubicBezTo>
                <a:cubicBezTo>
                  <a:pt x="13909" y="125"/>
                  <a:pt x="13010" y="112"/>
                  <a:pt x="12123" y="177"/>
                </a:cubicBezTo>
                <a:cubicBezTo>
                  <a:pt x="10272" y="333"/>
                  <a:pt x="8421" y="503"/>
                  <a:pt x="6570" y="633"/>
                </a:cubicBezTo>
                <a:cubicBezTo>
                  <a:pt x="5267" y="738"/>
                  <a:pt x="3989" y="933"/>
                  <a:pt x="2764" y="1259"/>
                </a:cubicBezTo>
                <a:cubicBezTo>
                  <a:pt x="1943" y="1481"/>
                  <a:pt x="1408" y="1872"/>
                  <a:pt x="1226" y="2471"/>
                </a:cubicBezTo>
                <a:cubicBezTo>
                  <a:pt x="991" y="3292"/>
                  <a:pt x="861" y="4140"/>
                  <a:pt x="965" y="4974"/>
                </a:cubicBezTo>
                <a:cubicBezTo>
                  <a:pt x="991" y="5248"/>
                  <a:pt x="1030" y="5508"/>
                  <a:pt x="991" y="5782"/>
                </a:cubicBezTo>
                <a:cubicBezTo>
                  <a:pt x="835" y="6877"/>
                  <a:pt x="678" y="7972"/>
                  <a:pt x="587" y="9067"/>
                </a:cubicBezTo>
                <a:cubicBezTo>
                  <a:pt x="470" y="10488"/>
                  <a:pt x="378" y="11896"/>
                  <a:pt x="300" y="13317"/>
                </a:cubicBezTo>
                <a:cubicBezTo>
                  <a:pt x="274" y="13825"/>
                  <a:pt x="352" y="14333"/>
                  <a:pt x="339" y="14829"/>
                </a:cubicBezTo>
                <a:cubicBezTo>
                  <a:pt x="313" y="15820"/>
                  <a:pt x="157" y="16797"/>
                  <a:pt x="118" y="17775"/>
                </a:cubicBezTo>
                <a:cubicBezTo>
                  <a:pt x="53" y="19391"/>
                  <a:pt x="0" y="21008"/>
                  <a:pt x="40" y="22624"/>
                </a:cubicBezTo>
                <a:cubicBezTo>
                  <a:pt x="66" y="24149"/>
                  <a:pt x="157" y="25661"/>
                  <a:pt x="144" y="27173"/>
                </a:cubicBezTo>
                <a:cubicBezTo>
                  <a:pt x="131" y="28646"/>
                  <a:pt x="105" y="30132"/>
                  <a:pt x="131" y="31605"/>
                </a:cubicBezTo>
                <a:cubicBezTo>
                  <a:pt x="209" y="35412"/>
                  <a:pt x="405" y="39218"/>
                  <a:pt x="274" y="43051"/>
                </a:cubicBezTo>
                <a:cubicBezTo>
                  <a:pt x="235" y="44237"/>
                  <a:pt x="287" y="45436"/>
                  <a:pt x="300" y="46622"/>
                </a:cubicBezTo>
                <a:cubicBezTo>
                  <a:pt x="300" y="46687"/>
                  <a:pt x="300" y="46753"/>
                  <a:pt x="287" y="46818"/>
                </a:cubicBezTo>
                <a:cubicBezTo>
                  <a:pt x="222" y="48004"/>
                  <a:pt x="313" y="49190"/>
                  <a:pt x="535" y="50363"/>
                </a:cubicBezTo>
                <a:cubicBezTo>
                  <a:pt x="665" y="51054"/>
                  <a:pt x="1004" y="51706"/>
                  <a:pt x="1239" y="52384"/>
                </a:cubicBezTo>
                <a:cubicBezTo>
                  <a:pt x="1486" y="53075"/>
                  <a:pt x="2164" y="53492"/>
                  <a:pt x="3129" y="53700"/>
                </a:cubicBezTo>
                <a:cubicBezTo>
                  <a:pt x="3812" y="53854"/>
                  <a:pt x="4517" y="53911"/>
                  <a:pt x="5223" y="53911"/>
                </a:cubicBezTo>
                <a:cubicBezTo>
                  <a:pt x="5299" y="53911"/>
                  <a:pt x="5374" y="53910"/>
                  <a:pt x="5449" y="53909"/>
                </a:cubicBezTo>
                <a:cubicBezTo>
                  <a:pt x="5591" y="53907"/>
                  <a:pt x="5733" y="53906"/>
                  <a:pt x="5875" y="53906"/>
                </a:cubicBezTo>
                <a:cubicBezTo>
                  <a:pt x="7594" y="53906"/>
                  <a:pt x="9293" y="54042"/>
                  <a:pt x="11015" y="54078"/>
                </a:cubicBezTo>
                <a:cubicBezTo>
                  <a:pt x="11655" y="54087"/>
                  <a:pt x="12288" y="54128"/>
                  <a:pt x="12924" y="54128"/>
                </a:cubicBezTo>
                <a:cubicBezTo>
                  <a:pt x="13273" y="54128"/>
                  <a:pt x="13623" y="54115"/>
                  <a:pt x="13974" y="54078"/>
                </a:cubicBezTo>
                <a:cubicBezTo>
                  <a:pt x="15239" y="53948"/>
                  <a:pt x="16516" y="53870"/>
                  <a:pt x="17781" y="53779"/>
                </a:cubicBezTo>
                <a:cubicBezTo>
                  <a:pt x="18850" y="53700"/>
                  <a:pt x="19919" y="53583"/>
                  <a:pt x="20961" y="53375"/>
                </a:cubicBezTo>
                <a:cubicBezTo>
                  <a:pt x="22043" y="53153"/>
                  <a:pt x="22956" y="52749"/>
                  <a:pt x="23503" y="52019"/>
                </a:cubicBezTo>
                <a:cubicBezTo>
                  <a:pt x="23855" y="51537"/>
                  <a:pt x="24142" y="51028"/>
                  <a:pt x="24233" y="50494"/>
                </a:cubicBezTo>
                <a:cubicBezTo>
                  <a:pt x="24416" y="49464"/>
                  <a:pt x="24429" y="48434"/>
                  <a:pt x="24546" y="47404"/>
                </a:cubicBezTo>
                <a:cubicBezTo>
                  <a:pt x="24690" y="45957"/>
                  <a:pt x="24768" y="44510"/>
                  <a:pt x="24833" y="43064"/>
                </a:cubicBezTo>
                <a:cubicBezTo>
                  <a:pt x="24924" y="41395"/>
                  <a:pt x="24898" y="39726"/>
                  <a:pt x="24898" y="38058"/>
                </a:cubicBezTo>
                <a:cubicBezTo>
                  <a:pt x="24885" y="36402"/>
                  <a:pt x="24794" y="34760"/>
                  <a:pt x="24794" y="33104"/>
                </a:cubicBezTo>
                <a:cubicBezTo>
                  <a:pt x="24794" y="31332"/>
                  <a:pt x="24755" y="29546"/>
                  <a:pt x="24768" y="27760"/>
                </a:cubicBezTo>
                <a:cubicBezTo>
                  <a:pt x="24794" y="26196"/>
                  <a:pt x="24807" y="24631"/>
                  <a:pt x="24846" y="23067"/>
                </a:cubicBezTo>
                <a:cubicBezTo>
                  <a:pt x="24885" y="21503"/>
                  <a:pt x="24911" y="19952"/>
                  <a:pt x="24911" y="18387"/>
                </a:cubicBezTo>
                <a:cubicBezTo>
                  <a:pt x="24911" y="16967"/>
                  <a:pt x="24937" y="15533"/>
                  <a:pt x="24989" y="14112"/>
                </a:cubicBezTo>
                <a:cubicBezTo>
                  <a:pt x="25028" y="12795"/>
                  <a:pt x="25081" y="11479"/>
                  <a:pt x="25068" y="10162"/>
                </a:cubicBezTo>
                <a:cubicBezTo>
                  <a:pt x="25068" y="8924"/>
                  <a:pt x="25002" y="7685"/>
                  <a:pt x="24963" y="6447"/>
                </a:cubicBezTo>
                <a:lnTo>
                  <a:pt x="24950" y="6447"/>
                </a:lnTo>
                <a:cubicBezTo>
                  <a:pt x="25055" y="5561"/>
                  <a:pt x="24963" y="4674"/>
                  <a:pt x="24872" y="3801"/>
                </a:cubicBezTo>
                <a:cubicBezTo>
                  <a:pt x="24807" y="3175"/>
                  <a:pt x="24664" y="2562"/>
                  <a:pt x="24403" y="1963"/>
                </a:cubicBezTo>
                <a:cubicBezTo>
                  <a:pt x="24194" y="1481"/>
                  <a:pt x="23803" y="1103"/>
                  <a:pt x="23204" y="803"/>
                </a:cubicBezTo>
                <a:cubicBezTo>
                  <a:pt x="22185" y="293"/>
                  <a:pt x="21087" y="0"/>
                  <a:pt x="19843" y="0"/>
                </a:cubicBezTo>
                <a:close/>
              </a:path>
            </a:pathLst>
          </a:custGeom>
          <a:noFill/>
          <a:ln w="19050">
            <a:solidFill>
              <a:schemeClr val="tx1"/>
            </a:solidFill>
          </a:ln>
          <a:effectLst>
            <a:outerShdw blurRad="57150" dist="9525" algn="bl" rotWithShape="0">
              <a:srgbClr val="000000"/>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lang="fr-CI" noProof="0"/>
          </a:p>
        </p:txBody>
      </p:sp>
      <p:sp>
        <p:nvSpPr>
          <p:cNvPr id="4" name="Rectangle 3"/>
          <p:cNvSpPr/>
          <p:nvPr/>
        </p:nvSpPr>
        <p:spPr>
          <a:xfrm>
            <a:off x="2946575" y="1442741"/>
            <a:ext cx="1322389" cy="295488"/>
          </a:xfrm>
          <a:prstGeom prst="rect">
            <a:avLst/>
          </a:prstGeom>
        </p:spPr>
        <p:txBody>
          <a:bodyPr wrap="none">
            <a:spAutoFit/>
          </a:bodyPr>
          <a:lstStyle/>
          <a:p>
            <a:pPr lvl="0">
              <a:lnSpc>
                <a:spcPct val="110000"/>
              </a:lnSpc>
            </a:pPr>
            <a:r>
              <a:rPr lang="fr-CI" sz="1400" b="1" noProof="0">
                <a:solidFill>
                  <a:schemeClr val="bg1"/>
                </a:solidFill>
                <a:latin typeface="Helvetica" panose="020B0604020202020204" pitchFamily="34" charset="0"/>
                <a:ea typeface="Open Sans Semibold" panose="020B0706030804020204" pitchFamily="34" charset="0"/>
                <a:cs typeface="Helvetica" panose="020B0604020202020204" pitchFamily="34" charset="0"/>
              </a:rPr>
              <a:t>Entrée</a:t>
            </a:r>
          </a:p>
        </p:txBody>
      </p:sp>
      <p:sp>
        <p:nvSpPr>
          <p:cNvPr id="20" name="Google Shape;7386;p39"/>
          <p:cNvSpPr/>
          <p:nvPr/>
        </p:nvSpPr>
        <p:spPr>
          <a:xfrm rot="10800000">
            <a:off x="6372314" y="1459724"/>
            <a:ext cx="3625790" cy="329031"/>
          </a:xfrm>
          <a:custGeom>
            <a:avLst/>
            <a:gdLst/>
            <a:ahLst/>
            <a:cxnLst/>
            <a:rect l="l" t="t" r="r" b="b"/>
            <a:pathLst>
              <a:path w="40007" h="30221" extrusionOk="0">
                <a:moveTo>
                  <a:pt x="19007" y="1"/>
                </a:moveTo>
                <a:cubicBezTo>
                  <a:pt x="17909" y="1"/>
                  <a:pt x="16810" y="17"/>
                  <a:pt x="15708" y="53"/>
                </a:cubicBezTo>
                <a:cubicBezTo>
                  <a:pt x="13270" y="131"/>
                  <a:pt x="10885" y="275"/>
                  <a:pt x="8512" y="548"/>
                </a:cubicBezTo>
                <a:cubicBezTo>
                  <a:pt x="6088" y="835"/>
                  <a:pt x="4524" y="1500"/>
                  <a:pt x="4041" y="2712"/>
                </a:cubicBezTo>
                <a:cubicBezTo>
                  <a:pt x="4015" y="2777"/>
                  <a:pt x="3976" y="2843"/>
                  <a:pt x="3937" y="2908"/>
                </a:cubicBezTo>
                <a:cubicBezTo>
                  <a:pt x="2777" y="4902"/>
                  <a:pt x="2282" y="6949"/>
                  <a:pt x="1734" y="8995"/>
                </a:cubicBezTo>
                <a:cubicBezTo>
                  <a:pt x="1160" y="11120"/>
                  <a:pt x="613" y="13232"/>
                  <a:pt x="391" y="15357"/>
                </a:cubicBezTo>
                <a:cubicBezTo>
                  <a:pt x="183" y="17325"/>
                  <a:pt x="0" y="19293"/>
                  <a:pt x="79" y="21092"/>
                </a:cubicBezTo>
                <a:cubicBezTo>
                  <a:pt x="52" y="23074"/>
                  <a:pt x="144" y="24899"/>
                  <a:pt x="365" y="26710"/>
                </a:cubicBezTo>
                <a:cubicBezTo>
                  <a:pt x="522" y="28079"/>
                  <a:pt x="1721" y="29096"/>
                  <a:pt x="4419" y="29656"/>
                </a:cubicBezTo>
                <a:cubicBezTo>
                  <a:pt x="6296" y="30048"/>
                  <a:pt x="8265" y="30178"/>
                  <a:pt x="10259" y="30204"/>
                </a:cubicBezTo>
                <a:cubicBezTo>
                  <a:pt x="11143" y="30216"/>
                  <a:pt x="12026" y="30220"/>
                  <a:pt x="12908" y="30220"/>
                </a:cubicBezTo>
                <a:cubicBezTo>
                  <a:pt x="15996" y="30220"/>
                  <a:pt x="19078" y="30165"/>
                  <a:pt x="22161" y="30165"/>
                </a:cubicBezTo>
                <a:cubicBezTo>
                  <a:pt x="24859" y="30165"/>
                  <a:pt x="27557" y="30204"/>
                  <a:pt x="30243" y="30204"/>
                </a:cubicBezTo>
                <a:cubicBezTo>
                  <a:pt x="31690" y="30191"/>
                  <a:pt x="33123" y="30113"/>
                  <a:pt x="34505" y="29852"/>
                </a:cubicBezTo>
                <a:cubicBezTo>
                  <a:pt x="35470" y="29683"/>
                  <a:pt x="36330" y="29435"/>
                  <a:pt x="36917" y="29005"/>
                </a:cubicBezTo>
                <a:cubicBezTo>
                  <a:pt x="37881" y="28288"/>
                  <a:pt x="38677" y="27519"/>
                  <a:pt x="39120" y="26684"/>
                </a:cubicBezTo>
                <a:cubicBezTo>
                  <a:pt x="39732" y="25485"/>
                  <a:pt x="39954" y="24260"/>
                  <a:pt x="39954" y="23021"/>
                </a:cubicBezTo>
                <a:cubicBezTo>
                  <a:pt x="39954" y="19372"/>
                  <a:pt x="40006" y="15709"/>
                  <a:pt x="39563" y="12059"/>
                </a:cubicBezTo>
                <a:cubicBezTo>
                  <a:pt x="39367" y="10403"/>
                  <a:pt x="39485" y="8748"/>
                  <a:pt x="39237" y="7105"/>
                </a:cubicBezTo>
                <a:cubicBezTo>
                  <a:pt x="39068" y="6023"/>
                  <a:pt x="38794" y="4941"/>
                  <a:pt x="37920" y="3938"/>
                </a:cubicBezTo>
                <a:cubicBezTo>
                  <a:pt x="37282" y="3208"/>
                  <a:pt x="36773" y="2438"/>
                  <a:pt x="35665" y="1826"/>
                </a:cubicBezTo>
                <a:cubicBezTo>
                  <a:pt x="34192" y="1031"/>
                  <a:pt x="32237" y="666"/>
                  <a:pt x="30138" y="496"/>
                </a:cubicBezTo>
                <a:cubicBezTo>
                  <a:pt x="26451" y="194"/>
                  <a:pt x="22741" y="1"/>
                  <a:pt x="19007" y="1"/>
                </a:cubicBezTo>
                <a:close/>
              </a:path>
            </a:pathLst>
          </a:custGeom>
          <a:solidFill>
            <a:srgbClr val="112A40"/>
          </a:solidFill>
          <a:ln>
            <a:noFill/>
          </a:ln>
          <a:effectLst>
            <a:outerShdw blurRad="57150" dist="9525" algn="bl" rotWithShape="0">
              <a:srgbClr val="000000"/>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lang="fr-CI" noProof="0"/>
          </a:p>
        </p:txBody>
      </p:sp>
      <p:sp>
        <p:nvSpPr>
          <p:cNvPr id="21" name="Google Shape;7367;p39"/>
          <p:cNvSpPr/>
          <p:nvPr/>
        </p:nvSpPr>
        <p:spPr>
          <a:xfrm rot="16200000">
            <a:off x="7569073" y="228570"/>
            <a:ext cx="2000788" cy="4306666"/>
          </a:xfrm>
          <a:custGeom>
            <a:avLst/>
            <a:gdLst/>
            <a:ahLst/>
            <a:cxnLst/>
            <a:rect l="l" t="t" r="r" b="b"/>
            <a:pathLst>
              <a:path w="25081" h="54128" extrusionOk="0">
                <a:moveTo>
                  <a:pt x="19843" y="0"/>
                </a:moveTo>
                <a:cubicBezTo>
                  <a:pt x="19654" y="0"/>
                  <a:pt x="19462" y="7"/>
                  <a:pt x="19267" y="21"/>
                </a:cubicBezTo>
                <a:cubicBezTo>
                  <a:pt x="17781" y="125"/>
                  <a:pt x="16282" y="99"/>
                  <a:pt x="14796" y="112"/>
                </a:cubicBezTo>
                <a:cubicBezTo>
                  <a:pt x="13909" y="125"/>
                  <a:pt x="13010" y="112"/>
                  <a:pt x="12123" y="177"/>
                </a:cubicBezTo>
                <a:cubicBezTo>
                  <a:pt x="10272" y="333"/>
                  <a:pt x="8421" y="503"/>
                  <a:pt x="6570" y="633"/>
                </a:cubicBezTo>
                <a:cubicBezTo>
                  <a:pt x="5267" y="738"/>
                  <a:pt x="3989" y="933"/>
                  <a:pt x="2764" y="1259"/>
                </a:cubicBezTo>
                <a:cubicBezTo>
                  <a:pt x="1943" y="1481"/>
                  <a:pt x="1408" y="1872"/>
                  <a:pt x="1226" y="2471"/>
                </a:cubicBezTo>
                <a:cubicBezTo>
                  <a:pt x="991" y="3292"/>
                  <a:pt x="861" y="4140"/>
                  <a:pt x="965" y="4974"/>
                </a:cubicBezTo>
                <a:cubicBezTo>
                  <a:pt x="991" y="5248"/>
                  <a:pt x="1030" y="5508"/>
                  <a:pt x="991" y="5782"/>
                </a:cubicBezTo>
                <a:cubicBezTo>
                  <a:pt x="835" y="6877"/>
                  <a:pt x="678" y="7972"/>
                  <a:pt x="587" y="9067"/>
                </a:cubicBezTo>
                <a:cubicBezTo>
                  <a:pt x="470" y="10488"/>
                  <a:pt x="378" y="11896"/>
                  <a:pt x="300" y="13317"/>
                </a:cubicBezTo>
                <a:cubicBezTo>
                  <a:pt x="274" y="13825"/>
                  <a:pt x="352" y="14333"/>
                  <a:pt x="339" y="14829"/>
                </a:cubicBezTo>
                <a:cubicBezTo>
                  <a:pt x="313" y="15820"/>
                  <a:pt x="157" y="16797"/>
                  <a:pt x="118" y="17775"/>
                </a:cubicBezTo>
                <a:cubicBezTo>
                  <a:pt x="53" y="19391"/>
                  <a:pt x="0" y="21008"/>
                  <a:pt x="40" y="22624"/>
                </a:cubicBezTo>
                <a:cubicBezTo>
                  <a:pt x="66" y="24149"/>
                  <a:pt x="157" y="25661"/>
                  <a:pt x="144" y="27173"/>
                </a:cubicBezTo>
                <a:cubicBezTo>
                  <a:pt x="131" y="28646"/>
                  <a:pt x="105" y="30132"/>
                  <a:pt x="131" y="31605"/>
                </a:cubicBezTo>
                <a:cubicBezTo>
                  <a:pt x="209" y="35412"/>
                  <a:pt x="405" y="39218"/>
                  <a:pt x="274" y="43051"/>
                </a:cubicBezTo>
                <a:cubicBezTo>
                  <a:pt x="235" y="44237"/>
                  <a:pt x="287" y="45436"/>
                  <a:pt x="300" y="46622"/>
                </a:cubicBezTo>
                <a:cubicBezTo>
                  <a:pt x="300" y="46687"/>
                  <a:pt x="300" y="46753"/>
                  <a:pt x="287" y="46818"/>
                </a:cubicBezTo>
                <a:cubicBezTo>
                  <a:pt x="222" y="48004"/>
                  <a:pt x="313" y="49190"/>
                  <a:pt x="535" y="50363"/>
                </a:cubicBezTo>
                <a:cubicBezTo>
                  <a:pt x="665" y="51054"/>
                  <a:pt x="1004" y="51706"/>
                  <a:pt x="1239" y="52384"/>
                </a:cubicBezTo>
                <a:cubicBezTo>
                  <a:pt x="1486" y="53075"/>
                  <a:pt x="2164" y="53492"/>
                  <a:pt x="3129" y="53700"/>
                </a:cubicBezTo>
                <a:cubicBezTo>
                  <a:pt x="3812" y="53854"/>
                  <a:pt x="4517" y="53911"/>
                  <a:pt x="5223" y="53911"/>
                </a:cubicBezTo>
                <a:cubicBezTo>
                  <a:pt x="5299" y="53911"/>
                  <a:pt x="5374" y="53910"/>
                  <a:pt x="5449" y="53909"/>
                </a:cubicBezTo>
                <a:cubicBezTo>
                  <a:pt x="5591" y="53907"/>
                  <a:pt x="5733" y="53906"/>
                  <a:pt x="5875" y="53906"/>
                </a:cubicBezTo>
                <a:cubicBezTo>
                  <a:pt x="7594" y="53906"/>
                  <a:pt x="9293" y="54042"/>
                  <a:pt x="11015" y="54078"/>
                </a:cubicBezTo>
                <a:cubicBezTo>
                  <a:pt x="11655" y="54087"/>
                  <a:pt x="12288" y="54128"/>
                  <a:pt x="12924" y="54128"/>
                </a:cubicBezTo>
                <a:cubicBezTo>
                  <a:pt x="13273" y="54128"/>
                  <a:pt x="13623" y="54115"/>
                  <a:pt x="13974" y="54078"/>
                </a:cubicBezTo>
                <a:cubicBezTo>
                  <a:pt x="15239" y="53948"/>
                  <a:pt x="16516" y="53870"/>
                  <a:pt x="17781" y="53779"/>
                </a:cubicBezTo>
                <a:cubicBezTo>
                  <a:pt x="18850" y="53700"/>
                  <a:pt x="19919" y="53583"/>
                  <a:pt x="20961" y="53375"/>
                </a:cubicBezTo>
                <a:cubicBezTo>
                  <a:pt x="22043" y="53153"/>
                  <a:pt x="22956" y="52749"/>
                  <a:pt x="23503" y="52019"/>
                </a:cubicBezTo>
                <a:cubicBezTo>
                  <a:pt x="23855" y="51537"/>
                  <a:pt x="24142" y="51028"/>
                  <a:pt x="24233" y="50494"/>
                </a:cubicBezTo>
                <a:cubicBezTo>
                  <a:pt x="24416" y="49464"/>
                  <a:pt x="24429" y="48434"/>
                  <a:pt x="24546" y="47404"/>
                </a:cubicBezTo>
                <a:cubicBezTo>
                  <a:pt x="24690" y="45957"/>
                  <a:pt x="24768" y="44510"/>
                  <a:pt x="24833" y="43064"/>
                </a:cubicBezTo>
                <a:cubicBezTo>
                  <a:pt x="24924" y="41395"/>
                  <a:pt x="24898" y="39726"/>
                  <a:pt x="24898" y="38058"/>
                </a:cubicBezTo>
                <a:cubicBezTo>
                  <a:pt x="24885" y="36402"/>
                  <a:pt x="24794" y="34760"/>
                  <a:pt x="24794" y="33104"/>
                </a:cubicBezTo>
                <a:cubicBezTo>
                  <a:pt x="24794" y="31332"/>
                  <a:pt x="24755" y="29546"/>
                  <a:pt x="24768" y="27760"/>
                </a:cubicBezTo>
                <a:cubicBezTo>
                  <a:pt x="24794" y="26196"/>
                  <a:pt x="24807" y="24631"/>
                  <a:pt x="24846" y="23067"/>
                </a:cubicBezTo>
                <a:cubicBezTo>
                  <a:pt x="24885" y="21503"/>
                  <a:pt x="24911" y="19952"/>
                  <a:pt x="24911" y="18387"/>
                </a:cubicBezTo>
                <a:cubicBezTo>
                  <a:pt x="24911" y="16967"/>
                  <a:pt x="24937" y="15533"/>
                  <a:pt x="24989" y="14112"/>
                </a:cubicBezTo>
                <a:cubicBezTo>
                  <a:pt x="25028" y="12795"/>
                  <a:pt x="25081" y="11479"/>
                  <a:pt x="25068" y="10162"/>
                </a:cubicBezTo>
                <a:cubicBezTo>
                  <a:pt x="25068" y="8924"/>
                  <a:pt x="25002" y="7685"/>
                  <a:pt x="24963" y="6447"/>
                </a:cubicBezTo>
                <a:lnTo>
                  <a:pt x="24950" y="6447"/>
                </a:lnTo>
                <a:cubicBezTo>
                  <a:pt x="25055" y="5561"/>
                  <a:pt x="24963" y="4674"/>
                  <a:pt x="24872" y="3801"/>
                </a:cubicBezTo>
                <a:cubicBezTo>
                  <a:pt x="24807" y="3175"/>
                  <a:pt x="24664" y="2562"/>
                  <a:pt x="24403" y="1963"/>
                </a:cubicBezTo>
                <a:cubicBezTo>
                  <a:pt x="24194" y="1481"/>
                  <a:pt x="23803" y="1103"/>
                  <a:pt x="23204" y="803"/>
                </a:cubicBezTo>
                <a:cubicBezTo>
                  <a:pt x="22185" y="293"/>
                  <a:pt x="21087" y="0"/>
                  <a:pt x="19843" y="0"/>
                </a:cubicBezTo>
                <a:close/>
              </a:path>
            </a:pathLst>
          </a:custGeom>
          <a:noFill/>
          <a:ln w="19050">
            <a:solidFill>
              <a:srgbClr val="060606"/>
            </a:solidFill>
          </a:ln>
          <a:effectLst>
            <a:outerShdw blurRad="57150" dist="9525" algn="bl" rotWithShape="0">
              <a:srgbClr val="000000"/>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lang="fr-CI" noProof="0"/>
          </a:p>
        </p:txBody>
      </p:sp>
      <p:sp>
        <p:nvSpPr>
          <p:cNvPr id="24" name="Rectangle 23"/>
          <p:cNvSpPr/>
          <p:nvPr/>
        </p:nvSpPr>
        <p:spPr>
          <a:xfrm>
            <a:off x="7570816" y="1466170"/>
            <a:ext cx="1322389" cy="295488"/>
          </a:xfrm>
          <a:prstGeom prst="rect">
            <a:avLst/>
          </a:prstGeom>
        </p:spPr>
        <p:txBody>
          <a:bodyPr wrap="none">
            <a:spAutoFit/>
          </a:bodyPr>
          <a:lstStyle/>
          <a:p>
            <a:pPr lvl="0">
              <a:lnSpc>
                <a:spcPct val="110000"/>
              </a:lnSpc>
            </a:pPr>
            <a:r>
              <a:rPr lang="fr-CI" sz="1400" b="1" noProof="0">
                <a:solidFill>
                  <a:schemeClr val="bg1"/>
                </a:solidFill>
                <a:latin typeface="Helvetica" panose="020B0604020202020204" pitchFamily="34" charset="0"/>
                <a:ea typeface="Open Sans Semibold" panose="020B0706030804020204" pitchFamily="34" charset="0"/>
                <a:cs typeface="Helvetica" panose="020B0604020202020204" pitchFamily="34" charset="0"/>
              </a:rPr>
              <a:t>Traitement</a:t>
            </a:r>
          </a:p>
        </p:txBody>
      </p:sp>
      <p:sp>
        <p:nvSpPr>
          <p:cNvPr id="37" name="Google Shape;7386;p39"/>
          <p:cNvSpPr/>
          <p:nvPr/>
        </p:nvSpPr>
        <p:spPr>
          <a:xfrm rot="10800000">
            <a:off x="1854215" y="3845744"/>
            <a:ext cx="3625790" cy="329031"/>
          </a:xfrm>
          <a:custGeom>
            <a:avLst/>
            <a:gdLst/>
            <a:ahLst/>
            <a:cxnLst/>
            <a:rect l="l" t="t" r="r" b="b"/>
            <a:pathLst>
              <a:path w="40007" h="30221" extrusionOk="0">
                <a:moveTo>
                  <a:pt x="19007" y="1"/>
                </a:moveTo>
                <a:cubicBezTo>
                  <a:pt x="17909" y="1"/>
                  <a:pt x="16810" y="17"/>
                  <a:pt x="15708" y="53"/>
                </a:cubicBezTo>
                <a:cubicBezTo>
                  <a:pt x="13270" y="131"/>
                  <a:pt x="10885" y="275"/>
                  <a:pt x="8512" y="548"/>
                </a:cubicBezTo>
                <a:cubicBezTo>
                  <a:pt x="6088" y="835"/>
                  <a:pt x="4524" y="1500"/>
                  <a:pt x="4041" y="2712"/>
                </a:cubicBezTo>
                <a:cubicBezTo>
                  <a:pt x="4015" y="2777"/>
                  <a:pt x="3976" y="2843"/>
                  <a:pt x="3937" y="2908"/>
                </a:cubicBezTo>
                <a:cubicBezTo>
                  <a:pt x="2777" y="4902"/>
                  <a:pt x="2282" y="6949"/>
                  <a:pt x="1734" y="8995"/>
                </a:cubicBezTo>
                <a:cubicBezTo>
                  <a:pt x="1160" y="11120"/>
                  <a:pt x="613" y="13232"/>
                  <a:pt x="391" y="15357"/>
                </a:cubicBezTo>
                <a:cubicBezTo>
                  <a:pt x="183" y="17325"/>
                  <a:pt x="0" y="19293"/>
                  <a:pt x="79" y="21092"/>
                </a:cubicBezTo>
                <a:cubicBezTo>
                  <a:pt x="52" y="23074"/>
                  <a:pt x="144" y="24899"/>
                  <a:pt x="365" y="26710"/>
                </a:cubicBezTo>
                <a:cubicBezTo>
                  <a:pt x="522" y="28079"/>
                  <a:pt x="1721" y="29096"/>
                  <a:pt x="4419" y="29656"/>
                </a:cubicBezTo>
                <a:cubicBezTo>
                  <a:pt x="6296" y="30048"/>
                  <a:pt x="8265" y="30178"/>
                  <a:pt x="10259" y="30204"/>
                </a:cubicBezTo>
                <a:cubicBezTo>
                  <a:pt x="11143" y="30216"/>
                  <a:pt x="12026" y="30220"/>
                  <a:pt x="12908" y="30220"/>
                </a:cubicBezTo>
                <a:cubicBezTo>
                  <a:pt x="15996" y="30220"/>
                  <a:pt x="19078" y="30165"/>
                  <a:pt x="22161" y="30165"/>
                </a:cubicBezTo>
                <a:cubicBezTo>
                  <a:pt x="24859" y="30165"/>
                  <a:pt x="27557" y="30204"/>
                  <a:pt x="30243" y="30204"/>
                </a:cubicBezTo>
                <a:cubicBezTo>
                  <a:pt x="31690" y="30191"/>
                  <a:pt x="33123" y="30113"/>
                  <a:pt x="34505" y="29852"/>
                </a:cubicBezTo>
                <a:cubicBezTo>
                  <a:pt x="35470" y="29683"/>
                  <a:pt x="36330" y="29435"/>
                  <a:pt x="36917" y="29005"/>
                </a:cubicBezTo>
                <a:cubicBezTo>
                  <a:pt x="37881" y="28288"/>
                  <a:pt x="38677" y="27519"/>
                  <a:pt x="39120" y="26684"/>
                </a:cubicBezTo>
                <a:cubicBezTo>
                  <a:pt x="39732" y="25485"/>
                  <a:pt x="39954" y="24260"/>
                  <a:pt x="39954" y="23021"/>
                </a:cubicBezTo>
                <a:cubicBezTo>
                  <a:pt x="39954" y="19372"/>
                  <a:pt x="40006" y="15709"/>
                  <a:pt x="39563" y="12059"/>
                </a:cubicBezTo>
                <a:cubicBezTo>
                  <a:pt x="39367" y="10403"/>
                  <a:pt x="39485" y="8748"/>
                  <a:pt x="39237" y="7105"/>
                </a:cubicBezTo>
                <a:cubicBezTo>
                  <a:pt x="39068" y="6023"/>
                  <a:pt x="38794" y="4941"/>
                  <a:pt x="37920" y="3938"/>
                </a:cubicBezTo>
                <a:cubicBezTo>
                  <a:pt x="37282" y="3208"/>
                  <a:pt x="36773" y="2438"/>
                  <a:pt x="35665" y="1826"/>
                </a:cubicBezTo>
                <a:cubicBezTo>
                  <a:pt x="34192" y="1031"/>
                  <a:pt x="32237" y="666"/>
                  <a:pt x="30138" y="496"/>
                </a:cubicBezTo>
                <a:cubicBezTo>
                  <a:pt x="26451" y="194"/>
                  <a:pt x="22741" y="1"/>
                  <a:pt x="19007" y="1"/>
                </a:cubicBezTo>
                <a:close/>
              </a:path>
            </a:pathLst>
          </a:custGeom>
          <a:solidFill>
            <a:srgbClr val="112A40"/>
          </a:solidFill>
          <a:ln>
            <a:noFill/>
          </a:ln>
          <a:effectLst>
            <a:outerShdw blurRad="57150" dist="9525" algn="bl" rotWithShape="0">
              <a:srgbClr val="000000"/>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lang="fr-CI" noProof="0"/>
          </a:p>
        </p:txBody>
      </p:sp>
      <p:sp>
        <p:nvSpPr>
          <p:cNvPr id="38" name="Google Shape;7367;p39"/>
          <p:cNvSpPr/>
          <p:nvPr/>
        </p:nvSpPr>
        <p:spPr>
          <a:xfrm rot="16200000">
            <a:off x="2838223" y="3190772"/>
            <a:ext cx="1751381" cy="3719393"/>
          </a:xfrm>
          <a:custGeom>
            <a:avLst/>
            <a:gdLst/>
            <a:ahLst/>
            <a:cxnLst/>
            <a:rect l="l" t="t" r="r" b="b"/>
            <a:pathLst>
              <a:path w="25081" h="54128" extrusionOk="0">
                <a:moveTo>
                  <a:pt x="19843" y="0"/>
                </a:moveTo>
                <a:cubicBezTo>
                  <a:pt x="19654" y="0"/>
                  <a:pt x="19462" y="7"/>
                  <a:pt x="19267" y="21"/>
                </a:cubicBezTo>
                <a:cubicBezTo>
                  <a:pt x="17781" y="125"/>
                  <a:pt x="16282" y="99"/>
                  <a:pt x="14796" y="112"/>
                </a:cubicBezTo>
                <a:cubicBezTo>
                  <a:pt x="13909" y="125"/>
                  <a:pt x="13010" y="112"/>
                  <a:pt x="12123" y="177"/>
                </a:cubicBezTo>
                <a:cubicBezTo>
                  <a:pt x="10272" y="333"/>
                  <a:pt x="8421" y="503"/>
                  <a:pt x="6570" y="633"/>
                </a:cubicBezTo>
                <a:cubicBezTo>
                  <a:pt x="5267" y="738"/>
                  <a:pt x="3989" y="933"/>
                  <a:pt x="2764" y="1259"/>
                </a:cubicBezTo>
                <a:cubicBezTo>
                  <a:pt x="1943" y="1481"/>
                  <a:pt x="1408" y="1872"/>
                  <a:pt x="1226" y="2471"/>
                </a:cubicBezTo>
                <a:cubicBezTo>
                  <a:pt x="991" y="3292"/>
                  <a:pt x="861" y="4140"/>
                  <a:pt x="965" y="4974"/>
                </a:cubicBezTo>
                <a:cubicBezTo>
                  <a:pt x="991" y="5248"/>
                  <a:pt x="1030" y="5508"/>
                  <a:pt x="991" y="5782"/>
                </a:cubicBezTo>
                <a:cubicBezTo>
                  <a:pt x="835" y="6877"/>
                  <a:pt x="678" y="7972"/>
                  <a:pt x="587" y="9067"/>
                </a:cubicBezTo>
                <a:cubicBezTo>
                  <a:pt x="470" y="10488"/>
                  <a:pt x="378" y="11896"/>
                  <a:pt x="300" y="13317"/>
                </a:cubicBezTo>
                <a:cubicBezTo>
                  <a:pt x="274" y="13825"/>
                  <a:pt x="352" y="14333"/>
                  <a:pt x="339" y="14829"/>
                </a:cubicBezTo>
                <a:cubicBezTo>
                  <a:pt x="313" y="15820"/>
                  <a:pt x="157" y="16797"/>
                  <a:pt x="118" y="17775"/>
                </a:cubicBezTo>
                <a:cubicBezTo>
                  <a:pt x="53" y="19391"/>
                  <a:pt x="0" y="21008"/>
                  <a:pt x="40" y="22624"/>
                </a:cubicBezTo>
                <a:cubicBezTo>
                  <a:pt x="66" y="24149"/>
                  <a:pt x="157" y="25661"/>
                  <a:pt x="144" y="27173"/>
                </a:cubicBezTo>
                <a:cubicBezTo>
                  <a:pt x="131" y="28646"/>
                  <a:pt x="105" y="30132"/>
                  <a:pt x="131" y="31605"/>
                </a:cubicBezTo>
                <a:cubicBezTo>
                  <a:pt x="209" y="35412"/>
                  <a:pt x="405" y="39218"/>
                  <a:pt x="274" y="43051"/>
                </a:cubicBezTo>
                <a:cubicBezTo>
                  <a:pt x="235" y="44237"/>
                  <a:pt x="287" y="45436"/>
                  <a:pt x="300" y="46622"/>
                </a:cubicBezTo>
                <a:cubicBezTo>
                  <a:pt x="300" y="46687"/>
                  <a:pt x="300" y="46753"/>
                  <a:pt x="287" y="46818"/>
                </a:cubicBezTo>
                <a:cubicBezTo>
                  <a:pt x="222" y="48004"/>
                  <a:pt x="313" y="49190"/>
                  <a:pt x="535" y="50363"/>
                </a:cubicBezTo>
                <a:cubicBezTo>
                  <a:pt x="665" y="51054"/>
                  <a:pt x="1004" y="51706"/>
                  <a:pt x="1239" y="52384"/>
                </a:cubicBezTo>
                <a:cubicBezTo>
                  <a:pt x="1486" y="53075"/>
                  <a:pt x="2164" y="53492"/>
                  <a:pt x="3129" y="53700"/>
                </a:cubicBezTo>
                <a:cubicBezTo>
                  <a:pt x="3812" y="53854"/>
                  <a:pt x="4517" y="53911"/>
                  <a:pt x="5223" y="53911"/>
                </a:cubicBezTo>
                <a:cubicBezTo>
                  <a:pt x="5299" y="53911"/>
                  <a:pt x="5374" y="53910"/>
                  <a:pt x="5449" y="53909"/>
                </a:cubicBezTo>
                <a:cubicBezTo>
                  <a:pt x="5591" y="53907"/>
                  <a:pt x="5733" y="53906"/>
                  <a:pt x="5875" y="53906"/>
                </a:cubicBezTo>
                <a:cubicBezTo>
                  <a:pt x="7594" y="53906"/>
                  <a:pt x="9293" y="54042"/>
                  <a:pt x="11015" y="54078"/>
                </a:cubicBezTo>
                <a:cubicBezTo>
                  <a:pt x="11655" y="54087"/>
                  <a:pt x="12288" y="54128"/>
                  <a:pt x="12924" y="54128"/>
                </a:cubicBezTo>
                <a:cubicBezTo>
                  <a:pt x="13273" y="54128"/>
                  <a:pt x="13623" y="54115"/>
                  <a:pt x="13974" y="54078"/>
                </a:cubicBezTo>
                <a:cubicBezTo>
                  <a:pt x="15239" y="53948"/>
                  <a:pt x="16516" y="53870"/>
                  <a:pt x="17781" y="53779"/>
                </a:cubicBezTo>
                <a:cubicBezTo>
                  <a:pt x="18850" y="53700"/>
                  <a:pt x="19919" y="53583"/>
                  <a:pt x="20961" y="53375"/>
                </a:cubicBezTo>
                <a:cubicBezTo>
                  <a:pt x="22043" y="53153"/>
                  <a:pt x="22956" y="52749"/>
                  <a:pt x="23503" y="52019"/>
                </a:cubicBezTo>
                <a:cubicBezTo>
                  <a:pt x="23855" y="51537"/>
                  <a:pt x="24142" y="51028"/>
                  <a:pt x="24233" y="50494"/>
                </a:cubicBezTo>
                <a:cubicBezTo>
                  <a:pt x="24416" y="49464"/>
                  <a:pt x="24429" y="48434"/>
                  <a:pt x="24546" y="47404"/>
                </a:cubicBezTo>
                <a:cubicBezTo>
                  <a:pt x="24690" y="45957"/>
                  <a:pt x="24768" y="44510"/>
                  <a:pt x="24833" y="43064"/>
                </a:cubicBezTo>
                <a:cubicBezTo>
                  <a:pt x="24924" y="41395"/>
                  <a:pt x="24898" y="39726"/>
                  <a:pt x="24898" y="38058"/>
                </a:cubicBezTo>
                <a:cubicBezTo>
                  <a:pt x="24885" y="36402"/>
                  <a:pt x="24794" y="34760"/>
                  <a:pt x="24794" y="33104"/>
                </a:cubicBezTo>
                <a:cubicBezTo>
                  <a:pt x="24794" y="31332"/>
                  <a:pt x="24755" y="29546"/>
                  <a:pt x="24768" y="27760"/>
                </a:cubicBezTo>
                <a:cubicBezTo>
                  <a:pt x="24794" y="26196"/>
                  <a:pt x="24807" y="24631"/>
                  <a:pt x="24846" y="23067"/>
                </a:cubicBezTo>
                <a:cubicBezTo>
                  <a:pt x="24885" y="21503"/>
                  <a:pt x="24911" y="19952"/>
                  <a:pt x="24911" y="18387"/>
                </a:cubicBezTo>
                <a:cubicBezTo>
                  <a:pt x="24911" y="16967"/>
                  <a:pt x="24937" y="15533"/>
                  <a:pt x="24989" y="14112"/>
                </a:cubicBezTo>
                <a:cubicBezTo>
                  <a:pt x="25028" y="12795"/>
                  <a:pt x="25081" y="11479"/>
                  <a:pt x="25068" y="10162"/>
                </a:cubicBezTo>
                <a:cubicBezTo>
                  <a:pt x="25068" y="8924"/>
                  <a:pt x="25002" y="7685"/>
                  <a:pt x="24963" y="6447"/>
                </a:cubicBezTo>
                <a:lnTo>
                  <a:pt x="24950" y="6447"/>
                </a:lnTo>
                <a:cubicBezTo>
                  <a:pt x="25055" y="5561"/>
                  <a:pt x="24963" y="4674"/>
                  <a:pt x="24872" y="3801"/>
                </a:cubicBezTo>
                <a:cubicBezTo>
                  <a:pt x="24807" y="3175"/>
                  <a:pt x="24664" y="2562"/>
                  <a:pt x="24403" y="1963"/>
                </a:cubicBezTo>
                <a:cubicBezTo>
                  <a:pt x="24194" y="1481"/>
                  <a:pt x="23803" y="1103"/>
                  <a:pt x="23204" y="803"/>
                </a:cubicBezTo>
                <a:cubicBezTo>
                  <a:pt x="22185" y="293"/>
                  <a:pt x="21087" y="0"/>
                  <a:pt x="19843" y="0"/>
                </a:cubicBezTo>
                <a:close/>
              </a:path>
            </a:pathLst>
          </a:custGeom>
          <a:noFill/>
          <a:ln w="19050">
            <a:solidFill>
              <a:srgbClr val="060606"/>
            </a:solidFill>
          </a:ln>
          <a:effectLst>
            <a:outerShdw blurRad="57150" dist="9525" algn="bl" rotWithShape="0">
              <a:srgbClr val="000000"/>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lang="fr-CI" noProof="0"/>
          </a:p>
        </p:txBody>
      </p:sp>
      <p:sp>
        <p:nvSpPr>
          <p:cNvPr id="40" name="Rectangle 39"/>
          <p:cNvSpPr/>
          <p:nvPr/>
        </p:nvSpPr>
        <p:spPr>
          <a:xfrm>
            <a:off x="3052718" y="3852190"/>
            <a:ext cx="1322389" cy="295488"/>
          </a:xfrm>
          <a:prstGeom prst="rect">
            <a:avLst/>
          </a:prstGeom>
        </p:spPr>
        <p:txBody>
          <a:bodyPr wrap="none">
            <a:spAutoFit/>
          </a:bodyPr>
          <a:lstStyle/>
          <a:p>
            <a:pPr lvl="0">
              <a:lnSpc>
                <a:spcPct val="110000"/>
              </a:lnSpc>
            </a:pPr>
            <a:r>
              <a:rPr lang="fr-CI" sz="1400" b="1" noProof="0">
                <a:solidFill>
                  <a:schemeClr val="bg1"/>
                </a:solidFill>
                <a:latin typeface="Helvetica" panose="020B0604020202020204" pitchFamily="34" charset="0"/>
                <a:ea typeface="Open Sans Semibold" panose="020B0706030804020204" pitchFamily="34" charset="0"/>
                <a:cs typeface="Helvetica" panose="020B0604020202020204" pitchFamily="34" charset="0"/>
              </a:rPr>
              <a:t>Contrôle</a:t>
            </a:r>
          </a:p>
        </p:txBody>
      </p:sp>
      <p:sp>
        <p:nvSpPr>
          <p:cNvPr id="42" name="Google Shape;7386;p39"/>
          <p:cNvSpPr/>
          <p:nvPr/>
        </p:nvSpPr>
        <p:spPr>
          <a:xfrm rot="10800000">
            <a:off x="6478457" y="3869173"/>
            <a:ext cx="3625790" cy="329031"/>
          </a:xfrm>
          <a:custGeom>
            <a:avLst/>
            <a:gdLst/>
            <a:ahLst/>
            <a:cxnLst/>
            <a:rect l="l" t="t" r="r" b="b"/>
            <a:pathLst>
              <a:path w="40007" h="30221" extrusionOk="0">
                <a:moveTo>
                  <a:pt x="19007" y="1"/>
                </a:moveTo>
                <a:cubicBezTo>
                  <a:pt x="17909" y="1"/>
                  <a:pt x="16810" y="17"/>
                  <a:pt x="15708" y="53"/>
                </a:cubicBezTo>
                <a:cubicBezTo>
                  <a:pt x="13270" y="131"/>
                  <a:pt x="10885" y="275"/>
                  <a:pt x="8512" y="548"/>
                </a:cubicBezTo>
                <a:cubicBezTo>
                  <a:pt x="6088" y="835"/>
                  <a:pt x="4524" y="1500"/>
                  <a:pt x="4041" y="2712"/>
                </a:cubicBezTo>
                <a:cubicBezTo>
                  <a:pt x="4015" y="2777"/>
                  <a:pt x="3976" y="2843"/>
                  <a:pt x="3937" y="2908"/>
                </a:cubicBezTo>
                <a:cubicBezTo>
                  <a:pt x="2777" y="4902"/>
                  <a:pt x="2282" y="6949"/>
                  <a:pt x="1734" y="8995"/>
                </a:cubicBezTo>
                <a:cubicBezTo>
                  <a:pt x="1160" y="11120"/>
                  <a:pt x="613" y="13232"/>
                  <a:pt x="391" y="15357"/>
                </a:cubicBezTo>
                <a:cubicBezTo>
                  <a:pt x="183" y="17325"/>
                  <a:pt x="0" y="19293"/>
                  <a:pt x="79" y="21092"/>
                </a:cubicBezTo>
                <a:cubicBezTo>
                  <a:pt x="52" y="23074"/>
                  <a:pt x="144" y="24899"/>
                  <a:pt x="365" y="26710"/>
                </a:cubicBezTo>
                <a:cubicBezTo>
                  <a:pt x="522" y="28079"/>
                  <a:pt x="1721" y="29096"/>
                  <a:pt x="4419" y="29656"/>
                </a:cubicBezTo>
                <a:cubicBezTo>
                  <a:pt x="6296" y="30048"/>
                  <a:pt x="8265" y="30178"/>
                  <a:pt x="10259" y="30204"/>
                </a:cubicBezTo>
                <a:cubicBezTo>
                  <a:pt x="11143" y="30216"/>
                  <a:pt x="12026" y="30220"/>
                  <a:pt x="12908" y="30220"/>
                </a:cubicBezTo>
                <a:cubicBezTo>
                  <a:pt x="15996" y="30220"/>
                  <a:pt x="19078" y="30165"/>
                  <a:pt x="22161" y="30165"/>
                </a:cubicBezTo>
                <a:cubicBezTo>
                  <a:pt x="24859" y="30165"/>
                  <a:pt x="27557" y="30204"/>
                  <a:pt x="30243" y="30204"/>
                </a:cubicBezTo>
                <a:cubicBezTo>
                  <a:pt x="31690" y="30191"/>
                  <a:pt x="33123" y="30113"/>
                  <a:pt x="34505" y="29852"/>
                </a:cubicBezTo>
                <a:cubicBezTo>
                  <a:pt x="35470" y="29683"/>
                  <a:pt x="36330" y="29435"/>
                  <a:pt x="36917" y="29005"/>
                </a:cubicBezTo>
                <a:cubicBezTo>
                  <a:pt x="37881" y="28288"/>
                  <a:pt x="38677" y="27519"/>
                  <a:pt x="39120" y="26684"/>
                </a:cubicBezTo>
                <a:cubicBezTo>
                  <a:pt x="39732" y="25485"/>
                  <a:pt x="39954" y="24260"/>
                  <a:pt x="39954" y="23021"/>
                </a:cubicBezTo>
                <a:cubicBezTo>
                  <a:pt x="39954" y="19372"/>
                  <a:pt x="40006" y="15709"/>
                  <a:pt x="39563" y="12059"/>
                </a:cubicBezTo>
                <a:cubicBezTo>
                  <a:pt x="39367" y="10403"/>
                  <a:pt x="39485" y="8748"/>
                  <a:pt x="39237" y="7105"/>
                </a:cubicBezTo>
                <a:cubicBezTo>
                  <a:pt x="39068" y="6023"/>
                  <a:pt x="38794" y="4941"/>
                  <a:pt x="37920" y="3938"/>
                </a:cubicBezTo>
                <a:cubicBezTo>
                  <a:pt x="37282" y="3208"/>
                  <a:pt x="36773" y="2438"/>
                  <a:pt x="35665" y="1826"/>
                </a:cubicBezTo>
                <a:cubicBezTo>
                  <a:pt x="34192" y="1031"/>
                  <a:pt x="32237" y="666"/>
                  <a:pt x="30138" y="496"/>
                </a:cubicBezTo>
                <a:cubicBezTo>
                  <a:pt x="26451" y="194"/>
                  <a:pt x="22741" y="1"/>
                  <a:pt x="19007" y="1"/>
                </a:cubicBezTo>
                <a:close/>
              </a:path>
            </a:pathLst>
          </a:custGeom>
          <a:solidFill>
            <a:srgbClr val="112A40"/>
          </a:solidFill>
          <a:ln>
            <a:noFill/>
          </a:ln>
          <a:effectLst>
            <a:outerShdw blurRad="57150" dist="9525" algn="bl" rotWithShape="0">
              <a:srgbClr val="000000"/>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lang="fr-CI" noProof="0"/>
          </a:p>
        </p:txBody>
      </p:sp>
      <p:sp>
        <p:nvSpPr>
          <p:cNvPr id="43" name="Google Shape;7367;p39"/>
          <p:cNvSpPr/>
          <p:nvPr/>
        </p:nvSpPr>
        <p:spPr>
          <a:xfrm rot="16200000">
            <a:off x="7474179" y="3202486"/>
            <a:ext cx="1727953" cy="3719393"/>
          </a:xfrm>
          <a:custGeom>
            <a:avLst/>
            <a:gdLst/>
            <a:ahLst/>
            <a:cxnLst/>
            <a:rect l="l" t="t" r="r" b="b"/>
            <a:pathLst>
              <a:path w="25081" h="54128" extrusionOk="0">
                <a:moveTo>
                  <a:pt x="19843" y="0"/>
                </a:moveTo>
                <a:cubicBezTo>
                  <a:pt x="19654" y="0"/>
                  <a:pt x="19462" y="7"/>
                  <a:pt x="19267" y="21"/>
                </a:cubicBezTo>
                <a:cubicBezTo>
                  <a:pt x="17781" y="125"/>
                  <a:pt x="16282" y="99"/>
                  <a:pt x="14796" y="112"/>
                </a:cubicBezTo>
                <a:cubicBezTo>
                  <a:pt x="13909" y="125"/>
                  <a:pt x="13010" y="112"/>
                  <a:pt x="12123" y="177"/>
                </a:cubicBezTo>
                <a:cubicBezTo>
                  <a:pt x="10272" y="333"/>
                  <a:pt x="8421" y="503"/>
                  <a:pt x="6570" y="633"/>
                </a:cubicBezTo>
                <a:cubicBezTo>
                  <a:pt x="5267" y="738"/>
                  <a:pt x="3989" y="933"/>
                  <a:pt x="2764" y="1259"/>
                </a:cubicBezTo>
                <a:cubicBezTo>
                  <a:pt x="1943" y="1481"/>
                  <a:pt x="1408" y="1872"/>
                  <a:pt x="1226" y="2471"/>
                </a:cubicBezTo>
                <a:cubicBezTo>
                  <a:pt x="991" y="3292"/>
                  <a:pt x="861" y="4140"/>
                  <a:pt x="965" y="4974"/>
                </a:cubicBezTo>
                <a:cubicBezTo>
                  <a:pt x="991" y="5248"/>
                  <a:pt x="1030" y="5508"/>
                  <a:pt x="991" y="5782"/>
                </a:cubicBezTo>
                <a:cubicBezTo>
                  <a:pt x="835" y="6877"/>
                  <a:pt x="678" y="7972"/>
                  <a:pt x="587" y="9067"/>
                </a:cubicBezTo>
                <a:cubicBezTo>
                  <a:pt x="470" y="10488"/>
                  <a:pt x="378" y="11896"/>
                  <a:pt x="300" y="13317"/>
                </a:cubicBezTo>
                <a:cubicBezTo>
                  <a:pt x="274" y="13825"/>
                  <a:pt x="352" y="14333"/>
                  <a:pt x="339" y="14829"/>
                </a:cubicBezTo>
                <a:cubicBezTo>
                  <a:pt x="313" y="15820"/>
                  <a:pt x="157" y="16797"/>
                  <a:pt x="118" y="17775"/>
                </a:cubicBezTo>
                <a:cubicBezTo>
                  <a:pt x="53" y="19391"/>
                  <a:pt x="0" y="21008"/>
                  <a:pt x="40" y="22624"/>
                </a:cubicBezTo>
                <a:cubicBezTo>
                  <a:pt x="66" y="24149"/>
                  <a:pt x="157" y="25661"/>
                  <a:pt x="144" y="27173"/>
                </a:cubicBezTo>
                <a:cubicBezTo>
                  <a:pt x="131" y="28646"/>
                  <a:pt x="105" y="30132"/>
                  <a:pt x="131" y="31605"/>
                </a:cubicBezTo>
                <a:cubicBezTo>
                  <a:pt x="209" y="35412"/>
                  <a:pt x="405" y="39218"/>
                  <a:pt x="274" y="43051"/>
                </a:cubicBezTo>
                <a:cubicBezTo>
                  <a:pt x="235" y="44237"/>
                  <a:pt x="287" y="45436"/>
                  <a:pt x="300" y="46622"/>
                </a:cubicBezTo>
                <a:cubicBezTo>
                  <a:pt x="300" y="46687"/>
                  <a:pt x="300" y="46753"/>
                  <a:pt x="287" y="46818"/>
                </a:cubicBezTo>
                <a:cubicBezTo>
                  <a:pt x="222" y="48004"/>
                  <a:pt x="313" y="49190"/>
                  <a:pt x="535" y="50363"/>
                </a:cubicBezTo>
                <a:cubicBezTo>
                  <a:pt x="665" y="51054"/>
                  <a:pt x="1004" y="51706"/>
                  <a:pt x="1239" y="52384"/>
                </a:cubicBezTo>
                <a:cubicBezTo>
                  <a:pt x="1486" y="53075"/>
                  <a:pt x="2164" y="53492"/>
                  <a:pt x="3129" y="53700"/>
                </a:cubicBezTo>
                <a:cubicBezTo>
                  <a:pt x="3812" y="53854"/>
                  <a:pt x="4517" y="53911"/>
                  <a:pt x="5223" y="53911"/>
                </a:cubicBezTo>
                <a:cubicBezTo>
                  <a:pt x="5299" y="53911"/>
                  <a:pt x="5374" y="53910"/>
                  <a:pt x="5449" y="53909"/>
                </a:cubicBezTo>
                <a:cubicBezTo>
                  <a:pt x="5591" y="53907"/>
                  <a:pt x="5733" y="53906"/>
                  <a:pt x="5875" y="53906"/>
                </a:cubicBezTo>
                <a:cubicBezTo>
                  <a:pt x="7594" y="53906"/>
                  <a:pt x="9293" y="54042"/>
                  <a:pt x="11015" y="54078"/>
                </a:cubicBezTo>
                <a:cubicBezTo>
                  <a:pt x="11655" y="54087"/>
                  <a:pt x="12288" y="54128"/>
                  <a:pt x="12924" y="54128"/>
                </a:cubicBezTo>
                <a:cubicBezTo>
                  <a:pt x="13273" y="54128"/>
                  <a:pt x="13623" y="54115"/>
                  <a:pt x="13974" y="54078"/>
                </a:cubicBezTo>
                <a:cubicBezTo>
                  <a:pt x="15239" y="53948"/>
                  <a:pt x="16516" y="53870"/>
                  <a:pt x="17781" y="53779"/>
                </a:cubicBezTo>
                <a:cubicBezTo>
                  <a:pt x="18850" y="53700"/>
                  <a:pt x="19919" y="53583"/>
                  <a:pt x="20961" y="53375"/>
                </a:cubicBezTo>
                <a:cubicBezTo>
                  <a:pt x="22043" y="53153"/>
                  <a:pt x="22956" y="52749"/>
                  <a:pt x="23503" y="52019"/>
                </a:cubicBezTo>
                <a:cubicBezTo>
                  <a:pt x="23855" y="51537"/>
                  <a:pt x="24142" y="51028"/>
                  <a:pt x="24233" y="50494"/>
                </a:cubicBezTo>
                <a:cubicBezTo>
                  <a:pt x="24416" y="49464"/>
                  <a:pt x="24429" y="48434"/>
                  <a:pt x="24546" y="47404"/>
                </a:cubicBezTo>
                <a:cubicBezTo>
                  <a:pt x="24690" y="45957"/>
                  <a:pt x="24768" y="44510"/>
                  <a:pt x="24833" y="43064"/>
                </a:cubicBezTo>
                <a:cubicBezTo>
                  <a:pt x="24924" y="41395"/>
                  <a:pt x="24898" y="39726"/>
                  <a:pt x="24898" y="38058"/>
                </a:cubicBezTo>
                <a:cubicBezTo>
                  <a:pt x="24885" y="36402"/>
                  <a:pt x="24794" y="34760"/>
                  <a:pt x="24794" y="33104"/>
                </a:cubicBezTo>
                <a:cubicBezTo>
                  <a:pt x="24794" y="31332"/>
                  <a:pt x="24755" y="29546"/>
                  <a:pt x="24768" y="27760"/>
                </a:cubicBezTo>
                <a:cubicBezTo>
                  <a:pt x="24794" y="26196"/>
                  <a:pt x="24807" y="24631"/>
                  <a:pt x="24846" y="23067"/>
                </a:cubicBezTo>
                <a:cubicBezTo>
                  <a:pt x="24885" y="21503"/>
                  <a:pt x="24911" y="19952"/>
                  <a:pt x="24911" y="18387"/>
                </a:cubicBezTo>
                <a:cubicBezTo>
                  <a:pt x="24911" y="16967"/>
                  <a:pt x="24937" y="15533"/>
                  <a:pt x="24989" y="14112"/>
                </a:cubicBezTo>
                <a:cubicBezTo>
                  <a:pt x="25028" y="12795"/>
                  <a:pt x="25081" y="11479"/>
                  <a:pt x="25068" y="10162"/>
                </a:cubicBezTo>
                <a:cubicBezTo>
                  <a:pt x="25068" y="8924"/>
                  <a:pt x="25002" y="7685"/>
                  <a:pt x="24963" y="6447"/>
                </a:cubicBezTo>
                <a:lnTo>
                  <a:pt x="24950" y="6447"/>
                </a:lnTo>
                <a:cubicBezTo>
                  <a:pt x="25055" y="5561"/>
                  <a:pt x="24963" y="4674"/>
                  <a:pt x="24872" y="3801"/>
                </a:cubicBezTo>
                <a:cubicBezTo>
                  <a:pt x="24807" y="3175"/>
                  <a:pt x="24664" y="2562"/>
                  <a:pt x="24403" y="1963"/>
                </a:cubicBezTo>
                <a:cubicBezTo>
                  <a:pt x="24194" y="1481"/>
                  <a:pt x="23803" y="1103"/>
                  <a:pt x="23204" y="803"/>
                </a:cubicBezTo>
                <a:cubicBezTo>
                  <a:pt x="22185" y="293"/>
                  <a:pt x="21087" y="0"/>
                  <a:pt x="19843" y="0"/>
                </a:cubicBezTo>
                <a:close/>
              </a:path>
            </a:pathLst>
          </a:custGeom>
          <a:noFill/>
          <a:ln w="19050">
            <a:solidFill>
              <a:schemeClr val="tx1"/>
            </a:solidFill>
          </a:ln>
          <a:effectLst>
            <a:outerShdw blurRad="57150" dist="9525" algn="bl" rotWithShape="0">
              <a:srgbClr val="000000"/>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lang="fr-CI" noProof="0"/>
          </a:p>
        </p:txBody>
      </p:sp>
      <p:sp>
        <p:nvSpPr>
          <p:cNvPr id="45" name="Rectangle 44"/>
          <p:cNvSpPr/>
          <p:nvPr/>
        </p:nvSpPr>
        <p:spPr>
          <a:xfrm>
            <a:off x="7676960" y="3875619"/>
            <a:ext cx="1322389" cy="295488"/>
          </a:xfrm>
          <a:prstGeom prst="rect">
            <a:avLst/>
          </a:prstGeom>
        </p:spPr>
        <p:txBody>
          <a:bodyPr wrap="none">
            <a:spAutoFit/>
          </a:bodyPr>
          <a:lstStyle/>
          <a:p>
            <a:pPr lvl="0">
              <a:lnSpc>
                <a:spcPct val="110000"/>
              </a:lnSpc>
            </a:pPr>
            <a:r>
              <a:rPr lang="fr-CI" sz="1400" b="1" noProof="0">
                <a:solidFill>
                  <a:schemeClr val="bg1"/>
                </a:solidFill>
                <a:latin typeface="Helvetica" panose="020B0604020202020204" pitchFamily="34" charset="0"/>
                <a:ea typeface="Open Sans Semibold" panose="020B0706030804020204" pitchFamily="34" charset="0"/>
                <a:cs typeface="Helvetica" panose="020B0604020202020204" pitchFamily="34" charset="0"/>
              </a:rPr>
              <a:t>Sortie</a:t>
            </a:r>
          </a:p>
        </p:txBody>
      </p:sp>
      <p:pic>
        <p:nvPicPr>
          <p:cNvPr id="47" name="Image 46"/>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147871" y="3850143"/>
            <a:ext cx="334029" cy="337914"/>
          </a:xfrm>
          <a:prstGeom prst="rect">
            <a:avLst/>
          </a:prstGeom>
        </p:spPr>
      </p:pic>
      <p:pic>
        <p:nvPicPr>
          <p:cNvPr id="50" name="Image 49">
            <a:extLst>
              <a:ext uri="{FF2B5EF4-FFF2-40B4-BE49-F238E27FC236}">
                <a16:creationId xmlns:a16="http://schemas.microsoft.com/office/drawing/2014/main" id="{593DA389-08F4-31D9-6AB9-E96812D83B72}"/>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6768142" y="1475503"/>
            <a:ext cx="294700" cy="294700"/>
          </a:xfrm>
          <a:prstGeom prst="rect">
            <a:avLst/>
          </a:prstGeom>
        </p:spPr>
      </p:pic>
      <p:pic>
        <p:nvPicPr>
          <p:cNvPr id="25" name="Image 24"/>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2156977" y="1457088"/>
            <a:ext cx="281624" cy="284788"/>
          </a:xfrm>
          <a:prstGeom prst="rect">
            <a:avLst/>
          </a:prstGeom>
        </p:spPr>
      </p:pic>
      <p:pic>
        <p:nvPicPr>
          <p:cNvPr id="28" name="Image 27"/>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6791905" y="3883760"/>
            <a:ext cx="270937" cy="276827"/>
          </a:xfrm>
          <a:prstGeom prst="rect">
            <a:avLst/>
          </a:prstGeom>
        </p:spPr>
      </p:pic>
      <p:sp>
        <p:nvSpPr>
          <p:cNvPr id="31" name="Rectangle 30"/>
          <p:cNvSpPr/>
          <p:nvPr/>
        </p:nvSpPr>
        <p:spPr>
          <a:xfrm>
            <a:off x="1999671" y="1962253"/>
            <a:ext cx="3122592" cy="1428712"/>
          </a:xfrm>
          <a:prstGeom prst="rect">
            <a:avLst/>
          </a:prstGeom>
        </p:spPr>
        <p:txBody>
          <a:bodyPr wrap="square">
            <a:spAutoFit/>
          </a:bodyPr>
          <a:lstStyle/>
          <a:p>
            <a:pPr lvl="0" marL="0" indent="0">
              <a:buNone/>
              <a:spcBef>
                <a:spcPts val="300"/>
              </a:spcBef>
              <a:defRPr/>
            </a:pPr>
            <a:r>
              <a:rPr kumimoji="1" lang="fr-CI" sz="1250" b="0" noProof="0">
                <a:latin typeface="Helvetica" panose="020B0604020202020204" pitchFamily="34" charset="0"/>
                <a:cs typeface="Helvetica" panose="020B0604020202020204" pitchFamily="34" charset="0"/>
              </a:rPr>
              <a:t>Base d'analyse et totaux imprimés par les logiciels.</a:t>
            </a:r>
          </a:p>
        </p:txBody>
      </p:sp>
      <p:sp>
        <p:nvSpPr>
          <p:cNvPr id="32" name="Rectangle 31"/>
          <p:cNvSpPr/>
          <p:nvPr/>
        </p:nvSpPr>
        <p:spPr>
          <a:xfrm>
            <a:off x="6623912" y="1926662"/>
            <a:ext cx="3122592" cy="1428712"/>
          </a:xfrm>
          <a:prstGeom prst="rect">
            <a:avLst/>
          </a:prstGeom>
        </p:spPr>
        <p:txBody>
          <a:bodyPr wrap="square">
            <a:spAutoFit/>
          </a:bodyPr>
          <a:lstStyle/>
          <a:p>
            <a:pPr lvl="0" marL="0" indent="0">
              <a:buNone/>
              <a:spcBef>
                <a:spcPts val="300"/>
              </a:spcBef>
              <a:defRPr/>
            </a:pPr>
            <a:r>
              <a:rPr kumimoji="1" lang="fr-CI" sz="1250" b="0" noProof="0">
                <a:latin typeface="Helvetica" panose="020B0604020202020204" pitchFamily="34" charset="0"/>
                <a:cs typeface="Helvetica" panose="020B0604020202020204" pitchFamily="34" charset="0"/>
              </a:rPr>
              <a:t>Le script recalcule les totaux et rapproche les fichiers aller et retour, poste par poste et mois par mois.</a:t>
            </a:r>
          </a:p>
        </p:txBody>
      </p:sp>
      <p:sp>
        <p:nvSpPr>
          <p:cNvPr id="33" name="Rectangle 32"/>
          <p:cNvSpPr/>
          <p:nvPr/>
        </p:nvSpPr>
        <p:spPr>
          <a:xfrm>
            <a:off x="2093705" y="4388689"/>
            <a:ext cx="3122592" cy="1428712"/>
          </a:xfrm>
          <a:prstGeom prst="rect">
            <a:avLst/>
          </a:prstGeom>
        </p:spPr>
        <p:txBody>
          <a:bodyPr wrap="square">
            <a:spAutoFit/>
          </a:bodyPr>
          <a:lstStyle/>
          <a:p>
            <a:pPr lvl="0" marL="0" indent="0">
              <a:buNone/>
              <a:spcBef>
                <a:spcPts val="300"/>
              </a:spcBef>
              <a:defRPr/>
            </a:pPr>
            <a:r>
              <a:rPr kumimoji="1" lang="fr-CI" sz="1250" b="0" noProof="0">
                <a:latin typeface="Helvetica" panose="020B0604020202020204" pitchFamily="34" charset="0"/>
                <a:cs typeface="Helvetica" panose="020B0604020202020204" pitchFamily="34" charset="0"/>
              </a:rPr>
              <a:t>Les 37 balances âgées retrouvent leurs totaux et les 7 exercices sont équilibrés.</a:t>
            </a:r>
          </a:p>
        </p:txBody>
      </p:sp>
      <p:sp>
        <p:nvSpPr>
          <p:cNvPr id="34" name="Rectangle 33"/>
          <p:cNvSpPr/>
          <p:nvPr/>
        </p:nvSpPr>
        <p:spPr>
          <a:xfrm>
            <a:off x="6768142" y="4336111"/>
            <a:ext cx="3122592" cy="1428712"/>
          </a:xfrm>
          <a:prstGeom prst="rect">
            <a:avLst/>
          </a:prstGeom>
        </p:spPr>
        <p:txBody>
          <a:bodyPr wrap="square">
            <a:spAutoFit/>
          </a:bodyPr>
          <a:lstStyle/>
          <a:p>
            <a:pPr lvl="0" marL="0" indent="0">
              <a:buNone/>
              <a:spcBef>
                <a:spcPts val="300"/>
              </a:spcBef>
              <a:defRPr/>
            </a:pPr>
            <a:r>
              <a:rPr kumimoji="1" lang="fr-CI" sz="1250" b="0" noProof="0">
                <a:latin typeface="Helvetica" panose="020B0604020202020204" pitchFamily="34" charset="0"/>
                <a:cs typeface="Helvetica" panose="020B0604020202020204" pitchFamily="34" charset="0"/>
              </a:rPr>
              <a:t>Tableaux de contrôle et anomalies signalées au FPPN.</a:t>
            </a:r>
          </a:p>
        </p:txBody>
      </p:sp>
      <p:sp>
        <p:nvSpPr>
          <p:cNvPr id="51"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Chaîne de traitement : contrôles</a:t>
            </a:r>
          </a:p>
        </p:txBody>
      </p:sp>
      <p:sp>
        <p:nvSpPr>
          <p:cNvPr id="52"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L'étape « Contrôles » transforme une entrée en sortie, avec un contrôle automatique</a:t>
            </a:r>
          </a:p>
        </p:txBody>
      </p:sp>
      <p:sp>
        <p:nvSpPr>
          <p:cNvPr id="53"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Entrée, traitement, contrôle et sortie de l'étape. Schéma modifiable, complété au fil des entretiens</a:t>
            </a:r>
          </a:p>
        </p:txBody>
      </p:sp>
      <p:sp>
        <p:nvSpPr>
          <p:cNvPr id="54"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scripts Python Adenka (dossier scripts de la mission)</a:t>
            </a:r>
          </a:p>
        </p:txBody>
      </p:sp>
      <p:sp>
        <p:nvSpPr>
          <p:cNvPr id="55" name="TextBox 54"/>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a:t>
            </a:r>
          </a:p>
        </p:txBody>
      </p:sp>
    </p:spTree>
    <p:extLst>
      <p:ext uri="{BB962C8B-B14F-4D97-AF65-F5344CB8AC3E}">
        <p14:creationId xmlns:p14="http://schemas.microsoft.com/office/powerpoint/2010/main" val="903839654"/>
      </p:ext>
    </p:extLst>
  </p:cSld>
  <p:clrMapOvr>
    <a:masterClrMapping/>
  </p:clrMapOvr>
  <p:transition>
    <p:fade/>
  </p:transition>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6" name="Image 25"/>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30" name="ZoneTexte 29">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9" name="Google Shape;7386;p39"/>
          <p:cNvSpPr/>
          <p:nvPr/>
        </p:nvSpPr>
        <p:spPr>
          <a:xfrm rot="10800000">
            <a:off x="1748072" y="1436295"/>
            <a:ext cx="3625790" cy="329031"/>
          </a:xfrm>
          <a:custGeom>
            <a:avLst/>
            <a:gdLst/>
            <a:ahLst/>
            <a:cxnLst/>
            <a:rect l="l" t="t" r="r" b="b"/>
            <a:pathLst>
              <a:path w="40007" h="30221" extrusionOk="0">
                <a:moveTo>
                  <a:pt x="19007" y="1"/>
                </a:moveTo>
                <a:cubicBezTo>
                  <a:pt x="17909" y="1"/>
                  <a:pt x="16810" y="17"/>
                  <a:pt x="15708" y="53"/>
                </a:cubicBezTo>
                <a:cubicBezTo>
                  <a:pt x="13270" y="131"/>
                  <a:pt x="10885" y="275"/>
                  <a:pt x="8512" y="548"/>
                </a:cubicBezTo>
                <a:cubicBezTo>
                  <a:pt x="6088" y="835"/>
                  <a:pt x="4524" y="1500"/>
                  <a:pt x="4041" y="2712"/>
                </a:cubicBezTo>
                <a:cubicBezTo>
                  <a:pt x="4015" y="2777"/>
                  <a:pt x="3976" y="2843"/>
                  <a:pt x="3937" y="2908"/>
                </a:cubicBezTo>
                <a:cubicBezTo>
                  <a:pt x="2777" y="4902"/>
                  <a:pt x="2282" y="6949"/>
                  <a:pt x="1734" y="8995"/>
                </a:cubicBezTo>
                <a:cubicBezTo>
                  <a:pt x="1160" y="11120"/>
                  <a:pt x="613" y="13232"/>
                  <a:pt x="391" y="15357"/>
                </a:cubicBezTo>
                <a:cubicBezTo>
                  <a:pt x="183" y="17325"/>
                  <a:pt x="0" y="19293"/>
                  <a:pt x="79" y="21092"/>
                </a:cubicBezTo>
                <a:cubicBezTo>
                  <a:pt x="52" y="23074"/>
                  <a:pt x="144" y="24899"/>
                  <a:pt x="365" y="26710"/>
                </a:cubicBezTo>
                <a:cubicBezTo>
                  <a:pt x="522" y="28079"/>
                  <a:pt x="1721" y="29096"/>
                  <a:pt x="4419" y="29656"/>
                </a:cubicBezTo>
                <a:cubicBezTo>
                  <a:pt x="6296" y="30048"/>
                  <a:pt x="8265" y="30178"/>
                  <a:pt x="10259" y="30204"/>
                </a:cubicBezTo>
                <a:cubicBezTo>
                  <a:pt x="11143" y="30216"/>
                  <a:pt x="12026" y="30220"/>
                  <a:pt x="12908" y="30220"/>
                </a:cubicBezTo>
                <a:cubicBezTo>
                  <a:pt x="15996" y="30220"/>
                  <a:pt x="19078" y="30165"/>
                  <a:pt x="22161" y="30165"/>
                </a:cubicBezTo>
                <a:cubicBezTo>
                  <a:pt x="24859" y="30165"/>
                  <a:pt x="27557" y="30204"/>
                  <a:pt x="30243" y="30204"/>
                </a:cubicBezTo>
                <a:cubicBezTo>
                  <a:pt x="31690" y="30191"/>
                  <a:pt x="33123" y="30113"/>
                  <a:pt x="34505" y="29852"/>
                </a:cubicBezTo>
                <a:cubicBezTo>
                  <a:pt x="35470" y="29683"/>
                  <a:pt x="36330" y="29435"/>
                  <a:pt x="36917" y="29005"/>
                </a:cubicBezTo>
                <a:cubicBezTo>
                  <a:pt x="37881" y="28288"/>
                  <a:pt x="38677" y="27519"/>
                  <a:pt x="39120" y="26684"/>
                </a:cubicBezTo>
                <a:cubicBezTo>
                  <a:pt x="39732" y="25485"/>
                  <a:pt x="39954" y="24260"/>
                  <a:pt x="39954" y="23021"/>
                </a:cubicBezTo>
                <a:cubicBezTo>
                  <a:pt x="39954" y="19372"/>
                  <a:pt x="40006" y="15709"/>
                  <a:pt x="39563" y="12059"/>
                </a:cubicBezTo>
                <a:cubicBezTo>
                  <a:pt x="39367" y="10403"/>
                  <a:pt x="39485" y="8748"/>
                  <a:pt x="39237" y="7105"/>
                </a:cubicBezTo>
                <a:cubicBezTo>
                  <a:pt x="39068" y="6023"/>
                  <a:pt x="38794" y="4941"/>
                  <a:pt x="37920" y="3938"/>
                </a:cubicBezTo>
                <a:cubicBezTo>
                  <a:pt x="37282" y="3208"/>
                  <a:pt x="36773" y="2438"/>
                  <a:pt x="35665" y="1826"/>
                </a:cubicBezTo>
                <a:cubicBezTo>
                  <a:pt x="34192" y="1031"/>
                  <a:pt x="32237" y="666"/>
                  <a:pt x="30138" y="496"/>
                </a:cubicBezTo>
                <a:cubicBezTo>
                  <a:pt x="26451" y="194"/>
                  <a:pt x="22741" y="1"/>
                  <a:pt x="19007" y="1"/>
                </a:cubicBezTo>
                <a:close/>
              </a:path>
            </a:pathLst>
          </a:custGeom>
          <a:solidFill>
            <a:srgbClr val="112A40"/>
          </a:solidFill>
          <a:ln>
            <a:noFill/>
          </a:ln>
          <a:effectLst>
            <a:outerShdw blurRad="57150" dist="9525" algn="bl" rotWithShape="0">
              <a:srgbClr val="000000"/>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lang="fr-CI" noProof="0"/>
          </a:p>
        </p:txBody>
      </p:sp>
      <p:sp>
        <p:nvSpPr>
          <p:cNvPr id="10" name="Google Shape;7367;p39"/>
          <p:cNvSpPr/>
          <p:nvPr/>
        </p:nvSpPr>
        <p:spPr>
          <a:xfrm rot="16200000">
            <a:off x="2201124" y="215006"/>
            <a:ext cx="2027916" cy="4306666"/>
          </a:xfrm>
          <a:custGeom>
            <a:avLst/>
            <a:gdLst/>
            <a:ahLst/>
            <a:cxnLst/>
            <a:rect l="l" t="t" r="r" b="b"/>
            <a:pathLst>
              <a:path w="25081" h="54128" extrusionOk="0">
                <a:moveTo>
                  <a:pt x="19843" y="0"/>
                </a:moveTo>
                <a:cubicBezTo>
                  <a:pt x="19654" y="0"/>
                  <a:pt x="19462" y="7"/>
                  <a:pt x="19267" y="21"/>
                </a:cubicBezTo>
                <a:cubicBezTo>
                  <a:pt x="17781" y="125"/>
                  <a:pt x="16282" y="99"/>
                  <a:pt x="14796" y="112"/>
                </a:cubicBezTo>
                <a:cubicBezTo>
                  <a:pt x="13909" y="125"/>
                  <a:pt x="13010" y="112"/>
                  <a:pt x="12123" y="177"/>
                </a:cubicBezTo>
                <a:cubicBezTo>
                  <a:pt x="10272" y="333"/>
                  <a:pt x="8421" y="503"/>
                  <a:pt x="6570" y="633"/>
                </a:cubicBezTo>
                <a:cubicBezTo>
                  <a:pt x="5267" y="738"/>
                  <a:pt x="3989" y="933"/>
                  <a:pt x="2764" y="1259"/>
                </a:cubicBezTo>
                <a:cubicBezTo>
                  <a:pt x="1943" y="1481"/>
                  <a:pt x="1408" y="1872"/>
                  <a:pt x="1226" y="2471"/>
                </a:cubicBezTo>
                <a:cubicBezTo>
                  <a:pt x="991" y="3292"/>
                  <a:pt x="861" y="4140"/>
                  <a:pt x="965" y="4974"/>
                </a:cubicBezTo>
                <a:cubicBezTo>
                  <a:pt x="991" y="5248"/>
                  <a:pt x="1030" y="5508"/>
                  <a:pt x="991" y="5782"/>
                </a:cubicBezTo>
                <a:cubicBezTo>
                  <a:pt x="835" y="6877"/>
                  <a:pt x="678" y="7972"/>
                  <a:pt x="587" y="9067"/>
                </a:cubicBezTo>
                <a:cubicBezTo>
                  <a:pt x="470" y="10488"/>
                  <a:pt x="378" y="11896"/>
                  <a:pt x="300" y="13317"/>
                </a:cubicBezTo>
                <a:cubicBezTo>
                  <a:pt x="274" y="13825"/>
                  <a:pt x="352" y="14333"/>
                  <a:pt x="339" y="14829"/>
                </a:cubicBezTo>
                <a:cubicBezTo>
                  <a:pt x="313" y="15820"/>
                  <a:pt x="157" y="16797"/>
                  <a:pt x="118" y="17775"/>
                </a:cubicBezTo>
                <a:cubicBezTo>
                  <a:pt x="53" y="19391"/>
                  <a:pt x="0" y="21008"/>
                  <a:pt x="40" y="22624"/>
                </a:cubicBezTo>
                <a:cubicBezTo>
                  <a:pt x="66" y="24149"/>
                  <a:pt x="157" y="25661"/>
                  <a:pt x="144" y="27173"/>
                </a:cubicBezTo>
                <a:cubicBezTo>
                  <a:pt x="131" y="28646"/>
                  <a:pt x="105" y="30132"/>
                  <a:pt x="131" y="31605"/>
                </a:cubicBezTo>
                <a:cubicBezTo>
                  <a:pt x="209" y="35412"/>
                  <a:pt x="405" y="39218"/>
                  <a:pt x="274" y="43051"/>
                </a:cubicBezTo>
                <a:cubicBezTo>
                  <a:pt x="235" y="44237"/>
                  <a:pt x="287" y="45436"/>
                  <a:pt x="300" y="46622"/>
                </a:cubicBezTo>
                <a:cubicBezTo>
                  <a:pt x="300" y="46687"/>
                  <a:pt x="300" y="46753"/>
                  <a:pt x="287" y="46818"/>
                </a:cubicBezTo>
                <a:cubicBezTo>
                  <a:pt x="222" y="48004"/>
                  <a:pt x="313" y="49190"/>
                  <a:pt x="535" y="50363"/>
                </a:cubicBezTo>
                <a:cubicBezTo>
                  <a:pt x="665" y="51054"/>
                  <a:pt x="1004" y="51706"/>
                  <a:pt x="1239" y="52384"/>
                </a:cubicBezTo>
                <a:cubicBezTo>
                  <a:pt x="1486" y="53075"/>
                  <a:pt x="2164" y="53492"/>
                  <a:pt x="3129" y="53700"/>
                </a:cubicBezTo>
                <a:cubicBezTo>
                  <a:pt x="3812" y="53854"/>
                  <a:pt x="4517" y="53911"/>
                  <a:pt x="5223" y="53911"/>
                </a:cubicBezTo>
                <a:cubicBezTo>
                  <a:pt x="5299" y="53911"/>
                  <a:pt x="5374" y="53910"/>
                  <a:pt x="5449" y="53909"/>
                </a:cubicBezTo>
                <a:cubicBezTo>
                  <a:pt x="5591" y="53907"/>
                  <a:pt x="5733" y="53906"/>
                  <a:pt x="5875" y="53906"/>
                </a:cubicBezTo>
                <a:cubicBezTo>
                  <a:pt x="7594" y="53906"/>
                  <a:pt x="9293" y="54042"/>
                  <a:pt x="11015" y="54078"/>
                </a:cubicBezTo>
                <a:cubicBezTo>
                  <a:pt x="11655" y="54087"/>
                  <a:pt x="12288" y="54128"/>
                  <a:pt x="12924" y="54128"/>
                </a:cubicBezTo>
                <a:cubicBezTo>
                  <a:pt x="13273" y="54128"/>
                  <a:pt x="13623" y="54115"/>
                  <a:pt x="13974" y="54078"/>
                </a:cubicBezTo>
                <a:cubicBezTo>
                  <a:pt x="15239" y="53948"/>
                  <a:pt x="16516" y="53870"/>
                  <a:pt x="17781" y="53779"/>
                </a:cubicBezTo>
                <a:cubicBezTo>
                  <a:pt x="18850" y="53700"/>
                  <a:pt x="19919" y="53583"/>
                  <a:pt x="20961" y="53375"/>
                </a:cubicBezTo>
                <a:cubicBezTo>
                  <a:pt x="22043" y="53153"/>
                  <a:pt x="22956" y="52749"/>
                  <a:pt x="23503" y="52019"/>
                </a:cubicBezTo>
                <a:cubicBezTo>
                  <a:pt x="23855" y="51537"/>
                  <a:pt x="24142" y="51028"/>
                  <a:pt x="24233" y="50494"/>
                </a:cubicBezTo>
                <a:cubicBezTo>
                  <a:pt x="24416" y="49464"/>
                  <a:pt x="24429" y="48434"/>
                  <a:pt x="24546" y="47404"/>
                </a:cubicBezTo>
                <a:cubicBezTo>
                  <a:pt x="24690" y="45957"/>
                  <a:pt x="24768" y="44510"/>
                  <a:pt x="24833" y="43064"/>
                </a:cubicBezTo>
                <a:cubicBezTo>
                  <a:pt x="24924" y="41395"/>
                  <a:pt x="24898" y="39726"/>
                  <a:pt x="24898" y="38058"/>
                </a:cubicBezTo>
                <a:cubicBezTo>
                  <a:pt x="24885" y="36402"/>
                  <a:pt x="24794" y="34760"/>
                  <a:pt x="24794" y="33104"/>
                </a:cubicBezTo>
                <a:cubicBezTo>
                  <a:pt x="24794" y="31332"/>
                  <a:pt x="24755" y="29546"/>
                  <a:pt x="24768" y="27760"/>
                </a:cubicBezTo>
                <a:cubicBezTo>
                  <a:pt x="24794" y="26196"/>
                  <a:pt x="24807" y="24631"/>
                  <a:pt x="24846" y="23067"/>
                </a:cubicBezTo>
                <a:cubicBezTo>
                  <a:pt x="24885" y="21503"/>
                  <a:pt x="24911" y="19952"/>
                  <a:pt x="24911" y="18387"/>
                </a:cubicBezTo>
                <a:cubicBezTo>
                  <a:pt x="24911" y="16967"/>
                  <a:pt x="24937" y="15533"/>
                  <a:pt x="24989" y="14112"/>
                </a:cubicBezTo>
                <a:cubicBezTo>
                  <a:pt x="25028" y="12795"/>
                  <a:pt x="25081" y="11479"/>
                  <a:pt x="25068" y="10162"/>
                </a:cubicBezTo>
                <a:cubicBezTo>
                  <a:pt x="25068" y="8924"/>
                  <a:pt x="25002" y="7685"/>
                  <a:pt x="24963" y="6447"/>
                </a:cubicBezTo>
                <a:lnTo>
                  <a:pt x="24950" y="6447"/>
                </a:lnTo>
                <a:cubicBezTo>
                  <a:pt x="25055" y="5561"/>
                  <a:pt x="24963" y="4674"/>
                  <a:pt x="24872" y="3801"/>
                </a:cubicBezTo>
                <a:cubicBezTo>
                  <a:pt x="24807" y="3175"/>
                  <a:pt x="24664" y="2562"/>
                  <a:pt x="24403" y="1963"/>
                </a:cubicBezTo>
                <a:cubicBezTo>
                  <a:pt x="24194" y="1481"/>
                  <a:pt x="23803" y="1103"/>
                  <a:pt x="23204" y="803"/>
                </a:cubicBezTo>
                <a:cubicBezTo>
                  <a:pt x="22185" y="293"/>
                  <a:pt x="21087" y="0"/>
                  <a:pt x="19843" y="0"/>
                </a:cubicBezTo>
                <a:close/>
              </a:path>
            </a:pathLst>
          </a:custGeom>
          <a:noFill/>
          <a:ln w="19050">
            <a:solidFill>
              <a:schemeClr val="tx1"/>
            </a:solidFill>
          </a:ln>
          <a:effectLst>
            <a:outerShdw blurRad="57150" dist="9525" algn="bl" rotWithShape="0">
              <a:srgbClr val="000000"/>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lang="fr-CI" noProof="0"/>
          </a:p>
        </p:txBody>
      </p:sp>
      <p:sp>
        <p:nvSpPr>
          <p:cNvPr id="4" name="Rectangle 3"/>
          <p:cNvSpPr/>
          <p:nvPr/>
        </p:nvSpPr>
        <p:spPr>
          <a:xfrm>
            <a:off x="2946575" y="1442741"/>
            <a:ext cx="1322389" cy="295488"/>
          </a:xfrm>
          <a:prstGeom prst="rect">
            <a:avLst/>
          </a:prstGeom>
        </p:spPr>
        <p:txBody>
          <a:bodyPr wrap="none">
            <a:spAutoFit/>
          </a:bodyPr>
          <a:lstStyle/>
          <a:p>
            <a:pPr lvl="0">
              <a:lnSpc>
                <a:spcPct val="110000"/>
              </a:lnSpc>
            </a:pPr>
            <a:r>
              <a:rPr lang="fr-CI" sz="1400" b="1" noProof="0">
                <a:solidFill>
                  <a:schemeClr val="bg1"/>
                </a:solidFill>
                <a:latin typeface="Helvetica" panose="020B0604020202020204" pitchFamily="34" charset="0"/>
                <a:ea typeface="Open Sans Semibold" panose="020B0706030804020204" pitchFamily="34" charset="0"/>
                <a:cs typeface="Helvetica" panose="020B0604020202020204" pitchFamily="34" charset="0"/>
              </a:rPr>
              <a:t>Entrée</a:t>
            </a:r>
          </a:p>
        </p:txBody>
      </p:sp>
      <p:sp>
        <p:nvSpPr>
          <p:cNvPr id="20" name="Google Shape;7386;p39"/>
          <p:cNvSpPr/>
          <p:nvPr/>
        </p:nvSpPr>
        <p:spPr>
          <a:xfrm rot="10800000">
            <a:off x="6372314" y="1459724"/>
            <a:ext cx="3625790" cy="329031"/>
          </a:xfrm>
          <a:custGeom>
            <a:avLst/>
            <a:gdLst/>
            <a:ahLst/>
            <a:cxnLst/>
            <a:rect l="l" t="t" r="r" b="b"/>
            <a:pathLst>
              <a:path w="40007" h="30221" extrusionOk="0">
                <a:moveTo>
                  <a:pt x="19007" y="1"/>
                </a:moveTo>
                <a:cubicBezTo>
                  <a:pt x="17909" y="1"/>
                  <a:pt x="16810" y="17"/>
                  <a:pt x="15708" y="53"/>
                </a:cubicBezTo>
                <a:cubicBezTo>
                  <a:pt x="13270" y="131"/>
                  <a:pt x="10885" y="275"/>
                  <a:pt x="8512" y="548"/>
                </a:cubicBezTo>
                <a:cubicBezTo>
                  <a:pt x="6088" y="835"/>
                  <a:pt x="4524" y="1500"/>
                  <a:pt x="4041" y="2712"/>
                </a:cubicBezTo>
                <a:cubicBezTo>
                  <a:pt x="4015" y="2777"/>
                  <a:pt x="3976" y="2843"/>
                  <a:pt x="3937" y="2908"/>
                </a:cubicBezTo>
                <a:cubicBezTo>
                  <a:pt x="2777" y="4902"/>
                  <a:pt x="2282" y="6949"/>
                  <a:pt x="1734" y="8995"/>
                </a:cubicBezTo>
                <a:cubicBezTo>
                  <a:pt x="1160" y="11120"/>
                  <a:pt x="613" y="13232"/>
                  <a:pt x="391" y="15357"/>
                </a:cubicBezTo>
                <a:cubicBezTo>
                  <a:pt x="183" y="17325"/>
                  <a:pt x="0" y="19293"/>
                  <a:pt x="79" y="21092"/>
                </a:cubicBezTo>
                <a:cubicBezTo>
                  <a:pt x="52" y="23074"/>
                  <a:pt x="144" y="24899"/>
                  <a:pt x="365" y="26710"/>
                </a:cubicBezTo>
                <a:cubicBezTo>
                  <a:pt x="522" y="28079"/>
                  <a:pt x="1721" y="29096"/>
                  <a:pt x="4419" y="29656"/>
                </a:cubicBezTo>
                <a:cubicBezTo>
                  <a:pt x="6296" y="30048"/>
                  <a:pt x="8265" y="30178"/>
                  <a:pt x="10259" y="30204"/>
                </a:cubicBezTo>
                <a:cubicBezTo>
                  <a:pt x="11143" y="30216"/>
                  <a:pt x="12026" y="30220"/>
                  <a:pt x="12908" y="30220"/>
                </a:cubicBezTo>
                <a:cubicBezTo>
                  <a:pt x="15996" y="30220"/>
                  <a:pt x="19078" y="30165"/>
                  <a:pt x="22161" y="30165"/>
                </a:cubicBezTo>
                <a:cubicBezTo>
                  <a:pt x="24859" y="30165"/>
                  <a:pt x="27557" y="30204"/>
                  <a:pt x="30243" y="30204"/>
                </a:cubicBezTo>
                <a:cubicBezTo>
                  <a:pt x="31690" y="30191"/>
                  <a:pt x="33123" y="30113"/>
                  <a:pt x="34505" y="29852"/>
                </a:cubicBezTo>
                <a:cubicBezTo>
                  <a:pt x="35470" y="29683"/>
                  <a:pt x="36330" y="29435"/>
                  <a:pt x="36917" y="29005"/>
                </a:cubicBezTo>
                <a:cubicBezTo>
                  <a:pt x="37881" y="28288"/>
                  <a:pt x="38677" y="27519"/>
                  <a:pt x="39120" y="26684"/>
                </a:cubicBezTo>
                <a:cubicBezTo>
                  <a:pt x="39732" y="25485"/>
                  <a:pt x="39954" y="24260"/>
                  <a:pt x="39954" y="23021"/>
                </a:cubicBezTo>
                <a:cubicBezTo>
                  <a:pt x="39954" y="19372"/>
                  <a:pt x="40006" y="15709"/>
                  <a:pt x="39563" y="12059"/>
                </a:cubicBezTo>
                <a:cubicBezTo>
                  <a:pt x="39367" y="10403"/>
                  <a:pt x="39485" y="8748"/>
                  <a:pt x="39237" y="7105"/>
                </a:cubicBezTo>
                <a:cubicBezTo>
                  <a:pt x="39068" y="6023"/>
                  <a:pt x="38794" y="4941"/>
                  <a:pt x="37920" y="3938"/>
                </a:cubicBezTo>
                <a:cubicBezTo>
                  <a:pt x="37282" y="3208"/>
                  <a:pt x="36773" y="2438"/>
                  <a:pt x="35665" y="1826"/>
                </a:cubicBezTo>
                <a:cubicBezTo>
                  <a:pt x="34192" y="1031"/>
                  <a:pt x="32237" y="666"/>
                  <a:pt x="30138" y="496"/>
                </a:cubicBezTo>
                <a:cubicBezTo>
                  <a:pt x="26451" y="194"/>
                  <a:pt x="22741" y="1"/>
                  <a:pt x="19007" y="1"/>
                </a:cubicBezTo>
                <a:close/>
              </a:path>
            </a:pathLst>
          </a:custGeom>
          <a:solidFill>
            <a:srgbClr val="112A40"/>
          </a:solidFill>
          <a:ln>
            <a:noFill/>
          </a:ln>
          <a:effectLst>
            <a:outerShdw blurRad="57150" dist="9525" algn="bl" rotWithShape="0">
              <a:srgbClr val="000000"/>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lang="fr-CI" noProof="0"/>
          </a:p>
        </p:txBody>
      </p:sp>
      <p:sp>
        <p:nvSpPr>
          <p:cNvPr id="21" name="Google Shape;7367;p39"/>
          <p:cNvSpPr/>
          <p:nvPr/>
        </p:nvSpPr>
        <p:spPr>
          <a:xfrm rot="16200000">
            <a:off x="7569073" y="228570"/>
            <a:ext cx="2000788" cy="4306666"/>
          </a:xfrm>
          <a:custGeom>
            <a:avLst/>
            <a:gdLst/>
            <a:ahLst/>
            <a:cxnLst/>
            <a:rect l="l" t="t" r="r" b="b"/>
            <a:pathLst>
              <a:path w="25081" h="54128" extrusionOk="0">
                <a:moveTo>
                  <a:pt x="19843" y="0"/>
                </a:moveTo>
                <a:cubicBezTo>
                  <a:pt x="19654" y="0"/>
                  <a:pt x="19462" y="7"/>
                  <a:pt x="19267" y="21"/>
                </a:cubicBezTo>
                <a:cubicBezTo>
                  <a:pt x="17781" y="125"/>
                  <a:pt x="16282" y="99"/>
                  <a:pt x="14796" y="112"/>
                </a:cubicBezTo>
                <a:cubicBezTo>
                  <a:pt x="13909" y="125"/>
                  <a:pt x="13010" y="112"/>
                  <a:pt x="12123" y="177"/>
                </a:cubicBezTo>
                <a:cubicBezTo>
                  <a:pt x="10272" y="333"/>
                  <a:pt x="8421" y="503"/>
                  <a:pt x="6570" y="633"/>
                </a:cubicBezTo>
                <a:cubicBezTo>
                  <a:pt x="5267" y="738"/>
                  <a:pt x="3989" y="933"/>
                  <a:pt x="2764" y="1259"/>
                </a:cubicBezTo>
                <a:cubicBezTo>
                  <a:pt x="1943" y="1481"/>
                  <a:pt x="1408" y="1872"/>
                  <a:pt x="1226" y="2471"/>
                </a:cubicBezTo>
                <a:cubicBezTo>
                  <a:pt x="991" y="3292"/>
                  <a:pt x="861" y="4140"/>
                  <a:pt x="965" y="4974"/>
                </a:cubicBezTo>
                <a:cubicBezTo>
                  <a:pt x="991" y="5248"/>
                  <a:pt x="1030" y="5508"/>
                  <a:pt x="991" y="5782"/>
                </a:cubicBezTo>
                <a:cubicBezTo>
                  <a:pt x="835" y="6877"/>
                  <a:pt x="678" y="7972"/>
                  <a:pt x="587" y="9067"/>
                </a:cubicBezTo>
                <a:cubicBezTo>
                  <a:pt x="470" y="10488"/>
                  <a:pt x="378" y="11896"/>
                  <a:pt x="300" y="13317"/>
                </a:cubicBezTo>
                <a:cubicBezTo>
                  <a:pt x="274" y="13825"/>
                  <a:pt x="352" y="14333"/>
                  <a:pt x="339" y="14829"/>
                </a:cubicBezTo>
                <a:cubicBezTo>
                  <a:pt x="313" y="15820"/>
                  <a:pt x="157" y="16797"/>
                  <a:pt x="118" y="17775"/>
                </a:cubicBezTo>
                <a:cubicBezTo>
                  <a:pt x="53" y="19391"/>
                  <a:pt x="0" y="21008"/>
                  <a:pt x="40" y="22624"/>
                </a:cubicBezTo>
                <a:cubicBezTo>
                  <a:pt x="66" y="24149"/>
                  <a:pt x="157" y="25661"/>
                  <a:pt x="144" y="27173"/>
                </a:cubicBezTo>
                <a:cubicBezTo>
                  <a:pt x="131" y="28646"/>
                  <a:pt x="105" y="30132"/>
                  <a:pt x="131" y="31605"/>
                </a:cubicBezTo>
                <a:cubicBezTo>
                  <a:pt x="209" y="35412"/>
                  <a:pt x="405" y="39218"/>
                  <a:pt x="274" y="43051"/>
                </a:cubicBezTo>
                <a:cubicBezTo>
                  <a:pt x="235" y="44237"/>
                  <a:pt x="287" y="45436"/>
                  <a:pt x="300" y="46622"/>
                </a:cubicBezTo>
                <a:cubicBezTo>
                  <a:pt x="300" y="46687"/>
                  <a:pt x="300" y="46753"/>
                  <a:pt x="287" y="46818"/>
                </a:cubicBezTo>
                <a:cubicBezTo>
                  <a:pt x="222" y="48004"/>
                  <a:pt x="313" y="49190"/>
                  <a:pt x="535" y="50363"/>
                </a:cubicBezTo>
                <a:cubicBezTo>
                  <a:pt x="665" y="51054"/>
                  <a:pt x="1004" y="51706"/>
                  <a:pt x="1239" y="52384"/>
                </a:cubicBezTo>
                <a:cubicBezTo>
                  <a:pt x="1486" y="53075"/>
                  <a:pt x="2164" y="53492"/>
                  <a:pt x="3129" y="53700"/>
                </a:cubicBezTo>
                <a:cubicBezTo>
                  <a:pt x="3812" y="53854"/>
                  <a:pt x="4517" y="53911"/>
                  <a:pt x="5223" y="53911"/>
                </a:cubicBezTo>
                <a:cubicBezTo>
                  <a:pt x="5299" y="53911"/>
                  <a:pt x="5374" y="53910"/>
                  <a:pt x="5449" y="53909"/>
                </a:cubicBezTo>
                <a:cubicBezTo>
                  <a:pt x="5591" y="53907"/>
                  <a:pt x="5733" y="53906"/>
                  <a:pt x="5875" y="53906"/>
                </a:cubicBezTo>
                <a:cubicBezTo>
                  <a:pt x="7594" y="53906"/>
                  <a:pt x="9293" y="54042"/>
                  <a:pt x="11015" y="54078"/>
                </a:cubicBezTo>
                <a:cubicBezTo>
                  <a:pt x="11655" y="54087"/>
                  <a:pt x="12288" y="54128"/>
                  <a:pt x="12924" y="54128"/>
                </a:cubicBezTo>
                <a:cubicBezTo>
                  <a:pt x="13273" y="54128"/>
                  <a:pt x="13623" y="54115"/>
                  <a:pt x="13974" y="54078"/>
                </a:cubicBezTo>
                <a:cubicBezTo>
                  <a:pt x="15239" y="53948"/>
                  <a:pt x="16516" y="53870"/>
                  <a:pt x="17781" y="53779"/>
                </a:cubicBezTo>
                <a:cubicBezTo>
                  <a:pt x="18850" y="53700"/>
                  <a:pt x="19919" y="53583"/>
                  <a:pt x="20961" y="53375"/>
                </a:cubicBezTo>
                <a:cubicBezTo>
                  <a:pt x="22043" y="53153"/>
                  <a:pt x="22956" y="52749"/>
                  <a:pt x="23503" y="52019"/>
                </a:cubicBezTo>
                <a:cubicBezTo>
                  <a:pt x="23855" y="51537"/>
                  <a:pt x="24142" y="51028"/>
                  <a:pt x="24233" y="50494"/>
                </a:cubicBezTo>
                <a:cubicBezTo>
                  <a:pt x="24416" y="49464"/>
                  <a:pt x="24429" y="48434"/>
                  <a:pt x="24546" y="47404"/>
                </a:cubicBezTo>
                <a:cubicBezTo>
                  <a:pt x="24690" y="45957"/>
                  <a:pt x="24768" y="44510"/>
                  <a:pt x="24833" y="43064"/>
                </a:cubicBezTo>
                <a:cubicBezTo>
                  <a:pt x="24924" y="41395"/>
                  <a:pt x="24898" y="39726"/>
                  <a:pt x="24898" y="38058"/>
                </a:cubicBezTo>
                <a:cubicBezTo>
                  <a:pt x="24885" y="36402"/>
                  <a:pt x="24794" y="34760"/>
                  <a:pt x="24794" y="33104"/>
                </a:cubicBezTo>
                <a:cubicBezTo>
                  <a:pt x="24794" y="31332"/>
                  <a:pt x="24755" y="29546"/>
                  <a:pt x="24768" y="27760"/>
                </a:cubicBezTo>
                <a:cubicBezTo>
                  <a:pt x="24794" y="26196"/>
                  <a:pt x="24807" y="24631"/>
                  <a:pt x="24846" y="23067"/>
                </a:cubicBezTo>
                <a:cubicBezTo>
                  <a:pt x="24885" y="21503"/>
                  <a:pt x="24911" y="19952"/>
                  <a:pt x="24911" y="18387"/>
                </a:cubicBezTo>
                <a:cubicBezTo>
                  <a:pt x="24911" y="16967"/>
                  <a:pt x="24937" y="15533"/>
                  <a:pt x="24989" y="14112"/>
                </a:cubicBezTo>
                <a:cubicBezTo>
                  <a:pt x="25028" y="12795"/>
                  <a:pt x="25081" y="11479"/>
                  <a:pt x="25068" y="10162"/>
                </a:cubicBezTo>
                <a:cubicBezTo>
                  <a:pt x="25068" y="8924"/>
                  <a:pt x="25002" y="7685"/>
                  <a:pt x="24963" y="6447"/>
                </a:cubicBezTo>
                <a:lnTo>
                  <a:pt x="24950" y="6447"/>
                </a:lnTo>
                <a:cubicBezTo>
                  <a:pt x="25055" y="5561"/>
                  <a:pt x="24963" y="4674"/>
                  <a:pt x="24872" y="3801"/>
                </a:cubicBezTo>
                <a:cubicBezTo>
                  <a:pt x="24807" y="3175"/>
                  <a:pt x="24664" y="2562"/>
                  <a:pt x="24403" y="1963"/>
                </a:cubicBezTo>
                <a:cubicBezTo>
                  <a:pt x="24194" y="1481"/>
                  <a:pt x="23803" y="1103"/>
                  <a:pt x="23204" y="803"/>
                </a:cubicBezTo>
                <a:cubicBezTo>
                  <a:pt x="22185" y="293"/>
                  <a:pt x="21087" y="0"/>
                  <a:pt x="19843" y="0"/>
                </a:cubicBezTo>
                <a:close/>
              </a:path>
            </a:pathLst>
          </a:custGeom>
          <a:noFill/>
          <a:ln w="19050">
            <a:solidFill>
              <a:srgbClr val="060606"/>
            </a:solidFill>
          </a:ln>
          <a:effectLst>
            <a:outerShdw blurRad="57150" dist="9525" algn="bl" rotWithShape="0">
              <a:srgbClr val="000000"/>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lang="fr-CI" noProof="0"/>
          </a:p>
        </p:txBody>
      </p:sp>
      <p:sp>
        <p:nvSpPr>
          <p:cNvPr id="24" name="Rectangle 23"/>
          <p:cNvSpPr/>
          <p:nvPr/>
        </p:nvSpPr>
        <p:spPr>
          <a:xfrm>
            <a:off x="7570816" y="1466170"/>
            <a:ext cx="1322389" cy="295488"/>
          </a:xfrm>
          <a:prstGeom prst="rect">
            <a:avLst/>
          </a:prstGeom>
        </p:spPr>
        <p:txBody>
          <a:bodyPr wrap="none">
            <a:spAutoFit/>
          </a:bodyPr>
          <a:lstStyle/>
          <a:p>
            <a:pPr lvl="0">
              <a:lnSpc>
                <a:spcPct val="110000"/>
              </a:lnSpc>
            </a:pPr>
            <a:r>
              <a:rPr lang="fr-CI" sz="1400" b="1" noProof="0">
                <a:solidFill>
                  <a:schemeClr val="bg1"/>
                </a:solidFill>
                <a:latin typeface="Helvetica" panose="020B0604020202020204" pitchFamily="34" charset="0"/>
                <a:ea typeface="Open Sans Semibold" panose="020B0706030804020204" pitchFamily="34" charset="0"/>
                <a:cs typeface="Helvetica" panose="020B0604020202020204" pitchFamily="34" charset="0"/>
              </a:rPr>
              <a:t>Traitement</a:t>
            </a:r>
          </a:p>
        </p:txBody>
      </p:sp>
      <p:sp>
        <p:nvSpPr>
          <p:cNvPr id="37" name="Google Shape;7386;p39"/>
          <p:cNvSpPr/>
          <p:nvPr/>
        </p:nvSpPr>
        <p:spPr>
          <a:xfrm rot="10800000">
            <a:off x="1854215" y="3845744"/>
            <a:ext cx="3625790" cy="329031"/>
          </a:xfrm>
          <a:custGeom>
            <a:avLst/>
            <a:gdLst/>
            <a:ahLst/>
            <a:cxnLst/>
            <a:rect l="l" t="t" r="r" b="b"/>
            <a:pathLst>
              <a:path w="40007" h="30221" extrusionOk="0">
                <a:moveTo>
                  <a:pt x="19007" y="1"/>
                </a:moveTo>
                <a:cubicBezTo>
                  <a:pt x="17909" y="1"/>
                  <a:pt x="16810" y="17"/>
                  <a:pt x="15708" y="53"/>
                </a:cubicBezTo>
                <a:cubicBezTo>
                  <a:pt x="13270" y="131"/>
                  <a:pt x="10885" y="275"/>
                  <a:pt x="8512" y="548"/>
                </a:cubicBezTo>
                <a:cubicBezTo>
                  <a:pt x="6088" y="835"/>
                  <a:pt x="4524" y="1500"/>
                  <a:pt x="4041" y="2712"/>
                </a:cubicBezTo>
                <a:cubicBezTo>
                  <a:pt x="4015" y="2777"/>
                  <a:pt x="3976" y="2843"/>
                  <a:pt x="3937" y="2908"/>
                </a:cubicBezTo>
                <a:cubicBezTo>
                  <a:pt x="2777" y="4902"/>
                  <a:pt x="2282" y="6949"/>
                  <a:pt x="1734" y="8995"/>
                </a:cubicBezTo>
                <a:cubicBezTo>
                  <a:pt x="1160" y="11120"/>
                  <a:pt x="613" y="13232"/>
                  <a:pt x="391" y="15357"/>
                </a:cubicBezTo>
                <a:cubicBezTo>
                  <a:pt x="183" y="17325"/>
                  <a:pt x="0" y="19293"/>
                  <a:pt x="79" y="21092"/>
                </a:cubicBezTo>
                <a:cubicBezTo>
                  <a:pt x="52" y="23074"/>
                  <a:pt x="144" y="24899"/>
                  <a:pt x="365" y="26710"/>
                </a:cubicBezTo>
                <a:cubicBezTo>
                  <a:pt x="522" y="28079"/>
                  <a:pt x="1721" y="29096"/>
                  <a:pt x="4419" y="29656"/>
                </a:cubicBezTo>
                <a:cubicBezTo>
                  <a:pt x="6296" y="30048"/>
                  <a:pt x="8265" y="30178"/>
                  <a:pt x="10259" y="30204"/>
                </a:cubicBezTo>
                <a:cubicBezTo>
                  <a:pt x="11143" y="30216"/>
                  <a:pt x="12026" y="30220"/>
                  <a:pt x="12908" y="30220"/>
                </a:cubicBezTo>
                <a:cubicBezTo>
                  <a:pt x="15996" y="30220"/>
                  <a:pt x="19078" y="30165"/>
                  <a:pt x="22161" y="30165"/>
                </a:cubicBezTo>
                <a:cubicBezTo>
                  <a:pt x="24859" y="30165"/>
                  <a:pt x="27557" y="30204"/>
                  <a:pt x="30243" y="30204"/>
                </a:cubicBezTo>
                <a:cubicBezTo>
                  <a:pt x="31690" y="30191"/>
                  <a:pt x="33123" y="30113"/>
                  <a:pt x="34505" y="29852"/>
                </a:cubicBezTo>
                <a:cubicBezTo>
                  <a:pt x="35470" y="29683"/>
                  <a:pt x="36330" y="29435"/>
                  <a:pt x="36917" y="29005"/>
                </a:cubicBezTo>
                <a:cubicBezTo>
                  <a:pt x="37881" y="28288"/>
                  <a:pt x="38677" y="27519"/>
                  <a:pt x="39120" y="26684"/>
                </a:cubicBezTo>
                <a:cubicBezTo>
                  <a:pt x="39732" y="25485"/>
                  <a:pt x="39954" y="24260"/>
                  <a:pt x="39954" y="23021"/>
                </a:cubicBezTo>
                <a:cubicBezTo>
                  <a:pt x="39954" y="19372"/>
                  <a:pt x="40006" y="15709"/>
                  <a:pt x="39563" y="12059"/>
                </a:cubicBezTo>
                <a:cubicBezTo>
                  <a:pt x="39367" y="10403"/>
                  <a:pt x="39485" y="8748"/>
                  <a:pt x="39237" y="7105"/>
                </a:cubicBezTo>
                <a:cubicBezTo>
                  <a:pt x="39068" y="6023"/>
                  <a:pt x="38794" y="4941"/>
                  <a:pt x="37920" y="3938"/>
                </a:cubicBezTo>
                <a:cubicBezTo>
                  <a:pt x="37282" y="3208"/>
                  <a:pt x="36773" y="2438"/>
                  <a:pt x="35665" y="1826"/>
                </a:cubicBezTo>
                <a:cubicBezTo>
                  <a:pt x="34192" y="1031"/>
                  <a:pt x="32237" y="666"/>
                  <a:pt x="30138" y="496"/>
                </a:cubicBezTo>
                <a:cubicBezTo>
                  <a:pt x="26451" y="194"/>
                  <a:pt x="22741" y="1"/>
                  <a:pt x="19007" y="1"/>
                </a:cubicBezTo>
                <a:close/>
              </a:path>
            </a:pathLst>
          </a:custGeom>
          <a:solidFill>
            <a:srgbClr val="112A40"/>
          </a:solidFill>
          <a:ln>
            <a:noFill/>
          </a:ln>
          <a:effectLst>
            <a:outerShdw blurRad="57150" dist="9525" algn="bl" rotWithShape="0">
              <a:srgbClr val="000000"/>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lang="fr-CI" noProof="0"/>
          </a:p>
        </p:txBody>
      </p:sp>
      <p:sp>
        <p:nvSpPr>
          <p:cNvPr id="38" name="Google Shape;7367;p39"/>
          <p:cNvSpPr/>
          <p:nvPr/>
        </p:nvSpPr>
        <p:spPr>
          <a:xfrm rot="16200000">
            <a:off x="2838223" y="3190772"/>
            <a:ext cx="1751381" cy="3719393"/>
          </a:xfrm>
          <a:custGeom>
            <a:avLst/>
            <a:gdLst/>
            <a:ahLst/>
            <a:cxnLst/>
            <a:rect l="l" t="t" r="r" b="b"/>
            <a:pathLst>
              <a:path w="25081" h="54128" extrusionOk="0">
                <a:moveTo>
                  <a:pt x="19843" y="0"/>
                </a:moveTo>
                <a:cubicBezTo>
                  <a:pt x="19654" y="0"/>
                  <a:pt x="19462" y="7"/>
                  <a:pt x="19267" y="21"/>
                </a:cubicBezTo>
                <a:cubicBezTo>
                  <a:pt x="17781" y="125"/>
                  <a:pt x="16282" y="99"/>
                  <a:pt x="14796" y="112"/>
                </a:cubicBezTo>
                <a:cubicBezTo>
                  <a:pt x="13909" y="125"/>
                  <a:pt x="13010" y="112"/>
                  <a:pt x="12123" y="177"/>
                </a:cubicBezTo>
                <a:cubicBezTo>
                  <a:pt x="10272" y="333"/>
                  <a:pt x="8421" y="503"/>
                  <a:pt x="6570" y="633"/>
                </a:cubicBezTo>
                <a:cubicBezTo>
                  <a:pt x="5267" y="738"/>
                  <a:pt x="3989" y="933"/>
                  <a:pt x="2764" y="1259"/>
                </a:cubicBezTo>
                <a:cubicBezTo>
                  <a:pt x="1943" y="1481"/>
                  <a:pt x="1408" y="1872"/>
                  <a:pt x="1226" y="2471"/>
                </a:cubicBezTo>
                <a:cubicBezTo>
                  <a:pt x="991" y="3292"/>
                  <a:pt x="861" y="4140"/>
                  <a:pt x="965" y="4974"/>
                </a:cubicBezTo>
                <a:cubicBezTo>
                  <a:pt x="991" y="5248"/>
                  <a:pt x="1030" y="5508"/>
                  <a:pt x="991" y="5782"/>
                </a:cubicBezTo>
                <a:cubicBezTo>
                  <a:pt x="835" y="6877"/>
                  <a:pt x="678" y="7972"/>
                  <a:pt x="587" y="9067"/>
                </a:cubicBezTo>
                <a:cubicBezTo>
                  <a:pt x="470" y="10488"/>
                  <a:pt x="378" y="11896"/>
                  <a:pt x="300" y="13317"/>
                </a:cubicBezTo>
                <a:cubicBezTo>
                  <a:pt x="274" y="13825"/>
                  <a:pt x="352" y="14333"/>
                  <a:pt x="339" y="14829"/>
                </a:cubicBezTo>
                <a:cubicBezTo>
                  <a:pt x="313" y="15820"/>
                  <a:pt x="157" y="16797"/>
                  <a:pt x="118" y="17775"/>
                </a:cubicBezTo>
                <a:cubicBezTo>
                  <a:pt x="53" y="19391"/>
                  <a:pt x="0" y="21008"/>
                  <a:pt x="40" y="22624"/>
                </a:cubicBezTo>
                <a:cubicBezTo>
                  <a:pt x="66" y="24149"/>
                  <a:pt x="157" y="25661"/>
                  <a:pt x="144" y="27173"/>
                </a:cubicBezTo>
                <a:cubicBezTo>
                  <a:pt x="131" y="28646"/>
                  <a:pt x="105" y="30132"/>
                  <a:pt x="131" y="31605"/>
                </a:cubicBezTo>
                <a:cubicBezTo>
                  <a:pt x="209" y="35412"/>
                  <a:pt x="405" y="39218"/>
                  <a:pt x="274" y="43051"/>
                </a:cubicBezTo>
                <a:cubicBezTo>
                  <a:pt x="235" y="44237"/>
                  <a:pt x="287" y="45436"/>
                  <a:pt x="300" y="46622"/>
                </a:cubicBezTo>
                <a:cubicBezTo>
                  <a:pt x="300" y="46687"/>
                  <a:pt x="300" y="46753"/>
                  <a:pt x="287" y="46818"/>
                </a:cubicBezTo>
                <a:cubicBezTo>
                  <a:pt x="222" y="48004"/>
                  <a:pt x="313" y="49190"/>
                  <a:pt x="535" y="50363"/>
                </a:cubicBezTo>
                <a:cubicBezTo>
                  <a:pt x="665" y="51054"/>
                  <a:pt x="1004" y="51706"/>
                  <a:pt x="1239" y="52384"/>
                </a:cubicBezTo>
                <a:cubicBezTo>
                  <a:pt x="1486" y="53075"/>
                  <a:pt x="2164" y="53492"/>
                  <a:pt x="3129" y="53700"/>
                </a:cubicBezTo>
                <a:cubicBezTo>
                  <a:pt x="3812" y="53854"/>
                  <a:pt x="4517" y="53911"/>
                  <a:pt x="5223" y="53911"/>
                </a:cubicBezTo>
                <a:cubicBezTo>
                  <a:pt x="5299" y="53911"/>
                  <a:pt x="5374" y="53910"/>
                  <a:pt x="5449" y="53909"/>
                </a:cubicBezTo>
                <a:cubicBezTo>
                  <a:pt x="5591" y="53907"/>
                  <a:pt x="5733" y="53906"/>
                  <a:pt x="5875" y="53906"/>
                </a:cubicBezTo>
                <a:cubicBezTo>
                  <a:pt x="7594" y="53906"/>
                  <a:pt x="9293" y="54042"/>
                  <a:pt x="11015" y="54078"/>
                </a:cubicBezTo>
                <a:cubicBezTo>
                  <a:pt x="11655" y="54087"/>
                  <a:pt x="12288" y="54128"/>
                  <a:pt x="12924" y="54128"/>
                </a:cubicBezTo>
                <a:cubicBezTo>
                  <a:pt x="13273" y="54128"/>
                  <a:pt x="13623" y="54115"/>
                  <a:pt x="13974" y="54078"/>
                </a:cubicBezTo>
                <a:cubicBezTo>
                  <a:pt x="15239" y="53948"/>
                  <a:pt x="16516" y="53870"/>
                  <a:pt x="17781" y="53779"/>
                </a:cubicBezTo>
                <a:cubicBezTo>
                  <a:pt x="18850" y="53700"/>
                  <a:pt x="19919" y="53583"/>
                  <a:pt x="20961" y="53375"/>
                </a:cubicBezTo>
                <a:cubicBezTo>
                  <a:pt x="22043" y="53153"/>
                  <a:pt x="22956" y="52749"/>
                  <a:pt x="23503" y="52019"/>
                </a:cubicBezTo>
                <a:cubicBezTo>
                  <a:pt x="23855" y="51537"/>
                  <a:pt x="24142" y="51028"/>
                  <a:pt x="24233" y="50494"/>
                </a:cubicBezTo>
                <a:cubicBezTo>
                  <a:pt x="24416" y="49464"/>
                  <a:pt x="24429" y="48434"/>
                  <a:pt x="24546" y="47404"/>
                </a:cubicBezTo>
                <a:cubicBezTo>
                  <a:pt x="24690" y="45957"/>
                  <a:pt x="24768" y="44510"/>
                  <a:pt x="24833" y="43064"/>
                </a:cubicBezTo>
                <a:cubicBezTo>
                  <a:pt x="24924" y="41395"/>
                  <a:pt x="24898" y="39726"/>
                  <a:pt x="24898" y="38058"/>
                </a:cubicBezTo>
                <a:cubicBezTo>
                  <a:pt x="24885" y="36402"/>
                  <a:pt x="24794" y="34760"/>
                  <a:pt x="24794" y="33104"/>
                </a:cubicBezTo>
                <a:cubicBezTo>
                  <a:pt x="24794" y="31332"/>
                  <a:pt x="24755" y="29546"/>
                  <a:pt x="24768" y="27760"/>
                </a:cubicBezTo>
                <a:cubicBezTo>
                  <a:pt x="24794" y="26196"/>
                  <a:pt x="24807" y="24631"/>
                  <a:pt x="24846" y="23067"/>
                </a:cubicBezTo>
                <a:cubicBezTo>
                  <a:pt x="24885" y="21503"/>
                  <a:pt x="24911" y="19952"/>
                  <a:pt x="24911" y="18387"/>
                </a:cubicBezTo>
                <a:cubicBezTo>
                  <a:pt x="24911" y="16967"/>
                  <a:pt x="24937" y="15533"/>
                  <a:pt x="24989" y="14112"/>
                </a:cubicBezTo>
                <a:cubicBezTo>
                  <a:pt x="25028" y="12795"/>
                  <a:pt x="25081" y="11479"/>
                  <a:pt x="25068" y="10162"/>
                </a:cubicBezTo>
                <a:cubicBezTo>
                  <a:pt x="25068" y="8924"/>
                  <a:pt x="25002" y="7685"/>
                  <a:pt x="24963" y="6447"/>
                </a:cubicBezTo>
                <a:lnTo>
                  <a:pt x="24950" y="6447"/>
                </a:lnTo>
                <a:cubicBezTo>
                  <a:pt x="25055" y="5561"/>
                  <a:pt x="24963" y="4674"/>
                  <a:pt x="24872" y="3801"/>
                </a:cubicBezTo>
                <a:cubicBezTo>
                  <a:pt x="24807" y="3175"/>
                  <a:pt x="24664" y="2562"/>
                  <a:pt x="24403" y="1963"/>
                </a:cubicBezTo>
                <a:cubicBezTo>
                  <a:pt x="24194" y="1481"/>
                  <a:pt x="23803" y="1103"/>
                  <a:pt x="23204" y="803"/>
                </a:cubicBezTo>
                <a:cubicBezTo>
                  <a:pt x="22185" y="293"/>
                  <a:pt x="21087" y="0"/>
                  <a:pt x="19843" y="0"/>
                </a:cubicBezTo>
                <a:close/>
              </a:path>
            </a:pathLst>
          </a:custGeom>
          <a:noFill/>
          <a:ln w="19050">
            <a:solidFill>
              <a:srgbClr val="060606"/>
            </a:solidFill>
          </a:ln>
          <a:effectLst>
            <a:outerShdw blurRad="57150" dist="9525" algn="bl" rotWithShape="0">
              <a:srgbClr val="000000"/>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lang="fr-CI" noProof="0"/>
          </a:p>
        </p:txBody>
      </p:sp>
      <p:sp>
        <p:nvSpPr>
          <p:cNvPr id="40" name="Rectangle 39"/>
          <p:cNvSpPr/>
          <p:nvPr/>
        </p:nvSpPr>
        <p:spPr>
          <a:xfrm>
            <a:off x="3052718" y="3852190"/>
            <a:ext cx="1322389" cy="295488"/>
          </a:xfrm>
          <a:prstGeom prst="rect">
            <a:avLst/>
          </a:prstGeom>
        </p:spPr>
        <p:txBody>
          <a:bodyPr wrap="none">
            <a:spAutoFit/>
          </a:bodyPr>
          <a:lstStyle/>
          <a:p>
            <a:pPr lvl="0">
              <a:lnSpc>
                <a:spcPct val="110000"/>
              </a:lnSpc>
            </a:pPr>
            <a:r>
              <a:rPr lang="fr-CI" sz="1400" b="1" noProof="0">
                <a:solidFill>
                  <a:schemeClr val="bg1"/>
                </a:solidFill>
                <a:latin typeface="Helvetica" panose="020B0604020202020204" pitchFamily="34" charset="0"/>
                <a:ea typeface="Open Sans Semibold" panose="020B0706030804020204" pitchFamily="34" charset="0"/>
                <a:cs typeface="Helvetica" panose="020B0604020202020204" pitchFamily="34" charset="0"/>
              </a:rPr>
              <a:t>Contrôle</a:t>
            </a:r>
          </a:p>
        </p:txBody>
      </p:sp>
      <p:sp>
        <p:nvSpPr>
          <p:cNvPr id="42" name="Google Shape;7386;p39"/>
          <p:cNvSpPr/>
          <p:nvPr/>
        </p:nvSpPr>
        <p:spPr>
          <a:xfrm rot="10800000">
            <a:off x="6478457" y="3869173"/>
            <a:ext cx="3625790" cy="329031"/>
          </a:xfrm>
          <a:custGeom>
            <a:avLst/>
            <a:gdLst/>
            <a:ahLst/>
            <a:cxnLst/>
            <a:rect l="l" t="t" r="r" b="b"/>
            <a:pathLst>
              <a:path w="40007" h="30221" extrusionOk="0">
                <a:moveTo>
                  <a:pt x="19007" y="1"/>
                </a:moveTo>
                <a:cubicBezTo>
                  <a:pt x="17909" y="1"/>
                  <a:pt x="16810" y="17"/>
                  <a:pt x="15708" y="53"/>
                </a:cubicBezTo>
                <a:cubicBezTo>
                  <a:pt x="13270" y="131"/>
                  <a:pt x="10885" y="275"/>
                  <a:pt x="8512" y="548"/>
                </a:cubicBezTo>
                <a:cubicBezTo>
                  <a:pt x="6088" y="835"/>
                  <a:pt x="4524" y="1500"/>
                  <a:pt x="4041" y="2712"/>
                </a:cubicBezTo>
                <a:cubicBezTo>
                  <a:pt x="4015" y="2777"/>
                  <a:pt x="3976" y="2843"/>
                  <a:pt x="3937" y="2908"/>
                </a:cubicBezTo>
                <a:cubicBezTo>
                  <a:pt x="2777" y="4902"/>
                  <a:pt x="2282" y="6949"/>
                  <a:pt x="1734" y="8995"/>
                </a:cubicBezTo>
                <a:cubicBezTo>
                  <a:pt x="1160" y="11120"/>
                  <a:pt x="613" y="13232"/>
                  <a:pt x="391" y="15357"/>
                </a:cubicBezTo>
                <a:cubicBezTo>
                  <a:pt x="183" y="17325"/>
                  <a:pt x="0" y="19293"/>
                  <a:pt x="79" y="21092"/>
                </a:cubicBezTo>
                <a:cubicBezTo>
                  <a:pt x="52" y="23074"/>
                  <a:pt x="144" y="24899"/>
                  <a:pt x="365" y="26710"/>
                </a:cubicBezTo>
                <a:cubicBezTo>
                  <a:pt x="522" y="28079"/>
                  <a:pt x="1721" y="29096"/>
                  <a:pt x="4419" y="29656"/>
                </a:cubicBezTo>
                <a:cubicBezTo>
                  <a:pt x="6296" y="30048"/>
                  <a:pt x="8265" y="30178"/>
                  <a:pt x="10259" y="30204"/>
                </a:cubicBezTo>
                <a:cubicBezTo>
                  <a:pt x="11143" y="30216"/>
                  <a:pt x="12026" y="30220"/>
                  <a:pt x="12908" y="30220"/>
                </a:cubicBezTo>
                <a:cubicBezTo>
                  <a:pt x="15996" y="30220"/>
                  <a:pt x="19078" y="30165"/>
                  <a:pt x="22161" y="30165"/>
                </a:cubicBezTo>
                <a:cubicBezTo>
                  <a:pt x="24859" y="30165"/>
                  <a:pt x="27557" y="30204"/>
                  <a:pt x="30243" y="30204"/>
                </a:cubicBezTo>
                <a:cubicBezTo>
                  <a:pt x="31690" y="30191"/>
                  <a:pt x="33123" y="30113"/>
                  <a:pt x="34505" y="29852"/>
                </a:cubicBezTo>
                <a:cubicBezTo>
                  <a:pt x="35470" y="29683"/>
                  <a:pt x="36330" y="29435"/>
                  <a:pt x="36917" y="29005"/>
                </a:cubicBezTo>
                <a:cubicBezTo>
                  <a:pt x="37881" y="28288"/>
                  <a:pt x="38677" y="27519"/>
                  <a:pt x="39120" y="26684"/>
                </a:cubicBezTo>
                <a:cubicBezTo>
                  <a:pt x="39732" y="25485"/>
                  <a:pt x="39954" y="24260"/>
                  <a:pt x="39954" y="23021"/>
                </a:cubicBezTo>
                <a:cubicBezTo>
                  <a:pt x="39954" y="19372"/>
                  <a:pt x="40006" y="15709"/>
                  <a:pt x="39563" y="12059"/>
                </a:cubicBezTo>
                <a:cubicBezTo>
                  <a:pt x="39367" y="10403"/>
                  <a:pt x="39485" y="8748"/>
                  <a:pt x="39237" y="7105"/>
                </a:cubicBezTo>
                <a:cubicBezTo>
                  <a:pt x="39068" y="6023"/>
                  <a:pt x="38794" y="4941"/>
                  <a:pt x="37920" y="3938"/>
                </a:cubicBezTo>
                <a:cubicBezTo>
                  <a:pt x="37282" y="3208"/>
                  <a:pt x="36773" y="2438"/>
                  <a:pt x="35665" y="1826"/>
                </a:cubicBezTo>
                <a:cubicBezTo>
                  <a:pt x="34192" y="1031"/>
                  <a:pt x="32237" y="666"/>
                  <a:pt x="30138" y="496"/>
                </a:cubicBezTo>
                <a:cubicBezTo>
                  <a:pt x="26451" y="194"/>
                  <a:pt x="22741" y="1"/>
                  <a:pt x="19007" y="1"/>
                </a:cubicBezTo>
                <a:close/>
              </a:path>
            </a:pathLst>
          </a:custGeom>
          <a:solidFill>
            <a:srgbClr val="112A40"/>
          </a:solidFill>
          <a:ln>
            <a:noFill/>
          </a:ln>
          <a:effectLst>
            <a:outerShdw blurRad="57150" dist="9525" algn="bl" rotWithShape="0">
              <a:srgbClr val="000000"/>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lang="fr-CI" noProof="0"/>
          </a:p>
        </p:txBody>
      </p:sp>
      <p:sp>
        <p:nvSpPr>
          <p:cNvPr id="43" name="Google Shape;7367;p39"/>
          <p:cNvSpPr/>
          <p:nvPr/>
        </p:nvSpPr>
        <p:spPr>
          <a:xfrm rot="16200000">
            <a:off x="7474179" y="3202486"/>
            <a:ext cx="1727953" cy="3719393"/>
          </a:xfrm>
          <a:custGeom>
            <a:avLst/>
            <a:gdLst/>
            <a:ahLst/>
            <a:cxnLst/>
            <a:rect l="l" t="t" r="r" b="b"/>
            <a:pathLst>
              <a:path w="25081" h="54128" extrusionOk="0">
                <a:moveTo>
                  <a:pt x="19843" y="0"/>
                </a:moveTo>
                <a:cubicBezTo>
                  <a:pt x="19654" y="0"/>
                  <a:pt x="19462" y="7"/>
                  <a:pt x="19267" y="21"/>
                </a:cubicBezTo>
                <a:cubicBezTo>
                  <a:pt x="17781" y="125"/>
                  <a:pt x="16282" y="99"/>
                  <a:pt x="14796" y="112"/>
                </a:cubicBezTo>
                <a:cubicBezTo>
                  <a:pt x="13909" y="125"/>
                  <a:pt x="13010" y="112"/>
                  <a:pt x="12123" y="177"/>
                </a:cubicBezTo>
                <a:cubicBezTo>
                  <a:pt x="10272" y="333"/>
                  <a:pt x="8421" y="503"/>
                  <a:pt x="6570" y="633"/>
                </a:cubicBezTo>
                <a:cubicBezTo>
                  <a:pt x="5267" y="738"/>
                  <a:pt x="3989" y="933"/>
                  <a:pt x="2764" y="1259"/>
                </a:cubicBezTo>
                <a:cubicBezTo>
                  <a:pt x="1943" y="1481"/>
                  <a:pt x="1408" y="1872"/>
                  <a:pt x="1226" y="2471"/>
                </a:cubicBezTo>
                <a:cubicBezTo>
                  <a:pt x="991" y="3292"/>
                  <a:pt x="861" y="4140"/>
                  <a:pt x="965" y="4974"/>
                </a:cubicBezTo>
                <a:cubicBezTo>
                  <a:pt x="991" y="5248"/>
                  <a:pt x="1030" y="5508"/>
                  <a:pt x="991" y="5782"/>
                </a:cubicBezTo>
                <a:cubicBezTo>
                  <a:pt x="835" y="6877"/>
                  <a:pt x="678" y="7972"/>
                  <a:pt x="587" y="9067"/>
                </a:cubicBezTo>
                <a:cubicBezTo>
                  <a:pt x="470" y="10488"/>
                  <a:pt x="378" y="11896"/>
                  <a:pt x="300" y="13317"/>
                </a:cubicBezTo>
                <a:cubicBezTo>
                  <a:pt x="274" y="13825"/>
                  <a:pt x="352" y="14333"/>
                  <a:pt x="339" y="14829"/>
                </a:cubicBezTo>
                <a:cubicBezTo>
                  <a:pt x="313" y="15820"/>
                  <a:pt x="157" y="16797"/>
                  <a:pt x="118" y="17775"/>
                </a:cubicBezTo>
                <a:cubicBezTo>
                  <a:pt x="53" y="19391"/>
                  <a:pt x="0" y="21008"/>
                  <a:pt x="40" y="22624"/>
                </a:cubicBezTo>
                <a:cubicBezTo>
                  <a:pt x="66" y="24149"/>
                  <a:pt x="157" y="25661"/>
                  <a:pt x="144" y="27173"/>
                </a:cubicBezTo>
                <a:cubicBezTo>
                  <a:pt x="131" y="28646"/>
                  <a:pt x="105" y="30132"/>
                  <a:pt x="131" y="31605"/>
                </a:cubicBezTo>
                <a:cubicBezTo>
                  <a:pt x="209" y="35412"/>
                  <a:pt x="405" y="39218"/>
                  <a:pt x="274" y="43051"/>
                </a:cubicBezTo>
                <a:cubicBezTo>
                  <a:pt x="235" y="44237"/>
                  <a:pt x="287" y="45436"/>
                  <a:pt x="300" y="46622"/>
                </a:cubicBezTo>
                <a:cubicBezTo>
                  <a:pt x="300" y="46687"/>
                  <a:pt x="300" y="46753"/>
                  <a:pt x="287" y="46818"/>
                </a:cubicBezTo>
                <a:cubicBezTo>
                  <a:pt x="222" y="48004"/>
                  <a:pt x="313" y="49190"/>
                  <a:pt x="535" y="50363"/>
                </a:cubicBezTo>
                <a:cubicBezTo>
                  <a:pt x="665" y="51054"/>
                  <a:pt x="1004" y="51706"/>
                  <a:pt x="1239" y="52384"/>
                </a:cubicBezTo>
                <a:cubicBezTo>
                  <a:pt x="1486" y="53075"/>
                  <a:pt x="2164" y="53492"/>
                  <a:pt x="3129" y="53700"/>
                </a:cubicBezTo>
                <a:cubicBezTo>
                  <a:pt x="3812" y="53854"/>
                  <a:pt x="4517" y="53911"/>
                  <a:pt x="5223" y="53911"/>
                </a:cubicBezTo>
                <a:cubicBezTo>
                  <a:pt x="5299" y="53911"/>
                  <a:pt x="5374" y="53910"/>
                  <a:pt x="5449" y="53909"/>
                </a:cubicBezTo>
                <a:cubicBezTo>
                  <a:pt x="5591" y="53907"/>
                  <a:pt x="5733" y="53906"/>
                  <a:pt x="5875" y="53906"/>
                </a:cubicBezTo>
                <a:cubicBezTo>
                  <a:pt x="7594" y="53906"/>
                  <a:pt x="9293" y="54042"/>
                  <a:pt x="11015" y="54078"/>
                </a:cubicBezTo>
                <a:cubicBezTo>
                  <a:pt x="11655" y="54087"/>
                  <a:pt x="12288" y="54128"/>
                  <a:pt x="12924" y="54128"/>
                </a:cubicBezTo>
                <a:cubicBezTo>
                  <a:pt x="13273" y="54128"/>
                  <a:pt x="13623" y="54115"/>
                  <a:pt x="13974" y="54078"/>
                </a:cubicBezTo>
                <a:cubicBezTo>
                  <a:pt x="15239" y="53948"/>
                  <a:pt x="16516" y="53870"/>
                  <a:pt x="17781" y="53779"/>
                </a:cubicBezTo>
                <a:cubicBezTo>
                  <a:pt x="18850" y="53700"/>
                  <a:pt x="19919" y="53583"/>
                  <a:pt x="20961" y="53375"/>
                </a:cubicBezTo>
                <a:cubicBezTo>
                  <a:pt x="22043" y="53153"/>
                  <a:pt x="22956" y="52749"/>
                  <a:pt x="23503" y="52019"/>
                </a:cubicBezTo>
                <a:cubicBezTo>
                  <a:pt x="23855" y="51537"/>
                  <a:pt x="24142" y="51028"/>
                  <a:pt x="24233" y="50494"/>
                </a:cubicBezTo>
                <a:cubicBezTo>
                  <a:pt x="24416" y="49464"/>
                  <a:pt x="24429" y="48434"/>
                  <a:pt x="24546" y="47404"/>
                </a:cubicBezTo>
                <a:cubicBezTo>
                  <a:pt x="24690" y="45957"/>
                  <a:pt x="24768" y="44510"/>
                  <a:pt x="24833" y="43064"/>
                </a:cubicBezTo>
                <a:cubicBezTo>
                  <a:pt x="24924" y="41395"/>
                  <a:pt x="24898" y="39726"/>
                  <a:pt x="24898" y="38058"/>
                </a:cubicBezTo>
                <a:cubicBezTo>
                  <a:pt x="24885" y="36402"/>
                  <a:pt x="24794" y="34760"/>
                  <a:pt x="24794" y="33104"/>
                </a:cubicBezTo>
                <a:cubicBezTo>
                  <a:pt x="24794" y="31332"/>
                  <a:pt x="24755" y="29546"/>
                  <a:pt x="24768" y="27760"/>
                </a:cubicBezTo>
                <a:cubicBezTo>
                  <a:pt x="24794" y="26196"/>
                  <a:pt x="24807" y="24631"/>
                  <a:pt x="24846" y="23067"/>
                </a:cubicBezTo>
                <a:cubicBezTo>
                  <a:pt x="24885" y="21503"/>
                  <a:pt x="24911" y="19952"/>
                  <a:pt x="24911" y="18387"/>
                </a:cubicBezTo>
                <a:cubicBezTo>
                  <a:pt x="24911" y="16967"/>
                  <a:pt x="24937" y="15533"/>
                  <a:pt x="24989" y="14112"/>
                </a:cubicBezTo>
                <a:cubicBezTo>
                  <a:pt x="25028" y="12795"/>
                  <a:pt x="25081" y="11479"/>
                  <a:pt x="25068" y="10162"/>
                </a:cubicBezTo>
                <a:cubicBezTo>
                  <a:pt x="25068" y="8924"/>
                  <a:pt x="25002" y="7685"/>
                  <a:pt x="24963" y="6447"/>
                </a:cubicBezTo>
                <a:lnTo>
                  <a:pt x="24950" y="6447"/>
                </a:lnTo>
                <a:cubicBezTo>
                  <a:pt x="25055" y="5561"/>
                  <a:pt x="24963" y="4674"/>
                  <a:pt x="24872" y="3801"/>
                </a:cubicBezTo>
                <a:cubicBezTo>
                  <a:pt x="24807" y="3175"/>
                  <a:pt x="24664" y="2562"/>
                  <a:pt x="24403" y="1963"/>
                </a:cubicBezTo>
                <a:cubicBezTo>
                  <a:pt x="24194" y="1481"/>
                  <a:pt x="23803" y="1103"/>
                  <a:pt x="23204" y="803"/>
                </a:cubicBezTo>
                <a:cubicBezTo>
                  <a:pt x="22185" y="293"/>
                  <a:pt x="21087" y="0"/>
                  <a:pt x="19843" y="0"/>
                </a:cubicBezTo>
                <a:close/>
              </a:path>
            </a:pathLst>
          </a:custGeom>
          <a:noFill/>
          <a:ln w="19050">
            <a:solidFill>
              <a:schemeClr val="tx1"/>
            </a:solidFill>
          </a:ln>
          <a:effectLst>
            <a:outerShdw blurRad="57150" dist="9525" algn="bl" rotWithShape="0">
              <a:srgbClr val="000000"/>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lang="fr-CI" noProof="0"/>
          </a:p>
        </p:txBody>
      </p:sp>
      <p:sp>
        <p:nvSpPr>
          <p:cNvPr id="45" name="Rectangle 44"/>
          <p:cNvSpPr/>
          <p:nvPr/>
        </p:nvSpPr>
        <p:spPr>
          <a:xfrm>
            <a:off x="7676960" y="3875619"/>
            <a:ext cx="1322389" cy="295488"/>
          </a:xfrm>
          <a:prstGeom prst="rect">
            <a:avLst/>
          </a:prstGeom>
        </p:spPr>
        <p:txBody>
          <a:bodyPr wrap="none">
            <a:spAutoFit/>
          </a:bodyPr>
          <a:lstStyle/>
          <a:p>
            <a:pPr lvl="0">
              <a:lnSpc>
                <a:spcPct val="110000"/>
              </a:lnSpc>
            </a:pPr>
            <a:r>
              <a:rPr lang="fr-CI" sz="1400" b="1" noProof="0">
                <a:solidFill>
                  <a:schemeClr val="bg1"/>
                </a:solidFill>
                <a:latin typeface="Helvetica" panose="020B0604020202020204" pitchFamily="34" charset="0"/>
                <a:ea typeface="Open Sans Semibold" panose="020B0706030804020204" pitchFamily="34" charset="0"/>
                <a:cs typeface="Helvetica" panose="020B0604020202020204" pitchFamily="34" charset="0"/>
              </a:rPr>
              <a:t>Sortie</a:t>
            </a:r>
          </a:p>
        </p:txBody>
      </p:sp>
      <p:pic>
        <p:nvPicPr>
          <p:cNvPr id="47" name="Image 46"/>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147871" y="3850143"/>
            <a:ext cx="334029" cy="337914"/>
          </a:xfrm>
          <a:prstGeom prst="rect">
            <a:avLst/>
          </a:prstGeom>
        </p:spPr>
      </p:pic>
      <p:pic>
        <p:nvPicPr>
          <p:cNvPr id="50" name="Image 49">
            <a:extLst>
              <a:ext uri="{FF2B5EF4-FFF2-40B4-BE49-F238E27FC236}">
                <a16:creationId xmlns:a16="http://schemas.microsoft.com/office/drawing/2014/main" id="{593DA389-08F4-31D9-6AB9-E96812D83B72}"/>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6768142" y="1475503"/>
            <a:ext cx="294700" cy="294700"/>
          </a:xfrm>
          <a:prstGeom prst="rect">
            <a:avLst/>
          </a:prstGeom>
        </p:spPr>
      </p:pic>
      <p:pic>
        <p:nvPicPr>
          <p:cNvPr id="25" name="Image 24"/>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2156977" y="1457088"/>
            <a:ext cx="281624" cy="284788"/>
          </a:xfrm>
          <a:prstGeom prst="rect">
            <a:avLst/>
          </a:prstGeom>
        </p:spPr>
      </p:pic>
      <p:pic>
        <p:nvPicPr>
          <p:cNvPr id="28" name="Image 27"/>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6791905" y="3883760"/>
            <a:ext cx="270937" cy="276827"/>
          </a:xfrm>
          <a:prstGeom prst="rect">
            <a:avLst/>
          </a:prstGeom>
        </p:spPr>
      </p:pic>
      <p:sp>
        <p:nvSpPr>
          <p:cNvPr id="31" name="Rectangle 30"/>
          <p:cNvSpPr/>
          <p:nvPr/>
        </p:nvSpPr>
        <p:spPr>
          <a:xfrm>
            <a:off x="1999671" y="1962253"/>
            <a:ext cx="3122592" cy="1428712"/>
          </a:xfrm>
          <a:prstGeom prst="rect">
            <a:avLst/>
          </a:prstGeom>
        </p:spPr>
        <p:txBody>
          <a:bodyPr wrap="square">
            <a:spAutoFit/>
          </a:bodyPr>
          <a:lstStyle/>
          <a:p>
            <a:pPr lvl="0" marL="0" indent="0">
              <a:buNone/>
              <a:spcBef>
                <a:spcPts val="300"/>
              </a:spcBef>
              <a:defRPr/>
            </a:pPr>
            <a:r>
              <a:rPr kumimoji="1" lang="fr-CI" sz="1250" b="0" noProof="0">
                <a:latin typeface="Helvetica" panose="020B0604020202020204" pitchFamily="34" charset="0"/>
                <a:cs typeface="Helvetica" panose="020B0604020202020204" pitchFamily="34" charset="0"/>
              </a:rPr>
              <a:t>Base contrôlée, données externes validées et textes de l'UEMOA.</a:t>
            </a:r>
          </a:p>
        </p:txBody>
      </p:sp>
      <p:sp>
        <p:nvSpPr>
          <p:cNvPr id="32" name="Rectangle 31"/>
          <p:cNvSpPr/>
          <p:nvPr/>
        </p:nvSpPr>
        <p:spPr>
          <a:xfrm>
            <a:off x="6623912" y="1926662"/>
            <a:ext cx="3122592" cy="1428712"/>
          </a:xfrm>
          <a:prstGeom prst="rect">
            <a:avLst/>
          </a:prstGeom>
        </p:spPr>
        <p:txBody>
          <a:bodyPr wrap="square">
            <a:spAutoFit/>
          </a:bodyPr>
          <a:lstStyle/>
          <a:p>
            <a:pPr lvl="0" marL="0" indent="0">
              <a:buNone/>
              <a:spcBef>
                <a:spcPts val="300"/>
              </a:spcBef>
              <a:defRPr/>
            </a:pPr>
            <a:r>
              <a:rPr kumimoji="1" lang="fr-CI" sz="1250" b="0" noProof="0">
                <a:latin typeface="Helvetica" panose="020B0604020202020204" pitchFamily="34" charset="0"/>
                <a:cs typeface="Helvetica" panose="020B0604020202020204" pitchFamily="34" charset="0"/>
              </a:rPr>
              <a:t>Les scripts calculent les indicateurs, les tests statistiques, les tables CIMA et les 36 ratios prudentiels.</a:t>
            </a:r>
          </a:p>
        </p:txBody>
      </p:sp>
      <p:sp>
        <p:nvSpPr>
          <p:cNvPr id="33" name="Rectangle 32"/>
          <p:cNvSpPr/>
          <p:nvPr/>
        </p:nvSpPr>
        <p:spPr>
          <a:xfrm>
            <a:off x="2093705" y="4388689"/>
            <a:ext cx="3122592" cy="1428712"/>
          </a:xfrm>
          <a:prstGeom prst="rect">
            <a:avLst/>
          </a:prstGeom>
        </p:spPr>
        <p:txBody>
          <a:bodyPr wrap="square">
            <a:spAutoFit/>
          </a:bodyPr>
          <a:lstStyle/>
          <a:p>
            <a:pPr lvl="0" marL="0" indent="0">
              <a:buNone/>
              <a:spcBef>
                <a:spcPts val="300"/>
              </a:spcBef>
              <a:defRPr/>
            </a:pPr>
            <a:r>
              <a:rPr kumimoji="1" lang="fr-CI" sz="1250" b="0" noProof="0">
                <a:latin typeface="Helvetica" panose="020B0604020202020204" pitchFamily="34" charset="0"/>
                <a:cs typeface="Helvetica" panose="020B0604020202020204" pitchFamily="34" charset="0"/>
              </a:rPr>
              <a:t>Les agrégats recalculés sont comparés à ceux de la version précédente au franc près.</a:t>
            </a:r>
          </a:p>
        </p:txBody>
      </p:sp>
      <p:sp>
        <p:nvSpPr>
          <p:cNvPr id="34" name="Rectangle 33"/>
          <p:cNvSpPr/>
          <p:nvPr/>
        </p:nvSpPr>
        <p:spPr>
          <a:xfrm>
            <a:off x="6768142" y="4336111"/>
            <a:ext cx="3122592" cy="1428712"/>
          </a:xfrm>
          <a:prstGeom prst="rect">
            <a:avLst/>
          </a:prstGeom>
        </p:spPr>
        <p:txBody>
          <a:bodyPr wrap="square">
            <a:spAutoFit/>
          </a:bodyPr>
          <a:lstStyle/>
          <a:p>
            <a:pPr lvl="0" marL="0" indent="0">
              <a:buNone/>
              <a:spcBef>
                <a:spcPts val="300"/>
              </a:spcBef>
              <a:defRPr/>
            </a:pPr>
            <a:r>
              <a:rPr kumimoji="1" lang="fr-CI" sz="1250" b="0" noProof="0">
                <a:latin typeface="Helvetica" panose="020B0604020202020204" pitchFamily="34" charset="0"/>
                <a:cs typeface="Helvetica" panose="020B0604020202020204" pitchFamily="34" charset="0"/>
              </a:rPr>
              <a:t>Fichiers de résultats et classeur des calculs.</a:t>
            </a:r>
          </a:p>
        </p:txBody>
      </p:sp>
      <p:sp>
        <p:nvSpPr>
          <p:cNvPr id="51"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Chaîne de traitement : analyses</a:t>
            </a:r>
          </a:p>
        </p:txBody>
      </p:sp>
      <p:sp>
        <p:nvSpPr>
          <p:cNvPr id="52"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L'étape « Analyses » transforme une entrée en sortie, avec un contrôle automatique</a:t>
            </a:r>
          </a:p>
        </p:txBody>
      </p:sp>
      <p:sp>
        <p:nvSpPr>
          <p:cNvPr id="53"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Entrée, traitement, contrôle et sortie de l'étape. Schéma modifiable, complété au fil des entretiens</a:t>
            </a:r>
          </a:p>
        </p:txBody>
      </p:sp>
      <p:sp>
        <p:nvSpPr>
          <p:cNvPr id="54"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scripts Python Adenka (dossier scripts de la mission)</a:t>
            </a:r>
          </a:p>
        </p:txBody>
      </p:sp>
      <p:sp>
        <p:nvSpPr>
          <p:cNvPr id="55" name="TextBox 54"/>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UEMOA : Union économique et monétaire ouest-africaine | CIMA : Conférence interafricaine des marchés d'assurances</a:t>
            </a:r>
          </a:p>
        </p:txBody>
      </p:sp>
    </p:spTree>
    <p:extLst>
      <p:ext uri="{BB962C8B-B14F-4D97-AF65-F5344CB8AC3E}">
        <p14:creationId xmlns:p14="http://schemas.microsoft.com/office/powerpoint/2010/main" val="3992899094"/>
      </p:ext>
    </p:extLst>
  </p:cSld>
  <p:clrMapOvr>
    <a:masterClrMapping/>
  </p:clrMapOvr>
  <p:transition>
    <p:fade/>
  </p:transition>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6" name="Image 25"/>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30" name="ZoneTexte 29">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9" name="Google Shape;7386;p39"/>
          <p:cNvSpPr/>
          <p:nvPr/>
        </p:nvSpPr>
        <p:spPr>
          <a:xfrm rot="10800000">
            <a:off x="1748072" y="1436295"/>
            <a:ext cx="3625790" cy="329031"/>
          </a:xfrm>
          <a:custGeom>
            <a:avLst/>
            <a:gdLst/>
            <a:ahLst/>
            <a:cxnLst/>
            <a:rect l="l" t="t" r="r" b="b"/>
            <a:pathLst>
              <a:path w="40007" h="30221" extrusionOk="0">
                <a:moveTo>
                  <a:pt x="19007" y="1"/>
                </a:moveTo>
                <a:cubicBezTo>
                  <a:pt x="17909" y="1"/>
                  <a:pt x="16810" y="17"/>
                  <a:pt x="15708" y="53"/>
                </a:cubicBezTo>
                <a:cubicBezTo>
                  <a:pt x="13270" y="131"/>
                  <a:pt x="10885" y="275"/>
                  <a:pt x="8512" y="548"/>
                </a:cubicBezTo>
                <a:cubicBezTo>
                  <a:pt x="6088" y="835"/>
                  <a:pt x="4524" y="1500"/>
                  <a:pt x="4041" y="2712"/>
                </a:cubicBezTo>
                <a:cubicBezTo>
                  <a:pt x="4015" y="2777"/>
                  <a:pt x="3976" y="2843"/>
                  <a:pt x="3937" y="2908"/>
                </a:cubicBezTo>
                <a:cubicBezTo>
                  <a:pt x="2777" y="4902"/>
                  <a:pt x="2282" y="6949"/>
                  <a:pt x="1734" y="8995"/>
                </a:cubicBezTo>
                <a:cubicBezTo>
                  <a:pt x="1160" y="11120"/>
                  <a:pt x="613" y="13232"/>
                  <a:pt x="391" y="15357"/>
                </a:cubicBezTo>
                <a:cubicBezTo>
                  <a:pt x="183" y="17325"/>
                  <a:pt x="0" y="19293"/>
                  <a:pt x="79" y="21092"/>
                </a:cubicBezTo>
                <a:cubicBezTo>
                  <a:pt x="52" y="23074"/>
                  <a:pt x="144" y="24899"/>
                  <a:pt x="365" y="26710"/>
                </a:cubicBezTo>
                <a:cubicBezTo>
                  <a:pt x="522" y="28079"/>
                  <a:pt x="1721" y="29096"/>
                  <a:pt x="4419" y="29656"/>
                </a:cubicBezTo>
                <a:cubicBezTo>
                  <a:pt x="6296" y="30048"/>
                  <a:pt x="8265" y="30178"/>
                  <a:pt x="10259" y="30204"/>
                </a:cubicBezTo>
                <a:cubicBezTo>
                  <a:pt x="11143" y="30216"/>
                  <a:pt x="12026" y="30220"/>
                  <a:pt x="12908" y="30220"/>
                </a:cubicBezTo>
                <a:cubicBezTo>
                  <a:pt x="15996" y="30220"/>
                  <a:pt x="19078" y="30165"/>
                  <a:pt x="22161" y="30165"/>
                </a:cubicBezTo>
                <a:cubicBezTo>
                  <a:pt x="24859" y="30165"/>
                  <a:pt x="27557" y="30204"/>
                  <a:pt x="30243" y="30204"/>
                </a:cubicBezTo>
                <a:cubicBezTo>
                  <a:pt x="31690" y="30191"/>
                  <a:pt x="33123" y="30113"/>
                  <a:pt x="34505" y="29852"/>
                </a:cubicBezTo>
                <a:cubicBezTo>
                  <a:pt x="35470" y="29683"/>
                  <a:pt x="36330" y="29435"/>
                  <a:pt x="36917" y="29005"/>
                </a:cubicBezTo>
                <a:cubicBezTo>
                  <a:pt x="37881" y="28288"/>
                  <a:pt x="38677" y="27519"/>
                  <a:pt x="39120" y="26684"/>
                </a:cubicBezTo>
                <a:cubicBezTo>
                  <a:pt x="39732" y="25485"/>
                  <a:pt x="39954" y="24260"/>
                  <a:pt x="39954" y="23021"/>
                </a:cubicBezTo>
                <a:cubicBezTo>
                  <a:pt x="39954" y="19372"/>
                  <a:pt x="40006" y="15709"/>
                  <a:pt x="39563" y="12059"/>
                </a:cubicBezTo>
                <a:cubicBezTo>
                  <a:pt x="39367" y="10403"/>
                  <a:pt x="39485" y="8748"/>
                  <a:pt x="39237" y="7105"/>
                </a:cubicBezTo>
                <a:cubicBezTo>
                  <a:pt x="39068" y="6023"/>
                  <a:pt x="38794" y="4941"/>
                  <a:pt x="37920" y="3938"/>
                </a:cubicBezTo>
                <a:cubicBezTo>
                  <a:pt x="37282" y="3208"/>
                  <a:pt x="36773" y="2438"/>
                  <a:pt x="35665" y="1826"/>
                </a:cubicBezTo>
                <a:cubicBezTo>
                  <a:pt x="34192" y="1031"/>
                  <a:pt x="32237" y="666"/>
                  <a:pt x="30138" y="496"/>
                </a:cubicBezTo>
                <a:cubicBezTo>
                  <a:pt x="26451" y="194"/>
                  <a:pt x="22741" y="1"/>
                  <a:pt x="19007" y="1"/>
                </a:cubicBezTo>
                <a:close/>
              </a:path>
            </a:pathLst>
          </a:custGeom>
          <a:solidFill>
            <a:srgbClr val="112A40"/>
          </a:solidFill>
          <a:ln>
            <a:noFill/>
          </a:ln>
          <a:effectLst>
            <a:outerShdw blurRad="57150" dist="9525" algn="bl" rotWithShape="0">
              <a:srgbClr val="000000"/>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lang="fr-CI" noProof="0"/>
          </a:p>
        </p:txBody>
      </p:sp>
      <p:sp>
        <p:nvSpPr>
          <p:cNvPr id="10" name="Google Shape;7367;p39"/>
          <p:cNvSpPr/>
          <p:nvPr/>
        </p:nvSpPr>
        <p:spPr>
          <a:xfrm rot="16200000">
            <a:off x="2201124" y="215006"/>
            <a:ext cx="2027916" cy="4306666"/>
          </a:xfrm>
          <a:custGeom>
            <a:avLst/>
            <a:gdLst/>
            <a:ahLst/>
            <a:cxnLst/>
            <a:rect l="l" t="t" r="r" b="b"/>
            <a:pathLst>
              <a:path w="25081" h="54128" extrusionOk="0">
                <a:moveTo>
                  <a:pt x="19843" y="0"/>
                </a:moveTo>
                <a:cubicBezTo>
                  <a:pt x="19654" y="0"/>
                  <a:pt x="19462" y="7"/>
                  <a:pt x="19267" y="21"/>
                </a:cubicBezTo>
                <a:cubicBezTo>
                  <a:pt x="17781" y="125"/>
                  <a:pt x="16282" y="99"/>
                  <a:pt x="14796" y="112"/>
                </a:cubicBezTo>
                <a:cubicBezTo>
                  <a:pt x="13909" y="125"/>
                  <a:pt x="13010" y="112"/>
                  <a:pt x="12123" y="177"/>
                </a:cubicBezTo>
                <a:cubicBezTo>
                  <a:pt x="10272" y="333"/>
                  <a:pt x="8421" y="503"/>
                  <a:pt x="6570" y="633"/>
                </a:cubicBezTo>
                <a:cubicBezTo>
                  <a:pt x="5267" y="738"/>
                  <a:pt x="3989" y="933"/>
                  <a:pt x="2764" y="1259"/>
                </a:cubicBezTo>
                <a:cubicBezTo>
                  <a:pt x="1943" y="1481"/>
                  <a:pt x="1408" y="1872"/>
                  <a:pt x="1226" y="2471"/>
                </a:cubicBezTo>
                <a:cubicBezTo>
                  <a:pt x="991" y="3292"/>
                  <a:pt x="861" y="4140"/>
                  <a:pt x="965" y="4974"/>
                </a:cubicBezTo>
                <a:cubicBezTo>
                  <a:pt x="991" y="5248"/>
                  <a:pt x="1030" y="5508"/>
                  <a:pt x="991" y="5782"/>
                </a:cubicBezTo>
                <a:cubicBezTo>
                  <a:pt x="835" y="6877"/>
                  <a:pt x="678" y="7972"/>
                  <a:pt x="587" y="9067"/>
                </a:cubicBezTo>
                <a:cubicBezTo>
                  <a:pt x="470" y="10488"/>
                  <a:pt x="378" y="11896"/>
                  <a:pt x="300" y="13317"/>
                </a:cubicBezTo>
                <a:cubicBezTo>
                  <a:pt x="274" y="13825"/>
                  <a:pt x="352" y="14333"/>
                  <a:pt x="339" y="14829"/>
                </a:cubicBezTo>
                <a:cubicBezTo>
                  <a:pt x="313" y="15820"/>
                  <a:pt x="157" y="16797"/>
                  <a:pt x="118" y="17775"/>
                </a:cubicBezTo>
                <a:cubicBezTo>
                  <a:pt x="53" y="19391"/>
                  <a:pt x="0" y="21008"/>
                  <a:pt x="40" y="22624"/>
                </a:cubicBezTo>
                <a:cubicBezTo>
                  <a:pt x="66" y="24149"/>
                  <a:pt x="157" y="25661"/>
                  <a:pt x="144" y="27173"/>
                </a:cubicBezTo>
                <a:cubicBezTo>
                  <a:pt x="131" y="28646"/>
                  <a:pt x="105" y="30132"/>
                  <a:pt x="131" y="31605"/>
                </a:cubicBezTo>
                <a:cubicBezTo>
                  <a:pt x="209" y="35412"/>
                  <a:pt x="405" y="39218"/>
                  <a:pt x="274" y="43051"/>
                </a:cubicBezTo>
                <a:cubicBezTo>
                  <a:pt x="235" y="44237"/>
                  <a:pt x="287" y="45436"/>
                  <a:pt x="300" y="46622"/>
                </a:cubicBezTo>
                <a:cubicBezTo>
                  <a:pt x="300" y="46687"/>
                  <a:pt x="300" y="46753"/>
                  <a:pt x="287" y="46818"/>
                </a:cubicBezTo>
                <a:cubicBezTo>
                  <a:pt x="222" y="48004"/>
                  <a:pt x="313" y="49190"/>
                  <a:pt x="535" y="50363"/>
                </a:cubicBezTo>
                <a:cubicBezTo>
                  <a:pt x="665" y="51054"/>
                  <a:pt x="1004" y="51706"/>
                  <a:pt x="1239" y="52384"/>
                </a:cubicBezTo>
                <a:cubicBezTo>
                  <a:pt x="1486" y="53075"/>
                  <a:pt x="2164" y="53492"/>
                  <a:pt x="3129" y="53700"/>
                </a:cubicBezTo>
                <a:cubicBezTo>
                  <a:pt x="3812" y="53854"/>
                  <a:pt x="4517" y="53911"/>
                  <a:pt x="5223" y="53911"/>
                </a:cubicBezTo>
                <a:cubicBezTo>
                  <a:pt x="5299" y="53911"/>
                  <a:pt x="5374" y="53910"/>
                  <a:pt x="5449" y="53909"/>
                </a:cubicBezTo>
                <a:cubicBezTo>
                  <a:pt x="5591" y="53907"/>
                  <a:pt x="5733" y="53906"/>
                  <a:pt x="5875" y="53906"/>
                </a:cubicBezTo>
                <a:cubicBezTo>
                  <a:pt x="7594" y="53906"/>
                  <a:pt x="9293" y="54042"/>
                  <a:pt x="11015" y="54078"/>
                </a:cubicBezTo>
                <a:cubicBezTo>
                  <a:pt x="11655" y="54087"/>
                  <a:pt x="12288" y="54128"/>
                  <a:pt x="12924" y="54128"/>
                </a:cubicBezTo>
                <a:cubicBezTo>
                  <a:pt x="13273" y="54128"/>
                  <a:pt x="13623" y="54115"/>
                  <a:pt x="13974" y="54078"/>
                </a:cubicBezTo>
                <a:cubicBezTo>
                  <a:pt x="15239" y="53948"/>
                  <a:pt x="16516" y="53870"/>
                  <a:pt x="17781" y="53779"/>
                </a:cubicBezTo>
                <a:cubicBezTo>
                  <a:pt x="18850" y="53700"/>
                  <a:pt x="19919" y="53583"/>
                  <a:pt x="20961" y="53375"/>
                </a:cubicBezTo>
                <a:cubicBezTo>
                  <a:pt x="22043" y="53153"/>
                  <a:pt x="22956" y="52749"/>
                  <a:pt x="23503" y="52019"/>
                </a:cubicBezTo>
                <a:cubicBezTo>
                  <a:pt x="23855" y="51537"/>
                  <a:pt x="24142" y="51028"/>
                  <a:pt x="24233" y="50494"/>
                </a:cubicBezTo>
                <a:cubicBezTo>
                  <a:pt x="24416" y="49464"/>
                  <a:pt x="24429" y="48434"/>
                  <a:pt x="24546" y="47404"/>
                </a:cubicBezTo>
                <a:cubicBezTo>
                  <a:pt x="24690" y="45957"/>
                  <a:pt x="24768" y="44510"/>
                  <a:pt x="24833" y="43064"/>
                </a:cubicBezTo>
                <a:cubicBezTo>
                  <a:pt x="24924" y="41395"/>
                  <a:pt x="24898" y="39726"/>
                  <a:pt x="24898" y="38058"/>
                </a:cubicBezTo>
                <a:cubicBezTo>
                  <a:pt x="24885" y="36402"/>
                  <a:pt x="24794" y="34760"/>
                  <a:pt x="24794" y="33104"/>
                </a:cubicBezTo>
                <a:cubicBezTo>
                  <a:pt x="24794" y="31332"/>
                  <a:pt x="24755" y="29546"/>
                  <a:pt x="24768" y="27760"/>
                </a:cubicBezTo>
                <a:cubicBezTo>
                  <a:pt x="24794" y="26196"/>
                  <a:pt x="24807" y="24631"/>
                  <a:pt x="24846" y="23067"/>
                </a:cubicBezTo>
                <a:cubicBezTo>
                  <a:pt x="24885" y="21503"/>
                  <a:pt x="24911" y="19952"/>
                  <a:pt x="24911" y="18387"/>
                </a:cubicBezTo>
                <a:cubicBezTo>
                  <a:pt x="24911" y="16967"/>
                  <a:pt x="24937" y="15533"/>
                  <a:pt x="24989" y="14112"/>
                </a:cubicBezTo>
                <a:cubicBezTo>
                  <a:pt x="25028" y="12795"/>
                  <a:pt x="25081" y="11479"/>
                  <a:pt x="25068" y="10162"/>
                </a:cubicBezTo>
                <a:cubicBezTo>
                  <a:pt x="25068" y="8924"/>
                  <a:pt x="25002" y="7685"/>
                  <a:pt x="24963" y="6447"/>
                </a:cubicBezTo>
                <a:lnTo>
                  <a:pt x="24950" y="6447"/>
                </a:lnTo>
                <a:cubicBezTo>
                  <a:pt x="25055" y="5561"/>
                  <a:pt x="24963" y="4674"/>
                  <a:pt x="24872" y="3801"/>
                </a:cubicBezTo>
                <a:cubicBezTo>
                  <a:pt x="24807" y="3175"/>
                  <a:pt x="24664" y="2562"/>
                  <a:pt x="24403" y="1963"/>
                </a:cubicBezTo>
                <a:cubicBezTo>
                  <a:pt x="24194" y="1481"/>
                  <a:pt x="23803" y="1103"/>
                  <a:pt x="23204" y="803"/>
                </a:cubicBezTo>
                <a:cubicBezTo>
                  <a:pt x="22185" y="293"/>
                  <a:pt x="21087" y="0"/>
                  <a:pt x="19843" y="0"/>
                </a:cubicBezTo>
                <a:close/>
              </a:path>
            </a:pathLst>
          </a:custGeom>
          <a:noFill/>
          <a:ln w="19050">
            <a:solidFill>
              <a:schemeClr val="tx1"/>
            </a:solidFill>
          </a:ln>
          <a:effectLst>
            <a:outerShdw blurRad="57150" dist="9525" algn="bl" rotWithShape="0">
              <a:srgbClr val="000000"/>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lang="fr-CI" noProof="0"/>
          </a:p>
        </p:txBody>
      </p:sp>
      <p:sp>
        <p:nvSpPr>
          <p:cNvPr id="4" name="Rectangle 3"/>
          <p:cNvSpPr/>
          <p:nvPr/>
        </p:nvSpPr>
        <p:spPr>
          <a:xfrm>
            <a:off x="2946575" y="1442741"/>
            <a:ext cx="1322389" cy="295488"/>
          </a:xfrm>
          <a:prstGeom prst="rect">
            <a:avLst/>
          </a:prstGeom>
        </p:spPr>
        <p:txBody>
          <a:bodyPr wrap="none">
            <a:spAutoFit/>
          </a:bodyPr>
          <a:lstStyle/>
          <a:p>
            <a:pPr lvl="0">
              <a:lnSpc>
                <a:spcPct val="110000"/>
              </a:lnSpc>
            </a:pPr>
            <a:r>
              <a:rPr lang="fr-CI" sz="1400" b="1" noProof="0">
                <a:solidFill>
                  <a:schemeClr val="bg1"/>
                </a:solidFill>
                <a:latin typeface="Helvetica" panose="020B0604020202020204" pitchFamily="34" charset="0"/>
                <a:ea typeface="Open Sans Semibold" panose="020B0706030804020204" pitchFamily="34" charset="0"/>
                <a:cs typeface="Helvetica" panose="020B0604020202020204" pitchFamily="34" charset="0"/>
              </a:rPr>
              <a:t>Entrée</a:t>
            </a:r>
          </a:p>
        </p:txBody>
      </p:sp>
      <p:sp>
        <p:nvSpPr>
          <p:cNvPr id="20" name="Google Shape;7386;p39"/>
          <p:cNvSpPr/>
          <p:nvPr/>
        </p:nvSpPr>
        <p:spPr>
          <a:xfrm rot="10800000">
            <a:off x="6372314" y="1459724"/>
            <a:ext cx="3625790" cy="329031"/>
          </a:xfrm>
          <a:custGeom>
            <a:avLst/>
            <a:gdLst/>
            <a:ahLst/>
            <a:cxnLst/>
            <a:rect l="l" t="t" r="r" b="b"/>
            <a:pathLst>
              <a:path w="40007" h="30221" extrusionOk="0">
                <a:moveTo>
                  <a:pt x="19007" y="1"/>
                </a:moveTo>
                <a:cubicBezTo>
                  <a:pt x="17909" y="1"/>
                  <a:pt x="16810" y="17"/>
                  <a:pt x="15708" y="53"/>
                </a:cubicBezTo>
                <a:cubicBezTo>
                  <a:pt x="13270" y="131"/>
                  <a:pt x="10885" y="275"/>
                  <a:pt x="8512" y="548"/>
                </a:cubicBezTo>
                <a:cubicBezTo>
                  <a:pt x="6088" y="835"/>
                  <a:pt x="4524" y="1500"/>
                  <a:pt x="4041" y="2712"/>
                </a:cubicBezTo>
                <a:cubicBezTo>
                  <a:pt x="4015" y="2777"/>
                  <a:pt x="3976" y="2843"/>
                  <a:pt x="3937" y="2908"/>
                </a:cubicBezTo>
                <a:cubicBezTo>
                  <a:pt x="2777" y="4902"/>
                  <a:pt x="2282" y="6949"/>
                  <a:pt x="1734" y="8995"/>
                </a:cubicBezTo>
                <a:cubicBezTo>
                  <a:pt x="1160" y="11120"/>
                  <a:pt x="613" y="13232"/>
                  <a:pt x="391" y="15357"/>
                </a:cubicBezTo>
                <a:cubicBezTo>
                  <a:pt x="183" y="17325"/>
                  <a:pt x="0" y="19293"/>
                  <a:pt x="79" y="21092"/>
                </a:cubicBezTo>
                <a:cubicBezTo>
                  <a:pt x="52" y="23074"/>
                  <a:pt x="144" y="24899"/>
                  <a:pt x="365" y="26710"/>
                </a:cubicBezTo>
                <a:cubicBezTo>
                  <a:pt x="522" y="28079"/>
                  <a:pt x="1721" y="29096"/>
                  <a:pt x="4419" y="29656"/>
                </a:cubicBezTo>
                <a:cubicBezTo>
                  <a:pt x="6296" y="30048"/>
                  <a:pt x="8265" y="30178"/>
                  <a:pt x="10259" y="30204"/>
                </a:cubicBezTo>
                <a:cubicBezTo>
                  <a:pt x="11143" y="30216"/>
                  <a:pt x="12026" y="30220"/>
                  <a:pt x="12908" y="30220"/>
                </a:cubicBezTo>
                <a:cubicBezTo>
                  <a:pt x="15996" y="30220"/>
                  <a:pt x="19078" y="30165"/>
                  <a:pt x="22161" y="30165"/>
                </a:cubicBezTo>
                <a:cubicBezTo>
                  <a:pt x="24859" y="30165"/>
                  <a:pt x="27557" y="30204"/>
                  <a:pt x="30243" y="30204"/>
                </a:cubicBezTo>
                <a:cubicBezTo>
                  <a:pt x="31690" y="30191"/>
                  <a:pt x="33123" y="30113"/>
                  <a:pt x="34505" y="29852"/>
                </a:cubicBezTo>
                <a:cubicBezTo>
                  <a:pt x="35470" y="29683"/>
                  <a:pt x="36330" y="29435"/>
                  <a:pt x="36917" y="29005"/>
                </a:cubicBezTo>
                <a:cubicBezTo>
                  <a:pt x="37881" y="28288"/>
                  <a:pt x="38677" y="27519"/>
                  <a:pt x="39120" y="26684"/>
                </a:cubicBezTo>
                <a:cubicBezTo>
                  <a:pt x="39732" y="25485"/>
                  <a:pt x="39954" y="24260"/>
                  <a:pt x="39954" y="23021"/>
                </a:cubicBezTo>
                <a:cubicBezTo>
                  <a:pt x="39954" y="19372"/>
                  <a:pt x="40006" y="15709"/>
                  <a:pt x="39563" y="12059"/>
                </a:cubicBezTo>
                <a:cubicBezTo>
                  <a:pt x="39367" y="10403"/>
                  <a:pt x="39485" y="8748"/>
                  <a:pt x="39237" y="7105"/>
                </a:cubicBezTo>
                <a:cubicBezTo>
                  <a:pt x="39068" y="6023"/>
                  <a:pt x="38794" y="4941"/>
                  <a:pt x="37920" y="3938"/>
                </a:cubicBezTo>
                <a:cubicBezTo>
                  <a:pt x="37282" y="3208"/>
                  <a:pt x="36773" y="2438"/>
                  <a:pt x="35665" y="1826"/>
                </a:cubicBezTo>
                <a:cubicBezTo>
                  <a:pt x="34192" y="1031"/>
                  <a:pt x="32237" y="666"/>
                  <a:pt x="30138" y="496"/>
                </a:cubicBezTo>
                <a:cubicBezTo>
                  <a:pt x="26451" y="194"/>
                  <a:pt x="22741" y="1"/>
                  <a:pt x="19007" y="1"/>
                </a:cubicBezTo>
                <a:close/>
              </a:path>
            </a:pathLst>
          </a:custGeom>
          <a:solidFill>
            <a:srgbClr val="112A40"/>
          </a:solidFill>
          <a:ln>
            <a:noFill/>
          </a:ln>
          <a:effectLst>
            <a:outerShdw blurRad="57150" dist="9525" algn="bl" rotWithShape="0">
              <a:srgbClr val="000000"/>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lang="fr-CI" noProof="0"/>
          </a:p>
        </p:txBody>
      </p:sp>
      <p:sp>
        <p:nvSpPr>
          <p:cNvPr id="21" name="Google Shape;7367;p39"/>
          <p:cNvSpPr/>
          <p:nvPr/>
        </p:nvSpPr>
        <p:spPr>
          <a:xfrm rot="16200000">
            <a:off x="7569073" y="228570"/>
            <a:ext cx="2000788" cy="4306666"/>
          </a:xfrm>
          <a:custGeom>
            <a:avLst/>
            <a:gdLst/>
            <a:ahLst/>
            <a:cxnLst/>
            <a:rect l="l" t="t" r="r" b="b"/>
            <a:pathLst>
              <a:path w="25081" h="54128" extrusionOk="0">
                <a:moveTo>
                  <a:pt x="19843" y="0"/>
                </a:moveTo>
                <a:cubicBezTo>
                  <a:pt x="19654" y="0"/>
                  <a:pt x="19462" y="7"/>
                  <a:pt x="19267" y="21"/>
                </a:cubicBezTo>
                <a:cubicBezTo>
                  <a:pt x="17781" y="125"/>
                  <a:pt x="16282" y="99"/>
                  <a:pt x="14796" y="112"/>
                </a:cubicBezTo>
                <a:cubicBezTo>
                  <a:pt x="13909" y="125"/>
                  <a:pt x="13010" y="112"/>
                  <a:pt x="12123" y="177"/>
                </a:cubicBezTo>
                <a:cubicBezTo>
                  <a:pt x="10272" y="333"/>
                  <a:pt x="8421" y="503"/>
                  <a:pt x="6570" y="633"/>
                </a:cubicBezTo>
                <a:cubicBezTo>
                  <a:pt x="5267" y="738"/>
                  <a:pt x="3989" y="933"/>
                  <a:pt x="2764" y="1259"/>
                </a:cubicBezTo>
                <a:cubicBezTo>
                  <a:pt x="1943" y="1481"/>
                  <a:pt x="1408" y="1872"/>
                  <a:pt x="1226" y="2471"/>
                </a:cubicBezTo>
                <a:cubicBezTo>
                  <a:pt x="991" y="3292"/>
                  <a:pt x="861" y="4140"/>
                  <a:pt x="965" y="4974"/>
                </a:cubicBezTo>
                <a:cubicBezTo>
                  <a:pt x="991" y="5248"/>
                  <a:pt x="1030" y="5508"/>
                  <a:pt x="991" y="5782"/>
                </a:cubicBezTo>
                <a:cubicBezTo>
                  <a:pt x="835" y="6877"/>
                  <a:pt x="678" y="7972"/>
                  <a:pt x="587" y="9067"/>
                </a:cubicBezTo>
                <a:cubicBezTo>
                  <a:pt x="470" y="10488"/>
                  <a:pt x="378" y="11896"/>
                  <a:pt x="300" y="13317"/>
                </a:cubicBezTo>
                <a:cubicBezTo>
                  <a:pt x="274" y="13825"/>
                  <a:pt x="352" y="14333"/>
                  <a:pt x="339" y="14829"/>
                </a:cubicBezTo>
                <a:cubicBezTo>
                  <a:pt x="313" y="15820"/>
                  <a:pt x="157" y="16797"/>
                  <a:pt x="118" y="17775"/>
                </a:cubicBezTo>
                <a:cubicBezTo>
                  <a:pt x="53" y="19391"/>
                  <a:pt x="0" y="21008"/>
                  <a:pt x="40" y="22624"/>
                </a:cubicBezTo>
                <a:cubicBezTo>
                  <a:pt x="66" y="24149"/>
                  <a:pt x="157" y="25661"/>
                  <a:pt x="144" y="27173"/>
                </a:cubicBezTo>
                <a:cubicBezTo>
                  <a:pt x="131" y="28646"/>
                  <a:pt x="105" y="30132"/>
                  <a:pt x="131" y="31605"/>
                </a:cubicBezTo>
                <a:cubicBezTo>
                  <a:pt x="209" y="35412"/>
                  <a:pt x="405" y="39218"/>
                  <a:pt x="274" y="43051"/>
                </a:cubicBezTo>
                <a:cubicBezTo>
                  <a:pt x="235" y="44237"/>
                  <a:pt x="287" y="45436"/>
                  <a:pt x="300" y="46622"/>
                </a:cubicBezTo>
                <a:cubicBezTo>
                  <a:pt x="300" y="46687"/>
                  <a:pt x="300" y="46753"/>
                  <a:pt x="287" y="46818"/>
                </a:cubicBezTo>
                <a:cubicBezTo>
                  <a:pt x="222" y="48004"/>
                  <a:pt x="313" y="49190"/>
                  <a:pt x="535" y="50363"/>
                </a:cubicBezTo>
                <a:cubicBezTo>
                  <a:pt x="665" y="51054"/>
                  <a:pt x="1004" y="51706"/>
                  <a:pt x="1239" y="52384"/>
                </a:cubicBezTo>
                <a:cubicBezTo>
                  <a:pt x="1486" y="53075"/>
                  <a:pt x="2164" y="53492"/>
                  <a:pt x="3129" y="53700"/>
                </a:cubicBezTo>
                <a:cubicBezTo>
                  <a:pt x="3812" y="53854"/>
                  <a:pt x="4517" y="53911"/>
                  <a:pt x="5223" y="53911"/>
                </a:cubicBezTo>
                <a:cubicBezTo>
                  <a:pt x="5299" y="53911"/>
                  <a:pt x="5374" y="53910"/>
                  <a:pt x="5449" y="53909"/>
                </a:cubicBezTo>
                <a:cubicBezTo>
                  <a:pt x="5591" y="53907"/>
                  <a:pt x="5733" y="53906"/>
                  <a:pt x="5875" y="53906"/>
                </a:cubicBezTo>
                <a:cubicBezTo>
                  <a:pt x="7594" y="53906"/>
                  <a:pt x="9293" y="54042"/>
                  <a:pt x="11015" y="54078"/>
                </a:cubicBezTo>
                <a:cubicBezTo>
                  <a:pt x="11655" y="54087"/>
                  <a:pt x="12288" y="54128"/>
                  <a:pt x="12924" y="54128"/>
                </a:cubicBezTo>
                <a:cubicBezTo>
                  <a:pt x="13273" y="54128"/>
                  <a:pt x="13623" y="54115"/>
                  <a:pt x="13974" y="54078"/>
                </a:cubicBezTo>
                <a:cubicBezTo>
                  <a:pt x="15239" y="53948"/>
                  <a:pt x="16516" y="53870"/>
                  <a:pt x="17781" y="53779"/>
                </a:cubicBezTo>
                <a:cubicBezTo>
                  <a:pt x="18850" y="53700"/>
                  <a:pt x="19919" y="53583"/>
                  <a:pt x="20961" y="53375"/>
                </a:cubicBezTo>
                <a:cubicBezTo>
                  <a:pt x="22043" y="53153"/>
                  <a:pt x="22956" y="52749"/>
                  <a:pt x="23503" y="52019"/>
                </a:cubicBezTo>
                <a:cubicBezTo>
                  <a:pt x="23855" y="51537"/>
                  <a:pt x="24142" y="51028"/>
                  <a:pt x="24233" y="50494"/>
                </a:cubicBezTo>
                <a:cubicBezTo>
                  <a:pt x="24416" y="49464"/>
                  <a:pt x="24429" y="48434"/>
                  <a:pt x="24546" y="47404"/>
                </a:cubicBezTo>
                <a:cubicBezTo>
                  <a:pt x="24690" y="45957"/>
                  <a:pt x="24768" y="44510"/>
                  <a:pt x="24833" y="43064"/>
                </a:cubicBezTo>
                <a:cubicBezTo>
                  <a:pt x="24924" y="41395"/>
                  <a:pt x="24898" y="39726"/>
                  <a:pt x="24898" y="38058"/>
                </a:cubicBezTo>
                <a:cubicBezTo>
                  <a:pt x="24885" y="36402"/>
                  <a:pt x="24794" y="34760"/>
                  <a:pt x="24794" y="33104"/>
                </a:cubicBezTo>
                <a:cubicBezTo>
                  <a:pt x="24794" y="31332"/>
                  <a:pt x="24755" y="29546"/>
                  <a:pt x="24768" y="27760"/>
                </a:cubicBezTo>
                <a:cubicBezTo>
                  <a:pt x="24794" y="26196"/>
                  <a:pt x="24807" y="24631"/>
                  <a:pt x="24846" y="23067"/>
                </a:cubicBezTo>
                <a:cubicBezTo>
                  <a:pt x="24885" y="21503"/>
                  <a:pt x="24911" y="19952"/>
                  <a:pt x="24911" y="18387"/>
                </a:cubicBezTo>
                <a:cubicBezTo>
                  <a:pt x="24911" y="16967"/>
                  <a:pt x="24937" y="15533"/>
                  <a:pt x="24989" y="14112"/>
                </a:cubicBezTo>
                <a:cubicBezTo>
                  <a:pt x="25028" y="12795"/>
                  <a:pt x="25081" y="11479"/>
                  <a:pt x="25068" y="10162"/>
                </a:cubicBezTo>
                <a:cubicBezTo>
                  <a:pt x="25068" y="8924"/>
                  <a:pt x="25002" y="7685"/>
                  <a:pt x="24963" y="6447"/>
                </a:cubicBezTo>
                <a:lnTo>
                  <a:pt x="24950" y="6447"/>
                </a:lnTo>
                <a:cubicBezTo>
                  <a:pt x="25055" y="5561"/>
                  <a:pt x="24963" y="4674"/>
                  <a:pt x="24872" y="3801"/>
                </a:cubicBezTo>
                <a:cubicBezTo>
                  <a:pt x="24807" y="3175"/>
                  <a:pt x="24664" y="2562"/>
                  <a:pt x="24403" y="1963"/>
                </a:cubicBezTo>
                <a:cubicBezTo>
                  <a:pt x="24194" y="1481"/>
                  <a:pt x="23803" y="1103"/>
                  <a:pt x="23204" y="803"/>
                </a:cubicBezTo>
                <a:cubicBezTo>
                  <a:pt x="22185" y="293"/>
                  <a:pt x="21087" y="0"/>
                  <a:pt x="19843" y="0"/>
                </a:cubicBezTo>
                <a:close/>
              </a:path>
            </a:pathLst>
          </a:custGeom>
          <a:noFill/>
          <a:ln w="19050">
            <a:solidFill>
              <a:srgbClr val="060606"/>
            </a:solidFill>
          </a:ln>
          <a:effectLst>
            <a:outerShdw blurRad="57150" dist="9525" algn="bl" rotWithShape="0">
              <a:srgbClr val="000000"/>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lang="fr-CI" noProof="0"/>
          </a:p>
        </p:txBody>
      </p:sp>
      <p:sp>
        <p:nvSpPr>
          <p:cNvPr id="24" name="Rectangle 23"/>
          <p:cNvSpPr/>
          <p:nvPr/>
        </p:nvSpPr>
        <p:spPr>
          <a:xfrm>
            <a:off x="7570816" y="1466170"/>
            <a:ext cx="1322389" cy="295488"/>
          </a:xfrm>
          <a:prstGeom prst="rect">
            <a:avLst/>
          </a:prstGeom>
        </p:spPr>
        <p:txBody>
          <a:bodyPr wrap="none">
            <a:spAutoFit/>
          </a:bodyPr>
          <a:lstStyle/>
          <a:p>
            <a:pPr lvl="0">
              <a:lnSpc>
                <a:spcPct val="110000"/>
              </a:lnSpc>
            </a:pPr>
            <a:r>
              <a:rPr lang="fr-CI" sz="1400" b="1" noProof="0">
                <a:solidFill>
                  <a:schemeClr val="bg1"/>
                </a:solidFill>
                <a:latin typeface="Helvetica" panose="020B0604020202020204" pitchFamily="34" charset="0"/>
                <a:ea typeface="Open Sans Semibold" panose="020B0706030804020204" pitchFamily="34" charset="0"/>
                <a:cs typeface="Helvetica" panose="020B0604020202020204" pitchFamily="34" charset="0"/>
              </a:rPr>
              <a:t>Traitement</a:t>
            </a:r>
          </a:p>
        </p:txBody>
      </p:sp>
      <p:sp>
        <p:nvSpPr>
          <p:cNvPr id="37" name="Google Shape;7386;p39"/>
          <p:cNvSpPr/>
          <p:nvPr/>
        </p:nvSpPr>
        <p:spPr>
          <a:xfrm rot="10800000">
            <a:off x="1854215" y="3845744"/>
            <a:ext cx="3625790" cy="329031"/>
          </a:xfrm>
          <a:custGeom>
            <a:avLst/>
            <a:gdLst/>
            <a:ahLst/>
            <a:cxnLst/>
            <a:rect l="l" t="t" r="r" b="b"/>
            <a:pathLst>
              <a:path w="40007" h="30221" extrusionOk="0">
                <a:moveTo>
                  <a:pt x="19007" y="1"/>
                </a:moveTo>
                <a:cubicBezTo>
                  <a:pt x="17909" y="1"/>
                  <a:pt x="16810" y="17"/>
                  <a:pt x="15708" y="53"/>
                </a:cubicBezTo>
                <a:cubicBezTo>
                  <a:pt x="13270" y="131"/>
                  <a:pt x="10885" y="275"/>
                  <a:pt x="8512" y="548"/>
                </a:cubicBezTo>
                <a:cubicBezTo>
                  <a:pt x="6088" y="835"/>
                  <a:pt x="4524" y="1500"/>
                  <a:pt x="4041" y="2712"/>
                </a:cubicBezTo>
                <a:cubicBezTo>
                  <a:pt x="4015" y="2777"/>
                  <a:pt x="3976" y="2843"/>
                  <a:pt x="3937" y="2908"/>
                </a:cubicBezTo>
                <a:cubicBezTo>
                  <a:pt x="2777" y="4902"/>
                  <a:pt x="2282" y="6949"/>
                  <a:pt x="1734" y="8995"/>
                </a:cubicBezTo>
                <a:cubicBezTo>
                  <a:pt x="1160" y="11120"/>
                  <a:pt x="613" y="13232"/>
                  <a:pt x="391" y="15357"/>
                </a:cubicBezTo>
                <a:cubicBezTo>
                  <a:pt x="183" y="17325"/>
                  <a:pt x="0" y="19293"/>
                  <a:pt x="79" y="21092"/>
                </a:cubicBezTo>
                <a:cubicBezTo>
                  <a:pt x="52" y="23074"/>
                  <a:pt x="144" y="24899"/>
                  <a:pt x="365" y="26710"/>
                </a:cubicBezTo>
                <a:cubicBezTo>
                  <a:pt x="522" y="28079"/>
                  <a:pt x="1721" y="29096"/>
                  <a:pt x="4419" y="29656"/>
                </a:cubicBezTo>
                <a:cubicBezTo>
                  <a:pt x="6296" y="30048"/>
                  <a:pt x="8265" y="30178"/>
                  <a:pt x="10259" y="30204"/>
                </a:cubicBezTo>
                <a:cubicBezTo>
                  <a:pt x="11143" y="30216"/>
                  <a:pt x="12026" y="30220"/>
                  <a:pt x="12908" y="30220"/>
                </a:cubicBezTo>
                <a:cubicBezTo>
                  <a:pt x="15996" y="30220"/>
                  <a:pt x="19078" y="30165"/>
                  <a:pt x="22161" y="30165"/>
                </a:cubicBezTo>
                <a:cubicBezTo>
                  <a:pt x="24859" y="30165"/>
                  <a:pt x="27557" y="30204"/>
                  <a:pt x="30243" y="30204"/>
                </a:cubicBezTo>
                <a:cubicBezTo>
                  <a:pt x="31690" y="30191"/>
                  <a:pt x="33123" y="30113"/>
                  <a:pt x="34505" y="29852"/>
                </a:cubicBezTo>
                <a:cubicBezTo>
                  <a:pt x="35470" y="29683"/>
                  <a:pt x="36330" y="29435"/>
                  <a:pt x="36917" y="29005"/>
                </a:cubicBezTo>
                <a:cubicBezTo>
                  <a:pt x="37881" y="28288"/>
                  <a:pt x="38677" y="27519"/>
                  <a:pt x="39120" y="26684"/>
                </a:cubicBezTo>
                <a:cubicBezTo>
                  <a:pt x="39732" y="25485"/>
                  <a:pt x="39954" y="24260"/>
                  <a:pt x="39954" y="23021"/>
                </a:cubicBezTo>
                <a:cubicBezTo>
                  <a:pt x="39954" y="19372"/>
                  <a:pt x="40006" y="15709"/>
                  <a:pt x="39563" y="12059"/>
                </a:cubicBezTo>
                <a:cubicBezTo>
                  <a:pt x="39367" y="10403"/>
                  <a:pt x="39485" y="8748"/>
                  <a:pt x="39237" y="7105"/>
                </a:cubicBezTo>
                <a:cubicBezTo>
                  <a:pt x="39068" y="6023"/>
                  <a:pt x="38794" y="4941"/>
                  <a:pt x="37920" y="3938"/>
                </a:cubicBezTo>
                <a:cubicBezTo>
                  <a:pt x="37282" y="3208"/>
                  <a:pt x="36773" y="2438"/>
                  <a:pt x="35665" y="1826"/>
                </a:cubicBezTo>
                <a:cubicBezTo>
                  <a:pt x="34192" y="1031"/>
                  <a:pt x="32237" y="666"/>
                  <a:pt x="30138" y="496"/>
                </a:cubicBezTo>
                <a:cubicBezTo>
                  <a:pt x="26451" y="194"/>
                  <a:pt x="22741" y="1"/>
                  <a:pt x="19007" y="1"/>
                </a:cubicBezTo>
                <a:close/>
              </a:path>
            </a:pathLst>
          </a:custGeom>
          <a:solidFill>
            <a:srgbClr val="112A40"/>
          </a:solidFill>
          <a:ln>
            <a:noFill/>
          </a:ln>
          <a:effectLst>
            <a:outerShdw blurRad="57150" dist="9525" algn="bl" rotWithShape="0">
              <a:srgbClr val="000000"/>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lang="fr-CI" noProof="0"/>
          </a:p>
        </p:txBody>
      </p:sp>
      <p:sp>
        <p:nvSpPr>
          <p:cNvPr id="38" name="Google Shape;7367;p39"/>
          <p:cNvSpPr/>
          <p:nvPr/>
        </p:nvSpPr>
        <p:spPr>
          <a:xfrm rot="16200000">
            <a:off x="2838223" y="3190772"/>
            <a:ext cx="1751381" cy="3719393"/>
          </a:xfrm>
          <a:custGeom>
            <a:avLst/>
            <a:gdLst/>
            <a:ahLst/>
            <a:cxnLst/>
            <a:rect l="l" t="t" r="r" b="b"/>
            <a:pathLst>
              <a:path w="25081" h="54128" extrusionOk="0">
                <a:moveTo>
                  <a:pt x="19843" y="0"/>
                </a:moveTo>
                <a:cubicBezTo>
                  <a:pt x="19654" y="0"/>
                  <a:pt x="19462" y="7"/>
                  <a:pt x="19267" y="21"/>
                </a:cubicBezTo>
                <a:cubicBezTo>
                  <a:pt x="17781" y="125"/>
                  <a:pt x="16282" y="99"/>
                  <a:pt x="14796" y="112"/>
                </a:cubicBezTo>
                <a:cubicBezTo>
                  <a:pt x="13909" y="125"/>
                  <a:pt x="13010" y="112"/>
                  <a:pt x="12123" y="177"/>
                </a:cubicBezTo>
                <a:cubicBezTo>
                  <a:pt x="10272" y="333"/>
                  <a:pt x="8421" y="503"/>
                  <a:pt x="6570" y="633"/>
                </a:cubicBezTo>
                <a:cubicBezTo>
                  <a:pt x="5267" y="738"/>
                  <a:pt x="3989" y="933"/>
                  <a:pt x="2764" y="1259"/>
                </a:cubicBezTo>
                <a:cubicBezTo>
                  <a:pt x="1943" y="1481"/>
                  <a:pt x="1408" y="1872"/>
                  <a:pt x="1226" y="2471"/>
                </a:cubicBezTo>
                <a:cubicBezTo>
                  <a:pt x="991" y="3292"/>
                  <a:pt x="861" y="4140"/>
                  <a:pt x="965" y="4974"/>
                </a:cubicBezTo>
                <a:cubicBezTo>
                  <a:pt x="991" y="5248"/>
                  <a:pt x="1030" y="5508"/>
                  <a:pt x="991" y="5782"/>
                </a:cubicBezTo>
                <a:cubicBezTo>
                  <a:pt x="835" y="6877"/>
                  <a:pt x="678" y="7972"/>
                  <a:pt x="587" y="9067"/>
                </a:cubicBezTo>
                <a:cubicBezTo>
                  <a:pt x="470" y="10488"/>
                  <a:pt x="378" y="11896"/>
                  <a:pt x="300" y="13317"/>
                </a:cubicBezTo>
                <a:cubicBezTo>
                  <a:pt x="274" y="13825"/>
                  <a:pt x="352" y="14333"/>
                  <a:pt x="339" y="14829"/>
                </a:cubicBezTo>
                <a:cubicBezTo>
                  <a:pt x="313" y="15820"/>
                  <a:pt x="157" y="16797"/>
                  <a:pt x="118" y="17775"/>
                </a:cubicBezTo>
                <a:cubicBezTo>
                  <a:pt x="53" y="19391"/>
                  <a:pt x="0" y="21008"/>
                  <a:pt x="40" y="22624"/>
                </a:cubicBezTo>
                <a:cubicBezTo>
                  <a:pt x="66" y="24149"/>
                  <a:pt x="157" y="25661"/>
                  <a:pt x="144" y="27173"/>
                </a:cubicBezTo>
                <a:cubicBezTo>
                  <a:pt x="131" y="28646"/>
                  <a:pt x="105" y="30132"/>
                  <a:pt x="131" y="31605"/>
                </a:cubicBezTo>
                <a:cubicBezTo>
                  <a:pt x="209" y="35412"/>
                  <a:pt x="405" y="39218"/>
                  <a:pt x="274" y="43051"/>
                </a:cubicBezTo>
                <a:cubicBezTo>
                  <a:pt x="235" y="44237"/>
                  <a:pt x="287" y="45436"/>
                  <a:pt x="300" y="46622"/>
                </a:cubicBezTo>
                <a:cubicBezTo>
                  <a:pt x="300" y="46687"/>
                  <a:pt x="300" y="46753"/>
                  <a:pt x="287" y="46818"/>
                </a:cubicBezTo>
                <a:cubicBezTo>
                  <a:pt x="222" y="48004"/>
                  <a:pt x="313" y="49190"/>
                  <a:pt x="535" y="50363"/>
                </a:cubicBezTo>
                <a:cubicBezTo>
                  <a:pt x="665" y="51054"/>
                  <a:pt x="1004" y="51706"/>
                  <a:pt x="1239" y="52384"/>
                </a:cubicBezTo>
                <a:cubicBezTo>
                  <a:pt x="1486" y="53075"/>
                  <a:pt x="2164" y="53492"/>
                  <a:pt x="3129" y="53700"/>
                </a:cubicBezTo>
                <a:cubicBezTo>
                  <a:pt x="3812" y="53854"/>
                  <a:pt x="4517" y="53911"/>
                  <a:pt x="5223" y="53911"/>
                </a:cubicBezTo>
                <a:cubicBezTo>
                  <a:pt x="5299" y="53911"/>
                  <a:pt x="5374" y="53910"/>
                  <a:pt x="5449" y="53909"/>
                </a:cubicBezTo>
                <a:cubicBezTo>
                  <a:pt x="5591" y="53907"/>
                  <a:pt x="5733" y="53906"/>
                  <a:pt x="5875" y="53906"/>
                </a:cubicBezTo>
                <a:cubicBezTo>
                  <a:pt x="7594" y="53906"/>
                  <a:pt x="9293" y="54042"/>
                  <a:pt x="11015" y="54078"/>
                </a:cubicBezTo>
                <a:cubicBezTo>
                  <a:pt x="11655" y="54087"/>
                  <a:pt x="12288" y="54128"/>
                  <a:pt x="12924" y="54128"/>
                </a:cubicBezTo>
                <a:cubicBezTo>
                  <a:pt x="13273" y="54128"/>
                  <a:pt x="13623" y="54115"/>
                  <a:pt x="13974" y="54078"/>
                </a:cubicBezTo>
                <a:cubicBezTo>
                  <a:pt x="15239" y="53948"/>
                  <a:pt x="16516" y="53870"/>
                  <a:pt x="17781" y="53779"/>
                </a:cubicBezTo>
                <a:cubicBezTo>
                  <a:pt x="18850" y="53700"/>
                  <a:pt x="19919" y="53583"/>
                  <a:pt x="20961" y="53375"/>
                </a:cubicBezTo>
                <a:cubicBezTo>
                  <a:pt x="22043" y="53153"/>
                  <a:pt x="22956" y="52749"/>
                  <a:pt x="23503" y="52019"/>
                </a:cubicBezTo>
                <a:cubicBezTo>
                  <a:pt x="23855" y="51537"/>
                  <a:pt x="24142" y="51028"/>
                  <a:pt x="24233" y="50494"/>
                </a:cubicBezTo>
                <a:cubicBezTo>
                  <a:pt x="24416" y="49464"/>
                  <a:pt x="24429" y="48434"/>
                  <a:pt x="24546" y="47404"/>
                </a:cubicBezTo>
                <a:cubicBezTo>
                  <a:pt x="24690" y="45957"/>
                  <a:pt x="24768" y="44510"/>
                  <a:pt x="24833" y="43064"/>
                </a:cubicBezTo>
                <a:cubicBezTo>
                  <a:pt x="24924" y="41395"/>
                  <a:pt x="24898" y="39726"/>
                  <a:pt x="24898" y="38058"/>
                </a:cubicBezTo>
                <a:cubicBezTo>
                  <a:pt x="24885" y="36402"/>
                  <a:pt x="24794" y="34760"/>
                  <a:pt x="24794" y="33104"/>
                </a:cubicBezTo>
                <a:cubicBezTo>
                  <a:pt x="24794" y="31332"/>
                  <a:pt x="24755" y="29546"/>
                  <a:pt x="24768" y="27760"/>
                </a:cubicBezTo>
                <a:cubicBezTo>
                  <a:pt x="24794" y="26196"/>
                  <a:pt x="24807" y="24631"/>
                  <a:pt x="24846" y="23067"/>
                </a:cubicBezTo>
                <a:cubicBezTo>
                  <a:pt x="24885" y="21503"/>
                  <a:pt x="24911" y="19952"/>
                  <a:pt x="24911" y="18387"/>
                </a:cubicBezTo>
                <a:cubicBezTo>
                  <a:pt x="24911" y="16967"/>
                  <a:pt x="24937" y="15533"/>
                  <a:pt x="24989" y="14112"/>
                </a:cubicBezTo>
                <a:cubicBezTo>
                  <a:pt x="25028" y="12795"/>
                  <a:pt x="25081" y="11479"/>
                  <a:pt x="25068" y="10162"/>
                </a:cubicBezTo>
                <a:cubicBezTo>
                  <a:pt x="25068" y="8924"/>
                  <a:pt x="25002" y="7685"/>
                  <a:pt x="24963" y="6447"/>
                </a:cubicBezTo>
                <a:lnTo>
                  <a:pt x="24950" y="6447"/>
                </a:lnTo>
                <a:cubicBezTo>
                  <a:pt x="25055" y="5561"/>
                  <a:pt x="24963" y="4674"/>
                  <a:pt x="24872" y="3801"/>
                </a:cubicBezTo>
                <a:cubicBezTo>
                  <a:pt x="24807" y="3175"/>
                  <a:pt x="24664" y="2562"/>
                  <a:pt x="24403" y="1963"/>
                </a:cubicBezTo>
                <a:cubicBezTo>
                  <a:pt x="24194" y="1481"/>
                  <a:pt x="23803" y="1103"/>
                  <a:pt x="23204" y="803"/>
                </a:cubicBezTo>
                <a:cubicBezTo>
                  <a:pt x="22185" y="293"/>
                  <a:pt x="21087" y="0"/>
                  <a:pt x="19843" y="0"/>
                </a:cubicBezTo>
                <a:close/>
              </a:path>
            </a:pathLst>
          </a:custGeom>
          <a:noFill/>
          <a:ln w="19050">
            <a:solidFill>
              <a:srgbClr val="060606"/>
            </a:solidFill>
          </a:ln>
          <a:effectLst>
            <a:outerShdw blurRad="57150" dist="9525" algn="bl" rotWithShape="0">
              <a:srgbClr val="000000"/>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lang="fr-CI" noProof="0"/>
          </a:p>
        </p:txBody>
      </p:sp>
      <p:sp>
        <p:nvSpPr>
          <p:cNvPr id="40" name="Rectangle 39"/>
          <p:cNvSpPr/>
          <p:nvPr/>
        </p:nvSpPr>
        <p:spPr>
          <a:xfrm>
            <a:off x="3052718" y="3852190"/>
            <a:ext cx="1322389" cy="295488"/>
          </a:xfrm>
          <a:prstGeom prst="rect">
            <a:avLst/>
          </a:prstGeom>
        </p:spPr>
        <p:txBody>
          <a:bodyPr wrap="none">
            <a:spAutoFit/>
          </a:bodyPr>
          <a:lstStyle/>
          <a:p>
            <a:pPr lvl="0">
              <a:lnSpc>
                <a:spcPct val="110000"/>
              </a:lnSpc>
            </a:pPr>
            <a:r>
              <a:rPr lang="fr-CI" sz="1400" b="1" noProof="0">
                <a:solidFill>
                  <a:schemeClr val="bg1"/>
                </a:solidFill>
                <a:latin typeface="Helvetica" panose="020B0604020202020204" pitchFamily="34" charset="0"/>
                <a:ea typeface="Open Sans Semibold" panose="020B0706030804020204" pitchFamily="34" charset="0"/>
                <a:cs typeface="Helvetica" panose="020B0604020202020204" pitchFamily="34" charset="0"/>
              </a:rPr>
              <a:t>Contrôle</a:t>
            </a:r>
          </a:p>
        </p:txBody>
      </p:sp>
      <p:sp>
        <p:nvSpPr>
          <p:cNvPr id="42" name="Google Shape;7386;p39"/>
          <p:cNvSpPr/>
          <p:nvPr/>
        </p:nvSpPr>
        <p:spPr>
          <a:xfrm rot="10800000">
            <a:off x="6478457" y="3869173"/>
            <a:ext cx="3625790" cy="329031"/>
          </a:xfrm>
          <a:custGeom>
            <a:avLst/>
            <a:gdLst/>
            <a:ahLst/>
            <a:cxnLst/>
            <a:rect l="l" t="t" r="r" b="b"/>
            <a:pathLst>
              <a:path w="40007" h="30221" extrusionOk="0">
                <a:moveTo>
                  <a:pt x="19007" y="1"/>
                </a:moveTo>
                <a:cubicBezTo>
                  <a:pt x="17909" y="1"/>
                  <a:pt x="16810" y="17"/>
                  <a:pt x="15708" y="53"/>
                </a:cubicBezTo>
                <a:cubicBezTo>
                  <a:pt x="13270" y="131"/>
                  <a:pt x="10885" y="275"/>
                  <a:pt x="8512" y="548"/>
                </a:cubicBezTo>
                <a:cubicBezTo>
                  <a:pt x="6088" y="835"/>
                  <a:pt x="4524" y="1500"/>
                  <a:pt x="4041" y="2712"/>
                </a:cubicBezTo>
                <a:cubicBezTo>
                  <a:pt x="4015" y="2777"/>
                  <a:pt x="3976" y="2843"/>
                  <a:pt x="3937" y="2908"/>
                </a:cubicBezTo>
                <a:cubicBezTo>
                  <a:pt x="2777" y="4902"/>
                  <a:pt x="2282" y="6949"/>
                  <a:pt x="1734" y="8995"/>
                </a:cubicBezTo>
                <a:cubicBezTo>
                  <a:pt x="1160" y="11120"/>
                  <a:pt x="613" y="13232"/>
                  <a:pt x="391" y="15357"/>
                </a:cubicBezTo>
                <a:cubicBezTo>
                  <a:pt x="183" y="17325"/>
                  <a:pt x="0" y="19293"/>
                  <a:pt x="79" y="21092"/>
                </a:cubicBezTo>
                <a:cubicBezTo>
                  <a:pt x="52" y="23074"/>
                  <a:pt x="144" y="24899"/>
                  <a:pt x="365" y="26710"/>
                </a:cubicBezTo>
                <a:cubicBezTo>
                  <a:pt x="522" y="28079"/>
                  <a:pt x="1721" y="29096"/>
                  <a:pt x="4419" y="29656"/>
                </a:cubicBezTo>
                <a:cubicBezTo>
                  <a:pt x="6296" y="30048"/>
                  <a:pt x="8265" y="30178"/>
                  <a:pt x="10259" y="30204"/>
                </a:cubicBezTo>
                <a:cubicBezTo>
                  <a:pt x="11143" y="30216"/>
                  <a:pt x="12026" y="30220"/>
                  <a:pt x="12908" y="30220"/>
                </a:cubicBezTo>
                <a:cubicBezTo>
                  <a:pt x="15996" y="30220"/>
                  <a:pt x="19078" y="30165"/>
                  <a:pt x="22161" y="30165"/>
                </a:cubicBezTo>
                <a:cubicBezTo>
                  <a:pt x="24859" y="30165"/>
                  <a:pt x="27557" y="30204"/>
                  <a:pt x="30243" y="30204"/>
                </a:cubicBezTo>
                <a:cubicBezTo>
                  <a:pt x="31690" y="30191"/>
                  <a:pt x="33123" y="30113"/>
                  <a:pt x="34505" y="29852"/>
                </a:cubicBezTo>
                <a:cubicBezTo>
                  <a:pt x="35470" y="29683"/>
                  <a:pt x="36330" y="29435"/>
                  <a:pt x="36917" y="29005"/>
                </a:cubicBezTo>
                <a:cubicBezTo>
                  <a:pt x="37881" y="28288"/>
                  <a:pt x="38677" y="27519"/>
                  <a:pt x="39120" y="26684"/>
                </a:cubicBezTo>
                <a:cubicBezTo>
                  <a:pt x="39732" y="25485"/>
                  <a:pt x="39954" y="24260"/>
                  <a:pt x="39954" y="23021"/>
                </a:cubicBezTo>
                <a:cubicBezTo>
                  <a:pt x="39954" y="19372"/>
                  <a:pt x="40006" y="15709"/>
                  <a:pt x="39563" y="12059"/>
                </a:cubicBezTo>
                <a:cubicBezTo>
                  <a:pt x="39367" y="10403"/>
                  <a:pt x="39485" y="8748"/>
                  <a:pt x="39237" y="7105"/>
                </a:cubicBezTo>
                <a:cubicBezTo>
                  <a:pt x="39068" y="6023"/>
                  <a:pt x="38794" y="4941"/>
                  <a:pt x="37920" y="3938"/>
                </a:cubicBezTo>
                <a:cubicBezTo>
                  <a:pt x="37282" y="3208"/>
                  <a:pt x="36773" y="2438"/>
                  <a:pt x="35665" y="1826"/>
                </a:cubicBezTo>
                <a:cubicBezTo>
                  <a:pt x="34192" y="1031"/>
                  <a:pt x="32237" y="666"/>
                  <a:pt x="30138" y="496"/>
                </a:cubicBezTo>
                <a:cubicBezTo>
                  <a:pt x="26451" y="194"/>
                  <a:pt x="22741" y="1"/>
                  <a:pt x="19007" y="1"/>
                </a:cubicBezTo>
                <a:close/>
              </a:path>
            </a:pathLst>
          </a:custGeom>
          <a:solidFill>
            <a:srgbClr val="112A40"/>
          </a:solidFill>
          <a:ln>
            <a:noFill/>
          </a:ln>
          <a:effectLst>
            <a:outerShdw blurRad="57150" dist="9525" algn="bl" rotWithShape="0">
              <a:srgbClr val="000000"/>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lang="fr-CI" noProof="0"/>
          </a:p>
        </p:txBody>
      </p:sp>
      <p:sp>
        <p:nvSpPr>
          <p:cNvPr id="43" name="Google Shape;7367;p39"/>
          <p:cNvSpPr/>
          <p:nvPr/>
        </p:nvSpPr>
        <p:spPr>
          <a:xfrm rot="16200000">
            <a:off x="7474179" y="3202486"/>
            <a:ext cx="1727953" cy="3719393"/>
          </a:xfrm>
          <a:custGeom>
            <a:avLst/>
            <a:gdLst/>
            <a:ahLst/>
            <a:cxnLst/>
            <a:rect l="l" t="t" r="r" b="b"/>
            <a:pathLst>
              <a:path w="25081" h="54128" extrusionOk="0">
                <a:moveTo>
                  <a:pt x="19843" y="0"/>
                </a:moveTo>
                <a:cubicBezTo>
                  <a:pt x="19654" y="0"/>
                  <a:pt x="19462" y="7"/>
                  <a:pt x="19267" y="21"/>
                </a:cubicBezTo>
                <a:cubicBezTo>
                  <a:pt x="17781" y="125"/>
                  <a:pt x="16282" y="99"/>
                  <a:pt x="14796" y="112"/>
                </a:cubicBezTo>
                <a:cubicBezTo>
                  <a:pt x="13909" y="125"/>
                  <a:pt x="13010" y="112"/>
                  <a:pt x="12123" y="177"/>
                </a:cubicBezTo>
                <a:cubicBezTo>
                  <a:pt x="10272" y="333"/>
                  <a:pt x="8421" y="503"/>
                  <a:pt x="6570" y="633"/>
                </a:cubicBezTo>
                <a:cubicBezTo>
                  <a:pt x="5267" y="738"/>
                  <a:pt x="3989" y="933"/>
                  <a:pt x="2764" y="1259"/>
                </a:cubicBezTo>
                <a:cubicBezTo>
                  <a:pt x="1943" y="1481"/>
                  <a:pt x="1408" y="1872"/>
                  <a:pt x="1226" y="2471"/>
                </a:cubicBezTo>
                <a:cubicBezTo>
                  <a:pt x="991" y="3292"/>
                  <a:pt x="861" y="4140"/>
                  <a:pt x="965" y="4974"/>
                </a:cubicBezTo>
                <a:cubicBezTo>
                  <a:pt x="991" y="5248"/>
                  <a:pt x="1030" y="5508"/>
                  <a:pt x="991" y="5782"/>
                </a:cubicBezTo>
                <a:cubicBezTo>
                  <a:pt x="835" y="6877"/>
                  <a:pt x="678" y="7972"/>
                  <a:pt x="587" y="9067"/>
                </a:cubicBezTo>
                <a:cubicBezTo>
                  <a:pt x="470" y="10488"/>
                  <a:pt x="378" y="11896"/>
                  <a:pt x="300" y="13317"/>
                </a:cubicBezTo>
                <a:cubicBezTo>
                  <a:pt x="274" y="13825"/>
                  <a:pt x="352" y="14333"/>
                  <a:pt x="339" y="14829"/>
                </a:cubicBezTo>
                <a:cubicBezTo>
                  <a:pt x="313" y="15820"/>
                  <a:pt x="157" y="16797"/>
                  <a:pt x="118" y="17775"/>
                </a:cubicBezTo>
                <a:cubicBezTo>
                  <a:pt x="53" y="19391"/>
                  <a:pt x="0" y="21008"/>
                  <a:pt x="40" y="22624"/>
                </a:cubicBezTo>
                <a:cubicBezTo>
                  <a:pt x="66" y="24149"/>
                  <a:pt x="157" y="25661"/>
                  <a:pt x="144" y="27173"/>
                </a:cubicBezTo>
                <a:cubicBezTo>
                  <a:pt x="131" y="28646"/>
                  <a:pt x="105" y="30132"/>
                  <a:pt x="131" y="31605"/>
                </a:cubicBezTo>
                <a:cubicBezTo>
                  <a:pt x="209" y="35412"/>
                  <a:pt x="405" y="39218"/>
                  <a:pt x="274" y="43051"/>
                </a:cubicBezTo>
                <a:cubicBezTo>
                  <a:pt x="235" y="44237"/>
                  <a:pt x="287" y="45436"/>
                  <a:pt x="300" y="46622"/>
                </a:cubicBezTo>
                <a:cubicBezTo>
                  <a:pt x="300" y="46687"/>
                  <a:pt x="300" y="46753"/>
                  <a:pt x="287" y="46818"/>
                </a:cubicBezTo>
                <a:cubicBezTo>
                  <a:pt x="222" y="48004"/>
                  <a:pt x="313" y="49190"/>
                  <a:pt x="535" y="50363"/>
                </a:cubicBezTo>
                <a:cubicBezTo>
                  <a:pt x="665" y="51054"/>
                  <a:pt x="1004" y="51706"/>
                  <a:pt x="1239" y="52384"/>
                </a:cubicBezTo>
                <a:cubicBezTo>
                  <a:pt x="1486" y="53075"/>
                  <a:pt x="2164" y="53492"/>
                  <a:pt x="3129" y="53700"/>
                </a:cubicBezTo>
                <a:cubicBezTo>
                  <a:pt x="3812" y="53854"/>
                  <a:pt x="4517" y="53911"/>
                  <a:pt x="5223" y="53911"/>
                </a:cubicBezTo>
                <a:cubicBezTo>
                  <a:pt x="5299" y="53911"/>
                  <a:pt x="5374" y="53910"/>
                  <a:pt x="5449" y="53909"/>
                </a:cubicBezTo>
                <a:cubicBezTo>
                  <a:pt x="5591" y="53907"/>
                  <a:pt x="5733" y="53906"/>
                  <a:pt x="5875" y="53906"/>
                </a:cubicBezTo>
                <a:cubicBezTo>
                  <a:pt x="7594" y="53906"/>
                  <a:pt x="9293" y="54042"/>
                  <a:pt x="11015" y="54078"/>
                </a:cubicBezTo>
                <a:cubicBezTo>
                  <a:pt x="11655" y="54087"/>
                  <a:pt x="12288" y="54128"/>
                  <a:pt x="12924" y="54128"/>
                </a:cubicBezTo>
                <a:cubicBezTo>
                  <a:pt x="13273" y="54128"/>
                  <a:pt x="13623" y="54115"/>
                  <a:pt x="13974" y="54078"/>
                </a:cubicBezTo>
                <a:cubicBezTo>
                  <a:pt x="15239" y="53948"/>
                  <a:pt x="16516" y="53870"/>
                  <a:pt x="17781" y="53779"/>
                </a:cubicBezTo>
                <a:cubicBezTo>
                  <a:pt x="18850" y="53700"/>
                  <a:pt x="19919" y="53583"/>
                  <a:pt x="20961" y="53375"/>
                </a:cubicBezTo>
                <a:cubicBezTo>
                  <a:pt x="22043" y="53153"/>
                  <a:pt x="22956" y="52749"/>
                  <a:pt x="23503" y="52019"/>
                </a:cubicBezTo>
                <a:cubicBezTo>
                  <a:pt x="23855" y="51537"/>
                  <a:pt x="24142" y="51028"/>
                  <a:pt x="24233" y="50494"/>
                </a:cubicBezTo>
                <a:cubicBezTo>
                  <a:pt x="24416" y="49464"/>
                  <a:pt x="24429" y="48434"/>
                  <a:pt x="24546" y="47404"/>
                </a:cubicBezTo>
                <a:cubicBezTo>
                  <a:pt x="24690" y="45957"/>
                  <a:pt x="24768" y="44510"/>
                  <a:pt x="24833" y="43064"/>
                </a:cubicBezTo>
                <a:cubicBezTo>
                  <a:pt x="24924" y="41395"/>
                  <a:pt x="24898" y="39726"/>
                  <a:pt x="24898" y="38058"/>
                </a:cubicBezTo>
                <a:cubicBezTo>
                  <a:pt x="24885" y="36402"/>
                  <a:pt x="24794" y="34760"/>
                  <a:pt x="24794" y="33104"/>
                </a:cubicBezTo>
                <a:cubicBezTo>
                  <a:pt x="24794" y="31332"/>
                  <a:pt x="24755" y="29546"/>
                  <a:pt x="24768" y="27760"/>
                </a:cubicBezTo>
                <a:cubicBezTo>
                  <a:pt x="24794" y="26196"/>
                  <a:pt x="24807" y="24631"/>
                  <a:pt x="24846" y="23067"/>
                </a:cubicBezTo>
                <a:cubicBezTo>
                  <a:pt x="24885" y="21503"/>
                  <a:pt x="24911" y="19952"/>
                  <a:pt x="24911" y="18387"/>
                </a:cubicBezTo>
                <a:cubicBezTo>
                  <a:pt x="24911" y="16967"/>
                  <a:pt x="24937" y="15533"/>
                  <a:pt x="24989" y="14112"/>
                </a:cubicBezTo>
                <a:cubicBezTo>
                  <a:pt x="25028" y="12795"/>
                  <a:pt x="25081" y="11479"/>
                  <a:pt x="25068" y="10162"/>
                </a:cubicBezTo>
                <a:cubicBezTo>
                  <a:pt x="25068" y="8924"/>
                  <a:pt x="25002" y="7685"/>
                  <a:pt x="24963" y="6447"/>
                </a:cubicBezTo>
                <a:lnTo>
                  <a:pt x="24950" y="6447"/>
                </a:lnTo>
                <a:cubicBezTo>
                  <a:pt x="25055" y="5561"/>
                  <a:pt x="24963" y="4674"/>
                  <a:pt x="24872" y="3801"/>
                </a:cubicBezTo>
                <a:cubicBezTo>
                  <a:pt x="24807" y="3175"/>
                  <a:pt x="24664" y="2562"/>
                  <a:pt x="24403" y="1963"/>
                </a:cubicBezTo>
                <a:cubicBezTo>
                  <a:pt x="24194" y="1481"/>
                  <a:pt x="23803" y="1103"/>
                  <a:pt x="23204" y="803"/>
                </a:cubicBezTo>
                <a:cubicBezTo>
                  <a:pt x="22185" y="293"/>
                  <a:pt x="21087" y="0"/>
                  <a:pt x="19843" y="0"/>
                </a:cubicBezTo>
                <a:close/>
              </a:path>
            </a:pathLst>
          </a:custGeom>
          <a:noFill/>
          <a:ln w="19050">
            <a:solidFill>
              <a:schemeClr val="tx1"/>
            </a:solidFill>
          </a:ln>
          <a:effectLst>
            <a:outerShdw blurRad="57150" dist="9525" algn="bl" rotWithShape="0">
              <a:srgbClr val="000000"/>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lang="fr-CI" noProof="0"/>
          </a:p>
        </p:txBody>
      </p:sp>
      <p:sp>
        <p:nvSpPr>
          <p:cNvPr id="45" name="Rectangle 44"/>
          <p:cNvSpPr/>
          <p:nvPr/>
        </p:nvSpPr>
        <p:spPr>
          <a:xfrm>
            <a:off x="7676960" y="3875619"/>
            <a:ext cx="1322389" cy="295488"/>
          </a:xfrm>
          <a:prstGeom prst="rect">
            <a:avLst/>
          </a:prstGeom>
        </p:spPr>
        <p:txBody>
          <a:bodyPr wrap="none">
            <a:spAutoFit/>
          </a:bodyPr>
          <a:lstStyle/>
          <a:p>
            <a:pPr lvl="0">
              <a:lnSpc>
                <a:spcPct val="110000"/>
              </a:lnSpc>
            </a:pPr>
            <a:r>
              <a:rPr lang="fr-CI" sz="1400" b="1" noProof="0">
                <a:solidFill>
                  <a:schemeClr val="bg1"/>
                </a:solidFill>
                <a:latin typeface="Helvetica" panose="020B0604020202020204" pitchFamily="34" charset="0"/>
                <a:ea typeface="Open Sans Semibold" panose="020B0706030804020204" pitchFamily="34" charset="0"/>
                <a:cs typeface="Helvetica" panose="020B0604020202020204" pitchFamily="34" charset="0"/>
              </a:rPr>
              <a:t>Sortie</a:t>
            </a:r>
          </a:p>
        </p:txBody>
      </p:sp>
      <p:pic>
        <p:nvPicPr>
          <p:cNvPr id="47" name="Image 46"/>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147871" y="3850143"/>
            <a:ext cx="334029" cy="337914"/>
          </a:xfrm>
          <a:prstGeom prst="rect">
            <a:avLst/>
          </a:prstGeom>
        </p:spPr>
      </p:pic>
      <p:pic>
        <p:nvPicPr>
          <p:cNvPr id="50" name="Image 49">
            <a:extLst>
              <a:ext uri="{FF2B5EF4-FFF2-40B4-BE49-F238E27FC236}">
                <a16:creationId xmlns:a16="http://schemas.microsoft.com/office/drawing/2014/main" id="{593DA389-08F4-31D9-6AB9-E96812D83B72}"/>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6768142" y="1475503"/>
            <a:ext cx="294700" cy="294700"/>
          </a:xfrm>
          <a:prstGeom prst="rect">
            <a:avLst/>
          </a:prstGeom>
        </p:spPr>
      </p:pic>
      <p:pic>
        <p:nvPicPr>
          <p:cNvPr id="25" name="Image 24"/>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2156977" y="1457088"/>
            <a:ext cx="281624" cy="284788"/>
          </a:xfrm>
          <a:prstGeom prst="rect">
            <a:avLst/>
          </a:prstGeom>
        </p:spPr>
      </p:pic>
      <p:pic>
        <p:nvPicPr>
          <p:cNvPr id="28" name="Image 27"/>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6791905" y="3883760"/>
            <a:ext cx="270937" cy="276827"/>
          </a:xfrm>
          <a:prstGeom prst="rect">
            <a:avLst/>
          </a:prstGeom>
        </p:spPr>
      </p:pic>
      <p:sp>
        <p:nvSpPr>
          <p:cNvPr id="31" name="Rectangle 30"/>
          <p:cNvSpPr/>
          <p:nvPr/>
        </p:nvSpPr>
        <p:spPr>
          <a:xfrm>
            <a:off x="1999671" y="1962253"/>
            <a:ext cx="3122592" cy="1428712"/>
          </a:xfrm>
          <a:prstGeom prst="rect">
            <a:avLst/>
          </a:prstGeom>
        </p:spPr>
        <p:txBody>
          <a:bodyPr wrap="square">
            <a:spAutoFit/>
          </a:bodyPr>
          <a:lstStyle/>
          <a:p>
            <a:pPr lvl="0" marL="0" indent="0">
              <a:buNone/>
              <a:spcBef>
                <a:spcPts val="300"/>
              </a:spcBef>
              <a:defRPr/>
            </a:pPr>
            <a:r>
              <a:rPr kumimoji="1" lang="fr-CI" sz="1250" b="0" noProof="0">
                <a:latin typeface="Helvetica" panose="020B0604020202020204" pitchFamily="34" charset="0"/>
                <a:cs typeface="Helvetica" panose="020B0604020202020204" pitchFamily="34" charset="0"/>
              </a:rPr>
              <a:t>Fichiers de résultats et gabarits Timesaver Adenka.</a:t>
            </a:r>
          </a:p>
        </p:txBody>
      </p:sp>
      <p:sp>
        <p:nvSpPr>
          <p:cNvPr id="32" name="Rectangle 31"/>
          <p:cNvSpPr/>
          <p:nvPr/>
        </p:nvSpPr>
        <p:spPr>
          <a:xfrm>
            <a:off x="6623912" y="1926662"/>
            <a:ext cx="3122592" cy="1428712"/>
          </a:xfrm>
          <a:prstGeom prst="rect">
            <a:avLst/>
          </a:prstGeom>
        </p:spPr>
        <p:txBody>
          <a:bodyPr wrap="square">
            <a:spAutoFit/>
          </a:bodyPr>
          <a:lstStyle/>
          <a:p>
            <a:pPr lvl="0" marL="0" indent="0">
              <a:buNone/>
              <a:spcBef>
                <a:spcPts val="300"/>
              </a:spcBef>
              <a:defRPr/>
            </a:pPr>
            <a:r>
              <a:rPr kumimoji="1" lang="fr-CI" sz="1250" b="0" noProof="0">
                <a:latin typeface="Helvetica" panose="020B0604020202020204" pitchFamily="34" charset="0"/>
                <a:cs typeface="Helvetica" panose="020B0604020202020204" pitchFamily="34" charset="0"/>
              </a:rPr>
              <a:t>Le script construit les graphiques et tableaux natifs, les schémas modifiables et les notes.</a:t>
            </a:r>
          </a:p>
        </p:txBody>
      </p:sp>
      <p:sp>
        <p:nvSpPr>
          <p:cNvPr id="33" name="Rectangle 32"/>
          <p:cNvSpPr/>
          <p:nvPr/>
        </p:nvSpPr>
        <p:spPr>
          <a:xfrm>
            <a:off x="2093705" y="4388689"/>
            <a:ext cx="3122592" cy="1428712"/>
          </a:xfrm>
          <a:prstGeom prst="rect">
            <a:avLst/>
          </a:prstGeom>
        </p:spPr>
        <p:txBody>
          <a:bodyPr wrap="square">
            <a:spAutoFit/>
          </a:bodyPr>
          <a:lstStyle/>
          <a:p>
            <a:pPr lvl="0" marL="0" indent="0">
              <a:buNone/>
              <a:spcBef>
                <a:spcPts val="300"/>
              </a:spcBef>
              <a:defRPr/>
            </a:pPr>
            <a:r>
              <a:rPr kumimoji="1" lang="fr-CI" sz="1250" b="0" noProof="0">
                <a:latin typeface="Helvetica" panose="020B0604020202020204" pitchFamily="34" charset="0"/>
                <a:cs typeface="Helvetica" panose="020B0604020202020204" pitchFamily="34" charset="0"/>
              </a:rPr>
              <a:t>Chaque chiffre affiché est relu dans le PowerPoint produit et comparé à sa valeur exacte.</a:t>
            </a:r>
          </a:p>
        </p:txBody>
      </p:sp>
      <p:sp>
        <p:nvSpPr>
          <p:cNvPr id="34" name="Rectangle 33"/>
          <p:cNvSpPr/>
          <p:nvPr/>
        </p:nvSpPr>
        <p:spPr>
          <a:xfrm>
            <a:off x="6768142" y="4336111"/>
            <a:ext cx="3122592" cy="1428712"/>
          </a:xfrm>
          <a:prstGeom prst="rect">
            <a:avLst/>
          </a:prstGeom>
        </p:spPr>
        <p:txBody>
          <a:bodyPr wrap="square">
            <a:spAutoFit/>
          </a:bodyPr>
          <a:lstStyle/>
          <a:p>
            <a:pPr lvl="0" marL="0" indent="0">
              <a:buNone/>
              <a:spcBef>
                <a:spcPts val="300"/>
              </a:spcBef>
              <a:defRPr/>
            </a:pPr>
            <a:r>
              <a:rPr kumimoji="1" lang="fr-CI" sz="1250" b="0" noProof="0">
                <a:latin typeface="Helvetica" panose="020B0604020202020204" pitchFamily="34" charset="0"/>
                <a:cs typeface="Helvetica" panose="020B0604020202020204" pitchFamily="34" charset="0"/>
              </a:rPr>
              <a:t>Rapport PowerPoint et onglet de traçabilité.</a:t>
            </a:r>
          </a:p>
        </p:txBody>
      </p:sp>
      <p:sp>
        <p:nvSpPr>
          <p:cNvPr id="51"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Chaîne de traitement : rapport</a:t>
            </a:r>
          </a:p>
        </p:txBody>
      </p:sp>
      <p:sp>
        <p:nvSpPr>
          <p:cNvPr id="52"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L'étape « Rapport » transforme une entrée en sortie, avec un contrôle automatique</a:t>
            </a:r>
          </a:p>
        </p:txBody>
      </p:sp>
      <p:sp>
        <p:nvSpPr>
          <p:cNvPr id="53"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Entrée, traitement, contrôle et sortie de l'étape. Schéma modifiable, complété au fil des entretiens</a:t>
            </a:r>
          </a:p>
        </p:txBody>
      </p:sp>
      <p:sp>
        <p:nvSpPr>
          <p:cNvPr id="54"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scripts Python Adenka (dossier scripts de la mission)</a:t>
            </a:r>
          </a:p>
        </p:txBody>
      </p:sp>
    </p:spTree>
    <p:extLst>
      <p:ext uri="{BB962C8B-B14F-4D97-AF65-F5344CB8AC3E}">
        <p14:creationId xmlns:p14="http://schemas.microsoft.com/office/powerpoint/2010/main" val="2802937115"/>
      </p:ext>
    </p:extLst>
  </p:cSld>
  <p:clrMapOvr>
    <a:masterClrMapping/>
  </p:clrMapOvr>
  <p:transition>
    <p:fade/>
  </p:transition>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Code : reconnaître le vrai format</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Le script lit les premiers octets pour reconnaître le vrai format d'un fichier</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C'est ainsi que les 70 fichiers « .xls » du Grenier ont été reconnus comme des pages web lisibles</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scripts de la mission (fenêtre VS Code reconstituée, pas une capture d'écran)</a:t>
            </a:r>
          </a:p>
        </p:txBody>
      </p:sp>
      <p:pic>
        <p:nvPicPr>
          <p:cNvPr id="31" name="Picture 30" descr="code_extraction.png"/>
          <p:cNvPicPr>
            <a:picLocks noChangeAspect="1"/>
          </p:cNvPicPr>
          <p:nvPr/>
        </p:nvPicPr>
        <p:blipFill>
          <a:blip r:embed="rId6"/>
          <a:stretch>
            <a:fillRect/>
          </a:stretch>
        </p:blipFill>
        <p:spPr>
          <a:xfrm>
            <a:off x="503999" y="1674000"/>
            <a:ext cx="7848000" cy="3205288"/>
          </a:xfrm>
          <a:prstGeom prst="rect">
            <a:avLst/>
          </a:prstGeom>
        </p:spPr>
      </p:pic>
      <p:sp>
        <p:nvSpPr>
          <p:cNvPr id="32" name="TextBox 31"/>
          <p:cNvSpPr txBox="1"/>
          <p:nvPr/>
        </p:nvSpPr>
        <p:spPr>
          <a:xfrm>
            <a:off x="503999" y="1386000"/>
            <a:ext cx="7848000" cy="251999"/>
          </a:xfrm>
          <a:prstGeom prst="rect">
            <a:avLst/>
          </a:prstGeom>
          <a:noFill/>
        </p:spPr>
        <p:txBody>
          <a:bodyPr wrap="square" anchor="t" lIns="54000" rIns="54000"/>
          <a:lstStyle/>
          <a:p>
            <a:pPr algn="ctr"/>
            <a:r>
              <a:rPr sz="1200" b="0">
                <a:solidFill>
                  <a:srgbClr val="EFAC62"/>
                </a:solidFill>
                <a:latin typeface="Helvetica"/>
              </a:rPr>
              <a:t>Figure 36 : Extrait du script dans VS Code sous Windows (reconnaître le vrai format)</a:t>
            </a:r>
          </a:p>
        </p:txBody>
      </p:sp>
      <p:sp>
        <p:nvSpPr>
          <p:cNvPr id="33" name="TextBox 32"/>
          <p:cNvSpPr txBox="1"/>
          <p:nvPr/>
        </p:nvSpPr>
        <p:spPr>
          <a:xfrm>
            <a:off x="8568000" y="1440000"/>
            <a:ext cx="3168000" cy="4428000"/>
          </a:xfrm>
          <a:prstGeom prst="rect">
            <a:avLst/>
          </a:prstGeom>
          <a:noFill/>
        </p:spPr>
        <p:txBody>
          <a:bodyPr wrap="square" lIns="54000" rIns="54000"/>
          <a:lstStyle/>
          <a:p>
            <a:pPr algn="just">
              <a:spcAft>
                <a:spcPts val="600"/>
              </a:spcAft>
            </a:pPr>
            <a:r>
              <a:rPr sz="1300" b="1">
                <a:solidFill>
                  <a:srgbClr val="060606"/>
                </a:solidFill>
                <a:latin typeface="Helvetica"/>
              </a:rPr>
              <a:t>Un fichier Excel moderne commence par les octets « PK », un ancien par d'autres octets.</a:t>
            </a:r>
          </a:p>
          <a:p>
            <a:pPr algn="just">
              <a:spcAft>
                <a:spcPts val="600"/>
              </a:spcAft>
            </a:pPr>
            <a:r>
              <a:rPr sz="1300" b="1">
                <a:solidFill>
                  <a:srgbClr val="060606"/>
                </a:solidFill>
                <a:latin typeface="Helvetica"/>
              </a:rPr>
              <a:t>Une page web contient « &lt;html » ou « &lt;table ».</a:t>
            </a:r>
            <a:r>
              <a:rPr sz="1300" b="0">
                <a:solidFill>
                  <a:srgbClr val="060606"/>
                </a:solidFill>
                <a:latin typeface="Helvetica"/>
              </a:rPr>
              <a:t> Le script la lit alors comme un tableau.</a:t>
            </a:r>
          </a:p>
          <a:p>
            <a:pPr algn="just">
              <a:spcAft>
                <a:spcPts val="600"/>
              </a:spcAft>
            </a:pPr>
            <a:r>
              <a:rPr sz="1300" b="1">
                <a:solidFill>
                  <a:srgbClr val="060606"/>
                </a:solidFill>
                <a:latin typeface="Helvetica"/>
              </a:rPr>
              <a:t>Le terminal montre la sortie réelle de l'extraction sur le poste de la mission</a:t>
            </a:r>
            <a:r>
              <a:rPr sz="1300" b="0">
                <a:solidFill>
                  <a:srgbClr val="060606"/>
                </a:solidFill>
                <a:latin typeface="Helvetica"/>
              </a:rPr>
              <a:t> : 91,5 Mo en 5 parties.</a:t>
            </a:r>
          </a:p>
          <a:p>
            <a:pPr algn="just">
              <a:spcAft>
                <a:spcPts val="600"/>
              </a:spcAft>
            </a:pPr>
            <a:r>
              <a:rPr sz="1300" b="1">
                <a:solidFill>
                  <a:srgbClr val="060606"/>
                </a:solidFill>
                <a:latin typeface="Helvetica"/>
              </a:rPr>
              <a:t>Implication pour le FPPN.</a:t>
            </a:r>
            <a:r>
              <a:rPr sz="1300" b="0">
                <a:solidFill>
                  <a:srgbClr val="060606"/>
                </a:solidFill>
                <a:latin typeface="Helvetica"/>
              </a:rPr>
              <a:t> Ce test évite de déclarer illisible un fichier simplement mal nommé : aucun fichier du Grenier n'a été perdu.</a:t>
            </a:r>
          </a:p>
        </p:txBody>
      </p:sp>
      <p:sp>
        <p:nvSpPr>
          <p:cNvPr id="34" name="TextBox 33"/>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a:t>
            </a:r>
          </a:p>
        </p:txBody>
      </p:sp>
    </p:spTree>
    <p:extLst>
      <p:ext uri="{BB962C8B-B14F-4D97-AF65-F5344CB8AC3E}">
        <p14:creationId xmlns:p14="http://schemas.microsoft.com/office/powerpoint/2010/main" val="872233012"/>
      </p:ext>
    </p:extLst>
  </p:cSld>
  <p:clrMapOvr>
    <a:masterClrMapping/>
  </p:clrMapOvr>
  <p:transition>
    <p:fade/>
  </p:transition>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Code : écarter les lignes de total</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Une ligne égale à la somme des autres est écartée automatiquement</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Règle appliquée feuille par feuille, avec une tolérance de 1 %</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scripts de la mission (fenêtre VS Code reconstituée, pas une capture d'écran)</a:t>
            </a:r>
          </a:p>
        </p:txBody>
      </p:sp>
      <p:pic>
        <p:nvPicPr>
          <p:cNvPr id="31" name="Picture 30" descr="code_total.png"/>
          <p:cNvPicPr>
            <a:picLocks noChangeAspect="1"/>
          </p:cNvPicPr>
          <p:nvPr/>
        </p:nvPicPr>
        <p:blipFill>
          <a:blip r:embed="rId6"/>
          <a:stretch>
            <a:fillRect/>
          </a:stretch>
        </p:blipFill>
        <p:spPr>
          <a:xfrm>
            <a:off x="503999" y="1674000"/>
            <a:ext cx="7848000" cy="2598101"/>
          </a:xfrm>
          <a:prstGeom prst="rect">
            <a:avLst/>
          </a:prstGeom>
        </p:spPr>
      </p:pic>
      <p:sp>
        <p:nvSpPr>
          <p:cNvPr id="32" name="TextBox 31"/>
          <p:cNvSpPr txBox="1"/>
          <p:nvPr/>
        </p:nvSpPr>
        <p:spPr>
          <a:xfrm>
            <a:off x="503999" y="1386000"/>
            <a:ext cx="7848000" cy="251999"/>
          </a:xfrm>
          <a:prstGeom prst="rect">
            <a:avLst/>
          </a:prstGeom>
          <a:noFill/>
        </p:spPr>
        <p:txBody>
          <a:bodyPr wrap="square" anchor="t" lIns="54000" rIns="54000"/>
          <a:lstStyle/>
          <a:p>
            <a:pPr algn="ctr"/>
            <a:r>
              <a:rPr sz="1200" b="0">
                <a:solidFill>
                  <a:srgbClr val="EFAC62"/>
                </a:solidFill>
                <a:latin typeface="Helvetica"/>
              </a:rPr>
              <a:t>Figure 37 : Extrait du script dans VS Code sous Windows (écarter les lignes de total)</a:t>
            </a:r>
          </a:p>
        </p:txBody>
      </p:sp>
      <p:sp>
        <p:nvSpPr>
          <p:cNvPr id="33" name="TextBox 32"/>
          <p:cNvSpPr txBox="1"/>
          <p:nvPr/>
        </p:nvSpPr>
        <p:spPr>
          <a:xfrm>
            <a:off x="8568000" y="1440000"/>
            <a:ext cx="3168000" cy="4428000"/>
          </a:xfrm>
          <a:prstGeom prst="rect">
            <a:avLst/>
          </a:prstGeom>
          <a:noFill/>
        </p:spPr>
        <p:txBody>
          <a:bodyPr wrap="square" lIns="54000" rIns="54000"/>
          <a:lstStyle/>
          <a:p>
            <a:pPr algn="just">
              <a:spcAft>
                <a:spcPts val="600"/>
              </a:spcAft>
            </a:pPr>
            <a:r>
              <a:rPr sz="1300" b="1">
                <a:solidFill>
                  <a:srgbClr val="060606"/>
                </a:solidFill>
                <a:latin typeface="Helvetica"/>
              </a:rPr>
              <a:t>Le script calcule la somme de la feuille.</a:t>
            </a:r>
          </a:p>
          <a:p>
            <a:pPr algn="just">
              <a:spcAft>
                <a:spcPts val="600"/>
              </a:spcAft>
            </a:pPr>
            <a:r>
              <a:rPr sz="1300" b="1">
                <a:solidFill>
                  <a:srgbClr val="060606"/>
                </a:solidFill>
                <a:latin typeface="Helvetica"/>
              </a:rPr>
              <a:t>Une ligne dont le montant égale la somme des autres est un total</a:t>
            </a:r>
            <a:r>
              <a:rPr sz="1300" b="0">
                <a:solidFill>
                  <a:srgbClr val="060606"/>
                </a:solidFill>
                <a:latin typeface="Helvetica"/>
              </a:rPr>
              <a:t>, pas un mutualiste.</a:t>
            </a:r>
          </a:p>
          <a:p>
            <a:pPr algn="just">
              <a:spcAft>
                <a:spcPts val="600"/>
              </a:spcAft>
            </a:pPr>
            <a:r>
              <a:rPr sz="1300" b="1">
                <a:solidFill>
                  <a:srgbClr val="060606"/>
                </a:solidFill>
                <a:latin typeface="Helvetica"/>
              </a:rPr>
              <a:t>Chaque ligne écartée est enregistrée</a:t>
            </a:r>
            <a:r>
              <a:rPr sz="1300" b="0">
                <a:solidFill>
                  <a:srgbClr val="060606"/>
                </a:solidFill>
                <a:latin typeface="Helvetica"/>
              </a:rPr>
              <a:t> avec son fichier et son montant.</a:t>
            </a:r>
          </a:p>
          <a:p>
            <a:pPr algn="just">
              <a:spcAft>
                <a:spcPts val="600"/>
              </a:spcAft>
            </a:pPr>
            <a:r>
              <a:rPr sz="1300" b="1">
                <a:solidFill>
                  <a:srgbClr val="060606"/>
                </a:solidFill>
                <a:latin typeface="Helvetica"/>
              </a:rPr>
              <a:t>Implication pour le FPPN.</a:t>
            </a:r>
            <a:r>
              <a:rPr sz="1300" b="0">
                <a:solidFill>
                  <a:srgbClr val="060606"/>
                </a:solidFill>
                <a:latin typeface="Helvetica"/>
              </a:rPr>
              <a:t> La règle est automatique et tracée : le FPPN peut vérifier chaque ligne écartée dans le journal des rejets.</a:t>
            </a:r>
          </a:p>
        </p:txBody>
      </p:sp>
      <p:sp>
        <p:nvSpPr>
          <p:cNvPr id="34" name="TextBox 33"/>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a:t>
            </a:r>
          </a:p>
        </p:txBody>
      </p:sp>
    </p:spTree>
    <p:extLst>
      <p:ext uri="{BB962C8B-B14F-4D97-AF65-F5344CB8AC3E}">
        <p14:creationId xmlns:p14="http://schemas.microsoft.com/office/powerpoint/2010/main" val="3553002660"/>
      </p:ext>
    </p:extLst>
  </p:cSld>
  <p:clrMapOvr>
    <a:masterClrMapping/>
  </p:clrMapOvr>
  <p:transition>
    <p:fade/>
  </p:transition>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Code : corriger les montants doublés</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Les montants écrits deux fois à la suite sont corrigés et signalés</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Correction limitée au poste décès, au-delà d'un million de FCFA</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scripts de la mission (fenêtre VS Code reconstituée, pas une capture d'écran)</a:t>
            </a:r>
          </a:p>
        </p:txBody>
      </p:sp>
      <p:pic>
        <p:nvPicPr>
          <p:cNvPr id="31" name="Picture 30" descr="code_double.png"/>
          <p:cNvPicPr>
            <a:picLocks noChangeAspect="1"/>
          </p:cNvPicPr>
          <p:nvPr/>
        </p:nvPicPr>
        <p:blipFill>
          <a:blip r:embed="rId6"/>
          <a:stretch>
            <a:fillRect/>
          </a:stretch>
        </p:blipFill>
        <p:spPr>
          <a:xfrm>
            <a:off x="503999" y="1674000"/>
            <a:ext cx="7848000" cy="3007023"/>
          </a:xfrm>
          <a:prstGeom prst="rect">
            <a:avLst/>
          </a:prstGeom>
        </p:spPr>
      </p:pic>
      <p:sp>
        <p:nvSpPr>
          <p:cNvPr id="32" name="TextBox 31"/>
          <p:cNvSpPr txBox="1"/>
          <p:nvPr/>
        </p:nvSpPr>
        <p:spPr>
          <a:xfrm>
            <a:off x="503999" y="1386000"/>
            <a:ext cx="7848000" cy="251999"/>
          </a:xfrm>
          <a:prstGeom prst="rect">
            <a:avLst/>
          </a:prstGeom>
          <a:noFill/>
        </p:spPr>
        <p:txBody>
          <a:bodyPr wrap="square" anchor="t" lIns="54000" rIns="54000"/>
          <a:lstStyle/>
          <a:p>
            <a:pPr algn="ctr"/>
            <a:r>
              <a:rPr sz="1200" b="0">
                <a:solidFill>
                  <a:srgbClr val="EFAC62"/>
                </a:solidFill>
                <a:latin typeface="Helvetica"/>
              </a:rPr>
              <a:t>Figure 38 : Extrait du script dans VS Code sous Windows (corriger les montants doublés)</a:t>
            </a:r>
          </a:p>
        </p:txBody>
      </p:sp>
      <p:sp>
        <p:nvSpPr>
          <p:cNvPr id="33" name="TextBox 32"/>
          <p:cNvSpPr txBox="1"/>
          <p:nvPr/>
        </p:nvSpPr>
        <p:spPr>
          <a:xfrm>
            <a:off x="8568000" y="1440000"/>
            <a:ext cx="3168000" cy="4428000"/>
          </a:xfrm>
          <a:prstGeom prst="rect">
            <a:avLst/>
          </a:prstGeom>
          <a:noFill/>
        </p:spPr>
        <p:txBody>
          <a:bodyPr wrap="square" lIns="54000" rIns="54000"/>
          <a:lstStyle/>
          <a:p>
            <a:pPr algn="just">
              <a:spcAft>
                <a:spcPts val="600"/>
              </a:spcAft>
            </a:pPr>
            <a:r>
              <a:rPr sz="1300" b="1">
                <a:solidFill>
                  <a:srgbClr val="060606"/>
                </a:solidFill>
                <a:latin typeface="Helvetica"/>
              </a:rPr>
              <a:t>Le script découpe le montant en deux moitiés.</a:t>
            </a:r>
          </a:p>
          <a:p>
            <a:pPr algn="just">
              <a:spcAft>
                <a:spcPts val="600"/>
              </a:spcAft>
            </a:pPr>
            <a:r>
              <a:rPr sz="1300" b="1">
                <a:solidFill>
                  <a:srgbClr val="060606"/>
                </a:solidFill>
                <a:latin typeface="Helvetica"/>
              </a:rPr>
              <a:t>Si les deux moitiés sont identiques, il retient la première.</a:t>
            </a:r>
          </a:p>
          <a:p>
            <a:pPr algn="just">
              <a:spcAft>
                <a:spcPts val="600"/>
              </a:spcAft>
            </a:pPr>
            <a:r>
              <a:rPr sz="1300" b="1">
                <a:solidFill>
                  <a:srgbClr val="060606"/>
                </a:solidFill>
                <a:latin typeface="Helvetica"/>
              </a:rPr>
              <a:t>Le montant d'origine est conservé</a:t>
            </a:r>
            <a:r>
              <a:rPr sz="1300" b="0">
                <a:solidFill>
                  <a:srgbClr val="060606"/>
                </a:solidFill>
                <a:latin typeface="Helvetica"/>
              </a:rPr>
              <a:t> dans une colonne à part.</a:t>
            </a:r>
          </a:p>
          <a:p>
            <a:pPr algn="just">
              <a:spcAft>
                <a:spcPts val="600"/>
              </a:spcAft>
            </a:pPr>
            <a:r>
              <a:rPr sz="1300" b="1">
                <a:solidFill>
                  <a:srgbClr val="060606"/>
                </a:solidFill>
                <a:latin typeface="Helvetica"/>
              </a:rPr>
              <a:t>Implication pour le FPPN.</a:t>
            </a:r>
            <a:r>
              <a:rPr sz="1300" b="0">
                <a:solidFill>
                  <a:srgbClr val="060606"/>
                </a:solidFill>
                <a:latin typeface="Helvetica"/>
              </a:rPr>
              <a:t> La correction est réversible : le montant d'origine reste disponible pour le FPPN.</a:t>
            </a:r>
          </a:p>
        </p:txBody>
      </p:sp>
      <p:sp>
        <p:nvSpPr>
          <p:cNvPr id="34" name="TextBox 33"/>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a:t>
            </a:r>
          </a:p>
        </p:txBody>
      </p:sp>
    </p:spTree>
    <p:extLst>
      <p:ext uri="{BB962C8B-B14F-4D97-AF65-F5344CB8AC3E}">
        <p14:creationId xmlns:p14="http://schemas.microsoft.com/office/powerpoint/2010/main" val="293446460"/>
      </p:ext>
    </p:extLst>
  </p:cSld>
  <p:clrMapOvr>
    <a:masterClrMapping/>
  </p:clrMapOvr>
  <p:transition>
    <p:fade/>
  </p:transition>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Code : lire les montants du Grenier</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Les montants imprimés avec espaces et « XOF » sont convertis sans perte</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Les totaux recalculés sont égaux aux totaux imprimés dans les 37 balances âgées</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scripts de la mission (fenêtre VS Code reconstituée, pas une capture d'écran)</a:t>
            </a:r>
          </a:p>
        </p:txBody>
      </p:sp>
      <p:pic>
        <p:nvPicPr>
          <p:cNvPr id="31" name="Picture 30" descr="code_grenier.png"/>
          <p:cNvPicPr>
            <a:picLocks noChangeAspect="1"/>
          </p:cNvPicPr>
          <p:nvPr/>
        </p:nvPicPr>
        <p:blipFill>
          <a:blip r:embed="rId6"/>
          <a:stretch>
            <a:fillRect/>
          </a:stretch>
        </p:blipFill>
        <p:spPr>
          <a:xfrm>
            <a:off x="503999" y="1674000"/>
            <a:ext cx="7848000" cy="2052871"/>
          </a:xfrm>
          <a:prstGeom prst="rect">
            <a:avLst/>
          </a:prstGeom>
        </p:spPr>
      </p:pic>
      <p:sp>
        <p:nvSpPr>
          <p:cNvPr id="32" name="TextBox 31"/>
          <p:cNvSpPr txBox="1"/>
          <p:nvPr/>
        </p:nvSpPr>
        <p:spPr>
          <a:xfrm>
            <a:off x="503999" y="1386000"/>
            <a:ext cx="7848000" cy="251999"/>
          </a:xfrm>
          <a:prstGeom prst="rect">
            <a:avLst/>
          </a:prstGeom>
          <a:noFill/>
        </p:spPr>
        <p:txBody>
          <a:bodyPr wrap="square" anchor="t" lIns="54000" rIns="54000"/>
          <a:lstStyle/>
          <a:p>
            <a:pPr algn="ctr"/>
            <a:r>
              <a:rPr sz="1200" b="0">
                <a:solidFill>
                  <a:srgbClr val="EFAC62"/>
                </a:solidFill>
                <a:latin typeface="Helvetica"/>
              </a:rPr>
              <a:t>Figure 39 : Extrait du script dans VS Code sous Windows (lire les montants du Grenier)</a:t>
            </a:r>
          </a:p>
        </p:txBody>
      </p:sp>
      <p:sp>
        <p:nvSpPr>
          <p:cNvPr id="33" name="TextBox 32"/>
          <p:cNvSpPr txBox="1"/>
          <p:nvPr/>
        </p:nvSpPr>
        <p:spPr>
          <a:xfrm>
            <a:off x="8568000" y="1440000"/>
            <a:ext cx="3168000" cy="4428000"/>
          </a:xfrm>
          <a:prstGeom prst="rect">
            <a:avLst/>
          </a:prstGeom>
          <a:noFill/>
        </p:spPr>
        <p:txBody>
          <a:bodyPr wrap="square" lIns="54000" rIns="54000"/>
          <a:lstStyle/>
          <a:p>
            <a:pPr algn="just">
              <a:spcAft>
                <a:spcPts val="600"/>
              </a:spcAft>
            </a:pPr>
            <a:r>
              <a:rPr sz="1300" b="1">
                <a:solidFill>
                  <a:srgbClr val="060606"/>
                </a:solidFill>
                <a:latin typeface="Helvetica"/>
              </a:rPr>
              <a:t>Le script retire les espaces, y compris insécables.</a:t>
            </a:r>
          </a:p>
          <a:p>
            <a:pPr algn="just">
              <a:spcAft>
                <a:spcPts val="600"/>
              </a:spcAft>
            </a:pPr>
            <a:r>
              <a:rPr sz="1300" b="1">
                <a:solidFill>
                  <a:srgbClr val="060606"/>
                </a:solidFill>
                <a:latin typeface="Helvetica"/>
              </a:rPr>
              <a:t>Il retire aussi la mention « XOF ».</a:t>
            </a:r>
          </a:p>
          <a:p>
            <a:pPr algn="just">
              <a:spcAft>
                <a:spcPts val="600"/>
              </a:spcAft>
            </a:pPr>
            <a:r>
              <a:rPr sz="1300" b="1">
                <a:solidFill>
                  <a:srgbClr val="060606"/>
                </a:solidFill>
                <a:latin typeface="Helvetica"/>
              </a:rPr>
              <a:t>Le nombre obtenu est comparé au total imprimé</a:t>
            </a:r>
            <a:r>
              <a:rPr sz="1300" b="0">
                <a:solidFill>
                  <a:srgbClr val="060606"/>
                </a:solidFill>
                <a:latin typeface="Helvetica"/>
              </a:rPr>
              <a:t> par le logiciel.</a:t>
            </a:r>
          </a:p>
          <a:p>
            <a:pPr algn="just">
              <a:spcAft>
                <a:spcPts val="600"/>
              </a:spcAft>
            </a:pPr>
            <a:r>
              <a:rPr sz="1300" b="1">
                <a:solidFill>
                  <a:srgbClr val="060606"/>
                </a:solidFill>
                <a:latin typeface="Helvetica"/>
              </a:rPr>
              <a:t>Implication pour le FPPN.</a:t>
            </a:r>
            <a:r>
              <a:rPr sz="1300" b="0">
                <a:solidFill>
                  <a:srgbClr val="060606"/>
                </a:solidFill>
                <a:latin typeface="Helvetica"/>
              </a:rPr>
              <a:t> L'égalité des totaux sur les 37 balances prouve que la lecture n'a rien perdu.</a:t>
            </a:r>
          </a:p>
        </p:txBody>
      </p:sp>
      <p:sp>
        <p:nvSpPr>
          <p:cNvPr id="34" name="TextBox 33"/>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a:t>
            </a:r>
          </a:p>
        </p:txBody>
      </p:sp>
    </p:spTree>
    <p:extLst>
      <p:ext uri="{BB962C8B-B14F-4D97-AF65-F5344CB8AC3E}">
        <p14:creationId xmlns:p14="http://schemas.microsoft.com/office/powerpoint/2010/main" val="2610133112"/>
      </p:ext>
    </p:extLst>
  </p:cSld>
  <p:clrMapOvr>
    <a:masterClrMapping/>
  </p:clrMapOvr>
  <p:transition>
    <p:fade/>
  </p:transition>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Code : calculer la sinistralité</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Le ratio S/C est calculé compte par compte, pour chaque exercice</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Chaque compte utilisé est cité dans l'annexe des méthodes</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scripts de la mission (fenêtre VS Code reconstituée, pas une capture d'écran)</a:t>
            </a:r>
          </a:p>
        </p:txBody>
      </p:sp>
      <p:pic>
        <p:nvPicPr>
          <p:cNvPr id="31" name="Picture 30" descr="code_sc.png"/>
          <p:cNvPicPr>
            <a:picLocks noChangeAspect="1"/>
          </p:cNvPicPr>
          <p:nvPr/>
        </p:nvPicPr>
        <p:blipFill>
          <a:blip r:embed="rId6"/>
          <a:stretch>
            <a:fillRect/>
          </a:stretch>
        </p:blipFill>
        <p:spPr>
          <a:xfrm>
            <a:off x="503999" y="1674000"/>
            <a:ext cx="7848000" cy="3824867"/>
          </a:xfrm>
          <a:prstGeom prst="rect">
            <a:avLst/>
          </a:prstGeom>
        </p:spPr>
      </p:pic>
      <p:sp>
        <p:nvSpPr>
          <p:cNvPr id="32" name="TextBox 31"/>
          <p:cNvSpPr txBox="1"/>
          <p:nvPr/>
        </p:nvSpPr>
        <p:spPr>
          <a:xfrm>
            <a:off x="503999" y="1386000"/>
            <a:ext cx="7848000" cy="251999"/>
          </a:xfrm>
          <a:prstGeom prst="rect">
            <a:avLst/>
          </a:prstGeom>
          <a:noFill/>
        </p:spPr>
        <p:txBody>
          <a:bodyPr wrap="square" anchor="t" lIns="54000" rIns="54000"/>
          <a:lstStyle/>
          <a:p>
            <a:pPr algn="ctr"/>
            <a:r>
              <a:rPr sz="1200" b="0">
                <a:solidFill>
                  <a:srgbClr val="EFAC62"/>
                </a:solidFill>
                <a:latin typeface="Helvetica"/>
              </a:rPr>
              <a:t>Figure 40 : Extrait du script dans VS Code sous Windows (calculer la sinistralité)</a:t>
            </a:r>
          </a:p>
        </p:txBody>
      </p:sp>
      <p:sp>
        <p:nvSpPr>
          <p:cNvPr id="33" name="TextBox 32"/>
          <p:cNvSpPr txBox="1"/>
          <p:nvPr/>
        </p:nvSpPr>
        <p:spPr>
          <a:xfrm>
            <a:off x="8568000" y="1440000"/>
            <a:ext cx="3168000" cy="4428000"/>
          </a:xfrm>
          <a:prstGeom prst="rect">
            <a:avLst/>
          </a:prstGeom>
          <a:noFill/>
        </p:spPr>
        <p:txBody>
          <a:bodyPr wrap="square" lIns="54000" rIns="54000"/>
          <a:lstStyle/>
          <a:p>
            <a:pPr algn="just">
              <a:spcAft>
                <a:spcPts val="600"/>
              </a:spcAft>
            </a:pPr>
            <a:r>
              <a:rPr sz="1300" b="1">
                <a:solidFill>
                  <a:srgbClr val="060606"/>
                </a:solidFill>
                <a:latin typeface="Helvetica"/>
              </a:rPr>
              <a:t>Les cotisations viennent des comptes 7010 et 7021.</a:t>
            </a:r>
          </a:p>
          <a:p>
            <a:pPr algn="just">
              <a:spcAft>
                <a:spcPts val="600"/>
              </a:spcAft>
            </a:pPr>
            <a:r>
              <a:rPr sz="1300" b="1">
                <a:solidFill>
                  <a:srgbClr val="060606"/>
                </a:solidFill>
                <a:latin typeface="Helvetica"/>
              </a:rPr>
              <a:t>Les prestations viennent des comptes 601, 6013, 6018, 60800007, 6021 et 6024.</a:t>
            </a:r>
          </a:p>
          <a:p>
            <a:pPr algn="just">
              <a:spcAft>
                <a:spcPts val="600"/>
              </a:spcAft>
            </a:pPr>
            <a:r>
              <a:rPr sz="1300" b="1">
                <a:solidFill>
                  <a:srgbClr val="060606"/>
                </a:solidFill>
                <a:latin typeface="Helvetica"/>
              </a:rPr>
              <a:t>Le résultat est écrit dans le classeur des calculs.</a:t>
            </a:r>
          </a:p>
          <a:p>
            <a:pPr algn="just">
              <a:spcAft>
                <a:spcPts val="600"/>
              </a:spcAft>
            </a:pPr>
            <a:r>
              <a:rPr sz="1300" b="1">
                <a:solidFill>
                  <a:srgbClr val="060606"/>
                </a:solidFill>
                <a:latin typeface="Helvetica"/>
              </a:rPr>
              <a:t>Implication pour le FPPN.</a:t>
            </a:r>
            <a:r>
              <a:rPr sz="1300" b="0">
                <a:solidFill>
                  <a:srgbClr val="060606"/>
                </a:solidFill>
                <a:latin typeface="Helvetica"/>
              </a:rPr>
              <a:t> Le choix des comptes est explicite dans le code : un lecteur peut le contester et le modifier.</a:t>
            </a:r>
          </a:p>
        </p:txBody>
      </p:sp>
      <p:sp>
        <p:nvSpPr>
          <p:cNvPr id="34" name="TextBox 33"/>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S/C : prestations / cotisations</a:t>
            </a:r>
          </a:p>
        </p:txBody>
      </p:sp>
    </p:spTree>
    <p:extLst>
      <p:ext uri="{BB962C8B-B14F-4D97-AF65-F5344CB8AC3E}">
        <p14:creationId xmlns:p14="http://schemas.microsoft.com/office/powerpoint/2010/main" val="1912595627"/>
      </p:ext>
    </p:extLst>
  </p:cSld>
  <p:clrMapOvr>
    <a:masterClrMapping/>
  </p:clrMapOvr>
  <p:transition>
    <p:fade/>
  </p:transition>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Code : intervalle de confiance</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L'intervalle de Wilson encadre la proportion de prêts en retard</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Méthode adaptée aux proportions, même faibles</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scripts de la mission (fenêtre VS Code reconstituée, pas une capture d'écran)</a:t>
            </a:r>
          </a:p>
        </p:txBody>
      </p:sp>
      <p:pic>
        <p:nvPicPr>
          <p:cNvPr id="31" name="Picture 30" descr="code_stats.png"/>
          <p:cNvPicPr>
            <a:picLocks noChangeAspect="1"/>
          </p:cNvPicPr>
          <p:nvPr/>
        </p:nvPicPr>
        <p:blipFill>
          <a:blip r:embed="rId6"/>
          <a:stretch>
            <a:fillRect/>
          </a:stretch>
        </p:blipFill>
        <p:spPr>
          <a:xfrm>
            <a:off x="503999" y="1674000"/>
            <a:ext cx="7848000" cy="1780256"/>
          </a:xfrm>
          <a:prstGeom prst="rect">
            <a:avLst/>
          </a:prstGeom>
        </p:spPr>
      </p:pic>
      <p:sp>
        <p:nvSpPr>
          <p:cNvPr id="32" name="TextBox 31"/>
          <p:cNvSpPr txBox="1"/>
          <p:nvPr/>
        </p:nvSpPr>
        <p:spPr>
          <a:xfrm>
            <a:off x="503999" y="1386000"/>
            <a:ext cx="7848000" cy="251999"/>
          </a:xfrm>
          <a:prstGeom prst="rect">
            <a:avLst/>
          </a:prstGeom>
          <a:noFill/>
        </p:spPr>
        <p:txBody>
          <a:bodyPr wrap="square" anchor="t" lIns="54000" rIns="54000"/>
          <a:lstStyle/>
          <a:p>
            <a:pPr algn="ctr"/>
            <a:r>
              <a:rPr sz="1200" b="0">
                <a:solidFill>
                  <a:srgbClr val="EFAC62"/>
                </a:solidFill>
                <a:latin typeface="Helvetica"/>
              </a:rPr>
              <a:t>Figure 41 : Extrait du script dans VS Code sous Windows (intervalle de confiance)</a:t>
            </a:r>
          </a:p>
        </p:txBody>
      </p:sp>
      <p:sp>
        <p:nvSpPr>
          <p:cNvPr id="33" name="TextBox 32"/>
          <p:cNvSpPr txBox="1"/>
          <p:nvPr/>
        </p:nvSpPr>
        <p:spPr>
          <a:xfrm>
            <a:off x="8568000" y="1440000"/>
            <a:ext cx="3168000" cy="4428000"/>
          </a:xfrm>
          <a:prstGeom prst="rect">
            <a:avLst/>
          </a:prstGeom>
          <a:noFill/>
        </p:spPr>
        <p:txBody>
          <a:bodyPr wrap="square" lIns="54000" rIns="54000"/>
          <a:lstStyle/>
          <a:p>
            <a:pPr algn="just">
              <a:spcAft>
                <a:spcPts val="600"/>
              </a:spcAft>
            </a:pPr>
            <a:r>
              <a:rPr sz="1300" b="1">
                <a:solidFill>
                  <a:srgbClr val="060606"/>
                </a:solidFill>
                <a:latin typeface="Helvetica"/>
              </a:rPr>
              <a:t>La proportion vaut le nombre de prêts en retard divisé par le nombre de prêts.</a:t>
            </a:r>
          </a:p>
          <a:p>
            <a:pPr algn="just">
              <a:spcAft>
                <a:spcPts val="600"/>
              </a:spcAft>
            </a:pPr>
            <a:r>
              <a:rPr sz="1300" b="1">
                <a:solidFill>
                  <a:srgbClr val="060606"/>
                </a:solidFill>
                <a:latin typeface="Helvetica"/>
              </a:rPr>
              <a:t>L'intervalle est centré et élargi</a:t>
            </a:r>
            <a:r>
              <a:rPr sz="1300" b="0">
                <a:solidFill>
                  <a:srgbClr val="060606"/>
                </a:solidFill>
                <a:latin typeface="Helvetica"/>
              </a:rPr>
              <a:t> pour rester entre 0 et 1.</a:t>
            </a:r>
          </a:p>
          <a:p>
            <a:pPr algn="just">
              <a:spcAft>
                <a:spcPts val="600"/>
              </a:spcAft>
            </a:pPr>
            <a:r>
              <a:rPr sz="1300" b="1">
                <a:solidFill>
                  <a:srgbClr val="060606"/>
                </a:solidFill>
                <a:latin typeface="Helvetica"/>
              </a:rPr>
              <a:t>z vaut 1,96 pour un niveau de confiance de 95 %.</a:t>
            </a:r>
          </a:p>
          <a:p>
            <a:pPr algn="just">
              <a:spcAft>
                <a:spcPts val="600"/>
              </a:spcAft>
            </a:pPr>
            <a:r>
              <a:rPr sz="1300" b="1">
                <a:solidFill>
                  <a:srgbClr val="060606"/>
                </a:solidFill>
                <a:latin typeface="Helvetica"/>
              </a:rPr>
              <a:t>Implication pour le FPPN.</a:t>
            </a:r>
            <a:r>
              <a:rPr sz="1300" b="0">
                <a:solidFill>
                  <a:srgbClr val="060606"/>
                </a:solidFill>
                <a:latin typeface="Helvetica"/>
              </a:rPr>
              <a:t> L'intervalle dit dans quelle plage se situe la vraie proportion de prêts en retard, compte tenu du hasard.</a:t>
            </a:r>
          </a:p>
        </p:txBody>
      </p:sp>
      <p:sp>
        <p:nvSpPr>
          <p:cNvPr id="34" name="TextBox 33"/>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a:t>
            </a:r>
          </a:p>
        </p:txBody>
      </p:sp>
    </p:spTree>
    <p:extLst>
      <p:ext uri="{BB962C8B-B14F-4D97-AF65-F5344CB8AC3E}">
        <p14:creationId xmlns:p14="http://schemas.microsoft.com/office/powerpoint/2010/main" val="923872533"/>
      </p:ext>
    </p:extLst>
  </p:cSld>
  <p:clrMapOvr>
    <a:masterClrMapping/>
  </p:clrMapOvr>
  <p:transition>
    <p:fade/>
  </p:transition>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Code : statut d'un ratio prudentiel</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Le statut de chaque ratio suit une règle écrite dans le code</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Conforme, non conforme, en attente ou à apprécier, selon la norme du texte</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scripts de la mission (fenêtre VS Code reconstituée, pas une capture d'écran)</a:t>
            </a:r>
          </a:p>
        </p:txBody>
      </p:sp>
      <p:pic>
        <p:nvPicPr>
          <p:cNvPr id="31" name="Picture 30" descr="code_statut.png"/>
          <p:cNvPicPr>
            <a:picLocks noChangeAspect="1"/>
          </p:cNvPicPr>
          <p:nvPr/>
        </p:nvPicPr>
        <p:blipFill>
          <a:blip r:embed="rId6"/>
          <a:stretch>
            <a:fillRect/>
          </a:stretch>
        </p:blipFill>
        <p:spPr>
          <a:xfrm>
            <a:off x="503999" y="1674000"/>
            <a:ext cx="7798815" cy="4158000"/>
          </a:xfrm>
          <a:prstGeom prst="rect">
            <a:avLst/>
          </a:prstGeom>
        </p:spPr>
      </p:pic>
      <p:sp>
        <p:nvSpPr>
          <p:cNvPr id="32" name="TextBox 31"/>
          <p:cNvSpPr txBox="1"/>
          <p:nvPr/>
        </p:nvSpPr>
        <p:spPr>
          <a:xfrm>
            <a:off x="503999" y="1386000"/>
            <a:ext cx="7798815" cy="251999"/>
          </a:xfrm>
          <a:prstGeom prst="rect">
            <a:avLst/>
          </a:prstGeom>
          <a:noFill/>
        </p:spPr>
        <p:txBody>
          <a:bodyPr wrap="square" anchor="t" lIns="54000" rIns="54000"/>
          <a:lstStyle/>
          <a:p>
            <a:pPr algn="ctr"/>
            <a:r>
              <a:rPr sz="1200" b="0">
                <a:solidFill>
                  <a:srgbClr val="EFAC62"/>
                </a:solidFill>
                <a:latin typeface="Helvetica"/>
              </a:rPr>
              <a:t>Figure 42 : Extrait du script dans VS Code sous Windows (statut d'un ratio prudentiel)</a:t>
            </a:r>
          </a:p>
        </p:txBody>
      </p:sp>
      <p:sp>
        <p:nvSpPr>
          <p:cNvPr id="33" name="TextBox 32"/>
          <p:cNvSpPr txBox="1"/>
          <p:nvPr/>
        </p:nvSpPr>
        <p:spPr>
          <a:xfrm>
            <a:off x="8518815" y="1440000"/>
            <a:ext cx="3217184" cy="4428000"/>
          </a:xfrm>
          <a:prstGeom prst="rect">
            <a:avLst/>
          </a:prstGeom>
          <a:noFill/>
        </p:spPr>
        <p:txBody>
          <a:bodyPr wrap="square" lIns="54000" rIns="54000"/>
          <a:lstStyle/>
          <a:p>
            <a:pPr algn="just">
              <a:spcAft>
                <a:spcPts val="600"/>
              </a:spcAft>
            </a:pPr>
            <a:r>
              <a:rPr sz="1300" b="1">
                <a:solidFill>
                  <a:srgbClr val="060606"/>
                </a:solidFill>
                <a:latin typeface="Helvetica"/>
              </a:rPr>
              <a:t>Une valeur absente donne « En attente ». Une norme non chiffrée donne « À apprécier ».</a:t>
            </a:r>
          </a:p>
          <a:p>
            <a:pPr algn="just">
              <a:spcAft>
                <a:spcPts val="600"/>
              </a:spcAft>
            </a:pPr>
            <a:r>
              <a:rPr sz="1300" b="1">
                <a:solidFill>
                  <a:srgbClr val="060606"/>
                </a:solidFill>
                <a:latin typeface="Helvetica"/>
              </a:rPr>
              <a:t>Le test compare la valeur à la norme</a:t>
            </a:r>
            <a:r>
              <a:rPr sz="1300" b="0">
                <a:solidFill>
                  <a:srgbClr val="060606"/>
                </a:solidFill>
                <a:latin typeface="Helvetica"/>
              </a:rPr>
              <a:t> : fourchette, minimum ou maximum.</a:t>
            </a:r>
          </a:p>
          <a:p>
            <a:pPr algn="just">
              <a:spcAft>
                <a:spcPts val="600"/>
              </a:spcAft>
            </a:pPr>
            <a:r>
              <a:rPr sz="1300" b="1">
                <a:solidFill>
                  <a:srgbClr val="060606"/>
                </a:solidFill>
                <a:latin typeface="Helvetica"/>
              </a:rPr>
              <a:t>Les années 2020, 2021 et 2026 portent la mention « indicatif ».</a:t>
            </a:r>
            <a:r>
              <a:rPr sz="1300" b="0">
                <a:solidFill>
                  <a:srgbClr val="060606"/>
                </a:solidFill>
                <a:latin typeface="Helvetica"/>
              </a:rPr>
              <a:t> Le terminal montre la sortie réelle du script.</a:t>
            </a:r>
          </a:p>
          <a:p>
            <a:pPr algn="just">
              <a:spcAft>
                <a:spcPts val="600"/>
              </a:spcAft>
            </a:pPr>
            <a:r>
              <a:rPr sz="1300" b="1">
                <a:solidFill>
                  <a:srgbClr val="060606"/>
                </a:solidFill>
                <a:latin typeface="Helvetica"/>
              </a:rPr>
              <a:t>Implication pour le FPPN.</a:t>
            </a:r>
            <a:r>
              <a:rPr sz="1300" b="0">
                <a:solidFill>
                  <a:srgbClr val="060606"/>
                </a:solidFill>
                <a:latin typeface="Helvetica"/>
              </a:rPr>
              <a:t> La règle de statut est la même pour les 36 indicateurs : elle ne laisse aucune place à l'appréciation au cas par cas.</a:t>
            </a:r>
          </a:p>
        </p:txBody>
      </p:sp>
      <p:sp>
        <p:nvSpPr>
          <p:cNvPr id="34" name="TextBox 33"/>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a:t>
            </a:r>
          </a:p>
        </p:txBody>
      </p:sp>
    </p:spTree>
    <p:extLst>
      <p:ext uri="{BB962C8B-B14F-4D97-AF65-F5344CB8AC3E}">
        <p14:creationId xmlns:p14="http://schemas.microsoft.com/office/powerpoint/2010/main" val="571599031"/>
      </p:ext>
    </p:extLst>
  </p:cSld>
  <p:clrMapOvr>
    <a:masterClrMapping/>
  </p:clrMapOvr>
  <p:transition>
    <p:fade/>
  </p:transition>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7" name="Image 36"/>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3" name="Rectangle 22">
            <a:extLst>
              <a:ext uri="{FF2B5EF4-FFF2-40B4-BE49-F238E27FC236}">
                <a16:creationId xmlns:a16="http://schemas.microsoft.com/office/drawing/2014/main" id="{4CD23CFE-3F31-4BA9-B26F-B9B5B351518E}"/>
              </a:ext>
            </a:extLst>
          </p:cNvPr>
          <p:cNvSpPr/>
          <p:nvPr/>
        </p:nvSpPr>
        <p:spPr>
          <a:xfrm>
            <a:off x="2106184" y="1811264"/>
            <a:ext cx="9685766" cy="901761"/>
          </a:xfrm>
          <a:prstGeom prst="rect">
            <a:avLst/>
          </a:prstGeom>
          <a:ln w="12700">
            <a:solidFill>
              <a:srgbClr val="112A40"/>
            </a:solidFill>
          </a:ln>
        </p:spPr>
        <p:txBody>
          <a:bodyPr wrap="square" lIns="162000" tIns="54000" rIns="72000" bIns="54000" anchor="ctr">
            <a:noAutofit/>
          </a:bodyPr>
          <a:lstStyle/>
          <a:p>
            <a:pPr lvl="0">
              <a:lnSpc>
                <a:spcPct val="110000"/>
              </a:lnSpc>
            </a:pPr>
            <a:r>
              <a:rPr lang="fr-CI" sz="1300" b="1" noProof="0">
                <a:latin typeface="Helvetica" panose="020B0604020202020204" pitchFamily="34" charset="0"/>
                <a:ea typeface="Open Sans Semibold" panose="020B0706030804020204" pitchFamily="34" charset="0"/>
                <a:cs typeface="Helvetica" panose="020B0604020202020204" pitchFamily="34" charset="0"/>
              </a:rPr>
              <a:t>Enregistrement</a:t>
            </a:r>
          </a:p>
          <a:p>
            <a:pPr lvl="0">
              <a:lnSpc>
                <a:spcPct val="110000"/>
              </a:lnSpc>
            </a:pPr>
            <a:r>
              <a:rPr lang="fr-CI" sz="1150" noProof="0" b="0">
                <a:latin typeface="Helvetica" panose="020B0604020202020204" pitchFamily="34" charset="0"/>
                <a:ea typeface="Open Sans Light" panose="020B0306030504020204" pitchFamily="34" charset="0"/>
                <a:cs typeface="Helvetica" panose="020B0604020202020204" pitchFamily="34" charset="0"/>
              </a:rPr>
              <a:t>À la construction, chaque chiffre est produit par une fonction qui garde sa valeur exacte, sa diapositive et le texte affiché.</a:t>
            </a:r>
          </a:p>
        </p:txBody>
      </p:sp>
      <p:sp>
        <p:nvSpPr>
          <p:cNvPr id="28" name="Rectangle 27">
            <a:extLst>
              <a:ext uri="{FF2B5EF4-FFF2-40B4-BE49-F238E27FC236}">
                <a16:creationId xmlns:a16="http://schemas.microsoft.com/office/drawing/2014/main" id="{9B9B23AA-050D-4543-80A0-873FE31AFFF7}"/>
              </a:ext>
            </a:extLst>
          </p:cNvPr>
          <p:cNvSpPr/>
          <p:nvPr/>
        </p:nvSpPr>
        <p:spPr>
          <a:xfrm>
            <a:off x="1538714" y="1463475"/>
            <a:ext cx="5748535" cy="166944"/>
          </a:xfrm>
          <a:prstGeom prst="rect">
            <a:avLst/>
          </a:prstGeom>
        </p:spPr>
        <p:txBody>
          <a:bodyPr wrap="square" lIns="0" tIns="0" rIns="0" bIns="0">
            <a:spAutoFit/>
          </a:bodyPr>
          <a:lstStyle/>
          <a:p>
            <a:pPr lvl="0">
              <a:lnSpc>
                <a:spcPct val="110000"/>
              </a:lnSpc>
            </a:pPr>
            <a:r>
              <a:rPr lang="fr-CI" sz="1300" b="1" noProof="0">
                <a:latin typeface="Helvetica" panose="020B0604020202020204" pitchFamily="34" charset="0"/>
                <a:ea typeface="Open Sans Semibold" panose="020B0706030804020204" pitchFamily="34" charset="0"/>
                <a:cs typeface="Helvetica" panose="020B0604020202020204" pitchFamily="34" charset="0"/>
              </a:rPr>
              <a:t/>
            </a:r>
          </a:p>
        </p:txBody>
      </p:sp>
      <p:cxnSp>
        <p:nvCxnSpPr>
          <p:cNvPr id="29" name="Straight Connector 28">
            <a:extLst>
              <a:ext uri="{FF2B5EF4-FFF2-40B4-BE49-F238E27FC236}">
                <a16:creationId xmlns:a16="http://schemas.microsoft.com/office/drawing/2014/main" id="{09E553D9-3562-45A7-BE4B-0F12FAA0490F}"/>
              </a:ext>
            </a:extLst>
          </p:cNvPr>
          <p:cNvCxnSpPr>
            <a:cxnSpLocks/>
          </p:cNvCxnSpPr>
          <p:nvPr/>
        </p:nvCxnSpPr>
        <p:spPr>
          <a:xfrm>
            <a:off x="916803" y="1707866"/>
            <a:ext cx="0" cy="3668091"/>
          </a:xfrm>
          <a:prstGeom prst="line">
            <a:avLst/>
          </a:prstGeom>
          <a:ln w="12700">
            <a:solidFill>
              <a:srgbClr val="112A40"/>
            </a:solidFill>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DA735D38-741F-4EFB-826C-6F87FD459AB4}"/>
              </a:ext>
            </a:extLst>
          </p:cNvPr>
          <p:cNvCxnSpPr/>
          <p:nvPr/>
        </p:nvCxnSpPr>
        <p:spPr>
          <a:xfrm>
            <a:off x="916803" y="2291826"/>
            <a:ext cx="621911" cy="3600"/>
          </a:xfrm>
          <a:prstGeom prst="line">
            <a:avLst/>
          </a:prstGeom>
          <a:ln w="12700">
            <a:solidFill>
              <a:srgbClr val="112A40"/>
            </a:solidFill>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EBCFE36B-AE16-49E8-90A6-6621A0EB0473}"/>
              </a:ext>
            </a:extLst>
          </p:cNvPr>
          <p:cNvCxnSpPr/>
          <p:nvPr/>
        </p:nvCxnSpPr>
        <p:spPr>
          <a:xfrm>
            <a:off x="916803" y="3273370"/>
            <a:ext cx="621911" cy="3600"/>
          </a:xfrm>
          <a:prstGeom prst="line">
            <a:avLst/>
          </a:prstGeom>
          <a:ln w="12700">
            <a:solidFill>
              <a:srgbClr val="112A40"/>
            </a:solidFill>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2697F6E2-C26B-4E5F-B7F9-95C6E9325040}"/>
              </a:ext>
            </a:extLst>
          </p:cNvPr>
          <p:cNvCxnSpPr/>
          <p:nvPr/>
        </p:nvCxnSpPr>
        <p:spPr>
          <a:xfrm>
            <a:off x="916803" y="5368324"/>
            <a:ext cx="621911" cy="3600"/>
          </a:xfrm>
          <a:prstGeom prst="line">
            <a:avLst/>
          </a:prstGeom>
          <a:ln w="12700">
            <a:solidFill>
              <a:srgbClr val="112A40"/>
            </a:solidFill>
          </a:ln>
        </p:spPr>
        <p:style>
          <a:lnRef idx="1">
            <a:schemeClr val="accent1"/>
          </a:lnRef>
          <a:fillRef idx="0">
            <a:schemeClr val="accent1"/>
          </a:fillRef>
          <a:effectRef idx="0">
            <a:schemeClr val="accent1"/>
          </a:effectRef>
          <a:fontRef idx="minor">
            <a:schemeClr val="tx1"/>
          </a:fontRef>
        </p:style>
      </p:cxnSp>
      <p:sp>
        <p:nvSpPr>
          <p:cNvPr id="24" name="Rectangle 23">
            <a:extLst>
              <a:ext uri="{FF2B5EF4-FFF2-40B4-BE49-F238E27FC236}">
                <a16:creationId xmlns:a16="http://schemas.microsoft.com/office/drawing/2014/main" id="{4CD23CFE-3F31-4BA9-B26F-B9B5B351518E}"/>
              </a:ext>
            </a:extLst>
          </p:cNvPr>
          <p:cNvSpPr/>
          <p:nvPr/>
        </p:nvSpPr>
        <p:spPr>
          <a:xfrm>
            <a:off x="2103510" y="2847523"/>
            <a:ext cx="9685766" cy="901761"/>
          </a:xfrm>
          <a:prstGeom prst="rect">
            <a:avLst/>
          </a:prstGeom>
          <a:ln w="12700">
            <a:solidFill>
              <a:srgbClr val="112A40"/>
            </a:solidFill>
          </a:ln>
        </p:spPr>
        <p:txBody>
          <a:bodyPr wrap="square" lIns="162000" tIns="54000" rIns="72000" bIns="54000" anchor="ctr">
            <a:noAutofit/>
          </a:bodyPr>
          <a:lstStyle/>
          <a:p>
            <a:pPr lvl="0">
              <a:lnSpc>
                <a:spcPct val="110000"/>
              </a:lnSpc>
            </a:pPr>
            <a:r>
              <a:rPr lang="fr-CI" sz="1300" b="1" noProof="0">
                <a:latin typeface="Helvetica" panose="020B0604020202020204" pitchFamily="34" charset="0"/>
                <a:ea typeface="Open Sans Semibold" panose="020B0706030804020204" pitchFamily="34" charset="0"/>
                <a:cs typeface="Helvetica" panose="020B0604020202020204" pitchFamily="34" charset="0"/>
              </a:rPr>
              <a:t>Relecture</a:t>
            </a:r>
          </a:p>
          <a:p>
            <a:pPr lvl="0">
              <a:lnSpc>
                <a:spcPct val="110000"/>
              </a:lnSpc>
            </a:pPr>
            <a:r>
              <a:rPr lang="fr-CI" sz="1150" noProof="0" b="0">
                <a:latin typeface="Helvetica" panose="020B0604020202020204" pitchFamily="34" charset="0"/>
                <a:ea typeface="Open Sans Light" panose="020B0306030504020204" pitchFamily="34" charset="0"/>
                <a:cs typeface="Helvetica" panose="020B0604020202020204" pitchFamily="34" charset="0"/>
              </a:rPr>
              <a:t>Après la construction, un script relit le fichier PowerPoint, textes, tableaux et notes compris.</a:t>
            </a:r>
          </a:p>
        </p:txBody>
      </p:sp>
      <p:sp>
        <p:nvSpPr>
          <p:cNvPr id="33" name="Rectangle 32">
            <a:extLst>
              <a:ext uri="{FF2B5EF4-FFF2-40B4-BE49-F238E27FC236}">
                <a16:creationId xmlns:a16="http://schemas.microsoft.com/office/drawing/2014/main" id="{4CD23CFE-3F31-4BA9-B26F-B9B5B351518E}"/>
              </a:ext>
            </a:extLst>
          </p:cNvPr>
          <p:cNvSpPr/>
          <p:nvPr/>
        </p:nvSpPr>
        <p:spPr>
          <a:xfrm>
            <a:off x="2125344" y="3881185"/>
            <a:ext cx="9685766" cy="901761"/>
          </a:xfrm>
          <a:prstGeom prst="rect">
            <a:avLst/>
          </a:prstGeom>
          <a:ln w="12700">
            <a:solidFill>
              <a:srgbClr val="112A40"/>
            </a:solidFill>
          </a:ln>
        </p:spPr>
        <p:txBody>
          <a:bodyPr wrap="square" lIns="162000" tIns="54000" rIns="72000" bIns="54000" anchor="ctr">
            <a:noAutofit/>
          </a:bodyPr>
          <a:lstStyle/>
          <a:p>
            <a:pPr lvl="0">
              <a:lnSpc>
                <a:spcPct val="110000"/>
              </a:lnSpc>
            </a:pPr>
            <a:r>
              <a:rPr lang="fr-CI" sz="1300" b="1" noProof="0">
                <a:latin typeface="Helvetica" panose="020B0604020202020204" pitchFamily="34" charset="0"/>
                <a:ea typeface="Open Sans Semibold" panose="020B0706030804020204" pitchFamily="34" charset="0"/>
                <a:cs typeface="Helvetica" panose="020B0604020202020204" pitchFamily="34" charset="0"/>
              </a:rPr>
              <a:t>Comparaison</a:t>
            </a:r>
          </a:p>
          <a:p>
            <a:pPr lvl="0">
              <a:lnSpc>
                <a:spcPct val="110000"/>
              </a:lnSpc>
            </a:pPr>
            <a:r>
              <a:rPr lang="fr-CI" sz="1150" noProof="0" b="0">
                <a:latin typeface="Helvetica" panose="020B0604020202020204" pitchFamily="34" charset="0"/>
                <a:ea typeface="Open Sans Light" panose="020B0306030504020204" pitchFamily="34" charset="0"/>
                <a:cs typeface="Helvetica" panose="020B0604020202020204" pitchFamily="34" charset="0"/>
              </a:rPr>
              <a:t>Le script vérifie la présence de chaque texte enregistré sur sa diapositive et compte les chiffres retrouvés.</a:t>
            </a:r>
          </a:p>
        </p:txBody>
      </p:sp>
      <p:sp>
        <p:nvSpPr>
          <p:cNvPr id="34" name="Rectangle 33">
            <a:extLst>
              <a:ext uri="{FF2B5EF4-FFF2-40B4-BE49-F238E27FC236}">
                <a16:creationId xmlns:a16="http://schemas.microsoft.com/office/drawing/2014/main" id="{4CD23CFE-3F31-4BA9-B26F-B9B5B351518E}"/>
              </a:ext>
            </a:extLst>
          </p:cNvPr>
          <p:cNvSpPr/>
          <p:nvPr/>
        </p:nvSpPr>
        <p:spPr>
          <a:xfrm>
            <a:off x="2122670" y="4917444"/>
            <a:ext cx="9685766" cy="901761"/>
          </a:xfrm>
          <a:prstGeom prst="rect">
            <a:avLst/>
          </a:prstGeom>
          <a:ln w="12700">
            <a:solidFill>
              <a:srgbClr val="112A40"/>
            </a:solidFill>
          </a:ln>
        </p:spPr>
        <p:txBody>
          <a:bodyPr wrap="square" lIns="162000" tIns="54000" rIns="72000" bIns="54000" anchor="ctr">
            <a:noAutofit/>
          </a:bodyPr>
          <a:lstStyle/>
          <a:p>
            <a:pPr lvl="1">
              <a:lnSpc>
                <a:spcPct val="110000"/>
              </a:lnSpc>
            </a:pPr>
            <a:r>
              <a:rPr lang="fr-CI" sz="1300" b="1" noProof="0">
                <a:latin typeface="Helvetica" panose="020B0604020202020204" pitchFamily="34" charset="0"/>
                <a:ea typeface="Open Sans Semibold" panose="020B0706030804020204" pitchFamily="34" charset="0"/>
                <a:cs typeface="Helvetica" panose="020B0604020202020204" pitchFamily="34" charset="0"/>
              </a:rPr>
              <a:t>Résultat</a:t>
            </a:r>
          </a:p>
          <a:p>
            <a:pPr lvl="1">
              <a:lnSpc>
                <a:spcPct val="110000"/>
              </a:lnSpc>
            </a:pPr>
            <a:r>
              <a:rPr lang="fr-CI" sz="1150" noProof="0" b="0">
                <a:latin typeface="Helvetica" panose="020B0604020202020204" pitchFamily="34" charset="0"/>
                <a:ea typeface="Open Sans Light" panose="020B0306030504020204" pitchFamily="34" charset="0"/>
                <a:cs typeface="Helvetica" panose="020B0604020202020204" pitchFamily="34" charset="0"/>
              </a:rPr>
              <a:t>Le résultat figure dans l'onglet « Traçabilité » du classeur des calculs, ligne par ligne, avec la valeur exacte de chaque chiffre.</a:t>
            </a:r>
            <a:endParaRPr lang="fr-CI" sz="1200">
              <a:latin typeface="Helvetica" panose="020B0604020202020204" pitchFamily="34" charset="0"/>
              <a:ea typeface="Open Sans Light" panose="020B0306030504020204" pitchFamily="34" charset="0"/>
              <a:cs typeface="Helvetica" panose="020B0604020202020204" pitchFamily="34" charset="0"/>
            </a:endParaRPr>
          </a:p>
        </p:txBody>
      </p:sp>
      <p:cxnSp>
        <p:nvCxnSpPr>
          <p:cNvPr id="39" name="Straight Connector 30">
            <a:extLst>
              <a:ext uri="{FF2B5EF4-FFF2-40B4-BE49-F238E27FC236}">
                <a16:creationId xmlns:a16="http://schemas.microsoft.com/office/drawing/2014/main" id="{EBCFE36B-AE16-49E8-90A6-6621A0EB0473}"/>
              </a:ext>
            </a:extLst>
          </p:cNvPr>
          <p:cNvCxnSpPr/>
          <p:nvPr/>
        </p:nvCxnSpPr>
        <p:spPr>
          <a:xfrm>
            <a:off x="919504" y="4326976"/>
            <a:ext cx="621911" cy="3600"/>
          </a:xfrm>
          <a:prstGeom prst="line">
            <a:avLst/>
          </a:prstGeom>
          <a:ln w="12700">
            <a:solidFill>
              <a:srgbClr val="112A40"/>
            </a:solidFill>
          </a:ln>
        </p:spPr>
        <p:style>
          <a:lnRef idx="1">
            <a:schemeClr val="accent1"/>
          </a:lnRef>
          <a:fillRef idx="0">
            <a:schemeClr val="accent1"/>
          </a:fillRef>
          <a:effectRef idx="0">
            <a:schemeClr val="accent1"/>
          </a:effectRef>
          <a:fontRef idx="minor">
            <a:schemeClr val="tx1"/>
          </a:fontRef>
        </p:style>
      </p:cxnSp>
      <p:grpSp>
        <p:nvGrpSpPr>
          <p:cNvPr id="11" name="Groupe 10"/>
          <p:cNvGrpSpPr/>
          <p:nvPr/>
        </p:nvGrpSpPr>
        <p:grpSpPr>
          <a:xfrm>
            <a:off x="1554870" y="2047565"/>
            <a:ext cx="548640" cy="548640"/>
            <a:chOff x="-1153645" y="1535690"/>
            <a:chExt cx="548640" cy="548640"/>
          </a:xfrm>
        </p:grpSpPr>
        <p:sp>
          <p:nvSpPr>
            <p:cNvPr id="36" name="Oval 21">
              <a:extLst>
                <a:ext uri="{FF2B5EF4-FFF2-40B4-BE49-F238E27FC236}">
                  <a16:creationId xmlns:a16="http://schemas.microsoft.com/office/drawing/2014/main" id="{7BB796F0-2DE6-45B1-851B-D8991F423CF4}"/>
                </a:ext>
              </a:extLst>
            </p:cNvPr>
            <p:cNvSpPr/>
            <p:nvPr/>
          </p:nvSpPr>
          <p:spPr bwMode="gray">
            <a:xfrm>
              <a:off x="-1153645" y="1535690"/>
              <a:ext cx="548640" cy="548640"/>
            </a:xfrm>
            <a:prstGeom prst="ellipse">
              <a:avLst/>
            </a:prstGeom>
            <a:solidFill>
              <a:schemeClr val="tx1"/>
            </a:solidFill>
            <a:ln w="19050" algn="ctr">
              <a:noFill/>
              <a:miter lim="800000"/>
              <a:headEnd/>
              <a:tailEnd/>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 typeface="Wingdings 2" pitchFamily="18" charset="2"/>
                <a:buNone/>
                <a:tabLst/>
                <a:defRPr/>
              </a:pPr>
              <a:endParaRPr kumimoji="0" lang="fr-CI" sz="1100" b="1" i="0" u="none" strike="noStrike" kern="1200" cap="none" spc="0" normalizeH="0" baseline="0" noProof="0">
                <a:ln>
                  <a:noFill/>
                </a:ln>
                <a:solidFill>
                  <a:prstClr val="white"/>
                </a:solidFill>
                <a:effectLst/>
                <a:uLnTx/>
                <a:uFillTx/>
                <a:latin typeface="Helvetica" panose="020B0604020202020204" pitchFamily="34" charset="0"/>
                <a:ea typeface="Open Sans Semibold" panose="020B0706030804020204" pitchFamily="34" charset="0"/>
                <a:cs typeface="Helvetica" panose="020B0604020202020204" pitchFamily="34" charset="0"/>
              </a:endParaRPr>
            </a:p>
          </p:txBody>
        </p:sp>
        <p:pic>
          <p:nvPicPr>
            <p:cNvPr id="40" name="Image 39"/>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23163" y="1564148"/>
              <a:ext cx="486259" cy="491723"/>
            </a:xfrm>
            <a:prstGeom prst="rect">
              <a:avLst/>
            </a:prstGeom>
          </p:spPr>
        </p:pic>
      </p:grpSp>
      <p:grpSp>
        <p:nvGrpSpPr>
          <p:cNvPr id="12" name="Groupe 11"/>
          <p:cNvGrpSpPr/>
          <p:nvPr/>
        </p:nvGrpSpPr>
        <p:grpSpPr>
          <a:xfrm>
            <a:off x="1557425" y="3008849"/>
            <a:ext cx="548640" cy="548640"/>
            <a:chOff x="-1154302" y="2719457"/>
            <a:chExt cx="548640" cy="548640"/>
          </a:xfrm>
        </p:grpSpPr>
        <p:sp>
          <p:nvSpPr>
            <p:cNvPr id="42" name="Oval 21">
              <a:extLst>
                <a:ext uri="{FF2B5EF4-FFF2-40B4-BE49-F238E27FC236}">
                  <a16:creationId xmlns:a16="http://schemas.microsoft.com/office/drawing/2014/main" id="{7BB796F0-2DE6-45B1-851B-D8991F423CF4}"/>
                </a:ext>
              </a:extLst>
            </p:cNvPr>
            <p:cNvSpPr/>
            <p:nvPr/>
          </p:nvSpPr>
          <p:spPr bwMode="gray">
            <a:xfrm>
              <a:off x="-1154302" y="2719457"/>
              <a:ext cx="548640" cy="548640"/>
            </a:xfrm>
            <a:prstGeom prst="ellipse">
              <a:avLst/>
            </a:prstGeom>
            <a:solidFill>
              <a:schemeClr val="tx1"/>
            </a:solidFill>
            <a:ln w="19050" algn="ctr">
              <a:noFill/>
              <a:miter lim="800000"/>
              <a:headEnd/>
              <a:tailEnd/>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 typeface="Wingdings 2" pitchFamily="18" charset="2"/>
                <a:buNone/>
                <a:tabLst/>
                <a:defRPr/>
              </a:pPr>
              <a:endParaRPr kumimoji="0" lang="fr-CI" sz="1100" b="1" i="0" u="none" strike="noStrike" kern="1200" cap="none" spc="0" normalizeH="0" baseline="0" noProof="0">
                <a:ln>
                  <a:noFill/>
                </a:ln>
                <a:solidFill>
                  <a:prstClr val="white"/>
                </a:solidFill>
                <a:effectLst/>
                <a:uLnTx/>
                <a:uFillTx/>
                <a:latin typeface="Helvetica" panose="020B0604020202020204" pitchFamily="34" charset="0"/>
                <a:ea typeface="Open Sans Semibold" panose="020B0706030804020204" pitchFamily="34" charset="0"/>
                <a:cs typeface="Helvetica" panose="020B0604020202020204" pitchFamily="34" charset="0"/>
              </a:endParaRPr>
            </a:p>
          </p:txBody>
        </p:sp>
        <p:pic>
          <p:nvPicPr>
            <p:cNvPr id="7" name="Image 6"/>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74901" y="2781886"/>
              <a:ext cx="396274" cy="396274"/>
            </a:xfrm>
            <a:prstGeom prst="rect">
              <a:avLst/>
            </a:prstGeom>
          </p:spPr>
        </p:pic>
      </p:grpSp>
      <p:grpSp>
        <p:nvGrpSpPr>
          <p:cNvPr id="13" name="Groupe 12"/>
          <p:cNvGrpSpPr/>
          <p:nvPr/>
        </p:nvGrpSpPr>
        <p:grpSpPr>
          <a:xfrm>
            <a:off x="1567381" y="4044725"/>
            <a:ext cx="548640" cy="552951"/>
            <a:chOff x="-1185544" y="4122202"/>
            <a:chExt cx="548640" cy="552951"/>
          </a:xfrm>
        </p:grpSpPr>
        <p:sp>
          <p:nvSpPr>
            <p:cNvPr id="44" name="Oval 21">
              <a:extLst>
                <a:ext uri="{FF2B5EF4-FFF2-40B4-BE49-F238E27FC236}">
                  <a16:creationId xmlns:a16="http://schemas.microsoft.com/office/drawing/2014/main" id="{7BB796F0-2DE6-45B1-851B-D8991F423CF4}"/>
                </a:ext>
              </a:extLst>
            </p:cNvPr>
            <p:cNvSpPr/>
            <p:nvPr/>
          </p:nvSpPr>
          <p:spPr bwMode="gray">
            <a:xfrm>
              <a:off x="-1185544" y="4122202"/>
              <a:ext cx="548640" cy="548640"/>
            </a:xfrm>
            <a:prstGeom prst="ellipse">
              <a:avLst/>
            </a:prstGeom>
            <a:solidFill>
              <a:schemeClr val="tx1"/>
            </a:solidFill>
            <a:ln w="19050" algn="ctr">
              <a:noFill/>
              <a:miter lim="800000"/>
              <a:headEnd/>
              <a:tailEnd/>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 typeface="Wingdings 2" pitchFamily="18" charset="2"/>
                <a:buNone/>
                <a:tabLst/>
                <a:defRPr/>
              </a:pPr>
              <a:endParaRPr kumimoji="0" lang="fr-CI" sz="1100" b="1" i="0" u="none" strike="noStrike" kern="1200" cap="none" spc="0" normalizeH="0" baseline="0" noProof="0">
                <a:ln>
                  <a:noFill/>
                </a:ln>
                <a:solidFill>
                  <a:prstClr val="white"/>
                </a:solidFill>
                <a:effectLst/>
                <a:uLnTx/>
                <a:uFillTx/>
                <a:latin typeface="Helvetica" panose="020B0604020202020204" pitchFamily="34" charset="0"/>
                <a:ea typeface="Open Sans Semibold" panose="020B0706030804020204" pitchFamily="34" charset="0"/>
                <a:cs typeface="Helvetica" panose="020B0604020202020204" pitchFamily="34" charset="0"/>
              </a:endParaRPr>
            </a:p>
          </p:txBody>
        </p:sp>
        <p:pic>
          <p:nvPicPr>
            <p:cNvPr id="8" name="Image 7"/>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171838" y="4144755"/>
              <a:ext cx="524301" cy="530398"/>
            </a:xfrm>
            <a:prstGeom prst="rect">
              <a:avLst/>
            </a:prstGeom>
          </p:spPr>
        </p:pic>
      </p:grpSp>
      <p:grpSp>
        <p:nvGrpSpPr>
          <p:cNvPr id="14" name="Groupe 13"/>
          <p:cNvGrpSpPr/>
          <p:nvPr/>
        </p:nvGrpSpPr>
        <p:grpSpPr>
          <a:xfrm>
            <a:off x="1567381" y="5111071"/>
            <a:ext cx="548640" cy="548640"/>
            <a:chOff x="-1227267" y="5286500"/>
            <a:chExt cx="548640" cy="548640"/>
          </a:xfrm>
        </p:grpSpPr>
        <p:sp>
          <p:nvSpPr>
            <p:cNvPr id="45" name="Oval 21">
              <a:extLst>
                <a:ext uri="{FF2B5EF4-FFF2-40B4-BE49-F238E27FC236}">
                  <a16:creationId xmlns:a16="http://schemas.microsoft.com/office/drawing/2014/main" id="{7BB796F0-2DE6-45B1-851B-D8991F423CF4}"/>
                </a:ext>
              </a:extLst>
            </p:cNvPr>
            <p:cNvSpPr/>
            <p:nvPr/>
          </p:nvSpPr>
          <p:spPr bwMode="gray">
            <a:xfrm>
              <a:off x="-1227267" y="5286500"/>
              <a:ext cx="548640" cy="548640"/>
            </a:xfrm>
            <a:prstGeom prst="ellipse">
              <a:avLst/>
            </a:prstGeom>
            <a:solidFill>
              <a:schemeClr val="tx1"/>
            </a:solidFill>
            <a:ln w="19050" algn="ctr">
              <a:noFill/>
              <a:miter lim="800000"/>
              <a:headEnd/>
              <a:tailEnd/>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 typeface="Wingdings 2" pitchFamily="18" charset="2"/>
                <a:buNone/>
                <a:tabLst/>
                <a:defRPr/>
              </a:pPr>
              <a:endParaRPr kumimoji="0" lang="fr-CI" sz="1100" b="1" i="0" u="none" strike="noStrike" kern="1200" cap="none" spc="0" normalizeH="0" baseline="0" noProof="0">
                <a:ln>
                  <a:noFill/>
                </a:ln>
                <a:solidFill>
                  <a:prstClr val="white"/>
                </a:solidFill>
                <a:effectLst/>
                <a:uLnTx/>
                <a:uFillTx/>
                <a:latin typeface="Helvetica" panose="020B0604020202020204" pitchFamily="34" charset="0"/>
                <a:ea typeface="Open Sans Semibold" panose="020B0706030804020204" pitchFamily="34" charset="0"/>
                <a:cs typeface="Helvetica" panose="020B0604020202020204" pitchFamily="34" charset="0"/>
              </a:endParaRPr>
            </a:p>
          </p:txBody>
        </p:sp>
        <p:pic>
          <p:nvPicPr>
            <p:cNvPr id="9" name="Image 8"/>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1171838" y="5346402"/>
              <a:ext cx="422834" cy="432026"/>
            </a:xfrm>
            <a:prstGeom prst="rect">
              <a:avLst/>
            </a:prstGeom>
          </p:spPr>
        </p:pic>
      </p:grpSp>
      <p:sp>
        <p:nvSpPr>
          <p:cNvPr id="50" name="ZoneTexte 49">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pic>
        <p:nvPicPr>
          <p:cNvPr id="51" name="Image 50"/>
          <p:cNvPicPr>
            <a:picLocks noChangeAspect="1"/>
          </p:cNvPicPr>
          <p:nvPr/>
        </p:nvPicPr>
        <p:blipFill rotWithShape="1">
          <a:blip r:embed="rId7" cstate="print">
            <a:extLst>
              <a:ext uri="{28A0092B-C50C-407E-A947-70E740481C1C}">
                <a14:useLocalDpi xmlns:a14="http://schemas.microsoft.com/office/drawing/2010/main" val="0"/>
              </a:ext>
            </a:extLst>
          </a:blip>
          <a:srcRect l="4260" t="13024" r="74155" b="14121"/>
          <a:stretch/>
        </p:blipFill>
        <p:spPr>
          <a:xfrm>
            <a:off x="702475" y="1350400"/>
            <a:ext cx="392679" cy="406703"/>
          </a:xfrm>
          <a:prstGeom prst="rect">
            <a:avLst/>
          </a:prstGeom>
        </p:spPr>
      </p:pic>
      <p:sp>
        <p:nvSpPr>
          <p:cNvPr id="52"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Contrôle automatique des chiffres</a:t>
            </a:r>
          </a:p>
        </p:txBody>
      </p:sp>
      <p:sp>
        <p:nvSpPr>
          <p:cNvPr id="53"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Chaque chiffre du rapport est recalculé et comparé au texte affiché</a:t>
            </a:r>
          </a:p>
        </p:txBody>
      </p:sp>
      <p:sp>
        <p:nvSpPr>
          <p:cNvPr id="54"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Le contrôle relit le PowerPoint produit et vérifie que chaque chiffre enregistré figure sur sa diapositive</a:t>
            </a:r>
          </a:p>
        </p:txBody>
      </p:sp>
      <p:sp>
        <p:nvSpPr>
          <p:cNvPr id="55"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Adenka</a:t>
            </a:r>
          </a:p>
        </p:txBody>
      </p:sp>
    </p:spTree>
    <p:extLst>
      <p:ext uri="{BB962C8B-B14F-4D97-AF65-F5344CB8AC3E}">
        <p14:creationId xmlns:p14="http://schemas.microsoft.com/office/powerpoint/2010/main" val="3706528130"/>
      </p:ext>
    </p:extLst>
  </p:cSld>
  <p:clrMapOvr>
    <a:masterClrMapping/>
  </p:clrMapOvr>
  <p:transition>
    <p:fade/>
  </p:transition>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Google Shape;8651;p70"/>
          <p:cNvSpPr/>
          <p:nvPr/>
        </p:nvSpPr>
        <p:spPr>
          <a:xfrm>
            <a:off x="2013108" y="2588204"/>
            <a:ext cx="1380332" cy="1428252"/>
          </a:xfrm>
          <a:custGeom>
            <a:avLst/>
            <a:gdLst/>
            <a:ahLst/>
            <a:cxnLst/>
            <a:rect l="l" t="t" r="r" b="b"/>
            <a:pathLst>
              <a:path w="8670" h="8971" extrusionOk="0">
                <a:moveTo>
                  <a:pt x="7105" y="1302"/>
                </a:moveTo>
                <a:cubicBezTo>
                  <a:pt x="7105" y="1315"/>
                  <a:pt x="7105" y="1328"/>
                  <a:pt x="7105" y="1341"/>
                </a:cubicBezTo>
                <a:cubicBezTo>
                  <a:pt x="7118" y="1980"/>
                  <a:pt x="7183" y="2619"/>
                  <a:pt x="7183" y="3283"/>
                </a:cubicBezTo>
                <a:cubicBezTo>
                  <a:pt x="7170" y="4404"/>
                  <a:pt x="7183" y="5525"/>
                  <a:pt x="7222" y="6646"/>
                </a:cubicBezTo>
                <a:cubicBezTo>
                  <a:pt x="7235" y="6959"/>
                  <a:pt x="7222" y="7259"/>
                  <a:pt x="7222" y="7559"/>
                </a:cubicBezTo>
                <a:lnTo>
                  <a:pt x="7222" y="7585"/>
                </a:lnTo>
                <a:cubicBezTo>
                  <a:pt x="6935" y="7598"/>
                  <a:pt x="6649" y="7611"/>
                  <a:pt x="6362" y="7611"/>
                </a:cubicBezTo>
                <a:cubicBezTo>
                  <a:pt x="6101" y="7598"/>
                  <a:pt x="5853" y="7585"/>
                  <a:pt x="5593" y="7585"/>
                </a:cubicBezTo>
                <a:cubicBezTo>
                  <a:pt x="4159" y="7559"/>
                  <a:pt x="2712" y="7559"/>
                  <a:pt x="1291" y="7442"/>
                </a:cubicBezTo>
                <a:cubicBezTo>
                  <a:pt x="1278" y="7207"/>
                  <a:pt x="1239" y="6959"/>
                  <a:pt x="1226" y="6725"/>
                </a:cubicBezTo>
                <a:cubicBezTo>
                  <a:pt x="1200" y="6255"/>
                  <a:pt x="1187" y="5799"/>
                  <a:pt x="1200" y="5330"/>
                </a:cubicBezTo>
                <a:cubicBezTo>
                  <a:pt x="1213" y="4222"/>
                  <a:pt x="1226" y="3101"/>
                  <a:pt x="1343" y="1993"/>
                </a:cubicBezTo>
                <a:lnTo>
                  <a:pt x="1552" y="1993"/>
                </a:lnTo>
                <a:cubicBezTo>
                  <a:pt x="2138" y="1980"/>
                  <a:pt x="2725" y="1889"/>
                  <a:pt x="3312" y="1810"/>
                </a:cubicBezTo>
                <a:cubicBezTo>
                  <a:pt x="4576" y="1641"/>
                  <a:pt x="5840" y="1524"/>
                  <a:pt x="7105" y="1302"/>
                </a:cubicBezTo>
                <a:close/>
                <a:moveTo>
                  <a:pt x="7529" y="1"/>
                </a:moveTo>
                <a:cubicBezTo>
                  <a:pt x="7291" y="1"/>
                  <a:pt x="7059" y="53"/>
                  <a:pt x="6818" y="64"/>
                </a:cubicBezTo>
                <a:cubicBezTo>
                  <a:pt x="6375" y="103"/>
                  <a:pt x="5932" y="142"/>
                  <a:pt x="5488" y="194"/>
                </a:cubicBezTo>
                <a:cubicBezTo>
                  <a:pt x="4824" y="259"/>
                  <a:pt x="4107" y="350"/>
                  <a:pt x="3429" y="389"/>
                </a:cubicBezTo>
                <a:cubicBezTo>
                  <a:pt x="2686" y="429"/>
                  <a:pt x="1943" y="481"/>
                  <a:pt x="1213" y="598"/>
                </a:cubicBezTo>
                <a:cubicBezTo>
                  <a:pt x="913" y="624"/>
                  <a:pt x="652" y="728"/>
                  <a:pt x="509" y="976"/>
                </a:cubicBezTo>
                <a:cubicBezTo>
                  <a:pt x="470" y="1028"/>
                  <a:pt x="444" y="1080"/>
                  <a:pt x="431" y="1146"/>
                </a:cubicBezTo>
                <a:cubicBezTo>
                  <a:pt x="300" y="1524"/>
                  <a:pt x="287" y="1928"/>
                  <a:pt x="300" y="2332"/>
                </a:cubicBezTo>
                <a:cubicBezTo>
                  <a:pt x="209" y="3010"/>
                  <a:pt x="209" y="3700"/>
                  <a:pt x="209" y="4378"/>
                </a:cubicBezTo>
                <a:cubicBezTo>
                  <a:pt x="170" y="4769"/>
                  <a:pt x="144" y="5173"/>
                  <a:pt x="131" y="5565"/>
                </a:cubicBezTo>
                <a:cubicBezTo>
                  <a:pt x="105" y="6203"/>
                  <a:pt x="14" y="6842"/>
                  <a:pt x="14" y="7481"/>
                </a:cubicBezTo>
                <a:cubicBezTo>
                  <a:pt x="1" y="7911"/>
                  <a:pt x="157" y="8315"/>
                  <a:pt x="613" y="8419"/>
                </a:cubicBezTo>
                <a:cubicBezTo>
                  <a:pt x="1056" y="8550"/>
                  <a:pt x="1526" y="8524"/>
                  <a:pt x="1982" y="8550"/>
                </a:cubicBezTo>
                <a:cubicBezTo>
                  <a:pt x="2243" y="8563"/>
                  <a:pt x="2503" y="8589"/>
                  <a:pt x="2764" y="8615"/>
                </a:cubicBezTo>
                <a:cubicBezTo>
                  <a:pt x="3885" y="8745"/>
                  <a:pt x="5006" y="8902"/>
                  <a:pt x="6140" y="8941"/>
                </a:cubicBezTo>
                <a:cubicBezTo>
                  <a:pt x="6220" y="8945"/>
                  <a:pt x="6302" y="8946"/>
                  <a:pt x="6383" y="8946"/>
                </a:cubicBezTo>
                <a:cubicBezTo>
                  <a:pt x="6581" y="8946"/>
                  <a:pt x="6781" y="8937"/>
                  <a:pt x="6974" y="8928"/>
                </a:cubicBezTo>
                <a:cubicBezTo>
                  <a:pt x="7118" y="8941"/>
                  <a:pt x="7274" y="8941"/>
                  <a:pt x="7418" y="8941"/>
                </a:cubicBezTo>
                <a:cubicBezTo>
                  <a:pt x="7568" y="8956"/>
                  <a:pt x="7723" y="8971"/>
                  <a:pt x="7877" y="8971"/>
                </a:cubicBezTo>
                <a:cubicBezTo>
                  <a:pt x="7990" y="8971"/>
                  <a:pt x="8103" y="8963"/>
                  <a:pt x="8213" y="8941"/>
                </a:cubicBezTo>
                <a:cubicBezTo>
                  <a:pt x="8643" y="8810"/>
                  <a:pt x="8565" y="8093"/>
                  <a:pt x="8604" y="7741"/>
                </a:cubicBezTo>
                <a:cubicBezTo>
                  <a:pt x="8669" y="6620"/>
                  <a:pt x="8539" y="5499"/>
                  <a:pt x="8487" y="4378"/>
                </a:cubicBezTo>
                <a:cubicBezTo>
                  <a:pt x="8434" y="3453"/>
                  <a:pt x="8330" y="2527"/>
                  <a:pt x="8252" y="1589"/>
                </a:cubicBezTo>
                <a:cubicBezTo>
                  <a:pt x="8200" y="1341"/>
                  <a:pt x="8239" y="637"/>
                  <a:pt x="8096" y="350"/>
                </a:cubicBezTo>
                <a:lnTo>
                  <a:pt x="8082" y="350"/>
                </a:lnTo>
                <a:cubicBezTo>
                  <a:pt x="8056" y="181"/>
                  <a:pt x="7952" y="51"/>
                  <a:pt x="7704" y="11"/>
                </a:cubicBezTo>
                <a:cubicBezTo>
                  <a:pt x="7645" y="4"/>
                  <a:pt x="7587" y="1"/>
                  <a:pt x="7529" y="1"/>
                </a:cubicBezTo>
                <a:close/>
              </a:path>
            </a:pathLst>
          </a:custGeom>
          <a:solidFill>
            <a:schemeClr val="bg1"/>
          </a:solidFill>
          <a:ln w="76200">
            <a:solidFill>
              <a:schemeClr val="tx1"/>
            </a:solidFill>
          </a:ln>
        </p:spPr>
        <p:txBody>
          <a:bodyPr spcFirstLastPara="1" wrap="square" lIns="91425" tIns="91425" rIns="91425" bIns="91425" anchor="ctr" anchorCtr="0">
            <a:noAutofit/>
          </a:bodyPr>
          <a:lstStyle/>
          <a:p>
            <a:pPr marL="0" lvl="0" indent="0" algn="l" rtl="0">
              <a:spcBef>
                <a:spcPts val="0"/>
              </a:spcBef>
              <a:spcAft>
                <a:spcPts val="0"/>
              </a:spcAft>
              <a:buNone/>
            </a:pPr>
            <a:endParaRPr lang="fr-CI" noProof="0">
              <a:solidFill>
                <a:schemeClr val="bg1"/>
              </a:solidFill>
              <a:latin typeface="Helvetica" panose="020B0604020202020204" pitchFamily="34" charset="0"/>
              <a:cs typeface="Helvetica" panose="020B0604020202020204" pitchFamily="34" charset="0"/>
            </a:endParaRPr>
          </a:p>
        </p:txBody>
      </p:sp>
      <p:sp>
        <p:nvSpPr>
          <p:cNvPr id="25" name="Rectangle 24">
            <a:extLst>
              <a:ext uri="{FF2B5EF4-FFF2-40B4-BE49-F238E27FC236}">
                <a16:creationId xmlns:a16="http://schemas.microsoft.com/office/drawing/2014/main" id="{9B9B23AA-050D-4543-80A0-873FE31AFFF7}"/>
              </a:ext>
            </a:extLst>
          </p:cNvPr>
          <p:cNvSpPr/>
          <p:nvPr/>
        </p:nvSpPr>
        <p:spPr>
          <a:xfrm>
            <a:off x="2446471" y="2869098"/>
            <a:ext cx="513606" cy="936923"/>
          </a:xfrm>
          <a:prstGeom prst="rect">
            <a:avLst/>
          </a:prstGeom>
        </p:spPr>
        <p:txBody>
          <a:bodyPr wrap="none" lIns="0" tIns="0" rIns="0" bIns="0">
            <a:spAutoFit/>
          </a:bodyPr>
          <a:lstStyle/>
          <a:p>
            <a:pPr lvl="0">
              <a:lnSpc>
                <a:spcPct val="110000"/>
              </a:lnSpc>
            </a:pPr>
            <a:r>
              <a:rPr lang="fr-CI" sz="4200" b="1" noProof="0">
                <a:solidFill>
                  <a:schemeClr val="bg1"/>
                </a:solidFill>
                <a:latin typeface="Helvetica" panose="020B0604020202020204" pitchFamily="34" charset="0"/>
                <a:ea typeface="Open Sans Semibold" panose="020B0706030804020204" pitchFamily="34" charset="0"/>
                <a:cs typeface="Helvetica" panose="020B0604020202020204" pitchFamily="34" charset="0"/>
              </a:rPr>
              <a:t>14</a:t>
            </a:r>
          </a:p>
        </p:txBody>
      </p:sp>
      <p:sp>
        <p:nvSpPr>
          <p:cNvPr id="10" name="Rectangle 9"/>
          <p:cNvSpPr/>
          <p:nvPr/>
        </p:nvSpPr>
        <p:spPr>
          <a:xfrm>
            <a:off x="3938554" y="2462184"/>
            <a:ext cx="3816000" cy="1200329"/>
          </a:xfrm>
          <a:prstGeom prst="rect">
            <a:avLst/>
          </a:prstGeom>
        </p:spPr>
        <p:txBody>
          <a:bodyPr wrap="square">
            <a:spAutoFit/>
          </a:bodyPr>
          <a:lstStyle/>
          <a:p>
            <a:r>
              <a:rPr lang="fr-CI" sz="3600" b="1" noProof="0">
                <a:solidFill>
                  <a:schemeClr val="bg1"/>
                </a:solidFill>
                <a:latin typeface="Helvetica" panose="020B0604020202020204" pitchFamily="34" charset="0"/>
                <a:cs typeface="Helvetica" panose="020B0604020202020204" pitchFamily="34" charset="0"/>
              </a:rPr>
              <a:t>Analyses en attente</a:t>
            </a:r>
          </a:p>
        </p:txBody>
      </p:sp>
      <p:pic>
        <p:nvPicPr>
          <p:cNvPr id="9" name="Image 8">
            <a:extLst>
              <a:ext uri="{FF2B5EF4-FFF2-40B4-BE49-F238E27FC236}">
                <a16:creationId xmlns:a16="http://schemas.microsoft.com/office/drawing/2014/main" id="{2C356854-0685-DCEF-E2F6-65D5E9653A47}"/>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71274" y="-185107"/>
            <a:ext cx="3179518" cy="1268781"/>
          </a:xfrm>
          <a:prstGeom prst="rect">
            <a:avLst/>
          </a:prstGeom>
        </p:spPr>
      </p:pic>
      <p:sp>
        <p:nvSpPr>
          <p:cNvPr id="6" name="Rectangle 5"/>
          <p:cNvSpPr/>
          <p:nvPr/>
        </p:nvSpPr>
        <p:spPr>
          <a:xfrm>
            <a:off x="3938554" y="3337559"/>
            <a:ext cx="3816000" cy="923330"/>
          </a:xfrm>
          <a:prstGeom prst="rect">
            <a:avLst/>
          </a:prstGeom>
        </p:spPr>
        <p:txBody>
          <a:bodyPr wrap="square">
            <a:spAutoFit/>
          </a:bodyPr>
          <a:lstStyle/>
          <a:p>
            <a:br>
              <a:rPr lang="fr-CI" noProof="0">
                <a:solidFill>
                  <a:schemeClr val="bg1"/>
                </a:solidFill>
              </a:rPr>
            </a:br>
            <a:r>
              <a:rPr lang="fr-CI" noProof="0">
                <a:solidFill>
                  <a:srgbClr val="EFAC62"/>
                </a:solidFill>
                <a:latin typeface="Helvetica" panose="020B0604020202020204" pitchFamily="34" charset="0"/>
                <a:ea typeface="Open Sans Light" panose="020B0306030504020204" pitchFamily="34" charset="0"/>
                <a:cs typeface="Helvetica" panose="020B0604020202020204" pitchFamily="34" charset="0"/>
              </a:rPr>
              <a:t>Documents à obtenir, risques, points à clarifier</a:t>
            </a:r>
          </a:p>
        </p:txBody>
      </p:sp>
      <p:pic>
        <p:nvPicPr>
          <p:cNvPr id="11" name="Image 1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865561" y="2415481"/>
            <a:ext cx="1566911" cy="1600975"/>
          </a:xfrm>
          <a:prstGeom prst="rect">
            <a:avLst/>
          </a:prstGeom>
        </p:spPr>
      </p:pic>
    </p:spTree>
    <p:extLst>
      <p:ext uri="{BB962C8B-B14F-4D97-AF65-F5344CB8AC3E}">
        <p14:creationId xmlns:p14="http://schemas.microsoft.com/office/powerpoint/2010/main" val="235153061"/>
      </p:ext>
    </p:extLst>
  </p:cSld>
  <p:clrMapOvr>
    <a:masterClrMapping/>
  </p:clrMapOvr>
  <p:transition>
    <p:fade/>
  </p:transition>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Analyses en attente</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Les analyses actuarielles centrales dépendent de trois bases non reçues</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Provisions, mortalité, équilibre technique, contrôles santé et onze indicateurs prudentiels seront réalisés dès réception des documents</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PBC pointée au 18/10/2026</a:t>
            </a:r>
          </a:p>
        </p:txBody>
      </p:sp>
      <p:sp>
        <p:nvSpPr>
          <p:cNvPr id="31" name="TextBox 30"/>
          <p:cNvSpPr txBox="1"/>
          <p:nvPr/>
        </p:nvSpPr>
        <p:spPr>
          <a:xfrm>
            <a:off x="503999" y="1386000"/>
            <a:ext cx="11232000" cy="216000"/>
          </a:xfrm>
          <a:prstGeom prst="rect">
            <a:avLst/>
          </a:prstGeom>
          <a:noFill/>
        </p:spPr>
        <p:txBody>
          <a:bodyPr wrap="square" anchor="t" lIns="54000" rIns="54000"/>
          <a:lstStyle/>
          <a:p>
            <a:pPr algn="ctr"/>
            <a:r>
              <a:rPr sz="1200" b="0">
                <a:solidFill>
                  <a:srgbClr val="EFAC62"/>
                </a:solidFill>
                <a:latin typeface="Helvetica"/>
              </a:rPr>
              <a:t>Tableau 28 : Analyses en attente et documents nécessaires</a:t>
            </a:r>
          </a:p>
        </p:txBody>
      </p:sp>
      <p:graphicFrame>
        <p:nvGraphicFramePr>
          <p:cNvPr id="32" name="Table 31"/>
          <p:cNvGraphicFramePr>
            <a:graphicFrameLocks noGrp="1"/>
          </p:cNvGraphicFramePr>
          <p:nvPr/>
        </p:nvGraphicFramePr>
        <p:xfrm>
          <a:off x="503999" y="1655999"/>
          <a:ext cx="11232000" cy="2042491"/>
        </p:xfrm>
        <a:graphic>
          <a:graphicData uri="http://schemas.openxmlformats.org/drawingml/2006/table">
            <a:tbl>
              <a:tblPr firstRow="0" bandRow="0">
                <a:tableStyleId>{5940675A-B579-460E-94D1-54222C63F5DA}</a:tableStyleId>
              </a:tblPr>
              <a:tblGrid>
                <a:gridCol w="2592000"/>
                <a:gridCol w="4176000"/>
                <a:gridCol w="4464000"/>
              </a:tblGrid>
              <a:tr h="210009">
                <a:tc>
                  <a:txBody>
                    <a:bodyPr/>
                    <a:lstStyle/>
                    <a:p>
                      <a:pPr marL="0" indent="0" lvl="0">
                        <a:buNone/>
                      </a:pPr>
                      <a:r>
                        <a:rPr sz="1000" b="1">
                          <a:solidFill>
                            <a:srgbClr val="FFFFFF"/>
                          </a:solidFill>
                          <a:latin typeface="Helvetica"/>
                        </a:rPr>
                        <a:t>Analyse</a:t>
                      </a:r>
                    </a:p>
                  </a:txBody>
                  <a:tcPr marL="43200" marR="43200" marT="14400" marB="14400" anchor="ctr">
                    <a:solidFill>
                      <a:srgbClr val="060606"/>
                    </a:solidFill>
                  </a:tcPr>
                </a:tc>
                <a:tc>
                  <a:txBody>
                    <a:bodyPr/>
                    <a:lstStyle/>
                    <a:p>
                      <a:pPr marL="0" indent="0" lvl="0">
                        <a:buNone/>
                      </a:pPr>
                      <a:r>
                        <a:rPr sz="1000" b="1">
                          <a:solidFill>
                            <a:srgbClr val="FFFFFF"/>
                          </a:solidFill>
                          <a:latin typeface="Helvetica"/>
                        </a:rPr>
                        <a:t>Objet</a:t>
                      </a:r>
                    </a:p>
                  </a:txBody>
                  <a:tcPr marL="43200" marR="43200" marT="14400" marB="14400" anchor="ctr">
                    <a:solidFill>
                      <a:srgbClr val="060606"/>
                    </a:solidFill>
                  </a:tcPr>
                </a:tc>
                <a:tc>
                  <a:txBody>
                    <a:bodyPr/>
                    <a:lstStyle/>
                    <a:p>
                      <a:pPr marL="0" indent="0" lvl="0">
                        <a:buNone/>
                      </a:pPr>
                      <a:r>
                        <a:rPr sz="1000" b="1">
                          <a:solidFill>
                            <a:srgbClr val="FFFFFF"/>
                          </a:solidFill>
                          <a:latin typeface="Helvetica"/>
                        </a:rPr>
                        <a:t>Documents nécessaires (PBC)</a:t>
                      </a:r>
                    </a:p>
                  </a:txBody>
                  <a:tcPr marL="43200" marR="43200" marT="14400" marB="14400" anchor="ctr">
                    <a:solidFill>
                      <a:srgbClr val="060606"/>
                    </a:solidFill>
                  </a:tcPr>
                </a:tc>
              </a:tr>
              <a:tr h="362419">
                <a:tc>
                  <a:txBody>
                    <a:bodyPr/>
                    <a:lstStyle/>
                    <a:p>
                      <a:pPr marL="0" indent="0" lvl="0">
                        <a:buNone/>
                      </a:pPr>
                      <a:r>
                        <a:rPr sz="1000" b="1">
                          <a:solidFill>
                            <a:srgbClr val="060606"/>
                          </a:solidFill>
                          <a:latin typeface="Helvetica"/>
                        </a:rPr>
                        <a:t>Provisions (PSAP, Chain Ladder)</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Montant restant à payer, y compris non déclaré</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Prestations décès et santé, dossiers non payés (13, 14, 28, 29, 40)</a:t>
                      </a:r>
                    </a:p>
                  </a:txBody>
                  <a:tcPr marL="43200" marR="43200" marT="14400" marB="14400" anchor="ctr">
                    <a:solidFill>
                      <a:srgbClr val="FFFFFF"/>
                    </a:solidFill>
                  </a:tcPr>
                </a:tc>
              </a:tr>
              <a:tr h="210009">
                <a:tc>
                  <a:txBody>
                    <a:bodyPr/>
                    <a:lstStyle/>
                    <a:p>
                      <a:pPr marL="0" indent="0" lvl="0">
                        <a:buNone/>
                      </a:pPr>
                      <a:r>
                        <a:rPr sz="1000" b="1">
                          <a:solidFill>
                            <a:srgbClr val="060606"/>
                          </a:solidFill>
                          <a:latin typeface="Helvetica"/>
                        </a:rPr>
                        <a:t>Sinistralité par année de survenance</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Coût réel de chaque année</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Bases des prestations (13, 28, 40)</a:t>
                      </a:r>
                    </a:p>
                  </a:txBody>
                  <a:tcPr marL="43200" marR="43200" marT="14400" marB="14400" anchor="ctr">
                    <a:solidFill>
                      <a:srgbClr val="F2F2F2"/>
                    </a:solidFill>
                  </a:tcPr>
                </a:tc>
              </a:tr>
              <a:tr h="210009">
                <a:tc>
                  <a:txBody>
                    <a:bodyPr/>
                    <a:lstStyle/>
                    <a:p>
                      <a:pPr marL="0" indent="0" lvl="0">
                        <a:buNone/>
                      </a:pPr>
                      <a:r>
                        <a:rPr sz="1000" b="1">
                          <a:solidFill>
                            <a:srgbClr val="060606"/>
                          </a:solidFill>
                          <a:latin typeface="Helvetica"/>
                        </a:rPr>
                        <a:t>Mortalité observée (A/E)</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Comparaison à CIMA H</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Mutualistes avec date de naissance (9), décès (28)</a:t>
                      </a:r>
                    </a:p>
                  </a:txBody>
                  <a:tcPr marL="43200" marR="43200" marT="14400" marB="14400" anchor="ctr">
                    <a:solidFill>
                      <a:srgbClr val="FFFFFF"/>
                    </a:solidFill>
                  </a:tcPr>
                </a:tc>
              </a:tr>
              <a:tr h="210009">
                <a:tc>
                  <a:txBody>
                    <a:bodyPr/>
                    <a:lstStyle/>
                    <a:p>
                      <a:pPr marL="0" indent="0" lvl="0">
                        <a:buNone/>
                      </a:pPr>
                      <a:r>
                        <a:rPr sz="1000" b="1">
                          <a:solidFill>
                            <a:srgbClr val="060606"/>
                          </a:solidFill>
                          <a:latin typeface="Helvetica"/>
                        </a:rPr>
                        <a:t>Délais et dossiers en attente</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Délais de déclaration et de paiement</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Bases des prestations avec dates (28, 40)</a:t>
                      </a:r>
                    </a:p>
                  </a:txBody>
                  <a:tcPr marL="43200" marR="43200" marT="14400" marB="14400" anchor="ctr">
                    <a:solidFill>
                      <a:srgbClr val="F2F2F2"/>
                    </a:solidFill>
                  </a:tcPr>
                </a:tc>
              </a:tr>
              <a:tr h="210009">
                <a:tc>
                  <a:txBody>
                    <a:bodyPr/>
                    <a:lstStyle/>
                    <a:p>
                      <a:pPr marL="0" indent="0" lvl="0">
                        <a:buNone/>
                      </a:pPr>
                      <a:r>
                        <a:rPr sz="1000" b="1">
                          <a:solidFill>
                            <a:srgbClr val="060606"/>
                          </a:solidFill>
                          <a:latin typeface="Helvetica"/>
                        </a:rPr>
                        <a:t>Contrôles santé</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Doublons, bénéficiaires hors fichier, prestations indues</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Factures santé (40), cartes actives (42)</a:t>
                      </a:r>
                    </a:p>
                  </a:txBody>
                  <a:tcPr marL="43200" marR="43200" marT="14400" marB="14400" anchor="ctr">
                    <a:solidFill>
                      <a:srgbClr val="FFFFFF"/>
                    </a:solidFill>
                  </a:tcPr>
                </a:tc>
              </a:tr>
              <a:tr h="210009">
                <a:tc>
                  <a:txBody>
                    <a:bodyPr/>
                    <a:lstStyle/>
                    <a:p>
                      <a:pPr marL="0" indent="0" lvl="0">
                        <a:buNone/>
                      </a:pPr>
                      <a:r>
                        <a:rPr sz="1000" b="1">
                          <a:solidFill>
                            <a:srgbClr val="060606"/>
                          </a:solidFill>
                          <a:latin typeface="Helvetica"/>
                        </a:rPr>
                        <a:t>Engagements d'épargne</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Dette envers chaque épargnant et échéancier</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Comptes individuels et règlements (16, 17)</a:t>
                      </a:r>
                    </a:p>
                  </a:txBody>
                  <a:tcPr marL="43200" marR="43200" marT="14400" marB="14400" anchor="ctr">
                    <a:solidFill>
                      <a:srgbClr val="F2F2F2"/>
                    </a:solidFill>
                  </a:tcPr>
                </a:tc>
              </a:tr>
              <a:tr h="210009">
                <a:tc>
                  <a:txBody>
                    <a:bodyPr/>
                    <a:lstStyle/>
                    <a:p>
                      <a:pPr marL="0" indent="0" lvl="0">
                        <a:buNone/>
                      </a:pPr>
                      <a:r>
                        <a:rPr sz="1000" b="1">
                          <a:solidFill>
                            <a:srgbClr val="060606"/>
                          </a:solidFill>
                          <a:latin typeface="Helvetica"/>
                        </a:rPr>
                        <a:t>Indicateurs prudentiels en attente</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Recouvrement, contrôles, réunions, fonds de garantie</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Fichiers aller 936 et 8Z6, procès-verbaux, registres</a:t>
                      </a:r>
                    </a:p>
                  </a:txBody>
                  <a:tcPr marL="43200" marR="43200" marT="14400" marB="14400" anchor="ctr">
                    <a:solidFill>
                      <a:srgbClr val="FFFFFF"/>
                    </a:solidFill>
                  </a:tcPr>
                </a:tc>
              </a:tr>
              <a:tr h="210009">
                <a:tc>
                  <a:txBody>
                    <a:bodyPr/>
                    <a:lstStyle/>
                    <a:p>
                      <a:pPr marL="0" indent="0" lvl="0">
                        <a:buNone/>
                      </a:pPr>
                      <a:r>
                        <a:rPr sz="1000" b="1">
                          <a:solidFill>
                            <a:srgbClr val="060606"/>
                          </a:solidFill>
                          <a:latin typeface="Helvetica"/>
                        </a:rPr>
                        <a:t>Équilibre technique</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Projection sur 5 à 10 ans</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Âges, barèmes, hypothèses (1, 2, 3, 9)</a:t>
                      </a:r>
                    </a:p>
                  </a:txBody>
                  <a:tcPr marL="43200" marR="43200" marT="14400" marB="14400" anchor="ctr">
                    <a:solidFill>
                      <a:srgbClr val="F2F2F2"/>
                    </a:solidFill>
                  </a:tcPr>
                </a:tc>
              </a:tr>
            </a:tbl>
          </a:graphicData>
        </a:graphic>
      </p:graphicFrame>
      <p:sp>
        <p:nvSpPr>
          <p:cNvPr id="33" name="TextBox 32"/>
          <p:cNvSpPr txBox="1"/>
          <p:nvPr/>
        </p:nvSpPr>
        <p:spPr>
          <a:xfrm>
            <a:off x="503999" y="3806495"/>
            <a:ext cx="11232000" cy="2061504"/>
          </a:xfrm>
          <a:prstGeom prst="rect">
            <a:avLst/>
          </a:prstGeom>
          <a:noFill/>
        </p:spPr>
        <p:txBody>
          <a:bodyPr wrap="square" lIns="54000" rIns="54000"/>
          <a:lstStyle/>
          <a:p>
            <a:pPr algn="just">
              <a:spcAft>
                <a:spcPts val="600"/>
              </a:spcAft>
            </a:pPr>
            <a:r>
              <a:rPr sz="1300" b="1">
                <a:solidFill>
                  <a:srgbClr val="060606"/>
                </a:solidFill>
                <a:latin typeface="Helvetica"/>
              </a:rPr>
              <a:t>Les analyses en attente portent sur le cœur de la mission : les engagements et les provisions.</a:t>
            </a:r>
          </a:p>
        </p:txBody>
      </p:sp>
      <p:sp>
        <p:nvSpPr>
          <p:cNvPr id="34" name="TextBox 33"/>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CIMA : Conférence interafricaine des marchés d'assurances | PSAP : provision pour sinistres à payer | A/E : décès observés / décès attendus | PBC : liste des documents demandés au client | 8Z6 : poste décès</a:t>
            </a:r>
          </a:p>
        </p:txBody>
      </p:sp>
    </p:spTree>
    <p:extLst>
      <p:ext uri="{BB962C8B-B14F-4D97-AF65-F5344CB8AC3E}">
        <p14:creationId xmlns:p14="http://schemas.microsoft.com/office/powerpoint/2010/main" val="1375701269"/>
      </p:ext>
    </p:extLst>
  </p:cSld>
  <p:clrMapOvr>
    <a:masterClrMapping/>
  </p:clrMapOvr>
  <p:transition>
    <p:fade/>
  </p:transition>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Points à clarifier</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Douze points demandent une réponse du FPPN avant la prochaine version</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Chaque point est relié à un constat chiffré du rapport et repris dans les guides d'entretien</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analyses Adenka. Guides d'entretien mis à jour</a:t>
            </a:r>
          </a:p>
        </p:txBody>
      </p:sp>
      <p:sp>
        <p:nvSpPr>
          <p:cNvPr id="31" name="TextBox 30"/>
          <p:cNvSpPr txBox="1"/>
          <p:nvPr/>
        </p:nvSpPr>
        <p:spPr>
          <a:xfrm>
            <a:off x="503999" y="1386000"/>
            <a:ext cx="11232000" cy="216000"/>
          </a:xfrm>
          <a:prstGeom prst="rect">
            <a:avLst/>
          </a:prstGeom>
          <a:noFill/>
        </p:spPr>
        <p:txBody>
          <a:bodyPr wrap="square" anchor="t" lIns="54000" rIns="54000"/>
          <a:lstStyle/>
          <a:p>
            <a:pPr algn="ctr"/>
            <a:r>
              <a:rPr sz="1200" b="0">
                <a:solidFill>
                  <a:srgbClr val="EFAC62"/>
                </a:solidFill>
                <a:latin typeface="Helvetica"/>
              </a:rPr>
              <a:t>Tableau 29 : Points à clarifier avec le FPPN</a:t>
            </a:r>
          </a:p>
        </p:txBody>
      </p:sp>
      <p:graphicFrame>
        <p:nvGraphicFramePr>
          <p:cNvPr id="32" name="Table 31"/>
          <p:cNvGraphicFramePr>
            <a:graphicFrameLocks noGrp="1"/>
          </p:cNvGraphicFramePr>
          <p:nvPr/>
        </p:nvGraphicFramePr>
        <p:xfrm>
          <a:off x="503999" y="1655999"/>
          <a:ext cx="11231999" cy="2531984"/>
        </p:xfrm>
        <a:graphic>
          <a:graphicData uri="http://schemas.openxmlformats.org/drawingml/2006/table">
            <a:tbl>
              <a:tblPr firstRow="0" bandRow="0">
                <a:tableStyleId>{5940675A-B579-460E-94D1-54222C63F5DA}</a:tableStyleId>
              </a:tblPr>
              <a:tblGrid>
                <a:gridCol w="360000"/>
                <a:gridCol w="2808000"/>
                <a:gridCol w="8063999"/>
              </a:tblGrid>
              <a:tr h="194768">
                <a:tc>
                  <a:txBody>
                    <a:bodyPr/>
                    <a:lstStyle/>
                    <a:p>
                      <a:pPr marL="0" indent="0" lvl="0">
                        <a:buNone/>
                      </a:pPr>
                      <a:r>
                        <a:rPr sz="900" b="1">
                          <a:solidFill>
                            <a:srgbClr val="FFFFFF"/>
                          </a:solidFill>
                          <a:latin typeface="Helvetica"/>
                        </a:rPr>
                        <a:t>N°</a:t>
                      </a:r>
                    </a:p>
                  </a:txBody>
                  <a:tcPr marL="43200" marR="43200" marT="14400" marB="14400" anchor="ctr">
                    <a:solidFill>
                      <a:srgbClr val="060606"/>
                    </a:solidFill>
                  </a:tcPr>
                </a:tc>
                <a:tc>
                  <a:txBody>
                    <a:bodyPr/>
                    <a:lstStyle/>
                    <a:p>
                      <a:pPr marL="0" indent="0" lvl="0">
                        <a:buNone/>
                      </a:pPr>
                      <a:r>
                        <a:rPr sz="900" b="1">
                          <a:solidFill>
                            <a:srgbClr val="FFFFFF"/>
                          </a:solidFill>
                          <a:latin typeface="Helvetica"/>
                        </a:rPr>
                        <a:t>Point</a:t>
                      </a:r>
                    </a:p>
                  </a:txBody>
                  <a:tcPr marL="43200" marR="43200" marT="14400" marB="14400" anchor="ctr">
                    <a:solidFill>
                      <a:srgbClr val="060606"/>
                    </a:solidFill>
                  </a:tcPr>
                </a:tc>
                <a:tc>
                  <a:txBody>
                    <a:bodyPr/>
                    <a:lstStyle/>
                    <a:p>
                      <a:pPr marL="0" indent="0" lvl="0">
                        <a:buNone/>
                      </a:pPr>
                      <a:r>
                        <a:rPr sz="900" b="1">
                          <a:solidFill>
                            <a:srgbClr val="FFFFFF"/>
                          </a:solidFill>
                          <a:latin typeface="Helvetica"/>
                        </a:rPr>
                        <a:t>Question au FPPN</a:t>
                      </a:r>
                    </a:p>
                  </a:txBody>
                  <a:tcPr marL="43200" marR="43200" marT="14400" marB="14400" anchor="ctr">
                    <a:solidFill>
                      <a:srgbClr val="060606"/>
                    </a:solidFill>
                  </a:tcPr>
                </a:tc>
              </a:tr>
              <a:tr h="194768">
                <a:tc>
                  <a:txBody>
                    <a:bodyPr/>
                    <a:lstStyle/>
                    <a:p>
                      <a:pPr marL="0" indent="0" lvl="0">
                        <a:buNone/>
                      </a:pPr>
                      <a:r>
                        <a:rPr sz="900" b="1">
                          <a:solidFill>
                            <a:srgbClr val="060606"/>
                          </a:solidFill>
                          <a:latin typeface="Helvetica"/>
                        </a:rPr>
                        <a:t>1</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Répartition du taux de 5 %</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Quel document fixe le barème : 3,5 / 1,5 ou 3,77 / 1,23 ? Pourquoi la comptabilité suit-elle une autre clé ?</a:t>
                      </a:r>
                    </a:p>
                  </a:txBody>
                  <a:tcPr marL="43200" marR="43200" marT="14400" marB="14400" anchor="ctr">
                    <a:solidFill>
                      <a:srgbClr val="FFFFFF"/>
                    </a:solidFill>
                  </a:tcPr>
                </a:tc>
              </a:tr>
              <a:tr h="194768">
                <a:tc>
                  <a:txBody>
                    <a:bodyPr/>
                    <a:lstStyle/>
                    <a:p>
                      <a:pPr marL="0" indent="0" lvl="0">
                        <a:buNone/>
                      </a:pPr>
                      <a:r>
                        <a:rPr sz="900" b="1">
                          <a:solidFill>
                            <a:srgbClr val="060606"/>
                          </a:solidFill>
                          <a:latin typeface="Helvetica"/>
                        </a:rPr>
                        <a:t>2</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Provisions figées</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Comment les provisions ont-elles été calculées, et pourquoi n'ont-elles pas changé depuis 2020 ?</a:t>
                      </a:r>
                    </a:p>
                  </a:txBody>
                  <a:tcPr marL="43200" marR="43200" marT="14400" marB="14400" anchor="ctr">
                    <a:solidFill>
                      <a:srgbClr val="F2F2F2"/>
                    </a:solidFill>
                  </a:tcPr>
                </a:tc>
              </a:tr>
              <a:tr h="194768">
                <a:tc>
                  <a:txBody>
                    <a:bodyPr/>
                    <a:lstStyle/>
                    <a:p>
                      <a:pPr marL="0" indent="0" lvl="0">
                        <a:buNone/>
                      </a:pPr>
                      <a:r>
                        <a:rPr sz="900" b="1">
                          <a:solidFill>
                            <a:srgbClr val="060606"/>
                          </a:solidFill>
                          <a:latin typeface="Helvetica"/>
                        </a:rPr>
                        <a:t>3</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Couverture de l'épargne</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Quelles sont les conditions de retrait et les échéances du PEP et de l'EFC ?</a:t>
                      </a:r>
                    </a:p>
                  </a:txBody>
                  <a:tcPr marL="43200" marR="43200" marT="14400" marB="14400" anchor="ctr">
                    <a:solidFill>
                      <a:srgbClr val="FFFFFF"/>
                    </a:solidFill>
                  </a:tcPr>
                </a:tc>
              </a:tr>
              <a:tr h="194768">
                <a:tc>
                  <a:txBody>
                    <a:bodyPr/>
                    <a:lstStyle/>
                    <a:p>
                      <a:pPr marL="0" indent="0" lvl="0">
                        <a:buNone/>
                      </a:pPr>
                      <a:r>
                        <a:rPr sz="900" b="1">
                          <a:solidFill>
                            <a:srgbClr val="060606"/>
                          </a:solidFill>
                          <a:latin typeface="Helvetica"/>
                        </a:rPr>
                        <a:t>4</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Créance sur l'Hôpital de la Police</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Quelle est sa nature, et un remboursement est-il prévu ?</a:t>
                      </a:r>
                    </a:p>
                  </a:txBody>
                  <a:tcPr marL="43200" marR="43200" marT="14400" marB="14400" anchor="ctr">
                    <a:solidFill>
                      <a:srgbClr val="F2F2F2"/>
                    </a:solidFill>
                  </a:tcPr>
                </a:tc>
              </a:tr>
              <a:tr h="194768">
                <a:tc>
                  <a:txBody>
                    <a:bodyPr/>
                    <a:lstStyle/>
                    <a:p>
                      <a:pPr marL="0" indent="0" lvl="0">
                        <a:buNone/>
                      </a:pPr>
                      <a:r>
                        <a:rPr sz="900" b="1">
                          <a:solidFill>
                            <a:srgbClr val="060606"/>
                          </a:solidFill>
                          <a:latin typeface="Helvetica"/>
                        </a:rPr>
                        <a:t>5</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Retards du Grenier début 2026</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Pourquoi la plus grande part de l'encours était-elle en retard fin janvier 2026 ?</a:t>
                      </a:r>
                    </a:p>
                  </a:txBody>
                  <a:tcPr marL="43200" marR="43200" marT="14400" marB="14400" anchor="ctr">
                    <a:solidFill>
                      <a:srgbClr val="FFFFFF"/>
                    </a:solidFill>
                  </a:tcPr>
                </a:tc>
              </a:tr>
              <a:tr h="194768">
                <a:tc>
                  <a:txBody>
                    <a:bodyPr/>
                    <a:lstStyle/>
                    <a:p>
                      <a:pPr marL="0" indent="0" lvl="0">
                        <a:buNone/>
                      </a:pPr>
                      <a:r>
                        <a:rPr sz="900" b="1">
                          <a:solidFill>
                            <a:srgbClr val="060606"/>
                          </a:solidFill>
                          <a:latin typeface="Helvetica"/>
                        </a:rPr>
                        <a:t>6</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Écart échéances / précomptes</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Comment les échéances non précomptées sont-elles réglées ?</a:t>
                      </a:r>
                    </a:p>
                  </a:txBody>
                  <a:tcPr marL="43200" marR="43200" marT="14400" marB="14400" anchor="ctr">
                    <a:solidFill>
                      <a:srgbClr val="F2F2F2"/>
                    </a:solidFill>
                  </a:tcPr>
                </a:tc>
              </a:tr>
              <a:tr h="194768">
                <a:tc>
                  <a:txBody>
                    <a:bodyPr/>
                    <a:lstStyle/>
                    <a:p>
                      <a:pPr marL="0" indent="0" lvl="0">
                        <a:buNone/>
                      </a:pPr>
                      <a:r>
                        <a:rPr sz="900" b="1">
                          <a:solidFill>
                            <a:srgbClr val="060606"/>
                          </a:solidFill>
                          <a:latin typeface="Helvetica"/>
                        </a:rPr>
                        <a:t>7</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Sinistralité 2020 à 2022</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Des factures de ces années ont-elles été comptabilisées plus tard ?</a:t>
                      </a:r>
                    </a:p>
                  </a:txBody>
                  <a:tcPr marL="43200" marR="43200" marT="14400" marB="14400" anchor="ctr">
                    <a:solidFill>
                      <a:srgbClr val="FFFFFF"/>
                    </a:solidFill>
                  </a:tcPr>
                </a:tc>
              </a:tr>
              <a:tr h="194768">
                <a:tc>
                  <a:txBody>
                    <a:bodyPr/>
                    <a:lstStyle/>
                    <a:p>
                      <a:pPr marL="0" indent="0" lvl="0">
                        <a:buNone/>
                      </a:pPr>
                      <a:r>
                        <a:rPr sz="900" b="1">
                          <a:solidFill>
                            <a:srgbClr val="060606"/>
                          </a:solidFill>
                          <a:latin typeface="Helvetica"/>
                        </a:rPr>
                        <a:t>8</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Agrément AIRMS</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Quels sont le numéro, la date et les risques autorisés de l'agrément du FPPN ?</a:t>
                      </a:r>
                    </a:p>
                  </a:txBody>
                  <a:tcPr marL="43200" marR="43200" marT="14400" marB="14400" anchor="ctr">
                    <a:solidFill>
                      <a:srgbClr val="F2F2F2"/>
                    </a:solidFill>
                  </a:tcPr>
                </a:tc>
              </a:tr>
              <a:tr h="194768">
                <a:tc>
                  <a:txBody>
                    <a:bodyPr/>
                    <a:lstStyle/>
                    <a:p>
                      <a:pPr marL="0" indent="0" lvl="0">
                        <a:buNone/>
                      </a:pPr>
                      <a:r>
                        <a:rPr sz="900" b="1">
                          <a:solidFill>
                            <a:srgbClr val="060606"/>
                          </a:solidFill>
                          <a:latin typeface="Helvetica"/>
                        </a:rPr>
                        <a:t>9</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Sigle CMP et réserve disponible</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Que signifie le sigle CMP, et quelle est l'origine du compte 10620000 « Réserve disponible » ?</a:t>
                      </a:r>
                    </a:p>
                  </a:txBody>
                  <a:tcPr marL="43200" marR="43200" marT="14400" marB="14400" anchor="ctr">
                    <a:solidFill>
                      <a:srgbClr val="FFFFFF"/>
                    </a:solidFill>
                  </a:tcPr>
                </a:tc>
              </a:tr>
              <a:tr h="194768">
                <a:tc>
                  <a:txBody>
                    <a:bodyPr/>
                    <a:lstStyle/>
                    <a:p>
                      <a:pPr marL="0" indent="0" lvl="0">
                        <a:buNone/>
                      </a:pPr>
                      <a:r>
                        <a:rPr sz="900" b="1">
                          <a:solidFill>
                            <a:srgbClr val="060606"/>
                          </a:solidFill>
                          <a:latin typeface="Helvetica"/>
                        </a:rPr>
                        <a:t>10</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Fonds national de garantie</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Le FPPN adhère-t-il au FOMUS-CI, et à quel montant de cotisation ?</a:t>
                      </a:r>
                    </a:p>
                  </a:txBody>
                  <a:tcPr marL="43200" marR="43200" marT="14400" marB="14400" anchor="ctr">
                    <a:solidFill>
                      <a:srgbClr val="F2F2F2"/>
                    </a:solidFill>
                  </a:tcPr>
                </a:tc>
              </a:tr>
              <a:tr h="194768">
                <a:tc>
                  <a:txBody>
                    <a:bodyPr/>
                    <a:lstStyle/>
                    <a:p>
                      <a:pPr marL="0" indent="0" lvl="0">
                        <a:buNone/>
                      </a:pPr>
                      <a:r>
                        <a:rPr sz="900" b="1">
                          <a:solidFill>
                            <a:srgbClr val="060606"/>
                          </a:solidFill>
                          <a:latin typeface="Helvetica"/>
                        </a:rPr>
                        <a:t>11</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Risques longs</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Une étude actuarielle et une certification des comptes ont-elles été réalisées ?</a:t>
                      </a:r>
                    </a:p>
                  </a:txBody>
                  <a:tcPr marL="43200" marR="43200" marT="14400" marB="14400" anchor="ctr">
                    <a:solidFill>
                      <a:srgbClr val="FFFFFF"/>
                    </a:solidFill>
                  </a:tcPr>
                </a:tc>
              </a:tr>
              <a:tr h="194768">
                <a:tc>
                  <a:txBody>
                    <a:bodyPr/>
                    <a:lstStyle/>
                    <a:p>
                      <a:pPr marL="0" indent="0" lvl="0">
                        <a:buNone/>
                      </a:pPr>
                      <a:r>
                        <a:rPr sz="900" b="1">
                          <a:solidFill>
                            <a:srgbClr val="060606"/>
                          </a:solidFill>
                          <a:latin typeface="Helvetica"/>
                        </a:rPr>
                        <a:t>12</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Données manquantes</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Quand le FPPN transmettra-t-il les précomptes de 2020 à 2023, les fichiers de décembre 2024 et les grands livres endommagés ?</a:t>
                      </a:r>
                    </a:p>
                  </a:txBody>
                  <a:tcPr marL="43200" marR="43200" marT="14400" marB="14400" anchor="ctr">
                    <a:solidFill>
                      <a:srgbClr val="F2F2F2"/>
                    </a:solidFill>
                  </a:tcPr>
                </a:tc>
              </a:tr>
            </a:tbl>
          </a:graphicData>
        </a:graphic>
      </p:graphicFrame>
      <p:sp>
        <p:nvSpPr>
          <p:cNvPr id="33" name="TextBox 32"/>
          <p:cNvSpPr txBox="1"/>
          <p:nvPr/>
        </p:nvSpPr>
        <p:spPr>
          <a:xfrm>
            <a:off x="503999" y="4295992"/>
            <a:ext cx="11232000" cy="1572007"/>
          </a:xfrm>
          <a:prstGeom prst="rect">
            <a:avLst/>
          </a:prstGeom>
          <a:noFill/>
        </p:spPr>
        <p:txBody>
          <a:bodyPr wrap="square" lIns="54000" rIns="54000"/>
          <a:lstStyle/>
          <a:p>
            <a:pPr algn="just">
              <a:spcAft>
                <a:spcPts val="600"/>
              </a:spcAft>
            </a:pPr>
            <a:r>
              <a:rPr sz="1300" b="1">
                <a:solidFill>
                  <a:srgbClr val="060606"/>
                </a:solidFill>
                <a:latin typeface="Helvetica"/>
              </a:rPr>
              <a:t>Les points 8 à 11 sont nouveaux : ils découlent de la lecture des textes de l'AIRMS.</a:t>
            </a:r>
          </a:p>
        </p:txBody>
      </p:sp>
      <p:sp>
        <p:nvSpPr>
          <p:cNvPr id="34" name="TextBox 33"/>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AIRMS : Agence ivoirienne de régulation de la mutualité sociale | PEP : Plan Épargne Plus | EFC : entraide fin de carrière | CMP : sigle des comptes du FPPN, signification à confirmer | FOMUS-CI : fonds de garantie des mutuelles sociales de Côte d'Ivoire</a:t>
            </a:r>
          </a:p>
        </p:txBody>
      </p:sp>
    </p:spTree>
    <p:extLst>
      <p:ext uri="{BB962C8B-B14F-4D97-AF65-F5344CB8AC3E}">
        <p14:creationId xmlns:p14="http://schemas.microsoft.com/office/powerpoint/2010/main" val="3632751465"/>
      </p:ext>
    </p:extLst>
  </p:cSld>
  <p:clrMapOvr>
    <a:masterClrMapping/>
  </p:clrMapOvr>
  <p:transition>
    <p:fade/>
  </p:transition>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Google Shape;8651;p70"/>
          <p:cNvSpPr/>
          <p:nvPr/>
        </p:nvSpPr>
        <p:spPr>
          <a:xfrm>
            <a:off x="2013108" y="2588204"/>
            <a:ext cx="1380332" cy="1428252"/>
          </a:xfrm>
          <a:custGeom>
            <a:avLst/>
            <a:gdLst/>
            <a:ahLst/>
            <a:cxnLst/>
            <a:rect l="l" t="t" r="r" b="b"/>
            <a:pathLst>
              <a:path w="8670" h="8971" extrusionOk="0">
                <a:moveTo>
                  <a:pt x="7105" y="1302"/>
                </a:moveTo>
                <a:cubicBezTo>
                  <a:pt x="7105" y="1315"/>
                  <a:pt x="7105" y="1328"/>
                  <a:pt x="7105" y="1341"/>
                </a:cubicBezTo>
                <a:cubicBezTo>
                  <a:pt x="7118" y="1980"/>
                  <a:pt x="7183" y="2619"/>
                  <a:pt x="7183" y="3283"/>
                </a:cubicBezTo>
                <a:cubicBezTo>
                  <a:pt x="7170" y="4404"/>
                  <a:pt x="7183" y="5525"/>
                  <a:pt x="7222" y="6646"/>
                </a:cubicBezTo>
                <a:cubicBezTo>
                  <a:pt x="7235" y="6959"/>
                  <a:pt x="7222" y="7259"/>
                  <a:pt x="7222" y="7559"/>
                </a:cubicBezTo>
                <a:lnTo>
                  <a:pt x="7222" y="7585"/>
                </a:lnTo>
                <a:cubicBezTo>
                  <a:pt x="6935" y="7598"/>
                  <a:pt x="6649" y="7611"/>
                  <a:pt x="6362" y="7611"/>
                </a:cubicBezTo>
                <a:cubicBezTo>
                  <a:pt x="6101" y="7598"/>
                  <a:pt x="5853" y="7585"/>
                  <a:pt x="5593" y="7585"/>
                </a:cubicBezTo>
                <a:cubicBezTo>
                  <a:pt x="4159" y="7559"/>
                  <a:pt x="2712" y="7559"/>
                  <a:pt x="1291" y="7442"/>
                </a:cubicBezTo>
                <a:cubicBezTo>
                  <a:pt x="1278" y="7207"/>
                  <a:pt x="1239" y="6959"/>
                  <a:pt x="1226" y="6725"/>
                </a:cubicBezTo>
                <a:cubicBezTo>
                  <a:pt x="1200" y="6255"/>
                  <a:pt x="1187" y="5799"/>
                  <a:pt x="1200" y="5330"/>
                </a:cubicBezTo>
                <a:cubicBezTo>
                  <a:pt x="1213" y="4222"/>
                  <a:pt x="1226" y="3101"/>
                  <a:pt x="1343" y="1993"/>
                </a:cubicBezTo>
                <a:lnTo>
                  <a:pt x="1552" y="1993"/>
                </a:lnTo>
                <a:cubicBezTo>
                  <a:pt x="2138" y="1980"/>
                  <a:pt x="2725" y="1889"/>
                  <a:pt x="3312" y="1810"/>
                </a:cubicBezTo>
                <a:cubicBezTo>
                  <a:pt x="4576" y="1641"/>
                  <a:pt x="5840" y="1524"/>
                  <a:pt x="7105" y="1302"/>
                </a:cubicBezTo>
                <a:close/>
                <a:moveTo>
                  <a:pt x="7529" y="1"/>
                </a:moveTo>
                <a:cubicBezTo>
                  <a:pt x="7291" y="1"/>
                  <a:pt x="7059" y="53"/>
                  <a:pt x="6818" y="64"/>
                </a:cubicBezTo>
                <a:cubicBezTo>
                  <a:pt x="6375" y="103"/>
                  <a:pt x="5932" y="142"/>
                  <a:pt x="5488" y="194"/>
                </a:cubicBezTo>
                <a:cubicBezTo>
                  <a:pt x="4824" y="259"/>
                  <a:pt x="4107" y="350"/>
                  <a:pt x="3429" y="389"/>
                </a:cubicBezTo>
                <a:cubicBezTo>
                  <a:pt x="2686" y="429"/>
                  <a:pt x="1943" y="481"/>
                  <a:pt x="1213" y="598"/>
                </a:cubicBezTo>
                <a:cubicBezTo>
                  <a:pt x="913" y="624"/>
                  <a:pt x="652" y="728"/>
                  <a:pt x="509" y="976"/>
                </a:cubicBezTo>
                <a:cubicBezTo>
                  <a:pt x="470" y="1028"/>
                  <a:pt x="444" y="1080"/>
                  <a:pt x="431" y="1146"/>
                </a:cubicBezTo>
                <a:cubicBezTo>
                  <a:pt x="300" y="1524"/>
                  <a:pt x="287" y="1928"/>
                  <a:pt x="300" y="2332"/>
                </a:cubicBezTo>
                <a:cubicBezTo>
                  <a:pt x="209" y="3010"/>
                  <a:pt x="209" y="3700"/>
                  <a:pt x="209" y="4378"/>
                </a:cubicBezTo>
                <a:cubicBezTo>
                  <a:pt x="170" y="4769"/>
                  <a:pt x="144" y="5173"/>
                  <a:pt x="131" y="5565"/>
                </a:cubicBezTo>
                <a:cubicBezTo>
                  <a:pt x="105" y="6203"/>
                  <a:pt x="14" y="6842"/>
                  <a:pt x="14" y="7481"/>
                </a:cubicBezTo>
                <a:cubicBezTo>
                  <a:pt x="1" y="7911"/>
                  <a:pt x="157" y="8315"/>
                  <a:pt x="613" y="8419"/>
                </a:cubicBezTo>
                <a:cubicBezTo>
                  <a:pt x="1056" y="8550"/>
                  <a:pt x="1526" y="8524"/>
                  <a:pt x="1982" y="8550"/>
                </a:cubicBezTo>
                <a:cubicBezTo>
                  <a:pt x="2243" y="8563"/>
                  <a:pt x="2503" y="8589"/>
                  <a:pt x="2764" y="8615"/>
                </a:cubicBezTo>
                <a:cubicBezTo>
                  <a:pt x="3885" y="8745"/>
                  <a:pt x="5006" y="8902"/>
                  <a:pt x="6140" y="8941"/>
                </a:cubicBezTo>
                <a:cubicBezTo>
                  <a:pt x="6220" y="8945"/>
                  <a:pt x="6302" y="8946"/>
                  <a:pt x="6383" y="8946"/>
                </a:cubicBezTo>
                <a:cubicBezTo>
                  <a:pt x="6581" y="8946"/>
                  <a:pt x="6781" y="8937"/>
                  <a:pt x="6974" y="8928"/>
                </a:cubicBezTo>
                <a:cubicBezTo>
                  <a:pt x="7118" y="8941"/>
                  <a:pt x="7274" y="8941"/>
                  <a:pt x="7418" y="8941"/>
                </a:cubicBezTo>
                <a:cubicBezTo>
                  <a:pt x="7568" y="8956"/>
                  <a:pt x="7723" y="8971"/>
                  <a:pt x="7877" y="8971"/>
                </a:cubicBezTo>
                <a:cubicBezTo>
                  <a:pt x="7990" y="8971"/>
                  <a:pt x="8103" y="8963"/>
                  <a:pt x="8213" y="8941"/>
                </a:cubicBezTo>
                <a:cubicBezTo>
                  <a:pt x="8643" y="8810"/>
                  <a:pt x="8565" y="8093"/>
                  <a:pt x="8604" y="7741"/>
                </a:cubicBezTo>
                <a:cubicBezTo>
                  <a:pt x="8669" y="6620"/>
                  <a:pt x="8539" y="5499"/>
                  <a:pt x="8487" y="4378"/>
                </a:cubicBezTo>
                <a:cubicBezTo>
                  <a:pt x="8434" y="3453"/>
                  <a:pt x="8330" y="2527"/>
                  <a:pt x="8252" y="1589"/>
                </a:cubicBezTo>
                <a:cubicBezTo>
                  <a:pt x="8200" y="1341"/>
                  <a:pt x="8239" y="637"/>
                  <a:pt x="8096" y="350"/>
                </a:cubicBezTo>
                <a:lnTo>
                  <a:pt x="8082" y="350"/>
                </a:lnTo>
                <a:cubicBezTo>
                  <a:pt x="8056" y="181"/>
                  <a:pt x="7952" y="51"/>
                  <a:pt x="7704" y="11"/>
                </a:cubicBezTo>
                <a:cubicBezTo>
                  <a:pt x="7645" y="4"/>
                  <a:pt x="7587" y="1"/>
                  <a:pt x="7529" y="1"/>
                </a:cubicBezTo>
                <a:close/>
              </a:path>
            </a:pathLst>
          </a:custGeom>
          <a:solidFill>
            <a:schemeClr val="bg1"/>
          </a:solidFill>
          <a:ln w="76200">
            <a:solidFill>
              <a:schemeClr val="tx1"/>
            </a:solidFill>
          </a:ln>
        </p:spPr>
        <p:txBody>
          <a:bodyPr spcFirstLastPara="1" wrap="square" lIns="91425" tIns="91425" rIns="91425" bIns="91425" anchor="ctr" anchorCtr="0">
            <a:noAutofit/>
          </a:bodyPr>
          <a:lstStyle/>
          <a:p>
            <a:pPr marL="0" lvl="0" indent="0" algn="l" rtl="0">
              <a:spcBef>
                <a:spcPts val="0"/>
              </a:spcBef>
              <a:spcAft>
                <a:spcPts val="0"/>
              </a:spcAft>
              <a:buNone/>
            </a:pPr>
            <a:endParaRPr lang="fr-CI" noProof="0">
              <a:solidFill>
                <a:schemeClr val="bg1"/>
              </a:solidFill>
              <a:latin typeface="Helvetica" panose="020B0604020202020204" pitchFamily="34" charset="0"/>
              <a:cs typeface="Helvetica" panose="020B0604020202020204" pitchFamily="34" charset="0"/>
            </a:endParaRPr>
          </a:p>
        </p:txBody>
      </p:sp>
      <p:sp>
        <p:nvSpPr>
          <p:cNvPr id="25" name="Rectangle 24">
            <a:extLst>
              <a:ext uri="{FF2B5EF4-FFF2-40B4-BE49-F238E27FC236}">
                <a16:creationId xmlns:a16="http://schemas.microsoft.com/office/drawing/2014/main" id="{9B9B23AA-050D-4543-80A0-873FE31AFFF7}"/>
              </a:ext>
            </a:extLst>
          </p:cNvPr>
          <p:cNvSpPr/>
          <p:nvPr/>
        </p:nvSpPr>
        <p:spPr>
          <a:xfrm>
            <a:off x="2446471" y="2869098"/>
            <a:ext cx="513606" cy="936923"/>
          </a:xfrm>
          <a:prstGeom prst="rect">
            <a:avLst/>
          </a:prstGeom>
        </p:spPr>
        <p:txBody>
          <a:bodyPr wrap="square" lIns="0" tIns="0" rIns="0" bIns="0">
            <a:spAutoFit/>
          </a:bodyPr>
          <a:lstStyle/>
          <a:p>
            <a:pPr lvl="0">
              <a:lnSpc>
                <a:spcPct val="110000"/>
              </a:lnSpc>
            </a:pPr>
            <a:r>
              <a:rPr lang="fr-CI" sz="6000" b="1" noProof="0">
                <a:solidFill>
                  <a:schemeClr val="bg1"/>
                </a:solidFill>
                <a:latin typeface="Helvetica" panose="020B0604020202020204" pitchFamily="34" charset="0"/>
                <a:ea typeface="Open Sans Semibold" panose="020B0706030804020204" pitchFamily="34" charset="0"/>
                <a:cs typeface="Helvetica" panose="020B0604020202020204" pitchFamily="34" charset="0"/>
              </a:rPr>
              <a:t>A</a:t>
            </a:r>
          </a:p>
        </p:txBody>
      </p:sp>
      <p:sp>
        <p:nvSpPr>
          <p:cNvPr id="10" name="Rectangle 9"/>
          <p:cNvSpPr/>
          <p:nvPr/>
        </p:nvSpPr>
        <p:spPr>
          <a:xfrm>
            <a:off x="3938554" y="2462184"/>
            <a:ext cx="3816000" cy="1200329"/>
          </a:xfrm>
          <a:prstGeom prst="rect">
            <a:avLst/>
          </a:prstGeom>
        </p:spPr>
        <p:txBody>
          <a:bodyPr wrap="square">
            <a:spAutoFit/>
          </a:bodyPr>
          <a:lstStyle/>
          <a:p>
            <a:r>
              <a:rPr lang="fr-CI" sz="3600" b="1" noProof="0">
                <a:solidFill>
                  <a:schemeClr val="bg1"/>
                </a:solidFill>
                <a:latin typeface="Helvetica" panose="020B0604020202020204" pitchFamily="34" charset="0"/>
                <a:cs typeface="Helvetica" panose="020B0604020202020204" pitchFamily="34" charset="0"/>
              </a:rPr>
              <a:t>Annexes</a:t>
            </a:r>
          </a:p>
        </p:txBody>
      </p:sp>
      <p:pic>
        <p:nvPicPr>
          <p:cNvPr id="9" name="Image 8">
            <a:extLst>
              <a:ext uri="{FF2B5EF4-FFF2-40B4-BE49-F238E27FC236}">
                <a16:creationId xmlns:a16="http://schemas.microsoft.com/office/drawing/2014/main" id="{2C356854-0685-DCEF-E2F6-65D5E9653A47}"/>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71274" y="-185107"/>
            <a:ext cx="3179518" cy="1268781"/>
          </a:xfrm>
          <a:prstGeom prst="rect">
            <a:avLst/>
          </a:prstGeom>
        </p:spPr>
      </p:pic>
      <p:sp>
        <p:nvSpPr>
          <p:cNvPr id="6" name="Rectangle 5"/>
          <p:cNvSpPr/>
          <p:nvPr/>
        </p:nvSpPr>
        <p:spPr>
          <a:xfrm>
            <a:off x="3938554" y="3337559"/>
            <a:ext cx="3816000" cy="923330"/>
          </a:xfrm>
          <a:prstGeom prst="rect">
            <a:avLst/>
          </a:prstGeom>
        </p:spPr>
        <p:txBody>
          <a:bodyPr wrap="square">
            <a:spAutoFit/>
          </a:bodyPr>
          <a:lstStyle/>
          <a:p>
            <a:br>
              <a:rPr lang="fr-CI" noProof="0">
                <a:solidFill>
                  <a:schemeClr val="bg1"/>
                </a:solidFill>
              </a:rPr>
            </a:br>
            <a:r>
              <a:rPr lang="fr-CI" noProof="0">
                <a:solidFill>
                  <a:srgbClr val="EFAC62"/>
                </a:solidFill>
                <a:latin typeface="Helvetica" panose="020B0604020202020204" pitchFamily="34" charset="0"/>
                <a:ea typeface="Open Sans Light" panose="020B0306030504020204" pitchFamily="34" charset="0"/>
                <a:cs typeface="Helvetica" panose="020B0604020202020204" pitchFamily="34" charset="0"/>
              </a:rPr>
              <a:t>Méthodes, listes, abréviations, références</a:t>
            </a:r>
          </a:p>
        </p:txBody>
      </p:sp>
      <p:pic>
        <p:nvPicPr>
          <p:cNvPr id="11" name="Image 1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865561" y="2415481"/>
            <a:ext cx="1566911" cy="1600975"/>
          </a:xfrm>
          <a:prstGeom prst="rect">
            <a:avLst/>
          </a:prstGeom>
        </p:spPr>
      </p:pic>
    </p:spTree>
    <p:extLst>
      <p:ext uri="{BB962C8B-B14F-4D97-AF65-F5344CB8AC3E}">
        <p14:creationId xmlns:p14="http://schemas.microsoft.com/office/powerpoint/2010/main" val="3616017030"/>
      </p:ext>
    </p:extLst>
  </p:cSld>
  <p:clrMapOvr>
    <a:masterClrMapping/>
  </p:clrMapOvr>
  <p:transition>
    <p:fade/>
  </p:transition>
</p:sld>
</file>

<file path=ppt/slides/slide1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TextBox 26"/>
          <p:cNvSpPr txBox="1"/>
          <p:nvPr/>
        </p:nvSpPr>
        <p:spPr>
          <a:xfrm>
            <a:off x="547200" y="144000"/>
            <a:ext cx="11246400" cy="396000"/>
          </a:xfrm>
          <a:prstGeom prst="rect">
            <a:avLst/>
          </a:prstGeom>
          <a:noFill/>
        </p:spPr>
        <p:txBody>
          <a:bodyPr wrap="square" anchor="t" lIns="54000" rIns="54000"/>
          <a:lstStyle/>
          <a:p>
            <a:pPr algn="l"/>
            <a:r>
              <a:rPr sz="2000" b="1">
                <a:solidFill>
                  <a:srgbClr val="060606"/>
                </a:solidFill>
                <a:latin typeface="Helvetica"/>
              </a:rPr>
              <a:t>Méthodes et formules</a:t>
            </a:r>
          </a:p>
        </p:txBody>
      </p:sp>
      <p:sp>
        <p:nvSpPr>
          <p:cNvPr id="28" name="TextBox 27"/>
          <p:cNvSpPr txBox="1"/>
          <p:nvPr/>
        </p:nvSpPr>
        <p:spPr>
          <a:xfrm>
            <a:off x="503999" y="720000"/>
            <a:ext cx="11232000" cy="216000"/>
          </a:xfrm>
          <a:prstGeom prst="rect">
            <a:avLst/>
          </a:prstGeom>
          <a:noFill/>
        </p:spPr>
        <p:txBody>
          <a:bodyPr wrap="square" anchor="t" lIns="54000" rIns="54000"/>
          <a:lstStyle/>
          <a:p>
            <a:pPr algn="ctr"/>
            <a:r>
              <a:rPr sz="1200" b="0">
                <a:solidFill>
                  <a:srgbClr val="EFAC62"/>
                </a:solidFill>
                <a:latin typeface="Helvetica"/>
              </a:rPr>
              <a:t>Tableau 30 : Indicateurs, formules et sources</a:t>
            </a:r>
          </a:p>
        </p:txBody>
      </p:sp>
      <p:graphicFrame>
        <p:nvGraphicFramePr>
          <p:cNvPr id="29" name="Table 28"/>
          <p:cNvGraphicFramePr>
            <a:graphicFrameLocks noGrp="1"/>
          </p:cNvGraphicFramePr>
          <p:nvPr/>
        </p:nvGraphicFramePr>
        <p:xfrm>
          <a:off x="503999" y="990000"/>
          <a:ext cx="11232000" cy="2880000"/>
        </p:xfrm>
        <a:graphic>
          <a:graphicData uri="http://schemas.openxmlformats.org/drawingml/2006/table">
            <a:tbl>
              <a:tblPr firstRow="0" bandRow="0">
                <a:tableStyleId>{5940675A-B579-460E-94D1-54222C63F5DA}</a:tableStyleId>
              </a:tblPr>
              <a:tblGrid>
                <a:gridCol w="2160000"/>
                <a:gridCol w="5256000"/>
                <a:gridCol w="3816000"/>
              </a:tblGrid>
              <a:tr h="180000">
                <a:tc>
                  <a:txBody>
                    <a:bodyPr/>
                    <a:lstStyle/>
                    <a:p>
                      <a:pPr marL="0" indent="0" lvl="0">
                        <a:buNone/>
                      </a:pPr>
                      <a:r>
                        <a:rPr sz="800" b="1">
                          <a:solidFill>
                            <a:srgbClr val="FFFFFF"/>
                          </a:solidFill>
                          <a:latin typeface="Helvetica"/>
                        </a:rPr>
                        <a:t>Indicateur</a:t>
                      </a:r>
                    </a:p>
                  </a:txBody>
                  <a:tcPr marL="43200" marR="43200" marT="14400" marB="14400" anchor="ctr">
                    <a:solidFill>
                      <a:srgbClr val="060606"/>
                    </a:solidFill>
                  </a:tcPr>
                </a:tc>
                <a:tc>
                  <a:txBody>
                    <a:bodyPr/>
                    <a:lstStyle/>
                    <a:p>
                      <a:pPr marL="0" indent="0" lvl="0">
                        <a:buNone/>
                      </a:pPr>
                      <a:r>
                        <a:rPr sz="800" b="1">
                          <a:solidFill>
                            <a:srgbClr val="FFFFFF"/>
                          </a:solidFill>
                          <a:latin typeface="Helvetica"/>
                        </a:rPr>
                        <a:t>Formule</a:t>
                      </a:r>
                    </a:p>
                  </a:txBody>
                  <a:tcPr marL="43200" marR="43200" marT="14400" marB="14400" anchor="ctr">
                    <a:solidFill>
                      <a:srgbClr val="060606"/>
                    </a:solidFill>
                  </a:tcPr>
                </a:tc>
                <a:tc>
                  <a:txBody>
                    <a:bodyPr/>
                    <a:lstStyle/>
                    <a:p>
                      <a:pPr marL="0" indent="0" lvl="0">
                        <a:buNone/>
                      </a:pPr>
                      <a:r>
                        <a:rPr sz="800" b="1">
                          <a:solidFill>
                            <a:srgbClr val="FFFFFF"/>
                          </a:solidFill>
                          <a:latin typeface="Helvetica"/>
                        </a:rPr>
                        <a:t>Source des données</a:t>
                      </a:r>
                    </a:p>
                  </a:txBody>
                  <a:tcPr marL="43200" marR="43200" marT="14400" marB="14400" anchor="ctr">
                    <a:solidFill>
                      <a:srgbClr val="060606"/>
                    </a:solidFill>
                  </a:tcPr>
                </a:tc>
              </a:tr>
              <a:tr h="180000">
                <a:tc>
                  <a:txBody>
                    <a:bodyPr/>
                    <a:lstStyle/>
                    <a:p>
                      <a:pPr marL="0" indent="0" lvl="0">
                        <a:buNone/>
                      </a:pPr>
                      <a:r>
                        <a:rPr sz="800" b="1">
                          <a:solidFill>
                            <a:srgbClr val="060606"/>
                          </a:solidFill>
                          <a:latin typeface="Helvetica"/>
                        </a:rPr>
                        <a:t>Ratio S/C</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Prestations comptabilisées / cotisations comptabilisées, par garantie et par exercice</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Comptes 601, 6013, 6018, 60800007, 6021, 6024. 7010, 7021</a:t>
                      </a:r>
                    </a:p>
                  </a:txBody>
                  <a:tcPr marL="43200" marR="43200" marT="14400" marB="14400" anchor="ctr">
                    <a:solidFill>
                      <a:srgbClr val="FFFFFF"/>
                    </a:solidFill>
                  </a:tcPr>
                </a:tc>
              </a:tr>
              <a:tr h="180000">
                <a:tc>
                  <a:txBody>
                    <a:bodyPr/>
                    <a:lstStyle/>
                    <a:p>
                      <a:pPr marL="0" indent="0" lvl="0">
                        <a:buNone/>
                      </a:pPr>
                      <a:r>
                        <a:rPr sz="800" b="1">
                          <a:solidFill>
                            <a:srgbClr val="060606"/>
                          </a:solidFill>
                          <a:latin typeface="Helvetica"/>
                        </a:rPr>
                        <a:t>Taux de cotisation</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Précompte du mois / salaire de base du mois, par agent</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Fichiers 936 détaillés, 8Z6</a:t>
                      </a:r>
                    </a:p>
                  </a:txBody>
                  <a:tcPr marL="43200" marR="43200" marT="14400" marB="14400" anchor="ctr">
                    <a:solidFill>
                      <a:srgbClr val="F2F2F2"/>
                    </a:solidFill>
                  </a:tcPr>
                </a:tc>
              </a:tr>
              <a:tr h="180000">
                <a:tc>
                  <a:txBody>
                    <a:bodyPr/>
                    <a:lstStyle/>
                    <a:p>
                      <a:pPr marL="0" indent="0" lvl="0">
                        <a:buNone/>
                      </a:pPr>
                      <a:r>
                        <a:rPr sz="800" b="1">
                          <a:solidFill>
                            <a:srgbClr val="060606"/>
                          </a:solidFill>
                          <a:latin typeface="Helvetica"/>
                        </a:rPr>
                        <a:t>Taux de précompte</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Montant retour / montant aller, mois communs</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Fichiers aller et retour</a:t>
                      </a:r>
                    </a:p>
                  </a:txBody>
                  <a:tcPr marL="43200" marR="43200" marT="14400" marB="14400" anchor="ctr">
                    <a:solidFill>
                      <a:srgbClr val="FFFFFF"/>
                    </a:solidFill>
                  </a:tcPr>
                </a:tc>
              </a:tr>
              <a:tr h="180000">
                <a:tc>
                  <a:txBody>
                    <a:bodyPr/>
                    <a:lstStyle/>
                    <a:p>
                      <a:pPr marL="0" indent="0" lvl="0">
                        <a:buNone/>
                      </a:pPr>
                      <a:r>
                        <a:rPr sz="800" b="1">
                          <a:solidFill>
                            <a:srgbClr val="060606"/>
                          </a:solidFill>
                          <a:latin typeface="Helvetica"/>
                        </a:rPr>
                        <a:t>TCAM</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(V_fin / V_début)^(1/n) - 1</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Selon l'indicateur</a:t>
                      </a:r>
                    </a:p>
                  </a:txBody>
                  <a:tcPr marL="43200" marR="43200" marT="14400" marB="14400" anchor="ctr">
                    <a:solidFill>
                      <a:srgbClr val="F2F2F2"/>
                    </a:solidFill>
                  </a:tcPr>
                </a:tc>
              </a:tr>
              <a:tr h="180000">
                <a:tc>
                  <a:txBody>
                    <a:bodyPr/>
                    <a:lstStyle/>
                    <a:p>
                      <a:pPr marL="0" indent="0" lvl="0">
                        <a:buNone/>
                      </a:pPr>
                      <a:r>
                        <a:rPr sz="800" b="1">
                          <a:solidFill>
                            <a:srgbClr val="060606"/>
                          </a:solidFill>
                          <a:latin typeface="Helvetica"/>
                        </a:rPr>
                        <a:t>Tendance</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Régression linéaire par moindres carrés, test de Student sur la pente, IC à 95 %</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Séries mensuelles ou annuelles</a:t>
                      </a:r>
                    </a:p>
                  </a:txBody>
                  <a:tcPr marL="43200" marR="43200" marT="14400" marB="14400" anchor="ctr">
                    <a:solidFill>
                      <a:srgbClr val="FFFFFF"/>
                    </a:solidFill>
                  </a:tcPr>
                </a:tc>
              </a:tr>
              <a:tr h="180000">
                <a:tc>
                  <a:txBody>
                    <a:bodyPr/>
                    <a:lstStyle/>
                    <a:p>
                      <a:pPr marL="0" indent="0" lvl="0">
                        <a:buNone/>
                      </a:pPr>
                      <a:r>
                        <a:rPr sz="800" b="1">
                          <a:solidFill>
                            <a:srgbClr val="060606"/>
                          </a:solidFill>
                          <a:latin typeface="Helvetica"/>
                        </a:rPr>
                        <a:t>Intervalle de Wilson</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(p + z²/2n ± z √(p(1-p)/n + z²/4n²)) / (1 + z²/n), z = 1,96</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Balance âgée du 31/08/2026</a:t>
                      </a:r>
                    </a:p>
                  </a:txBody>
                  <a:tcPr marL="43200" marR="43200" marT="14400" marB="14400" anchor="ctr">
                    <a:solidFill>
                      <a:srgbClr val="F2F2F2"/>
                    </a:solidFill>
                  </a:tcPr>
                </a:tc>
              </a:tr>
              <a:tr h="180000">
                <a:tc>
                  <a:txBody>
                    <a:bodyPr/>
                    <a:lstStyle/>
                    <a:p>
                      <a:pPr marL="0" indent="0" lvl="0">
                        <a:buNone/>
                      </a:pPr>
                      <a:r>
                        <a:rPr sz="800" b="1">
                          <a:solidFill>
                            <a:srgbClr val="060606"/>
                          </a:solidFill>
                          <a:latin typeface="Helvetica"/>
                        </a:rPr>
                        <a:t>Valeur réelle</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Valeur nominale × 100 / indice des prix (base 100 en 2020)</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Banque mondiale, FP.CPI.TOTL.ZG</a:t>
                      </a:r>
                    </a:p>
                  </a:txBody>
                  <a:tcPr marL="43200" marR="43200" marT="14400" marB="14400" anchor="ctr">
                    <a:solidFill>
                      <a:srgbClr val="FFFFFF"/>
                    </a:solidFill>
                  </a:tcPr>
                </a:tc>
              </a:tr>
              <a:tr h="180000">
                <a:tc>
                  <a:txBody>
                    <a:bodyPr/>
                    <a:lstStyle/>
                    <a:p>
                      <a:pPr marL="0" indent="0" lvl="0">
                        <a:buNone/>
                      </a:pPr>
                      <a:r>
                        <a:rPr sz="800" b="1">
                          <a:solidFill>
                            <a:srgbClr val="060606"/>
                          </a:solidFill>
                          <a:latin typeface="Helvetica"/>
                        </a:rPr>
                        <a:t>Couverture de l'épargne</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Actifs réservés / (comptes PEP + EFC)</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Balances des comptes</a:t>
                      </a:r>
                    </a:p>
                  </a:txBody>
                  <a:tcPr marL="43200" marR="43200" marT="14400" marB="14400" anchor="ctr">
                    <a:solidFill>
                      <a:srgbClr val="F2F2F2"/>
                    </a:solidFill>
                  </a:tcPr>
                </a:tc>
              </a:tr>
              <a:tr h="180000">
                <a:tc>
                  <a:txBody>
                    <a:bodyPr/>
                    <a:lstStyle/>
                    <a:p>
                      <a:pPr marL="0" indent="0" lvl="0">
                        <a:buNone/>
                      </a:pPr>
                      <a:r>
                        <a:rPr sz="800" b="1">
                          <a:solidFill>
                            <a:srgbClr val="060606"/>
                          </a:solidFill>
                          <a:latin typeface="Helvetica"/>
                        </a:rPr>
                        <a:t>Sinistralité réglementaire</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(60 + 6901 - 7901) / (70 + 7906 - 6906)</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Décision n° 05/2022, § 1.2.1.2.5</a:t>
                      </a:r>
                    </a:p>
                  </a:txBody>
                  <a:tcPr marL="43200" marR="43200" marT="14400" marB="14400" anchor="ctr">
                    <a:solidFill>
                      <a:srgbClr val="FFFFFF"/>
                    </a:solidFill>
                  </a:tcPr>
                </a:tc>
              </a:tr>
              <a:tr h="180000">
                <a:tc>
                  <a:txBody>
                    <a:bodyPr/>
                    <a:lstStyle/>
                    <a:p>
                      <a:pPr marL="0" indent="0" lvl="0">
                        <a:buNone/>
                      </a:pPr>
                      <a:r>
                        <a:rPr sz="800" b="1">
                          <a:solidFill>
                            <a:srgbClr val="060606"/>
                          </a:solidFill>
                          <a:latin typeface="Helvetica"/>
                        </a:rPr>
                        <a:t>Marge de solvabilité exigée</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max(18 % des cotisations acquises n-1, 26 % des prestations maladie moyennes sur 3 ans)</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Décision n° 05/2022, § 1.1.1</a:t>
                      </a:r>
                    </a:p>
                  </a:txBody>
                  <a:tcPr marL="43200" marR="43200" marT="14400" marB="14400" anchor="ctr">
                    <a:solidFill>
                      <a:srgbClr val="F2F2F2"/>
                    </a:solidFill>
                  </a:tcPr>
                </a:tc>
              </a:tr>
              <a:tr h="180000">
                <a:tc>
                  <a:txBody>
                    <a:bodyPr/>
                    <a:lstStyle/>
                    <a:p>
                      <a:pPr marL="0" indent="0" lvl="0">
                        <a:buNone/>
                      </a:pPr>
                      <a:r>
                        <a:rPr sz="800" b="1">
                          <a:solidFill>
                            <a:srgbClr val="060606"/>
                          </a:solidFill>
                          <a:latin typeface="Helvetica"/>
                        </a:rPr>
                        <a:t>Réserve obligatoire</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Réserves obligatoires x 12 / charges de prestations</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Décision n° 05/2022, tableau 1</a:t>
                      </a:r>
                    </a:p>
                  </a:txBody>
                  <a:tcPr marL="43200" marR="43200" marT="14400" marB="14400" anchor="ctr">
                    <a:solidFill>
                      <a:srgbClr val="FFFFFF"/>
                    </a:solidFill>
                  </a:tcPr>
                </a:tc>
              </a:tr>
              <a:tr h="180000">
                <a:tc>
                  <a:txBody>
                    <a:bodyPr/>
                    <a:lstStyle/>
                    <a:p>
                      <a:pPr marL="0" indent="0" lvl="0">
                        <a:buNone/>
                      </a:pPr>
                      <a:r>
                        <a:rPr sz="800" b="1">
                          <a:solidFill>
                            <a:srgbClr val="060606"/>
                          </a:solidFill>
                          <a:latin typeface="Helvetica"/>
                        </a:rPr>
                        <a:t>Liquidité</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Trésorerie actif / (dettes à court terme + variation des provisions techniques)</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Décision n° 05/2022, § 1.2.2.5.2</a:t>
                      </a:r>
                    </a:p>
                  </a:txBody>
                  <a:tcPr marL="43200" marR="43200" marT="14400" marB="14400" anchor="ctr">
                    <a:solidFill>
                      <a:srgbClr val="F2F2F2"/>
                    </a:solidFill>
                  </a:tcPr>
                </a:tc>
              </a:tr>
              <a:tr h="180000">
                <a:tc>
                  <a:txBody>
                    <a:bodyPr/>
                    <a:lstStyle/>
                    <a:p>
                      <a:pPr marL="0" indent="0" lvl="0">
                        <a:buNone/>
                      </a:pPr>
                      <a:r>
                        <a:rPr sz="800" b="1">
                          <a:solidFill>
                            <a:srgbClr val="060606"/>
                          </a:solidFill>
                          <a:latin typeface="Helvetica"/>
                        </a:rPr>
                        <a:t>Équilibre stable</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Emplois moyens et longs / ressources moyennes et longues</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Décision n° 05/2022, § 1.2.3.1</a:t>
                      </a:r>
                    </a:p>
                  </a:txBody>
                  <a:tcPr marL="43200" marR="43200" marT="14400" marB="14400" anchor="ctr">
                    <a:solidFill>
                      <a:srgbClr val="FFFFFF"/>
                    </a:solidFill>
                  </a:tcPr>
                </a:tc>
              </a:tr>
              <a:tr h="180000">
                <a:tc>
                  <a:txBody>
                    <a:bodyPr/>
                    <a:lstStyle/>
                    <a:p>
                      <a:pPr marL="0" indent="0" lvl="0">
                        <a:buNone/>
                      </a:pPr>
                      <a:r>
                        <a:rPr sz="800" b="1">
                          <a:solidFill>
                            <a:srgbClr val="060606"/>
                          </a:solidFill>
                          <a:latin typeface="Helvetica"/>
                        </a:rPr>
                        <a:t>Rente viagère ä_x</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Σ (L_(x+k) / L_x) × (1,035)^(-k)</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Tables CIMA</a:t>
                      </a:r>
                    </a:p>
                  </a:txBody>
                  <a:tcPr marL="43200" marR="43200" marT="14400" marB="14400" anchor="ctr">
                    <a:solidFill>
                      <a:srgbClr val="F2F2F2"/>
                    </a:solidFill>
                  </a:tcPr>
                </a:tc>
              </a:tr>
              <a:tr h="180000">
                <a:tc>
                  <a:txBody>
                    <a:bodyPr/>
                    <a:lstStyle/>
                    <a:p>
                      <a:pPr marL="0" indent="0" lvl="0">
                        <a:buNone/>
                      </a:pPr>
                      <a:r>
                        <a:rPr sz="800" b="1">
                          <a:solidFill>
                            <a:srgbClr val="060606"/>
                          </a:solidFill>
                          <a:latin typeface="Helvetica"/>
                        </a:rPr>
                        <a:t>Espérance de vie e_x</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Σ L_(x+k) / L_x pour k ≥ 1, + 0,5</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Tables CIMA</a:t>
                      </a:r>
                    </a:p>
                  </a:txBody>
                  <a:tcPr marL="43200" marR="43200" marT="14400" marB="14400" anchor="ctr">
                    <a:solidFill>
                      <a:srgbClr val="FFFFFF"/>
                    </a:solidFill>
                  </a:tcPr>
                </a:tc>
              </a:tr>
            </a:tbl>
          </a:graphicData>
        </a:graphic>
      </p:graphicFrame>
      <p:sp>
        <p:nvSpPr>
          <p:cNvPr id="30" name="TextBox 29"/>
          <p:cNvSpPr txBox="1"/>
          <p:nvPr/>
        </p:nvSpPr>
        <p:spPr>
          <a:xfrm>
            <a:off x="367200" y="6173999"/>
            <a:ext cx="11430000" cy="183600"/>
          </a:xfrm>
          <a:prstGeom prst="rect">
            <a:avLst/>
          </a:prstGeom>
          <a:noFill/>
        </p:spPr>
        <p:txBody>
          <a:bodyPr wrap="square" anchor="t" lIns="54000" rIns="54000"/>
          <a:lstStyle/>
          <a:p>
            <a:pPr algn="l"/>
            <a:r>
              <a:rPr sz="750" b="0">
                <a:solidFill>
                  <a:srgbClr val="808080"/>
                </a:solidFill>
                <a:latin typeface="Helvetica"/>
              </a:rPr>
              <a:t>Source : Adenka. Décision n° 05/2022/COM/UEMOA du 1er juin 2022, annexe</a:t>
            </a:r>
          </a:p>
        </p:txBody>
      </p:sp>
    </p:spTree>
    <p:extLst>
      <p:ext uri="{BB962C8B-B14F-4D97-AF65-F5344CB8AC3E}">
        <p14:creationId xmlns:p14="http://schemas.microsoft.com/office/powerpoint/2010/main" val="3513806402"/>
      </p:ext>
    </p:extLst>
  </p:cSld>
  <p:clrMapOvr>
    <a:masterClrMapping/>
  </p:clrMapOvr>
  <p:transition>
    <p:fade/>
  </p:transition>
</p:sld>
</file>

<file path=ppt/slides/slide1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TextBox 26"/>
          <p:cNvSpPr txBox="1"/>
          <p:nvPr/>
        </p:nvSpPr>
        <p:spPr>
          <a:xfrm>
            <a:off x="547200" y="144000"/>
            <a:ext cx="11246400" cy="396000"/>
          </a:xfrm>
          <a:prstGeom prst="rect">
            <a:avLst/>
          </a:prstGeom>
          <a:noFill/>
        </p:spPr>
        <p:txBody>
          <a:bodyPr wrap="square" anchor="t" lIns="54000" rIns="54000"/>
          <a:lstStyle/>
          <a:p>
            <a:pPr algn="l"/>
            <a:r>
              <a:rPr sz="2000" b="1">
                <a:solidFill>
                  <a:srgbClr val="060606"/>
                </a:solidFill>
                <a:latin typeface="Helvetica"/>
              </a:rPr>
              <a:t>Outils et bibliothèques</a:t>
            </a:r>
          </a:p>
        </p:txBody>
      </p:sp>
      <p:sp>
        <p:nvSpPr>
          <p:cNvPr id="28" name="TextBox 27"/>
          <p:cNvSpPr txBox="1"/>
          <p:nvPr/>
        </p:nvSpPr>
        <p:spPr>
          <a:xfrm>
            <a:off x="503999" y="720000"/>
            <a:ext cx="11232000" cy="216000"/>
          </a:xfrm>
          <a:prstGeom prst="rect">
            <a:avLst/>
          </a:prstGeom>
          <a:noFill/>
        </p:spPr>
        <p:txBody>
          <a:bodyPr wrap="square" anchor="t" lIns="54000" rIns="54000"/>
          <a:lstStyle/>
          <a:p>
            <a:pPr algn="ctr"/>
            <a:r>
              <a:rPr sz="1200" b="0">
                <a:solidFill>
                  <a:srgbClr val="EFAC62"/>
                </a:solidFill>
                <a:latin typeface="Helvetica"/>
              </a:rPr>
              <a:t>Tableau 31 : Outils et bibliothèques utilisés</a:t>
            </a:r>
          </a:p>
        </p:txBody>
      </p:sp>
      <p:graphicFrame>
        <p:nvGraphicFramePr>
          <p:cNvPr id="29" name="Table 28"/>
          <p:cNvGraphicFramePr>
            <a:graphicFrameLocks noGrp="1"/>
          </p:cNvGraphicFramePr>
          <p:nvPr/>
        </p:nvGraphicFramePr>
        <p:xfrm>
          <a:off x="503999" y="990000"/>
          <a:ext cx="11232000" cy="2100090"/>
        </p:xfrm>
        <a:graphic>
          <a:graphicData uri="http://schemas.openxmlformats.org/drawingml/2006/table">
            <a:tbl>
              <a:tblPr firstRow="0" bandRow="0">
                <a:tableStyleId>{5940675A-B579-460E-94D1-54222C63F5DA}</a:tableStyleId>
              </a:tblPr>
              <a:tblGrid>
                <a:gridCol w="2520000"/>
                <a:gridCol w="6552000"/>
                <a:gridCol w="2160000"/>
              </a:tblGrid>
              <a:tr h="210009">
                <a:tc>
                  <a:txBody>
                    <a:bodyPr/>
                    <a:lstStyle/>
                    <a:p>
                      <a:pPr marL="0" indent="0" lvl="0">
                        <a:buNone/>
                      </a:pPr>
                      <a:r>
                        <a:rPr sz="1000" b="1">
                          <a:solidFill>
                            <a:srgbClr val="FFFFFF"/>
                          </a:solidFill>
                          <a:latin typeface="Helvetica"/>
                        </a:rPr>
                        <a:t>Outil</a:t>
                      </a:r>
                    </a:p>
                  </a:txBody>
                  <a:tcPr marL="43200" marR="43200" marT="14400" marB="14400" anchor="ctr">
                    <a:solidFill>
                      <a:srgbClr val="060606"/>
                    </a:solidFill>
                  </a:tcPr>
                </a:tc>
                <a:tc>
                  <a:txBody>
                    <a:bodyPr/>
                    <a:lstStyle/>
                    <a:p>
                      <a:pPr marL="0" indent="0" lvl="0">
                        <a:buNone/>
                      </a:pPr>
                      <a:r>
                        <a:rPr sz="1000" b="1">
                          <a:solidFill>
                            <a:srgbClr val="FFFFFF"/>
                          </a:solidFill>
                          <a:latin typeface="Helvetica"/>
                        </a:rPr>
                        <a:t>Usage</a:t>
                      </a:r>
                    </a:p>
                  </a:txBody>
                  <a:tcPr marL="43200" marR="43200" marT="14400" marB="14400" anchor="ctr">
                    <a:solidFill>
                      <a:srgbClr val="060606"/>
                    </a:solidFill>
                  </a:tcPr>
                </a:tc>
                <a:tc>
                  <a:txBody>
                    <a:bodyPr/>
                    <a:lstStyle/>
                    <a:p>
                      <a:pPr marL="0" indent="0" lvl="0">
                        <a:buNone/>
                      </a:pPr>
                      <a:r>
                        <a:rPr sz="1000" b="1">
                          <a:solidFill>
                            <a:srgbClr val="FFFFFF"/>
                          </a:solidFill>
                          <a:latin typeface="Helvetica"/>
                        </a:rPr>
                        <a:t>Version</a:t>
                      </a:r>
                    </a:p>
                  </a:txBody>
                  <a:tcPr marL="43200" marR="43200" marT="14400" marB="14400" anchor="ctr">
                    <a:solidFill>
                      <a:srgbClr val="060606"/>
                    </a:solidFill>
                  </a:tcPr>
                </a:tc>
              </a:tr>
              <a:tr h="210009">
                <a:tc>
                  <a:txBody>
                    <a:bodyPr/>
                    <a:lstStyle/>
                    <a:p>
                      <a:pPr marL="0" indent="0" lvl="0">
                        <a:buNone/>
                      </a:pPr>
                      <a:r>
                        <a:rPr sz="1000" b="1">
                          <a:solidFill>
                            <a:srgbClr val="060606"/>
                          </a:solidFill>
                          <a:latin typeface="Helvetica"/>
                        </a:rPr>
                        <a:t>Python</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Langage des traitements, scripts conservés et rejouables</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3.14 (poste de la mission)</a:t>
                      </a:r>
                    </a:p>
                  </a:txBody>
                  <a:tcPr marL="43200" marR="43200" marT="14400" marB="14400" anchor="ctr">
                    <a:solidFill>
                      <a:srgbClr val="FFFFFF"/>
                    </a:solidFill>
                  </a:tcPr>
                </a:tc>
              </a:tr>
              <a:tr h="210009">
                <a:tc>
                  <a:txBody>
                    <a:bodyPr/>
                    <a:lstStyle/>
                    <a:p>
                      <a:pPr marL="0" indent="0" lvl="0">
                        <a:buNone/>
                      </a:pPr>
                      <a:r>
                        <a:rPr sz="1000" b="1">
                          <a:solidFill>
                            <a:srgbClr val="060606"/>
                          </a:solidFill>
                          <a:latin typeface="Helvetica"/>
                        </a:rPr>
                        <a:t>Visual Studio Code</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Éditeur et exécution des scripts sous Windows</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dernière</a:t>
                      </a:r>
                    </a:p>
                  </a:txBody>
                  <a:tcPr marL="43200" marR="43200" marT="14400" marB="14400" anchor="ctr">
                    <a:solidFill>
                      <a:srgbClr val="F2F2F2"/>
                    </a:solidFill>
                  </a:tcPr>
                </a:tc>
              </a:tr>
              <a:tr h="210009">
                <a:tc>
                  <a:txBody>
                    <a:bodyPr/>
                    <a:lstStyle/>
                    <a:p>
                      <a:pPr marL="0" indent="0" lvl="0">
                        <a:buNone/>
                      </a:pPr>
                      <a:r>
                        <a:rPr sz="1000" b="1">
                          <a:solidFill>
                            <a:srgbClr val="060606"/>
                          </a:solidFill>
                          <a:latin typeface="Helvetica"/>
                        </a:rPr>
                        <a:t>pandas, numpy</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Tables de données, calculs, agrégations</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3.0 et 2.5</a:t>
                      </a:r>
                    </a:p>
                  </a:txBody>
                  <a:tcPr marL="43200" marR="43200" marT="14400" marB="14400" anchor="ctr">
                    <a:solidFill>
                      <a:srgbClr val="FFFFFF"/>
                    </a:solidFill>
                  </a:tcPr>
                </a:tc>
              </a:tr>
              <a:tr h="210009">
                <a:tc>
                  <a:txBody>
                    <a:bodyPr/>
                    <a:lstStyle/>
                    <a:p>
                      <a:pPr marL="0" indent="0" lvl="0">
                        <a:buNone/>
                      </a:pPr>
                      <a:r>
                        <a:rPr sz="1000" b="1">
                          <a:solidFill>
                            <a:srgbClr val="060606"/>
                          </a:solidFill>
                          <a:latin typeface="Helvetica"/>
                        </a:rPr>
                        <a:t>statsmodels</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Régressions et tests statistiques</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0.15</a:t>
                      </a:r>
                    </a:p>
                  </a:txBody>
                  <a:tcPr marL="43200" marR="43200" marT="14400" marB="14400" anchor="ctr">
                    <a:solidFill>
                      <a:srgbClr val="F2F2F2"/>
                    </a:solidFill>
                  </a:tcPr>
                </a:tc>
              </a:tr>
              <a:tr h="210009">
                <a:tc>
                  <a:txBody>
                    <a:bodyPr/>
                    <a:lstStyle/>
                    <a:p>
                      <a:pPr marL="0" indent="0" lvl="0">
                        <a:buNone/>
                      </a:pPr>
                      <a:r>
                        <a:rPr sz="1000" b="1">
                          <a:solidFill>
                            <a:srgbClr val="060606"/>
                          </a:solidFill>
                          <a:latin typeface="Helvetica"/>
                        </a:rPr>
                        <a:t>python-calamine, openpyxl, lxml</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Lecture sans perte des fichiers Excel et des pages web</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dernière</a:t>
                      </a:r>
                    </a:p>
                  </a:txBody>
                  <a:tcPr marL="43200" marR="43200" marT="14400" marB="14400" anchor="ctr">
                    <a:solidFill>
                      <a:srgbClr val="FFFFFF"/>
                    </a:solidFill>
                  </a:tcPr>
                </a:tc>
              </a:tr>
              <a:tr h="210009">
                <a:tc>
                  <a:txBody>
                    <a:bodyPr/>
                    <a:lstStyle/>
                    <a:p>
                      <a:pPr marL="0" indent="0" lvl="0">
                        <a:buNone/>
                      </a:pPr>
                      <a:r>
                        <a:rPr sz="1000" b="1">
                          <a:solidFill>
                            <a:srgbClr val="060606"/>
                          </a:solidFill>
                          <a:latin typeface="Helvetica"/>
                        </a:rPr>
                        <a:t>pyarrow</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Stockage de la base d'analyse (Parquet)</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26.0</a:t>
                      </a:r>
                    </a:p>
                  </a:txBody>
                  <a:tcPr marL="43200" marR="43200" marT="14400" marB="14400" anchor="ctr">
                    <a:solidFill>
                      <a:srgbClr val="F2F2F2"/>
                    </a:solidFill>
                  </a:tcPr>
                </a:tc>
              </a:tr>
              <a:tr h="210009">
                <a:tc>
                  <a:txBody>
                    <a:bodyPr/>
                    <a:lstStyle/>
                    <a:p>
                      <a:pPr marL="0" indent="0" lvl="0">
                        <a:buNone/>
                      </a:pPr>
                      <a:r>
                        <a:rPr sz="1000" b="1">
                          <a:solidFill>
                            <a:srgbClr val="060606"/>
                          </a:solidFill>
                          <a:latin typeface="Helvetica"/>
                        </a:rPr>
                        <a:t>pymupdf, pdftotext, tesseract</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Lecture des PDF comptables et des textes scannés (OCR)</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dernière</a:t>
                      </a:r>
                    </a:p>
                  </a:txBody>
                  <a:tcPr marL="43200" marR="43200" marT="14400" marB="14400" anchor="ctr">
                    <a:solidFill>
                      <a:srgbClr val="FFFFFF"/>
                    </a:solidFill>
                  </a:tcPr>
                </a:tc>
              </a:tr>
              <a:tr h="210009">
                <a:tc>
                  <a:txBody>
                    <a:bodyPr/>
                    <a:lstStyle/>
                    <a:p>
                      <a:pPr marL="0" indent="0" lvl="0">
                        <a:buNone/>
                      </a:pPr>
                      <a:r>
                        <a:rPr sz="1000" b="1">
                          <a:solidFill>
                            <a:srgbClr val="060606"/>
                          </a:solidFill>
                          <a:latin typeface="Helvetica"/>
                        </a:rPr>
                        <a:t>pygments, Pillow</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Mise en forme des extraits de code</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dernière</a:t>
                      </a:r>
                    </a:p>
                  </a:txBody>
                  <a:tcPr marL="43200" marR="43200" marT="14400" marB="14400" anchor="ctr">
                    <a:solidFill>
                      <a:srgbClr val="F2F2F2"/>
                    </a:solidFill>
                  </a:tcPr>
                </a:tc>
              </a:tr>
              <a:tr h="210009">
                <a:tc>
                  <a:txBody>
                    <a:bodyPr/>
                    <a:lstStyle/>
                    <a:p>
                      <a:pPr marL="0" indent="0" lvl="0">
                        <a:buNone/>
                      </a:pPr>
                      <a:r>
                        <a:rPr sz="1000" b="1">
                          <a:solidFill>
                            <a:srgbClr val="060606"/>
                          </a:solidFill>
                          <a:latin typeface="Helvetica"/>
                        </a:rPr>
                        <a:t>python-pptx</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Rapport, graphiques et tableaux natifs</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1.0</a:t>
                      </a:r>
                    </a:p>
                  </a:txBody>
                  <a:tcPr marL="43200" marR="43200" marT="14400" marB="14400" anchor="ctr">
                    <a:solidFill>
                      <a:srgbClr val="FFFFFF"/>
                    </a:solidFill>
                  </a:tcPr>
                </a:tc>
              </a:tr>
            </a:tbl>
          </a:graphicData>
        </a:graphic>
      </p:graphicFrame>
      <p:sp>
        <p:nvSpPr>
          <p:cNvPr id="30" name="TextBox 29"/>
          <p:cNvSpPr txBox="1"/>
          <p:nvPr/>
        </p:nvSpPr>
        <p:spPr>
          <a:xfrm>
            <a:off x="367200" y="6173999"/>
            <a:ext cx="11430000" cy="183600"/>
          </a:xfrm>
          <a:prstGeom prst="rect">
            <a:avLst/>
          </a:prstGeom>
          <a:noFill/>
        </p:spPr>
        <p:txBody>
          <a:bodyPr wrap="square" anchor="t" lIns="54000" rIns="54000"/>
          <a:lstStyle/>
          <a:p>
            <a:pPr algn="l"/>
            <a:r>
              <a:rPr sz="750" b="0">
                <a:solidFill>
                  <a:srgbClr val="808080"/>
                </a:solidFill>
                <a:latin typeface="Helvetica"/>
              </a:rPr>
              <a:t>Source : Adenka</a:t>
            </a:r>
          </a:p>
        </p:txBody>
      </p:sp>
    </p:spTree>
    <p:extLst>
      <p:ext uri="{BB962C8B-B14F-4D97-AF65-F5344CB8AC3E}">
        <p14:creationId xmlns:p14="http://schemas.microsoft.com/office/powerpoint/2010/main" val="790349225"/>
      </p:ext>
    </p:extLst>
  </p:cSld>
  <p:clrMapOvr>
    <a:masterClrMapping/>
  </p:clrMapOvr>
  <p:transition>
    <p:fade/>
  </p:transition>
</p:sld>
</file>

<file path=ppt/slides/slide1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TextBox 26"/>
          <p:cNvSpPr txBox="1"/>
          <p:nvPr/>
        </p:nvSpPr>
        <p:spPr>
          <a:xfrm>
            <a:off x="547200" y="144000"/>
            <a:ext cx="11246400" cy="396000"/>
          </a:xfrm>
          <a:prstGeom prst="rect">
            <a:avLst/>
          </a:prstGeom>
          <a:noFill/>
        </p:spPr>
        <p:txBody>
          <a:bodyPr wrap="square" anchor="t" lIns="54000" rIns="54000"/>
          <a:lstStyle/>
          <a:p>
            <a:pPr algn="l"/>
            <a:r>
              <a:rPr sz="2000" b="1">
                <a:solidFill>
                  <a:srgbClr val="060606"/>
                </a:solidFill>
                <a:latin typeface="Helvetica"/>
              </a:rPr>
              <a:t>Liste des figures</a:t>
            </a:r>
          </a:p>
        </p:txBody>
      </p:sp>
      <p:graphicFrame>
        <p:nvGraphicFramePr>
          <p:cNvPr id="28" name="Table 27"/>
          <p:cNvGraphicFramePr>
            <a:graphicFrameLocks noGrp="1"/>
          </p:cNvGraphicFramePr>
          <p:nvPr/>
        </p:nvGraphicFramePr>
        <p:xfrm>
          <a:off x="503999" y="648000"/>
          <a:ext cx="5543999" cy="3614292"/>
        </p:xfrm>
        <a:graphic>
          <a:graphicData uri="http://schemas.openxmlformats.org/drawingml/2006/table">
            <a:tbl>
              <a:tblPr firstRow="0" bandRow="0">
                <a:tableStyleId>{5940675A-B579-460E-94D1-54222C63F5DA}</a:tableStyleId>
              </a:tblPr>
              <a:tblGrid>
                <a:gridCol w="576000"/>
                <a:gridCol w="4464000"/>
                <a:gridCol w="503999"/>
              </a:tblGrid>
              <a:tr h="164286">
                <a:tc>
                  <a:txBody>
                    <a:bodyPr/>
                    <a:lstStyle/>
                    <a:p>
                      <a:pPr marL="0" indent="0" lvl="0">
                        <a:buNone/>
                      </a:pPr>
                      <a:r>
                        <a:rPr sz="700" b="1">
                          <a:solidFill>
                            <a:srgbClr val="FFFFFF"/>
                          </a:solidFill>
                          <a:latin typeface="Helvetica"/>
                        </a:rPr>
                        <a:t>Figure</a:t>
                      </a:r>
                    </a:p>
                  </a:txBody>
                  <a:tcPr marL="43200" marR="43200" marT="14400" marB="14400" anchor="ctr">
                    <a:solidFill>
                      <a:srgbClr val="060606"/>
                    </a:solidFill>
                  </a:tcPr>
                </a:tc>
                <a:tc>
                  <a:txBody>
                    <a:bodyPr/>
                    <a:lstStyle/>
                    <a:p>
                      <a:pPr marL="0" indent="0" lvl="0">
                        <a:buNone/>
                      </a:pPr>
                      <a:r>
                        <a:rPr sz="700" b="1">
                          <a:solidFill>
                            <a:srgbClr val="FFFFFF"/>
                          </a:solidFill>
                          <a:latin typeface="Helvetica"/>
                        </a:rPr>
                        <a:t>Titre</a:t>
                      </a:r>
                    </a:p>
                  </a:txBody>
                  <a:tcPr marL="43200" marR="43200" marT="14400" marB="14400" anchor="ctr">
                    <a:solidFill>
                      <a:srgbClr val="060606"/>
                    </a:solidFill>
                  </a:tcPr>
                </a:tc>
                <a:tc>
                  <a:txBody>
                    <a:bodyPr/>
                    <a:lstStyle/>
                    <a:p>
                      <a:pPr marL="0" indent="0" lvl="0">
                        <a:buNone/>
                      </a:pPr>
                      <a:r>
                        <a:rPr sz="700" b="1">
                          <a:solidFill>
                            <a:srgbClr val="FFFFFF"/>
                          </a:solidFill>
                          <a:latin typeface="Helvetica"/>
                        </a:rPr>
                        <a:t>Diapo.</a:t>
                      </a:r>
                    </a:p>
                  </a:txBody>
                  <a:tcPr marL="43200" marR="43200" marT="14400" marB="14400" anchor="ctr">
                    <a:solidFill>
                      <a:srgbClr val="060606"/>
                    </a:solidFill>
                  </a:tcPr>
                </a:tc>
              </a:tr>
              <a:tr h="164286">
                <a:tc>
                  <a:txBody>
                    <a:bodyPr/>
                    <a:lstStyle/>
                    <a:p>
                      <a:pPr marL="0" indent="0" lvl="0">
                        <a:buNone/>
                      </a:pPr>
                      <a:r>
                        <a:rPr sz="700" b="1">
                          <a:solidFill>
                            <a:srgbClr val="060606"/>
                          </a:solidFill>
                          <a:latin typeface="Helvetica"/>
                        </a:rPr>
                        <a:t>1</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Ratio S/C maladie (prestations / cotisations)</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8</a:t>
                      </a:r>
                    </a:p>
                  </a:txBody>
                  <a:tcPr marL="43200" marR="43200" marT="14400" marB="14400" anchor="ctr">
                    <a:solidFill>
                      <a:srgbClr val="FFFFFF"/>
                    </a:solidFill>
                  </a:tcPr>
                </a:tc>
              </a:tr>
              <a:tr h="164286">
                <a:tc>
                  <a:txBody>
                    <a:bodyPr/>
                    <a:lstStyle/>
                    <a:p>
                      <a:pPr marL="0" indent="0" lvl="0">
                        <a:buNone/>
                      </a:pPr>
                      <a:r>
                        <a:rPr sz="700" b="1">
                          <a:solidFill>
                            <a:srgbClr val="060606"/>
                          </a:solidFill>
                          <a:latin typeface="Helvetica"/>
                        </a:rPr>
                        <a:t>2</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Épargne due et actifs réservés</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8</a:t>
                      </a:r>
                    </a:p>
                  </a:txBody>
                  <a:tcPr marL="43200" marR="43200" marT="14400" marB="14400" anchor="ctr">
                    <a:solidFill>
                      <a:srgbClr val="F2F2F2"/>
                    </a:solidFill>
                  </a:tcPr>
                </a:tc>
              </a:tr>
              <a:tr h="164286">
                <a:tc>
                  <a:txBody>
                    <a:bodyPr/>
                    <a:lstStyle/>
                    <a:p>
                      <a:pPr marL="0" indent="0" lvl="0">
                        <a:buNone/>
                      </a:pPr>
                      <a:r>
                        <a:rPr sz="700" b="1">
                          <a:solidFill>
                            <a:srgbClr val="060606"/>
                          </a:solidFill>
                          <a:latin typeface="Helvetica"/>
                        </a:rPr>
                        <a:t>3</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Fonds propres</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9</a:t>
                      </a:r>
                    </a:p>
                  </a:txBody>
                  <a:tcPr marL="43200" marR="43200" marT="14400" marB="14400" anchor="ctr">
                    <a:solidFill>
                      <a:srgbClr val="FFFFFF"/>
                    </a:solidFill>
                  </a:tcPr>
                </a:tc>
              </a:tr>
              <a:tr h="164286">
                <a:tc>
                  <a:txBody>
                    <a:bodyPr/>
                    <a:lstStyle/>
                    <a:p>
                      <a:pPr marL="0" indent="0" lvl="0">
                        <a:buNone/>
                      </a:pPr>
                      <a:r>
                        <a:rPr sz="700" b="1">
                          <a:solidFill>
                            <a:srgbClr val="060606"/>
                          </a:solidFill>
                          <a:latin typeface="Helvetica"/>
                        </a:rPr>
                        <a:t>4</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Encours des prêts du Grenier</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9</a:t>
                      </a:r>
                    </a:p>
                  </a:txBody>
                  <a:tcPr marL="43200" marR="43200" marT="14400" marB="14400" anchor="ctr">
                    <a:solidFill>
                      <a:srgbClr val="F2F2F2"/>
                    </a:solidFill>
                  </a:tcPr>
                </a:tc>
              </a:tr>
              <a:tr h="164286">
                <a:tc>
                  <a:txBody>
                    <a:bodyPr/>
                    <a:lstStyle/>
                    <a:p>
                      <a:pPr marL="0" indent="0" lvl="0">
                        <a:buNone/>
                      </a:pPr>
                      <a:r>
                        <a:rPr sz="700" b="1">
                          <a:solidFill>
                            <a:srgbClr val="060606"/>
                          </a:solidFill>
                          <a:latin typeface="Helvetica"/>
                        </a:rPr>
                        <a:t>5</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Produits, charges et résultat 2025</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19</a:t>
                      </a:r>
                    </a:p>
                  </a:txBody>
                  <a:tcPr marL="43200" marR="43200" marT="14400" marB="14400" anchor="ctr">
                    <a:solidFill>
                      <a:srgbClr val="FFFFFF"/>
                    </a:solidFill>
                  </a:tcPr>
                </a:tc>
              </a:tr>
              <a:tr h="164286">
                <a:tc>
                  <a:txBody>
                    <a:bodyPr/>
                    <a:lstStyle/>
                    <a:p>
                      <a:pPr marL="0" indent="0" lvl="0">
                        <a:buNone/>
                      </a:pPr>
                      <a:r>
                        <a:rPr sz="700" b="1">
                          <a:solidFill>
                            <a:srgbClr val="060606"/>
                          </a:solidFill>
                          <a:latin typeface="Helvetica"/>
                        </a:rPr>
                        <a:t>6</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Mois reçus par flux de données, sur 80 mois</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26</a:t>
                      </a:r>
                    </a:p>
                  </a:txBody>
                  <a:tcPr marL="43200" marR="43200" marT="14400" marB="14400" anchor="ctr">
                    <a:solidFill>
                      <a:srgbClr val="F2F2F2"/>
                    </a:solidFill>
                  </a:tcPr>
                </a:tc>
              </a:tr>
              <a:tr h="164286">
                <a:tc>
                  <a:txBody>
                    <a:bodyPr/>
                    <a:lstStyle/>
                    <a:p>
                      <a:pPr marL="0" indent="0" lvl="0">
                        <a:buNone/>
                      </a:pPr>
                      <a:r>
                        <a:rPr sz="700" b="1">
                          <a:solidFill>
                            <a:srgbClr val="060606"/>
                          </a:solidFill>
                          <a:latin typeface="Helvetica"/>
                        </a:rPr>
                        <a:t>7</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Montant précompté rapporté au montant demandé, mois communs</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29</a:t>
                      </a:r>
                    </a:p>
                  </a:txBody>
                  <a:tcPr marL="43200" marR="43200" marT="14400" marB="14400" anchor="ctr">
                    <a:solidFill>
                      <a:srgbClr val="FFFFFF"/>
                    </a:solidFill>
                  </a:tcPr>
                </a:tc>
              </a:tr>
              <a:tr h="164286">
                <a:tc>
                  <a:txBody>
                    <a:bodyPr/>
                    <a:lstStyle/>
                    <a:p>
                      <a:pPr marL="0" indent="0" lvl="0">
                        <a:buNone/>
                      </a:pPr>
                      <a:r>
                        <a:rPr sz="700" b="1">
                          <a:solidFill>
                            <a:srgbClr val="060606"/>
                          </a:solidFill>
                          <a:latin typeface="Helvetica"/>
                        </a:rPr>
                        <a:t>8</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Cotisants actifs précomptés (poste 936), par mois</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35</a:t>
                      </a:r>
                    </a:p>
                  </a:txBody>
                  <a:tcPr marL="43200" marR="43200" marT="14400" marB="14400" anchor="ctr">
                    <a:solidFill>
                      <a:srgbClr val="F2F2F2"/>
                    </a:solidFill>
                  </a:tcPr>
                </a:tc>
              </a:tr>
              <a:tr h="164286">
                <a:tc>
                  <a:txBody>
                    <a:bodyPr/>
                    <a:lstStyle/>
                    <a:p>
                      <a:pPr marL="0" indent="0" lvl="0">
                        <a:buNone/>
                      </a:pPr>
                      <a:r>
                        <a:rPr sz="700" b="1">
                          <a:solidFill>
                            <a:srgbClr val="060606"/>
                          </a:solidFill>
                          <a:latin typeface="Helvetica"/>
                        </a:rPr>
                        <a:t>9</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Entrées et sorties de cotisants, par mois</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36</a:t>
                      </a:r>
                    </a:p>
                  </a:txBody>
                  <a:tcPr marL="43200" marR="43200" marT="14400" marB="14400" anchor="ctr">
                    <a:solidFill>
                      <a:srgbClr val="FFFFFF"/>
                    </a:solidFill>
                  </a:tcPr>
                </a:tc>
              </a:tr>
              <a:tr h="164286">
                <a:tc>
                  <a:txBody>
                    <a:bodyPr/>
                    <a:lstStyle/>
                    <a:p>
                      <a:pPr marL="0" indent="0" lvl="0">
                        <a:buNone/>
                      </a:pPr>
                      <a:r>
                        <a:rPr sz="700" b="1">
                          <a:solidFill>
                            <a:srgbClr val="060606"/>
                          </a:solidFill>
                          <a:latin typeface="Helvetica"/>
                        </a:rPr>
                        <a:t>10</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Agents par ancienneté de service, janv. 25</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37</a:t>
                      </a:r>
                    </a:p>
                  </a:txBody>
                  <a:tcPr marL="43200" marR="43200" marT="14400" marB="14400" anchor="ctr">
                    <a:solidFill>
                      <a:srgbClr val="F2F2F2"/>
                    </a:solidFill>
                  </a:tcPr>
                </a:tc>
              </a:tr>
              <a:tr h="164286">
                <a:tc>
                  <a:txBody>
                    <a:bodyPr/>
                    <a:lstStyle/>
                    <a:p>
                      <a:pPr marL="0" indent="0" lvl="0">
                        <a:buNone/>
                      </a:pPr>
                      <a:r>
                        <a:rPr sz="700" b="1">
                          <a:solidFill>
                            <a:srgbClr val="060606"/>
                          </a:solidFill>
                          <a:latin typeface="Helvetica"/>
                        </a:rPr>
                        <a:t>11</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Répartition du taux de 5 % selon la source</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39</a:t>
                      </a:r>
                    </a:p>
                  </a:txBody>
                  <a:tcPr marL="43200" marR="43200" marT="14400" marB="14400" anchor="ctr">
                    <a:solidFill>
                      <a:srgbClr val="FFFFFF"/>
                    </a:solidFill>
                  </a:tcPr>
                </a:tc>
              </a:tr>
              <a:tr h="164286">
                <a:tc>
                  <a:txBody>
                    <a:bodyPr/>
                    <a:lstStyle/>
                    <a:p>
                      <a:pPr marL="0" indent="0" lvl="0">
                        <a:buNone/>
                      </a:pPr>
                      <a:r>
                        <a:rPr sz="700" b="1">
                          <a:solidFill>
                            <a:srgbClr val="060606"/>
                          </a:solidFill>
                          <a:latin typeface="Helvetica"/>
                        </a:rPr>
                        <a:t>12</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Ratio S/C 2025 selon la clé de répartition</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40</a:t>
                      </a:r>
                    </a:p>
                  </a:txBody>
                  <a:tcPr marL="43200" marR="43200" marT="14400" marB="14400" anchor="ctr">
                    <a:solidFill>
                      <a:srgbClr val="F2F2F2"/>
                    </a:solidFill>
                  </a:tcPr>
                </a:tc>
              </a:tr>
              <a:tr h="164286">
                <a:tc>
                  <a:txBody>
                    <a:bodyPr/>
                    <a:lstStyle/>
                    <a:p>
                      <a:pPr marL="0" indent="0" lvl="0">
                        <a:buNone/>
                      </a:pPr>
                      <a:r>
                        <a:rPr sz="700" b="1">
                          <a:solidFill>
                            <a:srgbClr val="060606"/>
                          </a:solidFill>
                          <a:latin typeface="Helvetica"/>
                        </a:rPr>
                        <a:t>13</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Cotisations nominales et réelles (francs de 2020)</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41</a:t>
                      </a:r>
                    </a:p>
                  </a:txBody>
                  <a:tcPr marL="43200" marR="43200" marT="14400" marB="14400" anchor="ctr">
                    <a:solidFill>
                      <a:srgbClr val="FFFFFF"/>
                    </a:solidFill>
                  </a:tcPr>
                </a:tc>
              </a:tr>
              <a:tr h="164286">
                <a:tc>
                  <a:txBody>
                    <a:bodyPr/>
                    <a:lstStyle/>
                    <a:p>
                      <a:pPr marL="0" indent="0" lvl="0">
                        <a:buNone/>
                      </a:pPr>
                      <a:r>
                        <a:rPr sz="700" b="1">
                          <a:solidFill>
                            <a:srgbClr val="060606"/>
                          </a:solidFill>
                          <a:latin typeface="Helvetica"/>
                        </a:rPr>
                        <a:t>14</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Cotisations comptabilisées par garantie</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42</a:t>
                      </a:r>
                    </a:p>
                  </a:txBody>
                  <a:tcPr marL="43200" marR="43200" marT="14400" marB="14400" anchor="ctr">
                    <a:solidFill>
                      <a:srgbClr val="F2F2F2"/>
                    </a:solidFill>
                  </a:tcPr>
                </a:tc>
              </a:tr>
              <a:tr h="164286">
                <a:tc>
                  <a:txBody>
                    <a:bodyPr/>
                    <a:lstStyle/>
                    <a:p>
                      <a:pPr marL="0" indent="0" lvl="0">
                        <a:buNone/>
                      </a:pPr>
                      <a:r>
                        <a:rPr sz="700" b="1">
                          <a:solidFill>
                            <a:srgbClr val="060606"/>
                          </a:solidFill>
                          <a:latin typeface="Helvetica"/>
                        </a:rPr>
                        <a:t>15</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Prestations comptabilisées / cotisations (S/C)</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47</a:t>
                      </a:r>
                    </a:p>
                  </a:txBody>
                  <a:tcPr marL="43200" marR="43200" marT="14400" marB="14400" anchor="ctr">
                    <a:solidFill>
                      <a:srgbClr val="FFFFFF"/>
                    </a:solidFill>
                  </a:tcPr>
                </a:tc>
              </a:tr>
              <a:tr h="164286">
                <a:tc>
                  <a:txBody>
                    <a:bodyPr/>
                    <a:lstStyle/>
                    <a:p>
                      <a:pPr marL="0" indent="0" lvl="0">
                        <a:buNone/>
                      </a:pPr>
                      <a:r>
                        <a:rPr sz="700" b="1">
                          <a:solidFill>
                            <a:srgbClr val="060606"/>
                          </a:solidFill>
                          <a:latin typeface="Helvetica"/>
                        </a:rPr>
                        <a:t>16</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Prestations maladie comptabilisées par nature</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49</a:t>
                      </a:r>
                    </a:p>
                  </a:txBody>
                  <a:tcPr marL="43200" marR="43200" marT="14400" marB="14400" anchor="ctr">
                    <a:solidFill>
                      <a:srgbClr val="F2F2F2"/>
                    </a:solidFill>
                  </a:tcPr>
                </a:tc>
              </a:tr>
              <a:tr h="164286">
                <a:tc>
                  <a:txBody>
                    <a:bodyPr/>
                    <a:lstStyle/>
                    <a:p>
                      <a:pPr marL="0" indent="0" lvl="0">
                        <a:buNone/>
                      </a:pPr>
                      <a:r>
                        <a:rPr sz="700" b="1">
                          <a:solidFill>
                            <a:srgbClr val="060606"/>
                          </a:solidFill>
                          <a:latin typeface="Helvetica"/>
                        </a:rPr>
                        <a:t>17</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Frais de gestion et résultat net</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50</a:t>
                      </a:r>
                    </a:p>
                  </a:txBody>
                  <a:tcPr marL="43200" marR="43200" marT="14400" marB="14400" anchor="ctr">
                    <a:solidFill>
                      <a:srgbClr val="FFFFFF"/>
                    </a:solidFill>
                  </a:tcPr>
                </a:tc>
              </a:tr>
              <a:tr h="164286">
                <a:tc>
                  <a:txBody>
                    <a:bodyPr/>
                    <a:lstStyle/>
                    <a:p>
                      <a:pPr marL="0" indent="0" lvl="0">
                        <a:buNone/>
                      </a:pPr>
                      <a:r>
                        <a:rPr sz="700" b="1">
                          <a:solidFill>
                            <a:srgbClr val="060606"/>
                          </a:solidFill>
                          <a:latin typeface="Helvetica"/>
                        </a:rPr>
                        <a:t>18</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Épargne au passif et actifs réservés</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55</a:t>
                      </a:r>
                    </a:p>
                  </a:txBody>
                  <a:tcPr marL="43200" marR="43200" marT="14400" marB="14400" anchor="ctr">
                    <a:solidFill>
                      <a:srgbClr val="F2F2F2"/>
                    </a:solidFill>
                  </a:tcPr>
                </a:tc>
              </a:tr>
              <a:tr h="164286">
                <a:tc>
                  <a:txBody>
                    <a:bodyPr/>
                    <a:lstStyle/>
                    <a:p>
                      <a:pPr marL="0" indent="0" lvl="0">
                        <a:buNone/>
                      </a:pPr>
                      <a:r>
                        <a:rPr sz="700" b="1">
                          <a:solidFill>
                            <a:srgbClr val="060606"/>
                          </a:solidFill>
                          <a:latin typeface="Helvetica"/>
                        </a:rPr>
                        <a:t>19</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Versements précomptés par produit d'épargne</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56</a:t>
                      </a:r>
                    </a:p>
                  </a:txBody>
                  <a:tcPr marL="43200" marR="43200" marT="14400" marB="14400" anchor="ctr">
                    <a:solidFill>
                      <a:srgbClr val="FFFFFF"/>
                    </a:solidFill>
                  </a:tcPr>
                </a:tc>
              </a:tr>
              <a:tr h="164286">
                <a:tc>
                  <a:txBody>
                    <a:bodyPr/>
                    <a:lstStyle/>
                    <a:p>
                      <a:pPr marL="0" indent="0" lvl="0">
                        <a:buNone/>
                      </a:pPr>
                      <a:r>
                        <a:rPr sz="700" b="1">
                          <a:solidFill>
                            <a:srgbClr val="060606"/>
                          </a:solidFill>
                          <a:latin typeface="Helvetica"/>
                        </a:rPr>
                        <a:t>20</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Besoin de liquidités selon le taux de retrait</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57</a:t>
                      </a:r>
                    </a:p>
                  </a:txBody>
                  <a:tcPr marL="43200" marR="43200" marT="14400" marB="14400" anchor="ctr">
                    <a:solidFill>
                      <a:srgbClr val="F2F2F2"/>
                    </a:solidFill>
                  </a:tcPr>
                </a:tc>
              </a:tr>
              <a:tr h="164286">
                <a:tc>
                  <a:txBody>
                    <a:bodyPr/>
                    <a:lstStyle/>
                    <a:p>
                      <a:pPr marL="0" indent="0" lvl="0">
                        <a:buNone/>
                      </a:pPr>
                      <a:r>
                        <a:rPr sz="700" b="1">
                          <a:solidFill>
                            <a:srgbClr val="060606"/>
                          </a:solidFill>
                          <a:latin typeface="Helvetica"/>
                        </a:rPr>
                        <a:t>21</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Encours des prêts et financement du FPPN</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62</a:t>
                      </a:r>
                    </a:p>
                  </a:txBody>
                  <a:tcPr marL="43200" marR="43200" marT="14400" marB="14400" anchor="ctr">
                    <a:solidFill>
                      <a:srgbClr val="FFFFFF"/>
                    </a:solidFill>
                  </a:tcPr>
                </a:tc>
              </a:tr>
            </a:tbl>
          </a:graphicData>
        </a:graphic>
      </p:graphicFrame>
      <p:graphicFrame>
        <p:nvGraphicFramePr>
          <p:cNvPr id="29" name="Table 28"/>
          <p:cNvGraphicFramePr>
            <a:graphicFrameLocks noGrp="1"/>
          </p:cNvGraphicFramePr>
          <p:nvPr/>
        </p:nvGraphicFramePr>
        <p:xfrm>
          <a:off x="6263999" y="648000"/>
          <a:ext cx="5543999" cy="3614292"/>
        </p:xfrm>
        <a:graphic>
          <a:graphicData uri="http://schemas.openxmlformats.org/drawingml/2006/table">
            <a:tbl>
              <a:tblPr firstRow="0" bandRow="0">
                <a:tableStyleId>{5940675A-B579-460E-94D1-54222C63F5DA}</a:tableStyleId>
              </a:tblPr>
              <a:tblGrid>
                <a:gridCol w="576000"/>
                <a:gridCol w="4464000"/>
                <a:gridCol w="503999"/>
              </a:tblGrid>
              <a:tr h="164286">
                <a:tc>
                  <a:txBody>
                    <a:bodyPr/>
                    <a:lstStyle/>
                    <a:p>
                      <a:pPr marL="0" indent="0" lvl="0">
                        <a:buNone/>
                      </a:pPr>
                      <a:r>
                        <a:rPr sz="700" b="1">
                          <a:solidFill>
                            <a:srgbClr val="FFFFFF"/>
                          </a:solidFill>
                          <a:latin typeface="Helvetica"/>
                        </a:rPr>
                        <a:t>Figure</a:t>
                      </a:r>
                    </a:p>
                  </a:txBody>
                  <a:tcPr marL="43200" marR="43200" marT="14400" marB="14400" anchor="ctr">
                    <a:solidFill>
                      <a:srgbClr val="060606"/>
                    </a:solidFill>
                  </a:tcPr>
                </a:tc>
                <a:tc>
                  <a:txBody>
                    <a:bodyPr/>
                    <a:lstStyle/>
                    <a:p>
                      <a:pPr marL="0" indent="0" lvl="0">
                        <a:buNone/>
                      </a:pPr>
                      <a:r>
                        <a:rPr sz="700" b="1">
                          <a:solidFill>
                            <a:srgbClr val="FFFFFF"/>
                          </a:solidFill>
                          <a:latin typeface="Helvetica"/>
                        </a:rPr>
                        <a:t>Titre</a:t>
                      </a:r>
                    </a:p>
                  </a:txBody>
                  <a:tcPr marL="43200" marR="43200" marT="14400" marB="14400" anchor="ctr">
                    <a:solidFill>
                      <a:srgbClr val="060606"/>
                    </a:solidFill>
                  </a:tcPr>
                </a:tc>
                <a:tc>
                  <a:txBody>
                    <a:bodyPr/>
                    <a:lstStyle/>
                    <a:p>
                      <a:pPr marL="0" indent="0" lvl="0">
                        <a:buNone/>
                      </a:pPr>
                      <a:r>
                        <a:rPr sz="700" b="1">
                          <a:solidFill>
                            <a:srgbClr val="FFFFFF"/>
                          </a:solidFill>
                          <a:latin typeface="Helvetica"/>
                        </a:rPr>
                        <a:t>Diapo.</a:t>
                      </a:r>
                    </a:p>
                  </a:txBody>
                  <a:tcPr marL="43200" marR="43200" marT="14400" marB="14400" anchor="ctr">
                    <a:solidFill>
                      <a:srgbClr val="060606"/>
                    </a:solidFill>
                  </a:tcPr>
                </a:tc>
              </a:tr>
              <a:tr h="164286">
                <a:tc>
                  <a:txBody>
                    <a:bodyPr/>
                    <a:lstStyle/>
                    <a:p>
                      <a:pPr marL="0" indent="0" lvl="0">
                        <a:buNone/>
                      </a:pPr>
                      <a:r>
                        <a:rPr sz="700" b="1">
                          <a:solidFill>
                            <a:srgbClr val="060606"/>
                          </a:solidFill>
                          <a:latin typeface="Helvetica"/>
                        </a:rPr>
                        <a:t>22</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Montants débloqués par type de crédit</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63</a:t>
                      </a:r>
                    </a:p>
                  </a:txBody>
                  <a:tcPr marL="43200" marR="43200" marT="14400" marB="14400" anchor="ctr">
                    <a:solidFill>
                      <a:srgbClr val="FFFFFF"/>
                    </a:solidFill>
                  </a:tcPr>
                </a:tc>
              </a:tr>
              <a:tr h="164286">
                <a:tc>
                  <a:txBody>
                    <a:bodyPr/>
                    <a:lstStyle/>
                    <a:p>
                      <a:pPr marL="0" indent="0" lvl="0">
                        <a:buNone/>
                      </a:pPr>
                      <a:r>
                        <a:rPr sz="700" b="1">
                          <a:solidFill>
                            <a:srgbClr val="060606"/>
                          </a:solidFill>
                          <a:latin typeface="Helvetica"/>
                        </a:rPr>
                        <a:t>23</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Part de l'encours en retard de plus de 30 et 90 jours</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64</a:t>
                      </a:r>
                    </a:p>
                  </a:txBody>
                  <a:tcPr marL="43200" marR="43200" marT="14400" marB="14400" anchor="ctr">
                    <a:solidFill>
                      <a:srgbClr val="F2F2F2"/>
                    </a:solidFill>
                  </a:tcPr>
                </a:tc>
              </a:tr>
              <a:tr h="164286">
                <a:tc>
                  <a:txBody>
                    <a:bodyPr/>
                    <a:lstStyle/>
                    <a:p>
                      <a:pPr marL="0" indent="0" lvl="0">
                        <a:buNone/>
                      </a:pPr>
                      <a:r>
                        <a:rPr sz="700" b="1">
                          <a:solidFill>
                            <a:srgbClr val="060606"/>
                          </a:solidFill>
                          <a:latin typeface="Helvetica"/>
                        </a:rPr>
                        <a:t>24</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Échéances des prêts en cours et précomptes 9X4, 2026</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66</a:t>
                      </a:r>
                    </a:p>
                  </a:txBody>
                  <a:tcPr marL="43200" marR="43200" marT="14400" marB="14400" anchor="ctr">
                    <a:solidFill>
                      <a:srgbClr val="FFFFFF"/>
                    </a:solidFill>
                  </a:tcPr>
                </a:tc>
              </a:tr>
              <a:tr h="164286">
                <a:tc>
                  <a:txBody>
                    <a:bodyPr/>
                    <a:lstStyle/>
                    <a:p>
                      <a:pPr marL="0" indent="0" lvl="0">
                        <a:buNone/>
                      </a:pPr>
                      <a:r>
                        <a:rPr sz="700" b="1">
                          <a:solidFill>
                            <a:srgbClr val="060606"/>
                          </a:solidFill>
                          <a:latin typeface="Helvetica"/>
                        </a:rPr>
                        <a:t>25</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Retraités précomptés par la CGRAE, par mois</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70</a:t>
                      </a:r>
                    </a:p>
                  </a:txBody>
                  <a:tcPr marL="43200" marR="43200" marT="14400" marB="14400" anchor="ctr">
                    <a:solidFill>
                      <a:srgbClr val="F2F2F2"/>
                    </a:solidFill>
                  </a:tcPr>
                </a:tc>
              </a:tr>
              <a:tr h="164286">
                <a:tc>
                  <a:txBody>
                    <a:bodyPr/>
                    <a:lstStyle/>
                    <a:p>
                      <a:pPr marL="0" indent="0" lvl="0">
                        <a:buNone/>
                      </a:pPr>
                      <a:r>
                        <a:rPr sz="700" b="1">
                          <a:solidFill>
                            <a:srgbClr val="060606"/>
                          </a:solidFill>
                          <a:latin typeface="Helvetica"/>
                        </a:rPr>
                        <a:t>26</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Mois de prestations couverts par les provisions</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75</a:t>
                      </a:r>
                    </a:p>
                  </a:txBody>
                  <a:tcPr marL="43200" marR="43200" marT="14400" marB="14400" anchor="ctr">
                    <a:solidFill>
                      <a:srgbClr val="FFFFFF"/>
                    </a:solidFill>
                  </a:tcPr>
                </a:tc>
              </a:tr>
              <a:tr h="164286">
                <a:tc>
                  <a:txBody>
                    <a:bodyPr/>
                    <a:lstStyle/>
                    <a:p>
                      <a:pPr marL="0" indent="0" lvl="0">
                        <a:buNone/>
                      </a:pPr>
                      <a:r>
                        <a:rPr sz="700" b="1">
                          <a:solidFill>
                            <a:srgbClr val="060606"/>
                          </a:solidFill>
                          <a:latin typeface="Helvetica"/>
                        </a:rPr>
                        <a:t>27</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Principaux postes de l'actif</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76</a:t>
                      </a:r>
                    </a:p>
                  </a:txBody>
                  <a:tcPr marL="43200" marR="43200" marT="14400" marB="14400" anchor="ctr">
                    <a:solidFill>
                      <a:srgbClr val="F2F2F2"/>
                    </a:solidFill>
                  </a:tcPr>
                </a:tc>
              </a:tr>
              <a:tr h="164286">
                <a:tc>
                  <a:txBody>
                    <a:bodyPr/>
                    <a:lstStyle/>
                    <a:p>
                      <a:pPr marL="0" indent="0" lvl="0">
                        <a:buNone/>
                      </a:pPr>
                      <a:r>
                        <a:rPr sz="700" b="1">
                          <a:solidFill>
                            <a:srgbClr val="060606"/>
                          </a:solidFill>
                          <a:latin typeface="Helvetica"/>
                        </a:rPr>
                        <a:t>28</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Actif par délai de mobilisation et passif par échéance</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77</a:t>
                      </a:r>
                    </a:p>
                  </a:txBody>
                  <a:tcPr marL="43200" marR="43200" marT="14400" marB="14400" anchor="ctr">
                    <a:solidFill>
                      <a:srgbClr val="FFFFFF"/>
                    </a:solidFill>
                  </a:tcPr>
                </a:tc>
              </a:tr>
              <a:tr h="164286">
                <a:tc>
                  <a:txBody>
                    <a:bodyPr/>
                    <a:lstStyle/>
                    <a:p>
                      <a:pPr marL="0" indent="0" lvl="0">
                        <a:buNone/>
                      </a:pPr>
                      <a:r>
                        <a:rPr sz="700" b="1">
                          <a:solidFill>
                            <a:srgbClr val="060606"/>
                          </a:solidFill>
                          <a:latin typeface="Helvetica"/>
                        </a:rPr>
                        <a:t>29</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Fonds propres et résultat de l'exercice</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79</a:t>
                      </a:r>
                    </a:p>
                  </a:txBody>
                  <a:tcPr marL="43200" marR="43200" marT="14400" marB="14400" anchor="ctr">
                    <a:solidFill>
                      <a:srgbClr val="F2F2F2"/>
                    </a:solidFill>
                  </a:tcPr>
                </a:tc>
              </a:tr>
              <a:tr h="164286">
                <a:tc>
                  <a:txBody>
                    <a:bodyPr/>
                    <a:lstStyle/>
                    <a:p>
                      <a:pPr marL="0" indent="0" lvl="0">
                        <a:buNone/>
                      </a:pPr>
                      <a:r>
                        <a:rPr sz="700" b="1">
                          <a:solidFill>
                            <a:srgbClr val="060606"/>
                          </a:solidFill>
                          <a:latin typeface="Helvetica"/>
                        </a:rPr>
                        <a:t>30</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Taux directeur de la BCEAO</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80</a:t>
                      </a:r>
                    </a:p>
                  </a:txBody>
                  <a:tcPr marL="43200" marR="43200" marT="14400" marB="14400" anchor="ctr">
                    <a:solidFill>
                      <a:srgbClr val="FFFFFF"/>
                    </a:solidFill>
                  </a:tcPr>
                </a:tc>
              </a:tr>
              <a:tr h="164286">
                <a:tc>
                  <a:txBody>
                    <a:bodyPr/>
                    <a:lstStyle/>
                    <a:p>
                      <a:pPr marL="0" indent="0" lvl="0">
                        <a:buNone/>
                      </a:pPr>
                      <a:r>
                        <a:rPr sz="700" b="1">
                          <a:solidFill>
                            <a:srgbClr val="060606"/>
                          </a:solidFill>
                          <a:latin typeface="Helvetica"/>
                        </a:rPr>
                        <a:t>31</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Liquidité et équilibre stable, comme le FPPN et retraités</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93</a:t>
                      </a:r>
                    </a:p>
                  </a:txBody>
                  <a:tcPr marL="43200" marR="43200" marT="14400" marB="14400" anchor="ctr">
                    <a:solidFill>
                      <a:srgbClr val="F2F2F2"/>
                    </a:solidFill>
                  </a:tcPr>
                </a:tc>
              </a:tr>
              <a:tr h="164286">
                <a:tc>
                  <a:txBody>
                    <a:bodyPr/>
                    <a:lstStyle/>
                    <a:p>
                      <a:pPr marL="0" indent="0" lvl="0">
                        <a:buNone/>
                      </a:pPr>
                      <a:r>
                        <a:rPr sz="700" b="1">
                          <a:solidFill>
                            <a:srgbClr val="060606"/>
                          </a:solidFill>
                          <a:latin typeface="Helvetica"/>
                        </a:rPr>
                        <a:t>32</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Excédent technique par risque, frais répartis au prorata des cotisations</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104</a:t>
                      </a:r>
                    </a:p>
                  </a:txBody>
                  <a:tcPr marL="43200" marR="43200" marT="14400" marB="14400" anchor="ctr">
                    <a:solidFill>
                      <a:srgbClr val="FFFFFF"/>
                    </a:solidFill>
                  </a:tcPr>
                </a:tc>
              </a:tr>
              <a:tr h="164286">
                <a:tc>
                  <a:txBody>
                    <a:bodyPr/>
                    <a:lstStyle/>
                    <a:p>
                      <a:pPr marL="0" indent="0" lvl="0">
                        <a:buNone/>
                      </a:pPr>
                      <a:r>
                        <a:rPr sz="700" b="1">
                          <a:solidFill>
                            <a:srgbClr val="060606"/>
                          </a:solidFill>
                          <a:latin typeface="Helvetica"/>
                        </a:rPr>
                        <a:t>33</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Marge de solvabilité exigée et disponible</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106</a:t>
                      </a:r>
                    </a:p>
                  </a:txBody>
                  <a:tcPr marL="43200" marR="43200" marT="14400" marB="14400" anchor="ctr">
                    <a:solidFill>
                      <a:srgbClr val="F2F2F2"/>
                    </a:solidFill>
                  </a:tcPr>
                </a:tc>
              </a:tr>
              <a:tr h="164286">
                <a:tc>
                  <a:txBody>
                    <a:bodyPr/>
                    <a:lstStyle/>
                    <a:p>
                      <a:pPr marL="0" indent="0" lvl="0">
                        <a:buNone/>
                      </a:pPr>
                      <a:r>
                        <a:rPr sz="700" b="1">
                          <a:solidFill>
                            <a:srgbClr val="060606"/>
                          </a:solidFill>
                          <a:latin typeface="Helvetica"/>
                        </a:rPr>
                        <a:t>34</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Survivants pour 100 naissances, par âge</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114</a:t>
                      </a:r>
                    </a:p>
                  </a:txBody>
                  <a:tcPr marL="43200" marR="43200" marT="14400" marB="14400" anchor="ctr">
                    <a:solidFill>
                      <a:srgbClr val="FFFFFF"/>
                    </a:solidFill>
                  </a:tcPr>
                </a:tc>
              </a:tr>
              <a:tr h="164286">
                <a:tc>
                  <a:txBody>
                    <a:bodyPr/>
                    <a:lstStyle/>
                    <a:p>
                      <a:pPr marL="0" indent="0" lvl="0">
                        <a:buNone/>
                      </a:pPr>
                      <a:r>
                        <a:rPr sz="700" b="1">
                          <a:solidFill>
                            <a:srgbClr val="060606"/>
                          </a:solidFill>
                          <a:latin typeface="Helvetica"/>
                        </a:rPr>
                        <a:t>35</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Probabilité de décès dans l'année (qx), par âge</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115</a:t>
                      </a:r>
                    </a:p>
                  </a:txBody>
                  <a:tcPr marL="43200" marR="43200" marT="14400" marB="14400" anchor="ctr">
                    <a:solidFill>
                      <a:srgbClr val="F2F2F2"/>
                    </a:solidFill>
                  </a:tcPr>
                </a:tc>
              </a:tr>
              <a:tr h="164286">
                <a:tc>
                  <a:txBody>
                    <a:bodyPr/>
                    <a:lstStyle/>
                    <a:p>
                      <a:pPr marL="0" indent="0" lvl="0">
                        <a:buNone/>
                      </a:pPr>
                      <a:r>
                        <a:rPr sz="700" b="1">
                          <a:solidFill>
                            <a:srgbClr val="060606"/>
                          </a:solidFill>
                          <a:latin typeface="Helvetica"/>
                        </a:rPr>
                        <a:t>36</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Extrait du script dans VS Code sous Windows (reconnaître le vrai format)</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133</a:t>
                      </a:r>
                    </a:p>
                  </a:txBody>
                  <a:tcPr marL="43200" marR="43200" marT="14400" marB="14400" anchor="ctr">
                    <a:solidFill>
                      <a:srgbClr val="FFFFFF"/>
                    </a:solidFill>
                  </a:tcPr>
                </a:tc>
              </a:tr>
              <a:tr h="164286">
                <a:tc>
                  <a:txBody>
                    <a:bodyPr/>
                    <a:lstStyle/>
                    <a:p>
                      <a:pPr marL="0" indent="0" lvl="0">
                        <a:buNone/>
                      </a:pPr>
                      <a:r>
                        <a:rPr sz="700" b="1">
                          <a:solidFill>
                            <a:srgbClr val="060606"/>
                          </a:solidFill>
                          <a:latin typeface="Helvetica"/>
                        </a:rPr>
                        <a:t>37</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Extrait du script dans VS Code sous Windows (écarter les lignes de total)</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134</a:t>
                      </a:r>
                    </a:p>
                  </a:txBody>
                  <a:tcPr marL="43200" marR="43200" marT="14400" marB="14400" anchor="ctr">
                    <a:solidFill>
                      <a:srgbClr val="F2F2F2"/>
                    </a:solidFill>
                  </a:tcPr>
                </a:tc>
              </a:tr>
              <a:tr h="164286">
                <a:tc>
                  <a:txBody>
                    <a:bodyPr/>
                    <a:lstStyle/>
                    <a:p>
                      <a:pPr marL="0" indent="0" lvl="0">
                        <a:buNone/>
                      </a:pPr>
                      <a:r>
                        <a:rPr sz="700" b="1">
                          <a:solidFill>
                            <a:srgbClr val="060606"/>
                          </a:solidFill>
                          <a:latin typeface="Helvetica"/>
                        </a:rPr>
                        <a:t>38</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Extrait du script dans VS Code sous Windows (corriger les montants doublés)</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135</a:t>
                      </a:r>
                    </a:p>
                  </a:txBody>
                  <a:tcPr marL="43200" marR="43200" marT="14400" marB="14400" anchor="ctr">
                    <a:solidFill>
                      <a:srgbClr val="FFFFFF"/>
                    </a:solidFill>
                  </a:tcPr>
                </a:tc>
              </a:tr>
              <a:tr h="164286">
                <a:tc>
                  <a:txBody>
                    <a:bodyPr/>
                    <a:lstStyle/>
                    <a:p>
                      <a:pPr marL="0" indent="0" lvl="0">
                        <a:buNone/>
                      </a:pPr>
                      <a:r>
                        <a:rPr sz="700" b="1">
                          <a:solidFill>
                            <a:srgbClr val="060606"/>
                          </a:solidFill>
                          <a:latin typeface="Helvetica"/>
                        </a:rPr>
                        <a:t>39</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Extrait du script dans VS Code sous Windows (lire les montants du Grenier)</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136</a:t>
                      </a:r>
                    </a:p>
                  </a:txBody>
                  <a:tcPr marL="43200" marR="43200" marT="14400" marB="14400" anchor="ctr">
                    <a:solidFill>
                      <a:srgbClr val="F2F2F2"/>
                    </a:solidFill>
                  </a:tcPr>
                </a:tc>
              </a:tr>
              <a:tr h="164286">
                <a:tc>
                  <a:txBody>
                    <a:bodyPr/>
                    <a:lstStyle/>
                    <a:p>
                      <a:pPr marL="0" indent="0" lvl="0">
                        <a:buNone/>
                      </a:pPr>
                      <a:r>
                        <a:rPr sz="700" b="1">
                          <a:solidFill>
                            <a:srgbClr val="060606"/>
                          </a:solidFill>
                          <a:latin typeface="Helvetica"/>
                        </a:rPr>
                        <a:t>40</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Extrait du script dans VS Code sous Windows (calculer la sinistralité)</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137</a:t>
                      </a:r>
                    </a:p>
                  </a:txBody>
                  <a:tcPr marL="43200" marR="43200" marT="14400" marB="14400" anchor="ctr">
                    <a:solidFill>
                      <a:srgbClr val="FFFFFF"/>
                    </a:solidFill>
                  </a:tcPr>
                </a:tc>
              </a:tr>
              <a:tr h="164286">
                <a:tc>
                  <a:txBody>
                    <a:bodyPr/>
                    <a:lstStyle/>
                    <a:p>
                      <a:pPr marL="0" indent="0" lvl="0">
                        <a:buNone/>
                      </a:pPr>
                      <a:r>
                        <a:rPr sz="700" b="1">
                          <a:solidFill>
                            <a:srgbClr val="060606"/>
                          </a:solidFill>
                          <a:latin typeface="Helvetica"/>
                        </a:rPr>
                        <a:t>41</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Extrait du script dans VS Code sous Windows (intervalle de confiance)</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138</a:t>
                      </a:r>
                    </a:p>
                  </a:txBody>
                  <a:tcPr marL="43200" marR="43200" marT="14400" marB="14400" anchor="ctr">
                    <a:solidFill>
                      <a:srgbClr val="F2F2F2"/>
                    </a:solidFill>
                  </a:tcPr>
                </a:tc>
              </a:tr>
              <a:tr h="164286">
                <a:tc>
                  <a:txBody>
                    <a:bodyPr/>
                    <a:lstStyle/>
                    <a:p>
                      <a:pPr marL="0" indent="0" lvl="0">
                        <a:buNone/>
                      </a:pPr>
                      <a:r>
                        <a:rPr sz="700" b="1">
                          <a:solidFill>
                            <a:srgbClr val="060606"/>
                          </a:solidFill>
                          <a:latin typeface="Helvetica"/>
                        </a:rPr>
                        <a:t>42</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Extrait du script dans VS Code sous Windows (statut d'un ratio prudentiel)</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139</a:t>
                      </a:r>
                    </a:p>
                  </a:txBody>
                  <a:tcPr marL="43200" marR="43200" marT="14400" marB="14400" anchor="ctr">
                    <a:solidFill>
                      <a:srgbClr val="FFFFFF"/>
                    </a:solidFill>
                  </a:tcPr>
                </a:tc>
              </a:tr>
            </a:tbl>
          </a:graphicData>
        </a:graphic>
      </p:graphicFrame>
    </p:spTree>
    <p:extLst>
      <p:ext uri="{BB962C8B-B14F-4D97-AF65-F5344CB8AC3E}">
        <p14:creationId xmlns:p14="http://schemas.microsoft.com/office/powerpoint/2010/main" val="1660346857"/>
      </p:ext>
    </p:extLst>
  </p:cSld>
  <p:clrMapOvr>
    <a:masterClrMapping/>
  </p:clrMapOvr>
  <p:transition>
    <p:fade/>
  </p:transition>
</p:sld>
</file>

<file path=ppt/slides/slide1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TextBox 26"/>
          <p:cNvSpPr txBox="1"/>
          <p:nvPr/>
        </p:nvSpPr>
        <p:spPr>
          <a:xfrm>
            <a:off x="547200" y="144000"/>
            <a:ext cx="11246400" cy="396000"/>
          </a:xfrm>
          <a:prstGeom prst="rect">
            <a:avLst/>
          </a:prstGeom>
          <a:noFill/>
        </p:spPr>
        <p:txBody>
          <a:bodyPr wrap="square" anchor="t" lIns="54000" rIns="54000"/>
          <a:lstStyle/>
          <a:p>
            <a:pPr algn="l"/>
            <a:r>
              <a:rPr sz="2000" b="1">
                <a:solidFill>
                  <a:srgbClr val="060606"/>
                </a:solidFill>
                <a:latin typeface="Helvetica"/>
              </a:rPr>
              <a:t>Liste des tableaux</a:t>
            </a:r>
          </a:p>
        </p:txBody>
      </p:sp>
      <p:graphicFrame>
        <p:nvGraphicFramePr>
          <p:cNvPr id="28" name="Table 27"/>
          <p:cNvGraphicFramePr>
            <a:graphicFrameLocks noGrp="1"/>
          </p:cNvGraphicFramePr>
          <p:nvPr/>
        </p:nvGraphicFramePr>
        <p:xfrm>
          <a:off x="503999" y="648000"/>
          <a:ext cx="5543999" cy="2792862"/>
        </p:xfrm>
        <a:graphic>
          <a:graphicData uri="http://schemas.openxmlformats.org/drawingml/2006/table">
            <a:tbl>
              <a:tblPr firstRow="0" bandRow="0">
                <a:tableStyleId>{5940675A-B579-460E-94D1-54222C63F5DA}</a:tableStyleId>
              </a:tblPr>
              <a:tblGrid>
                <a:gridCol w="576000"/>
                <a:gridCol w="4464000"/>
                <a:gridCol w="503999"/>
              </a:tblGrid>
              <a:tr h="164286">
                <a:tc>
                  <a:txBody>
                    <a:bodyPr/>
                    <a:lstStyle/>
                    <a:p>
                      <a:pPr marL="0" indent="0" lvl="0">
                        <a:buNone/>
                      </a:pPr>
                      <a:r>
                        <a:rPr sz="700" b="1">
                          <a:solidFill>
                            <a:srgbClr val="FFFFFF"/>
                          </a:solidFill>
                          <a:latin typeface="Helvetica"/>
                        </a:rPr>
                        <a:t>Tableau</a:t>
                      </a:r>
                    </a:p>
                  </a:txBody>
                  <a:tcPr marL="43200" marR="43200" marT="14400" marB="14400" anchor="ctr">
                    <a:solidFill>
                      <a:srgbClr val="060606"/>
                    </a:solidFill>
                  </a:tcPr>
                </a:tc>
                <a:tc>
                  <a:txBody>
                    <a:bodyPr/>
                    <a:lstStyle/>
                    <a:p>
                      <a:pPr marL="0" indent="0" lvl="0">
                        <a:buNone/>
                      </a:pPr>
                      <a:r>
                        <a:rPr sz="700" b="1">
                          <a:solidFill>
                            <a:srgbClr val="FFFFFF"/>
                          </a:solidFill>
                          <a:latin typeface="Helvetica"/>
                        </a:rPr>
                        <a:t>Titre</a:t>
                      </a:r>
                    </a:p>
                  </a:txBody>
                  <a:tcPr marL="43200" marR="43200" marT="14400" marB="14400" anchor="ctr">
                    <a:solidFill>
                      <a:srgbClr val="060606"/>
                    </a:solidFill>
                  </a:tcPr>
                </a:tc>
                <a:tc>
                  <a:txBody>
                    <a:bodyPr/>
                    <a:lstStyle/>
                    <a:p>
                      <a:pPr marL="0" indent="0" lvl="0">
                        <a:buNone/>
                      </a:pPr>
                      <a:r>
                        <a:rPr sz="700" b="1">
                          <a:solidFill>
                            <a:srgbClr val="FFFFFF"/>
                          </a:solidFill>
                          <a:latin typeface="Helvetica"/>
                        </a:rPr>
                        <a:t>Diapo.</a:t>
                      </a:r>
                    </a:p>
                  </a:txBody>
                  <a:tcPr marL="43200" marR="43200" marT="14400" marB="14400" anchor="ctr">
                    <a:solidFill>
                      <a:srgbClr val="060606"/>
                    </a:solidFill>
                  </a:tcPr>
                </a:tc>
              </a:tr>
              <a:tr h="164286">
                <a:tc>
                  <a:txBody>
                    <a:bodyPr/>
                    <a:lstStyle/>
                    <a:p>
                      <a:pPr marL="0" indent="0" lvl="0">
                        <a:buNone/>
                      </a:pPr>
                      <a:r>
                        <a:rPr sz="700" b="1">
                          <a:solidFill>
                            <a:srgbClr val="060606"/>
                          </a:solidFill>
                          <a:latin typeface="Helvetica"/>
                        </a:rPr>
                        <a:t>1</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Principaux constats au 15/10/2026</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4</a:t>
                      </a:r>
                    </a:p>
                  </a:txBody>
                  <a:tcPr marL="43200" marR="43200" marT="14400" marB="14400" anchor="ctr">
                    <a:solidFill>
                      <a:srgbClr val="FFFFFF"/>
                    </a:solidFill>
                  </a:tcPr>
                </a:tc>
              </a:tr>
              <a:tr h="164286">
                <a:tc>
                  <a:txBody>
                    <a:bodyPr/>
                    <a:lstStyle/>
                    <a:p>
                      <a:pPr marL="0" indent="0" lvl="0">
                        <a:buNone/>
                      </a:pPr>
                      <a:r>
                        <a:rPr sz="700" b="1">
                          <a:solidFill>
                            <a:srgbClr val="060606"/>
                          </a:solidFill>
                          <a:latin typeface="Helvetica"/>
                        </a:rPr>
                        <a:t>2</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Huit ratios prudentiels clés, exercice 2025</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10</a:t>
                      </a:r>
                    </a:p>
                  </a:txBody>
                  <a:tcPr marL="43200" marR="43200" marT="14400" marB="14400" anchor="ctr">
                    <a:solidFill>
                      <a:srgbClr val="F2F2F2"/>
                    </a:solidFill>
                  </a:tcPr>
                </a:tc>
              </a:tr>
              <a:tr h="164286">
                <a:tc>
                  <a:txBody>
                    <a:bodyPr/>
                    <a:lstStyle/>
                    <a:p>
                      <a:pPr marL="0" indent="0" lvl="0">
                        <a:buNone/>
                      </a:pPr>
                      <a:r>
                        <a:rPr sz="700" b="1">
                          <a:solidFill>
                            <a:srgbClr val="060606"/>
                          </a:solidFill>
                          <a:latin typeface="Helvetica"/>
                        </a:rPr>
                        <a:t>3</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Actions recommandées</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13</a:t>
                      </a:r>
                    </a:p>
                  </a:txBody>
                  <a:tcPr marL="43200" marR="43200" marT="14400" marB="14400" anchor="ctr">
                    <a:solidFill>
                      <a:srgbClr val="FFFFFF"/>
                    </a:solidFill>
                  </a:tcPr>
                </a:tc>
              </a:tr>
              <a:tr h="164286">
                <a:tc>
                  <a:txBody>
                    <a:bodyPr/>
                    <a:lstStyle/>
                    <a:p>
                      <a:pPr marL="0" indent="0" lvl="0">
                        <a:buNone/>
                      </a:pPr>
                      <a:r>
                        <a:rPr sz="700" b="1">
                          <a:solidFill>
                            <a:srgbClr val="060606"/>
                          </a:solidFill>
                          <a:latin typeface="Helvetica"/>
                        </a:rPr>
                        <a:t>4</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Textes et organismes de référence</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16</a:t>
                      </a:r>
                    </a:p>
                  </a:txBody>
                  <a:tcPr marL="43200" marR="43200" marT="14400" marB="14400" anchor="ctr">
                    <a:solidFill>
                      <a:srgbClr val="F2F2F2"/>
                    </a:solidFill>
                  </a:tcPr>
                </a:tc>
              </a:tr>
              <a:tr h="164286">
                <a:tc>
                  <a:txBody>
                    <a:bodyPr/>
                    <a:lstStyle/>
                    <a:p>
                      <a:pPr marL="0" indent="0" lvl="0">
                        <a:buNone/>
                      </a:pPr>
                      <a:r>
                        <a:rPr sz="700" b="1">
                          <a:solidFill>
                            <a:srgbClr val="060606"/>
                          </a:solidFill>
                          <a:latin typeface="Helvetica"/>
                        </a:rPr>
                        <a:t>5</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Produits du FPPN et montants observés</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17</a:t>
                      </a:r>
                    </a:p>
                  </a:txBody>
                  <a:tcPr marL="43200" marR="43200" marT="14400" marB="14400" anchor="ctr">
                    <a:solidFill>
                      <a:srgbClr val="FFFFFF"/>
                    </a:solidFill>
                  </a:tcPr>
                </a:tc>
              </a:tr>
              <a:tr h="164286">
                <a:tc>
                  <a:txBody>
                    <a:bodyPr/>
                    <a:lstStyle/>
                    <a:p>
                      <a:pPr marL="0" indent="0" lvl="0">
                        <a:buNone/>
                      </a:pPr>
                      <a:r>
                        <a:rPr sz="700" b="1">
                          <a:solidFill>
                            <a:srgbClr val="060606"/>
                          </a:solidFill>
                          <a:latin typeface="Helvetica"/>
                        </a:rPr>
                        <a:t>6</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Notions utilisées dans le rapport</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20</a:t>
                      </a:r>
                    </a:p>
                  </a:txBody>
                  <a:tcPr marL="43200" marR="43200" marT="14400" marB="14400" anchor="ctr">
                    <a:solidFill>
                      <a:srgbClr val="F2F2F2"/>
                    </a:solidFill>
                  </a:tcPr>
                </a:tc>
              </a:tr>
              <a:tr h="164286">
                <a:tc>
                  <a:txBody>
                    <a:bodyPr/>
                    <a:lstStyle/>
                    <a:p>
                      <a:pPr marL="0" indent="0" lvl="0">
                        <a:buNone/>
                      </a:pPr>
                      <a:r>
                        <a:rPr sz="700" b="1">
                          <a:solidFill>
                            <a:srgbClr val="060606"/>
                          </a:solidFill>
                          <a:latin typeface="Helvetica"/>
                        </a:rPr>
                        <a:t>7</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Périmètre de la mission actuarielle et statistique</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22</a:t>
                      </a:r>
                    </a:p>
                  </a:txBody>
                  <a:tcPr marL="43200" marR="43200" marT="14400" marB="14400" anchor="ctr">
                    <a:solidFill>
                      <a:srgbClr val="FFFFFF"/>
                    </a:solidFill>
                  </a:tcPr>
                </a:tc>
              </a:tr>
              <a:tr h="164286">
                <a:tc>
                  <a:txBody>
                    <a:bodyPr/>
                    <a:lstStyle/>
                    <a:p>
                      <a:pPr marL="0" indent="0" lvl="0">
                        <a:buNone/>
                      </a:pPr>
                      <a:r>
                        <a:rPr sz="700" b="1">
                          <a:solidFill>
                            <a:srgbClr val="060606"/>
                          </a:solidFill>
                          <a:latin typeface="Helvetica"/>
                        </a:rPr>
                        <a:t>8</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Fichiers à renvoyer ou à corriger</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31</a:t>
                      </a:r>
                    </a:p>
                  </a:txBody>
                  <a:tcPr marL="43200" marR="43200" marT="14400" marB="14400" anchor="ctr">
                    <a:solidFill>
                      <a:srgbClr val="F2F2F2"/>
                    </a:solidFill>
                  </a:tcPr>
                </a:tc>
              </a:tr>
              <a:tr h="164286">
                <a:tc>
                  <a:txBody>
                    <a:bodyPr/>
                    <a:lstStyle/>
                    <a:p>
                      <a:pPr marL="0" indent="0" lvl="0">
                        <a:buNone/>
                      </a:pPr>
                      <a:r>
                        <a:rPr sz="700" b="1">
                          <a:solidFill>
                            <a:srgbClr val="060606"/>
                          </a:solidFill>
                          <a:latin typeface="Helvetica"/>
                        </a:rPr>
                        <a:t>9</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Taux de croissance annuels moyens</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48</a:t>
                      </a:r>
                    </a:p>
                  </a:txBody>
                  <a:tcPr marL="43200" marR="43200" marT="14400" marB="14400" anchor="ctr">
                    <a:solidFill>
                      <a:srgbClr val="FFFFFF"/>
                    </a:solidFill>
                  </a:tcPr>
                </a:tc>
              </a:tr>
              <a:tr h="164286">
                <a:tc>
                  <a:txBody>
                    <a:bodyPr/>
                    <a:lstStyle/>
                    <a:p>
                      <a:pPr marL="0" indent="0" lvl="0">
                        <a:buNone/>
                      </a:pPr>
                      <a:r>
                        <a:rPr sz="700" b="1">
                          <a:solidFill>
                            <a:srgbClr val="060606"/>
                          </a:solidFill>
                          <a:latin typeface="Helvetica"/>
                        </a:rPr>
                        <a:t>10</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Références du poste 998, 2020 à août 2026</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58</a:t>
                      </a:r>
                    </a:p>
                  </a:txBody>
                  <a:tcPr marL="43200" marR="43200" marT="14400" marB="14400" anchor="ctr">
                    <a:solidFill>
                      <a:srgbClr val="F2F2F2"/>
                    </a:solidFill>
                  </a:tcPr>
                </a:tc>
              </a:tr>
              <a:tr h="164286">
                <a:tc>
                  <a:txBody>
                    <a:bodyPr/>
                    <a:lstStyle/>
                    <a:p>
                      <a:pPr marL="0" indent="0" lvl="0">
                        <a:buNone/>
                      </a:pPr>
                      <a:r>
                        <a:rPr sz="700" b="1">
                          <a:solidFill>
                            <a:srgbClr val="060606"/>
                          </a:solidFill>
                          <a:latin typeface="Helvetica"/>
                        </a:rPr>
                        <a:t>11</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Provision selon le taux de perte</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67</a:t>
                      </a:r>
                    </a:p>
                  </a:txBody>
                  <a:tcPr marL="43200" marR="43200" marT="14400" marB="14400" anchor="ctr">
                    <a:solidFill>
                      <a:srgbClr val="FFFFFF"/>
                    </a:solidFill>
                  </a:tcPr>
                </a:tc>
              </a:tr>
              <a:tr h="164286">
                <a:tc>
                  <a:txBody>
                    <a:bodyPr/>
                    <a:lstStyle/>
                    <a:p>
                      <a:pPr marL="0" indent="0" lvl="0">
                        <a:buNone/>
                      </a:pPr>
                      <a:r>
                        <a:rPr sz="700" b="1">
                          <a:solidFill>
                            <a:srgbClr val="060606"/>
                          </a:solidFill>
                          <a:latin typeface="Helvetica"/>
                        </a:rPr>
                        <a:t>12</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Produits annexes et points à clarifier</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71</a:t>
                      </a:r>
                    </a:p>
                  </a:txBody>
                  <a:tcPr marL="43200" marR="43200" marT="14400" marB="14400" anchor="ctr">
                    <a:solidFill>
                      <a:srgbClr val="F2F2F2"/>
                    </a:solidFill>
                  </a:tcPr>
                </a:tc>
              </a:tr>
              <a:tr h="164286">
                <a:tc>
                  <a:txBody>
                    <a:bodyPr/>
                    <a:lstStyle/>
                    <a:p>
                      <a:pPr marL="0" indent="0" lvl="0">
                        <a:buNone/>
                      </a:pPr>
                      <a:r>
                        <a:rPr sz="700" b="1">
                          <a:solidFill>
                            <a:srgbClr val="060606"/>
                          </a:solidFill>
                          <a:latin typeface="Helvetica"/>
                        </a:rPr>
                        <a:t>13</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Textes de la mutualité sociale appliqués au FPPN</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83</a:t>
                      </a:r>
                    </a:p>
                  </a:txBody>
                  <a:tcPr marL="43200" marR="43200" marT="14400" marB="14400" anchor="ctr">
                    <a:solidFill>
                      <a:srgbClr val="FFFFFF"/>
                    </a:solidFill>
                  </a:tcPr>
                </a:tc>
              </a:tr>
              <a:tr h="164286">
                <a:tc>
                  <a:txBody>
                    <a:bodyPr/>
                    <a:lstStyle/>
                    <a:p>
                      <a:pPr marL="0" indent="0" lvl="0">
                        <a:buNone/>
                      </a:pPr>
                      <a:r>
                        <a:rPr sz="700" b="1">
                          <a:solidFill>
                            <a:srgbClr val="060606"/>
                          </a:solidFill>
                          <a:latin typeface="Helvetica"/>
                        </a:rPr>
                        <a:t>14</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Qualification des garanties du FPPN</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84</a:t>
                      </a:r>
                    </a:p>
                  </a:txBody>
                  <a:tcPr marL="43200" marR="43200" marT="14400" marB="14400" anchor="ctr">
                    <a:solidFill>
                      <a:srgbClr val="F2F2F2"/>
                    </a:solidFill>
                  </a:tcPr>
                </a:tc>
              </a:tr>
              <a:tr h="164286">
                <a:tc>
                  <a:txBody>
                    <a:bodyPr/>
                    <a:lstStyle/>
                    <a:p>
                      <a:pPr marL="0" indent="0" lvl="0">
                        <a:buNone/>
                      </a:pPr>
                      <a:r>
                        <a:rPr sz="700" b="1">
                          <a:solidFill>
                            <a:srgbClr val="060606"/>
                          </a:solidFill>
                          <a:latin typeface="Helvetica"/>
                        </a:rPr>
                        <a:t>15</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Reclassements de la lecture retraitée</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86</a:t>
                      </a:r>
                    </a:p>
                  </a:txBody>
                  <a:tcPr marL="43200" marR="43200" marT="14400" marB="14400" anchor="ctr">
                    <a:solidFill>
                      <a:srgbClr val="FFFFFF"/>
                    </a:solidFill>
                  </a:tcPr>
                </a:tc>
              </a:tr>
              <a:tr h="164286">
                <a:tc>
                  <a:txBody>
                    <a:bodyPr/>
                    <a:lstStyle/>
                    <a:p>
                      <a:pPr marL="0" indent="0" lvl="0">
                        <a:buNone/>
                      </a:pPr>
                      <a:r>
                        <a:rPr sz="700" b="1">
                          <a:solidFill>
                            <a:srgbClr val="060606"/>
                          </a:solidFill>
                          <a:latin typeface="Helvetica"/>
                        </a:rPr>
                        <a:t>16</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Tableau de bord des ratios prudentiels, priorités 1 à 9</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89</a:t>
                      </a:r>
                    </a:p>
                  </a:txBody>
                  <a:tcPr marL="43200" marR="43200" marT="14400" marB="14400" anchor="ctr">
                    <a:solidFill>
                      <a:srgbClr val="F2F2F2"/>
                    </a:solidFill>
                  </a:tcPr>
                </a:tc>
              </a:tr>
            </a:tbl>
          </a:graphicData>
        </a:graphic>
      </p:graphicFrame>
      <p:graphicFrame>
        <p:nvGraphicFramePr>
          <p:cNvPr id="29" name="Table 28"/>
          <p:cNvGraphicFramePr>
            <a:graphicFrameLocks noGrp="1"/>
          </p:cNvGraphicFramePr>
          <p:nvPr/>
        </p:nvGraphicFramePr>
        <p:xfrm>
          <a:off x="6263999" y="648000"/>
          <a:ext cx="5543999" cy="2628576"/>
        </p:xfrm>
        <a:graphic>
          <a:graphicData uri="http://schemas.openxmlformats.org/drawingml/2006/table">
            <a:tbl>
              <a:tblPr firstRow="0" bandRow="0">
                <a:tableStyleId>{5940675A-B579-460E-94D1-54222C63F5DA}</a:tableStyleId>
              </a:tblPr>
              <a:tblGrid>
                <a:gridCol w="576000"/>
                <a:gridCol w="4464000"/>
                <a:gridCol w="503999"/>
              </a:tblGrid>
              <a:tr h="164286">
                <a:tc>
                  <a:txBody>
                    <a:bodyPr/>
                    <a:lstStyle/>
                    <a:p>
                      <a:pPr marL="0" indent="0" lvl="0">
                        <a:buNone/>
                      </a:pPr>
                      <a:r>
                        <a:rPr sz="700" b="1">
                          <a:solidFill>
                            <a:srgbClr val="FFFFFF"/>
                          </a:solidFill>
                          <a:latin typeface="Helvetica"/>
                        </a:rPr>
                        <a:t>Tableau</a:t>
                      </a:r>
                    </a:p>
                  </a:txBody>
                  <a:tcPr marL="43200" marR="43200" marT="14400" marB="14400" anchor="ctr">
                    <a:solidFill>
                      <a:srgbClr val="060606"/>
                    </a:solidFill>
                  </a:tcPr>
                </a:tc>
                <a:tc>
                  <a:txBody>
                    <a:bodyPr/>
                    <a:lstStyle/>
                    <a:p>
                      <a:pPr marL="0" indent="0" lvl="0">
                        <a:buNone/>
                      </a:pPr>
                      <a:r>
                        <a:rPr sz="700" b="1">
                          <a:solidFill>
                            <a:srgbClr val="FFFFFF"/>
                          </a:solidFill>
                          <a:latin typeface="Helvetica"/>
                        </a:rPr>
                        <a:t>Titre</a:t>
                      </a:r>
                    </a:p>
                  </a:txBody>
                  <a:tcPr marL="43200" marR="43200" marT="14400" marB="14400" anchor="ctr">
                    <a:solidFill>
                      <a:srgbClr val="060606"/>
                    </a:solidFill>
                  </a:tcPr>
                </a:tc>
                <a:tc>
                  <a:txBody>
                    <a:bodyPr/>
                    <a:lstStyle/>
                    <a:p>
                      <a:pPr marL="0" indent="0" lvl="0">
                        <a:buNone/>
                      </a:pPr>
                      <a:r>
                        <a:rPr sz="700" b="1">
                          <a:solidFill>
                            <a:srgbClr val="FFFFFF"/>
                          </a:solidFill>
                          <a:latin typeface="Helvetica"/>
                        </a:rPr>
                        <a:t>Diapo.</a:t>
                      </a:r>
                    </a:p>
                  </a:txBody>
                  <a:tcPr marL="43200" marR="43200" marT="14400" marB="14400" anchor="ctr">
                    <a:solidFill>
                      <a:srgbClr val="060606"/>
                    </a:solidFill>
                  </a:tcPr>
                </a:tc>
              </a:tr>
              <a:tr h="164286">
                <a:tc>
                  <a:txBody>
                    <a:bodyPr/>
                    <a:lstStyle/>
                    <a:p>
                      <a:pPr marL="0" indent="0" lvl="0">
                        <a:buNone/>
                      </a:pPr>
                      <a:r>
                        <a:rPr sz="700" b="1">
                          <a:solidFill>
                            <a:srgbClr val="060606"/>
                          </a:solidFill>
                          <a:latin typeface="Helvetica"/>
                        </a:rPr>
                        <a:t>17</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Tableau de bord des ratios des risques longs, priorités 10 à 16</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90</a:t>
                      </a:r>
                    </a:p>
                  </a:txBody>
                  <a:tcPr marL="43200" marR="43200" marT="14400" marB="14400" anchor="ctr">
                    <a:solidFill>
                      <a:srgbClr val="FFFFFF"/>
                    </a:solidFill>
                  </a:tcPr>
                </a:tc>
              </a:tr>
              <a:tr h="164286">
                <a:tc>
                  <a:txBody>
                    <a:bodyPr/>
                    <a:lstStyle/>
                    <a:p>
                      <a:pPr marL="0" indent="0" lvl="0">
                        <a:buNone/>
                      </a:pPr>
                      <a:r>
                        <a:rPr sz="700" b="1">
                          <a:solidFill>
                            <a:srgbClr val="060606"/>
                          </a:solidFill>
                          <a:latin typeface="Helvetica"/>
                        </a:rPr>
                        <a:t>18</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Tableau de bord des ratios de gestion, priorités 17 à 25</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91</a:t>
                      </a:r>
                    </a:p>
                  </a:txBody>
                  <a:tcPr marL="43200" marR="43200" marT="14400" marB="14400" anchor="ctr">
                    <a:solidFill>
                      <a:srgbClr val="F2F2F2"/>
                    </a:solidFill>
                  </a:tcPr>
                </a:tc>
              </a:tr>
              <a:tr h="164286">
                <a:tc>
                  <a:txBody>
                    <a:bodyPr/>
                    <a:lstStyle/>
                    <a:p>
                      <a:pPr marL="0" indent="0" lvl="0">
                        <a:buNone/>
                      </a:pPr>
                      <a:r>
                        <a:rPr sz="700" b="1">
                          <a:solidFill>
                            <a:srgbClr val="060606"/>
                          </a:solidFill>
                          <a:latin typeface="Helvetica"/>
                        </a:rPr>
                        <a:t>19</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Indicateurs en attente de documents, priorités 26 à 36</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92</a:t>
                      </a:r>
                    </a:p>
                  </a:txBody>
                  <a:tcPr marL="43200" marR="43200" marT="14400" marB="14400" anchor="ctr">
                    <a:solidFill>
                      <a:srgbClr val="FFFFFF"/>
                    </a:solidFill>
                  </a:tcPr>
                </a:tc>
              </a:tr>
              <a:tr h="164286">
                <a:tc>
                  <a:txBody>
                    <a:bodyPr/>
                    <a:lstStyle/>
                    <a:p>
                      <a:pPr marL="0" indent="0" lvl="0">
                        <a:buNone/>
                      </a:pPr>
                      <a:r>
                        <a:rPr sz="700" b="1">
                          <a:solidFill>
                            <a:srgbClr val="060606"/>
                          </a:solidFill>
                          <a:latin typeface="Helvetica"/>
                        </a:rPr>
                        <a:t>20</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Dotation de la réserve obligatoire et normes</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105</a:t>
                      </a:r>
                    </a:p>
                  </a:txBody>
                  <a:tcPr marL="43200" marR="43200" marT="14400" marB="14400" anchor="ctr">
                    <a:solidFill>
                      <a:srgbClr val="F2F2F2"/>
                    </a:solidFill>
                  </a:tcPr>
                </a:tc>
              </a:tr>
              <a:tr h="164286">
                <a:tc>
                  <a:txBody>
                    <a:bodyPr/>
                    <a:lstStyle/>
                    <a:p>
                      <a:pPr marL="0" indent="0" lvl="0">
                        <a:buNone/>
                      </a:pPr>
                      <a:r>
                        <a:rPr sz="700" b="1">
                          <a:solidFill>
                            <a:srgbClr val="060606"/>
                          </a:solidFill>
                          <a:latin typeface="Helvetica"/>
                        </a:rPr>
                        <a:t>21</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Contrôle du classement des comptes selon le PCMS</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107</a:t>
                      </a:r>
                    </a:p>
                  </a:txBody>
                  <a:tcPr marL="43200" marR="43200" marT="14400" marB="14400" anchor="ctr">
                    <a:solidFill>
                      <a:srgbClr val="FFFFFF"/>
                    </a:solidFill>
                  </a:tcPr>
                </a:tc>
              </a:tr>
              <a:tr h="164286">
                <a:tc>
                  <a:txBody>
                    <a:bodyPr/>
                    <a:lstStyle/>
                    <a:p>
                      <a:pPr marL="0" indent="0" lvl="0">
                        <a:buNone/>
                      </a:pPr>
                      <a:r>
                        <a:rPr sz="700" b="1">
                          <a:solidFill>
                            <a:srgbClr val="060606"/>
                          </a:solidFill>
                          <a:latin typeface="Helvetica"/>
                        </a:rPr>
                        <a:t>22</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Exigences non chiffrées et situation du FPPN</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108</a:t>
                      </a:r>
                    </a:p>
                  </a:txBody>
                  <a:tcPr marL="43200" marR="43200" marT="14400" marB="14400" anchor="ctr">
                    <a:solidFill>
                      <a:srgbClr val="F2F2F2"/>
                    </a:solidFill>
                  </a:tcPr>
                </a:tc>
              </a:tr>
              <a:tr h="164286">
                <a:tc>
                  <a:txBody>
                    <a:bodyPr/>
                    <a:lstStyle/>
                    <a:p>
                      <a:pPr marL="0" indent="0" lvl="0">
                        <a:buNone/>
                      </a:pPr>
                      <a:r>
                        <a:rPr sz="700" b="1">
                          <a:solidFill>
                            <a:srgbClr val="060606"/>
                          </a:solidFill>
                          <a:latin typeface="Helvetica"/>
                        </a:rPr>
                        <a:t>23</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Manquements liés aux constats du rapport et sanctions prévues</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109</a:t>
                      </a:r>
                    </a:p>
                  </a:txBody>
                  <a:tcPr marL="43200" marR="43200" marT="14400" marB="14400" anchor="ctr">
                    <a:solidFill>
                      <a:srgbClr val="FFFFFF"/>
                    </a:solidFill>
                  </a:tcPr>
                </a:tc>
              </a:tr>
              <a:tr h="164286">
                <a:tc>
                  <a:txBody>
                    <a:bodyPr/>
                    <a:lstStyle/>
                    <a:p>
                      <a:pPr marL="0" indent="0" lvl="0">
                        <a:buNone/>
                      </a:pPr>
                      <a:r>
                        <a:rPr sz="700" b="1">
                          <a:solidFill>
                            <a:srgbClr val="060606"/>
                          </a:solidFill>
                          <a:latin typeface="Helvetica"/>
                        </a:rPr>
                        <a:t>24</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Tables de mortalité CIMA et usage retenu</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113</a:t>
                      </a:r>
                    </a:p>
                  </a:txBody>
                  <a:tcPr marL="43200" marR="43200" marT="14400" marB="14400" anchor="ctr">
                    <a:solidFill>
                      <a:srgbClr val="F2F2F2"/>
                    </a:solidFill>
                  </a:tcPr>
                </a:tc>
              </a:tr>
              <a:tr h="164286">
                <a:tc>
                  <a:txBody>
                    <a:bodyPr/>
                    <a:lstStyle/>
                    <a:p>
                      <a:pPr marL="0" indent="0" lvl="0">
                        <a:buNone/>
                      </a:pPr>
                      <a:r>
                        <a:rPr sz="700" b="1">
                          <a:solidFill>
                            <a:srgbClr val="060606"/>
                          </a:solidFill>
                          <a:latin typeface="Helvetica"/>
                        </a:rPr>
                        <a:t>25</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Espérance de vie et valeur de la rente viagère (taux de 3,5 %)</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116</a:t>
                      </a:r>
                    </a:p>
                  </a:txBody>
                  <a:tcPr marL="43200" marR="43200" marT="14400" marB="14400" anchor="ctr">
                    <a:solidFill>
                      <a:srgbClr val="FFFFFF"/>
                    </a:solidFill>
                  </a:tcPr>
                </a:tc>
              </a:tr>
              <a:tr h="164286">
                <a:tc>
                  <a:txBody>
                    <a:bodyPr/>
                    <a:lstStyle/>
                    <a:p>
                      <a:pPr marL="0" indent="0" lvl="0">
                        <a:buNone/>
                      </a:pPr>
                      <a:r>
                        <a:rPr sz="700" b="1">
                          <a:solidFill>
                            <a:srgbClr val="060606"/>
                          </a:solidFill>
                          <a:latin typeface="Helvetica"/>
                        </a:rPr>
                        <a:t>26</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Méthodes en attente et données nécessaires</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124</a:t>
                      </a:r>
                    </a:p>
                  </a:txBody>
                  <a:tcPr marL="43200" marR="43200" marT="14400" marB="14400" anchor="ctr">
                    <a:solidFill>
                      <a:srgbClr val="F2F2F2"/>
                    </a:solidFill>
                  </a:tcPr>
                </a:tc>
              </a:tr>
              <a:tr h="164286">
                <a:tc>
                  <a:txBody>
                    <a:bodyPr/>
                    <a:lstStyle/>
                    <a:p>
                      <a:pPr marL="0" indent="0" lvl="0">
                        <a:buNone/>
                      </a:pPr>
                      <a:r>
                        <a:rPr sz="700" b="1">
                          <a:solidFill>
                            <a:srgbClr val="060606"/>
                          </a:solidFill>
                          <a:latin typeface="Helvetica"/>
                        </a:rPr>
                        <a:t>27</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Scripts de la mission</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126</a:t>
                      </a:r>
                    </a:p>
                  </a:txBody>
                  <a:tcPr marL="43200" marR="43200" marT="14400" marB="14400" anchor="ctr">
                    <a:solidFill>
                      <a:srgbClr val="FFFFFF"/>
                    </a:solidFill>
                  </a:tcPr>
                </a:tc>
              </a:tr>
              <a:tr h="164286">
                <a:tc>
                  <a:txBody>
                    <a:bodyPr/>
                    <a:lstStyle/>
                    <a:p>
                      <a:pPr marL="0" indent="0" lvl="0">
                        <a:buNone/>
                      </a:pPr>
                      <a:r>
                        <a:rPr sz="700" b="1">
                          <a:solidFill>
                            <a:srgbClr val="060606"/>
                          </a:solidFill>
                          <a:latin typeface="Helvetica"/>
                        </a:rPr>
                        <a:t>28</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Analyses en attente et documents nécessaires</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142</a:t>
                      </a:r>
                    </a:p>
                  </a:txBody>
                  <a:tcPr marL="43200" marR="43200" marT="14400" marB="14400" anchor="ctr">
                    <a:solidFill>
                      <a:srgbClr val="F2F2F2"/>
                    </a:solidFill>
                  </a:tcPr>
                </a:tc>
              </a:tr>
              <a:tr h="164286">
                <a:tc>
                  <a:txBody>
                    <a:bodyPr/>
                    <a:lstStyle/>
                    <a:p>
                      <a:pPr marL="0" indent="0" lvl="0">
                        <a:buNone/>
                      </a:pPr>
                      <a:r>
                        <a:rPr sz="700" b="1">
                          <a:solidFill>
                            <a:srgbClr val="060606"/>
                          </a:solidFill>
                          <a:latin typeface="Helvetica"/>
                        </a:rPr>
                        <a:t>29</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Points à clarifier avec le FPPN</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143</a:t>
                      </a:r>
                    </a:p>
                  </a:txBody>
                  <a:tcPr marL="43200" marR="43200" marT="14400" marB="14400" anchor="ctr">
                    <a:solidFill>
                      <a:srgbClr val="FFFFFF"/>
                    </a:solidFill>
                  </a:tcPr>
                </a:tc>
              </a:tr>
              <a:tr h="164286">
                <a:tc>
                  <a:txBody>
                    <a:bodyPr/>
                    <a:lstStyle/>
                    <a:p>
                      <a:pPr marL="0" indent="0" lvl="0">
                        <a:buNone/>
                      </a:pPr>
                      <a:r>
                        <a:rPr sz="700" b="1">
                          <a:solidFill>
                            <a:srgbClr val="060606"/>
                          </a:solidFill>
                          <a:latin typeface="Helvetica"/>
                        </a:rPr>
                        <a:t>30</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Indicateurs, formules et sources</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145</a:t>
                      </a:r>
                    </a:p>
                  </a:txBody>
                  <a:tcPr marL="43200" marR="43200" marT="14400" marB="14400" anchor="ctr">
                    <a:solidFill>
                      <a:srgbClr val="F2F2F2"/>
                    </a:solidFill>
                  </a:tcPr>
                </a:tc>
              </a:tr>
              <a:tr h="164286">
                <a:tc>
                  <a:txBody>
                    <a:bodyPr/>
                    <a:lstStyle/>
                    <a:p>
                      <a:pPr marL="0" indent="0" lvl="0">
                        <a:buNone/>
                      </a:pPr>
                      <a:r>
                        <a:rPr sz="700" b="1">
                          <a:solidFill>
                            <a:srgbClr val="060606"/>
                          </a:solidFill>
                          <a:latin typeface="Helvetica"/>
                        </a:rPr>
                        <a:t>31</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Outils et bibliothèques utilisés</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146</a:t>
                      </a:r>
                    </a:p>
                  </a:txBody>
                  <a:tcPr marL="43200" marR="43200" marT="14400" marB="14400" anchor="ctr">
                    <a:solidFill>
                      <a:srgbClr val="FFFFFF"/>
                    </a:solidFill>
                  </a:tcPr>
                </a:tc>
              </a:tr>
            </a:tbl>
          </a:graphicData>
        </a:graphic>
      </p:graphicFrame>
    </p:spTree>
    <p:extLst>
      <p:ext uri="{BB962C8B-B14F-4D97-AF65-F5344CB8AC3E}">
        <p14:creationId xmlns:p14="http://schemas.microsoft.com/office/powerpoint/2010/main" val="3549891359"/>
      </p:ext>
    </p:extLst>
  </p:cSld>
  <p:clrMapOvr>
    <a:masterClrMapping/>
  </p:clrMapOvr>
  <p:transition>
    <p:fade/>
  </p:transition>
</p:sld>
</file>

<file path=ppt/slides/slide1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TextBox 26"/>
          <p:cNvSpPr txBox="1"/>
          <p:nvPr/>
        </p:nvSpPr>
        <p:spPr>
          <a:xfrm>
            <a:off x="547200" y="144000"/>
            <a:ext cx="11246400" cy="396000"/>
          </a:xfrm>
          <a:prstGeom prst="rect">
            <a:avLst/>
          </a:prstGeom>
          <a:noFill/>
        </p:spPr>
        <p:txBody>
          <a:bodyPr wrap="square" anchor="t" lIns="54000" rIns="54000"/>
          <a:lstStyle/>
          <a:p>
            <a:pPr algn="l"/>
            <a:r>
              <a:rPr sz="2000" b="1">
                <a:solidFill>
                  <a:srgbClr val="060606"/>
                </a:solidFill>
                <a:latin typeface="Helvetica"/>
              </a:rPr>
              <a:t>Signes et abréviations</a:t>
            </a:r>
          </a:p>
        </p:txBody>
      </p:sp>
      <p:graphicFrame>
        <p:nvGraphicFramePr>
          <p:cNvPr id="28" name="Table 27"/>
          <p:cNvGraphicFramePr>
            <a:graphicFrameLocks noGrp="1"/>
          </p:cNvGraphicFramePr>
          <p:nvPr/>
        </p:nvGraphicFramePr>
        <p:xfrm>
          <a:off x="503999" y="720000"/>
          <a:ext cx="11232000" cy="4680000"/>
        </p:xfrm>
        <a:graphic>
          <a:graphicData uri="http://schemas.openxmlformats.org/drawingml/2006/table">
            <a:tbl>
              <a:tblPr firstRow="0" bandRow="0">
                <a:tableStyleId>{5940675A-B579-460E-94D1-54222C63F5DA}</a:tableStyleId>
              </a:tblPr>
              <a:tblGrid>
                <a:gridCol w="936000"/>
                <a:gridCol w="4680000"/>
                <a:gridCol w="936000"/>
                <a:gridCol w="4680000"/>
              </a:tblGrid>
              <a:tr h="180000">
                <a:tc>
                  <a:txBody>
                    <a:bodyPr/>
                    <a:lstStyle/>
                    <a:p>
                      <a:pPr marL="0" indent="0" lvl="0">
                        <a:buNone/>
                      </a:pPr>
                      <a:r>
                        <a:rPr sz="800" b="1">
                          <a:solidFill>
                            <a:srgbClr val="FFFFFF"/>
                          </a:solidFill>
                          <a:latin typeface="Helvetica"/>
                        </a:rPr>
                        <a:t>Sigle</a:t>
                      </a:r>
                    </a:p>
                  </a:txBody>
                  <a:tcPr marL="43200" marR="43200" marT="14400" marB="14400" anchor="ctr">
                    <a:solidFill>
                      <a:srgbClr val="060606"/>
                    </a:solidFill>
                  </a:tcPr>
                </a:tc>
                <a:tc>
                  <a:txBody>
                    <a:bodyPr/>
                    <a:lstStyle/>
                    <a:p>
                      <a:pPr marL="0" indent="0" lvl="0">
                        <a:buNone/>
                      </a:pPr>
                      <a:r>
                        <a:rPr sz="800" b="1">
                          <a:solidFill>
                            <a:srgbClr val="FFFFFF"/>
                          </a:solidFill>
                          <a:latin typeface="Helvetica"/>
                        </a:rPr>
                        <a:t>Signification</a:t>
                      </a:r>
                    </a:p>
                  </a:txBody>
                  <a:tcPr marL="43200" marR="43200" marT="14400" marB="14400" anchor="ctr">
                    <a:solidFill>
                      <a:srgbClr val="060606"/>
                    </a:solidFill>
                  </a:tcPr>
                </a:tc>
                <a:tc>
                  <a:txBody>
                    <a:bodyPr/>
                    <a:lstStyle/>
                    <a:p>
                      <a:pPr marL="0" indent="0" lvl="0">
                        <a:buNone/>
                      </a:pPr>
                      <a:r>
                        <a:rPr sz="800" b="1">
                          <a:solidFill>
                            <a:srgbClr val="FFFFFF"/>
                          </a:solidFill>
                          <a:latin typeface="Helvetica"/>
                        </a:rPr>
                        <a:t>Sigle</a:t>
                      </a:r>
                    </a:p>
                  </a:txBody>
                  <a:tcPr marL="43200" marR="43200" marT="14400" marB="14400" anchor="ctr">
                    <a:solidFill>
                      <a:srgbClr val="060606"/>
                    </a:solidFill>
                  </a:tcPr>
                </a:tc>
                <a:tc>
                  <a:txBody>
                    <a:bodyPr/>
                    <a:lstStyle/>
                    <a:p>
                      <a:pPr marL="0" indent="0" lvl="0">
                        <a:buNone/>
                      </a:pPr>
                      <a:r>
                        <a:rPr sz="800" b="1">
                          <a:solidFill>
                            <a:srgbClr val="FFFFFF"/>
                          </a:solidFill>
                          <a:latin typeface="Helvetica"/>
                        </a:rPr>
                        <a:t>Signification</a:t>
                      </a:r>
                    </a:p>
                  </a:txBody>
                  <a:tcPr marL="43200" marR="43200" marT="14400" marB="14400" anchor="ctr">
                    <a:solidFill>
                      <a:srgbClr val="060606"/>
                    </a:solidFill>
                  </a:tcPr>
                </a:tc>
              </a:tr>
              <a:tr h="180000">
                <a:tc>
                  <a:txBody>
                    <a:bodyPr/>
                    <a:lstStyle/>
                    <a:p>
                      <a:pPr marL="0" indent="0" lvl="0">
                        <a:buNone/>
                      </a:pPr>
                      <a:r>
                        <a:rPr sz="800" b="1">
                          <a:solidFill>
                            <a:srgbClr val="060606"/>
                          </a:solidFill>
                          <a:latin typeface="Helvetica"/>
                        </a:rPr>
                        <a:t>870</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poste EFC</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FPPN</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Fonds de prévoyance de la Police nationale</a:t>
                      </a:r>
                    </a:p>
                  </a:txBody>
                  <a:tcPr marL="43200" marR="43200" marT="14400" marB="14400" anchor="ctr">
                    <a:solidFill>
                      <a:srgbClr val="FFFFFF"/>
                    </a:solidFill>
                  </a:tcPr>
                </a:tc>
              </a:tr>
              <a:tr h="180000">
                <a:tc>
                  <a:txBody>
                    <a:bodyPr/>
                    <a:lstStyle/>
                    <a:p>
                      <a:pPr marL="0" indent="0" lvl="0">
                        <a:buNone/>
                      </a:pPr>
                      <a:r>
                        <a:rPr sz="800" b="1">
                          <a:solidFill>
                            <a:srgbClr val="060606"/>
                          </a:solidFill>
                          <a:latin typeface="Helvetica"/>
                        </a:rPr>
                        <a:t>8Z6</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poste décès</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GNA</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assureur de la flotte automobile (compte 47111106)</a:t>
                      </a:r>
                    </a:p>
                  </a:txBody>
                  <a:tcPr marL="43200" marR="43200" marT="14400" marB="14400" anchor="ctr">
                    <a:solidFill>
                      <a:srgbClr val="F2F2F2"/>
                    </a:solidFill>
                  </a:tcPr>
                </a:tc>
              </a:tr>
              <a:tr h="180000">
                <a:tc>
                  <a:txBody>
                    <a:bodyPr/>
                    <a:lstStyle/>
                    <a:p>
                      <a:pPr marL="0" indent="0" lvl="0">
                        <a:buNone/>
                      </a:pPr>
                      <a:r>
                        <a:rPr sz="800" b="1">
                          <a:solidFill>
                            <a:srgbClr val="060606"/>
                          </a:solidFill>
                          <a:latin typeface="Helvetica"/>
                        </a:rPr>
                        <a:t>8Z7</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poste MEDOC</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HAO</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hors activités ordinaires</a:t>
                      </a:r>
                    </a:p>
                  </a:txBody>
                  <a:tcPr marL="43200" marR="43200" marT="14400" marB="14400" anchor="ctr">
                    <a:solidFill>
                      <a:srgbClr val="FFFFFF"/>
                    </a:solidFill>
                  </a:tcPr>
                </a:tc>
              </a:tr>
              <a:tr h="180000">
                <a:tc>
                  <a:txBody>
                    <a:bodyPr/>
                    <a:lstStyle/>
                    <a:p>
                      <a:pPr marL="0" indent="0" lvl="0">
                        <a:buNone/>
                      </a:pPr>
                      <a:r>
                        <a:rPr sz="800" b="1">
                          <a:solidFill>
                            <a:srgbClr val="060606"/>
                          </a:solidFill>
                          <a:latin typeface="Helvetica"/>
                        </a:rPr>
                        <a:t>936</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poste maladie</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IBNR</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sinistres survenus non encore déclarés</a:t>
                      </a:r>
                    </a:p>
                  </a:txBody>
                  <a:tcPr marL="43200" marR="43200" marT="14400" marB="14400" anchor="ctr">
                    <a:solidFill>
                      <a:srgbClr val="F2F2F2"/>
                    </a:solidFill>
                  </a:tcPr>
                </a:tc>
              </a:tr>
              <a:tr h="180000">
                <a:tc>
                  <a:txBody>
                    <a:bodyPr/>
                    <a:lstStyle/>
                    <a:p>
                      <a:pPr marL="0" indent="0" lvl="0">
                        <a:buNone/>
                      </a:pPr>
                      <a:r>
                        <a:rPr sz="800" b="1">
                          <a:solidFill>
                            <a:srgbClr val="060606"/>
                          </a:solidFill>
                          <a:latin typeface="Helvetica"/>
                        </a:rPr>
                        <a:t>998</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poste PEP</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IC</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intervalle de confiance</a:t>
                      </a:r>
                    </a:p>
                  </a:txBody>
                  <a:tcPr marL="43200" marR="43200" marT="14400" marB="14400" anchor="ctr">
                    <a:solidFill>
                      <a:srgbClr val="FFFFFF"/>
                    </a:solidFill>
                  </a:tcPr>
                </a:tc>
              </a:tr>
              <a:tr h="180000">
                <a:tc>
                  <a:txBody>
                    <a:bodyPr/>
                    <a:lstStyle/>
                    <a:p>
                      <a:pPr marL="0" indent="0" lvl="0">
                        <a:buNone/>
                      </a:pPr>
                      <a:r>
                        <a:rPr sz="800" b="1">
                          <a:solidFill>
                            <a:srgbClr val="060606"/>
                          </a:solidFill>
                          <a:latin typeface="Helvetica"/>
                        </a:rPr>
                        <a:t>9W3</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poste flotte automobile</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Lx</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survivants à l'âge x</a:t>
                      </a:r>
                    </a:p>
                  </a:txBody>
                  <a:tcPr marL="43200" marR="43200" marT="14400" marB="14400" anchor="ctr">
                    <a:solidFill>
                      <a:srgbClr val="F2F2F2"/>
                    </a:solidFill>
                  </a:tcPr>
                </a:tc>
              </a:tr>
              <a:tr h="180000">
                <a:tc>
                  <a:txBody>
                    <a:bodyPr/>
                    <a:lstStyle/>
                    <a:p>
                      <a:pPr marL="0" indent="0" lvl="0">
                        <a:buNone/>
                      </a:pPr>
                      <a:r>
                        <a:rPr sz="800" b="1">
                          <a:solidFill>
                            <a:srgbClr val="060606"/>
                          </a:solidFill>
                          <a:latin typeface="Helvetica"/>
                        </a:rPr>
                        <a:t>9X4</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poste Grenier</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MEDOC</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produit santé complémentaire du poste 8Z7</a:t>
                      </a:r>
                    </a:p>
                  </a:txBody>
                  <a:tcPr marL="43200" marR="43200" marT="14400" marB="14400" anchor="ctr">
                    <a:solidFill>
                      <a:srgbClr val="FFFFFF"/>
                    </a:solidFill>
                  </a:tcPr>
                </a:tc>
              </a:tr>
              <a:tr h="180000">
                <a:tc>
                  <a:txBody>
                    <a:bodyPr/>
                    <a:lstStyle/>
                    <a:p>
                      <a:pPr marL="0" indent="0" lvl="0">
                        <a:buNone/>
                      </a:pPr>
                      <a:r>
                        <a:rPr sz="800" b="1">
                          <a:solidFill>
                            <a:srgbClr val="060606"/>
                          </a:solidFill>
                          <a:latin typeface="Helvetica"/>
                        </a:rPr>
                        <a:t>A/E</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décès observés / décès attendus</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MEPS</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ministère de l'Emploi et de la Protection sociale</a:t>
                      </a:r>
                    </a:p>
                  </a:txBody>
                  <a:tcPr marL="43200" marR="43200" marT="14400" marB="14400" anchor="ctr">
                    <a:solidFill>
                      <a:srgbClr val="F2F2F2"/>
                    </a:solidFill>
                  </a:tcPr>
                </a:tc>
              </a:tr>
              <a:tr h="180000">
                <a:tc>
                  <a:txBody>
                    <a:bodyPr/>
                    <a:lstStyle/>
                    <a:p>
                      <a:pPr marL="0" indent="0" lvl="0">
                        <a:buNone/>
                      </a:pPr>
                      <a:r>
                        <a:rPr sz="800" b="1">
                          <a:solidFill>
                            <a:srgbClr val="060606"/>
                          </a:solidFill>
                          <a:latin typeface="Helvetica"/>
                        </a:rPr>
                        <a:t>AG</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assemblée générale</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OCR</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reconnaissance optique de caractères</a:t>
                      </a:r>
                    </a:p>
                  </a:txBody>
                  <a:tcPr marL="43200" marR="43200" marT="14400" marB="14400" anchor="ctr">
                    <a:solidFill>
                      <a:srgbClr val="FFFFFF"/>
                    </a:solidFill>
                  </a:tcPr>
                </a:tc>
              </a:tr>
              <a:tr h="180000">
                <a:tc>
                  <a:txBody>
                    <a:bodyPr/>
                    <a:lstStyle/>
                    <a:p>
                      <a:pPr marL="0" indent="0" lvl="0">
                        <a:buNone/>
                      </a:pPr>
                      <a:r>
                        <a:rPr sz="800" b="1">
                          <a:solidFill>
                            <a:srgbClr val="060606"/>
                          </a:solidFill>
                          <a:latin typeface="Helvetica"/>
                        </a:rPr>
                        <a:t>AIRMS</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Agence ivoirienne de régulation de la mutualité sociale</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PAR30</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part de l'encours en retard de plus de 30 jours</a:t>
                      </a:r>
                    </a:p>
                  </a:txBody>
                  <a:tcPr marL="43200" marR="43200" marT="14400" marB="14400" anchor="ctr">
                    <a:solidFill>
                      <a:srgbClr val="F2F2F2"/>
                    </a:solidFill>
                  </a:tcPr>
                </a:tc>
              </a:tr>
              <a:tr h="180000">
                <a:tc>
                  <a:txBody>
                    <a:bodyPr/>
                    <a:lstStyle/>
                    <a:p>
                      <a:pPr marL="0" indent="0" lvl="0">
                        <a:buNone/>
                      </a:pPr>
                      <a:r>
                        <a:rPr sz="800" b="1">
                          <a:solidFill>
                            <a:srgbClr val="060606"/>
                          </a:solidFill>
                          <a:latin typeface="Helvetica"/>
                        </a:rPr>
                        <a:t>BCEAO</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Banque centrale des États de l'Afrique de l'Ouest</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PBC</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liste des documents demandés au client</a:t>
                      </a:r>
                    </a:p>
                  </a:txBody>
                  <a:tcPr marL="43200" marR="43200" marT="14400" marB="14400" anchor="ctr">
                    <a:solidFill>
                      <a:srgbClr val="FFFFFF"/>
                    </a:solidFill>
                  </a:tcPr>
                </a:tc>
              </a:tr>
              <a:tr h="180000">
                <a:tc>
                  <a:txBody>
                    <a:bodyPr/>
                    <a:lstStyle/>
                    <a:p>
                      <a:pPr marL="0" indent="0" lvl="0">
                        <a:buNone/>
                      </a:pPr>
                      <a:r>
                        <a:rPr sz="800" b="1">
                          <a:solidFill>
                            <a:srgbClr val="060606"/>
                          </a:solidFill>
                          <a:latin typeface="Helvetica"/>
                        </a:rPr>
                        <a:t>CAC</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commissaire aux comptes</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PCMS</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plan comptable des mutuelles sociales</a:t>
                      </a:r>
                    </a:p>
                  </a:txBody>
                  <a:tcPr marL="43200" marR="43200" marT="14400" marB="14400" anchor="ctr">
                    <a:solidFill>
                      <a:srgbClr val="F2F2F2"/>
                    </a:solidFill>
                  </a:tcPr>
                </a:tc>
              </a:tr>
              <a:tr h="180000">
                <a:tc>
                  <a:txBody>
                    <a:bodyPr/>
                    <a:lstStyle/>
                    <a:p>
                      <a:pPr marL="0" indent="0" lvl="0">
                        <a:buNone/>
                      </a:pPr>
                      <a:r>
                        <a:rPr sz="800" b="1">
                          <a:solidFill>
                            <a:srgbClr val="060606"/>
                          </a:solidFill>
                          <a:latin typeface="Helvetica"/>
                        </a:rPr>
                        <a:t>CGRAE</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Caisse générale de retraite des agents de l'État</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PEP</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Plan Épargne Plus</a:t>
                      </a:r>
                    </a:p>
                  </a:txBody>
                  <a:tcPr marL="43200" marR="43200" marT="14400" marB="14400" anchor="ctr">
                    <a:solidFill>
                      <a:srgbClr val="FFFFFF"/>
                    </a:solidFill>
                  </a:tcPr>
                </a:tc>
              </a:tr>
              <a:tr h="180000">
                <a:tc>
                  <a:txBody>
                    <a:bodyPr/>
                    <a:lstStyle/>
                    <a:p>
                      <a:pPr marL="0" indent="0" lvl="0">
                        <a:buNone/>
                      </a:pPr>
                      <a:r>
                        <a:rPr sz="800" b="1">
                          <a:solidFill>
                            <a:srgbClr val="060606"/>
                          </a:solidFill>
                          <a:latin typeface="Helvetica"/>
                        </a:rPr>
                        <a:t>CIMA</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Conférence interafricaine des marchés d'assurances</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PSAP</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provision pour sinistres à payer</a:t>
                      </a:r>
                    </a:p>
                  </a:txBody>
                  <a:tcPr marL="43200" marR="43200" marT="14400" marB="14400" anchor="ctr">
                    <a:solidFill>
                      <a:srgbClr val="F2F2F2"/>
                    </a:solidFill>
                  </a:tcPr>
                </a:tc>
              </a:tr>
              <a:tr h="180000">
                <a:tc>
                  <a:txBody>
                    <a:bodyPr/>
                    <a:lstStyle/>
                    <a:p>
                      <a:pPr marL="0" indent="0" lvl="0">
                        <a:buNone/>
                      </a:pPr>
                      <a:r>
                        <a:rPr sz="800" b="1">
                          <a:solidFill>
                            <a:srgbClr val="060606"/>
                          </a:solidFill>
                          <a:latin typeface="Helvetica"/>
                        </a:rPr>
                        <a:t>CMP</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sigle des comptes du FPPN, signification à confirmer</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qx</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probabilité de décès entre x et x + 1 ans</a:t>
                      </a:r>
                    </a:p>
                  </a:txBody>
                  <a:tcPr marL="43200" marR="43200" marT="14400" marB="14400" anchor="ctr">
                    <a:solidFill>
                      <a:srgbClr val="FFFFFF"/>
                    </a:solidFill>
                  </a:tcPr>
                </a:tc>
              </a:tr>
              <a:tr h="180000">
                <a:tc>
                  <a:txBody>
                    <a:bodyPr/>
                    <a:lstStyle/>
                    <a:p>
                      <a:pPr marL="0" indent="0" lvl="0">
                        <a:buNone/>
                      </a:pPr>
                      <a:r>
                        <a:rPr sz="800" b="1">
                          <a:solidFill>
                            <a:srgbClr val="060606"/>
                          </a:solidFill>
                          <a:latin typeface="Helvetica"/>
                        </a:rPr>
                        <a:t>CMU</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couverture maladie universelle</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R²</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coefficient de détermination</a:t>
                      </a:r>
                    </a:p>
                  </a:txBody>
                  <a:tcPr marL="43200" marR="43200" marT="14400" marB="14400" anchor="ctr">
                    <a:solidFill>
                      <a:srgbClr val="F2F2F2"/>
                    </a:solidFill>
                  </a:tcPr>
                </a:tc>
              </a:tr>
              <a:tr h="180000">
                <a:tc>
                  <a:txBody>
                    <a:bodyPr/>
                    <a:lstStyle/>
                    <a:p>
                      <a:pPr marL="0" indent="0" lvl="0">
                        <a:buNone/>
                      </a:pPr>
                      <a:r>
                        <a:rPr sz="800" b="1">
                          <a:solidFill>
                            <a:srgbClr val="060606"/>
                          </a:solidFill>
                          <a:latin typeface="Helvetica"/>
                        </a:rPr>
                        <a:t>CPM</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Comité de politique monétaire</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S/C</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prestations / cotisations</a:t>
                      </a:r>
                    </a:p>
                  </a:txBody>
                  <a:tcPr marL="43200" marR="43200" marT="14400" marB="14400" anchor="ctr">
                    <a:solidFill>
                      <a:srgbClr val="FFFFFF"/>
                    </a:solidFill>
                  </a:tcPr>
                </a:tc>
              </a:tr>
              <a:tr h="180000">
                <a:tc>
                  <a:txBody>
                    <a:bodyPr/>
                    <a:lstStyle/>
                    <a:p>
                      <a:pPr marL="0" indent="0" lvl="0">
                        <a:buNone/>
                      </a:pPr>
                      <a:r>
                        <a:rPr sz="800" b="1">
                          <a:solidFill>
                            <a:srgbClr val="060606"/>
                          </a:solidFill>
                          <a:latin typeface="Helvetica"/>
                        </a:rPr>
                        <a:t>CSV</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fichier texte de tableau</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SCI</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société civile immobilière</a:t>
                      </a:r>
                    </a:p>
                  </a:txBody>
                  <a:tcPr marL="43200" marR="43200" marT="14400" marB="14400" anchor="ctr">
                    <a:solidFill>
                      <a:srgbClr val="F2F2F2"/>
                    </a:solidFill>
                  </a:tcPr>
                </a:tc>
              </a:tr>
              <a:tr h="180000">
                <a:tc>
                  <a:txBody>
                    <a:bodyPr/>
                    <a:lstStyle/>
                    <a:p>
                      <a:pPr marL="0" indent="0" lvl="0">
                        <a:buNone/>
                      </a:pPr>
                      <a:r>
                        <a:rPr sz="800" b="1">
                          <a:solidFill>
                            <a:srgbClr val="060606"/>
                          </a:solidFill>
                          <a:latin typeface="Helvetica"/>
                        </a:rPr>
                        <a:t>DAT</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dépôt à terme</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SHA-256</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algorithme d'empreinte numérique</a:t>
                      </a:r>
                    </a:p>
                  </a:txBody>
                  <a:tcPr marL="43200" marR="43200" marT="14400" marB="14400" anchor="ctr">
                    <a:solidFill>
                      <a:srgbClr val="FFFFFF"/>
                    </a:solidFill>
                  </a:tcPr>
                </a:tc>
              </a:tr>
              <a:tr h="180000">
                <a:tc>
                  <a:txBody>
                    <a:bodyPr/>
                    <a:lstStyle/>
                    <a:p>
                      <a:pPr marL="0" indent="0" lvl="0">
                        <a:buNone/>
                      </a:pPr>
                      <a:r>
                        <a:rPr sz="800" b="1">
                          <a:solidFill>
                            <a:srgbClr val="060606"/>
                          </a:solidFill>
                          <a:latin typeface="Helvetica"/>
                        </a:rPr>
                        <a:t>e_x</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espérance de vie à l'âge x</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TAFIRE</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tableau financier des ressources et des emplois</a:t>
                      </a:r>
                    </a:p>
                  </a:txBody>
                  <a:tcPr marL="43200" marR="43200" marT="14400" marB="14400" anchor="ctr">
                    <a:solidFill>
                      <a:srgbClr val="F2F2F2"/>
                    </a:solidFill>
                  </a:tcPr>
                </a:tc>
              </a:tr>
              <a:tr h="180000">
                <a:tc>
                  <a:txBody>
                    <a:bodyPr/>
                    <a:lstStyle/>
                    <a:p>
                      <a:pPr marL="0" indent="0" lvl="0">
                        <a:buNone/>
                      </a:pPr>
                      <a:r>
                        <a:rPr sz="800" b="1">
                          <a:solidFill>
                            <a:srgbClr val="060606"/>
                          </a:solidFill>
                          <a:latin typeface="Helvetica"/>
                        </a:rPr>
                        <a:t>EFC</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entraide fin de carrière</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TCAM</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taux de croissance annuel moyen</a:t>
                      </a:r>
                    </a:p>
                  </a:txBody>
                  <a:tcPr marL="43200" marR="43200" marT="14400" marB="14400" anchor="ctr">
                    <a:solidFill>
                      <a:srgbClr val="FFFFFF"/>
                    </a:solidFill>
                  </a:tcPr>
                </a:tc>
              </a:tr>
              <a:tr h="180000">
                <a:tc>
                  <a:txBody>
                    <a:bodyPr/>
                    <a:lstStyle/>
                    <a:p>
                      <a:pPr marL="0" indent="0" lvl="0">
                        <a:buNone/>
                      </a:pPr>
                      <a:r>
                        <a:rPr sz="800" b="1">
                          <a:solidFill>
                            <a:srgbClr val="060606"/>
                          </a:solidFill>
                          <a:latin typeface="Helvetica"/>
                        </a:rPr>
                        <a:t>FANAF</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Fédération des sociétés d'assurances de droit national africaines</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TD, TV</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anciennes tables CIMA de décès et de survie</a:t>
                      </a:r>
                    </a:p>
                  </a:txBody>
                  <a:tcPr marL="43200" marR="43200" marT="14400" marB="14400" anchor="ctr">
                    <a:solidFill>
                      <a:srgbClr val="F2F2F2"/>
                    </a:solidFill>
                  </a:tcPr>
                </a:tc>
              </a:tr>
              <a:tr h="180000">
                <a:tc>
                  <a:txBody>
                    <a:bodyPr/>
                    <a:lstStyle/>
                    <a:p>
                      <a:pPr marL="0" indent="0" lvl="0">
                        <a:buNone/>
                      </a:pPr>
                      <a:r>
                        <a:rPr sz="800" b="1">
                          <a:solidFill>
                            <a:srgbClr val="060606"/>
                          </a:solidFill>
                          <a:latin typeface="Helvetica"/>
                        </a:rPr>
                        <a:t>FCP</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fonds commun de placement</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UEMOA</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Union économique et monétaire ouest-africaine</a:t>
                      </a:r>
                    </a:p>
                  </a:txBody>
                  <a:tcPr marL="43200" marR="43200" marT="14400" marB="14400" anchor="ctr">
                    <a:solidFill>
                      <a:srgbClr val="FFFFFF"/>
                    </a:solidFill>
                  </a:tcPr>
                </a:tc>
              </a:tr>
              <a:tr h="180000">
                <a:tc>
                  <a:txBody>
                    <a:bodyPr/>
                    <a:lstStyle/>
                    <a:p>
                      <a:pPr marL="0" indent="0" lvl="0">
                        <a:buNone/>
                      </a:pPr>
                      <a:r>
                        <a:rPr sz="800" b="1">
                          <a:solidFill>
                            <a:srgbClr val="060606"/>
                          </a:solidFill>
                          <a:latin typeface="Helvetica"/>
                        </a:rPr>
                        <a:t>FNG</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fonds national de garantie</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ä_x</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valeur d'une rente viagère de 1 par an à l'âge x</a:t>
                      </a:r>
                    </a:p>
                  </a:txBody>
                  <a:tcPr marL="43200" marR="43200" marT="14400" marB="14400" anchor="ctr">
                    <a:solidFill>
                      <a:srgbClr val="F2F2F2"/>
                    </a:solidFill>
                  </a:tcPr>
                </a:tc>
              </a:tr>
              <a:tr h="180000">
                <a:tc>
                  <a:txBody>
                    <a:bodyPr/>
                    <a:lstStyle/>
                    <a:p>
                      <a:pPr marL="0" indent="0" lvl="0">
                        <a:buNone/>
                      </a:pPr>
                      <a:r>
                        <a:rPr sz="800" b="1">
                          <a:solidFill>
                            <a:srgbClr val="060606"/>
                          </a:solidFill>
                          <a:latin typeface="Helvetica"/>
                        </a:rPr>
                        <a:t>FOMUS-CI</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fonds de garantie des mutuelles sociales de Côte d'Ivoire</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
                      </a:r>
                    </a:p>
                  </a:txBody>
                  <a:tcPr marL="43200" marR="43200" marT="14400" marB="14400" anchor="ctr">
                    <a:solidFill>
                      <a:srgbClr val="FFFFFF"/>
                    </a:solidFill>
                  </a:tcPr>
                </a:tc>
              </a:tr>
            </a:tbl>
          </a:graphicData>
        </a:graphic>
      </p:graphicFrame>
    </p:spTree>
    <p:extLst>
      <p:ext uri="{BB962C8B-B14F-4D97-AF65-F5344CB8AC3E}">
        <p14:creationId xmlns:p14="http://schemas.microsoft.com/office/powerpoint/2010/main" val="725499106"/>
      </p:ext>
    </p:extLst>
  </p:cSld>
  <p:clrMapOvr>
    <a:masterClrMapping/>
  </p:clrMapOvr>
  <p:transition>
    <p:fade/>
  </p:transition>
</p:sld>
</file>

<file path=ppt/slides/slide1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TextBox 26"/>
          <p:cNvSpPr txBox="1"/>
          <p:nvPr/>
        </p:nvSpPr>
        <p:spPr>
          <a:xfrm>
            <a:off x="547200" y="144000"/>
            <a:ext cx="11246400" cy="396000"/>
          </a:xfrm>
          <a:prstGeom prst="rect">
            <a:avLst/>
          </a:prstGeom>
          <a:noFill/>
        </p:spPr>
        <p:txBody>
          <a:bodyPr wrap="square" anchor="t" lIns="54000" rIns="54000"/>
          <a:lstStyle/>
          <a:p>
            <a:pPr algn="l"/>
            <a:r>
              <a:rPr sz="2000" b="1">
                <a:solidFill>
                  <a:srgbClr val="060606"/>
                </a:solidFill>
                <a:latin typeface="Helvetica"/>
              </a:rPr>
              <a:t>Références et sources</a:t>
            </a:r>
          </a:p>
        </p:txBody>
      </p:sp>
      <p:graphicFrame>
        <p:nvGraphicFramePr>
          <p:cNvPr id="28" name="Table 27"/>
          <p:cNvGraphicFramePr>
            <a:graphicFrameLocks noGrp="1"/>
          </p:cNvGraphicFramePr>
          <p:nvPr/>
        </p:nvGraphicFramePr>
        <p:xfrm>
          <a:off x="503999" y="720000"/>
          <a:ext cx="11231998" cy="2880000"/>
        </p:xfrm>
        <a:graphic>
          <a:graphicData uri="http://schemas.openxmlformats.org/drawingml/2006/table">
            <a:tbl>
              <a:tblPr firstRow="0" bandRow="0">
                <a:tableStyleId>{5940675A-B579-460E-94D1-54222C63F5DA}</a:tableStyleId>
              </a:tblPr>
              <a:tblGrid>
                <a:gridCol w="3671999"/>
                <a:gridCol w="3528000"/>
                <a:gridCol w="4031999"/>
              </a:tblGrid>
              <a:tr h="180000">
                <a:tc>
                  <a:txBody>
                    <a:bodyPr/>
                    <a:lstStyle/>
                    <a:p>
                      <a:pPr marL="0" indent="0" lvl="0">
                        <a:buNone/>
                      </a:pPr>
                      <a:r>
                        <a:rPr sz="800" b="1">
                          <a:solidFill>
                            <a:srgbClr val="FFFFFF"/>
                          </a:solidFill>
                          <a:latin typeface="Helvetica"/>
                        </a:rPr>
                        <a:t>Référence</a:t>
                      </a:r>
                    </a:p>
                  </a:txBody>
                  <a:tcPr marL="43200" marR="43200" marT="14400" marB="14400" anchor="ctr">
                    <a:solidFill>
                      <a:srgbClr val="060606"/>
                    </a:solidFill>
                  </a:tcPr>
                </a:tc>
                <a:tc>
                  <a:txBody>
                    <a:bodyPr/>
                    <a:lstStyle/>
                    <a:p>
                      <a:pPr marL="0" indent="0" lvl="0">
                        <a:buNone/>
                      </a:pPr>
                      <a:r>
                        <a:rPr sz="800" b="1">
                          <a:solidFill>
                            <a:srgbClr val="FFFFFF"/>
                          </a:solidFill>
                          <a:latin typeface="Helvetica"/>
                        </a:rPr>
                        <a:t>Contenu utilisé</a:t>
                      </a:r>
                    </a:p>
                  </a:txBody>
                  <a:tcPr marL="43200" marR="43200" marT="14400" marB="14400" anchor="ctr">
                    <a:solidFill>
                      <a:srgbClr val="060606"/>
                    </a:solidFill>
                  </a:tcPr>
                </a:tc>
                <a:tc>
                  <a:txBody>
                    <a:bodyPr/>
                    <a:lstStyle/>
                    <a:p>
                      <a:pPr marL="0" indent="0" lvl="0">
                        <a:buNone/>
                      </a:pPr>
                      <a:r>
                        <a:rPr sz="800" b="1">
                          <a:solidFill>
                            <a:srgbClr val="FFFFFF"/>
                          </a:solidFill>
                          <a:latin typeface="Helvetica"/>
                        </a:rPr>
                        <a:t>Lien ou emplacement</a:t>
                      </a:r>
                    </a:p>
                  </a:txBody>
                  <a:tcPr marL="43200" marR="43200" marT="14400" marB="14400" anchor="ctr">
                    <a:solidFill>
                      <a:srgbClr val="060606"/>
                    </a:solidFill>
                  </a:tcPr>
                </a:tc>
              </a:tr>
              <a:tr h="180000">
                <a:tc>
                  <a:txBody>
                    <a:bodyPr/>
                    <a:lstStyle/>
                    <a:p>
                      <a:pPr marL="0" indent="0" lvl="0">
                        <a:buNone/>
                      </a:pPr>
                      <a:r>
                        <a:rPr sz="800" b="1">
                          <a:solidFill>
                            <a:srgbClr val="060606"/>
                          </a:solidFill>
                          <a:latin typeface="Helvetica"/>
                        </a:rPr>
                        <a:t>Envoi du FPPN du 15/10/2026</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Précomptes, balances, exports du Grenier</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Dossier 04-Documents reçus du client</a:t>
                      </a:r>
                    </a:p>
                  </a:txBody>
                  <a:tcPr marL="43200" marR="43200" marT="14400" marB="14400" anchor="ctr">
                    <a:solidFill>
                      <a:srgbClr val="FFFFFF"/>
                    </a:solidFill>
                  </a:tcPr>
                </a:tc>
              </a:tr>
              <a:tr h="180000">
                <a:tc>
                  <a:txBody>
                    <a:bodyPr/>
                    <a:lstStyle/>
                    <a:p>
                      <a:pPr marL="0" indent="0" lvl="0">
                        <a:buNone/>
                      </a:pPr>
                      <a:r>
                        <a:rPr sz="800" b="1">
                          <a:solidFill>
                            <a:srgbClr val="060606"/>
                          </a:solidFill>
                          <a:latin typeface="Helvetica"/>
                        </a:rPr>
                        <a:t>Grands livres 2021, 2022, 2024, 2025 (PDF)</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Détail des écritures</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Envoi complémentaire du 18/10/2026</a:t>
                      </a:r>
                    </a:p>
                  </a:txBody>
                  <a:tcPr marL="43200" marR="43200" marT="14400" marB="14400" anchor="ctr">
                    <a:solidFill>
                      <a:srgbClr val="F2F2F2"/>
                    </a:solidFill>
                  </a:tcPr>
                </a:tc>
              </a:tr>
              <a:tr h="180000">
                <a:tc>
                  <a:txBody>
                    <a:bodyPr/>
                    <a:lstStyle/>
                    <a:p>
                      <a:pPr marL="0" indent="0" lvl="0">
                        <a:buNone/>
                      </a:pPr>
                      <a:r>
                        <a:rPr sz="800" b="1">
                          <a:solidFill>
                            <a:srgbClr val="060606"/>
                          </a:solidFill>
                          <a:latin typeface="Helvetica"/>
                        </a:rPr>
                        <a:t>Règlement n° 07/2009/CM/UEMOA du 26/06/2009</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Cadre de la mutualité sociale</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airms-ci.com, documents publics</a:t>
                      </a:r>
                    </a:p>
                  </a:txBody>
                  <a:tcPr marL="43200" marR="43200" marT="14400" marB="14400" anchor="ctr">
                    <a:solidFill>
                      <a:srgbClr val="FFFFFF"/>
                    </a:solidFill>
                  </a:tcPr>
                </a:tc>
              </a:tr>
              <a:tr h="180000">
                <a:tc>
                  <a:txBody>
                    <a:bodyPr/>
                    <a:lstStyle/>
                    <a:p>
                      <a:pPr marL="0" indent="0" lvl="0">
                        <a:buNone/>
                      </a:pPr>
                      <a:r>
                        <a:rPr sz="800" b="1">
                          <a:solidFill>
                            <a:srgbClr val="060606"/>
                          </a:solidFill>
                          <a:latin typeface="Helvetica"/>
                        </a:rPr>
                        <a:t>Règlement d'exécution n° 004/2022/COM/UEMOA du 01/06/2022</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Règles prudentielles, garantie, contrôle</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airms-ci.com, documents publics</a:t>
                      </a:r>
                    </a:p>
                  </a:txBody>
                  <a:tcPr marL="43200" marR="43200" marT="14400" marB="14400" anchor="ctr">
                    <a:solidFill>
                      <a:srgbClr val="F2F2F2"/>
                    </a:solidFill>
                  </a:tcPr>
                </a:tc>
              </a:tr>
              <a:tr h="180000">
                <a:tc>
                  <a:txBody>
                    <a:bodyPr/>
                    <a:lstStyle/>
                    <a:p>
                      <a:pPr marL="0" indent="0" lvl="0">
                        <a:buNone/>
                      </a:pPr>
                      <a:r>
                        <a:rPr sz="800" b="1">
                          <a:solidFill>
                            <a:srgbClr val="060606"/>
                          </a:solidFill>
                          <a:latin typeface="Helvetica"/>
                        </a:rPr>
                        <a:t>Décision n° 05/2022/COM/UEMOA du 01/06/2022</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Indicateurs et ratios prudentiels</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airms-ci.com, documents publics</a:t>
                      </a:r>
                    </a:p>
                  </a:txBody>
                  <a:tcPr marL="43200" marR="43200" marT="14400" marB="14400" anchor="ctr">
                    <a:solidFill>
                      <a:srgbClr val="FFFFFF"/>
                    </a:solidFill>
                  </a:tcPr>
                </a:tc>
              </a:tr>
              <a:tr h="180000">
                <a:tc>
                  <a:txBody>
                    <a:bodyPr/>
                    <a:lstStyle/>
                    <a:p>
                      <a:pPr marL="0" indent="0" lvl="0">
                        <a:buNone/>
                      </a:pPr>
                      <a:r>
                        <a:rPr sz="800" b="1">
                          <a:solidFill>
                            <a:srgbClr val="060606"/>
                          </a:solidFill>
                          <a:latin typeface="Helvetica"/>
                        </a:rPr>
                        <a:t>Règlement n° 03/2012/CM/UEMOA et PCMS (mai 2012)</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Plan comptable des mutuelles sociales</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airms-ci.com, documents publics</a:t>
                      </a:r>
                    </a:p>
                  </a:txBody>
                  <a:tcPr marL="43200" marR="43200" marT="14400" marB="14400" anchor="ctr">
                    <a:solidFill>
                      <a:srgbClr val="F2F2F2"/>
                    </a:solidFill>
                  </a:tcPr>
                </a:tc>
              </a:tr>
              <a:tr h="180000">
                <a:tc>
                  <a:txBody>
                    <a:bodyPr/>
                    <a:lstStyle/>
                    <a:p>
                      <a:pPr marL="0" indent="0" lvl="0">
                        <a:buNone/>
                      </a:pPr>
                      <a:r>
                        <a:rPr sz="800" b="1">
                          <a:solidFill>
                            <a:srgbClr val="060606"/>
                          </a:solidFill>
                          <a:latin typeface="Helvetica"/>
                        </a:rPr>
                        <a:t>Arrêté n° 00115/MEPS/CAB du 12/12/2023</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Sanctions administratives</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airms-ci.com, documents publics</a:t>
                      </a:r>
                    </a:p>
                  </a:txBody>
                  <a:tcPr marL="43200" marR="43200" marT="14400" marB="14400" anchor="ctr">
                    <a:solidFill>
                      <a:srgbClr val="FFFFFF"/>
                    </a:solidFill>
                  </a:tcPr>
                </a:tc>
              </a:tr>
              <a:tr h="180000">
                <a:tc>
                  <a:txBody>
                    <a:bodyPr/>
                    <a:lstStyle/>
                    <a:p>
                      <a:pPr marL="0" indent="0" lvl="0">
                        <a:buNone/>
                      </a:pPr>
                      <a:r>
                        <a:rPr sz="800" b="1">
                          <a:solidFill>
                            <a:srgbClr val="060606"/>
                          </a:solidFill>
                          <a:latin typeface="Helvetica"/>
                        </a:rPr>
                        <a:t>Arrêtés n° 092 et 093/MEPS/CAB du 06/09/2023</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Agrément, immatriculation, frais</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airms-ci.com, documents publics</a:t>
                      </a:r>
                    </a:p>
                  </a:txBody>
                  <a:tcPr marL="43200" marR="43200" marT="14400" marB="14400" anchor="ctr">
                    <a:solidFill>
                      <a:srgbClr val="F2F2F2"/>
                    </a:solidFill>
                  </a:tcPr>
                </a:tc>
              </a:tr>
              <a:tr h="180000">
                <a:tc>
                  <a:txBody>
                    <a:bodyPr/>
                    <a:lstStyle/>
                    <a:p>
                      <a:pPr marL="0" indent="0" lvl="0">
                        <a:buNone/>
                      </a:pPr>
                      <a:r>
                        <a:rPr sz="800" b="1">
                          <a:solidFill>
                            <a:srgbClr val="060606"/>
                          </a:solidFill>
                          <a:latin typeface="Helvetica"/>
                        </a:rPr>
                        <a:t>Répertoire AIRMS des mutuelles agréées (15/10/2026)</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Agrément et immatriculation du FPPN</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airms-ci.com, documents publics</a:t>
                      </a:r>
                    </a:p>
                  </a:txBody>
                  <a:tcPr marL="43200" marR="43200" marT="14400" marB="14400" anchor="ctr">
                    <a:solidFill>
                      <a:srgbClr val="FFFFFF"/>
                    </a:solidFill>
                  </a:tcPr>
                </a:tc>
              </a:tr>
              <a:tr h="180000">
                <a:tc>
                  <a:txBody>
                    <a:bodyPr/>
                    <a:lstStyle/>
                    <a:p>
                      <a:pPr marL="0" indent="0" lvl="0">
                        <a:buNone/>
                      </a:pPr>
                      <a:r>
                        <a:rPr sz="800" b="1">
                          <a:solidFill>
                            <a:srgbClr val="060606"/>
                          </a:solidFill>
                          <a:latin typeface="Helvetica"/>
                        </a:rPr>
                        <a:t>Ordonnance n° 2024-1043</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FOMUS-CI</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civlii.laws.africa</a:t>
                      </a:r>
                    </a:p>
                  </a:txBody>
                  <a:tcPr marL="43200" marR="43200" marT="14400" marB="14400" anchor="ctr">
                    <a:solidFill>
                      <a:srgbClr val="F2F2F2"/>
                    </a:solidFill>
                  </a:tcPr>
                </a:tc>
              </a:tr>
              <a:tr h="180000">
                <a:tc>
                  <a:txBody>
                    <a:bodyPr/>
                    <a:lstStyle/>
                    <a:p>
                      <a:pPr marL="0" indent="0" lvl="0">
                        <a:buNone/>
                      </a:pPr>
                      <a:r>
                        <a:rPr sz="800" b="1">
                          <a:solidFill>
                            <a:srgbClr val="060606"/>
                          </a:solidFill>
                          <a:latin typeface="Helvetica"/>
                        </a:rPr>
                        <a:t>Code CIMA, article 338</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Tables et taux technique de 3,5 %</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cima-afrique.org</a:t>
                      </a:r>
                    </a:p>
                  </a:txBody>
                  <a:tcPr marL="43200" marR="43200" marT="14400" marB="14400" anchor="ctr">
                    <a:solidFill>
                      <a:srgbClr val="FFFFFF"/>
                    </a:solidFill>
                  </a:tcPr>
                </a:tc>
              </a:tr>
              <a:tr h="180000">
                <a:tc>
                  <a:txBody>
                    <a:bodyPr/>
                    <a:lstStyle/>
                    <a:p>
                      <a:pPr marL="0" indent="0" lvl="0">
                        <a:buNone/>
                      </a:pPr>
                      <a:r>
                        <a:rPr sz="800" b="1">
                          <a:solidFill>
                            <a:srgbClr val="060606"/>
                          </a:solidFill>
                          <a:latin typeface="Helvetica"/>
                        </a:rPr>
                        <a:t>Tables CIMA H, CIMA F, TD, TV. Table ronde CIMA FANAF (2011)</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Mortalité de référence</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Fichiers fournis le 18/10/2026. Fanaf.org</a:t>
                      </a:r>
                    </a:p>
                  </a:txBody>
                  <a:tcPr marL="43200" marR="43200" marT="14400" marB="14400" anchor="ctr">
                    <a:solidFill>
                      <a:srgbClr val="F2F2F2"/>
                    </a:solidFill>
                  </a:tcPr>
                </a:tc>
              </a:tr>
              <a:tr h="180000">
                <a:tc>
                  <a:txBody>
                    <a:bodyPr/>
                    <a:lstStyle/>
                    <a:p>
                      <a:pPr marL="0" indent="0" lvl="0">
                        <a:buNone/>
                      </a:pPr>
                      <a:r>
                        <a:rPr sz="800" b="1">
                          <a:solidFill>
                            <a:srgbClr val="060606"/>
                          </a:solidFill>
                          <a:latin typeface="Helvetica"/>
                        </a:rPr>
                        <a:t>BCEAO, communiqués du CPM 2020 à 2025</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Taux directeurs</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bceao.int</a:t>
                      </a:r>
                    </a:p>
                  </a:txBody>
                  <a:tcPr marL="43200" marR="43200" marT="14400" marB="14400" anchor="ctr">
                    <a:solidFill>
                      <a:srgbClr val="FFFFFF"/>
                    </a:solidFill>
                  </a:tcPr>
                </a:tc>
              </a:tr>
              <a:tr h="180000">
                <a:tc>
                  <a:txBody>
                    <a:bodyPr/>
                    <a:lstStyle/>
                    <a:p>
                      <a:pPr marL="0" indent="0" lvl="0">
                        <a:buNone/>
                      </a:pPr>
                      <a:r>
                        <a:rPr sz="800" b="1">
                          <a:solidFill>
                            <a:srgbClr val="060606"/>
                          </a:solidFill>
                          <a:latin typeface="Helvetica"/>
                        </a:rPr>
                        <a:t>Banque mondiale, FP.CPI.TOTL.ZG</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Inflation 2020 à 2025</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donnees.banquemondiale.org</a:t>
                      </a:r>
                    </a:p>
                  </a:txBody>
                  <a:tcPr marL="43200" marR="43200" marT="14400" marB="14400" anchor="ctr">
                    <a:solidFill>
                      <a:srgbClr val="F2F2F2"/>
                    </a:solidFill>
                  </a:tcPr>
                </a:tc>
              </a:tr>
              <a:tr h="180000">
                <a:tc>
                  <a:txBody>
                    <a:bodyPr/>
                    <a:lstStyle/>
                    <a:p>
                      <a:pPr marL="0" indent="0" lvl="0">
                        <a:buNone/>
                      </a:pPr>
                      <a:r>
                        <a:rPr sz="800" b="1">
                          <a:solidFill>
                            <a:srgbClr val="060606"/>
                          </a:solidFill>
                          <a:latin typeface="Helvetica"/>
                        </a:rPr>
                        <a:t>Classeur des calculs v3</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Tableaux, séries, ratios, classement des comptes, traçabilité</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FPPN_Calculs_rapport_20261015_v3.xlsx</a:t>
                      </a:r>
                    </a:p>
                  </a:txBody>
                  <a:tcPr marL="43200" marR="43200" marT="14400" marB="14400" anchor="ctr">
                    <a:solidFill>
                      <a:srgbClr val="FFFFFF"/>
                    </a:solidFill>
                  </a:tcPr>
                </a:tc>
              </a:tr>
            </a:tbl>
          </a:graphicData>
        </a:graphic>
      </p:graphicFrame>
    </p:spTree>
    <p:extLst>
      <p:ext uri="{BB962C8B-B14F-4D97-AF65-F5344CB8AC3E}">
        <p14:creationId xmlns:p14="http://schemas.microsoft.com/office/powerpoint/2010/main" val="3764641785"/>
      </p:ext>
    </p:extLst>
  </p:cSld>
  <p:clrMapOvr>
    <a:masterClrMapping/>
  </p:clrMapOvr>
  <p:transition>
    <p:fade/>
  </p:transition>
</p:sld>
</file>

<file path=ppt/slides/slide1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1"/>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5340667" y="-1240"/>
            <a:ext cx="6858000" cy="6858000"/>
          </a:xfrm>
          <a:prstGeom prst="rect">
            <a:avLst/>
          </a:prstGeom>
        </p:spPr>
      </p:pic>
      <p:sp>
        <p:nvSpPr>
          <p:cNvPr id="15" name="Rectangle 14"/>
          <p:cNvSpPr/>
          <p:nvPr/>
        </p:nvSpPr>
        <p:spPr>
          <a:xfrm>
            <a:off x="0" y="0"/>
            <a:ext cx="6045200"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CI" noProof="0"/>
          </a:p>
        </p:txBody>
      </p:sp>
      <p:pic>
        <p:nvPicPr>
          <p:cNvPr id="6" name="Image 5">
            <a:extLst>
              <a:ext uri="{FF2B5EF4-FFF2-40B4-BE49-F238E27FC236}">
                <a16:creationId xmlns:a16="http://schemas.microsoft.com/office/drawing/2014/main" id="{2C356854-0685-DCEF-E2F6-65D5E9653A47}"/>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25248" y="-135577"/>
            <a:ext cx="3261353" cy="1301437"/>
          </a:xfrm>
          <a:prstGeom prst="rect">
            <a:avLst/>
          </a:prstGeom>
        </p:spPr>
      </p:pic>
      <p:sp>
        <p:nvSpPr>
          <p:cNvPr id="14" name="ZoneTexte 13">
            <a:extLst>
              <a:ext uri="{FF2B5EF4-FFF2-40B4-BE49-F238E27FC236}">
                <a16:creationId xmlns:a16="http://schemas.microsoft.com/office/drawing/2014/main" id="{C6E7D94B-8E49-C846-A392-87DFA5EF4A9D}"/>
              </a:ext>
            </a:extLst>
          </p:cNvPr>
          <p:cNvSpPr txBox="1"/>
          <p:nvPr/>
        </p:nvSpPr>
        <p:spPr>
          <a:xfrm>
            <a:off x="456025" y="6300894"/>
            <a:ext cx="4653185" cy="338554"/>
          </a:xfrm>
          <a:prstGeom prst="rect">
            <a:avLst/>
          </a:prstGeom>
          <a:noFill/>
        </p:spPr>
        <p:txBody>
          <a:bodyPr wrap="square">
            <a:spAutoFit/>
          </a:bodyPr>
          <a:lstStyle/>
          <a:p>
            <a:r>
              <a:rPr lang="fr-CI" sz="1600" noProof="0">
                <a:solidFill>
                  <a:schemeClr val="bg1"/>
                </a:solidFill>
                <a:latin typeface="Helvetica" panose="020B0604020202020204" pitchFamily="34" charset="0"/>
                <a:cs typeface="Helvetica" panose="020B0604020202020204" pitchFamily="34" charset="0"/>
              </a:rPr>
              <a:t>Empreinte Africaine, Expertise Internationale</a:t>
            </a:r>
          </a:p>
        </p:txBody>
      </p:sp>
      <p:sp>
        <p:nvSpPr>
          <p:cNvPr id="13" name="Google Shape;138;p25"/>
          <p:cNvSpPr txBox="1"/>
          <p:nvPr/>
        </p:nvSpPr>
        <p:spPr>
          <a:xfrm>
            <a:off x="920037" y="3088600"/>
            <a:ext cx="5800971" cy="615553"/>
          </a:xfrm>
          <a:prstGeom prst="rect">
            <a:avLst/>
          </a:prstGeom>
          <a:noFill/>
          <a:ln>
            <a:noFill/>
          </a:ln>
        </p:spPr>
        <p:txBody>
          <a:bodyPr spcFirstLastPara="1" wrap="square" lIns="0" tIns="0" rIns="0" bIns="0" anchor="t" anchorCtr="0">
            <a:spAutoFit/>
          </a:bodyPr>
          <a:lstStyle/>
          <a:p>
            <a:r>
              <a:rPr lang="fr-CI" sz="4000" noProof="0">
                <a:solidFill>
                  <a:schemeClr val="bg1"/>
                </a:solidFill>
                <a:latin typeface="Helvetica" panose="020B0604020202020204" pitchFamily="34" charset="0"/>
                <a:cs typeface="Helvetica" panose="020B0604020202020204" pitchFamily="34" charset="0"/>
              </a:rPr>
              <a:t>Merci </a:t>
            </a:r>
          </a:p>
        </p:txBody>
      </p:sp>
    </p:spTree>
    <p:extLst>
      <p:ext uri="{BB962C8B-B14F-4D97-AF65-F5344CB8AC3E}">
        <p14:creationId xmlns:p14="http://schemas.microsoft.com/office/powerpoint/2010/main" val="2116590237"/>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heme/theme1.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Thème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2509</TotalTime>
  <Words>16641</Words>
  <Application>Microsoft Office PowerPoint</Application>
  <PresentationFormat>Grand écran</PresentationFormat>
  <Paragraphs>1935</Paragraphs>
  <Slides>151</Slides>
  <Notes>2</Notes>
  <HiddenSlides>0</HiddenSlides>
  <MMClips>0</MMClips>
  <ScaleCrop>false</ScaleCrop>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Adenka Consulting</dc:creator>
  <cp:lastModifiedBy>Adenka Consulting</cp:lastModifiedBy>
  <cp:revision>1</cp:revision>
  <dcterms:created xsi:type="dcterms:W3CDTF">2025-10-22T15:02:15Z</dcterms:created>
  <dcterms:modified xsi:type="dcterms:W3CDTF">2026-09-23T09:25:57Z</dcterms:modified>
  <dc:subject/>
  <cp:keywords/>
  <dc:description/>
</cp:coreProperties>
</file>