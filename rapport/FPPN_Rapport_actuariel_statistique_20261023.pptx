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olors11.xml" ContentType="application/vnd.ms-office.chartcolorstyle+xml"/>
  <Override PartName="/ppt/charts/colors12.xml" ContentType="application/vnd.ms-office.chartcolorstyle+xml"/>
  <Override PartName="/ppt/charts/colors13.xml" ContentType="application/vnd.ms-office.chartcolorstyle+xml"/>
  <Override PartName="/ppt/charts/colors14.xml" ContentType="application/vnd.ms-office.chartcolorstyle+xml"/>
  <Override PartName="/ppt/charts/style11.xml" ContentType="application/vnd.ms-office.chartstyle+xml"/>
  <Override PartName="/ppt/charts/style12.xml" ContentType="application/vnd.ms-office.chartstyle+xml"/>
  <Override PartName="/ppt/charts/style13.xml" ContentType="application/vnd.ms-office.chartstyle+xml"/>
  <Override PartName="/ppt/charts/style14.xml" ContentType="application/vnd.ms-office.chartstyle+xml"/>
  <Override PartName="/ppt/embeddings/oleObject1.bin" ContentType="application/vnd.openxmlformats-officedocument.oleObject"/>
  <Override PartName="/ppt/embeddings/oleObject2.bin" ContentType="application/vnd.openxmlformats-officedocument.oleObject"/>
  <Override PartName="/ppt/embeddings/oleObject3.bin" ContentType="application/vnd.openxmlformats-officedocument.oleObject"/>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2.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5" r:id="rId2"/>
  </p:sldMasterIdLst>
  <p:notesMasterIdLst>
    <p:notesMasterId r:id="rId117"/>
  </p:notesMasterIdLst>
  <p:sldIdLst>
    <p:sldId id="256" r:id="rId3"/>
    <p:sldId id="313" r:id="rId7"/>
    <p:sldId id="260" r:id="rId4"/>
    <p:sldId id="404" r:id="rId124"/>
    <p:sldId id="405" r:id="rId125"/>
    <p:sldId id="406" r:id="rId126"/>
    <p:sldId id="407" r:id="rId127"/>
    <p:sldId id="408" r:id="rId128"/>
    <p:sldId id="409" r:id="rId129"/>
    <p:sldId id="410" r:id="rId130"/>
    <p:sldId id="411" r:id="rId131"/>
    <p:sldId id="335" r:id="rId51"/>
    <p:sldId id="412" r:id="rId132"/>
    <p:sldId id="325" r:id="rId25"/>
    <p:sldId id="413" r:id="rId133"/>
    <p:sldId id="414" r:id="rId134"/>
    <p:sldId id="415" r:id="rId135"/>
    <p:sldId id="369" r:id="rId109"/>
    <p:sldId id="361" r:id="rId85"/>
    <p:sldId id="416" r:id="rId136"/>
    <p:sldId id="417" r:id="rId137"/>
    <p:sldId id="330" r:id="rId41"/>
    <p:sldId id="418" r:id="rId138"/>
    <p:sldId id="419" r:id="rId139"/>
    <p:sldId id="420" r:id="rId140"/>
    <p:sldId id="421" r:id="rId141"/>
    <p:sldId id="422" r:id="rId142"/>
    <p:sldId id="423" r:id="rId143"/>
    <p:sldId id="424" r:id="rId144"/>
    <p:sldId id="425" r:id="rId145"/>
    <p:sldId id="426" r:id="rId146"/>
    <p:sldId id="427" r:id="rId147"/>
    <p:sldId id="428" r:id="rId148"/>
    <p:sldId id="429" r:id="rId149"/>
    <p:sldId id="430" r:id="rId150"/>
    <p:sldId id="431" r:id="rId151"/>
    <p:sldId id="432" r:id="rId152"/>
    <p:sldId id="312" r:id="rId11"/>
    <p:sldId id="433" r:id="rId153"/>
    <p:sldId id="434" r:id="rId154"/>
    <p:sldId id="435" r:id="rId155"/>
    <p:sldId id="436" r:id="rId156"/>
    <p:sldId id="437" r:id="rId157"/>
    <p:sldId id="438" r:id="rId158"/>
    <p:sldId id="439" r:id="rId159"/>
    <p:sldId id="316" r:id="rId15"/>
    <p:sldId id="440" r:id="rId160"/>
    <p:sldId id="441" r:id="rId161"/>
    <p:sldId id="442" r:id="rId162"/>
    <p:sldId id="443" r:id="rId163"/>
    <p:sldId id="444" r:id="rId164"/>
    <p:sldId id="445" r:id="rId165"/>
    <p:sldId id="446" r:id="rId166"/>
    <p:sldId id="447" r:id="rId167"/>
    <p:sldId id="448" r:id="rId168"/>
    <p:sldId id="449" r:id="rId169"/>
    <p:sldId id="450" r:id="rId170"/>
    <p:sldId id="451" r:id="rId171"/>
    <p:sldId id="452" r:id="rId172"/>
    <p:sldId id="453" r:id="rId173"/>
    <p:sldId id="454" r:id="rId174"/>
    <p:sldId id="455" r:id="rId175"/>
    <p:sldId id="456" r:id="rId176"/>
    <p:sldId id="457" r:id="rId177"/>
    <p:sldId id="458" r:id="rId178"/>
    <p:sldId id="459" r:id="rId179"/>
    <p:sldId id="460" r:id="rId180"/>
    <p:sldId id="461" r:id="rId181"/>
    <p:sldId id="462" r:id="rId182"/>
    <p:sldId id="463" r:id="rId183"/>
    <p:sldId id="464" r:id="rId184"/>
    <p:sldId id="465" r:id="rId185"/>
    <p:sldId id="466" r:id="rId186"/>
    <p:sldId id="467" r:id="rId187"/>
    <p:sldId id="468" r:id="rId188"/>
    <p:sldId id="469" r:id="rId189"/>
    <p:sldId id="470" r:id="rId190"/>
    <p:sldId id="471" r:id="rId191"/>
    <p:sldId id="472" r:id="rId192"/>
    <p:sldId id="473" r:id="rId193"/>
    <p:sldId id="474" r:id="rId194"/>
    <p:sldId id="475" r:id="rId195"/>
    <p:sldId id="476" r:id="rId196"/>
    <p:sldId id="477" r:id="rId197"/>
    <p:sldId id="478" r:id="rId198"/>
    <p:sldId id="479" r:id="rId199"/>
    <p:sldId id="480" r:id="rId200"/>
    <p:sldId id="481" r:id="rId201"/>
    <p:sldId id="482" r:id="rId202"/>
    <p:sldId id="483" r:id="rId203"/>
    <p:sldId id="484" r:id="rId204"/>
    <p:sldId id="485" r:id="rId205"/>
    <p:sldId id="486" r:id="rId206"/>
    <p:sldId id="487" r:id="rId207"/>
    <p:sldId id="488" r:id="rId208"/>
    <p:sldId id="489" r:id="rId209"/>
    <p:sldId id="490" r:id="rId210"/>
    <p:sldId id="491" r:id="rId211"/>
    <p:sldId id="492" r:id="rId212"/>
    <p:sldId id="493" r:id="rId213"/>
    <p:sldId id="494" r:id="rId214"/>
    <p:sldId id="495" r:id="rId215"/>
    <p:sldId id="496" r:id="rId216"/>
    <p:sldId id="497" r:id="rId217"/>
    <p:sldId id="498" r:id="rId218"/>
    <p:sldId id="499" r:id="rId219"/>
    <p:sldId id="500" r:id="rId220"/>
    <p:sldId id="501" r:id="rId221"/>
    <p:sldId id="502" r:id="rId222"/>
    <p:sldId id="503" r:id="rId223"/>
    <p:sldId id="504" r:id="rId224"/>
    <p:sldId id="505" r:id="rId225"/>
    <p:sldId id="506" r:id="rId226"/>
    <p:sldId id="507" r:id="rId227"/>
    <p:sldId id="508" r:id="rId228"/>
    <p:sldId id="509" r:id="rId229"/>
    <p:sldId id="510" r:id="rId230"/>
    <p:sldId id="511" r:id="rId231"/>
    <p:sldId id="512" r:id="rId232"/>
    <p:sldId id="513" r:id="rId233"/>
    <p:sldId id="514" r:id="rId234"/>
    <p:sldId id="515" r:id="rId235"/>
    <p:sldId id="516" r:id="rId236"/>
    <p:sldId id="517" r:id="rId237"/>
    <p:sldId id="518" r:id="rId238"/>
    <p:sldId id="519" r:id="rId239"/>
    <p:sldId id="520" r:id="rId240"/>
    <p:sldId id="521" r:id="rId241"/>
    <p:sldId id="522" r:id="rId242"/>
    <p:sldId id="523" r:id="rId243"/>
    <p:sldId id="524" r:id="rId244"/>
    <p:sldId id="525" r:id="rId245"/>
    <p:sldId id="526" r:id="rId246"/>
    <p:sldId id="527" r:id="rId247"/>
    <p:sldId id="528" r:id="rId248"/>
    <p:sldId id="529" r:id="rId249"/>
    <p:sldId id="530" r:id="rId250"/>
    <p:sldId id="531" r:id="rId251"/>
    <p:sldId id="532" r:id="rId252"/>
    <p:sldId id="533" r:id="rId253"/>
    <p:sldId id="534" r:id="rId254"/>
    <p:sldId id="535" r:id="rId255"/>
    <p:sldId id="536" r:id="rId256"/>
    <p:sldId id="537" r:id="rId257"/>
    <p:sldId id="538" r:id="rId258"/>
    <p:sldId id="539" r:id="rId259"/>
    <p:sldId id="540" r:id="rId260"/>
    <p:sldId id="541" r:id="rId261"/>
    <p:sldId id="542" r:id="rId262"/>
    <p:sldId id="543" r:id="rId263"/>
    <p:sldId id="544" r:id="rId264"/>
    <p:sldId id="545" r:id="rId265"/>
    <p:sldId id="546" r:id="rId266"/>
    <p:sldId id="547" r:id="rId267"/>
    <p:sldId id="548" r:id="rId268"/>
    <p:sldId id="549" r:id="rId269"/>
    <p:sldId id="550" r:id="rId270"/>
    <p:sldId id="551" r:id="rId271"/>
    <p:sldId id="552" r:id="rId272"/>
    <p:sldId id="553" r:id="rId273"/>
    <p:sldId id="554" r:id="rId274"/>
    <p:sldId id="399" r:id="rId33"/>
    <p:sldId id="555" r:id="rId275"/>
    <p:sldId id="556" r:id="rId276"/>
    <p:sldId id="329" r:id="rId31"/>
    <p:sldId id="557" r:id="rId277"/>
    <p:sldId id="558" r:id="rId278"/>
    <p:sldId id="559" r:id="rId279"/>
    <p:sldId id="560" r:id="rId280"/>
    <p:sldId id="561" r:id="rId281"/>
    <p:sldId id="562" r:id="rId282"/>
    <p:sldId id="563" r:id="rId283"/>
    <p:sldId id="564" r:id="rId284"/>
    <p:sldId id="565" r:id="rId285"/>
    <p:sldId id="566" r:id="rId286"/>
    <p:sldId id="567" r:id="rId287"/>
    <p:sldId id="568" r:id="rId288"/>
    <p:sldId id="569" r:id="rId289"/>
    <p:sldId id="570" r:id="rId290"/>
    <p:sldId id="571" r:id="rId291"/>
    <p:sldId id="572" r:id="rId292"/>
    <p:sldId id="573" r:id="rId293"/>
    <p:sldId id="574" r:id="rId294"/>
    <p:sldId id="575" r:id="rId295"/>
    <p:sldId id="576" r:id="rId296"/>
    <p:sldId id="577" r:id="rId297"/>
    <p:sldId id="578" r:id="rId298"/>
    <p:sldId id="579" r:id="rId299"/>
    <p:sldId id="580" r:id="rId300"/>
    <p:sldId id="581" r:id="rId301"/>
    <p:sldId id="582" r:id="rId302"/>
    <p:sldId id="583" r:id="rId303"/>
    <p:sldId id="584" r:id="rId304"/>
    <p:sldId id="585" r:id="rId305"/>
    <p:sldId id="586" r:id="rId306"/>
    <p:sldId id="587" r:id="rId307"/>
    <p:sldId id="588" r:id="rId308"/>
    <p:sldId id="589" r:id="rId309"/>
    <p:sldId id="590" r:id="rId310"/>
    <p:sldId id="591" r:id="rId311"/>
    <p:sldId id="592" r:id="rId312"/>
    <p:sldId id="593" r:id="rId313"/>
    <p:sldId id="594" r:id="rId314"/>
    <p:sldId id="595" r:id="rId315"/>
    <p:sldId id="596" r:id="rId316"/>
    <p:sldId id="597" r:id="rId317"/>
    <p:sldId id="598" r:id="rId318"/>
    <p:sldId id="599" r:id="rId319"/>
    <p:sldId id="600" r:id="rId320"/>
    <p:sldId id="601" r:id="rId321"/>
    <p:sldId id="602" r:id="rId322"/>
    <p:sldId id="603" r:id="rId323"/>
    <p:sldId id="604" r:id="rId324"/>
    <p:sldId id="605" r:id="rId325"/>
    <p:sldId id="606" r:id="rId326"/>
    <p:sldId id="607" r:id="rId327"/>
    <p:sldId id="608" r:id="rId328"/>
    <p:sldId id="609" r:id="rId329"/>
    <p:sldId id="610" r:id="rId330"/>
    <p:sldId id="611" r:id="rId331"/>
    <p:sldId id="612" r:id="rId332"/>
    <p:sldId id="613" r:id="rId333"/>
    <p:sldId id="614" r:id="rId334"/>
    <p:sldId id="615" r:id="rId335"/>
    <p:sldId id="616" r:id="rId336"/>
    <p:sldId id="617" r:id="rId337"/>
    <p:sldId id="618" r:id="rId338"/>
    <p:sldId id="619" r:id="rId339"/>
    <p:sldId id="620" r:id="rId340"/>
    <p:sldId id="621" r:id="rId341"/>
    <p:sldId id="622" r:id="rId342"/>
    <p:sldId id="623" r:id="rId343"/>
    <p:sldId id="624" r:id="rId344"/>
    <p:sldId id="625" r:id="rId345"/>
    <p:sldId id="626" r:id="rId346"/>
    <p:sldId id="627" r:id="rId347"/>
    <p:sldId id="628" r:id="rId348"/>
    <p:sldId id="629" r:id="rId349"/>
    <p:sldId id="630" r:id="rId350"/>
    <p:sldId id="631" r:id="rId351"/>
    <p:sldId id="632" r:id="rId352"/>
    <p:sldId id="633" r:id="rId353"/>
    <p:sldId id="634" r:id="rId354"/>
    <p:sldId id="635" r:id="rId355"/>
    <p:sldId id="636" r:id="rId356"/>
    <p:sldId id="637" r:id="rId357"/>
    <p:sldId id="638" r:id="rId358"/>
    <p:sldId id="639" r:id="rId359"/>
    <p:sldId id="640" r:id="rId360"/>
    <p:sldId id="641" r:id="rId361"/>
    <p:sldId id="642" r:id="rId362"/>
    <p:sldId id="643" r:id="rId363"/>
    <p:sldId id="644" r:id="rId364"/>
    <p:sldId id="645" r:id="rId365"/>
    <p:sldId id="646" r:id="rId366"/>
    <p:sldId id="647" r:id="rId367"/>
    <p:sldId id="648" r:id="rId368"/>
    <p:sldId id="649" r:id="rId369"/>
    <p:sldId id="650" r:id="rId370"/>
    <p:sldId id="651" r:id="rId371"/>
    <p:sldId id="652" r:id="rId372"/>
    <p:sldId id="653" r:id="rId373"/>
    <p:sldId id="654" r:id="rId374"/>
    <p:sldId id="655" r:id="rId375"/>
    <p:sldId id="656" r:id="rId376"/>
    <p:sldId id="657" r:id="rId377"/>
    <p:sldId id="658" r:id="rId378"/>
    <p:sldId id="659" r:id="rId379"/>
    <p:sldId id="660" r:id="rId380"/>
    <p:sldId id="661" r:id="rId381"/>
    <p:sldId id="662" r:id="rId382"/>
    <p:sldId id="663" r:id="rId383"/>
    <p:sldId id="664" r:id="rId384"/>
    <p:sldId id="665" r:id="rId385"/>
    <p:sldId id="666" r:id="rId386"/>
    <p:sldId id="328" r:id="rId112"/>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uverture" id="{9C8FC9B7-AD45-409C-8017-02DEBDF9C938}">
          <p14:sldIdLst>
            <p14:sldId id="256"/>
          </p14:sldIdLst>
        </p14:section>
        <p14:section name="Contenu" id="{41430ABC-712C-4A41-8691-5284113E2CD9}">
          <p14:sldIdLst>
            <p14:sldId id="260"/>
            <p14:sldId id="261"/>
            <p14:sldId id="310"/>
            <p14:sldId id="313"/>
            <p14:sldId id="403"/>
            <p14:sldId id="402"/>
            <p14:sldId id="291"/>
            <p14:sldId id="312"/>
            <p14:sldId id="314"/>
            <p14:sldId id="317"/>
            <p14:sldId id="315"/>
            <p14:sldId id="316"/>
            <p14:sldId id="323"/>
            <p14:sldId id="324"/>
            <p14:sldId id="321"/>
            <p14:sldId id="322"/>
            <p14:sldId id="264"/>
            <p14:sldId id="318"/>
            <p14:sldId id="319"/>
            <p14:sldId id="320"/>
            <p14:sldId id="326"/>
            <p14:sldId id="325"/>
            <p14:sldId id="266"/>
            <p14:sldId id="327"/>
            <p14:sldId id="268"/>
            <p14:sldId id="271"/>
            <p14:sldId id="287"/>
            <p14:sldId id="329"/>
            <p14:sldId id="398"/>
            <p14:sldId id="399"/>
            <p14:sldId id="391"/>
            <p14:sldId id="397"/>
            <p14:sldId id="395"/>
            <p14:sldId id="396"/>
            <p14:sldId id="393"/>
            <p14:sldId id="392"/>
            <p14:sldId id="270"/>
            <p14:sldId id="330"/>
            <p14:sldId id="331"/>
            <p14:sldId id="332"/>
            <p14:sldId id="272"/>
            <p14:sldId id="333"/>
            <p14:sldId id="289"/>
            <p14:sldId id="334"/>
            <p14:sldId id="277"/>
            <p14:sldId id="278"/>
            <p14:sldId id="274"/>
            <p14:sldId id="335"/>
            <p14:sldId id="336"/>
            <p14:sldId id="348"/>
            <p14:sldId id="341"/>
            <p14:sldId id="349"/>
            <p14:sldId id="342"/>
            <p14:sldId id="350"/>
            <p14:sldId id="343"/>
            <p14:sldId id="351"/>
            <p14:sldId id="344"/>
            <p14:sldId id="352"/>
            <p14:sldId id="345"/>
            <p14:sldId id="353"/>
            <p14:sldId id="346"/>
            <p14:sldId id="354"/>
            <p14:sldId id="347"/>
            <p14:sldId id="355"/>
            <p14:sldId id="338"/>
            <p14:sldId id="356"/>
            <p14:sldId id="337"/>
            <p14:sldId id="357"/>
            <p14:sldId id="276"/>
            <p14:sldId id="358"/>
            <p14:sldId id="339"/>
            <p14:sldId id="359"/>
            <p14:sldId id="381"/>
            <p14:sldId id="385"/>
            <p14:sldId id="382"/>
            <p14:sldId id="400"/>
            <p14:sldId id="294"/>
            <p14:sldId id="360"/>
            <p14:sldId id="285"/>
            <p14:sldId id="286"/>
            <p14:sldId id="299"/>
            <p14:sldId id="361"/>
            <p14:sldId id="362"/>
            <p14:sldId id="283"/>
            <p14:sldId id="297"/>
            <p14:sldId id="365"/>
            <p14:sldId id="364"/>
            <p14:sldId id="363"/>
            <p14:sldId id="366"/>
            <p14:sldId id="367"/>
            <p14:sldId id="368"/>
            <p14:sldId id="370"/>
            <p14:sldId id="374"/>
            <p14:sldId id="375"/>
          </p14:sldIdLst>
        </p14:section>
        <p14:section name="Graphs" id="{551B27DB-FB3B-4066-9154-1B46F0A65216}">
          <p14:sldIdLst>
            <p14:sldId id="301"/>
            <p14:sldId id="304"/>
            <p14:sldId id="303"/>
            <p14:sldId id="302"/>
            <p14:sldId id="305"/>
            <p14:sldId id="306"/>
            <p14:sldId id="378"/>
            <p14:sldId id="376"/>
            <p14:sldId id="379"/>
            <p14:sldId id="388"/>
            <p14:sldId id="307"/>
            <p14:sldId id="369"/>
            <p14:sldId id="389"/>
            <p14:sldId id="390"/>
          </p14:sldIdLst>
        </p14:section>
        <p14:section name="Merci" id="{DE1A67E5-D1FE-41AF-88BB-A85595BA690B}">
          <p14:sldIdLst>
            <p14:sldId id="328"/>
          </p14:sldIdLst>
        </p14:section>
        <p14:section name="Symboles" id="{49175908-295D-4406-8512-BB62EA88444D}">
          <p14:sldIdLst>
            <p14:sldId id="371"/>
            <p14:sldId id="373"/>
            <p14:sldId id="401"/>
            <p14:sldId id="3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FAC62"/>
    <a:srgbClr val="060606"/>
    <a:srgbClr val="112A40"/>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C4BD68B-DEB5-4C72-B758-AA0E2A02C403}" v="4" dt="2026-09-23T09:25:47.77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5" d="100"/>
          <a:sy n="75" d="100"/>
        </p:scale>
        <p:origin x="874"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3.xml"/><Relationship Id="rId7" Type="http://schemas.openxmlformats.org/officeDocument/2006/relationships/slide" Target="slides/slide2.xml"/><Relationship Id="rId11" Type="http://schemas.openxmlformats.org/officeDocument/2006/relationships/slide" Target="slides/slide38.xml"/><Relationship Id="rId15" Type="http://schemas.openxmlformats.org/officeDocument/2006/relationships/slide" Target="slides/slide46.xml"/><Relationship Id="rId25" Type="http://schemas.openxmlformats.org/officeDocument/2006/relationships/slide" Target="slides/slide14.xml"/><Relationship Id="rId31" Type="http://schemas.openxmlformats.org/officeDocument/2006/relationships/slide" Target="slides/slide165.xml"/><Relationship Id="rId33" Type="http://schemas.openxmlformats.org/officeDocument/2006/relationships/slide" Target="slides/slide162.xml"/><Relationship Id="rId41" Type="http://schemas.openxmlformats.org/officeDocument/2006/relationships/slide" Target="slides/slide22.xml"/><Relationship Id="rId51" Type="http://schemas.openxmlformats.org/officeDocument/2006/relationships/slide" Target="slides/slide12.xml"/><Relationship Id="rId85" Type="http://schemas.openxmlformats.org/officeDocument/2006/relationships/slide" Target="slides/slide19.xml"/><Relationship Id="rId109" Type="http://schemas.openxmlformats.org/officeDocument/2006/relationships/slide" Target="slides/slide18.xml"/><Relationship Id="rId112" Type="http://schemas.openxmlformats.org/officeDocument/2006/relationships/slide" Target="slides/slide276.xml"/><Relationship Id="rId117" Type="http://schemas.openxmlformats.org/officeDocument/2006/relationships/notesMaster" Target="notesMasters/notesMaster1.xml"/><Relationship Id="rId118" Type="http://schemas.openxmlformats.org/officeDocument/2006/relationships/presProps" Target="presProps.xml"/><Relationship Id="rId119" Type="http://schemas.openxmlformats.org/officeDocument/2006/relationships/viewProps" Target="viewProps.xml"/><Relationship Id="rId120" Type="http://schemas.openxmlformats.org/officeDocument/2006/relationships/theme" Target="theme/theme1.xml"/><Relationship Id="rId121" Type="http://schemas.openxmlformats.org/officeDocument/2006/relationships/tableStyles" Target="tableStyles.xml"/><Relationship Id="rId122" Type="http://schemas.microsoft.com/office/2016/11/relationships/changesInfo" Target="changesInfos/changesInfo1.xml"/><Relationship Id="rId123" Type="http://schemas.microsoft.com/office/2015/10/relationships/revisionInfo" Target="revisionInfo.xml"/><Relationship Id="rId124" Type="http://schemas.openxmlformats.org/officeDocument/2006/relationships/slide" Target="slides/slide4.xml"/><Relationship Id="rId125" Type="http://schemas.openxmlformats.org/officeDocument/2006/relationships/slide" Target="slides/slide5.xml"/><Relationship Id="rId126" Type="http://schemas.openxmlformats.org/officeDocument/2006/relationships/slide" Target="slides/slide6.xml"/><Relationship Id="rId127" Type="http://schemas.openxmlformats.org/officeDocument/2006/relationships/slide" Target="slides/slide7.xml"/><Relationship Id="rId128" Type="http://schemas.openxmlformats.org/officeDocument/2006/relationships/slide" Target="slides/slide8.xml"/><Relationship Id="rId129" Type="http://schemas.openxmlformats.org/officeDocument/2006/relationships/slide" Target="slides/slide9.xml"/><Relationship Id="rId130" Type="http://schemas.openxmlformats.org/officeDocument/2006/relationships/slide" Target="slides/slide10.xml"/><Relationship Id="rId131" Type="http://schemas.openxmlformats.org/officeDocument/2006/relationships/slide" Target="slides/slide11.xml"/><Relationship Id="rId132" Type="http://schemas.openxmlformats.org/officeDocument/2006/relationships/slide" Target="slides/slide13.xml"/><Relationship Id="rId133" Type="http://schemas.openxmlformats.org/officeDocument/2006/relationships/slide" Target="slides/slide15.xml"/><Relationship Id="rId134" Type="http://schemas.openxmlformats.org/officeDocument/2006/relationships/slide" Target="slides/slide16.xml"/><Relationship Id="rId135" Type="http://schemas.openxmlformats.org/officeDocument/2006/relationships/slide" Target="slides/slide17.xml"/><Relationship Id="rId136" Type="http://schemas.openxmlformats.org/officeDocument/2006/relationships/slide" Target="slides/slide20.xml"/><Relationship Id="rId137" Type="http://schemas.openxmlformats.org/officeDocument/2006/relationships/slide" Target="slides/slide21.xml"/><Relationship Id="rId138" Type="http://schemas.openxmlformats.org/officeDocument/2006/relationships/slide" Target="slides/slide23.xml"/><Relationship Id="rId139" Type="http://schemas.openxmlformats.org/officeDocument/2006/relationships/slide" Target="slides/slide24.xml"/><Relationship Id="rId140" Type="http://schemas.openxmlformats.org/officeDocument/2006/relationships/slide" Target="slides/slide25.xml"/><Relationship Id="rId141" Type="http://schemas.openxmlformats.org/officeDocument/2006/relationships/slide" Target="slides/slide26.xml"/><Relationship Id="rId142" Type="http://schemas.openxmlformats.org/officeDocument/2006/relationships/slide" Target="slides/slide27.xml"/><Relationship Id="rId143" Type="http://schemas.openxmlformats.org/officeDocument/2006/relationships/slide" Target="slides/slide28.xml"/><Relationship Id="rId144" Type="http://schemas.openxmlformats.org/officeDocument/2006/relationships/slide" Target="slides/slide29.xml"/><Relationship Id="rId145" Type="http://schemas.openxmlformats.org/officeDocument/2006/relationships/slide" Target="slides/slide30.xml"/><Relationship Id="rId146" Type="http://schemas.openxmlformats.org/officeDocument/2006/relationships/slide" Target="slides/slide31.xml"/><Relationship Id="rId147" Type="http://schemas.openxmlformats.org/officeDocument/2006/relationships/slide" Target="slides/slide32.xml"/><Relationship Id="rId148" Type="http://schemas.openxmlformats.org/officeDocument/2006/relationships/slide" Target="slides/slide33.xml"/><Relationship Id="rId149" Type="http://schemas.openxmlformats.org/officeDocument/2006/relationships/slide" Target="slides/slide34.xml"/><Relationship Id="rId150" Type="http://schemas.openxmlformats.org/officeDocument/2006/relationships/slide" Target="slides/slide35.xml"/><Relationship Id="rId151" Type="http://schemas.openxmlformats.org/officeDocument/2006/relationships/slide" Target="slides/slide36.xml"/><Relationship Id="rId152" Type="http://schemas.openxmlformats.org/officeDocument/2006/relationships/slide" Target="slides/slide37.xml"/><Relationship Id="rId153" Type="http://schemas.openxmlformats.org/officeDocument/2006/relationships/slide" Target="slides/slide39.xml"/><Relationship Id="rId154" Type="http://schemas.openxmlformats.org/officeDocument/2006/relationships/slide" Target="slides/slide40.xml"/><Relationship Id="rId155" Type="http://schemas.openxmlformats.org/officeDocument/2006/relationships/slide" Target="slides/slide41.xml"/><Relationship Id="rId156" Type="http://schemas.openxmlformats.org/officeDocument/2006/relationships/slide" Target="slides/slide42.xml"/><Relationship Id="rId157" Type="http://schemas.openxmlformats.org/officeDocument/2006/relationships/slide" Target="slides/slide43.xml"/><Relationship Id="rId158" Type="http://schemas.openxmlformats.org/officeDocument/2006/relationships/slide" Target="slides/slide44.xml"/><Relationship Id="rId159" Type="http://schemas.openxmlformats.org/officeDocument/2006/relationships/slide" Target="slides/slide45.xml"/><Relationship Id="rId160" Type="http://schemas.openxmlformats.org/officeDocument/2006/relationships/slide" Target="slides/slide47.xml"/><Relationship Id="rId161" Type="http://schemas.openxmlformats.org/officeDocument/2006/relationships/slide" Target="slides/slide48.xml"/><Relationship Id="rId162" Type="http://schemas.openxmlformats.org/officeDocument/2006/relationships/slide" Target="slides/slide49.xml"/><Relationship Id="rId163" Type="http://schemas.openxmlformats.org/officeDocument/2006/relationships/slide" Target="slides/slide50.xml"/><Relationship Id="rId164" Type="http://schemas.openxmlformats.org/officeDocument/2006/relationships/slide" Target="slides/slide51.xml"/><Relationship Id="rId165" Type="http://schemas.openxmlformats.org/officeDocument/2006/relationships/slide" Target="slides/slide52.xml"/><Relationship Id="rId166" Type="http://schemas.openxmlformats.org/officeDocument/2006/relationships/slide" Target="slides/slide53.xml"/><Relationship Id="rId167" Type="http://schemas.openxmlformats.org/officeDocument/2006/relationships/slide" Target="slides/slide54.xml"/><Relationship Id="rId168" Type="http://schemas.openxmlformats.org/officeDocument/2006/relationships/slide" Target="slides/slide55.xml"/><Relationship Id="rId169" Type="http://schemas.openxmlformats.org/officeDocument/2006/relationships/slide" Target="slides/slide56.xml"/><Relationship Id="rId170" Type="http://schemas.openxmlformats.org/officeDocument/2006/relationships/slide" Target="slides/slide57.xml"/><Relationship Id="rId171" Type="http://schemas.openxmlformats.org/officeDocument/2006/relationships/slide" Target="slides/slide58.xml"/><Relationship Id="rId172" Type="http://schemas.openxmlformats.org/officeDocument/2006/relationships/slide" Target="slides/slide59.xml"/><Relationship Id="rId173" Type="http://schemas.openxmlformats.org/officeDocument/2006/relationships/slide" Target="slides/slide60.xml"/><Relationship Id="rId174" Type="http://schemas.openxmlformats.org/officeDocument/2006/relationships/slide" Target="slides/slide61.xml"/><Relationship Id="rId175" Type="http://schemas.openxmlformats.org/officeDocument/2006/relationships/slide" Target="slides/slide62.xml"/><Relationship Id="rId176" Type="http://schemas.openxmlformats.org/officeDocument/2006/relationships/slide" Target="slides/slide63.xml"/><Relationship Id="rId177" Type="http://schemas.openxmlformats.org/officeDocument/2006/relationships/slide" Target="slides/slide64.xml"/><Relationship Id="rId178" Type="http://schemas.openxmlformats.org/officeDocument/2006/relationships/slide" Target="slides/slide65.xml"/><Relationship Id="rId179" Type="http://schemas.openxmlformats.org/officeDocument/2006/relationships/slide" Target="slides/slide66.xml"/><Relationship Id="rId180" Type="http://schemas.openxmlformats.org/officeDocument/2006/relationships/slide" Target="slides/slide67.xml"/><Relationship Id="rId181" Type="http://schemas.openxmlformats.org/officeDocument/2006/relationships/slide" Target="slides/slide68.xml"/><Relationship Id="rId182" Type="http://schemas.openxmlformats.org/officeDocument/2006/relationships/slide" Target="slides/slide69.xml"/><Relationship Id="rId183" Type="http://schemas.openxmlformats.org/officeDocument/2006/relationships/slide" Target="slides/slide70.xml"/><Relationship Id="rId184" Type="http://schemas.openxmlformats.org/officeDocument/2006/relationships/slide" Target="slides/slide71.xml"/><Relationship Id="rId185" Type="http://schemas.openxmlformats.org/officeDocument/2006/relationships/slide" Target="slides/slide72.xml"/><Relationship Id="rId186" Type="http://schemas.openxmlformats.org/officeDocument/2006/relationships/slide" Target="slides/slide73.xml"/><Relationship Id="rId187" Type="http://schemas.openxmlformats.org/officeDocument/2006/relationships/slide" Target="slides/slide74.xml"/><Relationship Id="rId188" Type="http://schemas.openxmlformats.org/officeDocument/2006/relationships/slide" Target="slides/slide75.xml"/><Relationship Id="rId189" Type="http://schemas.openxmlformats.org/officeDocument/2006/relationships/slide" Target="slides/slide76.xml"/><Relationship Id="rId190" Type="http://schemas.openxmlformats.org/officeDocument/2006/relationships/slide" Target="slides/slide77.xml"/><Relationship Id="rId191" Type="http://schemas.openxmlformats.org/officeDocument/2006/relationships/slide" Target="slides/slide78.xml"/><Relationship Id="rId192" Type="http://schemas.openxmlformats.org/officeDocument/2006/relationships/slide" Target="slides/slide79.xml"/><Relationship Id="rId193" Type="http://schemas.openxmlformats.org/officeDocument/2006/relationships/slide" Target="slides/slide80.xml"/><Relationship Id="rId194" Type="http://schemas.openxmlformats.org/officeDocument/2006/relationships/slide" Target="slides/slide81.xml"/><Relationship Id="rId195" Type="http://schemas.openxmlformats.org/officeDocument/2006/relationships/slide" Target="slides/slide82.xml"/><Relationship Id="rId196" Type="http://schemas.openxmlformats.org/officeDocument/2006/relationships/slide" Target="slides/slide83.xml"/><Relationship Id="rId197" Type="http://schemas.openxmlformats.org/officeDocument/2006/relationships/slide" Target="slides/slide84.xml"/><Relationship Id="rId198" Type="http://schemas.openxmlformats.org/officeDocument/2006/relationships/slide" Target="slides/slide85.xml"/><Relationship Id="rId199" Type="http://schemas.openxmlformats.org/officeDocument/2006/relationships/slide" Target="slides/slide86.xml"/><Relationship Id="rId200" Type="http://schemas.openxmlformats.org/officeDocument/2006/relationships/slide" Target="slides/slide87.xml"/><Relationship Id="rId201" Type="http://schemas.openxmlformats.org/officeDocument/2006/relationships/slide" Target="slides/slide88.xml"/><Relationship Id="rId202" Type="http://schemas.openxmlformats.org/officeDocument/2006/relationships/slide" Target="slides/slide89.xml"/><Relationship Id="rId203" Type="http://schemas.openxmlformats.org/officeDocument/2006/relationships/slide" Target="slides/slide90.xml"/><Relationship Id="rId204" Type="http://schemas.openxmlformats.org/officeDocument/2006/relationships/slide" Target="slides/slide91.xml"/><Relationship Id="rId205" Type="http://schemas.openxmlformats.org/officeDocument/2006/relationships/slide" Target="slides/slide92.xml"/><Relationship Id="rId206" Type="http://schemas.openxmlformats.org/officeDocument/2006/relationships/slide" Target="slides/slide93.xml"/><Relationship Id="rId207" Type="http://schemas.openxmlformats.org/officeDocument/2006/relationships/slide" Target="slides/slide94.xml"/><Relationship Id="rId208" Type="http://schemas.openxmlformats.org/officeDocument/2006/relationships/slide" Target="slides/slide95.xml"/><Relationship Id="rId209" Type="http://schemas.openxmlformats.org/officeDocument/2006/relationships/slide" Target="slides/slide96.xml"/><Relationship Id="rId210" Type="http://schemas.openxmlformats.org/officeDocument/2006/relationships/slide" Target="slides/slide97.xml"/><Relationship Id="rId211" Type="http://schemas.openxmlformats.org/officeDocument/2006/relationships/slide" Target="slides/slide98.xml"/><Relationship Id="rId212" Type="http://schemas.openxmlformats.org/officeDocument/2006/relationships/slide" Target="slides/slide99.xml"/><Relationship Id="rId213" Type="http://schemas.openxmlformats.org/officeDocument/2006/relationships/slide" Target="slides/slide100.xml"/><Relationship Id="rId214" Type="http://schemas.openxmlformats.org/officeDocument/2006/relationships/slide" Target="slides/slide101.xml"/><Relationship Id="rId215" Type="http://schemas.openxmlformats.org/officeDocument/2006/relationships/slide" Target="slides/slide102.xml"/><Relationship Id="rId216" Type="http://schemas.openxmlformats.org/officeDocument/2006/relationships/slide" Target="slides/slide103.xml"/><Relationship Id="rId217" Type="http://schemas.openxmlformats.org/officeDocument/2006/relationships/slide" Target="slides/slide104.xml"/><Relationship Id="rId218" Type="http://schemas.openxmlformats.org/officeDocument/2006/relationships/slide" Target="slides/slide105.xml"/><Relationship Id="rId219" Type="http://schemas.openxmlformats.org/officeDocument/2006/relationships/slide" Target="slides/slide106.xml"/><Relationship Id="rId220" Type="http://schemas.openxmlformats.org/officeDocument/2006/relationships/slide" Target="slides/slide107.xml"/><Relationship Id="rId221" Type="http://schemas.openxmlformats.org/officeDocument/2006/relationships/slide" Target="slides/slide108.xml"/><Relationship Id="rId222" Type="http://schemas.openxmlformats.org/officeDocument/2006/relationships/slide" Target="slides/slide109.xml"/><Relationship Id="rId223" Type="http://schemas.openxmlformats.org/officeDocument/2006/relationships/slide" Target="slides/slide110.xml"/><Relationship Id="rId224" Type="http://schemas.openxmlformats.org/officeDocument/2006/relationships/slide" Target="slides/slide111.xml"/><Relationship Id="rId225" Type="http://schemas.openxmlformats.org/officeDocument/2006/relationships/slide" Target="slides/slide112.xml"/><Relationship Id="rId226" Type="http://schemas.openxmlformats.org/officeDocument/2006/relationships/slide" Target="slides/slide113.xml"/><Relationship Id="rId227" Type="http://schemas.openxmlformats.org/officeDocument/2006/relationships/slide" Target="slides/slide114.xml"/><Relationship Id="rId228" Type="http://schemas.openxmlformats.org/officeDocument/2006/relationships/slide" Target="slides/slide115.xml"/><Relationship Id="rId229" Type="http://schemas.openxmlformats.org/officeDocument/2006/relationships/slide" Target="slides/slide116.xml"/><Relationship Id="rId230" Type="http://schemas.openxmlformats.org/officeDocument/2006/relationships/slide" Target="slides/slide117.xml"/><Relationship Id="rId231" Type="http://schemas.openxmlformats.org/officeDocument/2006/relationships/slide" Target="slides/slide118.xml"/><Relationship Id="rId232" Type="http://schemas.openxmlformats.org/officeDocument/2006/relationships/slide" Target="slides/slide119.xml"/><Relationship Id="rId233" Type="http://schemas.openxmlformats.org/officeDocument/2006/relationships/slide" Target="slides/slide120.xml"/><Relationship Id="rId234" Type="http://schemas.openxmlformats.org/officeDocument/2006/relationships/slide" Target="slides/slide121.xml"/><Relationship Id="rId235" Type="http://schemas.openxmlformats.org/officeDocument/2006/relationships/slide" Target="slides/slide122.xml"/><Relationship Id="rId236" Type="http://schemas.openxmlformats.org/officeDocument/2006/relationships/slide" Target="slides/slide123.xml"/><Relationship Id="rId237" Type="http://schemas.openxmlformats.org/officeDocument/2006/relationships/slide" Target="slides/slide124.xml"/><Relationship Id="rId238" Type="http://schemas.openxmlformats.org/officeDocument/2006/relationships/slide" Target="slides/slide125.xml"/><Relationship Id="rId239" Type="http://schemas.openxmlformats.org/officeDocument/2006/relationships/slide" Target="slides/slide126.xml"/><Relationship Id="rId240" Type="http://schemas.openxmlformats.org/officeDocument/2006/relationships/slide" Target="slides/slide127.xml"/><Relationship Id="rId241" Type="http://schemas.openxmlformats.org/officeDocument/2006/relationships/slide" Target="slides/slide128.xml"/><Relationship Id="rId242" Type="http://schemas.openxmlformats.org/officeDocument/2006/relationships/slide" Target="slides/slide129.xml"/><Relationship Id="rId243" Type="http://schemas.openxmlformats.org/officeDocument/2006/relationships/slide" Target="slides/slide130.xml"/><Relationship Id="rId244" Type="http://schemas.openxmlformats.org/officeDocument/2006/relationships/slide" Target="slides/slide131.xml"/><Relationship Id="rId245" Type="http://schemas.openxmlformats.org/officeDocument/2006/relationships/slide" Target="slides/slide132.xml"/><Relationship Id="rId246" Type="http://schemas.openxmlformats.org/officeDocument/2006/relationships/slide" Target="slides/slide133.xml"/><Relationship Id="rId247" Type="http://schemas.openxmlformats.org/officeDocument/2006/relationships/slide" Target="slides/slide134.xml"/><Relationship Id="rId248" Type="http://schemas.openxmlformats.org/officeDocument/2006/relationships/slide" Target="slides/slide135.xml"/><Relationship Id="rId249" Type="http://schemas.openxmlformats.org/officeDocument/2006/relationships/slide" Target="slides/slide136.xml"/><Relationship Id="rId250" Type="http://schemas.openxmlformats.org/officeDocument/2006/relationships/slide" Target="slides/slide137.xml"/><Relationship Id="rId251" Type="http://schemas.openxmlformats.org/officeDocument/2006/relationships/slide" Target="slides/slide138.xml"/><Relationship Id="rId252" Type="http://schemas.openxmlformats.org/officeDocument/2006/relationships/slide" Target="slides/slide139.xml"/><Relationship Id="rId253" Type="http://schemas.openxmlformats.org/officeDocument/2006/relationships/slide" Target="slides/slide140.xml"/><Relationship Id="rId254" Type="http://schemas.openxmlformats.org/officeDocument/2006/relationships/slide" Target="slides/slide141.xml"/><Relationship Id="rId255" Type="http://schemas.openxmlformats.org/officeDocument/2006/relationships/slide" Target="slides/slide142.xml"/><Relationship Id="rId256" Type="http://schemas.openxmlformats.org/officeDocument/2006/relationships/slide" Target="slides/slide143.xml"/><Relationship Id="rId257" Type="http://schemas.openxmlformats.org/officeDocument/2006/relationships/slide" Target="slides/slide144.xml"/><Relationship Id="rId258" Type="http://schemas.openxmlformats.org/officeDocument/2006/relationships/slide" Target="slides/slide145.xml"/><Relationship Id="rId259" Type="http://schemas.openxmlformats.org/officeDocument/2006/relationships/slide" Target="slides/slide146.xml"/><Relationship Id="rId260" Type="http://schemas.openxmlformats.org/officeDocument/2006/relationships/slide" Target="slides/slide147.xml"/><Relationship Id="rId261" Type="http://schemas.openxmlformats.org/officeDocument/2006/relationships/slide" Target="slides/slide148.xml"/><Relationship Id="rId262" Type="http://schemas.openxmlformats.org/officeDocument/2006/relationships/slide" Target="slides/slide149.xml"/><Relationship Id="rId263" Type="http://schemas.openxmlformats.org/officeDocument/2006/relationships/slide" Target="slides/slide150.xml"/><Relationship Id="rId264" Type="http://schemas.openxmlformats.org/officeDocument/2006/relationships/slide" Target="slides/slide151.xml"/><Relationship Id="rId265" Type="http://schemas.openxmlformats.org/officeDocument/2006/relationships/slide" Target="slides/slide152.xml"/><Relationship Id="rId266" Type="http://schemas.openxmlformats.org/officeDocument/2006/relationships/slide" Target="slides/slide153.xml"/><Relationship Id="rId267" Type="http://schemas.openxmlformats.org/officeDocument/2006/relationships/slide" Target="slides/slide154.xml"/><Relationship Id="rId268" Type="http://schemas.openxmlformats.org/officeDocument/2006/relationships/slide" Target="slides/slide155.xml"/><Relationship Id="rId269" Type="http://schemas.openxmlformats.org/officeDocument/2006/relationships/slide" Target="slides/slide156.xml"/><Relationship Id="rId270" Type="http://schemas.openxmlformats.org/officeDocument/2006/relationships/slide" Target="slides/slide157.xml"/><Relationship Id="rId271" Type="http://schemas.openxmlformats.org/officeDocument/2006/relationships/slide" Target="slides/slide158.xml"/><Relationship Id="rId272" Type="http://schemas.openxmlformats.org/officeDocument/2006/relationships/slide" Target="slides/slide159.xml"/><Relationship Id="rId273" Type="http://schemas.openxmlformats.org/officeDocument/2006/relationships/slide" Target="slides/slide160.xml"/><Relationship Id="rId274" Type="http://schemas.openxmlformats.org/officeDocument/2006/relationships/slide" Target="slides/slide161.xml"/><Relationship Id="rId275" Type="http://schemas.openxmlformats.org/officeDocument/2006/relationships/slide" Target="slides/slide163.xml"/><Relationship Id="rId276" Type="http://schemas.openxmlformats.org/officeDocument/2006/relationships/slide" Target="slides/slide164.xml"/><Relationship Id="rId277" Type="http://schemas.openxmlformats.org/officeDocument/2006/relationships/slide" Target="slides/slide166.xml"/><Relationship Id="rId278" Type="http://schemas.openxmlformats.org/officeDocument/2006/relationships/slide" Target="slides/slide167.xml"/><Relationship Id="rId279" Type="http://schemas.openxmlformats.org/officeDocument/2006/relationships/slide" Target="slides/slide168.xml"/><Relationship Id="rId280" Type="http://schemas.openxmlformats.org/officeDocument/2006/relationships/slide" Target="slides/slide169.xml"/><Relationship Id="rId281" Type="http://schemas.openxmlformats.org/officeDocument/2006/relationships/slide" Target="slides/slide170.xml"/><Relationship Id="rId282" Type="http://schemas.openxmlformats.org/officeDocument/2006/relationships/slide" Target="slides/slide171.xml"/><Relationship Id="rId283" Type="http://schemas.openxmlformats.org/officeDocument/2006/relationships/slide" Target="slides/slide172.xml"/><Relationship Id="rId284" Type="http://schemas.openxmlformats.org/officeDocument/2006/relationships/slide" Target="slides/slide173.xml"/><Relationship Id="rId285" Type="http://schemas.openxmlformats.org/officeDocument/2006/relationships/slide" Target="slides/slide174.xml"/><Relationship Id="rId286" Type="http://schemas.openxmlformats.org/officeDocument/2006/relationships/slide" Target="slides/slide175.xml"/><Relationship Id="rId287" Type="http://schemas.openxmlformats.org/officeDocument/2006/relationships/slide" Target="slides/slide176.xml"/><Relationship Id="rId288" Type="http://schemas.openxmlformats.org/officeDocument/2006/relationships/slide" Target="slides/slide177.xml"/><Relationship Id="rId289" Type="http://schemas.openxmlformats.org/officeDocument/2006/relationships/slide" Target="slides/slide178.xml"/><Relationship Id="rId290" Type="http://schemas.openxmlformats.org/officeDocument/2006/relationships/slide" Target="slides/slide179.xml"/><Relationship Id="rId291" Type="http://schemas.openxmlformats.org/officeDocument/2006/relationships/slide" Target="slides/slide180.xml"/><Relationship Id="rId292" Type="http://schemas.openxmlformats.org/officeDocument/2006/relationships/slide" Target="slides/slide181.xml"/><Relationship Id="rId293" Type="http://schemas.openxmlformats.org/officeDocument/2006/relationships/slide" Target="slides/slide182.xml"/><Relationship Id="rId294" Type="http://schemas.openxmlformats.org/officeDocument/2006/relationships/slide" Target="slides/slide183.xml"/><Relationship Id="rId295" Type="http://schemas.openxmlformats.org/officeDocument/2006/relationships/slide" Target="slides/slide184.xml"/><Relationship Id="rId296" Type="http://schemas.openxmlformats.org/officeDocument/2006/relationships/slide" Target="slides/slide185.xml"/><Relationship Id="rId297" Type="http://schemas.openxmlformats.org/officeDocument/2006/relationships/slide" Target="slides/slide186.xml"/><Relationship Id="rId298" Type="http://schemas.openxmlformats.org/officeDocument/2006/relationships/slide" Target="slides/slide187.xml"/><Relationship Id="rId299" Type="http://schemas.openxmlformats.org/officeDocument/2006/relationships/slide" Target="slides/slide188.xml"/><Relationship Id="rId300" Type="http://schemas.openxmlformats.org/officeDocument/2006/relationships/slide" Target="slides/slide189.xml"/><Relationship Id="rId301" Type="http://schemas.openxmlformats.org/officeDocument/2006/relationships/slide" Target="slides/slide190.xml"/><Relationship Id="rId302" Type="http://schemas.openxmlformats.org/officeDocument/2006/relationships/slide" Target="slides/slide191.xml"/><Relationship Id="rId303" Type="http://schemas.openxmlformats.org/officeDocument/2006/relationships/slide" Target="slides/slide192.xml"/><Relationship Id="rId304" Type="http://schemas.openxmlformats.org/officeDocument/2006/relationships/slide" Target="slides/slide193.xml"/><Relationship Id="rId305" Type="http://schemas.openxmlformats.org/officeDocument/2006/relationships/slide" Target="slides/slide194.xml"/><Relationship Id="rId306" Type="http://schemas.openxmlformats.org/officeDocument/2006/relationships/slide" Target="slides/slide195.xml"/><Relationship Id="rId307" Type="http://schemas.openxmlformats.org/officeDocument/2006/relationships/slide" Target="slides/slide196.xml"/><Relationship Id="rId308" Type="http://schemas.openxmlformats.org/officeDocument/2006/relationships/slide" Target="slides/slide197.xml"/><Relationship Id="rId309" Type="http://schemas.openxmlformats.org/officeDocument/2006/relationships/slide" Target="slides/slide198.xml"/><Relationship Id="rId310" Type="http://schemas.openxmlformats.org/officeDocument/2006/relationships/slide" Target="slides/slide199.xml"/><Relationship Id="rId311" Type="http://schemas.openxmlformats.org/officeDocument/2006/relationships/slide" Target="slides/slide200.xml"/><Relationship Id="rId312" Type="http://schemas.openxmlformats.org/officeDocument/2006/relationships/slide" Target="slides/slide201.xml"/><Relationship Id="rId313" Type="http://schemas.openxmlformats.org/officeDocument/2006/relationships/slide" Target="slides/slide202.xml"/><Relationship Id="rId314" Type="http://schemas.openxmlformats.org/officeDocument/2006/relationships/slide" Target="slides/slide203.xml"/><Relationship Id="rId315" Type="http://schemas.openxmlformats.org/officeDocument/2006/relationships/slide" Target="slides/slide204.xml"/><Relationship Id="rId316" Type="http://schemas.openxmlformats.org/officeDocument/2006/relationships/slide" Target="slides/slide205.xml"/><Relationship Id="rId317" Type="http://schemas.openxmlformats.org/officeDocument/2006/relationships/slide" Target="slides/slide206.xml"/><Relationship Id="rId318" Type="http://schemas.openxmlformats.org/officeDocument/2006/relationships/slide" Target="slides/slide207.xml"/><Relationship Id="rId319" Type="http://schemas.openxmlformats.org/officeDocument/2006/relationships/slide" Target="slides/slide208.xml"/><Relationship Id="rId320" Type="http://schemas.openxmlformats.org/officeDocument/2006/relationships/slide" Target="slides/slide209.xml"/><Relationship Id="rId321" Type="http://schemas.openxmlformats.org/officeDocument/2006/relationships/slide" Target="slides/slide210.xml"/><Relationship Id="rId322" Type="http://schemas.openxmlformats.org/officeDocument/2006/relationships/slide" Target="slides/slide211.xml"/><Relationship Id="rId323" Type="http://schemas.openxmlformats.org/officeDocument/2006/relationships/slide" Target="slides/slide212.xml"/><Relationship Id="rId324" Type="http://schemas.openxmlformats.org/officeDocument/2006/relationships/slide" Target="slides/slide213.xml"/><Relationship Id="rId325" Type="http://schemas.openxmlformats.org/officeDocument/2006/relationships/slide" Target="slides/slide214.xml"/><Relationship Id="rId326" Type="http://schemas.openxmlformats.org/officeDocument/2006/relationships/slide" Target="slides/slide215.xml"/><Relationship Id="rId327" Type="http://schemas.openxmlformats.org/officeDocument/2006/relationships/slide" Target="slides/slide216.xml"/><Relationship Id="rId328" Type="http://schemas.openxmlformats.org/officeDocument/2006/relationships/slide" Target="slides/slide217.xml"/><Relationship Id="rId329" Type="http://schemas.openxmlformats.org/officeDocument/2006/relationships/slide" Target="slides/slide218.xml"/><Relationship Id="rId330" Type="http://schemas.openxmlformats.org/officeDocument/2006/relationships/slide" Target="slides/slide219.xml"/><Relationship Id="rId331" Type="http://schemas.openxmlformats.org/officeDocument/2006/relationships/slide" Target="slides/slide220.xml"/><Relationship Id="rId332" Type="http://schemas.openxmlformats.org/officeDocument/2006/relationships/slide" Target="slides/slide221.xml"/><Relationship Id="rId333" Type="http://schemas.openxmlformats.org/officeDocument/2006/relationships/slide" Target="slides/slide222.xml"/><Relationship Id="rId334" Type="http://schemas.openxmlformats.org/officeDocument/2006/relationships/slide" Target="slides/slide223.xml"/><Relationship Id="rId335" Type="http://schemas.openxmlformats.org/officeDocument/2006/relationships/slide" Target="slides/slide224.xml"/><Relationship Id="rId336" Type="http://schemas.openxmlformats.org/officeDocument/2006/relationships/slide" Target="slides/slide225.xml"/><Relationship Id="rId337" Type="http://schemas.openxmlformats.org/officeDocument/2006/relationships/slide" Target="slides/slide226.xml"/><Relationship Id="rId338" Type="http://schemas.openxmlformats.org/officeDocument/2006/relationships/slide" Target="slides/slide227.xml"/><Relationship Id="rId339" Type="http://schemas.openxmlformats.org/officeDocument/2006/relationships/slide" Target="slides/slide228.xml"/><Relationship Id="rId340" Type="http://schemas.openxmlformats.org/officeDocument/2006/relationships/slide" Target="slides/slide229.xml"/><Relationship Id="rId341" Type="http://schemas.openxmlformats.org/officeDocument/2006/relationships/slide" Target="slides/slide230.xml"/><Relationship Id="rId342" Type="http://schemas.openxmlformats.org/officeDocument/2006/relationships/slide" Target="slides/slide231.xml"/><Relationship Id="rId343" Type="http://schemas.openxmlformats.org/officeDocument/2006/relationships/slide" Target="slides/slide232.xml"/><Relationship Id="rId344" Type="http://schemas.openxmlformats.org/officeDocument/2006/relationships/slide" Target="slides/slide233.xml"/><Relationship Id="rId345" Type="http://schemas.openxmlformats.org/officeDocument/2006/relationships/slide" Target="slides/slide234.xml"/><Relationship Id="rId346" Type="http://schemas.openxmlformats.org/officeDocument/2006/relationships/slide" Target="slides/slide235.xml"/><Relationship Id="rId347" Type="http://schemas.openxmlformats.org/officeDocument/2006/relationships/slide" Target="slides/slide236.xml"/><Relationship Id="rId348" Type="http://schemas.openxmlformats.org/officeDocument/2006/relationships/slide" Target="slides/slide237.xml"/><Relationship Id="rId349" Type="http://schemas.openxmlformats.org/officeDocument/2006/relationships/slide" Target="slides/slide238.xml"/><Relationship Id="rId350" Type="http://schemas.openxmlformats.org/officeDocument/2006/relationships/slide" Target="slides/slide239.xml"/><Relationship Id="rId351" Type="http://schemas.openxmlformats.org/officeDocument/2006/relationships/slide" Target="slides/slide240.xml"/><Relationship Id="rId352" Type="http://schemas.openxmlformats.org/officeDocument/2006/relationships/slide" Target="slides/slide241.xml"/><Relationship Id="rId353" Type="http://schemas.openxmlformats.org/officeDocument/2006/relationships/slide" Target="slides/slide242.xml"/><Relationship Id="rId354" Type="http://schemas.openxmlformats.org/officeDocument/2006/relationships/slide" Target="slides/slide243.xml"/><Relationship Id="rId355" Type="http://schemas.openxmlformats.org/officeDocument/2006/relationships/slide" Target="slides/slide244.xml"/><Relationship Id="rId356" Type="http://schemas.openxmlformats.org/officeDocument/2006/relationships/slide" Target="slides/slide245.xml"/><Relationship Id="rId357" Type="http://schemas.openxmlformats.org/officeDocument/2006/relationships/slide" Target="slides/slide246.xml"/><Relationship Id="rId358" Type="http://schemas.openxmlformats.org/officeDocument/2006/relationships/slide" Target="slides/slide247.xml"/><Relationship Id="rId359" Type="http://schemas.openxmlformats.org/officeDocument/2006/relationships/slide" Target="slides/slide248.xml"/><Relationship Id="rId360" Type="http://schemas.openxmlformats.org/officeDocument/2006/relationships/slide" Target="slides/slide249.xml"/><Relationship Id="rId361" Type="http://schemas.openxmlformats.org/officeDocument/2006/relationships/slide" Target="slides/slide250.xml"/><Relationship Id="rId362" Type="http://schemas.openxmlformats.org/officeDocument/2006/relationships/slide" Target="slides/slide251.xml"/><Relationship Id="rId363" Type="http://schemas.openxmlformats.org/officeDocument/2006/relationships/slide" Target="slides/slide252.xml"/><Relationship Id="rId364" Type="http://schemas.openxmlformats.org/officeDocument/2006/relationships/slide" Target="slides/slide253.xml"/><Relationship Id="rId365" Type="http://schemas.openxmlformats.org/officeDocument/2006/relationships/slide" Target="slides/slide254.xml"/><Relationship Id="rId366" Type="http://schemas.openxmlformats.org/officeDocument/2006/relationships/slide" Target="slides/slide255.xml"/><Relationship Id="rId367" Type="http://schemas.openxmlformats.org/officeDocument/2006/relationships/slide" Target="slides/slide256.xml"/><Relationship Id="rId368" Type="http://schemas.openxmlformats.org/officeDocument/2006/relationships/slide" Target="slides/slide257.xml"/><Relationship Id="rId369" Type="http://schemas.openxmlformats.org/officeDocument/2006/relationships/slide" Target="slides/slide258.xml"/><Relationship Id="rId370" Type="http://schemas.openxmlformats.org/officeDocument/2006/relationships/slide" Target="slides/slide259.xml"/><Relationship Id="rId371" Type="http://schemas.openxmlformats.org/officeDocument/2006/relationships/slide" Target="slides/slide260.xml"/><Relationship Id="rId372" Type="http://schemas.openxmlformats.org/officeDocument/2006/relationships/slide" Target="slides/slide261.xml"/><Relationship Id="rId373" Type="http://schemas.openxmlformats.org/officeDocument/2006/relationships/slide" Target="slides/slide262.xml"/><Relationship Id="rId374" Type="http://schemas.openxmlformats.org/officeDocument/2006/relationships/slide" Target="slides/slide263.xml"/><Relationship Id="rId375" Type="http://schemas.openxmlformats.org/officeDocument/2006/relationships/slide" Target="slides/slide264.xml"/><Relationship Id="rId376" Type="http://schemas.openxmlformats.org/officeDocument/2006/relationships/slide" Target="slides/slide265.xml"/><Relationship Id="rId377" Type="http://schemas.openxmlformats.org/officeDocument/2006/relationships/slide" Target="slides/slide266.xml"/><Relationship Id="rId378" Type="http://schemas.openxmlformats.org/officeDocument/2006/relationships/slide" Target="slides/slide267.xml"/><Relationship Id="rId379" Type="http://schemas.openxmlformats.org/officeDocument/2006/relationships/slide" Target="slides/slide268.xml"/><Relationship Id="rId380" Type="http://schemas.openxmlformats.org/officeDocument/2006/relationships/slide" Target="slides/slide269.xml"/><Relationship Id="rId381" Type="http://schemas.openxmlformats.org/officeDocument/2006/relationships/slide" Target="slides/slide270.xml"/><Relationship Id="rId382" Type="http://schemas.openxmlformats.org/officeDocument/2006/relationships/slide" Target="slides/slide271.xml"/><Relationship Id="rId383" Type="http://schemas.openxmlformats.org/officeDocument/2006/relationships/slide" Target="slides/slide272.xml"/><Relationship Id="rId384" Type="http://schemas.openxmlformats.org/officeDocument/2006/relationships/slide" Target="slides/slide273.xml"/><Relationship Id="rId385" Type="http://schemas.openxmlformats.org/officeDocument/2006/relationships/slide" Target="slides/slide274.xml"/><Relationship Id="rId386" Type="http://schemas.openxmlformats.org/officeDocument/2006/relationships/slide" Target="slides/slide27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ean-Noel Sialou" userId="08acc5d2-3819-4be4-97e6-d593a92e8e16" providerId="ADAL" clId="{DC5A2AD4-2AC1-4F5C-A6BF-541681F7EFA2}"/>
    <pc:docChg chg="undo custSel modSld">
      <pc:chgData name="Jean-Noel Sialou" userId="08acc5d2-3819-4be4-97e6-d593a92e8e16" providerId="ADAL" clId="{DC5A2AD4-2AC1-4F5C-A6BF-541681F7EFA2}" dt="2026-09-07T10:18:25.187" v="38" actId="571"/>
      <pc:docMkLst>
        <pc:docMk/>
      </pc:docMkLst>
      <pc:sldChg chg="addSp delSp modSp mod">
        <pc:chgData name="Jean-Noel Sialou" userId="08acc5d2-3819-4be4-97e6-d593a92e8e16" providerId="ADAL" clId="{DC5A2AD4-2AC1-4F5C-A6BF-541681F7EFA2}" dt="2026-09-07T10:18:25.187" v="38" actId="571"/>
        <pc:sldMkLst>
          <pc:docMk/>
          <pc:sldMk cId="2102837376" sldId="358"/>
        </pc:sldMkLst>
        <pc:spChg chg="mod">
          <ac:chgData name="Jean-Noel Sialou" userId="08acc5d2-3819-4be4-97e6-d593a92e8e16" providerId="ADAL" clId="{DC5A2AD4-2AC1-4F5C-A6BF-541681F7EFA2}" dt="2026-09-07T10:18:15.089" v="35" actId="164"/>
          <ac:spMkLst>
            <pc:docMk/>
            <pc:sldMk cId="2102837376" sldId="358"/>
            <ac:spMk id="48" creationId="{00000000-0000-0000-0000-000000000000}"/>
          </ac:spMkLst>
        </pc:spChg>
        <pc:spChg chg="mod">
          <ac:chgData name="Jean-Noel Sialou" userId="08acc5d2-3819-4be4-97e6-d593a92e8e16" providerId="ADAL" clId="{DC5A2AD4-2AC1-4F5C-A6BF-541681F7EFA2}" dt="2026-09-07T10:18:15.089" v="35" actId="164"/>
          <ac:spMkLst>
            <pc:docMk/>
            <pc:sldMk cId="2102837376" sldId="358"/>
            <ac:spMk id="49" creationId="{00000000-0000-0000-0000-000000000000}"/>
          </ac:spMkLst>
        </pc:spChg>
        <pc:spChg chg="mod">
          <ac:chgData name="Jean-Noel Sialou" userId="08acc5d2-3819-4be4-97e6-d593a92e8e16" providerId="ADAL" clId="{DC5A2AD4-2AC1-4F5C-A6BF-541681F7EFA2}" dt="2026-09-07T10:18:15.089" v="35" actId="164"/>
          <ac:spMkLst>
            <pc:docMk/>
            <pc:sldMk cId="2102837376" sldId="358"/>
            <ac:spMk id="61" creationId="{00000000-0000-0000-0000-000000000000}"/>
          </ac:spMkLst>
        </pc:spChg>
        <pc:spChg chg="mod">
          <ac:chgData name="Jean-Noel Sialou" userId="08acc5d2-3819-4be4-97e6-d593a92e8e16" providerId="ADAL" clId="{DC5A2AD4-2AC1-4F5C-A6BF-541681F7EFA2}" dt="2026-09-07T10:18:15.089" v="35" actId="164"/>
          <ac:spMkLst>
            <pc:docMk/>
            <pc:sldMk cId="2102837376" sldId="358"/>
            <ac:spMk id="64" creationId="{00000000-0000-0000-0000-000000000000}"/>
          </ac:spMkLst>
        </pc:spChg>
        <pc:grpChg chg="add mod">
          <ac:chgData name="Jean-Noel Sialou" userId="08acc5d2-3819-4be4-97e6-d593a92e8e16" providerId="ADAL" clId="{DC5A2AD4-2AC1-4F5C-A6BF-541681F7EFA2}" dt="2026-09-07T10:18:17.535" v="36" actId="164"/>
          <ac:grpSpMkLst>
            <pc:docMk/>
            <pc:sldMk cId="2102837376" sldId="358"/>
            <ac:grpSpMk id="3" creationId="{C9290073-F4B9-4E89-EC47-0D4815D405F9}"/>
          </ac:grpSpMkLst>
        </pc:grpChg>
        <pc:grpChg chg="add mod">
          <ac:chgData name="Jean-Noel Sialou" userId="08acc5d2-3819-4be4-97e6-d593a92e8e16" providerId="ADAL" clId="{DC5A2AD4-2AC1-4F5C-A6BF-541681F7EFA2}" dt="2026-09-07T10:18:17.535" v="36" actId="164"/>
          <ac:grpSpMkLst>
            <pc:docMk/>
            <pc:sldMk cId="2102837376" sldId="358"/>
            <ac:grpSpMk id="7" creationId="{D520CB44-6CB8-26BA-C481-1E6C90DCE023}"/>
          </ac:grpSpMkLst>
        </pc:grpChg>
        <pc:picChg chg="add mod">
          <ac:chgData name="Jean-Noel Sialou" userId="08acc5d2-3819-4be4-97e6-d593a92e8e16" providerId="ADAL" clId="{DC5A2AD4-2AC1-4F5C-A6BF-541681F7EFA2}" dt="2026-09-07T10:18:17.535" v="36" actId="164"/>
          <ac:picMkLst>
            <pc:docMk/>
            <pc:sldMk cId="2102837376" sldId="358"/>
            <ac:picMk id="5" creationId="{A59C829E-ED12-0019-96D2-4C72AF995693}"/>
          </ac:picMkLst>
        </pc:picChg>
        <pc:picChg chg="mod">
          <ac:chgData name="Jean-Noel Sialou" userId="08acc5d2-3819-4be4-97e6-d593a92e8e16" providerId="ADAL" clId="{DC5A2AD4-2AC1-4F5C-A6BF-541681F7EFA2}" dt="2026-09-07T10:18:15.089" v="35" actId="164"/>
          <ac:picMkLst>
            <pc:docMk/>
            <pc:sldMk cId="2102837376" sldId="358"/>
            <ac:picMk id="31" creationId="{00000000-0000-0000-0000-000000000000}"/>
          </ac:picMkLst>
        </pc:picChg>
        <pc:picChg chg="mod">
          <ac:chgData name="Jean-Noel Sialou" userId="08acc5d2-3819-4be4-97e6-d593a92e8e16" providerId="ADAL" clId="{DC5A2AD4-2AC1-4F5C-A6BF-541681F7EFA2}" dt="2026-09-07T10:18:17.535" v="36" actId="164"/>
          <ac:picMkLst>
            <pc:docMk/>
            <pc:sldMk cId="2102837376" sldId="358"/>
            <ac:picMk id="47" creationId="{00000000-0000-0000-0000-000000000000}"/>
          </ac:picMkLst>
        </pc:picChg>
        <pc:picChg chg="mod">
          <ac:chgData name="Jean-Noel Sialou" userId="08acc5d2-3819-4be4-97e6-d593a92e8e16" providerId="ADAL" clId="{DC5A2AD4-2AC1-4F5C-A6BF-541681F7EFA2}" dt="2026-09-07T10:18:15.089" v="35" actId="164"/>
          <ac:picMkLst>
            <pc:docMk/>
            <pc:sldMk cId="2102837376" sldId="358"/>
            <ac:picMk id="50" creationId="{00000000-0000-0000-0000-000000000000}"/>
          </ac:picMkLst>
        </pc:picChg>
        <pc:picChg chg="mod">
          <ac:chgData name="Jean-Noel Sialou" userId="08acc5d2-3819-4be4-97e6-d593a92e8e16" providerId="ADAL" clId="{DC5A2AD4-2AC1-4F5C-A6BF-541681F7EFA2}" dt="2026-09-07T10:18:15.089" v="35" actId="164"/>
          <ac:picMkLst>
            <pc:docMk/>
            <pc:sldMk cId="2102837376" sldId="358"/>
            <ac:picMk id="54" creationId="{00000000-0000-0000-0000-000000000000}"/>
          </ac:picMkLst>
        </pc:picChg>
        <pc:picChg chg="mod">
          <ac:chgData name="Jean-Noel Sialou" userId="08acc5d2-3819-4be4-97e6-d593a92e8e16" providerId="ADAL" clId="{DC5A2AD4-2AC1-4F5C-A6BF-541681F7EFA2}" dt="2026-09-07T10:18:15.089" v="35" actId="164"/>
          <ac:picMkLst>
            <pc:docMk/>
            <pc:sldMk cId="2102837376" sldId="358"/>
            <ac:picMk id="65" creationId="{00000000-0000-0000-0000-000000000000}"/>
          </ac:picMkLst>
        </pc:picChg>
      </pc:sldChg>
    </pc:docChg>
  </pc:docChgLst>
  <pc:docChgLst>
    <pc:chgData name="Jean-Noel Sialou" userId="08acc5d2-3819-4be4-97e6-d593a92e8e16" providerId="ADAL" clId="{3E2E487B-B21A-43C3-A4E4-C31B8823D31F}"/>
    <pc:docChg chg="modSld">
      <pc:chgData name="Jean-Noel Sialou" userId="08acc5d2-3819-4be4-97e6-d593a92e8e16" providerId="ADAL" clId="{3E2E487B-B21A-43C3-A4E4-C31B8823D31F}" dt="2026-09-23T09:25:47.775" v="6" actId="164"/>
      <pc:docMkLst>
        <pc:docMk/>
      </pc:docMkLst>
      <pc:sldChg chg="modSp mod modAnim">
        <pc:chgData name="Jean-Noel Sialou" userId="08acc5d2-3819-4be4-97e6-d593a92e8e16" providerId="ADAL" clId="{3E2E487B-B21A-43C3-A4E4-C31B8823D31F}" dt="2026-09-15T10:14:35.637" v="5" actId="208"/>
        <pc:sldMkLst>
          <pc:docMk/>
          <pc:sldMk cId="2102837376" sldId="358"/>
        </pc:sldMkLst>
        <pc:spChg chg="mod">
          <ac:chgData name="Jean-Noel Sialou" userId="08acc5d2-3819-4be4-97e6-d593a92e8e16" providerId="ADAL" clId="{3E2E487B-B21A-43C3-A4E4-C31B8823D31F}" dt="2026-09-15T10:14:31.481" v="4" actId="207"/>
          <ac:spMkLst>
            <pc:docMk/>
            <pc:sldMk cId="2102837376" sldId="358"/>
            <ac:spMk id="40" creationId="{00000000-0000-0000-0000-000000000000}"/>
          </ac:spMkLst>
        </pc:spChg>
        <pc:spChg chg="mod">
          <ac:chgData name="Jean-Noel Sialou" userId="08acc5d2-3819-4be4-97e6-d593a92e8e16" providerId="ADAL" clId="{3E2E487B-B21A-43C3-A4E4-C31B8823D31F}" dt="2026-09-15T10:14:31.481" v="4" actId="207"/>
          <ac:spMkLst>
            <pc:docMk/>
            <pc:sldMk cId="2102837376" sldId="358"/>
            <ac:spMk id="41" creationId="{00000000-0000-0000-0000-000000000000}"/>
          </ac:spMkLst>
        </pc:spChg>
        <pc:grpChg chg="mod">
          <ac:chgData name="Jean-Noel Sialou" userId="08acc5d2-3819-4be4-97e6-d593a92e8e16" providerId="ADAL" clId="{3E2E487B-B21A-43C3-A4E4-C31B8823D31F}" dt="2026-09-15T10:14:06.017" v="1" actId="1076"/>
          <ac:grpSpMkLst>
            <pc:docMk/>
            <pc:sldMk cId="2102837376" sldId="358"/>
            <ac:grpSpMk id="7" creationId="{D520CB44-6CB8-26BA-C481-1E6C90DCE023}"/>
          </ac:grpSpMkLst>
        </pc:grpChg>
        <pc:cxnChg chg="mod">
          <ac:chgData name="Jean-Noel Sialou" userId="08acc5d2-3819-4be4-97e6-d593a92e8e16" providerId="ADAL" clId="{3E2E487B-B21A-43C3-A4E4-C31B8823D31F}" dt="2026-09-15T10:14:35.637" v="5" actId="208"/>
          <ac:cxnSpMkLst>
            <pc:docMk/>
            <pc:sldMk cId="2102837376" sldId="358"/>
            <ac:cxnSpMk id="77" creationId="{00000000-0000-0000-0000-000000000000}"/>
          </ac:cxnSpMkLst>
        </pc:cxnChg>
      </pc:sldChg>
      <pc:sldChg chg="addSp modSp modAnim">
        <pc:chgData name="Jean-Noel Sialou" userId="08acc5d2-3819-4be4-97e6-d593a92e8e16" providerId="ADAL" clId="{3E2E487B-B21A-43C3-A4E4-C31B8823D31F}" dt="2026-09-23T09:25:47.775" v="6" actId="164"/>
        <pc:sldMkLst>
          <pc:docMk/>
          <pc:sldMk cId="135173498" sldId="359"/>
        </pc:sldMkLst>
        <pc:spChg chg="mod">
          <ac:chgData name="Jean-Noel Sialou" userId="08acc5d2-3819-4be4-97e6-d593a92e8e16" providerId="ADAL" clId="{3E2E487B-B21A-43C3-A4E4-C31B8823D31F}" dt="2026-09-23T09:25:47.775" v="6" actId="164"/>
          <ac:spMkLst>
            <pc:docMk/>
            <pc:sldMk cId="135173498" sldId="359"/>
            <ac:spMk id="34" creationId="{00000000-0000-0000-0000-000000000000}"/>
          </ac:spMkLst>
        </pc:spChg>
        <pc:spChg chg="mod">
          <ac:chgData name="Jean-Noel Sialou" userId="08acc5d2-3819-4be4-97e6-d593a92e8e16" providerId="ADAL" clId="{3E2E487B-B21A-43C3-A4E4-C31B8823D31F}" dt="2026-09-23T09:25:47.775" v="6" actId="164"/>
          <ac:spMkLst>
            <pc:docMk/>
            <pc:sldMk cId="135173498" sldId="359"/>
            <ac:spMk id="36" creationId="{00000000-0000-0000-0000-000000000000}"/>
          </ac:spMkLst>
        </pc:spChg>
        <pc:spChg chg="mod">
          <ac:chgData name="Jean-Noel Sialou" userId="08acc5d2-3819-4be4-97e6-d593a92e8e16" providerId="ADAL" clId="{3E2E487B-B21A-43C3-A4E4-C31B8823D31F}" dt="2026-09-23T09:25:47.775" v="6" actId="164"/>
          <ac:spMkLst>
            <pc:docMk/>
            <pc:sldMk cId="135173498" sldId="359"/>
            <ac:spMk id="37" creationId="{00000000-0000-0000-0000-000000000000}"/>
          </ac:spMkLst>
        </pc:spChg>
        <pc:spChg chg="mod">
          <ac:chgData name="Jean-Noel Sialou" userId="08acc5d2-3819-4be4-97e6-d593a92e8e16" providerId="ADAL" clId="{3E2E487B-B21A-43C3-A4E4-C31B8823D31F}" dt="2026-09-23T09:25:47.775" v="6" actId="164"/>
          <ac:spMkLst>
            <pc:docMk/>
            <pc:sldMk cId="135173498" sldId="359"/>
            <ac:spMk id="40" creationId="{00000000-0000-0000-0000-000000000000}"/>
          </ac:spMkLst>
        </pc:spChg>
        <pc:spChg chg="mod">
          <ac:chgData name="Jean-Noel Sialou" userId="08acc5d2-3819-4be4-97e6-d593a92e8e16" providerId="ADAL" clId="{3E2E487B-B21A-43C3-A4E4-C31B8823D31F}" dt="2026-09-23T09:25:47.775" v="6" actId="164"/>
          <ac:spMkLst>
            <pc:docMk/>
            <pc:sldMk cId="135173498" sldId="359"/>
            <ac:spMk id="41" creationId="{00000000-0000-0000-0000-000000000000}"/>
          </ac:spMkLst>
        </pc:spChg>
        <pc:spChg chg="mod">
          <ac:chgData name="Jean-Noel Sialou" userId="08acc5d2-3819-4be4-97e6-d593a92e8e16" providerId="ADAL" clId="{3E2E487B-B21A-43C3-A4E4-C31B8823D31F}" dt="2026-09-23T09:25:47.775" v="6" actId="164"/>
          <ac:spMkLst>
            <pc:docMk/>
            <pc:sldMk cId="135173498" sldId="359"/>
            <ac:spMk id="44" creationId="{00000000-0000-0000-0000-000000000000}"/>
          </ac:spMkLst>
        </pc:spChg>
        <pc:spChg chg="mod">
          <ac:chgData name="Jean-Noel Sialou" userId="08acc5d2-3819-4be4-97e6-d593a92e8e16" providerId="ADAL" clId="{3E2E487B-B21A-43C3-A4E4-C31B8823D31F}" dt="2026-09-23T09:25:47.775" v="6" actId="164"/>
          <ac:spMkLst>
            <pc:docMk/>
            <pc:sldMk cId="135173498" sldId="359"/>
            <ac:spMk id="49" creationId="{00000000-0000-0000-0000-000000000000}"/>
          </ac:spMkLst>
        </pc:spChg>
        <pc:spChg chg="mod">
          <ac:chgData name="Jean-Noel Sialou" userId="08acc5d2-3819-4be4-97e6-d593a92e8e16" providerId="ADAL" clId="{3E2E487B-B21A-43C3-A4E4-C31B8823D31F}" dt="2026-09-23T09:25:47.775" v="6" actId="164"/>
          <ac:spMkLst>
            <pc:docMk/>
            <pc:sldMk cId="135173498" sldId="359"/>
            <ac:spMk id="51" creationId="{00000000-0000-0000-0000-000000000000}"/>
          </ac:spMkLst>
        </pc:spChg>
        <pc:spChg chg="mod">
          <ac:chgData name="Jean-Noel Sialou" userId="08acc5d2-3819-4be4-97e6-d593a92e8e16" providerId="ADAL" clId="{3E2E487B-B21A-43C3-A4E4-C31B8823D31F}" dt="2026-09-23T09:25:47.775" v="6" actId="164"/>
          <ac:spMkLst>
            <pc:docMk/>
            <pc:sldMk cId="135173498" sldId="359"/>
            <ac:spMk id="52" creationId="{00000000-0000-0000-0000-000000000000}"/>
          </ac:spMkLst>
        </pc:spChg>
        <pc:spChg chg="mod">
          <ac:chgData name="Jean-Noel Sialou" userId="08acc5d2-3819-4be4-97e6-d593a92e8e16" providerId="ADAL" clId="{3E2E487B-B21A-43C3-A4E4-C31B8823D31F}" dt="2026-09-23T09:25:47.775" v="6" actId="164"/>
          <ac:spMkLst>
            <pc:docMk/>
            <pc:sldMk cId="135173498" sldId="359"/>
            <ac:spMk id="66" creationId="{00000000-0000-0000-0000-00000000000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6.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15.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14.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17.xml.rels><?xml version='1.0' encoding='UTF-8' standalone='yes'?>
<Relationships xmlns="http://schemas.openxmlformats.org/package/2006/relationships"><Relationship Id="rId1" Type="http://schemas.microsoft.com/office/2011/relationships/chartStyle" Target="style11.xml"/><Relationship Id="rId2" Type="http://schemas.microsoft.com/office/2011/relationships/chartColorStyle" Target="colors11.xml"/><Relationship Id="rId3"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microsoft.com/office/2011/relationships/chartStyle" Target="style12.xml"/><Relationship Id="rId2" Type="http://schemas.microsoft.com/office/2011/relationships/chartColorStyle" Target="colors12.xml"/><Relationship Id="rId3" Type="http://schemas.openxmlformats.org/officeDocument/2006/relationships/package" Target="../embeddings/Microsoft_Excel_Worksheet17.xlsx"/></Relationships>
</file>

<file path=ppt/charts/_rels/chart19.xml.rels><?xml version='1.0' encoding='UTF-8' standalone='yes'?>
<Relationships xmlns="http://schemas.openxmlformats.org/package/2006/relationships"><Relationship Id="rId1" Type="http://schemas.microsoft.com/office/2011/relationships/chartStyle" Target="style13.xml"/><Relationship Id="rId2" Type="http://schemas.microsoft.com/office/2011/relationships/chartColorStyle" Target="colors13.xml"/><Relationship Id="rId3" Type="http://schemas.openxmlformats.org/officeDocument/2006/relationships/package" Target="../embeddings/Microsoft_Excel_Worksheet18.xlsx"/></Relationships>
</file>

<file path=ppt/charts/_rels/chart20.xml.rels><?xml version='1.0' encoding='UTF-8' standalone='yes'?>
<Relationships xmlns="http://schemas.openxmlformats.org/package/2006/relationships"><Relationship Id="rId1" Type="http://schemas.microsoft.com/office/2011/relationships/chartStyle" Target="style14.xml"/><Relationship Id="rId2" Type="http://schemas.microsoft.com/office/2011/relationships/chartColorStyle" Target="colors14.xml"/><Relationship Id="rId3" Type="http://schemas.openxmlformats.org/officeDocument/2006/relationships/package" Target="../embeddings/Microsoft_Excel_Worksheet19.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Sheet17.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Sheet18.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Sheet19.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Sheet20.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Sheet21.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Sheet22.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Sheet23.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Sheet24.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Sheet25.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Sheet26.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Sheet27.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Sheet28.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Sheet29.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Sheet30.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Sheet31.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Sheet32.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Sheet33.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Sheet34.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Sheet35.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Sheet36.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Sheet37.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Sheet38.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Sheet39.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Sheet40.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Sheet4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Texte (global)</c:v>
                </c:pt>
              </c:strCache>
            </c:strRef>
          </c:tx>
          <c:spPr>
            <a:ln w="28575">
              <a:solidFill>
                <a:srgbClr val="060606"/>
              </a:solidFill>
            </a:ln>
          </c:spPr>
          <c:marker>
            <c:spPr>
              <a:solidFill>
                <a:srgbClr val="060606"/>
              </a:solidFill>
              <a:ln>
                <a:solidFill>
                  <a:srgbClr val="060606"/>
                </a:solidFill>
              </a:ln>
            </c:spPr>
          </c:marker>
          <c:cat>
            <c:strRef>
              <c:f>Sheet1!$A$2:$A$8</c:f>
              <c:strCache>
                <c:ptCount val="7"/>
                <c:pt idx="0">
                  <c:v>2020</c:v>
                </c:pt>
                <c:pt idx="1">
                  <c:v>2021</c:v>
                </c:pt>
                <c:pt idx="2">
                  <c:v>2022</c:v>
                </c:pt>
                <c:pt idx="3">
                  <c:v>2023</c:v>
                </c:pt>
                <c:pt idx="4">
                  <c:v>2024</c:v>
                </c:pt>
                <c:pt idx="5">
                  <c:v>2025</c:v>
                </c:pt>
                <c:pt idx="6">
                  <c:v>2026 (8 mois)</c:v>
                </c:pt>
              </c:strCache>
            </c:strRef>
          </c:cat>
          <c:val>
            <c:numRef>
              <c:f>Sheet1!$B$2:$B$8</c:f>
              <c:numCache>
                <c:formatCode>0.00</c:formatCode>
                <c:ptCount val="7"/>
                <c:pt idx="0">
                  <c:v>8.92</c:v>
                </c:pt>
                <c:pt idx="1">
                  <c:v>20.77</c:v>
                </c:pt>
                <c:pt idx="2">
                  <c:v>9.06</c:v>
                </c:pt>
                <c:pt idx="3">
                  <c:v>24.56</c:v>
                </c:pt>
                <c:pt idx="4">
                  <c:v>40.34</c:v>
                </c:pt>
                <c:pt idx="5">
                  <c:v>57.48</c:v>
                </c:pt>
                <c:pt idx="6">
                  <c:v>75.2</c:v>
                </c:pt>
              </c:numCache>
            </c:numRef>
          </c:val>
          <c:smooth val="0"/>
        </c:ser>
        <c:ser>
          <c:idx val="1"/>
          <c:order val="1"/>
          <c:tx>
            <c:strRef>
              <c:f>Sheet1!$C$1</c:f>
              <c:strCache>
                <c:ptCount val="1"/>
                <c:pt idx="0">
                  <c:v>Maladie</c:v>
                </c:pt>
              </c:strCache>
            </c:strRef>
          </c:tx>
          <c:spPr>
            <a:ln w="28575">
              <a:solidFill>
                <a:srgbClr val="112A40"/>
              </a:solidFill>
            </a:ln>
          </c:spPr>
          <c:marker>
            <c:spPr>
              <a:solidFill>
                <a:srgbClr val="112A40"/>
              </a:solidFill>
              <a:ln>
                <a:solidFill>
                  <a:srgbClr val="112A40"/>
                </a:solidFill>
              </a:ln>
            </c:spPr>
          </c:marker>
          <c:cat>
            <c:strRef>
              <c:f>Sheet1!$A$2:$A$8</c:f>
              <c:strCache>
                <c:ptCount val="7"/>
                <c:pt idx="0">
                  <c:v>2020</c:v>
                </c:pt>
                <c:pt idx="1">
                  <c:v>2021</c:v>
                </c:pt>
                <c:pt idx="2">
                  <c:v>2022</c:v>
                </c:pt>
                <c:pt idx="3">
                  <c:v>2023</c:v>
                </c:pt>
                <c:pt idx="4">
                  <c:v>2024</c:v>
                </c:pt>
                <c:pt idx="5">
                  <c:v>2025</c:v>
                </c:pt>
                <c:pt idx="6">
                  <c:v>2026 (8 mois)</c:v>
                </c:pt>
              </c:strCache>
            </c:strRef>
          </c:cat>
          <c:val>
            <c:numRef>
              <c:f>Sheet1!$C$2:$C$8</c:f>
              <c:numCache>
                <c:formatCode>0.00</c:formatCode>
                <c:ptCount val="7"/>
                <c:pt idx="0">
                  <c:v>12.54</c:v>
                </c:pt>
                <c:pt idx="1">
                  <c:v>6.0</c:v>
                </c:pt>
                <c:pt idx="2">
                  <c:v>6.47</c:v>
                </c:pt>
                <c:pt idx="3">
                  <c:v>26.91</c:v>
                </c:pt>
                <c:pt idx="4">
                  <c:v>48.13</c:v>
                </c:pt>
                <c:pt idx="5">
                  <c:v>73.53</c:v>
                </c:pt>
                <c:pt idx="6">
                  <c:v>97.4</c:v>
                </c:pt>
              </c:numCache>
            </c:numRef>
          </c:val>
          <c:smooth val="0"/>
        </c:ser>
        <c:ser>
          <c:idx val="2"/>
          <c:order val="2"/>
          <c:tx>
            <c:strRef>
              <c:f>Sheet1!$D$1</c:f>
              <c:strCache>
                <c:ptCount val="1"/>
                <c:pt idx="0">
                  <c:v>Décès</c:v>
                </c:pt>
              </c:strCache>
            </c:strRef>
          </c:tx>
          <c:spPr>
            <a:ln w="28575">
              <a:solidFill>
                <a:srgbClr val="EFAC62"/>
              </a:solidFill>
            </a:ln>
          </c:spPr>
          <c:marker>
            <c:spPr>
              <a:solidFill>
                <a:srgbClr val="EFAC62"/>
              </a:solidFill>
              <a:ln>
                <a:solidFill>
                  <a:srgbClr val="EFAC62"/>
                </a:solidFill>
              </a:ln>
            </c:spPr>
          </c:marker>
          <c:cat>
            <c:strRef>
              <c:f>Sheet1!$A$2:$A$8</c:f>
              <c:strCache>
                <c:ptCount val="7"/>
                <c:pt idx="0">
                  <c:v>2020</c:v>
                </c:pt>
                <c:pt idx="1">
                  <c:v>2021</c:v>
                </c:pt>
                <c:pt idx="2">
                  <c:v>2022</c:v>
                </c:pt>
                <c:pt idx="3">
                  <c:v>2023</c:v>
                </c:pt>
                <c:pt idx="4">
                  <c:v>2024</c:v>
                </c:pt>
                <c:pt idx="5">
                  <c:v>2025</c:v>
                </c:pt>
                <c:pt idx="6">
                  <c:v>2026 (8 mois)</c:v>
                </c:pt>
              </c:strCache>
            </c:strRef>
          </c:cat>
          <c:val>
            <c:numRef>
              <c:f>Sheet1!$D$2:$D$8</c:f>
              <c:numCache>
                <c:formatCode>0.00</c:formatCode>
                <c:ptCount val="7"/>
                <c:pt idx="0">
                  <c:v>0.56</c:v>
                </c:pt>
                <c:pt idx="1">
                  <c:v>55.42</c:v>
                </c:pt>
                <c:pt idx="2">
                  <c:v>15.21</c:v>
                </c:pt>
                <c:pt idx="3">
                  <c:v>17.05</c:v>
                </c:pt>
                <c:pt idx="4">
                  <c:v>21.81</c:v>
                </c:pt>
                <c:pt idx="5">
                  <c:v>19.16</c:v>
                </c:pt>
                <c:pt idx="6">
                  <c:v>21.76</c:v>
                </c:pt>
              </c:numCache>
            </c:numRef>
          </c:val>
          <c:smooth val="0"/>
        </c:ser>
        <c:ser>
          <c:idx val="3"/>
          <c:order val="3"/>
          <c:tx>
            <c:strRef>
              <c:f>Sheet1!$E$1</c:f>
              <c:strCache>
                <c:ptCount val="1"/>
                <c:pt idx="0">
                  <c:v>Texte sans bons de prise en charge</c:v>
                </c:pt>
              </c:strCache>
            </c:strRef>
          </c:tx>
          <c:spPr>
            <a:ln w="28575">
              <a:solidFill>
                <a:srgbClr val="BBBCBC"/>
              </a:solidFill>
            </a:ln>
          </c:spPr>
          <c:marker>
            <c:spPr>
              <a:solidFill>
                <a:srgbClr val="BBBCBC"/>
              </a:solidFill>
              <a:ln>
                <a:solidFill>
                  <a:srgbClr val="BBBCBC"/>
                </a:solidFill>
              </a:ln>
            </c:spPr>
          </c:marker>
          <c:cat>
            <c:strRef>
              <c:f>Sheet1!$A$2:$A$8</c:f>
              <c:strCache>
                <c:ptCount val="7"/>
                <c:pt idx="0">
                  <c:v>2020</c:v>
                </c:pt>
                <c:pt idx="1">
                  <c:v>2021</c:v>
                </c:pt>
                <c:pt idx="2">
                  <c:v>2022</c:v>
                </c:pt>
                <c:pt idx="3">
                  <c:v>2023</c:v>
                </c:pt>
                <c:pt idx="4">
                  <c:v>2024</c:v>
                </c:pt>
                <c:pt idx="5">
                  <c:v>2025</c:v>
                </c:pt>
                <c:pt idx="6">
                  <c:v>2026 (8 mois)</c:v>
                </c:pt>
              </c:strCache>
            </c:strRef>
          </c:cat>
          <c:val>
            <c:numRef>
              <c:f>Sheet1!$E$2:$E$8</c:f>
              <c:numCache>
                <c:formatCode>0.00</c:formatCode>
                <c:ptCount val="7"/>
                <c:pt idx="0">
                  <c:v>8.92</c:v>
                </c:pt>
                <c:pt idx="1">
                  <c:v>20.77</c:v>
                </c:pt>
                <c:pt idx="2">
                  <c:v>8.56</c:v>
                </c:pt>
                <c:pt idx="3">
                  <c:v>23.23</c:v>
                </c:pt>
                <c:pt idx="4">
                  <c:v>38.87</c:v>
                </c:pt>
                <c:pt idx="5">
                  <c:v>56.55</c:v>
                </c:pt>
                <c:pt idx="6">
                  <c:v>75.2</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BBBCBC"/>
            </a:solidFill>
          </a:ln>
        </c:spPr>
        <c:txPr>
          <a:bodyPr/>
          <a:lstStyle/>
          <a:p>
            <a:pPr>
              <a:defRPr sz="1000"/>
            </a:pPr>
          </a:p>
        </c:txPr>
        <c:crossAx val="2140495176"/>
        <c:crosses val="autoZero"/>
        <c:auto val="1"/>
        <c:lblAlgn val="ctr"/>
        <c:lblOffset val="100"/>
        <c:noMultiLvlLbl val="0"/>
      </c:catAx>
      <c:valAx>
        <c:axId val="2140495176"/>
        <c:scaling/>
        <c:delete val="0"/>
        <c:axPos val="l"/>
        <c:numFmt formatCode="0.00" sourceLinked="0"/>
        <c:majorTickMark val="out"/>
        <c:minorTickMark val="none"/>
        <c:tickLblPos val="nextTo"/>
        <c:spPr>
          <a:ln>
            <a:noFill/>
          </a:ln>
        </c:spPr>
        <c:txPr>
          <a:bodyPr/>
          <a:lstStyle/>
          <a:p>
            <a:pPr>
              <a:defRPr sz="1000"/>
            </a:pPr>
          </a:p>
        </c:txPr>
        <c:crossAx val="2118791784"/>
        <c:crosses val="autoZero"/>
      </c:valAx>
    </c:plotArea>
    <c:legend>
      <c:legendPos val="b"/>
      <c:layout/>
      <c:overlay val="0"/>
      <c:txPr>
        <a:bodyPr/>
        <a:lstStyle/>
        <a:p>
          <a:pPr>
            <a:defRPr sz="1000"/>
          </a:pPr>
        </a:p>
      </c:txPr>
    </c:legend>
    <c:plotVisOnly val="1"/>
    <c:dispBlanksAs val="gap"/>
    <c:showDLblsOverMax val="0"/>
  </c:chart>
  <c:txPr>
    <a:bodyPr/>
    <a:lstStyle/>
    <a:p>
      <a:pPr>
        <a:defRPr sz="1000">
          <a:latin typeface="Helvetica"/>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Maladie</c:v>
                </c:pt>
              </c:strCache>
            </c:strRef>
          </c:tx>
          <c:spPr>
            <a:ln w="28575">
              <a:solidFill>
                <a:srgbClr val="112A40"/>
              </a:solidFill>
            </a:ln>
          </c:spPr>
          <c:marker>
            <c:spPr>
              <a:solidFill>
                <a:srgbClr val="112A40"/>
              </a:solidFill>
              <a:ln>
                <a:solidFill>
                  <a:srgbClr val="112A40"/>
                </a:solidFill>
              </a:ln>
            </c:spPr>
          </c:marker>
          <c:cat>
            <c:strRef>
              <c:f>Sheet1!$A$2:$A$8</c:f>
              <c:strCache>
                <c:ptCount val="7"/>
                <c:pt idx="0">
                  <c:v>2020</c:v>
                </c:pt>
                <c:pt idx="1">
                  <c:v>2021</c:v>
                </c:pt>
                <c:pt idx="2">
                  <c:v>2022</c:v>
                </c:pt>
                <c:pt idx="3">
                  <c:v>2023</c:v>
                </c:pt>
                <c:pt idx="4">
                  <c:v>2024</c:v>
                </c:pt>
                <c:pt idx="5">
                  <c:v>2025</c:v>
                </c:pt>
                <c:pt idx="6">
                  <c:v>2026 (8 mois)</c:v>
                </c:pt>
              </c:strCache>
            </c:strRef>
          </c:cat>
          <c:val>
            <c:numRef>
              <c:f>Sheet1!$B$2:$B$8</c:f>
              <c:numCache>
                <c:formatCode>0.00</c:formatCode>
                <c:ptCount val="7"/>
                <c:pt idx="0">
                  <c:v>12.54</c:v>
                </c:pt>
                <c:pt idx="1">
                  <c:v>6.0</c:v>
                </c:pt>
                <c:pt idx="2">
                  <c:v>6.47</c:v>
                </c:pt>
                <c:pt idx="3">
                  <c:v>26.91</c:v>
                </c:pt>
                <c:pt idx="4">
                  <c:v>48.13</c:v>
                </c:pt>
                <c:pt idx="5">
                  <c:v>73.53</c:v>
                </c:pt>
                <c:pt idx="6">
                  <c:v>97.4</c:v>
                </c:pt>
              </c:numCache>
            </c:numRef>
          </c:val>
          <c:smooth val="0"/>
        </c:ser>
        <c:ser>
          <c:idx val="1"/>
          <c:order val="1"/>
          <c:tx>
            <c:strRef>
              <c:f>Sheet1!$C$1</c:f>
              <c:strCache>
                <c:ptCount val="1"/>
                <c:pt idx="0">
                  <c:v>Décès (prime d'assurance incluse en 2020)</c:v>
                </c:pt>
              </c:strCache>
            </c:strRef>
          </c:tx>
          <c:spPr>
            <a:ln w="28575">
              <a:solidFill>
                <a:srgbClr val="EFAC62"/>
              </a:solidFill>
            </a:ln>
          </c:spPr>
          <c:marker>
            <c:spPr>
              <a:solidFill>
                <a:srgbClr val="EFAC62"/>
              </a:solidFill>
              <a:ln>
                <a:solidFill>
                  <a:srgbClr val="EFAC62"/>
                </a:solidFill>
              </a:ln>
            </c:spPr>
          </c:marker>
          <c:cat>
            <c:strRef>
              <c:f>Sheet1!$A$2:$A$8</c:f>
              <c:strCache>
                <c:ptCount val="7"/>
                <c:pt idx="0">
                  <c:v>2020</c:v>
                </c:pt>
                <c:pt idx="1">
                  <c:v>2021</c:v>
                </c:pt>
                <c:pt idx="2">
                  <c:v>2022</c:v>
                </c:pt>
                <c:pt idx="3">
                  <c:v>2023</c:v>
                </c:pt>
                <c:pt idx="4">
                  <c:v>2024</c:v>
                </c:pt>
                <c:pt idx="5">
                  <c:v>2025</c:v>
                </c:pt>
                <c:pt idx="6">
                  <c:v>2026 (8 mois)</c:v>
                </c:pt>
              </c:strCache>
            </c:strRef>
          </c:cat>
          <c:val>
            <c:numRef>
              <c:f>Sheet1!$C$2:$C$8</c:f>
              <c:numCache>
                <c:formatCode>0.00</c:formatCode>
                <c:ptCount val="7"/>
                <c:pt idx="0">
                  <c:v>82.23</c:v>
                </c:pt>
                <c:pt idx="1">
                  <c:v>55.42</c:v>
                </c:pt>
                <c:pt idx="2">
                  <c:v>15.21</c:v>
                </c:pt>
                <c:pt idx="3">
                  <c:v>17.05</c:v>
                </c:pt>
                <c:pt idx="4">
                  <c:v>21.81</c:v>
                </c:pt>
                <c:pt idx="5">
                  <c:v>19.16</c:v>
                </c:pt>
                <c:pt idx="6">
                  <c:v>21.76</c:v>
                </c:pt>
              </c:numCache>
            </c:numRef>
          </c:val>
          <c:smooth val="0"/>
        </c:ser>
        <c:dLbls>
          <c:numFmt formatCode="0.00" sourceLinked="0"/>
          <c:txPr>
            <a:bodyPr/>
            <a:lstStyle/>
            <a:p>
              <a:pPr>
                <a:defRPr sz="1000"/>
              </a:pPr>
            </a:p>
          </c:txPr>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spPr>
          <a:ln>
            <a:solidFill>
              <a:srgbClr val="BBBCBC"/>
            </a:solidFill>
          </a:ln>
        </c:spPr>
        <c:txPr>
          <a:bodyPr/>
          <a:lstStyle/>
          <a:p>
            <a:pPr>
              <a:defRPr sz="1000"/>
            </a:pPr>
          </a:p>
        </c:txPr>
        <c:crossAx val="2140495176"/>
        <c:crosses val="autoZero"/>
        <c:auto val="1"/>
        <c:lblAlgn val="ctr"/>
        <c:lblOffset val="100"/>
        <c:noMultiLvlLbl val="0"/>
      </c:catAx>
      <c:valAx>
        <c:axId val="2140495176"/>
        <c:scaling/>
        <c:delete/>
        <c:axPos val="l"/>
        <c:numFmt formatCode="0.00" sourceLinked="0"/>
        <c:majorTickMark val="out"/>
        <c:minorTickMark val="none"/>
        <c:tickLblPos val="nextTo"/>
        <c:spPr>
          <a:ln>
            <a:noFill/>
          </a:ln>
        </c:spPr>
        <c:txPr>
          <a:bodyPr/>
          <a:lstStyle/>
          <a:p>
            <a:pPr>
              <a:defRPr sz="1000"/>
            </a:pPr>
          </a:p>
        </c:txPr>
        <c:crossAx val="2118791784"/>
        <c:crosses val="autoZero"/>
      </c:valAx>
    </c:plotArea>
    <c:legend>
      <c:legendPos val="b"/>
      <c:layout/>
      <c:overlay val="0"/>
      <c:txPr>
        <a:bodyPr/>
        <a:lstStyle/>
        <a:p>
          <a:pPr>
            <a:defRPr sz="1000"/>
          </a:pPr>
        </a:p>
      </c:txPr>
    </c:legend>
    <c:plotVisOnly val="1"/>
    <c:dispBlanksAs val="gap"/>
    <c:showDLblsOverMax val="0"/>
  </c:chart>
  <c:txPr>
    <a:bodyPr/>
    <a:lstStyle/>
    <a:p>
      <a:pPr>
        <a:defRPr sz="1000">
          <a:latin typeface="Helvetica"/>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Maladie</c:v>
                </c:pt>
              </c:strCache>
            </c:strRef>
          </c:tx>
          <c:spPr>
            <a:solidFill>
              <a:srgbClr val="112A40"/>
            </a:solidFill>
          </c:spPr>
          <c:cat>
            <c:strRef>
              <c:f>Sheet1!$A$2:$A$8</c:f>
              <c:strCache>
                <c:ptCount val="7"/>
                <c:pt idx="0">
                  <c:v>2020</c:v>
                </c:pt>
                <c:pt idx="1">
                  <c:v>2021</c:v>
                </c:pt>
                <c:pt idx="2">
                  <c:v>2022</c:v>
                </c:pt>
                <c:pt idx="3">
                  <c:v>2023</c:v>
                </c:pt>
                <c:pt idx="4">
                  <c:v>2024</c:v>
                </c:pt>
                <c:pt idx="5">
                  <c:v>2025</c:v>
                </c:pt>
                <c:pt idx="6">
                  <c:v>2026 (8 mois)</c:v>
                </c:pt>
              </c:strCache>
            </c:strRef>
          </c:cat>
          <c:val>
            <c:numRef>
              <c:f>Sheet1!$B$2:$B$8</c:f>
              <c:numCache>
                <c:formatCode># ##0,,</c:formatCode>
                <c:ptCount val="7"/>
                <c:pt idx="0">
                  <c:v>1641320172</c:v>
                </c:pt>
                <c:pt idx="1">
                  <c:v>1691332910</c:v>
                </c:pt>
                <c:pt idx="2">
                  <c:v>1781124043</c:v>
                </c:pt>
                <c:pt idx="3">
                  <c:v>1935844374</c:v>
                </c:pt>
                <c:pt idx="4">
                  <c:v>2203312180</c:v>
                </c:pt>
                <c:pt idx="5">
                  <c:v>2409281030</c:v>
                </c:pt>
                <c:pt idx="6">
                  <c:v>1690007290</c:v>
                </c:pt>
              </c:numCache>
            </c:numRef>
          </c:val>
        </c:ser>
        <c:ser>
          <c:idx val="1"/>
          <c:order val="1"/>
          <c:tx>
            <c:strRef>
              <c:f>Sheet1!$C$1</c:f>
              <c:strCache>
                <c:ptCount val="1"/>
                <c:pt idx="0">
                  <c:v>Décès</c:v>
                </c:pt>
              </c:strCache>
            </c:strRef>
          </c:tx>
          <c:spPr>
            <a:solidFill>
              <a:srgbClr val="EFAC62"/>
            </a:solidFill>
          </c:spPr>
          <c:cat>
            <c:strRef>
              <c:f>Sheet1!$A$2:$A$8</c:f>
              <c:strCache>
                <c:ptCount val="7"/>
                <c:pt idx="0">
                  <c:v>2020</c:v>
                </c:pt>
                <c:pt idx="1">
                  <c:v>2021</c:v>
                </c:pt>
                <c:pt idx="2">
                  <c:v>2022</c:v>
                </c:pt>
                <c:pt idx="3">
                  <c:v>2023</c:v>
                </c:pt>
                <c:pt idx="4">
                  <c:v>2024</c:v>
                </c:pt>
                <c:pt idx="5">
                  <c:v>2025</c:v>
                </c:pt>
                <c:pt idx="6">
                  <c:v>2026 (8 mois)</c:v>
                </c:pt>
              </c:strCache>
            </c:strRef>
          </c:cat>
          <c:val>
            <c:numRef>
              <c:f>Sheet1!$C$2:$C$8</c:f>
              <c:numCache>
                <c:formatCode># ##0,,</c:formatCode>
                <c:ptCount val="7"/>
                <c:pt idx="0">
                  <c:v>703298329</c:v>
                </c:pt>
                <c:pt idx="1">
                  <c:v>725124908</c:v>
                </c:pt>
                <c:pt idx="2">
                  <c:v>763338861</c:v>
                </c:pt>
                <c:pt idx="3">
                  <c:v>829647591</c:v>
                </c:pt>
                <c:pt idx="4">
                  <c:v>934555069</c:v>
                </c:pt>
                <c:pt idx="5">
                  <c:v>1008270692</c:v>
                </c:pt>
                <c:pt idx="6">
                  <c:v>702190056</c:v>
                </c:pt>
              </c:numCache>
            </c:numRef>
          </c:val>
        </c:ser>
        <c:dLbls>
          <c:numFmt formatCode="# ##0,," sourceLinked="0"/>
          <c:txPr>
            <a:bodyPr/>
            <a:lstStyle/>
            <a:p>
              <a:pPr>
                <a:defRPr sz="1000">
                  <a:solidFill>
                    <a:srgbClr val="FFFFFF"/>
                  </a:solidFill>
                </a:defRPr>
              </a:pPr>
            </a:p>
          </c:txPr>
          <c:showLegendKey val="0"/>
          <c:showVal val="1"/>
          <c:showCatName val="0"/>
          <c:showSerName val="0"/>
          <c:showPercent val="0"/>
          <c:showBubbleSize val="0"/>
          <c:showLeaderLines val="1"/>
        </c:dLbls>
        <c:gapWidth val="60"/>
        <c:overlap val="100"/>
        <c:axId val="-2068027336"/>
        <c:axId val="-2113994440"/>
      </c:barChart>
      <c:catAx>
        <c:axId val="-2068027336"/>
        <c:scaling>
          <c:orientation val="minMax"/>
        </c:scaling>
        <c:delete val="0"/>
        <c:axPos val="b"/>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l"/>
        <c:numFmt formatCode="# ##0,," sourceLinked="0"/>
        <c:majorTickMark val="out"/>
        <c:minorTickMark val="none"/>
        <c:tickLblPos val="nextTo"/>
        <c:spPr>
          <a:ln>
            <a:noFill/>
          </a:ln>
        </c:spPr>
        <c:txPr>
          <a:bodyPr/>
          <a:lstStyle/>
          <a:p>
            <a:pPr>
              <a:defRPr sz="1000"/>
            </a:pPr>
          </a:p>
        </c:txPr>
        <c:crossAx val="-2068027336"/>
        <c:crosses val="autoZero"/>
      </c:valAx>
    </c:plotArea>
    <c:legend>
      <c:legendPos val="b"/>
      <c:overlay val="0"/>
      <c:txPr>
        <a:bodyPr/>
        <a:lstStyle/>
        <a:p>
          <a:pPr>
            <a:defRPr sz="1000"/>
          </a:pPr>
        </a:p>
      </c:txPr>
    </c:legend>
    <c:dispBlanksAs val="gap"/>
  </c:chart>
  <c:txPr>
    <a:bodyPr/>
    <a:lstStyle/>
    <a:p>
      <a:pPr>
        <a:defRPr sz="1000">
          <a:latin typeface="Helvetica"/>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Nominales</c:v>
                </c:pt>
              </c:strCache>
            </c:strRef>
          </c:tx>
          <c:spPr>
            <a:ln w="28575">
              <a:solidFill>
                <a:srgbClr val="112A40"/>
              </a:solidFill>
            </a:ln>
          </c:spPr>
          <c:marker>
            <c:spPr>
              <a:solidFill>
                <a:srgbClr val="112A40"/>
              </a:solidFill>
              <a:ln>
                <a:solidFill>
                  <a:srgbClr val="112A40"/>
                </a:solidFill>
              </a:ln>
            </c:spPr>
          </c:marker>
          <c:cat>
            <c:strRef>
              <c:f>Sheet1!$A$2:$A$7</c:f>
              <c:strCache>
                <c:ptCount val="6"/>
                <c:pt idx="0">
                  <c:v>2020</c:v>
                </c:pt>
                <c:pt idx="1">
                  <c:v>2021</c:v>
                </c:pt>
                <c:pt idx="2">
                  <c:v>2022</c:v>
                </c:pt>
                <c:pt idx="3">
                  <c:v>2023</c:v>
                </c:pt>
                <c:pt idx="4">
                  <c:v>2024</c:v>
                </c:pt>
                <c:pt idx="5">
                  <c:v>2025</c:v>
                </c:pt>
              </c:strCache>
            </c:strRef>
          </c:cat>
          <c:val>
            <c:numRef>
              <c:f>Sheet1!$B$2:$B$7</c:f>
              <c:numCache>
                <c:formatCode># ##0,,</c:formatCode>
                <c:ptCount val="6"/>
                <c:pt idx="0">
                  <c:v>2344618501</c:v>
                </c:pt>
                <c:pt idx="1">
                  <c:v>2416457818</c:v>
                </c:pt>
                <c:pt idx="2">
                  <c:v>2544462904</c:v>
                </c:pt>
                <c:pt idx="3">
                  <c:v>2765491965</c:v>
                </c:pt>
                <c:pt idx="4">
                  <c:v>3137867249</c:v>
                </c:pt>
                <c:pt idx="5">
                  <c:v>3417551722</c:v>
                </c:pt>
              </c:numCache>
            </c:numRef>
          </c:val>
          <c:smooth val="0"/>
        </c:ser>
        <c:ser>
          <c:idx val="1"/>
          <c:order val="1"/>
          <c:tx>
            <c:strRef>
              <c:f>Sheet1!$C$1</c:f>
              <c:strCache>
                <c:ptCount val="1"/>
                <c:pt idx="0">
                  <c:v>Réelles (francs de 2020)</c:v>
                </c:pt>
              </c:strCache>
            </c:strRef>
          </c:tx>
          <c:spPr>
            <a:ln w="28575">
              <a:solidFill>
                <a:srgbClr val="EFAC62"/>
              </a:solidFill>
            </a:ln>
          </c:spPr>
          <c:marker>
            <c:spPr>
              <a:solidFill>
                <a:srgbClr val="EFAC62"/>
              </a:solidFill>
              <a:ln>
                <a:solidFill>
                  <a:srgbClr val="EFAC62"/>
                </a:solidFill>
              </a:ln>
            </c:spPr>
          </c:marker>
          <c:cat>
            <c:strRef>
              <c:f>Sheet1!$A$2:$A$7</c:f>
              <c:strCache>
                <c:ptCount val="6"/>
                <c:pt idx="0">
                  <c:v>2020</c:v>
                </c:pt>
                <c:pt idx="1">
                  <c:v>2021</c:v>
                </c:pt>
                <c:pt idx="2">
                  <c:v>2022</c:v>
                </c:pt>
                <c:pt idx="3">
                  <c:v>2023</c:v>
                </c:pt>
                <c:pt idx="4">
                  <c:v>2024</c:v>
                </c:pt>
                <c:pt idx="5">
                  <c:v>2025</c:v>
                </c:pt>
              </c:strCache>
            </c:strRef>
          </c:cat>
          <c:val>
            <c:numRef>
              <c:f>Sheet1!$C$2:$C$7</c:f>
              <c:numCache>
                <c:formatCode># ##0,,</c:formatCode>
                <c:ptCount val="6"/>
                <c:pt idx="0">
                  <c:v>2344618501</c:v>
                </c:pt>
                <c:pt idx="1">
                  <c:v>2319965877</c:v>
                </c:pt>
                <c:pt idx="2">
                  <c:v>2321370010</c:v>
                </c:pt>
                <c:pt idx="3">
                  <c:v>2417386641</c:v>
                </c:pt>
                <c:pt idx="4">
                  <c:v>2651401893</c:v>
                </c:pt>
                <c:pt idx="5">
                  <c:v>2884120453</c:v>
                </c:pt>
              </c:numCache>
            </c:numRef>
          </c:val>
          <c:smooth val="0"/>
        </c:ser>
        <c:dLbls>
          <c:numFmt formatCode="# ##0,," sourceLinked="0"/>
          <c:txPr>
            <a:bodyPr/>
            <a:lstStyle/>
            <a:p>
              <a:pPr>
                <a:defRPr sz="1000"/>
              </a:pPr>
            </a:p>
          </c:txPr>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spPr>
          <a:ln>
            <a:solidFill>
              <a:srgbClr val="BBBCBC"/>
            </a:solidFill>
          </a:ln>
        </c:spPr>
        <c:txPr>
          <a:bodyPr/>
          <a:lstStyle/>
          <a:p>
            <a:pPr>
              <a:defRPr sz="1000"/>
            </a:pPr>
          </a:p>
        </c:txPr>
        <c:crossAx val="2140495176"/>
        <c:crosses val="autoZero"/>
        <c:auto val="1"/>
        <c:lblAlgn val="ctr"/>
        <c:lblOffset val="100"/>
        <c:noMultiLvlLbl val="0"/>
      </c:catAx>
      <c:valAx>
        <c:axId val="2140495176"/>
        <c:scaling/>
        <c:delete/>
        <c:axPos val="l"/>
        <c:numFmt formatCode="# ##0,," sourceLinked="0"/>
        <c:majorTickMark val="out"/>
        <c:minorTickMark val="none"/>
        <c:tickLblPos val="nextTo"/>
        <c:spPr>
          <a:ln>
            <a:noFill/>
          </a:ln>
        </c:spPr>
        <c:txPr>
          <a:bodyPr/>
          <a:lstStyle/>
          <a:p>
            <a:pPr>
              <a:defRPr sz="1000"/>
            </a:pPr>
          </a:p>
        </c:txPr>
        <c:crossAx val="2118791784"/>
        <c:crosses val="autoZero"/>
      </c:valAx>
    </c:plotArea>
    <c:legend>
      <c:legendPos val="b"/>
      <c:layout/>
      <c:overlay val="0"/>
      <c:txPr>
        <a:bodyPr/>
        <a:lstStyle/>
        <a:p>
          <a:pPr>
            <a:defRPr sz="1000"/>
          </a:pPr>
        </a:p>
      </c:txPr>
    </c:legend>
    <c:plotVisOnly val="1"/>
    <c:dispBlanksAs val="gap"/>
    <c:showDLblsOverMax val="0"/>
  </c:chart>
  <c:txPr>
    <a:bodyPr/>
    <a:lstStyle/>
    <a:p>
      <a:pPr>
        <a:defRPr sz="1000">
          <a:latin typeface="Helvetica"/>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S/C maladie</c:v>
                </c:pt>
              </c:strCache>
            </c:strRef>
          </c:tx>
          <c:spPr>
            <a:ln w="28575">
              <a:solidFill>
                <a:srgbClr val="112A40"/>
              </a:solidFill>
            </a:ln>
          </c:spPr>
          <c:marker>
            <c:spPr>
              <a:solidFill>
                <a:srgbClr val="112A40"/>
              </a:solidFill>
              <a:ln>
                <a:solidFill>
                  <a:srgbClr val="112A40"/>
                </a:solidFill>
              </a:ln>
            </c:spPr>
          </c:marker>
          <c:cat>
            <c:strRef>
              <c:f>Sheet1!$A$2:$A$8</c:f>
              <c:strCache>
                <c:ptCount val="7"/>
                <c:pt idx="0">
                  <c:v>2020</c:v>
                </c:pt>
                <c:pt idx="1">
                  <c:v>2021</c:v>
                </c:pt>
                <c:pt idx="2">
                  <c:v>2022</c:v>
                </c:pt>
                <c:pt idx="3">
                  <c:v>2023</c:v>
                </c:pt>
                <c:pt idx="4">
                  <c:v>2024</c:v>
                </c:pt>
                <c:pt idx="5">
                  <c:v>2025</c:v>
                </c:pt>
                <c:pt idx="6">
                  <c:v>2026 (8 mois)</c:v>
                </c:pt>
              </c:strCache>
            </c:strRef>
          </c:cat>
          <c:val>
            <c:numRef>
              <c:f>Sheet1!$B$2:$B$8</c:f>
              <c:numCache>
                <c:formatCode>0.00</c:formatCode>
                <c:ptCount val="7"/>
                <c:pt idx="0">
                  <c:v>12.54</c:v>
                </c:pt>
                <c:pt idx="1">
                  <c:v>6.0</c:v>
                </c:pt>
                <c:pt idx="2">
                  <c:v>6.47</c:v>
                </c:pt>
                <c:pt idx="3">
                  <c:v>26.91</c:v>
                </c:pt>
                <c:pt idx="4">
                  <c:v>48.13</c:v>
                </c:pt>
                <c:pt idx="5">
                  <c:v>73.53</c:v>
                </c:pt>
                <c:pt idx="6">
                  <c:v>97.4</c:v>
                </c:pt>
              </c:numCache>
            </c:numRef>
          </c:val>
          <c:smooth val="0"/>
        </c:ser>
        <c:dLbls>
          <c:numFmt formatCode="0.00" sourceLinked="0"/>
          <c:txPr>
            <a:bodyPr/>
            <a:lstStyle/>
            <a:p>
              <a:pPr>
                <a:defRPr sz="1000"/>
              </a:pPr>
            </a:p>
          </c:txPr>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spPr>
          <a:ln>
            <a:solidFill>
              <a:srgbClr val="BBBCBC"/>
            </a:solidFill>
          </a:ln>
        </c:spPr>
        <c:txPr>
          <a:bodyPr/>
          <a:lstStyle/>
          <a:p>
            <a:pPr>
              <a:defRPr sz="1000"/>
            </a:pPr>
          </a:p>
        </c:txPr>
        <c:crossAx val="2140495176"/>
        <c:crosses val="autoZero"/>
        <c:auto val="1"/>
        <c:lblAlgn val="ctr"/>
        <c:lblOffset val="100"/>
        <c:noMultiLvlLbl val="0"/>
      </c:catAx>
      <c:valAx>
        <c:axId val="2140495176"/>
        <c:scaling/>
        <c:delete/>
        <c:axPos val="l"/>
        <c:numFmt formatCode="0.00" sourceLinked="0"/>
        <c:majorTickMark val="out"/>
        <c:minorTickMark val="none"/>
        <c:tickLblPos val="nextTo"/>
        <c:spPr>
          <a:ln>
            <a:noFill/>
          </a:ln>
        </c:spPr>
        <c:txPr>
          <a:bodyPr/>
          <a:lstStyle/>
          <a:p>
            <a:pPr>
              <a:defRPr sz="1000"/>
            </a:pPr>
          </a:p>
        </c:txPr>
        <c:crossAx val="2118791784"/>
        <c:crosses val="autoZero"/>
      </c:valAx>
    </c:plotArea>
    <c:plotVisOnly val="1"/>
    <c:dispBlanksAs val="gap"/>
    <c:showDLblsOverMax val="0"/>
  </c:chart>
  <c:txPr>
    <a:bodyPr/>
    <a:lstStyle/>
    <a:p>
      <a:pPr>
        <a:defRPr sz="1000">
          <a:latin typeface="Helvetica"/>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Épargne PEP et EFC</c:v>
                </c:pt>
              </c:strCache>
            </c:strRef>
          </c:tx>
          <c:spPr>
            <a:solidFill>
              <a:srgbClr val="112A40"/>
            </a:solidFill>
          </c:spPr>
          <c:cat>
            <c:strRef>
              <c:f>Sheet1!$A$2:$A$8</c:f>
              <c:strCache>
                <c:ptCount val="7"/>
                <c:pt idx="0">
                  <c:v>2020</c:v>
                </c:pt>
                <c:pt idx="1">
                  <c:v>2021</c:v>
                </c:pt>
                <c:pt idx="2">
                  <c:v>2022</c:v>
                </c:pt>
                <c:pt idx="3">
                  <c:v>2023</c:v>
                </c:pt>
                <c:pt idx="4">
                  <c:v>2024</c:v>
                </c:pt>
                <c:pt idx="5">
                  <c:v>2025</c:v>
                </c:pt>
                <c:pt idx="6">
                  <c:v>31/08/2026</c:v>
                </c:pt>
              </c:strCache>
            </c:strRef>
          </c:cat>
          <c:val>
            <c:numRef>
              <c:f>Sheet1!$B$2:$B$8</c:f>
              <c:numCache>
                <c:formatCode># ##0,,</c:formatCode>
                <c:ptCount val="7"/>
                <c:pt idx="0">
                  <c:v>10828205640</c:v>
                </c:pt>
                <c:pt idx="1">
                  <c:v>10147421276</c:v>
                </c:pt>
                <c:pt idx="2">
                  <c:v>9364845293</c:v>
                </c:pt>
                <c:pt idx="3">
                  <c:v>9121576576</c:v>
                </c:pt>
                <c:pt idx="4">
                  <c:v>10785064432</c:v>
                </c:pt>
                <c:pt idx="5">
                  <c:v>13814066964</c:v>
                </c:pt>
                <c:pt idx="6">
                  <c:v>15743516391</c:v>
                </c:pt>
              </c:numCache>
            </c:numRef>
          </c:val>
        </c:ser>
        <c:ser>
          <c:idx val="1"/>
          <c:order val="1"/>
          <c:tx>
            <c:strRef>
              <c:f>Sheet1!$C$1</c:f>
              <c:strCache>
                <c:ptCount val="1"/>
                <c:pt idx="0">
                  <c:v>Actifs réservés</c:v>
                </c:pt>
              </c:strCache>
            </c:strRef>
          </c:tx>
          <c:spPr>
            <a:solidFill>
              <a:srgbClr val="EFAC62"/>
            </a:solidFill>
          </c:spPr>
          <c:cat>
            <c:strRef>
              <c:f>Sheet1!$A$2:$A$8</c:f>
              <c:strCache>
                <c:ptCount val="7"/>
                <c:pt idx="0">
                  <c:v>2020</c:v>
                </c:pt>
                <c:pt idx="1">
                  <c:v>2021</c:v>
                </c:pt>
                <c:pt idx="2">
                  <c:v>2022</c:v>
                </c:pt>
                <c:pt idx="3">
                  <c:v>2023</c:v>
                </c:pt>
                <c:pt idx="4">
                  <c:v>2024</c:v>
                </c:pt>
                <c:pt idx="5">
                  <c:v>2025</c:v>
                </c:pt>
                <c:pt idx="6">
                  <c:v>31/08/2026</c:v>
                </c:pt>
              </c:strCache>
            </c:strRef>
          </c:cat>
          <c:val>
            <c:numRef>
              <c:f>Sheet1!$C$2:$C$8</c:f>
              <c:numCache>
                <c:formatCode># ##0,,</c:formatCode>
                <c:ptCount val="7"/>
                <c:pt idx="0">
                  <c:v>714042784</c:v>
                </c:pt>
                <c:pt idx="1">
                  <c:v>1957211038</c:v>
                </c:pt>
                <c:pt idx="2">
                  <c:v>888844233</c:v>
                </c:pt>
                <c:pt idx="3">
                  <c:v>839212069</c:v>
                </c:pt>
                <c:pt idx="4">
                  <c:v>699925787</c:v>
                </c:pt>
                <c:pt idx="5">
                  <c:v>1608155525</c:v>
                </c:pt>
                <c:pt idx="6">
                  <c:v>2562885661</c:v>
                </c:pt>
              </c:numCache>
            </c:numRef>
          </c:val>
        </c:ser>
        <c:dLbls>
          <c:numFmt formatCode="# ##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l"/>
        <c:numFmt formatCode="# ##0,," sourceLinked="0"/>
        <c:majorTickMark val="out"/>
        <c:minorTickMark val="none"/>
        <c:tickLblPos val="nextTo"/>
        <c:spPr>
          <a:ln>
            <a:noFill/>
          </a:ln>
        </c:spPr>
        <c:txPr>
          <a:bodyPr/>
          <a:lstStyle/>
          <a:p>
            <a:pPr>
              <a:defRPr sz="1000"/>
            </a:pPr>
          </a:p>
        </c:txPr>
        <c:crossAx val="-2068027336"/>
        <c:crosses val="autoZero"/>
      </c:valAx>
    </c:plotArea>
    <c:legend>
      <c:legendPos val="b"/>
      <c:overlay val="0"/>
      <c:txPr>
        <a:bodyPr/>
        <a:lstStyle/>
        <a:p>
          <a:pPr>
            <a:defRPr sz="1000"/>
          </a:pPr>
        </a:p>
      </c:txPr>
    </c:legend>
    <c:dispBlanksAs val="gap"/>
  </c:chart>
  <c:txPr>
    <a:bodyPr/>
    <a:lstStyle/>
    <a:p>
      <a:pPr>
        <a:defRPr sz="1000">
          <a:latin typeface="Helvetica"/>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Fonds propres</c:v>
                </c:pt>
              </c:strCache>
            </c:strRef>
          </c:tx>
          <c:spPr>
            <a:solidFill>
              <a:srgbClr val="112A40"/>
            </a:solidFill>
          </c:spPr>
          <c:cat>
            <c:strRef>
              <c:f>Sheet1!$A$2:$A$8</c:f>
              <c:strCache>
                <c:ptCount val="7"/>
                <c:pt idx="0">
                  <c:v>2020</c:v>
                </c:pt>
                <c:pt idx="1">
                  <c:v>2021</c:v>
                </c:pt>
                <c:pt idx="2">
                  <c:v>2022</c:v>
                </c:pt>
                <c:pt idx="3">
                  <c:v>2023</c:v>
                </c:pt>
                <c:pt idx="4">
                  <c:v>2024</c:v>
                </c:pt>
                <c:pt idx="5">
                  <c:v>2025</c:v>
                </c:pt>
                <c:pt idx="6">
                  <c:v>31/08/2026</c:v>
                </c:pt>
              </c:strCache>
            </c:strRef>
          </c:cat>
          <c:val>
            <c:numRef>
              <c:f>Sheet1!$B$2:$B$8</c:f>
              <c:numCache>
                <c:formatCode># ##0,,</c:formatCode>
                <c:ptCount val="7"/>
                <c:pt idx="0">
                  <c:v>-6743081733</c:v>
                </c:pt>
                <c:pt idx="1">
                  <c:v>-4659173531</c:v>
                </c:pt>
                <c:pt idx="2">
                  <c:v>-2598840854</c:v>
                </c:pt>
                <c:pt idx="3">
                  <c:v>-1668211752</c:v>
                </c:pt>
                <c:pt idx="4">
                  <c:v>-876142111</c:v>
                </c:pt>
                <c:pt idx="5">
                  <c:v>-438242200</c:v>
                </c:pt>
                <c:pt idx="6">
                  <c:v>-879498700</c:v>
                </c:pt>
              </c:numCache>
            </c:numRef>
          </c:val>
        </c:ser>
        <c:dLbls>
          <c:numFmt formatCode="# ##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low"/>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l"/>
        <c:numFmt formatCode="# ##0,," sourceLinked="0"/>
        <c:majorTickMark val="out"/>
        <c:minorTickMark val="none"/>
        <c:tickLblPos val="nextTo"/>
        <c:spPr>
          <a:ln>
            <a:noFill/>
          </a:ln>
        </c:spPr>
        <c:txPr>
          <a:bodyPr/>
          <a:lstStyle/>
          <a:p>
            <a:pPr>
              <a:defRPr sz="1000"/>
            </a:pPr>
          </a:p>
        </c:txPr>
        <c:crossAx val="-2068027336"/>
        <c:crosses val="autoZero"/>
      </c:valAx>
    </c:plotArea>
    <c:dispBlanksAs val="gap"/>
  </c:chart>
  <c:txPr>
    <a:bodyPr/>
    <a:lstStyle/>
    <a:p>
      <a:pPr>
        <a:defRPr sz="1000">
          <a:latin typeface="Helvetica"/>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Encours</c:v>
                </c:pt>
              </c:strCache>
            </c:strRef>
          </c:tx>
          <c:spPr>
            <a:solidFill>
              <a:srgbClr val="EFAC62"/>
            </a:solidFill>
          </c:spPr>
          <c:cat>
            <c:strRef>
              <c:f>Sheet1!$A$2:$A$7</c:f>
              <c:strCache>
                <c:ptCount val="6"/>
                <c:pt idx="0">
                  <c:v>31/12/2021</c:v>
                </c:pt>
                <c:pt idx="1">
                  <c:v>31/12/2022</c:v>
                </c:pt>
                <c:pt idx="2">
                  <c:v>31/12/2023</c:v>
                </c:pt>
                <c:pt idx="3">
                  <c:v>31/12/2024</c:v>
                </c:pt>
                <c:pt idx="4">
                  <c:v>31/12/2025</c:v>
                </c:pt>
                <c:pt idx="5">
                  <c:v>31/08/2026</c:v>
                </c:pt>
              </c:strCache>
            </c:strRef>
          </c:cat>
          <c:val>
            <c:numRef>
              <c:f>Sheet1!$B$2:$B$7</c:f>
              <c:numCache>
                <c:formatCode># ##0,,</c:formatCode>
                <c:ptCount val="6"/>
                <c:pt idx="0">
                  <c:v>7900000</c:v>
                </c:pt>
                <c:pt idx="1">
                  <c:v>182555907</c:v>
                </c:pt>
                <c:pt idx="2">
                  <c:v>375172174</c:v>
                </c:pt>
                <c:pt idx="3">
                  <c:v>566643134</c:v>
                </c:pt>
                <c:pt idx="4">
                  <c:v>829623319</c:v>
                </c:pt>
                <c:pt idx="5">
                  <c:v>1044302107</c:v>
                </c:pt>
              </c:numCache>
            </c:numRef>
          </c:val>
        </c:ser>
        <c:dLbls>
          <c:numFmt formatCode="# ##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l"/>
        <c:numFmt formatCode="# ##0,," sourceLinked="0"/>
        <c:majorTickMark val="out"/>
        <c:minorTickMark val="none"/>
        <c:tickLblPos val="nextTo"/>
        <c:spPr>
          <a:ln>
            <a:noFill/>
          </a:ln>
        </c:spPr>
        <c:txPr>
          <a:bodyPr/>
          <a:lstStyle/>
          <a:p>
            <a:pPr>
              <a:defRPr sz="1000"/>
            </a:pPr>
          </a:p>
        </c:txPr>
        <c:crossAx val="-2068027336"/>
        <c:crosses val="autoZero"/>
      </c:valAx>
    </c:plotArea>
    <c:dispBlanksAs val="gap"/>
  </c:chart>
  <c:txPr>
    <a:bodyPr/>
    <a:lstStyle/>
    <a:p>
      <a:pPr>
        <a:defRPr sz="1000">
          <a:latin typeface="Helvetica"/>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2025</c:v>
                </c:pt>
              </c:strCache>
            </c:strRef>
          </c:tx>
          <c:spPr>
            <a:solidFill>
              <a:srgbClr val="112A40"/>
            </a:solidFill>
          </c:spPr>
          <c:cat>
            <c:strRef>
              <c:f>Sheet1!$A$2:$A$7</c:f>
              <c:strCache>
                <c:ptCount val="6"/>
                <c:pt idx="0">
                  <c:v>Cotisations maladie</c:v>
                </c:pt>
                <c:pt idx="1">
                  <c:v>Cotisations décès</c:v>
                </c:pt>
                <c:pt idx="2">
                  <c:v>Prestations maladie</c:v>
                </c:pt>
                <c:pt idx="3">
                  <c:v>Prestations décès</c:v>
                </c:pt>
                <c:pt idx="4">
                  <c:v>Frais de gestion</c:v>
                </c:pt>
                <c:pt idx="5">
                  <c:v>Résultat</c:v>
                </c:pt>
              </c:strCache>
            </c:strRef>
          </c:cat>
          <c:val>
            <c:numRef>
              <c:f>Sheet1!$B$2:$B$7</c:f>
              <c:numCache>
                <c:formatCode># ##0,,</c:formatCode>
                <c:ptCount val="6"/>
                <c:pt idx="0">
                  <c:v>2409281030</c:v>
                </c:pt>
                <c:pt idx="1">
                  <c:v>1008270692</c:v>
                </c:pt>
                <c:pt idx="2">
                  <c:v>1771635361</c:v>
                </c:pt>
                <c:pt idx="3">
                  <c:v>193136666</c:v>
                </c:pt>
                <c:pt idx="4">
                  <c:v>1101350021</c:v>
                </c:pt>
                <c:pt idx="5">
                  <c:v>437899911</c:v>
                </c:pt>
              </c:numCache>
            </c:numRef>
          </c:val>
        </c:ser>
        <c:dLbls>
          <c:numFmt formatCode="# ##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l"/>
        <c:numFmt formatCode="# ##0,," sourceLinked="0"/>
        <c:majorTickMark val="out"/>
        <c:minorTickMark val="none"/>
        <c:tickLblPos val="nextTo"/>
        <c:spPr>
          <a:ln>
            <a:noFill/>
          </a:ln>
        </c:spPr>
        <c:txPr>
          <a:bodyPr/>
          <a:lstStyle/>
          <a:p>
            <a:pPr>
              <a:defRPr sz="1000"/>
            </a:pPr>
          </a:p>
        </c:txPr>
        <c:crossAx val="-2068027336"/>
        <c:crosses val="autoZero"/>
      </c:valAx>
    </c:plotArea>
    <c:dispBlanksAs val="gap"/>
  </c:chart>
  <c:txPr>
    <a:bodyPr/>
    <a:lstStyle/>
    <a:p>
      <a:pPr>
        <a:defRPr sz="1000">
          <a:latin typeface="Helvetica"/>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Mois reçus</c:v>
                </c:pt>
              </c:strCache>
            </c:strRef>
          </c:tx>
          <c:spPr>
            <a:solidFill>
              <a:srgbClr val="112A40"/>
            </a:solidFill>
          </c:spPr>
          <c:cat>
            <c:strRef>
              <c:f>Sheet1!$A$2:$A$11</c:f>
              <c:strCache>
                <c:ptCount val="10"/>
                <c:pt idx="0">
                  <c:v>Prestations décès et santé</c:v>
                </c:pt>
                <c:pt idx="1">
                  <c:v>MEDOC 8Z7 retour</c:v>
                </c:pt>
                <c:pt idx="2">
                  <c:v>Décès 8Z6</c:v>
                </c:pt>
                <c:pt idx="3">
                  <c:v>Retraités CGRAE retour</c:v>
                </c:pt>
                <c:pt idx="4">
                  <c:v>Maladie 936</c:v>
                </c:pt>
                <c:pt idx="5">
                  <c:v>Flotte 9W3 retour</c:v>
                </c:pt>
                <c:pt idx="6">
                  <c:v>Grenier 9X4 retour</c:v>
                </c:pt>
                <c:pt idx="7">
                  <c:v>EFC 870 retour</c:v>
                </c:pt>
                <c:pt idx="8">
                  <c:v>PEP 998 retour</c:v>
                </c:pt>
                <c:pt idx="9">
                  <c:v>Comptabilité (balances)</c:v>
                </c:pt>
              </c:strCache>
            </c:strRef>
          </c:cat>
          <c:val>
            <c:numRef>
              <c:f>Sheet1!$B$2:$B$11</c:f>
              <c:numCache>
                <c:formatCode>0</c:formatCode>
                <c:ptCount val="10"/>
                <c:pt idx="0">
                  <c:v>0</c:v>
                </c:pt>
                <c:pt idx="1">
                  <c:v>6</c:v>
                </c:pt>
                <c:pt idx="2">
                  <c:v>24</c:v>
                </c:pt>
                <c:pt idx="3">
                  <c:v>30</c:v>
                </c:pt>
                <c:pt idx="4">
                  <c:v>31</c:v>
                </c:pt>
                <c:pt idx="5">
                  <c:v>37</c:v>
                </c:pt>
                <c:pt idx="6">
                  <c:v>43</c:v>
                </c:pt>
                <c:pt idx="7">
                  <c:v>43</c:v>
                </c:pt>
                <c:pt idx="8">
                  <c:v>80</c:v>
                </c:pt>
                <c:pt idx="9">
                  <c:v>80</c:v>
                </c:pt>
              </c:numCache>
            </c:numRef>
          </c:val>
        </c:ser>
        <c:dLbls>
          <c:numFmt formatCode="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b"/>
        <c:numFmt formatCode="0" sourceLinked="0"/>
        <c:majorTickMark val="out"/>
        <c:minorTickMark val="none"/>
        <c:tickLblPos val="nextTo"/>
        <c:spPr>
          <a:ln>
            <a:noFill/>
          </a:ln>
        </c:spPr>
        <c:txPr>
          <a:bodyPr/>
          <a:lstStyle/>
          <a:p>
            <a:pPr>
              <a:defRPr sz="1000"/>
            </a:pPr>
          </a:p>
        </c:txPr>
        <c:crossAx val="-2068027336"/>
        <c:crosses val="autoZero"/>
      </c:valAx>
    </c:plotArea>
    <c:dispBlanksAs val="gap"/>
  </c:chart>
  <c:txPr>
    <a:bodyPr/>
    <a:lstStyle/>
    <a:p>
      <a:pPr>
        <a:defRPr sz="1000">
          <a:latin typeface="Helvetica"/>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Taux moyen</c:v>
                </c:pt>
              </c:strCache>
            </c:strRef>
          </c:tx>
          <c:spPr>
            <a:solidFill>
              <a:srgbClr val="112A40"/>
            </a:solidFill>
          </c:spPr>
          <c:cat>
            <c:strRef>
              <c:f>Sheet1!$A$2:$A$7</c:f>
              <c:strCache>
                <c:ptCount val="6"/>
                <c:pt idx="0">
                  <c:v>EFC 870</c:v>
                </c:pt>
                <c:pt idx="1">
                  <c:v>PEP 998</c:v>
                </c:pt>
                <c:pt idx="2">
                  <c:v>Grenier 9X4</c:v>
                </c:pt>
                <c:pt idx="3">
                  <c:v>Flotte 9W3</c:v>
                </c:pt>
                <c:pt idx="4">
                  <c:v>Retraités CGRAE</c:v>
                </c:pt>
                <c:pt idx="5">
                  <c:v>MEDOC 8Z7</c:v>
                </c:pt>
              </c:strCache>
            </c:strRef>
          </c:cat>
          <c:val>
            <c:numRef>
              <c:f>Sheet1!$B$2:$B$7</c:f>
              <c:numCache>
                <c:formatCode>0.00</c:formatCode>
                <c:ptCount val="6"/>
                <c:pt idx="0">
                  <c:v>97.58</c:v>
                </c:pt>
                <c:pt idx="1">
                  <c:v>97.73</c:v>
                </c:pt>
                <c:pt idx="2">
                  <c:v>98.15</c:v>
                </c:pt>
                <c:pt idx="3">
                  <c:v>98.86</c:v>
                </c:pt>
                <c:pt idx="4">
                  <c:v>100.19</c:v>
                </c:pt>
                <c:pt idx="5">
                  <c:v>97.41</c:v>
                </c:pt>
              </c:numCache>
            </c:numRef>
          </c:val>
        </c:ser>
        <c:ser>
          <c:idx val="1"/>
          <c:order val="1"/>
          <c:tx>
            <c:strRef>
              <c:f>Sheet1!$C$1</c:f>
              <c:strCache>
                <c:ptCount val="1"/>
                <c:pt idx="0">
                  <c:v>Mois le plus bas</c:v>
                </c:pt>
              </c:strCache>
            </c:strRef>
          </c:tx>
          <c:spPr>
            <a:solidFill>
              <a:srgbClr val="EFAC62"/>
            </a:solidFill>
          </c:spPr>
          <c:cat>
            <c:strRef>
              <c:f>Sheet1!$A$2:$A$7</c:f>
              <c:strCache>
                <c:ptCount val="6"/>
                <c:pt idx="0">
                  <c:v>EFC 870</c:v>
                </c:pt>
                <c:pt idx="1">
                  <c:v>PEP 998</c:v>
                </c:pt>
                <c:pt idx="2">
                  <c:v>Grenier 9X4</c:v>
                </c:pt>
                <c:pt idx="3">
                  <c:v>Flotte 9W3</c:v>
                </c:pt>
                <c:pt idx="4">
                  <c:v>Retraités CGRAE</c:v>
                </c:pt>
                <c:pt idx="5">
                  <c:v>MEDOC 8Z7</c:v>
                </c:pt>
              </c:strCache>
            </c:strRef>
          </c:cat>
          <c:val>
            <c:numRef>
              <c:f>Sheet1!$C$2:$C$7</c:f>
              <c:numCache>
                <c:formatCode>0.00</c:formatCode>
                <c:ptCount val="6"/>
                <c:pt idx="0">
                  <c:v>95.97</c:v>
                </c:pt>
                <c:pt idx="1">
                  <c:v>76.96</c:v>
                </c:pt>
                <c:pt idx="2">
                  <c:v>69.19</c:v>
                </c:pt>
                <c:pt idx="3">
                  <c:v>82.2</c:v>
                </c:pt>
                <c:pt idx="4">
                  <c:v>96.62</c:v>
                </c:pt>
                <c:pt idx="5">
                  <c:v>96.64</c:v>
                </c:pt>
              </c:numCache>
            </c:numRef>
          </c:val>
        </c:ser>
        <c:dLbls>
          <c:numFmt formatCode="0.0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l"/>
        <c:numFmt formatCode="0.00" sourceLinked="0"/>
        <c:majorTickMark val="out"/>
        <c:minorTickMark val="none"/>
        <c:tickLblPos val="nextTo"/>
        <c:spPr>
          <a:ln>
            <a:noFill/>
          </a:ln>
        </c:spPr>
        <c:txPr>
          <a:bodyPr/>
          <a:lstStyle/>
          <a:p>
            <a:pPr>
              <a:defRPr sz="1000"/>
            </a:pPr>
          </a:p>
        </c:txPr>
        <c:crossAx val="-2068027336"/>
        <c:crosses val="autoZero"/>
      </c:valAx>
    </c:plotArea>
    <c:legend>
      <c:legendPos val="b"/>
      <c:overlay val="0"/>
      <c:txPr>
        <a:bodyPr/>
        <a:lstStyle/>
        <a:p>
          <a:pPr>
            <a:defRPr sz="1000"/>
          </a:pPr>
        </a:p>
      </c:txPr>
    </c:legend>
    <c:dispBlanksAs val="gap"/>
  </c:chart>
  <c:txPr>
    <a:bodyPr/>
    <a:lstStyle/>
    <a:p>
      <a:pPr>
        <a:defRPr sz="1000">
          <a:latin typeface="Helvetica"/>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Cotisants</c:v>
                </c:pt>
              </c:strCache>
            </c:strRef>
          </c:tx>
          <c:spPr>
            <a:ln w="28575">
              <a:solidFill>
                <a:srgbClr val="112A40"/>
              </a:solidFill>
            </a:ln>
          </c:spPr>
          <c:marker>
            <c:spPr>
              <a:solidFill>
                <a:srgbClr val="112A40"/>
              </a:solidFill>
              <a:ln>
                <a:solidFill>
                  <a:srgbClr val="112A40"/>
                </a:solidFill>
              </a:ln>
            </c:spPr>
          </c:marker>
          <c:cat>
            <c:strRef>
              <c:f>Sheet1!$A$2:$A$33</c:f>
              <c:strCache>
                <c:ptCount val="32"/>
                <c:pt idx="0">
                  <c:v>janv. 24</c:v>
                </c:pt>
                <c:pt idx="1">
                  <c:v>févr. 24</c:v>
                </c:pt>
                <c:pt idx="2">
                  <c:v>mars 24</c:v>
                </c:pt>
                <c:pt idx="3">
                  <c:v>avr. 24</c:v>
                </c:pt>
                <c:pt idx="4">
                  <c:v>mai 24</c:v>
                </c:pt>
                <c:pt idx="5">
                  <c:v>juin 24</c:v>
                </c:pt>
                <c:pt idx="6">
                  <c:v>juil. 24</c:v>
                </c:pt>
                <c:pt idx="7">
                  <c:v>août 24</c:v>
                </c:pt>
                <c:pt idx="8">
                  <c:v>sept. 24</c:v>
                </c:pt>
                <c:pt idx="9">
                  <c:v>oct. 24</c:v>
                </c:pt>
                <c:pt idx="10">
                  <c:v>nov. 24</c:v>
                </c:pt>
                <c:pt idx="11">
                  <c:v>déc. 24</c:v>
                </c:pt>
                <c:pt idx="12">
                  <c:v>janv. 25</c:v>
                </c:pt>
                <c:pt idx="13">
                  <c:v>févr. 25</c:v>
                </c:pt>
                <c:pt idx="14">
                  <c:v>mars 25</c:v>
                </c:pt>
                <c:pt idx="15">
                  <c:v>avr. 25</c:v>
                </c:pt>
                <c:pt idx="16">
                  <c:v>mai 25</c:v>
                </c:pt>
                <c:pt idx="17">
                  <c:v>juin 25</c:v>
                </c:pt>
                <c:pt idx="18">
                  <c:v>juil. 25</c:v>
                </c:pt>
                <c:pt idx="19">
                  <c:v>août 25</c:v>
                </c:pt>
                <c:pt idx="20">
                  <c:v>sept. 25</c:v>
                </c:pt>
                <c:pt idx="21">
                  <c:v>oct. 25</c:v>
                </c:pt>
                <c:pt idx="22">
                  <c:v>nov. 25</c:v>
                </c:pt>
                <c:pt idx="23">
                  <c:v>déc. 25</c:v>
                </c:pt>
                <c:pt idx="24">
                  <c:v>janv. 26</c:v>
                </c:pt>
                <c:pt idx="25">
                  <c:v>févr. 26</c:v>
                </c:pt>
                <c:pt idx="26">
                  <c:v>mars 26</c:v>
                </c:pt>
                <c:pt idx="27">
                  <c:v>avr. 26</c:v>
                </c:pt>
                <c:pt idx="28">
                  <c:v>mai 26</c:v>
                </c:pt>
                <c:pt idx="29">
                  <c:v>juin 26</c:v>
                </c:pt>
                <c:pt idx="30">
                  <c:v>juil. 26</c:v>
                </c:pt>
                <c:pt idx="31">
                  <c:v>août 26</c:v>
                </c:pt>
              </c:strCache>
            </c:strRef>
          </c:cat>
          <c:val>
            <c:numRef>
              <c:f>Sheet1!$B$2:$B$33</c:f>
              <c:numCache>
                <c:formatCode># ##0</c:formatCode>
                <c:ptCount val="32"/>
                <c:pt idx="0">
                  <c:v>23119.0</c:v>
                </c:pt>
                <c:pt idx="1">
                  <c:v>23129.0</c:v>
                </c:pt>
                <c:pt idx="2">
                  <c:v>23123.0</c:v>
                </c:pt>
                <c:pt idx="3">
                  <c:v>23126.0</c:v>
                </c:pt>
                <c:pt idx="4">
                  <c:v>23416.0</c:v>
                </c:pt>
                <c:pt idx="5">
                  <c:v>23411.0</c:v>
                </c:pt>
                <c:pt idx="6">
                  <c:v>27698.0</c:v>
                </c:pt>
                <c:pt idx="7">
                  <c:v>27682.0</c:v>
                </c:pt>
                <c:pt idx="8">
                  <c:v>27670.0</c:v>
                </c:pt>
                <c:pt idx="9">
                  <c:v>28168.0</c:v>
                </c:pt>
                <c:pt idx="10">
                  <c:v>27606.0</c:v>
                </c:pt>
                <c:pt idx="12">
                  <c:v>27866.0</c:v>
                </c:pt>
                <c:pt idx="13">
                  <c:v>27858.0</c:v>
                </c:pt>
                <c:pt idx="14">
                  <c:v>27851.0</c:v>
                </c:pt>
                <c:pt idx="15">
                  <c:v>27758.0</c:v>
                </c:pt>
                <c:pt idx="16">
                  <c:v>27702.0</c:v>
                </c:pt>
                <c:pt idx="17">
                  <c:v>27642.0</c:v>
                </c:pt>
                <c:pt idx="18">
                  <c:v>31724.0</c:v>
                </c:pt>
                <c:pt idx="19">
                  <c:v>31716.0</c:v>
                </c:pt>
                <c:pt idx="20">
                  <c:v>31683.0</c:v>
                </c:pt>
                <c:pt idx="21">
                  <c:v>31683.0</c:v>
                </c:pt>
                <c:pt idx="22">
                  <c:v>31647.0</c:v>
                </c:pt>
                <c:pt idx="23">
                  <c:v>31676.0</c:v>
                </c:pt>
                <c:pt idx="24">
                  <c:v>31269.0</c:v>
                </c:pt>
                <c:pt idx="25">
                  <c:v>31260.0</c:v>
                </c:pt>
                <c:pt idx="26">
                  <c:v>31248.0</c:v>
                </c:pt>
                <c:pt idx="27">
                  <c:v>31238.0</c:v>
                </c:pt>
                <c:pt idx="28">
                  <c:v>31242.0</c:v>
                </c:pt>
                <c:pt idx="29">
                  <c:v>31232.0</c:v>
                </c:pt>
                <c:pt idx="30">
                  <c:v>31221.0</c:v>
                </c:pt>
                <c:pt idx="31">
                  <c:v>31198.0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BBBCBC"/>
            </a:solidFill>
          </a:ln>
        </c:spPr>
        <c:txPr>
          <a:bodyPr/>
          <a:lstStyle/>
          <a:p>
            <a:pPr>
              <a:defRPr sz="1000"/>
            </a:pPr>
          </a:p>
        </c:txPr>
        <c:crossAx val="2140495176"/>
        <c:crosses val="autoZero"/>
        <c:auto val="1"/>
        <c:lblAlgn val="ctr"/>
        <c:lblOffset val="100"/>
        <c:noMultiLvlLbl val="0"/>
      </c:catAx>
      <c:valAx>
        <c:axId val="2140495176"/>
        <c:scaling>
          <c:min val="20000.0"/>
        </c:scaling>
        <c:delete val="0"/>
        <c:axPos val="l"/>
        <c:numFmt formatCode="# ##0" sourceLinked="0"/>
        <c:majorTickMark val="out"/>
        <c:minorTickMark val="none"/>
        <c:tickLblPos val="nextTo"/>
        <c:spPr>
          <a:ln>
            <a:noFill/>
          </a:ln>
        </c:spPr>
        <c:txPr>
          <a:bodyPr/>
          <a:lstStyle/>
          <a:p>
            <a:pPr>
              <a:defRPr sz="1000"/>
            </a:pPr>
          </a:p>
        </c:txPr>
        <c:crossAx val="2118791784"/>
        <c:crosses val="autoZero"/>
      </c:valAx>
    </c:plotArea>
    <c:plotVisOnly val="1"/>
    <c:dispBlanksAs val="gap"/>
    <c:showDLblsOverMax val="0"/>
  </c:chart>
  <c:txPr>
    <a:bodyPr/>
    <a:lstStyle/>
    <a:p>
      <a:pPr>
        <a:defRPr sz="1000">
          <a:latin typeface="Helvetica"/>
        </a:defRPr>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Entrées</c:v>
                </c:pt>
              </c:strCache>
            </c:strRef>
          </c:tx>
          <c:spPr>
            <a:solidFill>
              <a:srgbClr val="112A40"/>
            </a:solidFill>
          </c:spPr>
          <c:cat>
            <c:strRef>
              <c:f>Sheet1!$A$2:$A$30</c:f>
              <c:strCache>
                <c:ptCount val="29"/>
                <c:pt idx="0">
                  <c:v>févr. 24</c:v>
                </c:pt>
                <c:pt idx="1">
                  <c:v>mars 24</c:v>
                </c:pt>
                <c:pt idx="2">
                  <c:v>avr. 24</c:v>
                </c:pt>
                <c:pt idx="3">
                  <c:v>mai 24</c:v>
                </c:pt>
                <c:pt idx="4">
                  <c:v>juin 24</c:v>
                </c:pt>
                <c:pt idx="5">
                  <c:v>juil. 24</c:v>
                </c:pt>
                <c:pt idx="6">
                  <c:v>août 24</c:v>
                </c:pt>
                <c:pt idx="7">
                  <c:v>sept. 24</c:v>
                </c:pt>
                <c:pt idx="8">
                  <c:v>oct. 24</c:v>
                </c:pt>
                <c:pt idx="9">
                  <c:v>nov. 24</c:v>
                </c:pt>
                <c:pt idx="10">
                  <c:v>févr. 25</c:v>
                </c:pt>
                <c:pt idx="11">
                  <c:v>mars 25</c:v>
                </c:pt>
                <c:pt idx="12">
                  <c:v>avr. 25</c:v>
                </c:pt>
                <c:pt idx="13">
                  <c:v>mai 25</c:v>
                </c:pt>
                <c:pt idx="14">
                  <c:v>juin 25</c:v>
                </c:pt>
                <c:pt idx="15">
                  <c:v>juil. 25</c:v>
                </c:pt>
                <c:pt idx="16">
                  <c:v>août 25</c:v>
                </c:pt>
                <c:pt idx="17">
                  <c:v>sept. 25</c:v>
                </c:pt>
                <c:pt idx="18">
                  <c:v>oct. 25</c:v>
                </c:pt>
                <c:pt idx="19">
                  <c:v>nov. 25</c:v>
                </c:pt>
                <c:pt idx="20">
                  <c:v>déc. 25</c:v>
                </c:pt>
                <c:pt idx="21">
                  <c:v>janv. 26</c:v>
                </c:pt>
                <c:pt idx="22">
                  <c:v>févr. 26</c:v>
                </c:pt>
                <c:pt idx="23">
                  <c:v>mars 26</c:v>
                </c:pt>
                <c:pt idx="24">
                  <c:v>avr. 26</c:v>
                </c:pt>
                <c:pt idx="25">
                  <c:v>mai 26</c:v>
                </c:pt>
                <c:pt idx="26">
                  <c:v>juin 26</c:v>
                </c:pt>
                <c:pt idx="27">
                  <c:v>juil. 26</c:v>
                </c:pt>
                <c:pt idx="28">
                  <c:v>août 26</c:v>
                </c:pt>
              </c:strCache>
            </c:strRef>
          </c:cat>
          <c:val>
            <c:numRef>
              <c:f>Sheet1!$B$2:$B$30</c:f>
              <c:numCache>
                <c:formatCode># ##0</c:formatCode>
                <c:ptCount val="29"/>
                <c:pt idx="0">
                  <c:v>26</c:v>
                </c:pt>
                <c:pt idx="1">
                  <c:v>4</c:v>
                </c:pt>
                <c:pt idx="2">
                  <c:v>17</c:v>
                </c:pt>
                <c:pt idx="3">
                  <c:v>640</c:v>
                </c:pt>
                <c:pt idx="4">
                  <c:v>3</c:v>
                </c:pt>
                <c:pt idx="5">
                  <c:v>4926</c:v>
                </c:pt>
                <c:pt idx="6">
                  <c:v>4</c:v>
                </c:pt>
                <c:pt idx="7">
                  <c:v>3</c:v>
                </c:pt>
                <c:pt idx="8">
                  <c:v>583</c:v>
                </c:pt>
                <c:pt idx="9">
                  <c:v>34</c:v>
                </c:pt>
                <c:pt idx="10">
                  <c:v>4</c:v>
                </c:pt>
                <c:pt idx="11">
                  <c:v>5</c:v>
                </c:pt>
                <c:pt idx="12">
                  <c:v>8</c:v>
                </c:pt>
                <c:pt idx="13">
                  <c:v>2</c:v>
                </c:pt>
                <c:pt idx="14">
                  <c:v>4</c:v>
                </c:pt>
                <c:pt idx="15">
                  <c:v>4127</c:v>
                </c:pt>
                <c:pt idx="16">
                  <c:v>13</c:v>
                </c:pt>
                <c:pt idx="17">
                  <c:v>9</c:v>
                </c:pt>
                <c:pt idx="18">
                  <c:v>33</c:v>
                </c:pt>
                <c:pt idx="19">
                  <c:v>19</c:v>
                </c:pt>
                <c:pt idx="20">
                  <c:v>50</c:v>
                </c:pt>
                <c:pt idx="21">
                  <c:v>35</c:v>
                </c:pt>
                <c:pt idx="22">
                  <c:v>9</c:v>
                </c:pt>
                <c:pt idx="23">
                  <c:v>1</c:v>
                </c:pt>
                <c:pt idx="24">
                  <c:v>14</c:v>
                </c:pt>
                <c:pt idx="25">
                  <c:v>22</c:v>
                </c:pt>
                <c:pt idx="26">
                  <c:v>10</c:v>
                </c:pt>
                <c:pt idx="27">
                  <c:v>7</c:v>
                </c:pt>
                <c:pt idx="28">
                  <c:v>1</c:v>
                </c:pt>
              </c:numCache>
            </c:numRef>
          </c:val>
        </c:ser>
        <c:ser>
          <c:idx val="1"/>
          <c:order val="1"/>
          <c:tx>
            <c:strRef>
              <c:f>Sheet1!$C$1</c:f>
              <c:strCache>
                <c:ptCount val="1"/>
                <c:pt idx="0">
                  <c:v>Sorties</c:v>
                </c:pt>
              </c:strCache>
            </c:strRef>
          </c:tx>
          <c:spPr>
            <a:solidFill>
              <a:srgbClr val="EFAC62"/>
            </a:solidFill>
          </c:spPr>
          <c:cat>
            <c:strRef>
              <c:f>Sheet1!$A$2:$A$30</c:f>
              <c:strCache>
                <c:ptCount val="29"/>
                <c:pt idx="0">
                  <c:v>févr. 24</c:v>
                </c:pt>
                <c:pt idx="1">
                  <c:v>mars 24</c:v>
                </c:pt>
                <c:pt idx="2">
                  <c:v>avr. 24</c:v>
                </c:pt>
                <c:pt idx="3">
                  <c:v>mai 24</c:v>
                </c:pt>
                <c:pt idx="4">
                  <c:v>juin 24</c:v>
                </c:pt>
                <c:pt idx="5">
                  <c:v>juil. 24</c:v>
                </c:pt>
                <c:pt idx="6">
                  <c:v>août 24</c:v>
                </c:pt>
                <c:pt idx="7">
                  <c:v>sept. 24</c:v>
                </c:pt>
                <c:pt idx="8">
                  <c:v>oct. 24</c:v>
                </c:pt>
                <c:pt idx="9">
                  <c:v>nov. 24</c:v>
                </c:pt>
                <c:pt idx="10">
                  <c:v>févr. 25</c:v>
                </c:pt>
                <c:pt idx="11">
                  <c:v>mars 25</c:v>
                </c:pt>
                <c:pt idx="12">
                  <c:v>avr. 25</c:v>
                </c:pt>
                <c:pt idx="13">
                  <c:v>mai 25</c:v>
                </c:pt>
                <c:pt idx="14">
                  <c:v>juin 25</c:v>
                </c:pt>
                <c:pt idx="15">
                  <c:v>juil. 25</c:v>
                </c:pt>
                <c:pt idx="16">
                  <c:v>août 25</c:v>
                </c:pt>
                <c:pt idx="17">
                  <c:v>sept. 25</c:v>
                </c:pt>
                <c:pt idx="18">
                  <c:v>oct. 25</c:v>
                </c:pt>
                <c:pt idx="19">
                  <c:v>nov. 25</c:v>
                </c:pt>
                <c:pt idx="20">
                  <c:v>déc. 25</c:v>
                </c:pt>
                <c:pt idx="21">
                  <c:v>janv. 26</c:v>
                </c:pt>
                <c:pt idx="22">
                  <c:v>févr. 26</c:v>
                </c:pt>
                <c:pt idx="23">
                  <c:v>mars 26</c:v>
                </c:pt>
                <c:pt idx="24">
                  <c:v>avr. 26</c:v>
                </c:pt>
                <c:pt idx="25">
                  <c:v>mai 26</c:v>
                </c:pt>
                <c:pt idx="26">
                  <c:v>juin 26</c:v>
                </c:pt>
                <c:pt idx="27">
                  <c:v>juil. 26</c:v>
                </c:pt>
                <c:pt idx="28">
                  <c:v>août 26</c:v>
                </c:pt>
              </c:strCache>
            </c:strRef>
          </c:cat>
          <c:val>
            <c:numRef>
              <c:f>Sheet1!$C$2:$C$30</c:f>
              <c:numCache>
                <c:formatCode># ##0</c:formatCode>
                <c:ptCount val="29"/>
                <c:pt idx="0">
                  <c:v>16</c:v>
                </c:pt>
                <c:pt idx="1">
                  <c:v>10</c:v>
                </c:pt>
                <c:pt idx="2">
                  <c:v>14</c:v>
                </c:pt>
                <c:pt idx="3">
                  <c:v>350</c:v>
                </c:pt>
                <c:pt idx="4">
                  <c:v>8</c:v>
                </c:pt>
                <c:pt idx="5">
                  <c:v>639</c:v>
                </c:pt>
                <c:pt idx="6">
                  <c:v>20</c:v>
                </c:pt>
                <c:pt idx="7">
                  <c:v>15</c:v>
                </c:pt>
                <c:pt idx="8">
                  <c:v>85</c:v>
                </c:pt>
                <c:pt idx="9">
                  <c:v>596</c:v>
                </c:pt>
                <c:pt idx="10">
                  <c:v>12</c:v>
                </c:pt>
                <c:pt idx="11">
                  <c:v>12</c:v>
                </c:pt>
                <c:pt idx="12">
                  <c:v>101</c:v>
                </c:pt>
                <c:pt idx="13">
                  <c:v>58</c:v>
                </c:pt>
                <c:pt idx="14">
                  <c:v>64</c:v>
                </c:pt>
                <c:pt idx="15">
                  <c:v>45</c:v>
                </c:pt>
                <c:pt idx="16">
                  <c:v>21</c:v>
                </c:pt>
                <c:pt idx="17">
                  <c:v>42</c:v>
                </c:pt>
                <c:pt idx="18">
                  <c:v>33</c:v>
                </c:pt>
                <c:pt idx="19">
                  <c:v>55</c:v>
                </c:pt>
                <c:pt idx="20">
                  <c:v>21</c:v>
                </c:pt>
                <c:pt idx="21">
                  <c:v>442</c:v>
                </c:pt>
                <c:pt idx="22">
                  <c:v>18</c:v>
                </c:pt>
                <c:pt idx="23">
                  <c:v>13</c:v>
                </c:pt>
                <c:pt idx="24">
                  <c:v>24</c:v>
                </c:pt>
                <c:pt idx="25">
                  <c:v>18</c:v>
                </c:pt>
                <c:pt idx="26">
                  <c:v>20</c:v>
                </c:pt>
                <c:pt idx="27">
                  <c:v>18</c:v>
                </c:pt>
                <c:pt idx="28">
                  <c:v>24</c:v>
                </c:pt>
              </c:numCache>
            </c:numRef>
          </c:val>
        </c:ser>
        <c:gapWidth val="60"/>
        <c:axId val="-2068027336"/>
        <c:axId val="-2113994440"/>
      </c:barChart>
      <c:catAx>
        <c:axId val="-2068027336"/>
        <c:scaling>
          <c:orientation val="minMax"/>
        </c:scaling>
        <c:delete val="0"/>
        <c:axPos val="b"/>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val="0"/>
        <c:axPos val="l"/>
        <c:numFmt formatCode="# ##0" sourceLinked="0"/>
        <c:majorTickMark val="out"/>
        <c:minorTickMark val="none"/>
        <c:tickLblPos val="nextTo"/>
        <c:spPr>
          <a:ln>
            <a:noFill/>
          </a:ln>
        </c:spPr>
        <c:txPr>
          <a:bodyPr/>
          <a:lstStyle/>
          <a:p>
            <a:pPr>
              <a:defRPr sz="1000"/>
            </a:pPr>
          </a:p>
        </c:txPr>
        <c:crossAx val="-2068027336"/>
        <c:crosses val="autoZero"/>
      </c:valAx>
    </c:plotArea>
    <c:legend>
      <c:legendPos val="b"/>
      <c:overlay val="0"/>
      <c:txPr>
        <a:bodyPr/>
        <a:lstStyle/>
        <a:p>
          <a:pPr>
            <a:defRPr sz="1000"/>
          </a:pPr>
        </a:p>
      </c:txPr>
    </c:legend>
    <c:dispBlanksAs val="gap"/>
  </c:chart>
  <c:txPr>
    <a:bodyPr/>
    <a:lstStyle/>
    <a:p>
      <a:pPr>
        <a:defRPr sz="1000">
          <a:latin typeface="Helvetica"/>
        </a:defRPr>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Agents</c:v>
                </c:pt>
              </c:strCache>
            </c:strRef>
          </c:tx>
          <c:spPr>
            <a:solidFill>
              <a:srgbClr val="112A40"/>
            </a:solidFill>
          </c:spPr>
          <c:cat>
            <c:strRef>
              <c:f>Sheet1!$A$2:$A$9</c:f>
              <c:strCache>
                <c:ptCount val="8"/>
                <c:pt idx="0">
                  <c:v>0-5 ans</c:v>
                </c:pt>
                <c:pt idx="1">
                  <c:v>5-10</c:v>
                </c:pt>
                <c:pt idx="2">
                  <c:v>10-15</c:v>
                </c:pt>
                <c:pt idx="3">
                  <c:v>15-20</c:v>
                </c:pt>
                <c:pt idx="4">
                  <c:v>20-25</c:v>
                </c:pt>
                <c:pt idx="5">
                  <c:v>25-30</c:v>
                </c:pt>
                <c:pt idx="6">
                  <c:v>30-35</c:v>
                </c:pt>
                <c:pt idx="7">
                  <c:v>35 ans et +</c:v>
                </c:pt>
              </c:strCache>
            </c:strRef>
          </c:cat>
          <c:val>
            <c:numRef>
              <c:f>Sheet1!$B$2:$B$9</c:f>
              <c:numCache>
                <c:formatCode># ##0</c:formatCode>
                <c:ptCount val="8"/>
                <c:pt idx="0">
                  <c:v>11103</c:v>
                </c:pt>
                <c:pt idx="1">
                  <c:v>4735</c:v>
                </c:pt>
                <c:pt idx="2">
                  <c:v>1496</c:v>
                </c:pt>
                <c:pt idx="3">
                  <c:v>4585</c:v>
                </c:pt>
                <c:pt idx="4">
                  <c:v>3998</c:v>
                </c:pt>
                <c:pt idx="5">
                  <c:v>1817</c:v>
                </c:pt>
                <c:pt idx="6">
                  <c:v>139</c:v>
                </c:pt>
                <c:pt idx="7">
                  <c:v>2</c:v>
                </c:pt>
              </c:numCache>
            </c:numRef>
          </c:val>
        </c:ser>
        <c:dLbls>
          <c:numFmt formatCode="# ##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l"/>
        <c:numFmt formatCode="# ##0" sourceLinked="0"/>
        <c:majorTickMark val="out"/>
        <c:minorTickMark val="none"/>
        <c:tickLblPos val="nextTo"/>
        <c:spPr>
          <a:ln>
            <a:noFill/>
          </a:ln>
        </c:spPr>
        <c:txPr>
          <a:bodyPr/>
          <a:lstStyle/>
          <a:p>
            <a:pPr>
              <a:defRPr sz="1000"/>
            </a:pPr>
          </a:p>
        </c:txPr>
        <c:crossAx val="-2068027336"/>
        <c:crosses val="autoZero"/>
      </c:valAx>
    </c:plotArea>
    <c:dispBlanksAs val="gap"/>
  </c:chart>
  <c:txPr>
    <a:bodyPr/>
    <a:lstStyle/>
    <a:p>
      <a:pPr>
        <a:defRPr sz="1000">
          <a:latin typeface="Helvetica"/>
        </a:defRPr>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Maladie</c:v>
                </c:pt>
              </c:strCache>
            </c:strRef>
          </c:tx>
          <c:spPr>
            <a:solidFill>
              <a:srgbClr val="112A40"/>
            </a:solidFill>
          </c:spPr>
          <c:cat>
            <c:strRef>
              <c:f>Sheet1!$A$2:$A$4</c:f>
              <c:strCache>
                <c:ptCount val="3"/>
                <c:pt idx="0">
                  <c:v>Barème indiqué en entretien</c:v>
                </c:pt>
                <c:pt idx="1">
                  <c:v>Précompte Solde</c:v>
                </c:pt>
                <c:pt idx="2">
                  <c:v>Comptabilité 2025</c:v>
                </c:pt>
              </c:strCache>
            </c:strRef>
          </c:cat>
          <c:val>
            <c:numRef>
              <c:f>Sheet1!$B$2:$B$4</c:f>
              <c:numCache>
                <c:formatCode>0.00</c:formatCode>
                <c:ptCount val="3"/>
                <c:pt idx="0">
                  <c:v>3.5</c:v>
                </c:pt>
                <c:pt idx="1">
                  <c:v>3.77</c:v>
                </c:pt>
                <c:pt idx="2">
                  <c:v>3.52</c:v>
                </c:pt>
              </c:numCache>
            </c:numRef>
          </c:val>
        </c:ser>
        <c:ser>
          <c:idx val="1"/>
          <c:order val="1"/>
          <c:tx>
            <c:strRef>
              <c:f>Sheet1!$C$1</c:f>
              <c:strCache>
                <c:ptCount val="1"/>
                <c:pt idx="0">
                  <c:v>Décès</c:v>
                </c:pt>
              </c:strCache>
            </c:strRef>
          </c:tx>
          <c:spPr>
            <a:solidFill>
              <a:srgbClr val="EFAC62"/>
            </a:solidFill>
          </c:spPr>
          <c:cat>
            <c:strRef>
              <c:f>Sheet1!$A$2:$A$4</c:f>
              <c:strCache>
                <c:ptCount val="3"/>
                <c:pt idx="0">
                  <c:v>Barème indiqué en entretien</c:v>
                </c:pt>
                <c:pt idx="1">
                  <c:v>Précompte Solde</c:v>
                </c:pt>
                <c:pt idx="2">
                  <c:v>Comptabilité 2025</c:v>
                </c:pt>
              </c:strCache>
            </c:strRef>
          </c:cat>
          <c:val>
            <c:numRef>
              <c:f>Sheet1!$C$2:$C$4</c:f>
              <c:numCache>
                <c:formatCode>0.00</c:formatCode>
                <c:ptCount val="3"/>
                <c:pt idx="0">
                  <c:v>1.5</c:v>
                </c:pt>
                <c:pt idx="1">
                  <c:v>1.23</c:v>
                </c:pt>
                <c:pt idx="2">
                  <c:v>1.48</c:v>
                </c:pt>
              </c:numCache>
            </c:numRef>
          </c:val>
        </c:ser>
        <c:dLbls>
          <c:numFmt formatCode="0.00" sourceLinked="0"/>
          <c:txPr>
            <a:bodyPr/>
            <a:lstStyle/>
            <a:p>
              <a:pPr>
                <a:defRPr sz="1000">
                  <a:solidFill>
                    <a:srgbClr val="FFFFFF"/>
                  </a:solidFill>
                </a:defRPr>
              </a:pPr>
            </a:p>
          </c:txPr>
          <c:showLegendKey val="0"/>
          <c:showVal val="1"/>
          <c:showCatName val="0"/>
          <c:showSerName val="0"/>
          <c:showPercent val="0"/>
          <c:showBubbleSize val="0"/>
          <c:showLeaderLines val="1"/>
        </c:dLbls>
        <c:gapWidth val="60"/>
        <c:overlap val="100"/>
        <c:axId val="-2068027336"/>
        <c:axId val="-2113994440"/>
      </c:barChart>
      <c:catAx>
        <c:axId val="-2068027336"/>
        <c:scaling>
          <c:orientation val="minMax"/>
        </c:scaling>
        <c:delete val="0"/>
        <c:axPos val="b"/>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l"/>
        <c:numFmt formatCode="0.00" sourceLinked="0"/>
        <c:majorTickMark val="out"/>
        <c:minorTickMark val="none"/>
        <c:tickLblPos val="nextTo"/>
        <c:spPr>
          <a:ln>
            <a:noFill/>
          </a:ln>
        </c:spPr>
        <c:txPr>
          <a:bodyPr/>
          <a:lstStyle/>
          <a:p>
            <a:pPr>
              <a:defRPr sz="1000"/>
            </a:pPr>
          </a:p>
        </c:txPr>
        <c:crossAx val="-2068027336"/>
        <c:crosses val="autoZero"/>
      </c:valAx>
    </c:plotArea>
    <c:legend>
      <c:legendPos val="b"/>
      <c:overlay val="0"/>
      <c:txPr>
        <a:bodyPr/>
        <a:lstStyle/>
        <a:p>
          <a:pPr>
            <a:defRPr sz="1000"/>
          </a:pPr>
        </a:p>
      </c:txPr>
    </c:legend>
    <c:dispBlanksAs val="gap"/>
  </c:chart>
  <c:txPr>
    <a:bodyPr/>
    <a:lstStyle/>
    <a:p>
      <a:pPr>
        <a:defRPr sz="1000">
          <a:latin typeface="Helvetica"/>
        </a:defRPr>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S/C maladie</c:v>
                </c:pt>
              </c:strCache>
            </c:strRef>
          </c:tx>
          <c:spPr>
            <a:solidFill>
              <a:srgbClr val="112A40"/>
            </a:solidFill>
          </c:spPr>
          <c:cat>
            <c:strRef>
              <c:f>Sheet1!$A$2:$A$4</c:f>
              <c:strCache>
                <c:ptCount val="3"/>
                <c:pt idx="0">
                  <c:v>Clé comptable</c:v>
                </c:pt>
                <c:pt idx="1">
                  <c:v>Clé de la Solde (3,77 / 1,23)</c:v>
                </c:pt>
                <c:pt idx="2">
                  <c:v>Barème des statuts (3,5 / 1,5)</c:v>
                </c:pt>
              </c:strCache>
            </c:strRef>
          </c:cat>
          <c:val>
            <c:numRef>
              <c:f>Sheet1!$B$2:$B$4</c:f>
              <c:numCache>
                <c:formatCode>0.00</c:formatCode>
                <c:ptCount val="3"/>
                <c:pt idx="0">
                  <c:v>73.53</c:v>
                </c:pt>
                <c:pt idx="1">
                  <c:v>68.75</c:v>
                </c:pt>
                <c:pt idx="2">
                  <c:v>74.06</c:v>
                </c:pt>
              </c:numCache>
            </c:numRef>
          </c:val>
        </c:ser>
        <c:ser>
          <c:idx val="1"/>
          <c:order val="1"/>
          <c:tx>
            <c:strRef>
              <c:f>Sheet1!$C$1</c:f>
              <c:strCache>
                <c:ptCount val="1"/>
                <c:pt idx="0">
                  <c:v>S/C décès</c:v>
                </c:pt>
              </c:strCache>
            </c:strRef>
          </c:tx>
          <c:spPr>
            <a:solidFill>
              <a:srgbClr val="EFAC62"/>
            </a:solidFill>
          </c:spPr>
          <c:cat>
            <c:strRef>
              <c:f>Sheet1!$A$2:$A$4</c:f>
              <c:strCache>
                <c:ptCount val="3"/>
                <c:pt idx="0">
                  <c:v>Clé comptable</c:v>
                </c:pt>
                <c:pt idx="1">
                  <c:v>Clé de la Solde (3,77 / 1,23)</c:v>
                </c:pt>
                <c:pt idx="2">
                  <c:v>Barème des statuts (3,5 / 1,5)</c:v>
                </c:pt>
              </c:strCache>
            </c:strRef>
          </c:cat>
          <c:val>
            <c:numRef>
              <c:f>Sheet1!$C$2:$C$4</c:f>
              <c:numCache>
                <c:formatCode>0.00</c:formatCode>
                <c:ptCount val="3"/>
                <c:pt idx="0">
                  <c:v>19.16</c:v>
                </c:pt>
                <c:pt idx="1">
                  <c:v>22.97</c:v>
                </c:pt>
                <c:pt idx="2">
                  <c:v>18.84</c:v>
                </c:pt>
              </c:numCache>
            </c:numRef>
          </c:val>
        </c:ser>
        <c:dLbls>
          <c:numFmt formatCode="0.0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l"/>
        <c:numFmt formatCode="0.00" sourceLinked="0"/>
        <c:majorTickMark val="out"/>
        <c:minorTickMark val="none"/>
        <c:tickLblPos val="nextTo"/>
        <c:spPr>
          <a:ln>
            <a:noFill/>
          </a:ln>
        </c:spPr>
        <c:txPr>
          <a:bodyPr/>
          <a:lstStyle/>
          <a:p>
            <a:pPr>
              <a:defRPr sz="1000"/>
            </a:pPr>
          </a:p>
        </c:txPr>
        <c:crossAx val="-2068027336"/>
        <c:crosses val="autoZero"/>
      </c:valAx>
    </c:plotArea>
    <c:legend>
      <c:legendPos val="b"/>
      <c:overlay val="0"/>
      <c:txPr>
        <a:bodyPr/>
        <a:lstStyle/>
        <a:p>
          <a:pPr>
            <a:defRPr sz="1000"/>
          </a:pPr>
        </a:p>
      </c:txPr>
    </c:legend>
    <c:dispBlanksAs val="gap"/>
  </c:chart>
  <c:txPr>
    <a:bodyPr/>
    <a:lstStyle/>
    <a:p>
      <a:pPr>
        <a:defRPr sz="1000">
          <a:latin typeface="Helvetica"/>
        </a:defRPr>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5.2884615384615398E-2"/>
          <c:y val="0.102380773316306"/>
          <c:w val="0.89423076923076905"/>
          <c:h val="0.58056971629208098"/>
        </c:manualLayout>
      </c:layout>
      <c:doughnutChart>
        <c:varyColors val="1"/>
        <c:ser>
          <c:idx val="0"/>
          <c:order val="0"/>
          <c:tx>
            <c:strRef>
              <c:f>Sheet1!$B$1</c:f>
              <c:strCache>
                <c:ptCount val="1"/>
                <c:pt idx="0">
                  <c:v>Série</c:v>
                </c:pt>
              </c:strCache>
            </c:strRef>
          </c:tx>
          <c:spPr>
            <a:ln>
              <a:noFill/>
            </a:ln>
          </c:spPr>
          <c:dPt>
            <c:idx val="0"/>
            <c:bubble3D val="0"/>
            <c:spPr>
              <a:solidFill>
                <a:srgbClr val="EFAC62"/>
              </a:solidFill>
              <a:ln w="19050">
                <a:noFill/>
              </a:ln>
              <a:effectLst/>
            </c:spPr>
            <c:extLst>
              <c:ext xmlns:c16="http://schemas.microsoft.com/office/drawing/2014/chart" uri="{C3380CC4-5D6E-409C-BE32-E72D297353CC}">
                <c16:uniqueId val="{00000001-021A-48FF-9FB3-982F078F5DD6}"/>
              </c:ext>
            </c:extLst>
          </c:dPt>
          <c:dPt>
            <c:idx val="1"/>
            <c:bubble3D val="0"/>
            <c:spPr>
              <a:solidFill>
                <a:srgbClr val="112A40"/>
              </a:solidFill>
              <a:ln w="19050">
                <a:noFill/>
              </a:ln>
              <a:effectLst/>
            </c:spPr>
            <c:extLst>
              <c:ext xmlns:c16="http://schemas.microsoft.com/office/drawing/2014/chart" uri="{C3380CC4-5D6E-409C-BE32-E72D297353CC}">
                <c16:uniqueId val="{00000003-021A-48FF-9FB3-982F078F5DD6}"/>
              </c:ext>
            </c:extLst>
          </c:dPt>
          <c:cat>
            <c:strRef>
              <c:f>Sheet1!$A$2:$A$3</c:f>
              <c:strCache>
                <c:ptCount val="2"/>
                <c:pt idx="0">
                  <c:v>Valeur</c:v>
                </c:pt>
                <c:pt idx="1">
                  <c:v>Reste</c:v>
                </c:pt>
              </c:strCache>
            </c:strRef>
          </c:cat>
          <c:val>
            <c:numRef>
              <c:f>Sheet1!$B$2:$B$3</c:f>
              <c:numCache>
                <c:formatCode>General</c:formatCode>
                <c:ptCount val="2"/>
                <c:pt idx="0">
                  <c:v>73.53</c:v>
                </c:pt>
                <c:pt idx="1">
                  <c:v>26.47</c:v>
                </c:pt>
              </c:numCache>
            </c:numRef>
          </c:val>
          <c:extLst>
            <c:ext xmlns:c16="http://schemas.microsoft.com/office/drawing/2014/chart" uri="{C3380CC4-5D6E-409C-BE32-E72D297353CC}">
              <c16:uniqueId val="{00000004-021A-48FF-9FB3-982F078F5DD6}"/>
            </c:ext>
          </c:extLst>
        </c:ser>
        <c:dLbls>
          <c:showLegendKey val="0"/>
          <c:showVal val="0"/>
          <c:showCatName val="0"/>
          <c:showSerName val="0"/>
          <c:showPercent val="0"/>
          <c:showBubbleSize val="0"/>
          <c:showLeaderLines val="1"/>
        </c:dLbls>
        <c:firstSliceAng val="0"/>
        <c:holeSize val="75"/>
      </c:doughnutChart>
      <c:spPr>
        <a:noFill/>
        <a:ln>
          <a:noFill/>
        </a:ln>
        <a:effectLst/>
      </c:spPr>
    </c:plotArea>
    <c:plotVisOnly val="1"/>
    <c:dispBlanksAs val="gap"/>
    <c:showDLblsOverMax val="0"/>
  </c:chart>
  <c:spPr>
    <a:noFill/>
    <a:ln>
      <a:noFill/>
    </a:ln>
    <a:effectLst/>
  </c:spPr>
  <c:txPr>
    <a:bodyPr/>
    <a:lstStyle/>
    <a:p>
      <a:pPr>
        <a:defRPr/>
      </a:pPr>
      <a:endParaRPr lang="fr-FR"/>
    </a:p>
  </c:txPr>
  <c:externalData r:id="rId3">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5.2884615384615398E-2"/>
          <c:y val="0.102380773316306"/>
          <c:w val="0.89423076923076905"/>
          <c:h val="0.58056971629208098"/>
        </c:manualLayout>
      </c:layout>
      <c:doughnutChart>
        <c:varyColors val="1"/>
        <c:ser>
          <c:idx val="0"/>
          <c:order val="0"/>
          <c:tx>
            <c:strRef>
              <c:f>Sheet1!$B$1</c:f>
              <c:strCache>
                <c:ptCount val="1"/>
                <c:pt idx="0">
                  <c:v>Série</c:v>
                </c:pt>
              </c:strCache>
            </c:strRef>
          </c:tx>
          <c:spPr>
            <a:ln>
              <a:noFill/>
            </a:ln>
          </c:spPr>
          <c:dPt>
            <c:idx val="0"/>
            <c:bubble3D val="0"/>
            <c:spPr>
              <a:solidFill>
                <a:srgbClr val="EFAC62"/>
              </a:solidFill>
              <a:ln w="19050">
                <a:noFill/>
              </a:ln>
              <a:effectLst/>
            </c:spPr>
            <c:extLst>
              <c:ext xmlns:c16="http://schemas.microsoft.com/office/drawing/2014/chart" uri="{C3380CC4-5D6E-409C-BE32-E72D297353CC}">
                <c16:uniqueId val="{00000001-706D-4F64-BD6B-61C00E14F388}"/>
              </c:ext>
            </c:extLst>
          </c:dPt>
          <c:dPt>
            <c:idx val="1"/>
            <c:bubble3D val="0"/>
            <c:spPr>
              <a:solidFill>
                <a:srgbClr val="112A40"/>
              </a:solidFill>
              <a:ln w="19050">
                <a:noFill/>
              </a:ln>
              <a:effectLst/>
            </c:spPr>
            <c:extLst>
              <c:ext xmlns:c16="http://schemas.microsoft.com/office/drawing/2014/chart" uri="{C3380CC4-5D6E-409C-BE32-E72D297353CC}">
                <c16:uniqueId val="{00000003-706D-4F64-BD6B-61C00E14F388}"/>
              </c:ext>
            </c:extLst>
          </c:dPt>
          <c:cat>
            <c:strRef>
              <c:f>Sheet1!$A$2:$A$3</c:f>
              <c:strCache>
                <c:ptCount val="2"/>
                <c:pt idx="0">
                  <c:v>Valeur</c:v>
                </c:pt>
                <c:pt idx="1">
                  <c:v>Reste</c:v>
                </c:pt>
              </c:strCache>
            </c:strRef>
          </c:cat>
          <c:val>
            <c:numRef>
              <c:f>Sheet1!$B$2:$B$3</c:f>
              <c:numCache>
                <c:formatCode>General</c:formatCode>
                <c:ptCount val="2"/>
                <c:pt idx="0">
                  <c:v>16.28</c:v>
                </c:pt>
                <c:pt idx="1">
                  <c:v>83.72</c:v>
                </c:pt>
              </c:numCache>
            </c:numRef>
          </c:val>
          <c:extLst>
            <c:ext xmlns:c16="http://schemas.microsoft.com/office/drawing/2014/chart" uri="{C3380CC4-5D6E-409C-BE32-E72D297353CC}">
              <c16:uniqueId val="{00000004-706D-4F64-BD6B-61C00E14F388}"/>
            </c:ext>
          </c:extLst>
        </c:ser>
        <c:dLbls>
          <c:showLegendKey val="0"/>
          <c:showVal val="0"/>
          <c:showCatName val="0"/>
          <c:showSerName val="0"/>
          <c:showPercent val="0"/>
          <c:showBubbleSize val="0"/>
          <c:showLeaderLines val="1"/>
        </c:dLbls>
        <c:firstSliceAng val="0"/>
        <c:holeSize val="75"/>
      </c:doughnutChart>
      <c:spPr>
        <a:noFill/>
        <a:ln>
          <a:noFill/>
        </a:ln>
        <a:effectLst/>
      </c:spPr>
    </c:plotArea>
    <c:plotVisOnly val="1"/>
    <c:dispBlanksAs val="gap"/>
    <c:showDLblsOverMax val="0"/>
  </c:chart>
  <c:spPr>
    <a:noFill/>
    <a:ln>
      <a:noFill/>
    </a:ln>
    <a:effectLst/>
  </c:spPr>
  <c:txPr>
    <a:bodyPr/>
    <a:lstStyle/>
    <a:p>
      <a:pPr>
        <a:defRPr/>
      </a:pPr>
      <a:endParaRPr lang="fr-FR"/>
    </a:p>
  </c:txPr>
  <c:externalData r:id="rId3">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5.2884615384615398E-2"/>
          <c:y val="0.102380773316306"/>
          <c:w val="0.89423076923076905"/>
          <c:h val="0.58056971629208098"/>
        </c:manualLayout>
      </c:layout>
      <c:doughnutChart>
        <c:varyColors val="1"/>
        <c:ser>
          <c:idx val="0"/>
          <c:order val="0"/>
          <c:tx>
            <c:strRef>
              <c:f>Sheet1!$B$1</c:f>
              <c:strCache>
                <c:ptCount val="1"/>
                <c:pt idx="0">
                  <c:v>Série</c:v>
                </c:pt>
              </c:strCache>
            </c:strRef>
          </c:tx>
          <c:spPr>
            <a:ln>
              <a:noFill/>
            </a:ln>
          </c:spPr>
          <c:dPt>
            <c:idx val="0"/>
            <c:bubble3D val="0"/>
            <c:spPr>
              <a:solidFill>
                <a:srgbClr val="EFAC62"/>
              </a:solidFill>
              <a:ln w="19050">
                <a:noFill/>
              </a:ln>
              <a:effectLst/>
            </c:spPr>
            <c:extLst>
              <c:ext xmlns:c16="http://schemas.microsoft.com/office/drawing/2014/chart" uri="{C3380CC4-5D6E-409C-BE32-E72D297353CC}">
                <c16:uniqueId val="{00000001-750D-4441-85D1-EEC67D758551}"/>
              </c:ext>
            </c:extLst>
          </c:dPt>
          <c:dPt>
            <c:idx val="1"/>
            <c:bubble3D val="0"/>
            <c:spPr>
              <a:solidFill>
                <a:srgbClr val="112A40"/>
              </a:solidFill>
              <a:ln w="19050">
                <a:noFill/>
              </a:ln>
              <a:effectLst/>
            </c:spPr>
            <c:extLst>
              <c:ext xmlns:c16="http://schemas.microsoft.com/office/drawing/2014/chart" uri="{C3380CC4-5D6E-409C-BE32-E72D297353CC}">
                <c16:uniqueId val="{00000003-750D-4441-85D1-EEC67D758551}"/>
              </c:ext>
            </c:extLst>
          </c:dPt>
          <c:cat>
            <c:strRef>
              <c:f>Sheet1!$A$2:$A$3</c:f>
              <c:strCache>
                <c:ptCount val="2"/>
                <c:pt idx="0">
                  <c:v>Valeur</c:v>
                </c:pt>
                <c:pt idx="1">
                  <c:v>Reste</c:v>
                </c:pt>
              </c:strCache>
            </c:strRef>
          </c:cat>
          <c:val>
            <c:numRef>
              <c:f>Sheet1!$B$2:$B$3</c:f>
              <c:numCache>
                <c:formatCode>General</c:formatCode>
                <c:ptCount val="2"/>
                <c:pt idx="0">
                  <c:v>5.07</c:v>
                </c:pt>
                <c:pt idx="1">
                  <c:v>94.93</c:v>
                </c:pt>
              </c:numCache>
            </c:numRef>
          </c:val>
          <c:extLst>
            <c:ext xmlns:c16="http://schemas.microsoft.com/office/drawing/2014/chart" uri="{C3380CC4-5D6E-409C-BE32-E72D297353CC}">
              <c16:uniqueId val="{00000004-750D-4441-85D1-EEC67D758551}"/>
            </c:ext>
          </c:extLst>
        </c:ser>
        <c:dLbls>
          <c:showLegendKey val="0"/>
          <c:showVal val="0"/>
          <c:showCatName val="0"/>
          <c:showSerName val="0"/>
          <c:showPercent val="0"/>
          <c:showBubbleSize val="0"/>
          <c:showLeaderLines val="1"/>
        </c:dLbls>
        <c:firstSliceAng val="0"/>
        <c:holeSize val="75"/>
      </c:doughnutChart>
      <c:spPr>
        <a:noFill/>
        <a:ln>
          <a:noFill/>
        </a:ln>
        <a:effectLst/>
      </c:spPr>
    </c:plotArea>
    <c:plotVisOnly val="1"/>
    <c:dispBlanksAs val="gap"/>
    <c:showDLblsOverMax val="0"/>
  </c:chart>
  <c:spPr>
    <a:noFill/>
    <a:ln>
      <a:noFill/>
    </a:ln>
    <a:effectLst/>
  </c:spPr>
  <c:txPr>
    <a:bodyPr/>
    <a:lstStyle/>
    <a:p>
      <a:pPr>
        <a:defRPr/>
      </a:pPr>
      <a:endParaRPr lang="fr-FR"/>
    </a:p>
  </c:txPr>
  <c:externalData r:id="rId3">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5.2884615384615398E-2"/>
          <c:y val="0.102380773316306"/>
          <c:w val="0.89423076923076905"/>
          <c:h val="0.58056971629208098"/>
        </c:manualLayout>
      </c:layout>
      <c:doughnutChart>
        <c:varyColors val="1"/>
        <c:ser>
          <c:idx val="0"/>
          <c:order val="0"/>
          <c:tx>
            <c:strRef>
              <c:f>Sheet1!$B$1</c:f>
              <c:strCache>
                <c:ptCount val="1"/>
                <c:pt idx="0">
                  <c:v>Série</c:v>
                </c:pt>
              </c:strCache>
            </c:strRef>
          </c:tx>
          <c:spPr>
            <a:ln>
              <a:noFill/>
            </a:ln>
          </c:spPr>
          <c:dPt>
            <c:idx val="0"/>
            <c:bubble3D val="0"/>
            <c:spPr>
              <a:solidFill>
                <a:srgbClr val="EFAC62"/>
              </a:solidFill>
              <a:ln w="19050">
                <a:noFill/>
              </a:ln>
              <a:effectLst/>
            </c:spPr>
            <c:extLst>
              <c:ext xmlns:c16="http://schemas.microsoft.com/office/drawing/2014/chart" uri="{C3380CC4-5D6E-409C-BE32-E72D297353CC}">
                <c16:uniqueId val="{00000001-82E9-4DDD-8BC6-295B0F874A85}"/>
              </c:ext>
            </c:extLst>
          </c:dPt>
          <c:dPt>
            <c:idx val="1"/>
            <c:bubble3D val="0"/>
            <c:spPr>
              <a:solidFill>
                <a:srgbClr val="112A40"/>
              </a:solidFill>
              <a:ln w="19050">
                <a:noFill/>
              </a:ln>
              <a:effectLst/>
            </c:spPr>
            <c:extLst>
              <c:ext xmlns:c16="http://schemas.microsoft.com/office/drawing/2014/chart" uri="{C3380CC4-5D6E-409C-BE32-E72D297353CC}">
                <c16:uniqueId val="{00000003-82E9-4DDD-8BC6-295B0F874A85}"/>
              </c:ext>
            </c:extLst>
          </c:dPt>
          <c:cat>
            <c:strRef>
              <c:f>Sheet1!$A$2:$A$3</c:f>
              <c:strCache>
                <c:ptCount val="2"/>
                <c:pt idx="0">
                  <c:v>Valeur</c:v>
                </c:pt>
                <c:pt idx="1">
                  <c:v>Reste</c:v>
                </c:pt>
              </c:strCache>
            </c:strRef>
          </c:cat>
          <c:val>
            <c:numRef>
              <c:f>Sheet1!$B$2:$B$3</c:f>
              <c:numCache>
                <c:formatCode>General</c:formatCode>
                <c:ptCount val="2"/>
                <c:pt idx="0">
                  <c:v>21.34</c:v>
                </c:pt>
                <c:pt idx="1">
                  <c:v>78.66</c:v>
                </c:pt>
              </c:numCache>
            </c:numRef>
          </c:val>
          <c:extLst>
            <c:ext xmlns:c16="http://schemas.microsoft.com/office/drawing/2014/chart" uri="{C3380CC4-5D6E-409C-BE32-E72D297353CC}">
              <c16:uniqueId val="{00000004-82E9-4DDD-8BC6-295B0F874A85}"/>
            </c:ext>
          </c:extLst>
        </c:ser>
        <c:dLbls>
          <c:showLegendKey val="0"/>
          <c:showVal val="0"/>
          <c:showCatName val="0"/>
          <c:showSerName val="0"/>
          <c:showPercent val="0"/>
          <c:showBubbleSize val="0"/>
          <c:showLeaderLines val="1"/>
        </c:dLbls>
        <c:firstSliceAng val="0"/>
        <c:holeSize val="75"/>
      </c:doughnutChart>
      <c:spPr>
        <a:noFill/>
        <a:ln>
          <a:noFill/>
        </a:ln>
        <a:effectLst/>
      </c:spPr>
    </c:plotArea>
    <c:plotVisOnly val="1"/>
    <c:dispBlanksAs val="gap"/>
    <c:showDLblsOverMax val="0"/>
  </c:chart>
  <c:spPr>
    <a:noFill/>
    <a:ln>
      <a:noFill/>
    </a:ln>
    <a:effectLst/>
  </c:spPr>
  <c:txPr>
    <a:bodyPr/>
    <a:lstStyle/>
    <a:p>
      <a:pPr>
        <a:defRPr/>
      </a:pPr>
      <a:endParaRPr lang="fr-FR"/>
    </a:p>
  </c:txPr>
  <c:externalData r:id="rId3">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Pharmacie</c:v>
                </c:pt>
              </c:strCache>
            </c:strRef>
          </c:tx>
          <c:spPr>
            <a:solidFill>
              <a:srgbClr val="112A40"/>
            </a:solidFill>
          </c:spPr>
          <c:cat>
            <c:strRef>
              <c:f>Sheet1!$A$2:$A$8</c:f>
              <c:strCache>
                <c:ptCount val="7"/>
                <c:pt idx="0">
                  <c:v>2020</c:v>
                </c:pt>
                <c:pt idx="1">
                  <c:v>2021</c:v>
                </c:pt>
                <c:pt idx="2">
                  <c:v>2022</c:v>
                </c:pt>
                <c:pt idx="3">
                  <c:v>2023</c:v>
                </c:pt>
                <c:pt idx="4">
                  <c:v>2024</c:v>
                </c:pt>
                <c:pt idx="5">
                  <c:v>2025</c:v>
                </c:pt>
                <c:pt idx="6">
                  <c:v>2026 (8 mois)</c:v>
                </c:pt>
              </c:strCache>
            </c:strRef>
          </c:cat>
          <c:val>
            <c:numRef>
              <c:f>Sheet1!$B$2:$B$8</c:f>
              <c:numCache>
                <c:formatCode># ##0,,</c:formatCode>
                <c:ptCount val="7"/>
                <c:pt idx="0">
                  <c:v>26107586</c:v>
                </c:pt>
                <c:pt idx="1">
                  <c:v>25313112</c:v>
                </c:pt>
                <c:pt idx="2">
                  <c:v>13055215</c:v>
                </c:pt>
                <c:pt idx="3">
                  <c:v>22869440</c:v>
                </c:pt>
                <c:pt idx="4">
                  <c:v>32549138</c:v>
                </c:pt>
                <c:pt idx="5">
                  <c:v>38076031</c:v>
                </c:pt>
                <c:pt idx="6">
                  <c:v>85750869</c:v>
                </c:pt>
              </c:numCache>
            </c:numRef>
          </c:val>
        </c:ser>
        <c:ser>
          <c:idx val="1"/>
          <c:order val="1"/>
          <c:tx>
            <c:strRef>
              <c:f>Sheet1!$C$1</c:f>
              <c:strCache>
                <c:ptCount val="1"/>
                <c:pt idx="0">
                  <c:v>Consultations</c:v>
                </c:pt>
              </c:strCache>
            </c:strRef>
          </c:tx>
          <c:spPr>
            <a:solidFill>
              <a:srgbClr val="EFAC62"/>
            </a:solidFill>
          </c:spPr>
          <c:cat>
            <c:strRef>
              <c:f>Sheet1!$A$2:$A$8</c:f>
              <c:strCache>
                <c:ptCount val="7"/>
                <c:pt idx="0">
                  <c:v>2020</c:v>
                </c:pt>
                <c:pt idx="1">
                  <c:v>2021</c:v>
                </c:pt>
                <c:pt idx="2">
                  <c:v>2022</c:v>
                </c:pt>
                <c:pt idx="3">
                  <c:v>2023</c:v>
                </c:pt>
                <c:pt idx="4">
                  <c:v>2024</c:v>
                </c:pt>
                <c:pt idx="5">
                  <c:v>2025</c:v>
                </c:pt>
                <c:pt idx="6">
                  <c:v>2026 (8 mois)</c:v>
                </c:pt>
              </c:strCache>
            </c:strRef>
          </c:cat>
          <c:val>
            <c:numRef>
              <c:f>Sheet1!$C$2:$C$8</c:f>
              <c:numCache>
                <c:formatCode># ##0,,</c:formatCode>
                <c:ptCount val="7"/>
                <c:pt idx="0">
                  <c:v>9838300</c:v>
                </c:pt>
                <c:pt idx="1">
                  <c:v>9569200</c:v>
                </c:pt>
                <c:pt idx="2">
                  <c:v>4288328</c:v>
                </c:pt>
                <c:pt idx="3">
                  <c:v>53402204</c:v>
                </c:pt>
                <c:pt idx="4">
                  <c:v>154053302</c:v>
                </c:pt>
                <c:pt idx="5">
                  <c:v>173759919</c:v>
                </c:pt>
                <c:pt idx="6">
                  <c:v>223956736</c:v>
                </c:pt>
              </c:numCache>
            </c:numRef>
          </c:val>
        </c:ser>
        <c:ser>
          <c:idx val="2"/>
          <c:order val="2"/>
          <c:tx>
            <c:strRef>
              <c:f>Sheet1!$D$1</c:f>
              <c:strCache>
                <c:ptCount val="1"/>
                <c:pt idx="0">
                  <c:v>Hospitalisations</c:v>
                </c:pt>
              </c:strCache>
            </c:strRef>
          </c:tx>
          <c:spPr>
            <a:solidFill>
              <a:srgbClr val="BBBCBC"/>
            </a:solidFill>
          </c:spPr>
          <c:cat>
            <c:strRef>
              <c:f>Sheet1!$A$2:$A$8</c:f>
              <c:strCache>
                <c:ptCount val="7"/>
                <c:pt idx="0">
                  <c:v>2020</c:v>
                </c:pt>
                <c:pt idx="1">
                  <c:v>2021</c:v>
                </c:pt>
                <c:pt idx="2">
                  <c:v>2022</c:v>
                </c:pt>
                <c:pt idx="3">
                  <c:v>2023</c:v>
                </c:pt>
                <c:pt idx="4">
                  <c:v>2024</c:v>
                </c:pt>
                <c:pt idx="5">
                  <c:v>2025</c:v>
                </c:pt>
                <c:pt idx="6">
                  <c:v>2026 (8 mois)</c:v>
                </c:pt>
              </c:strCache>
            </c:strRef>
          </c:cat>
          <c:val>
            <c:numRef>
              <c:f>Sheet1!$D$2:$D$8</c:f>
              <c:numCache>
                <c:formatCode># ##0,,</c:formatCode>
                <c:ptCount val="7"/>
                <c:pt idx="0">
                  <c:v>11748500</c:v>
                </c:pt>
                <c:pt idx="1">
                  <c:v>12702282</c:v>
                </c:pt>
                <c:pt idx="2">
                  <c:v>6383100</c:v>
                </c:pt>
                <c:pt idx="3">
                  <c:v>32598428</c:v>
                </c:pt>
                <c:pt idx="4">
                  <c:v>10815234</c:v>
                </c:pt>
                <c:pt idx="5">
                  <c:v>23247618</c:v>
                </c:pt>
                <c:pt idx="6">
                  <c:v>36938840</c:v>
                </c:pt>
              </c:numCache>
            </c:numRef>
          </c:val>
        </c:ser>
        <c:ser>
          <c:idx val="3"/>
          <c:order val="3"/>
          <c:tx>
            <c:strRef>
              <c:f>Sheet1!$E$1</c:f>
              <c:strCache>
                <c:ptCount val="1"/>
                <c:pt idx="0">
                  <c:v>Analyses médicales</c:v>
                </c:pt>
              </c:strCache>
            </c:strRef>
          </c:tx>
          <c:spPr>
            <a:solidFill>
              <a:srgbClr val="060606"/>
            </a:solidFill>
          </c:spPr>
          <c:cat>
            <c:strRef>
              <c:f>Sheet1!$A$2:$A$8</c:f>
              <c:strCache>
                <c:ptCount val="7"/>
                <c:pt idx="0">
                  <c:v>2020</c:v>
                </c:pt>
                <c:pt idx="1">
                  <c:v>2021</c:v>
                </c:pt>
                <c:pt idx="2">
                  <c:v>2022</c:v>
                </c:pt>
                <c:pt idx="3">
                  <c:v>2023</c:v>
                </c:pt>
                <c:pt idx="4">
                  <c:v>2024</c:v>
                </c:pt>
                <c:pt idx="5">
                  <c:v>2025</c:v>
                </c:pt>
                <c:pt idx="6">
                  <c:v>2026 (8 mois)</c:v>
                </c:pt>
              </c:strCache>
            </c:strRef>
          </c:cat>
          <c:val>
            <c:numRef>
              <c:f>Sheet1!$E$2:$E$8</c:f>
              <c:numCache>
                <c:formatCode># ##0,,</c:formatCode>
                <c:ptCount val="7"/>
                <c:pt idx="0">
                  <c:v>23155760</c:v>
                </c:pt>
                <c:pt idx="1">
                  <c:v>15394010</c:v>
                </c:pt>
                <c:pt idx="2">
                  <c:v>10313251</c:v>
                </c:pt>
                <c:pt idx="3">
                  <c:v>73194458</c:v>
                </c:pt>
                <c:pt idx="4">
                  <c:v>142781059</c:v>
                </c:pt>
                <c:pt idx="5">
                  <c:v>234266144</c:v>
                </c:pt>
                <c:pt idx="6">
                  <c:v>214752158</c:v>
                </c:pt>
              </c:numCache>
            </c:numRef>
          </c:val>
        </c:ser>
        <c:ser>
          <c:idx val="4"/>
          <c:order val="4"/>
          <c:tx>
            <c:strRef>
              <c:f>Sheet1!$F$1</c:f>
              <c:strCache>
                <c:ptCount val="1"/>
                <c:pt idx="0">
                  <c:v>Radio et imagerie</c:v>
                </c:pt>
              </c:strCache>
            </c:strRef>
          </c:tx>
          <c:spPr>
            <a:solidFill>
              <a:srgbClr val="53565A"/>
            </a:solidFill>
          </c:spPr>
          <c:cat>
            <c:strRef>
              <c:f>Sheet1!$A$2:$A$8</c:f>
              <c:strCache>
                <c:ptCount val="7"/>
                <c:pt idx="0">
                  <c:v>2020</c:v>
                </c:pt>
                <c:pt idx="1">
                  <c:v>2021</c:v>
                </c:pt>
                <c:pt idx="2">
                  <c:v>2022</c:v>
                </c:pt>
                <c:pt idx="3">
                  <c:v>2023</c:v>
                </c:pt>
                <c:pt idx="4">
                  <c:v>2024</c:v>
                </c:pt>
                <c:pt idx="5">
                  <c:v>2025</c:v>
                </c:pt>
                <c:pt idx="6">
                  <c:v>2026 (8 mois)</c:v>
                </c:pt>
              </c:strCache>
            </c:strRef>
          </c:cat>
          <c:val>
            <c:numRef>
              <c:f>Sheet1!$F$2:$F$8</c:f>
              <c:numCache>
                <c:formatCode># ##0,,</c:formatCode>
                <c:ptCount val="7"/>
                <c:pt idx="0">
                  <c:v>11304893</c:v>
                </c:pt>
                <c:pt idx="1">
                  <c:v>6463050</c:v>
                </c:pt>
                <c:pt idx="2">
                  <c:v>15365475</c:v>
                </c:pt>
                <c:pt idx="3">
                  <c:v>65166228</c:v>
                </c:pt>
                <c:pt idx="4">
                  <c:v>147686479</c:v>
                </c:pt>
                <c:pt idx="5">
                  <c:v>249812169</c:v>
                </c:pt>
                <c:pt idx="6">
                  <c:v>391563218</c:v>
                </c:pt>
              </c:numCache>
            </c:numRef>
          </c:val>
        </c:ser>
        <c:ser>
          <c:idx val="5"/>
          <c:order val="5"/>
          <c:tx>
            <c:strRef>
              <c:f>Sheet1!$G$1</c:f>
              <c:strCache>
                <c:ptCount val="1"/>
                <c:pt idx="0">
                  <c:v>Autres prestations maladie</c:v>
                </c:pt>
              </c:strCache>
            </c:strRef>
          </c:tx>
          <c:spPr>
            <a:solidFill>
              <a:srgbClr val="F6D3A8"/>
            </a:solidFill>
          </c:spPr>
          <c:cat>
            <c:strRef>
              <c:f>Sheet1!$A$2:$A$8</c:f>
              <c:strCache>
                <c:ptCount val="7"/>
                <c:pt idx="0">
                  <c:v>2020</c:v>
                </c:pt>
                <c:pt idx="1">
                  <c:v>2021</c:v>
                </c:pt>
                <c:pt idx="2">
                  <c:v>2022</c:v>
                </c:pt>
                <c:pt idx="3">
                  <c:v>2023</c:v>
                </c:pt>
                <c:pt idx="4">
                  <c:v>2024</c:v>
                </c:pt>
                <c:pt idx="5">
                  <c:v>2025</c:v>
                </c:pt>
                <c:pt idx="6">
                  <c:v>2026 (8 mois)</c:v>
                </c:pt>
              </c:strCache>
            </c:strRef>
          </c:cat>
          <c:val>
            <c:numRef>
              <c:f>Sheet1!$G$2:$G$8</c:f>
              <c:numCache>
                <c:formatCode># ##0,,</c:formatCode>
                <c:ptCount val="7"/>
                <c:pt idx="0">
                  <c:v>110679822</c:v>
                </c:pt>
                <c:pt idx="1">
                  <c:v>23379217</c:v>
                </c:pt>
                <c:pt idx="2">
                  <c:v>50185972</c:v>
                </c:pt>
                <c:pt idx="3">
                  <c:v>241125951</c:v>
                </c:pt>
                <c:pt idx="4">
                  <c:v>508863835</c:v>
                </c:pt>
                <c:pt idx="5">
                  <c:v>995311355</c:v>
                </c:pt>
                <c:pt idx="6">
                  <c:v>584656222</c:v>
                </c:pt>
              </c:numCache>
            </c:numRef>
          </c:val>
        </c:ser>
        <c:ser>
          <c:idx val="6"/>
          <c:order val="6"/>
          <c:tx>
            <c:strRef>
              <c:f>Sheet1!$H$1</c:f>
              <c:strCache>
                <c:ptCount val="1"/>
                <c:pt idx="0">
                  <c:v>Autres (transport, rééducation, bons)</c:v>
                </c:pt>
              </c:strCache>
            </c:strRef>
          </c:tx>
          <c:spPr>
            <a:solidFill>
              <a:srgbClr val="5B7A99"/>
            </a:solidFill>
          </c:spPr>
          <c:cat>
            <c:strRef>
              <c:f>Sheet1!$A$2:$A$8</c:f>
              <c:strCache>
                <c:ptCount val="7"/>
                <c:pt idx="0">
                  <c:v>2020</c:v>
                </c:pt>
                <c:pt idx="1">
                  <c:v>2021</c:v>
                </c:pt>
                <c:pt idx="2">
                  <c:v>2022</c:v>
                </c:pt>
                <c:pt idx="3">
                  <c:v>2023</c:v>
                </c:pt>
                <c:pt idx="4">
                  <c:v>2024</c:v>
                </c:pt>
                <c:pt idx="5">
                  <c:v>2025</c:v>
                </c:pt>
                <c:pt idx="6">
                  <c:v>2026 (8 mois)</c:v>
                </c:pt>
              </c:strCache>
            </c:strRef>
          </c:cat>
          <c:val>
            <c:numRef>
              <c:f>Sheet1!$H$2:$H$8</c:f>
              <c:numCache>
                <c:formatCode># ##0,,</c:formatCode>
                <c:ptCount val="7"/>
                <c:pt idx="0">
                  <c:v>12977195</c:v>
                </c:pt>
                <c:pt idx="1">
                  <c:v>8632300</c:v>
                </c:pt>
                <c:pt idx="2">
                  <c:v>15646432</c:v>
                </c:pt>
                <c:pt idx="3">
                  <c:v>32647653</c:v>
                </c:pt>
                <c:pt idx="4">
                  <c:v>63670580</c:v>
                </c:pt>
                <c:pt idx="5">
                  <c:v>57162125</c:v>
                </c:pt>
                <c:pt idx="6">
                  <c:v>108421074</c:v>
                </c:pt>
              </c:numCache>
            </c:numRef>
          </c:val>
        </c:ser>
        <c:gapWidth val="60"/>
        <c:overlap val="100"/>
        <c:axId val="-2068027336"/>
        <c:axId val="-2113994440"/>
      </c:barChart>
      <c:catAx>
        <c:axId val="-2068027336"/>
        <c:scaling>
          <c:orientation val="minMax"/>
        </c:scaling>
        <c:delete val="0"/>
        <c:axPos val="b"/>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val="0"/>
        <c:axPos val="l"/>
        <c:numFmt formatCode="# ##0,," sourceLinked="0"/>
        <c:majorTickMark val="out"/>
        <c:minorTickMark val="none"/>
        <c:tickLblPos val="nextTo"/>
        <c:spPr>
          <a:ln>
            <a:noFill/>
          </a:ln>
        </c:spPr>
        <c:txPr>
          <a:bodyPr/>
          <a:lstStyle/>
          <a:p>
            <a:pPr>
              <a:defRPr sz="1000"/>
            </a:pPr>
          </a:p>
        </c:txPr>
        <c:crossAx val="-2068027336"/>
        <c:crosses val="autoZero"/>
      </c:valAx>
    </c:plotArea>
    <c:legend>
      <c:legendPos/>
      <c:overlay val="0"/>
      <c:txPr>
        <a:bodyPr/>
        <a:lstStyle/>
        <a:p>
          <a:pPr>
            <a:defRPr sz="1000"/>
          </a:pPr>
        </a:p>
      </c:txPr>
    </c:legend>
    <c:dispBlanksAs val="gap"/>
  </c:chart>
  <c:txPr>
    <a:bodyPr/>
    <a:lstStyle/>
    <a:p>
      <a:pPr>
        <a:defRPr sz="1000">
          <a:latin typeface="Helvetica"/>
        </a:defRPr>
      </a:pPr>
      <a:endParaRPr lang="en-US"/>
    </a:p>
  </c:tx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Frais de gestion</c:v>
                </c:pt>
              </c:strCache>
            </c:strRef>
          </c:tx>
          <c:spPr>
            <a:solidFill>
              <a:srgbClr val="BBBCBC"/>
            </a:solidFill>
          </c:spPr>
          <c:cat>
            <c:strRef>
              <c:f>Sheet1!$A$2:$A$8</c:f>
              <c:strCache>
                <c:ptCount val="7"/>
                <c:pt idx="0">
                  <c:v>2020</c:v>
                </c:pt>
                <c:pt idx="1">
                  <c:v>2021</c:v>
                </c:pt>
                <c:pt idx="2">
                  <c:v>2022</c:v>
                </c:pt>
                <c:pt idx="3">
                  <c:v>2023</c:v>
                </c:pt>
                <c:pt idx="4">
                  <c:v>2024</c:v>
                </c:pt>
                <c:pt idx="5">
                  <c:v>2025</c:v>
                </c:pt>
                <c:pt idx="6">
                  <c:v>2026 (8 mois)</c:v>
                </c:pt>
              </c:strCache>
            </c:strRef>
          </c:cat>
          <c:val>
            <c:numRef>
              <c:f>Sheet1!$B$2:$B$8</c:f>
              <c:numCache>
                <c:formatCode># ##0,,</c:formatCode>
                <c:ptCount val="7"/>
                <c:pt idx="0">
                  <c:v>1210624559</c:v>
                </c:pt>
                <c:pt idx="1">
                  <c:v>961975477</c:v>
                </c:pt>
                <c:pt idx="2">
                  <c:v>1020461388</c:v>
                </c:pt>
                <c:pt idx="3">
                  <c:v>1039977199</c:v>
                </c:pt>
                <c:pt idx="4">
                  <c:v>987308865</c:v>
                </c:pt>
                <c:pt idx="5">
                  <c:v>1101350021</c:v>
                </c:pt>
                <c:pt idx="6">
                  <c:v>1055460837</c:v>
                </c:pt>
              </c:numCache>
            </c:numRef>
          </c:val>
        </c:ser>
        <c:ser>
          <c:idx val="1"/>
          <c:order val="1"/>
          <c:tx>
            <c:strRef>
              <c:f>Sheet1!$C$1</c:f>
              <c:strCache>
                <c:ptCount val="1"/>
                <c:pt idx="0">
                  <c:v>Résultat net</c:v>
                </c:pt>
              </c:strCache>
            </c:strRef>
          </c:tx>
          <c:spPr>
            <a:solidFill>
              <a:srgbClr val="112A40"/>
            </a:solidFill>
          </c:spPr>
          <c:cat>
            <c:strRef>
              <c:f>Sheet1!$A$2:$A$8</c:f>
              <c:strCache>
                <c:ptCount val="7"/>
                <c:pt idx="0">
                  <c:v>2020</c:v>
                </c:pt>
                <c:pt idx="1">
                  <c:v>2021</c:v>
                </c:pt>
                <c:pt idx="2">
                  <c:v>2022</c:v>
                </c:pt>
                <c:pt idx="3">
                  <c:v>2023</c:v>
                </c:pt>
                <c:pt idx="4">
                  <c:v>2024</c:v>
                </c:pt>
                <c:pt idx="5">
                  <c:v>2025</c:v>
                </c:pt>
                <c:pt idx="6">
                  <c:v>2026 (8 mois)</c:v>
                </c:pt>
              </c:strCache>
            </c:strRef>
          </c:cat>
          <c:val>
            <c:numRef>
              <c:f>Sheet1!$C$2:$C$8</c:f>
              <c:numCache>
                <c:formatCode># ##0,,</c:formatCode>
                <c:ptCount val="7"/>
                <c:pt idx="0">
                  <c:v>1018579699</c:v>
                </c:pt>
                <c:pt idx="1">
                  <c:v>2083908202</c:v>
                </c:pt>
                <c:pt idx="2">
                  <c:v>2060332677</c:v>
                </c:pt>
                <c:pt idx="3">
                  <c:v>930629102</c:v>
                </c:pt>
                <c:pt idx="4">
                  <c:v>792069641</c:v>
                </c:pt>
                <c:pt idx="5">
                  <c:v>437899911</c:v>
                </c:pt>
                <c:pt idx="6">
                  <c:v>-441256500</c:v>
                </c:pt>
              </c:numCache>
            </c:numRef>
          </c:val>
        </c:ser>
        <c:dLbls>
          <c:numFmt formatCode="# ##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low"/>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l"/>
        <c:numFmt formatCode="# ##0,," sourceLinked="0"/>
        <c:majorTickMark val="out"/>
        <c:minorTickMark val="none"/>
        <c:tickLblPos val="nextTo"/>
        <c:spPr>
          <a:ln>
            <a:noFill/>
          </a:ln>
        </c:spPr>
        <c:txPr>
          <a:bodyPr/>
          <a:lstStyle/>
          <a:p>
            <a:pPr>
              <a:defRPr sz="1000"/>
            </a:pPr>
          </a:p>
        </c:txPr>
        <c:crossAx val="-2068027336"/>
        <c:crosses val="autoZero"/>
      </c:valAx>
    </c:plotArea>
    <c:legend>
      <c:legendPos val="b"/>
      <c:overlay val="0"/>
      <c:txPr>
        <a:bodyPr/>
        <a:lstStyle/>
        <a:p>
          <a:pPr>
            <a:defRPr sz="1000"/>
          </a:pPr>
        </a:p>
      </c:txPr>
    </c:legend>
    <c:dispBlanksAs val="gap"/>
  </c:chart>
  <c:txPr>
    <a:bodyPr/>
    <a:lstStyle/>
    <a:p>
      <a:pPr>
        <a:defRPr sz="1000">
          <a:latin typeface="Helvetica"/>
        </a:defRPr>
      </a:pPr>
      <a:endParaRPr lang="en-US"/>
    </a:p>
  </c:tx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Formule du rapport</c:v>
                </c:pt>
              </c:strCache>
            </c:strRef>
          </c:tx>
          <c:spPr>
            <a:solidFill>
              <a:srgbClr val="BBBCBC"/>
            </a:solidFill>
          </c:spPr>
          <c:cat>
            <c:strRef>
              <c:f>Sheet1!$A$2:$A$8</c:f>
              <c:strCache>
                <c:ptCount val="7"/>
                <c:pt idx="0">
                  <c:v>2020</c:v>
                </c:pt>
                <c:pt idx="1">
                  <c:v>2021</c:v>
                </c:pt>
                <c:pt idx="2">
                  <c:v>2022</c:v>
                </c:pt>
                <c:pt idx="3">
                  <c:v>2023</c:v>
                </c:pt>
                <c:pt idx="4">
                  <c:v>2024</c:v>
                </c:pt>
                <c:pt idx="5">
                  <c:v>2025</c:v>
                </c:pt>
                <c:pt idx="6">
                  <c:v>2026 (8 mois)</c:v>
                </c:pt>
              </c:strCache>
            </c:strRef>
          </c:cat>
          <c:val>
            <c:numRef>
              <c:f>Sheet1!$B$2:$B$8</c:f>
              <c:numCache>
                <c:formatCode>0.00</c:formatCode>
                <c:ptCount val="7"/>
                <c:pt idx="0">
                  <c:v>51.63</c:v>
                </c:pt>
                <c:pt idx="1">
                  <c:v>39.81</c:v>
                </c:pt>
                <c:pt idx="2">
                  <c:v>40.11</c:v>
                </c:pt>
                <c:pt idx="3">
                  <c:v>37.61</c:v>
                </c:pt>
                <c:pt idx="4">
                  <c:v>31.46</c:v>
                </c:pt>
                <c:pt idx="5">
                  <c:v>32.23</c:v>
                </c:pt>
                <c:pt idx="6">
                  <c:v>44.12</c:v>
                </c:pt>
              </c:numCache>
            </c:numRef>
          </c:val>
        </c:ser>
        <c:ser>
          <c:idx val="1"/>
          <c:order val="1"/>
          <c:tx>
            <c:strRef>
              <c:f>Sheet1!$C$1</c:f>
              <c:strCache>
                <c:ptCount val="1"/>
                <c:pt idx="0">
                  <c:v>Formule du texte</c:v>
                </c:pt>
              </c:strCache>
            </c:strRef>
          </c:tx>
          <c:spPr>
            <a:solidFill>
              <a:srgbClr val="112A40"/>
            </a:solidFill>
          </c:spPr>
          <c:cat>
            <c:strRef>
              <c:f>Sheet1!$A$2:$A$8</c:f>
              <c:strCache>
                <c:ptCount val="7"/>
                <c:pt idx="0">
                  <c:v>2020</c:v>
                </c:pt>
                <c:pt idx="1">
                  <c:v>2021</c:v>
                </c:pt>
                <c:pt idx="2">
                  <c:v>2022</c:v>
                </c:pt>
                <c:pt idx="3">
                  <c:v>2023</c:v>
                </c:pt>
                <c:pt idx="4">
                  <c:v>2024</c:v>
                </c:pt>
                <c:pt idx="5">
                  <c:v>2025</c:v>
                </c:pt>
                <c:pt idx="6">
                  <c:v>2026 (8 mois)</c:v>
                </c:pt>
              </c:strCache>
            </c:strRef>
          </c:cat>
          <c:val>
            <c:numRef>
              <c:f>Sheet1!$C$2:$C$8</c:f>
              <c:numCache>
                <c:formatCode>0.00</c:formatCode>
                <c:ptCount val="7"/>
                <c:pt idx="0">
                  <c:v>84.31</c:v>
                </c:pt>
                <c:pt idx="1">
                  <c:v>48.0</c:v>
                </c:pt>
                <c:pt idx="2">
                  <c:v>47.35</c:v>
                </c:pt>
                <c:pt idx="3">
                  <c:v>44.82</c:v>
                </c:pt>
                <c:pt idx="4">
                  <c:v>36.07</c:v>
                </c:pt>
                <c:pt idx="5">
                  <c:v>36.34</c:v>
                </c:pt>
                <c:pt idx="6">
                  <c:v>44.12</c:v>
                </c:pt>
              </c:numCache>
            </c:numRef>
          </c:val>
        </c:ser>
        <c:dLbls>
          <c:numFmt formatCode="0.0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l"/>
        <c:numFmt formatCode="0.00" sourceLinked="0"/>
        <c:majorTickMark val="out"/>
        <c:minorTickMark val="none"/>
        <c:tickLblPos val="nextTo"/>
        <c:spPr>
          <a:ln>
            <a:noFill/>
          </a:ln>
        </c:spPr>
        <c:txPr>
          <a:bodyPr/>
          <a:lstStyle/>
          <a:p>
            <a:pPr>
              <a:defRPr sz="1000"/>
            </a:pPr>
          </a:p>
        </c:txPr>
        <c:crossAx val="-2068027336"/>
        <c:crosses val="autoZero"/>
      </c:valAx>
    </c:plotArea>
    <c:legend>
      <c:legendPos val="b"/>
      <c:overlay val="0"/>
      <c:txPr>
        <a:bodyPr/>
        <a:lstStyle/>
        <a:p>
          <a:pPr>
            <a:defRPr sz="1000"/>
          </a:pPr>
        </a:p>
      </c:txPr>
    </c:legend>
    <c:dispBlanksAs val="gap"/>
  </c:chart>
  <c:txPr>
    <a:bodyPr/>
    <a:lstStyle/>
    <a:p>
      <a:pPr>
        <a:defRPr sz="1000">
          <a:latin typeface="Helvetica"/>
        </a:defRPr>
      </a:pPr>
      <a:endParaRPr lang="en-US"/>
    </a:p>
  </c:tx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Épargne PEP et EFC</c:v>
                </c:pt>
              </c:strCache>
            </c:strRef>
          </c:tx>
          <c:spPr>
            <a:solidFill>
              <a:srgbClr val="112A40"/>
            </a:solidFill>
          </c:spPr>
          <c:cat>
            <c:strRef>
              <c:f>Sheet1!$A$2:$A$8</c:f>
              <c:strCache>
                <c:ptCount val="7"/>
                <c:pt idx="0">
                  <c:v>2020</c:v>
                </c:pt>
                <c:pt idx="1">
                  <c:v>2021</c:v>
                </c:pt>
                <c:pt idx="2">
                  <c:v>2022</c:v>
                </c:pt>
                <c:pt idx="3">
                  <c:v>2023</c:v>
                </c:pt>
                <c:pt idx="4">
                  <c:v>2024</c:v>
                </c:pt>
                <c:pt idx="5">
                  <c:v>2025</c:v>
                </c:pt>
                <c:pt idx="6">
                  <c:v>31/08/2026</c:v>
                </c:pt>
              </c:strCache>
            </c:strRef>
          </c:cat>
          <c:val>
            <c:numRef>
              <c:f>Sheet1!$B$2:$B$8</c:f>
              <c:numCache>
                <c:formatCode># ##0,,</c:formatCode>
                <c:ptCount val="7"/>
                <c:pt idx="0">
                  <c:v>10828205640</c:v>
                </c:pt>
                <c:pt idx="1">
                  <c:v>10147421276</c:v>
                </c:pt>
                <c:pt idx="2">
                  <c:v>9364845293</c:v>
                </c:pt>
                <c:pt idx="3">
                  <c:v>9121576576</c:v>
                </c:pt>
                <c:pt idx="4">
                  <c:v>10785064432</c:v>
                </c:pt>
                <c:pt idx="5">
                  <c:v>13814066964</c:v>
                </c:pt>
                <c:pt idx="6">
                  <c:v>15743516391</c:v>
                </c:pt>
              </c:numCache>
            </c:numRef>
          </c:val>
        </c:ser>
        <c:ser>
          <c:idx val="1"/>
          <c:order val="1"/>
          <c:tx>
            <c:strRef>
              <c:f>Sheet1!$C$1</c:f>
              <c:strCache>
                <c:ptCount val="1"/>
                <c:pt idx="0">
                  <c:v>Actifs réservés</c:v>
                </c:pt>
              </c:strCache>
            </c:strRef>
          </c:tx>
          <c:spPr>
            <a:solidFill>
              <a:srgbClr val="EFAC62"/>
            </a:solidFill>
          </c:spPr>
          <c:cat>
            <c:strRef>
              <c:f>Sheet1!$A$2:$A$8</c:f>
              <c:strCache>
                <c:ptCount val="7"/>
                <c:pt idx="0">
                  <c:v>2020</c:v>
                </c:pt>
                <c:pt idx="1">
                  <c:v>2021</c:v>
                </c:pt>
                <c:pt idx="2">
                  <c:v>2022</c:v>
                </c:pt>
                <c:pt idx="3">
                  <c:v>2023</c:v>
                </c:pt>
                <c:pt idx="4">
                  <c:v>2024</c:v>
                </c:pt>
                <c:pt idx="5">
                  <c:v>2025</c:v>
                </c:pt>
                <c:pt idx="6">
                  <c:v>31/08/2026</c:v>
                </c:pt>
              </c:strCache>
            </c:strRef>
          </c:cat>
          <c:val>
            <c:numRef>
              <c:f>Sheet1!$C$2:$C$8</c:f>
              <c:numCache>
                <c:formatCode># ##0,,</c:formatCode>
                <c:ptCount val="7"/>
                <c:pt idx="0">
                  <c:v>714042784</c:v>
                </c:pt>
                <c:pt idx="1">
                  <c:v>1957211038</c:v>
                </c:pt>
                <c:pt idx="2">
                  <c:v>888844233</c:v>
                </c:pt>
                <c:pt idx="3">
                  <c:v>839212069</c:v>
                </c:pt>
                <c:pt idx="4">
                  <c:v>699925787</c:v>
                </c:pt>
                <c:pt idx="5">
                  <c:v>1608155525</c:v>
                </c:pt>
                <c:pt idx="6">
                  <c:v>2562885661</c:v>
                </c:pt>
              </c:numCache>
            </c:numRef>
          </c:val>
        </c:ser>
        <c:dLbls>
          <c:numFmt formatCode="# ##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l"/>
        <c:numFmt formatCode="# ##0,," sourceLinked="0"/>
        <c:majorTickMark val="out"/>
        <c:minorTickMark val="none"/>
        <c:tickLblPos val="nextTo"/>
        <c:spPr>
          <a:ln>
            <a:noFill/>
          </a:ln>
        </c:spPr>
        <c:txPr>
          <a:bodyPr/>
          <a:lstStyle/>
          <a:p>
            <a:pPr>
              <a:defRPr sz="1000"/>
            </a:pPr>
          </a:p>
        </c:txPr>
        <c:crossAx val="-2068027336"/>
        <c:crosses val="autoZero"/>
      </c:valAx>
    </c:plotArea>
    <c:legend>
      <c:legendPos val="b"/>
      <c:overlay val="0"/>
      <c:txPr>
        <a:bodyPr/>
        <a:lstStyle/>
        <a:p>
          <a:pPr>
            <a:defRPr sz="1000"/>
          </a:pPr>
        </a:p>
      </c:txPr>
    </c:legend>
    <c:dispBlanksAs val="gap"/>
  </c:chart>
  <c:txPr>
    <a:bodyPr/>
    <a:lstStyle/>
    <a:p>
      <a:pPr>
        <a:defRPr sz="1000">
          <a:latin typeface="Helvetica"/>
        </a:defRPr>
      </a:pPr>
      <a:endParaRPr lang="en-US"/>
    </a:p>
  </c:tx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PEP 998</c:v>
                </c:pt>
              </c:strCache>
            </c:strRef>
          </c:tx>
          <c:spPr>
            <a:solidFill>
              <a:srgbClr val="112A40"/>
            </a:solidFill>
          </c:spPr>
          <c:cat>
            <c:strRef>
              <c:f>Sheet1!$A$2:$A$8</c:f>
              <c:strCache>
                <c:ptCount val="7"/>
                <c:pt idx="0">
                  <c:v>2020</c:v>
                </c:pt>
                <c:pt idx="1">
                  <c:v>2021</c:v>
                </c:pt>
                <c:pt idx="2">
                  <c:v>2022</c:v>
                </c:pt>
                <c:pt idx="3">
                  <c:v>2023</c:v>
                </c:pt>
                <c:pt idx="4">
                  <c:v>2024</c:v>
                </c:pt>
                <c:pt idx="5">
                  <c:v>2025</c:v>
                </c:pt>
                <c:pt idx="6">
                  <c:v>2026 (8 mois)</c:v>
                </c:pt>
              </c:strCache>
            </c:strRef>
          </c:cat>
          <c:val>
            <c:numRef>
              <c:f>Sheet1!$B$2:$B$8</c:f>
              <c:numCache>
                <c:formatCode># ##0,,</c:formatCode>
                <c:ptCount val="7"/>
                <c:pt idx="0">
                  <c:v>293756537</c:v>
                </c:pt>
                <c:pt idx="1">
                  <c:v>322774529</c:v>
                </c:pt>
                <c:pt idx="2">
                  <c:v>509643904</c:v>
                </c:pt>
                <c:pt idx="3">
                  <c:v>927826515</c:v>
                </c:pt>
                <c:pt idx="4">
                  <c:v>1456063820</c:v>
                </c:pt>
                <c:pt idx="5">
                  <c:v>2029929725</c:v>
                </c:pt>
                <c:pt idx="6">
                  <c:v>1606835144</c:v>
                </c:pt>
              </c:numCache>
            </c:numRef>
          </c:val>
        </c:ser>
        <c:ser>
          <c:idx val="1"/>
          <c:order val="1"/>
          <c:tx>
            <c:strRef>
              <c:f>Sheet1!$C$1</c:f>
              <c:strCache>
                <c:ptCount val="1"/>
                <c:pt idx="0">
                  <c:v>EFC 870</c:v>
                </c:pt>
              </c:strCache>
            </c:strRef>
          </c:tx>
          <c:spPr>
            <a:solidFill>
              <a:srgbClr val="EFAC62"/>
            </a:solidFill>
          </c:spPr>
          <c:cat>
            <c:strRef>
              <c:f>Sheet1!$A$2:$A$8</c:f>
              <c:strCache>
                <c:ptCount val="7"/>
                <c:pt idx="0">
                  <c:v>2020</c:v>
                </c:pt>
                <c:pt idx="1">
                  <c:v>2021</c:v>
                </c:pt>
                <c:pt idx="2">
                  <c:v>2022</c:v>
                </c:pt>
                <c:pt idx="3">
                  <c:v>2023</c:v>
                </c:pt>
                <c:pt idx="4">
                  <c:v>2024</c:v>
                </c:pt>
                <c:pt idx="5">
                  <c:v>2025</c:v>
                </c:pt>
                <c:pt idx="6">
                  <c:v>2026 (8 mois)</c:v>
                </c:pt>
              </c:strCache>
            </c:strRef>
          </c:cat>
          <c:val>
            <c:numRef>
              <c:f>Sheet1!$C$2:$C$8</c:f>
              <c:numCache>
                <c:formatCode># ##0,,</c:formatCode>
                <c:ptCount val="7"/>
                <c:pt idx="3">
                  <c:v>1414649440</c:v>
                </c:pt>
                <c:pt idx="4">
                  <c:v>1833953120</c:v>
                </c:pt>
                <c:pt idx="5">
                  <c:v>2160317640</c:v>
                </c:pt>
                <c:pt idx="6">
                  <c:v>1786620720</c:v>
                </c:pt>
              </c:numCache>
            </c:numRef>
          </c:val>
        </c:ser>
        <c:dLbls>
          <c:numFmt formatCode="# ##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l"/>
        <c:numFmt formatCode="# ##0,," sourceLinked="0"/>
        <c:majorTickMark val="out"/>
        <c:minorTickMark val="none"/>
        <c:tickLblPos val="nextTo"/>
        <c:spPr>
          <a:ln>
            <a:noFill/>
          </a:ln>
        </c:spPr>
        <c:txPr>
          <a:bodyPr/>
          <a:lstStyle/>
          <a:p>
            <a:pPr>
              <a:defRPr sz="1000"/>
            </a:pPr>
          </a:p>
        </c:txPr>
        <c:crossAx val="-2068027336"/>
        <c:crosses val="autoZero"/>
      </c:valAx>
    </c:plotArea>
    <c:legend>
      <c:legendPos val="b"/>
      <c:overlay val="0"/>
      <c:txPr>
        <a:bodyPr/>
        <a:lstStyle/>
        <a:p>
          <a:pPr>
            <a:defRPr sz="1000"/>
          </a:pPr>
        </a:p>
      </c:txPr>
    </c:legend>
    <c:dispBlanksAs val="gap"/>
  </c:chart>
  <c:txPr>
    <a:bodyPr/>
    <a:lstStyle/>
    <a:p>
      <a:pPr>
        <a:defRPr sz="1000">
          <a:latin typeface="Helvetica"/>
        </a:defRPr>
      </a:pPr>
      <a:endParaRPr lang="en-US"/>
    </a:p>
  </c:tx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Montant à rembourser</c:v>
                </c:pt>
              </c:strCache>
            </c:strRef>
          </c:tx>
          <c:spPr>
            <a:solidFill>
              <a:srgbClr val="112A40"/>
            </a:solidFill>
          </c:spPr>
          <c:cat>
            <c:strRef>
              <c:f>Sheet1!$A$2:$A$5</c:f>
              <c:strCache>
                <c:ptCount val="4"/>
                <c:pt idx="0">
                  <c:v>5,00 %</c:v>
                </c:pt>
                <c:pt idx="1">
                  <c:v>10,00 %</c:v>
                </c:pt>
                <c:pt idx="2">
                  <c:v>20,00 %</c:v>
                </c:pt>
                <c:pt idx="3">
                  <c:v>30,00 %</c:v>
                </c:pt>
              </c:strCache>
            </c:strRef>
          </c:cat>
          <c:val>
            <c:numRef>
              <c:f>Sheet1!$B$2:$B$5</c:f>
              <c:numCache>
                <c:formatCode># ##0,,</c:formatCode>
                <c:ptCount val="4"/>
                <c:pt idx="0">
                  <c:v>787175820</c:v>
                </c:pt>
                <c:pt idx="1">
                  <c:v>1574351639</c:v>
                </c:pt>
                <c:pt idx="2">
                  <c:v>3148703278</c:v>
                </c:pt>
                <c:pt idx="3">
                  <c:v>4723054917</c:v>
                </c:pt>
              </c:numCache>
            </c:numRef>
          </c:val>
        </c:ser>
        <c:ser>
          <c:idx val="1"/>
          <c:order val="1"/>
          <c:tx>
            <c:strRef>
              <c:f>Sheet1!$C$1</c:f>
              <c:strCache>
                <c:ptCount val="1"/>
                <c:pt idx="0">
                  <c:v>Actifs réservés</c:v>
                </c:pt>
              </c:strCache>
            </c:strRef>
          </c:tx>
          <c:spPr>
            <a:solidFill>
              <a:srgbClr val="EFAC62"/>
            </a:solidFill>
          </c:spPr>
          <c:cat>
            <c:strRef>
              <c:f>Sheet1!$A$2:$A$5</c:f>
              <c:strCache>
                <c:ptCount val="4"/>
                <c:pt idx="0">
                  <c:v>5,00 %</c:v>
                </c:pt>
                <c:pt idx="1">
                  <c:v>10,00 %</c:v>
                </c:pt>
                <c:pt idx="2">
                  <c:v>20,00 %</c:v>
                </c:pt>
                <c:pt idx="3">
                  <c:v>30,00 %</c:v>
                </c:pt>
              </c:strCache>
            </c:strRef>
          </c:cat>
          <c:val>
            <c:numRef>
              <c:f>Sheet1!$C$2:$C$5</c:f>
              <c:numCache>
                <c:formatCode># ##0,,</c:formatCode>
                <c:ptCount val="4"/>
                <c:pt idx="0">
                  <c:v>2562885661</c:v>
                </c:pt>
                <c:pt idx="1">
                  <c:v>2562885661</c:v>
                </c:pt>
                <c:pt idx="2">
                  <c:v>2562885661</c:v>
                </c:pt>
                <c:pt idx="3">
                  <c:v>2562885661</c:v>
                </c:pt>
              </c:numCache>
            </c:numRef>
          </c:val>
        </c:ser>
        <c:ser>
          <c:idx val="2"/>
          <c:order val="2"/>
          <c:tx>
            <c:strRef>
              <c:f>Sheet1!$D$1</c:f>
              <c:strCache>
                <c:ptCount val="1"/>
                <c:pt idx="0">
                  <c:v>Trésorerie totale</c:v>
                </c:pt>
              </c:strCache>
            </c:strRef>
          </c:tx>
          <c:spPr>
            <a:solidFill>
              <a:srgbClr val="BBBCBC"/>
            </a:solidFill>
          </c:spPr>
          <c:cat>
            <c:strRef>
              <c:f>Sheet1!$A$2:$A$5</c:f>
              <c:strCache>
                <c:ptCount val="4"/>
                <c:pt idx="0">
                  <c:v>5,00 %</c:v>
                </c:pt>
                <c:pt idx="1">
                  <c:v>10,00 %</c:v>
                </c:pt>
                <c:pt idx="2">
                  <c:v>20,00 %</c:v>
                </c:pt>
                <c:pt idx="3">
                  <c:v>30,00 %</c:v>
                </c:pt>
              </c:strCache>
            </c:strRef>
          </c:cat>
          <c:val>
            <c:numRef>
              <c:f>Sheet1!$D$2:$D$5</c:f>
              <c:numCache>
                <c:formatCode># ##0,,</c:formatCode>
                <c:ptCount val="4"/>
                <c:pt idx="0">
                  <c:v>3359100618</c:v>
                </c:pt>
                <c:pt idx="1">
                  <c:v>3359100618</c:v>
                </c:pt>
                <c:pt idx="2">
                  <c:v>3359100618</c:v>
                </c:pt>
                <c:pt idx="3">
                  <c:v>3359100618</c:v>
                </c:pt>
              </c:numCache>
            </c:numRef>
          </c:val>
        </c:ser>
        <c:dLbls>
          <c:numFmt formatCode="# ##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l"/>
        <c:numFmt formatCode="# ##0,," sourceLinked="0"/>
        <c:majorTickMark val="out"/>
        <c:minorTickMark val="none"/>
        <c:tickLblPos val="nextTo"/>
        <c:spPr>
          <a:ln>
            <a:noFill/>
          </a:ln>
        </c:spPr>
        <c:txPr>
          <a:bodyPr/>
          <a:lstStyle/>
          <a:p>
            <a:pPr>
              <a:defRPr sz="1000"/>
            </a:pPr>
          </a:p>
        </c:txPr>
        <c:crossAx val="-2068027336"/>
        <c:crosses val="autoZero"/>
      </c:valAx>
    </c:plotArea>
    <c:legend>
      <c:legendPos val="b"/>
      <c:overlay val="0"/>
      <c:txPr>
        <a:bodyPr/>
        <a:lstStyle/>
        <a:p>
          <a:pPr>
            <a:defRPr sz="1000"/>
          </a:pPr>
        </a:p>
      </c:txPr>
    </c:legend>
    <c:dispBlanksAs val="gap"/>
  </c:chart>
  <c:txPr>
    <a:bodyPr/>
    <a:lstStyle/>
    <a:p>
      <a:pPr>
        <a:defRPr sz="1000">
          <a:latin typeface="Helvetica"/>
        </a:defRPr>
      </a:pPr>
      <a:endParaRPr lang="en-US"/>
    </a:p>
  </c:tx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Encours</c:v>
                </c:pt>
              </c:strCache>
            </c:strRef>
          </c:tx>
          <c:spPr>
            <a:solidFill>
              <a:srgbClr val="112A40"/>
            </a:solidFill>
          </c:spPr>
          <c:cat>
            <c:strRef>
              <c:f>Sheet1!$A$2:$A$7</c:f>
              <c:strCache>
                <c:ptCount val="6"/>
                <c:pt idx="0">
                  <c:v>31/12/2021</c:v>
                </c:pt>
                <c:pt idx="1">
                  <c:v>31/12/2022</c:v>
                </c:pt>
                <c:pt idx="2">
                  <c:v>31/12/2023</c:v>
                </c:pt>
                <c:pt idx="3">
                  <c:v>31/12/2024</c:v>
                </c:pt>
                <c:pt idx="4">
                  <c:v>31/12/2025</c:v>
                </c:pt>
                <c:pt idx="5">
                  <c:v>31/08/2026</c:v>
                </c:pt>
              </c:strCache>
            </c:strRef>
          </c:cat>
          <c:val>
            <c:numRef>
              <c:f>Sheet1!$B$2:$B$7</c:f>
              <c:numCache>
                <c:formatCode># ##0,,</c:formatCode>
                <c:ptCount val="6"/>
                <c:pt idx="0">
                  <c:v>7900000</c:v>
                </c:pt>
                <c:pt idx="1">
                  <c:v>182555907</c:v>
                </c:pt>
                <c:pt idx="2">
                  <c:v>375172174</c:v>
                </c:pt>
                <c:pt idx="3">
                  <c:v>566643134</c:v>
                </c:pt>
                <c:pt idx="4">
                  <c:v>829623319</c:v>
                </c:pt>
                <c:pt idx="5">
                  <c:v>1044302107</c:v>
                </c:pt>
              </c:numCache>
            </c:numRef>
          </c:val>
        </c:ser>
        <c:ser>
          <c:idx val="1"/>
          <c:order val="1"/>
          <c:tx>
            <c:strRef>
              <c:f>Sheet1!$C$1</c:f>
              <c:strCache>
                <c:ptCount val="1"/>
                <c:pt idx="0">
                  <c:v>Financement FPPN</c:v>
                </c:pt>
              </c:strCache>
            </c:strRef>
          </c:tx>
          <c:spPr>
            <a:solidFill>
              <a:srgbClr val="EFAC62"/>
            </a:solidFill>
          </c:spPr>
          <c:cat>
            <c:strRef>
              <c:f>Sheet1!$A$2:$A$7</c:f>
              <c:strCache>
                <c:ptCount val="6"/>
                <c:pt idx="0">
                  <c:v>31/12/2021</c:v>
                </c:pt>
                <c:pt idx="1">
                  <c:v>31/12/2022</c:v>
                </c:pt>
                <c:pt idx="2">
                  <c:v>31/12/2023</c:v>
                </c:pt>
                <c:pt idx="3">
                  <c:v>31/12/2024</c:v>
                </c:pt>
                <c:pt idx="4">
                  <c:v>31/12/2025</c:v>
                </c:pt>
                <c:pt idx="5">
                  <c:v>31/08/2026</c:v>
                </c:pt>
              </c:strCache>
            </c:strRef>
          </c:cat>
          <c:val>
            <c:numRef>
              <c:f>Sheet1!$C$2:$C$7</c:f>
              <c:numCache>
                <c:formatCode># ##0,,</c:formatCode>
                <c:ptCount val="6"/>
                <c:pt idx="0">
                  <c:v>27030000</c:v>
                </c:pt>
                <c:pt idx="1">
                  <c:v>458483900</c:v>
                </c:pt>
                <c:pt idx="2">
                  <c:v>504192100</c:v>
                </c:pt>
                <c:pt idx="3">
                  <c:v>650882600</c:v>
                </c:pt>
                <c:pt idx="4">
                  <c:v>817121335</c:v>
                </c:pt>
                <c:pt idx="5">
                  <c:v>915477260</c:v>
                </c:pt>
              </c:numCache>
            </c:numRef>
          </c:val>
        </c:ser>
        <c:dLbls>
          <c:numFmt formatCode="# ##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l"/>
        <c:numFmt formatCode="# ##0,," sourceLinked="0"/>
        <c:majorTickMark val="out"/>
        <c:minorTickMark val="none"/>
        <c:tickLblPos val="nextTo"/>
        <c:spPr>
          <a:ln>
            <a:noFill/>
          </a:ln>
        </c:spPr>
        <c:txPr>
          <a:bodyPr/>
          <a:lstStyle/>
          <a:p>
            <a:pPr>
              <a:defRPr sz="1000"/>
            </a:pPr>
          </a:p>
        </c:txPr>
        <c:crossAx val="-2068027336"/>
        <c:crosses val="autoZero"/>
      </c:valAx>
    </c:plotArea>
    <c:legend>
      <c:legendPos val="b"/>
      <c:overlay val="0"/>
      <c:txPr>
        <a:bodyPr/>
        <a:lstStyle/>
        <a:p>
          <a:pPr>
            <a:defRPr sz="1000"/>
          </a:pPr>
        </a:p>
      </c:txPr>
    </c:legend>
    <c:dispBlanksAs val="gap"/>
  </c:chart>
  <c:txPr>
    <a:bodyPr/>
    <a:lstStyle/>
    <a:p>
      <a:pPr>
        <a:defRPr sz="1000">
          <a:latin typeface="Helvetica"/>
        </a:defRPr>
      </a:pPr>
      <a:endParaRPr lang="en-US"/>
    </a:p>
  </c:tx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Activites generatrice de revenus</c:v>
                </c:pt>
              </c:strCache>
            </c:strRef>
          </c:tx>
          <c:spPr>
            <a:solidFill>
              <a:srgbClr val="112A40"/>
            </a:solidFill>
          </c:spPr>
          <c:cat>
            <c:strRef>
              <c:f>Sheet1!$A$2:$A$7</c:f>
              <c:strCache>
                <c:ptCount val="6"/>
                <c:pt idx="0">
                  <c:v>2021</c:v>
                </c:pt>
                <c:pt idx="1">
                  <c:v>2022</c:v>
                </c:pt>
                <c:pt idx="2">
                  <c:v>2023</c:v>
                </c:pt>
                <c:pt idx="3">
                  <c:v>2024</c:v>
                </c:pt>
                <c:pt idx="4">
                  <c:v>2025</c:v>
                </c:pt>
                <c:pt idx="5">
                  <c:v>2026 (8 mois)</c:v>
                </c:pt>
              </c:strCache>
            </c:strRef>
          </c:cat>
          <c:val>
            <c:numRef>
              <c:f>Sheet1!$B$2:$B$7</c:f>
              <c:numCache>
                <c:formatCode># ##0,,</c:formatCode>
                <c:ptCount val="6"/>
                <c:pt idx="0">
                  <c:v>0</c:v>
                </c:pt>
                <c:pt idx="1">
                  <c:v>42260000</c:v>
                </c:pt>
                <c:pt idx="2">
                  <c:v>44235000</c:v>
                </c:pt>
                <c:pt idx="3">
                  <c:v>50835000</c:v>
                </c:pt>
                <c:pt idx="4">
                  <c:v>66625000</c:v>
                </c:pt>
                <c:pt idx="5">
                  <c:v>79280000</c:v>
                </c:pt>
              </c:numCache>
            </c:numRef>
          </c:val>
        </c:ser>
        <c:ser>
          <c:idx val="1"/>
          <c:order val="1"/>
          <c:tx>
            <c:strRef>
              <c:f>Sheet1!$C$1</c:f>
              <c:strCache>
                <c:ptCount val="1"/>
                <c:pt idx="0">
                  <c:v>Credit de sante</c:v>
                </c:pt>
              </c:strCache>
            </c:strRef>
          </c:tx>
          <c:spPr>
            <a:solidFill>
              <a:srgbClr val="EFAC62"/>
            </a:solidFill>
          </c:spPr>
          <c:cat>
            <c:strRef>
              <c:f>Sheet1!$A$2:$A$7</c:f>
              <c:strCache>
                <c:ptCount val="6"/>
                <c:pt idx="0">
                  <c:v>2021</c:v>
                </c:pt>
                <c:pt idx="1">
                  <c:v>2022</c:v>
                </c:pt>
                <c:pt idx="2">
                  <c:v>2023</c:v>
                </c:pt>
                <c:pt idx="3">
                  <c:v>2024</c:v>
                </c:pt>
                <c:pt idx="4">
                  <c:v>2025</c:v>
                </c:pt>
                <c:pt idx="5">
                  <c:v>2026 (8 mois)</c:v>
                </c:pt>
              </c:strCache>
            </c:strRef>
          </c:cat>
          <c:val>
            <c:numRef>
              <c:f>Sheet1!$C$2:$C$7</c:f>
              <c:numCache>
                <c:formatCode># ##0,,</c:formatCode>
                <c:ptCount val="6"/>
                <c:pt idx="0">
                  <c:v>500000</c:v>
                </c:pt>
                <c:pt idx="1">
                  <c:v>20500000</c:v>
                </c:pt>
                <c:pt idx="2">
                  <c:v>55265000</c:v>
                </c:pt>
                <c:pt idx="3">
                  <c:v>111885000</c:v>
                </c:pt>
                <c:pt idx="4">
                  <c:v>170425000</c:v>
                </c:pt>
                <c:pt idx="5">
                  <c:v>199205000</c:v>
                </c:pt>
              </c:numCache>
            </c:numRef>
          </c:val>
        </c:ser>
        <c:ser>
          <c:idx val="2"/>
          <c:order val="2"/>
          <c:tx>
            <c:strRef>
              <c:f>Sheet1!$D$1</c:f>
              <c:strCache>
                <c:ptCount val="1"/>
                <c:pt idx="0">
                  <c:v>Credit grenier shop</c:v>
                </c:pt>
              </c:strCache>
            </c:strRef>
          </c:tx>
          <c:spPr>
            <a:solidFill>
              <a:srgbClr val="BBBCBC"/>
            </a:solidFill>
          </c:spPr>
          <c:cat>
            <c:strRef>
              <c:f>Sheet1!$A$2:$A$7</c:f>
              <c:strCache>
                <c:ptCount val="6"/>
                <c:pt idx="0">
                  <c:v>2021</c:v>
                </c:pt>
                <c:pt idx="1">
                  <c:v>2022</c:v>
                </c:pt>
                <c:pt idx="2">
                  <c:v>2023</c:v>
                </c:pt>
                <c:pt idx="3">
                  <c:v>2024</c:v>
                </c:pt>
                <c:pt idx="4">
                  <c:v>2025</c:v>
                </c:pt>
                <c:pt idx="5">
                  <c:v>2026 (8 mois)</c:v>
                </c:pt>
              </c:strCache>
            </c:strRef>
          </c:cat>
          <c:val>
            <c:numRef>
              <c:f>Sheet1!$D$2:$D$7</c:f>
              <c:numCache>
                <c:formatCode># ##0,,</c:formatCode>
                <c:ptCount val="6"/>
                <c:pt idx="0">
                  <c:v>0</c:v>
                </c:pt>
                <c:pt idx="1">
                  <c:v>0</c:v>
                </c:pt>
                <c:pt idx="2">
                  <c:v>0</c:v>
                </c:pt>
                <c:pt idx="3">
                  <c:v>2217888</c:v>
                </c:pt>
                <c:pt idx="4">
                  <c:v>5009675</c:v>
                </c:pt>
                <c:pt idx="5">
                  <c:v>892175</c:v>
                </c:pt>
              </c:numCache>
            </c:numRef>
          </c:val>
        </c:ser>
        <c:ser>
          <c:idx val="3"/>
          <c:order val="3"/>
          <c:tx>
            <c:strRef>
              <c:f>Sheet1!$E$1</c:f>
              <c:strCache>
                <c:ptCount val="1"/>
                <c:pt idx="0">
                  <c:v>Credit habitat</c:v>
                </c:pt>
              </c:strCache>
            </c:strRef>
          </c:tx>
          <c:spPr>
            <a:solidFill>
              <a:srgbClr val="060606"/>
            </a:solidFill>
          </c:spPr>
          <c:cat>
            <c:strRef>
              <c:f>Sheet1!$A$2:$A$7</c:f>
              <c:strCache>
                <c:ptCount val="6"/>
                <c:pt idx="0">
                  <c:v>2021</c:v>
                </c:pt>
                <c:pt idx="1">
                  <c:v>2022</c:v>
                </c:pt>
                <c:pt idx="2">
                  <c:v>2023</c:v>
                </c:pt>
                <c:pt idx="3">
                  <c:v>2024</c:v>
                </c:pt>
                <c:pt idx="4">
                  <c:v>2025</c:v>
                </c:pt>
                <c:pt idx="5">
                  <c:v>2026 (8 mois)</c:v>
                </c:pt>
              </c:strCache>
            </c:strRef>
          </c:cat>
          <c:val>
            <c:numRef>
              <c:f>Sheet1!$E$2:$E$7</c:f>
              <c:numCache>
                <c:formatCode># ##0,,</c:formatCode>
                <c:ptCount val="6"/>
                <c:pt idx="0">
                  <c:v>0</c:v>
                </c:pt>
                <c:pt idx="1">
                  <c:v>55820000</c:v>
                </c:pt>
                <c:pt idx="2">
                  <c:v>150605000</c:v>
                </c:pt>
                <c:pt idx="3">
                  <c:v>252625000</c:v>
                </c:pt>
                <c:pt idx="4">
                  <c:v>508842669</c:v>
                </c:pt>
                <c:pt idx="5">
                  <c:v>540495000</c:v>
                </c:pt>
              </c:numCache>
            </c:numRef>
          </c:val>
        </c:ser>
        <c:ser>
          <c:idx val="4"/>
          <c:order val="4"/>
          <c:tx>
            <c:strRef>
              <c:f>Sheet1!$F$1</c:f>
              <c:strCache>
                <c:ptCount val="1"/>
                <c:pt idx="0">
                  <c:v>Credit mariage</c:v>
                </c:pt>
              </c:strCache>
            </c:strRef>
          </c:tx>
          <c:spPr>
            <a:solidFill>
              <a:srgbClr val="53565A"/>
            </a:solidFill>
          </c:spPr>
          <c:cat>
            <c:strRef>
              <c:f>Sheet1!$A$2:$A$7</c:f>
              <c:strCache>
                <c:ptCount val="6"/>
                <c:pt idx="0">
                  <c:v>2021</c:v>
                </c:pt>
                <c:pt idx="1">
                  <c:v>2022</c:v>
                </c:pt>
                <c:pt idx="2">
                  <c:v>2023</c:v>
                </c:pt>
                <c:pt idx="3">
                  <c:v>2024</c:v>
                </c:pt>
                <c:pt idx="4">
                  <c:v>2025</c:v>
                </c:pt>
                <c:pt idx="5">
                  <c:v>2026 (8 mois)</c:v>
                </c:pt>
              </c:strCache>
            </c:strRef>
          </c:cat>
          <c:val>
            <c:numRef>
              <c:f>Sheet1!$F$2:$F$7</c:f>
              <c:numCache>
                <c:formatCode># ##0,,</c:formatCode>
                <c:ptCount val="6"/>
                <c:pt idx="0">
                  <c:v>0</c:v>
                </c:pt>
                <c:pt idx="1">
                  <c:v>3690000</c:v>
                </c:pt>
                <c:pt idx="2">
                  <c:v>7825000</c:v>
                </c:pt>
                <c:pt idx="3">
                  <c:v>15480000</c:v>
                </c:pt>
                <c:pt idx="4">
                  <c:v>21750000</c:v>
                </c:pt>
                <c:pt idx="5">
                  <c:v>19450000</c:v>
                </c:pt>
              </c:numCache>
            </c:numRef>
          </c:val>
        </c:ser>
        <c:ser>
          <c:idx val="5"/>
          <c:order val="5"/>
          <c:tx>
            <c:strRef>
              <c:f>Sheet1!$G$1</c:f>
              <c:strCache>
                <c:ptCount val="1"/>
                <c:pt idx="0">
                  <c:v>Crédit flash</c:v>
                </c:pt>
              </c:strCache>
            </c:strRef>
          </c:tx>
          <c:spPr>
            <a:solidFill>
              <a:srgbClr val="F6D3A8"/>
            </a:solidFill>
          </c:spPr>
          <c:cat>
            <c:strRef>
              <c:f>Sheet1!$A$2:$A$7</c:f>
              <c:strCache>
                <c:ptCount val="6"/>
                <c:pt idx="0">
                  <c:v>2021</c:v>
                </c:pt>
                <c:pt idx="1">
                  <c:v>2022</c:v>
                </c:pt>
                <c:pt idx="2">
                  <c:v>2023</c:v>
                </c:pt>
                <c:pt idx="3">
                  <c:v>2024</c:v>
                </c:pt>
                <c:pt idx="4">
                  <c:v>2025</c:v>
                </c:pt>
                <c:pt idx="5">
                  <c:v>2026 (8 mois)</c:v>
                </c:pt>
              </c:strCache>
            </c:strRef>
          </c:cat>
          <c:val>
            <c:numRef>
              <c:f>Sheet1!$G$2:$G$7</c:f>
              <c:numCache>
                <c:formatCode># ##0,,</c:formatCode>
                <c:ptCount val="6"/>
                <c:pt idx="0">
                  <c:v>0</c:v>
                </c:pt>
                <c:pt idx="1">
                  <c:v>22440100</c:v>
                </c:pt>
                <c:pt idx="2">
                  <c:v>143012090</c:v>
                </c:pt>
                <c:pt idx="3">
                  <c:v>209941000</c:v>
                </c:pt>
                <c:pt idx="4">
                  <c:v>268242800</c:v>
                </c:pt>
                <c:pt idx="5">
                  <c:v>151510000</c:v>
                </c:pt>
              </c:numCache>
            </c:numRef>
          </c:val>
        </c:ser>
        <c:ser>
          <c:idx val="6"/>
          <c:order val="6"/>
          <c:tx>
            <c:strRef>
              <c:f>Sheet1!$H$1</c:f>
              <c:strCache>
                <c:ptCount val="1"/>
                <c:pt idx="0">
                  <c:v>Crédit scolaire</c:v>
                </c:pt>
              </c:strCache>
            </c:strRef>
          </c:tx>
          <c:spPr>
            <a:solidFill>
              <a:srgbClr val="5B7A99"/>
            </a:solidFill>
          </c:spPr>
          <c:cat>
            <c:strRef>
              <c:f>Sheet1!$A$2:$A$7</c:f>
              <c:strCache>
                <c:ptCount val="6"/>
                <c:pt idx="0">
                  <c:v>2021</c:v>
                </c:pt>
                <c:pt idx="1">
                  <c:v>2022</c:v>
                </c:pt>
                <c:pt idx="2">
                  <c:v>2023</c:v>
                </c:pt>
                <c:pt idx="3">
                  <c:v>2024</c:v>
                </c:pt>
                <c:pt idx="4">
                  <c:v>2025</c:v>
                </c:pt>
                <c:pt idx="5">
                  <c:v>2026 (8 mois)</c:v>
                </c:pt>
              </c:strCache>
            </c:strRef>
          </c:cat>
          <c:val>
            <c:numRef>
              <c:f>Sheet1!$H$2:$H$7</c:f>
              <c:numCache>
                <c:formatCode># ##0,,</c:formatCode>
                <c:ptCount val="6"/>
                <c:pt idx="0">
                  <c:v>3700000</c:v>
                </c:pt>
                <c:pt idx="1">
                  <c:v>106550000</c:v>
                </c:pt>
                <c:pt idx="2">
                  <c:v>236870000</c:v>
                </c:pt>
                <c:pt idx="3">
                  <c:v>509425010</c:v>
                </c:pt>
                <c:pt idx="4">
                  <c:v>555305000</c:v>
                </c:pt>
                <c:pt idx="5">
                  <c:v>370515000</c:v>
                </c:pt>
              </c:numCache>
            </c:numRef>
          </c:val>
        </c:ser>
        <c:ser>
          <c:idx val="7"/>
          <c:order val="7"/>
          <c:tx>
            <c:strRef>
              <c:f>Sheet1!$I$1</c:f>
              <c:strCache>
                <c:ptCount val="1"/>
                <c:pt idx="0">
                  <c:v>Equipement domestique</c:v>
                </c:pt>
              </c:strCache>
            </c:strRef>
          </c:tx>
          <c:spPr>
            <a:solidFill>
              <a:srgbClr val="112A40"/>
            </a:solidFill>
          </c:spPr>
          <c:cat>
            <c:strRef>
              <c:f>Sheet1!$A$2:$A$7</c:f>
              <c:strCache>
                <c:ptCount val="6"/>
                <c:pt idx="0">
                  <c:v>2021</c:v>
                </c:pt>
                <c:pt idx="1">
                  <c:v>2022</c:v>
                </c:pt>
                <c:pt idx="2">
                  <c:v>2023</c:v>
                </c:pt>
                <c:pt idx="3">
                  <c:v>2024</c:v>
                </c:pt>
                <c:pt idx="4">
                  <c:v>2025</c:v>
                </c:pt>
                <c:pt idx="5">
                  <c:v>2026 (8 mois)</c:v>
                </c:pt>
              </c:strCache>
            </c:strRef>
          </c:cat>
          <c:val>
            <c:numRef>
              <c:f>Sheet1!$I$2:$I$7</c:f>
              <c:numCache>
                <c:formatCode># ##0,,</c:formatCode>
                <c:ptCount val="6"/>
                <c:pt idx="0">
                  <c:v>3700000</c:v>
                </c:pt>
                <c:pt idx="1">
                  <c:v>18515000</c:v>
                </c:pt>
                <c:pt idx="2">
                  <c:v>28080000</c:v>
                </c:pt>
                <c:pt idx="3">
                  <c:v>32665000</c:v>
                </c:pt>
                <c:pt idx="4">
                  <c:v>13200000</c:v>
                </c:pt>
                <c:pt idx="5">
                  <c:v>22455000</c:v>
                </c:pt>
              </c:numCache>
            </c:numRef>
          </c:val>
        </c:ser>
        <c:gapWidth val="60"/>
        <c:overlap val="100"/>
        <c:axId val="-2068027336"/>
        <c:axId val="-2113994440"/>
      </c:barChart>
      <c:catAx>
        <c:axId val="-2068027336"/>
        <c:scaling>
          <c:orientation val="minMax"/>
        </c:scaling>
        <c:delete val="0"/>
        <c:axPos val="b"/>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val="0"/>
        <c:axPos val="l"/>
        <c:numFmt formatCode="# ##0,," sourceLinked="0"/>
        <c:majorTickMark val="out"/>
        <c:minorTickMark val="none"/>
        <c:tickLblPos val="nextTo"/>
        <c:spPr>
          <a:ln>
            <a:noFill/>
          </a:ln>
        </c:spPr>
        <c:txPr>
          <a:bodyPr/>
          <a:lstStyle/>
          <a:p>
            <a:pPr>
              <a:defRPr sz="1000"/>
            </a:pPr>
          </a:p>
        </c:txPr>
        <c:crossAx val="-2068027336"/>
        <c:crosses val="autoZero"/>
      </c:valAx>
    </c:plotArea>
    <c:legend>
      <c:legendPos/>
      <c:overlay val="0"/>
      <c:txPr>
        <a:bodyPr/>
        <a:lstStyle/>
        <a:p>
          <a:pPr>
            <a:defRPr sz="1000"/>
          </a:pPr>
        </a:p>
      </c:txPr>
    </c:legend>
    <c:dispBlanksAs val="gap"/>
  </c:chart>
  <c:txPr>
    <a:bodyPr/>
    <a:lstStyle/>
    <a:p>
      <a:pPr>
        <a:defRPr sz="1000">
          <a:latin typeface="Helvetica"/>
        </a:defRPr>
      </a:pPr>
      <a:endParaRPr lang="en-US"/>
    </a:p>
  </c:tx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Plus de 30 jours</c:v>
                </c:pt>
              </c:strCache>
            </c:strRef>
          </c:tx>
          <c:spPr>
            <a:ln w="28575">
              <a:solidFill>
                <a:srgbClr val="112A40"/>
              </a:solidFill>
            </a:ln>
          </c:spPr>
          <c:marker>
            <c:spPr>
              <a:solidFill>
                <a:srgbClr val="112A40"/>
              </a:solidFill>
              <a:ln>
                <a:solidFill>
                  <a:srgbClr val="112A40"/>
                </a:solidFill>
              </a:ln>
            </c:spPr>
          </c:marker>
          <c:cat>
            <c:strRef>
              <c:f>Sheet1!$A$2:$A$13</c:f>
              <c:strCache>
                <c:ptCount val="12"/>
                <c:pt idx="0">
                  <c:v>31/12/2021</c:v>
                </c:pt>
                <c:pt idx="1">
                  <c:v>31/12/2022</c:v>
                </c:pt>
                <c:pt idx="2">
                  <c:v>31/12/2023</c:v>
                </c:pt>
                <c:pt idx="3">
                  <c:v>31/12/2024</c:v>
                </c:pt>
                <c:pt idx="4">
                  <c:v>31/12/2025</c:v>
                </c:pt>
                <c:pt idx="5">
                  <c:v>31/01/2026</c:v>
                </c:pt>
                <c:pt idx="6">
                  <c:v>31/03/2026</c:v>
                </c:pt>
                <c:pt idx="7">
                  <c:v>30/04/2026</c:v>
                </c:pt>
                <c:pt idx="8">
                  <c:v>31/05/2026</c:v>
                </c:pt>
                <c:pt idx="9">
                  <c:v>30/06/2026</c:v>
                </c:pt>
                <c:pt idx="10">
                  <c:v>31/07/2026</c:v>
                </c:pt>
                <c:pt idx="11">
                  <c:v>31/08/2026</c:v>
                </c:pt>
              </c:strCache>
            </c:strRef>
          </c:cat>
          <c:val>
            <c:numRef>
              <c:f>Sheet1!$B$2:$B$13</c:f>
              <c:numCache>
                <c:formatCode>0.00</c:formatCode>
                <c:ptCount val="12"/>
                <c:pt idx="0">
                  <c:v>0.0</c:v>
                </c:pt>
                <c:pt idx="1">
                  <c:v>8.74</c:v>
                </c:pt>
                <c:pt idx="2">
                  <c:v>0.24</c:v>
                </c:pt>
                <c:pt idx="3">
                  <c:v>1.72</c:v>
                </c:pt>
                <c:pt idx="4">
                  <c:v>3.8</c:v>
                </c:pt>
                <c:pt idx="5">
                  <c:v>61.96</c:v>
                </c:pt>
                <c:pt idx="6">
                  <c:v>35.37</c:v>
                </c:pt>
                <c:pt idx="7">
                  <c:v>21.99</c:v>
                </c:pt>
                <c:pt idx="8">
                  <c:v>13.99</c:v>
                </c:pt>
                <c:pt idx="9">
                  <c:v>8.52</c:v>
                </c:pt>
                <c:pt idx="10">
                  <c:v>3.96</c:v>
                </c:pt>
                <c:pt idx="11">
                  <c:v>1.83</c:v>
                </c:pt>
              </c:numCache>
            </c:numRef>
          </c:val>
          <c:smooth val="0"/>
        </c:ser>
        <c:ser>
          <c:idx val="1"/>
          <c:order val="1"/>
          <c:tx>
            <c:strRef>
              <c:f>Sheet1!$C$1</c:f>
              <c:strCache>
                <c:ptCount val="1"/>
                <c:pt idx="0">
                  <c:v>Plus de 90 jours</c:v>
                </c:pt>
              </c:strCache>
            </c:strRef>
          </c:tx>
          <c:spPr>
            <a:ln w="28575">
              <a:solidFill>
                <a:srgbClr val="EFAC62"/>
              </a:solidFill>
            </a:ln>
          </c:spPr>
          <c:marker>
            <c:spPr>
              <a:solidFill>
                <a:srgbClr val="EFAC62"/>
              </a:solidFill>
              <a:ln>
                <a:solidFill>
                  <a:srgbClr val="EFAC62"/>
                </a:solidFill>
              </a:ln>
            </c:spPr>
          </c:marker>
          <c:cat>
            <c:strRef>
              <c:f>Sheet1!$A$2:$A$13</c:f>
              <c:strCache>
                <c:ptCount val="12"/>
                <c:pt idx="0">
                  <c:v>31/12/2021</c:v>
                </c:pt>
                <c:pt idx="1">
                  <c:v>31/12/2022</c:v>
                </c:pt>
                <c:pt idx="2">
                  <c:v>31/12/2023</c:v>
                </c:pt>
                <c:pt idx="3">
                  <c:v>31/12/2024</c:v>
                </c:pt>
                <c:pt idx="4">
                  <c:v>31/12/2025</c:v>
                </c:pt>
                <c:pt idx="5">
                  <c:v>31/01/2026</c:v>
                </c:pt>
                <c:pt idx="6">
                  <c:v>31/03/2026</c:v>
                </c:pt>
                <c:pt idx="7">
                  <c:v>30/04/2026</c:v>
                </c:pt>
                <c:pt idx="8">
                  <c:v>31/05/2026</c:v>
                </c:pt>
                <c:pt idx="9">
                  <c:v>30/06/2026</c:v>
                </c:pt>
                <c:pt idx="10">
                  <c:v>31/07/2026</c:v>
                </c:pt>
                <c:pt idx="11">
                  <c:v>31/08/2026</c:v>
                </c:pt>
              </c:strCache>
            </c:strRef>
          </c:cat>
          <c:val>
            <c:numRef>
              <c:f>Sheet1!$C$2:$C$13</c:f>
              <c:numCache>
                <c:formatCode>0.00</c:formatCode>
                <c:ptCount val="12"/>
                <c:pt idx="0">
                  <c:v>0.0</c:v>
                </c:pt>
                <c:pt idx="1">
                  <c:v>8.74</c:v>
                </c:pt>
                <c:pt idx="2">
                  <c:v>0.24</c:v>
                </c:pt>
                <c:pt idx="3">
                  <c:v>1.32</c:v>
                </c:pt>
                <c:pt idx="4">
                  <c:v>0.85</c:v>
                </c:pt>
                <c:pt idx="5">
                  <c:v>0.93</c:v>
                </c:pt>
                <c:pt idx="6">
                  <c:v>35.23</c:v>
                </c:pt>
                <c:pt idx="7">
                  <c:v>21.93</c:v>
                </c:pt>
                <c:pt idx="8">
                  <c:v>13.78</c:v>
                </c:pt>
                <c:pt idx="9">
                  <c:v>8.17</c:v>
                </c:pt>
                <c:pt idx="10">
                  <c:v>3.79</c:v>
                </c:pt>
                <c:pt idx="11">
                  <c:v>1.71</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BBBCBC"/>
            </a:solidFill>
          </a:ln>
        </c:spPr>
        <c:txPr>
          <a:bodyPr/>
          <a:lstStyle/>
          <a:p>
            <a:pPr>
              <a:defRPr sz="1000"/>
            </a:pPr>
          </a:p>
        </c:txPr>
        <c:crossAx val="2140495176"/>
        <c:crosses val="autoZero"/>
        <c:auto val="1"/>
        <c:lblAlgn val="ctr"/>
        <c:lblOffset val="100"/>
        <c:noMultiLvlLbl val="0"/>
      </c:catAx>
      <c:valAx>
        <c:axId val="2140495176"/>
        <c:scaling/>
        <c:delete val="0"/>
        <c:axPos val="l"/>
        <c:numFmt formatCode="0.00" sourceLinked="0"/>
        <c:majorTickMark val="out"/>
        <c:minorTickMark val="none"/>
        <c:tickLblPos val="nextTo"/>
        <c:spPr>
          <a:ln>
            <a:noFill/>
          </a:ln>
        </c:spPr>
        <c:txPr>
          <a:bodyPr/>
          <a:lstStyle/>
          <a:p>
            <a:pPr>
              <a:defRPr sz="1000"/>
            </a:pPr>
          </a:p>
        </c:txPr>
        <c:crossAx val="2118791784"/>
        <c:crosses val="autoZero"/>
      </c:valAx>
    </c:plotArea>
    <c:legend>
      <c:legendPos val="b"/>
      <c:layout/>
      <c:overlay val="0"/>
      <c:txPr>
        <a:bodyPr/>
        <a:lstStyle/>
        <a:p>
          <a:pPr>
            <a:defRPr sz="1000"/>
          </a:pPr>
        </a:p>
      </c:txPr>
    </c:legend>
    <c:plotVisOnly val="1"/>
    <c:dispBlanksAs val="gap"/>
    <c:showDLblsOverMax val="0"/>
  </c:chart>
  <c:txPr>
    <a:bodyPr/>
    <a:lstStyle/>
    <a:p>
      <a:pPr>
        <a:defRPr sz="1000">
          <a:latin typeface="Helvetica"/>
        </a:defRPr>
      </a:pPr>
      <a:endParaRPr lang="en-US"/>
    </a:p>
  </c:tx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Échéances</c:v>
                </c:pt>
              </c:strCache>
            </c:strRef>
          </c:tx>
          <c:spPr>
            <a:solidFill>
              <a:srgbClr val="112A40"/>
            </a:solidFill>
          </c:spPr>
          <c:cat>
            <c:strRef>
              <c:f>Sheet1!$A$2:$A$8</c:f>
              <c:strCache>
                <c:ptCount val="7"/>
                <c:pt idx="0">
                  <c:v>janv. 26</c:v>
                </c:pt>
                <c:pt idx="1">
                  <c:v>mars 26</c:v>
                </c:pt>
                <c:pt idx="2">
                  <c:v>avr. 26</c:v>
                </c:pt>
                <c:pt idx="3">
                  <c:v>mai 26</c:v>
                </c:pt>
                <c:pt idx="4">
                  <c:v>juin 26</c:v>
                </c:pt>
                <c:pt idx="5">
                  <c:v>juil. 26</c:v>
                </c:pt>
                <c:pt idx="6">
                  <c:v>août 26</c:v>
                </c:pt>
              </c:strCache>
            </c:strRef>
          </c:cat>
          <c:val>
            <c:numRef>
              <c:f>Sheet1!$B$2:$B$8</c:f>
              <c:numCache>
                <c:formatCode># ##0,,</c:formatCode>
                <c:ptCount val="7"/>
                <c:pt idx="0">
                  <c:v>167784430</c:v>
                </c:pt>
                <c:pt idx="1">
                  <c:v>184076769</c:v>
                </c:pt>
                <c:pt idx="2">
                  <c:v>168474822</c:v>
                </c:pt>
                <c:pt idx="3">
                  <c:v>169652320</c:v>
                </c:pt>
                <c:pt idx="4">
                  <c:v>172760779</c:v>
                </c:pt>
                <c:pt idx="5">
                  <c:v>182530820</c:v>
                </c:pt>
                <c:pt idx="6">
                  <c:v>184892374</c:v>
                </c:pt>
              </c:numCache>
            </c:numRef>
          </c:val>
        </c:ser>
        <c:ser>
          <c:idx val="1"/>
          <c:order val="1"/>
          <c:tx>
            <c:strRef>
              <c:f>Sheet1!$C$1</c:f>
              <c:strCache>
                <c:ptCount val="1"/>
                <c:pt idx="0">
                  <c:v>Précomptes 9X4</c:v>
                </c:pt>
              </c:strCache>
            </c:strRef>
          </c:tx>
          <c:spPr>
            <a:solidFill>
              <a:srgbClr val="EFAC62"/>
            </a:solidFill>
          </c:spPr>
          <c:cat>
            <c:strRef>
              <c:f>Sheet1!$A$2:$A$8</c:f>
              <c:strCache>
                <c:ptCount val="7"/>
                <c:pt idx="0">
                  <c:v>janv. 26</c:v>
                </c:pt>
                <c:pt idx="1">
                  <c:v>mars 26</c:v>
                </c:pt>
                <c:pt idx="2">
                  <c:v>avr. 26</c:v>
                </c:pt>
                <c:pt idx="3">
                  <c:v>mai 26</c:v>
                </c:pt>
                <c:pt idx="4">
                  <c:v>juin 26</c:v>
                </c:pt>
                <c:pt idx="5">
                  <c:v>juil. 26</c:v>
                </c:pt>
                <c:pt idx="6">
                  <c:v>août 26</c:v>
                </c:pt>
              </c:strCache>
            </c:strRef>
          </c:cat>
          <c:val>
            <c:numRef>
              <c:f>Sheet1!$C$2:$C$8</c:f>
              <c:numCache>
                <c:formatCode># ##0,,</c:formatCode>
                <c:ptCount val="7"/>
                <c:pt idx="0">
                  <c:v>142557746</c:v>
                </c:pt>
                <c:pt idx="1">
                  <c:v>139420845</c:v>
                </c:pt>
                <c:pt idx="2">
                  <c:v>138410953</c:v>
                </c:pt>
                <c:pt idx="3">
                  <c:v>143081813</c:v>
                </c:pt>
                <c:pt idx="4">
                  <c:v>147496219</c:v>
                </c:pt>
                <c:pt idx="5">
                  <c:v>150817238</c:v>
                </c:pt>
                <c:pt idx="6">
                  <c:v>156330374</c:v>
                </c:pt>
              </c:numCache>
            </c:numRef>
          </c:val>
        </c:ser>
        <c:dLbls>
          <c:numFmt formatCode="# ##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l"/>
        <c:numFmt formatCode="# ##0,," sourceLinked="0"/>
        <c:majorTickMark val="out"/>
        <c:minorTickMark val="none"/>
        <c:tickLblPos val="nextTo"/>
        <c:spPr>
          <a:ln>
            <a:noFill/>
          </a:ln>
        </c:spPr>
        <c:txPr>
          <a:bodyPr/>
          <a:lstStyle/>
          <a:p>
            <a:pPr>
              <a:defRPr sz="1000"/>
            </a:pPr>
          </a:p>
        </c:txPr>
        <c:crossAx val="-2068027336"/>
        <c:crosses val="autoZero"/>
      </c:valAx>
    </c:plotArea>
    <c:legend>
      <c:legendPos val="b"/>
      <c:overlay val="0"/>
      <c:txPr>
        <a:bodyPr/>
        <a:lstStyle/>
        <a:p>
          <a:pPr>
            <a:defRPr sz="1000"/>
          </a:pPr>
        </a:p>
      </c:txPr>
    </c:legend>
    <c:dispBlanksAs val="gap"/>
  </c:chart>
  <c:txPr>
    <a:bodyPr/>
    <a:lstStyle/>
    <a:p>
      <a:pPr>
        <a:defRPr sz="1000">
          <a:latin typeface="Helvetica"/>
        </a:defRPr>
      </a:pPr>
      <a:endParaRPr lang="en-US"/>
    </a:p>
  </c:tx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Retraités</c:v>
                </c:pt>
              </c:strCache>
            </c:strRef>
          </c:tx>
          <c:spPr>
            <a:ln w="28575">
              <a:solidFill>
                <a:srgbClr val="112A40"/>
              </a:solidFill>
            </a:ln>
          </c:spPr>
          <c:marker>
            <c:spPr>
              <a:solidFill>
                <a:srgbClr val="112A40"/>
              </a:solidFill>
              <a:ln>
                <a:solidFill>
                  <a:srgbClr val="112A40"/>
                </a:solidFill>
              </a:ln>
            </c:spPr>
          </c:marker>
          <c:cat>
            <c:strRef>
              <c:f>Sheet1!$A$2:$A$31</c:f>
              <c:strCache>
                <c:ptCount val="30"/>
                <c:pt idx="0">
                  <c:v>févr. 24</c:v>
                </c:pt>
                <c:pt idx="1">
                  <c:v>mars 24</c:v>
                </c:pt>
                <c:pt idx="2">
                  <c:v>avr. 24</c:v>
                </c:pt>
                <c:pt idx="3">
                  <c:v>mai 24</c:v>
                </c:pt>
                <c:pt idx="4">
                  <c:v>juil. 24</c:v>
                </c:pt>
                <c:pt idx="5">
                  <c:v>août 24</c:v>
                </c:pt>
                <c:pt idx="6">
                  <c:v>sept. 24</c:v>
                </c:pt>
                <c:pt idx="7">
                  <c:v>oct. 24</c:v>
                </c:pt>
                <c:pt idx="8">
                  <c:v>nov. 24</c:v>
                </c:pt>
                <c:pt idx="9">
                  <c:v>déc. 24</c:v>
                </c:pt>
                <c:pt idx="10">
                  <c:v>janv. 25</c:v>
                </c:pt>
                <c:pt idx="11">
                  <c:v>févr. 25</c:v>
                </c:pt>
                <c:pt idx="12">
                  <c:v>mars 25</c:v>
                </c:pt>
                <c:pt idx="13">
                  <c:v>avr. 25</c:v>
                </c:pt>
                <c:pt idx="14">
                  <c:v>mai 25</c:v>
                </c:pt>
                <c:pt idx="15">
                  <c:v>juin 25</c:v>
                </c:pt>
                <c:pt idx="16">
                  <c:v>juil. 25</c:v>
                </c:pt>
                <c:pt idx="17">
                  <c:v>août 25</c:v>
                </c:pt>
                <c:pt idx="18">
                  <c:v>sept. 25</c:v>
                </c:pt>
                <c:pt idx="19">
                  <c:v>oct. 25</c:v>
                </c:pt>
                <c:pt idx="20">
                  <c:v>nov. 25</c:v>
                </c:pt>
                <c:pt idx="21">
                  <c:v>déc. 25</c:v>
                </c:pt>
                <c:pt idx="22">
                  <c:v>janv. 26</c:v>
                </c:pt>
                <c:pt idx="23">
                  <c:v>févr. 26</c:v>
                </c:pt>
                <c:pt idx="24">
                  <c:v>mars 26</c:v>
                </c:pt>
                <c:pt idx="25">
                  <c:v>avr. 26</c:v>
                </c:pt>
                <c:pt idx="26">
                  <c:v>mai 26</c:v>
                </c:pt>
                <c:pt idx="27">
                  <c:v>juin 26</c:v>
                </c:pt>
                <c:pt idx="28">
                  <c:v>juil. 26</c:v>
                </c:pt>
                <c:pt idx="29">
                  <c:v>août 26</c:v>
                </c:pt>
              </c:strCache>
            </c:strRef>
          </c:cat>
          <c:val>
            <c:numRef>
              <c:f>Sheet1!$B$2:$B$31</c:f>
              <c:numCache>
                <c:formatCode>0</c:formatCode>
                <c:ptCount val="30"/>
                <c:pt idx="0">
                  <c:v>16</c:v>
                </c:pt>
                <c:pt idx="1">
                  <c:v>84</c:v>
                </c:pt>
                <c:pt idx="2">
                  <c:v>105</c:v>
                </c:pt>
                <c:pt idx="3">
                  <c:v>134</c:v>
                </c:pt>
                <c:pt idx="4">
                  <c:v>176</c:v>
                </c:pt>
                <c:pt idx="5">
                  <c:v>196</c:v>
                </c:pt>
                <c:pt idx="6">
                  <c:v>237</c:v>
                </c:pt>
                <c:pt idx="7">
                  <c:v>255</c:v>
                </c:pt>
                <c:pt idx="8">
                  <c:v>280</c:v>
                </c:pt>
                <c:pt idx="9">
                  <c:v>291</c:v>
                </c:pt>
                <c:pt idx="10">
                  <c:v>306</c:v>
                </c:pt>
                <c:pt idx="11">
                  <c:v>314</c:v>
                </c:pt>
                <c:pt idx="12">
                  <c:v>322</c:v>
                </c:pt>
                <c:pt idx="13">
                  <c:v>336</c:v>
                </c:pt>
                <c:pt idx="14">
                  <c:v>358</c:v>
                </c:pt>
                <c:pt idx="15">
                  <c:v>368</c:v>
                </c:pt>
                <c:pt idx="16">
                  <c:v>386</c:v>
                </c:pt>
                <c:pt idx="17">
                  <c:v>409</c:v>
                </c:pt>
                <c:pt idx="18">
                  <c:v>468</c:v>
                </c:pt>
                <c:pt idx="19">
                  <c:v>495</c:v>
                </c:pt>
                <c:pt idx="20">
                  <c:v>506</c:v>
                </c:pt>
                <c:pt idx="21">
                  <c:v>532</c:v>
                </c:pt>
                <c:pt idx="22">
                  <c:v>592</c:v>
                </c:pt>
                <c:pt idx="23">
                  <c:v>587</c:v>
                </c:pt>
                <c:pt idx="24">
                  <c:v>584</c:v>
                </c:pt>
                <c:pt idx="25">
                  <c:v>580</c:v>
                </c:pt>
                <c:pt idx="26">
                  <c:v>584</c:v>
                </c:pt>
                <c:pt idx="27">
                  <c:v>591</c:v>
                </c:pt>
                <c:pt idx="28">
                  <c:v>600</c:v>
                </c:pt>
                <c:pt idx="29">
                  <c:v>610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BBBCBC"/>
            </a:solidFill>
          </a:ln>
        </c:spPr>
        <c:txPr>
          <a:bodyPr/>
          <a:lstStyle/>
          <a:p>
            <a:pPr>
              <a:defRPr sz="1000"/>
            </a:pPr>
          </a:p>
        </c:txPr>
        <c:crossAx val="2140495176"/>
        <c:crosses val="autoZero"/>
        <c:auto val="1"/>
        <c:lblAlgn val="ctr"/>
        <c:lblOffset val="100"/>
        <c:noMultiLvlLbl val="0"/>
      </c:catAx>
      <c:valAx>
        <c:axId val="2140495176"/>
        <c:scaling/>
        <c:delete val="0"/>
        <c:axPos val="l"/>
        <c:numFmt formatCode="0" sourceLinked="0"/>
        <c:majorTickMark val="out"/>
        <c:minorTickMark val="none"/>
        <c:tickLblPos val="nextTo"/>
        <c:spPr>
          <a:ln>
            <a:noFill/>
          </a:ln>
        </c:spPr>
        <c:txPr>
          <a:bodyPr/>
          <a:lstStyle/>
          <a:p>
            <a:pPr>
              <a:defRPr sz="1000"/>
            </a:pPr>
          </a:p>
        </c:txPr>
        <c:crossAx val="2118791784"/>
        <c:crosses val="autoZero"/>
      </c:valAx>
    </c:plotArea>
    <c:plotVisOnly val="1"/>
    <c:dispBlanksAs val="gap"/>
    <c:showDLblsOverMax val="0"/>
  </c:chart>
  <c:txPr>
    <a:bodyPr/>
    <a:lstStyle/>
    <a:p>
      <a:pPr>
        <a:defRPr sz="1000">
          <a:latin typeface="Helvetica"/>
        </a:defRPr>
      </a:pPr>
      <a:endParaRPr lang="en-US"/>
    </a:p>
  </c:tx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Mois couverts</c:v>
                </c:pt>
              </c:strCache>
            </c:strRef>
          </c:tx>
          <c:spPr>
            <a:solidFill>
              <a:srgbClr val="112A40"/>
            </a:solidFill>
          </c:spPr>
          <c:cat>
            <c:strRef>
              <c:f>Sheet1!$A$2:$A$8</c:f>
              <c:strCache>
                <c:ptCount val="7"/>
                <c:pt idx="0">
                  <c:v>2020</c:v>
                </c:pt>
                <c:pt idx="1">
                  <c:v>2021</c:v>
                </c:pt>
                <c:pt idx="2">
                  <c:v>2022</c:v>
                </c:pt>
                <c:pt idx="3">
                  <c:v>2023</c:v>
                </c:pt>
                <c:pt idx="4">
                  <c:v>2024</c:v>
                </c:pt>
                <c:pt idx="5">
                  <c:v>2025</c:v>
                </c:pt>
                <c:pt idx="6">
                  <c:v>2026 (8 mois)</c:v>
                </c:pt>
              </c:strCache>
            </c:strRef>
          </c:cat>
          <c:val>
            <c:numRef>
              <c:f>Sheet1!$B$2:$B$8</c:f>
              <c:numCache>
                <c:formatCode>0.00</c:formatCode>
                <c:ptCount val="7"/>
                <c:pt idx="0">
                  <c:v>276.29</c:v>
                </c:pt>
                <c:pt idx="1">
                  <c:v>115.14</c:v>
                </c:pt>
                <c:pt idx="2">
                  <c:v>250.52</c:v>
                </c:pt>
                <c:pt idx="3">
                  <c:v>87.47</c:v>
                </c:pt>
                <c:pt idx="4">
                  <c:v>45.84</c:v>
                </c:pt>
                <c:pt idx="5">
                  <c:v>29.5</c:v>
                </c:pt>
                <c:pt idx="6">
                  <c:v>21.48</c:v>
                </c:pt>
              </c:numCache>
            </c:numRef>
          </c:val>
        </c:ser>
        <c:dLbls>
          <c:numFmt formatCode="0.0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l"/>
        <c:numFmt formatCode="0.00" sourceLinked="0"/>
        <c:majorTickMark val="out"/>
        <c:minorTickMark val="none"/>
        <c:tickLblPos val="nextTo"/>
        <c:spPr>
          <a:ln>
            <a:noFill/>
          </a:ln>
        </c:spPr>
        <c:txPr>
          <a:bodyPr/>
          <a:lstStyle/>
          <a:p>
            <a:pPr>
              <a:defRPr sz="1000"/>
            </a:pPr>
          </a:p>
        </c:txPr>
        <c:crossAx val="-2068027336"/>
        <c:crosses val="autoZero"/>
      </c:valAx>
    </c:plotArea>
    <c:dispBlanksAs val="gap"/>
  </c:chart>
  <c:txPr>
    <a:bodyPr/>
    <a:lstStyle/>
    <a:p>
      <a:pPr>
        <a:defRPr sz="1000">
          <a:latin typeface="Helvetica"/>
        </a:defRPr>
      </a:pPr>
      <a:endParaRPr lang="en-US"/>
    </a:p>
  </c:tx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PSAP maladie</c:v>
                </c:pt>
              </c:strCache>
            </c:strRef>
          </c:tx>
          <c:spPr>
            <a:solidFill>
              <a:srgbClr val="112A40"/>
            </a:solidFill>
          </c:spPr>
          <c:cat>
            <c:strRef>
              <c:f>Sheet1!$A$2:$A$8</c:f>
              <c:strCache>
                <c:ptCount val="7"/>
                <c:pt idx="0">
                  <c:v>2020</c:v>
                </c:pt>
                <c:pt idx="1">
                  <c:v>2021</c:v>
                </c:pt>
                <c:pt idx="2">
                  <c:v>2022</c:v>
                </c:pt>
                <c:pt idx="3">
                  <c:v>2023</c:v>
                </c:pt>
                <c:pt idx="4">
                  <c:v>2024</c:v>
                </c:pt>
                <c:pt idx="5">
                  <c:v>2025</c:v>
                </c:pt>
                <c:pt idx="6">
                  <c:v>2026 (8 mois)</c:v>
                </c:pt>
              </c:strCache>
            </c:strRef>
          </c:cat>
          <c:val>
            <c:numRef>
              <c:f>Sheet1!$B$2:$B$8</c:f>
              <c:numCache>
                <c:formatCode># ##0,,</c:formatCode>
                <c:ptCount val="7"/>
                <c:pt idx="0">
                  <c:v>2867602878</c:v>
                </c:pt>
                <c:pt idx="1">
                  <c:v>2867602878</c:v>
                </c:pt>
                <c:pt idx="2">
                  <c:v>2867602878</c:v>
                </c:pt>
                <c:pt idx="3">
                  <c:v>2867602878</c:v>
                </c:pt>
                <c:pt idx="4">
                  <c:v>2867602878</c:v>
                </c:pt>
                <c:pt idx="5">
                  <c:v>2867602878</c:v>
                </c:pt>
                <c:pt idx="6">
                  <c:v>2867602878</c:v>
                </c:pt>
              </c:numCache>
            </c:numRef>
          </c:val>
        </c:ser>
        <c:ser>
          <c:idx val="1"/>
          <c:order val="1"/>
          <c:tx>
            <c:strRef>
              <c:f>Sheet1!$C$1</c:f>
              <c:strCache>
                <c:ptCount val="1"/>
                <c:pt idx="0">
                  <c:v>Dettes envers les cliniques (40110000)</c:v>
                </c:pt>
              </c:strCache>
            </c:strRef>
          </c:tx>
          <c:spPr>
            <a:solidFill>
              <a:srgbClr val="EFAC62"/>
            </a:solidFill>
          </c:spPr>
          <c:cat>
            <c:strRef>
              <c:f>Sheet1!$A$2:$A$8</c:f>
              <c:strCache>
                <c:ptCount val="7"/>
                <c:pt idx="0">
                  <c:v>2020</c:v>
                </c:pt>
                <c:pt idx="1">
                  <c:v>2021</c:v>
                </c:pt>
                <c:pt idx="2">
                  <c:v>2022</c:v>
                </c:pt>
                <c:pt idx="3">
                  <c:v>2023</c:v>
                </c:pt>
                <c:pt idx="4">
                  <c:v>2024</c:v>
                </c:pt>
                <c:pt idx="5">
                  <c:v>2025</c:v>
                </c:pt>
                <c:pt idx="6">
                  <c:v>2026 (8 mois)</c:v>
                </c:pt>
              </c:strCache>
            </c:strRef>
          </c:cat>
          <c:val>
            <c:numRef>
              <c:f>Sheet1!$C$2:$C$8</c:f>
              <c:numCache>
                <c:formatCode># ##0,,</c:formatCode>
                <c:ptCount val="7"/>
                <c:pt idx="0">
                  <c:v>1394774547</c:v>
                </c:pt>
                <c:pt idx="1">
                  <c:v>875220557</c:v>
                </c:pt>
                <c:pt idx="2">
                  <c:v>533144348</c:v>
                </c:pt>
                <c:pt idx="3">
                  <c:v>271270756</c:v>
                </c:pt>
                <c:pt idx="4">
                  <c:v>236353873</c:v>
                </c:pt>
                <c:pt idx="5">
                  <c:v>242140869</c:v>
                </c:pt>
                <c:pt idx="6">
                  <c:v>690234451</c:v>
                </c:pt>
              </c:numCache>
            </c:numRef>
          </c:val>
        </c:ser>
        <c:dLbls>
          <c:numFmt formatCode="# ##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l"/>
        <c:numFmt formatCode="# ##0,," sourceLinked="0"/>
        <c:majorTickMark val="out"/>
        <c:minorTickMark val="none"/>
        <c:tickLblPos val="nextTo"/>
        <c:spPr>
          <a:ln>
            <a:noFill/>
          </a:ln>
        </c:spPr>
        <c:txPr>
          <a:bodyPr/>
          <a:lstStyle/>
          <a:p>
            <a:pPr>
              <a:defRPr sz="1000"/>
            </a:pPr>
          </a:p>
        </c:txPr>
        <c:crossAx val="-2068027336"/>
        <c:crosses val="autoZero"/>
      </c:valAx>
    </c:plotArea>
    <c:legend>
      <c:legendPos val="b"/>
      <c:overlay val="0"/>
      <c:txPr>
        <a:bodyPr/>
        <a:lstStyle/>
        <a:p>
          <a:pPr>
            <a:defRPr sz="1000"/>
          </a:pPr>
        </a:p>
      </c:txPr>
    </c:legend>
    <c:dispBlanksAs val="gap"/>
  </c:chart>
  <c:txPr>
    <a:bodyPr/>
    <a:lstStyle/>
    <a:p>
      <a:pPr>
        <a:defRPr sz="1000">
          <a:latin typeface="Helvetica"/>
        </a:defRPr>
      </a:pPr>
      <a:endParaRPr lang="en-US"/>
    </a:p>
  </c:tx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Investissements CMP</c:v>
                </c:pt>
              </c:strCache>
            </c:strRef>
          </c:tx>
          <c:spPr>
            <a:solidFill>
              <a:srgbClr val="112A40"/>
            </a:solidFill>
          </c:spPr>
          <c:cat>
            <c:strRef>
              <c:f>Sheet1!$A$2:$A$8</c:f>
              <c:strCache>
                <c:ptCount val="7"/>
                <c:pt idx="0">
                  <c:v>2020</c:v>
                </c:pt>
                <c:pt idx="1">
                  <c:v>2021</c:v>
                </c:pt>
                <c:pt idx="2">
                  <c:v>2022</c:v>
                </c:pt>
                <c:pt idx="3">
                  <c:v>2023</c:v>
                </c:pt>
                <c:pt idx="4">
                  <c:v>2024</c:v>
                </c:pt>
                <c:pt idx="5">
                  <c:v>2025</c:v>
                </c:pt>
                <c:pt idx="6">
                  <c:v>31/08/2026</c:v>
                </c:pt>
              </c:strCache>
            </c:strRef>
          </c:cat>
          <c:val>
            <c:numRef>
              <c:f>Sheet1!$B$2:$B$8</c:f>
              <c:numCache>
                <c:formatCode># ##0,,</c:formatCode>
                <c:ptCount val="7"/>
                <c:pt idx="0">
                  <c:v>2984680712</c:v>
                </c:pt>
                <c:pt idx="1">
                  <c:v>3521598249</c:v>
                </c:pt>
                <c:pt idx="2">
                  <c:v>3785598221</c:v>
                </c:pt>
                <c:pt idx="3">
                  <c:v>4069396329</c:v>
                </c:pt>
                <c:pt idx="4">
                  <c:v>4944656429</c:v>
                </c:pt>
                <c:pt idx="5">
                  <c:v>6002976947</c:v>
                </c:pt>
                <c:pt idx="6">
                  <c:v>7083534565</c:v>
                </c:pt>
              </c:numCache>
            </c:numRef>
          </c:val>
        </c:ser>
        <c:ser>
          <c:idx val="1"/>
          <c:order val="1"/>
          <c:tx>
            <c:strRef>
              <c:f>Sheet1!$C$1</c:f>
              <c:strCache>
                <c:ptCount val="1"/>
                <c:pt idx="0">
                  <c:v>Terrains</c:v>
                </c:pt>
              </c:strCache>
            </c:strRef>
          </c:tx>
          <c:spPr>
            <a:solidFill>
              <a:srgbClr val="53565A"/>
            </a:solidFill>
          </c:spPr>
          <c:cat>
            <c:strRef>
              <c:f>Sheet1!$A$2:$A$8</c:f>
              <c:strCache>
                <c:ptCount val="7"/>
                <c:pt idx="0">
                  <c:v>2020</c:v>
                </c:pt>
                <c:pt idx="1">
                  <c:v>2021</c:v>
                </c:pt>
                <c:pt idx="2">
                  <c:v>2022</c:v>
                </c:pt>
                <c:pt idx="3">
                  <c:v>2023</c:v>
                </c:pt>
                <c:pt idx="4">
                  <c:v>2024</c:v>
                </c:pt>
                <c:pt idx="5">
                  <c:v>2025</c:v>
                </c:pt>
                <c:pt idx="6">
                  <c:v>31/08/2026</c:v>
                </c:pt>
              </c:strCache>
            </c:strRef>
          </c:cat>
          <c:val>
            <c:numRef>
              <c:f>Sheet1!$C$2:$C$8</c:f>
              <c:numCache>
                <c:formatCode># ##0,,</c:formatCode>
                <c:ptCount val="7"/>
                <c:pt idx="0">
                  <c:v>3931156624</c:v>
                </c:pt>
                <c:pt idx="1">
                  <c:v>3443682500</c:v>
                </c:pt>
                <c:pt idx="2">
                  <c:v>3443682500</c:v>
                </c:pt>
                <c:pt idx="3">
                  <c:v>3443682500</c:v>
                </c:pt>
                <c:pt idx="4">
                  <c:v>3443682500</c:v>
                </c:pt>
                <c:pt idx="5">
                  <c:v>5245896750</c:v>
                </c:pt>
                <c:pt idx="6">
                  <c:v>5245896750</c:v>
                </c:pt>
              </c:numCache>
            </c:numRef>
          </c:val>
        </c:ser>
        <c:ser>
          <c:idx val="2"/>
          <c:order val="2"/>
          <c:tx>
            <c:strRef>
              <c:f>Sheet1!$D$1</c:f>
              <c:strCache>
                <c:ptCount val="1"/>
                <c:pt idx="0">
                  <c:v>Créance Hôpital de la Police</c:v>
                </c:pt>
              </c:strCache>
            </c:strRef>
          </c:tx>
          <c:spPr>
            <a:solidFill>
              <a:srgbClr val="BBBCBC"/>
            </a:solidFill>
          </c:spPr>
          <c:cat>
            <c:strRef>
              <c:f>Sheet1!$A$2:$A$8</c:f>
              <c:strCache>
                <c:ptCount val="7"/>
                <c:pt idx="0">
                  <c:v>2020</c:v>
                </c:pt>
                <c:pt idx="1">
                  <c:v>2021</c:v>
                </c:pt>
                <c:pt idx="2">
                  <c:v>2022</c:v>
                </c:pt>
                <c:pt idx="3">
                  <c:v>2023</c:v>
                </c:pt>
                <c:pt idx="4">
                  <c:v>2024</c:v>
                </c:pt>
                <c:pt idx="5">
                  <c:v>2025</c:v>
                </c:pt>
                <c:pt idx="6">
                  <c:v>31/08/2026</c:v>
                </c:pt>
              </c:strCache>
            </c:strRef>
          </c:cat>
          <c:val>
            <c:numRef>
              <c:f>Sheet1!$D$2:$D$8</c:f>
              <c:numCache>
                <c:formatCode># ##0,,</c:formatCode>
                <c:ptCount val="7"/>
                <c:pt idx="0">
                  <c:v>3407519850</c:v>
                </c:pt>
                <c:pt idx="1">
                  <c:v>3407519850</c:v>
                </c:pt>
                <c:pt idx="2">
                  <c:v>3407519850</c:v>
                </c:pt>
                <c:pt idx="3">
                  <c:v>3407519850</c:v>
                </c:pt>
                <c:pt idx="4">
                  <c:v>3407519850</c:v>
                </c:pt>
                <c:pt idx="5">
                  <c:v>3407519850</c:v>
                </c:pt>
                <c:pt idx="6">
                  <c:v>3407519850</c:v>
                </c:pt>
              </c:numCache>
            </c:numRef>
          </c:val>
        </c:ser>
        <c:ser>
          <c:idx val="3"/>
          <c:order val="3"/>
          <c:tx>
            <c:strRef>
              <c:f>Sheet1!$E$1</c:f>
              <c:strCache>
                <c:ptCount val="1"/>
                <c:pt idx="0">
                  <c:v>Financement du Grenier</c:v>
                </c:pt>
              </c:strCache>
            </c:strRef>
          </c:tx>
          <c:spPr>
            <a:solidFill>
              <a:srgbClr val="EFAC62"/>
            </a:solidFill>
          </c:spPr>
          <c:cat>
            <c:strRef>
              <c:f>Sheet1!$A$2:$A$8</c:f>
              <c:strCache>
                <c:ptCount val="7"/>
                <c:pt idx="0">
                  <c:v>2020</c:v>
                </c:pt>
                <c:pt idx="1">
                  <c:v>2021</c:v>
                </c:pt>
                <c:pt idx="2">
                  <c:v>2022</c:v>
                </c:pt>
                <c:pt idx="3">
                  <c:v>2023</c:v>
                </c:pt>
                <c:pt idx="4">
                  <c:v>2024</c:v>
                </c:pt>
                <c:pt idx="5">
                  <c:v>2025</c:v>
                </c:pt>
                <c:pt idx="6">
                  <c:v>31/08/2026</c:v>
                </c:pt>
              </c:strCache>
            </c:strRef>
          </c:cat>
          <c:val>
            <c:numRef>
              <c:f>Sheet1!$E$2:$E$8</c:f>
              <c:numCache>
                <c:formatCode># ##0,,</c:formatCode>
                <c:ptCount val="7"/>
                <c:pt idx="0">
                  <c:v>0</c:v>
                </c:pt>
                <c:pt idx="1">
                  <c:v>27030000</c:v>
                </c:pt>
                <c:pt idx="2">
                  <c:v>458483900</c:v>
                </c:pt>
                <c:pt idx="3">
                  <c:v>504192100</c:v>
                </c:pt>
                <c:pt idx="4">
                  <c:v>650882600</c:v>
                </c:pt>
                <c:pt idx="5">
                  <c:v>817121335</c:v>
                </c:pt>
                <c:pt idx="6">
                  <c:v>915477260</c:v>
                </c:pt>
              </c:numCache>
            </c:numRef>
          </c:val>
        </c:ser>
        <c:ser>
          <c:idx val="4"/>
          <c:order val="4"/>
          <c:tx>
            <c:strRef>
              <c:f>Sheet1!$F$1</c:f>
              <c:strCache>
                <c:ptCount val="1"/>
                <c:pt idx="0">
                  <c:v>Trésorerie</c:v>
                </c:pt>
              </c:strCache>
            </c:strRef>
          </c:tx>
          <c:spPr>
            <a:solidFill>
              <a:srgbClr val="060606"/>
            </a:solidFill>
          </c:spPr>
          <c:cat>
            <c:strRef>
              <c:f>Sheet1!$A$2:$A$8</c:f>
              <c:strCache>
                <c:ptCount val="7"/>
                <c:pt idx="0">
                  <c:v>2020</c:v>
                </c:pt>
                <c:pt idx="1">
                  <c:v>2021</c:v>
                </c:pt>
                <c:pt idx="2">
                  <c:v>2022</c:v>
                </c:pt>
                <c:pt idx="3">
                  <c:v>2023</c:v>
                </c:pt>
                <c:pt idx="4">
                  <c:v>2024</c:v>
                </c:pt>
                <c:pt idx="5">
                  <c:v>2025</c:v>
                </c:pt>
                <c:pt idx="6">
                  <c:v>31/08/2026</c:v>
                </c:pt>
              </c:strCache>
            </c:strRef>
          </c:cat>
          <c:val>
            <c:numRef>
              <c:f>Sheet1!$F$2:$F$8</c:f>
              <c:numCache>
                <c:formatCode># ##0,,</c:formatCode>
                <c:ptCount val="7"/>
                <c:pt idx="0">
                  <c:v>630462899</c:v>
                </c:pt>
                <c:pt idx="1">
                  <c:v>2300331943</c:v>
                </c:pt>
                <c:pt idx="2">
                  <c:v>1233051977</c:v>
                </c:pt>
                <c:pt idx="3">
                  <c:v>1116267103</c:v>
                </c:pt>
                <c:pt idx="4">
                  <c:v>979838445</c:v>
                </c:pt>
                <c:pt idx="5">
                  <c:v>1964171543</c:v>
                </c:pt>
                <c:pt idx="6">
                  <c:v>3359100618</c:v>
                </c:pt>
              </c:numCache>
            </c:numRef>
          </c:val>
        </c:ser>
        <c:gapWidth val="60"/>
        <c:overlap val="100"/>
        <c:axId val="-2068027336"/>
        <c:axId val="-2113994440"/>
      </c:barChart>
      <c:catAx>
        <c:axId val="-2068027336"/>
        <c:scaling>
          <c:orientation val="minMax"/>
        </c:scaling>
        <c:delete val="0"/>
        <c:axPos val="b"/>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val="0"/>
        <c:axPos val="l"/>
        <c:numFmt formatCode="# ##0,," sourceLinked="0"/>
        <c:majorTickMark val="out"/>
        <c:minorTickMark val="none"/>
        <c:tickLblPos val="nextTo"/>
        <c:spPr>
          <a:ln>
            <a:noFill/>
          </a:ln>
        </c:spPr>
        <c:txPr>
          <a:bodyPr/>
          <a:lstStyle/>
          <a:p>
            <a:pPr>
              <a:defRPr sz="1000"/>
            </a:pPr>
          </a:p>
        </c:txPr>
        <c:crossAx val="-2068027336"/>
        <c:crosses val="autoZero"/>
      </c:valAx>
    </c:plotArea>
    <c:legend>
      <c:legendPos/>
      <c:overlay val="0"/>
      <c:txPr>
        <a:bodyPr/>
        <a:lstStyle/>
        <a:p>
          <a:pPr>
            <a:defRPr sz="1000"/>
          </a:pPr>
        </a:p>
      </c:txPr>
    </c:legend>
    <c:dispBlanksAs val="gap"/>
  </c:chart>
  <c:txPr>
    <a:bodyPr/>
    <a:lstStyle/>
    <a:p>
      <a:pPr>
        <a:defRPr sz="1000">
          <a:latin typeface="Helvetica"/>
        </a:defRPr>
      </a:pPr>
      <a:endParaRPr lang="en-US"/>
    </a:p>
  </c:tx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Actif immédiat</c:v>
                </c:pt>
              </c:strCache>
            </c:strRef>
          </c:tx>
          <c:spPr>
            <a:solidFill>
              <a:srgbClr val="060606"/>
            </a:solidFill>
          </c:spPr>
          <c:cat>
            <c:strRef>
              <c:f>Sheet1!$A$2:$A$5</c:f>
              <c:strCache>
                <c:ptCount val="4"/>
                <c:pt idx="0">
                  <c:v>Actif 31/12/2025</c:v>
                </c:pt>
                <c:pt idx="1">
                  <c:v>Passif 31/12/2025</c:v>
                </c:pt>
                <c:pt idx="2">
                  <c:v>Actif 31/08/2026</c:v>
                </c:pt>
                <c:pt idx="3">
                  <c:v>Passif 31/08/2026</c:v>
                </c:pt>
              </c:strCache>
            </c:strRef>
          </c:cat>
          <c:val>
            <c:numRef>
              <c:f>Sheet1!$B$2:$B$5</c:f>
              <c:numCache>
                <c:formatCode># ##0,,</c:formatCode>
                <c:ptCount val="4"/>
                <c:pt idx="0">
                  <c:v>1464171543</c:v>
                </c:pt>
                <c:pt idx="2">
                  <c:v>2373558814</c:v>
                </c:pt>
              </c:numCache>
            </c:numRef>
          </c:val>
        </c:ser>
        <c:ser>
          <c:idx val="1"/>
          <c:order val="1"/>
          <c:tx>
            <c:strRef>
              <c:f>Sheet1!$C$1</c:f>
              <c:strCache>
                <c:ptCount val="1"/>
                <c:pt idx="0">
                  <c:v>Actif à moins d'un an</c:v>
                </c:pt>
              </c:strCache>
            </c:strRef>
          </c:tx>
          <c:spPr>
            <a:solidFill>
              <a:srgbClr val="53565A"/>
            </a:solidFill>
          </c:spPr>
          <c:cat>
            <c:strRef>
              <c:f>Sheet1!$A$2:$A$5</c:f>
              <c:strCache>
                <c:ptCount val="4"/>
                <c:pt idx="0">
                  <c:v>Actif 31/12/2025</c:v>
                </c:pt>
                <c:pt idx="1">
                  <c:v>Passif 31/12/2025</c:v>
                </c:pt>
                <c:pt idx="2">
                  <c:v>Actif 31/08/2026</c:v>
                </c:pt>
                <c:pt idx="3">
                  <c:v>Passif 31/08/2026</c:v>
                </c:pt>
              </c:strCache>
            </c:strRef>
          </c:cat>
          <c:val>
            <c:numRef>
              <c:f>Sheet1!$C$2:$C$5</c:f>
              <c:numCache>
                <c:formatCode># ##0,,</c:formatCode>
                <c:ptCount val="4"/>
                <c:pt idx="0">
                  <c:v>1250837284</c:v>
                </c:pt>
                <c:pt idx="2">
                  <c:v>1084308137</c:v>
                </c:pt>
              </c:numCache>
            </c:numRef>
          </c:val>
        </c:ser>
        <c:ser>
          <c:idx val="2"/>
          <c:order val="2"/>
          <c:tx>
            <c:strRef>
              <c:f>Sheet1!$D$1</c:f>
              <c:strCache>
                <c:ptCount val="1"/>
                <c:pt idx="0">
                  <c:v>Actif à 1 à 5 ans</c:v>
                </c:pt>
              </c:strCache>
            </c:strRef>
          </c:tx>
          <c:spPr>
            <a:solidFill>
              <a:srgbClr val="EFAC62"/>
            </a:solidFill>
          </c:spPr>
          <c:cat>
            <c:strRef>
              <c:f>Sheet1!$A$2:$A$5</c:f>
              <c:strCache>
                <c:ptCount val="4"/>
                <c:pt idx="0">
                  <c:v>Actif 31/12/2025</c:v>
                </c:pt>
                <c:pt idx="1">
                  <c:v>Passif 31/12/2025</c:v>
                </c:pt>
                <c:pt idx="2">
                  <c:v>Actif 31/08/2026</c:v>
                </c:pt>
                <c:pt idx="3">
                  <c:v>Passif 31/08/2026</c:v>
                </c:pt>
              </c:strCache>
            </c:strRef>
          </c:cat>
          <c:val>
            <c:numRef>
              <c:f>Sheet1!$D$2:$D$5</c:f>
              <c:numCache>
                <c:formatCode># ##0,,</c:formatCode>
                <c:ptCount val="4"/>
                <c:pt idx="0">
                  <c:v>1198959085</c:v>
                </c:pt>
                <c:pt idx="2">
                  <c:v>1297315010</c:v>
                </c:pt>
              </c:numCache>
            </c:numRef>
          </c:val>
        </c:ser>
        <c:ser>
          <c:idx val="3"/>
          <c:order val="3"/>
          <c:tx>
            <c:strRef>
              <c:f>Sheet1!$E$1</c:f>
              <c:strCache>
                <c:ptCount val="1"/>
                <c:pt idx="0">
                  <c:v>Actif à plus de 5 ans ou incertain</c:v>
                </c:pt>
              </c:strCache>
            </c:strRef>
          </c:tx>
          <c:spPr>
            <a:solidFill>
              <a:srgbClr val="BBBCBC"/>
            </a:solidFill>
          </c:spPr>
          <c:cat>
            <c:strRef>
              <c:f>Sheet1!$A$2:$A$5</c:f>
              <c:strCache>
                <c:ptCount val="4"/>
                <c:pt idx="0">
                  <c:v>Actif 31/12/2025</c:v>
                </c:pt>
                <c:pt idx="1">
                  <c:v>Passif 31/12/2025</c:v>
                </c:pt>
                <c:pt idx="2">
                  <c:v>Actif 31/08/2026</c:v>
                </c:pt>
                <c:pt idx="3">
                  <c:v>Passif 31/08/2026</c:v>
                </c:pt>
              </c:strCache>
            </c:strRef>
          </c:cat>
          <c:val>
            <c:numRef>
              <c:f>Sheet1!$E$2:$E$5</c:f>
              <c:numCache>
                <c:formatCode># ##0,,</c:formatCode>
                <c:ptCount val="4"/>
                <c:pt idx="0">
                  <c:v>16040901123</c:v>
                </c:pt>
                <c:pt idx="2">
                  <c:v>17170238905</c:v>
                </c:pt>
              </c:numCache>
            </c:numRef>
          </c:val>
        </c:ser>
        <c:ser>
          <c:idx val="4"/>
          <c:order val="4"/>
          <c:tx>
            <c:strRef>
              <c:f>Sheet1!$F$1</c:f>
              <c:strCache>
                <c:ptCount val="1"/>
                <c:pt idx="0">
                  <c:v>Passif à moins d'un an</c:v>
                </c:pt>
              </c:strCache>
            </c:strRef>
          </c:tx>
          <c:spPr>
            <a:solidFill>
              <a:srgbClr val="112A40"/>
            </a:solidFill>
          </c:spPr>
          <c:cat>
            <c:strRef>
              <c:f>Sheet1!$A$2:$A$5</c:f>
              <c:strCache>
                <c:ptCount val="4"/>
                <c:pt idx="0">
                  <c:v>Actif 31/12/2025</c:v>
                </c:pt>
                <c:pt idx="1">
                  <c:v>Passif 31/12/2025</c:v>
                </c:pt>
                <c:pt idx="2">
                  <c:v>Actif 31/08/2026</c:v>
                </c:pt>
                <c:pt idx="3">
                  <c:v>Passif 31/08/2026</c:v>
                </c:pt>
              </c:strCache>
            </c:strRef>
          </c:cat>
          <c:val>
            <c:numRef>
              <c:f>Sheet1!$F$2:$F$5</c:f>
              <c:numCache>
                <c:formatCode># ##0,,</c:formatCode>
                <c:ptCount val="4"/>
                <c:pt idx="1">
                  <c:v>6535377593</c:v>
                </c:pt>
                <c:pt idx="3">
                  <c:v>7017736497</c:v>
                </c:pt>
              </c:numCache>
            </c:numRef>
          </c:val>
        </c:ser>
        <c:ser>
          <c:idx val="5"/>
          <c:order val="5"/>
          <c:tx>
            <c:strRef>
              <c:f>Sheet1!$G$1</c:f>
              <c:strCache>
                <c:ptCount val="1"/>
                <c:pt idx="0">
                  <c:v>Épargne, échéance à établir</c:v>
                </c:pt>
              </c:strCache>
            </c:strRef>
          </c:tx>
          <c:spPr>
            <a:solidFill>
              <a:srgbClr val="C00000"/>
            </a:solidFill>
          </c:spPr>
          <c:cat>
            <c:strRef>
              <c:f>Sheet1!$A$2:$A$5</c:f>
              <c:strCache>
                <c:ptCount val="4"/>
                <c:pt idx="0">
                  <c:v>Actif 31/12/2025</c:v>
                </c:pt>
                <c:pt idx="1">
                  <c:v>Passif 31/12/2025</c:v>
                </c:pt>
                <c:pt idx="2">
                  <c:v>Actif 31/08/2026</c:v>
                </c:pt>
                <c:pt idx="3">
                  <c:v>Passif 31/08/2026</c:v>
                </c:pt>
              </c:strCache>
            </c:strRef>
          </c:cat>
          <c:val>
            <c:numRef>
              <c:f>Sheet1!$G$2:$G$5</c:f>
              <c:numCache>
                <c:formatCode># ##0,,</c:formatCode>
                <c:ptCount val="4"/>
                <c:pt idx="1">
                  <c:v>13814066964</c:v>
                </c:pt>
                <c:pt idx="3">
                  <c:v>15743516391</c:v>
                </c:pt>
              </c:numCache>
            </c:numRef>
          </c:val>
        </c:ser>
        <c:gapWidth val="60"/>
        <c:overlap val="100"/>
        <c:axId val="-2068027336"/>
        <c:axId val="-2113994440"/>
      </c:barChart>
      <c:catAx>
        <c:axId val="-2068027336"/>
        <c:scaling>
          <c:orientation val="minMax"/>
        </c:scaling>
        <c:delete val="0"/>
        <c:axPos val="b"/>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val="0"/>
        <c:axPos val="l"/>
        <c:numFmt formatCode="# ##0,," sourceLinked="0"/>
        <c:majorTickMark val="out"/>
        <c:minorTickMark val="none"/>
        <c:tickLblPos val="nextTo"/>
        <c:spPr>
          <a:ln>
            <a:noFill/>
          </a:ln>
        </c:spPr>
        <c:txPr>
          <a:bodyPr/>
          <a:lstStyle/>
          <a:p>
            <a:pPr>
              <a:defRPr sz="1000"/>
            </a:pPr>
          </a:p>
        </c:txPr>
        <c:crossAx val="-2068027336"/>
        <c:crosses val="autoZero"/>
      </c:valAx>
    </c:plotArea>
    <c:legend>
      <c:legendPos/>
      <c:overlay val="0"/>
      <c:txPr>
        <a:bodyPr/>
        <a:lstStyle/>
        <a:p>
          <a:pPr>
            <a:defRPr sz="1000"/>
          </a:pPr>
        </a:p>
      </c:txPr>
    </c:legend>
    <c:dispBlanksAs val="gap"/>
  </c:chart>
  <c:txPr>
    <a:bodyPr/>
    <a:lstStyle/>
    <a:p>
      <a:pPr>
        <a:defRPr sz="1000">
          <a:latin typeface="Helvetica"/>
        </a:defRPr>
      </a:pPr>
      <a:endParaRPr lang="en-US"/>
    </a:p>
  </c:tx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Fonds propres</c:v>
                </c:pt>
              </c:strCache>
            </c:strRef>
          </c:tx>
          <c:spPr>
            <a:solidFill>
              <a:srgbClr val="112A40"/>
            </a:solidFill>
          </c:spPr>
          <c:cat>
            <c:strRef>
              <c:f>Sheet1!$A$2:$A$8</c:f>
              <c:strCache>
                <c:ptCount val="7"/>
                <c:pt idx="0">
                  <c:v>2020</c:v>
                </c:pt>
                <c:pt idx="1">
                  <c:v>2021</c:v>
                </c:pt>
                <c:pt idx="2">
                  <c:v>2022</c:v>
                </c:pt>
                <c:pt idx="3">
                  <c:v>2023</c:v>
                </c:pt>
                <c:pt idx="4">
                  <c:v>2024</c:v>
                </c:pt>
                <c:pt idx="5">
                  <c:v>2025</c:v>
                </c:pt>
                <c:pt idx="6">
                  <c:v>31/08/2026</c:v>
                </c:pt>
              </c:strCache>
            </c:strRef>
          </c:cat>
          <c:val>
            <c:numRef>
              <c:f>Sheet1!$B$2:$B$8</c:f>
              <c:numCache>
                <c:formatCode># ##0,,</c:formatCode>
                <c:ptCount val="7"/>
                <c:pt idx="0">
                  <c:v>-6743081733</c:v>
                </c:pt>
                <c:pt idx="1">
                  <c:v>-4659173531</c:v>
                </c:pt>
                <c:pt idx="2">
                  <c:v>-2598840854</c:v>
                </c:pt>
                <c:pt idx="3">
                  <c:v>-1668211752</c:v>
                </c:pt>
                <c:pt idx="4">
                  <c:v>-876142111</c:v>
                </c:pt>
                <c:pt idx="5">
                  <c:v>-438242200</c:v>
                </c:pt>
                <c:pt idx="6">
                  <c:v>-879498700</c:v>
                </c:pt>
              </c:numCache>
            </c:numRef>
          </c:val>
        </c:ser>
        <c:ser>
          <c:idx val="1"/>
          <c:order val="1"/>
          <c:tx>
            <c:strRef>
              <c:f>Sheet1!$C$1</c:f>
              <c:strCache>
                <c:ptCount val="1"/>
                <c:pt idx="0">
                  <c:v>Résultat de l'exercice</c:v>
                </c:pt>
              </c:strCache>
            </c:strRef>
          </c:tx>
          <c:spPr>
            <a:solidFill>
              <a:srgbClr val="EFAC62"/>
            </a:solidFill>
          </c:spPr>
          <c:cat>
            <c:strRef>
              <c:f>Sheet1!$A$2:$A$8</c:f>
              <c:strCache>
                <c:ptCount val="7"/>
                <c:pt idx="0">
                  <c:v>2020</c:v>
                </c:pt>
                <c:pt idx="1">
                  <c:v>2021</c:v>
                </c:pt>
                <c:pt idx="2">
                  <c:v>2022</c:v>
                </c:pt>
                <c:pt idx="3">
                  <c:v>2023</c:v>
                </c:pt>
                <c:pt idx="4">
                  <c:v>2024</c:v>
                </c:pt>
                <c:pt idx="5">
                  <c:v>2025</c:v>
                </c:pt>
                <c:pt idx="6">
                  <c:v>31/08/2026</c:v>
                </c:pt>
              </c:strCache>
            </c:strRef>
          </c:cat>
          <c:val>
            <c:numRef>
              <c:f>Sheet1!$C$2:$C$8</c:f>
              <c:numCache>
                <c:formatCode># ##0,,</c:formatCode>
                <c:ptCount val="7"/>
                <c:pt idx="0">
                  <c:v>1018579699</c:v>
                </c:pt>
                <c:pt idx="1">
                  <c:v>2083908202</c:v>
                </c:pt>
                <c:pt idx="2">
                  <c:v>2060332677</c:v>
                </c:pt>
                <c:pt idx="3">
                  <c:v>930629102</c:v>
                </c:pt>
                <c:pt idx="4">
                  <c:v>792069641</c:v>
                </c:pt>
                <c:pt idx="5">
                  <c:v>437899911</c:v>
                </c:pt>
                <c:pt idx="6">
                  <c:v>-441256500</c:v>
                </c:pt>
              </c:numCache>
            </c:numRef>
          </c:val>
        </c:ser>
        <c:dLbls>
          <c:numFmt formatCode="# ##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low"/>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l"/>
        <c:numFmt formatCode="# ##0,," sourceLinked="0"/>
        <c:majorTickMark val="out"/>
        <c:minorTickMark val="none"/>
        <c:tickLblPos val="nextTo"/>
        <c:spPr>
          <a:ln>
            <a:noFill/>
          </a:ln>
        </c:spPr>
        <c:txPr>
          <a:bodyPr/>
          <a:lstStyle/>
          <a:p>
            <a:pPr>
              <a:defRPr sz="1000"/>
            </a:pPr>
          </a:p>
        </c:txPr>
        <c:crossAx val="-2068027336"/>
        <c:crosses val="autoZero"/>
      </c:valAx>
    </c:plotArea>
    <c:legend>
      <c:legendPos val="b"/>
      <c:overlay val="0"/>
      <c:txPr>
        <a:bodyPr/>
        <a:lstStyle/>
        <a:p>
          <a:pPr>
            <a:defRPr sz="1000"/>
          </a:pPr>
        </a:p>
      </c:txPr>
    </c:legend>
    <c:dispBlanksAs val="gap"/>
  </c:chart>
  <c:txPr>
    <a:bodyPr/>
    <a:lstStyle/>
    <a:p>
      <a:pPr>
        <a:defRPr sz="1000">
          <a:latin typeface="Helvetica"/>
        </a:defRPr>
      </a:pPr>
      <a:endParaRPr lang="en-US"/>
    </a:p>
  </c:tx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Taux directeur</c:v>
                </c:pt>
              </c:strCache>
            </c:strRef>
          </c:tx>
          <c:spPr>
            <a:ln w="28575">
              <a:solidFill>
                <a:srgbClr val="112A40"/>
              </a:solidFill>
            </a:ln>
          </c:spPr>
          <c:marker>
            <c:spPr>
              <a:solidFill>
                <a:srgbClr val="112A40"/>
              </a:solidFill>
              <a:ln>
                <a:solidFill>
                  <a:srgbClr val="112A40"/>
                </a:solidFill>
              </a:ln>
            </c:spPr>
          </c:marker>
          <c:cat>
            <c:strRef>
              <c:f>Sheet1!$A$2:$A$10</c:f>
              <c:strCache>
                <c:ptCount val="9"/>
                <c:pt idx="0">
                  <c:v>01/01/2020</c:v>
                </c:pt>
                <c:pt idx="1">
                  <c:v>24/06/2020</c:v>
                </c:pt>
                <c:pt idx="2">
                  <c:v>16/06/2022</c:v>
                </c:pt>
                <c:pt idx="3">
                  <c:v>16/09/2022</c:v>
                </c:pt>
                <c:pt idx="4">
                  <c:v>16/12/2022</c:v>
                </c:pt>
                <c:pt idx="5">
                  <c:v>16/03/2023</c:v>
                </c:pt>
                <c:pt idx="6">
                  <c:v>16/09/2023</c:v>
                </c:pt>
                <c:pt idx="7">
                  <c:v>16/12/2023</c:v>
                </c:pt>
                <c:pt idx="8">
                  <c:v>16/06/2025</c:v>
                </c:pt>
              </c:strCache>
            </c:strRef>
          </c:cat>
          <c:val>
            <c:numRef>
              <c:f>Sheet1!$B$2:$B$10</c:f>
              <c:numCache>
                <c:formatCode>0.00</c:formatCode>
                <c:ptCount val="9"/>
                <c:pt idx="0">
                  <c:v>2.5</c:v>
                </c:pt>
                <c:pt idx="1">
                  <c:v>2.0</c:v>
                </c:pt>
                <c:pt idx="2">
                  <c:v>2.25</c:v>
                </c:pt>
                <c:pt idx="3">
                  <c:v>2.5</c:v>
                </c:pt>
                <c:pt idx="4">
                  <c:v>2.75</c:v>
                </c:pt>
                <c:pt idx="5">
                  <c:v>3.0</c:v>
                </c:pt>
                <c:pt idx="6">
                  <c:v>3.25</c:v>
                </c:pt>
                <c:pt idx="7">
                  <c:v>3.5</c:v>
                </c:pt>
                <c:pt idx="8">
                  <c:v>3.25</c:v>
                </c:pt>
              </c:numCache>
            </c:numRef>
          </c:val>
          <c:smooth val="0"/>
        </c:ser>
        <c:dLbls>
          <c:numFmt formatCode="0.00" sourceLinked="0"/>
          <c:txPr>
            <a:bodyPr/>
            <a:lstStyle/>
            <a:p>
              <a:pPr>
                <a:defRPr sz="1000"/>
              </a:pPr>
            </a:p>
          </c:txPr>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spPr>
          <a:ln>
            <a:solidFill>
              <a:srgbClr val="BBBCBC"/>
            </a:solidFill>
          </a:ln>
        </c:spPr>
        <c:txPr>
          <a:bodyPr/>
          <a:lstStyle/>
          <a:p>
            <a:pPr>
              <a:defRPr sz="1000"/>
            </a:pPr>
          </a:p>
        </c:txPr>
        <c:crossAx val="2140495176"/>
        <c:crosses val="autoZero"/>
        <c:auto val="1"/>
        <c:lblAlgn val="ctr"/>
        <c:lblOffset val="100"/>
        <c:noMultiLvlLbl val="0"/>
      </c:catAx>
      <c:valAx>
        <c:axId val="2140495176"/>
        <c:scaling/>
        <c:delete/>
        <c:axPos val="l"/>
        <c:numFmt formatCode="0.00" sourceLinked="0"/>
        <c:majorTickMark val="out"/>
        <c:minorTickMark val="none"/>
        <c:tickLblPos val="nextTo"/>
        <c:spPr>
          <a:ln>
            <a:noFill/>
          </a:ln>
        </c:spPr>
        <c:txPr>
          <a:bodyPr/>
          <a:lstStyle/>
          <a:p>
            <a:pPr>
              <a:defRPr sz="1000"/>
            </a:pPr>
          </a:p>
        </c:txPr>
        <c:crossAx val="2118791784"/>
        <c:crosses val="autoZero"/>
      </c:valAx>
    </c:plotArea>
    <c:plotVisOnly val="1"/>
    <c:dispBlanksAs val="gap"/>
    <c:showDLblsOverMax val="0"/>
  </c:chart>
  <c:txPr>
    <a:bodyPr/>
    <a:lstStyle/>
    <a:p>
      <a:pPr>
        <a:defRPr sz="1000">
          <a:latin typeface="Helvetica"/>
        </a:defRPr>
      </a:pPr>
      <a:endParaRPr lang="en-US"/>
    </a:p>
  </c:tx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Liquidité comme le FPPN</c:v>
                </c:pt>
              </c:strCache>
            </c:strRef>
          </c:tx>
          <c:spPr>
            <a:ln w="28575">
              <a:solidFill>
                <a:srgbClr val="112A40"/>
              </a:solidFill>
            </a:ln>
          </c:spPr>
          <c:marker>
            <c:spPr>
              <a:solidFill>
                <a:srgbClr val="112A40"/>
              </a:solidFill>
              <a:ln>
                <a:solidFill>
                  <a:srgbClr val="112A40"/>
                </a:solidFill>
              </a:ln>
            </c:spPr>
          </c:marker>
          <c:cat>
            <c:strRef>
              <c:f>Sheet1!$A$2:$A$7</c:f>
              <c:strCache>
                <c:ptCount val="6"/>
                <c:pt idx="0">
                  <c:v>2021</c:v>
                </c:pt>
                <c:pt idx="1">
                  <c:v>2022</c:v>
                </c:pt>
                <c:pt idx="2">
                  <c:v>2023</c:v>
                </c:pt>
                <c:pt idx="3">
                  <c:v>2024</c:v>
                </c:pt>
                <c:pt idx="4">
                  <c:v>2025</c:v>
                </c:pt>
                <c:pt idx="5">
                  <c:v>2026</c:v>
                </c:pt>
              </c:strCache>
            </c:strRef>
          </c:cat>
          <c:val>
            <c:numRef>
              <c:f>Sheet1!$B$2:$B$7</c:f>
              <c:numCache>
                <c:formatCode>0.00</c:formatCode>
                <c:ptCount val="6"/>
                <c:pt idx="0">
                  <c:v>0.19</c:v>
                </c:pt>
                <c:pt idx="1">
                  <c:v>0.1</c:v>
                </c:pt>
                <c:pt idx="2">
                  <c:v>0.11</c:v>
                </c:pt>
                <c:pt idx="3">
                  <c:v>0.07</c:v>
                </c:pt>
                <c:pt idx="4">
                  <c:v>0.13</c:v>
                </c:pt>
                <c:pt idx="5">
                  <c:v>0.19</c:v>
                </c:pt>
              </c:numCache>
            </c:numRef>
          </c:val>
          <c:smooth val="0"/>
        </c:ser>
        <c:ser>
          <c:idx val="1"/>
          <c:order val="1"/>
          <c:tx>
            <c:strRef>
              <c:f>Sheet1!$C$1</c:f>
              <c:strCache>
                <c:ptCount val="1"/>
                <c:pt idx="0">
                  <c:v>Liquidité retraitée</c:v>
                </c:pt>
              </c:strCache>
            </c:strRef>
          </c:tx>
          <c:spPr>
            <a:ln w="28575">
              <a:solidFill>
                <a:srgbClr val="EFAC62"/>
              </a:solidFill>
            </a:ln>
          </c:spPr>
          <c:marker>
            <c:spPr>
              <a:solidFill>
                <a:srgbClr val="EFAC62"/>
              </a:solidFill>
              <a:ln>
                <a:solidFill>
                  <a:srgbClr val="EFAC62"/>
                </a:solidFill>
              </a:ln>
            </c:spPr>
          </c:marker>
          <c:cat>
            <c:strRef>
              <c:f>Sheet1!$A$2:$A$7</c:f>
              <c:strCache>
                <c:ptCount val="6"/>
                <c:pt idx="0">
                  <c:v>2021</c:v>
                </c:pt>
                <c:pt idx="1">
                  <c:v>2022</c:v>
                </c:pt>
                <c:pt idx="2">
                  <c:v>2023</c:v>
                </c:pt>
                <c:pt idx="3">
                  <c:v>2024</c:v>
                </c:pt>
                <c:pt idx="4">
                  <c:v>2025</c:v>
                </c:pt>
                <c:pt idx="5">
                  <c:v>2026</c:v>
                </c:pt>
              </c:strCache>
            </c:strRef>
          </c:cat>
          <c:val>
            <c:numRef>
              <c:f>Sheet1!$C$2:$C$7</c:f>
              <c:numCache>
                <c:formatCode>0.00</c:formatCode>
                <c:ptCount val="6"/>
                <c:pt idx="0">
                  <c:v>0.64</c:v>
                </c:pt>
                <c:pt idx="1">
                  <c:v>0.51</c:v>
                </c:pt>
                <c:pt idx="2">
                  <c:v>0.54</c:v>
                </c:pt>
                <c:pt idx="3">
                  <c:v>0.33</c:v>
                </c:pt>
                <c:pt idx="4">
                  <c:v>1.15</c:v>
                </c:pt>
                <c:pt idx="5">
                  <c:v>1.53</c:v>
                </c:pt>
              </c:numCache>
            </c:numRef>
          </c:val>
          <c:smooth val="0"/>
        </c:ser>
        <c:ser>
          <c:idx val="2"/>
          <c:order val="2"/>
          <c:tx>
            <c:strRef>
              <c:f>Sheet1!$D$1</c:f>
              <c:strCache>
                <c:ptCount val="1"/>
                <c:pt idx="0">
                  <c:v>Équilibre stable retraité</c:v>
                </c:pt>
              </c:strCache>
            </c:strRef>
          </c:tx>
          <c:spPr>
            <a:ln w="28575">
              <a:solidFill>
                <a:srgbClr val="53565A"/>
              </a:solidFill>
            </a:ln>
          </c:spPr>
          <c:marker>
            <c:spPr>
              <a:solidFill>
                <a:srgbClr val="53565A"/>
              </a:solidFill>
              <a:ln>
                <a:solidFill>
                  <a:srgbClr val="53565A"/>
                </a:solidFill>
              </a:ln>
            </c:spPr>
          </c:marker>
          <c:cat>
            <c:strRef>
              <c:f>Sheet1!$A$2:$A$7</c:f>
              <c:strCache>
                <c:ptCount val="6"/>
                <c:pt idx="0">
                  <c:v>2021</c:v>
                </c:pt>
                <c:pt idx="1">
                  <c:v>2022</c:v>
                </c:pt>
                <c:pt idx="2">
                  <c:v>2023</c:v>
                </c:pt>
                <c:pt idx="3">
                  <c:v>2024</c:v>
                </c:pt>
                <c:pt idx="4">
                  <c:v>2025</c:v>
                </c:pt>
                <c:pt idx="5">
                  <c:v>2026</c:v>
                </c:pt>
              </c:strCache>
            </c:strRef>
          </c:cat>
          <c:val>
            <c:numRef>
              <c:f>Sheet1!$D$2:$D$7</c:f>
              <c:numCache>
                <c:formatCode>0.00</c:formatCode>
                <c:ptCount val="6"/>
                <c:pt idx="0">
                  <c:v>1.14</c:v>
                </c:pt>
                <c:pt idx="1">
                  <c:v>1.09</c:v>
                </c:pt>
                <c:pt idx="2">
                  <c:v>1.08</c:v>
                </c:pt>
                <c:pt idx="3">
                  <c:v>1.08</c:v>
                </c:pt>
                <c:pt idx="4">
                  <c:v>0.94</c:v>
                </c:pt>
                <c:pt idx="5">
                  <c:v>0.94</c:v>
                </c:pt>
              </c:numCache>
            </c:numRef>
          </c:val>
          <c:smooth val="0"/>
        </c:ser>
        <c:ser>
          <c:idx val="3"/>
          <c:order val="3"/>
          <c:tx>
            <c:strRef>
              <c:f>Sheet1!$E$1</c:f>
              <c:strCache>
                <c:ptCount val="1"/>
                <c:pt idx="0">
                  <c:v>Norme (1)</c:v>
                </c:pt>
              </c:strCache>
            </c:strRef>
          </c:tx>
          <c:spPr>
            <a:ln w="28575">
              <a:solidFill>
                <a:srgbClr val="C00000"/>
              </a:solidFill>
            </a:ln>
          </c:spPr>
          <c:marker>
            <c:spPr>
              <a:solidFill>
                <a:srgbClr val="C00000"/>
              </a:solidFill>
              <a:ln>
                <a:solidFill>
                  <a:srgbClr val="C00000"/>
                </a:solidFill>
              </a:ln>
            </c:spPr>
          </c:marker>
          <c:cat>
            <c:strRef>
              <c:f>Sheet1!$A$2:$A$7</c:f>
              <c:strCache>
                <c:ptCount val="6"/>
                <c:pt idx="0">
                  <c:v>2021</c:v>
                </c:pt>
                <c:pt idx="1">
                  <c:v>2022</c:v>
                </c:pt>
                <c:pt idx="2">
                  <c:v>2023</c:v>
                </c:pt>
                <c:pt idx="3">
                  <c:v>2024</c:v>
                </c:pt>
                <c:pt idx="4">
                  <c:v>2025</c:v>
                </c:pt>
                <c:pt idx="5">
                  <c:v>2026</c:v>
                </c:pt>
              </c:strCache>
            </c:strRef>
          </c:cat>
          <c:val>
            <c:numRef>
              <c:f>Sheet1!$E$2:$E$7</c:f>
              <c:numCache>
                <c:formatCode>0.00</c:formatCode>
                <c:ptCount val="6"/>
                <c:pt idx="0">
                  <c:v>1.0</c:v>
                </c:pt>
                <c:pt idx="1">
                  <c:v>1.0</c:v>
                </c:pt>
                <c:pt idx="2">
                  <c:v>1.0</c:v>
                </c:pt>
                <c:pt idx="3">
                  <c:v>1.0</c:v>
                </c:pt>
                <c:pt idx="4">
                  <c:v>1.0</c:v>
                </c:pt>
                <c:pt idx="5">
                  <c:v>1.0</c:v>
                </c:pt>
              </c:numCache>
            </c:numRef>
          </c:val>
          <c:smooth val="0"/>
        </c:ser>
        <c:dLbls>
          <c:numFmt formatCode="0.00" sourceLinked="0"/>
          <c:txPr>
            <a:bodyPr/>
            <a:lstStyle/>
            <a:p>
              <a:pPr>
                <a:defRPr sz="1000"/>
              </a:pPr>
            </a:p>
          </c:txPr>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spPr>
          <a:ln>
            <a:solidFill>
              <a:srgbClr val="BBBCBC"/>
            </a:solidFill>
          </a:ln>
        </c:spPr>
        <c:txPr>
          <a:bodyPr/>
          <a:lstStyle/>
          <a:p>
            <a:pPr>
              <a:defRPr sz="1000"/>
            </a:pPr>
          </a:p>
        </c:txPr>
        <c:crossAx val="2140495176"/>
        <c:crosses val="autoZero"/>
        <c:auto val="1"/>
        <c:lblAlgn val="ctr"/>
        <c:lblOffset val="100"/>
        <c:noMultiLvlLbl val="0"/>
      </c:catAx>
      <c:valAx>
        <c:axId val="2140495176"/>
        <c:scaling/>
        <c:delete/>
        <c:axPos val="l"/>
        <c:numFmt formatCode="0.00" sourceLinked="0"/>
        <c:majorTickMark val="out"/>
        <c:minorTickMark val="none"/>
        <c:tickLblPos val="nextTo"/>
        <c:spPr>
          <a:ln>
            <a:noFill/>
          </a:ln>
        </c:spPr>
        <c:txPr>
          <a:bodyPr/>
          <a:lstStyle/>
          <a:p>
            <a:pPr>
              <a:defRPr sz="1000"/>
            </a:pPr>
          </a:p>
        </c:txPr>
        <c:crossAx val="2118791784"/>
        <c:crosses val="autoZero"/>
      </c:valAx>
    </c:plotArea>
    <c:legend>
      <c:legendPos val="b"/>
      <c:layout/>
      <c:overlay val="0"/>
      <c:txPr>
        <a:bodyPr/>
        <a:lstStyle/>
        <a:p>
          <a:pPr>
            <a:defRPr sz="1000"/>
          </a:pPr>
        </a:p>
      </c:txPr>
    </c:legend>
    <c:plotVisOnly val="1"/>
    <c:dispBlanksAs val="gap"/>
    <c:showDLblsOverMax val="0"/>
  </c:chart>
  <c:txPr>
    <a:bodyPr/>
    <a:lstStyle/>
    <a:p>
      <a:pPr>
        <a:defRPr sz="1000">
          <a:latin typeface="Helvetica"/>
        </a:defRPr>
      </a:pPr>
      <a:endParaRPr lang="en-US"/>
    </a:p>
  </c:tx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Maladie</c:v>
                </c:pt>
              </c:strCache>
            </c:strRef>
          </c:tx>
          <c:spPr>
            <a:solidFill>
              <a:srgbClr val="112A40"/>
            </a:solidFill>
          </c:spPr>
          <c:cat>
            <c:strRef>
              <c:f>Sheet1!$A$2:$A$8</c:f>
              <c:strCache>
                <c:ptCount val="7"/>
                <c:pt idx="0">
                  <c:v>2020</c:v>
                </c:pt>
                <c:pt idx="1">
                  <c:v>2021</c:v>
                </c:pt>
                <c:pt idx="2">
                  <c:v>2022</c:v>
                </c:pt>
                <c:pt idx="3">
                  <c:v>2023</c:v>
                </c:pt>
                <c:pt idx="4">
                  <c:v>2024</c:v>
                </c:pt>
                <c:pt idx="5">
                  <c:v>2025</c:v>
                </c:pt>
                <c:pt idx="6">
                  <c:v>2026 (8 mois)</c:v>
                </c:pt>
              </c:strCache>
            </c:strRef>
          </c:cat>
          <c:val>
            <c:numRef>
              <c:f>Sheet1!$B$2:$B$8</c:f>
              <c:numCache>
                <c:formatCode># ##0,,</c:formatCode>
                <c:ptCount val="7"/>
                <c:pt idx="0">
                  <c:v>450556166</c:v>
                </c:pt>
                <c:pt idx="1">
                  <c:v>775696432</c:v>
                </c:pt>
                <c:pt idx="2">
                  <c:v>818990532</c:v>
                </c:pt>
                <c:pt idx="3">
                  <c:v>544608847</c:v>
                </c:pt>
                <c:pt idx="4">
                  <c:v>346250445</c:v>
                </c:pt>
                <c:pt idx="5">
                  <c:v>-237774567</c:v>
                </c:pt>
                <c:pt idx="6">
                  <c:v>-701679552</c:v>
                </c:pt>
              </c:numCache>
            </c:numRef>
          </c:val>
        </c:ser>
        <c:ser>
          <c:idx val="1"/>
          <c:order val="1"/>
          <c:tx>
            <c:strRef>
              <c:f>Sheet1!$C$1</c:f>
              <c:strCache>
                <c:ptCount val="1"/>
                <c:pt idx="0">
                  <c:v>Décès</c:v>
                </c:pt>
              </c:strCache>
            </c:strRef>
          </c:tx>
          <c:spPr>
            <a:solidFill>
              <a:srgbClr val="EFAC62"/>
            </a:solidFill>
          </c:spPr>
          <c:cat>
            <c:strRef>
              <c:f>Sheet1!$A$2:$A$8</c:f>
              <c:strCache>
                <c:ptCount val="7"/>
                <c:pt idx="0">
                  <c:v>2020</c:v>
                </c:pt>
                <c:pt idx="1">
                  <c:v>2021</c:v>
                </c:pt>
                <c:pt idx="2">
                  <c:v>2022</c:v>
                </c:pt>
                <c:pt idx="3">
                  <c:v>2023</c:v>
                </c:pt>
                <c:pt idx="4">
                  <c:v>2024</c:v>
                </c:pt>
                <c:pt idx="5">
                  <c:v>2025</c:v>
                </c:pt>
                <c:pt idx="6">
                  <c:v>2026 (8 mois)</c:v>
                </c:pt>
              </c:strCache>
            </c:strRef>
          </c:cat>
          <c:val>
            <c:numRef>
              <c:f>Sheet1!$C$2:$C$8</c:f>
              <c:numCache>
                <c:formatCode># ##0,,</c:formatCode>
                <c:ptCount val="7"/>
                <c:pt idx="0">
                  <c:v>-297076358</c:v>
                </c:pt>
                <c:pt idx="1">
                  <c:v>-25796447</c:v>
                </c:pt>
                <c:pt idx="2">
                  <c:v>284293552</c:v>
                </c:pt>
                <c:pt idx="3">
                  <c:v>315201377</c:v>
                </c:pt>
                <c:pt idx="4">
                  <c:v>392850349</c:v>
                </c:pt>
                <c:pt idx="5">
                  <c:v>449151155</c:v>
                </c:pt>
                <c:pt idx="6">
                  <c:v>239560278</c:v>
                </c:pt>
              </c:numCache>
            </c:numRef>
          </c:val>
        </c:ser>
        <c:dLbls>
          <c:numFmt formatCode="# ##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low"/>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l"/>
        <c:numFmt formatCode="# ##0,," sourceLinked="0"/>
        <c:majorTickMark val="out"/>
        <c:minorTickMark val="none"/>
        <c:tickLblPos val="nextTo"/>
        <c:spPr>
          <a:ln>
            <a:noFill/>
          </a:ln>
        </c:spPr>
        <c:txPr>
          <a:bodyPr/>
          <a:lstStyle/>
          <a:p>
            <a:pPr>
              <a:defRPr sz="1000"/>
            </a:pPr>
          </a:p>
        </c:txPr>
        <c:crossAx val="-2068027336"/>
        <c:crosses val="autoZero"/>
      </c:valAx>
    </c:plotArea>
    <c:legend>
      <c:legendPos val="b"/>
      <c:overlay val="0"/>
      <c:txPr>
        <a:bodyPr/>
        <a:lstStyle/>
        <a:p>
          <a:pPr>
            <a:defRPr sz="1000"/>
          </a:pPr>
        </a:p>
      </c:txPr>
    </c:legend>
    <c:dispBlanksAs val="gap"/>
  </c:chart>
  <c:txPr>
    <a:bodyPr/>
    <a:lstStyle/>
    <a:p>
      <a:pPr>
        <a:defRPr sz="1000">
          <a:latin typeface="Helvetica"/>
        </a:defRPr>
      </a:pPr>
      <a:endParaRPr lang="en-US"/>
    </a:p>
  </c:tx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Marge exigée</c:v>
                </c:pt>
              </c:strCache>
            </c:strRef>
          </c:tx>
          <c:spPr>
            <a:solidFill>
              <a:srgbClr val="BBBCBC"/>
            </a:solidFill>
          </c:spPr>
          <c:cat>
            <c:strRef>
              <c:f>Sheet1!$A$2:$A$7</c:f>
              <c:strCache>
                <c:ptCount val="6"/>
                <c:pt idx="0">
                  <c:v>2021</c:v>
                </c:pt>
                <c:pt idx="1">
                  <c:v>2022</c:v>
                </c:pt>
                <c:pt idx="2">
                  <c:v>2023</c:v>
                </c:pt>
                <c:pt idx="3">
                  <c:v>2024</c:v>
                </c:pt>
                <c:pt idx="4">
                  <c:v>2025</c:v>
                </c:pt>
                <c:pt idx="5">
                  <c:v>31/08/2026</c:v>
                </c:pt>
              </c:strCache>
            </c:strRef>
          </c:cat>
          <c:val>
            <c:numRef>
              <c:f>Sheet1!$B$2:$B$7</c:f>
              <c:numCache>
                <c:formatCode># ##0,,</c:formatCode>
                <c:ptCount val="6"/>
                <c:pt idx="0">
                  <c:v>423039138</c:v>
                </c:pt>
                <c:pt idx="1">
                  <c:v>436176762</c:v>
                </c:pt>
                <c:pt idx="2">
                  <c:v>459907226</c:v>
                </c:pt>
                <c:pt idx="3">
                  <c:v>499226913</c:v>
                </c:pt>
                <c:pt idx="4">
                  <c:v>566209845</c:v>
                </c:pt>
                <c:pt idx="5">
                  <c:v>615265510</c:v>
                </c:pt>
              </c:numCache>
            </c:numRef>
          </c:val>
        </c:ser>
        <c:ser>
          <c:idx val="1"/>
          <c:order val="1"/>
          <c:tx>
            <c:strRef>
              <c:f>Sheet1!$C$1</c:f>
              <c:strCache>
                <c:ptCount val="1"/>
                <c:pt idx="0">
                  <c:v>Disponible comme le FPPN</c:v>
                </c:pt>
              </c:strCache>
            </c:strRef>
          </c:tx>
          <c:spPr>
            <a:solidFill>
              <a:srgbClr val="112A40"/>
            </a:solidFill>
          </c:spPr>
          <c:cat>
            <c:strRef>
              <c:f>Sheet1!$A$2:$A$7</c:f>
              <c:strCache>
                <c:ptCount val="6"/>
                <c:pt idx="0">
                  <c:v>2021</c:v>
                </c:pt>
                <c:pt idx="1">
                  <c:v>2022</c:v>
                </c:pt>
                <c:pt idx="2">
                  <c:v>2023</c:v>
                </c:pt>
                <c:pt idx="3">
                  <c:v>2024</c:v>
                </c:pt>
                <c:pt idx="4">
                  <c:v>2025</c:v>
                </c:pt>
                <c:pt idx="5">
                  <c:v>31/08/2026</c:v>
                </c:pt>
              </c:strCache>
            </c:strRef>
          </c:cat>
          <c:val>
            <c:numRef>
              <c:f>Sheet1!$C$2:$C$7</c:f>
              <c:numCache>
                <c:formatCode># ##0,,</c:formatCode>
                <c:ptCount val="6"/>
                <c:pt idx="0">
                  <c:v>2899400000</c:v>
                </c:pt>
                <c:pt idx="1">
                  <c:v>2899400000</c:v>
                </c:pt>
                <c:pt idx="2">
                  <c:v>3083619879</c:v>
                </c:pt>
                <c:pt idx="3">
                  <c:v>3604772176</c:v>
                </c:pt>
                <c:pt idx="4">
                  <c:v>4396841817</c:v>
                </c:pt>
                <c:pt idx="5">
                  <c:v>4396841817</c:v>
                </c:pt>
              </c:numCache>
            </c:numRef>
          </c:val>
        </c:ser>
        <c:ser>
          <c:idx val="2"/>
          <c:order val="2"/>
          <c:tx>
            <c:strRef>
              <c:f>Sheet1!$D$1</c:f>
              <c:strCache>
                <c:ptCount val="1"/>
                <c:pt idx="0">
                  <c:v>Disponible nette des pertes</c:v>
                </c:pt>
              </c:strCache>
            </c:strRef>
          </c:tx>
          <c:spPr>
            <a:solidFill>
              <a:srgbClr val="EFAC62"/>
            </a:solidFill>
          </c:spPr>
          <c:cat>
            <c:strRef>
              <c:f>Sheet1!$A$2:$A$7</c:f>
              <c:strCache>
                <c:ptCount val="6"/>
                <c:pt idx="0">
                  <c:v>2021</c:v>
                </c:pt>
                <c:pt idx="1">
                  <c:v>2022</c:v>
                </c:pt>
                <c:pt idx="2">
                  <c:v>2023</c:v>
                </c:pt>
                <c:pt idx="3">
                  <c:v>2024</c:v>
                </c:pt>
                <c:pt idx="4">
                  <c:v>2025</c:v>
                </c:pt>
                <c:pt idx="5">
                  <c:v>31/08/2026</c:v>
                </c:pt>
              </c:strCache>
            </c:strRef>
          </c:cat>
          <c:val>
            <c:numRef>
              <c:f>Sheet1!$D$2:$D$7</c:f>
              <c:numCache>
                <c:formatCode># ##0,,</c:formatCode>
                <c:ptCount val="6"/>
                <c:pt idx="0">
                  <c:v>-4659173531</c:v>
                </c:pt>
                <c:pt idx="1">
                  <c:v>-2598840854</c:v>
                </c:pt>
                <c:pt idx="2">
                  <c:v>-1668211752</c:v>
                </c:pt>
                <c:pt idx="3">
                  <c:v>-876142111</c:v>
                </c:pt>
                <c:pt idx="4">
                  <c:v>-438242200</c:v>
                </c:pt>
                <c:pt idx="5">
                  <c:v>-879498700</c:v>
                </c:pt>
              </c:numCache>
            </c:numRef>
          </c:val>
        </c:ser>
        <c:dLbls>
          <c:numFmt formatCode="# ##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low"/>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l"/>
        <c:numFmt formatCode="# ##0,," sourceLinked="0"/>
        <c:majorTickMark val="out"/>
        <c:minorTickMark val="none"/>
        <c:tickLblPos val="nextTo"/>
        <c:spPr>
          <a:ln>
            <a:noFill/>
          </a:ln>
        </c:spPr>
        <c:txPr>
          <a:bodyPr/>
          <a:lstStyle/>
          <a:p>
            <a:pPr>
              <a:defRPr sz="1000"/>
            </a:pPr>
          </a:p>
        </c:txPr>
        <c:crossAx val="-2068027336"/>
        <c:crosses val="autoZero"/>
      </c:valAx>
    </c:plotArea>
    <c:legend>
      <c:legendPos val="b"/>
      <c:overlay val="0"/>
      <c:txPr>
        <a:bodyPr/>
        <a:lstStyle/>
        <a:p>
          <a:pPr>
            <a:defRPr sz="1000"/>
          </a:pPr>
        </a:p>
      </c:txPr>
    </c:legend>
    <c:dispBlanksAs val="gap"/>
  </c:chart>
  <c:txPr>
    <a:bodyPr/>
    <a:lstStyle/>
    <a:p>
      <a:pPr>
        <a:defRPr sz="1000">
          <a:latin typeface="Helvetica"/>
        </a:defRPr>
      </a:pPr>
      <a:endParaRPr lang="en-US"/>
    </a:p>
  </c:tx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Pour la sinistralité (70 %)</c:v>
                </c:pt>
              </c:strCache>
            </c:strRef>
          </c:tx>
          <c:spPr>
            <a:ln w="28575">
              <a:solidFill>
                <a:srgbClr val="EFAC62"/>
              </a:solidFill>
            </a:ln>
          </c:spPr>
          <c:marker>
            <c:spPr>
              <a:solidFill>
                <a:srgbClr val="EFAC62"/>
              </a:solidFill>
              <a:ln>
                <a:solidFill>
                  <a:srgbClr val="EFAC62"/>
                </a:solidFill>
              </a:ln>
            </c:spPr>
          </c:marker>
          <c:cat>
            <c:strRef>
              <c:f>Sheet1!$A$2:$A$8</c:f>
              <c:strCache>
                <c:ptCount val="7"/>
                <c:pt idx="0">
                  <c:v>2020</c:v>
                </c:pt>
                <c:pt idx="1">
                  <c:v>2021</c:v>
                </c:pt>
                <c:pt idx="2">
                  <c:v>2022</c:v>
                </c:pt>
                <c:pt idx="3">
                  <c:v>2023</c:v>
                </c:pt>
                <c:pt idx="4">
                  <c:v>2024</c:v>
                </c:pt>
                <c:pt idx="5">
                  <c:v>2025</c:v>
                </c:pt>
                <c:pt idx="6">
                  <c:v>2026 (8 mois)</c:v>
                </c:pt>
              </c:strCache>
            </c:strRef>
          </c:cat>
          <c:val>
            <c:numRef>
              <c:f>Sheet1!$B$2:$B$8</c:f>
              <c:numCache>
                <c:formatCode>0.00</c:formatCode>
                <c:ptCount val="7"/>
                <c:pt idx="0">
                  <c:v>0.64</c:v>
                </c:pt>
                <c:pt idx="1">
                  <c:v>1.48</c:v>
                </c:pt>
                <c:pt idx="2">
                  <c:v>0.65</c:v>
                </c:pt>
                <c:pt idx="3">
                  <c:v>1.75</c:v>
                </c:pt>
                <c:pt idx="4">
                  <c:v>2.88</c:v>
                </c:pt>
                <c:pt idx="5">
                  <c:v>4.11</c:v>
                </c:pt>
                <c:pt idx="6">
                  <c:v>5.0</c:v>
                </c:pt>
              </c:numCache>
            </c:numRef>
          </c:val>
          <c:smooth val="0"/>
        </c:ser>
        <c:ser>
          <c:idx val="1"/>
          <c:order val="1"/>
          <c:tx>
            <c:strRef>
              <c:f>Sheet1!$C$1</c:f>
              <c:strCache>
                <c:ptCount val="1"/>
                <c:pt idx="0">
                  <c:v>Pour le taux des charges (20 %)</c:v>
                </c:pt>
              </c:strCache>
            </c:strRef>
          </c:tx>
          <c:spPr>
            <a:ln w="28575">
              <a:solidFill>
                <a:srgbClr val="112A40"/>
              </a:solidFill>
            </a:ln>
          </c:spPr>
          <c:marker>
            <c:spPr>
              <a:solidFill>
                <a:srgbClr val="112A40"/>
              </a:solidFill>
              <a:ln>
                <a:solidFill>
                  <a:srgbClr val="112A40"/>
                </a:solidFill>
              </a:ln>
            </c:spPr>
          </c:marker>
          <c:cat>
            <c:strRef>
              <c:f>Sheet1!$A$2:$A$8</c:f>
              <c:strCache>
                <c:ptCount val="7"/>
                <c:pt idx="0">
                  <c:v>2020</c:v>
                </c:pt>
                <c:pt idx="1">
                  <c:v>2021</c:v>
                </c:pt>
                <c:pt idx="2">
                  <c:v>2022</c:v>
                </c:pt>
                <c:pt idx="3">
                  <c:v>2023</c:v>
                </c:pt>
                <c:pt idx="4">
                  <c:v>2024</c:v>
                </c:pt>
                <c:pt idx="5">
                  <c:v>2025</c:v>
                </c:pt>
                <c:pt idx="6">
                  <c:v>2026 (8 mois)</c:v>
                </c:pt>
              </c:strCache>
            </c:strRef>
          </c:cat>
          <c:val>
            <c:numRef>
              <c:f>Sheet1!$C$2:$C$8</c:f>
              <c:numCache>
                <c:formatCode>0.00</c:formatCode>
                <c:ptCount val="7"/>
                <c:pt idx="0">
                  <c:v>21.08</c:v>
                </c:pt>
                <c:pt idx="1">
                  <c:v>12.0</c:v>
                </c:pt>
                <c:pt idx="2">
                  <c:v>11.84</c:v>
                </c:pt>
                <c:pt idx="3">
                  <c:v>11.21</c:v>
                </c:pt>
                <c:pt idx="4">
                  <c:v>9.02</c:v>
                </c:pt>
                <c:pt idx="5">
                  <c:v>9.08</c:v>
                </c:pt>
                <c:pt idx="6">
                  <c:v>11.03</c:v>
                </c:pt>
              </c:numCache>
            </c:numRef>
          </c:val>
          <c:smooth val="0"/>
        </c:ser>
        <c:ser>
          <c:idx val="2"/>
          <c:order val="2"/>
          <c:tx>
            <c:strRef>
              <c:f>Sheet1!$D$1</c:f>
              <c:strCache>
                <c:ptCount val="1"/>
                <c:pt idx="0">
                  <c:v>Taux des statuts</c:v>
                </c:pt>
              </c:strCache>
            </c:strRef>
          </c:tx>
          <c:spPr>
            <a:ln w="28575">
              <a:solidFill>
                <a:srgbClr val="53565A"/>
              </a:solidFill>
            </a:ln>
          </c:spPr>
          <c:marker>
            <c:spPr>
              <a:solidFill>
                <a:srgbClr val="53565A"/>
              </a:solidFill>
              <a:ln>
                <a:solidFill>
                  <a:srgbClr val="53565A"/>
                </a:solidFill>
              </a:ln>
            </c:spPr>
          </c:marker>
          <c:cat>
            <c:strRef>
              <c:f>Sheet1!$A$2:$A$8</c:f>
              <c:strCache>
                <c:ptCount val="7"/>
                <c:pt idx="0">
                  <c:v>2020</c:v>
                </c:pt>
                <c:pt idx="1">
                  <c:v>2021</c:v>
                </c:pt>
                <c:pt idx="2">
                  <c:v>2022</c:v>
                </c:pt>
                <c:pt idx="3">
                  <c:v>2023</c:v>
                </c:pt>
                <c:pt idx="4">
                  <c:v>2024</c:v>
                </c:pt>
                <c:pt idx="5">
                  <c:v>2025</c:v>
                </c:pt>
                <c:pt idx="6">
                  <c:v>2026 (8 mois)</c:v>
                </c:pt>
              </c:strCache>
            </c:strRef>
          </c:cat>
          <c:val>
            <c:numRef>
              <c:f>Sheet1!$D$2:$D$8</c:f>
              <c:numCache>
                <c:formatCode>0.00</c:formatCode>
                <c:ptCount val="7"/>
                <c:pt idx="0">
                  <c:v>5.0</c:v>
                </c:pt>
                <c:pt idx="1">
                  <c:v>5.0</c:v>
                </c:pt>
                <c:pt idx="2">
                  <c:v>5.0</c:v>
                </c:pt>
                <c:pt idx="3">
                  <c:v>5.0</c:v>
                </c:pt>
                <c:pt idx="4">
                  <c:v>5.0</c:v>
                </c:pt>
                <c:pt idx="5">
                  <c:v>5.0</c:v>
                </c:pt>
                <c:pt idx="6">
                  <c:v>5.0</c:v>
                </c:pt>
              </c:numCache>
            </c:numRef>
          </c:val>
          <c:smooth val="0"/>
        </c:ser>
        <c:dLbls>
          <c:numFmt formatCode="0.00" sourceLinked="0"/>
          <c:txPr>
            <a:bodyPr/>
            <a:lstStyle/>
            <a:p>
              <a:pPr>
                <a:defRPr sz="1000"/>
              </a:pPr>
            </a:p>
          </c:txPr>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spPr>
          <a:ln>
            <a:solidFill>
              <a:srgbClr val="BBBCBC"/>
            </a:solidFill>
          </a:ln>
        </c:spPr>
        <c:txPr>
          <a:bodyPr/>
          <a:lstStyle/>
          <a:p>
            <a:pPr>
              <a:defRPr sz="1000"/>
            </a:pPr>
          </a:p>
        </c:txPr>
        <c:crossAx val="2140495176"/>
        <c:crosses val="autoZero"/>
        <c:auto val="1"/>
        <c:lblAlgn val="ctr"/>
        <c:lblOffset val="100"/>
        <c:noMultiLvlLbl val="0"/>
      </c:catAx>
      <c:valAx>
        <c:axId val="2140495176"/>
        <c:scaling/>
        <c:delete/>
        <c:axPos val="l"/>
        <c:numFmt formatCode="0.00" sourceLinked="0"/>
        <c:majorTickMark val="out"/>
        <c:minorTickMark val="none"/>
        <c:tickLblPos val="nextTo"/>
        <c:spPr>
          <a:ln>
            <a:noFill/>
          </a:ln>
        </c:spPr>
        <c:txPr>
          <a:bodyPr/>
          <a:lstStyle/>
          <a:p>
            <a:pPr>
              <a:defRPr sz="1000"/>
            </a:pPr>
          </a:p>
        </c:txPr>
        <c:crossAx val="2118791784"/>
        <c:crosses val="autoZero"/>
      </c:valAx>
    </c:plotArea>
    <c:legend>
      <c:legendPos val="b"/>
      <c:layout/>
      <c:overlay val="0"/>
      <c:txPr>
        <a:bodyPr/>
        <a:lstStyle/>
        <a:p>
          <a:pPr>
            <a:defRPr sz="1000"/>
          </a:pPr>
        </a:p>
      </c:txPr>
    </c:legend>
    <c:plotVisOnly val="1"/>
    <c:dispBlanksAs val="gap"/>
    <c:showDLblsOverMax val="0"/>
  </c:chart>
  <c:txPr>
    <a:bodyPr/>
    <a:lstStyle/>
    <a:p>
      <a:pPr>
        <a:defRPr sz="1000">
          <a:latin typeface="Helvetica"/>
        </a:defRPr>
      </a:pPr>
      <a:endParaRPr lang="en-US"/>
    </a:p>
  </c:tx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Services hospitaliers</c:v>
                </c:pt>
              </c:strCache>
            </c:strRef>
          </c:tx>
          <c:spPr>
            <a:ln w="28575">
              <a:solidFill>
                <a:srgbClr val="112A40"/>
              </a:solidFill>
            </a:ln>
          </c:spPr>
          <c:marker>
            <c:spPr>
              <a:solidFill>
                <a:srgbClr val="112A40"/>
              </a:solidFill>
              <a:ln>
                <a:solidFill>
                  <a:srgbClr val="112A40"/>
                </a:solidFill>
              </a:ln>
            </c:spPr>
          </c:marker>
          <c:cat>
            <c:strRef>
              <c:f>Sheet1!$A$2:$A$6</c:f>
              <c:strCache>
                <c:ptCount val="5"/>
                <c:pt idx="0">
                  <c:v>2020</c:v>
                </c:pt>
                <c:pt idx="1">
                  <c:v>2021</c:v>
                </c:pt>
                <c:pt idx="2">
                  <c:v>2022</c:v>
                </c:pt>
                <c:pt idx="3">
                  <c:v>2023</c:v>
                </c:pt>
                <c:pt idx="4">
                  <c:v>2024</c:v>
                </c:pt>
              </c:strCache>
            </c:strRef>
          </c:cat>
          <c:val>
            <c:numRef>
              <c:f>Sheet1!$B$2:$B$6</c:f>
              <c:numCache>
                <c:formatCode>0.00</c:formatCode>
                <c:ptCount val="5"/>
                <c:pt idx="0">
                  <c:v>1.3</c:v>
                </c:pt>
                <c:pt idx="1">
                  <c:v>0.66</c:v>
                </c:pt>
                <c:pt idx="2">
                  <c:v>1.48</c:v>
                </c:pt>
                <c:pt idx="3">
                  <c:v>0.94</c:v>
                </c:pt>
                <c:pt idx="4">
                  <c:v>1.35</c:v>
                </c:pt>
              </c:numCache>
            </c:numRef>
          </c:val>
          <c:smooth val="0"/>
        </c:ser>
        <c:ser>
          <c:idx val="1"/>
          <c:order val="1"/>
          <c:tx>
            <c:strRef>
              <c:f>Sheet1!$C$1</c:f>
              <c:strCache>
                <c:ptCount val="1"/>
                <c:pt idx="0">
                  <c:v>Laboratoires et radiologie</c:v>
                </c:pt>
              </c:strCache>
            </c:strRef>
          </c:tx>
          <c:spPr>
            <a:ln w="28575">
              <a:solidFill>
                <a:srgbClr val="EFAC62"/>
              </a:solidFill>
            </a:ln>
          </c:spPr>
          <c:marker>
            <c:spPr>
              <a:solidFill>
                <a:srgbClr val="EFAC62"/>
              </a:solidFill>
              <a:ln>
                <a:solidFill>
                  <a:srgbClr val="EFAC62"/>
                </a:solidFill>
              </a:ln>
            </c:spPr>
          </c:marker>
          <c:cat>
            <c:strRef>
              <c:f>Sheet1!$A$2:$A$6</c:f>
              <c:strCache>
                <c:ptCount val="5"/>
                <c:pt idx="0">
                  <c:v>2020</c:v>
                </c:pt>
                <c:pt idx="1">
                  <c:v>2021</c:v>
                </c:pt>
                <c:pt idx="2">
                  <c:v>2022</c:v>
                </c:pt>
                <c:pt idx="3">
                  <c:v>2023</c:v>
                </c:pt>
                <c:pt idx="4">
                  <c:v>2024</c:v>
                </c:pt>
              </c:strCache>
            </c:strRef>
          </c:cat>
          <c:val>
            <c:numRef>
              <c:f>Sheet1!$C$2:$C$6</c:f>
              <c:numCache>
                <c:formatCode>0.00</c:formatCode>
                <c:ptCount val="5"/>
                <c:pt idx="0">
                  <c:v>-0.27</c:v>
                </c:pt>
                <c:pt idx="1">
                  <c:v>0.1</c:v>
                </c:pt>
                <c:pt idx="2">
                  <c:v>11.29</c:v>
                </c:pt>
                <c:pt idx="3">
                  <c:v>3.97</c:v>
                </c:pt>
                <c:pt idx="4">
                  <c:v>2.32</c:v>
                </c:pt>
              </c:numCache>
            </c:numRef>
          </c:val>
          <c:smooth val="0"/>
        </c:ser>
        <c:ser>
          <c:idx val="2"/>
          <c:order val="2"/>
          <c:tx>
            <c:strRef>
              <c:f>Sheet1!$D$1</c:f>
              <c:strCache>
                <c:ptCount val="1"/>
                <c:pt idx="0">
                  <c:v>Médicaments modernes</c:v>
                </c:pt>
              </c:strCache>
            </c:strRef>
          </c:tx>
          <c:spPr>
            <a:ln w="28575">
              <a:solidFill>
                <a:srgbClr val="53565A"/>
              </a:solidFill>
            </a:ln>
          </c:spPr>
          <c:marker>
            <c:spPr>
              <a:solidFill>
                <a:srgbClr val="53565A"/>
              </a:solidFill>
              <a:ln>
                <a:solidFill>
                  <a:srgbClr val="53565A"/>
                </a:solidFill>
              </a:ln>
            </c:spPr>
          </c:marker>
          <c:cat>
            <c:strRef>
              <c:f>Sheet1!$A$2:$A$6</c:f>
              <c:strCache>
                <c:ptCount val="5"/>
                <c:pt idx="0">
                  <c:v>2020</c:v>
                </c:pt>
                <c:pt idx="1">
                  <c:v>2021</c:v>
                </c:pt>
                <c:pt idx="2">
                  <c:v>2022</c:v>
                </c:pt>
                <c:pt idx="3">
                  <c:v>2023</c:v>
                </c:pt>
                <c:pt idx="4">
                  <c:v>2024</c:v>
                </c:pt>
              </c:strCache>
            </c:strRef>
          </c:cat>
          <c:val>
            <c:numRef>
              <c:f>Sheet1!$D$2:$D$6</c:f>
              <c:numCache>
                <c:formatCode>0.00</c:formatCode>
                <c:ptCount val="5"/>
                <c:pt idx="0">
                  <c:v>1.23</c:v>
                </c:pt>
                <c:pt idx="1">
                  <c:v>1.9</c:v>
                </c:pt>
                <c:pt idx="2">
                  <c:v>1.66</c:v>
                </c:pt>
                <c:pt idx="3">
                  <c:v>2.2</c:v>
                </c:pt>
                <c:pt idx="4">
                  <c:v>0.63</c:v>
                </c:pt>
              </c:numCache>
            </c:numRef>
          </c:val>
          <c:smooth val="0"/>
        </c:ser>
        <c:ser>
          <c:idx val="3"/>
          <c:order val="3"/>
          <c:tx>
            <c:strRef>
              <c:f>Sheet1!$E$1</c:f>
              <c:strCache>
                <c:ptCount val="1"/>
                <c:pt idx="0">
                  <c:v>Services médicaux et dentaires</c:v>
                </c:pt>
              </c:strCache>
            </c:strRef>
          </c:tx>
          <c:spPr>
            <a:ln w="28575">
              <a:solidFill>
                <a:srgbClr val="BBBCBC"/>
              </a:solidFill>
            </a:ln>
          </c:spPr>
          <c:marker>
            <c:spPr>
              <a:solidFill>
                <a:srgbClr val="BBBCBC"/>
              </a:solidFill>
              <a:ln>
                <a:solidFill>
                  <a:srgbClr val="BBBCBC"/>
                </a:solidFill>
              </a:ln>
            </c:spPr>
          </c:marker>
          <c:cat>
            <c:strRef>
              <c:f>Sheet1!$A$2:$A$6</c:f>
              <c:strCache>
                <c:ptCount val="5"/>
                <c:pt idx="0">
                  <c:v>2020</c:v>
                </c:pt>
                <c:pt idx="1">
                  <c:v>2021</c:v>
                </c:pt>
                <c:pt idx="2">
                  <c:v>2022</c:v>
                </c:pt>
                <c:pt idx="3">
                  <c:v>2023</c:v>
                </c:pt>
                <c:pt idx="4">
                  <c:v>2024</c:v>
                </c:pt>
              </c:strCache>
            </c:strRef>
          </c:cat>
          <c:val>
            <c:numRef>
              <c:f>Sheet1!$E$2:$E$6</c:f>
              <c:numCache>
                <c:formatCode>0.00</c:formatCode>
                <c:ptCount val="5"/>
                <c:pt idx="0">
                  <c:v>-0.96</c:v>
                </c:pt>
                <c:pt idx="1">
                  <c:v>5.89</c:v>
                </c:pt>
                <c:pt idx="2">
                  <c:v>1.25</c:v>
                </c:pt>
                <c:pt idx="3">
                  <c:v>-1.53</c:v>
                </c:pt>
                <c:pt idx="4">
                  <c:v>0.06</c:v>
                </c:pt>
              </c:numCache>
            </c:numRef>
          </c:val>
          <c:smooth val="0"/>
        </c:ser>
        <c:ser>
          <c:idx val="4"/>
          <c:order val="4"/>
          <c:tx>
            <c:strRef>
              <c:f>Sheet1!$F$1</c:f>
              <c:strCache>
                <c:ptCount val="1"/>
                <c:pt idx="0">
                  <c:v>Inflation pondérée du FPPN</c:v>
                </c:pt>
              </c:strCache>
            </c:strRef>
          </c:tx>
          <c:spPr>
            <a:ln w="28575">
              <a:solidFill>
                <a:srgbClr val="060606"/>
              </a:solidFill>
            </a:ln>
          </c:spPr>
          <c:marker>
            <c:spPr>
              <a:solidFill>
                <a:srgbClr val="060606"/>
              </a:solidFill>
              <a:ln>
                <a:solidFill>
                  <a:srgbClr val="060606"/>
                </a:solidFill>
              </a:ln>
            </c:spPr>
          </c:marker>
          <c:cat>
            <c:strRef>
              <c:f>Sheet1!$A$2:$A$6</c:f>
              <c:strCache>
                <c:ptCount val="5"/>
                <c:pt idx="0">
                  <c:v>2020</c:v>
                </c:pt>
                <c:pt idx="1">
                  <c:v>2021</c:v>
                </c:pt>
                <c:pt idx="2">
                  <c:v>2022</c:v>
                </c:pt>
                <c:pt idx="3">
                  <c:v>2023</c:v>
                </c:pt>
                <c:pt idx="4">
                  <c:v>2024</c:v>
                </c:pt>
              </c:strCache>
            </c:strRef>
          </c:cat>
          <c:val>
            <c:numRef>
              <c:f>Sheet1!$F$2:$F$6</c:f>
              <c:numCache>
                <c:formatCode>0.00</c:formatCode>
                <c:ptCount val="5"/>
                <c:pt idx="0">
                  <c:v>-0.31</c:v>
                </c:pt>
                <c:pt idx="1">
                  <c:v>1.61</c:v>
                </c:pt>
                <c:pt idx="2">
                  <c:v>8.04</c:v>
                </c:pt>
                <c:pt idx="3">
                  <c:v>2.45</c:v>
                </c:pt>
                <c:pt idx="4">
                  <c:v>0.73</c:v>
                </c:pt>
              </c:numCache>
            </c:numRef>
          </c:val>
          <c:smooth val="0"/>
        </c:ser>
        <c:dLbls>
          <c:numFmt formatCode="0.00" sourceLinked="0"/>
          <c:txPr>
            <a:bodyPr/>
            <a:lstStyle/>
            <a:p>
              <a:pPr>
                <a:defRPr sz="1000"/>
              </a:pPr>
            </a:p>
          </c:txPr>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low"/>
        <c:spPr>
          <a:ln>
            <a:solidFill>
              <a:srgbClr val="BBBCBC"/>
            </a:solidFill>
          </a:ln>
        </c:spPr>
        <c:txPr>
          <a:bodyPr/>
          <a:lstStyle/>
          <a:p>
            <a:pPr>
              <a:defRPr sz="1000"/>
            </a:pPr>
          </a:p>
        </c:txPr>
        <c:crossAx val="2140495176"/>
        <c:crosses val="autoZero"/>
        <c:auto val="1"/>
        <c:lblAlgn val="ctr"/>
        <c:lblOffset val="100"/>
        <c:noMultiLvlLbl val="0"/>
      </c:catAx>
      <c:valAx>
        <c:axId val="2140495176"/>
        <c:scaling/>
        <c:delete/>
        <c:axPos val="l"/>
        <c:numFmt formatCode="0.00" sourceLinked="0"/>
        <c:majorTickMark val="out"/>
        <c:minorTickMark val="none"/>
        <c:tickLblPos val="nextTo"/>
        <c:spPr>
          <a:ln>
            <a:noFill/>
          </a:ln>
        </c:spPr>
        <c:txPr>
          <a:bodyPr/>
          <a:lstStyle/>
          <a:p>
            <a:pPr>
              <a:defRPr sz="1000"/>
            </a:pPr>
          </a:p>
        </c:txPr>
        <c:crossAx val="2118791784"/>
        <c:crosses val="autoZero"/>
      </c:valAx>
    </c:plotArea>
    <c:legend>
      <c:legendPos val="b"/>
      <c:layout/>
      <c:overlay val="0"/>
      <c:txPr>
        <a:bodyPr/>
        <a:lstStyle/>
        <a:p>
          <a:pPr>
            <a:defRPr sz="1000"/>
          </a:pPr>
        </a:p>
      </c:txPr>
    </c:legend>
    <c:plotVisOnly val="1"/>
    <c:dispBlanksAs val="gap"/>
    <c:showDLblsOverMax val="0"/>
  </c:chart>
  <c:txPr>
    <a:bodyPr/>
    <a:lstStyle/>
    <a:p>
      <a:pPr>
        <a:defRPr sz="1000">
          <a:latin typeface="Helvetica"/>
        </a:defRPr>
      </a:pPr>
      <a:endParaRPr lang="en-US"/>
    </a:p>
  </c:tx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CIMA H</c:v>
                </c:pt>
              </c:strCache>
            </c:strRef>
          </c:tx>
          <c:spPr>
            <a:ln w="28575">
              <a:solidFill>
                <a:srgbClr val="112A40"/>
              </a:solidFill>
            </a:ln>
          </c:spPr>
          <c:marker>
            <c:spPr>
              <a:solidFill>
                <a:srgbClr val="112A40"/>
              </a:solidFill>
              <a:ln>
                <a:solidFill>
                  <a:srgbClr val="112A40"/>
                </a:solidFill>
              </a:ln>
            </c:spPr>
          </c:marker>
          <c:cat>
            <c:strRef>
              <c:f>Sheet1!$A$2:$A$24</c:f>
              <c:strCache>
                <c:ptCount val="23"/>
                <c:pt idx="0">
                  <c:v>0</c:v>
                </c:pt>
                <c:pt idx="1">
                  <c:v>5</c:v>
                </c:pt>
                <c:pt idx="2">
                  <c:v>10</c:v>
                </c:pt>
                <c:pt idx="3">
                  <c:v>15</c:v>
                </c:pt>
                <c:pt idx="4">
                  <c:v>20</c:v>
                </c:pt>
                <c:pt idx="5">
                  <c:v>25</c:v>
                </c:pt>
                <c:pt idx="6">
                  <c:v>30</c:v>
                </c:pt>
                <c:pt idx="7">
                  <c:v>35</c:v>
                </c:pt>
                <c:pt idx="8">
                  <c:v>40</c:v>
                </c:pt>
                <c:pt idx="9">
                  <c:v>45</c:v>
                </c:pt>
                <c:pt idx="10">
                  <c:v>50</c:v>
                </c:pt>
                <c:pt idx="11">
                  <c:v>55</c:v>
                </c:pt>
                <c:pt idx="12">
                  <c:v>60</c:v>
                </c:pt>
                <c:pt idx="13">
                  <c:v>65</c:v>
                </c:pt>
                <c:pt idx="14">
                  <c:v>70</c:v>
                </c:pt>
                <c:pt idx="15">
                  <c:v>75</c:v>
                </c:pt>
                <c:pt idx="16">
                  <c:v>80</c:v>
                </c:pt>
                <c:pt idx="17">
                  <c:v>85</c:v>
                </c:pt>
                <c:pt idx="18">
                  <c:v>90</c:v>
                </c:pt>
                <c:pt idx="19">
                  <c:v>95</c:v>
                </c:pt>
                <c:pt idx="20">
                  <c:v>100</c:v>
                </c:pt>
                <c:pt idx="21">
                  <c:v>105</c:v>
                </c:pt>
                <c:pt idx="22">
                  <c:v>110</c:v>
                </c:pt>
              </c:strCache>
            </c:strRef>
          </c:cat>
          <c:val>
            <c:numRef>
              <c:f>Sheet1!$B$2:$B$24</c:f>
              <c:numCache>
                <c:formatCode>0.00</c:formatCode>
                <c:ptCount val="23"/>
                <c:pt idx="0">
                  <c:v>100.0</c:v>
                </c:pt>
                <c:pt idx="1">
                  <c:v>99.25</c:v>
                </c:pt>
                <c:pt idx="2">
                  <c:v>99.09</c:v>
                </c:pt>
                <c:pt idx="3">
                  <c:v>98.89</c:v>
                </c:pt>
                <c:pt idx="4">
                  <c:v>98.34</c:v>
                </c:pt>
                <c:pt idx="5">
                  <c:v>97.53</c:v>
                </c:pt>
                <c:pt idx="6">
                  <c:v>96.63</c:v>
                </c:pt>
                <c:pt idx="7">
                  <c:v>95.6</c:v>
                </c:pt>
                <c:pt idx="8">
                  <c:v>94.25</c:v>
                </c:pt>
                <c:pt idx="9">
                  <c:v>92.31</c:v>
                </c:pt>
                <c:pt idx="10">
                  <c:v>89.56</c:v>
                </c:pt>
                <c:pt idx="11">
                  <c:v>86.04</c:v>
                </c:pt>
                <c:pt idx="12">
                  <c:v>81.51</c:v>
                </c:pt>
                <c:pt idx="13">
                  <c:v>75.11</c:v>
                </c:pt>
                <c:pt idx="14">
                  <c:v>66.44</c:v>
                </c:pt>
                <c:pt idx="15">
                  <c:v>55.74</c:v>
                </c:pt>
                <c:pt idx="16">
                  <c:v>43.23</c:v>
                </c:pt>
                <c:pt idx="17">
                  <c:v>29.22</c:v>
                </c:pt>
                <c:pt idx="18">
                  <c:v>15.94</c:v>
                </c:pt>
                <c:pt idx="19">
                  <c:v>5.26</c:v>
                </c:pt>
                <c:pt idx="20">
                  <c:v>0.3</c:v>
                </c:pt>
                <c:pt idx="21">
                  <c:v>0.0</c:v>
                </c:pt>
                <c:pt idx="22">
                  <c:v>0.0</c:v>
                </c:pt>
              </c:numCache>
            </c:numRef>
          </c:val>
          <c:smooth val="0"/>
        </c:ser>
        <c:ser>
          <c:idx val="1"/>
          <c:order val="1"/>
          <c:tx>
            <c:strRef>
              <c:f>Sheet1!$C$1</c:f>
              <c:strCache>
                <c:ptCount val="1"/>
                <c:pt idx="0">
                  <c:v>CIMA F</c:v>
                </c:pt>
              </c:strCache>
            </c:strRef>
          </c:tx>
          <c:spPr>
            <a:ln w="28575">
              <a:solidFill>
                <a:srgbClr val="EFAC62"/>
              </a:solidFill>
            </a:ln>
          </c:spPr>
          <c:marker>
            <c:spPr>
              <a:solidFill>
                <a:srgbClr val="EFAC62"/>
              </a:solidFill>
              <a:ln>
                <a:solidFill>
                  <a:srgbClr val="EFAC62"/>
                </a:solidFill>
              </a:ln>
            </c:spPr>
          </c:marker>
          <c:cat>
            <c:strRef>
              <c:f>Sheet1!$A$2:$A$24</c:f>
              <c:strCache>
                <c:ptCount val="23"/>
                <c:pt idx="0">
                  <c:v>0</c:v>
                </c:pt>
                <c:pt idx="1">
                  <c:v>5</c:v>
                </c:pt>
                <c:pt idx="2">
                  <c:v>10</c:v>
                </c:pt>
                <c:pt idx="3">
                  <c:v>15</c:v>
                </c:pt>
                <c:pt idx="4">
                  <c:v>20</c:v>
                </c:pt>
                <c:pt idx="5">
                  <c:v>25</c:v>
                </c:pt>
                <c:pt idx="6">
                  <c:v>30</c:v>
                </c:pt>
                <c:pt idx="7">
                  <c:v>35</c:v>
                </c:pt>
                <c:pt idx="8">
                  <c:v>40</c:v>
                </c:pt>
                <c:pt idx="9">
                  <c:v>45</c:v>
                </c:pt>
                <c:pt idx="10">
                  <c:v>50</c:v>
                </c:pt>
                <c:pt idx="11">
                  <c:v>55</c:v>
                </c:pt>
                <c:pt idx="12">
                  <c:v>60</c:v>
                </c:pt>
                <c:pt idx="13">
                  <c:v>65</c:v>
                </c:pt>
                <c:pt idx="14">
                  <c:v>70</c:v>
                </c:pt>
                <c:pt idx="15">
                  <c:v>75</c:v>
                </c:pt>
                <c:pt idx="16">
                  <c:v>80</c:v>
                </c:pt>
                <c:pt idx="17">
                  <c:v>85</c:v>
                </c:pt>
                <c:pt idx="18">
                  <c:v>90</c:v>
                </c:pt>
                <c:pt idx="19">
                  <c:v>95</c:v>
                </c:pt>
                <c:pt idx="20">
                  <c:v>100</c:v>
                </c:pt>
                <c:pt idx="21">
                  <c:v>105</c:v>
                </c:pt>
                <c:pt idx="22">
                  <c:v>110</c:v>
                </c:pt>
              </c:strCache>
            </c:strRef>
          </c:cat>
          <c:val>
            <c:numRef>
              <c:f>Sheet1!$C$2:$C$24</c:f>
              <c:numCache>
                <c:formatCode>0.00</c:formatCode>
                <c:ptCount val="23"/>
                <c:pt idx="0">
                  <c:v>100.0</c:v>
                </c:pt>
                <c:pt idx="1">
                  <c:v>99.6</c:v>
                </c:pt>
                <c:pt idx="2">
                  <c:v>99.51</c:v>
                </c:pt>
                <c:pt idx="3">
                  <c:v>99.41</c:v>
                </c:pt>
                <c:pt idx="4">
                  <c:v>99.12</c:v>
                </c:pt>
                <c:pt idx="5">
                  <c:v>98.68</c:v>
                </c:pt>
                <c:pt idx="6">
                  <c:v>98.19</c:v>
                </c:pt>
                <c:pt idx="7">
                  <c:v>97.62</c:v>
                </c:pt>
                <c:pt idx="8">
                  <c:v>96.88</c:v>
                </c:pt>
                <c:pt idx="9">
                  <c:v>95.79</c:v>
                </c:pt>
                <c:pt idx="10">
                  <c:v>94.24</c:v>
                </c:pt>
                <c:pt idx="11">
                  <c:v>92.22</c:v>
                </c:pt>
                <c:pt idx="12">
                  <c:v>89.58</c:v>
                </c:pt>
                <c:pt idx="13">
                  <c:v>85.81</c:v>
                </c:pt>
                <c:pt idx="14">
                  <c:v>80.52</c:v>
                </c:pt>
                <c:pt idx="15">
                  <c:v>73.52</c:v>
                </c:pt>
                <c:pt idx="16">
                  <c:v>64.46</c:v>
                </c:pt>
                <c:pt idx="17">
                  <c:v>52.62</c:v>
                </c:pt>
                <c:pt idx="18">
                  <c:v>38.44</c:v>
                </c:pt>
                <c:pt idx="19">
                  <c:v>21.64</c:v>
                </c:pt>
                <c:pt idx="20">
                  <c:v>4.87</c:v>
                </c:pt>
                <c:pt idx="21">
                  <c:v>0.1</c:v>
                </c:pt>
                <c:pt idx="22">
                  <c:v>0.0</c:v>
                </c:pt>
              </c:numCache>
            </c:numRef>
          </c:val>
          <c:smooth val="0"/>
        </c:ser>
        <c:ser>
          <c:idx val="2"/>
          <c:order val="2"/>
          <c:tx>
            <c:strRef>
              <c:f>Sheet1!$D$1</c:f>
              <c:strCache>
                <c:ptCount val="1"/>
                <c:pt idx="0">
                  <c:v>TD CIMA</c:v>
                </c:pt>
              </c:strCache>
            </c:strRef>
          </c:tx>
          <c:spPr>
            <a:ln w="28575">
              <a:solidFill>
                <a:srgbClr val="53565A"/>
              </a:solidFill>
            </a:ln>
          </c:spPr>
          <c:marker>
            <c:spPr>
              <a:solidFill>
                <a:srgbClr val="53565A"/>
              </a:solidFill>
              <a:ln>
                <a:solidFill>
                  <a:srgbClr val="53565A"/>
                </a:solidFill>
              </a:ln>
            </c:spPr>
          </c:marker>
          <c:cat>
            <c:strRef>
              <c:f>Sheet1!$A$2:$A$24</c:f>
              <c:strCache>
                <c:ptCount val="23"/>
                <c:pt idx="0">
                  <c:v>0</c:v>
                </c:pt>
                <c:pt idx="1">
                  <c:v>5</c:v>
                </c:pt>
                <c:pt idx="2">
                  <c:v>10</c:v>
                </c:pt>
                <c:pt idx="3">
                  <c:v>15</c:v>
                </c:pt>
                <c:pt idx="4">
                  <c:v>20</c:v>
                </c:pt>
                <c:pt idx="5">
                  <c:v>25</c:v>
                </c:pt>
                <c:pt idx="6">
                  <c:v>30</c:v>
                </c:pt>
                <c:pt idx="7">
                  <c:v>35</c:v>
                </c:pt>
                <c:pt idx="8">
                  <c:v>40</c:v>
                </c:pt>
                <c:pt idx="9">
                  <c:v>45</c:v>
                </c:pt>
                <c:pt idx="10">
                  <c:v>50</c:v>
                </c:pt>
                <c:pt idx="11">
                  <c:v>55</c:v>
                </c:pt>
                <c:pt idx="12">
                  <c:v>60</c:v>
                </c:pt>
                <c:pt idx="13">
                  <c:v>65</c:v>
                </c:pt>
                <c:pt idx="14">
                  <c:v>70</c:v>
                </c:pt>
                <c:pt idx="15">
                  <c:v>75</c:v>
                </c:pt>
                <c:pt idx="16">
                  <c:v>80</c:v>
                </c:pt>
                <c:pt idx="17">
                  <c:v>85</c:v>
                </c:pt>
                <c:pt idx="18">
                  <c:v>90</c:v>
                </c:pt>
                <c:pt idx="19">
                  <c:v>95</c:v>
                </c:pt>
                <c:pt idx="20">
                  <c:v>100</c:v>
                </c:pt>
                <c:pt idx="21">
                  <c:v>105</c:v>
                </c:pt>
                <c:pt idx="22">
                  <c:v>110</c:v>
                </c:pt>
              </c:strCache>
            </c:strRef>
          </c:cat>
          <c:val>
            <c:numRef>
              <c:f>Sheet1!$D$2:$D$24</c:f>
              <c:numCache>
                <c:formatCode>0.00</c:formatCode>
                <c:ptCount val="23"/>
                <c:pt idx="0">
                  <c:v>100.0</c:v>
                </c:pt>
                <c:pt idx="1">
                  <c:v>97.1</c:v>
                </c:pt>
                <c:pt idx="2">
                  <c:v>96.88</c:v>
                </c:pt>
                <c:pt idx="3">
                  <c:v>96.67</c:v>
                </c:pt>
                <c:pt idx="4">
                  <c:v>96.2</c:v>
                </c:pt>
                <c:pt idx="5">
                  <c:v>95.49</c:v>
                </c:pt>
                <c:pt idx="6">
                  <c:v>94.7</c:v>
                </c:pt>
                <c:pt idx="7">
                  <c:v>93.7</c:v>
                </c:pt>
                <c:pt idx="8">
                  <c:v>92.26</c:v>
                </c:pt>
                <c:pt idx="9">
                  <c:v>90.14</c:v>
                </c:pt>
                <c:pt idx="10">
                  <c:v>87.03</c:v>
                </c:pt>
                <c:pt idx="11">
                  <c:v>82.48</c:v>
                </c:pt>
                <c:pt idx="12">
                  <c:v>75.93</c:v>
                </c:pt>
                <c:pt idx="13">
                  <c:v>66.8</c:v>
                </c:pt>
                <c:pt idx="14">
                  <c:v>54.76</c:v>
                </c:pt>
                <c:pt idx="15">
                  <c:v>40.19</c:v>
                </c:pt>
                <c:pt idx="16">
                  <c:v>24.83</c:v>
                </c:pt>
                <c:pt idx="17">
                  <c:v>11.72</c:v>
                </c:pt>
                <c:pt idx="18">
                  <c:v>3.64</c:v>
                </c:pt>
                <c:pt idx="19">
                  <c:v>0.59</c:v>
                </c:pt>
                <c:pt idx="20">
                  <c:v>0.03</c:v>
                </c:pt>
                <c:pt idx="21">
                  <c:v>0.0</c:v>
                </c:pt>
                <c:pt idx="22">
                  <c:v>0.0</c:v>
                </c:pt>
              </c:numCache>
            </c:numRef>
          </c:val>
          <c:smooth val="0"/>
        </c:ser>
        <c:ser>
          <c:idx val="3"/>
          <c:order val="3"/>
          <c:tx>
            <c:strRef>
              <c:f>Sheet1!$E$1</c:f>
              <c:strCache>
                <c:ptCount val="1"/>
                <c:pt idx="0">
                  <c:v>TV CIMA</c:v>
                </c:pt>
              </c:strCache>
            </c:strRef>
          </c:tx>
          <c:spPr>
            <a:ln w="28575">
              <a:solidFill>
                <a:srgbClr val="BBBCBC"/>
              </a:solidFill>
            </a:ln>
          </c:spPr>
          <c:marker>
            <c:spPr>
              <a:solidFill>
                <a:srgbClr val="BBBCBC"/>
              </a:solidFill>
              <a:ln>
                <a:solidFill>
                  <a:srgbClr val="BBBCBC"/>
                </a:solidFill>
              </a:ln>
            </c:spPr>
          </c:marker>
          <c:cat>
            <c:strRef>
              <c:f>Sheet1!$A$2:$A$24</c:f>
              <c:strCache>
                <c:ptCount val="23"/>
                <c:pt idx="0">
                  <c:v>0</c:v>
                </c:pt>
                <c:pt idx="1">
                  <c:v>5</c:v>
                </c:pt>
                <c:pt idx="2">
                  <c:v>10</c:v>
                </c:pt>
                <c:pt idx="3">
                  <c:v>15</c:v>
                </c:pt>
                <c:pt idx="4">
                  <c:v>20</c:v>
                </c:pt>
                <c:pt idx="5">
                  <c:v>25</c:v>
                </c:pt>
                <c:pt idx="6">
                  <c:v>30</c:v>
                </c:pt>
                <c:pt idx="7">
                  <c:v>35</c:v>
                </c:pt>
                <c:pt idx="8">
                  <c:v>40</c:v>
                </c:pt>
                <c:pt idx="9">
                  <c:v>45</c:v>
                </c:pt>
                <c:pt idx="10">
                  <c:v>50</c:v>
                </c:pt>
                <c:pt idx="11">
                  <c:v>55</c:v>
                </c:pt>
                <c:pt idx="12">
                  <c:v>60</c:v>
                </c:pt>
                <c:pt idx="13">
                  <c:v>65</c:v>
                </c:pt>
                <c:pt idx="14">
                  <c:v>70</c:v>
                </c:pt>
                <c:pt idx="15">
                  <c:v>75</c:v>
                </c:pt>
                <c:pt idx="16">
                  <c:v>80</c:v>
                </c:pt>
                <c:pt idx="17">
                  <c:v>85</c:v>
                </c:pt>
                <c:pt idx="18">
                  <c:v>90</c:v>
                </c:pt>
                <c:pt idx="19">
                  <c:v>95</c:v>
                </c:pt>
                <c:pt idx="20">
                  <c:v>100</c:v>
                </c:pt>
                <c:pt idx="21">
                  <c:v>105</c:v>
                </c:pt>
                <c:pt idx="22">
                  <c:v>110</c:v>
                </c:pt>
              </c:strCache>
            </c:strRef>
          </c:cat>
          <c:val>
            <c:numRef>
              <c:f>Sheet1!$E$2:$E$24</c:f>
              <c:numCache>
                <c:formatCode>0.00</c:formatCode>
                <c:ptCount val="23"/>
                <c:pt idx="0">
                  <c:v>100.0</c:v>
                </c:pt>
                <c:pt idx="1">
                  <c:v>97.75</c:v>
                </c:pt>
                <c:pt idx="2">
                  <c:v>97.6</c:v>
                </c:pt>
                <c:pt idx="3">
                  <c:v>97.47</c:v>
                </c:pt>
                <c:pt idx="4">
                  <c:v>97.23</c:v>
                </c:pt>
                <c:pt idx="5">
                  <c:v>96.91</c:v>
                </c:pt>
                <c:pt idx="6">
                  <c:v>96.48</c:v>
                </c:pt>
                <c:pt idx="7">
                  <c:v>95.94</c:v>
                </c:pt>
                <c:pt idx="8">
                  <c:v>95.22</c:v>
                </c:pt>
                <c:pt idx="9">
                  <c:v>94.21</c:v>
                </c:pt>
                <c:pt idx="10">
                  <c:v>92.73</c:v>
                </c:pt>
                <c:pt idx="11">
                  <c:v>90.46</c:v>
                </c:pt>
                <c:pt idx="12">
                  <c:v>86.94</c:v>
                </c:pt>
                <c:pt idx="13">
                  <c:v>81.48</c:v>
                </c:pt>
                <c:pt idx="14">
                  <c:v>73.17</c:v>
                </c:pt>
                <c:pt idx="15">
                  <c:v>61.15</c:v>
                </c:pt>
                <c:pt idx="16">
                  <c:v>45.26</c:v>
                </c:pt>
                <c:pt idx="17">
                  <c:v>27.28</c:v>
                </c:pt>
                <c:pt idx="18">
                  <c:v>11.64</c:v>
                </c:pt>
                <c:pt idx="19">
                  <c:v>2.77</c:v>
                </c:pt>
                <c:pt idx="20">
                  <c:v>0.24</c:v>
                </c:pt>
                <c:pt idx="21">
                  <c:v>0.0</c:v>
                </c:pt>
                <c:pt idx="22">
                  <c:v>0.0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BBBCBC"/>
            </a:solidFill>
          </a:ln>
        </c:spPr>
        <c:txPr>
          <a:bodyPr/>
          <a:lstStyle/>
          <a:p>
            <a:pPr>
              <a:defRPr sz="1000"/>
            </a:pPr>
          </a:p>
        </c:txPr>
        <c:crossAx val="2140495176"/>
        <c:crosses val="autoZero"/>
        <c:auto val="1"/>
        <c:lblAlgn val="ctr"/>
        <c:lblOffset val="100"/>
        <c:noMultiLvlLbl val="0"/>
      </c:catAx>
      <c:valAx>
        <c:axId val="2140495176"/>
        <c:scaling/>
        <c:delete val="0"/>
        <c:axPos val="l"/>
        <c:numFmt formatCode="0.00" sourceLinked="0"/>
        <c:majorTickMark val="out"/>
        <c:minorTickMark val="none"/>
        <c:tickLblPos val="nextTo"/>
        <c:spPr>
          <a:ln>
            <a:noFill/>
          </a:ln>
        </c:spPr>
        <c:txPr>
          <a:bodyPr/>
          <a:lstStyle/>
          <a:p>
            <a:pPr>
              <a:defRPr sz="1000"/>
            </a:pPr>
          </a:p>
        </c:txPr>
        <c:crossAx val="2118791784"/>
        <c:crosses val="autoZero"/>
      </c:valAx>
    </c:plotArea>
    <c:legend>
      <c:legendPos val="b"/>
      <c:layout/>
      <c:overlay val="0"/>
      <c:txPr>
        <a:bodyPr/>
        <a:lstStyle/>
        <a:p>
          <a:pPr>
            <a:defRPr sz="1000"/>
          </a:pPr>
        </a:p>
      </c:txPr>
    </c:legend>
    <c:plotVisOnly val="1"/>
    <c:dispBlanksAs val="gap"/>
    <c:showDLblsOverMax val="0"/>
  </c:chart>
  <c:txPr>
    <a:bodyPr/>
    <a:lstStyle/>
    <a:p>
      <a:pPr>
        <a:defRPr sz="1000">
          <a:latin typeface="Helvetica"/>
        </a:defRPr>
      </a:pPr>
      <a:endParaRPr lang="en-US"/>
    </a:p>
  </c:tx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CIMA H</c:v>
                </c:pt>
              </c:strCache>
            </c:strRef>
          </c:tx>
          <c:spPr>
            <a:ln w="28575">
              <a:solidFill>
                <a:srgbClr val="112A40"/>
              </a:solidFill>
            </a:ln>
          </c:spPr>
          <c:marker>
            <c:spPr>
              <a:solidFill>
                <a:srgbClr val="112A40"/>
              </a:solidFill>
              <a:ln>
                <a:solidFill>
                  <a:srgbClr val="112A40"/>
                </a:solidFill>
              </a:ln>
            </c:spPr>
          </c:marker>
          <c:cat>
            <c:strRef>
              <c:f>Sheet1!$A$2:$A$14</c:f>
              <c:strCache>
                <c:ptCount val="13"/>
                <c:pt idx="0">
                  <c:v>20</c:v>
                </c:pt>
                <c:pt idx="1">
                  <c:v>25</c:v>
                </c:pt>
                <c:pt idx="2">
                  <c:v>30</c:v>
                </c:pt>
                <c:pt idx="3">
                  <c:v>35</c:v>
                </c:pt>
                <c:pt idx="4">
                  <c:v>40</c:v>
                </c:pt>
                <c:pt idx="5">
                  <c:v>45</c:v>
                </c:pt>
                <c:pt idx="6">
                  <c:v>50</c:v>
                </c:pt>
                <c:pt idx="7">
                  <c:v>55</c:v>
                </c:pt>
                <c:pt idx="8">
                  <c:v>60</c:v>
                </c:pt>
                <c:pt idx="9">
                  <c:v>65</c:v>
                </c:pt>
                <c:pt idx="10">
                  <c:v>70</c:v>
                </c:pt>
                <c:pt idx="11">
                  <c:v>75</c:v>
                </c:pt>
                <c:pt idx="12">
                  <c:v>80</c:v>
                </c:pt>
              </c:strCache>
            </c:strRef>
          </c:cat>
          <c:val>
            <c:numRef>
              <c:f>Sheet1!$B$2:$B$14</c:f>
              <c:numCache>
                <c:formatCode>0.00</c:formatCode>
                <c:ptCount val="13"/>
                <c:pt idx="0">
                  <c:v>1.58</c:v>
                </c:pt>
                <c:pt idx="1">
                  <c:v>1.75</c:v>
                </c:pt>
                <c:pt idx="2">
                  <c:v>1.99</c:v>
                </c:pt>
                <c:pt idx="3">
                  <c:v>2.48</c:v>
                </c:pt>
                <c:pt idx="4">
                  <c:v>3.5</c:v>
                </c:pt>
                <c:pt idx="5">
                  <c:v>5.27</c:v>
                </c:pt>
                <c:pt idx="6">
                  <c:v>7.14</c:v>
                </c:pt>
                <c:pt idx="7">
                  <c:v>9.38</c:v>
                </c:pt>
                <c:pt idx="8">
                  <c:v>13.53</c:v>
                </c:pt>
                <c:pt idx="9">
                  <c:v>20.78</c:v>
                </c:pt>
                <c:pt idx="10">
                  <c:v>29.82</c:v>
                </c:pt>
                <c:pt idx="11">
                  <c:v>42.42</c:v>
                </c:pt>
                <c:pt idx="12">
                  <c:v>62.56</c:v>
                </c:pt>
              </c:numCache>
            </c:numRef>
          </c:val>
          <c:smooth val="0"/>
        </c:ser>
        <c:ser>
          <c:idx val="1"/>
          <c:order val="1"/>
          <c:tx>
            <c:strRef>
              <c:f>Sheet1!$C$1</c:f>
              <c:strCache>
                <c:ptCount val="1"/>
                <c:pt idx="0">
                  <c:v>CIMA F</c:v>
                </c:pt>
              </c:strCache>
            </c:strRef>
          </c:tx>
          <c:spPr>
            <a:ln w="28575">
              <a:solidFill>
                <a:srgbClr val="EFAC62"/>
              </a:solidFill>
            </a:ln>
          </c:spPr>
          <c:marker>
            <c:spPr>
              <a:solidFill>
                <a:srgbClr val="EFAC62"/>
              </a:solidFill>
              <a:ln>
                <a:solidFill>
                  <a:srgbClr val="EFAC62"/>
                </a:solidFill>
              </a:ln>
            </c:spPr>
          </c:marker>
          <c:cat>
            <c:strRef>
              <c:f>Sheet1!$A$2:$A$14</c:f>
              <c:strCache>
                <c:ptCount val="13"/>
                <c:pt idx="0">
                  <c:v>20</c:v>
                </c:pt>
                <c:pt idx="1">
                  <c:v>25</c:v>
                </c:pt>
                <c:pt idx="2">
                  <c:v>30</c:v>
                </c:pt>
                <c:pt idx="3">
                  <c:v>35</c:v>
                </c:pt>
                <c:pt idx="4">
                  <c:v>40</c:v>
                </c:pt>
                <c:pt idx="5">
                  <c:v>45</c:v>
                </c:pt>
                <c:pt idx="6">
                  <c:v>50</c:v>
                </c:pt>
                <c:pt idx="7">
                  <c:v>55</c:v>
                </c:pt>
                <c:pt idx="8">
                  <c:v>60</c:v>
                </c:pt>
                <c:pt idx="9">
                  <c:v>65</c:v>
                </c:pt>
                <c:pt idx="10">
                  <c:v>70</c:v>
                </c:pt>
                <c:pt idx="11">
                  <c:v>75</c:v>
                </c:pt>
                <c:pt idx="12">
                  <c:v>80</c:v>
                </c:pt>
              </c:strCache>
            </c:strRef>
          </c:cat>
          <c:val>
            <c:numRef>
              <c:f>Sheet1!$C$2:$C$14</c:f>
              <c:numCache>
                <c:formatCode>0.00</c:formatCode>
                <c:ptCount val="13"/>
                <c:pt idx="0">
                  <c:v>0.84</c:v>
                </c:pt>
                <c:pt idx="1">
                  <c:v>0.94</c:v>
                </c:pt>
                <c:pt idx="2">
                  <c:v>1.08</c:v>
                </c:pt>
                <c:pt idx="3">
                  <c:v>1.34</c:v>
                </c:pt>
                <c:pt idx="4">
                  <c:v>1.89</c:v>
                </c:pt>
                <c:pt idx="5">
                  <c:v>2.85</c:v>
                </c:pt>
                <c:pt idx="6">
                  <c:v>3.87</c:v>
                </c:pt>
                <c:pt idx="7">
                  <c:v>5.09</c:v>
                </c:pt>
                <c:pt idx="8">
                  <c:v>7.2</c:v>
                </c:pt>
                <c:pt idx="9">
                  <c:v>10.86</c:v>
                </c:pt>
                <c:pt idx="10">
                  <c:v>15.56</c:v>
                </c:pt>
                <c:pt idx="11">
                  <c:v>22.2</c:v>
                </c:pt>
                <c:pt idx="12">
                  <c:v>32.91</c:v>
                </c:pt>
              </c:numCache>
            </c:numRef>
          </c:val>
          <c:smooth val="0"/>
        </c:ser>
        <c:ser>
          <c:idx val="2"/>
          <c:order val="2"/>
          <c:tx>
            <c:strRef>
              <c:f>Sheet1!$D$1</c:f>
              <c:strCache>
                <c:ptCount val="1"/>
                <c:pt idx="0">
                  <c:v>TD CIMA</c:v>
                </c:pt>
              </c:strCache>
            </c:strRef>
          </c:tx>
          <c:spPr>
            <a:ln w="28575">
              <a:solidFill>
                <a:srgbClr val="53565A"/>
              </a:solidFill>
            </a:ln>
          </c:spPr>
          <c:marker>
            <c:spPr>
              <a:solidFill>
                <a:srgbClr val="53565A"/>
              </a:solidFill>
              <a:ln>
                <a:solidFill>
                  <a:srgbClr val="53565A"/>
                </a:solidFill>
              </a:ln>
            </c:spPr>
          </c:marker>
          <c:cat>
            <c:strRef>
              <c:f>Sheet1!$A$2:$A$14</c:f>
              <c:strCache>
                <c:ptCount val="13"/>
                <c:pt idx="0">
                  <c:v>20</c:v>
                </c:pt>
                <c:pt idx="1">
                  <c:v>25</c:v>
                </c:pt>
                <c:pt idx="2">
                  <c:v>30</c:v>
                </c:pt>
                <c:pt idx="3">
                  <c:v>35</c:v>
                </c:pt>
                <c:pt idx="4">
                  <c:v>40</c:v>
                </c:pt>
                <c:pt idx="5">
                  <c:v>45</c:v>
                </c:pt>
                <c:pt idx="6">
                  <c:v>50</c:v>
                </c:pt>
                <c:pt idx="7">
                  <c:v>55</c:v>
                </c:pt>
                <c:pt idx="8">
                  <c:v>60</c:v>
                </c:pt>
                <c:pt idx="9">
                  <c:v>65</c:v>
                </c:pt>
                <c:pt idx="10">
                  <c:v>70</c:v>
                </c:pt>
                <c:pt idx="11">
                  <c:v>75</c:v>
                </c:pt>
                <c:pt idx="12">
                  <c:v>80</c:v>
                </c:pt>
              </c:strCache>
            </c:strRef>
          </c:cat>
          <c:val>
            <c:numRef>
              <c:f>Sheet1!$D$2:$D$14</c:f>
              <c:numCache>
                <c:formatCode>0.00</c:formatCode>
                <c:ptCount val="13"/>
                <c:pt idx="0">
                  <c:v>1.35</c:v>
                </c:pt>
                <c:pt idx="1">
                  <c:v>1.6</c:v>
                </c:pt>
                <c:pt idx="2">
                  <c:v>1.83</c:v>
                </c:pt>
                <c:pt idx="3">
                  <c:v>2.64</c:v>
                </c:pt>
                <c:pt idx="4">
                  <c:v>3.9</c:v>
                </c:pt>
                <c:pt idx="5">
                  <c:v>5.87</c:v>
                </c:pt>
                <c:pt idx="6">
                  <c:v>8.94</c:v>
                </c:pt>
                <c:pt idx="7">
                  <c:v>13.71</c:v>
                </c:pt>
                <c:pt idx="8">
                  <c:v>21.11</c:v>
                </c:pt>
                <c:pt idx="9">
                  <c:v>32.55</c:v>
                </c:pt>
                <c:pt idx="10">
                  <c:v>50.12</c:v>
                </c:pt>
                <c:pt idx="11">
                  <c:v>76.92</c:v>
                </c:pt>
                <c:pt idx="12">
                  <c:v>117.24</c:v>
                </c:pt>
              </c:numCache>
            </c:numRef>
          </c:val>
          <c:smooth val="0"/>
        </c:ser>
        <c:ser>
          <c:idx val="3"/>
          <c:order val="3"/>
          <c:tx>
            <c:strRef>
              <c:f>Sheet1!$E$1</c:f>
              <c:strCache>
                <c:ptCount val="1"/>
                <c:pt idx="0">
                  <c:v>TV CIMA</c:v>
                </c:pt>
              </c:strCache>
            </c:strRef>
          </c:tx>
          <c:spPr>
            <a:ln w="28575">
              <a:solidFill>
                <a:srgbClr val="BBBCBC"/>
              </a:solidFill>
            </a:ln>
          </c:spPr>
          <c:marker>
            <c:spPr>
              <a:solidFill>
                <a:srgbClr val="BBBCBC"/>
              </a:solidFill>
              <a:ln>
                <a:solidFill>
                  <a:srgbClr val="BBBCBC"/>
                </a:solidFill>
              </a:ln>
            </c:spPr>
          </c:marker>
          <c:cat>
            <c:strRef>
              <c:f>Sheet1!$A$2:$A$14</c:f>
              <c:strCache>
                <c:ptCount val="13"/>
                <c:pt idx="0">
                  <c:v>20</c:v>
                </c:pt>
                <c:pt idx="1">
                  <c:v>25</c:v>
                </c:pt>
                <c:pt idx="2">
                  <c:v>30</c:v>
                </c:pt>
                <c:pt idx="3">
                  <c:v>35</c:v>
                </c:pt>
                <c:pt idx="4">
                  <c:v>40</c:v>
                </c:pt>
                <c:pt idx="5">
                  <c:v>45</c:v>
                </c:pt>
                <c:pt idx="6">
                  <c:v>50</c:v>
                </c:pt>
                <c:pt idx="7">
                  <c:v>55</c:v>
                </c:pt>
                <c:pt idx="8">
                  <c:v>60</c:v>
                </c:pt>
                <c:pt idx="9">
                  <c:v>65</c:v>
                </c:pt>
                <c:pt idx="10">
                  <c:v>70</c:v>
                </c:pt>
                <c:pt idx="11">
                  <c:v>75</c:v>
                </c:pt>
                <c:pt idx="12">
                  <c:v>80</c:v>
                </c:pt>
              </c:strCache>
            </c:strRef>
          </c:cat>
          <c:val>
            <c:numRef>
              <c:f>Sheet1!$E$2:$E$14</c:f>
              <c:numCache>
                <c:formatCode>0.00</c:formatCode>
                <c:ptCount val="13"/>
                <c:pt idx="0">
                  <c:v>0.62</c:v>
                </c:pt>
                <c:pt idx="1">
                  <c:v>0.78</c:v>
                </c:pt>
                <c:pt idx="2">
                  <c:v>1.03</c:v>
                </c:pt>
                <c:pt idx="3">
                  <c:v>1.32</c:v>
                </c:pt>
                <c:pt idx="4">
                  <c:v>1.82</c:v>
                </c:pt>
                <c:pt idx="5">
                  <c:v>2.66</c:v>
                </c:pt>
                <c:pt idx="6">
                  <c:v>4.08</c:v>
                </c:pt>
                <c:pt idx="7">
                  <c:v>6.46</c:v>
                </c:pt>
                <c:pt idx="8">
                  <c:v>10.48</c:v>
                </c:pt>
                <c:pt idx="9">
                  <c:v>17.22</c:v>
                </c:pt>
                <c:pt idx="10">
                  <c:v>28.5</c:v>
                </c:pt>
                <c:pt idx="11">
                  <c:v>47.25</c:v>
                </c:pt>
                <c:pt idx="12">
                  <c:v>78.09</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BBBCBC"/>
            </a:solidFill>
          </a:ln>
        </c:spPr>
        <c:txPr>
          <a:bodyPr/>
          <a:lstStyle/>
          <a:p>
            <a:pPr>
              <a:defRPr sz="1000"/>
            </a:pPr>
          </a:p>
        </c:txPr>
        <c:crossAx val="2140495176"/>
        <c:crosses val="autoZero"/>
        <c:auto val="1"/>
        <c:lblAlgn val="ctr"/>
        <c:lblOffset val="100"/>
        <c:noMultiLvlLbl val="0"/>
      </c:catAx>
      <c:valAx>
        <c:axId val="2140495176"/>
        <c:scaling/>
        <c:delete val="0"/>
        <c:axPos val="l"/>
        <c:numFmt formatCode="0.00" sourceLinked="0"/>
        <c:majorTickMark val="out"/>
        <c:minorTickMark val="none"/>
        <c:tickLblPos val="nextTo"/>
        <c:spPr>
          <a:ln>
            <a:noFill/>
          </a:ln>
        </c:spPr>
        <c:txPr>
          <a:bodyPr/>
          <a:lstStyle/>
          <a:p>
            <a:pPr>
              <a:defRPr sz="1000"/>
            </a:pPr>
          </a:p>
        </c:txPr>
        <c:crossAx val="2118791784"/>
        <c:crosses val="autoZero"/>
      </c:valAx>
    </c:plotArea>
    <c:legend>
      <c:legendPos val="b"/>
      <c:layout/>
      <c:overlay val="0"/>
      <c:txPr>
        <a:bodyPr/>
        <a:lstStyle/>
        <a:p>
          <a:pPr>
            <a:defRPr sz="1000"/>
          </a:pPr>
        </a:p>
      </c:txPr>
    </c:legend>
    <c:plotVisOnly val="1"/>
    <c:dispBlanksAs val="gap"/>
    <c:showDLblsOverMax val="0"/>
  </c:chart>
  <c:txPr>
    <a:bodyPr/>
    <a:lstStyle/>
    <a:p>
      <a:pPr>
        <a:defRPr sz="1000">
          <a:latin typeface="Helvetica"/>
        </a:defRPr>
      </a:pPr>
      <a:endParaRPr lang="en-US"/>
    </a:p>
  </c:tx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Scénario A : tendance 2023 à 2025</c:v>
                </c:pt>
              </c:strCache>
            </c:strRef>
          </c:tx>
          <c:spPr>
            <a:solidFill>
              <a:srgbClr val="EFAC62"/>
            </a:solidFill>
          </c:spPr>
          <c:cat>
            <c:strRef>
              <c:f>Sheet1!$A$2:$A$6</c:f>
              <c:strCache>
                <c:ptCount val="5"/>
                <c:pt idx="0">
                  <c:v>2026</c:v>
                </c:pt>
                <c:pt idx="1">
                  <c:v>2027</c:v>
                </c:pt>
                <c:pt idx="2">
                  <c:v>2028</c:v>
                </c:pt>
                <c:pt idx="3">
                  <c:v>2029</c:v>
                </c:pt>
                <c:pt idx="4">
                  <c:v>2030</c:v>
                </c:pt>
              </c:strCache>
            </c:strRef>
          </c:cat>
          <c:val>
            <c:numRef>
              <c:f>Sheet1!$B$2:$B$6</c:f>
              <c:numCache>
                <c:formatCode># ##0,,</c:formatCode>
                <c:ptCount val="5"/>
                <c:pt idx="0">
                  <c:v>-717817033</c:v>
                </c:pt>
                <c:pt idx="1">
                  <c:v>-2769949168</c:v>
                </c:pt>
                <c:pt idx="2">
                  <c:v>-6540099684</c:v>
                </c:pt>
                <c:pt idx="3">
                  <c:v>-13297145940</c:v>
                </c:pt>
                <c:pt idx="4">
                  <c:v>-25229464300</c:v>
                </c:pt>
              </c:numCache>
            </c:numRef>
          </c:val>
        </c:ser>
        <c:ser>
          <c:idx val="1"/>
          <c:order val="1"/>
          <c:tx>
            <c:strRef>
              <c:f>Sheet1!$C$1</c:f>
              <c:strCache>
                <c:ptCount val="1"/>
                <c:pt idx="0">
                  <c:v>Scénario B : prestations au rythme des cotisations</c:v>
                </c:pt>
              </c:strCache>
            </c:strRef>
          </c:tx>
          <c:spPr>
            <a:solidFill>
              <a:srgbClr val="112A40"/>
            </a:solidFill>
          </c:spPr>
          <c:cat>
            <c:strRef>
              <c:f>Sheet1!$A$2:$A$6</c:f>
              <c:strCache>
                <c:ptCount val="5"/>
                <c:pt idx="0">
                  <c:v>2026</c:v>
                </c:pt>
                <c:pt idx="1">
                  <c:v>2027</c:v>
                </c:pt>
                <c:pt idx="2">
                  <c:v>2028</c:v>
                </c:pt>
                <c:pt idx="3">
                  <c:v>2029</c:v>
                </c:pt>
                <c:pt idx="4">
                  <c:v>2030</c:v>
                </c:pt>
              </c:strCache>
            </c:strRef>
          </c:cat>
          <c:val>
            <c:numRef>
              <c:f>Sheet1!$C$2:$C$6</c:f>
              <c:numCache>
                <c:formatCode># ##0,,</c:formatCode>
                <c:ptCount val="5"/>
                <c:pt idx="0">
                  <c:v>481613179</c:v>
                </c:pt>
                <c:pt idx="1">
                  <c:v>628977752</c:v>
                </c:pt>
                <c:pt idx="2">
                  <c:v>795518729</c:v>
                </c:pt>
                <c:pt idx="3">
                  <c:v>983456480</c:v>
                </c:pt>
                <c:pt idx="4">
                  <c:v>1195261600</c:v>
                </c:pt>
              </c:numCache>
            </c:numRef>
          </c:val>
        </c:ser>
        <c:dLbls>
          <c:numFmt formatCode="# ##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low"/>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l"/>
        <c:numFmt formatCode="# ##0,," sourceLinked="0"/>
        <c:majorTickMark val="out"/>
        <c:minorTickMark val="none"/>
        <c:tickLblPos val="nextTo"/>
        <c:spPr>
          <a:ln>
            <a:noFill/>
          </a:ln>
        </c:spPr>
        <c:txPr>
          <a:bodyPr/>
          <a:lstStyle/>
          <a:p>
            <a:pPr>
              <a:defRPr sz="1000"/>
            </a:pPr>
          </a:p>
        </c:txPr>
        <c:crossAx val="-2068027336"/>
        <c:crosses val="autoZero"/>
      </c:valAx>
    </c:plotArea>
    <c:legend>
      <c:legendPos val="b"/>
      <c:overlay val="0"/>
      <c:txPr>
        <a:bodyPr/>
        <a:lstStyle/>
        <a:p>
          <a:pPr>
            <a:defRPr sz="1000"/>
          </a:pPr>
        </a:p>
      </c:txPr>
    </c:legend>
    <c:dispBlanksAs val="gap"/>
  </c:chart>
  <c:txPr>
    <a:bodyPr/>
    <a:lstStyle/>
    <a:p>
      <a:pPr>
        <a:defRPr sz="1000">
          <a:latin typeface="Helvetica"/>
        </a:defRPr>
      </a:pPr>
      <a:endParaRPr lang="en-US"/>
    </a:p>
  </c:txPr>
  <c:externalData r:id="rId1">
    <c:autoUpdate val="0"/>
  </c:externalData>
</c:chartSpac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8E2DAE2-9FC7-48A6-84A5-82A6F426499B}" type="datetimeFigureOut">
              <a:rPr lang="fr-FR" smtClean="0"/>
              <a:t>22/09/2026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2AB2686-849E-4084-A991-5071DA2BBBBD}" type="slidenum">
              <a:rPr lang="fr-FR" smtClean="0"/>
              <a:t>‹N°›</a:t>
            </a:fld>
            <a:endParaRPr lang="fr-FR"/>
          </a:p>
        </p:txBody>
      </p:sp>
    </p:spTree>
    <p:extLst>
      <p:ext uri="{BB962C8B-B14F-4D97-AF65-F5344CB8AC3E}">
        <p14:creationId xmlns:p14="http://schemas.microsoft.com/office/powerpoint/2010/main" val="7107281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Taux de précompte = montant retour / montant aller sur les mois où les deux fichiers existent. Un taux supérieur à 100 % signifie que le fichier aller était incomplet (cas du PEP en juillet 2024).</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six constats sont classés du plus général (données) au plus réglementaire (normes). Les chiffres sont exacts et proviennent des balances comptables et des précomptes. Le constat « actifs peu liquides » repose sur la nature des comptes (investissements, terrains, créances) ; leur valeur réelle n'a pas été expertisée.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Rapport d'étape (réponse aux quatre demandes, revue actuarielle complète, adossement actif-passif ; documents du 22/10/2026, périmètre et validité, provision du personnel recalculée, contrôles croisés ; analyses de sensibilité et leviers de conformité ; statuts et règlement intérieur ; réponse aux quatre tâches actuarielles ; entretiens placements et provisions du 19/10/2026 ; revue des provisions, choix des formules et tableau des formules ; entretien cotisations du 19/10/2026 intégré). Données arrêtées à l'envoi du FPPN reçu le 15/10/2026, complétées le 18/10/2026 (grands livres PDF, inflation Banque mondiale, tables CIMA, documentation publique de l'AIRMS).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rapport suit l'ordre : résumé exécutif (réponse aux quatre demandes), compréhension du FPPN, démarche, données, analyses par thème, adossement actif-passif et placements, conformité prudentielle, tables de mortalité, projection de l'équilibre technique, outils, analyses en attente, annexes.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Cette partie peut être présentée seule : elle reprend les messages essentiels du rapport, avec les chiffres et les renvois aux parties détaillées.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Échelle des verdicts : « Démontré » (les documents reçus permettent de conclure et la conclusion est favorable), « Partiellement démontré » (une partie est mesurée, une partie ne l'est pas), « Insuffisant » (les mesures montrent un manque), « Non démontrable » (les documents reçus ne permettent pas de conclure).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engagement est ce que le FPPN devra payer plus tard au titre de droits déjà acquis par les adhérents et leurs ayants droit. Le tableau reprend chaque engagement, sa valeur et la diapositive qui la démontre.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Une provision est suffisante si elle couvre ce que le FPPN devra payer pour des prestations déjà nées. Le tableau compare chaque provision du bilan au besoin mesuré sur les documents reçus.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L'adossement vérifie que l'argent disponible arrive au moment où le FPPN doit payer. Sans échéancier de l'épargne, les sorties sont estimées avec les taux de sortie observés de 2021 à 2025.</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portefeuille est adéquat s'il permet de payer les engagements à leur échéance, avec sécurité, liquidité, rendement et diversification (règlement d'exécution n° 004/2022, art. 17).</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probables. Pourquoi « fragile » malgré des excédents ? Parce que les excédents annuels ne suffisent pas encore à effacer les pertes passées (fonds propres négatifs) et que l'épargne due aux mutualistes n'est pas couverte par des actifs disponibles. Pourquoi « peu documenté » ? Aucune base de prestations, pas de date de naissance des mutualistes, pas de barème officiel transmis. Pourquoi « hors normes » ? Les ratios de la Décision n° 05/2022/COM/UEMOA, appliqués aux balances, ne sont pas respectés pour la réserve obligatoire, les fonds propres, la liquidité et les frais. Chaque ligne renvoie à une partie détaillée du rapport.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Tableau de synthèse au format du rapport de diagnostic : section, constat chiffré, impact, origine du constat et niveau de criticité. Chiffres identiques à ceux du corps du rapport.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Tableau de synthèse au format du rapport de diagnostic : section, constat chiffré, impact, origine du constat et niveau de criticité. Chiffres identiques à ceux du corps du rapport.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Comment lire : chaque ligne donne un indicateur, sa valeur et sa définition. Les quatre valeurs sont calculées sur les fichiers du FPPN et détaillées dans les parties 5, 6, 7 et 4. Le précompte des prêts mesure la part des échéances effectivement retenue sur salaire ; l'écart peut être payé autrement (caisse, banque), ce que le Grenier doit confirmer.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schéma résume les flux d'argent. Les mutualistes cotisent par précompte sur salaire (Solde) ou sur pension (CGRAE). Le FPPN paie les prestations maladie (cliniques, pharmacies) et décès (familles), gère l'épargne (PEP, EFC), finance les prêts du Grenier et des investissements (CMP, terrains). Les montants sont ceux de la comptabilité 2025 et du bilan au 31/08/2026.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11"/>
        <p:cNvGrpSpPr/>
        <p:nvPr/>
      </p:nvGrpSpPr>
      <p:grpSpPr>
        <a:xfrm>
          <a:off x="0" y="0"/>
          <a:ext cx="0" cy="0"/>
          <a:chOff x="0" y="0"/>
          <a:chExt cx="0" cy="0"/>
        </a:xfrm>
      </p:grpSpPr>
      <p:sp>
        <p:nvSpPr>
          <p:cNvPr id="9212" name="Google Shape;9212;g1230f352834_0_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fr-CI"/>
          </a:p>
        </p:txBody>
      </p:sp>
      <p:sp>
        <p:nvSpPr>
          <p:cNvPr id="9213" name="Google Shape;9213;g1230f352834_0_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Lecture : chaque colonne relie une cause (en haut) à son effet (en bas). Les causes sont démontrées par les données. Le manque de liquidité et la dépréciation des prêts sont chiffrés (partie 9). Le coût réel des sinistres et la mesure des engagements par âge attendent la base des prestations et les dates de naissance.</a:t>
            </a:r>
          </a:p>
        </p:txBody>
      </p:sp>
    </p:spTree>
    <p:extLst>
      <p:ext uri="{BB962C8B-B14F-4D97-AF65-F5344CB8AC3E}">
        <p14:creationId xmlns:p14="http://schemas.microsoft.com/office/powerpoint/2010/main" val="3069930257"/>
      </p:ext>
    </p:extLst>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Graphique de gauche : rapport entre prestations et cotisations maladie comptabilisées, par exercice. Graphique de droite : épargne due aux mutualistes (passif) et actifs qui lui sont réservés. Les deux graphiques sont détaillés dans les parties 5 et 6.</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Gauche : fonds propres (résultat compris) à chaque clôture. Droite : encours des prêts du Grenier en fin d'année et au 31/08/2026. Détails dans les parties 9 et 7.</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statut est jugé sur les exercices 2022 à 2025, la Décision étant entrée en vigueur le 1er juin 2022. « Comme le FPPN » : comptes pris tels qu'ils sont tenus. « Retraité » : épargne des adhérents classée en ressource longue et avances au CMP, au Grenier et à l'Hôpital de la Police classées en emplois longs. Détail dans la partie 10.</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Format du rapport de diagnostic : recommandation, actions concrètes, priorité et horizon. Les numéros de la PBC renvoient à la liste des documents demandés du 23/10/2026.</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Format du rapport de diagnostic : recommandation, actions concrètes, priorité et horizon. Les numéros de la PBC renvoient à la liste des documents demandés du 23/10/2026.</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feuille de route ne fixe pas de dates : elles dépendent du délai de transmission des données par le FPPN. Chaque étape produit une mise à jour de ce rapport.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Cette partie donne au lecteur les clés pour comprendre la suite, sans connaissance préalable en actuariat.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Une mutuelle sociale n'est pas une compagnie d'assurance : elle est régie par le règlement UEMOA de 2009, pas par le Code CIMA. Le Code CIMA sert ici seulement de référence technique (tables de mortalité, taux d'actualisation), faute de règle équivalente dans les textes de la mutualité. Le répertoire de l'AIRMS mis à jour le 15/10/2026 cite le FPPN au n° 05 des mutuelles agréées et immatriculées ; le numéro et la date de son agrément restent à obtenir.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Lecture intégrale des statuts (43 pages) et du règlement intérieur (45 pages) transmis le 19/10/2026. Le tableau ne retient que les dispositions utiles aux tâches actuarielles. Les deux textes renvoient, pour les montants des prestations, à un « cahier des charges du régime des prestations sociales » et à un « tableau des allocations », reçus le 22/10/2026 (« CAHIER DE CHARGE  MALADIES ET INVAL-DECES 2021.pdf », « CARTOGRAPHIE DES RISQUES COUVERTS ET DES PRESTATIONS OFFERTES.docx »).</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Suite du tableau précédent. Le personnel civil de la Direction Générale perçoit un salaire ; les fonctionnaires de police en service à la Direction Générale perçoivent des indemnités (règlement intérieur, art. 31). L'indemnité de départ du décret n° 2017-210 vise les salariés ; la retraite des fonctionnaires relève de l'État (décret n° 2012-652 : 60 ou 65 ans selon le grade).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Chaque produit a un code de poste sur la fiche de paie (Solde) : 936 maladie, 8Z6 décès, 870 EFC, 998 PEP, 9X4 Grenier, 9W3 flotte, 8Z7 MEDOC. Les retraités sont précomptés par la CGRAE sur leur pension. Les montants moyens sont observés dans les fichiers de précomptes, pas tirés d'un barème (non reçu).</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Logigramme en couloirs : chaque couloir est un acteur. Rectangle : étape ; losange : décision ; forme ondulée : fichier ; cadre rouge : point de contrôle manquant. Le circuit est celui décrit par le responsable des cotisations le 19/10/2026 ; la procédure écrite est demandée au FPPN. Les formes sont modifiables dans PowerPoint.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tableau reprend les circuits décrits le 19/10/2026. Le fichier aller contient le mécano, le nom, le code du poste, une référence et le montant ; la Solde retrouve le mutualiste par son mécano.</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résultat de l'exercice est la différence entre produits et charges (y compris les éléments exceptionnels, dits hors activités ordinaires). En 2025, il reste positif, mais il diminue depuis 2021 (partie 5).</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définitions sont volontairement simples. Les formules exactes figurent dans les diapositives « méthode » de chaque partie et dans l'annexe des méthodes.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quatre questions viennent du dossier de préparation de la mission ; les trois axes complémentaires (données, conformité, équilibre) en découlent. La colonne « état » dit honnêtement ce qui est fait et ce qui attend des données.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résultat mesuré sur quelques mois, une partie de la population ou un seul document ne peut pas être étendu au reste sans vérification. Le tableau donne, pour chaque famille d'analyses, ce qui a été mesuré et ce à quoi le résultat ne doit pas être généralisé.</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taille de chaque fichier reçu a été comparée à celle relevée sur le poste du FPPN avant l'envoi : aucun fichier n'a été altéré pendant le transfert.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Logigramme modifiable dans PowerPoint. Ovale : début ou fin ; rectangle : traitement ; losange : contrôle avec sa décision ; forme ondulée : document produit. Chaque étape correspond à un script Python conservé dans le dossier de la mission ; chaque contrôle est automatique.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Exhaustivité : rien n'est perdu entre le fichier reçu et la base. Cohérence : les totaux imprimés par les logiciels sont retrouvés. Rapprochement : deux sources qui décrivent le même flux doivent concorder. Limite : la fidélité aux fichiers n'est pas l'exactitude des fichiers.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mois est compté comme reçu quand au moins un fichier lisible le couvre. Les balances comptables couvrent l'année entière en totaux annuels ; le détail des écritures de janvier à août 2020 manque.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Lecture : (1) la colonne matricule de la dernière ligne contient un nombre de lignes, pas un matricule ; (2) le montant est la somme de toutes les lignes au-dessus ; (3) compter cette ligne aurait doublé le total du mois. Règle appliquée : une ligne dont le montant égale la somme des autres (à 1 % près) est écartée. Au total, 87 lignes de ce type ont été écartées. Noms et matricules masqués.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Lecture : (1) le montant source répète deux fois la même suite de chiffres ; (2) un précompte décès de plusieurs milliards de FCFA par agent est impossible (médiane du poste : environ 2 300 FCFA) ; (3) le montant retenu est la première moitié. Correction appliquée seulement au poste décès, au-delà d'un million de FCFA, et signalée au FPPN.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8788" y="720725"/>
            <a:ext cx="6397625" cy="3598863"/>
          </a:xfrm>
        </p:spPr>
        <p:txBody>
          <a:bodyPr/>
          <a:lstStyle/>
          <a:p>
            <a:endParaRPr lang="fr-CI"/>
          </a:p>
        </p:txBody>
      </p:sp>
      <p:sp>
        <p:nvSpPr>
          <p:cNvPr id="3" name="Notes Placeholder 2"/>
          <p:cNvSpPr>
            <a:spLocks noGrp="1"/>
          </p:cNvSpPr>
          <p:nvPr>
            <p:ph type="body" idx="1"/>
          </p:nvPr>
        </p:nvSpPr>
        <p:spPr/>
        <p:txBody>
          <a:bodyPr/>
          <a:lstStyle/>
          <a:p>
            <a:r>
              <a:t>Chaque anneau donne un pourcentage. La trésorerie totale (toutes banques et caisses) ne représente qu'une petite part de l'épargne due. Les prêts en retard sont mesurés ici en nombre de prêts ; en montant d'encours, la part est plus faible (voir partie 7).</a:t>
            </a:r>
          </a:p>
        </p:txBody>
      </p:sp>
      <p:sp>
        <p:nvSpPr>
          <p:cNvPr id="4" name="Slide Number Placeholder 3"/>
          <p:cNvSpPr>
            <a:spLocks noGrp="1"/>
          </p:cNvSpPr>
          <p:nvPr>
            <p:ph type="sldNum" sz="quarter" idx="10"/>
          </p:nvPr>
        </p:nvSpPr>
        <p:spPr/>
        <p:txBody>
          <a:bodyPr/>
          <a:lstStyle/>
          <a:p>
            <a:pPr>
              <a:defRPr/>
            </a:pPr>
            <a:fld id="{DB19E439-0A36-4389-B1D4-036D35E9F4EA}" type="slidenum">
              <a:rPr lang="en-US" smtClean="0"/>
              <a:pPr>
                <a:defRPr/>
              </a:pPr>
              <a:t>107</a:t>
            </a:fld>
            <a:endParaRPr lang="en-US"/>
          </a:p>
        </p:txBody>
      </p:sp>
    </p:spTree>
    <p:extLst>
      <p:ext uri="{BB962C8B-B14F-4D97-AF65-F5344CB8AC3E}">
        <p14:creationId xmlns:p14="http://schemas.microsoft.com/office/powerpoint/2010/main" val="1278848441"/>
      </p:ext>
    </p:extLst>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Janvier 2025 : le fichier retour compte moins de lignes que le fichier aller, des précomptes n'ont pas été faits. Juillet 2024 : le fichier retour compte plus de lignes que le fichier aller, le fichier aller n'incluait pas les nouveaux épargnants (le fichier aller d'août 2024 en compte nettement plus).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fichier vide (0 octet) ne contient aucune donnée ; un fichier endommagé a une partie de ses données détruite (souvent lors d'une copie ou d'un transfert). Aucun de ces défauts ne vient du traitement d'Adenka : les empreintes prouvent que les fichiers sont identiques à ceux reçus.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Contrôles de complétude (valeur manquante) et de cohérence (doublons dans un mois, montants nuls ou négatifs, dates incohérentes) sur les lignes retenues de janvier 2020 à août 2026. Calculs par âge : possibles si la date de naissance est présente sur plus de la moitié des lignes.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Message pour le client : la qualité de l'analyse dépend désormais de la transmission des données manquantes, pas du traitement.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montants des états financiers ont été relevés sur les pages « Bilan Actif » et « Bilan Passif » des PDF scannés, puis comparés aux balances utilisées dans tout le rapport. La trésorerie-actif des états financiers est comparée à la somme des soldes débiteurs de la classe 5, car les découverts figurent au passif.</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sources indépendantes sont comparées : l'étude des ratios du FPPN (nombre d'adhérents par période) et les fichiers retour 8Z6 de la Solde (une ligne par policier précompté). La seconde partie du tableau rapporte, agent par agent, le précompte décès (8Z6) au précompte maladie (936) du même mois : la clé 3,77 / 1,23 donne un rapport de 0,3263.</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Chaque état de rapprochement compare, à une date, le solde du compte dans la comptabilité du FPPN et le solde du relevé de la banque, puis liste les opérations qui expliquent l'écart. Les chèques émis par le FPPN mais pas encore présentés à la banque figurent dans cette liste.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Effectif du mois m = nombre de matricules distincts du fichier maladie 936 du mois m. Entrée = matricule présent en m et absent en m-1 ; sortie = l'inverse. Taux de cotisation = précompte du mois / salaire de base du mois.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droite de tendance estimée par moindres carrés donne une hausse de 296,28 cotisants par mois (intervalle de confiance à 95 % : 241,31 à 351,25). La probabilité d'observer une telle pente si la vraie pente était nulle est inférieure à 0,01 % (p-valeur 6.91e-12). La hausse se fait par paliers en juillet, ce qui rend la droite seulement approximative (R² = 0,81).</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mois sans mois précédent disponible (janvier 2024, janvier 2025 après le fichier vide de décembre 2024) n'ont pas de flux calculé. Les sorties de novembre 2024 et janvier 2026 sont plus nombreuses : leur motif doit être demandé au FPPN (départs à la retraite de fin d'année probables, non vérifiés).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L'ancienneté est calculée à partir de la date de recrutement du fichier détaillé de janvier 2025. Elle ne donne pas l'âge : deux agents de même ancienneté peuvent avoir des âges différents. Pour cette raison, aucune hypothèse d'âge n'a été faite.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Calcul pour le premier agent : 11 354 / 301 159 = 3,77 % (maladie) ; 3 704 / 301 159 = 1,23 % (décès) ; total 5,00 %. Le barème fixé par l'article 17 des statuts du FPPN est de 3,5 % et 1,5 %. Le total est donc bon mais la répartition diffère. Matricules masqués.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clé comptable est la part des cotisations maladie (compte 70100000) dans le total des cotisations maladie et décès (comptes 70100000 et 70210000) de 2025, multipliée par 5 %. Elle est proche du barème indiqué en entretien, pas de la clé de la Solde.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Calcul : S/C maladie = prestations maladie / (cotisations totales × part maladie). Avec la clé de la Solde (75,40 %), la part des cotisations affectée à la maladie augmente, donc le ratio maladie baisse et le ratio décès monte. Les prestations ne changent pas : seule l'affectation des cotisations change.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Méthode : indice des prix base 100 en 2020, construit en cumulant l'inflation annuelle de la Banque mondiale (2021 : 4,16 % ; 2022 : 5,23 % ; 2023 : 4,37 % ; 2024 : 3,45 % ; 2025 : 0,13 %). Cotisations réelles = cotisations nominales × 100 / indice. Elles mesurent le pouvoir d'achat des cotisations en francs de 2020.</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Rapprochement 2025 : cotisations maladie comptabilisées comparées aux précomptes maladie (12 mois) et retraités CGRAE (12 mois). Les cotisations à recevoir du Trésor (compte 41111000) mesurent ce que l'État doit encore au FPPN à la clôture.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Colonne « règle déclarée » : déclaration du responsable des cotisations, entretien du 19/10/2026. Colonne « fichiers » : fichiers retour de janvier 2020 à août 2026 reçus le 15/10/2026, part des lignes de chaque montant.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Logigramme du parcours d'une recrue, de l'école de police au premier précompte, tel que décrit par le responsable des cotisations le 19/10/2026. Cadre rouge : étape à risque. Les formes sont modifiables dans PowerPoint.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question de la clé de répartition est la plus importante de cette partie : elle change le résultat de chaque garantie.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ratio comptable mélange les soins de l'année et les factures d'années antérieures payées ou comptabilisées dans l'année. Le vrai ratio (par année de survenance des soins) demande la base des prestations avec la date des soins.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compte 60120000 « Charges de prestations maladie » porte à lui seul plus de la moitié du total : il regroupe des prestations sans détail de nature, ce qui empêche l'analyse par type de soins. Montants exacts lus dans la balance 2025.</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Test de tendance (moindres carrés sur 2020 à 2025) : le S/C maladie progresse de 12,91 points par an (IC 95 % : 3,85 à 21,97 ; p-valeur 0,0167). Avec six points seulement, la tendance est significative au seuil de 5 % mais son rythme est imprécis.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taux de sinistralité répond à une question simple : sur 100 FCFA de cotisations, combien repartent en prestations ? Les formules diffèrent par ce qu'elles mettent au numérateur (quelles prestations, avec ou sans provisions) et au dénominateur (quelles cotisations). Le texte de référence est la Décision n° 05/2022, § 1.2.1.2.5.</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Période : les taux sont calculés de 2020 au 31/08/2026 pour montrer la tendance. La conformité n'est jugée que sur 2022 à 2025 : la Décision n° 05/2022 s'applique depuis le 1er juin 2022, et 2026 ne couvre que huit mois, sur une balance provisoire, sans annualisation. 2020, 2021 et 2026 sont donc indicatifs.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méthode du FPPN figure dans la feuille Notes de son étude des ratios. Elle est comparée à la formule de la Décision n° 05/2022. Les deux méthodes répondent à la même question (part des cotisations consommée par les prestations), mais pas avec les mêmes montants.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tableau compare, année par année, les montants de l'étude du FPPN (feuille Tableau) et ceux des balances : cotisations décès (compte 7021) et prestations décès (comptes 6021 et 6024). En 2020, un assureur portait la garantie : la prime d'assurance décès (compte 65180000) remplace les prestations.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taux brut rapporte les décès de membres participants de l'année au nombre d'adhérents retenu par le FPPN. Il ne tient pas compte de l'âge : faute de dates de naissance des mutualistes, il ne peut pas être comparé aux décès attendus par la table CIMA H (rapport A/E de la partie 12).</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Risque court : couvert pour une durée d'un an au plus, réglé rapidement (règlement d'exécution n° 004/2022). Risque long : engagement sur plusieurs années (épargne, rentes). La classification CIMA (vie, non-vie) sert de référence technique pour les méthodes de provision, faute de méthode dans les textes UEMOA.</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taux de croissance annuel moyen (TCAM) est le taux constant qui mène de la valeur de départ à la valeur d'arrivée : TCAM = (V_fin / V_début)^(1/n) - 1. Une régression du logarithme des prestations sur le temps donne une croissance annuelle moyenne de 121,21 % (IC 95 % : 56,12 % à 213,44 %), estimation plus robuste aux valeurs extrêmes que le TCAM.</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Lecture : chaque couleur est une nature de soins. La catégorie « autres prestations maladie » correspond aux comptes 6012x, dont le compte global 60120000. Imagerie, analyses et consultations sont les natures détaillées qui progressent le plus.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Frais de gestion = comptes 61 à 66, hors prime d'assurance décès. Résultat = produits - charges + résultat hors activités ordinaires (classe 8). Les huit mois de 2026 n'intègrent pas les écritures de fin d'année (amortissements, provisions).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Formule du rapport : frais de gestion (comptes 61 à 66, hors prime d'assurance décès 6518) / cotisations maladie et décès (7010 + 7021). Formule du texte (Décision n° 05/2022, tableau 1) : charges de fonctionnement (612, 613, 618, 62 à 68) / cotisations acquises (70 + 7906 - 6906). La méthode du FPPN n'a pas été communiquée.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hausse rapide du ratio maladie est le principal risque technique : à ce rythme, les cotisations maladie ne couvriront plus les prestations.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L'épargne PEP et EFC appartient aux mutualistes : c'est une dette du FPPN. Un bon adossement suppose des actifs liquides et réservés d'un montant au moins égal à la part exigible.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Montants lus dans la balance au 31/08/2026 (provisoire). Les soldes créditeurs du passif sont affichés en valeur positive. Le fonds commun de placement est compté comme actif réservé bien que sa destination ne soit pas précisée : la couverture réelle est donc au plus de ce niveau.</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L'épargne non couverte finance d'autres emplois : investissements au CMP, terrains, créance sur l'Hôpital de la Police, prêts du Grenier. Ces emplois ne sont pas mobilisables rapidement.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versements sont les précomptes retour de la Solde. La différence entre versements de l'année et variation du compte d'épargne mesure les sorties de l'année (échéances, retraits, transferts), sans pouvoir les détailler faute de comptes individuels.</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Scénarios théoriques, pas des prévisions : on suppose qu'une part de l'épargne est demandée en une fois et on la compare aux actifs réservés puis à toute la trésorerie (banques et caisses). Les conditions réelles de retrait (délais, pénalités, échéances) ne sont pas connues.</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référence est le code qui accompagne chaque précompte (exemple : PEP0522 = PEP souscrit en mai 2022). Les références PTI ont des montants mensuels importants et peu de mutualistes : elles pourraient correspondre à des remboursements de prêts, ce que le FPPN doit confirmer.</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L'adossement de l'épargne est le principal risque financier relevé.</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taux servi est l'intérêt que le FPPN doit ajouter à l'épargne de chaque mutualiste. Il fixe la valeur de l'engagement : à épargne égale, un taux plus élevé fait payer davantage au départ du mutualiste.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grand livre 2024 détaille chaque écriture des deux comptes d'épargne. Les écritures sont classées par nature d'après leur libellé : précomptes et cotisations, règlements EFC, remboursements PEP, rachats, autres. Une écriture d'intérêts servis porterait un libellé « intérêts » ou une contrepartie en charge (classe 67).</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calcul applique chaque taux écrit à l'encours EFC de fin d'année (compte 41195200), une hypothèse à la fois. La colonne à 14 % suppose un taux annuel : c'est une borne haute, car le cahier des charges ne précise pas la période. Les produits financiers sont ceux de la partie 9.</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Intérêts de l'année = épargne moyenne de l'année (moyenne du début et de la fin) × taux servi × nombre de mois / 12. Taux du manuel des produits d'épargne : PEP 3,5 %, EFC 5,5 %. Les intérêts ne sont pas capitalisés d'une année sur l'autre : le montant est donc un minimum. Pour 2020, le premier solde disponible est celui du 01/09/2020 (à-nouveaux de la balance 2020) : la moyenne du 01/09 et du 31/12/2020 est appliquée à toute l'année.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rapport de gestion détaillé de l'exercice 2025 (page 98, tableau 2 (III)) présente l'épargne PEP et EFC. Ses montants sont comparés aux mouvements et aux soldes des mêmes comptes dans la balance 2025.</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L'encours est le capital restant dû. Le retard (en jours) est celui imprimé par le logiciel de prêts. On mesure la part en nombre de prêts et en montant d'encours.</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Taux de croissance annuel moyen de l'encours de fin 2022 à fin 2025 : 65,64 %. La créance du FPPN sur le Grenier (compte 47111102) mesure le financement apporté.</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Production = montants débloqués sur la période (fichiers annuels de 2021 à 2025, mensuels par sous-portefeuille en 2026). La politique de crédit de 2021 est au format Word ancien et doit être renvoyée lisible pour vérifier taux, durées et plafonds.</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 31/08/2026, 150 prêts sur 2 959 ont plus de 30 jours de retard, soit 5,07 % des prêts (IC de Wilson à 95 % : 4,34 % à 5,92 %). En montant, la part est plus faible (1,83 %) : les prêts en retard sont de petits encours.</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Lecture : (1) le retard est imprimé en jours par le logiciel ; (2) trois de ces prêts ont un « mécano » de 2 ou 3 chiffres (142, 87, 166), alors qu'un mécano en compte 6 : ce sont des anomalies de saisie ; (3) ces prêts anciens ont encore un encours et doivent être provisionnés ou passés en perte. Noms masqués.</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Échéances = somme des montants d'échéance des prêts ayant un encours dans la balance âgée du mois. Précomptes = précomptes 9X4 retour du même mois. L'écart peut être payé hors Solde (caisse, banque) ou correspondre à des rejets.</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taux de perte théoriques (25 %, 50 %, 100 %) appliqués à l'encours en retard. Ce ne sont pas des estimations de perte, mais des ordres de grandeur pour fixer une provision. La politique de provisionnement doit être fixée par le FPPN.</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risque principal n'est pas la perte sur prêts, limitée, mais la mobilisation de l'épargne des mutualistes pour financer cette croissance.</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retraités cotisent sur leur pension par la CGRAE. Leur coût santé, supérieur à celui des actifs, devra être comparé à leur cotisation dès réception des factures. La convention IPS-CGRAE, reçue le 22/10/2026, ne fixe pas la cotisation.</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convention de partenariat entre l'IPS-CGRAE et le FPPN fixe les conditions du précompte, sur la pension de retraite, des cotisations de prise en charge médicale des policiers retraités. Le montant de la cotisation ne figure pas dans la convention : il relève du bulletin de souscription (annexe 2), non transmis.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Cotisation moyenne du mois = montant précompté par la CGRAE / nombre de retraités précomptés. L'engagement d'une garantie santé à vie se calcule avec l'âge de chaque retraité, son coût annuel de soins et une table de survie (CIMA F, partie 11).</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produits ne relèvent pas directement des garanties de base, mais ils transitent par le FPPN et engagent sa responsabilité vis-à-vis des adhérents. Aucun compte n'est intitulé « SCI » dans les balances ; les projets immobiliers figurent en comptes 4711120x.</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bilan est reconstitué à partir des soldes des balances et confronté aux états financiers reçus le 22/10/2026. Fonds propres = réserves + report à nouveau + pertes reportées + résultat de l'exercice.</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Lecture : (1) même montant au franc près de 2020 à 2026 ; (2) seul le numéro de compte change en 2024 (reclassement du compte 19 vers le compte 158) ; (3) une estimation recalculée chaque année varierait avec les dossiers en attente. La provision n'est donc pas une estimation actuelle.</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nombre de mois couverts n'est pas une norme : c'est un indicateur de cohérence. Une provision figée perd son sens quand les prestations changent : elle était très supérieure aux besoins en 2021 et diminue en proportion depuis. Seul un calcul fondé sur les dossiers dira si elle est suffisante.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règlement d'exécution n° 004/2022 (art. 8 à 11) prévoit la provision pour risques en cours, la provision pour prestations à payer (appelée ici PSAP, provision pour sinistres à payer), la provision mathématique, et toute autre provision fixée par la Commission de l'UEMOA. Une dépréciation d'actif (prêts) n'est pas une provision technique : elle relève du PCMS et du principe de prudence.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Une facture de clinique enregistrée en dette (compte 40110000) est déjà au passif : elle n'a pas à être provisionnée une seconde fois. La PSAP doit couvrir les soins réalisés avant la clôture mais pas encore facturés ou enregistrés, plus les sinistres non déclarés (art. 10). Comparer les deux montants permet de juger la cohérence de la provision.</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Logigramme modifiable dans PowerPoint, tiré du règlement intérieur (art. 52, 57 et 60) et du journal SIN des grands livres des tiers 2023 à 2025. Cadre rouge : point de contrôle manquant.</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règlement intérieur fixe le paiement d'une facture de clinique à trois mois après son dépôt (art. 52), le remboursement d'un mutualiste à six mois après sa demande, elle-même limitée à trois mois (art. 57 et 60). Délai moyen = factures non payées en fin de période / factures moyennes d'un mois.</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Méthode de la circulaire CIMA n° 00230/2005 (cadence des déclarations tardives), réduite à sa première année : l'année de chaque facture est lue dans son numéro (par exemple « E24-000042 » pour 2024). Une facture enregistrée en 2024 avec un numéro de 2023 est un sinistre de 2023 déclaré en retard.</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Provision nécessaire au compte 158 = soins de l'année facturés l'année suivante. Les factures déjà reçues sont au passif (compte 40110000) et ne doivent pas être provisionnées une seconde fois. Estimation élargie : factures en retard / part des factures dont l'année est lisible × (prestations maladie / factures de cliniques), pour couvrir les prestations payées hors du compte 40110000.</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Logigramme modifiable, tel que décrit par le chef comptable le 19/10/2026 et confirmé par les états de fin d'année 2021 à 2025. Barème appliqué dans les états : sous-officier 1 400 000 FCFA, officier 1 600 000 FCFA, commissaire 2 200 000 FCFA (le barème déclaré en entretien, 1 000 000 et 2 000 000 FCFA, n'est pas celui des fichiers).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Barème appliqué dans les fichiers : membre sous-officier 1 400 000 FCFA, officier 1 600 000, commissaire 2 200 000 ; conjoint 600 000 à 700 000 ; enfant 120 000 à 150 000. C'est le barème de la cartographie des risques, non celui déclaré en entretien le 19/10/2026.</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Dette en fin d'année = dette du début + allocations ajoutées par l'état de fin d'année - allocations payées. La provision obsèques (comptes 19012000 puis 15802000) n'est rattachée à aucun calcul transmis.</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Seuls les états 2021 et 2023 portent à la fois la date du décès et la date d'enregistrement du dossier. On retient les dossiers dont le décès est d'une année et l'enregistrement de l'année suivante.</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cotisations maladie et décès sont précomptées chaque mois sur la solde du mois (postes 936 et 8Z6) ou sur la pension (CGRAE) : la cotisation de décembre couvre décembre. Le Code CIMA (art. 334-10), référence technique des assureurs, exclut de même les cotisations « à terme échu » du calcul de la provision pour risques en cours.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Dépréciation = encours de la tranche de retard × taux de la politique de crédit du Grenier. Les tranches du logiciel de prêts (91 à 180 jours, 181 à 365 jours, plus de 365 jours) correspondent aux trois paliers.</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Selon le chef comptable et le responsable des cotisations (entretiens du 19/10/2026), les primes vont à GNA, qui porte le risque. Le FPPN est apporteur d'affaires et perçoit une commission de 20 % des primes collectées. Si le FPPN portait le risque, il exercerait une activité d'assurance de dommages, hors du champ de la mutualité sociale (règlement n° 07/2009).</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Cette provision couvre les indemnités dues aux salariés du FPPN à leur départ à la retraite : ce n'est pas un engagement envers les mutualistes. Barème : décret n° 2017-210 du 30/03/2017 (art. 4 et 5), un pourcentage du salaire global mensuel moyen des douze derniers mois par année d'ancienneté (30 % jusqu'à 5 ans, 35 % de 6 à 10 ans, 40 % au-delà), payé à la cessation de service (art. 8) ; plafond de 25 fois le SMIG annuel et départ à 55 ans, plus un an par enfant à charge dans la limite de trois (convention collective interprofessionnelle du 19/07/1977, art. 40). Périmètre : personnel civil salarié (règlement intérieur, art. 31). Méthode attendue : unités de crédit projetées (SYSCOHADA révisé), avec probabilité de présence au départ, hausse des salaires et actualisation.</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L'indemnité de départ vaut un pourcentage du salaire mensuel moyen par année d'ancienneté (décret n° 2017-210, art. 4 et 5). La méthode des unités de crédit projetées, retenue par IAS 19 et utilisée comme référence de bonne pratique, ne provisionne que la part acquise à la date d'évaluation. Le calcul est fait par formules dans les onglets 14a à 14c du classeur.</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provision recalculée suit la méthode des unités de crédit projetées. Les droits acquis sont l'indemnité que chaque agent recevrait s'il partait à la date d'évaluation, sans projection ni actualisation. Le rattachement à une entité suit les listes de 2024 et 2025, appliquées aussi aux années antérieures.</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Agents identifiés par un numéro (année d'évaluation et rang dans la DISA 2025) ; les noms figurent dans l'onglet 14b du classeur, avec toutes les formules. Montants en FCFA. Âge calculé sur l'année de naissance.</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Agents identifiés par un numéro (année d'évaluation et rang dans la DISA 2025) ; les noms figurent dans l'onglet 14b du classeur, avec toutes les formules. Montants en FCFA. Âge calculé sur l'année de naissance.</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Agents identifiés par un numéro (année d'évaluation et rang dans la DISA 2025) ; les noms figurent dans l'onglet 14b du classeur, avec toutes les formules. Montants en FCFA. Âge calculé sur l'année de naissance.</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Agents identifiés par un numéro (année d'évaluation et rang dans la DISA 2025) ; les noms figurent dans l'onglet 14b du classeur, avec toutes les formules. Montants en FCFA. Âge calculé sur l'année de naissance.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Agents identifiés par un numéro (année d'évaluation et rang dans la DISA 2025) ; les noms figurent dans l'onglet 14b du classeur, avec toutes les formules. Montants en FCFA. Âge calculé sur l'année de naissance.</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Agents identifiés par un numéro (année d'évaluation et rang dans la DISA 2025) ; les noms figurent dans l'onglet 14b du classeur, avec toutes les formules. Montants en FCFA. Âge calculé sur l'année de naissance.</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Agents identifiés par un numéro (année d'évaluation et rang dans la DISA 2025) ; les noms figurent dans l'onglet 14b du classeur, avec toutes les formules. Montants en FCFA. Âge calculé sur l'année de naissance. Le rattachement de ces agents à une entité est demandé au FPPN.</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Agents identifiés par un numéro (année d'évaluation et rang dans la DISA 2025) ; les noms figurent dans l'onglet 14b du classeur, avec toutes les formules. Montants en FCFA. Âge calculé sur l'année de naissance. Le rattachement de ces agents à une entité est demandé au FPPN.</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Chaque ligne modifie une seule hypothèse et garde les autres à leur valeur centrale (IAS 19, § 145). La seconde partie relève les incohérences des fichiers du personnel qui touchent directement le calcul.</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Synthèse de l'évaluation des engagements du FPPN envers ses adhérents et leurs ayants droit. Chaque ligne indique la méthode retenue, le résultat et ce qui empêche d'aller plus loin.</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chaque provision, le tableau donne la méthode que le FPPN peut appliquer chaque année avec ses propres fichiers, conformément à l'article 89 des statuts et à l'article 10 du règlement d'exécution n° 004/2022.</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chaque provision, le tableau compare le montant du FPPN au 31/08/2026 au recalcul du rapport, avec la méthode utilisée. Écart absolu = FPPN - recalcul. Écart relatif = écart absolu / recalcul.</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tableau décrit l'effet de chaque erreur de provisionnement sur les comptes et les ratios, puis la situation constatée au FPPN.</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montants « CMP » regroupent les comptes 47111101 (« Polyclinique du FPPN »), 47111104 (« Investissements au CMP ») et 47111105 (« Charges de fonctionnement au CMP »)  ; CMP désigne la Clinique médicale du policier, autorisée par l'arrêté n° 0027/MSHP/DGS/DEPS du 10/02/2020. La créance sur l'Hôpital de la Police (47111100) est inchangée depuis 2020.</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Étapes 1 à 3 de la méthode d'adossement du dossier de préparation : classer l'actif par délai de mobilisation, classer le passif par échéance, comparer tranche par tranche. Actif immédiat : caisse et comptes à vue. Moins d'un an : dépôts à terme, fonds commun de placement, créances à court terme. 1 à 5 ans : prêts PEP et financement du Grenier (durée médiane des prêts de 10 mois). Plus de 5 ans ou incertain : immobilisations, terrains, avances au CMP, créance sur l'Hôpital de la Police. Passif à moins d'un an : dettes à court terme hors épargne et provisions pour prestations à payer. L'épargne est présentée à part : son échéance dépend des âges et des conditions de retrait.</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L'adossement compare ce que le FPPN possède à ce qu'il doit, selon les échéances. Il ne vaut que si les deux côtés sont bien mesurés. Ici, le passif est incomplet (engagements non provisionnés) et une partie de l'actif est d'une valeur non démontrée. Le tableau recense chaque correction attendue et son sens.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règlement d'exécution n° 004/2022 impose d'évaluer les actifs à leur valeur de marché (art. 20) et de détenir des actifs sûrs, diversifiés, liquides et rentables (art. 17 et 21). La Décision n° 05/2022 rapporte les « actifs admis » aux engagements réglementés (section II, § 2.1). L'article 27 interdit de couvrir les pertes des activités sanitaires par les cotisations ou les réserves. Le PCMS impose la dépréciation d'un actif dont la valeur actuelle est inférieure à sa valeur d'entrée, et l'évaluation à la valeur liquidative si la continuité de l'activité n'est pas assurée.</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Couverture = actif retenu dans le scénario / engagements connus. Engagements connus = passif à moins d'un an (dettes et provisions au bilan) + épargne due aux mutualistes, sans les engagements non provisionnés. Le scénario 4 compare l'actif à moins d'un an au seul passif à moins d'un an.</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gestion actif-passif vérifie que les actifs produisent l'argent nécessaire au moment où les engagements doivent être payés. Le choix de la méthode dépend du profil du passif et des données disponibles.</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Taux de sortie de l'année = sorties de l'année (débits des comptes 41195100 et 41195200) / épargne au début de l'année. C'est l'écoulement conventionnel : faute d'échéancier, le comportement passé des mutualistes sert à prévoir les sorties futures.</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Écoulement au 31/08/2026, sans nouveaux versements (écart statique). Sorties d'épargne de l'année k = épargne × (1 - taux moyen) puissance (k - 1) × taux moyen. Actifs à moins d'un an en année 1 ; actifs de 1 à 5 ans répartis à parts égales sur les années 2 à 5, faute d'échéancier. Écart = actifs disponibles - paiements.</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Besoin de l'année = dettes à moins d'un an + épargne × taux de sortie + choc de prestations. Couverture = actif à moins d'un an / besoin. Choc de prestations = prestations maladie 2025 × hausse annuelle la plus forte de 2024 et 2025 ; les hausses de 2021 à 2023 sont écartées car elles reflètent le rattrapage des factures impayées.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pratiques de référence sont celles de l'Association actuarielle internationale et de l'Institut des actuaires. Elles sont rapprochées de la situation constatée au FPPN.</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Synthèse de l'adossement actif-passif : ce qui est démontré, avec quelle méthode, et ce qui permettrait de passer à un adossement en flux contractuels.</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comptes de capitaux propres ont un solde créditeur (positif pour le FPPN), sauf le report à nouveau débiteur (pertes passées), affiché ici en négatif. Libellés exacts de la balance 2025.</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 fonds propres négatifs signifient que les dettes dépassent les actifs comptables. Les ratios de fonds propres et de marge de solvabilité de la Décision n° 05/2022 sont calculés dans la partie 10.</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balances ne donnent que le solde de clôture. Le grand livre montre chaque mouvement des dépôts pendant l'année : le tableau donne l'encours moyen, pondéré par le nombre de jours où chaque solde est resté placé, et le plus haut niveau atteint par le DAT EFC.</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Logigramme en couloirs, modifiable dans PowerPoint. Le circuit est celui décrit par le chef comptable le 19/10/2026. Cadre rouge : contrôle manquant.</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documents reçus le 22/10/2026 renseignent sur les actifs longs et sur l'organe qui décide des placements. Le tableau indique ce que chacun établit et ce qu'il laisse ouvert.</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Rendement apparent = produits financiers (classe 77) / encours moyen des placements lu dans les grands livres (DAT et FCP, moyenne pondérée par les jours). Il est irrégulier : les intérêts du DAT PEP, constatés chaque année puis annulés, ne sont encaissés qu'à sa clôture le 30/10/2025. Taux directeurs : communiqués du Comité de politique monétaire de la BCEAO (validés).</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règlement d'exécution n° 004/2022 (art. 17) exige que les placements satisfassent aux conditions de sécurité, de rendement, de liquidité et de diversification. Chaque condition est confrontée aux chiffres du FPPN de 2020 au 31/08/2026.</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constats appellent une décision de gouvernance : politique de provisionnement, politique de placement, encadrement des investissements dans les structures liées.</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Cette partie applique aux comptes du FPPN les normes de la mutualité sociale UEMOA. Les textes viennent de la documentation publique de l'AIRMS fournie le 18/10/2026 et validée comme source.</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Hiérarchie : le règlement de 2009 fixe les principes et renvoie au règlement d'exécution pour les règles prudentielles (art. 58) ; la Décision de 2022 chiffre les normes ; l'arrêté de 2023 fixe les sanctions en Côte d'Ivoire. Le PCMS donne les numéros de comptes que la Décision utilise dans ses formules.</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Définitions de l'article 1 du règlement d'exécution : risque court quand l'écart entre l'encaissement des cotisations et le versement des prestations est d'un an au plus ; risque long au-delà. L'article 3 classe la vieillesse et le décès lié à un mécanisme de capitalisation parmi les risques longs. La qualification retenue ici doit être confirmée par l'AIRMS ou par l'agrément du FPPN, non transmis.</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utilisée pour un lecteur non spécialiste : le bilan est une commode à tiroirs. Le plan comptable (PCMS) donne à chaque compte un numéro qui indique son tiroir : classe 1 pour les ressources longues, classe 2 pour les emplois longs, classe 4 pour les tiers, classe 5 pour la trésorerie. Un ratio de liquidité compare le tiroir « trésorerie » au tiroir « dettes à court terme ». Si un compte est rangé dans le mauvais tiroir, le ratio change sans que la réalité change. C'est pourquoi la suite présente chaque ratio deux fois : avec les comptes rangés comme le FPPN les tient, puis rangés selon leur nature.</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classement « comme le FPPN » suit les numéros de comptes cités par la Décision n° 05/2022 dans ses formules. Le classement retraité ne modifie aucun montant : il déplace seulement des comptes d'un tiroir à un autre, pour une raison écrite. Le détail compte par compte (246 comptes) figure dans l'onglet « 10_classement_comptes » du classeur des calculs.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statut ne juge pas la gestion du FPPN : il constate l'écart entre un chiffre et une norme. Le statut global d'un ratio est non conforme s'il est non conforme au moins une année de 2022 à 2025.</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familles reprennent les catégories de l'annexe de la Décision n° 05/2022 (performance, viabilité, pérennité, risques longs), réordonnées selon la priorité actuarielle demandée pour ce rapport.</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Valeurs calculées sur les balances, avec les comptes cités par la Décision n° 05/2022. La sinistralité réglementaire est globale (maladie et décès) : elle est sous la fourchette de 70 % à 80 % parce que la garantie décès consomme peu de cotisations. La marge de solvabilité est conforme dans la lecture comme le FPPN, mais pas une fois les pertes reportées déduites (diapositives suivantes).</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II de l'annexe de la Décision n° 05/2022 et articles 19 et 21 du règlement d'exécution. Le ratio de solvabilité de l'épargne reprend la couverture calculée en partie 6. La réserve de trésorerie vaut zéro car aucun compte de réserve de trésorerie n'existe dans les balances.</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charges de fonctionnement suivent la liste de comptes de l'annexe (612, 613, 618, 62 à 68). La fidélisation compare les matricules précomptés au poste 936 d'une année à l'autre. Le délai de paiement des prestataires est à apprécier, car les délais contractuels des conventions n'ont pas été transmis.</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indicateurs de gouvernance sont placés en dernier, conformément à la priorité actuarielle du rapport. Chaque pièce manquante est ajoutée à la liste des documents demandés (PBC) et aux guides d'entretien.</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Liquidité : norme d'au moins 1. Équilibre stable : norme d'au plus 1. Lecture retraitée : épargne en ressource longue, avances durables en emplois longs (diapositive « Deux lectures »). En 2020, les ressources longues comme le FPPN sont négatives : le ratio d'équilibre stable n'a pas de sens et n'est pas représenté.</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Formule de la Décision (§ 1.2.1.2.5) : comptes 60 + 6901 - 7901 au numérateur, comptes 70 + 7906 - 6906 au dénominateur. Le FPPN n'a pas de compte 6901, 7901, 6906 ni 7906 : les provisions techniques ne varient pas. Le compte 704 « cartes d'accès aux soins » appartient à la classe 70 et entre donc dans les cotisations acquises.</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Formule (Décision, § 1.1.1) : marge exigée = le maximum entre 18 % des cotisations acquises de l'exercice précédent et de 26 % de la moyenne des prestations maladie des trois derniers exercices. Marge disponible = fonds de réserve obligatoire + fonds d'établissement + réserves libres + droits d'adhésion + dons et legs non affectés. Le texte ne mentionne pas les pertes reportées ; la lecture retraitée les déduit, car le PCMS définit les réserves comme des excédents laissés à la disposition de la mutuelle (fiche n° 2).</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Formule (Décision, tableau 1, ligne 10) : réserves obligatoires x 12 / charges de prestations, norme de 6 à 9 mois ; le § 1.2.2.5.4 de l'annexe indique 9 mois. La réserve obligatoire est le compte 111 « Réserves légales ». Réserve nécessaire pour 6 mois = charges de prestations x 6 / 12.</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Formule (Décision, § 1.2.2.5.3) : fonds propres et assimilés (comptes 10 à 14, 190 et 15) / dettes, provisions techniques comprises. Le texte place les provisions techniques à la fois au numérateur et au dénominateur ; Adenka applique la formule à la lettre. Les dettes comprennent toute la classe 4 créditrice, dont l'épargne, les emprunts et les soldes bancaires créditeurs.</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Formules : liquidité = trésorerie actif / (dettes à court terme + variation des provisions techniques) (Décision, § 1.2.2.5.2) ; trésorerie à échéance = (valeurs réalisables + disponibles) / dettes à court terme (section II, § 2.2) ; trésorerie immédiate = disponibles / dettes à court terme (§ 2.3), égale ici à la liquidité car les provisions ne varient pas.</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Formule (Décision, § 1.2.3.1) : emplois moyens et longs / ressources moyennes et longues. Comme le FPPN : classe 2 nette / classes 10 à 19. Retraité : on ajoute aux emplois les avances durables suivies en classe 4 (CMP, Grenier, Hôpital de la Police, projets immobiliers, créance de cession) et aux ressources l'épargne PEP et EFC.</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Formule (Décision, § 1.2.2.5.5) : excédent net de l'exercice / cotisations acquises, norme d'au plus 5 %. Ce plafond vise à éviter qu'une mutuelle prélève sur ses membres plus que nécessaire. Il est en tension avec les normes de fonds propres quand ceux-ci sont négatifs.</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Formules (Décision, § 1.2.1.2.1 à 1.2.1.2.4). Charges de fonctionnement : comptes 612, 613, 618, 62 à 68. Charges de fonctionnement brut : comptes 61 à 68, 691 et 697. Le compte 65180000 (prime d'assurance décès de 2020) entre dans la classe 65 et donc dans les charges de fonctionnement de 2020.</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Règlement d'exécution, art. 19 : une réserve de trésorerie ou fonds de roulement au moins égale à un trimestre d'engagements et de charges de fonctionnement, pour chaque risque long. Engagements : débits des comptes 41195100 et 41195200 (sorties d'épargne). Charges de fonctionnement : quote-part au prorata de l'épargne dans le total épargne + cotisations. Art. 21 : fonds propres au moins égaux aux prestations des risques longs des deux derniers exercices.</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répartition au prorata des cotisations est une hypothèse : une autre clé (nombre de dossiers, temps passé) donnerait d'autres excédents. Le FPPN est invité à fournir sa propre clé, qui remplacera celle-ci.</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Excédent d'un risque = cotisations du risque - prestations du risque - charges de fonctionnement (612, 613, 618, 62 à 68) attribuées au prorata des cotisations. La prime d'assurance décès de 2020 (65180000) est rattachée au décès. Les autres éléments (produits financiers, transferts de charges, hors activités ordinaires) ne sont pas répartis et figurent dans la colonne « autres » du classeur des calculs.</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Ratio combiné = (prestations + charges de fonctionnement affectées) / cotisations. Au-dessus de 100 %, la garantie coûte plus qu'elle ne rapporte. Charges de fonctionnement (comptes 612, 613, 618 et 62 à 68) réparties au prorata des cotisations, faute de clé fournie par le FPPN. Décès : comptes 6021 et 6024, prime d'assurance décès comprise en 2020, cotisations du compte 702 (décès et MEDOC).</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Lecture : la colonne « dotation réelle » est l'augmentation du compte 111 entre deux clôtures ; elle traduit l'affectation décidée par l'assemblée générale. Le minimum du règlement d'exécution est de 20 % du résultat excédentaire de l'exercice précédent (art. 18), exigible dans un délai de trois ans après le 1er juin 2022. Le minimum par risque applique 30 % à l'excédent maladie et 50 % à l'excédent décès (Décision, § 1.1.1).</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Marge exigée = le maximum entre 18 % des cotisations acquises de l'exercice précédent et de 26 % de la moyenne des prestations maladie des trois derniers exercices (Décision, § 1.1.1). L'exercice 2020 n'est pas calculé, faute de balances 2018 et 2019.</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chaque calcul exigé par les textes, le tableau indique qui le fait aujourd'hui au FPPN, sur quelle base, et ce que la procédure devrait prévoir.</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grille reprend les exigences actuarielles du règlement d'exécution n° 004/2022, de la Décision n° 05/2022 et du règlement n° 07/2009, avec la diapositive qui établit le statut.</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contrôle ne constitue pas une revue comptable complète : il vérifie seulement que les comptes utilisés dans ce rapport sont rangés comme le prévoit le PCMS, et mesure l'effet d'un écart sur les ratios.</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exigences complètent les ratios. Elles relèvent du cadre actuariel quand elles portent sur les provisions, les risques longs, les placements et les réserves. Elles sont reprises dans les guides d'entretien.</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sanctions sont prononcées par le ministre chargé de la mutualité sociale, sur rapport ou avis motivé de l'AIRMS, après que la mutuelle a été entendue (règlement d'exécution, art. 38 et 39). Ce tableau décrit une exposition théorique : la décision appartient à l'autorité de contrôle.</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ratios sont calculés sur les balances : leur conclusion ne dépend pas des données manquantes, sauf pour la liquidité, qui dépend de l'échéancier de l'épargne.</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Une analyse de sensibilité mesure comment un résultat change quand une hypothèse change. Ici, le résultat est le statut de chaque ratio prudentiel, et les hypothèses sont les leviers que les textes donnent au FPPN. Chaque calcul est une formule du classeur des calculs (onglets 13a à 13i) : modifier un paramètre de l'onglet 13b met à jour l'ensemble.</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Statut recalculé par formule pour chaque année (onglet 13d) ; il est identique à celui de la partie 10. « Oui » : conforme ; « Non » : non conforme ; « - » : non mesurable (pas d'exercice précédent). 2020 et 2021 sont antérieurs à la Décision du 1er juin 2022 ; 2026 couvre huit mois : ces années sont indicatives. Les ratios conformes chaque année (marge de solvabilité dans la lecture du FPPN, charges de personnel, formation) ne sont pas repris.</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facteur regroupe les ratios dont l'écart s'explique par les mêmes comptes. La preuve chiffrée compare 2020 et 2025 (onglet 13e). La dernière colonne compte les ratios du facteur non conformes toutes les années mesurées.</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Montant à combler = montant qui ramène le ratio sur la borne la plus proche, les autres termes restant inchangés (formule du texte inversée, onglet 13d). Pour la sinistralité, un montant positif est un supplément de prestations ; pour l'excédent net de 2026, le montant est le déficit à combler.</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 » : le levier rapproche le ratio de sa norme ; « - » : il l'en éloigne ; « 0 » : sans effet. Écritures : cotisations encaissées (+ produits, + résultat, + fonds propres, + trésorerie) ; prestations payées (inverse) ; charges évitées (+ résultat, + trésorerie) ; dotation à la réserve légale (affectation interne aux fonds propres) ; réallocation d'un placement long en disponibilités dédiées à l'épargne ; apport en fonds propres (dons et legs). Le montant de 100 000 000 FCFA est une convention de présentation, modifiable dans l'onglet 13b.</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Montant d'équilibre = montant du levier qui ramène un ratio sur sa borne en 2025, toutes choses égales par ailleurs (onglet 13f). Signe négatif : baisse. La dernière colonne compte les années de 2020 au 31/08/2026 où un effort est nécessaire. Taux de cotisation équivalent = 5 % × (cotisations + variation) / cotisations, à assiette et recouvrement inchangés.</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Taux de cotisation qui ramènerait chaque ratio sur sa borne, toutes choses égales par ailleurs (onglet 13f). Taux actuel : 5 % de la solde de base (statuts, art. 17). Les courbes montrent l'écart entre les deux exigences, année par année.</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Ligne 1 : trésorerie à constituer pour une liquidité de 1. Ligne 2 : toute la classe 2 (siège, terrains, créances longues), plafond théorique d'une réallocation. Ligne 3 : liquidité si toute la classe 2 devenait disponible. Ligne 4 : liquidité calculée en classant l'épargne en ressource longue (présentation des risques longs, partie 10).</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Réserve hypothétique = maximum entre la réserve comptabilisée et 20 % (ou 50 %) des excédents positifs cumulés depuis 2020 (statuts, art. 90). Les excédents antérieurs à 2020 n'ont pas été reçus. En réalité, une partie des excédents a apuré les pertes reportées (affectations 2023 et 2024). Fonds propres : nombre d'années d'excédent moyen 2023 à 2025 (720 199 551 FCFA) pour atteindre la norme.</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Démonstration (onglet 13h). L'excédent vaut : cotisations - prestations - charges de fonctionnement + autres éléments (A : produits financiers et autres, moins les autres charges). L'excédent net plafonné à 5 % impose A ≤ 5 % des cotisations - cotisations + prestations + charges. Or les prestations sont plafonnées à 80 % des cotisations (sinistralité) et les charges à 15 % des prestations, soit 12 % des cotisations (coût par unité prestée). Donc A ≤ (5 % - 100 % + 80 % × 115 %) des cotisations = -3,00 % des cotisations.</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Indices harmonisés des prix à la consommation (IHPC) de l'ANStat, par poste de la santé, mensuels de janvier 2017 à octobre 2024 (moyennes annuelles ; 2024 : janvier à octobre). Poids : prestations maladie du FPPN de 2025 par nature (hospitalisations, analyses et imagerie, pharmacie, consultations) ; les natures « autres » ne sont pas détaillées et sont exclues. Les fichiers codent les mois 2, 8 et 12 par « 0 » : le mois est reconstitué par la position de la ligne (onglet 13g).</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Sinistralité = prestations × (1 + hausse) / cotisations, à cotisations inchangées : elles sont assises sur la solde de base, qui n'est pas indexée sur les prix de la santé (onglet 13g). 2026 : huit mois, indicatif.</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taux brut de rentabilité des placements doit atteindre au moins le taux moyen du marché (Décision n° 05/2022, section II), sans que le texte précise le marché. Deux lectures : dépôts à terme en Côte d'Ivoire (BCEAO, tableau 22, lecture principale, 2024 et 2025) et obligations de l'État de Côte d'Ivoire à 5 ans (Investing.com, moyenne annuelle des cotations quotidiennes, lecture exigeante). Investing.com est un agrégateur de cotations du marché secondaire : source secondaire, en complément de la BCEAO. Produit possible = solde moyen non rémunéré × taux moyen des dépôts à terme (onglet 13i).</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montants sont recalculés par formules dans le classeur des calculs (onglets 13a à 13i) : chaque paramètre peut être modifié pour tester d'autres hypothèses.</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deux analyses demandent les dates de naissance (PBC, items 9 et 28). Le règlement d'exécution n° 004/2022 définit la table de mortalité comme un tableau qui donne les probabilités de décès ou de survie et l'espérance de vie selon l'âge et le sexe (art. 1).</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Principe de prudence : on choisit la table qui défavorise l'organisme. Pour un risque décès (le FPPN paie au décès), une table qui prévoit plus de décès est prudente : CIMA H. Pour un risque de survie (le FPPN paie tant que la personne vit), une table qui prévoit des vies plus longues est prudente : CIMA F. Les fichiers fournis portent eux-mêmes cet usage dans le nom de leur feuille. Les tables TD et TV sont les anciennes tables réglementaires remplacées en 2012 (Code CIMA, article 338 modifié).</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Une courbe de survie donne la part des personnes encore en vie à chaque âge. L'écart entre les courbes mesure l'écart de prudence entre une table de décès et une table de survie.</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qx en pour mille aux âges de 20 à 80 ans. Ce sont les âges de la population du FPPN (actifs puis retraités). La comparaison avec la mortalité observée se fera par le rapport décès observés / décès attendus (voir partie 12).</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Rente viagère : valeur aujourd'hui de 1 FCFA payé chaque année, au début de l'année, tant que la personne vit, actualisé au taux de 3,5 % (plafond du Code CIMA). Formule : ä_x = Σ (L_(x+k) / L_x) × v^k, avec v = 1 / 1,035. Exemple : si le FPPN prenait en charge 100 000 FCFA par an de soins pour un retraité de 60 ans, l'engagement vaudrait environ 100 000 × ä_60. Ce sont des valeurs de référence, pas des engagements du FPPN.</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indicateurs présentés sont des références techniques. Ils deviendront des engagements chiffrés du FPPN dès réception des données.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Une projection actuarielle de l'équilibre technique suit six étapes. Le tableau indique, pour chacune, la donnée nécessaire, si elle a été reçue, et ce qu'il faut faire à la place.</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Chaque poste de 2025 croît chaque année à son taux annuel moyen. Cotisations : 11,17 % ; frais : 2,91 % (2023 à 2025). Prestations : 72,21 % dans le scénario A, taux des cotisations dans le scénario B. Résultat technique = cotisations - prestations - frais. Les années 2021 et 2022 sont écartées : leurs prestations maladie sont anormalement basses.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Résultat technique projeté de 2026 à 2030 dans les deux scénarios, en millions de FCFA.</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images des diapositives suivantes reproduisent la fenêtre de VS Code sous Windows et y placent des extraits réels des scripts de la mission. Ce sont des reconstitutions, pas des captures d'écran ; le terminal n'est affiché que lorsque sa sortie a réellement été obtenue.</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tableau détaille les étapes du logigramme du traitement des données (partie 2). Chaque étape correspond à un script conservé dans le dossier de la mission.</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réel du script, placé dans une fenêtre de VS Code sous Windows reconstituée (thème sombre, fil d'Ariane du dossier de la mission, numéros de ligne). Le code complet est dans le dossier scripts de la mission ; il peut être relu et rejoué par un tiers.</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réel du script, placé dans une fenêtre de VS Code sous Windows reconstituée (thème sombre, fil d'Ariane du dossier de la mission, numéros de ligne). Le code complet est dans le dossier scripts de la mission ; il peut être relu et rejoué par un tiers.</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réel du script, placé dans une fenêtre de VS Code sous Windows reconstituée (thème sombre, fil d'Ariane du dossier de la mission, numéros de ligne). Le code complet est dans le dossier scripts de la mission ; il peut être relu et rejoué par un tiers.</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réel du script, placé dans une fenêtre de VS Code sous Windows reconstituée (thème sombre, fil d'Ariane du dossier de la mission, numéros de ligne). Le code complet est dans le dossier scripts de la mission ; il peut être relu et rejoué par un tiers.</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réel du script, placé dans une fenêtre de VS Code sous Windows reconstituée (thème sombre, fil d'Ariane du dossier de la mission, numéros de ligne). Le code complet est dans le dossier scripts de la mission ; il peut être relu et rejoué par un tiers.</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réel du script, placé dans une fenêtre de VS Code sous Windows reconstituée (thème sombre, fil d'Ariane du dossier de la mission, numéros de ligne). Le code complet est dans le dossier scripts de la mission ; il peut être relu et rejoué par un tiers.</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réel du script, placé dans une fenêtre de VS Code sous Windows reconstituée (thème sombre, fil d'Ariane du dossier de la mission, numéros de ligne). Le code complet est dans le dossier scripts de la mission ; il peut être relu et rejoué par un tiers.</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Principe : aucun chiffre n'est saisi à la main. Le contrôle garantit que le rapport affiche exactement les valeurs calculées, avec deux décimales pour les pourcentages et des montants exacts en FCFA.</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Chaque analyse en attente utilise la méthode retenue dans le rapport, pas une méthode écartée. Les numéros renvoient à la PBC du 23/10/2026.</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transmises au FPPN dans le fichier « FPPN_Demandes_au_FPPN_20261023.xlsx », avec une colonne de réponse.</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transmises au FPPN dans le fichier « FPPN_Demandes_au_FPPN_20261023.xlsx », avec une colonne de réponse.</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chaque méthode, les diapositives suivantes citent les conditions d'emploi dans un texte ou un ouvrage de référence, montrent avec les chiffres du FPPN pourquoi elles ne sont pas remplies, et indiquent la méthode appliquée à la place.</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Chain Ladder et la méthode CIMA des tardifs projettent le rythme passé de règlement, année de survenance par année de développement. Elles ne sont utiles que si une part notable des sinistres se règle après la fin de l'année de survenance.</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rapport A/E divise les décès observés par les décès attendus : somme, âge par âge, de l'exposition au risque multipliée par la probabilité de décès de la table CIMA H.</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Provision mathématique = valeur actuelle des soins futurs - valeur actuelle des cotisations futures, retraité par retraité, avec une table de survie (CIMA F) et un taux d'actualisation.</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L'immunisation rééquilibre les actifs pour que leur valeur varie comme celle des passifs quand les taux changent. Elle compare les durations (durée moyenne pondérée des flux) de l'actif et du passif.</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modèle actif-passif stochastique projette des milliers de scénarios économiques (méthode de Monte-Carlo) sur des groupes de contrats décrits par âge, sexe, ancienneté et taux garanti.</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valeur en risque (VaR) est la perte de valeur de marché qui n'est dépassée qu'avec une faible probabilité sur une période donnée.</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capital de solvabilité requis (SCR) de la formule standard européenne applique des chocs (par exemple 40 % de rachats massifs) à la meilleure estimation des engagements.</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Tous les fichiers ont été reçus du FPPN le 15/10/2026 (précomptes, balances, Grenier), le 18/10/2026 (tables de mortalité) ou le 22/10/2026 (autres documents).</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Tous les fichiers ont été reçus du FPPN le 15/10/2026 (précomptes, balances, Grenier), le 18/10/2026 (tables de mortalité) ou le 22/10/2026 (autres documents).</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Tous les fichiers ont été reçus du FPPN le 15/10/2026 (précomptes, balances, Grenier), le 18/10/2026 (tables de mortalité) ou le 22/10/2026 (autres documents).</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tableau complet (quinze colonnes) figure dans l'onglet 11_formules du classeur des calculs.</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du tableau des formules ; colonnes complètes dans l'onglet 11_formules du classeur des calculs.</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du tableau des formules ; colonnes complètes dans l'onglet 11_formules du classeur des calculs.</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du tableau des formules ; colonnes complètes dans l'onglet 11_formules du classeur des calculs.</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du tableau des formules ; colonnes complètes dans l'onglet 11_formules du classeur des calculs.</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du tableau des formules ; colonnes complètes dans l'onglet 11_formules du classeur des calculs.</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du tableau des formules ; colonnes complètes dans l'onglet 11_formules du classeur des calculs.</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du tableau des formules ; colonnes complètes dans l'onglet 11_formules du classeur des calculs.</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du tableau des formules ; colonnes complètes dans l'onglet 11_formules du classeur des calculs.</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du tableau des formules ; colonnes complètes dans l'onglet 11_formules du classeur des calculs.</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du tableau des formules ; colonnes complètes dans l'onglet 11_formules du classeur des calculs.</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du tableau des formules ; colonnes complètes dans l'onglet 11_formules du classeur des calculs.</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du tableau des formules ; colonnes complètes dans l'onglet 11_formules du classeur des calculs.</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du tableau des formules ; colonnes complètes dans l'onglet 11_formules du classeur des calculs.</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du tableau des formules ; colonnes complètes dans l'onglet 11_formules du classeur des calculs.</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du tableau des formules ; colonnes complètes dans l'onglet 11_formules du classeur des calculs.</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Niveau 3 de la validité : la ligne « Valable pour » de chaque diapositive. Colonne « Valable pour » dans l'onglet 9_figures_tableaux du classeur des calculs.</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Niveau 3 de la validité : la ligne « Valable pour » de chaque diapositive. Colonne « Valable pour » dans l'onglet 9_figures_tableaux du classeur des calculs.</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Niveau 3 de la validité : la ligne « Valable pour » de chaque diapositive. Colonne « Valable pour » dans l'onglet 9_figures_tableaux du classeur des calculs.</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Niveau 3 de la validité : la ligne « Valable pour » de chaque diapositive. Colonne « Valable pour » dans l'onglet 9_figures_tableaux du classeur des calculs.</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Niveau 3 de la validité : la ligne « Valable pour » de chaque diapositive. Colonne « Valable pour » dans l'onglet 9_figures_tableaux du classeur des calculs.</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Niveau 3 de la validité : la ligne « Valable pour » de chaque diapositive. Colonne « Valable pour » dans l'onglet 9_figures_tableaux du classeur des calculs.</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Niveau 3 de la validité : la ligne « Valable pour » de chaque diapositive. Colonne « Valable pour » dans l'onglet 9_figures_tableaux du classeur des calculs.</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Niveau 3 de la validité : la ligne « Valable pour » de chaque diapositive. Colonne « Valable pour » dans l'onglet 9_figures_tableaux du classeur des calculs.</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Niveau 3 de la validité : la ligne « Valable pour » de chaque diapositive. Colonne « Valable pour » dans l'onglet 9_figures_tableaux du classeur des calculs.</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Niveau 3 de la validité : la ligne « Valable pour » de chaque diapositive. Colonne « Valable pour » dans l'onglet 9_figures_tableaux du classeur des calculs.</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Niveau 3 de la validité : la ligne « Valable pour » de chaque diapositive. Colonne « Valable pour » dans l'onglet 9_figures_tableaux du classeur des calculs.</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Niveau 3 de la validité : la ligne « Valable pour » de chaque diapositive. Colonne « Valable pour » dans l'onglet 9_figures_tableaux du classeur des calculs.</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sigles de chaque diapositive sont aussi définis en bas de la diapositive.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2.emf"/></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 Id="rId3" Type="http://schemas.openxmlformats.org/officeDocument/2006/relationships/oleObject" Target="../embeddings/oleObject2.bin"/><Relationship Id="rId4" Type="http://schemas.openxmlformats.org/officeDocument/2006/relationships/image" Target="../media/image2.emf"/></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2.xml"/><Relationship Id="rId3" Type="http://schemas.openxmlformats.org/officeDocument/2006/relationships/oleObject" Target="../embeddings/oleObject1.bin"/><Relationship Id="rId4" Type="http://schemas.openxmlformats.org/officeDocument/2006/relationships/image" Target="../media/image2.emf"/></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Master" Target="../slideMasters/slideMaster2.xml"/><Relationship Id="rId3" Type="http://schemas.openxmlformats.org/officeDocument/2006/relationships/oleObject" Target="../embeddings/oleObject2.bin"/><Relationship Id="rId4" Type="http://schemas.openxmlformats.org/officeDocument/2006/relationships/image" Target="../media/image2.emf"/></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Modifier le style des sous-titres du masque</a:t>
            </a:r>
          </a:p>
        </p:txBody>
      </p:sp>
      <p:sp>
        <p:nvSpPr>
          <p:cNvPr id="4" name="Espace réservé de la date 3"/>
          <p:cNvSpPr>
            <a:spLocks noGrp="1"/>
          </p:cNvSpPr>
          <p:nvPr>
            <p:ph type="dt" sz="half" idx="10"/>
          </p:nvPr>
        </p:nvSpPr>
        <p:spPr/>
        <p:txBody>
          <a:body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17886301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idx="1"/>
          </p:nvPr>
        </p:nvSpPr>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33224399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Modifier les styles du texte du masque</a:t>
            </a:r>
          </a:p>
        </p:txBody>
      </p:sp>
      <p:sp>
        <p:nvSpPr>
          <p:cNvPr id="4" name="Espace réservé de la date 3"/>
          <p:cNvSpPr>
            <a:spLocks noGrp="1"/>
          </p:cNvSpPr>
          <p:nvPr>
            <p:ph type="dt" sz="half" idx="10"/>
          </p:nvPr>
        </p:nvSpPr>
        <p:spPr/>
        <p:txBody>
          <a:body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1770939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sz="half" idx="1"/>
          </p:nvPr>
        </p:nvSpPr>
        <p:spPr>
          <a:xfrm>
            <a:off x="838200" y="1825625"/>
            <a:ext cx="5181600" cy="435133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6172200" y="1825625"/>
            <a:ext cx="5181600" cy="435133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p:cNvSpPr>
            <a:spLocks noGrp="1"/>
          </p:cNvSpPr>
          <p:nvPr>
            <p:ph type="dt" sz="half" idx="10"/>
          </p:nvPr>
        </p:nvSpPr>
        <p:spPr/>
        <p:txBody>
          <a:bodyPr/>
          <a:lstStyle/>
          <a:p>
            <a:fld id="{C6EBE14D-B461-4822-94E8-6203B1E77523}" type="datetimeFigureOut">
              <a:rPr lang="fr-FR" smtClean="0"/>
              <a:t>22/09/2026</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40227794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Modifier les styles du texte du masque</a:t>
            </a:r>
          </a:p>
        </p:txBody>
      </p:sp>
      <p:sp>
        <p:nvSpPr>
          <p:cNvPr id="4" name="Espace réservé du contenu 3"/>
          <p:cNvSpPr>
            <a:spLocks noGrp="1"/>
          </p:cNvSpPr>
          <p:nvPr>
            <p:ph sz="half" idx="2"/>
          </p:nvPr>
        </p:nvSpPr>
        <p:spPr>
          <a:xfrm>
            <a:off x="839788" y="2505075"/>
            <a:ext cx="5157787" cy="368458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Modifier les styles du texte du masque</a:t>
            </a:r>
          </a:p>
        </p:txBody>
      </p:sp>
      <p:sp>
        <p:nvSpPr>
          <p:cNvPr id="6" name="Espace réservé du contenu 5"/>
          <p:cNvSpPr>
            <a:spLocks noGrp="1"/>
          </p:cNvSpPr>
          <p:nvPr>
            <p:ph sz="quarter" idx="4"/>
          </p:nvPr>
        </p:nvSpPr>
        <p:spPr>
          <a:xfrm>
            <a:off x="6172200" y="2505075"/>
            <a:ext cx="5183188" cy="368458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p:cNvSpPr>
            <a:spLocks noGrp="1"/>
          </p:cNvSpPr>
          <p:nvPr>
            <p:ph type="dt" sz="half" idx="10"/>
          </p:nvPr>
        </p:nvSpPr>
        <p:spPr/>
        <p:txBody>
          <a:bodyPr/>
          <a:lstStyle/>
          <a:p>
            <a:fld id="{C6EBE14D-B461-4822-94E8-6203B1E77523}" type="datetimeFigureOut">
              <a:rPr lang="fr-FR" smtClean="0"/>
              <a:t>22/09/2026</a:t>
            </a:fld>
            <a:endParaRPr lang="fr-FR"/>
          </a:p>
        </p:txBody>
      </p:sp>
      <p:sp>
        <p:nvSpPr>
          <p:cNvPr id="8" name="Espace réservé du pied de page 7"/>
          <p:cNvSpPr>
            <a:spLocks noGrp="1"/>
          </p:cNvSpPr>
          <p:nvPr>
            <p:ph type="ftr" sz="quarter" idx="11"/>
          </p:nvPr>
        </p:nvSpPr>
        <p:spPr/>
        <p:txBody>
          <a:bodyPr/>
          <a:lstStyle/>
          <a:p>
            <a:endParaRPr lang="fr-FR"/>
          </a:p>
        </p:txBody>
      </p:sp>
      <p:sp>
        <p:nvSpPr>
          <p:cNvPr id="9" name="Espace réservé du numéro de diapositive 8"/>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1921375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e la date 2"/>
          <p:cNvSpPr>
            <a:spLocks noGrp="1"/>
          </p:cNvSpPr>
          <p:nvPr>
            <p:ph type="dt" sz="half" idx="10"/>
          </p:nvPr>
        </p:nvSpPr>
        <p:spPr/>
        <p:txBody>
          <a:bodyPr/>
          <a:lstStyle/>
          <a:p>
            <a:fld id="{C6EBE14D-B461-4822-94E8-6203B1E77523}" type="datetimeFigureOut">
              <a:rPr lang="fr-FR" smtClean="0"/>
              <a:t>22/09/2026</a:t>
            </a:fld>
            <a:endParaRPr lang="fr-FR"/>
          </a:p>
        </p:txBody>
      </p:sp>
      <p:sp>
        <p:nvSpPr>
          <p:cNvPr id="4" name="Espace réservé du pied de page 3"/>
          <p:cNvSpPr>
            <a:spLocks noGrp="1"/>
          </p:cNvSpPr>
          <p:nvPr>
            <p:ph type="ftr" sz="quarter" idx="11"/>
          </p:nvPr>
        </p:nvSpPr>
        <p:spPr/>
        <p:txBody>
          <a:bodyPr/>
          <a:lstStyle/>
          <a:p>
            <a:endParaRPr lang="fr-FR"/>
          </a:p>
        </p:txBody>
      </p:sp>
      <p:sp>
        <p:nvSpPr>
          <p:cNvPr id="5" name="Espace réservé du numéro de diapositive 4"/>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40757393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p:cNvSpPr>
            <a:spLocks noGrp="1"/>
          </p:cNvSpPr>
          <p:nvPr>
            <p:ph type="dt" sz="half" idx="10"/>
          </p:nvPr>
        </p:nvSpPr>
        <p:spPr/>
        <p:txBody>
          <a:bodyPr/>
          <a:lstStyle/>
          <a:p>
            <a:fld id="{C6EBE14D-B461-4822-94E8-6203B1E77523}" type="datetimeFigureOut">
              <a:rPr lang="fr-FR" smtClean="0"/>
              <a:t>22/09/2026</a:t>
            </a:fld>
            <a:endParaRPr lang="fr-FR"/>
          </a:p>
        </p:txBody>
      </p:sp>
      <p:sp>
        <p:nvSpPr>
          <p:cNvPr id="3" name="Espace réservé du pied de page 2"/>
          <p:cNvSpPr>
            <a:spLocks noGrp="1"/>
          </p:cNvSpPr>
          <p:nvPr>
            <p:ph type="ftr" sz="quarter" idx="11"/>
          </p:nvPr>
        </p:nvSpPr>
        <p:spPr/>
        <p:txBody>
          <a:bodyPr/>
          <a:lstStyle/>
          <a:p>
            <a:endParaRPr lang="fr-FR"/>
          </a:p>
        </p:txBody>
      </p:sp>
      <p:sp>
        <p:nvSpPr>
          <p:cNvPr id="4" name="Espace réservé du numéro de diapositive 3"/>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274672203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Modifier les styles du texte du masque</a:t>
            </a:r>
          </a:p>
        </p:txBody>
      </p:sp>
      <p:sp>
        <p:nvSpPr>
          <p:cNvPr id="5" name="Espace réservé de la date 4"/>
          <p:cNvSpPr>
            <a:spLocks noGrp="1"/>
          </p:cNvSpPr>
          <p:nvPr>
            <p:ph type="dt" sz="half" idx="10"/>
          </p:nvPr>
        </p:nvSpPr>
        <p:spPr/>
        <p:txBody>
          <a:bodyPr/>
          <a:lstStyle/>
          <a:p>
            <a:fld id="{C6EBE14D-B461-4822-94E8-6203B1E77523}" type="datetimeFigureOut">
              <a:rPr lang="fr-FR" smtClean="0"/>
              <a:t>22/09/2026</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13767289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Modifier les styles du texte du masque</a:t>
            </a:r>
          </a:p>
        </p:txBody>
      </p:sp>
      <p:sp>
        <p:nvSpPr>
          <p:cNvPr id="5" name="Espace réservé de la date 4"/>
          <p:cNvSpPr>
            <a:spLocks noGrp="1"/>
          </p:cNvSpPr>
          <p:nvPr>
            <p:ph type="dt" sz="half" idx="10"/>
          </p:nvPr>
        </p:nvSpPr>
        <p:spPr/>
        <p:txBody>
          <a:bodyPr/>
          <a:lstStyle/>
          <a:p>
            <a:fld id="{C6EBE14D-B461-4822-94E8-6203B1E77523}" type="datetimeFigureOut">
              <a:rPr lang="fr-FR" smtClean="0"/>
              <a:t>22/09/2026</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9181887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texte vertical 2"/>
          <p:cNvSpPr>
            <a:spLocks noGrp="1"/>
          </p:cNvSpPr>
          <p:nvPr>
            <p:ph type="body" orient="vert" idx="1"/>
          </p:nvPr>
        </p:nvSpPr>
        <p:spPr/>
        <p:txBody>
          <a:bodyPr vert="eaVert"/>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389757306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p:cNvSpPr>
            <a:spLocks noGrp="1"/>
          </p:cNvSpPr>
          <p:nvPr>
            <p:ph type="body" orient="vert" idx="1"/>
          </p:nvPr>
        </p:nvSpPr>
        <p:spPr>
          <a:xfrm>
            <a:off x="838200" y="365125"/>
            <a:ext cx="7734300" cy="5811838"/>
          </a:xfrm>
        </p:spPr>
        <p:txBody>
          <a:bodyPr vert="eaVert"/>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156412925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itle Only">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35049338-7875-4927-82E0-03C95D83209A}"/>
              </a:ext>
            </a:extLst>
          </p:cNvPr>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5" imgH="426" progId="TCLayout.ActiveDocument.1">
                  <p:embed/>
                </p:oleObj>
              </mc:Choice>
              <mc:Fallback>
                <p:oleObj name="think-cell Slide" r:id="rId3" imgW="425" imgH="426" progId="TCLayout.ActiveDocument.1">
                  <p:embed/>
                  <p:pic>
                    <p:nvPicPr>
                      <p:cNvPr id="4" name="Object 3" hidden="1">
                        <a:extLst>
                          <a:ext uri="{FF2B5EF4-FFF2-40B4-BE49-F238E27FC236}">
                            <a16:creationId xmlns:a16="http://schemas.microsoft.com/office/drawing/2014/main" id="{35049338-7875-4927-82E0-03C95D8320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3" name="Title Placeholder 1">
            <a:extLst>
              <a:ext uri="{FF2B5EF4-FFF2-40B4-BE49-F238E27FC236}">
                <a16:creationId xmlns:a16="http://schemas.microsoft.com/office/drawing/2014/main" id="{5AA52354-AD0C-4278-A20C-E161AEB4D16F}"/>
              </a:ext>
            </a:extLst>
          </p:cNvPr>
          <p:cNvSpPr>
            <a:spLocks noGrp="1"/>
          </p:cNvSpPr>
          <p:nvPr>
            <p:ph type="title" hasCustomPrompt="1"/>
          </p:nvPr>
        </p:nvSpPr>
        <p:spPr bwMode="gray">
          <a:xfrm>
            <a:off x="467201" y="304800"/>
            <a:ext cx="11201400" cy="342900"/>
          </a:xfrm>
          <a:prstGeom prst="rect">
            <a:avLst/>
          </a:prstGeom>
        </p:spPr>
        <p:txBody>
          <a:bodyPr vert="horz" lIns="0" tIns="0" rIns="0" bIns="0" rtlCol="0" anchor="t" anchorCtr="0">
            <a:noAutofit/>
          </a:bodyPr>
          <a:lstStyle>
            <a:lvl1pPr>
              <a:defRPr/>
            </a:lvl1pPr>
          </a:lstStyle>
          <a:p>
            <a:r>
              <a:rPr lang="en-US" noProof="0"/>
              <a:t>Click to add title</a:t>
            </a:r>
          </a:p>
        </p:txBody>
      </p:sp>
    </p:spTree>
    <p:extLst>
      <p:ext uri="{BB962C8B-B14F-4D97-AF65-F5344CB8AC3E}">
        <p14:creationId xmlns:p14="http://schemas.microsoft.com/office/powerpoint/2010/main" val="1213497947"/>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only 1">
  <p:cSld name="Title only 1">
    <p:spTree>
      <p:nvGrpSpPr>
        <p:cNvPr id="1" name="Shape 5623"/>
        <p:cNvGrpSpPr/>
        <p:nvPr/>
      </p:nvGrpSpPr>
      <p:grpSpPr>
        <a:xfrm>
          <a:off x="0" y="0"/>
          <a:ext cx="0" cy="0"/>
          <a:chOff x="0" y="0"/>
          <a:chExt cx="0" cy="0"/>
        </a:xfrm>
      </p:grpSpPr>
      <p:pic>
        <p:nvPicPr>
          <p:cNvPr id="5624" name="Google Shape;5624;p29"/>
          <p:cNvPicPr preferRelativeResize="0"/>
          <p:nvPr/>
        </p:nvPicPr>
        <p:blipFill>
          <a:blip r:embed="rId2">
            <a:alphaModFix amt="20000"/>
          </a:blip>
          <a:stretch>
            <a:fillRect/>
          </a:stretch>
        </p:blipFill>
        <p:spPr>
          <a:xfrm flipH="1">
            <a:off x="-4949" y="1"/>
            <a:ext cx="12192004" cy="6858001"/>
          </a:xfrm>
          <a:prstGeom prst="rect">
            <a:avLst/>
          </a:prstGeom>
          <a:noFill/>
          <a:ln>
            <a:noFill/>
          </a:ln>
        </p:spPr>
      </p:pic>
      <p:sp>
        <p:nvSpPr>
          <p:cNvPr id="5625" name="Google Shape;5625;p29"/>
          <p:cNvSpPr txBox="1">
            <a:spLocks noGrp="1"/>
          </p:cNvSpPr>
          <p:nvPr>
            <p:ph type="title"/>
          </p:nvPr>
        </p:nvSpPr>
        <p:spPr>
          <a:xfrm>
            <a:off x="960000" y="593367"/>
            <a:ext cx="10272000" cy="7636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Tree>
    <p:extLst>
      <p:ext uri="{BB962C8B-B14F-4D97-AF65-F5344CB8AC3E}">
        <p14:creationId xmlns:p14="http://schemas.microsoft.com/office/powerpoint/2010/main" val="26682618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only 12">
  <p:cSld name="Title only 12">
    <p:spTree>
      <p:nvGrpSpPr>
        <p:cNvPr id="1" name="Shape 6976"/>
        <p:cNvGrpSpPr/>
        <p:nvPr/>
      </p:nvGrpSpPr>
      <p:grpSpPr>
        <a:xfrm>
          <a:off x="0" y="0"/>
          <a:ext cx="0" cy="0"/>
          <a:chOff x="0" y="0"/>
          <a:chExt cx="0" cy="0"/>
        </a:xfrm>
      </p:grpSpPr>
      <p:sp>
        <p:nvSpPr>
          <p:cNvPr id="6978" name="Google Shape;6978;p57"/>
          <p:cNvSpPr txBox="1">
            <a:spLocks noGrp="1"/>
          </p:cNvSpPr>
          <p:nvPr>
            <p:ph type="title"/>
          </p:nvPr>
        </p:nvSpPr>
        <p:spPr>
          <a:xfrm>
            <a:off x="960000" y="720000"/>
            <a:ext cx="10272000" cy="763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extLst>
      <p:ext uri="{BB962C8B-B14F-4D97-AF65-F5344CB8AC3E}">
        <p14:creationId xmlns:p14="http://schemas.microsoft.com/office/powerpoint/2010/main" val="181700104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Title, subtitle, 1 column ">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966A5C41-60AA-4C25-8080-4F0DFF19B9CD}"/>
              </a:ext>
            </a:extLst>
          </p:cNvPr>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5" imgH="426" progId="TCLayout.ActiveDocument.1">
                  <p:embed/>
                </p:oleObj>
              </mc:Choice>
              <mc:Fallback>
                <p:oleObj name="think-cell Slide" r:id="rId3" imgW="425" imgH="426" progId="TCLayout.ActiveDocument.1">
                  <p:embed/>
                  <p:pic>
                    <p:nvPicPr>
                      <p:cNvPr id="4" name="Object 3" hidden="1">
                        <a:extLst>
                          <a:ext uri="{FF2B5EF4-FFF2-40B4-BE49-F238E27FC236}">
                            <a16:creationId xmlns:a16="http://schemas.microsoft.com/office/drawing/2014/main" id="{966A5C41-60AA-4C25-8080-4F0DFF19B9CD}"/>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ext Placeholder 8">
            <a:extLst>
              <a:ext uri="{FF2B5EF4-FFF2-40B4-BE49-F238E27FC236}">
                <a16:creationId xmlns:a16="http://schemas.microsoft.com/office/drawing/2014/main" id="{D5544814-ED77-5424-AA44-FCF607EC724C}"/>
              </a:ext>
            </a:extLst>
          </p:cNvPr>
          <p:cNvSpPr>
            <a:spLocks noGrp="1"/>
          </p:cNvSpPr>
          <p:nvPr>
            <p:ph type="body" sz="quarter" idx="13" hasCustomPrompt="1"/>
          </p:nvPr>
        </p:nvSpPr>
        <p:spPr>
          <a:xfrm>
            <a:off x="466344" y="649224"/>
            <a:ext cx="11277599" cy="1010919"/>
          </a:xfrm>
          <a:prstGeom prst="rect">
            <a:avLst/>
          </a:prstGeom>
        </p:spPr>
        <p:txBody>
          <a:bodyPr lIns="0" tIns="0" rIns="0" bIns="0">
            <a:noAutofit/>
          </a:bodyPr>
          <a:lstStyle>
            <a:lvl1pPr marL="0" indent="0">
              <a:buNone/>
              <a:defRPr sz="1800" b="0">
                <a:solidFill>
                  <a:schemeClr val="tx2"/>
                </a:solidFill>
              </a:defRPr>
            </a:lvl1pPr>
          </a:lstStyle>
          <a:p>
            <a:pPr lvl="0"/>
            <a:r>
              <a:rPr lang="en-US"/>
              <a:t>Click to add subtitle</a:t>
            </a:r>
          </a:p>
        </p:txBody>
      </p:sp>
      <p:sp>
        <p:nvSpPr>
          <p:cNvPr id="6" name="Text Placeholder 18">
            <a:extLst>
              <a:ext uri="{FF2B5EF4-FFF2-40B4-BE49-F238E27FC236}">
                <a16:creationId xmlns:a16="http://schemas.microsoft.com/office/drawing/2014/main" id="{92C75D35-8730-843D-1A9B-7A3EF8BDC3E6}"/>
              </a:ext>
            </a:extLst>
          </p:cNvPr>
          <p:cNvSpPr>
            <a:spLocks noGrp="1"/>
          </p:cNvSpPr>
          <p:nvPr>
            <p:ph idx="1"/>
          </p:nvPr>
        </p:nvSpPr>
        <p:spPr>
          <a:xfrm>
            <a:off x="471983" y="1684020"/>
            <a:ext cx="11277600" cy="4269740"/>
          </a:xfrm>
          <a:prstGeom prst="rect">
            <a:avLst/>
          </a:prstGeom>
        </p:spPr>
        <p:txBody>
          <a:bodyPr vert="horz" lIns="0" tIns="0" rIns="0" bIns="0" rtlCol="0">
            <a:noAutofit/>
          </a:bodyPr>
          <a:lstStyle>
            <a:lvl1pPr>
              <a:defRPr sz="1200"/>
            </a:lvl1pPr>
            <a:lvl2pPr>
              <a:defRPr sz="1200"/>
            </a:lvl2pPr>
            <a:lvl3pPr>
              <a:defRPr sz="1200"/>
            </a:lvl3pPr>
            <a:lvl4pPr>
              <a:defRPr sz="1200"/>
            </a:lvl4pPr>
            <a:lvl5pPr>
              <a:defRPr sz="1200"/>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9" name="Content Placeholder 3">
            <a:extLst>
              <a:ext uri="{FF2B5EF4-FFF2-40B4-BE49-F238E27FC236}">
                <a16:creationId xmlns:a16="http://schemas.microsoft.com/office/drawing/2014/main" id="{C2764C76-8970-695F-1D5D-E85887CA625C}"/>
              </a:ext>
            </a:extLst>
          </p:cNvPr>
          <p:cNvSpPr>
            <a:spLocks noGrp="1"/>
          </p:cNvSpPr>
          <p:nvPr>
            <p:ph sz="quarter" idx="14" hasCustomPrompt="1"/>
          </p:nvPr>
        </p:nvSpPr>
        <p:spPr>
          <a:xfrm>
            <a:off x="471983" y="6070213"/>
            <a:ext cx="11274552" cy="265176"/>
          </a:xfrm>
        </p:spPr>
        <p:txBody>
          <a:bodyPr wrap="none">
            <a:noAutofit/>
          </a:bodyPr>
          <a:lstStyle>
            <a:lvl1pPr>
              <a:spcAft>
                <a:spcPts val="0"/>
              </a:spcAft>
              <a:defRPr sz="800"/>
            </a:lvl1pPr>
          </a:lstStyle>
          <a:p>
            <a:pPr lvl="0"/>
            <a:r>
              <a:rPr lang="en-US"/>
              <a:t>Click to add notes and sources</a:t>
            </a:r>
          </a:p>
        </p:txBody>
      </p:sp>
      <p:sp>
        <p:nvSpPr>
          <p:cNvPr id="13" name="Title Placeholder 1">
            <a:extLst>
              <a:ext uri="{FF2B5EF4-FFF2-40B4-BE49-F238E27FC236}">
                <a16:creationId xmlns:a16="http://schemas.microsoft.com/office/drawing/2014/main" id="{B6D0D5CA-F83B-4C19-758D-C3C6659EBE6E}"/>
              </a:ext>
            </a:extLst>
          </p:cNvPr>
          <p:cNvSpPr>
            <a:spLocks noGrp="1"/>
          </p:cNvSpPr>
          <p:nvPr>
            <p:ph type="title" hasCustomPrompt="1"/>
          </p:nvPr>
        </p:nvSpPr>
        <p:spPr bwMode="gray">
          <a:xfrm>
            <a:off x="467201" y="304800"/>
            <a:ext cx="11201400" cy="342900"/>
          </a:xfrm>
          <a:prstGeom prst="rect">
            <a:avLst/>
          </a:prstGeom>
        </p:spPr>
        <p:txBody>
          <a:bodyPr vert="horz" lIns="0" tIns="0" rIns="0" bIns="0" rtlCol="0" anchor="t" anchorCtr="0">
            <a:noAutofit/>
          </a:bodyPr>
          <a:lstStyle>
            <a:lvl1pPr>
              <a:defRPr/>
            </a:lvl1pPr>
          </a:lstStyle>
          <a:p>
            <a:r>
              <a:rPr lang="en-US" noProof="0"/>
              <a:t>Click to add title</a:t>
            </a:r>
          </a:p>
        </p:txBody>
      </p:sp>
    </p:spTree>
    <p:extLst>
      <p:ext uri="{BB962C8B-B14F-4D97-AF65-F5344CB8AC3E}">
        <p14:creationId xmlns:p14="http://schemas.microsoft.com/office/powerpoint/2010/main" val="3041227808"/>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Modifier le style des sous-titres du masque</a:t>
            </a:r>
          </a:p>
        </p:txBody>
      </p:sp>
      <p:sp>
        <p:nvSpPr>
          <p:cNvPr id="4" name="Espace réservé de la date 3"/>
          <p:cNvSpPr>
            <a:spLocks noGrp="1"/>
          </p:cNvSpPr>
          <p:nvPr>
            <p:ph type="dt" sz="half" idx="10"/>
          </p:nvPr>
        </p:nvSpPr>
        <p:spPr/>
        <p:txBody>
          <a:body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315298072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idx="1"/>
          </p:nvPr>
        </p:nvSpPr>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389950683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Modifier les styles du texte du masque</a:t>
            </a:r>
          </a:p>
        </p:txBody>
      </p:sp>
      <p:sp>
        <p:nvSpPr>
          <p:cNvPr id="4" name="Espace réservé de la date 3"/>
          <p:cNvSpPr>
            <a:spLocks noGrp="1"/>
          </p:cNvSpPr>
          <p:nvPr>
            <p:ph type="dt" sz="half" idx="10"/>
          </p:nvPr>
        </p:nvSpPr>
        <p:spPr/>
        <p:txBody>
          <a:body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28204246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sz="half" idx="1"/>
          </p:nvPr>
        </p:nvSpPr>
        <p:spPr>
          <a:xfrm>
            <a:off x="838200" y="1825625"/>
            <a:ext cx="5181600" cy="435133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6172200" y="1825625"/>
            <a:ext cx="5181600" cy="435133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p:cNvSpPr>
            <a:spLocks noGrp="1"/>
          </p:cNvSpPr>
          <p:nvPr>
            <p:ph type="dt" sz="half" idx="10"/>
          </p:nvPr>
        </p:nvSpPr>
        <p:spPr/>
        <p:txBody>
          <a:bodyPr/>
          <a:lstStyle/>
          <a:p>
            <a:fld id="{C6EBE14D-B461-4822-94E8-6203B1E77523}" type="datetimeFigureOut">
              <a:rPr lang="fr-FR" smtClean="0"/>
              <a:t>22/09/2026</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207748055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Modifier les styles du texte du masque</a:t>
            </a:r>
          </a:p>
        </p:txBody>
      </p:sp>
      <p:sp>
        <p:nvSpPr>
          <p:cNvPr id="4" name="Espace réservé du contenu 3"/>
          <p:cNvSpPr>
            <a:spLocks noGrp="1"/>
          </p:cNvSpPr>
          <p:nvPr>
            <p:ph sz="half" idx="2"/>
          </p:nvPr>
        </p:nvSpPr>
        <p:spPr>
          <a:xfrm>
            <a:off x="839788" y="2505075"/>
            <a:ext cx="5157787" cy="368458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Modifier les styles du texte du masque</a:t>
            </a:r>
          </a:p>
        </p:txBody>
      </p:sp>
      <p:sp>
        <p:nvSpPr>
          <p:cNvPr id="6" name="Espace réservé du contenu 5"/>
          <p:cNvSpPr>
            <a:spLocks noGrp="1"/>
          </p:cNvSpPr>
          <p:nvPr>
            <p:ph sz="quarter" idx="4"/>
          </p:nvPr>
        </p:nvSpPr>
        <p:spPr>
          <a:xfrm>
            <a:off x="6172200" y="2505075"/>
            <a:ext cx="5183188" cy="368458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p:cNvSpPr>
            <a:spLocks noGrp="1"/>
          </p:cNvSpPr>
          <p:nvPr>
            <p:ph type="dt" sz="half" idx="10"/>
          </p:nvPr>
        </p:nvSpPr>
        <p:spPr/>
        <p:txBody>
          <a:bodyPr/>
          <a:lstStyle/>
          <a:p>
            <a:fld id="{C6EBE14D-B461-4822-94E8-6203B1E77523}" type="datetimeFigureOut">
              <a:rPr lang="fr-FR" smtClean="0"/>
              <a:t>22/09/2026</a:t>
            </a:fld>
            <a:endParaRPr lang="fr-FR"/>
          </a:p>
        </p:txBody>
      </p:sp>
      <p:sp>
        <p:nvSpPr>
          <p:cNvPr id="8" name="Espace réservé du pied de page 7"/>
          <p:cNvSpPr>
            <a:spLocks noGrp="1"/>
          </p:cNvSpPr>
          <p:nvPr>
            <p:ph type="ftr" sz="quarter" idx="11"/>
          </p:nvPr>
        </p:nvSpPr>
        <p:spPr/>
        <p:txBody>
          <a:bodyPr/>
          <a:lstStyle/>
          <a:p>
            <a:endParaRPr lang="fr-FR"/>
          </a:p>
        </p:txBody>
      </p:sp>
      <p:sp>
        <p:nvSpPr>
          <p:cNvPr id="9" name="Espace réservé du numéro de diapositive 8"/>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286963913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e la date 2"/>
          <p:cNvSpPr>
            <a:spLocks noGrp="1"/>
          </p:cNvSpPr>
          <p:nvPr>
            <p:ph type="dt" sz="half" idx="10"/>
          </p:nvPr>
        </p:nvSpPr>
        <p:spPr/>
        <p:txBody>
          <a:bodyPr/>
          <a:lstStyle/>
          <a:p>
            <a:fld id="{C6EBE14D-B461-4822-94E8-6203B1E77523}" type="datetimeFigureOut">
              <a:rPr lang="fr-FR" smtClean="0"/>
              <a:t>22/09/2026</a:t>
            </a:fld>
            <a:endParaRPr lang="fr-FR"/>
          </a:p>
        </p:txBody>
      </p:sp>
      <p:sp>
        <p:nvSpPr>
          <p:cNvPr id="4" name="Espace réservé du pied de page 3"/>
          <p:cNvSpPr>
            <a:spLocks noGrp="1"/>
          </p:cNvSpPr>
          <p:nvPr>
            <p:ph type="ftr" sz="quarter" idx="11"/>
          </p:nvPr>
        </p:nvSpPr>
        <p:spPr/>
        <p:txBody>
          <a:bodyPr/>
          <a:lstStyle/>
          <a:p>
            <a:endParaRPr lang="fr-FR"/>
          </a:p>
        </p:txBody>
      </p:sp>
      <p:sp>
        <p:nvSpPr>
          <p:cNvPr id="5" name="Espace réservé du numéro de diapositive 4"/>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396574602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p:cNvSpPr>
            <a:spLocks noGrp="1"/>
          </p:cNvSpPr>
          <p:nvPr>
            <p:ph type="dt" sz="half" idx="10"/>
          </p:nvPr>
        </p:nvSpPr>
        <p:spPr/>
        <p:txBody>
          <a:bodyPr/>
          <a:lstStyle/>
          <a:p>
            <a:fld id="{C6EBE14D-B461-4822-94E8-6203B1E77523}" type="datetimeFigureOut">
              <a:rPr lang="fr-FR" smtClean="0"/>
              <a:t>22/09/2026</a:t>
            </a:fld>
            <a:endParaRPr lang="fr-FR"/>
          </a:p>
        </p:txBody>
      </p:sp>
      <p:sp>
        <p:nvSpPr>
          <p:cNvPr id="3" name="Espace réservé du pied de page 2"/>
          <p:cNvSpPr>
            <a:spLocks noGrp="1"/>
          </p:cNvSpPr>
          <p:nvPr>
            <p:ph type="ftr" sz="quarter" idx="11"/>
          </p:nvPr>
        </p:nvSpPr>
        <p:spPr/>
        <p:txBody>
          <a:bodyPr/>
          <a:lstStyle/>
          <a:p>
            <a:endParaRPr lang="fr-FR"/>
          </a:p>
        </p:txBody>
      </p:sp>
      <p:sp>
        <p:nvSpPr>
          <p:cNvPr id="4" name="Espace réservé du numéro de diapositive 3"/>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129654362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Modifier les styles du texte du masque</a:t>
            </a:r>
          </a:p>
        </p:txBody>
      </p:sp>
      <p:sp>
        <p:nvSpPr>
          <p:cNvPr id="5" name="Espace réservé de la date 4"/>
          <p:cNvSpPr>
            <a:spLocks noGrp="1"/>
          </p:cNvSpPr>
          <p:nvPr>
            <p:ph type="dt" sz="half" idx="10"/>
          </p:nvPr>
        </p:nvSpPr>
        <p:spPr/>
        <p:txBody>
          <a:bodyPr/>
          <a:lstStyle/>
          <a:p>
            <a:fld id="{C6EBE14D-B461-4822-94E8-6203B1E77523}" type="datetimeFigureOut">
              <a:rPr lang="fr-FR" smtClean="0"/>
              <a:t>22/09/2026</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53932780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Modifier les styles du texte du masque</a:t>
            </a:r>
          </a:p>
        </p:txBody>
      </p:sp>
      <p:sp>
        <p:nvSpPr>
          <p:cNvPr id="5" name="Espace réservé de la date 4"/>
          <p:cNvSpPr>
            <a:spLocks noGrp="1"/>
          </p:cNvSpPr>
          <p:nvPr>
            <p:ph type="dt" sz="half" idx="10"/>
          </p:nvPr>
        </p:nvSpPr>
        <p:spPr/>
        <p:txBody>
          <a:bodyPr/>
          <a:lstStyle/>
          <a:p>
            <a:fld id="{C6EBE14D-B461-4822-94E8-6203B1E77523}" type="datetimeFigureOut">
              <a:rPr lang="fr-FR" smtClean="0"/>
              <a:t>22/09/2026</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46485372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texte vertical 2"/>
          <p:cNvSpPr>
            <a:spLocks noGrp="1"/>
          </p:cNvSpPr>
          <p:nvPr>
            <p:ph type="body" orient="vert" idx="1"/>
          </p:nvPr>
        </p:nvSpPr>
        <p:spPr/>
        <p:txBody>
          <a:bodyPr vert="eaVert"/>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312748992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p:cNvSpPr>
            <a:spLocks noGrp="1"/>
          </p:cNvSpPr>
          <p:nvPr>
            <p:ph type="body" orient="vert" idx="1"/>
          </p:nvPr>
        </p:nvSpPr>
        <p:spPr>
          <a:xfrm>
            <a:off x="838200" y="365125"/>
            <a:ext cx="7734300" cy="5811838"/>
          </a:xfrm>
        </p:spPr>
        <p:txBody>
          <a:bodyPr vert="eaVert"/>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203386442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35049338-7875-4927-82E0-03C95D83209A}"/>
              </a:ext>
            </a:extLst>
          </p:cNvPr>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5" imgH="426" progId="TCLayout.ActiveDocument.1">
                  <p:embed/>
                </p:oleObj>
              </mc:Choice>
              <mc:Fallback>
                <p:oleObj name="think-cell Slide" r:id="rId3" imgW="425" imgH="426" progId="TCLayout.ActiveDocument.1">
                  <p:embed/>
                  <p:pic>
                    <p:nvPicPr>
                      <p:cNvPr id="4" name="Object 3" hidden="1">
                        <a:extLst>
                          <a:ext uri="{FF2B5EF4-FFF2-40B4-BE49-F238E27FC236}">
                            <a16:creationId xmlns:a16="http://schemas.microsoft.com/office/drawing/2014/main" id="{35049338-7875-4927-82E0-03C95D8320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3" name="Title Placeholder 1">
            <a:extLst>
              <a:ext uri="{FF2B5EF4-FFF2-40B4-BE49-F238E27FC236}">
                <a16:creationId xmlns:a16="http://schemas.microsoft.com/office/drawing/2014/main" id="{5AA52354-AD0C-4278-A20C-E161AEB4D16F}"/>
              </a:ext>
            </a:extLst>
          </p:cNvPr>
          <p:cNvSpPr>
            <a:spLocks noGrp="1"/>
          </p:cNvSpPr>
          <p:nvPr>
            <p:ph type="title" hasCustomPrompt="1"/>
          </p:nvPr>
        </p:nvSpPr>
        <p:spPr bwMode="gray">
          <a:xfrm>
            <a:off x="467201" y="304800"/>
            <a:ext cx="11201400" cy="342900"/>
          </a:xfrm>
          <a:prstGeom prst="rect">
            <a:avLst/>
          </a:prstGeom>
        </p:spPr>
        <p:txBody>
          <a:bodyPr vert="horz" lIns="0" tIns="0" rIns="0" bIns="0" rtlCol="0" anchor="t" anchorCtr="0">
            <a:noAutofit/>
          </a:bodyPr>
          <a:lstStyle>
            <a:lvl1pPr>
              <a:defRPr/>
            </a:lvl1pPr>
          </a:lstStyle>
          <a:p>
            <a:r>
              <a:rPr lang="en-US" noProof="0"/>
              <a:t>Click to add title</a:t>
            </a:r>
          </a:p>
        </p:txBody>
      </p:sp>
    </p:spTree>
    <p:extLst>
      <p:ext uri="{BB962C8B-B14F-4D97-AF65-F5344CB8AC3E}">
        <p14:creationId xmlns:p14="http://schemas.microsoft.com/office/powerpoint/2010/main" val="3552400179"/>
      </p:ext>
    </p:extLst>
  </p:cSld>
  <p:clrMapOvr>
    <a:masterClrMapping/>
  </p:clrMapOvr>
  <p:transition>
    <p:fade/>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only 1" preserve="1">
  <p:cSld name="Title only 1">
    <p:spTree>
      <p:nvGrpSpPr>
        <p:cNvPr id="1" name="Shape 5623"/>
        <p:cNvGrpSpPr/>
        <p:nvPr/>
      </p:nvGrpSpPr>
      <p:grpSpPr>
        <a:xfrm>
          <a:off x="0" y="0"/>
          <a:ext cx="0" cy="0"/>
          <a:chOff x="0" y="0"/>
          <a:chExt cx="0" cy="0"/>
        </a:xfrm>
      </p:grpSpPr>
      <p:pic>
        <p:nvPicPr>
          <p:cNvPr id="5624" name="Google Shape;5624;p29"/>
          <p:cNvPicPr preferRelativeResize="0"/>
          <p:nvPr/>
        </p:nvPicPr>
        <p:blipFill>
          <a:blip r:embed="rId2">
            <a:alphaModFix amt="20000"/>
          </a:blip>
          <a:stretch>
            <a:fillRect/>
          </a:stretch>
        </p:blipFill>
        <p:spPr>
          <a:xfrm flipH="1">
            <a:off x="-4949" y="1"/>
            <a:ext cx="12192004" cy="6858001"/>
          </a:xfrm>
          <a:prstGeom prst="rect">
            <a:avLst/>
          </a:prstGeom>
          <a:noFill/>
          <a:ln>
            <a:noFill/>
          </a:ln>
        </p:spPr>
      </p:pic>
      <p:sp>
        <p:nvSpPr>
          <p:cNvPr id="5625" name="Google Shape;5625;p29"/>
          <p:cNvSpPr txBox="1">
            <a:spLocks noGrp="1"/>
          </p:cNvSpPr>
          <p:nvPr>
            <p:ph type="title"/>
          </p:nvPr>
        </p:nvSpPr>
        <p:spPr>
          <a:xfrm>
            <a:off x="960000" y="593367"/>
            <a:ext cx="10272000" cy="7636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Tree>
    <p:extLst>
      <p:ext uri="{BB962C8B-B14F-4D97-AF65-F5344CB8AC3E}">
        <p14:creationId xmlns:p14="http://schemas.microsoft.com/office/powerpoint/2010/main" val="7382639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only 12" preserve="1">
  <p:cSld name="Title only 12">
    <p:spTree>
      <p:nvGrpSpPr>
        <p:cNvPr id="1" name="Shape 6976"/>
        <p:cNvGrpSpPr/>
        <p:nvPr/>
      </p:nvGrpSpPr>
      <p:grpSpPr>
        <a:xfrm>
          <a:off x="0" y="0"/>
          <a:ext cx="0" cy="0"/>
          <a:chOff x="0" y="0"/>
          <a:chExt cx="0" cy="0"/>
        </a:xfrm>
      </p:grpSpPr>
      <p:sp>
        <p:nvSpPr>
          <p:cNvPr id="6978" name="Google Shape;6978;p57"/>
          <p:cNvSpPr txBox="1">
            <a:spLocks noGrp="1"/>
          </p:cNvSpPr>
          <p:nvPr>
            <p:ph type="title"/>
          </p:nvPr>
        </p:nvSpPr>
        <p:spPr>
          <a:xfrm>
            <a:off x="960000" y="720000"/>
            <a:ext cx="10272000" cy="763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extLst>
      <p:ext uri="{BB962C8B-B14F-4D97-AF65-F5344CB8AC3E}">
        <p14:creationId xmlns:p14="http://schemas.microsoft.com/office/powerpoint/2010/main" val="105828350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subtitle, 1 column ">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966A5C41-60AA-4C25-8080-4F0DFF19B9CD}"/>
              </a:ext>
            </a:extLst>
          </p:cNvPr>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5" imgH="426" progId="TCLayout.ActiveDocument.1">
                  <p:embed/>
                </p:oleObj>
              </mc:Choice>
              <mc:Fallback>
                <p:oleObj name="think-cell Slide" r:id="rId3" imgW="425" imgH="426" progId="TCLayout.ActiveDocument.1">
                  <p:embed/>
                  <p:pic>
                    <p:nvPicPr>
                      <p:cNvPr id="4" name="Object 3" hidden="1">
                        <a:extLst>
                          <a:ext uri="{FF2B5EF4-FFF2-40B4-BE49-F238E27FC236}">
                            <a16:creationId xmlns:a16="http://schemas.microsoft.com/office/drawing/2014/main" id="{966A5C41-60AA-4C25-8080-4F0DFF19B9CD}"/>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ext Placeholder 8">
            <a:extLst>
              <a:ext uri="{FF2B5EF4-FFF2-40B4-BE49-F238E27FC236}">
                <a16:creationId xmlns:a16="http://schemas.microsoft.com/office/drawing/2014/main" id="{D5544814-ED77-5424-AA44-FCF607EC724C}"/>
              </a:ext>
            </a:extLst>
          </p:cNvPr>
          <p:cNvSpPr>
            <a:spLocks noGrp="1"/>
          </p:cNvSpPr>
          <p:nvPr>
            <p:ph type="body" sz="quarter" idx="13" hasCustomPrompt="1"/>
          </p:nvPr>
        </p:nvSpPr>
        <p:spPr>
          <a:xfrm>
            <a:off x="466344" y="649224"/>
            <a:ext cx="11277599" cy="1010919"/>
          </a:xfrm>
          <a:prstGeom prst="rect">
            <a:avLst/>
          </a:prstGeom>
        </p:spPr>
        <p:txBody>
          <a:bodyPr lIns="0" tIns="0" rIns="0" bIns="0">
            <a:noAutofit/>
          </a:bodyPr>
          <a:lstStyle>
            <a:lvl1pPr marL="0" indent="0">
              <a:buNone/>
              <a:defRPr sz="1800" b="0">
                <a:solidFill>
                  <a:schemeClr val="tx2"/>
                </a:solidFill>
              </a:defRPr>
            </a:lvl1pPr>
          </a:lstStyle>
          <a:p>
            <a:pPr lvl="0"/>
            <a:r>
              <a:rPr lang="en-US"/>
              <a:t>Click to add subtitle</a:t>
            </a:r>
          </a:p>
        </p:txBody>
      </p:sp>
      <p:sp>
        <p:nvSpPr>
          <p:cNvPr id="6" name="Text Placeholder 18">
            <a:extLst>
              <a:ext uri="{FF2B5EF4-FFF2-40B4-BE49-F238E27FC236}">
                <a16:creationId xmlns:a16="http://schemas.microsoft.com/office/drawing/2014/main" id="{92C75D35-8730-843D-1A9B-7A3EF8BDC3E6}"/>
              </a:ext>
            </a:extLst>
          </p:cNvPr>
          <p:cNvSpPr>
            <a:spLocks noGrp="1"/>
          </p:cNvSpPr>
          <p:nvPr>
            <p:ph idx="1"/>
          </p:nvPr>
        </p:nvSpPr>
        <p:spPr>
          <a:xfrm>
            <a:off x="471983" y="1684020"/>
            <a:ext cx="11277600" cy="4269740"/>
          </a:xfrm>
          <a:prstGeom prst="rect">
            <a:avLst/>
          </a:prstGeom>
        </p:spPr>
        <p:txBody>
          <a:bodyPr vert="horz" lIns="0" tIns="0" rIns="0" bIns="0" rtlCol="0">
            <a:noAutofit/>
          </a:bodyPr>
          <a:lstStyle>
            <a:lvl1pPr>
              <a:defRPr sz="1200"/>
            </a:lvl1pPr>
            <a:lvl2pPr>
              <a:defRPr sz="1200"/>
            </a:lvl2pPr>
            <a:lvl3pPr>
              <a:defRPr sz="1200"/>
            </a:lvl3pPr>
            <a:lvl4pPr>
              <a:defRPr sz="1200"/>
            </a:lvl4pPr>
            <a:lvl5pPr>
              <a:defRPr sz="1200"/>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9" name="Content Placeholder 3">
            <a:extLst>
              <a:ext uri="{FF2B5EF4-FFF2-40B4-BE49-F238E27FC236}">
                <a16:creationId xmlns:a16="http://schemas.microsoft.com/office/drawing/2014/main" id="{C2764C76-8970-695F-1D5D-E85887CA625C}"/>
              </a:ext>
            </a:extLst>
          </p:cNvPr>
          <p:cNvSpPr>
            <a:spLocks noGrp="1"/>
          </p:cNvSpPr>
          <p:nvPr>
            <p:ph sz="quarter" idx="14" hasCustomPrompt="1"/>
          </p:nvPr>
        </p:nvSpPr>
        <p:spPr>
          <a:xfrm>
            <a:off x="471983" y="6070213"/>
            <a:ext cx="11274552" cy="265176"/>
          </a:xfrm>
        </p:spPr>
        <p:txBody>
          <a:bodyPr wrap="none">
            <a:noAutofit/>
          </a:bodyPr>
          <a:lstStyle>
            <a:lvl1pPr>
              <a:spcAft>
                <a:spcPts val="0"/>
              </a:spcAft>
              <a:defRPr sz="800"/>
            </a:lvl1pPr>
          </a:lstStyle>
          <a:p>
            <a:pPr lvl="0"/>
            <a:r>
              <a:rPr lang="en-US"/>
              <a:t>Click to add notes and sources</a:t>
            </a:r>
          </a:p>
        </p:txBody>
      </p:sp>
      <p:sp>
        <p:nvSpPr>
          <p:cNvPr id="13" name="Title Placeholder 1">
            <a:extLst>
              <a:ext uri="{FF2B5EF4-FFF2-40B4-BE49-F238E27FC236}">
                <a16:creationId xmlns:a16="http://schemas.microsoft.com/office/drawing/2014/main" id="{B6D0D5CA-F83B-4C19-758D-C3C6659EBE6E}"/>
              </a:ext>
            </a:extLst>
          </p:cNvPr>
          <p:cNvSpPr>
            <a:spLocks noGrp="1"/>
          </p:cNvSpPr>
          <p:nvPr>
            <p:ph type="title" hasCustomPrompt="1"/>
          </p:nvPr>
        </p:nvSpPr>
        <p:spPr bwMode="gray">
          <a:xfrm>
            <a:off x="467201" y="304800"/>
            <a:ext cx="11201400" cy="342900"/>
          </a:xfrm>
          <a:prstGeom prst="rect">
            <a:avLst/>
          </a:prstGeom>
        </p:spPr>
        <p:txBody>
          <a:bodyPr vert="horz" lIns="0" tIns="0" rIns="0" bIns="0" rtlCol="0" anchor="t" anchorCtr="0">
            <a:noAutofit/>
          </a:bodyPr>
          <a:lstStyle>
            <a:lvl1pPr>
              <a:defRPr/>
            </a:lvl1pPr>
          </a:lstStyle>
          <a:p>
            <a:r>
              <a:rPr lang="en-US" noProof="0"/>
              <a:t>Click to add title</a:t>
            </a:r>
          </a:p>
        </p:txBody>
      </p:sp>
    </p:spTree>
    <p:extLst>
      <p:ext uri="{BB962C8B-B14F-4D97-AF65-F5344CB8AC3E}">
        <p14:creationId xmlns:p14="http://schemas.microsoft.com/office/powerpoint/2010/main" val="2738359873"/>
      </p:ext>
    </p:extLst>
  </p:cSld>
  <p:clrMapOvr>
    <a:masterClrMapping/>
  </p:clrMapOvr>
  <p:transition>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slideLayout" Target="../slideLayouts/slideLayout30.xml"/><Relationship Id="rId16" Type="http://schemas.openxmlformats.org/officeDocument/2006/relationships/theme" Target="../theme/theme2.xml"/><Relationship Id="rId17" Type="http://schemas.openxmlformats.org/officeDocument/2006/relationships/image" Target="../media/image4.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17" name="Image 16"/>
          <p:cNvPicPr>
            <a:picLocks noChangeAspect="1"/>
          </p:cNvPicPr>
          <p:nvPr userDrawn="1"/>
        </p:nvPicPr>
        <p:blipFill rotWithShape="1">
          <a:blip r:embed="rId17" cstate="print">
            <a:extLst>
              <a:ext uri="{28A0092B-C50C-407E-A947-70E740481C1C}">
                <a14:useLocalDpi xmlns:a14="http://schemas.microsoft.com/office/drawing/2010/main" val="0"/>
              </a:ext>
            </a:extLst>
          </a:blip>
          <a:srcRect l="-1" r="1564" b="34369"/>
          <a:stretch/>
        </p:blipFill>
        <p:spPr>
          <a:xfrm>
            <a:off x="-147909" y="-58723"/>
            <a:ext cx="12339909" cy="6916723"/>
          </a:xfrm>
          <a:prstGeom prst="rect">
            <a:avLst/>
          </a:prstGeom>
        </p:spPr>
      </p:pic>
      <p:sp>
        <p:nvSpPr>
          <p:cNvPr id="2" name="Espace réservé du titre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fr-FR"/>
          </a:p>
        </p:txBody>
      </p:sp>
      <p:sp>
        <p:nvSpPr>
          <p:cNvPr id="6" name="Espace réservé du numéro de diapositive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16977E6-38EB-41CC-A7E1-A449CC9EA7E2}" type="slidenum">
              <a:rPr lang="fr-FR" smtClean="0"/>
              <a:t>‹N°›</a:t>
            </a:fld>
            <a:endParaRPr lang="fr-FR"/>
          </a:p>
        </p:txBody>
      </p:sp>
      <p:sp>
        <p:nvSpPr>
          <p:cNvPr id="15" name="ZoneTexte 14">
            <a:extLst>
              <a:ext uri="{FF2B5EF4-FFF2-40B4-BE49-F238E27FC236}">
                <a16:creationId xmlns:a16="http://schemas.microsoft.com/office/drawing/2014/main" id="{C6E7D94B-8E49-C846-A392-87DFA5EF4A9D}"/>
              </a:ext>
            </a:extLst>
          </p:cNvPr>
          <p:cNvSpPr txBox="1"/>
          <p:nvPr userDrawn="1"/>
        </p:nvSpPr>
        <p:spPr>
          <a:xfrm>
            <a:off x="221940" y="6394008"/>
            <a:ext cx="10929842" cy="261610"/>
          </a:xfrm>
          <a:prstGeom prst="rect">
            <a:avLst/>
          </a:prstGeom>
          <a:noFill/>
        </p:spPr>
        <p:txBody>
          <a:bodyPr wrap="square">
            <a:spAutoFit/>
          </a:bodyPr>
          <a:lstStyle/>
          <a:p>
            <a:r>
              <a:rPr lang="fr-FR" sz="1100">
                <a:solidFill>
                  <a:schemeClr val="bg1"/>
                </a:solidFill>
                <a:latin typeface="Helvetica" panose="020B0604020202020204" pitchFamily="34" charset="0"/>
                <a:cs typeface="Helvetica" panose="020B0604020202020204" pitchFamily="34" charset="0"/>
              </a:rPr>
              <a:t>Empreinte Africaine, Expertise Internationale</a:t>
            </a:r>
          </a:p>
        </p:txBody>
      </p:sp>
    </p:spTree>
    <p:extLst>
      <p:ext uri="{BB962C8B-B14F-4D97-AF65-F5344CB8AC3E}">
        <p14:creationId xmlns:p14="http://schemas.microsoft.com/office/powerpoint/2010/main" val="206341372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1" r:id="rId12"/>
    <p:sldLayoutId id="2147483662" r:id="rId13"/>
    <p:sldLayoutId id="2147483663" r:id="rId14"/>
    <p:sldLayoutId id="2147483664" r:id="rId1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8" name="Image 7"/>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504" y="283"/>
            <a:ext cx="12190992" cy="6857433"/>
          </a:xfrm>
          <a:prstGeom prst="rect">
            <a:avLst/>
          </a:prstGeom>
        </p:spPr>
      </p:pic>
      <p:sp>
        <p:nvSpPr>
          <p:cNvPr id="2" name="Espace réservé du titre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fr-FR"/>
          </a:p>
        </p:txBody>
      </p:sp>
      <p:sp>
        <p:nvSpPr>
          <p:cNvPr id="6" name="Espace réservé du numéro de diapositive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16977E6-38EB-41CC-A7E1-A449CC9EA7E2}" type="slidenum">
              <a:rPr lang="fr-FR" smtClean="0"/>
              <a:t>‹N°›</a:t>
            </a:fld>
            <a:endParaRPr lang="fr-FR"/>
          </a:p>
        </p:txBody>
      </p:sp>
    </p:spTree>
    <p:extLst>
      <p:ext uri="{BB962C8B-B14F-4D97-AF65-F5344CB8AC3E}">
        <p14:creationId xmlns:p14="http://schemas.microsoft.com/office/powerpoint/2010/main" val="605055638"/>
      </p:ext>
    </p:extLst>
  </p:cSld>
  <p:clrMap bg1="lt1" tx1="dk1" bg2="lt2" tx2="dk2" accent1="accent1" accent2="accent2" accent3="accent3" accent4="accent4" accent5="accent5" accent6="accent6" hlink="hlink" folHlink="folHlink"/>
  <p:sldLayoutIdLst>
    <p:sldLayoutId id="2147483666" r:id="rId1"/>
    <p:sldLayoutId id="2147483667" r:id="rId2"/>
    <p:sldLayoutId id="2147483668" r:id="rId3"/>
    <p:sldLayoutId id="2147483669" r:id="rId4"/>
    <p:sldLayoutId id="2147483670" r:id="rId5"/>
    <p:sldLayoutId id="2147483671" r:id="rId6"/>
    <p:sldLayoutId id="2147483672" r:id="rId7"/>
    <p:sldLayoutId id="2147483673" r:id="rId8"/>
    <p:sldLayoutId id="2147483674" r:id="rId9"/>
    <p:sldLayoutId id="2147483675" r:id="rId10"/>
    <p:sldLayoutId id="2147483676" r:id="rId11"/>
    <p:sldLayoutId id="2147483677" r:id="rId12"/>
    <p:sldLayoutId id="2147483678" r:id="rId13"/>
    <p:sldLayoutId id="2147483679" r:id="rId14"/>
    <p:sldLayoutId id="2147483680" r:id="rId1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9.jpg"/><Relationship Id="rId5" Type="http://schemas.openxmlformats.org/officeDocument/2006/relationships/notesSlide" Target="../notesSlides/notesSlide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6.png"/><Relationship Id="rId10" Type="http://schemas.openxmlformats.org/officeDocument/2006/relationships/image" Target="../media/image17.png"/><Relationship Id="rId11" Type="http://schemas.openxmlformats.org/officeDocument/2006/relationships/image" Target="../media/image21.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pn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 Id="rId20" Type="http://schemas.openxmlformats.org/officeDocument/2006/relationships/image" Target="../media/image31.png"/><Relationship Id="rId21" Type="http://schemas.openxmlformats.org/officeDocument/2006/relationships/image" Target="../media/image32.png"/><Relationship Id="rId22" Type="http://schemas.openxmlformats.org/officeDocument/2006/relationships/notesSlide" Target="../notesSlides/notes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96.png"/><Relationship Id="rId4" Type="http://schemas.openxmlformats.org/officeDocument/2006/relationships/image" Target="../media/image97.png"/><Relationship Id="rId5" Type="http://schemas.openxmlformats.org/officeDocument/2006/relationships/image" Target="../media/image46.png"/><Relationship Id="rId6" Type="http://schemas.openxmlformats.org/officeDocument/2006/relationships/image" Target="../media/image98.png"/><Relationship Id="rId7" Type="http://schemas.openxmlformats.org/officeDocument/2006/relationships/notesSlide" Target="../notesSlides/notesSlide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18.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notesSlide" Target="../notesSlides/notesSlide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7.xml"/><Relationship Id="rId7" Type="http://schemas.openxmlformats.org/officeDocument/2006/relationships/chart" Target="../charts/chart8.xml"/><Relationship Id="rId8" Type="http://schemas.openxmlformats.org/officeDocument/2006/relationships/notesSlide" Target="../notesSlides/notesSlide1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9.xml"/></Relationships>
</file>

<file path=ppt/slides/_rels/slide18.xml.rels><?xml version='1.0' encoding='UTF-8' standalone='yes'?>
<Relationships xmlns="http://schemas.openxmlformats.org/package/2006/relationships"><Relationship Id="rId1" Type="http://schemas.openxmlformats.org/officeDocument/2006/relationships/tags" Target="../tags/tag12.xml"/><Relationship Id="rId2" Type="http://schemas.openxmlformats.org/officeDocument/2006/relationships/slideLayout" Target="../slideLayouts/slideLayout15.xml"/><Relationship Id="rId3" Type="http://schemas.openxmlformats.org/officeDocument/2006/relationships/notesSlide" Target="../notesSlides/notesSlide40.xml"/><Relationship Id="rId4" Type="http://schemas.openxmlformats.org/officeDocument/2006/relationships/image" Target="../media/image8.png"/><Relationship Id="rId5" Type="http://schemas.openxmlformats.org/officeDocument/2006/relationships/oleObject" Target="../embeddings/oleObject3.bin"/><Relationship Id="rId6" Type="http://schemas.openxmlformats.org/officeDocument/2006/relationships/image" Target="../media/image163.emf"/><Relationship Id="rId7" Type="http://schemas.openxmlformats.org/officeDocument/2006/relationships/chart" Target="../charts/chart17.xml"/><Relationship Id="rId8" Type="http://schemas.openxmlformats.org/officeDocument/2006/relationships/chart" Target="../charts/chart18.xml"/><Relationship Id="rId9" Type="http://schemas.openxmlformats.org/officeDocument/2006/relationships/image" Target="../media/image164.png"/><Relationship Id="rId10" Type="http://schemas.openxmlformats.org/officeDocument/2006/relationships/image" Target="../media/image18.png"/><Relationship Id="rId11" Type="http://schemas.openxmlformats.org/officeDocument/2006/relationships/chart" Target="../charts/chart19.xml"/><Relationship Id="rId12" Type="http://schemas.openxmlformats.org/officeDocument/2006/relationships/chart" Target="../charts/chart20.xml"/><Relationship Id="rId13" Type="http://schemas.openxmlformats.org/officeDocument/2006/relationships/image" Target="../media/image165.png"/><Relationship Id="rId14" Type="http://schemas.openxmlformats.org/officeDocument/2006/relationships/image" Target="../media/image16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8.png"/><Relationship Id="rId4" Type="http://schemas.openxmlformats.org/officeDocument/2006/relationships/image" Target="../media/image128.png"/><Relationship Id="rId5" Type="http://schemas.openxmlformats.org/officeDocument/2006/relationships/image" Target="../media/image45.png"/><Relationship Id="rId6" Type="http://schemas.openxmlformats.org/officeDocument/2006/relationships/image" Target="../media/image129.png"/><Relationship Id="rId7" Type="http://schemas.openxmlformats.org/officeDocument/2006/relationships/image" Target="../media/image46.png"/><Relationship Id="rId8" Type="http://schemas.openxmlformats.org/officeDocument/2006/relationships/image" Target="../media/image13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9.xml"/><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15.png"/><Relationship Id="rId8" Type="http://schemas.openxmlformats.org/officeDocument/2006/relationships/notesSlide" Target="../notesSlides/notesSlide3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10.xml"/><Relationship Id="rId7" Type="http://schemas.openxmlformats.org/officeDocument/2006/relationships/notesSlide" Target="../notesSlides/notesSlide3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38.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3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11.xml"/><Relationship Id="rId7" Type="http://schemas.openxmlformats.org/officeDocument/2006/relationships/notesSlide" Target="../notesSlides/notesSlide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4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4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4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9.png"/><Relationship Id="rId4" Type="http://schemas.openxmlformats.org/officeDocument/2006/relationships/image" Target="../media/image22.png"/><Relationship Id="rId5" Type="http://schemas.openxmlformats.org/officeDocument/2006/relationships/image" Target="../media/image13.png"/><Relationship Id="rId6" Type="http://schemas.openxmlformats.org/officeDocument/2006/relationships/image" Target="../media/image20.png"/><Relationship Id="rId7" Type="http://schemas.openxmlformats.org/officeDocument/2006/relationships/notesSlide" Target="../notesSlides/notesSlide4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4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4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4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15.png"/><Relationship Id="rId8" Type="http://schemas.openxmlformats.org/officeDocument/2006/relationships/notesSlide" Target="../notesSlides/notesSlide48.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12.xml"/><Relationship Id="rId7" Type="http://schemas.openxmlformats.org/officeDocument/2006/relationships/notesSlide" Target="../notesSlides/notesSlide49.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13.xml"/><Relationship Id="rId7" Type="http://schemas.openxmlformats.org/officeDocument/2006/relationships/notesSlide" Target="../notesSlides/notesSlide50.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14.xml"/><Relationship Id="rId7" Type="http://schemas.openxmlformats.org/officeDocument/2006/relationships/notesSlide" Target="../notesSlides/notesSlide5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5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15.xml"/><Relationship Id="rId7" Type="http://schemas.openxmlformats.org/officeDocument/2006/relationships/notesSlide" Target="../notesSlides/notesSlide5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16.xml"/><Relationship Id="rId7" Type="http://schemas.openxmlformats.org/officeDocument/2006/relationships/notesSlide" Target="../notesSlides/notesSlide5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4.xml"/><Relationship Id="rId7" Type="http://schemas.openxmlformats.org/officeDocument/2006/relationships/notesSlide" Target="../notesSlides/notesSlide5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3.xml"/><Relationship Id="rId7" Type="http://schemas.openxmlformats.org/officeDocument/2006/relationships/notesSlide" Target="../notesSlides/notesSlide56.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5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58.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9.png"/><Relationship Id="rId4" Type="http://schemas.openxmlformats.org/officeDocument/2006/relationships/image" Target="../media/image22.png"/><Relationship Id="rId5" Type="http://schemas.openxmlformats.org/officeDocument/2006/relationships/image" Target="../media/image13.png"/><Relationship Id="rId6" Type="http://schemas.openxmlformats.org/officeDocument/2006/relationships/image" Target="../media/image20.png"/><Relationship Id="rId7" Type="http://schemas.openxmlformats.org/officeDocument/2006/relationships/notesSlide" Target="../notesSlides/notesSlide59.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15.png"/><Relationship Id="rId8" Type="http://schemas.openxmlformats.org/officeDocument/2006/relationships/notesSlide" Target="../notesSlides/notesSlide6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6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2.xml"/><Relationship Id="rId7" Type="http://schemas.openxmlformats.org/officeDocument/2006/relationships/notesSlide" Target="../notesSlides/notesSlide6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6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1.xml"/><Relationship Id="rId7" Type="http://schemas.openxmlformats.org/officeDocument/2006/relationships/notesSlide" Target="../notesSlides/notesSlide6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6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6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6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68.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69.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21.xml"/><Relationship Id="rId7" Type="http://schemas.openxmlformats.org/officeDocument/2006/relationships/notesSlide" Target="../notesSlides/notesSlide70.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22.xml"/><Relationship Id="rId7" Type="http://schemas.openxmlformats.org/officeDocument/2006/relationships/notesSlide" Target="../notesSlides/notesSlide7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23.xml"/><Relationship Id="rId7" Type="http://schemas.openxmlformats.org/officeDocument/2006/relationships/notesSlide" Target="../notesSlides/notesSlide7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9.png"/><Relationship Id="rId4" Type="http://schemas.openxmlformats.org/officeDocument/2006/relationships/image" Target="../media/image22.png"/><Relationship Id="rId5" Type="http://schemas.openxmlformats.org/officeDocument/2006/relationships/image" Target="../media/image13.png"/><Relationship Id="rId6" Type="http://schemas.openxmlformats.org/officeDocument/2006/relationships/image" Target="../media/image20.png"/><Relationship Id="rId7" Type="http://schemas.openxmlformats.org/officeDocument/2006/relationships/notesSlide" Target="../notesSlides/notesSlide7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15.png"/><Relationship Id="rId8" Type="http://schemas.openxmlformats.org/officeDocument/2006/relationships/notesSlide" Target="../notesSlides/notesSlide7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7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24.xml"/><Relationship Id="rId7" Type="http://schemas.openxmlformats.org/officeDocument/2006/relationships/notesSlide" Target="../notesSlides/notesSlide7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25.xml"/><Relationship Id="rId7" Type="http://schemas.openxmlformats.org/officeDocument/2006/relationships/notesSlide" Target="../notesSlides/notesSlide7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26.xml"/><Relationship Id="rId7" Type="http://schemas.openxmlformats.org/officeDocument/2006/relationships/notesSlide" Target="../notesSlides/notesSlide78.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79.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9.png"/><Relationship Id="rId4" Type="http://schemas.openxmlformats.org/officeDocument/2006/relationships/image" Target="../media/image22.png"/><Relationship Id="rId5" Type="http://schemas.openxmlformats.org/officeDocument/2006/relationships/image" Target="../media/image13.png"/><Relationship Id="rId6" Type="http://schemas.openxmlformats.org/officeDocument/2006/relationships/image" Target="../media/image20.png"/><Relationship Id="rId7" Type="http://schemas.openxmlformats.org/officeDocument/2006/relationships/notesSlide" Target="../notesSlides/notesSlide80.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8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8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8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8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85.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15.png"/><Relationship Id="rId8" Type="http://schemas.openxmlformats.org/officeDocument/2006/relationships/notesSlide" Target="../notesSlides/notesSlide86.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27.xml"/><Relationship Id="rId7" Type="http://schemas.openxmlformats.org/officeDocument/2006/relationships/notesSlide" Target="../notesSlides/notesSlide8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28.xml"/><Relationship Id="rId7" Type="http://schemas.openxmlformats.org/officeDocument/2006/relationships/notesSlide" Target="../notesSlides/notesSlide88.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29.xml"/><Relationship Id="rId7" Type="http://schemas.openxmlformats.org/officeDocument/2006/relationships/notesSlide" Target="../notesSlides/notesSlide89.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90.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30.xml"/><Relationship Id="rId7" Type="http://schemas.openxmlformats.org/officeDocument/2006/relationships/notesSlide" Target="../notesSlides/notesSlide9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9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9.png"/><Relationship Id="rId4" Type="http://schemas.openxmlformats.org/officeDocument/2006/relationships/image" Target="../media/image22.png"/><Relationship Id="rId5" Type="http://schemas.openxmlformats.org/officeDocument/2006/relationships/image" Target="../media/image13.png"/><Relationship Id="rId6" Type="http://schemas.openxmlformats.org/officeDocument/2006/relationships/image" Target="../media/image20.png"/><Relationship Id="rId7" Type="http://schemas.openxmlformats.org/officeDocument/2006/relationships/notesSlide" Target="../notesSlides/notesSlide93.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31.xml"/><Relationship Id="rId7" Type="http://schemas.openxmlformats.org/officeDocument/2006/relationships/notesSlide" Target="../notesSlides/notesSlide94.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95.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96.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9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15.png"/><Relationship Id="rId8" Type="http://schemas.openxmlformats.org/officeDocument/2006/relationships/notesSlide" Target="../notesSlides/notesSlide98.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99.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32.xml"/><Relationship Id="rId7" Type="http://schemas.openxmlformats.org/officeDocument/2006/relationships/notesSlide" Target="../notesSlides/notesSlide100.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0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33.xml"/><Relationship Id="rId7" Type="http://schemas.openxmlformats.org/officeDocument/2006/relationships/notesSlide" Target="../notesSlides/notesSlide10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03.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04.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05.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06.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0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08.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09.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10.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11.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1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13.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14.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15.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16.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1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18.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19.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20.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21.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2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23.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24.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25.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26.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2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28.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29.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34.xml"/><Relationship Id="rId7" Type="http://schemas.openxmlformats.org/officeDocument/2006/relationships/notesSlide" Target="../notesSlides/notesSlide130.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35.xml"/><Relationship Id="rId7" Type="http://schemas.openxmlformats.org/officeDocument/2006/relationships/notesSlide" Target="../notesSlides/notesSlide13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3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33.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34.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35.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36.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3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38.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39.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40.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4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36.xml"/><Relationship Id="rId7" Type="http://schemas.openxmlformats.org/officeDocument/2006/relationships/notesSlide" Target="../notesSlides/notesSlide14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4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4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4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37.xml"/><Relationship Id="rId7" Type="http://schemas.openxmlformats.org/officeDocument/2006/relationships/notesSlide" Target="../notesSlides/notesSlide14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4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9.png"/><Relationship Id="rId4" Type="http://schemas.openxmlformats.org/officeDocument/2006/relationships/image" Target="../media/image22.png"/><Relationship Id="rId5" Type="http://schemas.openxmlformats.org/officeDocument/2006/relationships/image" Target="../media/image13.png"/><Relationship Id="rId6" Type="http://schemas.openxmlformats.org/officeDocument/2006/relationships/image" Target="../media/image20.png"/><Relationship Id="rId7" Type="http://schemas.openxmlformats.org/officeDocument/2006/relationships/notesSlide" Target="../notesSlides/notesSlide14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14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5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5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8.png"/><Relationship Id="rId3" Type="http://schemas.openxmlformats.org/officeDocument/2006/relationships/image" Target="../media/image66.png"/><Relationship Id="rId4" Type="http://schemas.openxmlformats.org/officeDocument/2006/relationships/image" Target="../media/image67.png"/><Relationship Id="rId5" Type="http://schemas.openxmlformats.org/officeDocument/2006/relationships/image" Target="../media/image68.png"/><Relationship Id="rId6" Type="http://schemas.openxmlformats.org/officeDocument/2006/relationships/image" Target="../media/image18.png"/><Relationship Id="rId7" Type="http://schemas.openxmlformats.org/officeDocument/2006/relationships/notesSlide" Target="../notesSlides/notesSlide15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5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15.png"/><Relationship Id="rId8" Type="http://schemas.openxmlformats.org/officeDocument/2006/relationships/notesSlide" Target="../notesSlides/notesSlide15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62.png"/><Relationship Id="rId4" Type="http://schemas.openxmlformats.org/officeDocument/2006/relationships/notesSlide" Target="../notesSlides/notesSlide15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5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5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5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5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38.xml"/><Relationship Id="rId7" Type="http://schemas.openxmlformats.org/officeDocument/2006/relationships/notesSlide" Target="../notesSlides/notesSlide16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6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6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6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6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6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6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6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6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6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15.png"/><Relationship Id="rId8" Type="http://schemas.openxmlformats.org/officeDocument/2006/relationships/notesSlide" Target="../notesSlides/notesSlide17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39.xml"/><Relationship Id="rId7" Type="http://schemas.openxmlformats.org/officeDocument/2006/relationships/notesSlide" Target="../notesSlides/notesSlide17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7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7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40.xml"/><Relationship Id="rId7" Type="http://schemas.openxmlformats.org/officeDocument/2006/relationships/notesSlide" Target="../notesSlides/notesSlide17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7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7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7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7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7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9.png"/><Relationship Id="rId4" Type="http://schemas.openxmlformats.org/officeDocument/2006/relationships/image" Target="../media/image22.png"/><Relationship Id="rId5" Type="http://schemas.openxmlformats.org/officeDocument/2006/relationships/image" Target="../media/image13.png"/><Relationship Id="rId6" Type="http://schemas.openxmlformats.org/officeDocument/2006/relationships/image" Target="../media/image20.png"/><Relationship Id="rId7" Type="http://schemas.openxmlformats.org/officeDocument/2006/relationships/notesSlide" Target="../notesSlides/notesSlide18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8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8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8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8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8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8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41.xml"/><Relationship Id="rId7" Type="http://schemas.openxmlformats.org/officeDocument/2006/relationships/notesSlide" Target="../notesSlides/notesSlide18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8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8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9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42.xml"/><Relationship Id="rId7" Type="http://schemas.openxmlformats.org/officeDocument/2006/relationships/notesSlide" Target="../notesSlides/notesSlide19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9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9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9.png"/><Relationship Id="rId4" Type="http://schemas.openxmlformats.org/officeDocument/2006/relationships/image" Target="../media/image22.png"/><Relationship Id="rId5" Type="http://schemas.openxmlformats.org/officeDocument/2006/relationships/image" Target="../media/image13.png"/><Relationship Id="rId6" Type="http://schemas.openxmlformats.org/officeDocument/2006/relationships/image" Target="../media/image20.png"/><Relationship Id="rId7" Type="http://schemas.openxmlformats.org/officeDocument/2006/relationships/notesSlide" Target="../notesSlides/notesSlide19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15.png"/><Relationship Id="rId8" Type="http://schemas.openxmlformats.org/officeDocument/2006/relationships/notesSlide" Target="../notesSlides/notesSlide195.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96.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43.xml"/><Relationship Id="rId7" Type="http://schemas.openxmlformats.org/officeDocument/2006/relationships/notesSlide" Target="../notesSlides/notesSlide19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44.xml"/><Relationship Id="rId7" Type="http://schemas.openxmlformats.org/officeDocument/2006/relationships/notesSlide" Target="../notesSlides/notesSlide198.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99.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9.png"/><Relationship Id="rId4" Type="http://schemas.openxmlformats.org/officeDocument/2006/relationships/image" Target="../media/image22.png"/><Relationship Id="rId5" Type="http://schemas.openxmlformats.org/officeDocument/2006/relationships/image" Target="../media/image13.png"/><Relationship Id="rId6" Type="http://schemas.openxmlformats.org/officeDocument/2006/relationships/image" Target="../media/image20.png"/><Relationship Id="rId7" Type="http://schemas.openxmlformats.org/officeDocument/2006/relationships/notesSlide" Target="../notesSlides/notesSlide200.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01.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02.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45.xml"/><Relationship Id="rId7" Type="http://schemas.openxmlformats.org/officeDocument/2006/relationships/notesSlide" Target="../notesSlides/notesSlide203.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04.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05.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33.png"/><Relationship Id="rId7" Type="http://schemas.openxmlformats.org/officeDocument/2006/relationships/notesSlide" Target="../notesSlides/notesSlide206.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34.png"/><Relationship Id="rId7" Type="http://schemas.openxmlformats.org/officeDocument/2006/relationships/notesSlide" Target="../notesSlides/notesSlide20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35.png"/><Relationship Id="rId7" Type="http://schemas.openxmlformats.org/officeDocument/2006/relationships/notesSlide" Target="../notesSlides/notesSlide208.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36.png"/><Relationship Id="rId7" Type="http://schemas.openxmlformats.org/officeDocument/2006/relationships/notesSlide" Target="../notesSlides/notesSlide209.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37.png"/><Relationship Id="rId7" Type="http://schemas.openxmlformats.org/officeDocument/2006/relationships/notesSlide" Target="../notesSlides/notesSlide210.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38.png"/><Relationship Id="rId7" Type="http://schemas.openxmlformats.org/officeDocument/2006/relationships/notesSlide" Target="../notesSlides/notesSlide211.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39.png"/><Relationship Id="rId7" Type="http://schemas.openxmlformats.org/officeDocument/2006/relationships/notesSlide" Target="../notesSlides/notesSlide212.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15.png"/><Relationship Id="rId8" Type="http://schemas.openxmlformats.org/officeDocument/2006/relationships/notesSlide" Target="../notesSlides/notesSlide213.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14.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15.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16.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1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18.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19.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20.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21.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22.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23.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24.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25.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26.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2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28.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29.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30.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31.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32.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33.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34.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35.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36.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3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38.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39.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40.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41.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42.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43.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44.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45.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46.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4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48.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49.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50.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51.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52.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53.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54.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55.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56.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Image 15"/>
          <p:cNvPicPr>
            <a:picLocks noChangeAspect="1"/>
          </p:cNvPicPr>
          <p:nvPr/>
        </p:nvPicPr>
        <p:blipFill rotWithShape="1">
          <a:blip r:embed="rId2" cstate="print">
            <a:extLst>
              <a:ext uri="{28A0092B-C50C-407E-A947-70E740481C1C}">
                <a14:useLocalDpi xmlns:a14="http://schemas.microsoft.com/office/drawing/2010/main" val="0"/>
              </a:ext>
            </a:extLst>
          </a:blip>
          <a:srcRect l="-175" t="524" r="-2445" b="9082"/>
          <a:stretch/>
        </p:blipFill>
        <p:spPr>
          <a:xfrm>
            <a:off x="4883082" y="0"/>
            <a:ext cx="7785652" cy="6858000"/>
          </a:xfrm>
          <a:prstGeom prst="rect">
            <a:avLst/>
          </a:prstGeom>
        </p:spPr>
      </p:pic>
      <p:sp>
        <p:nvSpPr>
          <p:cNvPr id="5" name="Rectangle 4"/>
          <p:cNvSpPr/>
          <p:nvPr/>
        </p:nvSpPr>
        <p:spPr>
          <a:xfrm>
            <a:off x="13092" y="0"/>
            <a:ext cx="5740400" cy="6858000"/>
          </a:xfrm>
          <a:prstGeom prst="rect">
            <a:avLst/>
          </a:prstGeom>
          <a:solidFill>
            <a:srgbClr val="06060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CI" noProof="0"/>
          </a:p>
        </p:txBody>
      </p:sp>
      <p:pic>
        <p:nvPicPr>
          <p:cNvPr id="6" name="Image 5">
            <a:extLst>
              <a:ext uri="{FF2B5EF4-FFF2-40B4-BE49-F238E27FC236}">
                <a16:creationId xmlns:a16="http://schemas.microsoft.com/office/drawing/2014/main" id="{2C356854-0685-DCEF-E2F6-65D5E9653A4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25248" y="-135577"/>
            <a:ext cx="3261353" cy="1301437"/>
          </a:xfrm>
          <a:prstGeom prst="rect">
            <a:avLst/>
          </a:prstGeom>
        </p:spPr>
      </p:pic>
      <p:sp>
        <p:nvSpPr>
          <p:cNvPr id="8" name="Text Placeholder 4">
            <a:extLst>
              <a:ext uri="{FF2B5EF4-FFF2-40B4-BE49-F238E27FC236}">
                <a16:creationId xmlns:a16="http://schemas.microsoft.com/office/drawing/2014/main" id="{5B17207E-7FD3-4B75-ADFE-CC565F8DB8A1}"/>
              </a:ext>
            </a:extLst>
          </p:cNvPr>
          <p:cNvSpPr txBox="1">
            <a:spLocks/>
          </p:cNvSpPr>
          <p:nvPr/>
        </p:nvSpPr>
        <p:spPr>
          <a:xfrm>
            <a:off x="10506325" y="6388244"/>
            <a:ext cx="1187835" cy="337676"/>
          </a:xfrm>
          <a:prstGeom prst="rect">
            <a:avLst/>
          </a:prstGeom>
        </p:spPr>
        <p:txBody>
          <a:bodyPr vert="horz" lIns="91440" tIns="45720" rIns="91440" bIns="45720" rtlCol="0" anchor="ctr">
            <a:noAutofit/>
          </a:bodyPr>
          <a:lstStyle>
            <a:defPPr>
              <a:defRPr lang="fr-FR"/>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fr-CI" sz="1000" noProof="0">
                <a:solidFill>
                  <a:srgbClr val="FFFFFF"/>
                </a:solidFill>
                <a:latin typeface=".Helvetica"/>
                <a:ea typeface=".Helvetica Neue Interface" panose="020B0604020202020204" pitchFamily="34" charset="0"/>
                <a:cs typeface="Open Sans"/>
              </a:rPr>
              <a:t>23 octobre 2026</a:t>
            </a:r>
          </a:p>
        </p:txBody>
      </p:sp>
      <p:sp>
        <p:nvSpPr>
          <p:cNvPr id="9" name="Google Shape;138;p25"/>
          <p:cNvSpPr txBox="1"/>
          <p:nvPr/>
        </p:nvSpPr>
        <p:spPr>
          <a:xfrm>
            <a:off x="908861" y="2534894"/>
            <a:ext cx="5918659" cy="1231106"/>
          </a:xfrm>
          <a:prstGeom prst="rect">
            <a:avLst/>
          </a:prstGeom>
          <a:noFill/>
          <a:ln>
            <a:noFill/>
          </a:ln>
        </p:spPr>
        <p:txBody>
          <a:bodyPr spcFirstLastPara="1" wrap="square" lIns="0" tIns="0" rIns="0" bIns="0" anchor="t" anchorCtr="0">
            <a:spAutoFit/>
          </a:bodyPr>
          <a:lstStyle/>
          <a:p>
            <a:r>
              <a:rPr lang="fr-CI" sz="4000" b="1" noProof="0">
                <a:solidFill>
                  <a:srgbClr val="FFFFFF"/>
                </a:solidFill>
                <a:latin typeface="Helvetica" panose="020B0604020202020204" pitchFamily="34" charset="0"/>
                <a:cs typeface="Helvetica" panose="020B0604020202020204" pitchFamily="34" charset="0"/>
              </a:rPr>
              <a:t>Audit Comptable et financier FPPN</a:t>
            </a:r>
          </a:p>
        </p:txBody>
      </p:sp>
      <p:sp>
        <p:nvSpPr>
          <p:cNvPr id="14" name="ZoneTexte 13">
            <a:extLst>
              <a:ext uri="{FF2B5EF4-FFF2-40B4-BE49-F238E27FC236}">
                <a16:creationId xmlns:a16="http://schemas.microsoft.com/office/drawing/2014/main" id="{C6E7D94B-8E49-C846-A392-87DFA5EF4A9D}"/>
              </a:ext>
            </a:extLst>
          </p:cNvPr>
          <p:cNvSpPr txBox="1"/>
          <p:nvPr/>
        </p:nvSpPr>
        <p:spPr>
          <a:xfrm>
            <a:off x="456025" y="6300894"/>
            <a:ext cx="4653185" cy="338554"/>
          </a:xfrm>
          <a:prstGeom prst="rect">
            <a:avLst/>
          </a:prstGeom>
          <a:noFill/>
        </p:spPr>
        <p:txBody>
          <a:bodyPr wrap="square">
            <a:spAutoFit/>
          </a:bodyPr>
          <a:lstStyle/>
          <a:p>
            <a:r>
              <a:rPr lang="fr-CI" sz="1600" noProof="0">
                <a:solidFill>
                  <a:schemeClr val="bg1"/>
                </a:solidFill>
                <a:latin typeface="Helvetica" panose="020B0604020202020204" pitchFamily="34" charset="0"/>
                <a:cs typeface="Helvetica" panose="020B0604020202020204" pitchFamily="34" charset="0"/>
              </a:rPr>
              <a:t>Empreinte Africaine, Expertise Internationale</a:t>
            </a:r>
          </a:p>
        </p:txBody>
      </p:sp>
      <p:sp>
        <p:nvSpPr>
          <p:cNvPr id="12" name="Rectangle 11"/>
          <p:cNvSpPr/>
          <p:nvPr/>
        </p:nvSpPr>
        <p:spPr>
          <a:xfrm>
            <a:off x="9487408" y="229231"/>
            <a:ext cx="2704592" cy="1323439"/>
          </a:xfrm>
          <a:prstGeom prst="rect">
            <a:avLst/>
          </a:prstGeom>
        </p:spPr>
        <p:txBody>
          <a:bodyPr wrap="square">
            <a:spAutoFit/>
          </a:bodyPr>
          <a:lstStyle/>
          <a:p>
            <a: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lang="fr-CI" sz="1000" noProof="0">
                <a:solidFill>
                  <a:schemeClr val="bg1"/>
                </a:solidFill>
                <a:latin typeface="Helvetica" panose="020B0604020202020204" pitchFamily="34" charset="0"/>
                <a:ea typeface="Times New Roman" panose="02020603050405020304" pitchFamily="18" charset="0"/>
                <a:cs typeface="Helvetica" panose="020B0604020202020204" pitchFamily="34" charset="0"/>
              </a:rPr>
              <a:t>SA au Capital de 100 millions FCFA </a:t>
            </a:r>
          </a:p>
          <a:p>
            <a: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lang="fr-CI" sz="1000" noProof="0">
                <a:solidFill>
                  <a:schemeClr val="bg1"/>
                </a:solidFill>
                <a:latin typeface="Helvetica" panose="020B0604020202020204" pitchFamily="34" charset="0"/>
                <a:ea typeface="Times New Roman" panose="02020603050405020304" pitchFamily="18" charset="0"/>
                <a:cs typeface="Helvetica" panose="020B0604020202020204" pitchFamily="34" charset="0"/>
              </a:rPr>
              <a:t>Immeuble le 24, 3e étage</a:t>
            </a:r>
          </a:p>
          <a:p>
            <a: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lang="fr-CI" sz="1000" noProof="0">
                <a:solidFill>
                  <a:schemeClr val="bg1"/>
                </a:solidFill>
                <a:latin typeface="Helvetica" panose="020B0604020202020204" pitchFamily="34" charset="0"/>
                <a:ea typeface="Times New Roman" panose="02020603050405020304" pitchFamily="18" charset="0"/>
                <a:cs typeface="Helvetica" panose="020B0604020202020204" pitchFamily="34" charset="0"/>
              </a:rPr>
              <a:t>Boulevard </a:t>
            </a:r>
            <a:r>
              <a:rPr lang="fr-CI" sz="1000" noProof="0" err="1">
                <a:solidFill>
                  <a:schemeClr val="bg1"/>
                </a:solidFill>
                <a:latin typeface="Helvetica" panose="020B0604020202020204" pitchFamily="34" charset="0"/>
                <a:ea typeface="Times New Roman" panose="02020603050405020304" pitchFamily="18" charset="0"/>
                <a:cs typeface="Helvetica" panose="020B0604020202020204" pitchFamily="34" charset="0"/>
              </a:rPr>
              <a:t>Clozel</a:t>
            </a:r>
            <a:r>
              <a:rPr lang="fr-CI" sz="1000" noProof="0">
                <a:solidFill>
                  <a:schemeClr val="bg1"/>
                </a:solidFill>
                <a:latin typeface="Helvetica" panose="020B0604020202020204" pitchFamily="34" charset="0"/>
                <a:ea typeface="Times New Roman" panose="02020603050405020304" pitchFamily="18" charset="0"/>
                <a:cs typeface="Helvetica" panose="020B0604020202020204" pitchFamily="34" charset="0"/>
              </a:rPr>
              <a:t>, Plateau, Abidjan </a:t>
            </a:r>
          </a:p>
          <a:p>
            <a: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lang="fr-CI" sz="1000" noProof="0">
                <a:solidFill>
                  <a:schemeClr val="bg1"/>
                </a:solidFill>
                <a:latin typeface="Helvetica" panose="020B0604020202020204" pitchFamily="34" charset="0"/>
                <a:ea typeface="Times New Roman" panose="02020603050405020304" pitchFamily="18" charset="0"/>
                <a:cs typeface="Helvetica" panose="020B0604020202020204" pitchFamily="34" charset="0"/>
              </a:rPr>
              <a:t>06 BPM 459 Abidjan 06, Côte d’ivoire</a:t>
            </a:r>
          </a:p>
          <a:p>
            <a: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lang="fr-CI" sz="1000" noProof="0">
                <a:solidFill>
                  <a:schemeClr val="bg1"/>
                </a:solidFill>
                <a:latin typeface="Helvetica" panose="020B0604020202020204" pitchFamily="34" charset="0"/>
                <a:ea typeface="Times New Roman" panose="02020603050405020304" pitchFamily="18" charset="0"/>
                <a:cs typeface="Helvetica" panose="020B0604020202020204" pitchFamily="34" charset="0"/>
              </a:rPr>
              <a:t>NCC : 2404702K</a:t>
            </a:r>
          </a:p>
          <a:p>
            <a: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lang="fr-CI" sz="1000" noProof="0">
                <a:solidFill>
                  <a:schemeClr val="bg1"/>
                </a:solidFill>
                <a:latin typeface="Helvetica" panose="020B0604020202020204" pitchFamily="34" charset="0"/>
                <a:ea typeface="Times New Roman" panose="02020603050405020304" pitchFamily="18" charset="0"/>
                <a:cs typeface="Helvetica" panose="020B0604020202020204" pitchFamily="34" charset="0"/>
              </a:rPr>
              <a:t>RCCM : CI-ABJ-03-2024-B14-00114 </a:t>
            </a:r>
          </a:p>
          <a:p>
            <a: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lang="fr-CI" sz="1000" noProof="0">
                <a:solidFill>
                  <a:schemeClr val="bg1"/>
                </a:solidFill>
                <a:latin typeface="Helvetica" panose="020B0604020202020204" pitchFamily="34" charset="0"/>
                <a:ea typeface="Times New Roman" panose="02020603050405020304" pitchFamily="18" charset="0"/>
                <a:cs typeface="Helvetica" panose="020B0604020202020204" pitchFamily="34" charset="0"/>
              </a:rPr>
              <a:t>Tel (225) 27 20 33 90 90 </a:t>
            </a:r>
          </a:p>
          <a:p>
            <a: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lang="fr-CI" sz="1000" noProof="0">
                <a:solidFill>
                  <a:schemeClr val="bg1"/>
                </a:solidFill>
                <a:latin typeface="Helvetica" panose="020B0604020202020204" pitchFamily="34" charset="0"/>
                <a:ea typeface="Times New Roman" panose="02020603050405020304" pitchFamily="18" charset="0"/>
                <a:cs typeface="Helvetica" panose="020B0604020202020204" pitchFamily="34" charset="0"/>
              </a:rPr>
              <a:t>www.adenka.ci</a:t>
            </a:r>
          </a:p>
        </p:txBody>
      </p:sp>
      <p:sp>
        <p:nvSpPr>
          <p:cNvPr id="17" name="ZoneTexte 2"/>
          <p:cNvSpPr txBox="1"/>
          <p:nvPr/>
        </p:nvSpPr>
        <p:spPr>
          <a:xfrm>
            <a:off x="817421" y="5135034"/>
            <a:ext cx="6497320" cy="461665"/>
          </a:xfrm>
          <a:prstGeom prst="rect">
            <a:avLst/>
          </a:prstGeom>
          <a:noFill/>
        </p:spPr>
        <p:txBody>
          <a:bodyPr wrap="none">
            <a:spAutoFit/>
          </a:bodyPr>
          <a:lstStyle/>
          <a:p>
            <a:r>
              <a:rPr sz="2400" b="1">
                <a:solidFill>
                  <a:srgbClr val="EFAC62"/>
                </a:solidFill>
                <a:latin typeface="Helvetica"/>
              </a:rPr>
              <a:t>Rapport actuariel et statistique</a:t>
            </a:r>
          </a:p>
        </p:txBody>
      </p:sp>
      <p:pic>
        <p:nvPicPr>
          <p:cNvPr id="18" name="Logo FPPN" descr="logo_fppn.jpg"/>
          <p:cNvPicPr>
            <a:picLocks noChangeAspect="1"/>
          </p:cNvPicPr>
          <p:nvPr/>
        </p:nvPicPr>
        <p:blipFill>
          <a:blip r:embed="rId4"/>
          <a:srcRect t="23449" b="29631"/>
          <a:stretch>
            <a:fillRect/>
          </a:stretch>
        </p:blipFill>
        <p:spPr>
          <a:xfrm>
            <a:off x="938577" y="4017907"/>
            <a:ext cx="1844040" cy="865220"/>
          </a:xfrm>
          <a:prstGeom prst="rect">
            <a:avLst/>
          </a:prstGeom>
        </p:spPr>
      </p:pic>
    </p:spTree>
    <p:extLst>
      <p:ext uri="{BB962C8B-B14F-4D97-AF65-F5344CB8AC3E}">
        <p14:creationId xmlns:p14="http://schemas.microsoft.com/office/powerpoint/2010/main" val="104732887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972000" y="306000"/>
            <a:ext cx="7200000" cy="396000"/>
          </a:xfrm>
          <a:prstGeom prst="rect">
            <a:avLst/>
          </a:prstGeom>
          <a:noFill/>
        </p:spPr>
        <p:txBody>
          <a:bodyPr wrap="square" anchor="t" lIns="54000" rIns="54000"/>
          <a:lstStyle/>
          <a:p>
            <a:pPr algn="l"/>
            <a:r>
              <a:rPr sz="2400" b="1">
                <a:solidFill>
                  <a:srgbClr val="112A40"/>
                </a:solidFill>
                <a:latin typeface="Helvetica"/>
              </a:rPr>
              <a:t>SOMMAIRE</a:t>
            </a:r>
          </a:p>
        </p:txBody>
      </p:sp>
      <p:cxnSp>
        <p:nvCxnSpPr>
          <p:cNvPr id="28" name="Connector 27"/>
          <p:cNvCxnSpPr/>
          <p:nvPr/>
        </p:nvCxnSpPr>
        <p:spPr>
          <a:xfrm>
            <a:off x="932400" y="1374750"/>
            <a:ext cx="0" cy="4522500"/>
          </a:xfrm>
          <a:prstGeom prst="line">
            <a:avLst/>
          </a:prstGeom>
          <a:ln w="12700">
            <a:solidFill>
              <a:srgbClr val="112A4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32400" y="1374750"/>
            <a:ext cx="813599" cy="0"/>
          </a:xfrm>
          <a:prstGeom prst="line">
            <a:avLst/>
          </a:prstGeom>
          <a:ln w="12700">
            <a:solidFill>
              <a:srgbClr val="112A40"/>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1829250" y="1242000"/>
            <a:ext cx="265500" cy="265500"/>
          </a:xfrm>
          <a:prstGeom prst="ellipse">
            <a:avLst/>
          </a:prstGeom>
          <a:solidFill>
            <a:srgbClr val="0606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image.png"/>
          <p:cNvPicPr>
            <a:picLocks noChangeAspect="1"/>
          </p:cNvPicPr>
          <p:nvPr/>
        </p:nvPicPr>
        <p:blipFill>
          <a:blip r:embed="rId6"/>
          <a:stretch>
            <a:fillRect/>
          </a:stretch>
        </p:blipFill>
        <p:spPr>
          <a:xfrm>
            <a:off x="1882349" y="1295100"/>
            <a:ext cx="159300" cy="159300"/>
          </a:xfrm>
          <a:prstGeom prst="rect">
            <a:avLst/>
          </a:prstGeom>
        </p:spPr>
      </p:pic>
      <p:sp>
        <p:nvSpPr>
          <p:cNvPr id="32" name="Rectangle 31"/>
          <p:cNvSpPr/>
          <p:nvPr/>
        </p:nvSpPr>
        <p:spPr>
          <a:xfrm>
            <a:off x="2444400" y="1245600"/>
            <a:ext cx="8272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l"/>
            <a:r>
              <a:rPr sz="1200">
                <a:solidFill>
                  <a:srgbClr val="060606"/>
                </a:solidFill>
                <a:latin typeface="Helvetica"/>
              </a:rPr>
              <a:t>Résumé exécutif</a:t>
            </a:r>
          </a:p>
        </p:txBody>
      </p:sp>
      <p:sp>
        <p:nvSpPr>
          <p:cNvPr id="33" name="Rectangle 32"/>
          <p:cNvSpPr/>
          <p:nvPr/>
        </p:nvSpPr>
        <p:spPr>
          <a:xfrm>
            <a:off x="10756800" y="1245600"/>
            <a:ext cx="550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ctr"/>
            <a:r>
              <a:rPr sz="1200">
                <a:solidFill>
                  <a:srgbClr val="060606"/>
                </a:solidFill>
                <a:latin typeface="Helvetica"/>
              </a:rPr>
              <a:t>3</a:t>
            </a:r>
          </a:p>
        </p:txBody>
      </p:sp>
      <p:cxnSp>
        <p:nvCxnSpPr>
          <p:cNvPr id="34" name="Connector 33"/>
          <p:cNvCxnSpPr/>
          <p:nvPr/>
        </p:nvCxnSpPr>
        <p:spPr>
          <a:xfrm>
            <a:off x="932400" y="1676250"/>
            <a:ext cx="813599" cy="0"/>
          </a:xfrm>
          <a:prstGeom prst="line">
            <a:avLst/>
          </a:prstGeom>
          <a:ln w="12700">
            <a:solidFill>
              <a:srgbClr val="112A40"/>
            </a:solidFill>
          </a:ln>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1829250" y="1543499"/>
            <a:ext cx="265500" cy="265500"/>
          </a:xfrm>
          <a:prstGeom prst="ellipse">
            <a:avLst/>
          </a:prstGeom>
          <a:solidFill>
            <a:srgbClr val="0606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image.png"/>
          <p:cNvPicPr>
            <a:picLocks noChangeAspect="1"/>
          </p:cNvPicPr>
          <p:nvPr/>
        </p:nvPicPr>
        <p:blipFill>
          <a:blip r:embed="rId7"/>
          <a:stretch>
            <a:fillRect/>
          </a:stretch>
        </p:blipFill>
        <p:spPr>
          <a:xfrm>
            <a:off x="1882349" y="1596599"/>
            <a:ext cx="159300" cy="159300"/>
          </a:xfrm>
          <a:prstGeom prst="rect">
            <a:avLst/>
          </a:prstGeom>
        </p:spPr>
      </p:pic>
      <p:sp>
        <p:nvSpPr>
          <p:cNvPr id="37" name="Rectangle 36"/>
          <p:cNvSpPr/>
          <p:nvPr/>
        </p:nvSpPr>
        <p:spPr>
          <a:xfrm>
            <a:off x="2444400" y="1547100"/>
            <a:ext cx="8272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l"/>
            <a:r>
              <a:rPr sz="1200">
                <a:solidFill>
                  <a:srgbClr val="060606"/>
                </a:solidFill>
                <a:latin typeface="Helvetica"/>
              </a:rPr>
              <a:t>Comprendre le FPPN</a:t>
            </a:r>
          </a:p>
        </p:txBody>
      </p:sp>
      <p:sp>
        <p:nvSpPr>
          <p:cNvPr id="38" name="Rectangle 37"/>
          <p:cNvSpPr/>
          <p:nvPr/>
        </p:nvSpPr>
        <p:spPr>
          <a:xfrm>
            <a:off x="10756800" y="1547100"/>
            <a:ext cx="550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ctr"/>
            <a:r>
              <a:rPr sz="1200">
                <a:solidFill>
                  <a:srgbClr val="060606"/>
                </a:solidFill>
                <a:latin typeface="Helvetica"/>
              </a:rPr>
              <a:t>23</a:t>
            </a:r>
          </a:p>
        </p:txBody>
      </p:sp>
      <p:cxnSp>
        <p:nvCxnSpPr>
          <p:cNvPr id="39" name="Connector 38"/>
          <p:cNvCxnSpPr/>
          <p:nvPr/>
        </p:nvCxnSpPr>
        <p:spPr>
          <a:xfrm>
            <a:off x="932400" y="1977750"/>
            <a:ext cx="813599" cy="0"/>
          </a:xfrm>
          <a:prstGeom prst="line">
            <a:avLst/>
          </a:prstGeom>
          <a:ln w="12700">
            <a:solidFill>
              <a:srgbClr val="112A40"/>
            </a:solidFill>
          </a:ln>
        </p:spPr>
        <p:style>
          <a:lnRef idx="2">
            <a:schemeClr val="accent1"/>
          </a:lnRef>
          <a:fillRef idx="0">
            <a:schemeClr val="accent1"/>
          </a:fillRef>
          <a:effectRef idx="1">
            <a:schemeClr val="accent1"/>
          </a:effectRef>
          <a:fontRef idx="minor">
            <a:schemeClr val="tx1"/>
          </a:fontRef>
        </p:style>
      </p:cxnSp>
      <p:sp>
        <p:nvSpPr>
          <p:cNvPr id="40" name="Oval 39"/>
          <p:cNvSpPr/>
          <p:nvPr/>
        </p:nvSpPr>
        <p:spPr>
          <a:xfrm>
            <a:off x="1829250" y="1845000"/>
            <a:ext cx="265500" cy="265500"/>
          </a:xfrm>
          <a:prstGeom prst="ellipse">
            <a:avLst/>
          </a:prstGeom>
          <a:solidFill>
            <a:srgbClr val="0606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image.png"/>
          <p:cNvPicPr>
            <a:picLocks noChangeAspect="1"/>
          </p:cNvPicPr>
          <p:nvPr/>
        </p:nvPicPr>
        <p:blipFill>
          <a:blip r:embed="rId8"/>
          <a:stretch>
            <a:fillRect/>
          </a:stretch>
        </p:blipFill>
        <p:spPr>
          <a:xfrm>
            <a:off x="1882349" y="1898100"/>
            <a:ext cx="159300" cy="159300"/>
          </a:xfrm>
          <a:prstGeom prst="rect">
            <a:avLst/>
          </a:prstGeom>
        </p:spPr>
      </p:pic>
      <p:sp>
        <p:nvSpPr>
          <p:cNvPr id="42" name="Rectangle 41"/>
          <p:cNvSpPr/>
          <p:nvPr/>
        </p:nvSpPr>
        <p:spPr>
          <a:xfrm>
            <a:off x="2444400" y="1848600"/>
            <a:ext cx="8272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l"/>
            <a:r>
              <a:rPr sz="1200">
                <a:solidFill>
                  <a:srgbClr val="060606"/>
                </a:solidFill>
                <a:latin typeface="Helvetica"/>
              </a:rPr>
              <a:t>Contexte et démarche</a:t>
            </a:r>
          </a:p>
        </p:txBody>
      </p:sp>
      <p:sp>
        <p:nvSpPr>
          <p:cNvPr id="43" name="Rectangle 42"/>
          <p:cNvSpPr/>
          <p:nvPr/>
        </p:nvSpPr>
        <p:spPr>
          <a:xfrm>
            <a:off x="10756800" y="1848600"/>
            <a:ext cx="550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ctr"/>
            <a:r>
              <a:rPr sz="1200">
                <a:solidFill>
                  <a:srgbClr val="060606"/>
                </a:solidFill>
                <a:latin typeface="Helvetica"/>
              </a:rPr>
              <a:t>32</a:t>
            </a:r>
          </a:p>
        </p:txBody>
      </p:sp>
      <p:cxnSp>
        <p:nvCxnSpPr>
          <p:cNvPr id="44" name="Connector 43"/>
          <p:cNvCxnSpPr/>
          <p:nvPr/>
        </p:nvCxnSpPr>
        <p:spPr>
          <a:xfrm>
            <a:off x="932400" y="2279250"/>
            <a:ext cx="813599" cy="0"/>
          </a:xfrm>
          <a:prstGeom prst="line">
            <a:avLst/>
          </a:prstGeom>
          <a:ln w="12700">
            <a:solidFill>
              <a:srgbClr val="112A40"/>
            </a:solidFill>
          </a:ln>
        </p:spPr>
        <p:style>
          <a:lnRef idx="2">
            <a:schemeClr val="accent1"/>
          </a:lnRef>
          <a:fillRef idx="0">
            <a:schemeClr val="accent1"/>
          </a:fillRef>
          <a:effectRef idx="1">
            <a:schemeClr val="accent1"/>
          </a:effectRef>
          <a:fontRef idx="minor">
            <a:schemeClr val="tx1"/>
          </a:fontRef>
        </p:style>
      </p:cxnSp>
      <p:sp>
        <p:nvSpPr>
          <p:cNvPr id="45" name="Oval 44"/>
          <p:cNvSpPr/>
          <p:nvPr/>
        </p:nvSpPr>
        <p:spPr>
          <a:xfrm>
            <a:off x="1829250" y="2146500"/>
            <a:ext cx="265500" cy="265500"/>
          </a:xfrm>
          <a:prstGeom prst="ellipse">
            <a:avLst/>
          </a:prstGeom>
          <a:solidFill>
            <a:srgbClr val="0606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6" name="Picture 45" descr="image.png"/>
          <p:cNvPicPr>
            <a:picLocks noChangeAspect="1"/>
          </p:cNvPicPr>
          <p:nvPr/>
        </p:nvPicPr>
        <p:blipFill>
          <a:blip r:embed="rId9"/>
          <a:stretch>
            <a:fillRect/>
          </a:stretch>
        </p:blipFill>
        <p:spPr>
          <a:xfrm>
            <a:off x="1882349" y="2199600"/>
            <a:ext cx="159300" cy="159300"/>
          </a:xfrm>
          <a:prstGeom prst="rect">
            <a:avLst/>
          </a:prstGeom>
        </p:spPr>
      </p:pic>
      <p:sp>
        <p:nvSpPr>
          <p:cNvPr id="47" name="Rectangle 46"/>
          <p:cNvSpPr/>
          <p:nvPr/>
        </p:nvSpPr>
        <p:spPr>
          <a:xfrm>
            <a:off x="2444400" y="2150100"/>
            <a:ext cx="8272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l"/>
            <a:r>
              <a:rPr sz="1200">
                <a:solidFill>
                  <a:srgbClr val="060606"/>
                </a:solidFill>
                <a:latin typeface="Helvetica"/>
              </a:rPr>
              <a:t>Données et qualité</a:t>
            </a:r>
          </a:p>
        </p:txBody>
      </p:sp>
      <p:sp>
        <p:nvSpPr>
          <p:cNvPr id="48" name="Rectangle 47"/>
          <p:cNvSpPr/>
          <p:nvPr/>
        </p:nvSpPr>
        <p:spPr>
          <a:xfrm>
            <a:off x="10756800" y="2150100"/>
            <a:ext cx="550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ctr"/>
            <a:r>
              <a:rPr sz="1200">
                <a:solidFill>
                  <a:srgbClr val="060606"/>
                </a:solidFill>
                <a:latin typeface="Helvetica"/>
              </a:rPr>
              <a:t>37</a:t>
            </a:r>
          </a:p>
        </p:txBody>
      </p:sp>
      <p:cxnSp>
        <p:nvCxnSpPr>
          <p:cNvPr id="49" name="Connector 48"/>
          <p:cNvCxnSpPr/>
          <p:nvPr/>
        </p:nvCxnSpPr>
        <p:spPr>
          <a:xfrm>
            <a:off x="932400" y="2580750"/>
            <a:ext cx="813599" cy="0"/>
          </a:xfrm>
          <a:prstGeom prst="line">
            <a:avLst/>
          </a:prstGeom>
          <a:ln w="12700">
            <a:solidFill>
              <a:srgbClr val="112A40"/>
            </a:solidFill>
          </a:ln>
        </p:spPr>
        <p:style>
          <a:lnRef idx="2">
            <a:schemeClr val="accent1"/>
          </a:lnRef>
          <a:fillRef idx="0">
            <a:schemeClr val="accent1"/>
          </a:fillRef>
          <a:effectRef idx="1">
            <a:schemeClr val="accent1"/>
          </a:effectRef>
          <a:fontRef idx="minor">
            <a:schemeClr val="tx1"/>
          </a:fontRef>
        </p:style>
      </p:cxnSp>
      <p:sp>
        <p:nvSpPr>
          <p:cNvPr id="50" name="Oval 49"/>
          <p:cNvSpPr/>
          <p:nvPr/>
        </p:nvSpPr>
        <p:spPr>
          <a:xfrm>
            <a:off x="1829250" y="2448000"/>
            <a:ext cx="265500" cy="265500"/>
          </a:xfrm>
          <a:prstGeom prst="ellipse">
            <a:avLst/>
          </a:prstGeom>
          <a:solidFill>
            <a:srgbClr val="0606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1" name="Picture 50" descr="image.png"/>
          <p:cNvPicPr>
            <a:picLocks noChangeAspect="1"/>
          </p:cNvPicPr>
          <p:nvPr/>
        </p:nvPicPr>
        <p:blipFill>
          <a:blip r:embed="rId10"/>
          <a:stretch>
            <a:fillRect/>
          </a:stretch>
        </p:blipFill>
        <p:spPr>
          <a:xfrm>
            <a:off x="1882349" y="2501100"/>
            <a:ext cx="159300" cy="159300"/>
          </a:xfrm>
          <a:prstGeom prst="rect">
            <a:avLst/>
          </a:prstGeom>
        </p:spPr>
      </p:pic>
      <p:sp>
        <p:nvSpPr>
          <p:cNvPr id="52" name="Rectangle 51"/>
          <p:cNvSpPr/>
          <p:nvPr/>
        </p:nvSpPr>
        <p:spPr>
          <a:xfrm>
            <a:off x="2444400" y="2451600"/>
            <a:ext cx="8272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l"/>
            <a:r>
              <a:rPr sz="1200">
                <a:solidFill>
                  <a:srgbClr val="060606"/>
                </a:solidFill>
                <a:latin typeface="Helvetica"/>
              </a:rPr>
              <a:t>Effectifs et cotisations</a:t>
            </a:r>
          </a:p>
        </p:txBody>
      </p:sp>
      <p:sp>
        <p:nvSpPr>
          <p:cNvPr id="53" name="Rectangle 52"/>
          <p:cNvSpPr/>
          <p:nvPr/>
        </p:nvSpPr>
        <p:spPr>
          <a:xfrm>
            <a:off x="10756800" y="2451600"/>
            <a:ext cx="550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ctr"/>
            <a:r>
              <a:rPr sz="1200">
                <a:solidFill>
                  <a:srgbClr val="060606"/>
                </a:solidFill>
                <a:latin typeface="Helvetica"/>
              </a:rPr>
              <a:t>50</a:t>
            </a:r>
          </a:p>
        </p:txBody>
      </p:sp>
      <p:cxnSp>
        <p:nvCxnSpPr>
          <p:cNvPr id="54" name="Connector 53"/>
          <p:cNvCxnSpPr/>
          <p:nvPr/>
        </p:nvCxnSpPr>
        <p:spPr>
          <a:xfrm>
            <a:off x="932400" y="2882250"/>
            <a:ext cx="813599" cy="0"/>
          </a:xfrm>
          <a:prstGeom prst="line">
            <a:avLst/>
          </a:prstGeom>
          <a:ln w="12700">
            <a:solidFill>
              <a:srgbClr val="112A40"/>
            </a:solidFill>
          </a:ln>
        </p:spPr>
        <p:style>
          <a:lnRef idx="2">
            <a:schemeClr val="accent1"/>
          </a:lnRef>
          <a:fillRef idx="0">
            <a:schemeClr val="accent1"/>
          </a:fillRef>
          <a:effectRef idx="1">
            <a:schemeClr val="accent1"/>
          </a:effectRef>
          <a:fontRef idx="minor">
            <a:schemeClr val="tx1"/>
          </a:fontRef>
        </p:style>
      </p:cxnSp>
      <p:sp>
        <p:nvSpPr>
          <p:cNvPr id="55" name="Oval 54"/>
          <p:cNvSpPr/>
          <p:nvPr/>
        </p:nvSpPr>
        <p:spPr>
          <a:xfrm>
            <a:off x="1829250" y="2749499"/>
            <a:ext cx="265500" cy="265500"/>
          </a:xfrm>
          <a:prstGeom prst="ellipse">
            <a:avLst/>
          </a:prstGeom>
          <a:solidFill>
            <a:srgbClr val="0606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6" name="Picture 55" descr="image.png"/>
          <p:cNvPicPr>
            <a:picLocks noChangeAspect="1"/>
          </p:cNvPicPr>
          <p:nvPr/>
        </p:nvPicPr>
        <p:blipFill>
          <a:blip r:embed="rId11"/>
          <a:stretch>
            <a:fillRect/>
          </a:stretch>
        </p:blipFill>
        <p:spPr>
          <a:xfrm>
            <a:off x="1882349" y="2802599"/>
            <a:ext cx="159300" cy="159300"/>
          </a:xfrm>
          <a:prstGeom prst="rect">
            <a:avLst/>
          </a:prstGeom>
        </p:spPr>
      </p:pic>
      <p:sp>
        <p:nvSpPr>
          <p:cNvPr id="57" name="Rectangle 56"/>
          <p:cNvSpPr/>
          <p:nvPr/>
        </p:nvSpPr>
        <p:spPr>
          <a:xfrm>
            <a:off x="2444400" y="2753100"/>
            <a:ext cx="8272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l"/>
            <a:r>
              <a:rPr sz="1200">
                <a:solidFill>
                  <a:srgbClr val="060606"/>
                </a:solidFill>
                <a:latin typeface="Helvetica"/>
              </a:rPr>
              <a:t>Sinistralité et résultat</a:t>
            </a:r>
          </a:p>
        </p:txBody>
      </p:sp>
      <p:sp>
        <p:nvSpPr>
          <p:cNvPr id="58" name="Rectangle 57"/>
          <p:cNvSpPr/>
          <p:nvPr/>
        </p:nvSpPr>
        <p:spPr>
          <a:xfrm>
            <a:off x="10756800" y="2753100"/>
            <a:ext cx="550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ctr"/>
            <a:r>
              <a:rPr sz="1200">
                <a:solidFill>
                  <a:srgbClr val="060606"/>
                </a:solidFill>
                <a:latin typeface="Helvetica"/>
              </a:rPr>
              <a:t>63</a:t>
            </a:r>
          </a:p>
        </p:txBody>
      </p:sp>
      <p:cxnSp>
        <p:nvCxnSpPr>
          <p:cNvPr id="59" name="Connector 58"/>
          <p:cNvCxnSpPr/>
          <p:nvPr/>
        </p:nvCxnSpPr>
        <p:spPr>
          <a:xfrm>
            <a:off x="932400" y="3183750"/>
            <a:ext cx="813599" cy="0"/>
          </a:xfrm>
          <a:prstGeom prst="line">
            <a:avLst/>
          </a:prstGeom>
          <a:ln w="12700">
            <a:solidFill>
              <a:srgbClr val="112A40"/>
            </a:solidFill>
          </a:ln>
        </p:spPr>
        <p:style>
          <a:lnRef idx="2">
            <a:schemeClr val="accent1"/>
          </a:lnRef>
          <a:fillRef idx="0">
            <a:schemeClr val="accent1"/>
          </a:fillRef>
          <a:effectRef idx="1">
            <a:schemeClr val="accent1"/>
          </a:effectRef>
          <a:fontRef idx="minor">
            <a:schemeClr val="tx1"/>
          </a:fontRef>
        </p:style>
      </p:cxnSp>
      <p:sp>
        <p:nvSpPr>
          <p:cNvPr id="60" name="Oval 59"/>
          <p:cNvSpPr/>
          <p:nvPr/>
        </p:nvSpPr>
        <p:spPr>
          <a:xfrm>
            <a:off x="1829250" y="3051000"/>
            <a:ext cx="265500" cy="265500"/>
          </a:xfrm>
          <a:prstGeom prst="ellipse">
            <a:avLst/>
          </a:prstGeom>
          <a:solidFill>
            <a:srgbClr val="0606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1" name="Picture 60" descr="image.png"/>
          <p:cNvPicPr>
            <a:picLocks noChangeAspect="1"/>
          </p:cNvPicPr>
          <p:nvPr/>
        </p:nvPicPr>
        <p:blipFill>
          <a:blip r:embed="rId12"/>
          <a:stretch>
            <a:fillRect/>
          </a:stretch>
        </p:blipFill>
        <p:spPr>
          <a:xfrm>
            <a:off x="1882349" y="3104100"/>
            <a:ext cx="159300" cy="159300"/>
          </a:xfrm>
          <a:prstGeom prst="rect">
            <a:avLst/>
          </a:prstGeom>
        </p:spPr>
      </p:pic>
      <p:sp>
        <p:nvSpPr>
          <p:cNvPr id="62" name="Rectangle 61"/>
          <p:cNvSpPr/>
          <p:nvPr/>
        </p:nvSpPr>
        <p:spPr>
          <a:xfrm>
            <a:off x="2444400" y="3054600"/>
            <a:ext cx="8272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l"/>
            <a:r>
              <a:rPr sz="1200">
                <a:solidFill>
                  <a:srgbClr val="060606"/>
                </a:solidFill>
                <a:latin typeface="Helvetica"/>
              </a:rPr>
              <a:t>Épargne des mutualistes</a:t>
            </a:r>
          </a:p>
        </p:txBody>
      </p:sp>
      <p:sp>
        <p:nvSpPr>
          <p:cNvPr id="63" name="Rectangle 62"/>
          <p:cNvSpPr/>
          <p:nvPr/>
        </p:nvSpPr>
        <p:spPr>
          <a:xfrm>
            <a:off x="10756800" y="3054600"/>
            <a:ext cx="550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ctr"/>
            <a:r>
              <a:rPr sz="1200">
                <a:solidFill>
                  <a:srgbClr val="060606"/>
                </a:solidFill>
                <a:latin typeface="Helvetica"/>
              </a:rPr>
              <a:t>78</a:t>
            </a:r>
          </a:p>
        </p:txBody>
      </p:sp>
      <p:cxnSp>
        <p:nvCxnSpPr>
          <p:cNvPr id="64" name="Connector 63"/>
          <p:cNvCxnSpPr/>
          <p:nvPr/>
        </p:nvCxnSpPr>
        <p:spPr>
          <a:xfrm>
            <a:off x="932400" y="3485249"/>
            <a:ext cx="813599" cy="0"/>
          </a:xfrm>
          <a:prstGeom prst="line">
            <a:avLst/>
          </a:prstGeom>
          <a:ln w="12700">
            <a:solidFill>
              <a:srgbClr val="112A40"/>
            </a:solidFill>
          </a:ln>
        </p:spPr>
        <p:style>
          <a:lnRef idx="2">
            <a:schemeClr val="accent1"/>
          </a:lnRef>
          <a:fillRef idx="0">
            <a:schemeClr val="accent1"/>
          </a:fillRef>
          <a:effectRef idx="1">
            <a:schemeClr val="accent1"/>
          </a:effectRef>
          <a:fontRef idx="minor">
            <a:schemeClr val="tx1"/>
          </a:fontRef>
        </p:style>
      </p:cxnSp>
      <p:sp>
        <p:nvSpPr>
          <p:cNvPr id="65" name="Oval 64"/>
          <p:cNvSpPr/>
          <p:nvPr/>
        </p:nvSpPr>
        <p:spPr>
          <a:xfrm>
            <a:off x="1829250" y="3352499"/>
            <a:ext cx="265500" cy="265500"/>
          </a:xfrm>
          <a:prstGeom prst="ellipse">
            <a:avLst/>
          </a:prstGeom>
          <a:solidFill>
            <a:srgbClr val="0606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6" name="Picture 65" descr="image.png"/>
          <p:cNvPicPr>
            <a:picLocks noChangeAspect="1"/>
          </p:cNvPicPr>
          <p:nvPr/>
        </p:nvPicPr>
        <p:blipFill>
          <a:blip r:embed="rId13"/>
          <a:stretch>
            <a:fillRect/>
          </a:stretch>
        </p:blipFill>
        <p:spPr>
          <a:xfrm>
            <a:off x="1882349" y="3405599"/>
            <a:ext cx="159300" cy="159300"/>
          </a:xfrm>
          <a:prstGeom prst="rect">
            <a:avLst/>
          </a:prstGeom>
        </p:spPr>
      </p:pic>
      <p:sp>
        <p:nvSpPr>
          <p:cNvPr id="67" name="Rectangle 66"/>
          <p:cNvSpPr/>
          <p:nvPr/>
        </p:nvSpPr>
        <p:spPr>
          <a:xfrm>
            <a:off x="2444400" y="3356099"/>
            <a:ext cx="8272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l"/>
            <a:r>
              <a:rPr sz="1200">
                <a:solidFill>
                  <a:srgbClr val="060606"/>
                </a:solidFill>
                <a:latin typeface="Helvetica"/>
              </a:rPr>
              <a:t>Prêts du Grenier</a:t>
            </a:r>
          </a:p>
        </p:txBody>
      </p:sp>
      <p:sp>
        <p:nvSpPr>
          <p:cNvPr id="68" name="Rectangle 67"/>
          <p:cNvSpPr/>
          <p:nvPr/>
        </p:nvSpPr>
        <p:spPr>
          <a:xfrm>
            <a:off x="10756800" y="3356099"/>
            <a:ext cx="550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ctr"/>
            <a:r>
              <a:rPr sz="1200">
                <a:solidFill>
                  <a:srgbClr val="060606"/>
                </a:solidFill>
                <a:latin typeface="Helvetica"/>
              </a:rPr>
              <a:t>91</a:t>
            </a:r>
          </a:p>
        </p:txBody>
      </p:sp>
      <p:cxnSp>
        <p:nvCxnSpPr>
          <p:cNvPr id="69" name="Connector 68"/>
          <p:cNvCxnSpPr/>
          <p:nvPr/>
        </p:nvCxnSpPr>
        <p:spPr>
          <a:xfrm>
            <a:off x="932400" y="3786749"/>
            <a:ext cx="813599" cy="0"/>
          </a:xfrm>
          <a:prstGeom prst="line">
            <a:avLst/>
          </a:prstGeom>
          <a:ln w="12700">
            <a:solidFill>
              <a:srgbClr val="112A40"/>
            </a:solidFill>
          </a:ln>
        </p:spPr>
        <p:style>
          <a:lnRef idx="2">
            <a:schemeClr val="accent1"/>
          </a:lnRef>
          <a:fillRef idx="0">
            <a:schemeClr val="accent1"/>
          </a:fillRef>
          <a:effectRef idx="1">
            <a:schemeClr val="accent1"/>
          </a:effectRef>
          <a:fontRef idx="minor">
            <a:schemeClr val="tx1"/>
          </a:fontRef>
        </p:style>
      </p:cxnSp>
      <p:sp>
        <p:nvSpPr>
          <p:cNvPr id="70" name="Oval 69"/>
          <p:cNvSpPr/>
          <p:nvPr/>
        </p:nvSpPr>
        <p:spPr>
          <a:xfrm>
            <a:off x="1829250" y="3653999"/>
            <a:ext cx="265500" cy="265500"/>
          </a:xfrm>
          <a:prstGeom prst="ellipse">
            <a:avLst/>
          </a:prstGeom>
          <a:solidFill>
            <a:srgbClr val="0606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1" name="Picture 70" descr="image.png"/>
          <p:cNvPicPr>
            <a:picLocks noChangeAspect="1"/>
          </p:cNvPicPr>
          <p:nvPr/>
        </p:nvPicPr>
        <p:blipFill>
          <a:blip r:embed="rId14"/>
          <a:stretch>
            <a:fillRect/>
          </a:stretch>
        </p:blipFill>
        <p:spPr>
          <a:xfrm>
            <a:off x="1882349" y="3707100"/>
            <a:ext cx="159300" cy="159300"/>
          </a:xfrm>
          <a:prstGeom prst="rect">
            <a:avLst/>
          </a:prstGeom>
        </p:spPr>
      </p:pic>
      <p:sp>
        <p:nvSpPr>
          <p:cNvPr id="72" name="Rectangle 71"/>
          <p:cNvSpPr/>
          <p:nvPr/>
        </p:nvSpPr>
        <p:spPr>
          <a:xfrm>
            <a:off x="2444400" y="3657599"/>
            <a:ext cx="8272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l"/>
            <a:r>
              <a:rPr sz="1200">
                <a:solidFill>
                  <a:srgbClr val="060606"/>
                </a:solidFill>
                <a:latin typeface="Helvetica"/>
              </a:rPr>
              <a:t>Retraités et annexes</a:t>
            </a:r>
          </a:p>
        </p:txBody>
      </p:sp>
      <p:sp>
        <p:nvSpPr>
          <p:cNvPr id="73" name="Rectangle 72"/>
          <p:cNvSpPr/>
          <p:nvPr/>
        </p:nvSpPr>
        <p:spPr>
          <a:xfrm>
            <a:off x="10756800" y="3657599"/>
            <a:ext cx="550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ctr"/>
            <a:r>
              <a:rPr sz="1200">
                <a:solidFill>
                  <a:srgbClr val="060606"/>
                </a:solidFill>
                <a:latin typeface="Helvetica"/>
              </a:rPr>
              <a:t>100</a:t>
            </a:r>
          </a:p>
        </p:txBody>
      </p:sp>
      <p:cxnSp>
        <p:nvCxnSpPr>
          <p:cNvPr id="74" name="Connector 73"/>
          <p:cNvCxnSpPr/>
          <p:nvPr/>
        </p:nvCxnSpPr>
        <p:spPr>
          <a:xfrm>
            <a:off x="932400" y="4088249"/>
            <a:ext cx="813599" cy="0"/>
          </a:xfrm>
          <a:prstGeom prst="line">
            <a:avLst/>
          </a:prstGeom>
          <a:ln w="12700">
            <a:solidFill>
              <a:srgbClr val="112A40"/>
            </a:solidFill>
          </a:ln>
        </p:spPr>
        <p:style>
          <a:lnRef idx="2">
            <a:schemeClr val="accent1"/>
          </a:lnRef>
          <a:fillRef idx="0">
            <a:schemeClr val="accent1"/>
          </a:fillRef>
          <a:effectRef idx="1">
            <a:schemeClr val="accent1"/>
          </a:effectRef>
          <a:fontRef idx="minor">
            <a:schemeClr val="tx1"/>
          </a:fontRef>
        </p:style>
      </p:cxnSp>
      <p:sp>
        <p:nvSpPr>
          <p:cNvPr id="75" name="Oval 74"/>
          <p:cNvSpPr/>
          <p:nvPr/>
        </p:nvSpPr>
        <p:spPr>
          <a:xfrm>
            <a:off x="1829250" y="3955499"/>
            <a:ext cx="265500" cy="265500"/>
          </a:xfrm>
          <a:prstGeom prst="ellipse">
            <a:avLst/>
          </a:prstGeom>
          <a:solidFill>
            <a:srgbClr val="0606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6" name="Picture 75" descr="image.png"/>
          <p:cNvPicPr>
            <a:picLocks noChangeAspect="1"/>
          </p:cNvPicPr>
          <p:nvPr/>
        </p:nvPicPr>
        <p:blipFill>
          <a:blip r:embed="rId15"/>
          <a:stretch>
            <a:fillRect/>
          </a:stretch>
        </p:blipFill>
        <p:spPr>
          <a:xfrm>
            <a:off x="1882349" y="4008600"/>
            <a:ext cx="159300" cy="159300"/>
          </a:xfrm>
          <a:prstGeom prst="rect">
            <a:avLst/>
          </a:prstGeom>
        </p:spPr>
      </p:pic>
      <p:sp>
        <p:nvSpPr>
          <p:cNvPr id="77" name="Rectangle 76"/>
          <p:cNvSpPr/>
          <p:nvPr/>
        </p:nvSpPr>
        <p:spPr>
          <a:xfrm>
            <a:off x="2444400" y="3959099"/>
            <a:ext cx="8272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l"/>
            <a:r>
              <a:rPr sz="1200">
                <a:solidFill>
                  <a:srgbClr val="060606"/>
                </a:solidFill>
                <a:latin typeface="Helvetica"/>
              </a:rPr>
              <a:t>Bilan, provisions et placements</a:t>
            </a:r>
          </a:p>
        </p:txBody>
      </p:sp>
      <p:sp>
        <p:nvSpPr>
          <p:cNvPr id="78" name="Rectangle 77"/>
          <p:cNvSpPr/>
          <p:nvPr/>
        </p:nvSpPr>
        <p:spPr>
          <a:xfrm>
            <a:off x="10756800" y="3959099"/>
            <a:ext cx="550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ctr"/>
            <a:r>
              <a:rPr sz="1200">
                <a:solidFill>
                  <a:srgbClr val="060606"/>
                </a:solidFill>
                <a:latin typeface="Helvetica"/>
              </a:rPr>
              <a:t>105</a:t>
            </a:r>
          </a:p>
        </p:txBody>
      </p:sp>
      <p:cxnSp>
        <p:nvCxnSpPr>
          <p:cNvPr id="79" name="Connector 78"/>
          <p:cNvCxnSpPr/>
          <p:nvPr/>
        </p:nvCxnSpPr>
        <p:spPr>
          <a:xfrm>
            <a:off x="932400" y="4389750"/>
            <a:ext cx="813599" cy="0"/>
          </a:xfrm>
          <a:prstGeom prst="line">
            <a:avLst/>
          </a:prstGeom>
          <a:ln w="12700">
            <a:solidFill>
              <a:srgbClr val="112A40"/>
            </a:solidFill>
          </a:ln>
        </p:spPr>
        <p:style>
          <a:lnRef idx="2">
            <a:schemeClr val="accent1"/>
          </a:lnRef>
          <a:fillRef idx="0">
            <a:schemeClr val="accent1"/>
          </a:fillRef>
          <a:effectRef idx="1">
            <a:schemeClr val="accent1"/>
          </a:effectRef>
          <a:fontRef idx="minor">
            <a:schemeClr val="tx1"/>
          </a:fontRef>
        </p:style>
      </p:cxnSp>
      <p:sp>
        <p:nvSpPr>
          <p:cNvPr id="80" name="Oval 79"/>
          <p:cNvSpPr/>
          <p:nvPr/>
        </p:nvSpPr>
        <p:spPr>
          <a:xfrm>
            <a:off x="1829250" y="4257000"/>
            <a:ext cx="265500" cy="265500"/>
          </a:xfrm>
          <a:prstGeom prst="ellipse">
            <a:avLst/>
          </a:prstGeom>
          <a:solidFill>
            <a:srgbClr val="0606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1" name="Picture 80" descr="image.png"/>
          <p:cNvPicPr>
            <a:picLocks noChangeAspect="1"/>
          </p:cNvPicPr>
          <p:nvPr/>
        </p:nvPicPr>
        <p:blipFill>
          <a:blip r:embed="rId16"/>
          <a:stretch>
            <a:fillRect/>
          </a:stretch>
        </p:blipFill>
        <p:spPr>
          <a:xfrm>
            <a:off x="1882349" y="4310100"/>
            <a:ext cx="159300" cy="159300"/>
          </a:xfrm>
          <a:prstGeom prst="rect">
            <a:avLst/>
          </a:prstGeom>
        </p:spPr>
      </p:pic>
      <p:sp>
        <p:nvSpPr>
          <p:cNvPr id="82" name="Rectangle 81"/>
          <p:cNvSpPr/>
          <p:nvPr/>
        </p:nvSpPr>
        <p:spPr>
          <a:xfrm>
            <a:off x="2444400" y="4260600"/>
            <a:ext cx="8272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l"/>
            <a:r>
              <a:rPr sz="1200">
                <a:solidFill>
                  <a:srgbClr val="060606"/>
                </a:solidFill>
                <a:latin typeface="Helvetica"/>
              </a:rPr>
              <a:t>Conformité prudentielle</a:t>
            </a:r>
          </a:p>
        </p:txBody>
      </p:sp>
      <p:sp>
        <p:nvSpPr>
          <p:cNvPr id="83" name="Rectangle 82"/>
          <p:cNvSpPr/>
          <p:nvPr/>
        </p:nvSpPr>
        <p:spPr>
          <a:xfrm>
            <a:off x="10756800" y="4260600"/>
            <a:ext cx="550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ctr"/>
            <a:r>
              <a:rPr sz="1200">
                <a:solidFill>
                  <a:srgbClr val="060606"/>
                </a:solidFill>
                <a:latin typeface="Helvetica"/>
              </a:rPr>
              <a:t>159</a:t>
            </a:r>
          </a:p>
        </p:txBody>
      </p:sp>
      <p:cxnSp>
        <p:nvCxnSpPr>
          <p:cNvPr id="84" name="Connector 83"/>
          <p:cNvCxnSpPr/>
          <p:nvPr/>
        </p:nvCxnSpPr>
        <p:spPr>
          <a:xfrm>
            <a:off x="932400" y="4691250"/>
            <a:ext cx="813599" cy="0"/>
          </a:xfrm>
          <a:prstGeom prst="line">
            <a:avLst/>
          </a:prstGeom>
          <a:ln w="12700">
            <a:solidFill>
              <a:srgbClr val="112A40"/>
            </a:solidFill>
          </a:ln>
        </p:spPr>
        <p:style>
          <a:lnRef idx="2">
            <a:schemeClr val="accent1"/>
          </a:lnRef>
          <a:fillRef idx="0">
            <a:schemeClr val="accent1"/>
          </a:fillRef>
          <a:effectRef idx="1">
            <a:schemeClr val="accent1"/>
          </a:effectRef>
          <a:fontRef idx="minor">
            <a:schemeClr val="tx1"/>
          </a:fontRef>
        </p:style>
      </p:cxnSp>
      <p:sp>
        <p:nvSpPr>
          <p:cNvPr id="85" name="Oval 84"/>
          <p:cNvSpPr/>
          <p:nvPr/>
        </p:nvSpPr>
        <p:spPr>
          <a:xfrm>
            <a:off x="1829250" y="4558500"/>
            <a:ext cx="265500" cy="265500"/>
          </a:xfrm>
          <a:prstGeom prst="ellipse">
            <a:avLst/>
          </a:prstGeom>
          <a:solidFill>
            <a:srgbClr val="0606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6" name="Picture 85" descr="image.png"/>
          <p:cNvPicPr>
            <a:picLocks noChangeAspect="1"/>
          </p:cNvPicPr>
          <p:nvPr/>
        </p:nvPicPr>
        <p:blipFill>
          <a:blip r:embed="rId17"/>
          <a:stretch>
            <a:fillRect/>
          </a:stretch>
        </p:blipFill>
        <p:spPr>
          <a:xfrm>
            <a:off x="1882349" y="4611600"/>
            <a:ext cx="159300" cy="159300"/>
          </a:xfrm>
          <a:prstGeom prst="rect">
            <a:avLst/>
          </a:prstGeom>
        </p:spPr>
      </p:pic>
      <p:sp>
        <p:nvSpPr>
          <p:cNvPr id="87" name="Rectangle 86"/>
          <p:cNvSpPr/>
          <p:nvPr/>
        </p:nvSpPr>
        <p:spPr>
          <a:xfrm>
            <a:off x="2444400" y="4562100"/>
            <a:ext cx="8272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l"/>
            <a:r>
              <a:rPr sz="1200">
                <a:solidFill>
                  <a:srgbClr val="060606"/>
                </a:solidFill>
                <a:latin typeface="Helvetica"/>
              </a:rPr>
              <a:t>Tables de mortalité</a:t>
            </a:r>
          </a:p>
        </p:txBody>
      </p:sp>
      <p:sp>
        <p:nvSpPr>
          <p:cNvPr id="88" name="Rectangle 87"/>
          <p:cNvSpPr/>
          <p:nvPr/>
        </p:nvSpPr>
        <p:spPr>
          <a:xfrm>
            <a:off x="10756800" y="4562100"/>
            <a:ext cx="550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ctr"/>
            <a:r>
              <a:rPr sz="1200">
                <a:solidFill>
                  <a:srgbClr val="060606"/>
                </a:solidFill>
                <a:latin typeface="Helvetica"/>
              </a:rPr>
              <a:t>205</a:t>
            </a:r>
          </a:p>
        </p:txBody>
      </p:sp>
      <p:cxnSp>
        <p:nvCxnSpPr>
          <p:cNvPr id="89" name="Connector 88"/>
          <p:cNvCxnSpPr/>
          <p:nvPr/>
        </p:nvCxnSpPr>
        <p:spPr>
          <a:xfrm>
            <a:off x="932400" y="4992750"/>
            <a:ext cx="813599" cy="0"/>
          </a:xfrm>
          <a:prstGeom prst="line">
            <a:avLst/>
          </a:prstGeom>
          <a:ln w="12700">
            <a:solidFill>
              <a:srgbClr val="112A40"/>
            </a:solidFill>
          </a:ln>
        </p:spPr>
        <p:style>
          <a:lnRef idx="2">
            <a:schemeClr val="accent1"/>
          </a:lnRef>
          <a:fillRef idx="0">
            <a:schemeClr val="accent1"/>
          </a:fillRef>
          <a:effectRef idx="1">
            <a:schemeClr val="accent1"/>
          </a:effectRef>
          <a:fontRef idx="minor">
            <a:schemeClr val="tx1"/>
          </a:fontRef>
        </p:style>
      </p:cxnSp>
      <p:sp>
        <p:nvSpPr>
          <p:cNvPr id="90" name="Oval 89"/>
          <p:cNvSpPr/>
          <p:nvPr/>
        </p:nvSpPr>
        <p:spPr>
          <a:xfrm>
            <a:off x="1829250" y="4860000"/>
            <a:ext cx="265500" cy="265500"/>
          </a:xfrm>
          <a:prstGeom prst="ellipse">
            <a:avLst/>
          </a:prstGeom>
          <a:solidFill>
            <a:srgbClr val="0606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1" name="Picture 90" descr="image.png"/>
          <p:cNvPicPr>
            <a:picLocks noChangeAspect="1"/>
          </p:cNvPicPr>
          <p:nvPr/>
        </p:nvPicPr>
        <p:blipFill>
          <a:blip r:embed="rId18"/>
          <a:stretch>
            <a:fillRect/>
          </a:stretch>
        </p:blipFill>
        <p:spPr>
          <a:xfrm>
            <a:off x="1882349" y="4913100"/>
            <a:ext cx="159300" cy="159300"/>
          </a:xfrm>
          <a:prstGeom prst="rect">
            <a:avLst/>
          </a:prstGeom>
        </p:spPr>
      </p:pic>
      <p:sp>
        <p:nvSpPr>
          <p:cNvPr id="92" name="Rectangle 91"/>
          <p:cNvSpPr/>
          <p:nvPr/>
        </p:nvSpPr>
        <p:spPr>
          <a:xfrm>
            <a:off x="2444400" y="4863600"/>
            <a:ext cx="8272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l"/>
            <a:r>
              <a:rPr sz="1200">
                <a:solidFill>
                  <a:srgbClr val="060606"/>
                </a:solidFill>
                <a:latin typeface="Helvetica"/>
              </a:rPr>
              <a:t>Projection de l'équilibre technique</a:t>
            </a:r>
          </a:p>
        </p:txBody>
      </p:sp>
      <p:sp>
        <p:nvSpPr>
          <p:cNvPr id="93" name="Rectangle 92"/>
          <p:cNvSpPr/>
          <p:nvPr/>
        </p:nvSpPr>
        <p:spPr>
          <a:xfrm>
            <a:off x="10756800" y="4863600"/>
            <a:ext cx="550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ctr"/>
            <a:r>
              <a:rPr sz="1200">
                <a:solidFill>
                  <a:srgbClr val="060606"/>
                </a:solidFill>
                <a:latin typeface="Helvetica"/>
              </a:rPr>
              <a:t>212</a:t>
            </a:r>
          </a:p>
        </p:txBody>
      </p:sp>
      <p:cxnSp>
        <p:nvCxnSpPr>
          <p:cNvPr id="94" name="Connector 93"/>
          <p:cNvCxnSpPr/>
          <p:nvPr/>
        </p:nvCxnSpPr>
        <p:spPr>
          <a:xfrm>
            <a:off x="932400" y="5294250"/>
            <a:ext cx="813599" cy="0"/>
          </a:xfrm>
          <a:prstGeom prst="line">
            <a:avLst/>
          </a:prstGeom>
          <a:ln w="12700">
            <a:solidFill>
              <a:srgbClr val="112A40"/>
            </a:solidFill>
          </a:ln>
        </p:spPr>
        <p:style>
          <a:lnRef idx="2">
            <a:schemeClr val="accent1"/>
          </a:lnRef>
          <a:fillRef idx="0">
            <a:schemeClr val="accent1"/>
          </a:fillRef>
          <a:effectRef idx="1">
            <a:schemeClr val="accent1"/>
          </a:effectRef>
          <a:fontRef idx="minor">
            <a:schemeClr val="tx1"/>
          </a:fontRef>
        </p:style>
      </p:cxnSp>
      <p:sp>
        <p:nvSpPr>
          <p:cNvPr id="95" name="Oval 94"/>
          <p:cNvSpPr/>
          <p:nvPr/>
        </p:nvSpPr>
        <p:spPr>
          <a:xfrm>
            <a:off x="1829250" y="5161500"/>
            <a:ext cx="265500" cy="265500"/>
          </a:xfrm>
          <a:prstGeom prst="ellipse">
            <a:avLst/>
          </a:prstGeom>
          <a:solidFill>
            <a:srgbClr val="0606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6" name="Picture 95" descr="image.png"/>
          <p:cNvPicPr>
            <a:picLocks noChangeAspect="1"/>
          </p:cNvPicPr>
          <p:nvPr/>
        </p:nvPicPr>
        <p:blipFill>
          <a:blip r:embed="rId19"/>
          <a:stretch>
            <a:fillRect/>
          </a:stretch>
        </p:blipFill>
        <p:spPr>
          <a:xfrm>
            <a:off x="1882349" y="5214600"/>
            <a:ext cx="159300" cy="159300"/>
          </a:xfrm>
          <a:prstGeom prst="rect">
            <a:avLst/>
          </a:prstGeom>
        </p:spPr>
      </p:pic>
      <p:sp>
        <p:nvSpPr>
          <p:cNvPr id="97" name="Rectangle 96"/>
          <p:cNvSpPr/>
          <p:nvPr/>
        </p:nvSpPr>
        <p:spPr>
          <a:xfrm>
            <a:off x="2444400" y="5165100"/>
            <a:ext cx="8272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l"/>
            <a:r>
              <a:rPr sz="1200">
                <a:solidFill>
                  <a:srgbClr val="060606"/>
                </a:solidFill>
                <a:latin typeface="Helvetica"/>
              </a:rPr>
              <a:t>Outils et traçabilité</a:t>
            </a:r>
          </a:p>
        </p:txBody>
      </p:sp>
      <p:sp>
        <p:nvSpPr>
          <p:cNvPr id="98" name="Rectangle 97"/>
          <p:cNvSpPr/>
          <p:nvPr/>
        </p:nvSpPr>
        <p:spPr>
          <a:xfrm>
            <a:off x="10756800" y="5165100"/>
            <a:ext cx="550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ctr"/>
            <a:r>
              <a:rPr sz="1200">
                <a:solidFill>
                  <a:srgbClr val="060606"/>
                </a:solidFill>
                <a:latin typeface="Helvetica"/>
              </a:rPr>
              <a:t>216</a:t>
            </a:r>
          </a:p>
        </p:txBody>
      </p:sp>
      <p:cxnSp>
        <p:nvCxnSpPr>
          <p:cNvPr id="99" name="Connector 98"/>
          <p:cNvCxnSpPr/>
          <p:nvPr/>
        </p:nvCxnSpPr>
        <p:spPr>
          <a:xfrm>
            <a:off x="932400" y="5595750"/>
            <a:ext cx="813599" cy="0"/>
          </a:xfrm>
          <a:prstGeom prst="line">
            <a:avLst/>
          </a:prstGeom>
          <a:ln w="12700">
            <a:solidFill>
              <a:srgbClr val="112A40"/>
            </a:solidFill>
          </a:ln>
        </p:spPr>
        <p:style>
          <a:lnRef idx="2">
            <a:schemeClr val="accent1"/>
          </a:lnRef>
          <a:fillRef idx="0">
            <a:schemeClr val="accent1"/>
          </a:fillRef>
          <a:effectRef idx="1">
            <a:schemeClr val="accent1"/>
          </a:effectRef>
          <a:fontRef idx="minor">
            <a:schemeClr val="tx1"/>
          </a:fontRef>
        </p:style>
      </p:cxnSp>
      <p:sp>
        <p:nvSpPr>
          <p:cNvPr id="100" name="Oval 99"/>
          <p:cNvSpPr/>
          <p:nvPr/>
        </p:nvSpPr>
        <p:spPr>
          <a:xfrm>
            <a:off x="1829250" y="5463000"/>
            <a:ext cx="265500" cy="265500"/>
          </a:xfrm>
          <a:prstGeom prst="ellipse">
            <a:avLst/>
          </a:prstGeom>
          <a:solidFill>
            <a:srgbClr val="0606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1" name="Picture 100" descr="image.png"/>
          <p:cNvPicPr>
            <a:picLocks noChangeAspect="1"/>
          </p:cNvPicPr>
          <p:nvPr/>
        </p:nvPicPr>
        <p:blipFill>
          <a:blip r:embed="rId20"/>
          <a:stretch>
            <a:fillRect/>
          </a:stretch>
        </p:blipFill>
        <p:spPr>
          <a:xfrm>
            <a:off x="1882349" y="5516100"/>
            <a:ext cx="159300" cy="159300"/>
          </a:xfrm>
          <a:prstGeom prst="rect">
            <a:avLst/>
          </a:prstGeom>
        </p:spPr>
      </p:pic>
      <p:sp>
        <p:nvSpPr>
          <p:cNvPr id="102" name="Rectangle 101"/>
          <p:cNvSpPr/>
          <p:nvPr/>
        </p:nvSpPr>
        <p:spPr>
          <a:xfrm>
            <a:off x="2444400" y="5466600"/>
            <a:ext cx="8272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l"/>
            <a:r>
              <a:rPr sz="1200">
                <a:solidFill>
                  <a:srgbClr val="060606"/>
                </a:solidFill>
                <a:latin typeface="Helvetica"/>
              </a:rPr>
              <a:t>Analyses en attente</a:t>
            </a:r>
          </a:p>
        </p:txBody>
      </p:sp>
      <p:sp>
        <p:nvSpPr>
          <p:cNvPr id="103" name="Rectangle 102"/>
          <p:cNvSpPr/>
          <p:nvPr/>
        </p:nvSpPr>
        <p:spPr>
          <a:xfrm>
            <a:off x="10756800" y="5466600"/>
            <a:ext cx="550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ctr"/>
            <a:r>
              <a:rPr sz="1200">
                <a:solidFill>
                  <a:srgbClr val="060606"/>
                </a:solidFill>
                <a:latin typeface="Helvetica"/>
              </a:rPr>
              <a:t>227</a:t>
            </a:r>
          </a:p>
        </p:txBody>
      </p:sp>
      <p:cxnSp>
        <p:nvCxnSpPr>
          <p:cNvPr id="104" name="Connector 103"/>
          <p:cNvCxnSpPr/>
          <p:nvPr/>
        </p:nvCxnSpPr>
        <p:spPr>
          <a:xfrm>
            <a:off x="932400" y="5897250"/>
            <a:ext cx="813599" cy="0"/>
          </a:xfrm>
          <a:prstGeom prst="line">
            <a:avLst/>
          </a:prstGeom>
          <a:ln w="12700">
            <a:solidFill>
              <a:srgbClr val="112A40"/>
            </a:solidFill>
          </a:ln>
        </p:spPr>
        <p:style>
          <a:lnRef idx="2">
            <a:schemeClr val="accent1"/>
          </a:lnRef>
          <a:fillRef idx="0">
            <a:schemeClr val="accent1"/>
          </a:fillRef>
          <a:effectRef idx="1">
            <a:schemeClr val="accent1"/>
          </a:effectRef>
          <a:fontRef idx="minor">
            <a:schemeClr val="tx1"/>
          </a:fontRef>
        </p:style>
      </p:cxnSp>
      <p:sp>
        <p:nvSpPr>
          <p:cNvPr id="105" name="Oval 104"/>
          <p:cNvSpPr/>
          <p:nvPr/>
        </p:nvSpPr>
        <p:spPr>
          <a:xfrm>
            <a:off x="1829250" y="5764500"/>
            <a:ext cx="265500" cy="265500"/>
          </a:xfrm>
          <a:prstGeom prst="ellipse">
            <a:avLst/>
          </a:prstGeom>
          <a:solidFill>
            <a:srgbClr val="0606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6" name="Picture 105" descr="image.png"/>
          <p:cNvPicPr>
            <a:picLocks noChangeAspect="1"/>
          </p:cNvPicPr>
          <p:nvPr/>
        </p:nvPicPr>
        <p:blipFill>
          <a:blip r:embed="rId21"/>
          <a:stretch>
            <a:fillRect/>
          </a:stretch>
        </p:blipFill>
        <p:spPr>
          <a:xfrm>
            <a:off x="1882349" y="5817600"/>
            <a:ext cx="159300" cy="159300"/>
          </a:xfrm>
          <a:prstGeom prst="rect">
            <a:avLst/>
          </a:prstGeom>
        </p:spPr>
      </p:pic>
      <p:sp>
        <p:nvSpPr>
          <p:cNvPr id="107" name="Rectangle 106"/>
          <p:cNvSpPr/>
          <p:nvPr/>
        </p:nvSpPr>
        <p:spPr>
          <a:xfrm>
            <a:off x="2444400" y="5768100"/>
            <a:ext cx="8272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l"/>
            <a:r>
              <a:rPr sz="1200">
                <a:solidFill>
                  <a:srgbClr val="060606"/>
                </a:solidFill>
                <a:latin typeface="Helvetica"/>
              </a:rPr>
              <a:t>Annexes</a:t>
            </a:r>
          </a:p>
        </p:txBody>
      </p:sp>
      <p:sp>
        <p:nvSpPr>
          <p:cNvPr id="108" name="Rectangle 107"/>
          <p:cNvSpPr/>
          <p:nvPr/>
        </p:nvSpPr>
        <p:spPr>
          <a:xfrm>
            <a:off x="10756800" y="5768100"/>
            <a:ext cx="550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ctr"/>
            <a:r>
              <a:rPr sz="1200">
                <a:solidFill>
                  <a:srgbClr val="060606"/>
                </a:solidFill>
                <a:latin typeface="Helvetica"/>
              </a:rPr>
              <a:t>231</a:t>
            </a:r>
          </a:p>
        </p:txBody>
      </p:sp>
    </p:spTree>
    <p:extLst>
      <p:ext uri="{BB962C8B-B14F-4D97-AF65-F5344CB8AC3E}">
        <p14:creationId xmlns:p14="http://schemas.microsoft.com/office/powerpoint/2010/main" val="775771764"/>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Google Shape;8651;p70"/>
          <p:cNvSpPr/>
          <p:nvPr/>
        </p:nvSpPr>
        <p:spPr>
          <a:xfrm>
            <a:off x="2013108" y="2588204"/>
            <a:ext cx="1380332" cy="1428252"/>
          </a:xfrm>
          <a:custGeom>
            <a:avLst/>
            <a:gdLst/>
            <a:ahLst/>
            <a:cxnLst/>
            <a:rect l="l" t="t" r="r" b="b"/>
            <a:pathLst>
              <a:path w="8670" h="8971" extrusionOk="0">
                <a:moveTo>
                  <a:pt x="7105" y="1302"/>
                </a:moveTo>
                <a:cubicBezTo>
                  <a:pt x="7105" y="1315"/>
                  <a:pt x="7105" y="1328"/>
                  <a:pt x="7105" y="1341"/>
                </a:cubicBezTo>
                <a:cubicBezTo>
                  <a:pt x="7118" y="1980"/>
                  <a:pt x="7183" y="2619"/>
                  <a:pt x="7183" y="3283"/>
                </a:cubicBezTo>
                <a:cubicBezTo>
                  <a:pt x="7170" y="4404"/>
                  <a:pt x="7183" y="5525"/>
                  <a:pt x="7222" y="6646"/>
                </a:cubicBezTo>
                <a:cubicBezTo>
                  <a:pt x="7235" y="6959"/>
                  <a:pt x="7222" y="7259"/>
                  <a:pt x="7222" y="7559"/>
                </a:cubicBezTo>
                <a:lnTo>
                  <a:pt x="7222" y="7585"/>
                </a:lnTo>
                <a:cubicBezTo>
                  <a:pt x="6935" y="7598"/>
                  <a:pt x="6649" y="7611"/>
                  <a:pt x="6362" y="7611"/>
                </a:cubicBezTo>
                <a:cubicBezTo>
                  <a:pt x="6101" y="7598"/>
                  <a:pt x="5853" y="7585"/>
                  <a:pt x="5593" y="7585"/>
                </a:cubicBezTo>
                <a:cubicBezTo>
                  <a:pt x="4159" y="7559"/>
                  <a:pt x="2712" y="7559"/>
                  <a:pt x="1291" y="7442"/>
                </a:cubicBezTo>
                <a:cubicBezTo>
                  <a:pt x="1278" y="7207"/>
                  <a:pt x="1239" y="6959"/>
                  <a:pt x="1226" y="6725"/>
                </a:cubicBezTo>
                <a:cubicBezTo>
                  <a:pt x="1200" y="6255"/>
                  <a:pt x="1187" y="5799"/>
                  <a:pt x="1200" y="5330"/>
                </a:cubicBezTo>
                <a:cubicBezTo>
                  <a:pt x="1213" y="4222"/>
                  <a:pt x="1226" y="3101"/>
                  <a:pt x="1343" y="1993"/>
                </a:cubicBezTo>
                <a:lnTo>
                  <a:pt x="1552" y="1993"/>
                </a:lnTo>
                <a:cubicBezTo>
                  <a:pt x="2138" y="1980"/>
                  <a:pt x="2725" y="1889"/>
                  <a:pt x="3312" y="1810"/>
                </a:cubicBezTo>
                <a:cubicBezTo>
                  <a:pt x="4576" y="1641"/>
                  <a:pt x="5840" y="1524"/>
                  <a:pt x="7105" y="1302"/>
                </a:cubicBezTo>
                <a:close/>
                <a:moveTo>
                  <a:pt x="7529" y="1"/>
                </a:moveTo>
                <a:cubicBezTo>
                  <a:pt x="7291" y="1"/>
                  <a:pt x="7059" y="53"/>
                  <a:pt x="6818" y="64"/>
                </a:cubicBezTo>
                <a:cubicBezTo>
                  <a:pt x="6375" y="103"/>
                  <a:pt x="5932" y="142"/>
                  <a:pt x="5488" y="194"/>
                </a:cubicBezTo>
                <a:cubicBezTo>
                  <a:pt x="4824" y="259"/>
                  <a:pt x="4107" y="350"/>
                  <a:pt x="3429" y="389"/>
                </a:cubicBezTo>
                <a:cubicBezTo>
                  <a:pt x="2686" y="429"/>
                  <a:pt x="1943" y="481"/>
                  <a:pt x="1213" y="598"/>
                </a:cubicBezTo>
                <a:cubicBezTo>
                  <a:pt x="913" y="624"/>
                  <a:pt x="652" y="728"/>
                  <a:pt x="509" y="976"/>
                </a:cubicBezTo>
                <a:cubicBezTo>
                  <a:pt x="470" y="1028"/>
                  <a:pt x="444" y="1080"/>
                  <a:pt x="431" y="1146"/>
                </a:cubicBezTo>
                <a:cubicBezTo>
                  <a:pt x="300" y="1524"/>
                  <a:pt x="287" y="1928"/>
                  <a:pt x="300" y="2332"/>
                </a:cubicBezTo>
                <a:cubicBezTo>
                  <a:pt x="209" y="3010"/>
                  <a:pt x="209" y="3700"/>
                  <a:pt x="209" y="4378"/>
                </a:cubicBezTo>
                <a:cubicBezTo>
                  <a:pt x="170" y="4769"/>
                  <a:pt x="144" y="5173"/>
                  <a:pt x="131" y="5565"/>
                </a:cubicBezTo>
                <a:cubicBezTo>
                  <a:pt x="105" y="6203"/>
                  <a:pt x="14" y="6842"/>
                  <a:pt x="14" y="7481"/>
                </a:cubicBezTo>
                <a:cubicBezTo>
                  <a:pt x="1" y="7911"/>
                  <a:pt x="157" y="8315"/>
                  <a:pt x="613" y="8419"/>
                </a:cubicBezTo>
                <a:cubicBezTo>
                  <a:pt x="1056" y="8550"/>
                  <a:pt x="1526" y="8524"/>
                  <a:pt x="1982" y="8550"/>
                </a:cubicBezTo>
                <a:cubicBezTo>
                  <a:pt x="2243" y="8563"/>
                  <a:pt x="2503" y="8589"/>
                  <a:pt x="2764" y="8615"/>
                </a:cubicBezTo>
                <a:cubicBezTo>
                  <a:pt x="3885" y="8745"/>
                  <a:pt x="5006" y="8902"/>
                  <a:pt x="6140" y="8941"/>
                </a:cubicBezTo>
                <a:cubicBezTo>
                  <a:pt x="6220" y="8945"/>
                  <a:pt x="6302" y="8946"/>
                  <a:pt x="6383" y="8946"/>
                </a:cubicBezTo>
                <a:cubicBezTo>
                  <a:pt x="6581" y="8946"/>
                  <a:pt x="6781" y="8937"/>
                  <a:pt x="6974" y="8928"/>
                </a:cubicBezTo>
                <a:cubicBezTo>
                  <a:pt x="7118" y="8941"/>
                  <a:pt x="7274" y="8941"/>
                  <a:pt x="7418" y="8941"/>
                </a:cubicBezTo>
                <a:cubicBezTo>
                  <a:pt x="7568" y="8956"/>
                  <a:pt x="7723" y="8971"/>
                  <a:pt x="7877" y="8971"/>
                </a:cubicBezTo>
                <a:cubicBezTo>
                  <a:pt x="7990" y="8971"/>
                  <a:pt x="8103" y="8963"/>
                  <a:pt x="8213" y="8941"/>
                </a:cubicBezTo>
                <a:cubicBezTo>
                  <a:pt x="8643" y="8810"/>
                  <a:pt x="8565" y="8093"/>
                  <a:pt x="8604" y="7741"/>
                </a:cubicBezTo>
                <a:cubicBezTo>
                  <a:pt x="8669" y="6620"/>
                  <a:pt x="8539" y="5499"/>
                  <a:pt x="8487" y="4378"/>
                </a:cubicBezTo>
                <a:cubicBezTo>
                  <a:pt x="8434" y="3453"/>
                  <a:pt x="8330" y="2527"/>
                  <a:pt x="8252" y="1589"/>
                </a:cubicBezTo>
                <a:cubicBezTo>
                  <a:pt x="8200" y="1341"/>
                  <a:pt x="8239" y="637"/>
                  <a:pt x="8096" y="350"/>
                </a:cubicBezTo>
                <a:lnTo>
                  <a:pt x="8082" y="350"/>
                </a:lnTo>
                <a:cubicBezTo>
                  <a:pt x="8056" y="181"/>
                  <a:pt x="7952" y="51"/>
                  <a:pt x="7704" y="11"/>
                </a:cubicBezTo>
                <a:cubicBezTo>
                  <a:pt x="7645" y="4"/>
                  <a:pt x="7587" y="1"/>
                  <a:pt x="7529" y="1"/>
                </a:cubicBezTo>
                <a:close/>
              </a:path>
            </a:pathLst>
          </a:custGeom>
          <a:solidFill>
            <a:schemeClr val="bg1"/>
          </a:solidFill>
          <a:ln w="76200">
            <a:solidFill>
              <a:schemeClr val="tx1"/>
            </a:solid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5" name="Rectangle 24">
            <a:extLst>
              <a:ext uri="{FF2B5EF4-FFF2-40B4-BE49-F238E27FC236}">
                <a16:creationId xmlns:a16="http://schemas.microsoft.com/office/drawing/2014/main" id="{9B9B23AA-050D-4543-80A0-873FE31AFFF7}"/>
              </a:ext>
            </a:extLst>
          </p:cNvPr>
          <p:cNvSpPr/>
          <p:nvPr/>
        </p:nvSpPr>
        <p:spPr>
          <a:xfrm>
            <a:off x="2446471" y="2869098"/>
            <a:ext cx="513606" cy="936923"/>
          </a:xfrm>
          <a:prstGeom prst="rect">
            <a:avLst/>
          </a:prstGeom>
        </p:spPr>
        <p:txBody>
          <a:bodyPr wrap="square" lIns="0" tIns="0" rIns="0" bIns="0">
            <a:spAutoFit/>
          </a:bodyPr>
          <a:lstStyle/>
          <a:p>
            <a:pPr lvl="0">
              <a:lnSpc>
                <a:spcPct val="110000"/>
              </a:lnSpc>
            </a:pPr>
            <a:r>
              <a:rPr lang="fr-CI" sz="60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R</a:t>
            </a:r>
          </a:p>
        </p:txBody>
      </p:sp>
      <p:sp>
        <p:nvSpPr>
          <p:cNvPr id="10" name="Rectangle 9"/>
          <p:cNvSpPr/>
          <p:nvPr/>
        </p:nvSpPr>
        <p:spPr>
          <a:xfrm>
            <a:off x="3938554" y="2462184"/>
            <a:ext cx="3816000" cy="1200329"/>
          </a:xfrm>
          <a:prstGeom prst="rect">
            <a:avLst/>
          </a:prstGeom>
        </p:spPr>
        <p:txBody>
          <a:bodyPr wrap="square">
            <a:spAutoFit/>
          </a:bodyPr>
          <a:lstStyle/>
          <a:p>
            <a:r>
              <a:rPr lang="fr-CI" sz="3600" b="1" noProof="0">
                <a:solidFill>
                  <a:schemeClr val="bg1"/>
                </a:solidFill>
                <a:latin typeface="Helvetica" panose="020B0604020202020204" pitchFamily="34" charset="0"/>
                <a:cs typeface="Helvetica" panose="020B0604020202020204" pitchFamily="34" charset="0"/>
              </a:rPr>
              <a:t>Résumé exécutif</a:t>
            </a:r>
          </a:p>
        </p:txBody>
      </p:sp>
      <p:pic>
        <p:nvPicPr>
          <p:cNvPr id="9" name="Image 8">
            <a:extLst>
              <a:ext uri="{FF2B5EF4-FFF2-40B4-BE49-F238E27FC236}">
                <a16:creationId xmlns:a16="http://schemas.microsoft.com/office/drawing/2014/main" id="{2C356854-0685-DCEF-E2F6-65D5E9653A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1274" y="-185107"/>
            <a:ext cx="3179518" cy="1268781"/>
          </a:xfrm>
          <a:prstGeom prst="rect">
            <a:avLst/>
          </a:prstGeom>
        </p:spPr>
      </p:pic>
      <p:sp>
        <p:nvSpPr>
          <p:cNvPr id="6" name="Rectangle 5"/>
          <p:cNvSpPr/>
          <p:nvPr/>
        </p:nvSpPr>
        <p:spPr>
          <a:xfrm>
            <a:off x="3938554" y="3337559"/>
            <a:ext cx="3816000" cy="923330"/>
          </a:xfrm>
          <a:prstGeom prst="rect">
            <a:avLst/>
          </a:prstGeom>
        </p:spPr>
        <p:txBody>
          <a:bodyPr wrap="square">
            <a:spAutoFit/>
          </a:bodyPr>
          <a:lstStyle/>
          <a:p>
            <a:br>
              <a:rPr lang="fr-CI" noProof="0">
                <a:solidFill>
                  <a:schemeClr val="bg1"/>
                </a:solidFill>
              </a:rPr>
            </a:br>
            <a:r>
              <a:rPr lang="fr-CI" noProof="0">
                <a:solidFill>
                  <a:srgbClr val="EFAC62"/>
                </a:solidFill>
                <a:latin typeface="Helvetica" panose="020B0604020202020204" pitchFamily="34" charset="0"/>
                <a:ea typeface="Open Sans Light" panose="020B0306030504020204" pitchFamily="34" charset="0"/>
                <a:cs typeface="Helvetica" panose="020B0604020202020204" pitchFamily="34" charset="0"/>
              </a:rPr>
              <a:t>Constats, chiffres clés, risques et actions</a:t>
            </a:r>
          </a:p>
        </p:txBody>
      </p:sp>
      <p:pic>
        <p:nvPicPr>
          <p:cNvPr id="11" name="Imag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5561" y="2415481"/>
            <a:ext cx="1566911" cy="1600975"/>
          </a:xfrm>
          <a:prstGeom prst="rect">
            <a:avLst/>
          </a:prstGeom>
        </p:spPr>
      </p:pic>
    </p:spTree>
    <p:extLst>
      <p:ext uri="{BB962C8B-B14F-4D97-AF65-F5344CB8AC3E}">
        <p14:creationId xmlns:p14="http://schemas.microsoft.com/office/powerpoint/2010/main" val="2551613406"/>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Réponse aux quatre demandes de la mission</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Engagements et provisions partiellement démontrés. Adossement et placements insuffisants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Chaque verdict est détaillé dans la diapositive suivante, avec tous les chiffres qui le fondent et le renvoi à leur démonstration</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demande de M. Wabi (associé responsable) : engagements, suffisance des provisions, adossement actif-passif, adéquation des placements, de 2020 au 31/08/2026. Analyses détaillées citées dans la colonne « Détail »</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 : Verdict sur chacune des quatre demandes</a:t>
            </a:r>
          </a:p>
        </p:txBody>
      </p:sp>
      <p:graphicFrame>
        <p:nvGraphicFramePr>
          <p:cNvPr id="32" name="Table 31"/>
          <p:cNvGraphicFramePr>
            <a:graphicFrameLocks noGrp="1"/>
          </p:cNvGraphicFramePr>
          <p:nvPr/>
        </p:nvGraphicFramePr>
        <p:xfrm>
          <a:off x="503999" y="1655999"/>
          <a:ext cx="11232000" cy="1796852"/>
        </p:xfrm>
        <a:graphic>
          <a:graphicData uri="http://schemas.openxmlformats.org/drawingml/2006/table">
            <a:tbl>
              <a:tblPr firstRow="0" bandRow="0">
                <a:tableStyleId>{5940675A-B579-460E-94D1-54222C63F5DA}</a:tableStyleId>
              </a:tblPr>
              <a:tblGrid>
                <a:gridCol w="2376000"/>
                <a:gridCol w="1584000"/>
                <a:gridCol w="5544000"/>
                <a:gridCol w="1728000"/>
              </a:tblGrid>
              <a:tr h="194768">
                <a:tc>
                  <a:txBody>
                    <a:bodyPr/>
                    <a:lstStyle/>
                    <a:p>
                      <a:pPr marL="0" indent="0" lvl="0">
                        <a:buNone/>
                      </a:pPr>
                      <a:r>
                        <a:rPr sz="900" b="1">
                          <a:solidFill>
                            <a:srgbClr val="FFFFFF"/>
                          </a:solidFill>
                          <a:latin typeface="Helvetica"/>
                        </a:rPr>
                        <a:t>Demande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Verdict</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En une phrase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Détail</a:t>
                      </a:r>
                    </a:p>
                  </a:txBody>
                  <a:tcPr marL="43200" marR="43200" marT="14400" marB="14400" anchor="ctr">
                    <a:solidFill>
                      <a:srgbClr val="060606"/>
                    </a:solidFill>
                  </a:tcPr>
                </a:tc>
              </a:tr>
              <a:tr h="469105">
                <a:tc>
                  <a:txBody>
                    <a:bodyPr/>
                    <a:lstStyle/>
                    <a:p>
                      <a:pPr marL="0" indent="0" lvl="0">
                        <a:buNone/>
                      </a:pPr>
                      <a:r>
                        <a:rPr sz="900" b="1">
                          <a:solidFill>
                            <a:srgbClr val="060606"/>
                          </a:solidFill>
                          <a:latin typeface="Helvetica"/>
                        </a:rPr>
                        <a:t>1. Engagements envers les adhérents et ayants droit</a:t>
                      </a:r>
                    </a:p>
                  </a:txBody>
                  <a:tcPr marL="43200" marR="43200" marT="14400" marB="14400" anchor="ctr">
                    <a:solidFill>
                      <a:srgbClr val="FFFFFF"/>
                    </a:solidFill>
                  </a:tcPr>
                </a:tc>
                <a:tc>
                  <a:txBody>
                    <a:bodyPr/>
                    <a:lstStyle/>
                    <a:p>
                      <a:pPr marL="0" indent="0" lvl="0">
                        <a:buNone/>
                      </a:pPr>
                      <a:r>
                        <a:rPr sz="900" b="1">
                          <a:solidFill>
                            <a:srgbClr val="060606"/>
                          </a:solidFill>
                          <a:latin typeface="Helvetica"/>
                        </a:rPr>
                        <a:t>Partiellement démontré</a:t>
                      </a:r>
                    </a:p>
                  </a:txBody>
                  <a:tcPr marL="43200" marR="43200" marT="14400" marB="14400" anchor="ctr">
                    <a:solidFill>
                      <a:srgbClr val="EFAC62"/>
                    </a:solidFill>
                  </a:tcPr>
                </a:tc>
                <a:tc>
                  <a:txBody>
                    <a:bodyPr/>
                    <a:lstStyle/>
                    <a:p>
                      <a:pPr marL="0" indent="0" lvl="0">
                        <a:buNone/>
                      </a:pPr>
                      <a:r>
                        <a:rPr sz="900" b="0">
                          <a:solidFill>
                            <a:srgbClr val="060606"/>
                          </a:solidFill>
                          <a:latin typeface="Helvetica"/>
                        </a:rPr>
                        <a:t>L'épargne, les allocations décès, la maladie et la provision du personnel sont mesurés. Les intérêts dus sur l'épargne ne sont pas comptabilisés. La santé des retraités n'est pas mesurable.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diapositive 5</a:t>
                      </a:r>
                    </a:p>
                  </a:txBody>
                  <a:tcPr marL="43200" marR="43200" marT="14400" marB="14400" anchor="ctr">
                    <a:solidFill>
                      <a:srgbClr val="FFFFFF"/>
                    </a:solidFill>
                  </a:tcPr>
                </a:tc>
              </a:tr>
              <a:tr h="469105">
                <a:tc>
                  <a:txBody>
                    <a:bodyPr/>
                    <a:lstStyle/>
                    <a:p>
                      <a:pPr marL="0" indent="0" lvl="0">
                        <a:buNone/>
                      </a:pPr>
                      <a:r>
                        <a:rPr sz="900" b="1">
                          <a:solidFill>
                            <a:srgbClr val="060606"/>
                          </a:solidFill>
                          <a:latin typeface="Helvetica"/>
                        </a:rPr>
                        <a:t>2. Suffisance des provisions au regard des prestations servies</a:t>
                      </a:r>
                    </a:p>
                  </a:txBody>
                  <a:tcPr marL="43200" marR="43200" marT="14400" marB="14400" anchor="ctr">
                    <a:solidFill>
                      <a:srgbClr val="F2F2F2"/>
                    </a:solidFill>
                  </a:tcPr>
                </a:tc>
                <a:tc>
                  <a:txBody>
                    <a:bodyPr/>
                    <a:lstStyle/>
                    <a:p>
                      <a:pPr marL="0" indent="0" lvl="0">
                        <a:buNone/>
                      </a:pPr>
                      <a:r>
                        <a:rPr sz="900" b="1">
                          <a:solidFill>
                            <a:srgbClr val="060606"/>
                          </a:solidFill>
                          <a:latin typeface="Helvetica"/>
                        </a:rPr>
                        <a:t>Partiellement démontré</a:t>
                      </a:r>
                    </a:p>
                  </a:txBody>
                  <a:tcPr marL="43200" marR="43200" marT="14400" marB="14400" anchor="ctr">
                    <a:solidFill>
                      <a:srgbClr val="EFAC62"/>
                    </a:solidFill>
                  </a:tcPr>
                </a:tc>
                <a:tc>
                  <a:txBody>
                    <a:bodyPr/>
                    <a:lstStyle/>
                    <a:p>
                      <a:pPr marL="0" indent="0" lvl="0">
                        <a:buNone/>
                      </a:pPr>
                      <a:r>
                        <a:rPr sz="900" b="0">
                          <a:solidFill>
                            <a:srgbClr val="060606"/>
                          </a:solidFill>
                          <a:latin typeface="Helvetica"/>
                        </a:rPr>
                        <a:t>Les provisions maladie et décès dépassent largement les besoins mesurés mais ne résultent d'aucun calcul. Les intérêts d'épargne et la perte probable sur les prêts ne sont pas provisionnés.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diapositive 6</a:t>
                      </a:r>
                    </a:p>
                  </a:txBody>
                  <a:tcPr marL="43200" marR="43200" marT="14400" marB="14400" anchor="ctr">
                    <a:solidFill>
                      <a:srgbClr val="F2F2F2"/>
                    </a:solidFill>
                  </a:tcPr>
                </a:tc>
              </a:tr>
              <a:tr h="331937">
                <a:tc>
                  <a:txBody>
                    <a:bodyPr/>
                    <a:lstStyle/>
                    <a:p>
                      <a:pPr marL="0" indent="0" lvl="0">
                        <a:buNone/>
                      </a:pPr>
                      <a:r>
                        <a:rPr sz="900" b="1">
                          <a:solidFill>
                            <a:srgbClr val="060606"/>
                          </a:solidFill>
                          <a:latin typeface="Helvetica"/>
                        </a:rPr>
                        <a:t>3. Adossement actif-passif</a:t>
                      </a:r>
                    </a:p>
                  </a:txBody>
                  <a:tcPr marL="43200" marR="43200" marT="14400" marB="14400" anchor="ctr">
                    <a:solidFill>
                      <a:srgbClr val="FFFFFF"/>
                    </a:solidFill>
                  </a:tcPr>
                </a:tc>
                <a:tc>
                  <a:txBody>
                    <a:bodyPr/>
                    <a:lstStyle/>
                    <a:p>
                      <a:pPr marL="0" indent="0" lvl="0">
                        <a:buNone/>
                      </a:pPr>
                      <a:r>
                        <a:rPr sz="900" b="1">
                          <a:solidFill>
                            <a:srgbClr val="FFFFFF"/>
                          </a:solidFill>
                          <a:latin typeface="Helvetica"/>
                        </a:rPr>
                        <a:t>Insuffisant</a:t>
                      </a:r>
                    </a:p>
                  </a:txBody>
                  <a:tcPr marL="43200" marR="43200" marT="14400" marB="14400" anchor="ctr">
                    <a:solidFill>
                      <a:srgbClr val="C00000"/>
                    </a:solidFill>
                  </a:tcPr>
                </a:tc>
                <a:tc>
                  <a:txBody>
                    <a:bodyPr/>
                    <a:lstStyle/>
                    <a:p>
                      <a:pPr marL="0" indent="0" lvl="0">
                        <a:buNone/>
                      </a:pPr>
                      <a:r>
                        <a:rPr sz="900" b="0">
                          <a:solidFill>
                            <a:srgbClr val="060606"/>
                          </a:solidFill>
                          <a:latin typeface="Helvetica"/>
                        </a:rPr>
                        <a:t>L'actif mobilisable dans l'année couvre environ un tiers de ce que le FPPN devra payer dans l'année, épargne comprise.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diapositive 7</a:t>
                      </a:r>
                    </a:p>
                  </a:txBody>
                  <a:tcPr marL="43200" marR="43200" marT="14400" marB="14400" anchor="ctr">
                    <a:solidFill>
                      <a:srgbClr val="FFFFFF"/>
                    </a:solidFill>
                  </a:tcPr>
                </a:tc>
              </a:tr>
              <a:tr h="331937">
                <a:tc>
                  <a:txBody>
                    <a:bodyPr/>
                    <a:lstStyle/>
                    <a:p>
                      <a:pPr marL="0" indent="0" lvl="0">
                        <a:buNone/>
                      </a:pPr>
                      <a:r>
                        <a:rPr sz="900" b="1">
                          <a:solidFill>
                            <a:srgbClr val="060606"/>
                          </a:solidFill>
                          <a:latin typeface="Helvetica"/>
                        </a:rPr>
                        <a:t>4. Adéquation des placements aux engagements</a:t>
                      </a:r>
                    </a:p>
                  </a:txBody>
                  <a:tcPr marL="43200" marR="43200" marT="14400" marB="14400" anchor="ctr">
                    <a:solidFill>
                      <a:srgbClr val="F2F2F2"/>
                    </a:solidFill>
                  </a:tcPr>
                </a:tc>
                <a:tc>
                  <a:txBody>
                    <a:bodyPr/>
                    <a:lstStyle/>
                    <a:p>
                      <a:pPr marL="0" indent="0" lvl="0">
                        <a:buNone/>
                      </a:pPr>
                      <a:r>
                        <a:rPr sz="900" b="1">
                          <a:solidFill>
                            <a:srgbClr val="FFFFFF"/>
                          </a:solidFill>
                          <a:latin typeface="Helvetica"/>
                        </a:rPr>
                        <a:t>Insuffisant</a:t>
                      </a:r>
                    </a:p>
                  </a:txBody>
                  <a:tcPr marL="43200" marR="43200" marT="14400" marB="14400" anchor="ctr">
                    <a:solidFill>
                      <a:srgbClr val="C00000"/>
                    </a:solidFill>
                  </a:tcPr>
                </a:tc>
                <a:tc>
                  <a:txBody>
                    <a:bodyPr/>
                    <a:lstStyle/>
                    <a:p>
                      <a:pPr marL="0" indent="0" lvl="0">
                        <a:buNone/>
                      </a:pPr>
                      <a:r>
                        <a:rPr sz="900" b="0">
                          <a:solidFill>
                            <a:srgbClr val="060606"/>
                          </a:solidFill>
                          <a:latin typeface="Helvetica"/>
                        </a:rPr>
                        <a:t>Les placements financiers sont trop petits, peu rémunérateurs et sans politique. Ils ne couvrent ni les intérêts dus ni les sorties d'épargne.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diapositive 8</a:t>
                      </a:r>
                    </a:p>
                  </a:txBody>
                  <a:tcPr marL="43200" marR="43200" marT="14400" marB="14400" anchor="ctr">
                    <a:solidFill>
                      <a:srgbClr val="F2F2F2"/>
                    </a:solidFill>
                  </a:tcPr>
                </a:tc>
              </a:tr>
            </a:tbl>
          </a:graphicData>
        </a:graphic>
      </p:graphicFrame>
      <p:graphicFrame>
        <p:nvGraphicFramePr>
          <p:cNvPr id="33" name="Table 32"/>
          <p:cNvGraphicFramePr>
            <a:graphicFrameLocks noGrp="1"/>
          </p:cNvGraphicFramePr>
          <p:nvPr/>
        </p:nvGraphicFramePr>
        <p:xfrm>
          <a:off x="503999" y="3621834"/>
          <a:ext cx="11232000" cy="151200"/>
        </p:xfrm>
        <a:graphic>
          <a:graphicData uri="http://schemas.openxmlformats.org/drawingml/2006/table">
            <a:tbl>
              <a:tblPr firstRow="0" bandRow="0">
                <a:tableStyleId>{5C22544A-7EE6-4342-B048-85BDC9FD1C3A}</a:tableStyleId>
              </a:tblPr>
              <a:tblGrid>
                <a:gridCol w="792000"/>
                <a:gridCol w="936000"/>
                <a:gridCol w="4284000"/>
                <a:gridCol w="936000"/>
                <a:gridCol w="4284000"/>
              </a:tblGrid>
              <a:tr h="151200">
                <a:tc>
                  <a:txBody>
                    <a:bodyPr/>
                    <a:lstStyle/>
                    <a:p>
                      <a:r>
                        <a:rPr sz="700" b="1">
                          <a:solidFill>
                            <a:srgbClr val="060606"/>
                          </a:solidFill>
                          <a:latin typeface="Helvetica"/>
                        </a:rPr>
                        <a:t>Code couleur</a:t>
                      </a:r>
                    </a:p>
                  </a:txBody>
                  <a:tcPr marL="28800" marR="28800" marT="3600" marB="3600" anchor="ctr">
                    <a:solidFill>
                      <a:srgbClr val="FFFFFF"/>
                    </a:solidFill>
                  </a:tcPr>
                </a:tc>
                <a:tc>
                  <a:txBody>
                    <a:bodyPr/>
                    <a:lstStyle/>
                    <a:p>
                      <a:r>
                        <a:rPr sz="700" b="1">
                          <a:solidFill>
                            <a:srgbClr val="060606"/>
                          </a:solidFill>
                          <a:latin typeface="Helvetica"/>
                        </a:rPr>
                        <a:t>Partiel</a:t>
                      </a:r>
                    </a:p>
                  </a:txBody>
                  <a:tcPr marL="28800" marR="28800" marT="3600" marB="3600" anchor="ctr">
                    <a:solidFill>
                      <a:srgbClr val="EFAC62"/>
                    </a:solidFill>
                  </a:tcPr>
                </a:tc>
                <a:tc>
                  <a:txBody>
                    <a:bodyPr/>
                    <a:lstStyle/>
                    <a:p>
                      <a:r>
                        <a:rPr sz="700" b="0">
                          <a:solidFill>
                            <a:srgbClr val="060606"/>
                          </a:solidFill>
                          <a:latin typeface="Helvetica"/>
                        </a:rPr>
                        <a:t>en partie seulement</a:t>
                      </a:r>
                    </a:p>
                  </a:txBody>
                  <a:tcPr marL="28800" marR="28800" marT="3600" marB="3600" anchor="ctr">
                    <a:solidFill>
                      <a:srgbClr val="FFFFFF"/>
                    </a:solidFill>
                  </a:tcPr>
                </a:tc>
                <a:tc>
                  <a:txBody>
                    <a:bodyPr/>
                    <a:lstStyle/>
                    <a:p>
                      <a:r>
                        <a:rPr sz="700" b="1">
                          <a:solidFill>
                            <a:srgbClr val="FFFFFF"/>
                          </a:solidFill>
                          <a:latin typeface="Helvetica"/>
                        </a:rPr>
                        <a:t>Insuffisant</a:t>
                      </a:r>
                    </a:p>
                  </a:txBody>
                  <a:tcPr marL="28800" marR="28800" marT="3600" marB="3600" anchor="ctr">
                    <a:solidFill>
                      <a:srgbClr val="C00000"/>
                    </a:solidFill>
                  </a:tcPr>
                </a:tc>
                <a:tc>
                  <a:txBody>
                    <a:bodyPr/>
                    <a:lstStyle/>
                    <a:p>
                      <a:r>
                        <a:rPr sz="700" b="0">
                          <a:solidFill>
                            <a:srgbClr val="060606"/>
                          </a:solidFill>
                          <a:latin typeface="Helvetica"/>
                        </a:rPr>
                        <a:t>exigence non satisfaite</a:t>
                      </a:r>
                    </a:p>
                  </a:txBody>
                  <a:tcPr marL="28800" marR="28800" marT="3600" marB="3600" anchor="ctr">
                    <a:solidFill>
                      <a:srgbClr val="FFFFFF"/>
                    </a:solidFill>
                  </a:tcPr>
                </a:tc>
              </a:tr>
            </a:tbl>
          </a:graphicData>
        </a:graphic>
      </p:graphicFrame>
      <p:sp>
        <p:nvSpPr>
          <p:cNvPr id="34" name="TextBox 33"/>
          <p:cNvSpPr txBox="1"/>
          <p:nvPr/>
        </p:nvSpPr>
        <p:spPr>
          <a:xfrm>
            <a:off x="503999" y="3881034"/>
            <a:ext cx="11232000" cy="162000"/>
          </a:xfrm>
          <a:prstGeom prst="rect">
            <a:avLst/>
          </a:prstGeom>
          <a:noFill/>
        </p:spPr>
        <p:txBody>
          <a:bodyPr wrap="square" anchor="t" lIns="54000" rIns="54000"/>
          <a:lstStyle/>
          <a:p>
            <a:pPr algn="l"/>
            <a:r>
              <a:rPr sz="850" b="0">
                <a:solidFill>
                  <a:srgbClr val="53565A"/>
                </a:solidFill>
                <a:latin typeface="Helvetica"/>
              </a:rPr>
              <a:t>Valable pour : période du 01/01/2020 au 31/08/2026 (mission à partir du 01/09/2020), documents du FPPN reçus jusqu'au 22/10/2026.</a:t>
            </a:r>
          </a:p>
        </p:txBody>
      </p:sp>
      <p:sp>
        <p:nvSpPr>
          <p:cNvPr id="35" name="TextBox 34"/>
          <p:cNvSpPr txBox="1"/>
          <p:nvPr/>
        </p:nvSpPr>
        <p:spPr>
          <a:xfrm>
            <a:off x="503999" y="4187034"/>
            <a:ext cx="11232000" cy="1680965"/>
          </a:xfrm>
          <a:prstGeom prst="rect">
            <a:avLst/>
          </a:prstGeom>
          <a:noFill/>
        </p:spPr>
        <p:txBody>
          <a:bodyPr wrap="square" lIns="54000" rIns="54000"/>
          <a:lstStyle/>
          <a:p>
            <a:pPr algn="just">
              <a:spcAft>
                <a:spcPts val="600"/>
              </a:spcAft>
            </a:pPr>
            <a:r>
              <a:rPr sz="1300" b="1">
                <a:solidFill>
                  <a:srgbClr val="060606"/>
                </a:solidFill>
                <a:latin typeface="Helvetica"/>
              </a:rPr>
              <a:t>Le FPPN connaît ses dettes de court terme, mais pas la valeur de ses engagements d'épargne, faute de taux arrêté, d'échéancier et d'intérêts comptabilisés.</a:t>
            </a:r>
            <a:r>
              <a:rPr sz="1300" b="0">
                <a:solidFill>
                  <a:srgbClr val="060606"/>
                </a:solidFill>
                <a:latin typeface="Helvetica"/>
              </a:rPr>
              <a:t> C'est la cause commune des verdicts 1, 3 et 4.</a:t>
            </a:r>
          </a:p>
          <a:p>
            <a:pPr algn="just">
              <a:spcAft>
                <a:spcPts val="600"/>
              </a:spcAft>
            </a:pPr>
            <a:r>
              <a:rPr sz="1300" b="0">
                <a:solidFill>
                  <a:srgbClr val="060606"/>
                </a:solidFill>
                <a:latin typeface="Helvetica"/>
              </a:rPr>
              <a:t>Les quatre diapositives suivantes donnent, pour chaque demande, tous les chiffres qui fondent le verdict, ses limites et le renvoi vers la démonstration.</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3945716711"/>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Demande 1 : engagements envers les adhérents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Verdict : Partiellement démontré. Épargne due au 31/08/2026 de 15 743 516 391 FCFA, hors intérêts dus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Avec les intérêts dus depuis le 01/01/2020 (PEP 3,5 %, EFC 5,5 %), l'engagement d'épargne atteint 19 022 429 629 FCFA</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demande de M. Wabi (associé responsable) : engagements, suffisance des provisions, adossement actif-passif, adéquation des placements, de 2020 au 31/08/2026. Analyses détaillées citées dans la colonne « Détail »</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2 : Engagements envers les adhérents : chiffres qui fondent le verdict</a:t>
            </a:r>
          </a:p>
        </p:txBody>
      </p:sp>
      <p:graphicFrame>
        <p:nvGraphicFramePr>
          <p:cNvPr id="32" name="Table 31"/>
          <p:cNvGraphicFramePr>
            <a:graphicFrameLocks noGrp="1"/>
          </p:cNvGraphicFramePr>
          <p:nvPr/>
        </p:nvGraphicFramePr>
        <p:xfrm>
          <a:off x="503999" y="1655999"/>
          <a:ext cx="11231999" cy="2528730"/>
        </p:xfrm>
        <a:graphic>
          <a:graphicData uri="http://schemas.openxmlformats.org/drawingml/2006/table">
            <a:tbl>
              <a:tblPr firstRow="0" bandRow="0">
                <a:tableStyleId>{5940675A-B579-460E-94D1-54222C63F5DA}</a:tableStyleId>
              </a:tblPr>
              <a:tblGrid>
                <a:gridCol w="2736000"/>
                <a:gridCol w="2015999"/>
                <a:gridCol w="4752000"/>
                <a:gridCol w="1728000"/>
              </a:tblGrid>
              <a:tr h="180000">
                <a:tc>
                  <a:txBody>
                    <a:bodyPr/>
                    <a:lstStyle/>
                    <a:p>
                      <a:pPr marL="0" indent="0" lvl="0">
                        <a:buNone/>
                      </a:pPr>
                      <a:r>
                        <a:rPr sz="800" b="1">
                          <a:solidFill>
                            <a:srgbClr val="FFFFFF"/>
                          </a:solidFill>
                          <a:latin typeface="Helvetica"/>
                        </a:rPr>
                        <a:t>Engagement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Valeur</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Ce que le chiffre montre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Détail</a:t>
                      </a:r>
                    </a:p>
                  </a:txBody>
                  <a:tcPr marL="43200" marR="43200" marT="14400" marB="14400" anchor="ctr">
                    <a:solidFill>
                      <a:srgbClr val="060606"/>
                    </a:solidFill>
                  </a:tcPr>
                </a:tc>
              </a:tr>
              <a:tr h="301455">
                <a:tc>
                  <a:txBody>
                    <a:bodyPr/>
                    <a:lstStyle/>
                    <a:p>
                      <a:pPr marL="0" indent="0" lvl="0">
                        <a:buNone/>
                      </a:pPr>
                      <a:r>
                        <a:rPr sz="800" b="1">
                          <a:solidFill>
                            <a:srgbClr val="060606"/>
                          </a:solidFill>
                          <a:latin typeface="Helvetica"/>
                        </a:rPr>
                        <a:t>Épargne PEP et EFC due au 31/08/2026 (comptes 41195100 et 41195200)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15 743 516 391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Somme des cotisations d'épargne nettes des sorties, sans intérêts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diapositive 89</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Intérêts dus du 01/01/2020 au 31/08/2026, PEP 3,5 % et EFC 5,5 %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3 278 913 238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Intérêts promis par le manuel d'épargne, absents des comptes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diapositive 89</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Mêmes intérêts si l'EFC est servie à 3,5 %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2 541 799 542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Borne basse : taux indiqué par le chef comptable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diapositive 89</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Taux servi sur l'EFC selon les documents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3,5 %, 5,5 % ou 14 %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Aucun taux arrêté par une décision signée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diapositive 86</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Allocations décès et frais funéraires dus au 31/08/2026 (41591000 et 41592000)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489 419 669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Liste du FPPN des décès non payés, valorisés au barème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diapositive 117</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Décès connus après la clôture (états 2021 et 2023)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7 100 000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Ordre de grandeur de ce qui manque chaque 31 décembre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diapositive 118</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Soins facturés l'année suivante (clôture 2024, estimation élargie)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12 481 392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Dette maladie non encore facturée à la clôture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diapositive 114</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Provision du personnel recalculée au 31/12/2025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24 446 566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Compte 196 du FPPN : 43 666 678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diapositive 124</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Santé des policiers retraités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610 retraités cotisants (août 26)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mesurable : soins des retraités non isolés. Date de naissance connue pour 105 retraités seulement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diapositive 103</a:t>
                      </a:r>
                    </a:p>
                  </a:txBody>
                  <a:tcPr marL="43200" marR="43200" marT="14400" marB="14400" anchor="ctr">
                    <a:solidFill>
                      <a:srgbClr val="FFFFFF"/>
                    </a:solidFill>
                  </a:tcPr>
                </a:tc>
              </a:tr>
            </a:tbl>
          </a:graphicData>
        </a:graphic>
      </p:graphicFrame>
      <p:sp>
        <p:nvSpPr>
          <p:cNvPr id="33" name="TextBox 32"/>
          <p:cNvSpPr txBox="1"/>
          <p:nvPr/>
        </p:nvSpPr>
        <p:spPr>
          <a:xfrm>
            <a:off x="503999" y="4292732"/>
            <a:ext cx="11232000" cy="162000"/>
          </a:xfrm>
          <a:prstGeom prst="rect">
            <a:avLst/>
          </a:prstGeom>
          <a:noFill/>
        </p:spPr>
        <p:txBody>
          <a:bodyPr wrap="square" anchor="t" lIns="54000" rIns="54000"/>
          <a:lstStyle/>
          <a:p>
            <a:pPr algn="l"/>
            <a:r>
              <a:rPr sz="850" b="0">
                <a:solidFill>
                  <a:srgbClr val="53565A"/>
                </a:solidFill>
                <a:latin typeface="Helvetica"/>
              </a:rPr>
              <a:t>Valable pour : épargne et dettes au 31/08/2026 (balance provisoire). Intérêts dus calculés du 01/01/2020 au 31/08/2026 seulement. Provision du personnel au 31/12/2025.</a:t>
            </a:r>
          </a:p>
        </p:txBody>
      </p:sp>
      <p:sp>
        <p:nvSpPr>
          <p:cNvPr id="34" name="TextBox 33"/>
          <p:cNvSpPr txBox="1"/>
          <p:nvPr/>
        </p:nvSpPr>
        <p:spPr>
          <a:xfrm>
            <a:off x="503999" y="4598732"/>
            <a:ext cx="11232000" cy="1269267"/>
          </a:xfrm>
          <a:prstGeom prst="rect">
            <a:avLst/>
          </a:prstGeom>
          <a:noFill/>
        </p:spPr>
        <p:txBody>
          <a:bodyPr wrap="square" lIns="54000" rIns="54000"/>
          <a:lstStyle/>
          <a:p>
            <a:pPr algn="just">
              <a:spcAft>
                <a:spcPts val="600"/>
              </a:spcAft>
            </a:pPr>
            <a:r>
              <a:rPr sz="1300" b="1">
                <a:solidFill>
                  <a:srgbClr val="060606"/>
                </a:solidFill>
                <a:latin typeface="Helvetica"/>
              </a:rPr>
              <a:t>Le premier engagement est l'épargne : 15 743 516 391 FCFA au 31/08/2026, plus 3 278 913 238 FCFA d'intérêts dus non comptabilisés au taux du manuel.</a:t>
            </a:r>
            <a:r>
              <a:rPr sz="1300" b="0">
                <a:solidFill>
                  <a:srgbClr val="060606"/>
                </a:solidFill>
                <a:latin typeface="Helvetica"/>
              </a:rPr>
              <a:t> Les autres engagements mesurés sont des dettes de court terme.</a:t>
            </a:r>
          </a:p>
          <a:p>
            <a:pPr algn="just">
              <a:spcAft>
                <a:spcPts val="600"/>
              </a:spcAft>
            </a:pPr>
            <a:r>
              <a:rPr sz="1300" b="0">
                <a:solidFill>
                  <a:srgbClr val="060606"/>
                </a:solidFill>
                <a:latin typeface="Helvetica"/>
              </a:rPr>
              <a:t>Le verdict deviendra « Démontré » quand le FPPN aura arrêté le taux servi, transmis les relevés individuels d'épargne et les âges des retraités (PBC, items 2, 9 et 69).</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PEP : Plan Épargne Plus | EFC : entraide fin de carrière | PBC : liste des documents demandés au client</a:t>
            </a:r>
          </a:p>
        </p:txBody>
      </p:sp>
    </p:spTree>
    <p:extLst>
      <p:ext uri="{BB962C8B-B14F-4D97-AF65-F5344CB8AC3E}">
        <p14:creationId xmlns:p14="http://schemas.microsoft.com/office/powerpoint/2010/main" val="3758237379"/>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Demande 2 : suffisance des provisions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Verdict : Partiellement démontré. Provisions maladie et décès supérieures aux besoins, mais non calculées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Provisions maladie et obsèques : 4 829 298 290 FCFA au bilan, inchangées depuis 2020. Intérêts d'épargne dus non provisionnés : 3 278 913 238 FCFA</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demande de M. Wabi (associé responsable) : engagements, suffisance des provisions, adossement actif-passif, adéquation des placements, de 2020 au 31/08/2026. Analyses détaillées citées dans la colonne « Détail »</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3 : Provisions du bilan et besoins mesurés : chiffres qui fondent le verdict</a:t>
            </a:r>
          </a:p>
        </p:txBody>
      </p:sp>
      <p:graphicFrame>
        <p:nvGraphicFramePr>
          <p:cNvPr id="32" name="Table 31"/>
          <p:cNvGraphicFramePr>
            <a:graphicFrameLocks noGrp="1"/>
          </p:cNvGraphicFramePr>
          <p:nvPr/>
        </p:nvGraphicFramePr>
        <p:xfrm>
          <a:off x="503999" y="1655999"/>
          <a:ext cx="11232000" cy="2047275"/>
        </p:xfrm>
        <a:graphic>
          <a:graphicData uri="http://schemas.openxmlformats.org/drawingml/2006/table">
            <a:tbl>
              <a:tblPr firstRow="0" bandRow="0">
                <a:tableStyleId>{5940675A-B579-460E-94D1-54222C63F5DA}</a:tableStyleId>
              </a:tblPr>
              <a:tblGrid>
                <a:gridCol w="2160000"/>
                <a:gridCol w="1728000"/>
                <a:gridCol w="1728000"/>
                <a:gridCol w="3888000"/>
                <a:gridCol w="1728000"/>
              </a:tblGrid>
              <a:tr h="180000">
                <a:tc>
                  <a:txBody>
                    <a:bodyPr/>
                    <a:lstStyle/>
                    <a:p>
                      <a:pPr marL="0" indent="0" lvl="0">
                        <a:buNone/>
                      </a:pPr>
                      <a:r>
                        <a:rPr sz="800" b="1">
                          <a:solidFill>
                            <a:srgbClr val="FFFFFF"/>
                          </a:solidFill>
                          <a:latin typeface="Helvetica"/>
                        </a:rPr>
                        <a:t>Provision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Au bilan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Besoin mesuré</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Ce que le chiffre montre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Détail</a:t>
                      </a:r>
                    </a:p>
                  </a:txBody>
                  <a:tcPr marL="43200" marR="43200" marT="14400" marB="14400" anchor="ctr">
                    <a:solidFill>
                      <a:srgbClr val="060606"/>
                    </a:solidFill>
                  </a:tcPr>
                </a:tc>
              </a:tr>
              <a:tr h="301455">
                <a:tc>
                  <a:txBody>
                    <a:bodyPr/>
                    <a:lstStyle/>
                    <a:p>
                      <a:pPr marL="0" indent="0" lvl="0">
                        <a:buNone/>
                      </a:pPr>
                      <a:r>
                        <a:rPr sz="800" b="1">
                          <a:solidFill>
                            <a:srgbClr val="060606"/>
                          </a:solidFill>
                          <a:latin typeface="Helvetica"/>
                        </a:rPr>
                        <a:t>Maladie (15801000)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2 867 602 878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12 481 392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Besoin au 31/12/2024 : soins facturés l'année suivante (estimation élargie). Les factures reçues sont déjà au passif (40110000)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diapositive 114</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Obsèques (15802000)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1 961 695 412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489 419 669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La dette calculée par le FPPN est déjà inscrite aux comptes 41591000 et 41592000 : la provision fait double emploi</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diapositive 117</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Délai moyen de paiement des cliniques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2,62 mois (2025)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5,00 mois au 31/08/2026. La règle de l'art. 52 est de 3 mois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diapositive 112</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Risques courts (statuts, art. 88)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Aucune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Les cotisations mensuelles couvrent leur mois : aucune période à couvrir</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diapositive 119</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Intérêts dus sur l'épargne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Aucune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3 278 913 238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PEP 3,5 % et EFC 5,5 % du 01/01/2020 au 31/08/2026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diapositive 89</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Pertes probables sur les prêts du Grenier</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Aucune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14 016 392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Taux de la politique de crédit du Grenier (40 %, 80 %, 100 %)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diapositive 120</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Départ à la retraite du personnel (196)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43 666 678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24 446 566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Compte 196 supérieur au recalcul au 31/12/2025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diapositive 124</a:t>
                      </a:r>
                    </a:p>
                  </a:txBody>
                  <a:tcPr marL="43200" marR="43200" marT="14400" marB="14400" anchor="ctr">
                    <a:solidFill>
                      <a:srgbClr val="FFFFFF"/>
                    </a:solidFill>
                  </a:tcPr>
                </a:tc>
              </a:tr>
            </a:tbl>
          </a:graphicData>
        </a:graphic>
      </p:graphicFrame>
      <p:sp>
        <p:nvSpPr>
          <p:cNvPr id="33" name="TextBox 32"/>
          <p:cNvSpPr txBox="1"/>
          <p:nvPr/>
        </p:nvSpPr>
        <p:spPr>
          <a:xfrm>
            <a:off x="503999" y="3811276"/>
            <a:ext cx="11232000" cy="162000"/>
          </a:xfrm>
          <a:prstGeom prst="rect">
            <a:avLst/>
          </a:prstGeom>
          <a:noFill/>
        </p:spPr>
        <p:txBody>
          <a:bodyPr wrap="square" anchor="t" lIns="54000" rIns="54000"/>
          <a:lstStyle/>
          <a:p>
            <a:pPr algn="l"/>
            <a:r>
              <a:rPr sz="850" b="0">
                <a:solidFill>
                  <a:srgbClr val="53565A"/>
                </a:solidFill>
                <a:latin typeface="Helvetica"/>
              </a:rPr>
              <a:t>Valable pour : provisions au bilan du 31/08/2026. Besoin maladie mesuré au 31/12/2024 sur les factures de cliniques du journal SIN. Dette décès au 31/08/2026.</a:t>
            </a:r>
          </a:p>
        </p:txBody>
      </p:sp>
      <p:sp>
        <p:nvSpPr>
          <p:cNvPr id="34" name="TextBox 33"/>
          <p:cNvSpPr txBox="1"/>
          <p:nvPr/>
        </p:nvSpPr>
        <p:spPr>
          <a:xfrm>
            <a:off x="503999" y="4117276"/>
            <a:ext cx="11232000" cy="1750723"/>
          </a:xfrm>
          <a:prstGeom prst="rect">
            <a:avLst/>
          </a:prstGeom>
          <a:noFill/>
        </p:spPr>
        <p:txBody>
          <a:bodyPr wrap="square" lIns="54000" rIns="54000"/>
          <a:lstStyle/>
          <a:p>
            <a:pPr algn="just">
              <a:spcAft>
                <a:spcPts val="600"/>
              </a:spcAft>
            </a:pPr>
            <a:r>
              <a:rPr sz="1300" b="1">
                <a:solidFill>
                  <a:srgbClr val="060606"/>
                </a:solidFill>
                <a:latin typeface="Helvetica"/>
              </a:rPr>
              <a:t>Les provisions maladie et obsèques dépassent les besoins mesurés de 4 327 397 229 FCFA, alors que les intérêts d'épargne (3 278 913 238 FCFA) et les pertes sur prêts ne sont pas provisionnés.</a:t>
            </a:r>
            <a:r>
              <a:rPr sz="1300" b="0">
                <a:solidFill>
                  <a:srgbClr val="060606"/>
                </a:solidFill>
                <a:latin typeface="Helvetica"/>
              </a:rPr>
              <a:t> Les provisions ne sont pas insuffisantes en montant global. Elles sont mal affectées et non calculées, contrairement à l'article 89 des statuts.</a:t>
            </a:r>
          </a:p>
          <a:p>
            <a:pPr algn="just">
              <a:spcAft>
                <a:spcPts val="600"/>
              </a:spcAft>
            </a:pPr>
            <a:r>
              <a:rPr sz="1300" b="0">
                <a:solidFill>
                  <a:srgbClr val="060606"/>
                </a:solidFill>
                <a:latin typeface="Helvetica"/>
              </a:rPr>
              <a:t>Les provisions maladie et obsèques doivent être recalculées chaque année (statuts, art. 89). L'excédent ne peut être réaffecté à l'épargne qu'après décision des organes et avis de l'AIRMS.</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AIRMS : Agence ivoirienne de régulation de la mutualité sociale | PEP : Plan Épargne Plus | EFC : entraide fin de carrière</a:t>
            </a:r>
          </a:p>
        </p:txBody>
      </p:sp>
    </p:spTree>
    <p:extLst>
      <p:ext uri="{BB962C8B-B14F-4D97-AF65-F5344CB8AC3E}">
        <p14:creationId xmlns:p14="http://schemas.microsoft.com/office/powerpoint/2010/main" val="2471186817"/>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Demande 3 : adossement actif-passif</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Verdict : Insuffisant. L'actif mobilisable dans l'année couvre 34,42 % des paiements de l'année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Au 31/08/2026 : actif à moins d'un an 3 457 866 951 FCFA. Paiements attendus dans l'année, épargne comprise, 10 046 113 184 FCFA</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demande de M. Wabi (associé responsable) : engagements, suffisance des provisions, adossement actif-passif, adéquation des placements, de 2020 au 31/08/2026. Analyses détaillées citées dans la colonne « Détail »</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4 : Adossement actif-passif : chiffres qui fondent le verdict</a:t>
            </a:r>
          </a:p>
        </p:txBody>
      </p:sp>
      <p:graphicFrame>
        <p:nvGraphicFramePr>
          <p:cNvPr id="32" name="Table 31"/>
          <p:cNvGraphicFramePr>
            <a:graphicFrameLocks noGrp="1"/>
          </p:cNvGraphicFramePr>
          <p:nvPr/>
        </p:nvGraphicFramePr>
        <p:xfrm>
          <a:off x="503999" y="1655999"/>
          <a:ext cx="11232000" cy="2047275"/>
        </p:xfrm>
        <a:graphic>
          <a:graphicData uri="http://schemas.openxmlformats.org/drawingml/2006/table">
            <a:tbl>
              <a:tblPr firstRow="0" bandRow="0">
                <a:tableStyleId>{5940675A-B579-460E-94D1-54222C63F5DA}</a:tableStyleId>
              </a:tblPr>
              <a:tblGrid>
                <a:gridCol w="3024000"/>
                <a:gridCol w="1872000"/>
                <a:gridCol w="4608000"/>
                <a:gridCol w="1728000"/>
              </a:tblGrid>
              <a:tr h="180000">
                <a:tc>
                  <a:txBody>
                    <a:bodyPr/>
                    <a:lstStyle/>
                    <a:p>
                      <a:pPr marL="0" indent="0" lvl="0">
                        <a:buNone/>
                      </a:pPr>
                      <a:r>
                        <a:rPr sz="800" b="1">
                          <a:solidFill>
                            <a:srgbClr val="FFFFFF"/>
                          </a:solidFill>
                          <a:latin typeface="Helvetica"/>
                        </a:rPr>
                        <a:t>Mesure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Valeur</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Ce que le chiffre montre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Détail</a:t>
                      </a:r>
                    </a:p>
                  </a:txBody>
                  <a:tcPr marL="43200" marR="43200" marT="14400" marB="14400" anchor="ctr">
                    <a:solidFill>
                      <a:srgbClr val="060606"/>
                    </a:solidFill>
                  </a:tcPr>
                </a:tc>
              </a:tr>
              <a:tr h="301455">
                <a:tc>
                  <a:txBody>
                    <a:bodyPr/>
                    <a:lstStyle/>
                    <a:p>
                      <a:pPr marL="0" indent="0" lvl="0">
                        <a:buNone/>
                      </a:pPr>
                      <a:r>
                        <a:rPr sz="800" b="1">
                          <a:solidFill>
                            <a:srgbClr val="060606"/>
                          </a:solidFill>
                          <a:latin typeface="Helvetica"/>
                        </a:rPr>
                        <a:t>Épargne couverte par les actifs qui lui sont réservés (31/08/2026)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16,28 %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Banques et DAT de l'épargne et FCP rapportés à l'épargne due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diapositive 81</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Taux de sortie annuel de l'épargne, moyenne 2021 à 2025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19,24 %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Maximum observé : 27,55 %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diapositive 145</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Couverture des paiements de l'année, scénario central</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34,42 %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Actif à moins d'un an / (dettes à moins d'un an + sorties d'épargne prévues)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diapositive 147</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Couverture, test de résistance sévère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26,22 %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Sorties au taux maximal et hausse des prestations maladie la plus forte de 2024 et 2025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diapositive 147</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Ratio de liquidité au 31/08/2026 (norme au moins 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0,19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Trésorerie / dettes à court terme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diapositive 175</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Ratio d'équilibre stable au 31/08/2026 (norme au plus 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1,72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Emplois longs / ressources longues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diapositive 176</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Réserve de trésorerie des risques longs (norme un trimestre)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0,00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Aucune réserve constituée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diapositive 179</a:t>
                      </a:r>
                    </a:p>
                  </a:txBody>
                  <a:tcPr marL="43200" marR="43200" marT="14400" marB="14400" anchor="ctr">
                    <a:solidFill>
                      <a:srgbClr val="FFFFFF"/>
                    </a:solidFill>
                  </a:tcPr>
                </a:tc>
              </a:tr>
            </a:tbl>
          </a:graphicData>
        </a:graphic>
      </p:graphicFrame>
      <p:sp>
        <p:nvSpPr>
          <p:cNvPr id="33" name="TextBox 32"/>
          <p:cNvSpPr txBox="1"/>
          <p:nvPr/>
        </p:nvSpPr>
        <p:spPr>
          <a:xfrm>
            <a:off x="503999" y="3811276"/>
            <a:ext cx="11232000" cy="162000"/>
          </a:xfrm>
          <a:prstGeom prst="rect">
            <a:avLst/>
          </a:prstGeom>
          <a:noFill/>
        </p:spPr>
        <p:txBody>
          <a:bodyPr wrap="square" anchor="t" lIns="54000" rIns="54000"/>
          <a:lstStyle/>
          <a:p>
            <a:pPr algn="l"/>
            <a:r>
              <a:rPr sz="850" b="0">
                <a:solidFill>
                  <a:srgbClr val="53565A"/>
                </a:solidFill>
                <a:latin typeface="Helvetica"/>
              </a:rPr>
              <a:t>Valable pour : bilans au 31/12/2025 et au 31/08/2026 (provisoire). Sorties d'épargne observées de 2021 à 2025. Actifs classés par nature comptable, sans échéancier contractuel.</a:t>
            </a:r>
          </a:p>
        </p:txBody>
      </p:sp>
      <p:sp>
        <p:nvSpPr>
          <p:cNvPr id="34" name="TextBox 33"/>
          <p:cNvSpPr txBox="1"/>
          <p:nvPr/>
        </p:nvSpPr>
        <p:spPr>
          <a:xfrm>
            <a:off x="503999" y="4117276"/>
            <a:ext cx="11232000" cy="1750723"/>
          </a:xfrm>
          <a:prstGeom prst="rect">
            <a:avLst/>
          </a:prstGeom>
          <a:noFill/>
        </p:spPr>
        <p:txBody>
          <a:bodyPr wrap="square" lIns="54000" rIns="54000"/>
          <a:lstStyle/>
          <a:p>
            <a:pPr algn="just">
              <a:spcAft>
                <a:spcPts val="600"/>
              </a:spcAft>
            </a:pPr>
            <a:r>
              <a:rPr sz="1300" b="1">
                <a:solidFill>
                  <a:srgbClr val="060606"/>
                </a:solidFill>
                <a:latin typeface="Helvetica"/>
              </a:rPr>
              <a:t>L'épargne, dette exigible à tout moment, finance des actifs longs : terrains, clinique, créance sur l'hôpital et prêts du Grenier.</a:t>
            </a:r>
            <a:r>
              <a:rPr sz="1300" b="0">
                <a:solidFill>
                  <a:srgbClr val="060606"/>
                </a:solidFill>
                <a:latin typeface="Helvetica"/>
              </a:rPr>
              <a:t> Même au taux de sortie moyen observé, l'actif mobilisable dans l'année ne couvre pas les paiements de l'année.</a:t>
            </a:r>
          </a:p>
          <a:p>
            <a:pPr algn="just">
              <a:spcAft>
                <a:spcPts val="600"/>
              </a:spcAft>
            </a:pPr>
            <a:r>
              <a:rPr sz="1300" b="0">
                <a:solidFill>
                  <a:srgbClr val="060606"/>
                </a:solidFill>
                <a:latin typeface="Helvetica"/>
              </a:rPr>
              <a:t>L'adossement ne peut devenir suffisant sans un échéancier de l'épargne, une réserve de liquidité et une politique actif-passif votée par le conseil d'administration.</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FCP : fonds commun de placement | DAT : dépôt à terme</a:t>
            </a:r>
          </a:p>
        </p:txBody>
      </p:sp>
    </p:spTree>
    <p:extLst>
      <p:ext uri="{BB962C8B-B14F-4D97-AF65-F5344CB8AC3E}">
        <p14:creationId xmlns:p14="http://schemas.microsoft.com/office/powerpoint/2010/main" val="363276025"/>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Demande 4 : adéquation des placements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Verdict : Insuffisant. Placements financiers de 5,53 % de l'épargne due en 2025</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Rendement apparent moyen de 2021 à 2025 : 4,90 %. Produits financiers 2025 : 117 912 488 FCFA, inférieurs aux intérêts d'une année sur l'EFC au taux le plus bas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demande de M. Wabi (associé responsable) : engagements, suffisance des provisions, adossement actif-passif, adéquation des placements, de 2020 au 31/08/2026. Analyses détaillées citées dans la colonne « Détail »</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5 : Adéquation des placements : chiffres qui fondent le verdict</a:t>
            </a:r>
          </a:p>
        </p:txBody>
      </p:sp>
      <p:graphicFrame>
        <p:nvGraphicFramePr>
          <p:cNvPr id="32" name="Table 31"/>
          <p:cNvGraphicFramePr>
            <a:graphicFrameLocks noGrp="1"/>
          </p:cNvGraphicFramePr>
          <p:nvPr/>
        </p:nvGraphicFramePr>
        <p:xfrm>
          <a:off x="503999" y="1655999"/>
          <a:ext cx="11232000" cy="1624365"/>
        </p:xfrm>
        <a:graphic>
          <a:graphicData uri="http://schemas.openxmlformats.org/drawingml/2006/table">
            <a:tbl>
              <a:tblPr firstRow="0" bandRow="0">
                <a:tableStyleId>{5940675A-B579-460E-94D1-54222C63F5DA}</a:tableStyleId>
              </a:tblPr>
              <a:tblGrid>
                <a:gridCol w="3024000"/>
                <a:gridCol w="1872000"/>
                <a:gridCol w="4608000"/>
                <a:gridCol w="1728000"/>
              </a:tblGrid>
              <a:tr h="180000">
                <a:tc>
                  <a:txBody>
                    <a:bodyPr/>
                    <a:lstStyle/>
                    <a:p>
                      <a:pPr marL="0" indent="0" lvl="0">
                        <a:buNone/>
                      </a:pPr>
                      <a:r>
                        <a:rPr sz="800" b="1">
                          <a:solidFill>
                            <a:srgbClr val="FFFFFF"/>
                          </a:solidFill>
                          <a:latin typeface="Helvetica"/>
                        </a:rPr>
                        <a:t>Mesure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Valeur</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Ce que le chiffre montre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Détail</a:t>
                      </a:r>
                    </a:p>
                  </a:txBody>
                  <a:tcPr marL="43200" marR="43200" marT="14400" marB="14400" anchor="ctr">
                    <a:solidFill>
                      <a:srgbClr val="060606"/>
                    </a:solidFill>
                  </a:tcPr>
                </a:tc>
              </a:tr>
              <a:tr h="180000">
                <a:tc>
                  <a:txBody>
                    <a:bodyPr/>
                    <a:lstStyle/>
                    <a:p>
                      <a:pPr marL="0" indent="0" lvl="0">
                        <a:buNone/>
                      </a:pPr>
                      <a:r>
                        <a:rPr sz="800" b="1">
                          <a:solidFill>
                            <a:srgbClr val="060606"/>
                          </a:solidFill>
                          <a:latin typeface="Helvetica"/>
                        </a:rPr>
                        <a:t>Placements financiers moyens 2025 (DAT et FCP)</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763 752 135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5,53 % de l'épargne due au 31/12/2025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diapositive 153</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Produits financiers 2025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117 912 488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Comprend le reversement des intérêts d'un DAT arrivé à maturité (rapport de gestion 2025)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diapositive 156</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Intérêts d'une année sur l'EFC à 3,5 % (2025)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309 709 577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Supérieurs aux produits financiers de chaque année de 2021 à 2025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diapositive 88</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Terrains, clinique (CMP) et créance sur l'hôpital au 31/08/2026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15 736 951 165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Actifs peu liquides, sans évaluation récente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diapositive 139</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Financement des prêts du Grenier au 31/08/2026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915 477 260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Épargne prêtée aux membres, prêts d'une durée médiane de 10 mois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diapositive 93</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Politique de placement votée par le conseil d'administration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Aucune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Le directeur général décide seul (entretien du 19/10/2026)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diapositive 154</a:t>
                      </a:r>
                    </a:p>
                  </a:txBody>
                  <a:tcPr marL="43200" marR="43200" marT="14400" marB="14400" anchor="ctr">
                    <a:solidFill>
                      <a:srgbClr val="F2F2F2"/>
                    </a:solidFill>
                  </a:tcPr>
                </a:tc>
              </a:tr>
            </a:tbl>
          </a:graphicData>
        </a:graphic>
      </p:graphicFrame>
      <p:sp>
        <p:nvSpPr>
          <p:cNvPr id="33" name="TextBox 32"/>
          <p:cNvSpPr txBox="1"/>
          <p:nvPr/>
        </p:nvSpPr>
        <p:spPr>
          <a:xfrm>
            <a:off x="503999" y="3388366"/>
            <a:ext cx="11232000" cy="162000"/>
          </a:xfrm>
          <a:prstGeom prst="rect">
            <a:avLst/>
          </a:prstGeom>
          <a:noFill/>
        </p:spPr>
        <p:txBody>
          <a:bodyPr wrap="square" anchor="t" lIns="54000" rIns="54000"/>
          <a:lstStyle/>
          <a:p>
            <a:pPr algn="l"/>
            <a:r>
              <a:rPr sz="850" b="0">
                <a:solidFill>
                  <a:srgbClr val="53565A"/>
                </a:solidFill>
                <a:latin typeface="Helvetica"/>
              </a:rPr>
              <a:t>Valable pour : placements et produits financiers de 2021 à 2025, actifs au 31/08/2026. Épargne due au 31/12/2025.</a:t>
            </a:r>
          </a:p>
        </p:txBody>
      </p:sp>
      <p:sp>
        <p:nvSpPr>
          <p:cNvPr id="34" name="TextBox 33"/>
          <p:cNvSpPr txBox="1"/>
          <p:nvPr/>
        </p:nvSpPr>
        <p:spPr>
          <a:xfrm>
            <a:off x="503999" y="3694366"/>
            <a:ext cx="11232000" cy="2173633"/>
          </a:xfrm>
          <a:prstGeom prst="rect">
            <a:avLst/>
          </a:prstGeom>
          <a:noFill/>
        </p:spPr>
        <p:txBody>
          <a:bodyPr wrap="square" lIns="54000" rIns="54000"/>
          <a:lstStyle/>
          <a:p>
            <a:pPr algn="just">
              <a:spcAft>
                <a:spcPts val="600"/>
              </a:spcAft>
            </a:pPr>
            <a:r>
              <a:rPr sz="1300" b="1">
                <a:solidFill>
                  <a:srgbClr val="060606"/>
                </a:solidFill>
                <a:latin typeface="Helvetica"/>
              </a:rPr>
              <a:t>Le problème des placements n'est pas d'abord leur rendement, mais leur volume et leur liquidité</a:t>
            </a:r>
            <a:r>
              <a:rPr sz="1300" b="0">
                <a:solidFill>
                  <a:srgbClr val="060606"/>
                </a:solidFill>
                <a:latin typeface="Helvetica"/>
              </a:rPr>
              <a:t> : l'essentiel de l'épargne est immobilisé dans des actifs qui ne produisent ni revenu financier ni liquidité.</a:t>
            </a:r>
          </a:p>
          <a:p>
            <a:pPr algn="just">
              <a:spcAft>
                <a:spcPts val="600"/>
              </a:spcAft>
            </a:pPr>
            <a:r>
              <a:rPr sz="1300" b="0">
                <a:solidFill>
                  <a:srgbClr val="060606"/>
                </a:solidFill>
                <a:latin typeface="Helvetica"/>
              </a:rPr>
              <a:t>Une politique de placement doit fixer une part minimale d'actifs liquides au regard des sorties d'épargne observées et un rendement minimal au regard du taux servi, une fois ce taux arrêté.</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EFC : entraide fin de carrière | CMP : Clinique médicale du policier | FCP : fonds commun de placement | DAT : dépôt à terme</a:t>
            </a:r>
          </a:p>
        </p:txBody>
      </p:sp>
    </p:spTree>
    <p:extLst>
      <p:ext uri="{BB962C8B-B14F-4D97-AF65-F5344CB8AC3E}">
        <p14:creationId xmlns:p14="http://schemas.microsoft.com/office/powerpoint/2010/main" val="250133654"/>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Résumé exécutif</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FPPN dégage des excédents mais reste fragile, peu documenté et hors normes prudentielles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Fonds propres négatifs, épargne couverte à 16,28 % par des actifs dédiés, 14 ratios prudentiels non conformes sur 36</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analyses Adenka sur les documents reçus le 15/10/2026 et la documentation publique de l'AIRMS</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6 : Principaux constats au 15/10/2026</a:t>
            </a:r>
          </a:p>
        </p:txBody>
      </p:sp>
      <p:graphicFrame>
        <p:nvGraphicFramePr>
          <p:cNvPr id="32" name="Table 31"/>
          <p:cNvGraphicFramePr>
            <a:graphicFrameLocks noGrp="1"/>
          </p:cNvGraphicFramePr>
          <p:nvPr/>
        </p:nvGraphicFramePr>
        <p:xfrm>
          <a:off x="503999" y="1655999"/>
          <a:ext cx="11232000" cy="2400657"/>
        </p:xfrm>
        <a:graphic>
          <a:graphicData uri="http://schemas.openxmlformats.org/drawingml/2006/table">
            <a:tbl>
              <a:tblPr firstRow="0" bandRow="0">
                <a:tableStyleId>{5940675A-B579-460E-94D1-54222C63F5DA}</a:tableStyleId>
              </a:tblPr>
              <a:tblGrid>
                <a:gridCol w="1512000"/>
                <a:gridCol w="6192000"/>
                <a:gridCol w="3528000"/>
              </a:tblGrid>
              <a:tr h="202389">
                <a:tc>
                  <a:txBody>
                    <a:bodyPr/>
                    <a:lstStyle/>
                    <a:p>
                      <a:pPr marL="0" indent="0" lvl="0">
                        <a:buNone/>
                      </a:pPr>
                      <a:r>
                        <a:rPr sz="950" b="1">
                          <a:solidFill>
                            <a:srgbClr val="FFFFFF"/>
                          </a:solidFill>
                          <a:latin typeface="Helvetica"/>
                        </a:rPr>
                        <a:t>Domaine</a:t>
                      </a:r>
                    </a:p>
                  </a:txBody>
                  <a:tcPr marL="43200" marR="43200" marT="14400" marB="14400" anchor="ctr">
                    <a:solidFill>
                      <a:srgbClr val="060606"/>
                    </a:solidFill>
                  </a:tcPr>
                </a:tc>
                <a:tc>
                  <a:txBody>
                    <a:bodyPr/>
                    <a:lstStyle/>
                    <a:p>
                      <a:pPr marL="0" indent="0" lvl="0">
                        <a:buNone/>
                      </a:pPr>
                      <a:r>
                        <a:rPr sz="950" b="1">
                          <a:solidFill>
                            <a:srgbClr val="FFFFFF"/>
                          </a:solidFill>
                          <a:latin typeface="Helvetica"/>
                        </a:rPr>
                        <a:t>Constat</a:t>
                      </a:r>
                    </a:p>
                  </a:txBody>
                  <a:tcPr marL="43200" marR="43200" marT="14400" marB="14400" anchor="ctr">
                    <a:solidFill>
                      <a:srgbClr val="060606"/>
                    </a:solidFill>
                  </a:tcPr>
                </a:tc>
                <a:tc>
                  <a:txBody>
                    <a:bodyPr/>
                    <a:lstStyle/>
                    <a:p>
                      <a:pPr marL="0" indent="0" lvl="0">
                        <a:buNone/>
                      </a:pPr>
                      <a:r>
                        <a:rPr sz="950" b="1">
                          <a:solidFill>
                            <a:srgbClr val="FFFFFF"/>
                          </a:solidFill>
                          <a:latin typeface="Helvetica"/>
                        </a:rPr>
                        <a:t>Chiffre clé</a:t>
                      </a:r>
                    </a:p>
                  </a:txBody>
                  <a:tcPr marL="43200" marR="43200" marT="14400" marB="14400" anchor="ctr">
                    <a:solidFill>
                      <a:srgbClr val="060606"/>
                    </a:solidFill>
                  </a:tcPr>
                </a:tc>
              </a:tr>
              <a:tr h="347178">
                <a:tc>
                  <a:txBody>
                    <a:bodyPr/>
                    <a:lstStyle/>
                    <a:p>
                      <a:pPr marL="0" indent="0" lvl="0">
                        <a:buNone/>
                      </a:pPr>
                      <a:r>
                        <a:rPr sz="950" b="1">
                          <a:solidFill>
                            <a:srgbClr val="060606"/>
                          </a:solidFill>
                          <a:latin typeface="Helvetica"/>
                        </a:rPr>
                        <a:t>Données</a:t>
                      </a:r>
                    </a:p>
                  </a:txBody>
                  <a:tcPr marL="43200" marR="43200" marT="14400" marB="14400" anchor="ctr">
                    <a:solidFill>
                      <a:srgbClr val="FFFFFF"/>
                    </a:solidFill>
                  </a:tcPr>
                </a:tc>
                <a:tc>
                  <a:txBody>
                    <a:bodyPr/>
                    <a:lstStyle/>
                    <a:p>
                      <a:pPr marL="0" indent="0" lvl="0">
                        <a:buNone/>
                      </a:pPr>
                      <a:r>
                        <a:rPr sz="950" b="0">
                          <a:solidFill>
                            <a:srgbClr val="060606"/>
                          </a:solidFill>
                          <a:latin typeface="Helvetica"/>
                        </a:rPr>
                        <a:t>Les précomptes mensuels ne commencent qu'en 2023 ou 2024 selon le poste, et aucune base de prestations n'a été reçue.</a:t>
                      </a:r>
                    </a:p>
                  </a:txBody>
                  <a:tcPr marL="43200" marR="43200" marT="14400" marB="14400" anchor="ctr">
                    <a:solidFill>
                      <a:srgbClr val="FFFFFF"/>
                    </a:solidFill>
                  </a:tcPr>
                </a:tc>
                <a:tc>
                  <a:txBody>
                    <a:bodyPr/>
                    <a:lstStyle/>
                    <a:p>
                      <a:pPr marL="0" indent="0" lvl="0">
                        <a:buNone/>
                      </a:pPr>
                      <a:r>
                        <a:rPr sz="950" b="0">
                          <a:solidFill>
                            <a:srgbClr val="060606"/>
                          </a:solidFill>
                          <a:latin typeface="Helvetica"/>
                        </a:rPr>
                        <a:t>4 454 416 lignes de précomptes contrôlées</a:t>
                      </a:r>
                    </a:p>
                  </a:txBody>
                  <a:tcPr marL="43200" marR="43200" marT="14400" marB="14400" anchor="ctr">
                    <a:solidFill>
                      <a:srgbClr val="FFFFFF"/>
                    </a:solidFill>
                  </a:tcPr>
                </a:tc>
              </a:tr>
              <a:tr h="347178">
                <a:tc>
                  <a:txBody>
                    <a:bodyPr/>
                    <a:lstStyle/>
                    <a:p>
                      <a:pPr marL="0" indent="0" lvl="0">
                        <a:buNone/>
                      </a:pPr>
                      <a:r>
                        <a:rPr sz="950" b="1">
                          <a:solidFill>
                            <a:srgbClr val="060606"/>
                          </a:solidFill>
                          <a:latin typeface="Helvetica"/>
                        </a:rPr>
                        <a:t>Cotisations</a:t>
                      </a:r>
                    </a:p>
                  </a:txBody>
                  <a:tcPr marL="43200" marR="43200" marT="14400" marB="14400" anchor="ctr">
                    <a:solidFill>
                      <a:srgbClr val="F2F2F2"/>
                    </a:solidFill>
                  </a:tcPr>
                </a:tc>
                <a:tc>
                  <a:txBody>
                    <a:bodyPr/>
                    <a:lstStyle/>
                    <a:p>
                      <a:pPr marL="0" indent="0" lvl="0">
                        <a:buNone/>
                      </a:pPr>
                      <a:r>
                        <a:rPr sz="950" b="0">
                          <a:solidFill>
                            <a:srgbClr val="060606"/>
                          </a:solidFill>
                          <a:latin typeface="Helvetica"/>
                        </a:rPr>
                        <a:t>Le précompte total vaut 5 % du salaire de base, mais la Solde le répartit en 3,77 % maladie et 1,23 % décès, au lieu du barème fixé par l'article 17 des statuts du FPPN (3,5 % et 1,5 %).</a:t>
                      </a:r>
                    </a:p>
                  </a:txBody>
                  <a:tcPr marL="43200" marR="43200" marT="14400" marB="14400" anchor="ctr">
                    <a:solidFill>
                      <a:srgbClr val="F2F2F2"/>
                    </a:solidFill>
                  </a:tcPr>
                </a:tc>
                <a:tc>
                  <a:txBody>
                    <a:bodyPr/>
                    <a:lstStyle/>
                    <a:p>
                      <a:pPr marL="0" indent="0" lvl="0">
                        <a:buNone/>
                      </a:pPr>
                      <a:r>
                        <a:rPr sz="950" b="0">
                          <a:solidFill>
                            <a:srgbClr val="060606"/>
                          </a:solidFill>
                          <a:latin typeface="Helvetica"/>
                        </a:rPr>
                        <a:t>5,00 % = 3,77 % + 1,23 %</a:t>
                      </a:r>
                    </a:p>
                  </a:txBody>
                  <a:tcPr marL="43200" marR="43200" marT="14400" marB="14400" anchor="ctr">
                    <a:solidFill>
                      <a:srgbClr val="F2F2F2"/>
                    </a:solidFill>
                  </a:tcPr>
                </a:tc>
              </a:tr>
              <a:tr h="202389">
                <a:tc>
                  <a:txBody>
                    <a:bodyPr/>
                    <a:lstStyle/>
                    <a:p>
                      <a:pPr marL="0" indent="0" lvl="0">
                        <a:buNone/>
                      </a:pPr>
                      <a:r>
                        <a:rPr sz="950" b="1">
                          <a:solidFill>
                            <a:srgbClr val="060606"/>
                          </a:solidFill>
                          <a:latin typeface="Helvetica"/>
                        </a:rPr>
                        <a:t>Maladie</a:t>
                      </a:r>
                    </a:p>
                  </a:txBody>
                  <a:tcPr marL="43200" marR="43200" marT="14400" marB="14400" anchor="ctr">
                    <a:solidFill>
                      <a:srgbClr val="FFFFFF"/>
                    </a:solidFill>
                  </a:tcPr>
                </a:tc>
                <a:tc>
                  <a:txBody>
                    <a:bodyPr/>
                    <a:lstStyle/>
                    <a:p>
                      <a:pPr marL="0" indent="0" lvl="0">
                        <a:buNone/>
                      </a:pPr>
                      <a:r>
                        <a:rPr sz="950" b="0">
                          <a:solidFill>
                            <a:srgbClr val="060606"/>
                          </a:solidFill>
                          <a:latin typeface="Helvetica"/>
                        </a:rPr>
                        <a:t>Les prestations maladie comptabilisées augmentent bien plus vite que les cotisations maladie.</a:t>
                      </a:r>
                    </a:p>
                  </a:txBody>
                  <a:tcPr marL="43200" marR="43200" marT="14400" marB="14400" anchor="ctr">
                    <a:solidFill>
                      <a:srgbClr val="FFFFFF"/>
                    </a:solidFill>
                  </a:tcPr>
                </a:tc>
                <a:tc>
                  <a:txBody>
                    <a:bodyPr/>
                    <a:lstStyle/>
                    <a:p>
                      <a:pPr marL="0" indent="0" lvl="0">
                        <a:buNone/>
                      </a:pPr>
                      <a:r>
                        <a:rPr sz="950" b="0">
                          <a:solidFill>
                            <a:srgbClr val="060606"/>
                          </a:solidFill>
                          <a:latin typeface="Helvetica"/>
                        </a:rPr>
                        <a:t>S/C 6,00 % (2021), 73,53 % (2025)</a:t>
                      </a:r>
                    </a:p>
                  </a:txBody>
                  <a:tcPr marL="43200" marR="43200" marT="14400" marB="14400" anchor="ctr">
                    <a:solidFill>
                      <a:srgbClr val="FFFFFF"/>
                    </a:solidFill>
                  </a:tcPr>
                </a:tc>
              </a:tr>
              <a:tr h="347178">
                <a:tc>
                  <a:txBody>
                    <a:bodyPr/>
                    <a:lstStyle/>
                    <a:p>
                      <a:pPr marL="0" indent="0" lvl="0">
                        <a:buNone/>
                      </a:pPr>
                      <a:r>
                        <a:rPr sz="950" b="1">
                          <a:solidFill>
                            <a:srgbClr val="060606"/>
                          </a:solidFill>
                          <a:latin typeface="Helvetica"/>
                        </a:rPr>
                        <a:t>Provisions</a:t>
                      </a:r>
                    </a:p>
                  </a:txBody>
                  <a:tcPr marL="43200" marR="43200" marT="14400" marB="14400" anchor="ctr">
                    <a:solidFill>
                      <a:srgbClr val="F2F2F2"/>
                    </a:solidFill>
                  </a:tcPr>
                </a:tc>
                <a:tc>
                  <a:txBody>
                    <a:bodyPr/>
                    <a:lstStyle/>
                    <a:p>
                      <a:pPr marL="0" indent="0" lvl="0">
                        <a:buNone/>
                      </a:pPr>
                      <a:r>
                        <a:rPr sz="950" b="0">
                          <a:solidFill>
                            <a:srgbClr val="060606"/>
                          </a:solidFill>
                          <a:latin typeface="Helvetica"/>
                        </a:rPr>
                        <a:t>Les provisions pour prestations à payer gardent le même montant de 2020 à 2026, alors que les prestations ont fortement augmenté.</a:t>
                      </a:r>
                    </a:p>
                  </a:txBody>
                  <a:tcPr marL="43200" marR="43200" marT="14400" marB="14400" anchor="ctr">
                    <a:solidFill>
                      <a:srgbClr val="F2F2F2"/>
                    </a:solidFill>
                  </a:tcPr>
                </a:tc>
                <a:tc>
                  <a:txBody>
                    <a:bodyPr/>
                    <a:lstStyle/>
                    <a:p>
                      <a:pPr marL="0" indent="0" lvl="0">
                        <a:buNone/>
                      </a:pPr>
                      <a:r>
                        <a:rPr sz="950" b="0">
                          <a:solidFill>
                            <a:srgbClr val="060606"/>
                          </a:solidFill>
                          <a:latin typeface="Helvetica"/>
                        </a:rPr>
                        <a:t>4 829 298 290 FCFA</a:t>
                      </a:r>
                    </a:p>
                  </a:txBody>
                  <a:tcPr marL="43200" marR="43200" marT="14400" marB="14400" anchor="ctr">
                    <a:solidFill>
                      <a:srgbClr val="F2F2F2"/>
                    </a:solidFill>
                  </a:tcPr>
                </a:tc>
              </a:tr>
              <a:tr h="202389">
                <a:tc>
                  <a:txBody>
                    <a:bodyPr/>
                    <a:lstStyle/>
                    <a:p>
                      <a:pPr marL="0" indent="0" lvl="0">
                        <a:buNone/>
                      </a:pPr>
                      <a:r>
                        <a:rPr sz="950" b="1">
                          <a:solidFill>
                            <a:srgbClr val="060606"/>
                          </a:solidFill>
                          <a:latin typeface="Helvetica"/>
                        </a:rPr>
                        <a:t>Épargne</a:t>
                      </a:r>
                    </a:p>
                  </a:txBody>
                  <a:tcPr marL="43200" marR="43200" marT="14400" marB="14400" anchor="ctr">
                    <a:solidFill>
                      <a:srgbClr val="FFFFFF"/>
                    </a:solidFill>
                  </a:tcPr>
                </a:tc>
                <a:tc>
                  <a:txBody>
                    <a:bodyPr/>
                    <a:lstStyle/>
                    <a:p>
                      <a:pPr marL="0" indent="0" lvl="0">
                        <a:buNone/>
                      </a:pPr>
                      <a:r>
                        <a:rPr sz="950" b="0">
                          <a:solidFill>
                            <a:srgbClr val="060606"/>
                          </a:solidFill>
                          <a:latin typeface="Helvetica"/>
                        </a:rPr>
                        <a:t>L'épargne due aux mutualistes (PEP, EFC) dépasse largement les actifs qui lui sont réservés.</a:t>
                      </a:r>
                    </a:p>
                  </a:txBody>
                  <a:tcPr marL="43200" marR="43200" marT="14400" marB="14400" anchor="ctr">
                    <a:solidFill>
                      <a:srgbClr val="FFFFFF"/>
                    </a:solidFill>
                  </a:tcPr>
                </a:tc>
                <a:tc>
                  <a:txBody>
                    <a:bodyPr/>
                    <a:lstStyle/>
                    <a:p>
                      <a:pPr marL="0" indent="0" lvl="0">
                        <a:buNone/>
                      </a:pPr>
                      <a:r>
                        <a:rPr sz="950" b="0">
                          <a:solidFill>
                            <a:srgbClr val="060606"/>
                          </a:solidFill>
                          <a:latin typeface="Helvetica"/>
                        </a:rPr>
                        <a:t>15 743 516 391 FCFA</a:t>
                      </a:r>
                    </a:p>
                  </a:txBody>
                  <a:tcPr marL="43200" marR="43200" marT="14400" marB="14400" anchor="ctr">
                    <a:solidFill>
                      <a:srgbClr val="FFFFFF"/>
                    </a:solidFill>
                  </a:tcPr>
                </a:tc>
              </a:tr>
              <a:tr h="202389">
                <a:tc>
                  <a:txBody>
                    <a:bodyPr/>
                    <a:lstStyle/>
                    <a:p>
                      <a:pPr marL="0" indent="0" lvl="0">
                        <a:buNone/>
                      </a:pPr>
                      <a:r>
                        <a:rPr sz="950" b="1">
                          <a:solidFill>
                            <a:srgbClr val="060606"/>
                          </a:solidFill>
                          <a:latin typeface="Helvetica"/>
                        </a:rPr>
                        <a:t>Fonds propres</a:t>
                      </a:r>
                    </a:p>
                  </a:txBody>
                  <a:tcPr marL="43200" marR="43200" marT="14400" marB="14400" anchor="ctr">
                    <a:solidFill>
                      <a:srgbClr val="F2F2F2"/>
                    </a:solidFill>
                  </a:tcPr>
                </a:tc>
                <a:tc>
                  <a:txBody>
                    <a:bodyPr/>
                    <a:lstStyle/>
                    <a:p>
                      <a:pPr marL="0" indent="0" lvl="0">
                        <a:buNone/>
                      </a:pPr>
                      <a:r>
                        <a:rPr sz="950" b="0">
                          <a:solidFill>
                            <a:srgbClr val="060606"/>
                          </a:solidFill>
                          <a:latin typeface="Helvetica"/>
                        </a:rPr>
                        <a:t>Les fonds propres restent négatifs à chaque clôture, même si les excédents réduisent l'écart.</a:t>
                      </a:r>
                    </a:p>
                  </a:txBody>
                  <a:tcPr marL="43200" marR="43200" marT="14400" marB="14400" anchor="ctr">
                    <a:solidFill>
                      <a:srgbClr val="F2F2F2"/>
                    </a:solidFill>
                  </a:tcPr>
                </a:tc>
                <a:tc>
                  <a:txBody>
                    <a:bodyPr/>
                    <a:lstStyle/>
                    <a:p>
                      <a:pPr marL="0" indent="0" lvl="0">
                        <a:buNone/>
                      </a:pPr>
                      <a:r>
                        <a:rPr sz="950" b="0">
                          <a:solidFill>
                            <a:srgbClr val="060606"/>
                          </a:solidFill>
                          <a:latin typeface="Helvetica"/>
                        </a:rPr>
                        <a:t>-438 242 200 FCFA (2025)</a:t>
                      </a:r>
                    </a:p>
                  </a:txBody>
                  <a:tcPr marL="43200" marR="43200" marT="14400" marB="14400" anchor="ctr">
                    <a:solidFill>
                      <a:srgbClr val="F2F2F2"/>
                    </a:solidFill>
                  </a:tcPr>
                </a:tc>
              </a:tr>
              <a:tr h="347178">
                <a:tc>
                  <a:txBody>
                    <a:bodyPr/>
                    <a:lstStyle/>
                    <a:p>
                      <a:pPr marL="0" indent="0" lvl="0">
                        <a:buNone/>
                      </a:pPr>
                      <a:r>
                        <a:rPr sz="950" b="1">
                          <a:solidFill>
                            <a:srgbClr val="060606"/>
                          </a:solidFill>
                          <a:latin typeface="Helvetica"/>
                        </a:rPr>
                        <a:t>Conformité</a:t>
                      </a:r>
                    </a:p>
                  </a:txBody>
                  <a:tcPr marL="43200" marR="43200" marT="14400" marB="14400" anchor="ctr">
                    <a:solidFill>
                      <a:srgbClr val="FFFFFF"/>
                    </a:solidFill>
                  </a:tcPr>
                </a:tc>
                <a:tc>
                  <a:txBody>
                    <a:bodyPr/>
                    <a:lstStyle/>
                    <a:p>
                      <a:pPr marL="0" indent="0" lvl="0">
                        <a:buNone/>
                      </a:pPr>
                      <a:r>
                        <a:rPr sz="950" b="0">
                          <a:solidFill>
                            <a:srgbClr val="060606"/>
                          </a:solidFill>
                          <a:latin typeface="Helvetica"/>
                        </a:rPr>
                        <a:t>Les ratios de la Décision n° 05/2022 ne sont pas respectés pour la réserve obligatoire, les fonds propres, la liquidité et les frais de fonctionnement.</a:t>
                      </a:r>
                    </a:p>
                  </a:txBody>
                  <a:tcPr marL="43200" marR="43200" marT="14400" marB="14400" anchor="ctr">
                    <a:solidFill>
                      <a:srgbClr val="FFFFFF"/>
                    </a:solidFill>
                  </a:tcPr>
                </a:tc>
                <a:tc>
                  <a:txBody>
                    <a:bodyPr/>
                    <a:lstStyle/>
                    <a:p>
                      <a:pPr marL="0" indent="0" lvl="0">
                        <a:buNone/>
                      </a:pPr>
                      <a:r>
                        <a:rPr sz="950" b="0">
                          <a:solidFill>
                            <a:srgbClr val="060606"/>
                          </a:solidFill>
                          <a:latin typeface="Helvetica"/>
                        </a:rPr>
                        <a:t>14 non conformes, 7 conformes, 15 en attente</a:t>
                      </a:r>
                    </a:p>
                  </a:txBody>
                  <a:tcPr marL="43200" marR="43200" marT="14400" marB="14400" anchor="ctr">
                    <a:solidFill>
                      <a:srgbClr val="FFFFFF"/>
                    </a:solidFill>
                  </a:tcPr>
                </a:tc>
              </a:tr>
              <a:tr h="202389">
                <a:tc>
                  <a:txBody>
                    <a:bodyPr/>
                    <a:lstStyle/>
                    <a:p>
                      <a:pPr marL="0" indent="0" lvl="0">
                        <a:buNone/>
                      </a:pPr>
                      <a:r>
                        <a:rPr sz="950" b="1">
                          <a:solidFill>
                            <a:srgbClr val="060606"/>
                          </a:solidFill>
                          <a:latin typeface="Helvetica"/>
                        </a:rPr>
                        <a:t>Grenier</a:t>
                      </a:r>
                    </a:p>
                  </a:txBody>
                  <a:tcPr marL="43200" marR="43200" marT="14400" marB="14400" anchor="ctr">
                    <a:solidFill>
                      <a:srgbClr val="F2F2F2"/>
                    </a:solidFill>
                  </a:tcPr>
                </a:tc>
                <a:tc>
                  <a:txBody>
                    <a:bodyPr/>
                    <a:lstStyle/>
                    <a:p>
                      <a:pPr marL="0" indent="0" lvl="0">
                        <a:buNone/>
                      </a:pPr>
                      <a:r>
                        <a:rPr sz="950" b="0">
                          <a:solidFill>
                            <a:srgbClr val="060606"/>
                          </a:solidFill>
                          <a:latin typeface="Helvetica"/>
                        </a:rPr>
                        <a:t>Le portefeuille de prêts croît très vite, et le FPPN le finance en grande partie.</a:t>
                      </a:r>
                    </a:p>
                  </a:txBody>
                  <a:tcPr marL="43200" marR="43200" marT="14400" marB="14400" anchor="ctr">
                    <a:solidFill>
                      <a:srgbClr val="F2F2F2"/>
                    </a:solidFill>
                  </a:tcPr>
                </a:tc>
                <a:tc>
                  <a:txBody>
                    <a:bodyPr/>
                    <a:lstStyle/>
                    <a:p>
                      <a:pPr marL="0" indent="0" lvl="0">
                        <a:buNone/>
                      </a:pPr>
                      <a:r>
                        <a:rPr sz="950" b="0">
                          <a:solidFill>
                            <a:srgbClr val="060606"/>
                          </a:solidFill>
                          <a:latin typeface="Helvetica"/>
                        </a:rPr>
                        <a:t>1 044 302 107 FCFA d'encours</a:t>
                      </a:r>
                    </a:p>
                  </a:txBody>
                  <a:tcPr marL="43200" marR="43200" marT="14400" marB="14400" anchor="ctr">
                    <a:solidFill>
                      <a:srgbClr val="F2F2F2"/>
                    </a:solidFill>
                  </a:tcPr>
                </a:tc>
              </a:tr>
            </a:tbl>
          </a:graphicData>
        </a:graphic>
      </p:graphicFrame>
      <p:sp>
        <p:nvSpPr>
          <p:cNvPr id="33" name="TextBox 32"/>
          <p:cNvSpPr txBox="1"/>
          <p:nvPr/>
        </p:nvSpPr>
        <p:spPr>
          <a:xfrm>
            <a:off x="503999" y="4164658"/>
            <a:ext cx="11232000" cy="162000"/>
          </a:xfrm>
          <a:prstGeom prst="rect">
            <a:avLst/>
          </a:prstGeom>
          <a:noFill/>
        </p:spPr>
        <p:txBody>
          <a:bodyPr wrap="square" anchor="t" lIns="54000" rIns="54000"/>
          <a:lstStyle/>
          <a:p>
            <a:pPr algn="l"/>
            <a:r>
              <a:rPr sz="850" b="0">
                <a:solidFill>
                  <a:srgbClr val="53565A"/>
                </a:solidFill>
                <a:latin typeface="Helvetica"/>
              </a:rPr>
              <a:t>Valable pour : chiffres repris des parties 4 à 10, chacun dans le domaine indiqué sur sa diapositive de détail. Situation au 31/08/2026 (provisoire) sauf mention d'une autre date.</a:t>
            </a:r>
          </a:p>
        </p:txBody>
      </p:sp>
      <p:sp>
        <p:nvSpPr>
          <p:cNvPr id="34" name="TextBox 33"/>
          <p:cNvSpPr txBox="1"/>
          <p:nvPr/>
        </p:nvSpPr>
        <p:spPr>
          <a:xfrm>
            <a:off x="503999" y="4470658"/>
            <a:ext cx="11232000" cy="1397341"/>
          </a:xfrm>
          <a:prstGeom prst="rect">
            <a:avLst/>
          </a:prstGeom>
          <a:noFill/>
        </p:spPr>
        <p:txBody>
          <a:bodyPr wrap="square" lIns="54000" rIns="54000"/>
          <a:lstStyle/>
          <a:p>
            <a:pPr algn="just">
              <a:spcAft>
                <a:spcPts val="600"/>
              </a:spcAft>
            </a:pPr>
            <a:r>
              <a:rPr sz="1300" b="1">
                <a:solidFill>
                  <a:srgbClr val="060606"/>
                </a:solidFill>
                <a:latin typeface="Helvetica"/>
              </a:rPr>
              <a:t>Les fragilités sont surtout financières et documentaires, pas d'exploitation.</a:t>
            </a:r>
            <a:r>
              <a:rPr sz="1300" b="0">
                <a:solidFill>
                  <a:srgbClr val="060606"/>
                </a:solidFill>
                <a:latin typeface="Helvetica"/>
              </a:rPr>
              <a:t> Le FPPN encaisse plus qu'il ne dépense chaque année depuis 2020, sauf sur les huit premiers mois de 2026.</a:t>
            </a:r>
          </a:p>
          <a:p>
            <a:pPr algn="just">
              <a:spcAft>
                <a:spcPts val="600"/>
              </a:spcAft>
            </a:pPr>
            <a:r>
              <a:rPr sz="1300" b="0">
                <a:solidFill>
                  <a:srgbClr val="060606"/>
                </a:solidFill>
                <a:latin typeface="Helvetica"/>
              </a:rPr>
              <a:t>Les trois chantiers prioritaires sont la transmission des données manquantes, le recalcul des provisions et un plan de mise en conformité prudentielle à présenter à l'AIRMS.</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AIRMS : Agence ivoirienne de régulation de la mutualité sociale | PEP : Plan Épargne Plus | EFC : entraide fin de carrière | S/C : prestations / cotisations</a:t>
            </a:r>
          </a:p>
        </p:txBody>
      </p:sp>
    </p:spTree>
    <p:extLst>
      <p:ext uri="{BB962C8B-B14F-4D97-AF65-F5344CB8AC3E}">
        <p14:creationId xmlns:p14="http://schemas.microsoft.com/office/powerpoint/2010/main" val="3073170729"/>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Synthèse des constats (1/2)</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Cinq constats critiques portent sur les engagements, la liquidité et la conformité</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Chaque constat est démontré dans le corps du rapport à partir des fichiers et des textes cités en colonne « Origine et sources »</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analyses Adenka, parties 3 à 10 du rapport. Fichiers et textes cités dans chaque ligne</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7 : Synthèse des constats (1/2) : provisions, épargne, adossement, conformité, fonds propres</a:t>
            </a:r>
          </a:p>
        </p:txBody>
      </p:sp>
      <p:graphicFrame>
        <p:nvGraphicFramePr>
          <p:cNvPr id="32" name="Table 31"/>
          <p:cNvGraphicFramePr>
            <a:graphicFrameLocks noGrp="1"/>
          </p:cNvGraphicFramePr>
          <p:nvPr/>
        </p:nvGraphicFramePr>
        <p:xfrm>
          <a:off x="503999" y="1655999"/>
          <a:ext cx="11232000" cy="2662224"/>
        </p:xfrm>
        <a:graphic>
          <a:graphicData uri="http://schemas.openxmlformats.org/drawingml/2006/table">
            <a:tbl>
              <a:tblPr firstRow="0" bandRow="0">
                <a:tableStyleId>{5940675A-B579-460E-94D1-54222C63F5DA}</a:tableStyleId>
              </a:tblPr>
              <a:tblGrid>
                <a:gridCol w="1296000"/>
                <a:gridCol w="3816000"/>
                <a:gridCol w="2664000"/>
                <a:gridCol w="2520000"/>
                <a:gridCol w="936000"/>
              </a:tblGrid>
              <a:tr h="301455">
                <a:tc>
                  <a:txBody>
                    <a:bodyPr/>
                    <a:lstStyle/>
                    <a:p>
                      <a:pPr marL="0" indent="0" lvl="0">
                        <a:buNone/>
                      </a:pPr>
                      <a:r>
                        <a:rPr sz="800" b="1">
                          <a:solidFill>
                            <a:srgbClr val="FFFFFF"/>
                          </a:solidFill>
                          <a:latin typeface="Helvetica"/>
                        </a:rPr>
                        <a:t>Section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Constat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Impact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Origine et sources</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Niveau de criticité</a:t>
                      </a:r>
                    </a:p>
                  </a:txBody>
                  <a:tcPr marL="43200" marR="43200" marT="14400" marB="14400" anchor="ctr">
                    <a:solidFill>
                      <a:srgbClr val="060606"/>
                    </a:solidFill>
                  </a:tcPr>
                </a:tc>
              </a:tr>
              <a:tr h="667238">
                <a:tc>
                  <a:txBody>
                    <a:bodyPr/>
                    <a:lstStyle/>
                    <a:p>
                      <a:pPr marL="0" indent="0" lvl="0">
                        <a:buNone/>
                      </a:pPr>
                      <a:r>
                        <a:rPr sz="800" b="1">
                          <a:solidFill>
                            <a:srgbClr val="060606"/>
                          </a:solidFill>
                          <a:latin typeface="Helvetica"/>
                        </a:rPr>
                        <a:t>❑ Provisions</a:t>
                      </a:r>
                    </a:p>
                    <a:p>
                      <a:r>
                        <a:rPr sz="800" b="1">
                          <a:solidFill>
                            <a:srgbClr val="060606"/>
                          </a:solidFill>
                          <a:latin typeface="Helvetica"/>
                        </a:rPr>
                        <a:t>maladie et décès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 Maladie </a:t>
                      </a:r>
                      <a:r>
                        <a:rPr sz="800" b="1">
                          <a:solidFill>
                            <a:srgbClr val="060606"/>
                          </a:solidFill>
                          <a:latin typeface="Helvetica"/>
                        </a:rPr>
                        <a:t>2 867 602 878 FCFA</a:t>
                      </a:r>
                      <a:r>
                        <a:rPr sz="800" b="0">
                          <a:solidFill>
                            <a:srgbClr val="060606"/>
                          </a:solidFill>
                          <a:latin typeface="Helvetica"/>
                        </a:rPr>
                        <a:t> et obsèques </a:t>
                      </a:r>
                      <a:r>
                        <a:rPr sz="800" b="1">
                          <a:solidFill>
                            <a:srgbClr val="060606"/>
                          </a:solidFill>
                          <a:latin typeface="Helvetica"/>
                        </a:rPr>
                        <a:t>1 961 695 412 FCFA</a:t>
                      </a:r>
                      <a:r>
                        <a:rPr sz="800" b="0">
                          <a:solidFill>
                            <a:srgbClr val="060606"/>
                          </a:solidFill>
                          <a:latin typeface="Helvetica"/>
                        </a:rPr>
                        <a:t>, identiques de 2020 au 31/08/2026</a:t>
                      </a:r>
                    </a:p>
                    <a:p>
                      <a:r>
                        <a:rPr sz="800" b="0">
                          <a:solidFill>
                            <a:srgbClr val="060606"/>
                          </a:solidFill>
                          <a:latin typeface="Helvetica"/>
                        </a:rPr>
                        <a:t>• Besoin mesuré : </a:t>
                      </a:r>
                      <a:r>
                        <a:rPr sz="800" b="1">
                          <a:solidFill>
                            <a:srgbClr val="060606"/>
                          </a:solidFill>
                          <a:latin typeface="Helvetica"/>
                        </a:rPr>
                        <a:t>19 581 392 FCFA</a:t>
                      </a:r>
                      <a:r>
                        <a:rPr sz="800" b="0">
                          <a:solidFill>
                            <a:srgbClr val="060606"/>
                          </a:solidFill>
                          <a:latin typeface="Helvetica"/>
                        </a:rPr>
                        <a:t>, hors dettes déjà comptabilisées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Provisions non calculées : statuts, art. 89, et règlement d'exécution n° 004/2022, art. 10, non respectés. La provision obsèques double la dette du compte 41591000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Balances de 2020 au 31/08/2026 (comptes 19011000, 19012000, 15801000, 15802000). Journal SIN des grands livres des tiers 2023 à 2025. États de fin d'année des allocations décès 2021 à 2025</a:t>
                      </a:r>
                    </a:p>
                  </a:txBody>
                  <a:tcPr marL="43200" marR="43200" marT="14400" marB="14400" anchor="ctr">
                    <a:solidFill>
                      <a:srgbClr val="FFFFFF"/>
                    </a:solidFill>
                  </a:tcPr>
                </a:tc>
                <a:tc>
                  <a:txBody>
                    <a:bodyPr/>
                    <a:lstStyle/>
                    <a:p>
                      <a:pPr marL="0" indent="0" lvl="0">
                        <a:buNone/>
                      </a:pPr>
                      <a:r>
                        <a:rPr sz="800" b="1">
                          <a:solidFill>
                            <a:srgbClr val="FFFFFF"/>
                          </a:solidFill>
                          <a:latin typeface="Helvetica"/>
                        </a:rPr>
                        <a:t>Critique</a:t>
                      </a:r>
                    </a:p>
                  </a:txBody>
                  <a:tcPr marL="43200" marR="43200" marT="14400" marB="14400" anchor="ctr">
                    <a:solidFill>
                      <a:srgbClr val="C00000"/>
                    </a:solidFill>
                  </a:tcPr>
                </a:tc>
              </a:tr>
              <a:tr h="545310">
                <a:tc>
                  <a:txBody>
                    <a:bodyPr/>
                    <a:lstStyle/>
                    <a:p>
                      <a:pPr marL="0" indent="0" lvl="0">
                        <a:buNone/>
                      </a:pPr>
                      <a:r>
                        <a:rPr sz="800" b="1">
                          <a:solidFill>
                            <a:srgbClr val="060606"/>
                          </a:solidFill>
                          <a:latin typeface="Helvetica"/>
                        </a:rPr>
                        <a:t>❑ Épargne</a:t>
                      </a:r>
                    </a:p>
                    <a:p>
                      <a:r>
                        <a:rPr sz="800" b="1">
                          <a:solidFill>
                            <a:srgbClr val="060606"/>
                          </a:solidFill>
                          <a:latin typeface="Helvetica"/>
                        </a:rPr>
                        <a:t>PEP et EFC</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 Intérêts dus non comptabilisés : </a:t>
                      </a:r>
                      <a:r>
                        <a:rPr sz="800" b="1">
                          <a:solidFill>
                            <a:srgbClr val="060606"/>
                          </a:solidFill>
                          <a:latin typeface="Helvetica"/>
                        </a:rPr>
                        <a:t>3 278 913 238 FCFA</a:t>
                      </a:r>
                      <a:r>
                        <a:rPr sz="800" b="0">
                          <a:solidFill>
                            <a:srgbClr val="060606"/>
                          </a:solidFill>
                          <a:latin typeface="Helvetica"/>
                        </a:rPr>
                        <a:t> du 01/01/2020 au 31/08/2026</a:t>
                      </a:r>
                    </a:p>
                    <a:p>
                      <a:r>
                        <a:rPr sz="800" b="0">
                          <a:solidFill>
                            <a:srgbClr val="060606"/>
                          </a:solidFill>
                          <a:latin typeface="Helvetica"/>
                        </a:rPr>
                        <a:t>• Trois taux écrits (3,5 %, 5,5 %, 14 %), aucun arrêté par décision signée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La dette d'épargne inscrite au bilan est sous-évaluée. L'engagement envers chaque épargnant n'est pas démontrable sans comptes individuels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 MANUEL DE PRODUIT D'EPARGNE FPPN VF VF.docx », « CAHIER DE CHARGEEFC &amp; PEP 2021.pdf », « GRAND LIVRE FPPN 2024.xlsx » (comptes 41195100 et 41195200), balances 2020 à 2026</a:t>
                      </a:r>
                    </a:p>
                  </a:txBody>
                  <a:tcPr marL="43200" marR="43200" marT="14400" marB="14400" anchor="ctr">
                    <a:solidFill>
                      <a:srgbClr val="F2F2F2"/>
                    </a:solidFill>
                  </a:tcPr>
                </a:tc>
                <a:tc>
                  <a:txBody>
                    <a:bodyPr/>
                    <a:lstStyle/>
                    <a:p>
                      <a:pPr marL="0" indent="0" lvl="0">
                        <a:buNone/>
                      </a:pPr>
                      <a:r>
                        <a:rPr sz="800" b="1">
                          <a:solidFill>
                            <a:srgbClr val="FFFFFF"/>
                          </a:solidFill>
                          <a:latin typeface="Helvetica"/>
                        </a:rPr>
                        <a:t>Critique</a:t>
                      </a:r>
                    </a:p>
                  </a:txBody>
                  <a:tcPr marL="43200" marR="43200" marT="14400" marB="14400" anchor="ctr">
                    <a:solidFill>
                      <a:srgbClr val="C00000"/>
                    </a:solidFill>
                  </a:tcPr>
                </a:tc>
              </a:tr>
              <a:tr h="423383">
                <a:tc>
                  <a:txBody>
                    <a:bodyPr/>
                    <a:lstStyle/>
                    <a:p>
                      <a:pPr marL="0" indent="0" lvl="0">
                        <a:buNone/>
                      </a:pPr>
                      <a:r>
                        <a:rPr sz="800" b="1">
                          <a:solidFill>
                            <a:srgbClr val="060606"/>
                          </a:solidFill>
                          <a:latin typeface="Helvetica"/>
                        </a:rPr>
                        <a:t>❑ Adossement</a:t>
                      </a:r>
                    </a:p>
                    <a:p>
                      <a:r>
                        <a:rPr sz="800" b="1">
                          <a:solidFill>
                            <a:srgbClr val="060606"/>
                          </a:solidFill>
                          <a:latin typeface="Helvetica"/>
                        </a:rPr>
                        <a:t>actif-passif</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 L'actif à moins d'un an couvre </a:t>
                      </a:r>
                      <a:r>
                        <a:rPr sz="800" b="1">
                          <a:solidFill>
                            <a:srgbClr val="060606"/>
                          </a:solidFill>
                          <a:latin typeface="Helvetica"/>
                        </a:rPr>
                        <a:t>34,42 %</a:t>
                      </a:r>
                      <a:r>
                        <a:rPr sz="800" b="0">
                          <a:solidFill>
                            <a:srgbClr val="060606"/>
                          </a:solidFill>
                          <a:latin typeface="Helvetica"/>
                        </a:rPr>
                        <a:t> des paiements de l'année (scénario central)</a:t>
                      </a:r>
                    </a:p>
                    <a:p>
                      <a:r>
                        <a:rPr sz="800" b="0">
                          <a:solidFill>
                            <a:srgbClr val="060606"/>
                          </a:solidFill>
                          <a:latin typeface="Helvetica"/>
                        </a:rPr>
                        <a:t>• Manque cumulé de </a:t>
                      </a:r>
                      <a:r>
                        <a:rPr sz="800" b="1">
                          <a:solidFill>
                            <a:srgbClr val="060606"/>
                          </a:solidFill>
                          <a:latin typeface="Helvetica"/>
                        </a:rPr>
                        <a:t>12 596 052 822 FCFA</a:t>
                      </a:r>
                      <a:r>
                        <a:rPr sz="800" b="0">
                          <a:solidFill>
                            <a:srgbClr val="060606"/>
                          </a:solidFill>
                          <a:latin typeface="Helvetica"/>
                        </a:rPr>
                        <a:t> à cinq ans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Le FPPN ne peut pas payer les sorties d'épargne sans mobiliser des actifs longs (terrains, clinique, créances)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Balance provisoire au 31/08/2026. Débits des comptes d'épargne de 2021 à 2025 (sorties observées)</a:t>
                      </a:r>
                    </a:p>
                  </a:txBody>
                  <a:tcPr marL="43200" marR="43200" marT="14400" marB="14400" anchor="ctr">
                    <a:solidFill>
                      <a:srgbClr val="FFFFFF"/>
                    </a:solidFill>
                  </a:tcPr>
                </a:tc>
                <a:tc>
                  <a:txBody>
                    <a:bodyPr/>
                    <a:lstStyle/>
                    <a:p>
                      <a:pPr marL="0" indent="0" lvl="0">
                        <a:buNone/>
                      </a:pPr>
                      <a:r>
                        <a:rPr sz="800" b="1">
                          <a:solidFill>
                            <a:srgbClr val="FFFFFF"/>
                          </a:solidFill>
                          <a:latin typeface="Helvetica"/>
                        </a:rPr>
                        <a:t>Critique</a:t>
                      </a:r>
                    </a:p>
                  </a:txBody>
                  <a:tcPr marL="43200" marR="43200" marT="14400" marB="14400" anchor="ctr">
                    <a:solidFill>
                      <a:srgbClr val="C00000"/>
                    </a:solidFill>
                  </a:tcPr>
                </a:tc>
              </a:tr>
              <a:tr h="423383">
                <a:tc>
                  <a:txBody>
                    <a:bodyPr/>
                    <a:lstStyle/>
                    <a:p>
                      <a:pPr marL="0" indent="0" lvl="0">
                        <a:buNone/>
                      </a:pPr>
                      <a:r>
                        <a:rPr sz="800" b="1">
                          <a:solidFill>
                            <a:srgbClr val="060606"/>
                          </a:solidFill>
                          <a:latin typeface="Helvetica"/>
                        </a:rPr>
                        <a:t>❑ Conformité</a:t>
                      </a:r>
                    </a:p>
                    <a:p>
                      <a:r>
                        <a:rPr sz="800" b="1">
                          <a:solidFill>
                            <a:srgbClr val="060606"/>
                          </a:solidFill>
                          <a:latin typeface="Helvetica"/>
                        </a:rPr>
                        <a:t>prudentielle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 </a:t>
                      </a:r>
                      <a:r>
                        <a:rPr sz="800" b="1">
                          <a:solidFill>
                            <a:srgbClr val="060606"/>
                          </a:solidFill>
                          <a:latin typeface="Helvetica"/>
                        </a:rPr>
                        <a:t>14</a:t>
                      </a:r>
                      <a:r>
                        <a:rPr sz="800" b="0">
                          <a:solidFill>
                            <a:srgbClr val="060606"/>
                          </a:solidFill>
                          <a:latin typeface="Helvetica"/>
                        </a:rPr>
                        <a:t> indicateurs non conformes sur 36, dont la réserve obligatoire, les fonds propres, la liquidité et les frais</a:t>
                      </a:r>
                    </a:p>
                    <a:p>
                      <a:r>
                        <a:rPr sz="800" b="0">
                          <a:solidFill>
                            <a:srgbClr val="060606"/>
                          </a:solidFill>
                          <a:latin typeface="Helvetica"/>
                        </a:rPr>
                        <a:t>• Deux exercices de suite non conformes pour plusieurs ratios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Retrait d'agrément possible après deux exercices non conformes (règlement n° 07/2009, art. 84) et sanctions de l'arrêté n° 00115/MEPS/CAB</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 Balances 2022 à 2025. Arrêté n° 00115/MEPS/CAB du 12/12/2023</a:t>
                      </a:r>
                    </a:p>
                  </a:txBody>
                  <a:tcPr marL="43200" marR="43200" marT="14400" marB="14400" anchor="ctr">
                    <a:solidFill>
                      <a:srgbClr val="F2F2F2"/>
                    </a:solidFill>
                  </a:tcPr>
                </a:tc>
                <a:tc>
                  <a:txBody>
                    <a:bodyPr/>
                    <a:lstStyle/>
                    <a:p>
                      <a:pPr marL="0" indent="0" lvl="0">
                        <a:buNone/>
                      </a:pPr>
                      <a:r>
                        <a:rPr sz="800" b="1">
                          <a:solidFill>
                            <a:srgbClr val="FFFFFF"/>
                          </a:solidFill>
                          <a:latin typeface="Helvetica"/>
                        </a:rPr>
                        <a:t>Critique</a:t>
                      </a:r>
                    </a:p>
                  </a:txBody>
                  <a:tcPr marL="43200" marR="43200" marT="14400" marB="14400" anchor="ctr">
                    <a:solidFill>
                      <a:srgbClr val="C00000"/>
                    </a:solidFill>
                  </a:tcPr>
                </a:tc>
              </a:tr>
              <a:tr h="301455">
                <a:tc>
                  <a:txBody>
                    <a:bodyPr/>
                    <a:lstStyle/>
                    <a:p>
                      <a:pPr marL="0" indent="0" lvl="0">
                        <a:buNone/>
                      </a:pPr>
                      <a:r>
                        <a:rPr sz="800" b="1">
                          <a:solidFill>
                            <a:srgbClr val="060606"/>
                          </a:solidFill>
                          <a:latin typeface="Helvetica"/>
                        </a:rPr>
                        <a:t>❑ Fonds propres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 Fonds propres de </a:t>
                      </a:r>
                      <a:r>
                        <a:rPr sz="800" b="1">
                          <a:solidFill>
                            <a:srgbClr val="060606"/>
                          </a:solidFill>
                          <a:latin typeface="Helvetica"/>
                        </a:rPr>
                        <a:t>-438 242 200 FCFA</a:t>
                      </a:r>
                      <a:r>
                        <a:rPr sz="800" b="0">
                          <a:solidFill>
                            <a:srgbClr val="060606"/>
                          </a:solidFill>
                          <a:latin typeface="Helvetica"/>
                        </a:rPr>
                        <a:t> au 31/12/2025</a:t>
                      </a:r>
                    </a:p>
                    <a:p>
                      <a:r>
                        <a:rPr sz="800" b="0">
                          <a:solidFill>
                            <a:srgbClr val="060606"/>
                          </a:solidFill>
                          <a:latin typeface="Helvetica"/>
                        </a:rPr>
                        <a:t>• Pertes reportées supérieures à l'ensemble des réserves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Aucun coussin pour absorber un choc de prestations ou une perte sur actifs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Balances 2020 à 2025 (comptes 10 à 13)</a:t>
                      </a:r>
                    </a:p>
                  </a:txBody>
                  <a:tcPr marL="43200" marR="43200" marT="14400" marB="14400" anchor="ctr">
                    <a:solidFill>
                      <a:srgbClr val="FFFFFF"/>
                    </a:solidFill>
                  </a:tcPr>
                </a:tc>
                <a:tc>
                  <a:txBody>
                    <a:bodyPr/>
                    <a:lstStyle/>
                    <a:p>
                      <a:pPr marL="0" indent="0" lvl="0">
                        <a:buNone/>
                      </a:pPr>
                      <a:r>
                        <a:rPr sz="800" b="1">
                          <a:solidFill>
                            <a:srgbClr val="060606"/>
                          </a:solidFill>
                          <a:latin typeface="Helvetica"/>
                        </a:rPr>
                        <a:t>Élevé</a:t>
                      </a:r>
                    </a:p>
                  </a:txBody>
                  <a:tcPr marL="43200" marR="43200" marT="14400" marB="14400" anchor="ctr">
                    <a:solidFill>
                      <a:srgbClr val="EFAC62"/>
                    </a:solidFill>
                  </a:tcPr>
                </a:tc>
              </a:tr>
            </a:tbl>
          </a:graphicData>
        </a:graphic>
      </p:graphicFrame>
      <p:graphicFrame>
        <p:nvGraphicFramePr>
          <p:cNvPr id="33" name="Table 32"/>
          <p:cNvGraphicFramePr>
            <a:graphicFrameLocks noGrp="1"/>
          </p:cNvGraphicFramePr>
          <p:nvPr/>
        </p:nvGraphicFramePr>
        <p:xfrm>
          <a:off x="503999" y="4547781"/>
          <a:ext cx="11232000" cy="151200"/>
        </p:xfrm>
        <a:graphic>
          <a:graphicData uri="http://schemas.openxmlformats.org/drawingml/2006/table">
            <a:tbl>
              <a:tblPr firstRow="0" bandRow="0">
                <a:tableStyleId>{5C22544A-7EE6-4342-B048-85BDC9FD1C3A}</a:tableStyleId>
              </a:tblPr>
              <a:tblGrid>
                <a:gridCol w="792000"/>
                <a:gridCol w="936000"/>
                <a:gridCol w="4284000"/>
                <a:gridCol w="936000"/>
                <a:gridCol w="4284000"/>
              </a:tblGrid>
              <a:tr h="151200">
                <a:tc>
                  <a:txBody>
                    <a:bodyPr/>
                    <a:lstStyle/>
                    <a:p>
                      <a:r>
                        <a:rPr sz="700" b="1">
                          <a:solidFill>
                            <a:srgbClr val="060606"/>
                          </a:solidFill>
                          <a:latin typeface="Helvetica"/>
                        </a:rPr>
                        <a:t>Code couleur</a:t>
                      </a:r>
                    </a:p>
                  </a:txBody>
                  <a:tcPr marL="28800" marR="28800" marT="3600" marB="3600" anchor="ctr">
                    <a:solidFill>
                      <a:srgbClr val="FFFFFF"/>
                    </a:solidFill>
                  </a:tcPr>
                </a:tc>
                <a:tc>
                  <a:txBody>
                    <a:bodyPr/>
                    <a:lstStyle/>
                    <a:p>
                      <a:r>
                        <a:rPr sz="700" b="1">
                          <a:solidFill>
                            <a:srgbClr val="FFFFFF"/>
                          </a:solidFill>
                          <a:latin typeface="Helvetica"/>
                        </a:rPr>
                        <a:t>Critique</a:t>
                      </a:r>
                    </a:p>
                  </a:txBody>
                  <a:tcPr marL="28800" marR="28800" marT="3600" marB="3600" anchor="ctr">
                    <a:solidFill>
                      <a:srgbClr val="C00000"/>
                    </a:solidFill>
                  </a:tcPr>
                </a:tc>
                <a:tc>
                  <a:txBody>
                    <a:bodyPr/>
                    <a:lstStyle/>
                    <a:p>
                      <a:r>
                        <a:rPr sz="700" b="0">
                          <a:solidFill>
                            <a:srgbClr val="060606"/>
                          </a:solidFill>
                          <a:latin typeface="Helvetica"/>
                        </a:rPr>
                        <a:t>non-conformité réglementaire, impact stratégique majeur, risque élevé</a:t>
                      </a:r>
                    </a:p>
                  </a:txBody>
                  <a:tcPr marL="28800" marR="28800" marT="3600" marB="3600" anchor="ctr">
                    <a:solidFill>
                      <a:srgbClr val="FFFFFF"/>
                    </a:solidFill>
                  </a:tcPr>
                </a:tc>
                <a:tc>
                  <a:txBody>
                    <a:bodyPr/>
                    <a:lstStyle/>
                    <a:p>
                      <a:r>
                        <a:rPr sz="700" b="1">
                          <a:solidFill>
                            <a:srgbClr val="060606"/>
                          </a:solidFill>
                          <a:latin typeface="Helvetica"/>
                        </a:rPr>
                        <a:t>Élevé</a:t>
                      </a:r>
                    </a:p>
                  </a:txBody>
                  <a:tcPr marL="28800" marR="28800" marT="3600" marB="3600" anchor="ctr">
                    <a:solidFill>
                      <a:srgbClr val="EFAC62"/>
                    </a:solidFill>
                  </a:tcPr>
                </a:tc>
                <a:tc>
                  <a:txBody>
                    <a:bodyPr/>
                    <a:lstStyle/>
                    <a:p>
                      <a:r>
                        <a:rPr sz="700" b="0">
                          <a:solidFill>
                            <a:srgbClr val="060606"/>
                          </a:solidFill>
                          <a:latin typeface="Helvetica"/>
                        </a:rPr>
                        <a:t>impact opérationnel significatif, risque important</a:t>
                      </a:r>
                    </a:p>
                  </a:txBody>
                  <a:tcPr marL="28800" marR="28800" marT="3600" marB="3600" anchor="ctr">
                    <a:solidFill>
                      <a:srgbClr val="FFFFFF"/>
                    </a:solidFill>
                  </a:tcPr>
                </a:tc>
              </a:tr>
            </a:tbl>
          </a:graphicData>
        </a:graphic>
      </p:graphicFrame>
      <p:sp>
        <p:nvSpPr>
          <p:cNvPr id="34" name="TextBox 33"/>
          <p:cNvSpPr txBox="1"/>
          <p:nvPr/>
        </p:nvSpPr>
        <p:spPr>
          <a:xfrm>
            <a:off x="503999" y="4806981"/>
            <a:ext cx="11232000" cy="162000"/>
          </a:xfrm>
          <a:prstGeom prst="rect">
            <a:avLst/>
          </a:prstGeom>
          <a:noFill/>
        </p:spPr>
        <p:txBody>
          <a:bodyPr wrap="square" anchor="t" lIns="54000" rIns="54000"/>
          <a:lstStyle/>
          <a:p>
            <a:pPr algn="l"/>
            <a:r>
              <a:rPr sz="850" b="0">
                <a:solidFill>
                  <a:srgbClr val="53565A"/>
                </a:solidFill>
                <a:latin typeface="Helvetica"/>
              </a:rPr>
              <a:t>Valable pour : chiffres du corps du rapport, de 2020 au 31/08/2026. Criticité appréciée selon la grille ci-dessous.</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PEP : Plan Épargne Plus | EFC : entraide fin de carrière | S/C : prestations / cotisations | MEPS : ministère de l'Emploi et de la Protection sociale</a:t>
            </a:r>
          </a:p>
        </p:txBody>
      </p:sp>
    </p:spTree>
    <p:extLst>
      <p:ext uri="{BB962C8B-B14F-4D97-AF65-F5344CB8AC3E}">
        <p14:creationId xmlns:p14="http://schemas.microsoft.com/office/powerpoint/2010/main" val="1896011861"/>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Synthèse des constats (2/2)</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autres constats touchent la sinistralité, les placements, les données et la gouvernance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Chaque constat est démontré dans le corps du rapport à partir des fichiers et des textes cités en colonne « Origine et sources »</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analyses Adenka, parties 3 à 10 du rapport. Fichiers et textes cités dans chaque ligne</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8 : Synthèse des constats (2/2) : sinistralité, placements, données, gouvernance, Grenier, personnel</a:t>
            </a:r>
          </a:p>
        </p:txBody>
      </p:sp>
      <p:graphicFrame>
        <p:nvGraphicFramePr>
          <p:cNvPr id="32" name="Table 31"/>
          <p:cNvGraphicFramePr>
            <a:graphicFrameLocks noGrp="1"/>
          </p:cNvGraphicFramePr>
          <p:nvPr/>
        </p:nvGraphicFramePr>
        <p:xfrm>
          <a:off x="503999" y="1655999"/>
          <a:ext cx="11232000" cy="2963679"/>
        </p:xfrm>
        <a:graphic>
          <a:graphicData uri="http://schemas.openxmlformats.org/drawingml/2006/table">
            <a:tbl>
              <a:tblPr firstRow="0" bandRow="0">
                <a:tableStyleId>{5940675A-B579-460E-94D1-54222C63F5DA}</a:tableStyleId>
              </a:tblPr>
              <a:tblGrid>
                <a:gridCol w="1296000"/>
                <a:gridCol w="3816000"/>
                <a:gridCol w="2664000"/>
                <a:gridCol w="2520000"/>
                <a:gridCol w="936000"/>
              </a:tblGrid>
              <a:tr h="301455">
                <a:tc>
                  <a:txBody>
                    <a:bodyPr/>
                    <a:lstStyle/>
                    <a:p>
                      <a:pPr marL="0" indent="0" lvl="0">
                        <a:buNone/>
                      </a:pPr>
                      <a:r>
                        <a:rPr sz="800" b="1">
                          <a:solidFill>
                            <a:srgbClr val="FFFFFF"/>
                          </a:solidFill>
                          <a:latin typeface="Helvetica"/>
                        </a:rPr>
                        <a:t>Section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Constat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Impact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Origine et sources</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Niveau de criticité</a:t>
                      </a:r>
                    </a:p>
                  </a:txBody>
                  <a:tcPr marL="43200" marR="43200" marT="14400" marB="14400" anchor="ctr">
                    <a:solidFill>
                      <a:srgbClr val="060606"/>
                    </a:solidFill>
                  </a:tcPr>
                </a:tc>
              </a:tr>
              <a:tr h="301455">
                <a:tc>
                  <a:txBody>
                    <a:bodyPr/>
                    <a:lstStyle/>
                    <a:p>
                      <a:pPr marL="0" indent="0" lvl="0">
                        <a:buNone/>
                      </a:pPr>
                      <a:r>
                        <a:rPr sz="800" b="1">
                          <a:solidFill>
                            <a:srgbClr val="060606"/>
                          </a:solidFill>
                          <a:latin typeface="Helvetica"/>
                        </a:rPr>
                        <a:t>❑ Sinistralité</a:t>
                      </a:r>
                    </a:p>
                    <a:p>
                      <a:r>
                        <a:rPr sz="800" b="1">
                          <a:solidFill>
                            <a:srgbClr val="060606"/>
                          </a:solidFill>
                          <a:latin typeface="Helvetica"/>
                        </a:rPr>
                        <a:t>maladie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 S/C maladie : </a:t>
                      </a:r>
                      <a:r>
                        <a:rPr sz="800" b="1">
                          <a:solidFill>
                            <a:srgbClr val="060606"/>
                          </a:solidFill>
                          <a:latin typeface="Helvetica"/>
                        </a:rPr>
                        <a:t>73,53 %</a:t>
                      </a:r>
                      <a:r>
                        <a:rPr sz="800" b="0">
                          <a:solidFill>
                            <a:srgbClr val="060606"/>
                          </a:solidFill>
                          <a:latin typeface="Helvetica"/>
                        </a:rPr>
                        <a:t> en 2025 et </a:t>
                      </a:r>
                      <a:r>
                        <a:rPr sz="800" b="1">
                          <a:solidFill>
                            <a:srgbClr val="060606"/>
                          </a:solidFill>
                          <a:latin typeface="Helvetica"/>
                        </a:rPr>
                        <a:t>97,40 %</a:t>
                      </a:r>
                      <a:r>
                        <a:rPr sz="800" b="0">
                          <a:solidFill>
                            <a:srgbClr val="060606"/>
                          </a:solidFill>
                          <a:latin typeface="Helvetica"/>
                        </a:rPr>
                        <a:t> sur huit mois de 2026</a:t>
                      </a:r>
                    </a:p>
                    <a:p>
                      <a:r>
                        <a:rPr sz="800" b="0">
                          <a:solidFill>
                            <a:srgbClr val="060606"/>
                          </a:solidFill>
                          <a:latin typeface="Helvetica"/>
                        </a:rPr>
                        <a:t>• Résultat technique maladie 2025 : </a:t>
                      </a:r>
                      <a:r>
                        <a:rPr sz="800" b="1">
                          <a:solidFill>
                            <a:srgbClr val="060606"/>
                          </a:solidFill>
                          <a:latin typeface="Helvetica"/>
                        </a:rPr>
                        <a:t>-237 774 567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La garantie maladie est déficitaire, frais compris. Le décès, excédentaire, finance la maladie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Balances 2020 au 31/08/2026 (comptes 601 à 6024, 7010, 702, 612 à 68)</a:t>
                      </a:r>
                    </a:p>
                  </a:txBody>
                  <a:tcPr marL="43200" marR="43200" marT="14400" marB="14400" anchor="ctr">
                    <a:solidFill>
                      <a:srgbClr val="FFFFFF"/>
                    </a:solidFill>
                  </a:tcPr>
                </a:tc>
                <a:tc>
                  <a:txBody>
                    <a:bodyPr/>
                    <a:lstStyle/>
                    <a:p>
                      <a:pPr marL="0" indent="0" lvl="0">
                        <a:buNone/>
                      </a:pPr>
                      <a:r>
                        <a:rPr sz="800" b="1">
                          <a:solidFill>
                            <a:srgbClr val="060606"/>
                          </a:solidFill>
                          <a:latin typeface="Helvetica"/>
                        </a:rPr>
                        <a:t>Élevé</a:t>
                      </a:r>
                    </a:p>
                  </a:txBody>
                  <a:tcPr marL="43200" marR="43200" marT="14400" marB="14400" anchor="ctr">
                    <a:solidFill>
                      <a:srgbClr val="EFAC62"/>
                    </a:solidFill>
                  </a:tcPr>
                </a:tc>
              </a:tr>
              <a:tr h="545310">
                <a:tc>
                  <a:txBody>
                    <a:bodyPr/>
                    <a:lstStyle/>
                    <a:p>
                      <a:pPr marL="0" indent="0" lvl="0">
                        <a:buNone/>
                      </a:pPr>
                      <a:r>
                        <a:rPr sz="800" b="1">
                          <a:solidFill>
                            <a:srgbClr val="060606"/>
                          </a:solidFill>
                          <a:latin typeface="Helvetica"/>
                        </a:rPr>
                        <a:t>❑ Placements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 Encours moyen placé en 2025 : </a:t>
                      </a:r>
                      <a:r>
                        <a:rPr sz="800" b="1">
                          <a:solidFill>
                            <a:srgbClr val="060606"/>
                          </a:solidFill>
                          <a:latin typeface="Helvetica"/>
                        </a:rPr>
                        <a:t>763 752 135 FCFA</a:t>
                      </a:r>
                      <a:r>
                        <a:rPr sz="800" b="0">
                          <a:solidFill>
                            <a:srgbClr val="060606"/>
                          </a:solidFill>
                          <a:latin typeface="Helvetica"/>
                        </a:rPr>
                        <a:t>, soit </a:t>
                      </a:r>
                      <a:r>
                        <a:rPr sz="800" b="1">
                          <a:solidFill>
                            <a:srgbClr val="060606"/>
                          </a:solidFill>
                          <a:latin typeface="Helvetica"/>
                        </a:rPr>
                        <a:t>5,53 %</a:t>
                      </a:r>
                      <a:r>
                        <a:rPr sz="800" b="0">
                          <a:solidFill>
                            <a:srgbClr val="060606"/>
                          </a:solidFill>
                          <a:latin typeface="Helvetica"/>
                        </a:rPr>
                        <a:t> de l'épargne due</a:t>
                      </a:r>
                    </a:p>
                    <a:p>
                      <a:r>
                        <a:rPr sz="800" b="0">
                          <a:solidFill>
                            <a:srgbClr val="060606"/>
                          </a:solidFill>
                          <a:latin typeface="Helvetica"/>
                        </a:rPr>
                        <a:t>• Rendement moyen 2021 à 2025 : </a:t>
                      </a:r>
                      <a:r>
                        <a:rPr sz="800" b="1">
                          <a:solidFill>
                            <a:srgbClr val="060606"/>
                          </a:solidFill>
                          <a:latin typeface="Helvetica"/>
                        </a:rPr>
                        <a:t>4,90 %</a:t>
                      </a:r>
                      <a:r>
                        <a:rPr sz="800" b="0">
                          <a:solidFill>
                            <a:srgbClr val="060606"/>
                          </a:solidFill>
                          <a:latin typeface="Helvetica"/>
                        </a:rPr>
                        <a:t>, aucune politique de placement</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Les produits financiers ne couvrent pas les intérêts dus sur l'épargne. Aucune des conditions de l'article 17 du règlement d'exécution n° 004/2022 n'est démontrée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Grands livres des comptes 2021 au 31/08/2026 (comptes 5221, 5330, 77). </a:t>
                      </a:r>
                      <a:r>
                        <a:rPr sz="800" b="0">
                          <a:solidFill>
                            <a:srgbClr val="060606"/>
                          </a:solidFill>
                          <a:highlight>
                            <a:srgbClr val="FFFF00"/>
                          </a:highlight>
                          <a:latin typeface="Helvetica"/>
                        </a:rPr>
                        <a:t>Entretien du chef comptable du 19/10/2026</a:t>
                      </a:r>
                    </a:p>
                  </a:txBody>
                  <a:tcPr marL="43200" marR="43200" marT="14400" marB="14400" anchor="ctr">
                    <a:solidFill>
                      <a:srgbClr val="F2F2F2"/>
                    </a:solidFill>
                  </a:tcPr>
                </a:tc>
                <a:tc>
                  <a:txBody>
                    <a:bodyPr/>
                    <a:lstStyle/>
                    <a:p>
                      <a:pPr marL="0" indent="0" lvl="0">
                        <a:buNone/>
                      </a:pPr>
                      <a:r>
                        <a:rPr sz="800" b="1">
                          <a:solidFill>
                            <a:srgbClr val="060606"/>
                          </a:solidFill>
                          <a:latin typeface="Helvetica"/>
                        </a:rPr>
                        <a:t>Élevé</a:t>
                      </a:r>
                    </a:p>
                  </a:txBody>
                  <a:tcPr marL="43200" marR="43200" marT="14400" marB="14400" anchor="ctr">
                    <a:solidFill>
                      <a:srgbClr val="EFAC62"/>
                    </a:solidFill>
                  </a:tcPr>
                </a:tc>
              </a:tr>
              <a:tr h="423383">
                <a:tc>
                  <a:txBody>
                    <a:bodyPr/>
                    <a:lstStyle/>
                    <a:p>
                      <a:pPr marL="0" indent="0" lvl="0">
                        <a:buNone/>
                      </a:pPr>
                      <a:r>
                        <a:rPr sz="800" b="1">
                          <a:solidFill>
                            <a:srgbClr val="060606"/>
                          </a:solidFill>
                          <a:latin typeface="Helvetica"/>
                        </a:rPr>
                        <a:t>❑ Données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 Base des prestations datée et dates de naissance des mutualistes non reçues</a:t>
                      </a:r>
                    </a:p>
                    <a:p>
                      <a:r>
                        <a:rPr sz="800" b="0">
                          <a:solidFill>
                            <a:srgbClr val="060606"/>
                          </a:solidFill>
                          <a:latin typeface="Helvetica"/>
                        </a:rPr>
                        <a:t>• Décembre 2024 vide pour la maladie et le décès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Mortalité observée, provision santé des retraités et projection par âge non calculables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PBC du 23/10/2026, n° 4, 39 et 47</a:t>
                      </a:r>
                    </a:p>
                  </a:txBody>
                  <a:tcPr marL="43200" marR="43200" marT="14400" marB="14400" anchor="ctr">
                    <a:solidFill>
                      <a:srgbClr val="FFFFFF"/>
                    </a:solidFill>
                  </a:tcPr>
                </a:tc>
                <a:tc>
                  <a:txBody>
                    <a:bodyPr/>
                    <a:lstStyle/>
                    <a:p>
                      <a:pPr marL="0" indent="0" lvl="0">
                        <a:buNone/>
                      </a:pPr>
                      <a:r>
                        <a:rPr sz="800" b="1">
                          <a:solidFill>
                            <a:srgbClr val="060606"/>
                          </a:solidFill>
                          <a:latin typeface="Helvetica"/>
                        </a:rPr>
                        <a:t>Élevé</a:t>
                      </a:r>
                    </a:p>
                  </a:txBody>
                  <a:tcPr marL="43200" marR="43200" marT="14400" marB="14400" anchor="ctr">
                    <a:solidFill>
                      <a:srgbClr val="EFAC62"/>
                    </a:solidFill>
                  </a:tcPr>
                </a:tc>
              </a:tr>
              <a:tr h="423383">
                <a:tc>
                  <a:txBody>
                    <a:bodyPr/>
                    <a:lstStyle/>
                    <a:p>
                      <a:pPr marL="0" indent="0" lvl="0">
                        <a:buNone/>
                      </a:pPr>
                      <a:r>
                        <a:rPr sz="800" b="1">
                          <a:solidFill>
                            <a:srgbClr val="060606"/>
                          </a:solidFill>
                          <a:latin typeface="Helvetica"/>
                        </a:rPr>
                        <a:t>❑ Gouvernance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 </a:t>
                      </a:r>
                      <a:r>
                        <a:rPr sz="800" b="0">
                          <a:solidFill>
                            <a:srgbClr val="060606"/>
                          </a:solidFill>
                          <a:highlight>
                            <a:srgbClr val="FFFF00"/>
                          </a:highlight>
                          <a:latin typeface="Helvetica"/>
                        </a:rPr>
                        <a:t>Le directeur général décide seul des placements</a:t>
                      </a:r>
                    </a:p>
                    <a:p>
                      <a:r>
                        <a:rPr sz="800" b="0">
                          <a:solidFill>
                            <a:srgbClr val="060606"/>
                          </a:solidFill>
                          <a:latin typeface="Helvetica"/>
                        </a:rPr>
                        <a:t>• Projet de Cocody sans budget ni financement reçus. Désignation du directeur général reçue pour 2020 à 2023 seulement</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Les statuts (art. 85) exigent une délibération du conseil d'administration pour chaque placement</a:t>
                      </a:r>
                    </a:p>
                  </a:txBody>
                  <a:tcPr marL="43200" marR="43200" marT="14400" marB="14400" anchor="ctr">
                    <a:solidFill>
                      <a:srgbClr val="F2F2F2"/>
                    </a:solidFill>
                  </a:tcPr>
                </a:tc>
                <a:tc>
                  <a:txBody>
                    <a:bodyPr/>
                    <a:lstStyle/>
                    <a:p>
                      <a:pPr marL="0" indent="0" lvl="0">
                        <a:buNone/>
                      </a:pPr>
                      <a:r>
                        <a:rPr sz="800" b="0">
                          <a:solidFill>
                            <a:srgbClr val="060606"/>
                          </a:solidFill>
                          <a:highlight>
                            <a:srgbClr val="FFFF00"/>
                          </a:highlight>
                          <a:latin typeface="Helvetica"/>
                        </a:rPr>
                        <a:t>Entretien du chef comptable du 19/10/2026</a:t>
                      </a:r>
                      <a:r>
                        <a:rPr sz="800" b="0">
                          <a:solidFill>
                            <a:srgbClr val="060606"/>
                          </a:solidFill>
                          <a:latin typeface="Helvetica"/>
                        </a:rPr>
                        <a:t>. Dérogation d'urbanisme de janvier 2025. Attestation de désignation du 04/09/2020</a:t>
                      </a:r>
                    </a:p>
                  </a:txBody>
                  <a:tcPr marL="43200" marR="43200" marT="14400" marB="14400" anchor="ctr">
                    <a:solidFill>
                      <a:srgbClr val="F2F2F2"/>
                    </a:solidFill>
                  </a:tcPr>
                </a:tc>
                <a:tc>
                  <a:txBody>
                    <a:bodyPr/>
                    <a:lstStyle/>
                    <a:p>
                      <a:pPr marL="0" indent="0" lvl="0">
                        <a:buNone/>
                      </a:pPr>
                      <a:r>
                        <a:rPr sz="800" b="1">
                          <a:solidFill>
                            <a:srgbClr val="060606"/>
                          </a:solidFill>
                          <a:latin typeface="Helvetica"/>
                        </a:rPr>
                        <a:t>Élevé</a:t>
                      </a:r>
                    </a:p>
                  </a:txBody>
                  <a:tcPr marL="43200" marR="43200" marT="14400" marB="14400" anchor="ctr">
                    <a:solidFill>
                      <a:srgbClr val="EFAC62"/>
                    </a:solidFill>
                  </a:tcPr>
                </a:tc>
              </a:tr>
              <a:tr h="423383">
                <a:tc>
                  <a:txBody>
                    <a:bodyPr/>
                    <a:lstStyle/>
                    <a:p>
                      <a:pPr marL="0" indent="0" lvl="0">
                        <a:buNone/>
                      </a:pPr>
                      <a:r>
                        <a:rPr sz="800" b="1">
                          <a:solidFill>
                            <a:srgbClr val="060606"/>
                          </a:solidFill>
                          <a:latin typeface="Helvetica"/>
                        </a:rPr>
                        <a:t>❑ Prêts du Grenier</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 Encours de </a:t>
                      </a:r>
                      <a:r>
                        <a:rPr sz="800" b="1">
                          <a:solidFill>
                            <a:srgbClr val="060606"/>
                          </a:solidFill>
                          <a:latin typeface="Helvetica"/>
                        </a:rPr>
                        <a:t>1 044 302 107 FCFA</a:t>
                      </a:r>
                      <a:r>
                        <a:rPr sz="800" b="0">
                          <a:solidFill>
                            <a:srgbClr val="060606"/>
                          </a:solidFill>
                          <a:latin typeface="Helvetica"/>
                        </a:rPr>
                        <a:t> au 31/08/2026, aucune dépréciation passée</a:t>
                      </a:r>
                    </a:p>
                    <a:p>
                      <a:r>
                        <a:rPr sz="800" b="0">
                          <a:solidFill>
                            <a:srgbClr val="060606"/>
                          </a:solidFill>
                          <a:latin typeface="Helvetica"/>
                        </a:rPr>
                        <a:t>• Dépréciation selon la politique du Grenier : </a:t>
                      </a:r>
                      <a:r>
                        <a:rPr sz="800" b="1">
                          <a:solidFill>
                            <a:srgbClr val="060606"/>
                          </a:solidFill>
                          <a:latin typeface="Helvetica"/>
                        </a:rPr>
                        <a:t>14 016 392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Actif et fonds propres légèrement surévalués. L'épargne finance l'essentiel du crédit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Exports « BalanceAgeeDetaille … .xls » du logiciel de prêts. « POLITIK DE CREDIT DU GRENIER VFVF.doc »</a:t>
                      </a:r>
                    </a:p>
                  </a:txBody>
                  <a:tcPr marL="43200" marR="43200" marT="14400" marB="14400" anchor="ctr">
                    <a:solidFill>
                      <a:srgbClr val="FFFFFF"/>
                    </a:solidFill>
                  </a:tcPr>
                </a:tc>
                <a:tc>
                  <a:txBody>
                    <a:bodyPr/>
                    <a:lstStyle/>
                    <a:p>
                      <a:pPr marL="0" indent="0" lvl="0">
                        <a:buNone/>
                      </a:pPr>
                      <a:r>
                        <a:rPr sz="800" b="1">
                          <a:solidFill>
                            <a:srgbClr val="060606"/>
                          </a:solidFill>
                          <a:latin typeface="Helvetica"/>
                        </a:rPr>
                        <a:t>Moyen</a:t>
                      </a:r>
                    </a:p>
                  </a:txBody>
                  <a:tcPr marL="43200" marR="43200" marT="14400" marB="14400" anchor="ctr">
                    <a:solidFill>
                      <a:srgbClr val="FFD966"/>
                    </a:solidFill>
                  </a:tcPr>
                </a:tc>
              </a:tr>
              <a:tr h="545310">
                <a:tc>
                  <a:txBody>
                    <a:bodyPr/>
                    <a:lstStyle/>
                    <a:p>
                      <a:pPr marL="0" indent="0" lvl="0">
                        <a:buNone/>
                      </a:pPr>
                      <a:r>
                        <a:rPr sz="800" b="1">
                          <a:solidFill>
                            <a:srgbClr val="060606"/>
                          </a:solidFill>
                          <a:latin typeface="Helvetica"/>
                        </a:rPr>
                        <a:t>❑ Personnel</a:t>
                      </a:r>
                    </a:p>
                    <a:p>
                      <a:r>
                        <a:rPr sz="800" b="1">
                          <a:solidFill>
                            <a:srgbClr val="060606"/>
                          </a:solidFill>
                          <a:latin typeface="Helvetica"/>
                        </a:rPr>
                        <a:t>du FPPN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 Compte 196 : </a:t>
                      </a:r>
                      <a:r>
                        <a:rPr sz="800" b="1">
                          <a:solidFill>
                            <a:srgbClr val="060606"/>
                          </a:solidFill>
                          <a:latin typeface="Helvetica"/>
                        </a:rPr>
                        <a:t>43 666 678 FCFA</a:t>
                      </a:r>
                      <a:r>
                        <a:rPr sz="800" b="0">
                          <a:solidFill>
                            <a:srgbClr val="060606"/>
                          </a:solidFill>
                          <a:latin typeface="Helvetica"/>
                        </a:rPr>
                        <a:t>. Recalcul agent par agent : </a:t>
                      </a:r>
                      <a:r>
                        <a:rPr sz="800" b="1">
                          <a:solidFill>
                            <a:srgbClr val="060606"/>
                          </a:solidFill>
                          <a:latin typeface="Helvetica"/>
                        </a:rPr>
                        <a:t>24 446 566 FCFA</a:t>
                      </a:r>
                      <a:r>
                        <a:rPr sz="800" b="0">
                          <a:solidFill>
                            <a:srgbClr val="060606"/>
                          </a:solidFill>
                          <a:latin typeface="Helvetica"/>
                        </a:rPr>
                        <a:t>, </a:t>
                      </a:r>
                      <a:r>
                        <a:rPr sz="800" b="1">
                          <a:solidFill>
                            <a:srgbClr val="060606"/>
                          </a:solidFill>
                          <a:latin typeface="Helvetica"/>
                        </a:rPr>
                        <a:t>23 729 412 FCFA</a:t>
                      </a:r>
                      <a:r>
                        <a:rPr sz="800" b="0">
                          <a:solidFill>
                            <a:srgbClr val="060606"/>
                          </a:solidFill>
                          <a:latin typeface="Helvetica"/>
                        </a:rPr>
                        <a:t> avec le plafond conventionnel</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Provision suffisante. Méthode du FPPN non documentée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DISA 2021 à 2025 (CNPS). Décret n° 2017-210 du 30/03/2017. Convention collective du 19/07/1977, art. 40. Décret n° 2022-986 du 21/12/2022 (SMIG)</a:t>
                      </a:r>
                    </a:p>
                  </a:txBody>
                  <a:tcPr marL="43200" marR="43200" marT="14400" marB="14400" anchor="ctr">
                    <a:solidFill>
                      <a:srgbClr val="F2F2F2"/>
                    </a:solidFill>
                  </a:tcPr>
                </a:tc>
                <a:tc>
                  <a:txBody>
                    <a:bodyPr/>
                    <a:lstStyle/>
                    <a:p>
                      <a:pPr marL="0" indent="0" lvl="0">
                        <a:buNone/>
                      </a:pPr>
                      <a:r>
                        <a:rPr sz="800" b="1">
                          <a:solidFill>
                            <a:srgbClr val="060606"/>
                          </a:solidFill>
                          <a:latin typeface="Helvetica"/>
                        </a:rPr>
                        <a:t>Faible</a:t>
                      </a:r>
                    </a:p>
                  </a:txBody>
                  <a:tcPr marL="43200" marR="43200" marT="14400" marB="14400" anchor="ctr">
                    <a:solidFill>
                      <a:srgbClr val="70AD47"/>
                    </a:solidFill>
                  </a:tcPr>
                </a:tc>
              </a:tr>
            </a:tbl>
          </a:graphicData>
        </a:graphic>
      </p:graphicFrame>
      <p:graphicFrame>
        <p:nvGraphicFramePr>
          <p:cNvPr id="33" name="Table 32"/>
          <p:cNvGraphicFramePr>
            <a:graphicFrameLocks noGrp="1"/>
          </p:cNvGraphicFramePr>
          <p:nvPr/>
        </p:nvGraphicFramePr>
        <p:xfrm>
          <a:off x="503999" y="4870338"/>
          <a:ext cx="11232000" cy="151200"/>
        </p:xfrm>
        <a:graphic>
          <a:graphicData uri="http://schemas.openxmlformats.org/drawingml/2006/table">
            <a:tbl>
              <a:tblPr firstRow="0" bandRow="0">
                <a:tableStyleId>{5C22544A-7EE6-4342-B048-85BDC9FD1C3A}</a:tableStyleId>
              </a:tblPr>
              <a:tblGrid>
                <a:gridCol w="792000"/>
                <a:gridCol w="936000"/>
                <a:gridCol w="2544000"/>
                <a:gridCol w="936000"/>
                <a:gridCol w="2544000"/>
                <a:gridCol w="936000"/>
                <a:gridCol w="2544000"/>
              </a:tblGrid>
              <a:tr h="151200">
                <a:tc>
                  <a:txBody>
                    <a:bodyPr/>
                    <a:lstStyle/>
                    <a:p>
                      <a:r>
                        <a:rPr sz="700" b="1">
                          <a:solidFill>
                            <a:srgbClr val="060606"/>
                          </a:solidFill>
                          <a:latin typeface="Helvetica"/>
                        </a:rPr>
                        <a:t>Code couleur</a:t>
                      </a:r>
                    </a:p>
                  </a:txBody>
                  <a:tcPr marL="28800" marR="28800" marT="3600" marB="3600" anchor="ctr">
                    <a:solidFill>
                      <a:srgbClr val="FFFFFF"/>
                    </a:solidFill>
                  </a:tcPr>
                </a:tc>
                <a:tc>
                  <a:txBody>
                    <a:bodyPr/>
                    <a:lstStyle/>
                    <a:p>
                      <a:r>
                        <a:rPr sz="700" b="1">
                          <a:solidFill>
                            <a:srgbClr val="060606"/>
                          </a:solidFill>
                          <a:latin typeface="Helvetica"/>
                        </a:rPr>
                        <a:t>Élevé</a:t>
                      </a:r>
                    </a:p>
                  </a:txBody>
                  <a:tcPr marL="28800" marR="28800" marT="3600" marB="3600" anchor="ctr">
                    <a:solidFill>
                      <a:srgbClr val="EFAC62"/>
                    </a:solidFill>
                  </a:tcPr>
                </a:tc>
                <a:tc>
                  <a:txBody>
                    <a:bodyPr/>
                    <a:lstStyle/>
                    <a:p>
                      <a:r>
                        <a:rPr sz="700" b="0">
                          <a:solidFill>
                            <a:srgbClr val="060606"/>
                          </a:solidFill>
                          <a:latin typeface="Helvetica"/>
                        </a:rPr>
                        <a:t>impact opérationnel significatif, risque important</a:t>
                      </a:r>
                    </a:p>
                  </a:txBody>
                  <a:tcPr marL="28800" marR="28800" marT="3600" marB="3600" anchor="ctr">
                    <a:solidFill>
                      <a:srgbClr val="FFFFFF"/>
                    </a:solidFill>
                  </a:tcPr>
                </a:tc>
                <a:tc>
                  <a:txBody>
                    <a:bodyPr/>
                    <a:lstStyle/>
                    <a:p>
                      <a:r>
                        <a:rPr sz="700" b="1">
                          <a:solidFill>
                            <a:srgbClr val="060606"/>
                          </a:solidFill>
                          <a:latin typeface="Helvetica"/>
                        </a:rPr>
                        <a:t>Moyen</a:t>
                      </a:r>
                    </a:p>
                  </a:txBody>
                  <a:tcPr marL="28800" marR="28800" marT="3600" marB="3600" anchor="ctr">
                    <a:solidFill>
                      <a:srgbClr val="FFD966"/>
                    </a:solidFill>
                  </a:tcPr>
                </a:tc>
                <a:tc>
                  <a:txBody>
                    <a:bodyPr/>
                    <a:lstStyle/>
                    <a:p>
                      <a:r>
                        <a:rPr sz="700" b="0">
                          <a:solidFill>
                            <a:srgbClr val="060606"/>
                          </a:solidFill>
                          <a:latin typeface="Helvetica"/>
                        </a:rPr>
                        <a:t>amélioration souhaitable, impact ponctuel</a:t>
                      </a:r>
                    </a:p>
                  </a:txBody>
                  <a:tcPr marL="28800" marR="28800" marT="3600" marB="3600" anchor="ctr">
                    <a:solidFill>
                      <a:srgbClr val="FFFFFF"/>
                    </a:solidFill>
                  </a:tcPr>
                </a:tc>
                <a:tc>
                  <a:txBody>
                    <a:bodyPr/>
                    <a:lstStyle/>
                    <a:p>
                      <a:r>
                        <a:rPr sz="700" b="1">
                          <a:solidFill>
                            <a:srgbClr val="060606"/>
                          </a:solidFill>
                          <a:latin typeface="Helvetica"/>
                        </a:rPr>
                        <a:t>Faible</a:t>
                      </a:r>
                    </a:p>
                  </a:txBody>
                  <a:tcPr marL="28800" marR="28800" marT="3600" marB="3600" anchor="ctr">
                    <a:solidFill>
                      <a:srgbClr val="70AD47"/>
                    </a:solidFill>
                  </a:tcPr>
                </a:tc>
                <a:tc>
                  <a:txBody>
                    <a:bodyPr/>
                    <a:lstStyle/>
                    <a:p>
                      <a:r>
                        <a:rPr sz="700" b="0">
                          <a:solidFill>
                            <a:srgbClr val="060606"/>
                          </a:solidFill>
                          <a:latin typeface="Helvetica"/>
                        </a:rPr>
                        <a:t>opportunité d'optimisation ou de bonne pratique</a:t>
                      </a:r>
                    </a:p>
                  </a:txBody>
                  <a:tcPr marL="28800" marR="28800" marT="3600" marB="3600" anchor="ctr">
                    <a:solidFill>
                      <a:srgbClr val="FFFFFF"/>
                    </a:solidFill>
                  </a:tcPr>
                </a:tc>
              </a:tr>
            </a:tbl>
          </a:graphicData>
        </a:graphic>
      </p:graphicFrame>
      <p:sp>
        <p:nvSpPr>
          <p:cNvPr id="34" name="TextBox 33"/>
          <p:cNvSpPr txBox="1"/>
          <p:nvPr/>
        </p:nvSpPr>
        <p:spPr>
          <a:xfrm>
            <a:off x="503999" y="5129538"/>
            <a:ext cx="11232000" cy="162000"/>
          </a:xfrm>
          <a:prstGeom prst="rect">
            <a:avLst/>
          </a:prstGeom>
          <a:noFill/>
        </p:spPr>
        <p:txBody>
          <a:bodyPr wrap="square" anchor="t" lIns="54000" rIns="54000"/>
          <a:lstStyle/>
          <a:p>
            <a:pPr algn="l"/>
            <a:r>
              <a:rPr sz="850" b="0">
                <a:solidFill>
                  <a:srgbClr val="53565A"/>
                </a:solidFill>
                <a:latin typeface="Helvetica"/>
              </a:rPr>
              <a:t>Valable pour : chiffres du corps du rapport, de 2020 au 31/08/2026. Criticité appréciée selon la grille ci-dessous.</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Surligné en jaune : affirmation à confirmer par une pièce ou une réponse écrite du FPPN. Sigles : FPPN : Fonds de prévoyance de la Police nationale | CNPS : Caisse nationale de prévoyance sociale | S/C : prestations / cotisations | PBC : liste des documents demandés au client | SMIG : salaire minimum interprofessionnel garanti | DISA : déclaration individuelle des salaires annuels à la CNPS</a:t>
            </a:r>
          </a:p>
        </p:txBody>
      </p:sp>
    </p:spTree>
    <p:extLst>
      <p:ext uri="{BB962C8B-B14F-4D97-AF65-F5344CB8AC3E}">
        <p14:creationId xmlns:p14="http://schemas.microsoft.com/office/powerpoint/2010/main" val="2030337671"/>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7" name="Image 46"/>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43" name="ZoneTexte 42">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17" name="Freeform 6"/>
          <p:cNvSpPr>
            <a:spLocks/>
          </p:cNvSpPr>
          <p:nvPr/>
        </p:nvSpPr>
        <p:spPr bwMode="auto">
          <a:xfrm>
            <a:off x="3056825" y="1419474"/>
            <a:ext cx="502110" cy="654841"/>
          </a:xfrm>
          <a:custGeom>
            <a:avLst/>
            <a:gdLst>
              <a:gd name="T0" fmla="*/ 56 w 69"/>
              <a:gd name="T1" fmla="*/ 0 h 90"/>
              <a:gd name="T2" fmla="*/ 0 w 69"/>
              <a:gd name="T3" fmla="*/ 0 h 90"/>
              <a:gd name="T4" fmla="*/ 0 w 69"/>
              <a:gd name="T5" fmla="*/ 90 h 90"/>
              <a:gd name="T6" fmla="*/ 56 w 69"/>
              <a:gd name="T7" fmla="*/ 90 h 90"/>
              <a:gd name="T8" fmla="*/ 69 w 69"/>
              <a:gd name="T9" fmla="*/ 77 h 90"/>
              <a:gd name="T10" fmla="*/ 69 w 69"/>
              <a:gd name="T11" fmla="*/ 13 h 90"/>
              <a:gd name="T12" fmla="*/ 56 w 69"/>
              <a:gd name="T13" fmla="*/ 0 h 90"/>
            </a:gdLst>
            <a:ahLst/>
            <a:cxnLst>
              <a:cxn ang="0">
                <a:pos x="T0" y="T1"/>
              </a:cxn>
              <a:cxn ang="0">
                <a:pos x="T2" y="T3"/>
              </a:cxn>
              <a:cxn ang="0">
                <a:pos x="T4" y="T5"/>
              </a:cxn>
              <a:cxn ang="0">
                <a:pos x="T6" y="T7"/>
              </a:cxn>
              <a:cxn ang="0">
                <a:pos x="T8" y="T9"/>
              </a:cxn>
              <a:cxn ang="0">
                <a:pos x="T10" y="T11"/>
              </a:cxn>
              <a:cxn ang="0">
                <a:pos x="T12" y="T13"/>
              </a:cxn>
            </a:cxnLst>
            <a:rect l="0" t="0" r="r" b="b"/>
            <a:pathLst>
              <a:path w="69" h="90">
                <a:moveTo>
                  <a:pt x="56" y="0"/>
                </a:moveTo>
                <a:cubicBezTo>
                  <a:pt x="0" y="0"/>
                  <a:pt x="0" y="0"/>
                  <a:pt x="0" y="0"/>
                </a:cubicBezTo>
                <a:cubicBezTo>
                  <a:pt x="0" y="90"/>
                  <a:pt x="0" y="90"/>
                  <a:pt x="0" y="90"/>
                </a:cubicBezTo>
                <a:cubicBezTo>
                  <a:pt x="56" y="90"/>
                  <a:pt x="56" y="90"/>
                  <a:pt x="56" y="90"/>
                </a:cubicBezTo>
                <a:cubicBezTo>
                  <a:pt x="63" y="90"/>
                  <a:pt x="69" y="84"/>
                  <a:pt x="69" y="77"/>
                </a:cubicBezTo>
                <a:cubicBezTo>
                  <a:pt x="69" y="13"/>
                  <a:pt x="69" y="13"/>
                  <a:pt x="69" y="13"/>
                </a:cubicBezTo>
                <a:cubicBezTo>
                  <a:pt x="69" y="6"/>
                  <a:pt x="63" y="0"/>
                  <a:pt x="56" y="0"/>
                </a:cubicBezTo>
                <a:close/>
              </a:path>
            </a:pathLst>
          </a:custGeom>
          <a:noFill/>
          <a:ln>
            <a:solidFill>
              <a:srgbClr val="EFAC62"/>
            </a:solidFill>
          </a:ln>
        </p:spPr>
        <p:txBody>
          <a:bodyPr vert="horz" wrap="square" lIns="45720" tIns="22860" rIns="45720" bIns="22860" numCol="1" anchor="ctr" anchorCtr="0" compatLnSpc="1">
            <a:prstTxWarp prst="textNoShape">
              <a:avLst/>
            </a:prstTxWarp>
          </a:bodyPr>
          <a:lstStyle/>
          <a:p>
            <a:pPr algn="ctr"/>
            <a:r>
              <a:rPr lang="fr-CI" sz="3600" b="1" noProof="0">
                <a:solidFill>
                  <a:srgbClr val="060606"/>
                </a:solidFill>
                <a:latin typeface="Helvetica" panose="020B0604020202020204" pitchFamily="34" charset="0"/>
                <a:cs typeface="Helvetica" panose="020B0604020202020204" pitchFamily="34" charset="0"/>
              </a:rPr>
              <a:t>A</a:t>
            </a:r>
          </a:p>
        </p:txBody>
      </p:sp>
      <p:sp>
        <p:nvSpPr>
          <p:cNvPr id="18" name="Freeform 7"/>
          <p:cNvSpPr>
            <a:spLocks/>
          </p:cNvSpPr>
          <p:nvPr/>
        </p:nvSpPr>
        <p:spPr bwMode="auto">
          <a:xfrm>
            <a:off x="1361056" y="1419474"/>
            <a:ext cx="1652505" cy="654841"/>
          </a:xfrm>
          <a:custGeom>
            <a:avLst/>
            <a:gdLst>
              <a:gd name="T0" fmla="*/ 0 w 227"/>
              <a:gd name="T1" fmla="*/ 13 h 90"/>
              <a:gd name="T2" fmla="*/ 0 w 227"/>
              <a:gd name="T3" fmla="*/ 77 h 90"/>
              <a:gd name="T4" fmla="*/ 13 w 227"/>
              <a:gd name="T5" fmla="*/ 90 h 90"/>
              <a:gd name="T6" fmla="*/ 227 w 227"/>
              <a:gd name="T7" fmla="*/ 90 h 90"/>
              <a:gd name="T8" fmla="*/ 227 w 227"/>
              <a:gd name="T9" fmla="*/ 0 h 90"/>
              <a:gd name="T10" fmla="*/ 13 w 227"/>
              <a:gd name="T11" fmla="*/ 0 h 90"/>
              <a:gd name="T12" fmla="*/ 0 w 227"/>
              <a:gd name="T13" fmla="*/ 13 h 90"/>
            </a:gdLst>
            <a:ahLst/>
            <a:cxnLst>
              <a:cxn ang="0">
                <a:pos x="T0" y="T1"/>
              </a:cxn>
              <a:cxn ang="0">
                <a:pos x="T2" y="T3"/>
              </a:cxn>
              <a:cxn ang="0">
                <a:pos x="T4" y="T5"/>
              </a:cxn>
              <a:cxn ang="0">
                <a:pos x="T6" y="T7"/>
              </a:cxn>
              <a:cxn ang="0">
                <a:pos x="T8" y="T9"/>
              </a:cxn>
              <a:cxn ang="0">
                <a:pos x="T10" y="T11"/>
              </a:cxn>
              <a:cxn ang="0">
                <a:pos x="T12" y="T13"/>
              </a:cxn>
            </a:cxnLst>
            <a:rect l="0" t="0" r="r" b="b"/>
            <a:pathLst>
              <a:path w="227" h="90">
                <a:moveTo>
                  <a:pt x="0" y="13"/>
                </a:moveTo>
                <a:cubicBezTo>
                  <a:pt x="0" y="77"/>
                  <a:pt x="0" y="77"/>
                  <a:pt x="0" y="77"/>
                </a:cubicBezTo>
                <a:cubicBezTo>
                  <a:pt x="0" y="84"/>
                  <a:pt x="6" y="90"/>
                  <a:pt x="13" y="90"/>
                </a:cubicBezTo>
                <a:cubicBezTo>
                  <a:pt x="227" y="90"/>
                  <a:pt x="227" y="90"/>
                  <a:pt x="227" y="90"/>
                </a:cubicBezTo>
                <a:cubicBezTo>
                  <a:pt x="227" y="0"/>
                  <a:pt x="227" y="0"/>
                  <a:pt x="227" y="0"/>
                </a:cubicBezTo>
                <a:cubicBezTo>
                  <a:pt x="13" y="0"/>
                  <a:pt x="13" y="0"/>
                  <a:pt x="13" y="0"/>
                </a:cubicBezTo>
                <a:cubicBezTo>
                  <a:pt x="6" y="0"/>
                  <a:pt x="0" y="6"/>
                  <a:pt x="0" y="13"/>
                </a:cubicBezTo>
                <a:close/>
              </a:path>
            </a:pathLst>
          </a:custGeom>
          <a:noFill/>
          <a:ln>
            <a:solidFill>
              <a:srgbClr val="EFAC62"/>
            </a:solidFill>
          </a:ln>
        </p:spPr>
        <p:txBody>
          <a:bodyPr vert="horz" wrap="square" lIns="45720" tIns="22860" rIns="45720" bIns="22860" numCol="1" anchor="ctr" anchorCtr="0" compatLnSpc="1">
            <a:prstTxWarp prst="textNoShape">
              <a:avLst/>
            </a:prstTxWarp>
          </a:bodyPr>
          <a:lstStyle/>
          <a:p>
            <a:r>
              <a:rPr lang="fr-CI" sz="1300" noProof="0">
                <a:solidFill>
                  <a:srgbClr val="060606"/>
                </a:solidFill>
                <a:latin typeface="Helvetica" panose="020B0604020202020204" pitchFamily="34" charset="0"/>
                <a:ea typeface="Lato" pitchFamily="34" charset="0"/>
                <a:cs typeface="Helvetica" panose="020B0604020202020204" pitchFamily="34" charset="0"/>
              </a:rPr>
              <a:t>Sinistralité maladie 2025</a:t>
            </a:r>
          </a:p>
        </p:txBody>
      </p:sp>
      <p:sp>
        <p:nvSpPr>
          <p:cNvPr id="19" name="Freeform 8"/>
          <p:cNvSpPr>
            <a:spLocks/>
          </p:cNvSpPr>
          <p:nvPr/>
        </p:nvSpPr>
        <p:spPr bwMode="auto">
          <a:xfrm>
            <a:off x="1383343" y="2766552"/>
            <a:ext cx="494899" cy="654841"/>
          </a:xfrm>
          <a:custGeom>
            <a:avLst/>
            <a:gdLst>
              <a:gd name="T0" fmla="*/ 12 w 68"/>
              <a:gd name="T1" fmla="*/ 0 h 90"/>
              <a:gd name="T2" fmla="*/ 68 w 68"/>
              <a:gd name="T3" fmla="*/ 0 h 90"/>
              <a:gd name="T4" fmla="*/ 68 w 68"/>
              <a:gd name="T5" fmla="*/ 90 h 90"/>
              <a:gd name="T6" fmla="*/ 12 w 68"/>
              <a:gd name="T7" fmla="*/ 90 h 90"/>
              <a:gd name="T8" fmla="*/ 0 w 68"/>
              <a:gd name="T9" fmla="*/ 77 h 90"/>
              <a:gd name="T10" fmla="*/ 0 w 68"/>
              <a:gd name="T11" fmla="*/ 13 h 90"/>
              <a:gd name="T12" fmla="*/ 12 w 68"/>
              <a:gd name="T13" fmla="*/ 0 h 90"/>
            </a:gdLst>
            <a:ahLst/>
            <a:cxnLst>
              <a:cxn ang="0">
                <a:pos x="T0" y="T1"/>
              </a:cxn>
              <a:cxn ang="0">
                <a:pos x="T2" y="T3"/>
              </a:cxn>
              <a:cxn ang="0">
                <a:pos x="T4" y="T5"/>
              </a:cxn>
              <a:cxn ang="0">
                <a:pos x="T6" y="T7"/>
              </a:cxn>
              <a:cxn ang="0">
                <a:pos x="T8" y="T9"/>
              </a:cxn>
              <a:cxn ang="0">
                <a:pos x="T10" y="T11"/>
              </a:cxn>
              <a:cxn ang="0">
                <a:pos x="T12" y="T13"/>
              </a:cxn>
            </a:cxnLst>
            <a:rect l="0" t="0" r="r" b="b"/>
            <a:pathLst>
              <a:path w="68" h="90">
                <a:moveTo>
                  <a:pt x="12" y="0"/>
                </a:moveTo>
                <a:cubicBezTo>
                  <a:pt x="68" y="0"/>
                  <a:pt x="68" y="0"/>
                  <a:pt x="68" y="0"/>
                </a:cubicBezTo>
                <a:cubicBezTo>
                  <a:pt x="68" y="90"/>
                  <a:pt x="68" y="90"/>
                  <a:pt x="68" y="90"/>
                </a:cubicBezTo>
                <a:cubicBezTo>
                  <a:pt x="12" y="90"/>
                  <a:pt x="12" y="90"/>
                  <a:pt x="12" y="90"/>
                </a:cubicBezTo>
                <a:cubicBezTo>
                  <a:pt x="5" y="90"/>
                  <a:pt x="0" y="84"/>
                  <a:pt x="0" y="77"/>
                </a:cubicBezTo>
                <a:cubicBezTo>
                  <a:pt x="0" y="13"/>
                  <a:pt x="0" y="13"/>
                  <a:pt x="0" y="13"/>
                </a:cubicBezTo>
                <a:cubicBezTo>
                  <a:pt x="0" y="6"/>
                  <a:pt x="5" y="0"/>
                  <a:pt x="12" y="0"/>
                </a:cubicBezTo>
                <a:close/>
              </a:path>
            </a:pathLst>
          </a:custGeom>
          <a:noFill/>
          <a:ln>
            <a:solidFill>
              <a:srgbClr val="EFAC62"/>
            </a:solidFill>
          </a:ln>
        </p:spPr>
        <p:txBody>
          <a:bodyPr vert="horz" wrap="square" lIns="45720" tIns="22860" rIns="45720" bIns="22860" numCol="1" anchor="ctr" anchorCtr="0" compatLnSpc="1">
            <a:prstTxWarp prst="textNoShape">
              <a:avLst/>
            </a:prstTxWarp>
          </a:bodyPr>
          <a:lstStyle/>
          <a:p>
            <a:pPr algn="ctr"/>
            <a:r>
              <a:rPr lang="fr-CI" sz="3600" b="1" noProof="0">
                <a:solidFill>
                  <a:srgbClr val="060606"/>
                </a:solidFill>
                <a:latin typeface="Helvetica" panose="020B0604020202020204" pitchFamily="34" charset="0"/>
                <a:cs typeface="Helvetica" panose="020B0604020202020204" pitchFamily="34" charset="0"/>
              </a:rPr>
              <a:t>B</a:t>
            </a:r>
          </a:p>
        </p:txBody>
      </p:sp>
      <p:sp>
        <p:nvSpPr>
          <p:cNvPr id="28" name="Freeform 9"/>
          <p:cNvSpPr>
            <a:spLocks/>
          </p:cNvSpPr>
          <p:nvPr/>
        </p:nvSpPr>
        <p:spPr bwMode="auto">
          <a:xfrm>
            <a:off x="1928716" y="2766552"/>
            <a:ext cx="1645295" cy="654841"/>
          </a:xfrm>
          <a:custGeom>
            <a:avLst/>
            <a:gdLst>
              <a:gd name="T0" fmla="*/ 226 w 226"/>
              <a:gd name="T1" fmla="*/ 13 h 90"/>
              <a:gd name="T2" fmla="*/ 226 w 226"/>
              <a:gd name="T3" fmla="*/ 77 h 90"/>
              <a:gd name="T4" fmla="*/ 213 w 226"/>
              <a:gd name="T5" fmla="*/ 90 h 90"/>
              <a:gd name="T6" fmla="*/ 0 w 226"/>
              <a:gd name="T7" fmla="*/ 90 h 90"/>
              <a:gd name="T8" fmla="*/ 0 w 226"/>
              <a:gd name="T9" fmla="*/ 0 h 90"/>
              <a:gd name="T10" fmla="*/ 213 w 226"/>
              <a:gd name="T11" fmla="*/ 0 h 90"/>
              <a:gd name="T12" fmla="*/ 226 w 226"/>
              <a:gd name="T13" fmla="*/ 13 h 90"/>
            </a:gdLst>
            <a:ahLst/>
            <a:cxnLst>
              <a:cxn ang="0">
                <a:pos x="T0" y="T1"/>
              </a:cxn>
              <a:cxn ang="0">
                <a:pos x="T2" y="T3"/>
              </a:cxn>
              <a:cxn ang="0">
                <a:pos x="T4" y="T5"/>
              </a:cxn>
              <a:cxn ang="0">
                <a:pos x="T6" y="T7"/>
              </a:cxn>
              <a:cxn ang="0">
                <a:pos x="T8" y="T9"/>
              </a:cxn>
              <a:cxn ang="0">
                <a:pos x="T10" y="T11"/>
              </a:cxn>
              <a:cxn ang="0">
                <a:pos x="T12" y="T13"/>
              </a:cxn>
            </a:cxnLst>
            <a:rect l="0" t="0" r="r" b="b"/>
            <a:pathLst>
              <a:path w="226" h="90">
                <a:moveTo>
                  <a:pt x="226" y="13"/>
                </a:moveTo>
                <a:cubicBezTo>
                  <a:pt x="226" y="77"/>
                  <a:pt x="226" y="77"/>
                  <a:pt x="226" y="77"/>
                </a:cubicBezTo>
                <a:cubicBezTo>
                  <a:pt x="226" y="84"/>
                  <a:pt x="220" y="90"/>
                  <a:pt x="213" y="90"/>
                </a:cubicBezTo>
                <a:cubicBezTo>
                  <a:pt x="0" y="90"/>
                  <a:pt x="0" y="90"/>
                  <a:pt x="0" y="90"/>
                </a:cubicBezTo>
                <a:cubicBezTo>
                  <a:pt x="0" y="0"/>
                  <a:pt x="0" y="0"/>
                  <a:pt x="0" y="0"/>
                </a:cubicBezTo>
                <a:cubicBezTo>
                  <a:pt x="213" y="0"/>
                  <a:pt x="213" y="0"/>
                  <a:pt x="213" y="0"/>
                </a:cubicBezTo>
                <a:cubicBezTo>
                  <a:pt x="220" y="0"/>
                  <a:pt x="226" y="6"/>
                  <a:pt x="226" y="13"/>
                </a:cubicBezTo>
                <a:close/>
              </a:path>
            </a:pathLst>
          </a:custGeom>
          <a:noFill/>
          <a:ln>
            <a:solidFill>
              <a:srgbClr val="EFAC62"/>
            </a:solidFill>
          </a:ln>
        </p:spPr>
        <p:txBody>
          <a:bodyPr vert="horz" wrap="square" lIns="45720" tIns="22860" rIns="45720" bIns="22860" numCol="1" anchor="ctr" anchorCtr="0" compatLnSpc="1">
            <a:prstTxWarp prst="textNoShape">
              <a:avLst/>
            </a:prstTxWarp>
          </a:bodyPr>
          <a:lstStyle/>
          <a:p>
            <a:r>
              <a:rPr lang="fr-CI" sz="1300" noProof="0">
                <a:solidFill>
                  <a:srgbClr val="060606"/>
                </a:solidFill>
                <a:latin typeface="Helvetica" panose="020B0604020202020204" pitchFamily="34" charset="0"/>
                <a:ea typeface="Lato" pitchFamily="34" charset="0"/>
                <a:cs typeface="Helvetica" panose="020B0604020202020204" pitchFamily="34" charset="0"/>
              </a:rPr>
              <a:t>Couverture de l'épargne</a:t>
            </a:r>
          </a:p>
        </p:txBody>
      </p:sp>
      <p:sp>
        <p:nvSpPr>
          <p:cNvPr id="30" name="Freeform 10"/>
          <p:cNvSpPr>
            <a:spLocks/>
          </p:cNvSpPr>
          <p:nvPr/>
        </p:nvSpPr>
        <p:spPr bwMode="auto">
          <a:xfrm>
            <a:off x="3093533" y="3988769"/>
            <a:ext cx="494899" cy="654841"/>
          </a:xfrm>
          <a:custGeom>
            <a:avLst/>
            <a:gdLst>
              <a:gd name="T0" fmla="*/ 55 w 68"/>
              <a:gd name="T1" fmla="*/ 0 h 90"/>
              <a:gd name="T2" fmla="*/ 0 w 68"/>
              <a:gd name="T3" fmla="*/ 0 h 90"/>
              <a:gd name="T4" fmla="*/ 0 w 68"/>
              <a:gd name="T5" fmla="*/ 90 h 90"/>
              <a:gd name="T6" fmla="*/ 55 w 68"/>
              <a:gd name="T7" fmla="*/ 90 h 90"/>
              <a:gd name="T8" fmla="*/ 68 w 68"/>
              <a:gd name="T9" fmla="*/ 77 h 90"/>
              <a:gd name="T10" fmla="*/ 68 w 68"/>
              <a:gd name="T11" fmla="*/ 13 h 90"/>
              <a:gd name="T12" fmla="*/ 55 w 68"/>
              <a:gd name="T13" fmla="*/ 0 h 90"/>
            </a:gdLst>
            <a:ahLst/>
            <a:cxnLst>
              <a:cxn ang="0">
                <a:pos x="T0" y="T1"/>
              </a:cxn>
              <a:cxn ang="0">
                <a:pos x="T2" y="T3"/>
              </a:cxn>
              <a:cxn ang="0">
                <a:pos x="T4" y="T5"/>
              </a:cxn>
              <a:cxn ang="0">
                <a:pos x="T6" y="T7"/>
              </a:cxn>
              <a:cxn ang="0">
                <a:pos x="T8" y="T9"/>
              </a:cxn>
              <a:cxn ang="0">
                <a:pos x="T10" y="T11"/>
              </a:cxn>
              <a:cxn ang="0">
                <a:pos x="T12" y="T13"/>
              </a:cxn>
            </a:cxnLst>
            <a:rect l="0" t="0" r="r" b="b"/>
            <a:pathLst>
              <a:path w="68" h="90">
                <a:moveTo>
                  <a:pt x="55" y="0"/>
                </a:moveTo>
                <a:cubicBezTo>
                  <a:pt x="0" y="0"/>
                  <a:pt x="0" y="0"/>
                  <a:pt x="0" y="0"/>
                </a:cubicBezTo>
                <a:cubicBezTo>
                  <a:pt x="0" y="90"/>
                  <a:pt x="0" y="90"/>
                  <a:pt x="0" y="90"/>
                </a:cubicBezTo>
                <a:cubicBezTo>
                  <a:pt x="55" y="90"/>
                  <a:pt x="55" y="90"/>
                  <a:pt x="55" y="90"/>
                </a:cubicBezTo>
                <a:cubicBezTo>
                  <a:pt x="63" y="90"/>
                  <a:pt x="68" y="84"/>
                  <a:pt x="68" y="77"/>
                </a:cubicBezTo>
                <a:cubicBezTo>
                  <a:pt x="68" y="13"/>
                  <a:pt x="68" y="13"/>
                  <a:pt x="68" y="13"/>
                </a:cubicBezTo>
                <a:cubicBezTo>
                  <a:pt x="68" y="5"/>
                  <a:pt x="63" y="0"/>
                  <a:pt x="55" y="0"/>
                </a:cubicBezTo>
                <a:close/>
              </a:path>
            </a:pathLst>
          </a:custGeom>
          <a:noFill/>
          <a:ln>
            <a:solidFill>
              <a:srgbClr val="EFAC62"/>
            </a:solidFill>
          </a:ln>
        </p:spPr>
        <p:txBody>
          <a:bodyPr vert="horz" wrap="square" lIns="45720" tIns="22860" rIns="45720" bIns="22860" numCol="1" anchor="ctr" anchorCtr="0" compatLnSpc="1">
            <a:prstTxWarp prst="textNoShape">
              <a:avLst/>
            </a:prstTxWarp>
          </a:bodyPr>
          <a:lstStyle/>
          <a:p>
            <a:pPr algn="ctr"/>
            <a:r>
              <a:rPr lang="fr-CI" sz="3600" b="1" noProof="0">
                <a:solidFill>
                  <a:srgbClr val="060606"/>
                </a:solidFill>
                <a:latin typeface="Helvetica" panose="020B0604020202020204" pitchFamily="34" charset="0"/>
                <a:cs typeface="Helvetica" panose="020B0604020202020204" pitchFamily="34" charset="0"/>
              </a:rPr>
              <a:t>C</a:t>
            </a:r>
          </a:p>
        </p:txBody>
      </p:sp>
      <p:sp>
        <p:nvSpPr>
          <p:cNvPr id="31" name="Freeform 11"/>
          <p:cNvSpPr>
            <a:spLocks/>
          </p:cNvSpPr>
          <p:nvPr/>
        </p:nvSpPr>
        <p:spPr bwMode="auto">
          <a:xfrm>
            <a:off x="1397764" y="3988769"/>
            <a:ext cx="1644639" cy="654841"/>
          </a:xfrm>
          <a:custGeom>
            <a:avLst/>
            <a:gdLst>
              <a:gd name="T0" fmla="*/ 0 w 226"/>
              <a:gd name="T1" fmla="*/ 13 h 90"/>
              <a:gd name="T2" fmla="*/ 0 w 226"/>
              <a:gd name="T3" fmla="*/ 77 h 90"/>
              <a:gd name="T4" fmla="*/ 13 w 226"/>
              <a:gd name="T5" fmla="*/ 90 h 90"/>
              <a:gd name="T6" fmla="*/ 226 w 226"/>
              <a:gd name="T7" fmla="*/ 90 h 90"/>
              <a:gd name="T8" fmla="*/ 226 w 226"/>
              <a:gd name="T9" fmla="*/ 0 h 90"/>
              <a:gd name="T10" fmla="*/ 13 w 226"/>
              <a:gd name="T11" fmla="*/ 0 h 90"/>
              <a:gd name="T12" fmla="*/ 0 w 226"/>
              <a:gd name="T13" fmla="*/ 13 h 90"/>
            </a:gdLst>
            <a:ahLst/>
            <a:cxnLst>
              <a:cxn ang="0">
                <a:pos x="T0" y="T1"/>
              </a:cxn>
              <a:cxn ang="0">
                <a:pos x="T2" y="T3"/>
              </a:cxn>
              <a:cxn ang="0">
                <a:pos x="T4" y="T5"/>
              </a:cxn>
              <a:cxn ang="0">
                <a:pos x="T6" y="T7"/>
              </a:cxn>
              <a:cxn ang="0">
                <a:pos x="T8" y="T9"/>
              </a:cxn>
              <a:cxn ang="0">
                <a:pos x="T10" y="T11"/>
              </a:cxn>
              <a:cxn ang="0">
                <a:pos x="T12" y="T13"/>
              </a:cxn>
            </a:cxnLst>
            <a:rect l="0" t="0" r="r" b="b"/>
            <a:pathLst>
              <a:path w="226" h="90">
                <a:moveTo>
                  <a:pt x="0" y="13"/>
                </a:moveTo>
                <a:cubicBezTo>
                  <a:pt x="0" y="77"/>
                  <a:pt x="0" y="77"/>
                  <a:pt x="0" y="77"/>
                </a:cubicBezTo>
                <a:cubicBezTo>
                  <a:pt x="0" y="84"/>
                  <a:pt x="5" y="90"/>
                  <a:pt x="13" y="90"/>
                </a:cubicBezTo>
                <a:cubicBezTo>
                  <a:pt x="226" y="90"/>
                  <a:pt x="226" y="90"/>
                  <a:pt x="226" y="90"/>
                </a:cubicBezTo>
                <a:cubicBezTo>
                  <a:pt x="226" y="0"/>
                  <a:pt x="226" y="0"/>
                  <a:pt x="226" y="0"/>
                </a:cubicBezTo>
                <a:cubicBezTo>
                  <a:pt x="13" y="0"/>
                  <a:pt x="13" y="0"/>
                  <a:pt x="13" y="0"/>
                </a:cubicBezTo>
                <a:cubicBezTo>
                  <a:pt x="5" y="0"/>
                  <a:pt x="0" y="5"/>
                  <a:pt x="0" y="13"/>
                </a:cubicBezTo>
                <a:close/>
              </a:path>
            </a:pathLst>
          </a:custGeom>
          <a:noFill/>
          <a:ln>
            <a:solidFill>
              <a:srgbClr val="EFAC62"/>
            </a:solidFill>
          </a:ln>
        </p:spPr>
        <p:txBody>
          <a:bodyPr vert="horz" wrap="square" lIns="45720" tIns="22860" rIns="45720" bIns="22860" numCol="1" anchor="ctr" anchorCtr="0" compatLnSpc="1">
            <a:prstTxWarp prst="textNoShape">
              <a:avLst/>
            </a:prstTxWarp>
          </a:bodyPr>
          <a:lstStyle/>
          <a:p>
            <a:r>
              <a:rPr lang="fr-CI" sz="1300" noProof="0">
                <a:solidFill>
                  <a:srgbClr val="060606"/>
                </a:solidFill>
                <a:latin typeface="Helvetica" panose="020B0604020202020204" pitchFamily="34" charset="0"/>
                <a:ea typeface="Lato" pitchFamily="34" charset="0"/>
                <a:cs typeface="Helvetica" panose="020B0604020202020204" pitchFamily="34" charset="0"/>
              </a:rPr>
              <a:t>Précompte des prêts</a:t>
            </a:r>
          </a:p>
        </p:txBody>
      </p:sp>
      <p:sp>
        <p:nvSpPr>
          <p:cNvPr id="32" name="Freeform 12"/>
          <p:cNvSpPr>
            <a:spLocks/>
          </p:cNvSpPr>
          <p:nvPr/>
        </p:nvSpPr>
        <p:spPr bwMode="auto">
          <a:xfrm>
            <a:off x="1412185" y="5316630"/>
            <a:ext cx="502110" cy="654841"/>
          </a:xfrm>
          <a:custGeom>
            <a:avLst/>
            <a:gdLst>
              <a:gd name="T0" fmla="*/ 13 w 69"/>
              <a:gd name="T1" fmla="*/ 0 h 90"/>
              <a:gd name="T2" fmla="*/ 69 w 69"/>
              <a:gd name="T3" fmla="*/ 0 h 90"/>
              <a:gd name="T4" fmla="*/ 69 w 69"/>
              <a:gd name="T5" fmla="*/ 90 h 90"/>
              <a:gd name="T6" fmla="*/ 13 w 69"/>
              <a:gd name="T7" fmla="*/ 90 h 90"/>
              <a:gd name="T8" fmla="*/ 0 w 69"/>
              <a:gd name="T9" fmla="*/ 77 h 90"/>
              <a:gd name="T10" fmla="*/ 0 w 69"/>
              <a:gd name="T11" fmla="*/ 13 h 90"/>
              <a:gd name="T12" fmla="*/ 13 w 69"/>
              <a:gd name="T13" fmla="*/ 0 h 90"/>
            </a:gdLst>
            <a:ahLst/>
            <a:cxnLst>
              <a:cxn ang="0">
                <a:pos x="T0" y="T1"/>
              </a:cxn>
              <a:cxn ang="0">
                <a:pos x="T2" y="T3"/>
              </a:cxn>
              <a:cxn ang="0">
                <a:pos x="T4" y="T5"/>
              </a:cxn>
              <a:cxn ang="0">
                <a:pos x="T6" y="T7"/>
              </a:cxn>
              <a:cxn ang="0">
                <a:pos x="T8" y="T9"/>
              </a:cxn>
              <a:cxn ang="0">
                <a:pos x="T10" y="T11"/>
              </a:cxn>
              <a:cxn ang="0">
                <a:pos x="T12" y="T13"/>
              </a:cxn>
            </a:cxnLst>
            <a:rect l="0" t="0" r="r" b="b"/>
            <a:pathLst>
              <a:path w="69" h="90">
                <a:moveTo>
                  <a:pt x="13" y="0"/>
                </a:moveTo>
                <a:cubicBezTo>
                  <a:pt x="69" y="0"/>
                  <a:pt x="69" y="0"/>
                  <a:pt x="69" y="0"/>
                </a:cubicBezTo>
                <a:cubicBezTo>
                  <a:pt x="69" y="90"/>
                  <a:pt x="69" y="90"/>
                  <a:pt x="69" y="90"/>
                </a:cubicBezTo>
                <a:cubicBezTo>
                  <a:pt x="13" y="90"/>
                  <a:pt x="13" y="90"/>
                  <a:pt x="13" y="90"/>
                </a:cubicBezTo>
                <a:cubicBezTo>
                  <a:pt x="6" y="90"/>
                  <a:pt x="0" y="84"/>
                  <a:pt x="0" y="77"/>
                </a:cubicBezTo>
                <a:cubicBezTo>
                  <a:pt x="0" y="13"/>
                  <a:pt x="0" y="13"/>
                  <a:pt x="0" y="13"/>
                </a:cubicBezTo>
                <a:cubicBezTo>
                  <a:pt x="0" y="5"/>
                  <a:pt x="6" y="0"/>
                  <a:pt x="13" y="0"/>
                </a:cubicBezTo>
                <a:close/>
              </a:path>
            </a:pathLst>
          </a:custGeom>
          <a:noFill/>
          <a:ln>
            <a:solidFill>
              <a:schemeClr val="accent2">
                <a:lumMod val="60000"/>
                <a:lumOff val="40000"/>
              </a:schemeClr>
            </a:solidFill>
          </a:ln>
        </p:spPr>
        <p:txBody>
          <a:bodyPr vert="horz" wrap="square" lIns="45720" tIns="22860" rIns="45720" bIns="22860" numCol="1" anchor="ctr" anchorCtr="0" compatLnSpc="1">
            <a:prstTxWarp prst="textNoShape">
              <a:avLst/>
            </a:prstTxWarp>
          </a:bodyPr>
          <a:lstStyle/>
          <a:p>
            <a:pPr algn="ctr"/>
            <a:r>
              <a:rPr lang="fr-CI" sz="3600" b="1" noProof="0">
                <a:solidFill>
                  <a:srgbClr val="060606"/>
                </a:solidFill>
                <a:latin typeface="Helvetica" panose="020B0604020202020204" pitchFamily="34" charset="0"/>
                <a:cs typeface="Helvetica" panose="020B0604020202020204" pitchFamily="34" charset="0"/>
              </a:rPr>
              <a:t>D</a:t>
            </a:r>
          </a:p>
        </p:txBody>
      </p:sp>
      <p:sp>
        <p:nvSpPr>
          <p:cNvPr id="33" name="Freeform 13"/>
          <p:cNvSpPr>
            <a:spLocks/>
          </p:cNvSpPr>
          <p:nvPr/>
        </p:nvSpPr>
        <p:spPr bwMode="auto">
          <a:xfrm>
            <a:off x="1958213" y="5316630"/>
            <a:ext cx="1644639" cy="654841"/>
          </a:xfrm>
          <a:custGeom>
            <a:avLst/>
            <a:gdLst>
              <a:gd name="T0" fmla="*/ 226 w 226"/>
              <a:gd name="T1" fmla="*/ 13 h 90"/>
              <a:gd name="T2" fmla="*/ 226 w 226"/>
              <a:gd name="T3" fmla="*/ 77 h 90"/>
              <a:gd name="T4" fmla="*/ 214 w 226"/>
              <a:gd name="T5" fmla="*/ 90 h 90"/>
              <a:gd name="T6" fmla="*/ 0 w 226"/>
              <a:gd name="T7" fmla="*/ 90 h 90"/>
              <a:gd name="T8" fmla="*/ 0 w 226"/>
              <a:gd name="T9" fmla="*/ 0 h 90"/>
              <a:gd name="T10" fmla="*/ 214 w 226"/>
              <a:gd name="T11" fmla="*/ 0 h 90"/>
              <a:gd name="T12" fmla="*/ 226 w 226"/>
              <a:gd name="T13" fmla="*/ 13 h 90"/>
            </a:gdLst>
            <a:ahLst/>
            <a:cxnLst>
              <a:cxn ang="0">
                <a:pos x="T0" y="T1"/>
              </a:cxn>
              <a:cxn ang="0">
                <a:pos x="T2" y="T3"/>
              </a:cxn>
              <a:cxn ang="0">
                <a:pos x="T4" y="T5"/>
              </a:cxn>
              <a:cxn ang="0">
                <a:pos x="T6" y="T7"/>
              </a:cxn>
              <a:cxn ang="0">
                <a:pos x="T8" y="T9"/>
              </a:cxn>
              <a:cxn ang="0">
                <a:pos x="T10" y="T11"/>
              </a:cxn>
              <a:cxn ang="0">
                <a:pos x="T12" y="T13"/>
              </a:cxn>
            </a:cxnLst>
            <a:rect l="0" t="0" r="r" b="b"/>
            <a:pathLst>
              <a:path w="226" h="90">
                <a:moveTo>
                  <a:pt x="226" y="13"/>
                </a:moveTo>
                <a:cubicBezTo>
                  <a:pt x="226" y="77"/>
                  <a:pt x="226" y="77"/>
                  <a:pt x="226" y="77"/>
                </a:cubicBezTo>
                <a:cubicBezTo>
                  <a:pt x="226" y="84"/>
                  <a:pt x="221" y="90"/>
                  <a:pt x="214" y="90"/>
                </a:cubicBezTo>
                <a:cubicBezTo>
                  <a:pt x="0" y="90"/>
                  <a:pt x="0" y="90"/>
                  <a:pt x="0" y="90"/>
                </a:cubicBezTo>
                <a:cubicBezTo>
                  <a:pt x="0" y="0"/>
                  <a:pt x="0" y="0"/>
                  <a:pt x="0" y="0"/>
                </a:cubicBezTo>
                <a:cubicBezTo>
                  <a:pt x="214" y="0"/>
                  <a:pt x="214" y="0"/>
                  <a:pt x="214" y="0"/>
                </a:cubicBezTo>
                <a:cubicBezTo>
                  <a:pt x="221" y="0"/>
                  <a:pt x="226" y="5"/>
                  <a:pt x="226" y="13"/>
                </a:cubicBezTo>
                <a:close/>
              </a:path>
            </a:pathLst>
          </a:custGeom>
          <a:noFill/>
          <a:ln>
            <a:solidFill>
              <a:schemeClr val="accent2">
                <a:lumMod val="60000"/>
                <a:lumOff val="40000"/>
              </a:schemeClr>
            </a:solidFill>
          </a:ln>
        </p:spPr>
        <p:txBody>
          <a:bodyPr vert="horz" wrap="square" lIns="45720" tIns="22860" rIns="45720" bIns="22860" numCol="1" anchor="ctr" anchorCtr="0" compatLnSpc="1">
            <a:prstTxWarp prst="textNoShape">
              <a:avLst/>
            </a:prstTxWarp>
          </a:bodyPr>
          <a:lstStyle/>
          <a:p>
            <a:r>
              <a:rPr lang="fr-CI" sz="1300" noProof="0">
                <a:solidFill>
                  <a:srgbClr val="060606"/>
                </a:solidFill>
                <a:latin typeface="Helvetica" panose="020B0604020202020204" pitchFamily="34" charset="0"/>
                <a:ea typeface="Lato" pitchFamily="34" charset="0"/>
                <a:cs typeface="Helvetica" panose="020B0604020202020204" pitchFamily="34" charset="0"/>
              </a:rPr>
              <a:t>Taux de cotisation</a:t>
            </a:r>
          </a:p>
        </p:txBody>
      </p:sp>
      <p:sp>
        <p:nvSpPr>
          <p:cNvPr id="38" name="TextBox 31"/>
          <p:cNvSpPr txBox="1">
            <a:spLocks noChangeArrowheads="1"/>
          </p:cNvSpPr>
          <p:nvPr/>
        </p:nvSpPr>
        <p:spPr bwMode="auto">
          <a:xfrm>
            <a:off x="4139775" y="1427111"/>
            <a:ext cx="1202973" cy="5466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3600">
                <a:solidFill>
                  <a:schemeClr val="tx1"/>
                </a:solidFill>
                <a:latin typeface="Lato Light" charset="0"/>
                <a:ea typeface="ＭＳ Ｐゴシック" charset="0"/>
                <a:cs typeface="ＭＳ Ｐゴシック" charset="0"/>
              </a:defRPr>
            </a:lvl1pPr>
            <a:lvl2pPr marL="742950" indent="-285750" eaLnBrk="0" hangingPunct="0">
              <a:defRPr sz="3600">
                <a:solidFill>
                  <a:schemeClr val="tx1"/>
                </a:solidFill>
                <a:latin typeface="Lato Light" charset="0"/>
                <a:ea typeface="ＭＳ Ｐゴシック" charset="0"/>
              </a:defRPr>
            </a:lvl2pPr>
            <a:lvl3pPr marL="1143000" indent="-228600" eaLnBrk="0" hangingPunct="0">
              <a:defRPr sz="3600">
                <a:solidFill>
                  <a:schemeClr val="tx1"/>
                </a:solidFill>
                <a:latin typeface="Lato Light" charset="0"/>
                <a:ea typeface="ＭＳ Ｐゴシック" charset="0"/>
              </a:defRPr>
            </a:lvl3pPr>
            <a:lvl4pPr marL="1600200" indent="-228600" eaLnBrk="0" hangingPunct="0">
              <a:defRPr sz="3600">
                <a:solidFill>
                  <a:schemeClr val="tx1"/>
                </a:solidFill>
                <a:latin typeface="Lato Light" charset="0"/>
                <a:ea typeface="ＭＳ Ｐゴシック" charset="0"/>
              </a:defRPr>
            </a:lvl4pPr>
            <a:lvl5pPr marL="2057400" indent="-228600" eaLnBrk="0" hangingPunct="0">
              <a:defRPr sz="3600">
                <a:solidFill>
                  <a:schemeClr val="tx1"/>
                </a:solidFill>
                <a:latin typeface="Lato Light" charset="0"/>
                <a:ea typeface="ＭＳ Ｐゴシック" charset="0"/>
              </a:defRPr>
            </a:lvl5pPr>
            <a:lvl6pPr marL="2514600" indent="-228600" defTabSz="1827213" eaLnBrk="0" fontAlgn="base" hangingPunct="0">
              <a:spcBef>
                <a:spcPct val="0"/>
              </a:spcBef>
              <a:spcAft>
                <a:spcPct val="0"/>
              </a:spcAft>
              <a:defRPr sz="3600">
                <a:solidFill>
                  <a:schemeClr val="tx1"/>
                </a:solidFill>
                <a:latin typeface="Lato Light" charset="0"/>
                <a:ea typeface="ＭＳ Ｐゴシック" charset="0"/>
              </a:defRPr>
            </a:lvl6pPr>
            <a:lvl7pPr marL="2971800" indent="-228600" defTabSz="1827213" eaLnBrk="0" fontAlgn="base" hangingPunct="0">
              <a:spcBef>
                <a:spcPct val="0"/>
              </a:spcBef>
              <a:spcAft>
                <a:spcPct val="0"/>
              </a:spcAft>
              <a:defRPr sz="3600">
                <a:solidFill>
                  <a:schemeClr val="tx1"/>
                </a:solidFill>
                <a:latin typeface="Lato Light" charset="0"/>
                <a:ea typeface="ＭＳ Ｐゴシック" charset="0"/>
              </a:defRPr>
            </a:lvl7pPr>
            <a:lvl8pPr marL="3429000" indent="-228600" defTabSz="1827213" eaLnBrk="0" fontAlgn="base" hangingPunct="0">
              <a:spcBef>
                <a:spcPct val="0"/>
              </a:spcBef>
              <a:spcAft>
                <a:spcPct val="0"/>
              </a:spcAft>
              <a:defRPr sz="3600">
                <a:solidFill>
                  <a:schemeClr val="tx1"/>
                </a:solidFill>
                <a:latin typeface="Lato Light" charset="0"/>
                <a:ea typeface="ＭＳ Ｐゴシック" charset="0"/>
              </a:defRPr>
            </a:lvl8pPr>
            <a:lvl9pPr marL="3886200" indent="-228600" defTabSz="1827213" eaLnBrk="0" fontAlgn="base" hangingPunct="0">
              <a:spcBef>
                <a:spcPct val="0"/>
              </a:spcBef>
              <a:spcAft>
                <a:spcPct val="0"/>
              </a:spcAft>
              <a:defRPr sz="3600">
                <a:solidFill>
                  <a:schemeClr val="tx1"/>
                </a:solidFill>
                <a:latin typeface="Lato Light" charset="0"/>
                <a:ea typeface="ＭＳ Ｐゴシック" charset="0"/>
              </a:defRPr>
            </a:lvl9pPr>
          </a:lstStyle>
          <a:p>
            <a:pPr algn="r" eaLnBrk="1" hangingPunct="1"/>
            <a:r>
              <a:rPr lang="fr-CI" sz="2100" b="1" noProof="0">
                <a:solidFill>
                  <a:srgbClr val="060606"/>
                </a:solidFill>
                <a:latin typeface="Helvetica" panose="020B0604020202020204" pitchFamily="34" charset="0"/>
                <a:ea typeface="Lato Black" pitchFamily="34" charset="0"/>
                <a:cs typeface="Helvetica" panose="020B0604020202020204" pitchFamily="34" charset="0"/>
              </a:rPr>
              <a:t>73,53 %</a:t>
            </a:r>
          </a:p>
        </p:txBody>
      </p:sp>
      <p:sp>
        <p:nvSpPr>
          <p:cNvPr id="39" name="TextBox 96"/>
          <p:cNvSpPr txBox="1"/>
          <p:nvPr/>
        </p:nvSpPr>
        <p:spPr>
          <a:xfrm>
            <a:off x="5621262" y="1350000"/>
            <a:ext cx="4906389" cy="748061"/>
          </a:xfrm>
          <a:prstGeom prst="rect">
            <a:avLst/>
          </a:prstGeom>
          <a:noFill/>
        </p:spPr>
        <p:txBody>
          <a:bodyPr wrap="square" lIns="0" tIns="0" rIns="0" bIns="0" rtlCol="0" anchor="ctr">
            <a:spAutoFit/>
          </a:bodyPr>
          <a:lstStyle/>
          <a:p>
            <a:r>
              <a:rPr lang="fr-CI" sz="1300" noProof="0">
                <a:solidFill>
                  <a:srgbClr val="060606"/>
                </a:solidFill>
                <a:latin typeface="Helvetica" panose="020B0604020202020204" pitchFamily="34" charset="0"/>
                <a:ea typeface="Lato" pitchFamily="34" charset="0"/>
                <a:cs typeface="Helvetica" panose="020B0604020202020204" pitchFamily="34" charset="0"/>
              </a:rPr>
              <a:t>Les prestations maladie comptabilisées représentent cette part des cotisations maladie de 2025. Ce ratio était de 6,00 % en 2021.</a:t>
            </a:r>
          </a:p>
        </p:txBody>
      </p:sp>
      <p:sp>
        <p:nvSpPr>
          <p:cNvPr id="42" name="TextBox 31"/>
          <p:cNvSpPr txBox="1">
            <a:spLocks noChangeArrowheads="1"/>
          </p:cNvSpPr>
          <p:nvPr/>
        </p:nvSpPr>
        <p:spPr bwMode="auto">
          <a:xfrm>
            <a:off x="4132468" y="2803714"/>
            <a:ext cx="1202973" cy="5466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3600">
                <a:solidFill>
                  <a:schemeClr val="tx1"/>
                </a:solidFill>
                <a:latin typeface="Lato Light" charset="0"/>
                <a:ea typeface="ＭＳ Ｐゴシック" charset="0"/>
                <a:cs typeface="ＭＳ Ｐゴシック" charset="0"/>
              </a:defRPr>
            </a:lvl1pPr>
            <a:lvl2pPr marL="742950" indent="-285750" eaLnBrk="0" hangingPunct="0">
              <a:defRPr sz="3600">
                <a:solidFill>
                  <a:schemeClr val="tx1"/>
                </a:solidFill>
                <a:latin typeface="Lato Light" charset="0"/>
                <a:ea typeface="ＭＳ Ｐゴシック" charset="0"/>
              </a:defRPr>
            </a:lvl2pPr>
            <a:lvl3pPr marL="1143000" indent="-228600" eaLnBrk="0" hangingPunct="0">
              <a:defRPr sz="3600">
                <a:solidFill>
                  <a:schemeClr val="tx1"/>
                </a:solidFill>
                <a:latin typeface="Lato Light" charset="0"/>
                <a:ea typeface="ＭＳ Ｐゴシック" charset="0"/>
              </a:defRPr>
            </a:lvl3pPr>
            <a:lvl4pPr marL="1600200" indent="-228600" eaLnBrk="0" hangingPunct="0">
              <a:defRPr sz="3600">
                <a:solidFill>
                  <a:schemeClr val="tx1"/>
                </a:solidFill>
                <a:latin typeface="Lato Light" charset="0"/>
                <a:ea typeface="ＭＳ Ｐゴシック" charset="0"/>
              </a:defRPr>
            </a:lvl4pPr>
            <a:lvl5pPr marL="2057400" indent="-228600" eaLnBrk="0" hangingPunct="0">
              <a:defRPr sz="3600">
                <a:solidFill>
                  <a:schemeClr val="tx1"/>
                </a:solidFill>
                <a:latin typeface="Lato Light" charset="0"/>
                <a:ea typeface="ＭＳ Ｐゴシック" charset="0"/>
              </a:defRPr>
            </a:lvl5pPr>
            <a:lvl6pPr marL="2514600" indent="-228600" defTabSz="1827213" eaLnBrk="0" fontAlgn="base" hangingPunct="0">
              <a:spcBef>
                <a:spcPct val="0"/>
              </a:spcBef>
              <a:spcAft>
                <a:spcPct val="0"/>
              </a:spcAft>
              <a:defRPr sz="3600">
                <a:solidFill>
                  <a:schemeClr val="tx1"/>
                </a:solidFill>
                <a:latin typeface="Lato Light" charset="0"/>
                <a:ea typeface="ＭＳ Ｐゴシック" charset="0"/>
              </a:defRPr>
            </a:lvl6pPr>
            <a:lvl7pPr marL="2971800" indent="-228600" defTabSz="1827213" eaLnBrk="0" fontAlgn="base" hangingPunct="0">
              <a:spcBef>
                <a:spcPct val="0"/>
              </a:spcBef>
              <a:spcAft>
                <a:spcPct val="0"/>
              </a:spcAft>
              <a:defRPr sz="3600">
                <a:solidFill>
                  <a:schemeClr val="tx1"/>
                </a:solidFill>
                <a:latin typeface="Lato Light" charset="0"/>
                <a:ea typeface="ＭＳ Ｐゴシック" charset="0"/>
              </a:defRPr>
            </a:lvl7pPr>
            <a:lvl8pPr marL="3429000" indent="-228600" defTabSz="1827213" eaLnBrk="0" fontAlgn="base" hangingPunct="0">
              <a:spcBef>
                <a:spcPct val="0"/>
              </a:spcBef>
              <a:spcAft>
                <a:spcPct val="0"/>
              </a:spcAft>
              <a:defRPr sz="3600">
                <a:solidFill>
                  <a:schemeClr val="tx1"/>
                </a:solidFill>
                <a:latin typeface="Lato Light" charset="0"/>
                <a:ea typeface="ＭＳ Ｐゴシック" charset="0"/>
              </a:defRPr>
            </a:lvl8pPr>
            <a:lvl9pPr marL="3886200" indent="-228600" defTabSz="1827213" eaLnBrk="0" fontAlgn="base" hangingPunct="0">
              <a:spcBef>
                <a:spcPct val="0"/>
              </a:spcBef>
              <a:spcAft>
                <a:spcPct val="0"/>
              </a:spcAft>
              <a:defRPr sz="3600">
                <a:solidFill>
                  <a:schemeClr val="tx1"/>
                </a:solidFill>
                <a:latin typeface="Lato Light" charset="0"/>
                <a:ea typeface="ＭＳ Ｐゴシック" charset="0"/>
              </a:defRPr>
            </a:lvl9pPr>
          </a:lstStyle>
          <a:p>
            <a:pPr algn="r" eaLnBrk="1" hangingPunct="1"/>
            <a:r>
              <a:rPr lang="fr-CI" sz="2100" b="1" noProof="0">
                <a:solidFill>
                  <a:srgbClr val="060606"/>
                </a:solidFill>
                <a:latin typeface="Helvetica" panose="020B0604020202020204" pitchFamily="34" charset="0"/>
                <a:ea typeface="Lato Black" pitchFamily="34" charset="0"/>
                <a:cs typeface="Helvetica" panose="020B0604020202020204" pitchFamily="34" charset="0"/>
              </a:rPr>
              <a:t>16,28 %</a:t>
            </a:r>
          </a:p>
        </p:txBody>
      </p:sp>
      <p:sp>
        <p:nvSpPr>
          <p:cNvPr id="46" name="TextBox 31"/>
          <p:cNvSpPr txBox="1">
            <a:spLocks noChangeArrowheads="1"/>
          </p:cNvSpPr>
          <p:nvPr/>
        </p:nvSpPr>
        <p:spPr bwMode="auto">
          <a:xfrm>
            <a:off x="4135359" y="4021323"/>
            <a:ext cx="1202973" cy="5466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3600">
                <a:solidFill>
                  <a:schemeClr val="tx1"/>
                </a:solidFill>
                <a:latin typeface="Lato Light" charset="0"/>
                <a:ea typeface="ＭＳ Ｐゴシック" charset="0"/>
                <a:cs typeface="ＭＳ Ｐゴシック" charset="0"/>
              </a:defRPr>
            </a:lvl1pPr>
            <a:lvl2pPr marL="742950" indent="-285750" eaLnBrk="0" hangingPunct="0">
              <a:defRPr sz="3600">
                <a:solidFill>
                  <a:schemeClr val="tx1"/>
                </a:solidFill>
                <a:latin typeface="Lato Light" charset="0"/>
                <a:ea typeface="ＭＳ Ｐゴシック" charset="0"/>
              </a:defRPr>
            </a:lvl2pPr>
            <a:lvl3pPr marL="1143000" indent="-228600" eaLnBrk="0" hangingPunct="0">
              <a:defRPr sz="3600">
                <a:solidFill>
                  <a:schemeClr val="tx1"/>
                </a:solidFill>
                <a:latin typeface="Lato Light" charset="0"/>
                <a:ea typeface="ＭＳ Ｐゴシック" charset="0"/>
              </a:defRPr>
            </a:lvl3pPr>
            <a:lvl4pPr marL="1600200" indent="-228600" eaLnBrk="0" hangingPunct="0">
              <a:defRPr sz="3600">
                <a:solidFill>
                  <a:schemeClr val="tx1"/>
                </a:solidFill>
                <a:latin typeface="Lato Light" charset="0"/>
                <a:ea typeface="ＭＳ Ｐゴシック" charset="0"/>
              </a:defRPr>
            </a:lvl4pPr>
            <a:lvl5pPr marL="2057400" indent="-228600" eaLnBrk="0" hangingPunct="0">
              <a:defRPr sz="3600">
                <a:solidFill>
                  <a:schemeClr val="tx1"/>
                </a:solidFill>
                <a:latin typeface="Lato Light" charset="0"/>
                <a:ea typeface="ＭＳ Ｐゴシック" charset="0"/>
              </a:defRPr>
            </a:lvl5pPr>
            <a:lvl6pPr marL="2514600" indent="-228600" defTabSz="1827213" eaLnBrk="0" fontAlgn="base" hangingPunct="0">
              <a:spcBef>
                <a:spcPct val="0"/>
              </a:spcBef>
              <a:spcAft>
                <a:spcPct val="0"/>
              </a:spcAft>
              <a:defRPr sz="3600">
                <a:solidFill>
                  <a:schemeClr val="tx1"/>
                </a:solidFill>
                <a:latin typeface="Lato Light" charset="0"/>
                <a:ea typeface="ＭＳ Ｐゴシック" charset="0"/>
              </a:defRPr>
            </a:lvl6pPr>
            <a:lvl7pPr marL="2971800" indent="-228600" defTabSz="1827213" eaLnBrk="0" fontAlgn="base" hangingPunct="0">
              <a:spcBef>
                <a:spcPct val="0"/>
              </a:spcBef>
              <a:spcAft>
                <a:spcPct val="0"/>
              </a:spcAft>
              <a:defRPr sz="3600">
                <a:solidFill>
                  <a:schemeClr val="tx1"/>
                </a:solidFill>
                <a:latin typeface="Lato Light" charset="0"/>
                <a:ea typeface="ＭＳ Ｐゴシック" charset="0"/>
              </a:defRPr>
            </a:lvl7pPr>
            <a:lvl8pPr marL="3429000" indent="-228600" defTabSz="1827213" eaLnBrk="0" fontAlgn="base" hangingPunct="0">
              <a:spcBef>
                <a:spcPct val="0"/>
              </a:spcBef>
              <a:spcAft>
                <a:spcPct val="0"/>
              </a:spcAft>
              <a:defRPr sz="3600">
                <a:solidFill>
                  <a:schemeClr val="tx1"/>
                </a:solidFill>
                <a:latin typeface="Lato Light" charset="0"/>
                <a:ea typeface="ＭＳ Ｐゴシック" charset="0"/>
              </a:defRPr>
            </a:lvl8pPr>
            <a:lvl9pPr marL="3886200" indent="-228600" defTabSz="1827213" eaLnBrk="0" fontAlgn="base" hangingPunct="0">
              <a:spcBef>
                <a:spcPct val="0"/>
              </a:spcBef>
              <a:spcAft>
                <a:spcPct val="0"/>
              </a:spcAft>
              <a:defRPr sz="3600">
                <a:solidFill>
                  <a:schemeClr val="tx1"/>
                </a:solidFill>
                <a:latin typeface="Lato Light" charset="0"/>
                <a:ea typeface="ＭＳ Ｐゴシック" charset="0"/>
              </a:defRPr>
            </a:lvl9pPr>
          </a:lstStyle>
          <a:p>
            <a:pPr algn="r" eaLnBrk="1" hangingPunct="1"/>
            <a:r>
              <a:rPr lang="fr-CI" sz="2100" b="1" noProof="0">
                <a:solidFill>
                  <a:srgbClr val="060606"/>
                </a:solidFill>
                <a:latin typeface="Helvetica" panose="020B0604020202020204" pitchFamily="34" charset="0"/>
                <a:ea typeface="Lato Black" pitchFamily="34" charset="0"/>
                <a:cs typeface="Helvetica" panose="020B0604020202020204" pitchFamily="34" charset="0"/>
              </a:rPr>
              <a:t>84,55 %</a:t>
            </a:r>
          </a:p>
        </p:txBody>
      </p:sp>
      <p:sp>
        <p:nvSpPr>
          <p:cNvPr id="50" name="TextBox 31"/>
          <p:cNvSpPr txBox="1">
            <a:spLocks noChangeArrowheads="1"/>
          </p:cNvSpPr>
          <p:nvPr/>
        </p:nvSpPr>
        <p:spPr bwMode="auto">
          <a:xfrm>
            <a:off x="4135359" y="5389553"/>
            <a:ext cx="1202973" cy="5466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3600">
                <a:solidFill>
                  <a:schemeClr val="tx1"/>
                </a:solidFill>
                <a:latin typeface="Lato Light" charset="0"/>
                <a:ea typeface="ＭＳ Ｐゴシック" charset="0"/>
                <a:cs typeface="ＭＳ Ｐゴシック" charset="0"/>
              </a:defRPr>
            </a:lvl1pPr>
            <a:lvl2pPr marL="742950" indent="-285750" eaLnBrk="0" hangingPunct="0">
              <a:defRPr sz="3600">
                <a:solidFill>
                  <a:schemeClr val="tx1"/>
                </a:solidFill>
                <a:latin typeface="Lato Light" charset="0"/>
                <a:ea typeface="ＭＳ Ｐゴシック" charset="0"/>
              </a:defRPr>
            </a:lvl2pPr>
            <a:lvl3pPr marL="1143000" indent="-228600" eaLnBrk="0" hangingPunct="0">
              <a:defRPr sz="3600">
                <a:solidFill>
                  <a:schemeClr val="tx1"/>
                </a:solidFill>
                <a:latin typeface="Lato Light" charset="0"/>
                <a:ea typeface="ＭＳ Ｐゴシック" charset="0"/>
              </a:defRPr>
            </a:lvl3pPr>
            <a:lvl4pPr marL="1600200" indent="-228600" eaLnBrk="0" hangingPunct="0">
              <a:defRPr sz="3600">
                <a:solidFill>
                  <a:schemeClr val="tx1"/>
                </a:solidFill>
                <a:latin typeface="Lato Light" charset="0"/>
                <a:ea typeface="ＭＳ Ｐゴシック" charset="0"/>
              </a:defRPr>
            </a:lvl4pPr>
            <a:lvl5pPr marL="2057400" indent="-228600" eaLnBrk="0" hangingPunct="0">
              <a:defRPr sz="3600">
                <a:solidFill>
                  <a:schemeClr val="tx1"/>
                </a:solidFill>
                <a:latin typeface="Lato Light" charset="0"/>
                <a:ea typeface="ＭＳ Ｐゴシック" charset="0"/>
              </a:defRPr>
            </a:lvl5pPr>
            <a:lvl6pPr marL="2514600" indent="-228600" defTabSz="1827213" eaLnBrk="0" fontAlgn="base" hangingPunct="0">
              <a:spcBef>
                <a:spcPct val="0"/>
              </a:spcBef>
              <a:spcAft>
                <a:spcPct val="0"/>
              </a:spcAft>
              <a:defRPr sz="3600">
                <a:solidFill>
                  <a:schemeClr val="tx1"/>
                </a:solidFill>
                <a:latin typeface="Lato Light" charset="0"/>
                <a:ea typeface="ＭＳ Ｐゴシック" charset="0"/>
              </a:defRPr>
            </a:lvl6pPr>
            <a:lvl7pPr marL="2971800" indent="-228600" defTabSz="1827213" eaLnBrk="0" fontAlgn="base" hangingPunct="0">
              <a:spcBef>
                <a:spcPct val="0"/>
              </a:spcBef>
              <a:spcAft>
                <a:spcPct val="0"/>
              </a:spcAft>
              <a:defRPr sz="3600">
                <a:solidFill>
                  <a:schemeClr val="tx1"/>
                </a:solidFill>
                <a:latin typeface="Lato Light" charset="0"/>
                <a:ea typeface="ＭＳ Ｐゴシック" charset="0"/>
              </a:defRPr>
            </a:lvl7pPr>
            <a:lvl8pPr marL="3429000" indent="-228600" defTabSz="1827213" eaLnBrk="0" fontAlgn="base" hangingPunct="0">
              <a:spcBef>
                <a:spcPct val="0"/>
              </a:spcBef>
              <a:spcAft>
                <a:spcPct val="0"/>
              </a:spcAft>
              <a:defRPr sz="3600">
                <a:solidFill>
                  <a:schemeClr val="tx1"/>
                </a:solidFill>
                <a:latin typeface="Lato Light" charset="0"/>
                <a:ea typeface="ＭＳ Ｐゴシック" charset="0"/>
              </a:defRPr>
            </a:lvl8pPr>
            <a:lvl9pPr marL="3886200" indent="-228600" defTabSz="1827213" eaLnBrk="0" fontAlgn="base" hangingPunct="0">
              <a:spcBef>
                <a:spcPct val="0"/>
              </a:spcBef>
              <a:spcAft>
                <a:spcPct val="0"/>
              </a:spcAft>
              <a:defRPr sz="3600">
                <a:solidFill>
                  <a:schemeClr val="tx1"/>
                </a:solidFill>
                <a:latin typeface="Lato Light" charset="0"/>
                <a:ea typeface="ＭＳ Ｐゴシック" charset="0"/>
              </a:defRPr>
            </a:lvl9pPr>
          </a:lstStyle>
          <a:p>
            <a:pPr algn="r" eaLnBrk="1" hangingPunct="1"/>
            <a:r>
              <a:rPr lang="fr-CI" sz="2100" b="1" noProof="0">
                <a:solidFill>
                  <a:srgbClr val="060606"/>
                </a:solidFill>
                <a:latin typeface="Helvetica" panose="020B0604020202020204" pitchFamily="34" charset="0"/>
                <a:ea typeface="Lato Black" pitchFamily="34" charset="0"/>
                <a:cs typeface="Helvetica" panose="020B0604020202020204" pitchFamily="34" charset="0"/>
              </a:rPr>
              <a:t>5,00 %</a:t>
            </a:r>
          </a:p>
        </p:txBody>
      </p:sp>
      <p:pic>
        <p:nvPicPr>
          <p:cNvPr id="5" name="Image 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33942" y="1459698"/>
            <a:ext cx="491517" cy="491517"/>
          </a:xfrm>
          <a:prstGeom prst="rect">
            <a:avLst/>
          </a:prstGeom>
        </p:spPr>
      </p:pic>
      <p:pic>
        <p:nvPicPr>
          <p:cNvPr id="6" name="Image 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685442" y="2848158"/>
            <a:ext cx="514311" cy="514311"/>
          </a:xfrm>
          <a:prstGeom prst="rect">
            <a:avLst/>
          </a:prstGeom>
        </p:spPr>
      </p:pic>
      <p:pic>
        <p:nvPicPr>
          <p:cNvPr id="7" name="Image 6"/>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724788" y="4050954"/>
            <a:ext cx="538212" cy="544470"/>
          </a:xfrm>
          <a:prstGeom prst="rect">
            <a:avLst/>
          </a:prstGeom>
        </p:spPr>
      </p:pic>
      <p:pic>
        <p:nvPicPr>
          <p:cNvPr id="8" name="Image 7"/>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695657" y="5362112"/>
            <a:ext cx="529802" cy="541319"/>
          </a:xfrm>
          <a:prstGeom prst="rect">
            <a:avLst/>
          </a:prstGeom>
        </p:spPr>
      </p:pic>
      <p:sp>
        <p:nvSpPr>
          <p:cNvPr id="36" name="TextBox 96"/>
          <p:cNvSpPr txBox="1"/>
          <p:nvPr/>
        </p:nvSpPr>
        <p:spPr>
          <a:xfrm>
            <a:off x="5621262" y="2728901"/>
            <a:ext cx="4906389" cy="748061"/>
          </a:xfrm>
          <a:prstGeom prst="rect">
            <a:avLst/>
          </a:prstGeom>
          <a:noFill/>
        </p:spPr>
        <p:txBody>
          <a:bodyPr wrap="square" lIns="0" tIns="0" rIns="0" bIns="0" rtlCol="0" anchor="ctr">
            <a:spAutoFit/>
          </a:bodyPr>
          <a:lstStyle/>
          <a:p>
            <a:r>
              <a:rPr lang="fr-CI" sz="1300" noProof="0">
                <a:solidFill>
                  <a:srgbClr val="060606"/>
                </a:solidFill>
                <a:latin typeface="Helvetica" panose="020B0604020202020204" pitchFamily="34" charset="0"/>
                <a:ea typeface="Lato" pitchFamily="34" charset="0"/>
                <a:cs typeface="Helvetica" panose="020B0604020202020204" pitchFamily="34" charset="0"/>
              </a:rPr>
              <a:t>Les banques, dépôts à terme et fonds réservés à l'épargne couvrent cette part de l'épargne due au 31/08/2026.</a:t>
            </a:r>
          </a:p>
        </p:txBody>
      </p:sp>
      <p:cxnSp>
        <p:nvCxnSpPr>
          <p:cNvPr id="53" name="Straight Connector 2"/>
          <p:cNvCxnSpPr/>
          <p:nvPr/>
        </p:nvCxnSpPr>
        <p:spPr>
          <a:xfrm>
            <a:off x="5419816" y="1350000"/>
            <a:ext cx="0" cy="896210"/>
          </a:xfrm>
          <a:prstGeom prst="line">
            <a:avLst/>
          </a:prstGeom>
          <a:ln>
            <a:solidFill>
              <a:srgbClr val="EFAC62"/>
            </a:solidFill>
          </a:ln>
        </p:spPr>
        <p:style>
          <a:lnRef idx="1">
            <a:schemeClr val="accent2"/>
          </a:lnRef>
          <a:fillRef idx="0">
            <a:schemeClr val="accent2"/>
          </a:fillRef>
          <a:effectRef idx="0">
            <a:schemeClr val="accent2"/>
          </a:effectRef>
          <a:fontRef idx="minor">
            <a:schemeClr val="tx1"/>
          </a:fontRef>
        </p:style>
      </p:cxnSp>
      <p:cxnSp>
        <p:nvCxnSpPr>
          <p:cNvPr id="59" name="Straight Connector 41"/>
          <p:cNvCxnSpPr/>
          <p:nvPr/>
        </p:nvCxnSpPr>
        <p:spPr>
          <a:xfrm>
            <a:off x="10756527" y="1350000"/>
            <a:ext cx="0" cy="896210"/>
          </a:xfrm>
          <a:prstGeom prst="line">
            <a:avLst/>
          </a:prstGeom>
          <a:ln>
            <a:solidFill>
              <a:srgbClr val="EFAC62"/>
            </a:solidFill>
          </a:ln>
        </p:spPr>
        <p:style>
          <a:lnRef idx="1">
            <a:schemeClr val="accent2"/>
          </a:lnRef>
          <a:fillRef idx="0">
            <a:schemeClr val="accent2"/>
          </a:fillRef>
          <a:effectRef idx="0">
            <a:schemeClr val="accent2"/>
          </a:effectRef>
          <a:fontRef idx="minor">
            <a:schemeClr val="tx1"/>
          </a:fontRef>
        </p:style>
      </p:cxnSp>
      <p:cxnSp>
        <p:nvCxnSpPr>
          <p:cNvPr id="37" name="Straight Connector 2"/>
          <p:cNvCxnSpPr/>
          <p:nvPr/>
        </p:nvCxnSpPr>
        <p:spPr>
          <a:xfrm>
            <a:off x="5419816" y="2638944"/>
            <a:ext cx="0" cy="896210"/>
          </a:xfrm>
          <a:prstGeom prst="line">
            <a:avLst/>
          </a:prstGeom>
          <a:ln>
            <a:solidFill>
              <a:srgbClr val="EFAC62"/>
            </a:solidFill>
          </a:ln>
        </p:spPr>
        <p:style>
          <a:lnRef idx="1">
            <a:schemeClr val="accent2"/>
          </a:lnRef>
          <a:fillRef idx="0">
            <a:schemeClr val="accent2"/>
          </a:fillRef>
          <a:effectRef idx="0">
            <a:schemeClr val="accent2"/>
          </a:effectRef>
          <a:fontRef idx="minor">
            <a:schemeClr val="tx1"/>
          </a:fontRef>
        </p:style>
      </p:cxnSp>
      <p:cxnSp>
        <p:nvCxnSpPr>
          <p:cNvPr id="40" name="Straight Connector 41"/>
          <p:cNvCxnSpPr/>
          <p:nvPr/>
        </p:nvCxnSpPr>
        <p:spPr>
          <a:xfrm>
            <a:off x="10756527" y="2638944"/>
            <a:ext cx="0" cy="896210"/>
          </a:xfrm>
          <a:prstGeom prst="line">
            <a:avLst/>
          </a:prstGeom>
          <a:ln>
            <a:solidFill>
              <a:schemeClr val="accent2">
                <a:lumMod val="60000"/>
                <a:lumOff val="40000"/>
              </a:schemeClr>
            </a:solidFill>
          </a:ln>
        </p:spPr>
        <p:style>
          <a:lnRef idx="1">
            <a:schemeClr val="accent2"/>
          </a:lnRef>
          <a:fillRef idx="0">
            <a:schemeClr val="accent2"/>
          </a:fillRef>
          <a:effectRef idx="0">
            <a:schemeClr val="accent2"/>
          </a:effectRef>
          <a:fontRef idx="minor">
            <a:schemeClr val="tx1"/>
          </a:fontRef>
        </p:style>
      </p:cxnSp>
      <p:sp>
        <p:nvSpPr>
          <p:cNvPr id="41" name="TextBox 96"/>
          <p:cNvSpPr txBox="1"/>
          <p:nvPr/>
        </p:nvSpPr>
        <p:spPr>
          <a:xfrm>
            <a:off x="5621262" y="4021323"/>
            <a:ext cx="4906389" cy="748061"/>
          </a:xfrm>
          <a:prstGeom prst="rect">
            <a:avLst/>
          </a:prstGeom>
          <a:noFill/>
        </p:spPr>
        <p:txBody>
          <a:bodyPr wrap="square" lIns="0" tIns="0" rIns="0" bIns="0" rtlCol="0" anchor="ctr">
            <a:spAutoFit/>
          </a:bodyPr>
          <a:lstStyle/>
          <a:p>
            <a:r>
              <a:rPr lang="fr-CI" sz="1300" noProof="0">
                <a:solidFill>
                  <a:srgbClr val="060606"/>
                </a:solidFill>
                <a:latin typeface="Helvetica" panose="020B0604020202020204" pitchFamily="34" charset="0"/>
                <a:ea typeface="Lato" pitchFamily="34" charset="0"/>
                <a:cs typeface="Helvetica" panose="020B0604020202020204" pitchFamily="34" charset="0"/>
              </a:rPr>
              <a:t>Les précomptes du Grenier (poste 9X4) couvrent cette part des échéances des prêts en cours en août 2026.</a:t>
            </a:r>
          </a:p>
        </p:txBody>
      </p:sp>
      <p:cxnSp>
        <p:nvCxnSpPr>
          <p:cNvPr id="44" name="Straight Connector 2"/>
          <p:cNvCxnSpPr/>
          <p:nvPr/>
        </p:nvCxnSpPr>
        <p:spPr>
          <a:xfrm>
            <a:off x="5419816" y="3931367"/>
            <a:ext cx="0" cy="896210"/>
          </a:xfrm>
          <a:prstGeom prst="line">
            <a:avLst/>
          </a:prstGeom>
          <a:ln>
            <a:solidFill>
              <a:schemeClr val="accent2">
                <a:lumMod val="60000"/>
                <a:lumOff val="40000"/>
              </a:schemeClr>
            </a:solidFill>
          </a:ln>
        </p:spPr>
        <p:style>
          <a:lnRef idx="1">
            <a:schemeClr val="accent2"/>
          </a:lnRef>
          <a:fillRef idx="0">
            <a:schemeClr val="accent2"/>
          </a:fillRef>
          <a:effectRef idx="0">
            <a:schemeClr val="accent2"/>
          </a:effectRef>
          <a:fontRef idx="minor">
            <a:schemeClr val="tx1"/>
          </a:fontRef>
        </p:style>
      </p:cxnSp>
      <p:cxnSp>
        <p:nvCxnSpPr>
          <p:cNvPr id="45" name="Straight Connector 41"/>
          <p:cNvCxnSpPr/>
          <p:nvPr/>
        </p:nvCxnSpPr>
        <p:spPr>
          <a:xfrm>
            <a:off x="10756527" y="3931367"/>
            <a:ext cx="0" cy="896210"/>
          </a:xfrm>
          <a:prstGeom prst="line">
            <a:avLst/>
          </a:prstGeom>
          <a:ln>
            <a:solidFill>
              <a:schemeClr val="accent2">
                <a:lumMod val="60000"/>
                <a:lumOff val="40000"/>
              </a:schemeClr>
            </a:solidFill>
          </a:ln>
        </p:spPr>
        <p:style>
          <a:lnRef idx="1">
            <a:schemeClr val="accent2"/>
          </a:lnRef>
          <a:fillRef idx="0">
            <a:schemeClr val="accent2"/>
          </a:fillRef>
          <a:effectRef idx="0">
            <a:schemeClr val="accent2"/>
          </a:effectRef>
          <a:fontRef idx="minor">
            <a:schemeClr val="tx1"/>
          </a:fontRef>
        </p:style>
      </p:cxnSp>
      <p:sp>
        <p:nvSpPr>
          <p:cNvPr id="48" name="TextBox 96"/>
          <p:cNvSpPr txBox="1"/>
          <p:nvPr/>
        </p:nvSpPr>
        <p:spPr>
          <a:xfrm>
            <a:off x="5621262" y="5313746"/>
            <a:ext cx="4906389" cy="748061"/>
          </a:xfrm>
          <a:prstGeom prst="rect">
            <a:avLst/>
          </a:prstGeom>
          <a:noFill/>
        </p:spPr>
        <p:txBody>
          <a:bodyPr wrap="square" lIns="0" tIns="0" rIns="0" bIns="0" rtlCol="0" anchor="ctr">
            <a:spAutoFit/>
          </a:bodyPr>
          <a:lstStyle/>
          <a:p>
            <a:r>
              <a:rPr lang="fr-CI" sz="1300" noProof="0">
                <a:solidFill>
                  <a:srgbClr val="060606"/>
                </a:solidFill>
                <a:latin typeface="Helvetica" panose="020B0604020202020204" pitchFamily="34" charset="0"/>
                <a:ea typeface="Lato" pitchFamily="34" charset="0"/>
                <a:cs typeface="Helvetica" panose="020B0604020202020204" pitchFamily="34" charset="0"/>
              </a:rPr>
              <a:t>Le précompte maladie vaut 3,77 % du salaire de base sur 209 670 lignes de huit mois. Le précompte décès vaut 1,23 % (mesuré en avril 2024 et janvier 2025, confirmé de mars 2024 à septembre 2026).</a:t>
            </a:r>
          </a:p>
        </p:txBody>
      </p:sp>
      <p:cxnSp>
        <p:nvCxnSpPr>
          <p:cNvPr id="49" name="Straight Connector 2"/>
          <p:cNvCxnSpPr/>
          <p:nvPr/>
        </p:nvCxnSpPr>
        <p:spPr>
          <a:xfrm>
            <a:off x="5419816" y="5223789"/>
            <a:ext cx="0" cy="896210"/>
          </a:xfrm>
          <a:prstGeom prst="line">
            <a:avLst/>
          </a:prstGeom>
          <a:ln>
            <a:solidFill>
              <a:schemeClr val="accent2">
                <a:lumMod val="60000"/>
                <a:lumOff val="40000"/>
              </a:schemeClr>
            </a:solidFill>
          </a:ln>
        </p:spPr>
        <p:style>
          <a:lnRef idx="1">
            <a:schemeClr val="accent2"/>
          </a:lnRef>
          <a:fillRef idx="0">
            <a:schemeClr val="accent2"/>
          </a:fillRef>
          <a:effectRef idx="0">
            <a:schemeClr val="accent2"/>
          </a:effectRef>
          <a:fontRef idx="minor">
            <a:schemeClr val="tx1"/>
          </a:fontRef>
        </p:style>
      </p:cxnSp>
      <p:cxnSp>
        <p:nvCxnSpPr>
          <p:cNvPr id="63" name="Straight Connector 41"/>
          <p:cNvCxnSpPr/>
          <p:nvPr/>
        </p:nvCxnSpPr>
        <p:spPr>
          <a:xfrm>
            <a:off x="10756527" y="5223789"/>
            <a:ext cx="0" cy="896210"/>
          </a:xfrm>
          <a:prstGeom prst="line">
            <a:avLst/>
          </a:prstGeom>
          <a:ln>
            <a:solidFill>
              <a:schemeClr val="accent2">
                <a:lumMod val="60000"/>
                <a:lumOff val="40000"/>
              </a:schemeClr>
            </a:solidFill>
          </a:ln>
        </p:spPr>
        <p:style>
          <a:lnRef idx="1">
            <a:schemeClr val="accent2"/>
          </a:lnRef>
          <a:fillRef idx="0">
            <a:schemeClr val="accent2"/>
          </a:fillRef>
          <a:effectRef idx="0">
            <a:schemeClr val="accent2"/>
          </a:effectRef>
          <a:fontRef idx="minor">
            <a:schemeClr val="tx1"/>
          </a:fontRef>
        </p:style>
      </p:cxnSp>
      <p:sp>
        <p:nvSpPr>
          <p:cNvPr id="64"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Quatre indicateurs clés</a:t>
            </a:r>
          </a:p>
        </p:txBody>
      </p:sp>
      <p:sp>
        <p:nvSpPr>
          <p:cNvPr id="65"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Quatre ratios résument la situation technique et financière du FPPN</a:t>
            </a:r>
          </a:p>
        </p:txBody>
      </p:sp>
      <p:sp>
        <p:nvSpPr>
          <p:cNvPr id="66"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Sinistralité maladie, couverture de l'épargne, précompte des prêts et taux de cotisation, mesurés sur les données reçues</a:t>
            </a:r>
          </a:p>
        </p:txBody>
      </p:sp>
      <p:sp>
        <p:nvSpPr>
          <p:cNvPr id="67"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fichiers de précomptes de la Solde, de la CGRAE et du FPPN reçus le 15/10/2026 (dossiers « FPPN-SOLDE », « FPPN-CGRAE », « FPPN-GNA », noms exacts en annexe « Fichiers sources »). Traitements Adenka</a:t>
            </a:r>
          </a:p>
        </p:txBody>
      </p:sp>
      <p:sp>
        <p:nvSpPr>
          <p:cNvPr id="68" name="TextBox 67"/>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CGRAE : Caisse générale de retraite des agents de l'État | GNA : assureur de la flotte automobile (compte 47111106) | 9X4 : poste Grenier</a:t>
            </a:r>
          </a:p>
        </p:txBody>
      </p:sp>
    </p:spTree>
    <p:extLst>
      <p:ext uri="{BB962C8B-B14F-4D97-AF65-F5344CB8AC3E}">
        <p14:creationId xmlns:p14="http://schemas.microsoft.com/office/powerpoint/2010/main" val="1668542839"/>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Fonctionnement du FPPN</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cotisations et l'épargne financent prestations, prêts et investissements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En 2025 : 3 417 551 722 FCFA de cotisations, 1 964 772 027 FCFA de prestations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a:t>
            </a:r>
          </a:p>
        </p:txBody>
      </p:sp>
      <p:sp>
        <p:nvSpPr>
          <p:cNvPr id="31" name="Rounded Rectangle 30"/>
          <p:cNvSpPr/>
          <p:nvPr/>
        </p:nvSpPr>
        <p:spPr>
          <a:xfrm>
            <a:off x="503999" y="2484000"/>
            <a:ext cx="2160000" cy="1152000"/>
          </a:xfrm>
          <a:prstGeom prst="roundRect">
            <a:avLst/>
          </a:prstGeom>
          <a:solidFill>
            <a:srgbClr val="112A4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600" b="1">
                <a:solidFill>
                  <a:srgbClr val="FFFFFF"/>
                </a:solidFill>
                <a:latin typeface="Helvetica"/>
              </a:rPr>
              <a:t>Mutualistes</a:t>
            </a:r>
          </a:p>
          <a:p>
            <a:pPr algn="ctr"/>
            <a:r>
              <a:rPr sz="1400" b="0">
                <a:solidFill>
                  <a:srgbClr val="FFFFFF"/>
                </a:solidFill>
                <a:latin typeface="Helvetica"/>
              </a:rPr>
              <a:t>actifs et retraités</a:t>
            </a:r>
          </a:p>
        </p:txBody>
      </p:sp>
      <p:sp>
        <p:nvSpPr>
          <p:cNvPr id="32" name="Rounded Rectangle 31"/>
          <p:cNvSpPr/>
          <p:nvPr/>
        </p:nvSpPr>
        <p:spPr>
          <a:xfrm>
            <a:off x="3240000" y="1584000"/>
            <a:ext cx="2232000" cy="864000"/>
          </a:xfrm>
          <a:prstGeom prst="roundRect">
            <a:avLst/>
          </a:prstGeom>
          <a:solidFill>
            <a:srgbClr val="F2F2F2"/>
          </a:solidFill>
          <a:ln w="19050">
            <a:solidFill>
              <a:srgbClr val="112A40"/>
            </a:solid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400" b="1">
                <a:solidFill>
                  <a:srgbClr val="060606"/>
                </a:solidFill>
                <a:latin typeface="Helvetica"/>
              </a:rPr>
              <a:t>Solde (actifs)</a:t>
            </a:r>
          </a:p>
        </p:txBody>
      </p:sp>
      <p:sp>
        <p:nvSpPr>
          <p:cNvPr id="33" name="Rounded Rectangle 32"/>
          <p:cNvSpPr/>
          <p:nvPr/>
        </p:nvSpPr>
        <p:spPr>
          <a:xfrm>
            <a:off x="3240000" y="3671999"/>
            <a:ext cx="2232000" cy="864000"/>
          </a:xfrm>
          <a:prstGeom prst="roundRect">
            <a:avLst/>
          </a:prstGeom>
          <a:solidFill>
            <a:srgbClr val="F2F2F2"/>
          </a:solidFill>
          <a:ln w="19050">
            <a:solidFill>
              <a:srgbClr val="112A40"/>
            </a:solid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400" b="1">
                <a:solidFill>
                  <a:srgbClr val="060606"/>
                </a:solidFill>
                <a:latin typeface="Helvetica"/>
              </a:rPr>
              <a:t>CGRAE (retraités)</a:t>
            </a:r>
          </a:p>
        </p:txBody>
      </p:sp>
      <p:sp>
        <p:nvSpPr>
          <p:cNvPr id="34" name="Rounded Rectangle 33"/>
          <p:cNvSpPr/>
          <p:nvPr/>
        </p:nvSpPr>
        <p:spPr>
          <a:xfrm>
            <a:off x="6048000" y="2340000"/>
            <a:ext cx="2376000" cy="1440000"/>
          </a:xfrm>
          <a:prstGeom prst="roundRect">
            <a:avLst/>
          </a:prstGeom>
          <a:solidFill>
            <a:srgbClr val="EFAC62"/>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600" b="1">
                <a:solidFill>
                  <a:srgbClr val="060606"/>
                </a:solidFill>
                <a:latin typeface="Helvetica"/>
              </a:rPr>
              <a:t>FPPN</a:t>
            </a:r>
          </a:p>
          <a:p>
            <a:pPr algn="ctr"/>
            <a:r>
              <a:rPr sz="1400" b="0">
                <a:solidFill>
                  <a:srgbClr val="060606"/>
                </a:solidFill>
                <a:latin typeface="Helvetica"/>
              </a:rPr>
              <a:t>Cotisations 2025</a:t>
            </a:r>
          </a:p>
          <a:p>
            <a:pPr algn="ctr"/>
            <a:r>
              <a:rPr sz="1400" b="0">
                <a:solidFill>
                  <a:srgbClr val="060606"/>
                </a:solidFill>
                <a:latin typeface="Helvetica"/>
              </a:rPr>
              <a:t>3 417 551 722 FCFA</a:t>
            </a:r>
          </a:p>
        </p:txBody>
      </p:sp>
      <p:sp>
        <p:nvSpPr>
          <p:cNvPr id="35" name="Rounded Rectangle 34"/>
          <p:cNvSpPr/>
          <p:nvPr/>
        </p:nvSpPr>
        <p:spPr>
          <a:xfrm>
            <a:off x="9072000" y="1422000"/>
            <a:ext cx="2664000" cy="756000"/>
          </a:xfrm>
          <a:prstGeom prst="roundRect">
            <a:avLst/>
          </a:prstGeom>
          <a:solidFill>
            <a:srgbClr val="112A4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200" b="1">
                <a:solidFill>
                  <a:srgbClr val="FFFFFF"/>
                </a:solidFill>
                <a:latin typeface="Helvetica"/>
              </a:rPr>
              <a:t>Prestations maladie</a:t>
            </a:r>
          </a:p>
          <a:p>
            <a:pPr algn="ctr"/>
            <a:r>
              <a:rPr sz="1000" b="0">
                <a:solidFill>
                  <a:srgbClr val="FFFFFF"/>
                </a:solidFill>
                <a:latin typeface="Helvetica"/>
              </a:rPr>
              <a:t>1 771 635 361 FCFA</a:t>
            </a:r>
          </a:p>
        </p:txBody>
      </p:sp>
      <p:cxnSp>
        <p:nvCxnSpPr>
          <p:cNvPr id="36" name="Connector 35"/>
          <p:cNvCxnSpPr/>
          <p:nvPr/>
        </p:nvCxnSpPr>
        <p:spPr>
          <a:xfrm flipV="1">
            <a:off x="8424000" y="1800000"/>
            <a:ext cx="648000" cy="1260000"/>
          </a:xfrm>
          <a:prstGeom prst="line">
            <a:avLst/>
          </a:prstGeom>
          <a:ln w="25400">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9072000" y="2358000"/>
            <a:ext cx="2664000" cy="756000"/>
          </a:xfrm>
          <a:prstGeom prst="roundRect">
            <a:avLst/>
          </a:prstGeom>
          <a:solidFill>
            <a:srgbClr val="112A4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200" b="1">
                <a:solidFill>
                  <a:srgbClr val="FFFFFF"/>
                </a:solidFill>
                <a:latin typeface="Helvetica"/>
              </a:rPr>
              <a:t>Prestations décès</a:t>
            </a:r>
          </a:p>
          <a:p>
            <a:pPr algn="ctr"/>
            <a:r>
              <a:rPr sz="1000" b="0">
                <a:solidFill>
                  <a:srgbClr val="FFFFFF"/>
                </a:solidFill>
                <a:latin typeface="Helvetica"/>
              </a:rPr>
              <a:t>193 136 666 FCFA</a:t>
            </a:r>
          </a:p>
        </p:txBody>
      </p:sp>
      <p:cxnSp>
        <p:nvCxnSpPr>
          <p:cNvPr id="38" name="Connector 37"/>
          <p:cNvCxnSpPr/>
          <p:nvPr/>
        </p:nvCxnSpPr>
        <p:spPr>
          <a:xfrm flipV="1">
            <a:off x="8424000" y="2736000"/>
            <a:ext cx="648000" cy="324000"/>
          </a:xfrm>
          <a:prstGeom prst="line">
            <a:avLst/>
          </a:prstGeom>
          <a:ln w="25400">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9072000" y="3293999"/>
            <a:ext cx="2664000" cy="756000"/>
          </a:xfrm>
          <a:prstGeom prst="roundRect">
            <a:avLst/>
          </a:prstGeom>
          <a:solidFill>
            <a:srgbClr val="112A4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200" b="1">
                <a:solidFill>
                  <a:srgbClr val="FFFFFF"/>
                </a:solidFill>
                <a:latin typeface="Helvetica"/>
              </a:rPr>
              <a:t>Épargne PEP et EFC</a:t>
            </a:r>
          </a:p>
          <a:p>
            <a:pPr algn="ctr"/>
            <a:r>
              <a:rPr sz="1000" b="0">
                <a:solidFill>
                  <a:srgbClr val="FFFFFF"/>
                </a:solidFill>
                <a:latin typeface="Helvetica"/>
              </a:rPr>
              <a:t>15 743 516 391 FCFA</a:t>
            </a:r>
          </a:p>
        </p:txBody>
      </p:sp>
      <p:cxnSp>
        <p:nvCxnSpPr>
          <p:cNvPr id="40" name="Connector 39"/>
          <p:cNvCxnSpPr/>
          <p:nvPr/>
        </p:nvCxnSpPr>
        <p:spPr>
          <a:xfrm>
            <a:off x="8424000" y="3060000"/>
            <a:ext cx="648000" cy="611999"/>
          </a:xfrm>
          <a:prstGeom prst="line">
            <a:avLst/>
          </a:prstGeom>
          <a:ln w="25400">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9072000" y="4230000"/>
            <a:ext cx="2664000" cy="756000"/>
          </a:xfrm>
          <a:prstGeom prst="roundRect">
            <a:avLst/>
          </a:prstGeom>
          <a:solidFill>
            <a:srgbClr val="112A4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200" b="1">
                <a:solidFill>
                  <a:srgbClr val="FFFFFF"/>
                </a:solidFill>
                <a:latin typeface="Helvetica"/>
              </a:rPr>
              <a:t>Prêts du Grenier</a:t>
            </a:r>
          </a:p>
          <a:p>
            <a:pPr algn="ctr"/>
            <a:r>
              <a:rPr sz="1000" b="0">
                <a:solidFill>
                  <a:srgbClr val="FFFFFF"/>
                </a:solidFill>
                <a:latin typeface="Helvetica"/>
              </a:rPr>
              <a:t>915 477 260 FCFA</a:t>
            </a:r>
          </a:p>
        </p:txBody>
      </p:sp>
      <p:cxnSp>
        <p:nvCxnSpPr>
          <p:cNvPr id="42" name="Connector 41"/>
          <p:cNvCxnSpPr/>
          <p:nvPr/>
        </p:nvCxnSpPr>
        <p:spPr>
          <a:xfrm>
            <a:off x="8424000" y="3060000"/>
            <a:ext cx="648000" cy="1548000"/>
          </a:xfrm>
          <a:prstGeom prst="line">
            <a:avLst/>
          </a:prstGeom>
          <a:ln w="25400">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9072000" y="5058000"/>
            <a:ext cx="2664000" cy="756000"/>
          </a:xfrm>
          <a:prstGeom prst="roundRect">
            <a:avLst/>
          </a:prstGeom>
          <a:solidFill>
            <a:srgbClr val="112A4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200" b="1">
                <a:solidFill>
                  <a:srgbClr val="FFFFFF"/>
                </a:solidFill>
                <a:latin typeface="Helvetica"/>
              </a:rPr>
              <a:t>CMP et terrains</a:t>
            </a:r>
          </a:p>
          <a:p>
            <a:pPr algn="ctr"/>
            <a:r>
              <a:rPr sz="1000" b="0">
                <a:solidFill>
                  <a:srgbClr val="FFFFFF"/>
                </a:solidFill>
                <a:latin typeface="Helvetica"/>
              </a:rPr>
              <a:t>12 329 431 315 FCFA</a:t>
            </a:r>
          </a:p>
        </p:txBody>
      </p:sp>
      <p:cxnSp>
        <p:nvCxnSpPr>
          <p:cNvPr id="44" name="Connector 43"/>
          <p:cNvCxnSpPr/>
          <p:nvPr/>
        </p:nvCxnSpPr>
        <p:spPr>
          <a:xfrm>
            <a:off x="8424000" y="3060000"/>
            <a:ext cx="648000" cy="2376000"/>
          </a:xfrm>
          <a:prstGeom prst="line">
            <a:avLst/>
          </a:prstGeom>
          <a:ln w="25400">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2664000" y="2015999"/>
            <a:ext cx="576000" cy="828001"/>
          </a:xfrm>
          <a:prstGeom prst="line">
            <a:avLst/>
          </a:prstGeom>
          <a:ln w="25400">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2664000" y="3276000"/>
            <a:ext cx="576000" cy="828000"/>
          </a:xfrm>
          <a:prstGeom prst="line">
            <a:avLst/>
          </a:prstGeom>
          <a:ln w="25400">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5472000" y="2015999"/>
            <a:ext cx="576000" cy="756001"/>
          </a:xfrm>
          <a:prstGeom prst="line">
            <a:avLst/>
          </a:prstGeom>
          <a:ln w="25400">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5472000" y="3348000"/>
            <a:ext cx="576000" cy="756000"/>
          </a:xfrm>
          <a:prstGeom prst="line">
            <a:avLst/>
          </a:prstGeom>
          <a:ln w="25400">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03999" y="4752000"/>
            <a:ext cx="8136000" cy="1116000"/>
          </a:xfrm>
          <a:prstGeom prst="rect">
            <a:avLst/>
          </a:prstGeom>
          <a:noFill/>
        </p:spPr>
        <p:txBody>
          <a:bodyPr wrap="square" lIns="54000" rIns="54000"/>
          <a:lstStyle/>
          <a:p>
            <a:pPr algn="just">
              <a:spcAft>
                <a:spcPts val="600"/>
              </a:spcAft>
            </a:pPr>
            <a:r>
              <a:rPr sz="1200" b="1">
                <a:solidFill>
                  <a:srgbClr val="060606"/>
                </a:solidFill>
                <a:latin typeface="Helvetica"/>
              </a:rPr>
              <a:t>L'épargne des mutualistes est la ressource la plus importante du FPPN, devant les cotisations.</a:t>
            </a:r>
            <a:r>
              <a:rPr sz="1200" b="0">
                <a:solidFill>
                  <a:srgbClr val="060606"/>
                </a:solidFill>
                <a:latin typeface="Helvetica"/>
              </a:rPr>
              <a:t> Elle atteint 15 743 516 391 FCFA au 31/08/2026, soit plus de quatre fois les cotisations de 2025.</a:t>
            </a:r>
          </a:p>
          <a:p>
            <a:pPr algn="just">
              <a:spcAft>
                <a:spcPts val="600"/>
              </a:spcAft>
            </a:pPr>
            <a:r>
              <a:rPr sz="1200" b="0">
                <a:solidFill>
                  <a:srgbClr val="060606"/>
                </a:solidFill>
                <a:latin typeface="Helvetica"/>
              </a:rPr>
              <a:t>Le FPPN emploie cette épargne en partie dans des actifs peu liquides (CMP, terrains, prêts) : sa capacité à rembourser les épargnants est le premier enjeu de la mission.</a:t>
            </a:r>
          </a:p>
        </p:txBody>
      </p:sp>
      <p:sp>
        <p:nvSpPr>
          <p:cNvPr id="50" name="TextBox 49"/>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CGRAE : Caisse générale de retraite des agents de l'État | PEP : Plan Épargne Plus | EFC : entraide fin de carrière | CMP : Clinique médicale du policier</a:t>
            </a:r>
          </a:p>
        </p:txBody>
      </p:sp>
    </p:spTree>
    <p:extLst>
      <p:ext uri="{BB962C8B-B14F-4D97-AF65-F5344CB8AC3E}">
        <p14:creationId xmlns:p14="http://schemas.microsoft.com/office/powerpoint/2010/main" val="2278839886"/>
      </p:ext>
    </p:extLst>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Image 17"/>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9" name="ZoneTexte 28">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pic>
        <p:nvPicPr>
          <p:cNvPr id="33" name="Image 3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35360" y="1696495"/>
            <a:ext cx="561464" cy="561464"/>
          </a:xfrm>
          <a:prstGeom prst="rect">
            <a:avLst/>
          </a:prstGeom>
        </p:spPr>
      </p:pic>
      <p:pic>
        <p:nvPicPr>
          <p:cNvPr id="34" name="Image 3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328579" y="1762812"/>
            <a:ext cx="542282" cy="542282"/>
          </a:xfrm>
          <a:prstGeom prst="rect">
            <a:avLst/>
          </a:prstGeom>
        </p:spPr>
      </p:pic>
      <p:pic>
        <p:nvPicPr>
          <p:cNvPr id="35" name="Image 34"/>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35360" y="3093364"/>
            <a:ext cx="698701" cy="706825"/>
          </a:xfrm>
          <a:prstGeom prst="rect">
            <a:avLst/>
          </a:prstGeom>
        </p:spPr>
      </p:pic>
      <p:pic>
        <p:nvPicPr>
          <p:cNvPr id="36" name="Image 35"/>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259430" y="3093364"/>
            <a:ext cx="611431" cy="624722"/>
          </a:xfrm>
          <a:prstGeom prst="rect">
            <a:avLst/>
          </a:prstGeom>
        </p:spPr>
      </p:pic>
      <p:pic>
        <p:nvPicPr>
          <p:cNvPr id="44" name="Image 43"/>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35360" y="4454973"/>
            <a:ext cx="678177" cy="678177"/>
          </a:xfrm>
          <a:prstGeom prst="rect">
            <a:avLst/>
          </a:prstGeom>
        </p:spPr>
      </p:pic>
      <p:pic>
        <p:nvPicPr>
          <p:cNvPr id="45" name="Image 44"/>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6272615" y="4594783"/>
            <a:ext cx="598246" cy="598246"/>
          </a:xfrm>
          <a:prstGeom prst="rect">
            <a:avLst/>
          </a:prstGeom>
        </p:spPr>
      </p:pic>
      <p:sp>
        <p:nvSpPr>
          <p:cNvPr id="17" name="TextBox 49"/>
          <p:cNvSpPr txBox="1"/>
          <p:nvPr/>
        </p:nvSpPr>
        <p:spPr>
          <a:xfrm>
            <a:off x="7085829" y="1404489"/>
            <a:ext cx="3252128" cy="1077218"/>
          </a:xfrm>
          <a:prstGeom prst="rect">
            <a:avLst/>
          </a:prstGeom>
          <a:noFill/>
        </p:spPr>
        <p:txBody>
          <a:bodyPr wrap="square" lIns="0" tIns="0" rIns="0" bIns="0" rtlCol="0">
            <a:noAutofit/>
          </a:bodyPr>
          <a:lstStyle/>
          <a:p>
            <a:pPr lvl="0">
              <a:lnSpc>
                <a:spcPct val="110000"/>
              </a:lnSpc>
            </a:pPr>
            <a:r>
              <a:rPr lang="fr-CI" sz="1200" b="1" noProof="0">
                <a:solidFill>
                  <a:srgbClr val="EFAC62"/>
                </a:solidFill>
                <a:latin typeface="Helvetica" panose="020B0604020202020204" pitchFamily="34" charset="0"/>
                <a:ea typeface="Open Sans Semibold" panose="020B0706030804020204" pitchFamily="34" charset="0"/>
                <a:cs typeface="Helvetica" panose="020B0604020202020204" pitchFamily="34" charset="0"/>
              </a:rPr>
              <a:t>Sinistralité en hausse</a:t>
            </a:r>
          </a:p>
          <a:p>
            <a:r>
              <a:rPr lang="fr-CI" sz="1200" noProof="0">
                <a:latin typeface="Helvetica" panose="020B0604020202020204" pitchFamily="34" charset="0"/>
                <a:ea typeface="Open Sans Light" panose="020B0306030504020204" pitchFamily="34" charset="0"/>
                <a:cs typeface="Helvetica" panose="020B0604020202020204" pitchFamily="34" charset="0"/>
              </a:rPr>
              <a:t>Le S/C maladie passe de 6,00 % en 2021 à 73,53 % en 2025 (partie 5).</a:t>
            </a:r>
            <a:endParaRPr lang="fr-CI" sz="1200" noProof="0">
              <a:latin typeface="Helvetica" panose="020B0604020202020204" pitchFamily="34" charset="0"/>
              <a:cs typeface="Helvetica" panose="020B0604020202020204" pitchFamily="34" charset="0"/>
            </a:endParaRPr>
          </a:p>
        </p:txBody>
      </p:sp>
      <p:sp>
        <p:nvSpPr>
          <p:cNvPr id="20" name="TextBox 49"/>
          <p:cNvSpPr txBox="1"/>
          <p:nvPr/>
        </p:nvSpPr>
        <p:spPr>
          <a:xfrm>
            <a:off x="1932614" y="2848076"/>
            <a:ext cx="3252128" cy="1077218"/>
          </a:xfrm>
          <a:prstGeom prst="rect">
            <a:avLst/>
          </a:prstGeom>
          <a:noFill/>
        </p:spPr>
        <p:txBody>
          <a:bodyPr wrap="square" lIns="0" tIns="0" rIns="0" bIns="0" rtlCol="0">
            <a:noAutofit/>
          </a:bodyPr>
          <a:lstStyle/>
          <a:p>
            <a:pPr lvl="0">
              <a:lnSpc>
                <a:spcPct val="110000"/>
              </a:lnSpc>
            </a:pPr>
            <a:r>
              <a:rPr lang="fr-CI" sz="1200" b="1" noProof="0">
                <a:solidFill>
                  <a:srgbClr val="EFAC62"/>
                </a:solidFill>
                <a:latin typeface="Helvetica" panose="020B0604020202020204" pitchFamily="34" charset="0"/>
                <a:ea typeface="Open Sans Semibold" panose="020B0706030804020204" pitchFamily="34" charset="0"/>
                <a:cs typeface="Helvetica" panose="020B0604020202020204" pitchFamily="34" charset="0"/>
              </a:rPr>
              <a:t>Provisions figées</a:t>
            </a:r>
          </a:p>
          <a:p>
            <a:r>
              <a:rPr lang="fr-CI" sz="1200" noProof="0">
                <a:latin typeface="Helvetica" panose="020B0604020202020204" pitchFamily="34" charset="0"/>
                <a:ea typeface="Open Sans Light" panose="020B0306030504020204" pitchFamily="34" charset="0"/>
                <a:cs typeface="Helvetica" panose="020B0604020202020204" pitchFamily="34" charset="0"/>
              </a:rPr>
              <a:t>Les provisions gardent le même montant depuis 2020, alors que les prestations ont été multipliées par 3,90 (partie 9).</a:t>
            </a:r>
            <a:endParaRPr lang="fr-CI" sz="1200" noProof="0">
              <a:latin typeface="Helvetica" panose="020B0604020202020204" pitchFamily="34" charset="0"/>
              <a:cs typeface="Helvetica" panose="020B0604020202020204" pitchFamily="34" charset="0"/>
            </a:endParaRPr>
          </a:p>
        </p:txBody>
      </p:sp>
      <p:sp>
        <p:nvSpPr>
          <p:cNvPr id="21" name="TextBox 49"/>
          <p:cNvSpPr txBox="1"/>
          <p:nvPr/>
        </p:nvSpPr>
        <p:spPr>
          <a:xfrm>
            <a:off x="7085829" y="2818934"/>
            <a:ext cx="3252128" cy="1077218"/>
          </a:xfrm>
          <a:prstGeom prst="rect">
            <a:avLst/>
          </a:prstGeom>
          <a:noFill/>
        </p:spPr>
        <p:txBody>
          <a:bodyPr wrap="square" lIns="0" tIns="0" rIns="0" bIns="0" rtlCol="0">
            <a:noAutofit/>
          </a:bodyPr>
          <a:lstStyle/>
          <a:p>
            <a:pPr lvl="0">
              <a:lnSpc>
                <a:spcPct val="110000"/>
              </a:lnSpc>
            </a:pPr>
            <a:r>
              <a:rPr lang="fr-CI" sz="1200" b="1" noProof="0">
                <a:solidFill>
                  <a:srgbClr val="EFAC62"/>
                </a:solidFill>
                <a:latin typeface="Helvetica" panose="020B0604020202020204" pitchFamily="34" charset="0"/>
                <a:ea typeface="Open Sans Semibold" panose="020B0706030804020204" pitchFamily="34" charset="0"/>
                <a:cs typeface="Helvetica" panose="020B0604020202020204" pitchFamily="34" charset="0"/>
              </a:rPr>
              <a:t>Épargne non adossée</a:t>
            </a:r>
          </a:p>
          <a:p>
            <a:r>
              <a:rPr lang="fr-CI" sz="1200" noProof="0">
                <a:latin typeface="Helvetica" panose="020B0604020202020204" pitchFamily="34" charset="0"/>
                <a:ea typeface="Open Sans Light" panose="020B0306030504020204" pitchFamily="34" charset="0"/>
                <a:cs typeface="Helvetica" panose="020B0604020202020204" pitchFamily="34" charset="0"/>
              </a:rPr>
              <a:t>Des actifs réservés couvrent seulement 16,28 % de l'épargne due (partie 6).</a:t>
            </a:r>
            <a:endParaRPr lang="fr-CI" sz="1200" noProof="0">
              <a:latin typeface="Helvetica" panose="020B0604020202020204" pitchFamily="34" charset="0"/>
              <a:cs typeface="Helvetica" panose="020B0604020202020204" pitchFamily="34" charset="0"/>
            </a:endParaRPr>
          </a:p>
        </p:txBody>
      </p:sp>
      <p:sp>
        <p:nvSpPr>
          <p:cNvPr id="24" name="TextBox 49"/>
          <p:cNvSpPr txBox="1"/>
          <p:nvPr/>
        </p:nvSpPr>
        <p:spPr>
          <a:xfrm>
            <a:off x="1932614" y="4227172"/>
            <a:ext cx="3252128" cy="1077218"/>
          </a:xfrm>
          <a:prstGeom prst="rect">
            <a:avLst/>
          </a:prstGeom>
          <a:noFill/>
        </p:spPr>
        <p:txBody>
          <a:bodyPr wrap="square" lIns="0" tIns="0" rIns="0" bIns="0" rtlCol="0">
            <a:noAutofit/>
          </a:bodyPr>
          <a:lstStyle/>
          <a:p>
            <a:pPr lvl="0">
              <a:lnSpc>
                <a:spcPct val="110000"/>
              </a:lnSpc>
            </a:pPr>
            <a:r>
              <a:rPr lang="fr-CI" sz="1200" b="1" noProof="0">
                <a:solidFill>
                  <a:srgbClr val="EFAC62"/>
                </a:solidFill>
                <a:latin typeface="Helvetica" panose="020B0604020202020204" pitchFamily="34" charset="0"/>
                <a:ea typeface="Open Sans Semibold" panose="020B0706030804020204" pitchFamily="34" charset="0"/>
                <a:cs typeface="Helvetica" panose="020B0604020202020204" pitchFamily="34" charset="0"/>
              </a:rPr>
              <a:t>Fonds propres négatifs</a:t>
            </a:r>
          </a:p>
          <a:p>
            <a:r>
              <a:rPr lang="fr-CI" sz="1200" noProof="0">
                <a:latin typeface="Helvetica" panose="020B0604020202020204" pitchFamily="34" charset="0"/>
                <a:ea typeface="Open Sans Light" panose="020B0306030504020204" pitchFamily="34" charset="0"/>
                <a:cs typeface="Helvetica" panose="020B0604020202020204" pitchFamily="34" charset="0"/>
              </a:rPr>
              <a:t>Les fonds propres valent -438 242 200 FCFA fin 2025, et l'actif repose sur des emplois peu liquides (partie 9).</a:t>
            </a:r>
            <a:endParaRPr lang="fr-CI" sz="1200" noProof="0">
              <a:latin typeface="Helvetica" panose="020B0604020202020204" pitchFamily="34" charset="0"/>
              <a:cs typeface="Helvetica" panose="020B0604020202020204" pitchFamily="34" charset="0"/>
            </a:endParaRPr>
          </a:p>
        </p:txBody>
      </p:sp>
      <p:sp>
        <p:nvSpPr>
          <p:cNvPr id="25" name="TextBox 49"/>
          <p:cNvSpPr txBox="1"/>
          <p:nvPr/>
        </p:nvSpPr>
        <p:spPr>
          <a:xfrm>
            <a:off x="7085829" y="4198030"/>
            <a:ext cx="3252128" cy="1077218"/>
          </a:xfrm>
          <a:prstGeom prst="rect">
            <a:avLst/>
          </a:prstGeom>
          <a:noFill/>
        </p:spPr>
        <p:txBody>
          <a:bodyPr wrap="square" lIns="0" tIns="0" rIns="0" bIns="0" rtlCol="0">
            <a:noAutofit/>
          </a:bodyPr>
          <a:lstStyle/>
          <a:p>
            <a:pPr lvl="0">
              <a:lnSpc>
                <a:spcPct val="110000"/>
              </a:lnSpc>
            </a:pPr>
            <a:r>
              <a:rPr lang="fr-CI" sz="1200" b="1" noProof="0">
                <a:solidFill>
                  <a:srgbClr val="EFAC62"/>
                </a:solidFill>
                <a:latin typeface="Helvetica" panose="020B0604020202020204" pitchFamily="34" charset="0"/>
                <a:ea typeface="Open Sans Semibold" panose="020B0706030804020204" pitchFamily="34" charset="0"/>
                <a:cs typeface="Helvetica" panose="020B0604020202020204" pitchFamily="34" charset="0"/>
              </a:rPr>
              <a:t>Normes non respectées</a:t>
            </a:r>
          </a:p>
          <a:p>
            <a:r>
              <a:rPr lang="fr-CI" sz="1200" noProof="0">
                <a:latin typeface="Helvetica" panose="020B0604020202020204" pitchFamily="34" charset="0"/>
                <a:ea typeface="Open Sans Light" panose="020B0306030504020204" pitchFamily="34" charset="0"/>
                <a:cs typeface="Helvetica" panose="020B0604020202020204" pitchFamily="34" charset="0"/>
              </a:rPr>
              <a:t>14 ratios de la Décision n° 05/2022 sur 36 ne sont pas respectés, dont la réserve obligatoire et la liquidité (partie 10).</a:t>
            </a:r>
            <a:endParaRPr lang="fr-CI" sz="1200" noProof="0">
              <a:latin typeface="Helvetica" panose="020B0604020202020204" pitchFamily="34" charset="0"/>
              <a:cs typeface="Helvetica" panose="020B0604020202020204" pitchFamily="34" charset="0"/>
            </a:endParaRPr>
          </a:p>
        </p:txBody>
      </p:sp>
      <p:sp>
        <p:nvSpPr>
          <p:cNvPr id="30" name="TextBox 49"/>
          <p:cNvSpPr txBox="1"/>
          <p:nvPr/>
        </p:nvSpPr>
        <p:spPr>
          <a:xfrm>
            <a:off x="1932614" y="1433631"/>
            <a:ext cx="3252128" cy="1077218"/>
          </a:xfrm>
          <a:prstGeom prst="rect">
            <a:avLst/>
          </a:prstGeom>
          <a:noFill/>
        </p:spPr>
        <p:txBody>
          <a:bodyPr wrap="square" lIns="0" tIns="0" rIns="0" bIns="0" rtlCol="0">
            <a:noAutofit/>
          </a:bodyPr>
          <a:lstStyle/>
          <a:p>
            <a:pPr lvl="0">
              <a:lnSpc>
                <a:spcPct val="110000"/>
              </a:lnSpc>
            </a:pPr>
            <a:r>
              <a:rPr lang="fr-CI" sz="1200" b="1" noProof="0">
                <a:solidFill>
                  <a:srgbClr val="EFAC62"/>
                </a:solidFill>
                <a:latin typeface="Helvetica" panose="020B0604020202020204" pitchFamily="34" charset="0"/>
                <a:ea typeface="Open Sans Semibold" panose="020B0706030804020204" pitchFamily="34" charset="0"/>
                <a:cs typeface="Helvetica" panose="020B0604020202020204" pitchFamily="34" charset="0"/>
              </a:rPr>
              <a:t>Données incomplètes</a:t>
            </a:r>
          </a:p>
          <a:p>
            <a:r>
              <a:rPr lang="fr-CI" sz="1200" noProof="0">
                <a:latin typeface="Helvetica" panose="020B0604020202020204" pitchFamily="34" charset="0"/>
                <a:ea typeface="Open Sans Light" panose="020B0306030504020204" pitchFamily="34" charset="0"/>
                <a:cs typeface="Helvetica" panose="020B0604020202020204" pitchFamily="34" charset="0"/>
              </a:rPr>
              <a:t>Le FPPN n'a transmis ni base de prestations, ni dates de naissance. Les analyses actuarielles centrales restent en attente (parties 3 et 14).</a:t>
            </a:r>
            <a:endParaRPr lang="fr-CI" sz="1200" noProof="0">
              <a:latin typeface="Helvetica" panose="020B0604020202020204" pitchFamily="34" charset="0"/>
              <a:cs typeface="Helvetica" panose="020B0604020202020204" pitchFamily="34" charset="0"/>
            </a:endParaRPr>
          </a:p>
        </p:txBody>
      </p:sp>
      <p:sp>
        <p:nvSpPr>
          <p:cNvPr id="46"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Six constats majeurs</a:t>
            </a:r>
          </a:p>
        </p:txBody>
      </p:sp>
      <p:sp>
        <p:nvSpPr>
          <p:cNvPr id="47"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fragilités portent sur les données, les provisions, l'épargne et les normes</a:t>
            </a:r>
          </a:p>
        </p:txBody>
      </p:sp>
      <p:sp>
        <p:nvSpPr>
          <p:cNvPr id="48"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Chaque constat est démontré dans la partie indiquée, à partir des fichiers du FPPN et des textes de l'UEMOA</a:t>
            </a:r>
          </a:p>
        </p:txBody>
      </p:sp>
      <p:sp>
        <p:nvSpPr>
          <p:cNvPr id="49"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analyses Adenka</a:t>
            </a:r>
          </a:p>
        </p:txBody>
      </p:sp>
      <p:sp>
        <p:nvSpPr>
          <p:cNvPr id="50" name="TextBox 49"/>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S/C : prestations / cotisations</a:t>
            </a:r>
          </a:p>
        </p:txBody>
      </p:sp>
    </p:spTree>
    <p:extLst>
      <p:ext uri="{BB962C8B-B14F-4D97-AF65-F5344CB8AC3E}">
        <p14:creationId xmlns:p14="http://schemas.microsoft.com/office/powerpoint/2010/main" val="335583446"/>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Graphiques clés (1/2)</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sinistralité maladie monte pendant que l'épargne reste peu couverte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S/C maladie 2025 : 73,53 %. Couverture de l'épargne au 31/08/2026 : 16,28 %</a:t>
            </a:r>
          </a:p>
        </p:txBody>
      </p:sp>
      <p:sp>
        <p:nvSpPr>
          <p:cNvPr id="30" name="TextBox 29"/>
          <p:cNvSpPr txBox="1"/>
          <p:nvPr/>
        </p:nvSpPr>
        <p:spPr>
          <a:xfrm>
            <a:off x="503999" y="1386000"/>
            <a:ext cx="5472000" cy="251999"/>
          </a:xfrm>
          <a:prstGeom prst="rect">
            <a:avLst/>
          </a:prstGeom>
          <a:noFill/>
        </p:spPr>
        <p:txBody>
          <a:bodyPr wrap="square">
            <a:spAutoFit/>
          </a:bodyPr>
          <a:lstStyle/>
          <a:p>
            <a:pPr algn="ctr">
              <a:spcAft>
                <a:spcPts val="0"/>
              </a:spcAft>
            </a:pPr>
            <a:r>
              <a:rPr sz="1200" b="0">
                <a:solidFill>
                  <a:srgbClr val="EFAC62"/>
                </a:solidFill>
                <a:latin typeface="Helvetica"/>
              </a:rPr>
              <a:t>Figure 1 : Ratio S/C maladie (prestations / cotisations)</a:t>
            </a:r>
          </a:p>
        </p:txBody>
      </p:sp>
      <p:sp>
        <p:nvSpPr>
          <p:cNvPr id="31" name="TextBox 30"/>
          <p:cNvSpPr txBox="1"/>
          <p:nvPr/>
        </p:nvSpPr>
        <p:spPr>
          <a:xfrm>
            <a:off x="503999" y="1602000"/>
            <a:ext cx="5472000" cy="162000"/>
          </a:xfrm>
          <a:prstGeom prst="rect">
            <a:avLst/>
          </a:prstGeom>
          <a:noFill/>
        </p:spPr>
        <p:txBody>
          <a:bodyPr wrap="square">
            <a:spAutoFit/>
          </a:bodyPr>
          <a:lstStyle/>
          <a:p>
            <a:pPr algn="l">
              <a:spcAft>
                <a:spcPts val="0"/>
              </a:spcAft>
            </a:pPr>
            <a:r>
              <a:rPr sz="900" b="0">
                <a:solidFill>
                  <a:srgbClr val="060606"/>
                </a:solidFill>
                <a:latin typeface="Helvetica"/>
              </a:rPr>
              <a:t>En %</a:t>
            </a:r>
          </a:p>
        </p:txBody>
      </p:sp>
      <p:graphicFrame>
        <p:nvGraphicFramePr>
          <p:cNvPr id="32" name="Chart 31"/>
          <p:cNvGraphicFramePr>
            <a:graphicFrameLocks noGrp="1"/>
          </p:cNvGraphicFramePr>
          <p:nvPr/>
        </p:nvGraphicFramePr>
        <p:xfrm>
          <a:off x="503999" y="1782000"/>
          <a:ext cx="5472000" cy="2699999"/>
        </p:xfrm>
        <a:graphic>
          <a:graphicData uri="http://schemas.openxmlformats.org/drawingml/2006/chart">
            <c:chart xmlns:c="http://schemas.openxmlformats.org/drawingml/2006/chart" r:id="rId6"/>
          </a:graphicData>
        </a:graphic>
      </p:graphicFrame>
      <p:sp>
        <p:nvSpPr>
          <p:cNvPr id="33" name="TextBox 32"/>
          <p:cNvSpPr txBox="1"/>
          <p:nvPr/>
        </p:nvSpPr>
        <p:spPr>
          <a:xfrm>
            <a:off x="6263999" y="1386000"/>
            <a:ext cx="5472000" cy="251999"/>
          </a:xfrm>
          <a:prstGeom prst="rect">
            <a:avLst/>
          </a:prstGeom>
          <a:noFill/>
        </p:spPr>
        <p:txBody>
          <a:bodyPr wrap="square">
            <a:spAutoFit/>
          </a:bodyPr>
          <a:lstStyle/>
          <a:p>
            <a:pPr algn="ctr">
              <a:spcAft>
                <a:spcPts val="0"/>
              </a:spcAft>
            </a:pPr>
            <a:r>
              <a:rPr sz="1200" b="0">
                <a:solidFill>
                  <a:srgbClr val="EFAC62"/>
                </a:solidFill>
                <a:latin typeface="Helvetica"/>
              </a:rPr>
              <a:t>Figure 2 : Épargne due et actifs réservés</a:t>
            </a:r>
          </a:p>
        </p:txBody>
      </p:sp>
      <p:sp>
        <p:nvSpPr>
          <p:cNvPr id="34" name="TextBox 33"/>
          <p:cNvSpPr txBox="1"/>
          <p:nvPr/>
        </p:nvSpPr>
        <p:spPr>
          <a:xfrm>
            <a:off x="6263999" y="1602000"/>
            <a:ext cx="5472000" cy="162000"/>
          </a:xfrm>
          <a:prstGeom prst="rect">
            <a:avLst/>
          </a:prstGeom>
          <a:noFill/>
        </p:spPr>
        <p:txBody>
          <a:bodyPr wrap="square">
            <a:spAutoFit/>
          </a:bodyPr>
          <a:lstStyle/>
          <a:p>
            <a:pPr algn="l">
              <a:spcAft>
                <a:spcPts val="0"/>
              </a:spcAft>
            </a:pPr>
            <a:r>
              <a:rPr sz="900" b="0">
                <a:solidFill>
                  <a:srgbClr val="060606"/>
                </a:solidFill>
                <a:latin typeface="Helvetica"/>
              </a:rPr>
              <a:t>En millions de FCFA</a:t>
            </a:r>
          </a:p>
        </p:txBody>
      </p:sp>
      <p:graphicFrame>
        <p:nvGraphicFramePr>
          <p:cNvPr id="35" name="Chart 34"/>
          <p:cNvGraphicFramePr>
            <a:graphicFrameLocks noGrp="1"/>
          </p:cNvGraphicFramePr>
          <p:nvPr/>
        </p:nvGraphicFramePr>
        <p:xfrm>
          <a:off x="6263999" y="1782000"/>
          <a:ext cx="5472000" cy="2699999"/>
        </p:xfrm>
        <a:graphic>
          <a:graphicData uri="http://schemas.openxmlformats.org/drawingml/2006/chart">
            <c:chart xmlns:c="http://schemas.openxmlformats.org/drawingml/2006/chart" r:id="rId7"/>
          </a:graphicData>
        </a:graphic>
      </p:graphicFrame>
      <p:sp>
        <p:nvSpPr>
          <p:cNvPr id="36"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a:t>
            </a:r>
          </a:p>
        </p:txBody>
      </p:sp>
      <p:sp>
        <p:nvSpPr>
          <p:cNvPr id="37" name="TextBox 36"/>
          <p:cNvSpPr txBox="1"/>
          <p:nvPr/>
        </p:nvSpPr>
        <p:spPr>
          <a:xfrm>
            <a:off x="503999" y="4482000"/>
            <a:ext cx="11232000" cy="306000"/>
          </a:xfrm>
          <a:prstGeom prst="rect">
            <a:avLst/>
          </a:prstGeom>
          <a:noFill/>
        </p:spPr>
        <p:txBody>
          <a:bodyPr wrap="square" anchor="t" lIns="54000" rIns="54000"/>
          <a:lstStyle/>
          <a:p>
            <a:pPr algn="l"/>
            <a:r>
              <a:rPr sz="850" b="0">
                <a:solidFill>
                  <a:srgbClr val="53565A"/>
                </a:solidFill>
                <a:latin typeface="Helvetica"/>
              </a:rPr>
              <a:t>Valable pour : S/C maladie : comptes 601, 6013, 6018 et 60800007 (prestations) et 7010 (cotisations) des balances « BALANCE FORMAT EXCEL DE 09-2020 AU 31-12-2020.xlsx » à « BALANCE FPPN DU 01-01-2026 AU 31-08-2026.xlsx », 2020 à 2025 et du 01/01 au 31/08/2026. Épargne : comptes 41195100 et 41195200. Actifs réservés : banques et DAT de l'épargne et FCP.</a:t>
            </a:r>
          </a:p>
        </p:txBody>
      </p:sp>
      <p:sp>
        <p:nvSpPr>
          <p:cNvPr id="38" name="TextBox 37"/>
          <p:cNvSpPr txBox="1"/>
          <p:nvPr/>
        </p:nvSpPr>
        <p:spPr>
          <a:xfrm>
            <a:off x="503999" y="4950000"/>
            <a:ext cx="11232000" cy="918000"/>
          </a:xfrm>
          <a:prstGeom prst="rect">
            <a:avLst/>
          </a:prstGeom>
          <a:noFill/>
        </p:spPr>
        <p:txBody>
          <a:bodyPr wrap="square" lIns="54000" rIns="54000"/>
          <a:lstStyle/>
          <a:p>
            <a:pPr algn="just">
              <a:spcAft>
                <a:spcPts val="600"/>
              </a:spcAft>
            </a:pPr>
            <a:r>
              <a:rPr sz="1300" b="1">
                <a:solidFill>
                  <a:srgbClr val="060606"/>
                </a:solidFill>
                <a:latin typeface="Helvetica"/>
              </a:rPr>
              <a:t>Les deux courbes vont dans le mauvais sens pour la solvabilité.</a:t>
            </a:r>
            <a:r>
              <a:rPr sz="1300" b="0">
                <a:solidFill>
                  <a:srgbClr val="060606"/>
                </a:solidFill>
                <a:latin typeface="Helvetica"/>
              </a:rPr>
              <a:t> Les prestations consomment une part croissante des cotisations, et l'épargne grossit plus vite que les actifs qui la garantissent. Implication : le FPPN dispose de moins en moins de marge pour faire face à un choc de prestations ou de retraits.</a:t>
            </a:r>
          </a:p>
        </p:txBody>
      </p:sp>
      <p:sp>
        <p:nvSpPr>
          <p:cNvPr id="39" name="TextBox 38"/>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PEP : Plan Épargne Plus | EFC : entraide fin de carrière | FCP : fonds commun de placement | DAT : dépôt à terme | S/C : prestations / cotisations</a:t>
            </a:r>
          </a:p>
        </p:txBody>
      </p:sp>
    </p:spTree>
    <p:extLst>
      <p:ext uri="{BB962C8B-B14F-4D97-AF65-F5344CB8AC3E}">
        <p14:creationId xmlns:p14="http://schemas.microsoft.com/office/powerpoint/2010/main" val="2329032163"/>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Graphiques clés (2/2)</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fonds propres restent négatifs et l'encours de prêts explose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Fonds propres 2025 : -438 242 200 FCFA. Encours du Grenier au 31/08/2026 : 1 044 302 107 FCFA</a:t>
            </a:r>
          </a:p>
        </p:txBody>
      </p:sp>
      <p:sp>
        <p:nvSpPr>
          <p:cNvPr id="30" name="TextBox 29"/>
          <p:cNvSpPr txBox="1"/>
          <p:nvPr/>
        </p:nvSpPr>
        <p:spPr>
          <a:xfrm>
            <a:off x="503999" y="1386000"/>
            <a:ext cx="5472000" cy="251999"/>
          </a:xfrm>
          <a:prstGeom prst="rect">
            <a:avLst/>
          </a:prstGeom>
          <a:noFill/>
        </p:spPr>
        <p:txBody>
          <a:bodyPr wrap="square">
            <a:spAutoFit/>
          </a:bodyPr>
          <a:lstStyle/>
          <a:p>
            <a:pPr algn="ctr">
              <a:spcAft>
                <a:spcPts val="0"/>
              </a:spcAft>
            </a:pPr>
            <a:r>
              <a:rPr sz="1200" b="0">
                <a:solidFill>
                  <a:srgbClr val="EFAC62"/>
                </a:solidFill>
                <a:latin typeface="Helvetica"/>
              </a:rPr>
              <a:t>Figure 3 : Fonds propres</a:t>
            </a:r>
          </a:p>
        </p:txBody>
      </p:sp>
      <p:sp>
        <p:nvSpPr>
          <p:cNvPr id="31" name="TextBox 30"/>
          <p:cNvSpPr txBox="1"/>
          <p:nvPr/>
        </p:nvSpPr>
        <p:spPr>
          <a:xfrm>
            <a:off x="503999" y="1602000"/>
            <a:ext cx="5472000" cy="162000"/>
          </a:xfrm>
          <a:prstGeom prst="rect">
            <a:avLst/>
          </a:prstGeom>
          <a:noFill/>
        </p:spPr>
        <p:txBody>
          <a:bodyPr wrap="square">
            <a:spAutoFit/>
          </a:bodyPr>
          <a:lstStyle/>
          <a:p>
            <a:pPr algn="l">
              <a:spcAft>
                <a:spcPts val="0"/>
              </a:spcAft>
            </a:pPr>
            <a:r>
              <a:rPr sz="900" b="0">
                <a:solidFill>
                  <a:srgbClr val="060606"/>
                </a:solidFill>
                <a:latin typeface="Helvetica"/>
              </a:rPr>
              <a:t>En millions de FCFA</a:t>
            </a:r>
          </a:p>
        </p:txBody>
      </p:sp>
      <p:graphicFrame>
        <p:nvGraphicFramePr>
          <p:cNvPr id="32" name="Chart 31"/>
          <p:cNvGraphicFramePr>
            <a:graphicFrameLocks noGrp="1"/>
          </p:cNvGraphicFramePr>
          <p:nvPr/>
        </p:nvGraphicFramePr>
        <p:xfrm>
          <a:off x="503999" y="1782000"/>
          <a:ext cx="5472000" cy="2699999"/>
        </p:xfrm>
        <a:graphic>
          <a:graphicData uri="http://schemas.openxmlformats.org/drawingml/2006/chart">
            <c:chart xmlns:c="http://schemas.openxmlformats.org/drawingml/2006/chart" r:id="rId6"/>
          </a:graphicData>
        </a:graphic>
      </p:graphicFrame>
      <p:sp>
        <p:nvSpPr>
          <p:cNvPr id="33" name="TextBox 32"/>
          <p:cNvSpPr txBox="1"/>
          <p:nvPr/>
        </p:nvSpPr>
        <p:spPr>
          <a:xfrm>
            <a:off x="6263999" y="1386000"/>
            <a:ext cx="5472000" cy="251999"/>
          </a:xfrm>
          <a:prstGeom prst="rect">
            <a:avLst/>
          </a:prstGeom>
          <a:noFill/>
        </p:spPr>
        <p:txBody>
          <a:bodyPr wrap="square">
            <a:spAutoFit/>
          </a:bodyPr>
          <a:lstStyle/>
          <a:p>
            <a:pPr algn="ctr">
              <a:spcAft>
                <a:spcPts val="0"/>
              </a:spcAft>
            </a:pPr>
            <a:r>
              <a:rPr sz="1200" b="0">
                <a:solidFill>
                  <a:srgbClr val="EFAC62"/>
                </a:solidFill>
                <a:latin typeface="Helvetica"/>
              </a:rPr>
              <a:t>Figure 4 : Encours des prêts du Grenier</a:t>
            </a:r>
          </a:p>
        </p:txBody>
      </p:sp>
      <p:sp>
        <p:nvSpPr>
          <p:cNvPr id="34" name="TextBox 33"/>
          <p:cNvSpPr txBox="1"/>
          <p:nvPr/>
        </p:nvSpPr>
        <p:spPr>
          <a:xfrm>
            <a:off x="6263999" y="1602000"/>
            <a:ext cx="5472000" cy="162000"/>
          </a:xfrm>
          <a:prstGeom prst="rect">
            <a:avLst/>
          </a:prstGeom>
          <a:noFill/>
        </p:spPr>
        <p:txBody>
          <a:bodyPr wrap="square">
            <a:spAutoFit/>
          </a:bodyPr>
          <a:lstStyle/>
          <a:p>
            <a:pPr algn="l">
              <a:spcAft>
                <a:spcPts val="0"/>
              </a:spcAft>
            </a:pPr>
            <a:r>
              <a:rPr sz="900" b="0">
                <a:solidFill>
                  <a:srgbClr val="060606"/>
                </a:solidFill>
                <a:latin typeface="Helvetica"/>
              </a:rPr>
              <a:t>En millions de FCFA</a:t>
            </a:r>
          </a:p>
        </p:txBody>
      </p:sp>
      <p:graphicFrame>
        <p:nvGraphicFramePr>
          <p:cNvPr id="35" name="Chart 34"/>
          <p:cNvGraphicFramePr>
            <a:graphicFrameLocks noGrp="1"/>
          </p:cNvGraphicFramePr>
          <p:nvPr/>
        </p:nvGraphicFramePr>
        <p:xfrm>
          <a:off x="6263999" y="1782000"/>
          <a:ext cx="5472000" cy="2699999"/>
        </p:xfrm>
        <a:graphic>
          <a:graphicData uri="http://schemas.openxmlformats.org/drawingml/2006/chart">
            <c:chart xmlns:c="http://schemas.openxmlformats.org/drawingml/2006/chart" r:id="rId7"/>
          </a:graphicData>
        </a:graphic>
      </p:graphicFrame>
      <p:sp>
        <p:nvSpPr>
          <p:cNvPr id="36"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 Exports du logiciel de prêts du Grenier du Policier « BalanceAgeeDetaille … .xls » et « production_de_la_periode … .xls » reçus le 15/10/2026. Traitements Adenka</a:t>
            </a:r>
          </a:p>
        </p:txBody>
      </p:sp>
      <p:sp>
        <p:nvSpPr>
          <p:cNvPr id="37" name="TextBox 36"/>
          <p:cNvSpPr txBox="1"/>
          <p:nvPr/>
        </p:nvSpPr>
        <p:spPr>
          <a:xfrm>
            <a:off x="503999" y="4482000"/>
            <a:ext cx="11232000" cy="306000"/>
          </a:xfrm>
          <a:prstGeom prst="rect">
            <a:avLst/>
          </a:prstGeom>
          <a:noFill/>
        </p:spPr>
        <p:txBody>
          <a:bodyPr wrap="square" anchor="t" lIns="54000" rIns="54000"/>
          <a:lstStyle/>
          <a:p>
            <a:pPr algn="l"/>
            <a:r>
              <a:rPr sz="850" b="0">
                <a:solidFill>
                  <a:srgbClr val="53565A"/>
                </a:solidFill>
                <a:latin typeface="Helvetica"/>
              </a:rPr>
              <a:t>Valable pour : fonds propres : comptes 10, 11, 12 et résultat des balances « BALANCE FORMAT EXCEL DE 09-2020 AU 31-12-2020.xlsx » à « BALANCE FPPN DU 01-01-2026 AU 31-08-2026.xlsx ». Encours du Grenier : exports « BalanceAgeeDetaille … .xls » du logiciel de prêts du Grenier, arrêtés annuels du 31/12/2021 au 31/12/2025 et au 31/08/2026.</a:t>
            </a:r>
          </a:p>
        </p:txBody>
      </p:sp>
      <p:sp>
        <p:nvSpPr>
          <p:cNvPr id="38" name="TextBox 37"/>
          <p:cNvSpPr txBox="1"/>
          <p:nvPr/>
        </p:nvSpPr>
        <p:spPr>
          <a:xfrm>
            <a:off x="503999" y="4950000"/>
            <a:ext cx="11232000" cy="918000"/>
          </a:xfrm>
          <a:prstGeom prst="rect">
            <a:avLst/>
          </a:prstGeom>
          <a:noFill/>
        </p:spPr>
        <p:txBody>
          <a:bodyPr wrap="square" lIns="54000" rIns="54000"/>
          <a:lstStyle/>
          <a:p>
            <a:pPr algn="just">
              <a:spcAft>
                <a:spcPts val="600"/>
              </a:spcAft>
            </a:pPr>
            <a:r>
              <a:rPr sz="1300" b="1">
                <a:solidFill>
                  <a:srgbClr val="060606"/>
                </a:solidFill>
                <a:latin typeface="Helvetica"/>
              </a:rPr>
              <a:t>Le redressement des fonds propres s'interrompt en 2026, au moment où l'encours des prêts atteint son plus haut niveau.</a:t>
            </a:r>
            <a:r>
              <a:rPr sz="1300" b="0">
                <a:solidFill>
                  <a:srgbClr val="060606"/>
                </a:solidFill>
                <a:latin typeface="Helvetica"/>
              </a:rPr>
              <a:t> Implication : le FPPN finance une activité de crédit en croissance rapide sans coussin de fonds propres pour absorber d'éventuelles pertes.</a:t>
            </a:r>
          </a:p>
        </p:txBody>
      </p:sp>
      <p:sp>
        <p:nvSpPr>
          <p:cNvPr id="39" name="TextBox 38"/>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3823919555"/>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Conformité prudentielle en bref</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ratios de solvabilité et de liquidité de l'UEMOA ne sont pas respectés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Sur 36 indicateurs de la Décision n° 05/2022 : 14 non conformes, 7 conformes, 15 en attente de données ou à apprécier</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Décision n° 05/2022/COM/UEMOA du 1er juin 2022, annexe. Règlement d'exécution n° 004/2022/COM/UEMOA du 1er juin 2022. Règlement n° 07/2009/CM/UEMOA du 26 juin 2009. Balances du FPPN. Calculs Adenka</a:t>
            </a:r>
          </a:p>
        </p:txBody>
      </p:sp>
      <p:sp>
        <p:nvSpPr>
          <p:cNvPr id="31" name="TextBox 30"/>
          <p:cNvSpPr txBox="1"/>
          <p:nvPr/>
        </p:nvSpPr>
        <p:spPr>
          <a:xfrm>
            <a:off x="503999" y="1386000"/>
            <a:ext cx="7056000" cy="216000"/>
          </a:xfrm>
          <a:prstGeom prst="rect">
            <a:avLst/>
          </a:prstGeom>
          <a:noFill/>
        </p:spPr>
        <p:txBody>
          <a:bodyPr wrap="square" anchor="t" lIns="54000" rIns="54000"/>
          <a:lstStyle/>
          <a:p>
            <a:pPr algn="ctr"/>
            <a:r>
              <a:rPr sz="1200" b="0">
                <a:solidFill>
                  <a:srgbClr val="EFAC62"/>
                </a:solidFill>
                <a:latin typeface="Helvetica"/>
              </a:rPr>
              <a:t>Tableau 9 : Huit ratios prudentiels clés, exercice 2025</a:t>
            </a:r>
          </a:p>
        </p:txBody>
      </p:sp>
      <p:graphicFrame>
        <p:nvGraphicFramePr>
          <p:cNvPr id="32" name="Table 31"/>
          <p:cNvGraphicFramePr>
            <a:graphicFrameLocks noGrp="1"/>
          </p:cNvGraphicFramePr>
          <p:nvPr/>
        </p:nvGraphicFramePr>
        <p:xfrm>
          <a:off x="503999" y="1655999"/>
          <a:ext cx="7056000" cy="3033156"/>
        </p:xfrm>
        <a:graphic>
          <a:graphicData uri="http://schemas.openxmlformats.org/drawingml/2006/table">
            <a:tbl>
              <a:tblPr firstRow="0" bandRow="0">
                <a:tableStyleId>{5940675A-B579-460E-94D1-54222C63F5DA}</a:tableStyleId>
              </a:tblPr>
              <a:tblGrid>
                <a:gridCol w="2610000"/>
                <a:gridCol w="1270800"/>
                <a:gridCol w="1058400"/>
                <a:gridCol w="986400"/>
                <a:gridCol w="1130400"/>
              </a:tblGrid>
              <a:tr h="392901">
                <a:tc>
                  <a:txBody>
                    <a:bodyPr/>
                    <a:lstStyle/>
                    <a:p>
                      <a:pPr marL="0" indent="0" lvl="0">
                        <a:buNone/>
                      </a:pPr>
                      <a:r>
                        <a:rPr sz="1100" b="1">
                          <a:solidFill>
                            <a:srgbClr val="FFFFFF"/>
                          </a:solidFill>
                          <a:latin typeface="Helvetica"/>
                        </a:rPr>
                        <a:t>Ratio</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Norme</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Comme le FPPN</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Retraité</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Statut 2022 à 2025</a:t>
                      </a:r>
                    </a:p>
                  </a:txBody>
                  <a:tcPr marL="43200" marR="43200" marT="14400" marB="14400" anchor="ctr">
                    <a:solidFill>
                      <a:srgbClr val="060606"/>
                    </a:solidFill>
                  </a:tcPr>
                </a:tc>
              </a:tr>
              <a:tr h="392901">
                <a:tc>
                  <a:txBody>
                    <a:bodyPr/>
                    <a:lstStyle/>
                    <a:p>
                      <a:pPr marL="0" indent="0" lvl="0">
                        <a:buNone/>
                      </a:pPr>
                      <a:r>
                        <a:rPr sz="1100" b="1">
                          <a:solidFill>
                            <a:srgbClr val="060606"/>
                          </a:solidFill>
                          <a:latin typeface="Helvetica"/>
                        </a:rPr>
                        <a:t>Taux de sinistralité</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Entre 70 % et 80 %</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57,48 %</a:t>
                      </a:r>
                    </a:p>
                  </a:txBody>
                  <a:tcPr marL="43200" marR="43200" marT="14400" marB="14400" anchor="ctr">
                    <a:solidFill>
                      <a:srgbClr val="FFFFFF"/>
                    </a:solidFill>
                  </a:tcPr>
                </a:tc>
                <a:tc>
                  <a:txBody>
                    <a:bodyPr/>
                    <a:lstStyle/>
                    <a:p>
                      <a:pPr marL="0" indent="0" lvl="0">
                        <a:buNone/>
                      </a:pPr>
                    </a:p>
                  </a:txBody>
                  <a:tcPr marL="43200" marR="43200" marT="14400" marB="14400" anchor="ctr">
                    <a:solidFill>
                      <a:srgbClr val="FFFFFF"/>
                    </a:solidFill>
                  </a:tcPr>
                </a:tc>
                <a:tc>
                  <a:txBody>
                    <a:bodyPr/>
                    <a:lstStyle/>
                    <a:p>
                      <a:pPr marL="0" indent="0" lvl="0">
                        <a:buNone/>
                      </a:pPr>
                      <a:r>
                        <a:rPr sz="1100" b="1">
                          <a:solidFill>
                            <a:srgbClr val="FFFFFF"/>
                          </a:solidFill>
                          <a:latin typeface="Helvetica"/>
                        </a:rPr>
                        <a:t>Non conforme</a:t>
                      </a:r>
                    </a:p>
                  </a:txBody>
                  <a:tcPr marL="43200" marR="43200" marT="14400" marB="14400" anchor="ctr">
                    <a:solidFill>
                      <a:srgbClr val="C00000"/>
                    </a:solidFill>
                  </a:tcPr>
                </a:tc>
              </a:tr>
              <a:tr h="392901">
                <a:tc>
                  <a:txBody>
                    <a:bodyPr/>
                    <a:lstStyle/>
                    <a:p>
                      <a:pPr marL="0" indent="0" lvl="0">
                        <a:buNone/>
                      </a:pPr>
                      <a:r>
                        <a:rPr sz="1100" b="1">
                          <a:solidFill>
                            <a:srgbClr val="060606"/>
                          </a:solidFill>
                          <a:latin typeface="Helvetica"/>
                        </a:rPr>
                        <a:t>Marge de solvabilité disponible / exigée</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Au moins 1</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7,77</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-0,77</a:t>
                      </a:r>
                    </a:p>
                  </a:txBody>
                  <a:tcPr marL="43200" marR="43200" marT="14400" marB="14400" anchor="ctr">
                    <a:solidFill>
                      <a:srgbClr val="F2F2F2"/>
                    </a:solidFill>
                  </a:tcPr>
                </a:tc>
                <a:tc>
                  <a:txBody>
                    <a:bodyPr/>
                    <a:lstStyle/>
                    <a:p>
                      <a:pPr marL="0" indent="0" lvl="0">
                        <a:buNone/>
                      </a:pPr>
                      <a:r>
                        <a:rPr sz="1100" b="1">
                          <a:solidFill>
                            <a:srgbClr val="060606"/>
                          </a:solidFill>
                          <a:latin typeface="Helvetica"/>
                        </a:rPr>
                        <a:t>Conforme</a:t>
                      </a:r>
                    </a:p>
                  </a:txBody>
                  <a:tcPr marL="43200" marR="43200" marT="14400" marB="14400" anchor="ctr">
                    <a:solidFill>
                      <a:srgbClr val="70AD47"/>
                    </a:solidFill>
                  </a:tcPr>
                </a:tc>
              </a:tr>
              <a:tr h="392901">
                <a:tc>
                  <a:txBody>
                    <a:bodyPr/>
                    <a:lstStyle/>
                    <a:p>
                      <a:pPr marL="0" indent="0" lvl="0">
                        <a:buNone/>
                      </a:pPr>
                      <a:r>
                        <a:rPr sz="1100" b="1">
                          <a:solidFill>
                            <a:srgbClr val="060606"/>
                          </a:solidFill>
                          <a:latin typeface="Helvetica"/>
                        </a:rPr>
                        <a:t>Ratio de réserve obligatoire</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Entre 6 et 9 mois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5,01 mois</a:t>
                      </a:r>
                    </a:p>
                  </a:txBody>
                  <a:tcPr marL="43200" marR="43200" marT="14400" marB="14400" anchor="ctr">
                    <a:solidFill>
                      <a:srgbClr val="FFFFFF"/>
                    </a:solidFill>
                  </a:tcPr>
                </a:tc>
                <a:tc>
                  <a:txBody>
                    <a:bodyPr/>
                    <a:lstStyle/>
                    <a:p>
                      <a:pPr marL="0" indent="0" lvl="0">
                        <a:buNone/>
                      </a:pPr>
                    </a:p>
                  </a:txBody>
                  <a:tcPr marL="43200" marR="43200" marT="14400" marB="14400" anchor="ctr">
                    <a:solidFill>
                      <a:srgbClr val="FFFFFF"/>
                    </a:solidFill>
                  </a:tcPr>
                </a:tc>
                <a:tc>
                  <a:txBody>
                    <a:bodyPr/>
                    <a:lstStyle/>
                    <a:p>
                      <a:pPr marL="0" indent="0" lvl="0">
                        <a:buNone/>
                      </a:pPr>
                      <a:r>
                        <a:rPr sz="1100" b="1">
                          <a:solidFill>
                            <a:srgbClr val="FFFFFF"/>
                          </a:solidFill>
                          <a:latin typeface="Helvetica"/>
                        </a:rPr>
                        <a:t>Non conforme</a:t>
                      </a:r>
                    </a:p>
                  </a:txBody>
                  <a:tcPr marL="43200" marR="43200" marT="14400" marB="14400" anchor="ctr">
                    <a:solidFill>
                      <a:srgbClr val="C00000"/>
                    </a:solidFill>
                  </a:tcPr>
                </a:tc>
              </a:tr>
              <a:tr h="392901">
                <a:tc>
                  <a:txBody>
                    <a:bodyPr/>
                    <a:lstStyle/>
                    <a:p>
                      <a:pPr marL="0" indent="0" lvl="0">
                        <a:buNone/>
                      </a:pPr>
                      <a:r>
                        <a:rPr sz="1100" b="1">
                          <a:solidFill>
                            <a:srgbClr val="060606"/>
                          </a:solidFill>
                          <a:latin typeface="Helvetica"/>
                        </a:rPr>
                        <a:t>Ratio des fonds propres et assimilés</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Au moins 1</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0,22</a:t>
                      </a:r>
                    </a:p>
                  </a:txBody>
                  <a:tcPr marL="43200" marR="43200" marT="14400" marB="14400" anchor="ctr">
                    <a:solidFill>
                      <a:srgbClr val="F2F2F2"/>
                    </a:solidFill>
                  </a:tcPr>
                </a:tc>
                <a:tc>
                  <a:txBody>
                    <a:bodyPr/>
                    <a:lstStyle/>
                    <a:p>
                      <a:pPr marL="0" indent="0" lvl="0">
                        <a:buNone/>
                      </a:pPr>
                    </a:p>
                  </a:txBody>
                  <a:tcPr marL="43200" marR="43200" marT="14400" marB="14400" anchor="ctr">
                    <a:solidFill>
                      <a:srgbClr val="F2F2F2"/>
                    </a:solidFill>
                  </a:tcPr>
                </a:tc>
                <a:tc>
                  <a:txBody>
                    <a:bodyPr/>
                    <a:lstStyle/>
                    <a:p>
                      <a:pPr marL="0" indent="0" lvl="0">
                        <a:buNone/>
                      </a:pPr>
                      <a:r>
                        <a:rPr sz="1100" b="1">
                          <a:solidFill>
                            <a:srgbClr val="FFFFFF"/>
                          </a:solidFill>
                          <a:latin typeface="Helvetica"/>
                        </a:rPr>
                        <a:t>Non conforme</a:t>
                      </a:r>
                    </a:p>
                  </a:txBody>
                  <a:tcPr marL="43200" marR="43200" marT="14400" marB="14400" anchor="ctr">
                    <a:solidFill>
                      <a:srgbClr val="C00000"/>
                    </a:solidFill>
                  </a:tcPr>
                </a:tc>
              </a:tr>
              <a:tr h="225250">
                <a:tc>
                  <a:txBody>
                    <a:bodyPr/>
                    <a:lstStyle/>
                    <a:p>
                      <a:pPr marL="0" indent="0" lvl="0">
                        <a:buNone/>
                      </a:pPr>
                      <a:r>
                        <a:rPr sz="1100" b="1">
                          <a:solidFill>
                            <a:srgbClr val="060606"/>
                          </a:solidFill>
                          <a:latin typeface="Helvetica"/>
                        </a:rPr>
                        <a:t>Ratio de liquidité</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Au moins 1</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0,13</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1,15</a:t>
                      </a:r>
                    </a:p>
                  </a:txBody>
                  <a:tcPr marL="43200" marR="43200" marT="14400" marB="14400" anchor="ctr">
                    <a:solidFill>
                      <a:srgbClr val="FFFFFF"/>
                    </a:solidFill>
                  </a:tcPr>
                </a:tc>
                <a:tc>
                  <a:txBody>
                    <a:bodyPr/>
                    <a:lstStyle/>
                    <a:p>
                      <a:pPr marL="0" indent="0" lvl="0">
                        <a:buNone/>
                      </a:pPr>
                      <a:r>
                        <a:rPr sz="1100" b="1">
                          <a:solidFill>
                            <a:srgbClr val="FFFFFF"/>
                          </a:solidFill>
                          <a:latin typeface="Helvetica"/>
                        </a:rPr>
                        <a:t>Non conforme</a:t>
                      </a:r>
                    </a:p>
                  </a:txBody>
                  <a:tcPr marL="43200" marR="43200" marT="14400" marB="14400" anchor="ctr">
                    <a:solidFill>
                      <a:srgbClr val="C00000"/>
                    </a:solidFill>
                  </a:tcPr>
                </a:tc>
              </a:tr>
              <a:tr h="225250">
                <a:tc>
                  <a:txBody>
                    <a:bodyPr/>
                    <a:lstStyle/>
                    <a:p>
                      <a:pPr marL="0" indent="0" lvl="0">
                        <a:buNone/>
                      </a:pPr>
                      <a:r>
                        <a:rPr sz="1100" b="1">
                          <a:solidFill>
                            <a:srgbClr val="060606"/>
                          </a:solidFill>
                          <a:latin typeface="Helvetica"/>
                        </a:rPr>
                        <a:t>Ratio d'équilibre stable</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Au plus 1</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1,54</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0,94</a:t>
                      </a:r>
                    </a:p>
                  </a:txBody>
                  <a:tcPr marL="43200" marR="43200" marT="14400" marB="14400" anchor="ctr">
                    <a:solidFill>
                      <a:srgbClr val="F2F2F2"/>
                    </a:solidFill>
                  </a:tcPr>
                </a:tc>
                <a:tc>
                  <a:txBody>
                    <a:bodyPr/>
                    <a:lstStyle/>
                    <a:p>
                      <a:pPr marL="0" indent="0" lvl="0">
                        <a:buNone/>
                      </a:pPr>
                      <a:r>
                        <a:rPr sz="1100" b="1">
                          <a:solidFill>
                            <a:srgbClr val="FFFFFF"/>
                          </a:solidFill>
                          <a:latin typeface="Helvetica"/>
                        </a:rPr>
                        <a:t>Non conforme</a:t>
                      </a:r>
                    </a:p>
                  </a:txBody>
                  <a:tcPr marL="43200" marR="43200" marT="14400" marB="14400" anchor="ctr">
                    <a:solidFill>
                      <a:srgbClr val="C00000"/>
                    </a:solidFill>
                  </a:tcPr>
                </a:tc>
              </a:tr>
              <a:tr h="392901">
                <a:tc>
                  <a:txBody>
                    <a:bodyPr/>
                    <a:lstStyle/>
                    <a:p>
                      <a:pPr marL="0" indent="0" lvl="0">
                        <a:buNone/>
                      </a:pPr>
                      <a:r>
                        <a:rPr sz="1100" b="1">
                          <a:solidFill>
                            <a:srgbClr val="060606"/>
                          </a:solidFill>
                          <a:latin typeface="Helvetica"/>
                        </a:rPr>
                        <a:t>Taux des charges de fonctionnement</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Au plus 20 %</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36,34 %</a:t>
                      </a:r>
                    </a:p>
                  </a:txBody>
                  <a:tcPr marL="43200" marR="43200" marT="14400" marB="14400" anchor="ctr">
                    <a:solidFill>
                      <a:srgbClr val="FFFFFF"/>
                    </a:solidFill>
                  </a:tcPr>
                </a:tc>
                <a:tc>
                  <a:txBody>
                    <a:bodyPr/>
                    <a:lstStyle/>
                    <a:p>
                      <a:pPr marL="0" indent="0" lvl="0">
                        <a:buNone/>
                      </a:pPr>
                    </a:p>
                  </a:txBody>
                  <a:tcPr marL="43200" marR="43200" marT="14400" marB="14400" anchor="ctr">
                    <a:solidFill>
                      <a:srgbClr val="FFFFFF"/>
                    </a:solidFill>
                  </a:tcPr>
                </a:tc>
                <a:tc>
                  <a:txBody>
                    <a:bodyPr/>
                    <a:lstStyle/>
                    <a:p>
                      <a:pPr marL="0" indent="0" lvl="0">
                        <a:buNone/>
                      </a:pPr>
                      <a:r>
                        <a:rPr sz="1100" b="1">
                          <a:solidFill>
                            <a:srgbClr val="FFFFFF"/>
                          </a:solidFill>
                          <a:latin typeface="Helvetica"/>
                        </a:rPr>
                        <a:t>Non conforme</a:t>
                      </a:r>
                    </a:p>
                  </a:txBody>
                  <a:tcPr marL="43200" marR="43200" marT="14400" marB="14400" anchor="ctr">
                    <a:solidFill>
                      <a:srgbClr val="C00000"/>
                    </a:solidFill>
                  </a:tcPr>
                </a:tc>
              </a:tr>
              <a:tr h="225250">
                <a:tc>
                  <a:txBody>
                    <a:bodyPr/>
                    <a:lstStyle/>
                    <a:p>
                      <a:pPr marL="0" indent="0" lvl="0">
                        <a:buNone/>
                      </a:pPr>
                      <a:r>
                        <a:rPr sz="1100" b="1">
                          <a:solidFill>
                            <a:srgbClr val="060606"/>
                          </a:solidFill>
                          <a:latin typeface="Helvetica"/>
                        </a:rPr>
                        <a:t>Solvabilité de l'épargne</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Au moins 1</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0,12</a:t>
                      </a:r>
                    </a:p>
                  </a:txBody>
                  <a:tcPr marL="43200" marR="43200" marT="14400" marB="14400" anchor="ctr">
                    <a:solidFill>
                      <a:srgbClr val="F2F2F2"/>
                    </a:solidFill>
                  </a:tcPr>
                </a:tc>
                <a:tc>
                  <a:txBody>
                    <a:bodyPr/>
                    <a:lstStyle/>
                    <a:p>
                      <a:pPr marL="0" indent="0" lvl="0">
                        <a:buNone/>
                      </a:pPr>
                    </a:p>
                  </a:txBody>
                  <a:tcPr marL="43200" marR="43200" marT="14400" marB="14400" anchor="ctr">
                    <a:solidFill>
                      <a:srgbClr val="F2F2F2"/>
                    </a:solidFill>
                  </a:tcPr>
                </a:tc>
                <a:tc>
                  <a:txBody>
                    <a:bodyPr/>
                    <a:lstStyle/>
                    <a:p>
                      <a:pPr marL="0" indent="0" lvl="0">
                        <a:buNone/>
                      </a:pPr>
                      <a:r>
                        <a:rPr sz="1100" b="1">
                          <a:solidFill>
                            <a:srgbClr val="FFFFFF"/>
                          </a:solidFill>
                          <a:latin typeface="Helvetica"/>
                        </a:rPr>
                        <a:t>Non conforme</a:t>
                      </a:r>
                    </a:p>
                  </a:txBody>
                  <a:tcPr marL="43200" marR="43200" marT="14400" marB="14400" anchor="ctr">
                    <a:solidFill>
                      <a:srgbClr val="C00000"/>
                    </a:solidFill>
                  </a:tcPr>
                </a:tc>
              </a:tr>
            </a:tbl>
          </a:graphicData>
        </a:graphic>
      </p:graphicFrame>
      <p:graphicFrame>
        <p:nvGraphicFramePr>
          <p:cNvPr id="33" name="Table 32"/>
          <p:cNvGraphicFramePr>
            <a:graphicFrameLocks noGrp="1"/>
          </p:cNvGraphicFramePr>
          <p:nvPr/>
        </p:nvGraphicFramePr>
        <p:xfrm>
          <a:off x="503999" y="4944679"/>
          <a:ext cx="7056000" cy="151200"/>
        </p:xfrm>
        <a:graphic>
          <a:graphicData uri="http://schemas.openxmlformats.org/drawingml/2006/table">
            <a:tbl>
              <a:tblPr firstRow="0" bandRow="0">
                <a:tableStyleId>{5C22544A-7EE6-4342-B048-85BDC9FD1C3A}</a:tableStyleId>
              </a:tblPr>
              <a:tblGrid>
                <a:gridCol w="792000"/>
                <a:gridCol w="936000"/>
                <a:gridCol w="2196000"/>
                <a:gridCol w="936000"/>
                <a:gridCol w="2196000"/>
              </a:tblGrid>
              <a:tr h="151200">
                <a:tc>
                  <a:txBody>
                    <a:bodyPr/>
                    <a:lstStyle/>
                    <a:p>
                      <a:r>
                        <a:rPr sz="700" b="1">
                          <a:solidFill>
                            <a:srgbClr val="060606"/>
                          </a:solidFill>
                          <a:latin typeface="Helvetica"/>
                        </a:rPr>
                        <a:t>Code couleur</a:t>
                      </a:r>
                    </a:p>
                  </a:txBody>
                  <a:tcPr marL="28800" marR="28800" marT="3600" marB="3600" anchor="ctr">
                    <a:solidFill>
                      <a:srgbClr val="FFFFFF"/>
                    </a:solidFill>
                  </a:tcPr>
                </a:tc>
                <a:tc>
                  <a:txBody>
                    <a:bodyPr/>
                    <a:lstStyle/>
                    <a:p>
                      <a:r>
                        <a:rPr sz="700" b="1">
                          <a:solidFill>
                            <a:srgbClr val="FFFFFF"/>
                          </a:solidFill>
                          <a:latin typeface="Helvetica"/>
                        </a:rPr>
                        <a:t>Non conforme</a:t>
                      </a:r>
                    </a:p>
                  </a:txBody>
                  <a:tcPr marL="28800" marR="28800" marT="3600" marB="3600" anchor="ctr">
                    <a:solidFill>
                      <a:srgbClr val="C00000"/>
                    </a:solidFill>
                  </a:tcPr>
                </a:tc>
                <a:tc>
                  <a:txBody>
                    <a:bodyPr/>
                    <a:lstStyle/>
                    <a:p>
                      <a:r>
                        <a:rPr sz="700" b="0">
                          <a:solidFill>
                            <a:srgbClr val="060606"/>
                          </a:solidFill>
                          <a:latin typeface="Helvetica"/>
                        </a:rPr>
                        <a:t>norme non respectée</a:t>
                      </a:r>
                    </a:p>
                  </a:txBody>
                  <a:tcPr marL="28800" marR="28800" marT="3600" marB="3600" anchor="ctr">
                    <a:solidFill>
                      <a:srgbClr val="FFFFFF"/>
                    </a:solidFill>
                  </a:tcPr>
                </a:tc>
                <a:tc>
                  <a:txBody>
                    <a:bodyPr/>
                    <a:lstStyle/>
                    <a:p>
                      <a:r>
                        <a:rPr sz="700" b="1">
                          <a:solidFill>
                            <a:srgbClr val="060606"/>
                          </a:solidFill>
                          <a:latin typeface="Helvetica"/>
                        </a:rPr>
                        <a:t>Conforme</a:t>
                      </a:r>
                    </a:p>
                  </a:txBody>
                  <a:tcPr marL="28800" marR="28800" marT="3600" marB="3600" anchor="ctr">
                    <a:solidFill>
                      <a:srgbClr val="70AD47"/>
                    </a:solidFill>
                  </a:tcPr>
                </a:tc>
                <a:tc>
                  <a:txBody>
                    <a:bodyPr/>
                    <a:lstStyle/>
                    <a:p>
                      <a:r>
                        <a:rPr sz="700" b="0">
                          <a:solidFill>
                            <a:srgbClr val="060606"/>
                          </a:solidFill>
                          <a:latin typeface="Helvetica"/>
                        </a:rPr>
                        <a:t>norme respectée</a:t>
                      </a:r>
                    </a:p>
                  </a:txBody>
                  <a:tcPr marL="28800" marR="28800" marT="3600" marB="3600" anchor="ctr">
                    <a:solidFill>
                      <a:srgbClr val="FFFFFF"/>
                    </a:solidFill>
                  </a:tcPr>
                </a:tc>
              </a:tr>
            </a:tbl>
          </a:graphicData>
        </a:graphic>
      </p:graphicFrame>
      <p:sp>
        <p:nvSpPr>
          <p:cNvPr id="34" name="TextBox 33"/>
          <p:cNvSpPr txBox="1"/>
          <p:nvPr/>
        </p:nvSpPr>
        <p:spPr>
          <a:xfrm>
            <a:off x="503999" y="5203879"/>
            <a:ext cx="7056000" cy="450000"/>
          </a:xfrm>
          <a:prstGeom prst="rect">
            <a:avLst/>
          </a:prstGeom>
          <a:noFill/>
        </p:spPr>
        <p:txBody>
          <a:bodyPr wrap="square" anchor="t" lIns="54000" rIns="54000"/>
          <a:lstStyle/>
          <a:p>
            <a:pPr algn="l"/>
            <a:r>
              <a:rPr sz="850" b="0">
                <a:solidFill>
                  <a:srgbClr val="53565A"/>
                </a:solidFill>
                <a:latin typeface="Helvetica"/>
              </a:rPr>
              <a:t>Valable pour : exercice 2025 seulement, ratios de la Décision n° 05/2022 recalculés sur les balances « BALANCE FORMAT EXCEL DE 09-2020 AU 31-12-2020.xlsx » à « BALANCE FPPN DU 01-01-2026 AU 31-08-2026.xlsx ». Ratios non calculés faute de données signalés comme tels.</a:t>
            </a:r>
          </a:p>
        </p:txBody>
      </p:sp>
      <p:sp>
        <p:nvSpPr>
          <p:cNvPr id="35" name="TextBox 34"/>
          <p:cNvSpPr txBox="1"/>
          <p:nvPr/>
        </p:nvSpPr>
        <p:spPr>
          <a:xfrm>
            <a:off x="7776000" y="1386000"/>
            <a:ext cx="3960000" cy="4482000"/>
          </a:xfrm>
          <a:prstGeom prst="rect">
            <a:avLst/>
          </a:prstGeom>
          <a:noFill/>
        </p:spPr>
        <p:txBody>
          <a:bodyPr wrap="square" lIns="54000" rIns="54000"/>
          <a:lstStyle/>
          <a:p>
            <a:pPr algn="just">
              <a:spcAft>
                <a:spcPts val="600"/>
              </a:spcAft>
            </a:pPr>
            <a:r>
              <a:rPr sz="1400" b="1">
                <a:solidFill>
                  <a:srgbClr val="060606"/>
                </a:solidFill>
                <a:latin typeface="Helvetica"/>
              </a:rPr>
              <a:t>Les ratios qui mesurent la solidité financière sont non conformes, ceux qui mesurent l'activité courante le sont souvent.</a:t>
            </a:r>
            <a:r>
              <a:rPr sz="1400" b="0">
                <a:solidFill>
                  <a:srgbClr val="060606"/>
                </a:solidFill>
                <a:latin typeface="Helvetica"/>
              </a:rPr>
              <a:t> L'autonomie financière et le financement propre sont respectés, car les cotisations couvrent les charges de l'année.</a:t>
            </a:r>
          </a:p>
          <a:p>
            <a:pPr algn="just">
              <a:spcAft>
                <a:spcPts val="600"/>
              </a:spcAft>
            </a:pPr>
            <a:r>
              <a:rPr sz="1400" b="1">
                <a:solidFill>
                  <a:srgbClr val="060606"/>
                </a:solidFill>
                <a:latin typeface="Helvetica"/>
              </a:rPr>
              <a:t>Le classement de l'épargne change le verdict sur la liquidité.</a:t>
            </a:r>
            <a:r>
              <a:rPr sz="1400" b="0">
                <a:solidFill>
                  <a:srgbClr val="060606"/>
                </a:solidFill>
                <a:latin typeface="Helvetica"/>
              </a:rPr>
              <a:t> En dette à court terme, comme dans le plan comptable, la liquidité 2025 vaut 0,13. En ressource longue, elle vaut 1,15.</a:t>
            </a:r>
          </a:p>
          <a:p>
            <a:pPr algn="just">
              <a:spcAft>
                <a:spcPts val="600"/>
              </a:spcAft>
            </a:pPr>
            <a:r>
              <a:rPr sz="1400" b="0">
                <a:solidFill>
                  <a:srgbClr val="060606"/>
                </a:solidFill>
                <a:latin typeface="Helvetica"/>
              </a:rPr>
              <a:t>Le règlement n° 07/2009 prévoit le retrait d'agrément après deux exercices de non-respect des règles prudentielles (art. 84). Plusieurs ratios sont non conformes plusieurs années de suite : un plan de mise en conformité doit être préparé.</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a:t>
            </a:r>
          </a:p>
        </p:txBody>
      </p:sp>
    </p:spTree>
    <p:extLst>
      <p:ext uri="{BB962C8B-B14F-4D97-AF65-F5344CB8AC3E}">
        <p14:creationId xmlns:p14="http://schemas.microsoft.com/office/powerpoint/2010/main" val="1121994544"/>
      </p:ext>
    </p:extLst>
  </p:cSld>
  <p:clrMapOvr>
    <a:masterClrMapping/>
  </p:clrMapOvr>
  <p:transition>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4">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19" name="ZoneTexte 18">
            <a:extLst>
              <a:ext uri="{FF2B5EF4-FFF2-40B4-BE49-F238E27FC236}">
                <a16:creationId xmlns:a16="http://schemas.microsoft.com/office/drawing/2014/main" id="{C6E7D94B-8E49-C846-A392-87DFA5EF4A9D}"/>
              </a:ext>
            </a:extLst>
          </p:cNvPr>
          <p:cNvSpPr txBox="1"/>
          <p:nvPr/>
        </p:nvSpPr>
        <p:spPr>
          <a:xfrm>
            <a:off x="222607" y="6396590"/>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graphicFrame>
        <p:nvGraphicFramePr>
          <p:cNvPr id="3" name="Object 2" hidden="1"/>
          <p:cNvGraphicFramePr>
            <a:graphicFrameLocks noChangeAspect="1"/>
          </p:cNvGraphicFramePr>
          <p:nvPr>
            <p:custDataLst>
              <p:tags r:id="rId1"/>
            </p:custDataLst>
          </p:nvPr>
        </p:nvGraphicFramePr>
        <p:xfrm>
          <a:off x="2258716" y="1350000"/>
          <a:ext cx="1325" cy="1325"/>
        </p:xfrm>
        <a:graphic>
          <a:graphicData uri="http://schemas.openxmlformats.org/presentationml/2006/ole">
            <mc:AlternateContent xmlns:mc="http://schemas.openxmlformats.org/markup-compatibility/2006">
              <mc:Choice xmlns:v="urn:schemas-microsoft-com:vml" Requires="v">
                <p:oleObj name="think-cell Slide" r:id="rId5" imgW="270" imgH="270" progId="TCLayout.ActiveDocument.1">
                  <p:embed/>
                </p:oleObj>
              </mc:Choice>
              <mc:Fallback>
                <p:oleObj name="think-cell Slide" r:id="rId5" imgW="270" imgH="270" progId="TCLayout.ActiveDocument.1">
                  <p:embed/>
                  <p:pic>
                    <p:nvPicPr>
                      <p:cNvPr id="27" name="Object 2" hidden="1"/>
                      <p:cNvPicPr/>
                      <p:nvPr/>
                    </p:nvPicPr>
                    <p:blipFill>
                      <a:blip r:embed="rId6"/>
                      <a:stretch>
                        <a:fillRect/>
                      </a:stretch>
                    </p:blipFill>
                    <p:spPr>
                      <a:xfrm>
                        <a:off x="1525589" y="1589"/>
                        <a:ext cx="1587" cy="1587"/>
                      </a:xfrm>
                      <a:prstGeom prst="rect">
                        <a:avLst/>
                      </a:prstGeom>
                    </p:spPr>
                  </p:pic>
                </p:oleObj>
              </mc:Fallback>
            </mc:AlternateContent>
          </a:graphicData>
        </a:graphic>
      </p:graphicFrame>
      <p:graphicFrame>
        <p:nvGraphicFramePr>
          <p:cNvPr id="13" name="Chart Placeholder 15"/>
          <p:cNvGraphicFramePr>
            <a:graphicFrameLocks/>
          </p:cNvGraphicFramePr>
          <p:nvPr>
            <p:extLst>
              <p:ext uri="{D42A27DB-BD31-4B8C-83A1-F6EECF244321}">
                <p14:modId xmlns:p14="http://schemas.microsoft.com/office/powerpoint/2010/main" val="2929624729"/>
              </p:ext>
            </p:extLst>
          </p:nvPr>
        </p:nvGraphicFramePr>
        <p:xfrm>
          <a:off x="3743620" y="1584000"/>
          <a:ext cx="2231044" cy="2664000"/>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14" name="Chart Placeholder 15"/>
          <p:cNvGraphicFramePr>
            <a:graphicFrameLocks/>
          </p:cNvGraphicFramePr>
          <p:nvPr>
            <p:extLst>
              <p:ext uri="{D42A27DB-BD31-4B8C-83A1-F6EECF244321}">
                <p14:modId xmlns:p14="http://schemas.microsoft.com/office/powerpoint/2010/main" val="153666400"/>
              </p:ext>
            </p:extLst>
          </p:nvPr>
        </p:nvGraphicFramePr>
        <p:xfrm>
          <a:off x="1260936" y="1584000"/>
          <a:ext cx="2232370" cy="2664000"/>
        </p:xfrm>
        <a:graphic>
          <a:graphicData uri="http://schemas.openxmlformats.org/drawingml/2006/chart">
            <c:chart xmlns:c="http://schemas.openxmlformats.org/drawingml/2006/chart" xmlns:r="http://schemas.openxmlformats.org/officeDocument/2006/relationships" r:id="rId8"/>
          </a:graphicData>
        </a:graphic>
      </p:graphicFrame>
      <p:pic>
        <p:nvPicPr>
          <p:cNvPr id="16" name="Image 15"/>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2068918" y="2277791"/>
            <a:ext cx="616405" cy="616405"/>
          </a:xfrm>
          <a:prstGeom prst="rect">
            <a:avLst/>
          </a:prstGeom>
        </p:spPr>
      </p:pic>
      <p:pic>
        <p:nvPicPr>
          <p:cNvPr id="17" name="Image 16"/>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462040" y="2195176"/>
            <a:ext cx="794203" cy="803437"/>
          </a:xfrm>
          <a:prstGeom prst="rect">
            <a:avLst/>
          </a:prstGeom>
        </p:spPr>
      </p:pic>
      <p:graphicFrame>
        <p:nvGraphicFramePr>
          <p:cNvPr id="18" name="Chart Placeholder 15"/>
          <p:cNvGraphicFramePr>
            <a:graphicFrameLocks/>
          </p:cNvGraphicFramePr>
          <p:nvPr>
            <p:extLst>
              <p:ext uri="{D42A27DB-BD31-4B8C-83A1-F6EECF244321}">
                <p14:modId xmlns:p14="http://schemas.microsoft.com/office/powerpoint/2010/main" val="4022307174"/>
              </p:ext>
            </p:extLst>
          </p:nvPr>
        </p:nvGraphicFramePr>
        <p:xfrm>
          <a:off x="8456022" y="1584000"/>
          <a:ext cx="2223091" cy="2664000"/>
        </p:xfrm>
        <a:graphic>
          <a:graphicData uri="http://schemas.openxmlformats.org/drawingml/2006/chart">
            <c:chart xmlns:c="http://schemas.openxmlformats.org/drawingml/2006/chart" xmlns:r="http://schemas.openxmlformats.org/officeDocument/2006/relationships" r:id="rId11"/>
          </a:graphicData>
        </a:graphic>
      </p:graphicFrame>
      <p:graphicFrame>
        <p:nvGraphicFramePr>
          <p:cNvPr id="21" name="Chart Placeholder 15"/>
          <p:cNvGraphicFramePr>
            <a:graphicFrameLocks/>
          </p:cNvGraphicFramePr>
          <p:nvPr>
            <p:extLst>
              <p:ext uri="{D42A27DB-BD31-4B8C-83A1-F6EECF244321}">
                <p14:modId xmlns:p14="http://schemas.microsoft.com/office/powerpoint/2010/main" val="3635906843"/>
              </p:ext>
            </p:extLst>
          </p:nvPr>
        </p:nvGraphicFramePr>
        <p:xfrm>
          <a:off x="6103797" y="1584000"/>
          <a:ext cx="2223091" cy="2664000"/>
        </p:xfrm>
        <a:graphic>
          <a:graphicData uri="http://schemas.openxmlformats.org/drawingml/2006/chart">
            <c:chart xmlns:c="http://schemas.openxmlformats.org/drawingml/2006/chart" xmlns:r="http://schemas.openxmlformats.org/officeDocument/2006/relationships" r:id="rId12"/>
          </a:graphicData>
        </a:graphic>
      </p:graphicFrame>
      <p:pic>
        <p:nvPicPr>
          <p:cNvPr id="24" name="Image 23"/>
          <p:cNvPicPr>
            <a:picLocks noChangeAspect="1"/>
          </p:cNvPicPr>
          <p:nvPr/>
        </p:nvPicPr>
        <p:blipFill>
          <a:blip r:embed="rId13" cstate="print">
            <a:extLst>
              <a:ext uri="{28A0092B-C50C-407E-A947-70E740481C1C}">
                <a14:useLocalDpi xmlns:a14="http://schemas.microsoft.com/office/drawing/2010/main" val="0"/>
              </a:ext>
            </a:extLst>
          </a:blip>
          <a:stretch>
            <a:fillRect/>
          </a:stretch>
        </p:blipFill>
        <p:spPr>
          <a:xfrm>
            <a:off x="6896238" y="2277791"/>
            <a:ext cx="638209" cy="638209"/>
          </a:xfrm>
          <a:prstGeom prst="rect">
            <a:avLst/>
          </a:prstGeom>
        </p:spPr>
      </p:pic>
      <p:pic>
        <p:nvPicPr>
          <p:cNvPr id="26" name="Image 25"/>
          <p:cNvPicPr>
            <a:picLocks noChangeAspect="1"/>
          </p:cNvPicPr>
          <p:nvPr/>
        </p:nvPicPr>
        <p:blipFill>
          <a:blip r:embed="rId14" cstate="print">
            <a:extLst>
              <a:ext uri="{28A0092B-C50C-407E-A947-70E740481C1C}">
                <a14:useLocalDpi xmlns:a14="http://schemas.microsoft.com/office/drawing/2010/main" val="0"/>
              </a:ext>
            </a:extLst>
          </a:blip>
          <a:stretch>
            <a:fillRect/>
          </a:stretch>
        </p:blipFill>
        <p:spPr>
          <a:xfrm>
            <a:off x="9192169" y="2195176"/>
            <a:ext cx="703522" cy="718817"/>
          </a:xfrm>
          <a:prstGeom prst="rect">
            <a:avLst/>
          </a:prstGeom>
        </p:spPr>
      </p:pic>
      <p:sp>
        <p:nvSpPr>
          <p:cNvPr id="28"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Quatre taux à surveiller</a:t>
            </a:r>
          </a:p>
        </p:txBody>
      </p:sp>
      <p:sp>
        <p:nvSpPr>
          <p:cNvPr id="29"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Une faible part des engagements est couverte par des ressources disponibles</a:t>
            </a:r>
          </a:p>
        </p:txBody>
      </p:sp>
      <p:sp>
        <p:nvSpPr>
          <p:cNvPr id="30"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Couverture de l'épargne, sinistralité, trésorerie rapportée à l'épargne et prêts en retard de plus de 30 jours</a:t>
            </a:r>
          </a:p>
        </p:txBody>
      </p:sp>
      <p:sp>
        <p:nvSpPr>
          <p:cNvPr id="31"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 Exports du logiciel de prêts du Grenier du Policier « BalanceAgeeDetaille … .xls » et « production_de_la_periode … .xls » reçus le 15/10/2026. Traitements Adenka</a:t>
            </a:r>
          </a:p>
        </p:txBody>
      </p:sp>
      <p:sp>
        <p:nvSpPr>
          <p:cNvPr id="32" name="TextBox 31"/>
          <p:cNvSpPr txBox="1"/>
          <p:nvPr/>
        </p:nvSpPr>
        <p:spPr>
          <a:xfrm>
            <a:off x="1152936" y="4266000"/>
            <a:ext cx="2448370" cy="324000"/>
          </a:xfrm>
          <a:prstGeom prst="rect">
            <a:avLst/>
          </a:prstGeom>
          <a:noFill/>
        </p:spPr>
        <p:txBody>
          <a:bodyPr wrap="square" anchor="t" lIns="54000" rIns="54000"/>
          <a:lstStyle/>
          <a:p>
            <a:pPr algn="ctr"/>
            <a:r>
              <a:rPr sz="2000" b="1">
                <a:solidFill>
                  <a:srgbClr val="112A40"/>
                </a:solidFill>
                <a:latin typeface="Helvetica"/>
              </a:rPr>
              <a:t>16,28 %</a:t>
            </a:r>
          </a:p>
        </p:txBody>
      </p:sp>
      <p:sp>
        <p:nvSpPr>
          <p:cNvPr id="33" name="TextBox 32"/>
          <p:cNvSpPr txBox="1"/>
          <p:nvPr/>
        </p:nvSpPr>
        <p:spPr>
          <a:xfrm>
            <a:off x="1152936" y="4572000"/>
            <a:ext cx="2448370" cy="576000"/>
          </a:xfrm>
          <a:prstGeom prst="rect">
            <a:avLst/>
          </a:prstGeom>
          <a:noFill/>
        </p:spPr>
        <p:txBody>
          <a:bodyPr wrap="square" anchor="t" lIns="54000" rIns="54000"/>
          <a:lstStyle/>
          <a:p>
            <a:pPr algn="ctr"/>
            <a:r>
              <a:rPr sz="1100" b="0">
                <a:solidFill>
                  <a:srgbClr val="060606"/>
                </a:solidFill>
                <a:latin typeface="Helvetica"/>
              </a:rPr>
              <a:t>Épargne couverte par des actifs réservés (31/08/2026)</a:t>
            </a:r>
          </a:p>
        </p:txBody>
      </p:sp>
      <p:sp>
        <p:nvSpPr>
          <p:cNvPr id="34" name="TextBox 33"/>
          <p:cNvSpPr txBox="1"/>
          <p:nvPr/>
        </p:nvSpPr>
        <p:spPr>
          <a:xfrm>
            <a:off x="3635619" y="4266000"/>
            <a:ext cx="2447043" cy="324000"/>
          </a:xfrm>
          <a:prstGeom prst="rect">
            <a:avLst/>
          </a:prstGeom>
          <a:noFill/>
        </p:spPr>
        <p:txBody>
          <a:bodyPr wrap="square" anchor="t" lIns="54000" rIns="54000"/>
          <a:lstStyle/>
          <a:p>
            <a:pPr algn="ctr"/>
            <a:r>
              <a:rPr sz="2000" b="1">
                <a:solidFill>
                  <a:srgbClr val="112A40"/>
                </a:solidFill>
                <a:latin typeface="Helvetica"/>
              </a:rPr>
              <a:t>73,53 %</a:t>
            </a:r>
          </a:p>
        </p:txBody>
      </p:sp>
      <p:sp>
        <p:nvSpPr>
          <p:cNvPr id="35" name="TextBox 34"/>
          <p:cNvSpPr txBox="1"/>
          <p:nvPr/>
        </p:nvSpPr>
        <p:spPr>
          <a:xfrm>
            <a:off x="3635619" y="4572000"/>
            <a:ext cx="2447043" cy="576000"/>
          </a:xfrm>
          <a:prstGeom prst="rect">
            <a:avLst/>
          </a:prstGeom>
          <a:noFill/>
        </p:spPr>
        <p:txBody>
          <a:bodyPr wrap="square" anchor="t" lIns="54000" rIns="54000"/>
          <a:lstStyle/>
          <a:p>
            <a:pPr algn="ctr"/>
            <a:r>
              <a:rPr sz="1100" b="0">
                <a:solidFill>
                  <a:srgbClr val="060606"/>
                </a:solidFill>
                <a:latin typeface="Helvetica"/>
              </a:rPr>
              <a:t>Sinistralité maladie (S/C 2025)</a:t>
            </a:r>
          </a:p>
        </p:txBody>
      </p:sp>
      <p:sp>
        <p:nvSpPr>
          <p:cNvPr id="36" name="TextBox 35"/>
          <p:cNvSpPr txBox="1"/>
          <p:nvPr/>
        </p:nvSpPr>
        <p:spPr>
          <a:xfrm>
            <a:off x="5995797" y="4266000"/>
            <a:ext cx="2439091" cy="324000"/>
          </a:xfrm>
          <a:prstGeom prst="rect">
            <a:avLst/>
          </a:prstGeom>
          <a:noFill/>
        </p:spPr>
        <p:txBody>
          <a:bodyPr wrap="square" anchor="t" lIns="54000" rIns="54000"/>
          <a:lstStyle/>
          <a:p>
            <a:pPr algn="ctr"/>
            <a:r>
              <a:rPr sz="2000" b="1">
                <a:solidFill>
                  <a:srgbClr val="112A40"/>
                </a:solidFill>
                <a:latin typeface="Helvetica"/>
              </a:rPr>
              <a:t>21,34 %</a:t>
            </a:r>
          </a:p>
        </p:txBody>
      </p:sp>
      <p:sp>
        <p:nvSpPr>
          <p:cNvPr id="37" name="TextBox 36"/>
          <p:cNvSpPr txBox="1"/>
          <p:nvPr/>
        </p:nvSpPr>
        <p:spPr>
          <a:xfrm>
            <a:off x="5995797" y="4572000"/>
            <a:ext cx="2439091" cy="576000"/>
          </a:xfrm>
          <a:prstGeom prst="rect">
            <a:avLst/>
          </a:prstGeom>
          <a:noFill/>
        </p:spPr>
        <p:txBody>
          <a:bodyPr wrap="square" anchor="t" lIns="54000" rIns="54000"/>
          <a:lstStyle/>
          <a:p>
            <a:pPr algn="ctr"/>
            <a:r>
              <a:rPr sz="1100" b="0">
                <a:solidFill>
                  <a:srgbClr val="060606"/>
                </a:solidFill>
                <a:latin typeface="Helvetica"/>
              </a:rPr>
              <a:t>Trésorerie totale / épargne due (31/08/2026)</a:t>
            </a:r>
          </a:p>
        </p:txBody>
      </p:sp>
      <p:sp>
        <p:nvSpPr>
          <p:cNvPr id="38" name="TextBox 37"/>
          <p:cNvSpPr txBox="1"/>
          <p:nvPr/>
        </p:nvSpPr>
        <p:spPr>
          <a:xfrm>
            <a:off x="8348021" y="4266000"/>
            <a:ext cx="2439091" cy="324000"/>
          </a:xfrm>
          <a:prstGeom prst="rect">
            <a:avLst/>
          </a:prstGeom>
          <a:noFill/>
        </p:spPr>
        <p:txBody>
          <a:bodyPr wrap="square" anchor="t" lIns="54000" rIns="54000"/>
          <a:lstStyle/>
          <a:p>
            <a:pPr algn="ctr"/>
            <a:r>
              <a:rPr sz="2000" b="1">
                <a:solidFill>
                  <a:srgbClr val="112A40"/>
                </a:solidFill>
                <a:latin typeface="Helvetica"/>
              </a:rPr>
              <a:t>5,07 %</a:t>
            </a:r>
          </a:p>
        </p:txBody>
      </p:sp>
      <p:sp>
        <p:nvSpPr>
          <p:cNvPr id="39" name="TextBox 38"/>
          <p:cNvSpPr txBox="1"/>
          <p:nvPr/>
        </p:nvSpPr>
        <p:spPr>
          <a:xfrm>
            <a:off x="8348021" y="4572000"/>
            <a:ext cx="2439091" cy="576000"/>
          </a:xfrm>
          <a:prstGeom prst="rect">
            <a:avLst/>
          </a:prstGeom>
          <a:noFill/>
        </p:spPr>
        <p:txBody>
          <a:bodyPr wrap="square" anchor="t" lIns="54000" rIns="54000"/>
          <a:lstStyle/>
          <a:p>
            <a:pPr algn="ctr"/>
            <a:r>
              <a:rPr sz="1100" b="0">
                <a:solidFill>
                  <a:srgbClr val="060606"/>
                </a:solidFill>
                <a:latin typeface="Helvetica"/>
              </a:rPr>
              <a:t>Prêts en retard de plus de 30 jours (en nombre, 31/08/2026)</a:t>
            </a:r>
          </a:p>
        </p:txBody>
      </p:sp>
      <p:sp>
        <p:nvSpPr>
          <p:cNvPr id="40" name="TextBox 39"/>
          <p:cNvSpPr txBox="1"/>
          <p:nvPr/>
        </p:nvSpPr>
        <p:spPr>
          <a:xfrm>
            <a:off x="503999" y="5166000"/>
            <a:ext cx="11232000" cy="702000"/>
          </a:xfrm>
          <a:prstGeom prst="rect">
            <a:avLst/>
          </a:prstGeom>
          <a:noFill/>
        </p:spPr>
        <p:txBody>
          <a:bodyPr wrap="square" lIns="54000" rIns="54000"/>
          <a:lstStyle/>
          <a:p>
            <a:pPr algn="just">
              <a:spcAft>
                <a:spcPts val="600"/>
              </a:spcAft>
            </a:pPr>
            <a:r>
              <a:rPr sz="1300" b="1">
                <a:solidFill>
                  <a:srgbClr val="060606"/>
                </a:solidFill>
                <a:latin typeface="Helvetica"/>
              </a:rPr>
              <a:t>Trois anneaux sur quatre montrent une couverture faible des engagements.</a:t>
            </a:r>
            <a:r>
              <a:rPr sz="1300" b="0">
                <a:solidFill>
                  <a:srgbClr val="060606"/>
                </a:solidFill>
                <a:latin typeface="Helvetica"/>
              </a:rPr>
              <a:t> La trésorerie de toutes les banques ne rembourserait qu'environ un cinquième de l'épargne due. Implication : en cas de retraits importants, le FPPN doit céder ou mobiliser des actifs peu liquides.</a:t>
            </a:r>
          </a:p>
        </p:txBody>
      </p:sp>
      <p:sp>
        <p:nvSpPr>
          <p:cNvPr id="41" name="TextBox 40"/>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S/C : prestations / cotisations</a:t>
            </a:r>
          </a:p>
        </p:txBody>
      </p:sp>
    </p:spTree>
    <p:extLst>
      <p:ext uri="{BB962C8B-B14F-4D97-AF65-F5344CB8AC3E}">
        <p14:creationId xmlns:p14="http://schemas.microsoft.com/office/powerpoint/2010/main" val="1840653097"/>
      </p:ext>
    </p:extLst>
  </p:cSld>
  <p:clrMapOvr>
    <a:masterClrMapping/>
  </p:clrMapOvr>
  <p:transition>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9214"/>
        <p:cNvGrpSpPr/>
        <p:nvPr/>
      </p:nvGrpSpPr>
      <p:grpSpPr>
        <a:xfrm>
          <a:off x="0" y="0"/>
          <a:ext cx="0" cy="0"/>
          <a:chOff x="0" y="0"/>
          <a:chExt cx="0" cy="0"/>
        </a:xfrm>
      </p:grpSpPr>
      <p:pic>
        <p:nvPicPr>
          <p:cNvPr id="34" name="Image 33"/>
          <p:cNvPicPr>
            <a:picLocks noChangeAspect="1"/>
          </p:cNvPicPr>
          <p:nvPr/>
        </p:nvPicPr>
        <p:blipFill rotWithShape="1">
          <a:blip r:embed="rId3">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32" name="ZoneTexte 31">
            <a:extLst>
              <a:ext uri="{FF2B5EF4-FFF2-40B4-BE49-F238E27FC236}">
                <a16:creationId xmlns:a16="http://schemas.microsoft.com/office/drawing/2014/main" id="{C6E7D94B-8E49-C846-A392-87DFA5EF4A9D}"/>
              </a:ext>
            </a:extLst>
          </p:cNvPr>
          <p:cNvSpPr txBox="1"/>
          <p:nvPr/>
        </p:nvSpPr>
        <p:spPr>
          <a:xfrm>
            <a:off x="222607" y="6396590"/>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9217" name="Google Shape;9217;p112"/>
          <p:cNvSpPr txBox="1"/>
          <p:nvPr/>
        </p:nvSpPr>
        <p:spPr>
          <a:xfrm>
            <a:off x="894942" y="1427513"/>
            <a:ext cx="1792400" cy="694800"/>
          </a:xfrm>
          <a:prstGeom prst="rect">
            <a:avLst/>
          </a:prstGeom>
          <a:noFill/>
          <a:ln>
            <a:noFill/>
          </a:ln>
        </p:spPr>
        <p:txBody>
          <a:bodyPr spcFirstLastPara="1" wrap="square" lIns="121900" tIns="121900" rIns="121900" bIns="121900" anchor="ctr" anchorCtr="0">
            <a:noAutofit/>
          </a:bodyPr>
          <a:lstStyle/>
          <a:p>
            <a:pPr algn="ctr">
              <a:lnSpc>
                <a:spcPct val="120000"/>
              </a:lnSpc>
              <a:spcAft>
                <a:spcPts val="533"/>
              </a:spcAft>
            </a:pPr>
            <a:r>
              <a:rPr lang="fr-CI" b="1" noProof="0">
                <a:solidFill>
                  <a:srgbClr val="EFAC62"/>
                </a:solidFill>
                <a:latin typeface="Helvetica" panose="020B0604020202020204" pitchFamily="34" charset="0"/>
                <a:ea typeface="Antonio"/>
                <a:cs typeface="Helvetica" panose="020B0604020202020204" pitchFamily="34" charset="0"/>
                <a:sym typeface="Antonio"/>
              </a:rPr>
              <a:t>CAUSE 1</a:t>
            </a:r>
          </a:p>
        </p:txBody>
      </p:sp>
      <p:sp>
        <p:nvSpPr>
          <p:cNvPr id="9218" name="Google Shape;9218;p112"/>
          <p:cNvSpPr txBox="1"/>
          <p:nvPr/>
        </p:nvSpPr>
        <p:spPr>
          <a:xfrm>
            <a:off x="805834" y="1978279"/>
            <a:ext cx="1881508" cy="1122400"/>
          </a:xfrm>
          <a:prstGeom prst="rect">
            <a:avLst/>
          </a:prstGeom>
          <a:noFill/>
          <a:ln>
            <a:noFill/>
          </a:ln>
        </p:spPr>
        <p:txBody>
          <a:bodyPr spcFirstLastPara="1" wrap="square" lIns="121900" tIns="121900" rIns="121900" bIns="121900" anchor="t" anchorCtr="0">
            <a:noAutofit/>
          </a:bodyPr>
          <a:lstStyle/>
          <a:p>
            <a:pPr algn="ctr"/>
            <a:r>
              <a:rPr lang="fr-CI" noProof="0">
                <a:solidFill>
                  <a:srgbClr val="060606"/>
                </a:solidFill>
                <a:latin typeface="Helvetica" panose="020B0604020202020204" pitchFamily="34" charset="0"/>
                <a:cs typeface="Helvetica" panose="020B0604020202020204" pitchFamily="34" charset="0"/>
              </a:rPr>
              <a:t>Pas de base de prestations ni de dates de naissance</a:t>
            </a:r>
            <a:endParaRPr lang="fr-CI" noProof="0">
              <a:solidFill>
                <a:srgbClr val="060606"/>
              </a:solidFill>
              <a:latin typeface="Helvetica" panose="020B0604020202020204" pitchFamily="34" charset="0"/>
              <a:ea typeface="Barlow"/>
              <a:cs typeface="Helvetica" panose="020B0604020202020204" pitchFamily="34" charset="0"/>
              <a:sym typeface="Barlow"/>
            </a:endParaRPr>
          </a:p>
        </p:txBody>
      </p:sp>
      <p:sp>
        <p:nvSpPr>
          <p:cNvPr id="9220" name="Google Shape;9220;p112"/>
          <p:cNvSpPr txBox="1"/>
          <p:nvPr/>
        </p:nvSpPr>
        <p:spPr>
          <a:xfrm>
            <a:off x="2914550" y="1427513"/>
            <a:ext cx="1792400" cy="694800"/>
          </a:xfrm>
          <a:prstGeom prst="rect">
            <a:avLst/>
          </a:prstGeom>
          <a:noFill/>
          <a:ln>
            <a:noFill/>
          </a:ln>
        </p:spPr>
        <p:txBody>
          <a:bodyPr spcFirstLastPara="1" wrap="square" lIns="121900" tIns="121900" rIns="121900" bIns="121900" anchor="ctr" anchorCtr="0">
            <a:noAutofit/>
          </a:bodyPr>
          <a:lstStyle/>
          <a:p>
            <a:pPr algn="ctr">
              <a:lnSpc>
                <a:spcPct val="120000"/>
              </a:lnSpc>
              <a:spcAft>
                <a:spcPts val="533"/>
              </a:spcAft>
            </a:pPr>
            <a:r>
              <a:rPr lang="fr-CI" b="1" noProof="0">
                <a:solidFill>
                  <a:srgbClr val="EFAC62"/>
                </a:solidFill>
                <a:latin typeface="Helvetica" panose="020B0604020202020204" pitchFamily="34" charset="0"/>
                <a:ea typeface="Antonio"/>
                <a:cs typeface="Helvetica" panose="020B0604020202020204" pitchFamily="34" charset="0"/>
                <a:sym typeface="Antonio"/>
              </a:rPr>
              <a:t>CAUSE 2</a:t>
            </a:r>
          </a:p>
        </p:txBody>
      </p:sp>
      <p:sp>
        <p:nvSpPr>
          <p:cNvPr id="9222" name="Google Shape;9222;p112"/>
          <p:cNvSpPr txBox="1"/>
          <p:nvPr/>
        </p:nvSpPr>
        <p:spPr>
          <a:xfrm>
            <a:off x="805734" y="5005120"/>
            <a:ext cx="1792400" cy="694800"/>
          </a:xfrm>
          <a:prstGeom prst="rect">
            <a:avLst/>
          </a:prstGeom>
          <a:noFill/>
          <a:ln>
            <a:noFill/>
          </a:ln>
        </p:spPr>
        <p:txBody>
          <a:bodyPr spcFirstLastPara="1" wrap="square" lIns="121900" tIns="121900" rIns="121900" bIns="121900" anchor="ctr" anchorCtr="0">
            <a:noAutofit/>
          </a:bodyPr>
          <a:lstStyle/>
          <a:p>
            <a:pPr algn="ctr">
              <a:lnSpc>
                <a:spcPct val="120000"/>
              </a:lnSpc>
              <a:spcAft>
                <a:spcPts val="533"/>
              </a:spcAft>
            </a:pPr>
            <a:r>
              <a:rPr lang="fr-CI" b="1" noProof="0">
                <a:solidFill>
                  <a:srgbClr val="EFAC62"/>
                </a:solidFill>
                <a:latin typeface="Helvetica" panose="020B0604020202020204" pitchFamily="34" charset="0"/>
                <a:ea typeface="Antonio"/>
                <a:cs typeface="Helvetica" panose="020B0604020202020204" pitchFamily="34" charset="0"/>
                <a:sym typeface="Antonio"/>
              </a:rPr>
              <a:t>EFFET 1</a:t>
            </a:r>
          </a:p>
        </p:txBody>
      </p:sp>
      <p:sp>
        <p:nvSpPr>
          <p:cNvPr id="9224" name="Google Shape;9224;p112"/>
          <p:cNvSpPr txBox="1"/>
          <p:nvPr/>
        </p:nvSpPr>
        <p:spPr>
          <a:xfrm>
            <a:off x="2758434" y="5005120"/>
            <a:ext cx="1792400" cy="694800"/>
          </a:xfrm>
          <a:prstGeom prst="rect">
            <a:avLst/>
          </a:prstGeom>
          <a:noFill/>
          <a:ln>
            <a:noFill/>
          </a:ln>
        </p:spPr>
        <p:txBody>
          <a:bodyPr spcFirstLastPara="1" wrap="square" lIns="121900" tIns="121900" rIns="121900" bIns="121900" anchor="ctr" anchorCtr="0">
            <a:noAutofit/>
          </a:bodyPr>
          <a:lstStyle/>
          <a:p>
            <a:pPr algn="ctr">
              <a:lnSpc>
                <a:spcPct val="120000"/>
              </a:lnSpc>
              <a:spcAft>
                <a:spcPts val="533"/>
              </a:spcAft>
            </a:pPr>
            <a:r>
              <a:rPr lang="fr-CI" b="1" noProof="0">
                <a:solidFill>
                  <a:srgbClr val="EFAC62"/>
                </a:solidFill>
                <a:latin typeface="Helvetica" panose="020B0604020202020204" pitchFamily="34" charset="0"/>
                <a:ea typeface="Antonio"/>
                <a:cs typeface="Helvetica" panose="020B0604020202020204" pitchFamily="34" charset="0"/>
                <a:sym typeface="Antonio"/>
              </a:rPr>
              <a:t>EFFET 2</a:t>
            </a:r>
          </a:p>
        </p:txBody>
      </p:sp>
      <p:sp>
        <p:nvSpPr>
          <p:cNvPr id="9226" name="Google Shape;9226;p112"/>
          <p:cNvSpPr txBox="1"/>
          <p:nvPr/>
        </p:nvSpPr>
        <p:spPr>
          <a:xfrm>
            <a:off x="7440342" y="1427513"/>
            <a:ext cx="1792400" cy="694800"/>
          </a:xfrm>
          <a:prstGeom prst="rect">
            <a:avLst/>
          </a:prstGeom>
          <a:noFill/>
          <a:ln>
            <a:noFill/>
          </a:ln>
        </p:spPr>
        <p:txBody>
          <a:bodyPr spcFirstLastPara="1" wrap="square" lIns="121900" tIns="121900" rIns="121900" bIns="121900" anchor="ctr" anchorCtr="0">
            <a:noAutofit/>
          </a:bodyPr>
          <a:lstStyle/>
          <a:p>
            <a:pPr algn="ctr">
              <a:lnSpc>
                <a:spcPct val="120000"/>
              </a:lnSpc>
              <a:spcAft>
                <a:spcPts val="533"/>
              </a:spcAft>
            </a:pPr>
            <a:r>
              <a:rPr lang="fr-CI" b="1" noProof="0">
                <a:solidFill>
                  <a:srgbClr val="EFAC62"/>
                </a:solidFill>
                <a:latin typeface="Helvetica" panose="020B0604020202020204" pitchFamily="34" charset="0"/>
                <a:ea typeface="Antonio"/>
                <a:cs typeface="Helvetica" panose="020B0604020202020204" pitchFamily="34" charset="0"/>
                <a:sym typeface="Antonio"/>
              </a:rPr>
              <a:t>CAUSE 3</a:t>
            </a:r>
          </a:p>
        </p:txBody>
      </p:sp>
      <p:sp>
        <p:nvSpPr>
          <p:cNvPr id="9228" name="Google Shape;9228;p112"/>
          <p:cNvSpPr txBox="1"/>
          <p:nvPr/>
        </p:nvSpPr>
        <p:spPr>
          <a:xfrm>
            <a:off x="9359589" y="1427513"/>
            <a:ext cx="1792400" cy="694800"/>
          </a:xfrm>
          <a:prstGeom prst="rect">
            <a:avLst/>
          </a:prstGeom>
          <a:noFill/>
          <a:ln>
            <a:noFill/>
          </a:ln>
        </p:spPr>
        <p:txBody>
          <a:bodyPr spcFirstLastPara="1" wrap="square" lIns="121900" tIns="121900" rIns="121900" bIns="121900" anchor="ctr" anchorCtr="0">
            <a:noAutofit/>
          </a:bodyPr>
          <a:lstStyle/>
          <a:p>
            <a:pPr algn="ctr">
              <a:lnSpc>
                <a:spcPct val="120000"/>
              </a:lnSpc>
              <a:spcAft>
                <a:spcPts val="533"/>
              </a:spcAft>
            </a:pPr>
            <a:r>
              <a:rPr lang="fr-CI" b="1" noProof="0">
                <a:solidFill>
                  <a:srgbClr val="EFAC62"/>
                </a:solidFill>
                <a:latin typeface="Helvetica" panose="020B0604020202020204" pitchFamily="34" charset="0"/>
                <a:ea typeface="Antonio"/>
                <a:cs typeface="Helvetica" panose="020B0604020202020204" pitchFamily="34" charset="0"/>
                <a:sym typeface="Antonio"/>
              </a:rPr>
              <a:t>CAUSE 4</a:t>
            </a:r>
          </a:p>
        </p:txBody>
      </p:sp>
      <p:sp>
        <p:nvSpPr>
          <p:cNvPr id="9230" name="Google Shape;9230;p112"/>
          <p:cNvSpPr txBox="1"/>
          <p:nvPr/>
        </p:nvSpPr>
        <p:spPr>
          <a:xfrm>
            <a:off x="7351134" y="5005120"/>
            <a:ext cx="1792400" cy="694800"/>
          </a:xfrm>
          <a:prstGeom prst="rect">
            <a:avLst/>
          </a:prstGeom>
          <a:noFill/>
          <a:ln>
            <a:noFill/>
          </a:ln>
        </p:spPr>
        <p:txBody>
          <a:bodyPr spcFirstLastPara="1" wrap="square" lIns="121900" tIns="121900" rIns="121900" bIns="121900" anchor="ctr" anchorCtr="0">
            <a:noAutofit/>
          </a:bodyPr>
          <a:lstStyle/>
          <a:p>
            <a:pPr algn="ctr">
              <a:lnSpc>
                <a:spcPct val="120000"/>
              </a:lnSpc>
              <a:spcAft>
                <a:spcPts val="533"/>
              </a:spcAft>
            </a:pPr>
            <a:r>
              <a:rPr lang="fr-CI" b="1" noProof="0">
                <a:solidFill>
                  <a:srgbClr val="EFAC62"/>
                </a:solidFill>
                <a:latin typeface="Helvetica" panose="020B0604020202020204" pitchFamily="34" charset="0"/>
                <a:ea typeface="Antonio"/>
                <a:cs typeface="Helvetica" panose="020B0604020202020204" pitchFamily="34" charset="0"/>
                <a:sym typeface="Antonio"/>
              </a:rPr>
              <a:t>EFFET 3</a:t>
            </a:r>
          </a:p>
        </p:txBody>
      </p:sp>
      <p:sp>
        <p:nvSpPr>
          <p:cNvPr id="9232" name="Google Shape;9232;p112"/>
          <p:cNvSpPr txBox="1"/>
          <p:nvPr/>
        </p:nvSpPr>
        <p:spPr>
          <a:xfrm>
            <a:off x="9303834" y="5005120"/>
            <a:ext cx="1792400" cy="694800"/>
          </a:xfrm>
          <a:prstGeom prst="rect">
            <a:avLst/>
          </a:prstGeom>
          <a:noFill/>
          <a:ln>
            <a:noFill/>
          </a:ln>
        </p:spPr>
        <p:txBody>
          <a:bodyPr spcFirstLastPara="1" wrap="square" lIns="121900" tIns="121900" rIns="121900" bIns="121900" anchor="ctr" anchorCtr="0">
            <a:noAutofit/>
          </a:bodyPr>
          <a:lstStyle/>
          <a:p>
            <a:pPr algn="ctr">
              <a:lnSpc>
                <a:spcPct val="120000"/>
              </a:lnSpc>
              <a:spcAft>
                <a:spcPts val="533"/>
              </a:spcAft>
            </a:pPr>
            <a:r>
              <a:rPr lang="fr-CI" b="1" noProof="0">
                <a:solidFill>
                  <a:srgbClr val="EFAC62"/>
                </a:solidFill>
                <a:latin typeface="Helvetica" panose="020B0604020202020204" pitchFamily="34" charset="0"/>
                <a:ea typeface="Antonio"/>
                <a:cs typeface="Helvetica" panose="020B0604020202020204" pitchFamily="34" charset="0"/>
                <a:sym typeface="Antonio"/>
              </a:rPr>
              <a:t>EFFET 4</a:t>
            </a:r>
          </a:p>
        </p:txBody>
      </p:sp>
      <p:sp>
        <p:nvSpPr>
          <p:cNvPr id="97" name="Google Shape;9218;p112"/>
          <p:cNvSpPr txBox="1"/>
          <p:nvPr/>
        </p:nvSpPr>
        <p:spPr>
          <a:xfrm>
            <a:off x="2862877" y="1998709"/>
            <a:ext cx="1881508" cy="1122400"/>
          </a:xfrm>
          <a:prstGeom prst="rect">
            <a:avLst/>
          </a:prstGeom>
          <a:noFill/>
          <a:ln>
            <a:noFill/>
          </a:ln>
        </p:spPr>
        <p:txBody>
          <a:bodyPr spcFirstLastPara="1" wrap="square" lIns="121900" tIns="121900" rIns="121900" bIns="121900" anchor="t" anchorCtr="0">
            <a:noAutofit/>
          </a:bodyPr>
          <a:lstStyle/>
          <a:p>
            <a:pPr algn="ctr"/>
            <a:r>
              <a:rPr lang="fr-CI" noProof="0">
                <a:solidFill>
                  <a:srgbClr val="060606"/>
                </a:solidFill>
                <a:latin typeface="Helvetica" panose="020B0604020202020204" pitchFamily="34" charset="0"/>
                <a:cs typeface="Helvetica" panose="020B0604020202020204" pitchFamily="34" charset="0"/>
              </a:rPr>
              <a:t>Provisions jamais recalculées</a:t>
            </a:r>
            <a:endParaRPr lang="fr-CI" noProof="0">
              <a:solidFill>
                <a:srgbClr val="060606"/>
              </a:solidFill>
              <a:latin typeface="Helvetica" panose="020B0604020202020204" pitchFamily="34" charset="0"/>
              <a:ea typeface="Barlow"/>
              <a:cs typeface="Helvetica" panose="020B0604020202020204" pitchFamily="34" charset="0"/>
              <a:sym typeface="Barlow"/>
            </a:endParaRPr>
          </a:p>
        </p:txBody>
      </p:sp>
      <p:sp>
        <p:nvSpPr>
          <p:cNvPr id="98" name="Google Shape;9218;p112"/>
          <p:cNvSpPr txBox="1"/>
          <p:nvPr/>
        </p:nvSpPr>
        <p:spPr>
          <a:xfrm>
            <a:off x="7408766" y="2018006"/>
            <a:ext cx="1881508" cy="1122400"/>
          </a:xfrm>
          <a:prstGeom prst="rect">
            <a:avLst/>
          </a:prstGeom>
          <a:noFill/>
          <a:ln>
            <a:noFill/>
          </a:ln>
        </p:spPr>
        <p:txBody>
          <a:bodyPr spcFirstLastPara="1" wrap="square" lIns="121900" tIns="121900" rIns="121900" bIns="121900" anchor="t" anchorCtr="0">
            <a:noAutofit/>
          </a:bodyPr>
          <a:lstStyle/>
          <a:p>
            <a:pPr algn="ctr"/>
            <a:r>
              <a:rPr lang="fr-CI" noProof="0">
                <a:solidFill>
                  <a:srgbClr val="060606"/>
                </a:solidFill>
                <a:latin typeface="Helvetica" panose="020B0604020202020204" pitchFamily="34" charset="0"/>
                <a:cs typeface="Helvetica" panose="020B0604020202020204" pitchFamily="34" charset="0"/>
              </a:rPr>
              <a:t>Épargne utilisée pour d'autres emplois</a:t>
            </a:r>
            <a:endParaRPr lang="fr-CI" noProof="0">
              <a:solidFill>
                <a:srgbClr val="060606"/>
              </a:solidFill>
              <a:latin typeface="Helvetica" panose="020B0604020202020204" pitchFamily="34" charset="0"/>
              <a:ea typeface="Barlow"/>
              <a:cs typeface="Helvetica" panose="020B0604020202020204" pitchFamily="34" charset="0"/>
              <a:sym typeface="Barlow"/>
            </a:endParaRPr>
          </a:p>
        </p:txBody>
      </p:sp>
      <p:sp>
        <p:nvSpPr>
          <p:cNvPr id="99" name="Google Shape;9218;p112"/>
          <p:cNvSpPr txBox="1"/>
          <p:nvPr/>
        </p:nvSpPr>
        <p:spPr>
          <a:xfrm>
            <a:off x="9465809" y="2038436"/>
            <a:ext cx="1881508" cy="1122400"/>
          </a:xfrm>
          <a:prstGeom prst="rect">
            <a:avLst/>
          </a:prstGeom>
          <a:noFill/>
          <a:ln>
            <a:noFill/>
          </a:ln>
        </p:spPr>
        <p:txBody>
          <a:bodyPr spcFirstLastPara="1" wrap="square" lIns="121900" tIns="121900" rIns="121900" bIns="121900" anchor="t" anchorCtr="0">
            <a:noAutofit/>
          </a:bodyPr>
          <a:lstStyle/>
          <a:p>
            <a:pPr algn="ctr"/>
            <a:r>
              <a:rPr lang="fr-CI" noProof="0">
                <a:solidFill>
                  <a:srgbClr val="060606"/>
                </a:solidFill>
                <a:latin typeface="Helvetica" panose="020B0604020202020204" pitchFamily="34" charset="0"/>
                <a:cs typeface="Helvetica" panose="020B0604020202020204" pitchFamily="34" charset="0"/>
              </a:rPr>
              <a:t>Écart entre échéances et précomptes</a:t>
            </a:r>
            <a:endParaRPr lang="fr-CI" noProof="0">
              <a:solidFill>
                <a:srgbClr val="060606"/>
              </a:solidFill>
              <a:latin typeface="Helvetica" panose="020B0604020202020204" pitchFamily="34" charset="0"/>
              <a:ea typeface="Barlow"/>
              <a:cs typeface="Helvetica" panose="020B0604020202020204" pitchFamily="34" charset="0"/>
              <a:sym typeface="Barlow"/>
            </a:endParaRPr>
          </a:p>
        </p:txBody>
      </p:sp>
      <p:sp>
        <p:nvSpPr>
          <p:cNvPr id="100" name="Google Shape;9218;p112"/>
          <p:cNvSpPr txBox="1"/>
          <p:nvPr/>
        </p:nvSpPr>
        <p:spPr>
          <a:xfrm>
            <a:off x="907230" y="4007810"/>
            <a:ext cx="1881508" cy="1122400"/>
          </a:xfrm>
          <a:prstGeom prst="rect">
            <a:avLst/>
          </a:prstGeom>
          <a:noFill/>
          <a:ln>
            <a:noFill/>
          </a:ln>
        </p:spPr>
        <p:txBody>
          <a:bodyPr spcFirstLastPara="1" wrap="square" lIns="121900" tIns="121900" rIns="121900" bIns="121900" anchor="t" anchorCtr="0">
            <a:noAutofit/>
          </a:bodyPr>
          <a:lstStyle/>
          <a:p>
            <a:pPr algn="ctr"/>
            <a:r>
              <a:rPr lang="fr-CI" noProof="0">
                <a:solidFill>
                  <a:srgbClr val="060606"/>
                </a:solidFill>
                <a:latin typeface="Helvetica" panose="020B0604020202020204" pitchFamily="34" charset="0"/>
                <a:cs typeface="Helvetica" panose="020B0604020202020204" pitchFamily="34" charset="0"/>
              </a:rPr>
              <a:t>Coût réel des sinistres inconnu</a:t>
            </a:r>
            <a:endParaRPr lang="fr-CI" noProof="0">
              <a:solidFill>
                <a:srgbClr val="060606"/>
              </a:solidFill>
              <a:latin typeface="Helvetica" panose="020B0604020202020204" pitchFamily="34" charset="0"/>
              <a:ea typeface="Barlow"/>
              <a:cs typeface="Helvetica" panose="020B0604020202020204" pitchFamily="34" charset="0"/>
              <a:sym typeface="Barlow"/>
            </a:endParaRPr>
          </a:p>
        </p:txBody>
      </p:sp>
      <p:sp>
        <p:nvSpPr>
          <p:cNvPr id="101" name="Google Shape;9218;p112"/>
          <p:cNvSpPr txBox="1"/>
          <p:nvPr/>
        </p:nvSpPr>
        <p:spPr>
          <a:xfrm>
            <a:off x="2964273" y="4028240"/>
            <a:ext cx="1881508" cy="1122400"/>
          </a:xfrm>
          <a:prstGeom prst="rect">
            <a:avLst/>
          </a:prstGeom>
          <a:noFill/>
          <a:ln>
            <a:noFill/>
          </a:ln>
        </p:spPr>
        <p:txBody>
          <a:bodyPr spcFirstLastPara="1" wrap="square" lIns="121900" tIns="121900" rIns="121900" bIns="121900" anchor="t" anchorCtr="0">
            <a:noAutofit/>
          </a:bodyPr>
          <a:lstStyle/>
          <a:p>
            <a:pPr algn="ctr"/>
            <a:r>
              <a:rPr lang="fr-CI" noProof="0">
                <a:solidFill>
                  <a:srgbClr val="060606"/>
                </a:solidFill>
                <a:latin typeface="Helvetica" panose="020B0604020202020204" pitchFamily="34" charset="0"/>
                <a:cs typeface="Helvetica" panose="020B0604020202020204" pitchFamily="34" charset="0"/>
              </a:rPr>
              <a:t>Engagements mal mesurés au bilan</a:t>
            </a:r>
            <a:endParaRPr lang="fr-CI" noProof="0">
              <a:solidFill>
                <a:srgbClr val="060606"/>
              </a:solidFill>
              <a:latin typeface="Helvetica" panose="020B0604020202020204" pitchFamily="34" charset="0"/>
              <a:ea typeface="Barlow"/>
              <a:cs typeface="Helvetica" panose="020B0604020202020204" pitchFamily="34" charset="0"/>
              <a:sym typeface="Barlow"/>
            </a:endParaRPr>
          </a:p>
        </p:txBody>
      </p:sp>
      <p:sp>
        <p:nvSpPr>
          <p:cNvPr id="102" name="Google Shape;9218;p112"/>
          <p:cNvSpPr txBox="1"/>
          <p:nvPr/>
        </p:nvSpPr>
        <p:spPr>
          <a:xfrm>
            <a:off x="7510162" y="4047537"/>
            <a:ext cx="1881508" cy="1122400"/>
          </a:xfrm>
          <a:prstGeom prst="rect">
            <a:avLst/>
          </a:prstGeom>
          <a:noFill/>
          <a:ln>
            <a:noFill/>
          </a:ln>
        </p:spPr>
        <p:txBody>
          <a:bodyPr spcFirstLastPara="1" wrap="square" lIns="121900" tIns="121900" rIns="121900" bIns="121900" anchor="t" anchorCtr="0">
            <a:noAutofit/>
          </a:bodyPr>
          <a:lstStyle/>
          <a:p>
            <a:pPr algn="ctr"/>
            <a:r>
              <a:rPr lang="fr-CI" noProof="0">
                <a:solidFill>
                  <a:srgbClr val="060606"/>
                </a:solidFill>
                <a:latin typeface="Helvetica" panose="020B0604020202020204" pitchFamily="34" charset="0"/>
                <a:cs typeface="Helvetica" panose="020B0604020202020204" pitchFamily="34" charset="0"/>
              </a:rPr>
              <a:t>Manque de liquidités en cas de retraits</a:t>
            </a:r>
            <a:endParaRPr lang="fr-CI" noProof="0">
              <a:solidFill>
                <a:srgbClr val="060606"/>
              </a:solidFill>
              <a:latin typeface="Helvetica" panose="020B0604020202020204" pitchFamily="34" charset="0"/>
              <a:ea typeface="Barlow"/>
              <a:cs typeface="Helvetica" panose="020B0604020202020204" pitchFamily="34" charset="0"/>
              <a:sym typeface="Barlow"/>
            </a:endParaRPr>
          </a:p>
        </p:txBody>
      </p:sp>
      <p:sp>
        <p:nvSpPr>
          <p:cNvPr id="103" name="Google Shape;9218;p112"/>
          <p:cNvSpPr txBox="1"/>
          <p:nvPr/>
        </p:nvSpPr>
        <p:spPr>
          <a:xfrm>
            <a:off x="9567205" y="4067967"/>
            <a:ext cx="1881508" cy="1122400"/>
          </a:xfrm>
          <a:prstGeom prst="rect">
            <a:avLst/>
          </a:prstGeom>
          <a:noFill/>
          <a:ln>
            <a:noFill/>
          </a:ln>
        </p:spPr>
        <p:txBody>
          <a:bodyPr spcFirstLastPara="1" wrap="square" lIns="121900" tIns="121900" rIns="121900" bIns="121900" anchor="t" anchorCtr="0">
            <a:noAutofit/>
          </a:bodyPr>
          <a:lstStyle/>
          <a:p>
            <a:pPr algn="ctr"/>
            <a:r>
              <a:rPr lang="fr-CI" noProof="0">
                <a:solidFill>
                  <a:srgbClr val="060606"/>
                </a:solidFill>
                <a:latin typeface="Helvetica" panose="020B0604020202020204" pitchFamily="34" charset="0"/>
                <a:cs typeface="Helvetica" panose="020B0604020202020204" pitchFamily="34" charset="0"/>
              </a:rPr>
              <a:t>Retards et pertes sur les prêts</a:t>
            </a:r>
            <a:endParaRPr lang="fr-CI" noProof="0">
              <a:solidFill>
                <a:srgbClr val="060606"/>
              </a:solidFill>
              <a:latin typeface="Helvetica" panose="020B0604020202020204" pitchFamily="34" charset="0"/>
              <a:ea typeface="Barlow"/>
              <a:cs typeface="Helvetica" panose="020B0604020202020204" pitchFamily="34" charset="0"/>
              <a:sym typeface="Barlow"/>
            </a:endParaRPr>
          </a:p>
        </p:txBody>
      </p:sp>
      <p:pic>
        <p:nvPicPr>
          <p:cNvPr id="27" name="Image 2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476588" y="3447072"/>
            <a:ext cx="389251" cy="389251"/>
          </a:xfrm>
          <a:prstGeom prst="rect">
            <a:avLst/>
          </a:prstGeom>
        </p:spPr>
      </p:pic>
      <p:pic>
        <p:nvPicPr>
          <p:cNvPr id="28" name="Image 2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003377" y="3442943"/>
            <a:ext cx="375952" cy="375953"/>
          </a:xfrm>
          <a:prstGeom prst="rect">
            <a:avLst/>
          </a:prstGeom>
        </p:spPr>
      </p:pic>
      <p:pic>
        <p:nvPicPr>
          <p:cNvPr id="29" name="Image 28"/>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428049" y="3403216"/>
            <a:ext cx="423892" cy="433107"/>
          </a:xfrm>
          <a:prstGeom prst="rect">
            <a:avLst/>
          </a:prstGeom>
        </p:spPr>
      </p:pic>
      <p:pic>
        <p:nvPicPr>
          <p:cNvPr id="30" name="Image 29"/>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960990" y="3403216"/>
            <a:ext cx="484396" cy="490027"/>
          </a:xfrm>
          <a:prstGeom prst="rect">
            <a:avLst/>
          </a:prstGeom>
        </p:spPr>
      </p:pic>
      <p:pic>
        <p:nvPicPr>
          <p:cNvPr id="2" name="Image 1"/>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rot="5400000">
            <a:off x="5451325" y="2716425"/>
            <a:ext cx="1112757" cy="1112757"/>
          </a:xfrm>
          <a:prstGeom prst="rect">
            <a:avLst/>
          </a:prstGeom>
        </p:spPr>
      </p:pic>
      <p:sp>
        <p:nvSpPr>
          <p:cNvPr id="9233"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Carte des risques</a:t>
            </a:r>
          </a:p>
        </p:txBody>
      </p:sp>
      <p:sp>
        <p:nvSpPr>
          <p:cNvPr id="9234"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Quatre causes identifiées produisent quatre risques pour le FPPN</a:t>
            </a:r>
          </a:p>
        </p:txBody>
      </p:sp>
      <p:sp>
        <p:nvSpPr>
          <p:cNvPr id="9235"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Les causes sont établies par les données. Le manque de liquidité et les pertes sur prêts sont chiffrés en partie 9</a:t>
            </a:r>
          </a:p>
        </p:txBody>
      </p:sp>
      <p:sp>
        <p:nvSpPr>
          <p:cNvPr id="9236"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analyses Adenka</a:t>
            </a:r>
          </a:p>
        </p:txBody>
      </p:sp>
      <p:sp>
        <p:nvSpPr>
          <p:cNvPr id="9237" name="TextBox 9236"/>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93100922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Recommandations (1/2)</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Quatre actions à engager dans les six mois conditionnent toutes les autres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Chaque recommandation répond à un constat de la synthèse et précise qui agit, comment et dans quel délai</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analyses Adenka. Statuts du FPPN, art. 85 et 89. Règlement d'exécution n° 004/2022/COM/UEMOA du 1er juin 2022, art. 12 à 14, 17 et 27. Décision n° 05/2022/COM/UEMOA du 1er juin 2022, annexe</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10 : Recommandations et actions (1/2)</a:t>
            </a:r>
          </a:p>
        </p:txBody>
      </p:sp>
      <p:graphicFrame>
        <p:nvGraphicFramePr>
          <p:cNvPr id="32" name="Table 31"/>
          <p:cNvGraphicFramePr>
            <a:graphicFrameLocks noGrp="1"/>
          </p:cNvGraphicFramePr>
          <p:nvPr/>
        </p:nvGraphicFramePr>
        <p:xfrm>
          <a:off x="503999" y="1655999"/>
          <a:ext cx="11232000" cy="3066108"/>
        </p:xfrm>
        <a:graphic>
          <a:graphicData uri="http://schemas.openxmlformats.org/drawingml/2006/table">
            <a:tbl>
              <a:tblPr firstRow="0" bandRow="0">
                <a:tableStyleId>{5940675A-B579-460E-94D1-54222C63F5DA}</a:tableStyleId>
              </a:tblPr>
              <a:tblGrid>
                <a:gridCol w="2592000"/>
                <a:gridCol w="7128000"/>
                <a:gridCol w="1512000"/>
              </a:tblGrid>
              <a:tr h="187148">
                <a:tc>
                  <a:txBody>
                    <a:bodyPr/>
                    <a:lstStyle/>
                    <a:p>
                      <a:pPr marL="0" indent="0" lvl="0">
                        <a:buNone/>
                      </a:pPr>
                      <a:r>
                        <a:rPr sz="850" b="1">
                          <a:solidFill>
                            <a:srgbClr val="FFFFFF"/>
                          </a:solidFill>
                          <a:latin typeface="Helvetica"/>
                        </a:rPr>
                        <a:t>Recommandation</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Actions concrètes</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Priorité et horizon</a:t>
                      </a:r>
                    </a:p>
                  </a:txBody>
                  <a:tcPr marL="43200" marR="43200" marT="14400" marB="14400" anchor="ctr">
                    <a:solidFill>
                      <a:srgbClr val="060606"/>
                    </a:solidFill>
                  </a:tcPr>
                </a:tc>
              </a:tr>
              <a:tr h="834888">
                <a:tc>
                  <a:txBody>
                    <a:bodyPr/>
                    <a:lstStyle/>
                    <a:p>
                      <a:pPr marL="0" indent="0" lvl="0">
                        <a:buNone/>
                      </a:pPr>
                      <a:r>
                        <a:rPr sz="850" b="1">
                          <a:solidFill>
                            <a:srgbClr val="060606"/>
                          </a:solidFill>
                          <a:latin typeface="Helvetica"/>
                        </a:rPr>
                        <a:t>1. Calculer les provisions maladie et décès à chaque clôture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 Le service comptable établit chaque année une note de calcul des provisions : méthode, fichiers utilisés, montant de chaque provision, comparaison au bilan</a:t>
                      </a:r>
                    </a:p>
                    <a:p>
                      <a:r>
                        <a:rPr sz="850" b="0">
                          <a:solidFill>
                            <a:srgbClr val="060606"/>
                          </a:solidFill>
                          <a:latin typeface="Helvetica"/>
                        </a:rPr>
                        <a:t>• Provision maladie : soins de l'année facturés après la clôture, mesurés sur le journal SIN de janvier à mars</a:t>
                      </a:r>
                    </a:p>
                    <a:p>
                      <a:r>
                        <a:rPr sz="850" b="0">
                          <a:solidFill>
                            <a:srgbClr val="060606"/>
                          </a:solidFill>
                          <a:latin typeface="Helvetica"/>
                        </a:rPr>
                        <a:t>• Provision décès : décès survenus et déclarés après la clôture. Les dossiers connus restent en dette au compte 41591000</a:t>
                      </a:r>
                    </a:p>
                    <a:p>
                      <a:r>
                        <a:rPr sz="850" b="0">
                          <a:solidFill>
                            <a:srgbClr val="060606"/>
                          </a:solidFill>
                          <a:latin typeface="Helvetica"/>
                        </a:rPr>
                        <a:t>• Le directeur général signe la note. Elle est présentée à l'Assemblée générale avec les comptes (statuts, art. 85 et 89)</a:t>
                      </a:r>
                    </a:p>
                    <a:p>
                      <a:r>
                        <a:rPr sz="850" b="0">
                          <a:solidFill>
                            <a:srgbClr val="060606"/>
                          </a:solidFill>
                          <a:latin typeface="Helvetica"/>
                        </a:rPr>
                        <a:t>• Les montants hérités (4 829 298 290 FCFA) sont repris après décision des organes et information de l'AIRMS</a:t>
                      </a:r>
                    </a:p>
                  </a:txBody>
                  <a:tcPr marL="43200" marR="43200" marT="14400" marB="14400" anchor="ctr">
                    <a:solidFill>
                      <a:srgbClr val="FFFFFF"/>
                    </a:solidFill>
                  </a:tcPr>
                </a:tc>
                <a:tc>
                  <a:txBody>
                    <a:bodyPr/>
                    <a:lstStyle/>
                    <a:p>
                      <a:pPr marL="0" indent="0" lvl="0">
                        <a:buNone/>
                      </a:pPr>
                      <a:r>
                        <a:rPr sz="850" b="1">
                          <a:solidFill>
                            <a:srgbClr val="FFFFFF"/>
                          </a:solidFill>
                          <a:latin typeface="Helvetica"/>
                        </a:rPr>
                        <a:t>Court terme (moins de 6 mois)</a:t>
                      </a:r>
                    </a:p>
                  </a:txBody>
                  <a:tcPr marL="43200" marR="43200" marT="14400" marB="14400" anchor="ctr">
                    <a:solidFill>
                      <a:srgbClr val="C00000"/>
                    </a:solidFill>
                  </a:tcPr>
                </a:tc>
              </a:tr>
              <a:tr h="575792">
                <a:tc>
                  <a:txBody>
                    <a:bodyPr/>
                    <a:lstStyle/>
                    <a:p>
                      <a:pPr marL="0" indent="0" lvl="0">
                        <a:buNone/>
                      </a:pPr>
                      <a:r>
                        <a:rPr sz="850" b="1">
                          <a:solidFill>
                            <a:srgbClr val="060606"/>
                          </a:solidFill>
                          <a:latin typeface="Helvetica"/>
                        </a:rPr>
                        <a:t>2. Arrêter le taux servi sur l'épargne et tenir les comptes individuels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 Le conseil d'administration fixe par délibération le taux servi sur le PEP et sur l'EFC</a:t>
                      </a:r>
                    </a:p>
                    <a:p>
                      <a:r>
                        <a:rPr sz="850" b="0">
                          <a:solidFill>
                            <a:srgbClr val="060606"/>
                          </a:solidFill>
                          <a:latin typeface="Helvetica"/>
                        </a:rPr>
                        <a:t>• Le FPPN tient pour chaque épargnant un relevé annuel : solde d'ouverture, versements, intérêts, retraits, solde de clôture</a:t>
                      </a:r>
                    </a:p>
                    <a:p>
                      <a:r>
                        <a:rPr sz="850" b="0">
                          <a:solidFill>
                            <a:srgbClr val="060606"/>
                          </a:solidFill>
                          <a:latin typeface="Helvetica"/>
                        </a:rPr>
                        <a:t>• Les intérêts dus (3 278 913 238 FCFA au 31/08/2026) sont comptabilisés</a:t>
                      </a:r>
                    </a:p>
                  </a:txBody>
                  <a:tcPr marL="43200" marR="43200" marT="14400" marB="14400" anchor="ctr">
                    <a:solidFill>
                      <a:srgbClr val="F2F2F2"/>
                    </a:solidFill>
                  </a:tcPr>
                </a:tc>
                <a:tc>
                  <a:txBody>
                    <a:bodyPr/>
                    <a:lstStyle/>
                    <a:p>
                      <a:pPr marL="0" indent="0" lvl="0">
                        <a:buNone/>
                      </a:pPr>
                      <a:r>
                        <a:rPr sz="850" b="1">
                          <a:solidFill>
                            <a:srgbClr val="FFFFFF"/>
                          </a:solidFill>
                          <a:latin typeface="Helvetica"/>
                        </a:rPr>
                        <a:t>Court terme (moins de 6 mois)</a:t>
                      </a:r>
                    </a:p>
                  </a:txBody>
                  <a:tcPr marL="43200" marR="43200" marT="14400" marB="14400" anchor="ctr">
                    <a:solidFill>
                      <a:srgbClr val="C00000"/>
                    </a:solidFill>
                  </a:tcPr>
                </a:tc>
              </a:tr>
              <a:tr h="446244">
                <a:tc>
                  <a:txBody>
                    <a:bodyPr/>
                    <a:lstStyle/>
                    <a:p>
                      <a:pPr marL="0" indent="0" lvl="0">
                        <a:buNone/>
                      </a:pPr>
                      <a:r>
                        <a:rPr sz="850" b="1">
                          <a:solidFill>
                            <a:srgbClr val="060606"/>
                          </a:solidFill>
                          <a:latin typeface="Helvetica"/>
                        </a:rPr>
                        <a:t>3. Transmettre les données qui manquent aux calculs actuariels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 Base des prestations datée : date des soins, du dépôt et du paiement de chaque facture (PBC n° 47)</a:t>
                      </a:r>
                    </a:p>
                    <a:p>
                      <a:r>
                        <a:rPr sz="850" b="0">
                          <a:solidFill>
                            <a:srgbClr val="060606"/>
                          </a:solidFill>
                          <a:latin typeface="Helvetica"/>
                        </a:rPr>
                        <a:t>• Fichier des mutualistes avec date de naissance et sexe, fichier des ayants droit (PBC n° 4 et 43)</a:t>
                      </a:r>
                    </a:p>
                    <a:p>
                      <a:r>
                        <a:rPr sz="850" b="0">
                          <a:solidFill>
                            <a:srgbClr val="060606"/>
                          </a:solidFill>
                          <a:latin typeface="Helvetica"/>
                        </a:rPr>
                        <a:t>• Fichiers retour de décembre 2024 et mois manquants du décès (PBC n° 39)</a:t>
                      </a:r>
                    </a:p>
                  </a:txBody>
                  <a:tcPr marL="43200" marR="43200" marT="14400" marB="14400" anchor="ctr">
                    <a:solidFill>
                      <a:srgbClr val="FFFFFF"/>
                    </a:solidFill>
                  </a:tcPr>
                </a:tc>
                <a:tc>
                  <a:txBody>
                    <a:bodyPr/>
                    <a:lstStyle/>
                    <a:p>
                      <a:pPr marL="0" indent="0" lvl="0">
                        <a:buNone/>
                      </a:pPr>
                      <a:r>
                        <a:rPr sz="850" b="1">
                          <a:solidFill>
                            <a:srgbClr val="FFFFFF"/>
                          </a:solidFill>
                          <a:latin typeface="Helvetica"/>
                        </a:rPr>
                        <a:t>Court terme (moins de 6 mois)</a:t>
                      </a:r>
                    </a:p>
                  </a:txBody>
                  <a:tcPr marL="43200" marR="43200" marT="14400" marB="14400" anchor="ctr">
                    <a:solidFill>
                      <a:srgbClr val="C00000"/>
                    </a:solidFill>
                  </a:tcPr>
                </a:tc>
              </a:tr>
              <a:tr h="446244">
                <a:tc>
                  <a:txBody>
                    <a:bodyPr/>
                    <a:lstStyle/>
                    <a:p>
                      <a:pPr marL="0" indent="0" lvl="0">
                        <a:buNone/>
                      </a:pPr>
                      <a:r>
                        <a:rPr sz="850" b="1">
                          <a:solidFill>
                            <a:srgbClr val="060606"/>
                          </a:solidFill>
                          <a:latin typeface="Helvetica"/>
                        </a:rPr>
                        <a:t>4. Présenter à l'AIRMS un plan de mise en conformité prudentielle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 Objectifs chiffrés par ratio non conforme, à partir des montants à combler de la partie 10</a:t>
                      </a:r>
                    </a:p>
                    <a:p>
                      <a:r>
                        <a:rPr sz="850" b="0">
                          <a:solidFill>
                            <a:srgbClr val="060606"/>
                          </a:solidFill>
                          <a:latin typeface="Helvetica"/>
                        </a:rPr>
                        <a:t>• Calendrier sur trois exercices, validé par le conseil d'administration</a:t>
                      </a:r>
                    </a:p>
                    <a:p>
                      <a:r>
                        <a:rPr sz="850" b="0">
                          <a:solidFill>
                            <a:srgbClr val="060606"/>
                          </a:solidFill>
                          <a:latin typeface="Helvetica"/>
                        </a:rPr>
                        <a:t>• Suivi semestriel des ratios par le service comptable</a:t>
                      </a:r>
                    </a:p>
                  </a:txBody>
                  <a:tcPr marL="43200" marR="43200" marT="14400" marB="14400" anchor="ctr">
                    <a:solidFill>
                      <a:srgbClr val="F2F2F2"/>
                    </a:solidFill>
                  </a:tcPr>
                </a:tc>
                <a:tc>
                  <a:txBody>
                    <a:bodyPr/>
                    <a:lstStyle/>
                    <a:p>
                      <a:pPr marL="0" indent="0" lvl="0">
                        <a:buNone/>
                      </a:pPr>
                      <a:r>
                        <a:rPr sz="850" b="1">
                          <a:solidFill>
                            <a:srgbClr val="FFFFFF"/>
                          </a:solidFill>
                          <a:latin typeface="Helvetica"/>
                        </a:rPr>
                        <a:t>Court terme (moins de 6 mois)</a:t>
                      </a:r>
                    </a:p>
                  </a:txBody>
                  <a:tcPr marL="43200" marR="43200" marT="14400" marB="14400" anchor="ctr">
                    <a:solidFill>
                      <a:srgbClr val="C00000"/>
                    </a:solidFill>
                  </a:tcPr>
                </a:tc>
              </a:tr>
              <a:tr h="575792">
                <a:tc>
                  <a:txBody>
                    <a:bodyPr/>
                    <a:lstStyle/>
                    <a:p>
                      <a:pPr marL="0" indent="0" lvl="0">
                        <a:buNone/>
                      </a:pPr>
                      <a:r>
                        <a:rPr sz="850" b="1">
                          <a:solidFill>
                            <a:srgbClr val="060606"/>
                          </a:solidFill>
                          <a:latin typeface="Helvetica"/>
                        </a:rPr>
                        <a:t>5. Constituer une réserve de liquidité et adopter une politique de placement</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 Réserve égale aux sorties d'épargne d'une année au taux observé (19,24 % de l'épargne)</a:t>
                      </a:r>
                    </a:p>
                    <a:p>
                      <a:r>
                        <a:rPr sz="850" b="0">
                          <a:solidFill>
                            <a:srgbClr val="060606"/>
                          </a:solidFill>
                          <a:latin typeface="Helvetica"/>
                        </a:rPr>
                        <a:t>• Politique de placement votée par le conseil d'administration : part liquide minimale, rendement minimal au regard du taux servi, limites sur l'immobilier</a:t>
                      </a:r>
                    </a:p>
                    <a:p>
                      <a:r>
                        <a:rPr sz="850" b="0">
                          <a:solidFill>
                            <a:srgbClr val="060606"/>
                          </a:solidFill>
                          <a:latin typeface="Helvetica"/>
                        </a:rPr>
                        <a:t>• Placement à terme d'une partie du solde des comptes courants non rémunérés</a:t>
                      </a:r>
                    </a:p>
                  </a:txBody>
                  <a:tcPr marL="43200" marR="43200" marT="14400" marB="14400" anchor="ctr">
                    <a:solidFill>
                      <a:srgbClr val="FFFFFF"/>
                    </a:solidFill>
                  </a:tcPr>
                </a:tc>
                <a:tc>
                  <a:txBody>
                    <a:bodyPr/>
                    <a:lstStyle/>
                    <a:p>
                      <a:pPr marL="0" indent="0" lvl="0">
                        <a:buNone/>
                      </a:pPr>
                      <a:r>
                        <a:rPr sz="850" b="1">
                          <a:solidFill>
                            <a:srgbClr val="060606"/>
                          </a:solidFill>
                          <a:latin typeface="Helvetica"/>
                        </a:rPr>
                        <a:t>Moyen terme (6 à 18 mois)</a:t>
                      </a:r>
                    </a:p>
                  </a:txBody>
                  <a:tcPr marL="43200" marR="43200" marT="14400" marB="14400" anchor="ctr">
                    <a:solidFill>
                      <a:srgbClr val="EFAC62"/>
                    </a:solidFill>
                  </a:tcPr>
                </a:tc>
              </a:tr>
            </a:tbl>
          </a:graphicData>
        </a:graphic>
      </p:graphicFrame>
      <p:graphicFrame>
        <p:nvGraphicFramePr>
          <p:cNvPr id="33" name="Table 32"/>
          <p:cNvGraphicFramePr>
            <a:graphicFrameLocks noGrp="1"/>
          </p:cNvGraphicFramePr>
          <p:nvPr/>
        </p:nvGraphicFramePr>
        <p:xfrm>
          <a:off x="503999" y="4979939"/>
          <a:ext cx="11232000" cy="151200"/>
        </p:xfrm>
        <a:graphic>
          <a:graphicData uri="http://schemas.openxmlformats.org/drawingml/2006/table">
            <a:tbl>
              <a:tblPr firstRow="0" bandRow="0">
                <a:tableStyleId>{5C22544A-7EE6-4342-B048-85BDC9FD1C3A}</a:tableStyleId>
              </a:tblPr>
              <a:tblGrid>
                <a:gridCol w="792000"/>
                <a:gridCol w="936000"/>
                <a:gridCol w="4284000"/>
                <a:gridCol w="936000"/>
                <a:gridCol w="4284000"/>
              </a:tblGrid>
              <a:tr h="151200">
                <a:tc>
                  <a:txBody>
                    <a:bodyPr/>
                    <a:lstStyle/>
                    <a:p>
                      <a:r>
                        <a:rPr sz="700" b="1">
                          <a:solidFill>
                            <a:srgbClr val="060606"/>
                          </a:solidFill>
                          <a:latin typeface="Helvetica"/>
                        </a:rPr>
                        <a:t>Code couleur</a:t>
                      </a:r>
                    </a:p>
                  </a:txBody>
                  <a:tcPr marL="28800" marR="28800" marT="3600" marB="3600" anchor="ctr">
                    <a:solidFill>
                      <a:srgbClr val="FFFFFF"/>
                    </a:solidFill>
                  </a:tcPr>
                </a:tc>
                <a:tc>
                  <a:txBody>
                    <a:bodyPr/>
                    <a:lstStyle/>
                    <a:p>
                      <a:r>
                        <a:rPr sz="700" b="1">
                          <a:solidFill>
                            <a:srgbClr val="FFFFFF"/>
                          </a:solidFill>
                          <a:latin typeface="Helvetica"/>
                        </a:rPr>
                        <a:t>Court terme</a:t>
                      </a:r>
                    </a:p>
                  </a:txBody>
                  <a:tcPr marL="28800" marR="28800" marT="3600" marB="3600" anchor="ctr">
                    <a:solidFill>
                      <a:srgbClr val="C00000"/>
                    </a:solidFill>
                  </a:tcPr>
                </a:tc>
                <a:tc>
                  <a:txBody>
                    <a:bodyPr/>
                    <a:lstStyle/>
                    <a:p>
                      <a:r>
                        <a:rPr sz="700" b="0">
                          <a:solidFill>
                            <a:srgbClr val="060606"/>
                          </a:solidFill>
                          <a:latin typeface="Helvetica"/>
                        </a:rPr>
                        <a:t>moins de 6 mois</a:t>
                      </a:r>
                    </a:p>
                  </a:txBody>
                  <a:tcPr marL="28800" marR="28800" marT="3600" marB="3600" anchor="ctr">
                    <a:solidFill>
                      <a:srgbClr val="FFFFFF"/>
                    </a:solidFill>
                  </a:tcPr>
                </a:tc>
                <a:tc>
                  <a:txBody>
                    <a:bodyPr/>
                    <a:lstStyle/>
                    <a:p>
                      <a:r>
                        <a:rPr sz="700" b="1">
                          <a:solidFill>
                            <a:srgbClr val="060606"/>
                          </a:solidFill>
                          <a:latin typeface="Helvetica"/>
                        </a:rPr>
                        <a:t>Moyen terme</a:t>
                      </a:r>
                    </a:p>
                  </a:txBody>
                  <a:tcPr marL="28800" marR="28800" marT="3600" marB="3600" anchor="ctr">
                    <a:solidFill>
                      <a:srgbClr val="EFAC62"/>
                    </a:solidFill>
                  </a:tcPr>
                </a:tc>
                <a:tc>
                  <a:txBody>
                    <a:bodyPr/>
                    <a:lstStyle/>
                    <a:p>
                      <a:r>
                        <a:rPr sz="700" b="0">
                          <a:solidFill>
                            <a:srgbClr val="060606"/>
                          </a:solidFill>
                          <a:latin typeface="Helvetica"/>
                        </a:rPr>
                        <a:t>6 à 18 mois</a:t>
                      </a:r>
                    </a:p>
                  </a:txBody>
                  <a:tcPr marL="28800" marR="28800" marT="3600" marB="3600" anchor="ctr">
                    <a:solidFill>
                      <a:srgbClr val="FFFFFF"/>
                    </a:solidFill>
                  </a:tcPr>
                </a:tc>
              </a:tr>
            </a:tbl>
          </a:graphicData>
        </a:graphic>
      </p:graphicFrame>
      <p:sp>
        <p:nvSpPr>
          <p:cNvPr id="34" name="TextBox 33"/>
          <p:cNvSpPr txBox="1"/>
          <p:nvPr/>
        </p:nvSpPr>
        <p:spPr>
          <a:xfrm>
            <a:off x="503999" y="5239139"/>
            <a:ext cx="11232000" cy="162000"/>
          </a:xfrm>
          <a:prstGeom prst="rect">
            <a:avLst/>
          </a:prstGeom>
          <a:noFill/>
        </p:spPr>
        <p:txBody>
          <a:bodyPr wrap="square" anchor="t" lIns="54000" rIns="54000"/>
          <a:lstStyle/>
          <a:p>
            <a:pPr algn="l"/>
            <a:r>
              <a:rPr sz="850" b="0">
                <a:solidFill>
                  <a:srgbClr val="53565A"/>
                </a:solidFill>
                <a:latin typeface="Helvetica"/>
              </a:rPr>
              <a:t>Valable pour : constats du rapport au 31/08/2026. Horizons comptés à partir de la remise du rapport.</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AIRMS : Agence ivoirienne de régulation de la mutualité sociale | UEMOA : Union économique et monétaire ouest-africaine | PEP : Plan Épargne Plus | EFC : entraide fin de carrière | PBC : liste des documents demandés au client</a:t>
            </a:r>
          </a:p>
        </p:txBody>
      </p:sp>
    </p:spTree>
    <p:extLst>
      <p:ext uri="{BB962C8B-B14F-4D97-AF65-F5344CB8AC3E}">
        <p14:creationId xmlns:p14="http://schemas.microsoft.com/office/powerpoint/2010/main" val="1378289381"/>
      </p:ext>
    </p:extLst>
  </p:cSld>
  <p:clrMapOvr>
    <a:masterClrMapping/>
  </p:clrMapOvr>
  <p:transition>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Recommandations (2/2)</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actions de moyen et long terme corrigent l'emploi des ressources et la gouvernance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Chaque recommandation répond à un constat de la synthèse et précise qui agit, comment et dans quel délai</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analyses Adenka. Statuts du FPPN, art. 85 et 89. Règlement d'exécution n° 004/2022/COM/UEMOA du 1er juin 2022, art. 12 à 14, 17 et 27. Décision n° 05/2022/COM/UEMOA du 1er juin 2022, annexe</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11 : Recommandations et actions (2/2)</a:t>
            </a:r>
          </a:p>
        </p:txBody>
      </p:sp>
      <p:graphicFrame>
        <p:nvGraphicFramePr>
          <p:cNvPr id="32" name="Table 31"/>
          <p:cNvGraphicFramePr>
            <a:graphicFrameLocks noGrp="1"/>
          </p:cNvGraphicFramePr>
          <p:nvPr/>
        </p:nvGraphicFramePr>
        <p:xfrm>
          <a:off x="503999" y="1655999"/>
          <a:ext cx="11232000" cy="1842576"/>
        </p:xfrm>
        <a:graphic>
          <a:graphicData uri="http://schemas.openxmlformats.org/drawingml/2006/table">
            <a:tbl>
              <a:tblPr firstRow="0" bandRow="0">
                <a:tableStyleId>{5940675A-B579-460E-94D1-54222C63F5DA}</a:tableStyleId>
              </a:tblPr>
              <a:tblGrid>
                <a:gridCol w="2592000"/>
                <a:gridCol w="7128000"/>
                <a:gridCol w="1512000"/>
              </a:tblGrid>
              <a:tr h="187148">
                <a:tc>
                  <a:txBody>
                    <a:bodyPr/>
                    <a:lstStyle/>
                    <a:p>
                      <a:pPr marL="0" indent="0" lvl="0">
                        <a:buNone/>
                      </a:pPr>
                      <a:r>
                        <a:rPr sz="850" b="1">
                          <a:solidFill>
                            <a:srgbClr val="FFFFFF"/>
                          </a:solidFill>
                          <a:latin typeface="Helvetica"/>
                        </a:rPr>
                        <a:t>Recommandation</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Actions concrètes</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Priorité et horizon</a:t>
                      </a:r>
                    </a:p>
                  </a:txBody>
                  <a:tcPr marL="43200" marR="43200" marT="14400" marB="14400" anchor="ctr">
                    <a:solidFill>
                      <a:srgbClr val="060606"/>
                    </a:solidFill>
                  </a:tcPr>
                </a:tc>
              </a:tr>
              <a:tr h="446244">
                <a:tc>
                  <a:txBody>
                    <a:bodyPr/>
                    <a:lstStyle/>
                    <a:p>
                      <a:pPr marL="0" indent="0" lvl="0">
                        <a:buNone/>
                      </a:pPr>
                      <a:r>
                        <a:rPr sz="850" b="1">
                          <a:solidFill>
                            <a:srgbClr val="060606"/>
                          </a:solidFill>
                          <a:latin typeface="Helvetica"/>
                        </a:rPr>
                        <a:t>6. Rééquilibrer la garantie maladie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 Tarification fondée sur le coût complet de la garantie, frais compris</a:t>
                      </a:r>
                    </a:p>
                    <a:p>
                      <a:r>
                        <a:rPr sz="850" b="0">
                          <a:solidFill>
                            <a:srgbClr val="060606"/>
                          </a:solidFill>
                          <a:latin typeface="Helvetica"/>
                        </a:rPr>
                        <a:t>• Revue du barème des prestations et des conventions avec les cliniques</a:t>
                      </a:r>
                    </a:p>
                    <a:p>
                      <a:r>
                        <a:rPr sz="850" b="0">
                          <a:solidFill>
                            <a:srgbClr val="060606"/>
                          </a:solidFill>
                          <a:latin typeface="Helvetica"/>
                        </a:rPr>
                        <a:t>• Contrôle a posteriori d'au moins 5 % des factures (Décision n° 05/2022)</a:t>
                      </a:r>
                    </a:p>
                  </a:txBody>
                  <a:tcPr marL="43200" marR="43200" marT="14400" marB="14400" anchor="ctr">
                    <a:solidFill>
                      <a:srgbClr val="FFFFFF"/>
                    </a:solidFill>
                  </a:tcPr>
                </a:tc>
                <a:tc>
                  <a:txBody>
                    <a:bodyPr/>
                    <a:lstStyle/>
                    <a:p>
                      <a:pPr marL="0" indent="0" lvl="0">
                        <a:buNone/>
                      </a:pPr>
                      <a:r>
                        <a:rPr sz="850" b="1">
                          <a:solidFill>
                            <a:srgbClr val="060606"/>
                          </a:solidFill>
                          <a:latin typeface="Helvetica"/>
                        </a:rPr>
                        <a:t>Moyen terme (6 à 18 mois)</a:t>
                      </a:r>
                    </a:p>
                  </a:txBody>
                  <a:tcPr marL="43200" marR="43200" marT="14400" marB="14400" anchor="ctr">
                    <a:solidFill>
                      <a:srgbClr val="EFAC62"/>
                    </a:solidFill>
                  </a:tcPr>
                </a:tc>
              </a:tr>
              <a:tr h="446244">
                <a:tc>
                  <a:txBody>
                    <a:bodyPr/>
                    <a:lstStyle/>
                    <a:p>
                      <a:pPr marL="0" indent="0" lvl="0">
                        <a:buNone/>
                      </a:pPr>
                      <a:r>
                        <a:rPr sz="850" b="1">
                          <a:solidFill>
                            <a:srgbClr val="060606"/>
                          </a:solidFill>
                          <a:latin typeface="Helvetica"/>
                        </a:rPr>
                        <a:t>7. Encadrer les investissements dans la clinique, le Grenier et le projet de Cocody</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 Comptabilité séparée de la clinique (règlement d'exécution n° 004/2022, art. 27)</a:t>
                      </a:r>
                    </a:p>
                    <a:p>
                      <a:r>
                        <a:rPr sz="850" b="0">
                          <a:solidFill>
                            <a:srgbClr val="060606"/>
                          </a:solidFill>
                          <a:latin typeface="Helvetica"/>
                        </a:rPr>
                        <a:t>• Budget, financement et effet sur la liquidité du projet de Cocody présentés aux organes avant tout engagement</a:t>
                      </a:r>
                    </a:p>
                    <a:p>
                      <a:r>
                        <a:rPr sz="850" b="0">
                          <a:solidFill>
                            <a:srgbClr val="060606"/>
                          </a:solidFill>
                          <a:latin typeface="Helvetica"/>
                        </a:rPr>
                        <a:t>• Dépréciation annuelle des prêts du Grenier selon sa politique de crédit</a:t>
                      </a:r>
                    </a:p>
                  </a:txBody>
                  <a:tcPr marL="43200" marR="43200" marT="14400" marB="14400" anchor="ctr">
                    <a:solidFill>
                      <a:srgbClr val="F2F2F2"/>
                    </a:solidFill>
                  </a:tcPr>
                </a:tc>
                <a:tc>
                  <a:txBody>
                    <a:bodyPr/>
                    <a:lstStyle/>
                    <a:p>
                      <a:pPr marL="0" indent="0" lvl="0">
                        <a:buNone/>
                      </a:pPr>
                      <a:r>
                        <a:rPr sz="850" b="1">
                          <a:solidFill>
                            <a:srgbClr val="060606"/>
                          </a:solidFill>
                          <a:latin typeface="Helvetica"/>
                        </a:rPr>
                        <a:t>Moyen terme (6 à 18 mois)</a:t>
                      </a:r>
                    </a:p>
                  </a:txBody>
                  <a:tcPr marL="43200" marR="43200" marT="14400" marB="14400" anchor="ctr">
                    <a:solidFill>
                      <a:srgbClr val="EFAC62"/>
                    </a:solidFill>
                  </a:tcPr>
                </a:tc>
              </a:tr>
              <a:tr h="316696">
                <a:tc>
                  <a:txBody>
                    <a:bodyPr/>
                    <a:lstStyle/>
                    <a:p>
                      <a:pPr marL="0" indent="0" lvl="0">
                        <a:buNone/>
                      </a:pPr>
                      <a:r>
                        <a:rPr sz="850" b="1">
                          <a:solidFill>
                            <a:srgbClr val="060606"/>
                          </a:solidFill>
                          <a:latin typeface="Helvetica"/>
                        </a:rPr>
                        <a:t>8. Faire réaliser l'étude actuarielle des risques longs et certifier les comptes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 Étude actuarielle de l'EFC et du PEP tous les cinq ans (règlement d'exécution n° 004/2022, art. 14)</a:t>
                      </a:r>
                    </a:p>
                    <a:p>
                      <a:r>
                        <a:rPr sz="850" b="0">
                          <a:solidFill>
                            <a:srgbClr val="060606"/>
                          </a:solidFill>
                          <a:latin typeface="Helvetica"/>
                        </a:rPr>
                        <a:t>• Certification des comptes par un commissaire aux comptes et états financiers par risque long (art. 12 et 13)</a:t>
                      </a:r>
                    </a:p>
                  </a:txBody>
                  <a:tcPr marL="43200" marR="43200" marT="14400" marB="14400" anchor="ctr">
                    <a:solidFill>
                      <a:srgbClr val="FFFFFF"/>
                    </a:solidFill>
                  </a:tcPr>
                </a:tc>
                <a:tc>
                  <a:txBody>
                    <a:bodyPr/>
                    <a:lstStyle/>
                    <a:p>
                      <a:pPr marL="0" indent="0" lvl="0">
                        <a:buNone/>
                      </a:pPr>
                      <a:r>
                        <a:rPr sz="850" b="1">
                          <a:solidFill>
                            <a:srgbClr val="060606"/>
                          </a:solidFill>
                          <a:latin typeface="Helvetica"/>
                        </a:rPr>
                        <a:t>Long terme (plus de 18 mois)</a:t>
                      </a:r>
                    </a:p>
                  </a:txBody>
                  <a:tcPr marL="43200" marR="43200" marT="14400" marB="14400" anchor="ctr">
                    <a:solidFill>
                      <a:srgbClr val="70AD47"/>
                    </a:solidFill>
                  </a:tcPr>
                </a:tc>
              </a:tr>
              <a:tr h="446244">
                <a:tc>
                  <a:txBody>
                    <a:bodyPr/>
                    <a:lstStyle/>
                    <a:p>
                      <a:pPr marL="0" indent="0" lvl="0">
                        <a:buNone/>
                      </a:pPr>
                      <a:r>
                        <a:rPr sz="850" b="1">
                          <a:solidFill>
                            <a:srgbClr val="060606"/>
                          </a:solidFill>
                          <a:latin typeface="Helvetica"/>
                        </a:rPr>
                        <a:t>9. Mettre en place un dispositif actuariel permanent</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 Rapprochement mensuel des fichiers aller et retour, état des rejets</a:t>
                      </a:r>
                    </a:p>
                    <a:p>
                      <a:r>
                        <a:rPr sz="850" b="0">
                          <a:solidFill>
                            <a:srgbClr val="060606"/>
                          </a:solidFill>
                          <a:latin typeface="Helvetica"/>
                        </a:rPr>
                        <a:t>• États de fin d'année des prestations à payer, tableau de bord des ratios de la Décision n° 05/2022</a:t>
                      </a:r>
                    </a:p>
                    <a:p>
                      <a:r>
                        <a:rPr sz="850" b="0">
                          <a:solidFill>
                            <a:srgbClr val="060606"/>
                          </a:solidFill>
                          <a:latin typeface="Helvetica"/>
                        </a:rPr>
                        <a:t>• Procédure écrite pour chaque calcul, avec un responsable et un contrôle (partie 13)</a:t>
                      </a:r>
                    </a:p>
                  </a:txBody>
                  <a:tcPr marL="43200" marR="43200" marT="14400" marB="14400" anchor="ctr">
                    <a:solidFill>
                      <a:srgbClr val="F2F2F2"/>
                    </a:solidFill>
                  </a:tcPr>
                </a:tc>
                <a:tc>
                  <a:txBody>
                    <a:bodyPr/>
                    <a:lstStyle/>
                    <a:p>
                      <a:pPr marL="0" indent="0" lvl="0">
                        <a:buNone/>
                      </a:pPr>
                      <a:r>
                        <a:rPr sz="850" b="1">
                          <a:solidFill>
                            <a:srgbClr val="060606"/>
                          </a:solidFill>
                          <a:latin typeface="Helvetica"/>
                        </a:rPr>
                        <a:t>Long terme (plus de 18 mois)</a:t>
                      </a:r>
                    </a:p>
                  </a:txBody>
                  <a:tcPr marL="43200" marR="43200" marT="14400" marB="14400" anchor="ctr">
                    <a:solidFill>
                      <a:srgbClr val="70AD47"/>
                    </a:solidFill>
                  </a:tcPr>
                </a:tc>
              </a:tr>
            </a:tbl>
          </a:graphicData>
        </a:graphic>
      </p:graphicFrame>
      <p:graphicFrame>
        <p:nvGraphicFramePr>
          <p:cNvPr id="33" name="Table 32"/>
          <p:cNvGraphicFramePr>
            <a:graphicFrameLocks noGrp="1"/>
          </p:cNvGraphicFramePr>
          <p:nvPr/>
        </p:nvGraphicFramePr>
        <p:xfrm>
          <a:off x="503999" y="3670758"/>
          <a:ext cx="11232000" cy="151200"/>
        </p:xfrm>
        <a:graphic>
          <a:graphicData uri="http://schemas.openxmlformats.org/drawingml/2006/table">
            <a:tbl>
              <a:tblPr firstRow="0" bandRow="0">
                <a:tableStyleId>{5C22544A-7EE6-4342-B048-85BDC9FD1C3A}</a:tableStyleId>
              </a:tblPr>
              <a:tblGrid>
                <a:gridCol w="792000"/>
                <a:gridCol w="936000"/>
                <a:gridCol w="4284000"/>
                <a:gridCol w="936000"/>
                <a:gridCol w="4284000"/>
              </a:tblGrid>
              <a:tr h="151200">
                <a:tc>
                  <a:txBody>
                    <a:bodyPr/>
                    <a:lstStyle/>
                    <a:p>
                      <a:r>
                        <a:rPr sz="700" b="1">
                          <a:solidFill>
                            <a:srgbClr val="060606"/>
                          </a:solidFill>
                          <a:latin typeface="Helvetica"/>
                        </a:rPr>
                        <a:t>Code couleur</a:t>
                      </a:r>
                    </a:p>
                  </a:txBody>
                  <a:tcPr marL="28800" marR="28800" marT="3600" marB="3600" anchor="ctr">
                    <a:solidFill>
                      <a:srgbClr val="FFFFFF"/>
                    </a:solidFill>
                  </a:tcPr>
                </a:tc>
                <a:tc>
                  <a:txBody>
                    <a:bodyPr/>
                    <a:lstStyle/>
                    <a:p>
                      <a:r>
                        <a:rPr sz="700" b="1">
                          <a:solidFill>
                            <a:srgbClr val="060606"/>
                          </a:solidFill>
                          <a:latin typeface="Helvetica"/>
                        </a:rPr>
                        <a:t>Moyen terme</a:t>
                      </a:r>
                    </a:p>
                  </a:txBody>
                  <a:tcPr marL="28800" marR="28800" marT="3600" marB="3600" anchor="ctr">
                    <a:solidFill>
                      <a:srgbClr val="EFAC62"/>
                    </a:solidFill>
                  </a:tcPr>
                </a:tc>
                <a:tc>
                  <a:txBody>
                    <a:bodyPr/>
                    <a:lstStyle/>
                    <a:p>
                      <a:r>
                        <a:rPr sz="700" b="0">
                          <a:solidFill>
                            <a:srgbClr val="060606"/>
                          </a:solidFill>
                          <a:latin typeface="Helvetica"/>
                        </a:rPr>
                        <a:t>6 à 18 mois</a:t>
                      </a:r>
                    </a:p>
                  </a:txBody>
                  <a:tcPr marL="28800" marR="28800" marT="3600" marB="3600" anchor="ctr">
                    <a:solidFill>
                      <a:srgbClr val="FFFFFF"/>
                    </a:solidFill>
                  </a:tcPr>
                </a:tc>
                <a:tc>
                  <a:txBody>
                    <a:bodyPr/>
                    <a:lstStyle/>
                    <a:p>
                      <a:r>
                        <a:rPr sz="700" b="1">
                          <a:solidFill>
                            <a:srgbClr val="060606"/>
                          </a:solidFill>
                          <a:latin typeface="Helvetica"/>
                        </a:rPr>
                        <a:t>Long terme</a:t>
                      </a:r>
                    </a:p>
                  </a:txBody>
                  <a:tcPr marL="28800" marR="28800" marT="3600" marB="3600" anchor="ctr">
                    <a:solidFill>
                      <a:srgbClr val="70AD47"/>
                    </a:solidFill>
                  </a:tcPr>
                </a:tc>
                <a:tc>
                  <a:txBody>
                    <a:bodyPr/>
                    <a:lstStyle/>
                    <a:p>
                      <a:r>
                        <a:rPr sz="700" b="0">
                          <a:solidFill>
                            <a:srgbClr val="060606"/>
                          </a:solidFill>
                          <a:latin typeface="Helvetica"/>
                        </a:rPr>
                        <a:t>plus de 18 mois</a:t>
                      </a:r>
                    </a:p>
                  </a:txBody>
                  <a:tcPr marL="28800" marR="28800" marT="3600" marB="3600" anchor="ctr">
                    <a:solidFill>
                      <a:srgbClr val="FFFFFF"/>
                    </a:solidFill>
                  </a:tcPr>
                </a:tc>
              </a:tr>
            </a:tbl>
          </a:graphicData>
        </a:graphic>
      </p:graphicFrame>
      <p:sp>
        <p:nvSpPr>
          <p:cNvPr id="34" name="TextBox 33"/>
          <p:cNvSpPr txBox="1"/>
          <p:nvPr/>
        </p:nvSpPr>
        <p:spPr>
          <a:xfrm>
            <a:off x="503999" y="3929958"/>
            <a:ext cx="11232000" cy="162000"/>
          </a:xfrm>
          <a:prstGeom prst="rect">
            <a:avLst/>
          </a:prstGeom>
          <a:noFill/>
        </p:spPr>
        <p:txBody>
          <a:bodyPr wrap="square" anchor="t" lIns="54000" rIns="54000"/>
          <a:lstStyle/>
          <a:p>
            <a:pPr algn="l"/>
            <a:r>
              <a:rPr sz="850" b="0">
                <a:solidFill>
                  <a:srgbClr val="53565A"/>
                </a:solidFill>
                <a:latin typeface="Helvetica"/>
              </a:rPr>
              <a:t>Valable pour : constats du rapport au 31/08/2026. Horizons comptés à partir de la remise du rapport.</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PEP : Plan Épargne Plus | EFC : entraide fin de carrière</a:t>
            </a:r>
          </a:p>
        </p:txBody>
      </p:sp>
    </p:spTree>
    <p:extLst>
      <p:ext uri="{BB962C8B-B14F-4D97-AF65-F5344CB8AC3E}">
        <p14:creationId xmlns:p14="http://schemas.microsoft.com/office/powerpoint/2010/main" val="2790663712"/>
      </p:ext>
    </p:extLst>
  </p:cSld>
  <p:clrMapOvr>
    <a:masterClrMapping/>
  </p:clrMapOvr>
  <p:transition>
    <p:fad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Image 16"/>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35" name="Google Shape;7418;p41"/>
          <p:cNvSpPr/>
          <p:nvPr/>
        </p:nvSpPr>
        <p:spPr>
          <a:xfrm rot="21013821">
            <a:off x="6297998" y="4058425"/>
            <a:ext cx="1054440" cy="80836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w="28575" cap="flat" cmpd="sng">
            <a:solidFill>
              <a:schemeClr val="lt1"/>
            </a:solidFill>
            <a:prstDash val="solid"/>
            <a:round/>
            <a:headEnd type="none" w="sm" len="sm"/>
            <a:tailEnd type="none" w="sm" len="sm"/>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sz="1200" noProof="0">
              <a:solidFill>
                <a:schemeClr val="bg1"/>
              </a:solidFill>
              <a:latin typeface="Helvetica" panose="020B0604020202020204" pitchFamily="34" charset="0"/>
              <a:cs typeface="Helvetica" panose="020B0604020202020204" pitchFamily="34" charset="0"/>
            </a:endParaRPr>
          </a:p>
        </p:txBody>
      </p:sp>
      <p:sp>
        <p:nvSpPr>
          <p:cNvPr id="38" name="Google Shape;7421;p41"/>
          <p:cNvSpPr/>
          <p:nvPr/>
        </p:nvSpPr>
        <p:spPr>
          <a:xfrm rot="356255">
            <a:off x="6295963" y="1897141"/>
            <a:ext cx="1054365" cy="808304"/>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w="28575" cap="flat" cmpd="sng">
            <a:solidFill>
              <a:schemeClr val="lt1"/>
            </a:solidFill>
            <a:prstDash val="solid"/>
            <a:round/>
            <a:headEnd type="none" w="sm" len="sm"/>
            <a:tailEnd type="none" w="sm" len="sm"/>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sz="1200" noProof="0">
              <a:solidFill>
                <a:schemeClr val="bg1"/>
              </a:solidFill>
              <a:latin typeface="Helvetica" panose="020B0604020202020204" pitchFamily="34" charset="0"/>
              <a:cs typeface="Helvetica" panose="020B0604020202020204" pitchFamily="34" charset="0"/>
            </a:endParaRPr>
          </a:p>
        </p:txBody>
      </p:sp>
      <p:sp>
        <p:nvSpPr>
          <p:cNvPr id="41" name="Google Shape;7424;p41"/>
          <p:cNvSpPr/>
          <p:nvPr/>
        </p:nvSpPr>
        <p:spPr>
          <a:xfrm rot="282502">
            <a:off x="1008889" y="4058237"/>
            <a:ext cx="1054406" cy="808335"/>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w="28575" cap="flat" cmpd="sng">
            <a:solidFill>
              <a:schemeClr val="lt1"/>
            </a:solidFill>
            <a:prstDash val="solid"/>
            <a:round/>
            <a:headEnd type="none" w="sm" len="sm"/>
            <a:tailEnd type="none" w="sm" len="sm"/>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sz="1200" noProof="0">
              <a:solidFill>
                <a:schemeClr val="bg1"/>
              </a:solidFill>
              <a:latin typeface="Helvetica" panose="020B0604020202020204" pitchFamily="34" charset="0"/>
              <a:cs typeface="Helvetica" panose="020B0604020202020204" pitchFamily="34" charset="0"/>
            </a:endParaRPr>
          </a:p>
        </p:txBody>
      </p:sp>
      <p:sp>
        <p:nvSpPr>
          <p:cNvPr id="44" name="Google Shape;7427;p41"/>
          <p:cNvSpPr/>
          <p:nvPr/>
        </p:nvSpPr>
        <p:spPr>
          <a:xfrm rot="21275242">
            <a:off x="1044421" y="1901356"/>
            <a:ext cx="1054398" cy="808329"/>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w="28575" cap="flat" cmpd="sng">
            <a:solidFill>
              <a:schemeClr val="lt1"/>
            </a:solidFill>
            <a:prstDash val="solid"/>
            <a:round/>
            <a:headEnd type="none" w="sm" len="sm"/>
            <a:tailEnd type="none" w="sm" len="sm"/>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sz="1200" noProof="0">
              <a:solidFill>
                <a:schemeClr val="bg1"/>
              </a:solidFill>
              <a:latin typeface="Helvetica" panose="020B0604020202020204" pitchFamily="34" charset="0"/>
              <a:cs typeface="Helvetica" panose="020B0604020202020204" pitchFamily="34" charset="0"/>
            </a:endParaRPr>
          </a:p>
        </p:txBody>
      </p:sp>
      <p:sp>
        <p:nvSpPr>
          <p:cNvPr id="47" name="Google Shape;7431;p41"/>
          <p:cNvSpPr txBox="1">
            <a:spLocks/>
          </p:cNvSpPr>
          <p:nvPr/>
        </p:nvSpPr>
        <p:spPr>
          <a:xfrm rot="21238167">
            <a:off x="1055515" y="2057346"/>
            <a:ext cx="961801" cy="526899"/>
          </a:xfrm>
          <a:prstGeom prst="rect">
            <a:avLst/>
          </a:prstGeom>
        </p:spPr>
        <p:txBody>
          <a:bodyPr spcFirstLastPara="1" wrap="square" lIns="91425" tIns="91425" rIns="91425" bIns="91425" anchor="ctr"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spcBef>
                <a:spcPts val="0"/>
              </a:spcBef>
            </a:pPr>
            <a:r>
              <a:rPr lang="fr-CI" sz="3200" noProof="0">
                <a:solidFill>
                  <a:schemeClr val="bg1"/>
                </a:solidFill>
                <a:latin typeface="Helvetica" panose="020B0604020202020204" pitchFamily="34" charset="0"/>
                <a:cs typeface="Helvetica" panose="020B0604020202020204" pitchFamily="34" charset="0"/>
              </a:rPr>
              <a:t>01</a:t>
            </a:r>
          </a:p>
        </p:txBody>
      </p:sp>
      <p:sp>
        <p:nvSpPr>
          <p:cNvPr id="48" name="Google Shape;7432;p41"/>
          <p:cNvSpPr txBox="1">
            <a:spLocks/>
          </p:cNvSpPr>
          <p:nvPr/>
        </p:nvSpPr>
        <p:spPr>
          <a:xfrm rot="395864">
            <a:off x="1055515" y="4196382"/>
            <a:ext cx="961801" cy="526899"/>
          </a:xfrm>
          <a:prstGeom prst="rect">
            <a:avLst/>
          </a:prstGeom>
        </p:spPr>
        <p:txBody>
          <a:bodyPr spcFirstLastPara="1" wrap="square" lIns="91425" tIns="91425" rIns="91425" bIns="91425" anchor="ctr"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spcBef>
                <a:spcPts val="0"/>
              </a:spcBef>
            </a:pPr>
            <a:r>
              <a:rPr lang="fr-CI" sz="3200" noProof="0">
                <a:solidFill>
                  <a:schemeClr val="bg1"/>
                </a:solidFill>
                <a:latin typeface="Helvetica" panose="020B0604020202020204" pitchFamily="34" charset="0"/>
                <a:cs typeface="Helvetica" panose="020B0604020202020204" pitchFamily="34" charset="0"/>
              </a:rPr>
              <a:t>02</a:t>
            </a:r>
          </a:p>
        </p:txBody>
      </p:sp>
      <p:sp>
        <p:nvSpPr>
          <p:cNvPr id="53" name="Google Shape;7437;p41"/>
          <p:cNvSpPr txBox="1">
            <a:spLocks/>
          </p:cNvSpPr>
          <p:nvPr/>
        </p:nvSpPr>
        <p:spPr>
          <a:xfrm rot="354388">
            <a:off x="6338696" y="2057346"/>
            <a:ext cx="970153" cy="526899"/>
          </a:xfrm>
          <a:prstGeom prst="rect">
            <a:avLst/>
          </a:prstGeom>
        </p:spPr>
        <p:txBody>
          <a:bodyPr spcFirstLastPara="1" wrap="square" lIns="91425" tIns="91425" rIns="91425" bIns="91425" anchor="ctr"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spcBef>
                <a:spcPts val="0"/>
              </a:spcBef>
            </a:pPr>
            <a:r>
              <a:rPr lang="fr-CI" sz="3200" noProof="0">
                <a:solidFill>
                  <a:schemeClr val="bg1"/>
                </a:solidFill>
                <a:latin typeface="Helvetica" panose="020B0604020202020204" pitchFamily="34" charset="0"/>
                <a:cs typeface="Helvetica" panose="020B0604020202020204" pitchFamily="34" charset="0"/>
              </a:rPr>
              <a:t>03</a:t>
            </a:r>
          </a:p>
        </p:txBody>
      </p:sp>
      <p:sp>
        <p:nvSpPr>
          <p:cNvPr id="54" name="Google Shape;7438;p41"/>
          <p:cNvSpPr txBox="1">
            <a:spLocks/>
          </p:cNvSpPr>
          <p:nvPr/>
        </p:nvSpPr>
        <p:spPr>
          <a:xfrm rot="21176429">
            <a:off x="6338696" y="4196382"/>
            <a:ext cx="970153" cy="526899"/>
          </a:xfrm>
          <a:prstGeom prst="rect">
            <a:avLst/>
          </a:prstGeom>
        </p:spPr>
        <p:txBody>
          <a:bodyPr spcFirstLastPara="1" wrap="square" lIns="91425" tIns="91425" rIns="91425" bIns="91425" anchor="ctr"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spcBef>
                <a:spcPts val="0"/>
              </a:spcBef>
            </a:pPr>
            <a:r>
              <a:rPr lang="fr-CI" sz="3200" noProof="0">
                <a:solidFill>
                  <a:schemeClr val="bg1"/>
                </a:solidFill>
                <a:latin typeface="Helvetica" panose="020B0604020202020204" pitchFamily="34" charset="0"/>
                <a:cs typeface="Helvetica" panose="020B0604020202020204" pitchFamily="34" charset="0"/>
              </a:rPr>
              <a:t>04</a:t>
            </a:r>
          </a:p>
        </p:txBody>
      </p:sp>
      <p:sp>
        <p:nvSpPr>
          <p:cNvPr id="19" name="Rectangle 18"/>
          <p:cNvSpPr/>
          <p:nvPr/>
        </p:nvSpPr>
        <p:spPr>
          <a:xfrm>
            <a:off x="2312337" y="1956293"/>
            <a:ext cx="3277758" cy="883319"/>
          </a:xfrm>
          <a:prstGeom prst="rect">
            <a:avLst/>
          </a:prstGeom>
        </p:spPr>
        <p:txBody>
          <a:bodyPr wrap="square">
            <a:spAutoFit/>
          </a:bodyPr>
          <a:lstStyle/>
          <a:p>
            <a:pPr lvl="0">
              <a:lnSpc>
                <a:spcPct val="110000"/>
              </a:lnSpc>
            </a:pPr>
            <a:r>
              <a:rPr lang="fr-CI" sz="1400" b="1" noProof="0">
                <a:solidFill>
                  <a:srgbClr val="112A40"/>
                </a:solidFill>
                <a:latin typeface="Helvetica" panose="020B0604020202020204" pitchFamily="34" charset="0"/>
                <a:ea typeface="Open Sans Semibold" panose="020B0706030804020204" pitchFamily="34" charset="0"/>
                <a:cs typeface="Helvetica" panose="020B0604020202020204" pitchFamily="34" charset="0"/>
              </a:rPr>
              <a:t>Collecter</a:t>
            </a:r>
          </a:p>
          <a:p>
            <a:r>
              <a:rPr lang="fr-CI" sz="1200" noProof="0" b="0">
                <a:latin typeface="Helvetica" panose="020B0604020202020204" pitchFamily="34" charset="0"/>
                <a:ea typeface="Open Sans Light" panose="020B0306030504020204" pitchFamily="34" charset="0"/>
                <a:cs typeface="Helvetica" panose="020B0604020202020204" pitchFamily="34" charset="0"/>
              </a:rPr>
              <a:t>Le FPPN transmet les bases de prestations, les mutualistes avec date de naissance, les comptes d'épargne et les barèmes.</a:t>
            </a:r>
            <a:endParaRPr lang="fr-CI" sz="1600" noProof="0"/>
          </a:p>
        </p:txBody>
      </p:sp>
      <p:sp>
        <p:nvSpPr>
          <p:cNvPr id="20" name="Rectangle 19"/>
          <p:cNvSpPr/>
          <p:nvPr/>
        </p:nvSpPr>
        <p:spPr>
          <a:xfrm>
            <a:off x="2312337" y="4261820"/>
            <a:ext cx="3277758" cy="883319"/>
          </a:xfrm>
          <a:prstGeom prst="rect">
            <a:avLst/>
          </a:prstGeom>
        </p:spPr>
        <p:txBody>
          <a:bodyPr wrap="square">
            <a:spAutoFit/>
          </a:bodyPr>
          <a:lstStyle/>
          <a:p>
            <a:pPr lvl="0">
              <a:lnSpc>
                <a:spcPct val="110000"/>
              </a:lnSpc>
            </a:pPr>
            <a:r>
              <a:rPr lang="fr-CI" sz="1400" b="1" noProof="0">
                <a:solidFill>
                  <a:srgbClr val="112A40"/>
                </a:solidFill>
                <a:latin typeface="Helvetica" panose="020B0604020202020204" pitchFamily="34" charset="0"/>
                <a:ea typeface="Open Sans Semibold" panose="020B0706030804020204" pitchFamily="34" charset="0"/>
                <a:cs typeface="Helvetica" panose="020B0604020202020204" pitchFamily="34" charset="0"/>
              </a:rPr>
              <a:t>Calculer</a:t>
            </a:r>
          </a:p>
          <a:p>
            <a:r>
              <a:rPr lang="fr-CI" sz="1200" noProof="0" b="0">
                <a:latin typeface="Helvetica" panose="020B0604020202020204" pitchFamily="34" charset="0"/>
                <a:ea typeface="Open Sans Light" panose="020B0306030504020204" pitchFamily="34" charset="0"/>
                <a:cs typeface="Helvetica" panose="020B0604020202020204" pitchFamily="34" charset="0"/>
              </a:rPr>
              <a:t>Adenka précise la provision maladie (factures datées), la provision décès (dossiers du 41591000), la mortalité observée et les engagements par épargnant.</a:t>
            </a:r>
            <a:endParaRPr lang="fr-CI" sz="1600" noProof="0"/>
          </a:p>
        </p:txBody>
      </p:sp>
      <p:sp>
        <p:nvSpPr>
          <p:cNvPr id="22" name="Rectangle 21"/>
          <p:cNvSpPr/>
          <p:nvPr/>
        </p:nvSpPr>
        <p:spPr>
          <a:xfrm>
            <a:off x="7611772" y="1960390"/>
            <a:ext cx="3277758" cy="883319"/>
          </a:xfrm>
          <a:prstGeom prst="rect">
            <a:avLst/>
          </a:prstGeom>
        </p:spPr>
        <p:txBody>
          <a:bodyPr wrap="square">
            <a:spAutoFit/>
          </a:bodyPr>
          <a:lstStyle/>
          <a:p>
            <a:pPr lvl="0">
              <a:lnSpc>
                <a:spcPct val="110000"/>
              </a:lnSpc>
            </a:pPr>
            <a:r>
              <a:rPr lang="fr-CI" sz="1400" b="1" noProof="0">
                <a:solidFill>
                  <a:srgbClr val="112A40"/>
                </a:solidFill>
                <a:latin typeface="Helvetica" panose="020B0604020202020204" pitchFamily="34" charset="0"/>
                <a:ea typeface="Open Sans Semibold" panose="020B0706030804020204" pitchFamily="34" charset="0"/>
                <a:cs typeface="Helvetica" panose="020B0604020202020204" pitchFamily="34" charset="0"/>
              </a:rPr>
              <a:t>Vérifier</a:t>
            </a:r>
          </a:p>
          <a:p>
            <a:r>
              <a:rPr lang="fr-CI" sz="1200" noProof="0" b="0">
                <a:latin typeface="Helvetica" panose="020B0604020202020204" pitchFamily="34" charset="0"/>
                <a:ea typeface="Open Sans Light" panose="020B0306030504020204" pitchFamily="34" charset="0"/>
                <a:cs typeface="Helvetica" panose="020B0604020202020204" pitchFamily="34" charset="0"/>
              </a:rPr>
              <a:t>Adenka rapproche les résultats de la comptabilité et des ratios de l'UEMOA, puis les discute avec le FPPN.</a:t>
            </a:r>
            <a:endParaRPr lang="fr-CI" sz="1600" noProof="0"/>
          </a:p>
        </p:txBody>
      </p:sp>
      <p:sp>
        <p:nvSpPr>
          <p:cNvPr id="23" name="Rectangle 22"/>
          <p:cNvSpPr/>
          <p:nvPr/>
        </p:nvSpPr>
        <p:spPr>
          <a:xfrm>
            <a:off x="7611772" y="4358249"/>
            <a:ext cx="3277758" cy="698653"/>
          </a:xfrm>
          <a:prstGeom prst="rect">
            <a:avLst/>
          </a:prstGeom>
        </p:spPr>
        <p:txBody>
          <a:bodyPr wrap="square">
            <a:spAutoFit/>
          </a:bodyPr>
          <a:lstStyle/>
          <a:p>
            <a:pPr lvl="0">
              <a:lnSpc>
                <a:spcPct val="110000"/>
              </a:lnSpc>
            </a:pPr>
            <a:r>
              <a:rPr lang="fr-CI" sz="1400" b="1" noProof="0">
                <a:solidFill>
                  <a:srgbClr val="112A40"/>
                </a:solidFill>
                <a:latin typeface="Helvetica" panose="020B0604020202020204" pitchFamily="34" charset="0"/>
                <a:ea typeface="Open Sans Semibold" panose="020B0706030804020204" pitchFamily="34" charset="0"/>
                <a:cs typeface="Helvetica" panose="020B0604020202020204" pitchFamily="34" charset="0"/>
              </a:rPr>
              <a:t>Projeter</a:t>
            </a:r>
          </a:p>
          <a:p>
            <a:r>
              <a:rPr lang="fr-CI" sz="1200" noProof="0" b="0">
                <a:latin typeface="Helvetica" panose="020B0604020202020204" pitchFamily="34" charset="0"/>
                <a:ea typeface="Open Sans Light" panose="020B0306030504020204" pitchFamily="34" charset="0"/>
                <a:cs typeface="Helvetica" panose="020B0604020202020204" pitchFamily="34" charset="0"/>
              </a:rPr>
              <a:t>Adenka projette l'équilibre technique sur 5 à 10 ans et chiffre les recommandations.</a:t>
            </a:r>
            <a:endParaRPr lang="fr-CI" sz="1600" noProof="0"/>
          </a:p>
        </p:txBody>
      </p:sp>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55"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Feuille de route proposée</a:t>
            </a:r>
          </a:p>
        </p:txBody>
      </p:sp>
      <p:sp>
        <p:nvSpPr>
          <p:cNvPr id="56"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Quatre étapes pour passer du constat à l'évaluation des engagements</a:t>
            </a:r>
          </a:p>
        </p:txBody>
      </p:sp>
      <p:sp>
        <p:nvSpPr>
          <p:cNvPr id="57"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Chaque étape dépend de la précédente. La première est la transmission des données manquantes</a:t>
            </a:r>
          </a:p>
        </p:txBody>
      </p:sp>
      <p:sp>
        <p:nvSpPr>
          <p:cNvPr id="58"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Adenka</a:t>
            </a:r>
          </a:p>
        </p:txBody>
      </p:sp>
      <p:sp>
        <p:nvSpPr>
          <p:cNvPr id="59" name="TextBox 58"/>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a:t>
            </a:r>
          </a:p>
        </p:txBody>
      </p:sp>
    </p:spTree>
    <p:extLst>
      <p:ext uri="{BB962C8B-B14F-4D97-AF65-F5344CB8AC3E}">
        <p14:creationId xmlns:p14="http://schemas.microsoft.com/office/powerpoint/2010/main" val="2137718605"/>
      </p:ext>
    </p:extLst>
  </p:cSld>
  <p:clrMapOvr>
    <a:masterClrMapping/>
  </p:clrMapOvr>
  <p:transition>
    <p:fad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Google Shape;8651;p70"/>
          <p:cNvSpPr/>
          <p:nvPr/>
        </p:nvSpPr>
        <p:spPr>
          <a:xfrm>
            <a:off x="2013108" y="2588204"/>
            <a:ext cx="1380332" cy="1428252"/>
          </a:xfrm>
          <a:custGeom>
            <a:avLst/>
            <a:gdLst/>
            <a:ahLst/>
            <a:cxnLst/>
            <a:rect l="l" t="t" r="r" b="b"/>
            <a:pathLst>
              <a:path w="8670" h="8971" extrusionOk="0">
                <a:moveTo>
                  <a:pt x="7105" y="1302"/>
                </a:moveTo>
                <a:cubicBezTo>
                  <a:pt x="7105" y="1315"/>
                  <a:pt x="7105" y="1328"/>
                  <a:pt x="7105" y="1341"/>
                </a:cubicBezTo>
                <a:cubicBezTo>
                  <a:pt x="7118" y="1980"/>
                  <a:pt x="7183" y="2619"/>
                  <a:pt x="7183" y="3283"/>
                </a:cubicBezTo>
                <a:cubicBezTo>
                  <a:pt x="7170" y="4404"/>
                  <a:pt x="7183" y="5525"/>
                  <a:pt x="7222" y="6646"/>
                </a:cubicBezTo>
                <a:cubicBezTo>
                  <a:pt x="7235" y="6959"/>
                  <a:pt x="7222" y="7259"/>
                  <a:pt x="7222" y="7559"/>
                </a:cubicBezTo>
                <a:lnTo>
                  <a:pt x="7222" y="7585"/>
                </a:lnTo>
                <a:cubicBezTo>
                  <a:pt x="6935" y="7598"/>
                  <a:pt x="6649" y="7611"/>
                  <a:pt x="6362" y="7611"/>
                </a:cubicBezTo>
                <a:cubicBezTo>
                  <a:pt x="6101" y="7598"/>
                  <a:pt x="5853" y="7585"/>
                  <a:pt x="5593" y="7585"/>
                </a:cubicBezTo>
                <a:cubicBezTo>
                  <a:pt x="4159" y="7559"/>
                  <a:pt x="2712" y="7559"/>
                  <a:pt x="1291" y="7442"/>
                </a:cubicBezTo>
                <a:cubicBezTo>
                  <a:pt x="1278" y="7207"/>
                  <a:pt x="1239" y="6959"/>
                  <a:pt x="1226" y="6725"/>
                </a:cubicBezTo>
                <a:cubicBezTo>
                  <a:pt x="1200" y="6255"/>
                  <a:pt x="1187" y="5799"/>
                  <a:pt x="1200" y="5330"/>
                </a:cubicBezTo>
                <a:cubicBezTo>
                  <a:pt x="1213" y="4222"/>
                  <a:pt x="1226" y="3101"/>
                  <a:pt x="1343" y="1993"/>
                </a:cubicBezTo>
                <a:lnTo>
                  <a:pt x="1552" y="1993"/>
                </a:lnTo>
                <a:cubicBezTo>
                  <a:pt x="2138" y="1980"/>
                  <a:pt x="2725" y="1889"/>
                  <a:pt x="3312" y="1810"/>
                </a:cubicBezTo>
                <a:cubicBezTo>
                  <a:pt x="4576" y="1641"/>
                  <a:pt x="5840" y="1524"/>
                  <a:pt x="7105" y="1302"/>
                </a:cubicBezTo>
                <a:close/>
                <a:moveTo>
                  <a:pt x="7529" y="1"/>
                </a:moveTo>
                <a:cubicBezTo>
                  <a:pt x="7291" y="1"/>
                  <a:pt x="7059" y="53"/>
                  <a:pt x="6818" y="64"/>
                </a:cubicBezTo>
                <a:cubicBezTo>
                  <a:pt x="6375" y="103"/>
                  <a:pt x="5932" y="142"/>
                  <a:pt x="5488" y="194"/>
                </a:cubicBezTo>
                <a:cubicBezTo>
                  <a:pt x="4824" y="259"/>
                  <a:pt x="4107" y="350"/>
                  <a:pt x="3429" y="389"/>
                </a:cubicBezTo>
                <a:cubicBezTo>
                  <a:pt x="2686" y="429"/>
                  <a:pt x="1943" y="481"/>
                  <a:pt x="1213" y="598"/>
                </a:cubicBezTo>
                <a:cubicBezTo>
                  <a:pt x="913" y="624"/>
                  <a:pt x="652" y="728"/>
                  <a:pt x="509" y="976"/>
                </a:cubicBezTo>
                <a:cubicBezTo>
                  <a:pt x="470" y="1028"/>
                  <a:pt x="444" y="1080"/>
                  <a:pt x="431" y="1146"/>
                </a:cubicBezTo>
                <a:cubicBezTo>
                  <a:pt x="300" y="1524"/>
                  <a:pt x="287" y="1928"/>
                  <a:pt x="300" y="2332"/>
                </a:cubicBezTo>
                <a:cubicBezTo>
                  <a:pt x="209" y="3010"/>
                  <a:pt x="209" y="3700"/>
                  <a:pt x="209" y="4378"/>
                </a:cubicBezTo>
                <a:cubicBezTo>
                  <a:pt x="170" y="4769"/>
                  <a:pt x="144" y="5173"/>
                  <a:pt x="131" y="5565"/>
                </a:cubicBezTo>
                <a:cubicBezTo>
                  <a:pt x="105" y="6203"/>
                  <a:pt x="14" y="6842"/>
                  <a:pt x="14" y="7481"/>
                </a:cubicBezTo>
                <a:cubicBezTo>
                  <a:pt x="1" y="7911"/>
                  <a:pt x="157" y="8315"/>
                  <a:pt x="613" y="8419"/>
                </a:cubicBezTo>
                <a:cubicBezTo>
                  <a:pt x="1056" y="8550"/>
                  <a:pt x="1526" y="8524"/>
                  <a:pt x="1982" y="8550"/>
                </a:cubicBezTo>
                <a:cubicBezTo>
                  <a:pt x="2243" y="8563"/>
                  <a:pt x="2503" y="8589"/>
                  <a:pt x="2764" y="8615"/>
                </a:cubicBezTo>
                <a:cubicBezTo>
                  <a:pt x="3885" y="8745"/>
                  <a:pt x="5006" y="8902"/>
                  <a:pt x="6140" y="8941"/>
                </a:cubicBezTo>
                <a:cubicBezTo>
                  <a:pt x="6220" y="8945"/>
                  <a:pt x="6302" y="8946"/>
                  <a:pt x="6383" y="8946"/>
                </a:cubicBezTo>
                <a:cubicBezTo>
                  <a:pt x="6581" y="8946"/>
                  <a:pt x="6781" y="8937"/>
                  <a:pt x="6974" y="8928"/>
                </a:cubicBezTo>
                <a:cubicBezTo>
                  <a:pt x="7118" y="8941"/>
                  <a:pt x="7274" y="8941"/>
                  <a:pt x="7418" y="8941"/>
                </a:cubicBezTo>
                <a:cubicBezTo>
                  <a:pt x="7568" y="8956"/>
                  <a:pt x="7723" y="8971"/>
                  <a:pt x="7877" y="8971"/>
                </a:cubicBezTo>
                <a:cubicBezTo>
                  <a:pt x="7990" y="8971"/>
                  <a:pt x="8103" y="8963"/>
                  <a:pt x="8213" y="8941"/>
                </a:cubicBezTo>
                <a:cubicBezTo>
                  <a:pt x="8643" y="8810"/>
                  <a:pt x="8565" y="8093"/>
                  <a:pt x="8604" y="7741"/>
                </a:cubicBezTo>
                <a:cubicBezTo>
                  <a:pt x="8669" y="6620"/>
                  <a:pt x="8539" y="5499"/>
                  <a:pt x="8487" y="4378"/>
                </a:cubicBezTo>
                <a:cubicBezTo>
                  <a:pt x="8434" y="3453"/>
                  <a:pt x="8330" y="2527"/>
                  <a:pt x="8252" y="1589"/>
                </a:cubicBezTo>
                <a:cubicBezTo>
                  <a:pt x="8200" y="1341"/>
                  <a:pt x="8239" y="637"/>
                  <a:pt x="8096" y="350"/>
                </a:cubicBezTo>
                <a:lnTo>
                  <a:pt x="8082" y="350"/>
                </a:lnTo>
                <a:cubicBezTo>
                  <a:pt x="8056" y="181"/>
                  <a:pt x="7952" y="51"/>
                  <a:pt x="7704" y="11"/>
                </a:cubicBezTo>
                <a:cubicBezTo>
                  <a:pt x="7645" y="4"/>
                  <a:pt x="7587" y="1"/>
                  <a:pt x="7529" y="1"/>
                </a:cubicBezTo>
                <a:close/>
              </a:path>
            </a:pathLst>
          </a:custGeom>
          <a:solidFill>
            <a:schemeClr val="bg1"/>
          </a:solidFill>
          <a:ln w="76200">
            <a:solidFill>
              <a:schemeClr val="tx1"/>
            </a:solid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5" name="Rectangle 24">
            <a:extLst>
              <a:ext uri="{FF2B5EF4-FFF2-40B4-BE49-F238E27FC236}">
                <a16:creationId xmlns:a16="http://schemas.microsoft.com/office/drawing/2014/main" id="{9B9B23AA-050D-4543-80A0-873FE31AFFF7}"/>
              </a:ext>
            </a:extLst>
          </p:cNvPr>
          <p:cNvSpPr/>
          <p:nvPr/>
        </p:nvSpPr>
        <p:spPr>
          <a:xfrm>
            <a:off x="2446471" y="2869098"/>
            <a:ext cx="513606" cy="936923"/>
          </a:xfrm>
          <a:prstGeom prst="rect">
            <a:avLst/>
          </a:prstGeom>
        </p:spPr>
        <p:txBody>
          <a:bodyPr wrap="square" lIns="0" tIns="0" rIns="0" bIns="0">
            <a:spAutoFit/>
          </a:bodyPr>
          <a:lstStyle/>
          <a:p>
            <a:pPr lvl="0">
              <a:lnSpc>
                <a:spcPct val="110000"/>
              </a:lnSpc>
            </a:pPr>
            <a:r>
              <a:rPr lang="fr-CI" sz="60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1</a:t>
            </a:r>
          </a:p>
        </p:txBody>
      </p:sp>
      <p:sp>
        <p:nvSpPr>
          <p:cNvPr id="10" name="Rectangle 9"/>
          <p:cNvSpPr/>
          <p:nvPr/>
        </p:nvSpPr>
        <p:spPr>
          <a:xfrm>
            <a:off x="3938554" y="2462184"/>
            <a:ext cx="3816000" cy="1200329"/>
          </a:xfrm>
          <a:prstGeom prst="rect">
            <a:avLst/>
          </a:prstGeom>
        </p:spPr>
        <p:txBody>
          <a:bodyPr wrap="square">
            <a:spAutoFit/>
          </a:bodyPr>
          <a:lstStyle/>
          <a:p>
            <a:r>
              <a:rPr lang="fr-CI" sz="3600" b="1" noProof="0">
                <a:solidFill>
                  <a:schemeClr val="bg1"/>
                </a:solidFill>
                <a:latin typeface="Helvetica" panose="020B0604020202020204" pitchFamily="34" charset="0"/>
                <a:cs typeface="Helvetica" panose="020B0604020202020204" pitchFamily="34" charset="0"/>
              </a:rPr>
              <a:t>Comprendre le FPPN</a:t>
            </a:r>
          </a:p>
        </p:txBody>
      </p:sp>
      <p:pic>
        <p:nvPicPr>
          <p:cNvPr id="9" name="Image 8">
            <a:extLst>
              <a:ext uri="{FF2B5EF4-FFF2-40B4-BE49-F238E27FC236}">
                <a16:creationId xmlns:a16="http://schemas.microsoft.com/office/drawing/2014/main" id="{2C356854-0685-DCEF-E2F6-65D5E9653A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1274" y="-185107"/>
            <a:ext cx="3179518" cy="1268781"/>
          </a:xfrm>
          <a:prstGeom prst="rect">
            <a:avLst/>
          </a:prstGeom>
        </p:spPr>
      </p:pic>
      <p:sp>
        <p:nvSpPr>
          <p:cNvPr id="6" name="Rectangle 5"/>
          <p:cNvSpPr/>
          <p:nvPr/>
        </p:nvSpPr>
        <p:spPr>
          <a:xfrm>
            <a:off x="3938554" y="3337559"/>
            <a:ext cx="3816000" cy="923330"/>
          </a:xfrm>
          <a:prstGeom prst="rect">
            <a:avLst/>
          </a:prstGeom>
        </p:spPr>
        <p:txBody>
          <a:bodyPr wrap="square">
            <a:spAutoFit/>
          </a:bodyPr>
          <a:lstStyle/>
          <a:p>
            <a:br>
              <a:rPr lang="fr-CI" noProof="0">
                <a:solidFill>
                  <a:schemeClr val="bg1"/>
                </a:solidFill>
              </a:rPr>
            </a:br>
            <a:r>
              <a:rPr lang="fr-CI" noProof="0">
                <a:solidFill>
                  <a:srgbClr val="EFAC62"/>
                </a:solidFill>
                <a:latin typeface="Helvetica" panose="020B0604020202020204" pitchFamily="34" charset="0"/>
                <a:ea typeface="Open Sans Light" panose="020B0306030504020204" pitchFamily="34" charset="0"/>
                <a:cs typeface="Helvetica" panose="020B0604020202020204" pitchFamily="34" charset="0"/>
              </a:rPr>
              <a:t>Cadre, garanties, circuits et notions de base</a:t>
            </a:r>
          </a:p>
        </p:txBody>
      </p:sp>
      <p:pic>
        <p:nvPicPr>
          <p:cNvPr id="11" name="Imag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5561" y="2415481"/>
            <a:ext cx="1566911" cy="1600975"/>
          </a:xfrm>
          <a:prstGeom prst="rect">
            <a:avLst/>
          </a:prstGeom>
        </p:spPr>
      </p:pic>
    </p:spTree>
    <p:extLst>
      <p:ext uri="{BB962C8B-B14F-4D97-AF65-F5344CB8AC3E}">
        <p14:creationId xmlns:p14="http://schemas.microsoft.com/office/powerpoint/2010/main" val="290074436"/>
      </p:ext>
    </p:extLst>
  </p:cSld>
  <p:clrMapOvr>
    <a:masterClrMapping/>
  </p:clrMapOvr>
  <p:transition>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Cadre juridique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FPPN est une mutuelle sociale agréée, régie par le droit de l'UEMOA</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 règlement n° 07/2009/CM/UEMOA fixe les règles, l'AIRMS contrôle, le Code CIMA sert de référence technique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textes cités (documentation publique de l'AIRMS fournie le 18/10/2026). Répertoire AIRMS des mutuelles agréées, mise à jour du 15/10/2026</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12 : Textes et organismes de référence</a:t>
            </a:r>
          </a:p>
        </p:txBody>
      </p:sp>
      <p:graphicFrame>
        <p:nvGraphicFramePr>
          <p:cNvPr id="32" name="Table 31"/>
          <p:cNvGraphicFramePr>
            <a:graphicFrameLocks noGrp="1"/>
          </p:cNvGraphicFramePr>
          <p:nvPr/>
        </p:nvGraphicFramePr>
        <p:xfrm>
          <a:off x="503999" y="1655999"/>
          <a:ext cx="11232000" cy="2582656"/>
        </p:xfrm>
        <a:graphic>
          <a:graphicData uri="http://schemas.openxmlformats.org/drawingml/2006/table">
            <a:tbl>
              <a:tblPr firstRow="0" bandRow="0">
                <a:tableStyleId>{5940675A-B579-460E-94D1-54222C63F5DA}</a:tableStyleId>
              </a:tblPr>
              <a:tblGrid>
                <a:gridCol w="2880000"/>
                <a:gridCol w="4104000"/>
                <a:gridCol w="4248000"/>
              </a:tblGrid>
              <a:tr h="225250">
                <a:tc>
                  <a:txBody>
                    <a:bodyPr/>
                    <a:lstStyle/>
                    <a:p>
                      <a:pPr marL="0" indent="0" lvl="0">
                        <a:buNone/>
                      </a:pPr>
                      <a:r>
                        <a:rPr sz="1100" b="1">
                          <a:solidFill>
                            <a:srgbClr val="FFFFFF"/>
                          </a:solidFill>
                          <a:latin typeface="Helvetica"/>
                        </a:rPr>
                        <a:t>Texte ou organisme</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Rôle pour le FPPN</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Usage dans ce rapport</a:t>
                      </a:r>
                    </a:p>
                  </a:txBody>
                  <a:tcPr marL="43200" marR="43200" marT="14400" marB="14400" anchor="ctr">
                    <a:solidFill>
                      <a:srgbClr val="060606"/>
                    </a:solidFill>
                  </a:tcPr>
                </a:tc>
              </a:tr>
              <a:tr h="392901">
                <a:tc>
                  <a:txBody>
                    <a:bodyPr/>
                    <a:lstStyle/>
                    <a:p>
                      <a:pPr marL="0" indent="0" lvl="0">
                        <a:buNone/>
                      </a:pPr>
                      <a:r>
                        <a:rPr sz="1100" b="1">
                          <a:solidFill>
                            <a:srgbClr val="060606"/>
                          </a:solidFill>
                          <a:latin typeface="Helvetica"/>
                        </a:rPr>
                        <a:t>Règlement n° 07/2009/CM/UEMOA du 26/06/2009</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Il fixe l'agrément, les obligations, les sanctions et le contrôle des mutuelles sociales.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Cadre général (partie 10)</a:t>
                      </a:r>
                    </a:p>
                  </a:txBody>
                  <a:tcPr marL="43200" marR="43200" marT="14400" marB="14400" anchor="ctr">
                    <a:solidFill>
                      <a:srgbClr val="FFFFFF"/>
                    </a:solidFill>
                  </a:tcPr>
                </a:tc>
              </a:tr>
              <a:tr h="392901">
                <a:tc>
                  <a:txBody>
                    <a:bodyPr/>
                    <a:lstStyle/>
                    <a:p>
                      <a:pPr marL="0" indent="0" lvl="0">
                        <a:buNone/>
                      </a:pPr>
                      <a:r>
                        <a:rPr sz="1100" b="1">
                          <a:solidFill>
                            <a:srgbClr val="060606"/>
                          </a:solidFill>
                          <a:latin typeface="Helvetica"/>
                        </a:rPr>
                        <a:t>Règlement d'exécution n° 004/2022/COM/UEMOA du 01/06/2022</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Il fixe les règles prudentielles : provisions, réserves, risques longs, placements.</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Exigences prudentielles (partie 10)</a:t>
                      </a:r>
                    </a:p>
                  </a:txBody>
                  <a:tcPr marL="43200" marR="43200" marT="14400" marB="14400" anchor="ctr">
                    <a:solidFill>
                      <a:srgbClr val="F2F2F2"/>
                    </a:solidFill>
                  </a:tcPr>
                </a:tc>
              </a:tr>
              <a:tr h="392901">
                <a:tc>
                  <a:txBody>
                    <a:bodyPr/>
                    <a:lstStyle/>
                    <a:p>
                      <a:pPr marL="0" indent="0" lvl="0">
                        <a:buNone/>
                      </a:pPr>
                      <a:r>
                        <a:rPr sz="1100" b="1">
                          <a:solidFill>
                            <a:srgbClr val="060606"/>
                          </a:solidFill>
                          <a:latin typeface="Helvetica"/>
                        </a:rPr>
                        <a:t>Décision n° 05/2022/COM/UEMOA du 01/06/2022</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Elle fixe les indicateurs et ratios prudentiels et leurs normes.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Tableau de bord des ratios (partie 10)</a:t>
                      </a:r>
                    </a:p>
                  </a:txBody>
                  <a:tcPr marL="43200" marR="43200" marT="14400" marB="14400" anchor="ctr">
                    <a:solidFill>
                      <a:srgbClr val="FFFFFF"/>
                    </a:solidFill>
                  </a:tcPr>
                </a:tc>
              </a:tr>
              <a:tr h="392901">
                <a:tc>
                  <a:txBody>
                    <a:bodyPr/>
                    <a:lstStyle/>
                    <a:p>
                      <a:pPr marL="0" indent="0" lvl="0">
                        <a:buNone/>
                      </a:pPr>
                      <a:r>
                        <a:rPr sz="1100" b="1">
                          <a:solidFill>
                            <a:srgbClr val="060606"/>
                          </a:solidFill>
                          <a:latin typeface="Helvetica"/>
                        </a:rPr>
                        <a:t>Règlement n° 03/2012/CM/UEMOA et PCMS</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Ils imposent le plan comptable des mutuelles sociales depuis l'exercice 2014.</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Lecture et contrôle des comptes</a:t>
                      </a:r>
                    </a:p>
                  </a:txBody>
                  <a:tcPr marL="43200" marR="43200" marT="14400" marB="14400" anchor="ctr">
                    <a:solidFill>
                      <a:srgbClr val="F2F2F2"/>
                    </a:solidFill>
                  </a:tcPr>
                </a:tc>
              </a:tr>
              <a:tr h="392901">
                <a:tc>
                  <a:txBody>
                    <a:bodyPr/>
                    <a:lstStyle/>
                    <a:p>
                      <a:pPr marL="0" indent="0" lvl="0">
                        <a:buNone/>
                      </a:pPr>
                      <a:r>
                        <a:rPr sz="1100" b="1">
                          <a:solidFill>
                            <a:srgbClr val="060606"/>
                          </a:solidFill>
                          <a:latin typeface="Helvetica"/>
                        </a:rPr>
                        <a:t>AIRMS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L'Agence ivoirienne de régulation de la mutualité sociale agrée et contrôle les mutuelles.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Destinataire des états et des ratios</a:t>
                      </a:r>
                    </a:p>
                  </a:txBody>
                  <a:tcPr marL="43200" marR="43200" marT="14400" marB="14400" anchor="ctr">
                    <a:solidFill>
                      <a:srgbClr val="FFFFFF"/>
                    </a:solidFill>
                  </a:tcPr>
                </a:tc>
              </a:tr>
              <a:tr h="392901">
                <a:tc>
                  <a:txBody>
                    <a:bodyPr/>
                    <a:lstStyle/>
                    <a:p>
                      <a:pPr marL="0" indent="0" lvl="0">
                        <a:buNone/>
                      </a:pPr>
                      <a:r>
                        <a:rPr sz="1100" b="1">
                          <a:solidFill>
                            <a:srgbClr val="060606"/>
                          </a:solidFill>
                          <a:latin typeface="Helvetica"/>
                        </a:rPr>
                        <a:t>Code CIMA, article 338</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Il fixe les tables de mortalité et le taux d'intérêt maximal (3,5 %) des assureurs vie.</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Référence technique (partie 11)</a:t>
                      </a:r>
                    </a:p>
                  </a:txBody>
                  <a:tcPr marL="43200" marR="43200" marT="14400" marB="14400" anchor="ctr">
                    <a:solidFill>
                      <a:srgbClr val="F2F2F2"/>
                    </a:solidFill>
                  </a:tcPr>
                </a:tc>
              </a:tr>
            </a:tbl>
          </a:graphicData>
        </a:graphic>
      </p:graphicFrame>
      <p:sp>
        <p:nvSpPr>
          <p:cNvPr id="33" name="TextBox 32"/>
          <p:cNvSpPr txBox="1"/>
          <p:nvPr/>
        </p:nvSpPr>
        <p:spPr>
          <a:xfrm>
            <a:off x="503999" y="4346657"/>
            <a:ext cx="11232000" cy="162000"/>
          </a:xfrm>
          <a:prstGeom prst="rect">
            <a:avLst/>
          </a:prstGeom>
          <a:noFill/>
        </p:spPr>
        <p:txBody>
          <a:bodyPr wrap="square" anchor="t" lIns="54000" rIns="54000"/>
          <a:lstStyle/>
          <a:p>
            <a:pPr algn="l"/>
            <a:r>
              <a:rPr sz="850" b="0">
                <a:solidFill>
                  <a:srgbClr val="53565A"/>
                </a:solidFill>
                <a:latin typeface="Helvetica"/>
              </a:rPr>
              <a:t>Valable pour : textes cités dans leur version fournie le 18/10/2026 (documentation publique de l'AIRMS). Répertoire AIRMS du 15/10/2026. Ne vaut pas avis juridique.</a:t>
            </a:r>
          </a:p>
        </p:txBody>
      </p:sp>
      <p:sp>
        <p:nvSpPr>
          <p:cNvPr id="34" name="TextBox 33"/>
          <p:cNvSpPr txBox="1"/>
          <p:nvPr/>
        </p:nvSpPr>
        <p:spPr>
          <a:xfrm>
            <a:off x="503999" y="4652657"/>
            <a:ext cx="11232000" cy="1215342"/>
          </a:xfrm>
          <a:prstGeom prst="rect">
            <a:avLst/>
          </a:prstGeom>
          <a:noFill/>
        </p:spPr>
        <p:txBody>
          <a:bodyPr wrap="square" lIns="54000" rIns="54000"/>
          <a:lstStyle/>
          <a:p>
            <a:pPr algn="just">
              <a:spcAft>
                <a:spcPts val="600"/>
              </a:spcAft>
            </a:pPr>
            <a:r>
              <a:rPr sz="1300" b="1">
                <a:solidFill>
                  <a:srgbClr val="060606"/>
                </a:solidFill>
                <a:latin typeface="Helvetica"/>
              </a:rPr>
              <a:t>Le FPPN doit respecter des normes chiffrées depuis le 1er juin 2022.</a:t>
            </a:r>
            <a:r>
              <a:rPr sz="1300" b="0">
                <a:solidFill>
                  <a:srgbClr val="060606"/>
                </a:solidFill>
                <a:latin typeface="Helvetica"/>
              </a:rPr>
              <a:t> Avant cette date, les textes ne fixaient pas de ratios prudentiels précis pour les mutuelles.</a:t>
            </a:r>
          </a:p>
          <a:p>
            <a:pPr algn="just">
              <a:spcAft>
                <a:spcPts val="600"/>
              </a:spcAft>
            </a:pPr>
            <a:r>
              <a:rPr sz="1300" b="0">
                <a:solidFill>
                  <a:srgbClr val="060606"/>
                </a:solidFill>
                <a:latin typeface="Helvetica"/>
              </a:rPr>
              <a:t>Les ratios de la Décision n° 05/2022 s'appliquent pleinement aux exercices 2022 à 2025 de la période d'analyse : la partie 10 les calcule un par un.</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AIRMS : Agence ivoirienne de régulation de la mutualité sociale | UEMOA : Union économique et monétaire ouest-africaine | PCMS : plan comptable des mutuelles sociales | CIMA : Conférence interafricaine des marchés d'assurances</a:t>
            </a:r>
          </a:p>
        </p:txBody>
      </p:sp>
    </p:spTree>
    <p:extLst>
      <p:ext uri="{BB962C8B-B14F-4D97-AF65-F5344CB8AC3E}">
        <p14:creationId xmlns:p14="http://schemas.microsoft.com/office/powerpoint/2010/main" val="3912024832"/>
      </p:ext>
    </p:extLst>
  </p:cSld>
  <p:clrMapOvr>
    <a:masterClrMapping/>
  </p:clrMapOvr>
  <p:transition>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Statuts et règlement intérieur : cotisations, provisions, prestations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textes du FPPN fixent déjà des règles que les comptes ne suivent pas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Barème de cotisation, calcul des provisions et dotation de la réserve légale sont écrits dans les statuts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statuts et règlement intérieur du FPPN édités le 15/06/2023 (textes adoptés par l'Assemblée générale extraordinaire du 30/06/2021). Circulaire n° 00230/CIMA/CRCA/PDT/2005. Balances du FPPN. Calculs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13 : Dispositions des textes du FPPN utiles à la mission (1/2)</a:t>
            </a:r>
          </a:p>
        </p:txBody>
      </p:sp>
      <p:graphicFrame>
        <p:nvGraphicFramePr>
          <p:cNvPr id="32" name="Table 31"/>
          <p:cNvGraphicFramePr>
            <a:graphicFrameLocks noGrp="1"/>
          </p:cNvGraphicFramePr>
          <p:nvPr/>
        </p:nvGraphicFramePr>
        <p:xfrm>
          <a:off x="503999" y="1655999"/>
          <a:ext cx="11231999" cy="2288820"/>
        </p:xfrm>
        <a:graphic>
          <a:graphicData uri="http://schemas.openxmlformats.org/drawingml/2006/table">
            <a:tbl>
              <a:tblPr firstRow="0" bandRow="0">
                <a:tableStyleId>{5940675A-B579-460E-94D1-54222C63F5DA}</a:tableStyleId>
              </a:tblPr>
              <a:tblGrid>
                <a:gridCol w="3240000"/>
                <a:gridCol w="1584000"/>
                <a:gridCol w="3096000"/>
                <a:gridCol w="3311999"/>
              </a:tblGrid>
              <a:tr h="187148">
                <a:tc>
                  <a:txBody>
                    <a:bodyPr/>
                    <a:lstStyle/>
                    <a:p>
                      <a:pPr marL="0" indent="0" lvl="0">
                        <a:buNone/>
                      </a:pPr>
                      <a:r>
                        <a:rPr sz="850" b="1">
                          <a:solidFill>
                            <a:srgbClr val="FFFFFF"/>
                          </a:solidFill>
                          <a:latin typeface="Helvetica"/>
                        </a:rPr>
                        <a:t>Disposition</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Article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Constat dans les données</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Effet sur la mission</a:t>
                      </a:r>
                    </a:p>
                  </a:txBody>
                  <a:tcPr marL="43200" marR="43200" marT="14400" marB="14400" anchor="ctr">
                    <a:solidFill>
                      <a:srgbClr val="060606"/>
                    </a:solidFill>
                  </a:tcPr>
                </a:tc>
              </a:tr>
              <a:tr h="446244">
                <a:tc>
                  <a:txBody>
                    <a:bodyPr/>
                    <a:lstStyle/>
                    <a:p>
                      <a:pPr marL="0" indent="0" lvl="0">
                        <a:buNone/>
                      </a:pPr>
                      <a:r>
                        <a:rPr sz="850" b="1">
                          <a:solidFill>
                            <a:srgbClr val="060606"/>
                          </a:solidFill>
                          <a:latin typeface="Helvetica"/>
                        </a:rPr>
                        <a:t>Cotisation obligatoire de 5 % de la solde de base : 3,5 % maladie-maternité et 1,5 % invalidité-décès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Statuts, art. 17. Règlement intérieur, art. 33</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La Solde retient 3,77 % et 1,23 % (partie 4)</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Le barème officiel est établi. </a:t>
                      </a:r>
                      <a:r>
                        <a:rPr sz="850" b="0">
                          <a:solidFill>
                            <a:srgbClr val="060606"/>
                          </a:solidFill>
                          <a:highlight>
                            <a:srgbClr val="FFFF00"/>
                          </a:highlight>
                          <a:latin typeface="Helvetica"/>
                        </a:rPr>
                        <a:t>La Solde applique une autre répartition, sans document de notification reçu</a:t>
                      </a:r>
                      <a:r>
                        <a:rPr sz="850" b="0">
                          <a:solidFill>
                            <a:srgbClr val="060606"/>
                          </a:solidFill>
                          <a:latin typeface="Helvetica"/>
                        </a:rPr>
                        <a:t> (PBC, item 34).</a:t>
                      </a:r>
                    </a:p>
                  </a:txBody>
                  <a:tcPr marL="43200" marR="43200" marT="14400" marB="14400" anchor="ctr">
                    <a:solidFill>
                      <a:srgbClr val="FFFFFF"/>
                    </a:solidFill>
                  </a:tcPr>
                </a:tc>
              </a:tr>
              <a:tr h="446244">
                <a:tc>
                  <a:txBody>
                    <a:bodyPr/>
                    <a:lstStyle/>
                    <a:p>
                      <a:pPr marL="0" indent="0" lvl="0">
                        <a:buNone/>
                      </a:pPr>
                      <a:r>
                        <a:rPr sz="850" b="1">
                          <a:solidFill>
                            <a:srgbClr val="060606"/>
                          </a:solidFill>
                          <a:latin typeface="Helvetica"/>
                        </a:rPr>
                        <a:t>Provision pour prestations à payer calculée exercice par exercice, dossier par dossier, plus les sinistres survenus non déclarés. Provision pour risques courts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Statuts, art. 86 à 89. Règlement intérieur, art. 79 à 82</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Provisions identiques de 2020 au 31/08/2026 (partie 9)</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Le FPPN ne suit pas ses propres statuts, en plus du règlement d'exécution n° 004/2022 (art. 10).</a:t>
                      </a:r>
                    </a:p>
                  </a:txBody>
                  <a:tcPr marL="43200" marR="43200" marT="14400" marB="14400" anchor="ctr">
                    <a:solidFill>
                      <a:srgbClr val="F2F2F2"/>
                    </a:solidFill>
                  </a:tcPr>
                </a:tc>
              </a:tr>
              <a:tr h="316696">
                <a:tc>
                  <a:txBody>
                    <a:bodyPr/>
                    <a:lstStyle/>
                    <a:p>
                      <a:pPr marL="0" indent="0" lvl="0">
                        <a:buNone/>
                      </a:pPr>
                      <a:r>
                        <a:rPr sz="850" b="1">
                          <a:solidFill>
                            <a:srgbClr val="060606"/>
                          </a:solidFill>
                          <a:latin typeface="Helvetica"/>
                        </a:rPr>
                        <a:t>Réserve légale d'au moins 20 % à 50 % des excédents nets de l'exercice précédent</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Statuts, art. 90</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Dotation 2023 : 184 219 879 FCFA, soit 8,94 % de l'excédent 2022</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Écart aux statuts en 2023. Dotations conformes en 2024 (36,00 %) et 2025 (38,00 %).</a:t>
                      </a:r>
                    </a:p>
                  </a:txBody>
                  <a:tcPr marL="43200" marR="43200" marT="14400" marB="14400" anchor="ctr">
                    <a:solidFill>
                      <a:srgbClr val="FFFFFF"/>
                    </a:solidFill>
                  </a:tcPr>
                </a:tc>
              </a:tr>
              <a:tr h="446244">
                <a:tc>
                  <a:txBody>
                    <a:bodyPr/>
                    <a:lstStyle/>
                    <a:p>
                      <a:pPr marL="0" indent="0" lvl="0">
                        <a:buNone/>
                      </a:pPr>
                      <a:r>
                        <a:rPr sz="850" b="1">
                          <a:solidFill>
                            <a:srgbClr val="060606"/>
                          </a:solidFill>
                          <a:latin typeface="Helvetica"/>
                        </a:rPr>
                        <a:t>Couverture maladie limitée aux soins liés à une hospitalisation. Exclusions dont l'optique, les prothèses dentaires et les maladies de longue durée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Règlement intérieur, art. 41 et 45</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Sinistralité inférieure à 70 % de 2020 à 2025 (partie 5)</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Explique en partie la faible sinistralité (facteur F5, partie 10).</a:t>
                      </a:r>
                    </a:p>
                  </a:txBody>
                  <a:tcPr marL="43200" marR="43200" marT="14400" marB="14400" anchor="ctr">
                    <a:solidFill>
                      <a:srgbClr val="F2F2F2"/>
                    </a:solidFill>
                  </a:tcPr>
                </a:tc>
              </a:tr>
              <a:tr h="446244">
                <a:tc>
                  <a:txBody>
                    <a:bodyPr/>
                    <a:lstStyle/>
                    <a:p>
                      <a:pPr marL="0" indent="0" lvl="0">
                        <a:buNone/>
                      </a:pPr>
                      <a:r>
                        <a:rPr sz="850" b="1">
                          <a:solidFill>
                            <a:srgbClr val="060606"/>
                          </a:solidFill>
                          <a:latin typeface="Helvetica"/>
                        </a:rPr>
                        <a:t>Factures payées sous 3 mois. Remboursements demandés sous 3 mois et payés sous 6 mois. Forclusion des allocations décès à 3 ans (membre) et 12 mois (ayant droit)</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Règlement intérieur, art. 52, 57, 58 et 60</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Aucune base de prestations reçue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Horizon des sinistres tardifs : moins d'un an en maladie, trois ans en décès, dans les quatre années de la circulaire CIMA n° 00230/2005.</a:t>
                      </a:r>
                    </a:p>
                  </a:txBody>
                  <a:tcPr marL="43200" marR="43200" marT="14400" marB="14400" anchor="ctr">
                    <a:solidFill>
                      <a:srgbClr val="FFFFFF"/>
                    </a:solidFill>
                  </a:tcPr>
                </a:tc>
              </a:tr>
            </a:tbl>
          </a:graphicData>
        </a:graphic>
      </p:graphicFrame>
      <p:sp>
        <p:nvSpPr>
          <p:cNvPr id="33" name="TextBox 32"/>
          <p:cNvSpPr txBox="1"/>
          <p:nvPr/>
        </p:nvSpPr>
        <p:spPr>
          <a:xfrm>
            <a:off x="503999" y="4052822"/>
            <a:ext cx="11232000" cy="162000"/>
          </a:xfrm>
          <a:prstGeom prst="rect">
            <a:avLst/>
          </a:prstGeom>
          <a:noFill/>
        </p:spPr>
        <p:txBody>
          <a:bodyPr wrap="square" anchor="t" lIns="54000" rIns="54000"/>
          <a:lstStyle/>
          <a:p>
            <a:pPr algn="l"/>
            <a:r>
              <a:rPr sz="850" b="0">
                <a:solidFill>
                  <a:srgbClr val="53565A"/>
                </a:solidFill>
                <a:latin typeface="Helvetica"/>
              </a:rPr>
              <a:t>Valable pour : statuts et règlement intérieur du FPPN édités le 15/06/2023 (adoptés le 30/06/2021), articles cités. Leur application n'est testée que là où le rapport le dit.</a:t>
            </a:r>
          </a:p>
        </p:txBody>
      </p:sp>
      <p:sp>
        <p:nvSpPr>
          <p:cNvPr id="34" name="TextBox 33"/>
          <p:cNvSpPr txBox="1"/>
          <p:nvPr/>
        </p:nvSpPr>
        <p:spPr>
          <a:xfrm>
            <a:off x="503999" y="4358822"/>
            <a:ext cx="11232000" cy="1509177"/>
          </a:xfrm>
          <a:prstGeom prst="rect">
            <a:avLst/>
          </a:prstGeom>
          <a:noFill/>
        </p:spPr>
        <p:txBody>
          <a:bodyPr wrap="square" lIns="54000" rIns="54000"/>
          <a:lstStyle/>
          <a:p>
            <a:pPr algn="just">
              <a:spcAft>
                <a:spcPts val="600"/>
              </a:spcAft>
            </a:pPr>
            <a:r>
              <a:rPr sz="1300" b="1">
                <a:solidFill>
                  <a:srgbClr val="060606"/>
                </a:solidFill>
                <a:latin typeface="Helvetica"/>
              </a:rPr>
              <a:t>Les statuts imposent eux-mêmes le calcul des provisions et la dotation de la réserve légale.</a:t>
            </a:r>
            <a:r>
              <a:rPr sz="1300" b="0">
                <a:solidFill>
                  <a:srgbClr val="060606"/>
                </a:solidFill>
                <a:latin typeface="Helvetica"/>
              </a:rPr>
              <a:t> Les écarts relevés en parties 9 et 10 sont donc aussi des écarts aux textes internes du FPPN.</a:t>
            </a:r>
          </a:p>
          <a:p>
            <a:pPr algn="just">
              <a:spcAft>
                <a:spcPts val="600"/>
              </a:spcAft>
            </a:pPr>
            <a:r>
              <a:rPr sz="1300" b="0">
                <a:solidFill>
                  <a:srgbClr val="060606"/>
                </a:solidFill>
                <a:latin typeface="Helvetica"/>
              </a:rPr>
              <a:t>Les délais de forclusion bornent la durée de développement des sinistres : ils serviront à construire les cadences de la méthode CIMA dès réception des bases de prestations (PBC, item 47).</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Surligné en jaune : affirmation à confirmer par une pièce ou une réponse écrite du FPPN. Sigles : FPPN : Fonds de prévoyance de la Police nationale | CIMA : Conférence interafricaine des marchés d'assurances | PBC : liste des documents demandés au client</a:t>
            </a:r>
          </a:p>
        </p:txBody>
      </p:sp>
    </p:spTree>
    <p:extLst>
      <p:ext uri="{BB962C8B-B14F-4D97-AF65-F5344CB8AC3E}">
        <p14:creationId xmlns:p14="http://schemas.microsoft.com/office/powerpoint/2010/main" val="1220652125"/>
      </p:ext>
    </p:extLst>
  </p:cSld>
  <p:clrMapOvr>
    <a:masterClrMapping/>
  </p:clrMapOvr>
  <p:transition>
    <p:fad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Statuts et règlement intérieur : épargne, personnel, organes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Trois dispositions changent le périmètre des engagements à évaluer</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L'EFC est un engagement de carrière, la provision du personnel ne vise que les civils, et la situation des retraités est contradictoire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statuts et règlement intérieur du FPPN édités le 15/06/2023 (textes adoptés par l'Assemblée générale extraordinaire du 30/06/2021). Décret n° 2017-210 du 30/03/2017. Décret n° 2012-652</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14 : Dispositions des textes du FPPN utiles à la mission (2/2)</a:t>
            </a:r>
          </a:p>
        </p:txBody>
      </p:sp>
      <p:graphicFrame>
        <p:nvGraphicFramePr>
          <p:cNvPr id="32" name="Table 31"/>
          <p:cNvGraphicFramePr>
            <a:graphicFrameLocks noGrp="1"/>
          </p:cNvGraphicFramePr>
          <p:nvPr/>
        </p:nvGraphicFramePr>
        <p:xfrm>
          <a:off x="503999" y="1655999"/>
          <a:ext cx="11231999" cy="2159272"/>
        </p:xfrm>
        <a:graphic>
          <a:graphicData uri="http://schemas.openxmlformats.org/drawingml/2006/table">
            <a:tbl>
              <a:tblPr firstRow="0" bandRow="0">
                <a:tableStyleId>{5940675A-B579-460E-94D1-54222C63F5DA}</a:tableStyleId>
              </a:tblPr>
              <a:tblGrid>
                <a:gridCol w="3240000"/>
                <a:gridCol w="1584000"/>
                <a:gridCol w="3096000"/>
                <a:gridCol w="3311999"/>
              </a:tblGrid>
              <a:tr h="187148">
                <a:tc>
                  <a:txBody>
                    <a:bodyPr/>
                    <a:lstStyle/>
                    <a:p>
                      <a:pPr marL="0" indent="0" lvl="0">
                        <a:buNone/>
                      </a:pPr>
                      <a:r>
                        <a:rPr sz="850" b="1">
                          <a:solidFill>
                            <a:srgbClr val="FFFFFF"/>
                          </a:solidFill>
                          <a:latin typeface="Helvetica"/>
                        </a:rPr>
                        <a:t>Disposition</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Article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Constat dans les données</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Effet sur la mission</a:t>
                      </a:r>
                    </a:p>
                  </a:txBody>
                  <a:tcPr marL="43200" marR="43200" marT="14400" marB="14400" anchor="ctr">
                    <a:solidFill>
                      <a:srgbClr val="060606"/>
                    </a:solidFill>
                  </a:tcPr>
                </a:tc>
              </a:tr>
              <a:tr h="446244">
                <a:tc>
                  <a:txBody>
                    <a:bodyPr/>
                    <a:lstStyle/>
                    <a:p>
                      <a:pPr marL="0" indent="0" lvl="0">
                        <a:buNone/>
                      </a:pPr>
                      <a:r>
                        <a:rPr sz="850" b="1">
                          <a:solidFill>
                            <a:srgbClr val="060606"/>
                          </a:solidFill>
                          <a:latin typeface="Helvetica"/>
                        </a:rPr>
                        <a:t>Plan Épargne Plus : souscription d'au moins 3 ans, terme choisi par le membre, 10 000 FCFA par mois au minimum. Il ouvre droit à des prêts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Règlement intérieur, art. 65 à 69</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Prestations et rémunération renvoyées au cahier des charges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Les sorties du PEP dépendent des termes choisis : l'échéancier individuel est nécessaire (PBC, item 71).</a:t>
                      </a:r>
                    </a:p>
                  </a:txBody>
                  <a:tcPr marL="43200" marR="43200" marT="14400" marB="14400" anchor="ctr">
                    <a:solidFill>
                      <a:srgbClr val="FFFFFF"/>
                    </a:solidFill>
                  </a:tcPr>
                </a:tc>
              </a:tr>
              <a:tr h="316696">
                <a:tc>
                  <a:txBody>
                    <a:bodyPr/>
                    <a:lstStyle/>
                    <a:p>
                      <a:pPr marL="0" indent="0" lvl="0">
                        <a:buNone/>
                      </a:pPr>
                      <a:r>
                        <a:rPr sz="850" b="1">
                          <a:solidFill>
                            <a:srgbClr val="060606"/>
                          </a:solidFill>
                          <a:latin typeface="Helvetica"/>
                        </a:rPr>
                        <a:t>Entraide de Fin de Carrière : risques retraite et décès, 10 000 FCFA par mois sur toute la carrière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Règlement intérieur, art. 70 et 71</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Épargne EFC au bilan, sans échéancier</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Engagement long, exigible au départ à la retraite : sa valeur demande le cahier des charges (PBC, item 70).</a:t>
                      </a:r>
                    </a:p>
                  </a:txBody>
                  <a:tcPr marL="43200" marR="43200" marT="14400" marB="14400" anchor="ctr">
                    <a:solidFill>
                      <a:srgbClr val="F2F2F2"/>
                    </a:solidFill>
                  </a:tcPr>
                </a:tc>
              </a:tr>
              <a:tr h="316696">
                <a:tc>
                  <a:txBody>
                    <a:bodyPr/>
                    <a:lstStyle/>
                    <a:p>
                      <a:pPr marL="0" indent="0" lvl="0">
                        <a:buNone/>
                      </a:pPr>
                      <a:r>
                        <a:rPr sz="850" b="1">
                          <a:solidFill>
                            <a:srgbClr val="060606"/>
                          </a:solidFill>
                          <a:latin typeface="Helvetica"/>
                        </a:rPr>
                        <a:t>Personnel de la Direction Générale : civils salariés et fonctionnaires de police payés par des indemnités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Règlement intérieur, art. 31. Statuts, art. 66</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Provision pour départ à la retraite au compte 196</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La provision vise a priori le seul personnel civil, au barème du décret n° 2017-210 (PBC, items 72 et 73).</a:t>
                      </a:r>
                    </a:p>
                  </a:txBody>
                  <a:tcPr marL="43200" marR="43200" marT="14400" marB="14400" anchor="ctr">
                    <a:solidFill>
                      <a:srgbClr val="FFFFFF"/>
                    </a:solidFill>
                  </a:tcPr>
                </a:tc>
              </a:tr>
              <a:tr h="446244">
                <a:tc>
                  <a:txBody>
                    <a:bodyPr/>
                    <a:lstStyle/>
                    <a:p>
                      <a:pPr marL="0" indent="0" lvl="0">
                        <a:buNone/>
                      </a:pPr>
                      <a:r>
                        <a:rPr sz="850" b="1">
                          <a:solidFill>
                            <a:srgbClr val="060606"/>
                          </a:solidFill>
                          <a:latin typeface="Helvetica"/>
                        </a:rPr>
                        <a:t>Policier retraité membre participant, mais carte restituée au départ à la retraite. Seule la cotisation du policier en activité est prévue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Statuts, art. 7 et 80. Règlement intérieur, art. 38</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Garantie santé des retraités non documentée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Contradiction à lever avant tout calcul de provision mathématique (PBC, item 52).</a:t>
                      </a:r>
                    </a:p>
                  </a:txBody>
                  <a:tcPr marL="43200" marR="43200" marT="14400" marB="14400" anchor="ctr">
                    <a:solidFill>
                      <a:srgbClr val="F2F2F2"/>
                    </a:solidFill>
                  </a:tcPr>
                </a:tc>
              </a:tr>
              <a:tr h="446244">
                <a:tc>
                  <a:txBody>
                    <a:bodyPr/>
                    <a:lstStyle/>
                    <a:p>
                      <a:pPr marL="0" indent="0" lvl="0">
                        <a:buNone/>
                      </a:pPr>
                      <a:r>
                        <a:rPr sz="850" b="1">
                          <a:solidFill>
                            <a:srgbClr val="060606"/>
                          </a:solidFill>
                          <a:latin typeface="Helvetica"/>
                        </a:rPr>
                        <a:t>Placements autorisés par le Conseil d'administration. Méthodes comptables immuables sauf approbation de l'Assemblée générale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Statuts, art. 75 et 85</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Aucune délibération transmise. Provisions reclassées en 2024</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Délibérations et procès-verbaux demandés (PBC, items 31 et 74).</a:t>
                      </a:r>
                    </a:p>
                  </a:txBody>
                  <a:tcPr marL="43200" marR="43200" marT="14400" marB="14400" anchor="ctr">
                    <a:solidFill>
                      <a:srgbClr val="FFFFFF"/>
                    </a:solidFill>
                  </a:tcPr>
                </a:tc>
              </a:tr>
            </a:tbl>
          </a:graphicData>
        </a:graphic>
      </p:graphicFrame>
      <p:sp>
        <p:nvSpPr>
          <p:cNvPr id="33" name="TextBox 32"/>
          <p:cNvSpPr txBox="1"/>
          <p:nvPr/>
        </p:nvSpPr>
        <p:spPr>
          <a:xfrm>
            <a:off x="503999" y="3923274"/>
            <a:ext cx="11232000" cy="162000"/>
          </a:xfrm>
          <a:prstGeom prst="rect">
            <a:avLst/>
          </a:prstGeom>
          <a:noFill/>
        </p:spPr>
        <p:txBody>
          <a:bodyPr wrap="square" anchor="t" lIns="54000" rIns="54000"/>
          <a:lstStyle/>
          <a:p>
            <a:pPr algn="l"/>
            <a:r>
              <a:rPr sz="850" b="0">
                <a:solidFill>
                  <a:srgbClr val="53565A"/>
                </a:solidFill>
                <a:latin typeface="Helvetica"/>
              </a:rPr>
              <a:t>Valable pour : statuts et règlement intérieur du FPPN édités le 15/06/2023, articles cités. Décrets n° 2017-210 et n° 2012-652. Application non testée sauf mention.</a:t>
            </a:r>
          </a:p>
        </p:txBody>
      </p:sp>
      <p:sp>
        <p:nvSpPr>
          <p:cNvPr id="34" name="TextBox 33"/>
          <p:cNvSpPr txBox="1"/>
          <p:nvPr/>
        </p:nvSpPr>
        <p:spPr>
          <a:xfrm>
            <a:off x="503999" y="4229274"/>
            <a:ext cx="11232000" cy="1638725"/>
          </a:xfrm>
          <a:prstGeom prst="rect">
            <a:avLst/>
          </a:prstGeom>
          <a:noFill/>
        </p:spPr>
        <p:txBody>
          <a:bodyPr wrap="square" lIns="54000" rIns="54000"/>
          <a:lstStyle/>
          <a:p>
            <a:pPr algn="just">
              <a:spcAft>
                <a:spcPts val="600"/>
              </a:spcAft>
            </a:pPr>
            <a:r>
              <a:rPr sz="1300" b="1">
                <a:solidFill>
                  <a:srgbClr val="060606"/>
                </a:solidFill>
                <a:latin typeface="Helvetica"/>
              </a:rPr>
              <a:t>Le périmètre des engagements dépend de documents que les statuts citent mais que le FPPN n'a pas transmis.</a:t>
            </a:r>
            <a:r>
              <a:rPr sz="1300" b="0">
                <a:solidFill>
                  <a:srgbClr val="060606"/>
                </a:solidFill>
                <a:latin typeface="Helvetica"/>
              </a:rPr>
              <a:t> Le cahier des charges fixe les prestations de l'EFC et du PEP. Le fichier du personnel doit distinguer civils et policiers.</a:t>
            </a:r>
          </a:p>
          <a:p>
            <a:pPr algn="just">
              <a:spcAft>
                <a:spcPts val="600"/>
              </a:spcAft>
            </a:pPr>
            <a:r>
              <a:rPr sz="1300" b="0">
                <a:solidFill>
                  <a:srgbClr val="060606"/>
                </a:solidFill>
                <a:latin typeface="Helvetica"/>
              </a:rPr>
              <a:t>Ces dix nouvelles demandes forment la PBC complémentaire « textes et personnel » (items 100 à 109), jointe à la PBC générale.</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PEP : Plan Épargne Plus | EFC : entraide fin de carrière | PBC : liste des documents demandés au client</a:t>
            </a:r>
          </a:p>
        </p:txBody>
      </p:sp>
    </p:spTree>
    <p:extLst>
      <p:ext uri="{BB962C8B-B14F-4D97-AF65-F5344CB8AC3E}">
        <p14:creationId xmlns:p14="http://schemas.microsoft.com/office/powerpoint/2010/main" val="562616008"/>
      </p:ext>
    </p:extLst>
  </p:cSld>
  <p:clrMapOvr>
    <a:masterClrMapping/>
  </p:clrMapOvr>
  <p:transition>
    <p:fade/>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Garanties et produits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Huit postes de précompte portent l'ensemble des produits du FPPN</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Maladie et décès sont les garanties de base. Épargne, prêts, flotte et MEDOC sont des produits complémentaires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fichiers de précomptes de la Solde, de la CGRAE et du FPPN reçus le 15/10/2026 (dossiers « FPPN-SOLDE », « FPPN-CGRAE », « FPPN-GNA », noms exacts en annexe « Fichiers sources »). Traitements Adenka</a:t>
            </a:r>
          </a:p>
        </p:txBody>
      </p:sp>
      <p:sp>
        <p:nvSpPr>
          <p:cNvPr id="31" name="TextBox 30"/>
          <p:cNvSpPr txBox="1"/>
          <p:nvPr/>
        </p:nvSpPr>
        <p:spPr>
          <a:xfrm>
            <a:off x="503999" y="1386000"/>
            <a:ext cx="7056000" cy="216000"/>
          </a:xfrm>
          <a:prstGeom prst="rect">
            <a:avLst/>
          </a:prstGeom>
          <a:noFill/>
        </p:spPr>
        <p:txBody>
          <a:bodyPr wrap="square" anchor="t" lIns="54000" rIns="54000"/>
          <a:lstStyle/>
          <a:p>
            <a:pPr algn="ctr"/>
            <a:r>
              <a:rPr sz="1200" b="0">
                <a:solidFill>
                  <a:srgbClr val="EFAC62"/>
                </a:solidFill>
                <a:latin typeface="Helvetica"/>
              </a:rPr>
              <a:t>Tableau 15 : Produits du FPPN et montants observés</a:t>
            </a:r>
          </a:p>
        </p:txBody>
      </p:sp>
      <p:graphicFrame>
        <p:nvGraphicFramePr>
          <p:cNvPr id="32" name="Table 31"/>
          <p:cNvGraphicFramePr>
            <a:graphicFrameLocks noGrp="1"/>
          </p:cNvGraphicFramePr>
          <p:nvPr/>
        </p:nvGraphicFramePr>
        <p:xfrm>
          <a:off x="503999" y="1655999"/>
          <a:ext cx="7056000" cy="3536106"/>
        </p:xfrm>
        <a:graphic>
          <a:graphicData uri="http://schemas.openxmlformats.org/drawingml/2006/table">
            <a:tbl>
              <a:tblPr firstRow="0" bandRow="0">
                <a:tableStyleId>{5940675A-B579-460E-94D1-54222C63F5DA}</a:tableStyleId>
              </a:tblPr>
              <a:tblGrid>
                <a:gridCol w="752400"/>
                <a:gridCol w="1850400"/>
                <a:gridCol w="2671200"/>
                <a:gridCol w="1782000"/>
              </a:tblGrid>
              <a:tr h="225250">
                <a:tc>
                  <a:txBody>
                    <a:bodyPr/>
                    <a:lstStyle/>
                    <a:p>
                      <a:pPr marL="0" indent="0" lvl="0">
                        <a:buNone/>
                      </a:pPr>
                      <a:r>
                        <a:rPr sz="1100" b="1">
                          <a:solidFill>
                            <a:srgbClr val="FFFFFF"/>
                          </a:solidFill>
                          <a:latin typeface="Helvetica"/>
                        </a:rPr>
                        <a:t>Poste</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Produit</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Nature</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Montant moyen observé</a:t>
                      </a:r>
                    </a:p>
                  </a:txBody>
                  <a:tcPr marL="43200" marR="43200" marT="14400" marB="14400" anchor="ctr">
                    <a:solidFill>
                      <a:srgbClr val="060606"/>
                    </a:solidFill>
                  </a:tcPr>
                </a:tc>
              </a:tr>
              <a:tr h="560551">
                <a:tc>
                  <a:txBody>
                    <a:bodyPr/>
                    <a:lstStyle/>
                    <a:p>
                      <a:pPr marL="0" indent="0" lvl="0">
                        <a:buNone/>
                      </a:pPr>
                      <a:r>
                        <a:rPr sz="1100" b="1">
                          <a:solidFill>
                            <a:srgbClr val="060606"/>
                          </a:solidFill>
                          <a:latin typeface="Helvetica"/>
                        </a:rPr>
                        <a:t>936</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Maladie</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Garantie santé des actifs, 3,5 % de la solde de base (statuts, art. 17), 3,77 % retenu par la Solde</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7 195 FCFA par mois (août 2026)</a:t>
                      </a:r>
                    </a:p>
                  </a:txBody>
                  <a:tcPr marL="43200" marR="43200" marT="14400" marB="14400" anchor="ctr">
                    <a:solidFill>
                      <a:srgbClr val="FFFFFF"/>
                    </a:solidFill>
                  </a:tcPr>
                </a:tc>
              </a:tr>
              <a:tr h="560551">
                <a:tc>
                  <a:txBody>
                    <a:bodyPr/>
                    <a:lstStyle/>
                    <a:p>
                      <a:pPr marL="0" indent="0" lvl="0">
                        <a:buNone/>
                      </a:pPr>
                      <a:r>
                        <a:rPr sz="1100" b="1">
                          <a:solidFill>
                            <a:srgbClr val="060606"/>
                          </a:solidFill>
                          <a:latin typeface="Helvetica"/>
                        </a:rPr>
                        <a:t>8Z6</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Décès</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Capital décès, frais funéraires, allocations, 1,5 % (statuts), 1,23 % retenu par la Solde</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voir partie 4</a:t>
                      </a:r>
                    </a:p>
                  </a:txBody>
                  <a:tcPr marL="43200" marR="43200" marT="14400" marB="14400" anchor="ctr">
                    <a:solidFill>
                      <a:srgbClr val="F2F2F2"/>
                    </a:solidFill>
                  </a:tcPr>
                </a:tc>
              </a:tr>
              <a:tr h="392901">
                <a:tc>
                  <a:txBody>
                    <a:bodyPr/>
                    <a:lstStyle/>
                    <a:p>
                      <a:pPr marL="0" indent="0" lvl="0">
                        <a:buNone/>
                      </a:pPr>
                      <a:r>
                        <a:rPr sz="1100" b="1">
                          <a:solidFill>
                            <a:srgbClr val="060606"/>
                          </a:solidFill>
                          <a:latin typeface="Helvetica"/>
                        </a:rPr>
                        <a:t>870</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EFC</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Épargne versée en fin de carrière</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8 132 FCFA par mois (2025)</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998</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PEP</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Épargne volontaire</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voir partie 6</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9X4</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Grenier du Policier</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Remboursement de prêts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voir partie 7</a:t>
                      </a:r>
                    </a:p>
                  </a:txBody>
                  <a:tcPr marL="43200" marR="43200" marT="14400" marB="14400" anchor="ctr">
                    <a:solidFill>
                      <a:srgbClr val="FFFFFF"/>
                    </a:solidFill>
                  </a:tcPr>
                </a:tc>
              </a:tr>
              <a:tr h="392901">
                <a:tc>
                  <a:txBody>
                    <a:bodyPr/>
                    <a:lstStyle/>
                    <a:p>
                      <a:pPr marL="0" indent="0" lvl="0">
                        <a:buNone/>
                      </a:pPr>
                      <a:r>
                        <a:rPr sz="1100" b="1">
                          <a:solidFill>
                            <a:srgbClr val="060606"/>
                          </a:solidFill>
                          <a:latin typeface="Helvetica"/>
                        </a:rPr>
                        <a:t>9W3</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Flotte automobile</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Assurance des véhicules, assureur GNA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environ 10 000 FCFA</a:t>
                      </a:r>
                    </a:p>
                  </a:txBody>
                  <a:tcPr marL="43200" marR="43200" marT="14400" marB="14400" anchor="ctr">
                    <a:solidFill>
                      <a:srgbClr val="F2F2F2"/>
                    </a:solidFill>
                  </a:tcPr>
                </a:tc>
              </a:tr>
              <a:tr h="560551">
                <a:tc>
                  <a:txBody>
                    <a:bodyPr/>
                    <a:lstStyle/>
                    <a:p>
                      <a:pPr marL="0" indent="0" lvl="0">
                        <a:buNone/>
                      </a:pPr>
                      <a:r>
                        <a:rPr sz="1100" b="1">
                          <a:solidFill>
                            <a:srgbClr val="060606"/>
                          </a:solidFill>
                          <a:latin typeface="Helvetica"/>
                        </a:rPr>
                        <a:t>8Z7</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MEDOC</a:t>
                      </a:r>
                    </a:p>
                  </a:txBody>
                  <a:tcPr marL="43200" marR="43200" marT="14400" marB="14400" anchor="ctr">
                    <a:solidFill>
                      <a:srgbClr val="FFFFFF"/>
                    </a:solidFill>
                  </a:tcPr>
                </a:tc>
                <a:tc>
                  <a:txBody>
                    <a:bodyPr/>
                    <a:lstStyle/>
                    <a:p>
                      <a:pPr marL="0" indent="0" lvl="0">
                        <a:buNone/>
                      </a:pPr>
                      <a:r>
                        <a:rPr sz="1100" b="0">
                          <a:solidFill>
                            <a:srgbClr val="060606"/>
                          </a:solidFill>
                          <a:highlight>
                            <a:srgbClr val="FFFF00"/>
                          </a:highlight>
                          <a:latin typeface="Helvetica"/>
                        </a:rPr>
                        <a:t>Complément pharmacie, le policier paie 20 % (déclaration du 19/10/2026)</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5 000 FCFA</a:t>
                      </a:r>
                    </a:p>
                  </a:txBody>
                  <a:tcPr marL="43200" marR="43200" marT="14400" marB="14400" anchor="ctr">
                    <a:solidFill>
                      <a:srgbClr val="FFFFFF"/>
                    </a:solidFill>
                  </a:tcPr>
                </a:tc>
              </a:tr>
              <a:tr h="392901">
                <a:tc>
                  <a:txBody>
                    <a:bodyPr/>
                    <a:lstStyle/>
                    <a:p>
                      <a:pPr marL="0" indent="0" lvl="0">
                        <a:buNone/>
                      </a:pPr>
                      <a:r>
                        <a:rPr sz="1100" b="1">
                          <a:solidFill>
                            <a:srgbClr val="060606"/>
                          </a:solidFill>
                          <a:latin typeface="Helvetica"/>
                        </a:rPr>
                        <a:t>CGRAE</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Retraités</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Garantie santé, précompte sur pension</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11 940 FCFA</a:t>
                      </a:r>
                    </a:p>
                  </a:txBody>
                  <a:tcPr marL="43200" marR="43200" marT="14400" marB="14400" anchor="ctr">
                    <a:solidFill>
                      <a:srgbClr val="F2F2F2"/>
                    </a:solidFill>
                  </a:tcPr>
                </a:tc>
              </a:tr>
            </a:tbl>
          </a:graphicData>
        </a:graphic>
      </p:graphicFrame>
      <p:sp>
        <p:nvSpPr>
          <p:cNvPr id="33" name="TextBox 32"/>
          <p:cNvSpPr txBox="1"/>
          <p:nvPr/>
        </p:nvSpPr>
        <p:spPr>
          <a:xfrm>
            <a:off x="503999" y="5300110"/>
            <a:ext cx="7056000" cy="306000"/>
          </a:xfrm>
          <a:prstGeom prst="rect">
            <a:avLst/>
          </a:prstGeom>
          <a:noFill/>
        </p:spPr>
        <p:txBody>
          <a:bodyPr wrap="square" anchor="t" lIns="54000" rIns="54000"/>
          <a:lstStyle/>
          <a:p>
            <a:pPr algn="l"/>
            <a:r>
              <a:rPr sz="850" b="0">
                <a:solidFill>
                  <a:srgbClr val="53565A"/>
                </a:solidFill>
                <a:latin typeface="Helvetica"/>
              </a:rPr>
              <a:t>Valable pour : montants précomptés par poste dans les fichiers retour de la Solde et de la CGRAE, mois reçus entre 2023 et septembre 2026 selon le poste (diapositive « Couverture de la période »).</a:t>
            </a:r>
          </a:p>
        </p:txBody>
      </p:sp>
      <p:sp>
        <p:nvSpPr>
          <p:cNvPr id="34" name="TextBox 33"/>
          <p:cNvSpPr txBox="1"/>
          <p:nvPr/>
        </p:nvSpPr>
        <p:spPr>
          <a:xfrm>
            <a:off x="7776000" y="1386000"/>
            <a:ext cx="3960000" cy="4482000"/>
          </a:xfrm>
          <a:prstGeom prst="rect">
            <a:avLst/>
          </a:prstGeom>
          <a:noFill/>
        </p:spPr>
        <p:txBody>
          <a:bodyPr wrap="square" lIns="54000" rIns="54000"/>
          <a:lstStyle/>
          <a:p>
            <a:pPr algn="just">
              <a:spcAft>
                <a:spcPts val="600"/>
              </a:spcAft>
            </a:pPr>
            <a:r>
              <a:rPr sz="1400" b="1">
                <a:solidFill>
                  <a:srgbClr val="060606"/>
                </a:solidFill>
                <a:latin typeface="Helvetica"/>
              </a:rPr>
              <a:t>Le FPPN couvre à la fois des risques courts et des risques longs.</a:t>
            </a:r>
            <a:r>
              <a:rPr sz="1400" b="0">
                <a:solidFill>
                  <a:srgbClr val="060606"/>
                </a:solidFill>
                <a:latin typeface="Helvetica"/>
              </a:rPr>
              <a:t> La maladie se règle dans l'année. L'EFC et le PEP sont versés des années après les cotisations.</a:t>
            </a:r>
          </a:p>
          <a:p>
            <a:pPr algn="just">
              <a:spcAft>
                <a:spcPts val="600"/>
              </a:spcAft>
            </a:pPr>
            <a:r>
              <a:rPr sz="1400" b="1">
                <a:solidFill>
                  <a:srgbClr val="060606"/>
                </a:solidFill>
                <a:latin typeface="Helvetica"/>
              </a:rPr>
              <a:t>MEDOC est le seul produit sans aucun document.</a:t>
            </a:r>
            <a:r>
              <a:rPr sz="1400" b="0">
                <a:solidFill>
                  <a:srgbClr val="060606"/>
                </a:solidFill>
                <a:latin typeface="Helvetica"/>
              </a:rPr>
              <a:t> L'EFC et le PEP sont décrits par le cahier des charges de 2021 et le manuel des produits d'épargne, sans décision d'adoption signée (partie 6).</a:t>
            </a:r>
          </a:p>
          <a:p>
            <a:pPr algn="just">
              <a:spcAft>
                <a:spcPts val="600"/>
              </a:spcAft>
            </a:pPr>
            <a:r>
              <a:rPr sz="1400" b="0">
                <a:solidFill>
                  <a:srgbClr val="060606"/>
                </a:solidFill>
                <a:latin typeface="Helvetica"/>
              </a:rPr>
              <a:t>Les risques longs (EFC, PEP) relèvent de règles prudentielles plus strictes : étude actuarielle tous les cinq ans, certification des comptes, réserve de trésorerie (partie 10).</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Surligné en jaune : affirmation à confirmer par une pièce ou une réponse écrite du FPPN. Sigles : FPPN : Fonds de prévoyance de la Police nationale | CGRAE : Caisse générale de retraite des agents de l'État | PEP : Plan Épargne Plus | EFC : entraide fin de carrière | GNA : assureur de la flotte automobile (compte 47111106) | MEDOC : produit santé complémentaire du poste 8Z7 | 936 : poste maladie | 8Z6 : poste décès | 870 : poste EFC | 998 : poste PEP | 9X4 : poste Grenier | 9W3 : poste flotte automobile | 8Z7 : poste MEDOC</a:t>
            </a:r>
          </a:p>
        </p:txBody>
      </p:sp>
    </p:spTree>
    <p:extLst>
      <p:ext uri="{BB962C8B-B14F-4D97-AF65-F5344CB8AC3E}">
        <p14:creationId xmlns:p14="http://schemas.microsoft.com/office/powerpoint/2010/main" val="3028749824"/>
      </p:ext>
    </p:extLst>
  </p:cSld>
  <p:clrMapOvr>
    <a:masterClrMapping/>
  </p:clrMapOvr>
  <p:transition>
    <p:fade/>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Circuit des précomptes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maladie et le décès suivent un circuit direct que le FPPN ne maîtrise pas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Les produits complémentaires, les retraités et la flotte passent par une plateforme de partage, la maladie et le décès non</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entretien du 19/10/2026 avec le responsable des cotisations. Fichiers aller et retour reçus le 15/10/2026</a:t>
            </a:r>
          </a:p>
        </p:txBody>
      </p:sp>
      <p:sp>
        <p:nvSpPr>
          <p:cNvPr id="31" name="Rectangle 30"/>
          <p:cNvSpPr/>
          <p:nvPr/>
        </p:nvSpPr>
        <p:spPr>
          <a:xfrm>
            <a:off x="503999" y="1404000"/>
            <a:ext cx="11232000" cy="846000"/>
          </a:xfrm>
          <a:prstGeom prst="rect">
            <a:avLst/>
          </a:prstGeom>
          <a:solidFill>
            <a:srgbClr val="F7F7F7"/>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03999" y="1404000"/>
            <a:ext cx="1404000" cy="846000"/>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Direction du personnel de la Police</a:t>
            </a:r>
          </a:p>
        </p:txBody>
      </p:sp>
      <p:sp>
        <p:nvSpPr>
          <p:cNvPr id="33" name="Rectangle 32"/>
          <p:cNvSpPr/>
          <p:nvPr/>
        </p:nvSpPr>
        <p:spPr>
          <a:xfrm>
            <a:off x="503999" y="2250000"/>
            <a:ext cx="11232000" cy="8460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3999" y="2250000"/>
            <a:ext cx="1404000" cy="846000"/>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Solde, CGRAE, GNA</a:t>
            </a:r>
          </a:p>
        </p:txBody>
      </p:sp>
      <p:sp>
        <p:nvSpPr>
          <p:cNvPr id="35" name="Rectangle 34"/>
          <p:cNvSpPr/>
          <p:nvPr/>
        </p:nvSpPr>
        <p:spPr>
          <a:xfrm>
            <a:off x="503999" y="3096000"/>
            <a:ext cx="11232000" cy="846000"/>
          </a:xfrm>
          <a:prstGeom prst="rect">
            <a:avLst/>
          </a:prstGeom>
          <a:solidFill>
            <a:srgbClr val="F7F7F7"/>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03999" y="3096000"/>
            <a:ext cx="1404000" cy="846000"/>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Plateforme de partage</a:t>
            </a:r>
          </a:p>
        </p:txBody>
      </p:sp>
      <p:sp>
        <p:nvSpPr>
          <p:cNvPr id="37" name="Rectangle 36"/>
          <p:cNvSpPr/>
          <p:nvPr/>
        </p:nvSpPr>
        <p:spPr>
          <a:xfrm>
            <a:off x="503999" y="3942000"/>
            <a:ext cx="11232000" cy="8460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03999" y="3942000"/>
            <a:ext cx="1404000" cy="846000"/>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FPPN : responsable des cotisations</a:t>
            </a:r>
          </a:p>
        </p:txBody>
      </p:sp>
      <p:sp>
        <p:nvSpPr>
          <p:cNvPr id="39" name="Logigramme a1"/>
          <p:cNvSpPr/>
          <p:nvPr/>
        </p:nvSpPr>
        <p:spPr>
          <a:xfrm>
            <a:off x="2015999" y="1520999"/>
            <a:ext cx="1224000" cy="612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Fichier aller</a:t>
            </a:r>
          </a:p>
          <a:p>
            <a:pPr algn="ctr"/>
            <a:r>
              <a:rPr sz="850" b="0">
                <a:solidFill>
                  <a:srgbClr val="060606"/>
                </a:solidFill>
                <a:latin typeface="Helvetica"/>
              </a:rPr>
              <a:t>936 et 8Z6</a:t>
            </a:r>
          </a:p>
        </p:txBody>
      </p:sp>
      <p:sp>
        <p:nvSpPr>
          <p:cNvPr id="40" name="Logigramme a2"/>
          <p:cNvSpPr/>
          <p:nvPr/>
        </p:nvSpPr>
        <p:spPr>
          <a:xfrm>
            <a:off x="2015999" y="2367000"/>
            <a:ext cx="1224000" cy="61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Précompte</a:t>
            </a:r>
          </a:p>
          <a:p>
            <a:pPr algn="ctr"/>
            <a:r>
              <a:rPr sz="850" b="0">
                <a:solidFill>
                  <a:srgbClr val="060606"/>
                </a:solidFill>
                <a:latin typeface="Helvetica"/>
              </a:rPr>
              <a:t>sur salaire (Solde)</a:t>
            </a:r>
          </a:p>
        </p:txBody>
      </p:sp>
      <p:sp>
        <p:nvSpPr>
          <p:cNvPr id="41" name="Logigramme a3"/>
          <p:cNvSpPr/>
          <p:nvPr/>
        </p:nvSpPr>
        <p:spPr>
          <a:xfrm>
            <a:off x="3401999" y="4059000"/>
            <a:ext cx="1224000" cy="612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Fichier retour 936</a:t>
            </a:r>
          </a:p>
          <a:p>
            <a:pPr algn="ctr"/>
            <a:r>
              <a:rPr sz="850" b="0">
                <a:solidFill>
                  <a:srgbClr val="060606"/>
                </a:solidFill>
                <a:latin typeface="Helvetica"/>
              </a:rPr>
              <a:t>et 8Z6 reçu</a:t>
            </a:r>
          </a:p>
        </p:txBody>
      </p:sp>
      <p:sp>
        <p:nvSpPr>
          <p:cNvPr id="42" name="Logigramme a4"/>
          <p:cNvSpPr/>
          <p:nvPr/>
        </p:nvSpPr>
        <p:spPr>
          <a:xfrm>
            <a:off x="4788000" y="4023000"/>
            <a:ext cx="1224000" cy="684000"/>
          </a:xfrm>
          <a:prstGeom prst="flowChartDecision">
            <a:avLst/>
          </a:prstGeom>
          <a:solidFill>
            <a:srgbClr val="EFAC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Fichier aller</a:t>
            </a:r>
          </a:p>
          <a:p>
            <a:pPr algn="ctr"/>
            <a:r>
              <a:rPr sz="800" b="0">
                <a:solidFill>
                  <a:srgbClr val="060606"/>
                </a:solidFill>
                <a:latin typeface="Helvetica"/>
              </a:rPr>
              <a:t>au FPPN ?</a:t>
            </a:r>
          </a:p>
        </p:txBody>
      </p:sp>
      <p:sp>
        <p:nvSpPr>
          <p:cNvPr id="43" name="Logigramme a5"/>
          <p:cNvSpPr/>
          <p:nvPr/>
        </p:nvSpPr>
        <p:spPr>
          <a:xfrm>
            <a:off x="6173999" y="4051800"/>
            <a:ext cx="1224000" cy="612000"/>
          </a:xfrm>
          <a:prstGeom prst="flowChartProcess">
            <a:avLst/>
          </a:prstGeom>
          <a:solidFill>
            <a:srgbClr val="FFFFFF"/>
          </a:solidFill>
          <a:ln w="285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C00000"/>
                </a:solidFill>
                <a:latin typeface="Helvetica"/>
              </a:rPr>
              <a:t>Rapprochement</a:t>
            </a:r>
          </a:p>
          <a:p>
            <a:pPr algn="ctr"/>
            <a:r>
              <a:rPr sz="850" b="1">
                <a:solidFill>
                  <a:srgbClr val="C00000"/>
                </a:solidFill>
                <a:latin typeface="Helvetica"/>
              </a:rPr>
              <a:t>impossible</a:t>
            </a:r>
          </a:p>
        </p:txBody>
      </p:sp>
      <p:cxnSp>
        <p:nvCxnSpPr>
          <p:cNvPr id="44" name="Flèche a1 vers a2"/>
          <p:cNvCxnSpPr>
            <a:stCxn id="39" idx="2"/>
            <a:endCxn id="40" idx="0"/>
          </p:cNvCxnSpPr>
          <p:nvPr/>
        </p:nvCxnSpPr>
        <p:spPr>
          <a:xfrm flipH="1">
            <a:off x="2627999" y="2132999"/>
            <a:ext cx="0" cy="234001"/>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2681999" y="2150999"/>
            <a:ext cx="864000" cy="162000"/>
          </a:xfrm>
          <a:prstGeom prst="rect">
            <a:avLst/>
          </a:prstGeom>
          <a:noFill/>
        </p:spPr>
        <p:txBody>
          <a:bodyPr wrap="square" anchor="t" lIns="28800" rIns="28800" tIns="10800" bIns="10800">
            <a:spAutoFit/>
          </a:bodyPr>
          <a:lstStyle/>
          <a:p>
            <a:pPr algn="l"/>
            <a:r>
              <a:rPr sz="700" b="1">
                <a:solidFill>
                  <a:srgbClr val="53565A"/>
                </a:solidFill>
                <a:latin typeface="Helvetica"/>
              </a:rPr>
              <a:t>transmission directe</a:t>
            </a:r>
          </a:p>
        </p:txBody>
      </p:sp>
      <p:cxnSp>
        <p:nvCxnSpPr>
          <p:cNvPr id="46" name="Flèche a2 vers a3"/>
          <p:cNvCxnSpPr>
            <a:stCxn id="40" idx="3"/>
            <a:endCxn id="41" idx="0"/>
          </p:cNvCxnSpPr>
          <p:nvPr/>
        </p:nvCxnSpPr>
        <p:spPr>
          <a:xfrm>
            <a:off x="3239999" y="2673000"/>
            <a:ext cx="774000" cy="1386000"/>
          </a:xfrm>
          <a:prstGeom prst="bentConnector3">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3283198" y="2493000"/>
            <a:ext cx="864000" cy="162000"/>
          </a:xfrm>
          <a:prstGeom prst="rect">
            <a:avLst/>
          </a:prstGeom>
          <a:noFill/>
        </p:spPr>
        <p:txBody>
          <a:bodyPr wrap="square" anchor="t" lIns="28800" rIns="28800" tIns="10800" bIns="10800">
            <a:spAutoFit/>
          </a:bodyPr>
          <a:lstStyle/>
          <a:p>
            <a:pPr algn="l"/>
            <a:r>
              <a:rPr sz="700" b="1">
                <a:solidFill>
                  <a:srgbClr val="53565A"/>
                </a:solidFill>
                <a:latin typeface="Helvetica"/>
              </a:rPr>
              <a:t>sans partage</a:t>
            </a:r>
          </a:p>
        </p:txBody>
      </p:sp>
      <p:cxnSp>
        <p:nvCxnSpPr>
          <p:cNvPr id="48" name="Flèche a3 vers a4"/>
          <p:cNvCxnSpPr>
            <a:stCxn id="41" idx="3"/>
            <a:endCxn id="42" idx="1"/>
          </p:cNvCxnSpPr>
          <p:nvPr/>
        </p:nvCxnSpPr>
        <p:spPr>
          <a:xfrm flipV="1">
            <a:off x="4625999" y="4365000"/>
            <a:ext cx="162001"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Flèche a4 vers a5"/>
          <p:cNvCxnSpPr>
            <a:stCxn id="42" idx="3"/>
            <a:endCxn id="43" idx="1"/>
          </p:cNvCxnSpPr>
          <p:nvPr/>
        </p:nvCxnSpPr>
        <p:spPr>
          <a:xfrm flipV="1">
            <a:off x="6012000" y="4357800"/>
            <a:ext cx="161999" cy="72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5957922" y="4185000"/>
            <a:ext cx="864000" cy="162000"/>
          </a:xfrm>
          <a:prstGeom prst="rect">
            <a:avLst/>
          </a:prstGeom>
          <a:noFill/>
        </p:spPr>
        <p:txBody>
          <a:bodyPr wrap="square" anchor="t" lIns="28800" rIns="28800" tIns="10800" bIns="10800">
            <a:spAutoFit/>
          </a:bodyPr>
          <a:lstStyle/>
          <a:p>
            <a:pPr algn="l"/>
            <a:r>
              <a:rPr sz="700" b="1">
                <a:solidFill>
                  <a:srgbClr val="53565A"/>
                </a:solidFill>
                <a:latin typeface="Helvetica"/>
              </a:rPr>
              <a:t>non</a:t>
            </a:r>
          </a:p>
        </p:txBody>
      </p:sp>
      <p:sp>
        <p:nvSpPr>
          <p:cNvPr id="51" name="Logigramme b1"/>
          <p:cNvSpPr/>
          <p:nvPr/>
        </p:nvSpPr>
        <p:spPr>
          <a:xfrm>
            <a:off x="7560000" y="4059000"/>
            <a:ext cx="1224000" cy="612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FFFFFF"/>
                </a:solidFill>
                <a:latin typeface="Helvetica"/>
              </a:rPr>
              <a:t>Souscriptions</a:t>
            </a:r>
          </a:p>
          <a:p>
            <a:pPr algn="ctr"/>
            <a:r>
              <a:rPr sz="850" b="1">
                <a:solidFill>
                  <a:srgbClr val="FFFFFF"/>
                </a:solidFill>
                <a:latin typeface="Helvetica"/>
              </a:rPr>
              <a:t>EFC, PEP, prêts, GNA, MEDOC</a:t>
            </a:r>
          </a:p>
        </p:txBody>
      </p:sp>
      <p:sp>
        <p:nvSpPr>
          <p:cNvPr id="52" name="Logigramme b2"/>
          <p:cNvSpPr/>
          <p:nvPr/>
        </p:nvSpPr>
        <p:spPr>
          <a:xfrm>
            <a:off x="8946000" y="4059000"/>
            <a:ext cx="1224000" cy="612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Fichier aller mensuel</a:t>
            </a:r>
          </a:p>
          <a:p>
            <a:pPr algn="ctr"/>
            <a:r>
              <a:rPr sz="850" b="0">
                <a:solidFill>
                  <a:srgbClr val="060606"/>
                </a:solidFill>
                <a:latin typeface="Helvetica"/>
              </a:rPr>
              <a:t>mécano, code, montant</a:t>
            </a:r>
          </a:p>
        </p:txBody>
      </p:sp>
      <p:sp>
        <p:nvSpPr>
          <p:cNvPr id="53" name="Logigramme b3"/>
          <p:cNvSpPr/>
          <p:nvPr/>
        </p:nvSpPr>
        <p:spPr>
          <a:xfrm>
            <a:off x="8946000" y="3212999"/>
            <a:ext cx="1224000" cy="61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Dépôt du</a:t>
            </a:r>
          </a:p>
          <a:p>
            <a:pPr algn="ctr"/>
            <a:r>
              <a:rPr sz="850" b="0">
                <a:solidFill>
                  <a:srgbClr val="060606"/>
                </a:solidFill>
                <a:latin typeface="Helvetica"/>
              </a:rPr>
              <a:t>fichier aller</a:t>
            </a:r>
          </a:p>
        </p:txBody>
      </p:sp>
      <p:sp>
        <p:nvSpPr>
          <p:cNvPr id="54" name="Logigramme b4"/>
          <p:cNvSpPr/>
          <p:nvPr/>
        </p:nvSpPr>
        <p:spPr>
          <a:xfrm>
            <a:off x="8946000" y="2367000"/>
            <a:ext cx="1224000" cy="61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Précompte</a:t>
            </a:r>
          </a:p>
          <a:p>
            <a:pPr algn="ctr"/>
            <a:r>
              <a:rPr sz="850" b="0">
                <a:solidFill>
                  <a:srgbClr val="060606"/>
                </a:solidFill>
                <a:latin typeface="Helvetica"/>
              </a:rPr>
              <a:t>sur salaire ou pension</a:t>
            </a:r>
          </a:p>
        </p:txBody>
      </p:sp>
      <p:sp>
        <p:nvSpPr>
          <p:cNvPr id="55" name="Logigramme b5"/>
          <p:cNvSpPr/>
          <p:nvPr/>
        </p:nvSpPr>
        <p:spPr>
          <a:xfrm>
            <a:off x="10332000" y="3212999"/>
            <a:ext cx="1224000" cy="612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Fichier retour</a:t>
            </a:r>
          </a:p>
          <a:p>
            <a:pPr algn="ctr"/>
            <a:r>
              <a:rPr sz="850" b="0">
                <a:solidFill>
                  <a:srgbClr val="060606"/>
                </a:solidFill>
                <a:latin typeface="Helvetica"/>
              </a:rPr>
              <a:t>et état des rejets récent</a:t>
            </a:r>
          </a:p>
        </p:txBody>
      </p:sp>
      <p:sp>
        <p:nvSpPr>
          <p:cNvPr id="56" name="Logigramme b6"/>
          <p:cNvSpPr/>
          <p:nvPr/>
        </p:nvSpPr>
        <p:spPr>
          <a:xfrm>
            <a:off x="10332000" y="4059000"/>
            <a:ext cx="1224000" cy="612000"/>
          </a:xfrm>
          <a:prstGeom prst="flowChartProcess">
            <a:avLst/>
          </a:prstGeom>
          <a:solidFill>
            <a:srgbClr val="FFFFFF"/>
          </a:solidFill>
          <a:ln w="285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C00000"/>
                </a:solidFill>
                <a:latin typeface="Helvetica"/>
              </a:rPr>
              <a:t>Retour conservé,</a:t>
            </a:r>
          </a:p>
          <a:p>
            <a:pPr algn="ctr"/>
            <a:r>
              <a:rPr sz="850" b="1">
                <a:solidFill>
                  <a:srgbClr val="C00000"/>
                </a:solidFill>
                <a:latin typeface="Helvetica"/>
              </a:rPr>
              <a:t>sans rapprochement</a:t>
            </a:r>
          </a:p>
        </p:txBody>
      </p:sp>
      <p:cxnSp>
        <p:nvCxnSpPr>
          <p:cNvPr id="57" name="Flèche b1 vers b2"/>
          <p:cNvCxnSpPr>
            <a:stCxn id="51" idx="3"/>
            <a:endCxn id="52" idx="1"/>
          </p:cNvCxnSpPr>
          <p:nvPr/>
        </p:nvCxnSpPr>
        <p:spPr>
          <a:xfrm flipV="1">
            <a:off x="8784000" y="4365000"/>
            <a:ext cx="162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8" name="Flèche b2 vers b3"/>
          <p:cNvCxnSpPr>
            <a:stCxn id="52" idx="0"/>
            <a:endCxn id="53" idx="2"/>
          </p:cNvCxnSpPr>
          <p:nvPr/>
        </p:nvCxnSpPr>
        <p:spPr>
          <a:xfrm flipH="1" flipV="1">
            <a:off x="9558000" y="3824999"/>
            <a:ext cx="0" cy="234001"/>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9" name="Flèche b3 vers b4"/>
          <p:cNvCxnSpPr>
            <a:stCxn id="53" idx="0"/>
            <a:endCxn id="54" idx="2"/>
          </p:cNvCxnSpPr>
          <p:nvPr/>
        </p:nvCxnSpPr>
        <p:spPr>
          <a:xfrm flipH="1" flipV="1">
            <a:off x="9558000" y="2979000"/>
            <a:ext cx="0" cy="233999"/>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0" name="Flèche b4 vers b5"/>
          <p:cNvCxnSpPr>
            <a:stCxn id="54" idx="3"/>
            <a:endCxn id="55" idx="0"/>
          </p:cNvCxnSpPr>
          <p:nvPr/>
        </p:nvCxnSpPr>
        <p:spPr>
          <a:xfrm>
            <a:off x="10170000" y="2673000"/>
            <a:ext cx="774000" cy="539999"/>
          </a:xfrm>
          <a:prstGeom prst="bentConnector3">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61" name="Logigramme b7"/>
          <p:cNvSpPr/>
          <p:nvPr/>
        </p:nvSpPr>
        <p:spPr>
          <a:xfrm>
            <a:off x="6173999" y="2367000"/>
            <a:ext cx="1224000" cy="612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Convention IPS-CGRAE :</a:t>
            </a:r>
          </a:p>
          <a:p>
            <a:pPr algn="ctr"/>
            <a:r>
              <a:rPr sz="850" b="0">
                <a:solidFill>
                  <a:srgbClr val="060606"/>
                </a:solidFill>
                <a:latin typeface="Helvetica"/>
              </a:rPr>
              <a:t>quotité cessible. Soins</a:t>
            </a:r>
          </a:p>
          <a:p>
            <a:pPr algn="ctr"/>
            <a:r>
              <a:rPr sz="850" b="0">
                <a:solidFill>
                  <a:srgbClr val="060606"/>
                </a:solidFill>
                <a:latin typeface="Helvetica"/>
              </a:rPr>
              <a:t>maintenus si retard</a:t>
            </a:r>
          </a:p>
        </p:txBody>
      </p:sp>
      <p:cxnSp>
        <p:nvCxnSpPr>
          <p:cNvPr id="62" name="Flèche b7 vers b4"/>
          <p:cNvCxnSpPr>
            <a:stCxn id="61" idx="3"/>
            <a:endCxn id="54" idx="1"/>
          </p:cNvCxnSpPr>
          <p:nvPr/>
        </p:nvCxnSpPr>
        <p:spPr>
          <a:xfrm flipV="1">
            <a:off x="7397999" y="2673000"/>
            <a:ext cx="1548001" cy="0"/>
          </a:xfrm>
          <a:prstGeom prst="line">
            <a:avLst/>
          </a:prstGeom>
          <a:ln w="22225">
            <a:solidFill>
              <a:srgbClr val="53565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7441199" y="2493000"/>
            <a:ext cx="864000" cy="162000"/>
          </a:xfrm>
          <a:prstGeom prst="rect">
            <a:avLst/>
          </a:prstGeom>
          <a:noFill/>
        </p:spPr>
        <p:txBody>
          <a:bodyPr wrap="square" anchor="t" lIns="28800" rIns="28800" tIns="10800" bIns="10800">
            <a:spAutoFit/>
          </a:bodyPr>
          <a:lstStyle/>
          <a:p>
            <a:pPr algn="l"/>
            <a:r>
              <a:rPr sz="700" b="1">
                <a:solidFill>
                  <a:srgbClr val="53565A"/>
                </a:solidFill>
                <a:latin typeface="Helvetica"/>
              </a:rPr>
              <a:t>retraités</a:t>
            </a:r>
          </a:p>
        </p:txBody>
      </p:sp>
      <p:cxnSp>
        <p:nvCxnSpPr>
          <p:cNvPr id="64" name="Flèche b5 vers b6"/>
          <p:cNvCxnSpPr>
            <a:stCxn id="55" idx="2"/>
            <a:endCxn id="56" idx="0"/>
          </p:cNvCxnSpPr>
          <p:nvPr/>
        </p:nvCxnSpPr>
        <p:spPr>
          <a:xfrm flipH="1">
            <a:off x="10944000" y="3824999"/>
            <a:ext cx="0" cy="234001"/>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TextBox 64"/>
          <p:cNvSpPr txBox="1"/>
          <p:nvPr/>
        </p:nvSpPr>
        <p:spPr>
          <a:xfrm>
            <a:off x="2015999" y="1396800"/>
            <a:ext cx="2736000" cy="162000"/>
          </a:xfrm>
          <a:prstGeom prst="rect">
            <a:avLst/>
          </a:prstGeom>
          <a:noFill/>
        </p:spPr>
        <p:txBody>
          <a:bodyPr wrap="square" anchor="ctr" lIns="28800" rIns="28800" tIns="10800" bIns="10800">
            <a:spAutoFit/>
          </a:bodyPr>
          <a:lstStyle/>
          <a:p>
            <a:pPr algn="l"/>
            <a:r>
              <a:rPr sz="800" b="0">
                <a:solidFill>
                  <a:srgbClr val="C00000"/>
                </a:solidFill>
                <a:latin typeface="Helvetica"/>
              </a:rPr>
              <a:t>Produits obligatoires</a:t>
            </a:r>
          </a:p>
        </p:txBody>
      </p:sp>
      <p:sp>
        <p:nvSpPr>
          <p:cNvPr id="66" name="TextBox 65"/>
          <p:cNvSpPr txBox="1"/>
          <p:nvPr/>
        </p:nvSpPr>
        <p:spPr>
          <a:xfrm>
            <a:off x="7560000" y="1396800"/>
            <a:ext cx="4104000" cy="162000"/>
          </a:xfrm>
          <a:prstGeom prst="rect">
            <a:avLst/>
          </a:prstGeom>
          <a:noFill/>
        </p:spPr>
        <p:txBody>
          <a:bodyPr wrap="square" anchor="ctr" lIns="28800" rIns="28800" tIns="10800" bIns="10800">
            <a:spAutoFit/>
          </a:bodyPr>
          <a:lstStyle/>
          <a:p>
            <a:pPr algn="l"/>
            <a:r>
              <a:rPr sz="800" b="0">
                <a:solidFill>
                  <a:srgbClr val="C00000"/>
                </a:solidFill>
                <a:latin typeface="Helvetica"/>
              </a:rPr>
              <a:t>Produits complémentaires, retraités et flotte automobile</a:t>
            </a:r>
          </a:p>
        </p:txBody>
      </p:sp>
      <p:sp>
        <p:nvSpPr>
          <p:cNvPr id="67" name="TextBox 66"/>
          <p:cNvSpPr txBox="1"/>
          <p:nvPr/>
        </p:nvSpPr>
        <p:spPr>
          <a:xfrm>
            <a:off x="503999" y="4878000"/>
            <a:ext cx="11232000" cy="990000"/>
          </a:xfrm>
          <a:prstGeom prst="rect">
            <a:avLst/>
          </a:prstGeom>
          <a:noFill/>
        </p:spPr>
        <p:txBody>
          <a:bodyPr wrap="square" lIns="54000" rIns="54000"/>
          <a:lstStyle/>
          <a:p>
            <a:pPr algn="just">
              <a:spcAft>
                <a:spcPts val="600"/>
              </a:spcAft>
            </a:pPr>
            <a:r>
              <a:rPr sz="1050" b="1">
                <a:solidFill>
                  <a:srgbClr val="060606"/>
                </a:solidFill>
                <a:highlight>
                  <a:srgbClr val="FFFF00"/>
                </a:highlight>
                <a:latin typeface="Helvetica"/>
              </a:rPr>
              <a:t>Deux circuits coexistent.</a:t>
            </a:r>
            <a:r>
              <a:rPr sz="1050" b="0">
                <a:solidFill>
                  <a:srgbClr val="060606"/>
                </a:solidFill>
                <a:highlight>
                  <a:srgbClr val="FFFF00"/>
                </a:highlight>
                <a:latin typeface="Helvetica"/>
              </a:rPr>
              <a:t> Pour la maladie et le décès, la direction du personnel de la Police transmet directement le fichier aller à la Solde, sans plateforme de partage, et le FPPN ne reçoit que le retour. Pour les autres produits, le responsable des cotisations dépose le fichier aller sur la plateforme et l'entité concernée dépose le retour</a:t>
            </a:r>
            <a:r>
              <a:rPr sz="1050" b="0">
                <a:solidFill>
                  <a:srgbClr val="060606"/>
                </a:solidFill>
                <a:latin typeface="Helvetica"/>
              </a:rPr>
              <a:t> (déclaration du responsable des cotisations, entretien du 19/10/2026).</a:t>
            </a:r>
          </a:p>
          <a:p>
            <a:pPr algn="just">
              <a:spcAft>
                <a:spcPts val="600"/>
              </a:spcAft>
            </a:pPr>
            <a:r>
              <a:rPr sz="1050" b="0">
                <a:solidFill>
                  <a:srgbClr val="060606"/>
                </a:solidFill>
                <a:latin typeface="Helvetica"/>
              </a:rPr>
              <a:t>Pour la maladie et le décès, le FPPN ne dispose pas de ce qui aurait dû être précompté : le taux de recouvrement exigé par la Décision n° 05/2022 (au moins 90 %) ne peut pas être calculé sans les fichiers de la direction du personnel. Pour les autres produits, le FPPN détient les deux fichiers mais ne les rapproche pas.</a:t>
            </a:r>
          </a:p>
        </p:txBody>
      </p:sp>
      <p:sp>
        <p:nvSpPr>
          <p:cNvPr id="68" name="TextBox 67"/>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Surligné en jaune : affirmation à confirmer par une pièce ou une réponse écrite du FPPN. Sigles : FPPN : Fonds de prévoyance de la Police nationale | CGRAE : Caisse générale de retraite des agents de l'État | PEP : Plan Épargne Plus | EFC : entraide fin de carrière | GNA : assureur de la flotte automobile (compte 47111106) | MEDOC : produit santé complémentaire du poste 8Z7 | 936 : poste maladie | 8Z6 : poste décès | IPS-CGRAE : Institution de prévoyance sociale - Caisse générale de retraite des agents de l'État</a:t>
            </a:r>
          </a:p>
        </p:txBody>
      </p:sp>
    </p:spTree>
    <p:extLst>
      <p:ext uri="{BB962C8B-B14F-4D97-AF65-F5344CB8AC3E}">
        <p14:creationId xmlns:p14="http://schemas.microsoft.com/office/powerpoint/2010/main" val="3128336596"/>
      </p:ext>
    </p:extLst>
  </p:cSld>
  <p:clrMapOvr>
    <a:masterClrMapping/>
  </p:clrMapOvr>
  <p:transition>
    <p:fade/>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Circuit des fichiers par produit</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FPPN ne produit pas les fichiers aller de la maladie et du décès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Quatre circuits, dont trois passent par la plateforme de partage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entretien du 19/10/2026 avec le responsable des cotisations</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16 : Circuit des fichiers de précomptes par produit</a:t>
            </a:r>
          </a:p>
        </p:txBody>
      </p:sp>
      <p:graphicFrame>
        <p:nvGraphicFramePr>
          <p:cNvPr id="32" name="Table 31"/>
          <p:cNvGraphicFramePr>
            <a:graphicFrameLocks noGrp="1"/>
          </p:cNvGraphicFramePr>
          <p:nvPr/>
        </p:nvGraphicFramePr>
        <p:xfrm>
          <a:off x="503999" y="1655999"/>
          <a:ext cx="11232000" cy="2132155"/>
        </p:xfrm>
        <a:graphic>
          <a:graphicData uri="http://schemas.openxmlformats.org/drawingml/2006/table">
            <a:tbl>
              <a:tblPr firstRow="0" bandRow="0">
                <a:tableStyleId>{5940675A-B579-460E-94D1-54222C63F5DA}</a:tableStyleId>
              </a:tblPr>
              <a:tblGrid>
                <a:gridCol w="2520000"/>
                <a:gridCol w="3096000"/>
                <a:gridCol w="1224000"/>
                <a:gridCol w="2880000"/>
                <a:gridCol w="1512000"/>
              </a:tblGrid>
              <a:tr h="392901">
                <a:tc>
                  <a:txBody>
                    <a:bodyPr/>
                    <a:lstStyle/>
                    <a:p>
                      <a:pPr marL="0" indent="0" lvl="0">
                        <a:buNone/>
                      </a:pPr>
                      <a:r>
                        <a:rPr sz="1100" b="1">
                          <a:solidFill>
                            <a:srgbClr val="FFFFFF"/>
                          </a:solidFill>
                          <a:latin typeface="Helvetica"/>
                        </a:rPr>
                        <a:t>Produits</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Fichier aller</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Destinataire</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Fichier retour</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Plateforme de partage</a:t>
                      </a:r>
                    </a:p>
                  </a:txBody>
                  <a:tcPr marL="43200" marR="43200" marT="14400" marB="14400" anchor="ctr">
                    <a:solidFill>
                      <a:srgbClr val="060606"/>
                    </a:solidFill>
                  </a:tcPr>
                </a:tc>
              </a:tr>
              <a:tr h="560551">
                <a:tc>
                  <a:txBody>
                    <a:bodyPr/>
                    <a:lstStyle/>
                    <a:p>
                      <a:pPr marL="0" indent="0" lvl="0">
                        <a:buNone/>
                      </a:pPr>
                      <a:r>
                        <a:rPr sz="1100" b="1">
                          <a:solidFill>
                            <a:srgbClr val="060606"/>
                          </a:solidFill>
                          <a:latin typeface="Helvetica"/>
                        </a:rPr>
                        <a:t>Maladie (936) et décès (8Z6)</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Transmis directement par la direction du personnel de la Police</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Solde</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Reçu par le FPPN : « …_effectif_police_936_….xlsx » et « FPPN_ALLOC_DECES_8Z6_….xlsx »</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Non</a:t>
                      </a:r>
                    </a:p>
                  </a:txBody>
                  <a:tcPr marL="43200" marR="43200" marT="14400" marB="14400" anchor="ctr">
                    <a:solidFill>
                      <a:srgbClr val="FFFFFF"/>
                    </a:solidFill>
                  </a:tcPr>
                </a:tc>
              </a:tr>
              <a:tr h="392901">
                <a:tc>
                  <a:txBody>
                    <a:bodyPr/>
                    <a:lstStyle/>
                    <a:p>
                      <a:pPr marL="0" indent="0" lvl="0">
                        <a:buNone/>
                      </a:pPr>
                      <a:r>
                        <a:rPr sz="1100" b="1">
                          <a:solidFill>
                            <a:srgbClr val="060606"/>
                          </a:solidFill>
                          <a:latin typeface="Helvetica"/>
                        </a:rPr>
                        <a:t>EFC (870), PEP (998), Grenier (9X4), MEDOC (8Z7)</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Produit et déposé par le responsable des cotisations</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Solde</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Déposé par la Solde</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Oui</a:t>
                      </a:r>
                    </a:p>
                  </a:txBody>
                  <a:tcPr marL="43200" marR="43200" marT="14400" marB="14400" anchor="ctr">
                    <a:solidFill>
                      <a:srgbClr val="F2F2F2"/>
                    </a:solidFill>
                  </a:tcPr>
                </a:tc>
              </a:tr>
              <a:tr h="392901">
                <a:tc>
                  <a:txBody>
                    <a:bodyPr/>
                    <a:lstStyle/>
                    <a:p>
                      <a:pPr marL="0" indent="0" lvl="0">
                        <a:buNone/>
                      </a:pPr>
                      <a:r>
                        <a:rPr sz="1100" b="1">
                          <a:solidFill>
                            <a:srgbClr val="060606"/>
                          </a:solidFill>
                          <a:latin typeface="Helvetica"/>
                        </a:rPr>
                        <a:t>Retraités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Produit et déposé par le responsable des cotisations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CGRAE</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Déposé par la CGRAE</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Oui</a:t>
                      </a:r>
                    </a:p>
                  </a:txBody>
                  <a:tcPr marL="43200" marR="43200" marT="14400" marB="14400" anchor="ctr">
                    <a:solidFill>
                      <a:srgbClr val="FFFFFF"/>
                    </a:solidFill>
                  </a:tcPr>
                </a:tc>
              </a:tr>
              <a:tr h="392901">
                <a:tc>
                  <a:txBody>
                    <a:bodyPr/>
                    <a:lstStyle/>
                    <a:p>
                      <a:pPr marL="0" indent="0" lvl="0">
                        <a:buNone/>
                      </a:pPr>
                      <a:r>
                        <a:rPr sz="1100" b="1">
                          <a:solidFill>
                            <a:srgbClr val="060606"/>
                          </a:solidFill>
                          <a:latin typeface="Helvetica"/>
                        </a:rPr>
                        <a:t>Flotte automobile (9W3)</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Produit et déposé par le responsable des cotisations</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GNA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Déposé par GNA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Oui</a:t>
                      </a:r>
                    </a:p>
                  </a:txBody>
                  <a:tcPr marL="43200" marR="43200" marT="14400" marB="14400" anchor="ctr">
                    <a:solidFill>
                      <a:srgbClr val="F2F2F2"/>
                    </a:solidFill>
                  </a:tcPr>
                </a:tc>
              </a:tr>
            </a:tbl>
          </a:graphicData>
        </a:graphic>
      </p:graphicFrame>
      <p:sp>
        <p:nvSpPr>
          <p:cNvPr id="33" name="TextBox 32"/>
          <p:cNvSpPr txBox="1"/>
          <p:nvPr/>
        </p:nvSpPr>
        <p:spPr>
          <a:xfrm>
            <a:off x="503999" y="3896156"/>
            <a:ext cx="11232000" cy="162000"/>
          </a:xfrm>
          <a:prstGeom prst="rect">
            <a:avLst/>
          </a:prstGeom>
          <a:noFill/>
        </p:spPr>
        <p:txBody>
          <a:bodyPr wrap="square" anchor="t" lIns="54000" rIns="54000"/>
          <a:lstStyle/>
          <a:p>
            <a:pPr algn="l"/>
            <a:r>
              <a:rPr sz="850" b="0">
                <a:solidFill>
                  <a:srgbClr val="53565A"/>
                </a:solidFill>
                <a:latin typeface="Helvetica"/>
              </a:rPr>
              <a:t>Valable pour : circuit déclaré par le responsable des cotisations le 19/10/2026. Non confirmé par une procédure écrite.</a:t>
            </a:r>
          </a:p>
        </p:txBody>
      </p:sp>
      <p:sp>
        <p:nvSpPr>
          <p:cNvPr id="34" name="TextBox 33"/>
          <p:cNvSpPr txBox="1"/>
          <p:nvPr/>
        </p:nvSpPr>
        <p:spPr>
          <a:xfrm>
            <a:off x="503999" y="4202156"/>
            <a:ext cx="11232000" cy="1665843"/>
          </a:xfrm>
          <a:prstGeom prst="rect">
            <a:avLst/>
          </a:prstGeom>
          <a:noFill/>
        </p:spPr>
        <p:txBody>
          <a:bodyPr wrap="square" lIns="54000" rIns="54000"/>
          <a:lstStyle/>
          <a:p>
            <a:pPr algn="just">
              <a:spcAft>
                <a:spcPts val="600"/>
              </a:spcAft>
            </a:pPr>
            <a:r>
              <a:rPr sz="1300" b="1">
                <a:solidFill>
                  <a:srgbClr val="060606"/>
                </a:solidFill>
                <a:latin typeface="Helvetica"/>
              </a:rPr>
              <a:t>Les fichiers aller maladie et décès sont absents de tous les envois reçus.</a:t>
            </a:r>
            <a:r>
              <a:rPr sz="1300" b="0">
                <a:solidFill>
                  <a:srgbClr val="060606"/>
                </a:solidFill>
                <a:latin typeface="Helvetica"/>
              </a:rPr>
              <a:t> </a:t>
            </a:r>
            <a:r>
              <a:rPr sz="1300" b="0">
                <a:solidFill>
                  <a:srgbClr val="060606"/>
                </a:solidFill>
                <a:highlight>
                  <a:srgbClr val="FFFF00"/>
                </a:highlight>
                <a:latin typeface="Helvetica"/>
              </a:rPr>
              <a:t>Le FPPN ne les produit pas</a:t>
            </a:r>
            <a:r>
              <a:rPr sz="1300" b="0">
                <a:solidFill>
                  <a:srgbClr val="060606"/>
                </a:solidFill>
                <a:latin typeface="Helvetica"/>
              </a:rPr>
              <a:t> (déclaration du responsable des cotisations, entretien du 19/10/2026).</a:t>
            </a:r>
          </a:p>
          <a:p>
            <a:pPr algn="just">
              <a:spcAft>
                <a:spcPts val="600"/>
              </a:spcAft>
            </a:pPr>
            <a:r>
              <a:rPr sz="1300" b="0">
                <a:solidFill>
                  <a:srgbClr val="060606"/>
                </a:solidFill>
                <a:latin typeface="Helvetica"/>
              </a:rPr>
              <a:t>Les fichiers aller maladie et décès sont demandés à la direction du personnel de la Police ou à la Solde (PBC, item 38). Les retours vides ou manquants (décembre 2024, décès de mai à octobre 2024 et d'avril 2025) sont demandés au FPPN (PBC, item 39).</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Surligné en jaune : affirmation à confirmer par une pièce ou une réponse écrite du FPPN. Sigles : FPPN : Fonds de prévoyance de la Police nationale | CGRAE : Caisse générale de retraite des agents de l'État | PEP : Plan Épargne Plus | EFC : entraide fin de carrière | PBC : liste des documents demandés au client | GNA : assureur de la flotte automobile (compte 47111106) | MEDOC : produit santé complémentaire du poste 8Z7 | 936 : poste maladie | 8Z6 : poste décès | 870 : poste EFC | 998 : poste PEP | 9X4 : poste Grenier | 9W3 : poste flotte automobile | 8Z7 : poste MEDOC</a:t>
            </a:r>
          </a:p>
        </p:txBody>
      </p:sp>
    </p:spTree>
    <p:extLst>
      <p:ext uri="{BB962C8B-B14F-4D97-AF65-F5344CB8AC3E}">
        <p14:creationId xmlns:p14="http://schemas.microsoft.com/office/powerpoint/2010/main" val="3368306126"/>
      </p:ext>
    </p:extLst>
  </p:cSld>
  <p:clrMapOvr>
    <a:masterClrMapping/>
  </p:clrMapOvr>
  <p:transition>
    <p:fade/>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Flux financiers 2025</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ressources de l'année couvrent les prestations, les frais et dégagent un excédent</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Produits 3 671 499 865 FCFA, charges 3 250 431 812 FCFA, résultat 437 899 911 FCFA</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5 : Produits, charges et résultat 2025</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millions de FCFA</a:t>
            </a:r>
          </a:p>
        </p:txBody>
      </p:sp>
      <p:graphicFrame>
        <p:nvGraphicFramePr>
          <p:cNvPr id="32" name="Chart 31"/>
          <p:cNvGraphicFramePr>
            <a:graphicFrameLocks noGrp="1"/>
          </p:cNvGraphicFramePr>
          <p:nvPr/>
        </p:nvGraphicFramePr>
        <p:xfrm>
          <a:off x="503999" y="1782000"/>
          <a:ext cx="6552000" cy="3744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Les cotisations sont la ressource principale du FPPN.</a:t>
            </a:r>
            <a:r>
              <a:rPr sz="1400" b="0">
                <a:solidFill>
                  <a:srgbClr val="060606"/>
                </a:solidFill>
                <a:latin typeface="Helvetica"/>
              </a:rPr>
              <a:t> Elles atteignent 2 409 281 030 FCFA en maladie et 1 008 270 692 FCFA en décès.</a:t>
            </a:r>
          </a:p>
          <a:p>
            <a:pPr algn="just">
              <a:spcAft>
                <a:spcPts val="600"/>
              </a:spcAft>
            </a:pPr>
            <a:r>
              <a:rPr sz="1400" b="1">
                <a:solidFill>
                  <a:srgbClr val="060606"/>
                </a:solidFill>
                <a:latin typeface="Helvetica"/>
              </a:rPr>
              <a:t>Les prestations maladie absorbent la plus grande part des ressources.</a:t>
            </a:r>
            <a:r>
              <a:rPr sz="1400" b="0">
                <a:solidFill>
                  <a:srgbClr val="060606"/>
                </a:solidFill>
                <a:latin typeface="Helvetica"/>
              </a:rPr>
              <a:t> Elles valent 1 771 635 361 FCFA, contre 193 136 666 FCFA en décès.</a:t>
            </a:r>
          </a:p>
          <a:p>
            <a:pPr algn="just">
              <a:spcAft>
                <a:spcPts val="600"/>
              </a:spcAft>
            </a:pPr>
            <a:r>
              <a:rPr sz="1400" b="1">
                <a:solidFill>
                  <a:srgbClr val="060606"/>
                </a:solidFill>
                <a:latin typeface="Helvetica"/>
              </a:rPr>
              <a:t>Les frais de gestion pèsent 32,23 % des cotisations.</a:t>
            </a:r>
            <a:r>
              <a:rPr sz="1400" b="0">
                <a:solidFill>
                  <a:srgbClr val="060606"/>
                </a:solidFill>
                <a:latin typeface="Helvetica"/>
              </a:rPr>
              <a:t> Ils couvrent le personnel, les indemnités des organes, le fonctionnement et les amortissements.</a:t>
            </a:r>
          </a:p>
          <a:p>
            <a:pPr algn="just">
              <a:spcAft>
                <a:spcPts val="600"/>
              </a:spcAft>
            </a:pPr>
            <a:r>
              <a:rPr sz="1400" b="0">
                <a:solidFill>
                  <a:srgbClr val="060606"/>
                </a:solidFill>
                <a:latin typeface="Helvetica"/>
              </a:rPr>
              <a:t>La garantie décès dégage un excédent qui compense en partie la garantie maladie : le résultat global masque un déséquilibre de la maladie, analysé par risque dans la partie 10.</a:t>
            </a:r>
          </a:p>
        </p:txBody>
      </p:sp>
      <p:sp>
        <p:nvSpPr>
          <p:cNvPr id="35" name="TextBox 34"/>
          <p:cNvSpPr txBox="1"/>
          <p:nvPr/>
        </p:nvSpPr>
        <p:spPr>
          <a:xfrm>
            <a:off x="503999" y="5526000"/>
            <a:ext cx="6552000" cy="306000"/>
          </a:xfrm>
          <a:prstGeom prst="rect">
            <a:avLst/>
          </a:prstGeom>
          <a:noFill/>
        </p:spPr>
        <p:txBody>
          <a:bodyPr wrap="square" anchor="t" lIns="54000" rIns="54000"/>
          <a:lstStyle/>
          <a:p>
            <a:pPr algn="l"/>
            <a:r>
              <a:rPr sz="850" b="0">
                <a:solidFill>
                  <a:srgbClr val="53565A"/>
                </a:solidFill>
                <a:latin typeface="Helvetica"/>
              </a:rPr>
              <a:t>Valable pour : exercice 2025, classes 6 et 7 de « BALANCE FPPN 2025.xlsx ». Flux d'épargne et du Grenier exclus du résultat.</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3399503396"/>
      </p:ext>
    </p:extLst>
  </p:cSld>
  <p:clrMapOvr>
    <a:masterClrMapping/>
  </p:clrMapOvr>
  <p:transition>
    <p:fade/>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Notions de base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Huit notions suffisent pour lire l'ensemble du rapport</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Chaque notion est définie ici une fois, puis utilisée avec le même sens dans tout le rapport</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Adenka. Décision n° 05/2022/COM/UEMOA du 1er juin 2022, annexe</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17 : Notions utilisées dans le rapport</a:t>
            </a:r>
          </a:p>
        </p:txBody>
      </p:sp>
      <p:graphicFrame>
        <p:nvGraphicFramePr>
          <p:cNvPr id="32" name="Table 31"/>
          <p:cNvGraphicFramePr>
            <a:graphicFrameLocks noGrp="1"/>
          </p:cNvGraphicFramePr>
          <p:nvPr/>
        </p:nvGraphicFramePr>
        <p:xfrm>
          <a:off x="503999" y="1655999"/>
          <a:ext cx="11231999" cy="2194901"/>
        </p:xfrm>
        <a:graphic>
          <a:graphicData uri="http://schemas.openxmlformats.org/drawingml/2006/table">
            <a:tbl>
              <a:tblPr firstRow="0" bandRow="0">
                <a:tableStyleId>{5940675A-B579-460E-94D1-54222C63F5DA}</a:tableStyleId>
              </a:tblPr>
              <a:tblGrid>
                <a:gridCol w="1728000"/>
                <a:gridCol w="5832000"/>
                <a:gridCol w="3671999"/>
              </a:tblGrid>
              <a:tr h="225250">
                <a:tc>
                  <a:txBody>
                    <a:bodyPr/>
                    <a:lstStyle/>
                    <a:p>
                      <a:pPr marL="0" indent="0" lvl="0">
                        <a:buNone/>
                      </a:pPr>
                      <a:r>
                        <a:rPr sz="1100" b="1">
                          <a:solidFill>
                            <a:srgbClr val="FFFFFF"/>
                          </a:solidFill>
                          <a:latin typeface="Helvetica"/>
                        </a:rPr>
                        <a:t>Notion</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Définition simple</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Exemple dans le rapport</a:t>
                      </a:r>
                    </a:p>
                  </a:txBody>
                  <a:tcPr marL="43200" marR="43200" marT="14400" marB="14400" anchor="ctr">
                    <a:solidFill>
                      <a:srgbClr val="060606"/>
                    </a:solidFill>
                  </a:tcPr>
                </a:tc>
              </a:tr>
              <a:tr h="225250">
                <a:tc>
                  <a:txBody>
                    <a:bodyPr/>
                    <a:lstStyle/>
                    <a:p>
                      <a:pPr marL="0" indent="0" lvl="0">
                        <a:buNone/>
                      </a:pPr>
                      <a:r>
                        <a:rPr sz="1100" b="1">
                          <a:solidFill>
                            <a:srgbClr val="060606"/>
                          </a:solidFill>
                          <a:latin typeface="Helvetica"/>
                        </a:rPr>
                        <a:t>Cotisation</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Somme que le mutualiste verse pour être couvert.</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5 % du salaire de base</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Prestation</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Somme que le FPPN paie quand le risque survient (soins, décès).</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Factures des cliniques, capital décès</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Sinistralité (S/C)</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Part des cotisations consommée par les prestations.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S/C maladie 2025</a:t>
                      </a:r>
                    </a:p>
                  </a:txBody>
                  <a:tcPr marL="43200" marR="43200" marT="14400" marB="14400" anchor="ctr">
                    <a:solidFill>
                      <a:srgbClr val="FFFFFF"/>
                    </a:solidFill>
                  </a:tcPr>
                </a:tc>
              </a:tr>
              <a:tr h="392901">
                <a:tc>
                  <a:txBody>
                    <a:bodyPr/>
                    <a:lstStyle/>
                    <a:p>
                      <a:pPr marL="0" indent="0" lvl="0">
                        <a:buNone/>
                      </a:pPr>
                      <a:r>
                        <a:rPr sz="1100" b="1">
                          <a:solidFill>
                            <a:srgbClr val="060606"/>
                          </a:solidFill>
                          <a:latin typeface="Helvetica"/>
                        </a:rPr>
                        <a:t>Provision technique</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Somme mise de côté au bilan pour payer des prestations déjà nées mais pas encore payées.</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Provision pour prestations à payer</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Engagement</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Ce que le FPPN devra payer plus tard à ses mutualistes.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Épargne PEP et EFC à restituer</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Adossement</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Correspondance entre les dettes et les actifs disponibles pour les payer.</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Épargne et placements réservés</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Fonds propres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Ce qui reste quand on retire toutes les dettes de tous les actifs.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Négatifs de 2020 à 2026</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Ratio prudentiel</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Rapport chiffré qu'une norme impose de respecter pour protéger les adhérents.</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Réserve obligatoire de 6 à 9 mois</a:t>
                      </a:r>
                    </a:p>
                  </a:txBody>
                  <a:tcPr marL="43200" marR="43200" marT="14400" marB="14400" anchor="ctr">
                    <a:solidFill>
                      <a:srgbClr val="F2F2F2"/>
                    </a:solidFill>
                  </a:tcPr>
                </a:tc>
              </a:tr>
            </a:tbl>
          </a:graphicData>
        </a:graphic>
      </p:graphicFrame>
      <p:sp>
        <p:nvSpPr>
          <p:cNvPr id="33" name="TextBox 32"/>
          <p:cNvSpPr txBox="1"/>
          <p:nvPr/>
        </p:nvSpPr>
        <p:spPr>
          <a:xfrm>
            <a:off x="503999" y="3958905"/>
            <a:ext cx="11232000" cy="162000"/>
          </a:xfrm>
          <a:prstGeom prst="rect">
            <a:avLst/>
          </a:prstGeom>
          <a:noFill/>
        </p:spPr>
        <p:txBody>
          <a:bodyPr wrap="square" anchor="t" lIns="54000" rIns="54000"/>
          <a:lstStyle/>
          <a:p>
            <a:pPr algn="l"/>
            <a:r>
              <a:rPr sz="850" b="0">
                <a:solidFill>
                  <a:srgbClr val="53565A"/>
                </a:solidFill>
                <a:latin typeface="Helvetica"/>
              </a:rPr>
              <a:t>Valable pour : définitions de la Décision n° 05/2022 (annexe) et du règlement d'exécution n° 004/2022. Sans chiffre propre au FPPN.</a:t>
            </a:r>
          </a:p>
        </p:txBody>
      </p:sp>
      <p:sp>
        <p:nvSpPr>
          <p:cNvPr id="34" name="TextBox 33"/>
          <p:cNvSpPr txBox="1"/>
          <p:nvPr/>
        </p:nvSpPr>
        <p:spPr>
          <a:xfrm>
            <a:off x="503999" y="4264905"/>
            <a:ext cx="11232000" cy="1603094"/>
          </a:xfrm>
          <a:prstGeom prst="rect">
            <a:avLst/>
          </a:prstGeom>
          <a:noFill/>
        </p:spPr>
        <p:txBody>
          <a:bodyPr wrap="square" lIns="54000" rIns="54000"/>
          <a:lstStyle/>
          <a:p>
            <a:pPr algn="just">
              <a:spcAft>
                <a:spcPts val="600"/>
              </a:spcAft>
            </a:pPr>
            <a:r>
              <a:rPr sz="1300" b="1">
                <a:solidFill>
                  <a:srgbClr val="060606"/>
                </a:solidFill>
                <a:latin typeface="Helvetica"/>
              </a:rPr>
              <a:t>Ces huit notions portent toute l'analyse.</a:t>
            </a:r>
            <a:r>
              <a:rPr sz="1300" b="0">
                <a:solidFill>
                  <a:srgbClr val="060606"/>
                </a:solidFill>
                <a:latin typeface="Helvetica"/>
              </a:rPr>
              <a:t> Les quatre premières décrivent l'activité de l'année. Les quatre dernières décrivent la capacité du FPPN à tenir ses promesses dans la durée.</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PEP : Plan Épargne Plus | EFC : entraide fin de carrière | S/C : prestations / cotisations</a:t>
            </a:r>
          </a:p>
        </p:txBody>
      </p:sp>
    </p:spTree>
    <p:extLst>
      <p:ext uri="{BB962C8B-B14F-4D97-AF65-F5344CB8AC3E}">
        <p14:creationId xmlns:p14="http://schemas.microsoft.com/office/powerpoint/2010/main" val="336767404"/>
      </p:ext>
    </p:extLst>
  </p:cSld>
  <p:clrMapOvr>
    <a:masterClrMapping/>
  </p:clrMapOvr>
  <p:transition>
    <p:fade/>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Google Shape;8651;p70"/>
          <p:cNvSpPr/>
          <p:nvPr/>
        </p:nvSpPr>
        <p:spPr>
          <a:xfrm>
            <a:off x="2013108" y="2588204"/>
            <a:ext cx="1380332" cy="1428252"/>
          </a:xfrm>
          <a:custGeom>
            <a:avLst/>
            <a:gdLst/>
            <a:ahLst/>
            <a:cxnLst/>
            <a:rect l="l" t="t" r="r" b="b"/>
            <a:pathLst>
              <a:path w="8670" h="8971" extrusionOk="0">
                <a:moveTo>
                  <a:pt x="7105" y="1302"/>
                </a:moveTo>
                <a:cubicBezTo>
                  <a:pt x="7105" y="1315"/>
                  <a:pt x="7105" y="1328"/>
                  <a:pt x="7105" y="1341"/>
                </a:cubicBezTo>
                <a:cubicBezTo>
                  <a:pt x="7118" y="1980"/>
                  <a:pt x="7183" y="2619"/>
                  <a:pt x="7183" y="3283"/>
                </a:cubicBezTo>
                <a:cubicBezTo>
                  <a:pt x="7170" y="4404"/>
                  <a:pt x="7183" y="5525"/>
                  <a:pt x="7222" y="6646"/>
                </a:cubicBezTo>
                <a:cubicBezTo>
                  <a:pt x="7235" y="6959"/>
                  <a:pt x="7222" y="7259"/>
                  <a:pt x="7222" y="7559"/>
                </a:cubicBezTo>
                <a:lnTo>
                  <a:pt x="7222" y="7585"/>
                </a:lnTo>
                <a:cubicBezTo>
                  <a:pt x="6935" y="7598"/>
                  <a:pt x="6649" y="7611"/>
                  <a:pt x="6362" y="7611"/>
                </a:cubicBezTo>
                <a:cubicBezTo>
                  <a:pt x="6101" y="7598"/>
                  <a:pt x="5853" y="7585"/>
                  <a:pt x="5593" y="7585"/>
                </a:cubicBezTo>
                <a:cubicBezTo>
                  <a:pt x="4159" y="7559"/>
                  <a:pt x="2712" y="7559"/>
                  <a:pt x="1291" y="7442"/>
                </a:cubicBezTo>
                <a:cubicBezTo>
                  <a:pt x="1278" y="7207"/>
                  <a:pt x="1239" y="6959"/>
                  <a:pt x="1226" y="6725"/>
                </a:cubicBezTo>
                <a:cubicBezTo>
                  <a:pt x="1200" y="6255"/>
                  <a:pt x="1187" y="5799"/>
                  <a:pt x="1200" y="5330"/>
                </a:cubicBezTo>
                <a:cubicBezTo>
                  <a:pt x="1213" y="4222"/>
                  <a:pt x="1226" y="3101"/>
                  <a:pt x="1343" y="1993"/>
                </a:cubicBezTo>
                <a:lnTo>
                  <a:pt x="1552" y="1993"/>
                </a:lnTo>
                <a:cubicBezTo>
                  <a:pt x="2138" y="1980"/>
                  <a:pt x="2725" y="1889"/>
                  <a:pt x="3312" y="1810"/>
                </a:cubicBezTo>
                <a:cubicBezTo>
                  <a:pt x="4576" y="1641"/>
                  <a:pt x="5840" y="1524"/>
                  <a:pt x="7105" y="1302"/>
                </a:cubicBezTo>
                <a:close/>
                <a:moveTo>
                  <a:pt x="7529" y="1"/>
                </a:moveTo>
                <a:cubicBezTo>
                  <a:pt x="7291" y="1"/>
                  <a:pt x="7059" y="53"/>
                  <a:pt x="6818" y="64"/>
                </a:cubicBezTo>
                <a:cubicBezTo>
                  <a:pt x="6375" y="103"/>
                  <a:pt x="5932" y="142"/>
                  <a:pt x="5488" y="194"/>
                </a:cubicBezTo>
                <a:cubicBezTo>
                  <a:pt x="4824" y="259"/>
                  <a:pt x="4107" y="350"/>
                  <a:pt x="3429" y="389"/>
                </a:cubicBezTo>
                <a:cubicBezTo>
                  <a:pt x="2686" y="429"/>
                  <a:pt x="1943" y="481"/>
                  <a:pt x="1213" y="598"/>
                </a:cubicBezTo>
                <a:cubicBezTo>
                  <a:pt x="913" y="624"/>
                  <a:pt x="652" y="728"/>
                  <a:pt x="509" y="976"/>
                </a:cubicBezTo>
                <a:cubicBezTo>
                  <a:pt x="470" y="1028"/>
                  <a:pt x="444" y="1080"/>
                  <a:pt x="431" y="1146"/>
                </a:cubicBezTo>
                <a:cubicBezTo>
                  <a:pt x="300" y="1524"/>
                  <a:pt x="287" y="1928"/>
                  <a:pt x="300" y="2332"/>
                </a:cubicBezTo>
                <a:cubicBezTo>
                  <a:pt x="209" y="3010"/>
                  <a:pt x="209" y="3700"/>
                  <a:pt x="209" y="4378"/>
                </a:cubicBezTo>
                <a:cubicBezTo>
                  <a:pt x="170" y="4769"/>
                  <a:pt x="144" y="5173"/>
                  <a:pt x="131" y="5565"/>
                </a:cubicBezTo>
                <a:cubicBezTo>
                  <a:pt x="105" y="6203"/>
                  <a:pt x="14" y="6842"/>
                  <a:pt x="14" y="7481"/>
                </a:cubicBezTo>
                <a:cubicBezTo>
                  <a:pt x="1" y="7911"/>
                  <a:pt x="157" y="8315"/>
                  <a:pt x="613" y="8419"/>
                </a:cubicBezTo>
                <a:cubicBezTo>
                  <a:pt x="1056" y="8550"/>
                  <a:pt x="1526" y="8524"/>
                  <a:pt x="1982" y="8550"/>
                </a:cubicBezTo>
                <a:cubicBezTo>
                  <a:pt x="2243" y="8563"/>
                  <a:pt x="2503" y="8589"/>
                  <a:pt x="2764" y="8615"/>
                </a:cubicBezTo>
                <a:cubicBezTo>
                  <a:pt x="3885" y="8745"/>
                  <a:pt x="5006" y="8902"/>
                  <a:pt x="6140" y="8941"/>
                </a:cubicBezTo>
                <a:cubicBezTo>
                  <a:pt x="6220" y="8945"/>
                  <a:pt x="6302" y="8946"/>
                  <a:pt x="6383" y="8946"/>
                </a:cubicBezTo>
                <a:cubicBezTo>
                  <a:pt x="6581" y="8946"/>
                  <a:pt x="6781" y="8937"/>
                  <a:pt x="6974" y="8928"/>
                </a:cubicBezTo>
                <a:cubicBezTo>
                  <a:pt x="7118" y="8941"/>
                  <a:pt x="7274" y="8941"/>
                  <a:pt x="7418" y="8941"/>
                </a:cubicBezTo>
                <a:cubicBezTo>
                  <a:pt x="7568" y="8956"/>
                  <a:pt x="7723" y="8971"/>
                  <a:pt x="7877" y="8971"/>
                </a:cubicBezTo>
                <a:cubicBezTo>
                  <a:pt x="7990" y="8971"/>
                  <a:pt x="8103" y="8963"/>
                  <a:pt x="8213" y="8941"/>
                </a:cubicBezTo>
                <a:cubicBezTo>
                  <a:pt x="8643" y="8810"/>
                  <a:pt x="8565" y="8093"/>
                  <a:pt x="8604" y="7741"/>
                </a:cubicBezTo>
                <a:cubicBezTo>
                  <a:pt x="8669" y="6620"/>
                  <a:pt x="8539" y="5499"/>
                  <a:pt x="8487" y="4378"/>
                </a:cubicBezTo>
                <a:cubicBezTo>
                  <a:pt x="8434" y="3453"/>
                  <a:pt x="8330" y="2527"/>
                  <a:pt x="8252" y="1589"/>
                </a:cubicBezTo>
                <a:cubicBezTo>
                  <a:pt x="8200" y="1341"/>
                  <a:pt x="8239" y="637"/>
                  <a:pt x="8096" y="350"/>
                </a:cubicBezTo>
                <a:lnTo>
                  <a:pt x="8082" y="350"/>
                </a:lnTo>
                <a:cubicBezTo>
                  <a:pt x="8056" y="181"/>
                  <a:pt x="7952" y="51"/>
                  <a:pt x="7704" y="11"/>
                </a:cubicBezTo>
                <a:cubicBezTo>
                  <a:pt x="7645" y="4"/>
                  <a:pt x="7587" y="1"/>
                  <a:pt x="7529" y="1"/>
                </a:cubicBezTo>
                <a:close/>
              </a:path>
            </a:pathLst>
          </a:custGeom>
          <a:solidFill>
            <a:schemeClr val="bg1"/>
          </a:solidFill>
          <a:ln w="76200">
            <a:solidFill>
              <a:schemeClr val="tx1"/>
            </a:solid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5" name="Rectangle 24">
            <a:extLst>
              <a:ext uri="{FF2B5EF4-FFF2-40B4-BE49-F238E27FC236}">
                <a16:creationId xmlns:a16="http://schemas.microsoft.com/office/drawing/2014/main" id="{9B9B23AA-050D-4543-80A0-873FE31AFFF7}"/>
              </a:ext>
            </a:extLst>
          </p:cNvPr>
          <p:cNvSpPr/>
          <p:nvPr/>
        </p:nvSpPr>
        <p:spPr>
          <a:xfrm>
            <a:off x="2446471" y="2869098"/>
            <a:ext cx="513606" cy="936923"/>
          </a:xfrm>
          <a:prstGeom prst="rect">
            <a:avLst/>
          </a:prstGeom>
        </p:spPr>
        <p:txBody>
          <a:bodyPr wrap="square" lIns="0" tIns="0" rIns="0" bIns="0">
            <a:spAutoFit/>
          </a:bodyPr>
          <a:lstStyle/>
          <a:p>
            <a:pPr lvl="0">
              <a:lnSpc>
                <a:spcPct val="110000"/>
              </a:lnSpc>
            </a:pPr>
            <a:r>
              <a:rPr lang="fr-CI" sz="60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2</a:t>
            </a:r>
          </a:p>
        </p:txBody>
      </p:sp>
      <p:sp>
        <p:nvSpPr>
          <p:cNvPr id="10" name="Rectangle 9"/>
          <p:cNvSpPr/>
          <p:nvPr/>
        </p:nvSpPr>
        <p:spPr>
          <a:xfrm>
            <a:off x="3938554" y="2462184"/>
            <a:ext cx="3816000" cy="1200329"/>
          </a:xfrm>
          <a:prstGeom prst="rect">
            <a:avLst/>
          </a:prstGeom>
        </p:spPr>
        <p:txBody>
          <a:bodyPr wrap="square">
            <a:spAutoFit/>
          </a:bodyPr>
          <a:lstStyle/>
          <a:p>
            <a:r>
              <a:rPr lang="fr-CI" sz="3600" b="1" noProof="0">
                <a:solidFill>
                  <a:schemeClr val="bg1"/>
                </a:solidFill>
                <a:latin typeface="Helvetica" panose="020B0604020202020204" pitchFamily="34" charset="0"/>
                <a:cs typeface="Helvetica" panose="020B0604020202020204" pitchFamily="34" charset="0"/>
              </a:rPr>
              <a:t>Contexte et démarche</a:t>
            </a:r>
          </a:p>
        </p:txBody>
      </p:sp>
      <p:pic>
        <p:nvPicPr>
          <p:cNvPr id="9" name="Image 8">
            <a:extLst>
              <a:ext uri="{FF2B5EF4-FFF2-40B4-BE49-F238E27FC236}">
                <a16:creationId xmlns:a16="http://schemas.microsoft.com/office/drawing/2014/main" id="{2C356854-0685-DCEF-E2F6-65D5E9653A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1274" y="-185107"/>
            <a:ext cx="3179518" cy="1268781"/>
          </a:xfrm>
          <a:prstGeom prst="rect">
            <a:avLst/>
          </a:prstGeom>
        </p:spPr>
      </p:pic>
      <p:sp>
        <p:nvSpPr>
          <p:cNvPr id="6" name="Rectangle 5"/>
          <p:cNvSpPr/>
          <p:nvPr/>
        </p:nvSpPr>
        <p:spPr>
          <a:xfrm>
            <a:off x="3938554" y="3337559"/>
            <a:ext cx="3816000" cy="923330"/>
          </a:xfrm>
          <a:prstGeom prst="rect">
            <a:avLst/>
          </a:prstGeom>
        </p:spPr>
        <p:txBody>
          <a:bodyPr wrap="square">
            <a:spAutoFit/>
          </a:bodyPr>
          <a:lstStyle/>
          <a:p>
            <a:br>
              <a:rPr lang="fr-CI" noProof="0">
                <a:solidFill>
                  <a:schemeClr val="bg1"/>
                </a:solidFill>
              </a:rPr>
            </a:br>
            <a:r>
              <a:rPr lang="fr-CI" noProof="0">
                <a:solidFill>
                  <a:srgbClr val="EFAC62"/>
                </a:solidFill>
                <a:latin typeface="Helvetica" panose="020B0604020202020204" pitchFamily="34" charset="0"/>
                <a:ea typeface="Open Sans Light" panose="020B0306030504020204" pitchFamily="34" charset="0"/>
                <a:cs typeface="Helvetica" panose="020B0604020202020204" pitchFamily="34" charset="0"/>
              </a:rPr>
              <a:t>Mission, périmètre, traitement des données</a:t>
            </a:r>
          </a:p>
        </p:txBody>
      </p:sp>
      <p:pic>
        <p:nvPicPr>
          <p:cNvPr id="11" name="Imag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5561" y="2415481"/>
            <a:ext cx="1566911" cy="1600975"/>
          </a:xfrm>
          <a:prstGeom prst="rect">
            <a:avLst/>
          </a:prstGeom>
        </p:spPr>
      </p:pic>
    </p:spTree>
    <p:extLst>
      <p:ext uri="{BB962C8B-B14F-4D97-AF65-F5344CB8AC3E}">
        <p14:creationId xmlns:p14="http://schemas.microsoft.com/office/powerpoint/2010/main" val="2283157020"/>
      </p:ext>
    </p:extLst>
  </p:cSld>
  <p:clrMapOvr>
    <a:masterClrMapping/>
  </p:clrMapOvr>
  <p:transition>
    <p:fade/>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Mission et périmètre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volet actuariel répond à quatre questions sur les engagements et les placements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Période d'analyse du 1er janvier 2020 au 31 août 2026. Données arrêtées à l'envoi du FPPN reçu le 15/10/2026</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dossier de préparation de la mission (13/10/2026) et liste des documents demandés (PBC)</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18 : Périmètre de la mission actuarielle et statistique</a:t>
            </a:r>
          </a:p>
        </p:txBody>
      </p:sp>
      <p:graphicFrame>
        <p:nvGraphicFramePr>
          <p:cNvPr id="32" name="Table 31"/>
          <p:cNvGraphicFramePr>
            <a:graphicFrameLocks noGrp="1"/>
          </p:cNvGraphicFramePr>
          <p:nvPr/>
        </p:nvGraphicFramePr>
        <p:xfrm>
          <a:off x="503999" y="1655999"/>
          <a:ext cx="11232000" cy="2137302"/>
        </p:xfrm>
        <a:graphic>
          <a:graphicData uri="http://schemas.openxmlformats.org/drawingml/2006/table">
            <a:tbl>
              <a:tblPr firstRow="0" bandRow="0">
                <a:tableStyleId>{5940675A-B579-460E-94D1-54222C63F5DA}</a:tableStyleId>
              </a:tblPr>
              <a:tblGrid>
                <a:gridCol w="2232000"/>
                <a:gridCol w="5400000"/>
                <a:gridCol w="3600000"/>
              </a:tblGrid>
              <a:tr h="225250">
                <a:tc>
                  <a:txBody>
                    <a:bodyPr/>
                    <a:lstStyle/>
                    <a:p>
                      <a:pPr marL="0" indent="0" lvl="0">
                        <a:buNone/>
                      </a:pPr>
                      <a:r>
                        <a:rPr sz="1100" b="1">
                          <a:solidFill>
                            <a:srgbClr val="FFFFFF"/>
                          </a:solidFill>
                          <a:latin typeface="Helvetica"/>
                        </a:rPr>
                        <a:t>Axe</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Question traitée</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État au 19/10/2026</a:t>
                      </a:r>
                    </a:p>
                  </a:txBody>
                  <a:tcPr marL="43200" marR="43200" marT="14400" marB="14400" anchor="ctr">
                    <a:solidFill>
                      <a:srgbClr val="060606"/>
                    </a:solidFill>
                  </a:tcPr>
                </a:tc>
              </a:tr>
              <a:tr h="392901">
                <a:tc>
                  <a:txBody>
                    <a:bodyPr/>
                    <a:lstStyle/>
                    <a:p>
                      <a:pPr marL="0" indent="0" lvl="0">
                        <a:buNone/>
                      </a:pPr>
                      <a:r>
                        <a:rPr sz="1100" b="1">
                          <a:solidFill>
                            <a:srgbClr val="060606"/>
                          </a:solidFill>
                          <a:latin typeface="Helvetica"/>
                        </a:rPr>
                        <a:t>1. Engagements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Combien le FPPN doit-il à ses adhérents et ayants droit ?</a:t>
                      </a:r>
                    </a:p>
                  </a:txBody>
                  <a:tcPr marL="43200" marR="43200" marT="14400" marB="14400" anchor="ctr">
                    <a:solidFill>
                      <a:srgbClr val="FFFFFF"/>
                    </a:solidFill>
                  </a:tcPr>
                </a:tc>
                <a:tc>
                  <a:txBody>
                    <a:bodyPr/>
                    <a:lstStyle/>
                    <a:p>
                      <a:pPr marL="0" indent="0" lvl="0">
                        <a:buNone/>
                      </a:pPr>
                      <a:r>
                        <a:rPr sz="1100" b="1">
                          <a:solidFill>
                            <a:srgbClr val="060606"/>
                          </a:solidFill>
                          <a:latin typeface="Helvetica"/>
                        </a:rPr>
                        <a:t>Partiel : épargne mesurée, autres engagements en attente (partie 9)</a:t>
                      </a:r>
                    </a:p>
                  </a:txBody>
                  <a:tcPr marL="43200" marR="43200" marT="14400" marB="14400" anchor="ctr">
                    <a:solidFill>
                      <a:srgbClr val="EFAC62"/>
                    </a:solidFill>
                  </a:tcPr>
                </a:tc>
              </a:tr>
              <a:tr h="392901">
                <a:tc>
                  <a:txBody>
                    <a:bodyPr/>
                    <a:lstStyle/>
                    <a:p>
                      <a:pPr marL="0" indent="0" lvl="0">
                        <a:buNone/>
                      </a:pPr>
                      <a:r>
                        <a:rPr sz="1100" b="1">
                          <a:solidFill>
                            <a:srgbClr val="060606"/>
                          </a:solidFill>
                          <a:latin typeface="Helvetica"/>
                        </a:rPr>
                        <a:t>2. Suffisance des provisions</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Les provisions au bilan suffisent-elles à payer les prestations dues ?</a:t>
                      </a:r>
                    </a:p>
                  </a:txBody>
                  <a:tcPr marL="43200" marR="43200" marT="14400" marB="14400" anchor="ctr">
                    <a:solidFill>
                      <a:srgbClr val="F2F2F2"/>
                    </a:solidFill>
                  </a:tcPr>
                </a:tc>
                <a:tc>
                  <a:txBody>
                    <a:bodyPr/>
                    <a:lstStyle/>
                    <a:p>
                      <a:pPr marL="0" indent="0" lvl="0">
                        <a:buNone/>
                      </a:pPr>
                      <a:r>
                        <a:rPr sz="1100" b="1">
                          <a:solidFill>
                            <a:srgbClr val="060606"/>
                          </a:solidFill>
                          <a:latin typeface="Helvetica"/>
                        </a:rPr>
                        <a:t>Non démontrable : provisions héritées, recalcul en attente</a:t>
                      </a:r>
                    </a:p>
                  </a:txBody>
                  <a:tcPr marL="43200" marR="43200" marT="14400" marB="14400" anchor="ctr">
                    <a:solidFill>
                      <a:srgbClr val="EFAC62"/>
                    </a:solidFill>
                  </a:tcPr>
                </a:tc>
              </a:tr>
              <a:tr h="225250">
                <a:tc>
                  <a:txBody>
                    <a:bodyPr/>
                    <a:lstStyle/>
                    <a:p>
                      <a:pPr marL="0" indent="0" lvl="0">
                        <a:buNone/>
                      </a:pPr>
                      <a:r>
                        <a:rPr sz="1100" b="1">
                          <a:solidFill>
                            <a:srgbClr val="060606"/>
                          </a:solidFill>
                          <a:latin typeface="Helvetica"/>
                        </a:rPr>
                        <a:t>3. Adossement actif-passif</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Les actifs arrivent-ils en caisse au bon moment pour payer ?</a:t>
                      </a:r>
                    </a:p>
                  </a:txBody>
                  <a:tcPr marL="43200" marR="43200" marT="14400" marB="14400" anchor="ctr">
                    <a:solidFill>
                      <a:srgbClr val="FFFFFF"/>
                    </a:solidFill>
                  </a:tcPr>
                </a:tc>
                <a:tc>
                  <a:txBody>
                    <a:bodyPr/>
                    <a:lstStyle/>
                    <a:p>
                      <a:pPr marL="0" indent="0" lvl="0">
                        <a:buNone/>
                      </a:pPr>
                      <a:r>
                        <a:rPr sz="1100" b="1">
                          <a:solidFill>
                            <a:srgbClr val="FFFFFF"/>
                          </a:solidFill>
                          <a:latin typeface="Helvetica"/>
                        </a:rPr>
                        <a:t>Non-adossement démontré (borne favorable)</a:t>
                      </a:r>
                    </a:p>
                  </a:txBody>
                  <a:tcPr marL="43200" marR="43200" marT="14400" marB="14400" anchor="ctr">
                    <a:solidFill>
                      <a:srgbClr val="C00000"/>
                    </a:solidFill>
                  </a:tcPr>
                </a:tc>
              </a:tr>
              <a:tr h="225250">
                <a:tc>
                  <a:txBody>
                    <a:bodyPr/>
                    <a:lstStyle/>
                    <a:p>
                      <a:pPr marL="0" indent="0" lvl="0">
                        <a:buNone/>
                      </a:pPr>
                      <a:r>
                        <a:rPr sz="1100" b="1">
                          <a:solidFill>
                            <a:srgbClr val="060606"/>
                          </a:solidFill>
                          <a:latin typeface="Helvetica"/>
                        </a:rPr>
                        <a:t>4. Adéquation des placements</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Les placements sont-ils sûrs, liquides et rentables ?</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Liquidité et diversification insuffisantes</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Contrôle des données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Les données sont-elles complètes et cohérentes avec la comptabilité ?</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Réalisé sur les données reçues</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Conformité prudentielle</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Les ratios de la Décision n° 05/2022 sont-ils respectés ?</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Réalisé : 36 indicateurs examinés</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Équilibre technique</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Les cotisations futures couvrent-elles les prestations futures ?</a:t>
                      </a:r>
                    </a:p>
                  </a:txBody>
                  <a:tcPr marL="43200" marR="43200" marT="14400" marB="14400" anchor="ctr">
                    <a:solidFill>
                      <a:srgbClr val="FFFFFF"/>
                    </a:solidFill>
                  </a:tcPr>
                </a:tc>
                <a:tc>
                  <a:txBody>
                    <a:bodyPr/>
                    <a:lstStyle/>
                    <a:p>
                      <a:pPr marL="0" indent="0" lvl="0">
                        <a:buNone/>
                      </a:pPr>
                      <a:r>
                        <a:rPr sz="1100" b="1">
                          <a:solidFill>
                            <a:srgbClr val="060606"/>
                          </a:solidFill>
                          <a:latin typeface="Helvetica"/>
                        </a:rPr>
                        <a:t>En attente des âges et des dossiers</a:t>
                      </a:r>
                    </a:p>
                  </a:txBody>
                  <a:tcPr marL="43200" marR="43200" marT="14400" marB="14400" anchor="ctr">
                    <a:solidFill>
                      <a:srgbClr val="FFD966"/>
                    </a:solidFill>
                  </a:tcPr>
                </a:tc>
              </a:tr>
            </a:tbl>
          </a:graphicData>
        </a:graphic>
      </p:graphicFrame>
      <p:graphicFrame>
        <p:nvGraphicFramePr>
          <p:cNvPr id="33" name="Table 32"/>
          <p:cNvGraphicFramePr>
            <a:graphicFrameLocks noGrp="1"/>
          </p:cNvGraphicFramePr>
          <p:nvPr/>
        </p:nvGraphicFramePr>
        <p:xfrm>
          <a:off x="503999" y="3986116"/>
          <a:ext cx="11232000" cy="151200"/>
        </p:xfrm>
        <a:graphic>
          <a:graphicData uri="http://schemas.openxmlformats.org/drawingml/2006/table">
            <a:tbl>
              <a:tblPr firstRow="0" bandRow="0">
                <a:tableStyleId>{5C22544A-7EE6-4342-B048-85BDC9FD1C3A}</a:tableStyleId>
              </a:tblPr>
              <a:tblGrid>
                <a:gridCol w="792000"/>
                <a:gridCol w="936000"/>
                <a:gridCol w="1674000"/>
                <a:gridCol w="936000"/>
                <a:gridCol w="1674000"/>
                <a:gridCol w="936000"/>
                <a:gridCol w="1674000"/>
                <a:gridCol w="936000"/>
                <a:gridCol w="1674000"/>
              </a:tblGrid>
              <a:tr h="151200">
                <a:tc>
                  <a:txBody>
                    <a:bodyPr/>
                    <a:lstStyle/>
                    <a:p>
                      <a:r>
                        <a:rPr sz="700" b="1">
                          <a:solidFill>
                            <a:srgbClr val="060606"/>
                          </a:solidFill>
                          <a:latin typeface="Helvetica"/>
                        </a:rPr>
                        <a:t>Code couleur</a:t>
                      </a:r>
                    </a:p>
                  </a:txBody>
                  <a:tcPr marL="28800" marR="28800" marT="3600" marB="3600" anchor="ctr">
                    <a:solidFill>
                      <a:srgbClr val="FFFFFF"/>
                    </a:solidFill>
                  </a:tcPr>
                </a:tc>
                <a:tc>
                  <a:txBody>
                    <a:bodyPr/>
                    <a:lstStyle/>
                    <a:p>
                      <a:r>
                        <a:rPr sz="700" b="1">
                          <a:solidFill>
                            <a:srgbClr val="060606"/>
                          </a:solidFill>
                          <a:latin typeface="Helvetica"/>
                        </a:rPr>
                        <a:t>Partiel</a:t>
                      </a:r>
                    </a:p>
                  </a:txBody>
                  <a:tcPr marL="28800" marR="28800" marT="3600" marB="3600" anchor="ctr">
                    <a:solidFill>
                      <a:srgbClr val="EFAC62"/>
                    </a:solidFill>
                  </a:tcPr>
                </a:tc>
                <a:tc>
                  <a:txBody>
                    <a:bodyPr/>
                    <a:lstStyle/>
                    <a:p>
                      <a:r>
                        <a:rPr sz="700" b="0">
                          <a:solidFill>
                            <a:srgbClr val="060606"/>
                          </a:solidFill>
                          <a:latin typeface="Helvetica"/>
                        </a:rPr>
                        <a:t>en partie seulement</a:t>
                      </a:r>
                    </a:p>
                  </a:txBody>
                  <a:tcPr marL="28800" marR="28800" marT="3600" marB="3600" anchor="ctr">
                    <a:solidFill>
                      <a:srgbClr val="FFFFFF"/>
                    </a:solidFill>
                  </a:tcPr>
                </a:tc>
                <a:tc>
                  <a:txBody>
                    <a:bodyPr/>
                    <a:lstStyle/>
                    <a:p>
                      <a:r>
                        <a:rPr sz="700" b="1">
                          <a:solidFill>
                            <a:srgbClr val="060606"/>
                          </a:solidFill>
                          <a:latin typeface="Helvetica"/>
                        </a:rPr>
                        <a:t>Non démontré</a:t>
                      </a:r>
                    </a:p>
                  </a:txBody>
                  <a:tcPr marL="28800" marR="28800" marT="3600" marB="3600" anchor="ctr">
                    <a:solidFill>
                      <a:srgbClr val="EFAC62"/>
                    </a:solidFill>
                  </a:tcPr>
                </a:tc>
                <a:tc>
                  <a:txBody>
                    <a:bodyPr/>
                    <a:lstStyle/>
                    <a:p>
                      <a:r>
                        <a:rPr sz="700" b="0">
                          <a:solidFill>
                            <a:srgbClr val="060606"/>
                          </a:solidFill>
                          <a:latin typeface="Helvetica"/>
                        </a:rPr>
                        <a:t>non démontré par les documents reçus</a:t>
                      </a:r>
                    </a:p>
                  </a:txBody>
                  <a:tcPr marL="28800" marR="28800" marT="3600" marB="3600" anchor="ctr">
                    <a:solidFill>
                      <a:srgbClr val="FFFFFF"/>
                    </a:solidFill>
                  </a:tcPr>
                </a:tc>
                <a:tc>
                  <a:txBody>
                    <a:bodyPr/>
                    <a:lstStyle/>
                    <a:p>
                      <a:r>
                        <a:rPr sz="700" b="1">
                          <a:solidFill>
                            <a:srgbClr val="FFFFFF"/>
                          </a:solidFill>
                          <a:latin typeface="Helvetica"/>
                        </a:rPr>
                        <a:t>Non</a:t>
                      </a:r>
                    </a:p>
                  </a:txBody>
                  <a:tcPr marL="28800" marR="28800" marT="3600" marB="3600" anchor="ctr">
                    <a:solidFill>
                      <a:srgbClr val="C00000"/>
                    </a:solidFill>
                  </a:tcPr>
                </a:tc>
                <a:tc>
                  <a:txBody>
                    <a:bodyPr/>
                    <a:lstStyle/>
                    <a:p>
                      <a:r>
                        <a:rPr sz="700" b="0">
                          <a:solidFill>
                            <a:srgbClr val="060606"/>
                          </a:solidFill>
                          <a:latin typeface="Helvetica"/>
                        </a:rPr>
                        <a:t>réponse négative à la question de la colonne</a:t>
                      </a:r>
                    </a:p>
                  </a:txBody>
                  <a:tcPr marL="28800" marR="28800" marT="3600" marB="3600" anchor="ctr">
                    <a:solidFill>
                      <a:srgbClr val="FFFFFF"/>
                    </a:solidFill>
                  </a:tcPr>
                </a:tc>
                <a:tc>
                  <a:txBody>
                    <a:bodyPr/>
                    <a:lstStyle/>
                    <a:p>
                      <a:r>
                        <a:rPr sz="700" b="1">
                          <a:solidFill>
                            <a:srgbClr val="060606"/>
                          </a:solidFill>
                          <a:latin typeface="Helvetica"/>
                        </a:rPr>
                        <a:t>En attente</a:t>
                      </a:r>
                    </a:p>
                  </a:txBody>
                  <a:tcPr marL="28800" marR="28800" marT="3600" marB="3600" anchor="ctr">
                    <a:solidFill>
                      <a:srgbClr val="FFD966"/>
                    </a:solidFill>
                  </a:tcPr>
                </a:tc>
                <a:tc>
                  <a:txBody>
                    <a:bodyPr/>
                    <a:lstStyle/>
                    <a:p>
                      <a:r>
                        <a:rPr sz="700" b="0">
                          <a:solidFill>
                            <a:srgbClr val="060606"/>
                          </a:solidFill>
                          <a:latin typeface="Helvetica"/>
                        </a:rPr>
                        <a:t>document du FPPN attendu</a:t>
                      </a:r>
                    </a:p>
                  </a:txBody>
                  <a:tcPr marL="28800" marR="28800" marT="3600" marB="3600" anchor="ctr">
                    <a:solidFill>
                      <a:srgbClr val="FFFFFF"/>
                    </a:solidFill>
                  </a:tcPr>
                </a:tc>
              </a:tr>
            </a:tbl>
          </a:graphicData>
        </a:graphic>
      </p:graphicFrame>
      <p:sp>
        <p:nvSpPr>
          <p:cNvPr id="34" name="TextBox 33"/>
          <p:cNvSpPr txBox="1"/>
          <p:nvPr/>
        </p:nvSpPr>
        <p:spPr>
          <a:xfrm>
            <a:off x="503999" y="4245316"/>
            <a:ext cx="11232000" cy="162000"/>
          </a:xfrm>
          <a:prstGeom prst="rect">
            <a:avLst/>
          </a:prstGeom>
          <a:noFill/>
        </p:spPr>
        <p:txBody>
          <a:bodyPr wrap="square" anchor="t" lIns="54000" rIns="54000"/>
          <a:lstStyle/>
          <a:p>
            <a:pPr algn="l"/>
            <a:r>
              <a:rPr sz="850" b="0">
                <a:solidFill>
                  <a:srgbClr val="53565A"/>
                </a:solidFill>
                <a:latin typeface="Helvetica"/>
              </a:rPr>
              <a:t>Valable pour : périmètre fixé par le dossier de préparation du 13/10/2026 et la demande de M. Wabi. Période du 01/01/2020 au 31/08/2026.</a:t>
            </a:r>
          </a:p>
        </p:txBody>
      </p:sp>
      <p:sp>
        <p:nvSpPr>
          <p:cNvPr id="35" name="TextBox 34"/>
          <p:cNvSpPr txBox="1"/>
          <p:nvPr/>
        </p:nvSpPr>
        <p:spPr>
          <a:xfrm>
            <a:off x="503999" y="4551316"/>
            <a:ext cx="11232000" cy="1316683"/>
          </a:xfrm>
          <a:prstGeom prst="rect">
            <a:avLst/>
          </a:prstGeom>
          <a:noFill/>
        </p:spPr>
        <p:txBody>
          <a:bodyPr wrap="square" lIns="54000" rIns="54000"/>
          <a:lstStyle/>
          <a:p>
            <a:pPr algn="just">
              <a:spcAft>
                <a:spcPts val="600"/>
              </a:spcAft>
            </a:pPr>
            <a:r>
              <a:rPr sz="1300" b="1">
                <a:solidFill>
                  <a:srgbClr val="060606"/>
                </a:solidFill>
                <a:latin typeface="Helvetica"/>
              </a:rPr>
              <a:t>Deux des quatre questions reçoivent une réponse établie : le FPPN n'est pas adossé, et ses placements ne sont ni assez liquides ni assez diversifiés.</a:t>
            </a:r>
            <a:r>
              <a:rPr sz="1300" b="0">
                <a:solidFill>
                  <a:srgbClr val="060606"/>
                </a:solidFill>
                <a:latin typeface="Helvetica"/>
              </a:rPr>
              <a:t> Les engagements et la suffisance des provisions attendent les données individuelles (réponse détaillée en résumé exécutif et en partie 9).</a:t>
            </a:r>
          </a:p>
          <a:p>
            <a:pPr algn="just">
              <a:spcAft>
                <a:spcPts val="600"/>
              </a:spcAft>
            </a:pPr>
            <a:r>
              <a:rPr sz="1300" b="0">
                <a:solidFill>
                  <a:srgbClr val="060606"/>
                </a:solidFill>
                <a:latin typeface="Helvetica"/>
              </a:rPr>
              <a:t>Le calcul des engagements (question 1) conditionne la réponse définitive aux questions 2 et 3 : il reste la priorité dès réception des fichiers (PBC, items 35, 47, 48 et 64).</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PBC : liste des documents demandés au client</a:t>
            </a:r>
          </a:p>
        </p:txBody>
      </p:sp>
    </p:spTree>
    <p:extLst>
      <p:ext uri="{BB962C8B-B14F-4D97-AF65-F5344CB8AC3E}">
        <p14:creationId xmlns:p14="http://schemas.microsoft.com/office/powerpoint/2010/main" val="1774019512"/>
      </p:ext>
    </p:extLst>
  </p:cSld>
  <p:clrMapOvr>
    <a:masterClrMapping/>
  </p:clrMapOvr>
  <p:transition>
    <p:fade/>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Périmètre et validité des analyses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Chaque résultat ne vaut que pour les données, la population et la période qui le fondent</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Trois niveaux de lecture : cette diapositive, une ligne « Valable pour » sous chaque tableau et graphique, et un tableau détaillé en annexe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Adenka, à partir des fichiers cités dans chaque partie</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19 : Périmètre, domaine et période de validité des analyses</a:t>
            </a:r>
          </a:p>
        </p:txBody>
      </p:sp>
      <p:graphicFrame>
        <p:nvGraphicFramePr>
          <p:cNvPr id="32" name="Table 31"/>
          <p:cNvGraphicFramePr>
            <a:graphicFrameLocks noGrp="1"/>
          </p:cNvGraphicFramePr>
          <p:nvPr/>
        </p:nvGraphicFramePr>
        <p:xfrm>
          <a:off x="503999" y="1655999"/>
          <a:ext cx="11231998" cy="2072976"/>
        </p:xfrm>
        <a:graphic>
          <a:graphicData uri="http://schemas.openxmlformats.org/drawingml/2006/table">
            <a:tbl>
              <a:tblPr firstRow="0" bandRow="0">
                <a:tableStyleId>{5940675A-B579-460E-94D1-54222C63F5DA}</a:tableStyleId>
              </a:tblPr>
              <a:tblGrid>
                <a:gridCol w="2160000"/>
                <a:gridCol w="3744000"/>
                <a:gridCol w="2015999"/>
                <a:gridCol w="3311999"/>
              </a:tblGrid>
              <a:tr h="187148">
                <a:tc>
                  <a:txBody>
                    <a:bodyPr/>
                    <a:lstStyle/>
                    <a:p>
                      <a:pPr marL="0" indent="0" lvl="0">
                        <a:buNone/>
                      </a:pPr>
                      <a:r>
                        <a:rPr sz="850" b="1">
                          <a:solidFill>
                            <a:srgbClr val="FFFFFF"/>
                          </a:solidFill>
                          <a:latin typeface="Helvetica"/>
                        </a:rPr>
                        <a:t>Analyses</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Données utilisées</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Période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Ne pas généraliser à</a:t>
                      </a:r>
                    </a:p>
                  </a:txBody>
                  <a:tcPr marL="43200" marR="43200" marT="14400" marB="14400" anchor="ctr">
                    <a:solidFill>
                      <a:srgbClr val="060606"/>
                    </a:solidFill>
                  </a:tcPr>
                </a:tc>
              </a:tr>
              <a:tr h="316696">
                <a:tc>
                  <a:txBody>
                    <a:bodyPr/>
                    <a:lstStyle/>
                    <a:p>
                      <a:pPr marL="0" indent="0" lvl="0">
                        <a:buNone/>
                      </a:pPr>
                      <a:r>
                        <a:rPr sz="850" b="1">
                          <a:solidFill>
                            <a:srgbClr val="060606"/>
                          </a:solidFill>
                          <a:latin typeface="Helvetica"/>
                        </a:rPr>
                        <a:t>Effectifs, taux de cotisation (parties 3 et 4)</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Fichiers de précomptes de la Solde et de la CGRAE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01/2024 à 09/2026 selon le poste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2020 à 2023, civils de la Direction Générale</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Taux de 3,77 % (maladie)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Salaire de base du fichier 936, 209 670 lignes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8 mois : 04 à 10/2024 et 01/2025</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Mois sans salaire de base dans les fichiers</a:t>
                      </a:r>
                    </a:p>
                  </a:txBody>
                  <a:tcPr marL="43200" marR="43200" marT="14400" marB="14400" anchor="ctr">
                    <a:solidFill>
                      <a:srgbClr val="F2F2F2"/>
                    </a:solidFill>
                  </a:tcPr>
                </a:tc>
              </a:tr>
              <a:tr h="316696">
                <a:tc>
                  <a:txBody>
                    <a:bodyPr/>
                    <a:lstStyle/>
                    <a:p>
                      <a:pPr marL="0" indent="0" lvl="0">
                        <a:buNone/>
                      </a:pPr>
                      <a:r>
                        <a:rPr sz="850" b="1">
                          <a:solidFill>
                            <a:srgbClr val="060606"/>
                          </a:solidFill>
                          <a:latin typeface="Helvetica"/>
                        </a:rPr>
                        <a:t>Taux de 1,23 % (décès)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8Z6 rapporté au salaire de base, puis rapport 8Z6 / 936</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Mesure directe 04/2024 et 01/2025, rapport de 03/2024 à 09/2026</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Janvier et février 2024 (autre clé)</a:t>
                      </a:r>
                    </a:p>
                  </a:txBody>
                  <a:tcPr marL="43200" marR="43200" marT="14400" marB="14400" anchor="ctr">
                    <a:solidFill>
                      <a:srgbClr val="FFFFFF"/>
                    </a:solidFill>
                  </a:tcPr>
                </a:tc>
              </a:tr>
              <a:tr h="316696">
                <a:tc>
                  <a:txBody>
                    <a:bodyPr/>
                    <a:lstStyle/>
                    <a:p>
                      <a:pPr marL="0" indent="0" lvl="0">
                        <a:buNone/>
                      </a:pPr>
                      <a:r>
                        <a:rPr sz="850" b="1">
                          <a:solidFill>
                            <a:srgbClr val="060606"/>
                          </a:solidFill>
                          <a:latin typeface="Helvetica"/>
                        </a:rPr>
                        <a:t>Sinistralité, résultat, bilan, ratios (parties 5, 9, 10)</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Balances 2020 au 31/08/2026, états financiers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2020 à 2025, 2026 provisoire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Sinistres tardifs, valeurs de marché</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Épargne (partie 6)</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Soldes et mouvements comptables, grand livre 2024</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2020 au 31/08/2026</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Engagement individuel (aucun échéancier)</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Mortalité brute (partie 5)</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Étude des ratios du FPPN : décès et adhérents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2015 à 2025</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Mortalité par âge (dates de naissance absentes)</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Provision du personnel (partie 9)</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DISA 2021, 2022, 2023 et 2025 (CNPS)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31/12 des années citées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2024 (DISA scannée), policiers détachés</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Contrôles croisés (partie 3)</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États financiers, rapprochements bancaires, étude du FPPN</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2020 au 31/08/2026</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Comptes non cités dans le contrôle</a:t>
                      </a:r>
                    </a:p>
                  </a:txBody>
                  <a:tcPr marL="43200" marR="43200" marT="14400" marB="14400" anchor="ctr">
                    <a:solidFill>
                      <a:srgbClr val="F2F2F2"/>
                    </a:solidFill>
                  </a:tcPr>
                </a:tc>
              </a:tr>
            </a:tbl>
          </a:graphicData>
        </a:graphic>
      </p:graphicFrame>
      <p:sp>
        <p:nvSpPr>
          <p:cNvPr id="33" name="TextBox 32"/>
          <p:cNvSpPr txBox="1"/>
          <p:nvPr/>
        </p:nvSpPr>
        <p:spPr>
          <a:xfrm>
            <a:off x="503999" y="3836977"/>
            <a:ext cx="11232000" cy="162000"/>
          </a:xfrm>
          <a:prstGeom prst="rect">
            <a:avLst/>
          </a:prstGeom>
          <a:noFill/>
        </p:spPr>
        <p:txBody>
          <a:bodyPr wrap="square" anchor="t" lIns="54000" rIns="54000"/>
          <a:lstStyle/>
          <a:p>
            <a:pPr algn="l"/>
            <a:r>
              <a:rPr sz="850" b="0">
                <a:solidFill>
                  <a:srgbClr val="53565A"/>
                </a:solidFill>
                <a:latin typeface="Helvetica"/>
              </a:rPr>
              <a:t>Valable pour : les familles d'analyses du rapport, sur les documents reçus jusqu'au 22/10/2026.</a:t>
            </a:r>
          </a:p>
        </p:txBody>
      </p:sp>
      <p:sp>
        <p:nvSpPr>
          <p:cNvPr id="34" name="TextBox 33"/>
          <p:cNvSpPr txBox="1"/>
          <p:nvPr/>
        </p:nvSpPr>
        <p:spPr>
          <a:xfrm>
            <a:off x="503999" y="4142977"/>
            <a:ext cx="11232000" cy="1725022"/>
          </a:xfrm>
          <a:prstGeom prst="rect">
            <a:avLst/>
          </a:prstGeom>
          <a:noFill/>
        </p:spPr>
        <p:txBody>
          <a:bodyPr wrap="square" lIns="54000" rIns="54000"/>
          <a:lstStyle/>
          <a:p>
            <a:pPr algn="just">
              <a:spcAft>
                <a:spcPts val="600"/>
              </a:spcAft>
            </a:pPr>
            <a:r>
              <a:rPr sz="1300" b="1">
                <a:solidFill>
                  <a:srgbClr val="060606"/>
                </a:solidFill>
                <a:latin typeface="Helvetica"/>
              </a:rPr>
              <a:t>Les documents reçus le 22/10/2026 permettent de vérifier plusieurs résultats par une seconde source.</a:t>
            </a:r>
            <a:r>
              <a:rPr sz="1300" b="0">
                <a:solidFill>
                  <a:srgbClr val="060606"/>
                </a:solidFill>
                <a:latin typeface="Helvetica"/>
              </a:rPr>
              <a:t> Les états financiers, les rapprochements bancaires et l'étude des ratios du FPPN confirment les balances et les fichiers de la Solde sur les périodes indiquées.</a:t>
            </a:r>
          </a:p>
          <a:p>
            <a:pPr algn="just">
              <a:spcAft>
                <a:spcPts val="600"/>
              </a:spcAft>
            </a:pPr>
            <a:r>
              <a:rPr sz="1300" b="0">
                <a:solidFill>
                  <a:srgbClr val="060606"/>
                </a:solidFill>
                <a:latin typeface="Helvetica"/>
              </a:rPr>
              <a:t>Tout chiffre repris hors du rapport doit être accompagné de sa ligne « Valable pour ». L'annexe « Périmètre et validité des analyses » détaille chaque diapositive.</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CGRAE : Caisse générale de retraite des agents de l'État | CNPS : Caisse nationale de prévoyance sociale | 8Z6 : poste décès | DISA : déclaration individuelle des salaires annuels à la CNPS</a:t>
            </a:r>
          </a:p>
        </p:txBody>
      </p:sp>
    </p:spTree>
    <p:extLst>
      <p:ext uri="{BB962C8B-B14F-4D97-AF65-F5344CB8AC3E}">
        <p14:creationId xmlns:p14="http://schemas.microsoft.com/office/powerpoint/2010/main" val="668780971"/>
      </p:ext>
    </p:extLst>
  </p:cSld>
  <p:clrMapOvr>
    <a:masterClrMapping/>
  </p:clrMapOvr>
  <p:transition>
    <p:fade/>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Documents reçus le 22/10/2026</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124 fichiers reçus intacts, qui complètent les engagements, la méthode du FPPN et les contrôles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Les nouveaux documents servent à cinq usages : provisions, engagements d'épargne, provision du personnel, actifs immobilisés et contre-vérification des chiffres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documents du FPPN reçus le 22/10/2026</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20 : Documents reçus le 22/10/2026 et usage dans le rapport</a:t>
            </a:r>
          </a:p>
        </p:txBody>
      </p:sp>
      <p:graphicFrame>
        <p:nvGraphicFramePr>
          <p:cNvPr id="32" name="Table 31"/>
          <p:cNvGraphicFramePr>
            <a:graphicFrameLocks noGrp="1"/>
          </p:cNvGraphicFramePr>
          <p:nvPr/>
        </p:nvGraphicFramePr>
        <p:xfrm>
          <a:off x="503999" y="1655999"/>
          <a:ext cx="11232000" cy="1565820"/>
        </p:xfrm>
        <a:graphic>
          <a:graphicData uri="http://schemas.openxmlformats.org/drawingml/2006/table">
            <a:tbl>
              <a:tblPr firstRow="0" bandRow="0">
                <a:tableStyleId>{5940675A-B579-460E-94D1-54222C63F5DA}</a:tableStyleId>
              </a:tblPr>
              <a:tblGrid>
                <a:gridCol w="1512000"/>
                <a:gridCol w="5400000"/>
                <a:gridCol w="4320000"/>
              </a:tblGrid>
              <a:tr h="180000">
                <a:tc>
                  <a:txBody>
                    <a:bodyPr/>
                    <a:lstStyle/>
                    <a:p>
                      <a:pPr marL="0" indent="0" lvl="0">
                        <a:buNone/>
                      </a:pPr>
                      <a:r>
                        <a:rPr sz="800" b="1">
                          <a:solidFill>
                            <a:srgbClr val="FFFFFF"/>
                          </a:solidFill>
                          <a:latin typeface="Helvetica"/>
                        </a:rPr>
                        <a:t>Famille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Documents</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Usage dans le rapport</a:t>
                      </a:r>
                    </a:p>
                  </a:txBody>
                  <a:tcPr marL="43200" marR="43200" marT="14400" marB="14400" anchor="ctr">
                    <a:solidFill>
                      <a:srgbClr val="060606"/>
                    </a:solidFill>
                  </a:tcPr>
                </a:tc>
              </a:tr>
              <a:tr h="301455">
                <a:tc>
                  <a:txBody>
                    <a:bodyPr/>
                    <a:lstStyle/>
                    <a:p>
                      <a:pPr marL="0" indent="0" lvl="0">
                        <a:buNone/>
                      </a:pPr>
                      <a:r>
                        <a:rPr sz="800" b="1">
                          <a:solidFill>
                            <a:srgbClr val="060606"/>
                          </a:solidFill>
                          <a:latin typeface="Helvetica"/>
                        </a:rPr>
                        <a:t>Règles et produits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Cahiers des charges maladie-décès et EFC-PEP 2021, manuel des produits d'épargne, cartographie des risques, politique de crédit du Grenier, conventions IPS-CGRAE, Transvie-CMP et DEPA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Taux servis, barème décès, garantie santé des retraités, dépréciation des prêts</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Comptes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États financiers de 2020 au 31/08/2026, grands livres généraux et des tiers 2023 à 2025, balances, rapprochements bancaires de 2020 à 2026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Contrôles croisés, délais de paiement des cliniques, factures arrivées en retard, paiements d'allocations décès</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Engagements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États de fin d'année des allocations décès et frais funéraires 2021 à 2025, étude et interprétation des ratios maladie et décès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Dette décès, décès connus après la clôture, méthode de sinistralité du FPPN, mortalité brute</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Personnel</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DISA et ETAT 301 de 2020 à 2025, DASC</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Provision du personnel agent par agent</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Actifs et gouvernance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Arrêté d'autorisation du CMP, dérogation d'urbanisme du projet de Cocody, attestation de désignation du directeur général, titres de propriété, baux, rapports de gestion, budgets, organigrammes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Clinique, projet de Cocody, gouvernance des placements, épargne présentée en Assemblée générale</a:t>
                      </a:r>
                    </a:p>
                  </a:txBody>
                  <a:tcPr marL="43200" marR="43200" marT="14400" marB="14400" anchor="ctr">
                    <a:solidFill>
                      <a:srgbClr val="FFFFFF"/>
                    </a:solidFill>
                  </a:tcPr>
                </a:tc>
              </a:tr>
            </a:tbl>
          </a:graphicData>
        </a:graphic>
      </p:graphicFrame>
      <p:sp>
        <p:nvSpPr>
          <p:cNvPr id="33" name="TextBox 32"/>
          <p:cNvSpPr txBox="1"/>
          <p:nvPr/>
        </p:nvSpPr>
        <p:spPr>
          <a:xfrm>
            <a:off x="503999" y="3329821"/>
            <a:ext cx="11232000" cy="162000"/>
          </a:xfrm>
          <a:prstGeom prst="rect">
            <a:avLst/>
          </a:prstGeom>
          <a:noFill/>
        </p:spPr>
        <p:txBody>
          <a:bodyPr wrap="square" anchor="t" lIns="54000" rIns="54000"/>
          <a:lstStyle/>
          <a:p>
            <a:pPr algn="l"/>
            <a:r>
              <a:rPr sz="850" b="0">
                <a:solidFill>
                  <a:srgbClr val="53565A"/>
                </a:solidFill>
                <a:latin typeface="Helvetica"/>
              </a:rPr>
              <a:t>Valable pour : fichiers reçus le 22/10/2026 dans les dossiers transmis par le FPPN. Les documents reçus le 15/10/2026 et le 18/10/2026 sont décrits en partie 2 et en partie 3.</a:t>
            </a:r>
          </a:p>
        </p:txBody>
      </p:sp>
      <p:sp>
        <p:nvSpPr>
          <p:cNvPr id="34" name="TextBox 33"/>
          <p:cNvSpPr txBox="1"/>
          <p:nvPr/>
        </p:nvSpPr>
        <p:spPr>
          <a:xfrm>
            <a:off x="503999" y="3635821"/>
            <a:ext cx="11232000" cy="2232178"/>
          </a:xfrm>
          <a:prstGeom prst="rect">
            <a:avLst/>
          </a:prstGeom>
          <a:noFill/>
        </p:spPr>
        <p:txBody>
          <a:bodyPr wrap="square" lIns="54000" rIns="54000"/>
          <a:lstStyle/>
          <a:p>
            <a:pPr algn="just">
              <a:spcAft>
                <a:spcPts val="600"/>
              </a:spcAft>
            </a:pPr>
            <a:r>
              <a:rPr sz="1300" b="1">
                <a:solidFill>
                  <a:srgbClr val="060606"/>
                </a:solidFill>
                <a:latin typeface="Helvetica"/>
              </a:rPr>
              <a:t>Les états financiers et les rapprochements bancaires confirment les balances utilisées dans le rapport</a:t>
            </a:r>
            <a:r>
              <a:rPr sz="1300" b="0">
                <a:solidFill>
                  <a:srgbClr val="060606"/>
                </a:solidFill>
                <a:latin typeface="Helvetica"/>
              </a:rPr>
              <a:t>, à deux écarts près, présentés en partie 3.</a:t>
            </a:r>
          </a:p>
          <a:p>
            <a:pPr algn="just">
              <a:spcAft>
                <a:spcPts val="600"/>
              </a:spcAft>
            </a:pPr>
            <a:r>
              <a:rPr sz="1300" b="0">
                <a:solidFill>
                  <a:srgbClr val="060606"/>
                </a:solidFill>
                <a:latin typeface="Helvetica"/>
              </a:rPr>
              <a:t>Les documents encore manquants (base des prestations datée, relevés individuels d'épargne, dates de naissance des mutualistes) restent dans la PBC et limitent les analyses présentées.</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Sigles : FPPN : Fonds de prévoyance de la Police nationale | CGRAE : Caisse générale de retraite des agents de l'État | PEP : Plan Épargne Plus | EFC : entraide fin de carrière | CMP : Clinique médicale du policier | PBC : liste des documents demandés au client | DISA : déclaration individuelle des salaires annuels à la CNPS | IPS-CGRAE : Institution de prévoyance sociale - Caisse générale de retraite des agents de l'État | DEPA : Direction de l'École de Police d'Abidjan</a:t>
            </a:r>
          </a:p>
        </p:txBody>
      </p:sp>
    </p:spTree>
    <p:extLst>
      <p:ext uri="{BB962C8B-B14F-4D97-AF65-F5344CB8AC3E}">
        <p14:creationId xmlns:p14="http://schemas.microsoft.com/office/powerpoint/2010/main" val="273224393"/>
      </p:ext>
    </p:extLst>
  </p:cSld>
  <p:clrMapOvr>
    <a:masterClrMapping/>
  </p:clrMapOvr>
  <p:transition>
    <p:fade/>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Traitement des données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Chaque chiffre est tracé du fichier du FPPN jusqu'au rapport</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Quatre décisions de contrôle arrêtent ou corrigent le traitement. Le détail de chaque étape figure dans la partie 13</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scripts Python Adenka (dossier scripts de la mission)</a:t>
            </a:r>
          </a:p>
        </p:txBody>
      </p:sp>
      <p:sp>
        <p:nvSpPr>
          <p:cNvPr id="31" name="Logigramme c1"/>
          <p:cNvSpPr/>
          <p:nvPr/>
        </p:nvSpPr>
        <p:spPr>
          <a:xfrm>
            <a:off x="540000" y="1494000"/>
            <a:ext cx="1260000" cy="540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FFFFFF"/>
                </a:solidFill>
                <a:latin typeface="Helvetica"/>
              </a:rPr>
              <a:t>Envois du FPPN : 4 287</a:t>
            </a:r>
          </a:p>
          <a:p>
            <a:pPr algn="ctr"/>
            <a:r>
              <a:rPr sz="850" b="1">
                <a:solidFill>
                  <a:srgbClr val="FFFFFF"/>
                </a:solidFill>
                <a:latin typeface="Helvetica"/>
              </a:rPr>
              <a:t>fichiers (15/10), 124</a:t>
            </a:r>
          </a:p>
          <a:p>
            <a:pPr algn="ctr"/>
            <a:r>
              <a:rPr sz="850" b="1">
                <a:solidFill>
                  <a:srgbClr val="FFFFFF"/>
                </a:solidFill>
                <a:latin typeface="Helvetica"/>
              </a:rPr>
              <a:t>fichiers (22/10)</a:t>
            </a:r>
          </a:p>
        </p:txBody>
      </p:sp>
      <p:sp>
        <p:nvSpPr>
          <p:cNvPr id="32" name="Logigramme c2"/>
          <p:cNvSpPr/>
          <p:nvPr/>
        </p:nvSpPr>
        <p:spPr>
          <a:xfrm>
            <a:off x="2142000" y="1494000"/>
            <a:ext cx="1260000" cy="540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Inventaire</a:t>
            </a:r>
          </a:p>
          <a:p>
            <a:pPr algn="ctr"/>
            <a:r>
              <a:rPr sz="850" b="0">
                <a:solidFill>
                  <a:srgbClr val="060606"/>
                </a:solidFill>
                <a:latin typeface="Helvetica"/>
              </a:rPr>
              <a:t>format réel, doublons</a:t>
            </a:r>
          </a:p>
        </p:txBody>
      </p:sp>
      <p:sp>
        <p:nvSpPr>
          <p:cNvPr id="33" name="Logigramme c3"/>
          <p:cNvSpPr/>
          <p:nvPr/>
        </p:nvSpPr>
        <p:spPr>
          <a:xfrm>
            <a:off x="3744000" y="1450800"/>
            <a:ext cx="1260000" cy="684000"/>
          </a:xfrm>
          <a:prstGeom prst="flowChartDecision">
            <a:avLst/>
          </a:prstGeom>
          <a:solidFill>
            <a:srgbClr val="EFAC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Fichier</a:t>
            </a:r>
          </a:p>
          <a:p>
            <a:pPr algn="ctr"/>
            <a:r>
              <a:rPr sz="800" b="0">
                <a:solidFill>
                  <a:srgbClr val="060606"/>
                </a:solidFill>
                <a:latin typeface="Helvetica"/>
              </a:rPr>
              <a:t>lisible ?</a:t>
            </a:r>
          </a:p>
        </p:txBody>
      </p:sp>
      <p:sp>
        <p:nvSpPr>
          <p:cNvPr id="34" name="Logigramme c4"/>
          <p:cNvSpPr/>
          <p:nvPr/>
        </p:nvSpPr>
        <p:spPr>
          <a:xfrm>
            <a:off x="3744000" y="2880000"/>
            <a:ext cx="1260000" cy="540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Liste des fichiers</a:t>
            </a:r>
          </a:p>
          <a:p>
            <a:pPr algn="ctr"/>
            <a:r>
              <a:rPr sz="850" b="0">
                <a:solidFill>
                  <a:srgbClr val="060606"/>
                </a:solidFill>
                <a:latin typeface="Helvetica"/>
              </a:rPr>
              <a:t>à renvoyer (PBC)</a:t>
            </a:r>
          </a:p>
        </p:txBody>
      </p:sp>
      <p:sp>
        <p:nvSpPr>
          <p:cNvPr id="35" name="Logigramme c5"/>
          <p:cNvSpPr/>
          <p:nvPr/>
        </p:nvSpPr>
        <p:spPr>
          <a:xfrm>
            <a:off x="5346000" y="1494000"/>
            <a:ext cx="1260000" cy="540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Extraction sans perte,</a:t>
            </a:r>
          </a:p>
          <a:p>
            <a:pPr algn="ctr"/>
            <a:r>
              <a:rPr sz="850" b="0">
                <a:solidFill>
                  <a:srgbClr val="060606"/>
                </a:solidFill>
                <a:latin typeface="Helvetica"/>
              </a:rPr>
              <a:t>empreinte numérique,</a:t>
            </a:r>
          </a:p>
          <a:p>
            <a:pPr algn="ctr"/>
            <a:r>
              <a:rPr sz="850" b="0">
                <a:solidFill>
                  <a:srgbClr val="060606"/>
                </a:solidFill>
                <a:latin typeface="Helvetica"/>
              </a:rPr>
              <a:t>scans lus par OCR</a:t>
            </a:r>
          </a:p>
        </p:txBody>
      </p:sp>
      <p:sp>
        <p:nvSpPr>
          <p:cNvPr id="36" name="Logigramme c6"/>
          <p:cNvSpPr/>
          <p:nvPr/>
        </p:nvSpPr>
        <p:spPr>
          <a:xfrm>
            <a:off x="6948000" y="1450800"/>
            <a:ext cx="1260000" cy="684000"/>
          </a:xfrm>
          <a:prstGeom prst="flowChartDecision">
            <a:avLst/>
          </a:prstGeom>
          <a:solidFill>
            <a:srgbClr val="EFAC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Lignes</a:t>
            </a:r>
          </a:p>
          <a:p>
            <a:pPr algn="ctr"/>
            <a:r>
              <a:rPr sz="800" b="0">
                <a:solidFill>
                  <a:srgbClr val="060606"/>
                </a:solidFill>
                <a:latin typeface="Helvetica"/>
              </a:rPr>
              <a:t>identiques ?</a:t>
            </a:r>
          </a:p>
        </p:txBody>
      </p:sp>
      <p:sp>
        <p:nvSpPr>
          <p:cNvPr id="37" name="Logigramme c7"/>
          <p:cNvSpPr/>
          <p:nvPr/>
        </p:nvSpPr>
        <p:spPr>
          <a:xfrm>
            <a:off x="8550000" y="1494000"/>
            <a:ext cx="1260000" cy="540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Base d'analyse</a:t>
            </a:r>
          </a:p>
          <a:p>
            <a:pPr algn="ctr"/>
            <a:r>
              <a:rPr sz="850" b="0">
                <a:solidFill>
                  <a:srgbClr val="060606"/>
                </a:solidFill>
                <a:latin typeface="Helvetica"/>
              </a:rPr>
              <a:t>4,45 millions de lignes</a:t>
            </a:r>
          </a:p>
        </p:txBody>
      </p:sp>
      <p:sp>
        <p:nvSpPr>
          <p:cNvPr id="38" name="Logigramme c8"/>
          <p:cNvSpPr/>
          <p:nvPr/>
        </p:nvSpPr>
        <p:spPr>
          <a:xfrm>
            <a:off x="10152000" y="1450800"/>
            <a:ext cx="1260000" cy="684000"/>
          </a:xfrm>
          <a:prstGeom prst="flowChartDecision">
            <a:avLst/>
          </a:prstGeom>
          <a:solidFill>
            <a:srgbClr val="EFAC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Total ou</a:t>
            </a:r>
          </a:p>
          <a:p>
            <a:pPr algn="ctr"/>
            <a:r>
              <a:rPr sz="800" b="0">
                <a:solidFill>
                  <a:srgbClr val="060606"/>
                </a:solidFill>
                <a:latin typeface="Helvetica"/>
              </a:rPr>
              <a:t>montant doublé ?</a:t>
            </a:r>
          </a:p>
        </p:txBody>
      </p:sp>
      <p:sp>
        <p:nvSpPr>
          <p:cNvPr id="39" name="Logigramme c9"/>
          <p:cNvSpPr/>
          <p:nvPr/>
        </p:nvSpPr>
        <p:spPr>
          <a:xfrm>
            <a:off x="10152000" y="2880000"/>
            <a:ext cx="1260000" cy="540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Journal des rejets</a:t>
            </a:r>
          </a:p>
          <a:p>
            <a:pPr algn="ctr"/>
            <a:r>
              <a:rPr sz="850" b="0">
                <a:solidFill>
                  <a:srgbClr val="060606"/>
                </a:solidFill>
                <a:latin typeface="Helvetica"/>
              </a:rPr>
              <a:t>et corrections</a:t>
            </a:r>
          </a:p>
        </p:txBody>
      </p:sp>
      <p:sp>
        <p:nvSpPr>
          <p:cNvPr id="40" name="Logigramme c10"/>
          <p:cNvSpPr/>
          <p:nvPr/>
        </p:nvSpPr>
        <p:spPr>
          <a:xfrm>
            <a:off x="8550000" y="2880000"/>
            <a:ext cx="1260000" cy="540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Contrôles : totaux,</a:t>
            </a:r>
          </a:p>
          <a:p>
            <a:pPr algn="ctr"/>
            <a:r>
              <a:rPr sz="850" b="0">
                <a:solidFill>
                  <a:srgbClr val="060606"/>
                </a:solidFill>
                <a:latin typeface="Helvetica"/>
              </a:rPr>
              <a:t>aller et retour,</a:t>
            </a:r>
          </a:p>
          <a:p>
            <a:pPr algn="ctr"/>
            <a:r>
              <a:rPr sz="850" b="0">
                <a:solidFill>
                  <a:srgbClr val="060606"/>
                </a:solidFill>
                <a:latin typeface="Helvetica"/>
              </a:rPr>
              <a:t>contrôles croisés</a:t>
            </a:r>
          </a:p>
        </p:txBody>
      </p:sp>
      <p:sp>
        <p:nvSpPr>
          <p:cNvPr id="41" name="Logigramme c11"/>
          <p:cNvSpPr/>
          <p:nvPr/>
        </p:nvSpPr>
        <p:spPr>
          <a:xfrm>
            <a:off x="6948000" y="2880000"/>
            <a:ext cx="1260000" cy="540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Analyses</a:t>
            </a:r>
          </a:p>
          <a:p>
            <a:pPr algn="ctr"/>
            <a:r>
              <a:rPr sz="850" b="0">
                <a:solidFill>
                  <a:srgbClr val="060606"/>
                </a:solidFill>
                <a:latin typeface="Helvetica"/>
              </a:rPr>
              <a:t>indicateurs, tests, ratios</a:t>
            </a:r>
          </a:p>
        </p:txBody>
      </p:sp>
      <p:sp>
        <p:nvSpPr>
          <p:cNvPr id="42" name="Logigramme c12"/>
          <p:cNvSpPr/>
          <p:nvPr/>
        </p:nvSpPr>
        <p:spPr>
          <a:xfrm>
            <a:off x="5346000" y="2880000"/>
            <a:ext cx="1260000" cy="540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Classeur des calculs :</a:t>
            </a:r>
          </a:p>
          <a:p>
            <a:pPr algn="ctr"/>
            <a:r>
              <a:rPr sz="850" b="0">
                <a:solidFill>
                  <a:srgbClr val="060606"/>
                </a:solidFill>
                <a:latin typeface="Helvetica"/>
              </a:rPr>
              <a:t>formules et contrôle</a:t>
            </a:r>
          </a:p>
          <a:p>
            <a:pPr algn="ctr"/>
            <a:r>
              <a:rPr sz="850" b="0">
                <a:solidFill>
                  <a:srgbClr val="060606"/>
                </a:solidFill>
                <a:latin typeface="Helvetica"/>
              </a:rPr>
              <a:t>au franc près</a:t>
            </a:r>
          </a:p>
        </p:txBody>
      </p:sp>
      <p:sp>
        <p:nvSpPr>
          <p:cNvPr id="43" name="Logigramme c13"/>
          <p:cNvSpPr/>
          <p:nvPr/>
        </p:nvSpPr>
        <p:spPr>
          <a:xfrm>
            <a:off x="5346000" y="4248000"/>
            <a:ext cx="1260000" cy="540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Rapport</a:t>
            </a:r>
          </a:p>
          <a:p>
            <a:pPr algn="ctr"/>
            <a:r>
              <a:rPr sz="850" b="0">
                <a:solidFill>
                  <a:srgbClr val="060606"/>
                </a:solidFill>
                <a:latin typeface="Helvetica"/>
              </a:rPr>
              <a:t>graphiques natifs</a:t>
            </a:r>
          </a:p>
        </p:txBody>
      </p:sp>
      <p:sp>
        <p:nvSpPr>
          <p:cNvPr id="44" name="Logigramme c14"/>
          <p:cNvSpPr/>
          <p:nvPr/>
        </p:nvSpPr>
        <p:spPr>
          <a:xfrm>
            <a:off x="6948000" y="4204800"/>
            <a:ext cx="1260000" cy="684000"/>
          </a:xfrm>
          <a:prstGeom prst="flowChartDecision">
            <a:avLst/>
          </a:prstGeom>
          <a:solidFill>
            <a:srgbClr val="EFAC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Chiffre</a:t>
            </a:r>
          </a:p>
          <a:p>
            <a:pPr algn="ctr"/>
            <a:r>
              <a:rPr sz="800" b="0">
                <a:solidFill>
                  <a:srgbClr val="060606"/>
                </a:solidFill>
                <a:latin typeface="Helvetica"/>
              </a:rPr>
              <a:t>exact ?</a:t>
            </a:r>
          </a:p>
        </p:txBody>
      </p:sp>
      <p:sp>
        <p:nvSpPr>
          <p:cNvPr id="45" name="Logigramme c15"/>
          <p:cNvSpPr/>
          <p:nvPr/>
        </p:nvSpPr>
        <p:spPr>
          <a:xfrm>
            <a:off x="8550000" y="4248000"/>
            <a:ext cx="1260000" cy="540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FFFFFF"/>
                </a:solidFill>
                <a:latin typeface="Helvetica"/>
              </a:rPr>
              <a:t>Livraison</a:t>
            </a:r>
          </a:p>
          <a:p>
            <a:pPr algn="ctr"/>
            <a:r>
              <a:rPr sz="850" b="1">
                <a:solidFill>
                  <a:srgbClr val="FFFFFF"/>
                </a:solidFill>
                <a:latin typeface="Helvetica"/>
              </a:rPr>
              <a:t>et traçabilité</a:t>
            </a:r>
          </a:p>
        </p:txBody>
      </p:sp>
      <p:cxnSp>
        <p:nvCxnSpPr>
          <p:cNvPr id="46" name="Flèche c1 vers c2"/>
          <p:cNvCxnSpPr>
            <a:stCxn id="31" idx="3"/>
            <a:endCxn id="32" idx="1"/>
          </p:cNvCxnSpPr>
          <p:nvPr/>
        </p:nvCxnSpPr>
        <p:spPr>
          <a:xfrm flipV="1">
            <a:off x="1800000" y="1764000"/>
            <a:ext cx="342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Flèche c2 vers c3"/>
          <p:cNvCxnSpPr>
            <a:stCxn id="32" idx="3"/>
            <a:endCxn id="33" idx="1"/>
          </p:cNvCxnSpPr>
          <p:nvPr/>
        </p:nvCxnSpPr>
        <p:spPr>
          <a:xfrm>
            <a:off x="3402000" y="1764000"/>
            <a:ext cx="342000" cy="288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Flèche c3 vers c4"/>
          <p:cNvCxnSpPr>
            <a:stCxn id="33" idx="2"/>
            <a:endCxn id="34" idx="0"/>
          </p:cNvCxnSpPr>
          <p:nvPr/>
        </p:nvCxnSpPr>
        <p:spPr>
          <a:xfrm flipH="1">
            <a:off x="4374000" y="2134800"/>
            <a:ext cx="0" cy="7452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4428000" y="2152800"/>
            <a:ext cx="864000" cy="162000"/>
          </a:xfrm>
          <a:prstGeom prst="rect">
            <a:avLst/>
          </a:prstGeom>
          <a:noFill/>
        </p:spPr>
        <p:txBody>
          <a:bodyPr wrap="square" anchor="t" lIns="28800" rIns="28800" tIns="10800" bIns="10800">
            <a:spAutoFit/>
          </a:bodyPr>
          <a:lstStyle/>
          <a:p>
            <a:pPr algn="l"/>
            <a:r>
              <a:rPr sz="700" b="1">
                <a:solidFill>
                  <a:srgbClr val="53565A"/>
                </a:solidFill>
                <a:latin typeface="Helvetica"/>
              </a:rPr>
              <a:t>non</a:t>
            </a:r>
          </a:p>
        </p:txBody>
      </p:sp>
      <p:cxnSp>
        <p:nvCxnSpPr>
          <p:cNvPr id="50" name="Flèche c3 vers c5"/>
          <p:cNvCxnSpPr>
            <a:stCxn id="33" idx="3"/>
            <a:endCxn id="35" idx="1"/>
          </p:cNvCxnSpPr>
          <p:nvPr/>
        </p:nvCxnSpPr>
        <p:spPr>
          <a:xfrm flipV="1">
            <a:off x="5004000" y="1764000"/>
            <a:ext cx="342000" cy="288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5047200" y="1612800"/>
            <a:ext cx="864000" cy="162000"/>
          </a:xfrm>
          <a:prstGeom prst="rect">
            <a:avLst/>
          </a:prstGeom>
          <a:noFill/>
        </p:spPr>
        <p:txBody>
          <a:bodyPr wrap="square" anchor="t" lIns="28800" rIns="28800" tIns="10800" bIns="10800">
            <a:spAutoFit/>
          </a:bodyPr>
          <a:lstStyle/>
          <a:p>
            <a:pPr algn="l"/>
            <a:r>
              <a:rPr sz="700" b="1">
                <a:solidFill>
                  <a:srgbClr val="53565A"/>
                </a:solidFill>
                <a:latin typeface="Helvetica"/>
              </a:rPr>
              <a:t>oui</a:t>
            </a:r>
          </a:p>
        </p:txBody>
      </p:sp>
      <p:cxnSp>
        <p:nvCxnSpPr>
          <p:cNvPr id="52" name="Flèche c5 vers c6"/>
          <p:cNvCxnSpPr>
            <a:stCxn id="35" idx="3"/>
            <a:endCxn id="36" idx="1"/>
          </p:cNvCxnSpPr>
          <p:nvPr/>
        </p:nvCxnSpPr>
        <p:spPr>
          <a:xfrm>
            <a:off x="6606000" y="1764000"/>
            <a:ext cx="342000" cy="288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3" name="Flèche c6 vers c5"/>
          <p:cNvCxnSpPr>
            <a:stCxn id="36" idx="0"/>
            <a:endCxn id="35" idx="0"/>
          </p:cNvCxnSpPr>
          <p:nvPr/>
        </p:nvCxnSpPr>
        <p:spPr>
          <a:xfrm flipH="1">
            <a:off x="5976000" y="1450800"/>
            <a:ext cx="1602000" cy="43200"/>
          </a:xfrm>
          <a:prstGeom prst="bentConnector3">
            <a:avLst/>
          </a:prstGeom>
          <a:ln w="22225">
            <a:solidFill>
              <a:srgbClr val="53565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7632000" y="1270800"/>
            <a:ext cx="864000" cy="162000"/>
          </a:xfrm>
          <a:prstGeom prst="rect">
            <a:avLst/>
          </a:prstGeom>
          <a:noFill/>
        </p:spPr>
        <p:txBody>
          <a:bodyPr wrap="square" anchor="t" lIns="28800" rIns="28800" tIns="10800" bIns="10800">
            <a:spAutoFit/>
          </a:bodyPr>
          <a:lstStyle/>
          <a:p>
            <a:pPr algn="l"/>
            <a:r>
              <a:rPr sz="700" b="1">
                <a:solidFill>
                  <a:srgbClr val="53565A"/>
                </a:solidFill>
                <a:latin typeface="Helvetica"/>
              </a:rPr>
              <a:t>non : refaire</a:t>
            </a:r>
          </a:p>
        </p:txBody>
      </p:sp>
      <p:cxnSp>
        <p:nvCxnSpPr>
          <p:cNvPr id="55" name="Flèche c6 vers c7"/>
          <p:cNvCxnSpPr>
            <a:stCxn id="36" idx="3"/>
            <a:endCxn id="37" idx="1"/>
          </p:cNvCxnSpPr>
          <p:nvPr/>
        </p:nvCxnSpPr>
        <p:spPr>
          <a:xfrm flipV="1">
            <a:off x="8208000" y="1764000"/>
            <a:ext cx="342000" cy="288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8251200" y="1612800"/>
            <a:ext cx="864000" cy="162000"/>
          </a:xfrm>
          <a:prstGeom prst="rect">
            <a:avLst/>
          </a:prstGeom>
          <a:noFill/>
        </p:spPr>
        <p:txBody>
          <a:bodyPr wrap="square" anchor="t" lIns="28800" rIns="28800" tIns="10800" bIns="10800">
            <a:spAutoFit/>
          </a:bodyPr>
          <a:lstStyle/>
          <a:p>
            <a:pPr algn="l"/>
            <a:r>
              <a:rPr sz="700" b="1">
                <a:solidFill>
                  <a:srgbClr val="53565A"/>
                </a:solidFill>
                <a:latin typeface="Helvetica"/>
              </a:rPr>
              <a:t>oui</a:t>
            </a:r>
          </a:p>
        </p:txBody>
      </p:sp>
      <p:cxnSp>
        <p:nvCxnSpPr>
          <p:cNvPr id="57" name="Flèche c7 vers c8"/>
          <p:cNvCxnSpPr>
            <a:stCxn id="37" idx="3"/>
            <a:endCxn id="38" idx="1"/>
          </p:cNvCxnSpPr>
          <p:nvPr/>
        </p:nvCxnSpPr>
        <p:spPr>
          <a:xfrm>
            <a:off x="9810000" y="1764000"/>
            <a:ext cx="342000" cy="288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8" name="Flèche c8 vers c9"/>
          <p:cNvCxnSpPr>
            <a:stCxn id="38" idx="3"/>
            <a:endCxn id="39" idx="3"/>
          </p:cNvCxnSpPr>
          <p:nvPr/>
        </p:nvCxnSpPr>
        <p:spPr>
          <a:xfrm flipH="1">
            <a:off x="11412000" y="1792800"/>
            <a:ext cx="0" cy="1357200"/>
          </a:xfrm>
          <a:prstGeom prst="bentConnector3">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11455200" y="1612800"/>
            <a:ext cx="864000" cy="162000"/>
          </a:xfrm>
          <a:prstGeom prst="rect">
            <a:avLst/>
          </a:prstGeom>
          <a:noFill/>
        </p:spPr>
        <p:txBody>
          <a:bodyPr wrap="square" anchor="t" lIns="28800" rIns="28800" tIns="10800" bIns="10800">
            <a:spAutoFit/>
          </a:bodyPr>
          <a:lstStyle/>
          <a:p>
            <a:pPr algn="l"/>
            <a:r>
              <a:rPr sz="700" b="1">
                <a:solidFill>
                  <a:srgbClr val="53565A"/>
                </a:solidFill>
                <a:latin typeface="Helvetica"/>
              </a:rPr>
              <a:t>oui</a:t>
            </a:r>
          </a:p>
        </p:txBody>
      </p:sp>
      <p:cxnSp>
        <p:nvCxnSpPr>
          <p:cNvPr id="60" name="Flèche c8 vers c10"/>
          <p:cNvCxnSpPr>
            <a:stCxn id="38" idx="2"/>
            <a:endCxn id="40" idx="0"/>
          </p:cNvCxnSpPr>
          <p:nvPr/>
        </p:nvCxnSpPr>
        <p:spPr>
          <a:xfrm flipH="1">
            <a:off x="9180000" y="2134800"/>
            <a:ext cx="1602000" cy="745200"/>
          </a:xfrm>
          <a:prstGeom prst="bentConnector3">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836000" y="2152800"/>
            <a:ext cx="864000" cy="162000"/>
          </a:xfrm>
          <a:prstGeom prst="rect">
            <a:avLst/>
          </a:prstGeom>
          <a:noFill/>
        </p:spPr>
        <p:txBody>
          <a:bodyPr wrap="square" anchor="t" lIns="28800" rIns="28800" tIns="10800" bIns="10800">
            <a:spAutoFit/>
          </a:bodyPr>
          <a:lstStyle/>
          <a:p>
            <a:pPr algn="l"/>
            <a:r>
              <a:rPr sz="700" b="1">
                <a:solidFill>
                  <a:srgbClr val="53565A"/>
                </a:solidFill>
                <a:latin typeface="Helvetica"/>
              </a:rPr>
              <a:t>non</a:t>
            </a:r>
          </a:p>
        </p:txBody>
      </p:sp>
      <p:cxnSp>
        <p:nvCxnSpPr>
          <p:cNvPr id="62" name="Flèche c9 vers c10"/>
          <p:cNvCxnSpPr>
            <a:stCxn id="39" idx="1"/>
            <a:endCxn id="40" idx="3"/>
          </p:cNvCxnSpPr>
          <p:nvPr/>
        </p:nvCxnSpPr>
        <p:spPr>
          <a:xfrm flipH="1" flipV="1">
            <a:off x="9810000" y="3150000"/>
            <a:ext cx="342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3" name="Flèche c10 vers c11"/>
          <p:cNvCxnSpPr>
            <a:stCxn id="40" idx="1"/>
            <a:endCxn id="41" idx="3"/>
          </p:cNvCxnSpPr>
          <p:nvPr/>
        </p:nvCxnSpPr>
        <p:spPr>
          <a:xfrm flipH="1" flipV="1">
            <a:off x="8208000" y="3150000"/>
            <a:ext cx="342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4" name="Flèche c11 vers c12"/>
          <p:cNvCxnSpPr>
            <a:stCxn id="41" idx="1"/>
            <a:endCxn id="42" idx="3"/>
          </p:cNvCxnSpPr>
          <p:nvPr/>
        </p:nvCxnSpPr>
        <p:spPr>
          <a:xfrm flipH="1" flipV="1">
            <a:off x="6606000" y="3150000"/>
            <a:ext cx="342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Flèche c12 vers c13"/>
          <p:cNvCxnSpPr>
            <a:stCxn id="42" idx="2"/>
            <a:endCxn id="43" idx="0"/>
          </p:cNvCxnSpPr>
          <p:nvPr/>
        </p:nvCxnSpPr>
        <p:spPr>
          <a:xfrm flipH="1">
            <a:off x="5976000" y="3420000"/>
            <a:ext cx="0" cy="8280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6" name="Flèche c13 vers c14"/>
          <p:cNvCxnSpPr>
            <a:stCxn id="43" idx="3"/>
            <a:endCxn id="44" idx="1"/>
          </p:cNvCxnSpPr>
          <p:nvPr/>
        </p:nvCxnSpPr>
        <p:spPr>
          <a:xfrm>
            <a:off x="6606000" y="4518000"/>
            <a:ext cx="342000" cy="288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7" name="Flèche c14 vers c15"/>
          <p:cNvCxnSpPr>
            <a:stCxn id="44" idx="3"/>
            <a:endCxn id="45" idx="1"/>
          </p:cNvCxnSpPr>
          <p:nvPr/>
        </p:nvCxnSpPr>
        <p:spPr>
          <a:xfrm flipV="1">
            <a:off x="8208000" y="4518000"/>
            <a:ext cx="342000" cy="288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8251200" y="4366800"/>
            <a:ext cx="864000" cy="162000"/>
          </a:xfrm>
          <a:prstGeom prst="rect">
            <a:avLst/>
          </a:prstGeom>
          <a:noFill/>
        </p:spPr>
        <p:txBody>
          <a:bodyPr wrap="square" anchor="t" lIns="28800" rIns="28800" tIns="10800" bIns="10800">
            <a:spAutoFit/>
          </a:bodyPr>
          <a:lstStyle/>
          <a:p>
            <a:pPr algn="l"/>
            <a:r>
              <a:rPr sz="700" b="1">
                <a:solidFill>
                  <a:srgbClr val="53565A"/>
                </a:solidFill>
                <a:latin typeface="Helvetica"/>
              </a:rPr>
              <a:t>oui</a:t>
            </a:r>
          </a:p>
        </p:txBody>
      </p:sp>
      <p:cxnSp>
        <p:nvCxnSpPr>
          <p:cNvPr id="69" name="Flèche c14 vers c13"/>
          <p:cNvCxnSpPr>
            <a:stCxn id="44" idx="0"/>
            <a:endCxn id="43" idx="0"/>
          </p:cNvCxnSpPr>
          <p:nvPr/>
        </p:nvCxnSpPr>
        <p:spPr>
          <a:xfrm flipH="1">
            <a:off x="5976000" y="4204800"/>
            <a:ext cx="1602000" cy="43200"/>
          </a:xfrm>
          <a:prstGeom prst="bentConnector3">
            <a:avLst/>
          </a:prstGeom>
          <a:ln w="22225">
            <a:solidFill>
              <a:srgbClr val="53565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7632000" y="4024800"/>
            <a:ext cx="864000" cy="162000"/>
          </a:xfrm>
          <a:prstGeom prst="rect">
            <a:avLst/>
          </a:prstGeom>
          <a:noFill/>
        </p:spPr>
        <p:txBody>
          <a:bodyPr wrap="square" anchor="t" lIns="28800" rIns="28800" tIns="10800" bIns="10800">
            <a:spAutoFit/>
          </a:bodyPr>
          <a:lstStyle/>
          <a:p>
            <a:pPr algn="l"/>
            <a:r>
              <a:rPr sz="700" b="1">
                <a:solidFill>
                  <a:srgbClr val="53565A"/>
                </a:solidFill>
                <a:latin typeface="Helvetica"/>
              </a:rPr>
              <a:t>non : corriger</a:t>
            </a:r>
          </a:p>
        </p:txBody>
      </p:sp>
      <p:sp>
        <p:nvSpPr>
          <p:cNvPr id="71" name="TextBox 70"/>
          <p:cNvSpPr txBox="1"/>
          <p:nvPr/>
        </p:nvSpPr>
        <p:spPr>
          <a:xfrm>
            <a:off x="503999" y="4878000"/>
            <a:ext cx="11232000" cy="990000"/>
          </a:xfrm>
          <a:prstGeom prst="rect">
            <a:avLst/>
          </a:prstGeom>
          <a:noFill/>
        </p:spPr>
        <p:txBody>
          <a:bodyPr wrap="square" lIns="54000" rIns="54000"/>
          <a:lstStyle/>
          <a:p>
            <a:pPr algn="just">
              <a:spcAft>
                <a:spcPts val="600"/>
              </a:spcAft>
            </a:pPr>
            <a:r>
              <a:rPr sz="1050" b="1">
                <a:solidFill>
                  <a:srgbClr val="060606"/>
                </a:solidFill>
                <a:latin typeface="Helvetica"/>
              </a:rPr>
              <a:t>Aucun chiffre n'entre dans le rapport sans avoir passé quatre contrôles.</a:t>
            </a:r>
            <a:r>
              <a:rPr sz="1050" b="0">
                <a:solidFill>
                  <a:srgbClr val="060606"/>
                </a:solidFill>
                <a:latin typeface="Helvetica"/>
              </a:rPr>
              <a:t> Un fichier illisible part dans la liste des fichiers à renvoyer, une conversion inexacte est refaite, une ligne de total ou un montant doublé est écarté et journalisé, et un chiffre affiché qui ne correspond pas à sa valeur exacte est corrigé.</a:t>
            </a:r>
          </a:p>
          <a:p>
            <a:pPr algn="just">
              <a:spcAft>
                <a:spcPts val="600"/>
              </a:spcAft>
            </a:pPr>
            <a:r>
              <a:rPr sz="1050" b="0">
                <a:solidFill>
                  <a:srgbClr val="060606"/>
                </a:solidFill>
                <a:latin typeface="Helvetica"/>
              </a:rPr>
              <a:t>Le FPPN peut retrouver, pour chaque chiffre du rapport, le fichier d'origine, les lignes écartées et le calcul : les écarts relevés peuvent être discutés sur pièces.</a:t>
            </a:r>
          </a:p>
        </p:txBody>
      </p:sp>
      <p:sp>
        <p:nvSpPr>
          <p:cNvPr id="72" name="TextBox 71"/>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PBC : liste des documents demandés au client | OCR : reconnaissance optique de caractères</a:t>
            </a:r>
          </a:p>
        </p:txBody>
      </p:sp>
    </p:spTree>
    <p:extLst>
      <p:ext uri="{BB962C8B-B14F-4D97-AF65-F5344CB8AC3E}">
        <p14:creationId xmlns:p14="http://schemas.microsoft.com/office/powerpoint/2010/main" val="2692084137"/>
      </p:ext>
    </p:extLst>
  </p:cSld>
  <p:clrMapOvr>
    <a:masterClrMapping/>
  </p:clrMapOvr>
  <p:transition>
    <p:fade/>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Google Shape;8651;p70"/>
          <p:cNvSpPr/>
          <p:nvPr/>
        </p:nvSpPr>
        <p:spPr>
          <a:xfrm>
            <a:off x="2013108" y="2588204"/>
            <a:ext cx="1380332" cy="1428252"/>
          </a:xfrm>
          <a:custGeom>
            <a:avLst/>
            <a:gdLst/>
            <a:ahLst/>
            <a:cxnLst/>
            <a:rect l="l" t="t" r="r" b="b"/>
            <a:pathLst>
              <a:path w="8670" h="8971" extrusionOk="0">
                <a:moveTo>
                  <a:pt x="7105" y="1302"/>
                </a:moveTo>
                <a:cubicBezTo>
                  <a:pt x="7105" y="1315"/>
                  <a:pt x="7105" y="1328"/>
                  <a:pt x="7105" y="1341"/>
                </a:cubicBezTo>
                <a:cubicBezTo>
                  <a:pt x="7118" y="1980"/>
                  <a:pt x="7183" y="2619"/>
                  <a:pt x="7183" y="3283"/>
                </a:cubicBezTo>
                <a:cubicBezTo>
                  <a:pt x="7170" y="4404"/>
                  <a:pt x="7183" y="5525"/>
                  <a:pt x="7222" y="6646"/>
                </a:cubicBezTo>
                <a:cubicBezTo>
                  <a:pt x="7235" y="6959"/>
                  <a:pt x="7222" y="7259"/>
                  <a:pt x="7222" y="7559"/>
                </a:cubicBezTo>
                <a:lnTo>
                  <a:pt x="7222" y="7585"/>
                </a:lnTo>
                <a:cubicBezTo>
                  <a:pt x="6935" y="7598"/>
                  <a:pt x="6649" y="7611"/>
                  <a:pt x="6362" y="7611"/>
                </a:cubicBezTo>
                <a:cubicBezTo>
                  <a:pt x="6101" y="7598"/>
                  <a:pt x="5853" y="7585"/>
                  <a:pt x="5593" y="7585"/>
                </a:cubicBezTo>
                <a:cubicBezTo>
                  <a:pt x="4159" y="7559"/>
                  <a:pt x="2712" y="7559"/>
                  <a:pt x="1291" y="7442"/>
                </a:cubicBezTo>
                <a:cubicBezTo>
                  <a:pt x="1278" y="7207"/>
                  <a:pt x="1239" y="6959"/>
                  <a:pt x="1226" y="6725"/>
                </a:cubicBezTo>
                <a:cubicBezTo>
                  <a:pt x="1200" y="6255"/>
                  <a:pt x="1187" y="5799"/>
                  <a:pt x="1200" y="5330"/>
                </a:cubicBezTo>
                <a:cubicBezTo>
                  <a:pt x="1213" y="4222"/>
                  <a:pt x="1226" y="3101"/>
                  <a:pt x="1343" y="1993"/>
                </a:cubicBezTo>
                <a:lnTo>
                  <a:pt x="1552" y="1993"/>
                </a:lnTo>
                <a:cubicBezTo>
                  <a:pt x="2138" y="1980"/>
                  <a:pt x="2725" y="1889"/>
                  <a:pt x="3312" y="1810"/>
                </a:cubicBezTo>
                <a:cubicBezTo>
                  <a:pt x="4576" y="1641"/>
                  <a:pt x="5840" y="1524"/>
                  <a:pt x="7105" y="1302"/>
                </a:cubicBezTo>
                <a:close/>
                <a:moveTo>
                  <a:pt x="7529" y="1"/>
                </a:moveTo>
                <a:cubicBezTo>
                  <a:pt x="7291" y="1"/>
                  <a:pt x="7059" y="53"/>
                  <a:pt x="6818" y="64"/>
                </a:cubicBezTo>
                <a:cubicBezTo>
                  <a:pt x="6375" y="103"/>
                  <a:pt x="5932" y="142"/>
                  <a:pt x="5488" y="194"/>
                </a:cubicBezTo>
                <a:cubicBezTo>
                  <a:pt x="4824" y="259"/>
                  <a:pt x="4107" y="350"/>
                  <a:pt x="3429" y="389"/>
                </a:cubicBezTo>
                <a:cubicBezTo>
                  <a:pt x="2686" y="429"/>
                  <a:pt x="1943" y="481"/>
                  <a:pt x="1213" y="598"/>
                </a:cubicBezTo>
                <a:cubicBezTo>
                  <a:pt x="913" y="624"/>
                  <a:pt x="652" y="728"/>
                  <a:pt x="509" y="976"/>
                </a:cubicBezTo>
                <a:cubicBezTo>
                  <a:pt x="470" y="1028"/>
                  <a:pt x="444" y="1080"/>
                  <a:pt x="431" y="1146"/>
                </a:cubicBezTo>
                <a:cubicBezTo>
                  <a:pt x="300" y="1524"/>
                  <a:pt x="287" y="1928"/>
                  <a:pt x="300" y="2332"/>
                </a:cubicBezTo>
                <a:cubicBezTo>
                  <a:pt x="209" y="3010"/>
                  <a:pt x="209" y="3700"/>
                  <a:pt x="209" y="4378"/>
                </a:cubicBezTo>
                <a:cubicBezTo>
                  <a:pt x="170" y="4769"/>
                  <a:pt x="144" y="5173"/>
                  <a:pt x="131" y="5565"/>
                </a:cubicBezTo>
                <a:cubicBezTo>
                  <a:pt x="105" y="6203"/>
                  <a:pt x="14" y="6842"/>
                  <a:pt x="14" y="7481"/>
                </a:cubicBezTo>
                <a:cubicBezTo>
                  <a:pt x="1" y="7911"/>
                  <a:pt x="157" y="8315"/>
                  <a:pt x="613" y="8419"/>
                </a:cubicBezTo>
                <a:cubicBezTo>
                  <a:pt x="1056" y="8550"/>
                  <a:pt x="1526" y="8524"/>
                  <a:pt x="1982" y="8550"/>
                </a:cubicBezTo>
                <a:cubicBezTo>
                  <a:pt x="2243" y="8563"/>
                  <a:pt x="2503" y="8589"/>
                  <a:pt x="2764" y="8615"/>
                </a:cubicBezTo>
                <a:cubicBezTo>
                  <a:pt x="3885" y="8745"/>
                  <a:pt x="5006" y="8902"/>
                  <a:pt x="6140" y="8941"/>
                </a:cubicBezTo>
                <a:cubicBezTo>
                  <a:pt x="6220" y="8945"/>
                  <a:pt x="6302" y="8946"/>
                  <a:pt x="6383" y="8946"/>
                </a:cubicBezTo>
                <a:cubicBezTo>
                  <a:pt x="6581" y="8946"/>
                  <a:pt x="6781" y="8937"/>
                  <a:pt x="6974" y="8928"/>
                </a:cubicBezTo>
                <a:cubicBezTo>
                  <a:pt x="7118" y="8941"/>
                  <a:pt x="7274" y="8941"/>
                  <a:pt x="7418" y="8941"/>
                </a:cubicBezTo>
                <a:cubicBezTo>
                  <a:pt x="7568" y="8956"/>
                  <a:pt x="7723" y="8971"/>
                  <a:pt x="7877" y="8971"/>
                </a:cubicBezTo>
                <a:cubicBezTo>
                  <a:pt x="7990" y="8971"/>
                  <a:pt x="8103" y="8963"/>
                  <a:pt x="8213" y="8941"/>
                </a:cubicBezTo>
                <a:cubicBezTo>
                  <a:pt x="8643" y="8810"/>
                  <a:pt x="8565" y="8093"/>
                  <a:pt x="8604" y="7741"/>
                </a:cubicBezTo>
                <a:cubicBezTo>
                  <a:pt x="8669" y="6620"/>
                  <a:pt x="8539" y="5499"/>
                  <a:pt x="8487" y="4378"/>
                </a:cubicBezTo>
                <a:cubicBezTo>
                  <a:pt x="8434" y="3453"/>
                  <a:pt x="8330" y="2527"/>
                  <a:pt x="8252" y="1589"/>
                </a:cubicBezTo>
                <a:cubicBezTo>
                  <a:pt x="8200" y="1341"/>
                  <a:pt x="8239" y="637"/>
                  <a:pt x="8096" y="350"/>
                </a:cubicBezTo>
                <a:lnTo>
                  <a:pt x="8082" y="350"/>
                </a:lnTo>
                <a:cubicBezTo>
                  <a:pt x="8056" y="181"/>
                  <a:pt x="7952" y="51"/>
                  <a:pt x="7704" y="11"/>
                </a:cubicBezTo>
                <a:cubicBezTo>
                  <a:pt x="7645" y="4"/>
                  <a:pt x="7587" y="1"/>
                  <a:pt x="7529" y="1"/>
                </a:cubicBezTo>
                <a:close/>
              </a:path>
            </a:pathLst>
          </a:custGeom>
          <a:solidFill>
            <a:schemeClr val="bg1"/>
          </a:solidFill>
          <a:ln w="76200">
            <a:solidFill>
              <a:schemeClr val="tx1"/>
            </a:solid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5" name="Rectangle 24">
            <a:extLst>
              <a:ext uri="{FF2B5EF4-FFF2-40B4-BE49-F238E27FC236}">
                <a16:creationId xmlns:a16="http://schemas.microsoft.com/office/drawing/2014/main" id="{9B9B23AA-050D-4543-80A0-873FE31AFFF7}"/>
              </a:ext>
            </a:extLst>
          </p:cNvPr>
          <p:cNvSpPr/>
          <p:nvPr/>
        </p:nvSpPr>
        <p:spPr>
          <a:xfrm>
            <a:off x="2446471" y="2869098"/>
            <a:ext cx="513606" cy="936923"/>
          </a:xfrm>
          <a:prstGeom prst="rect">
            <a:avLst/>
          </a:prstGeom>
        </p:spPr>
        <p:txBody>
          <a:bodyPr wrap="square" lIns="0" tIns="0" rIns="0" bIns="0">
            <a:spAutoFit/>
          </a:bodyPr>
          <a:lstStyle/>
          <a:p>
            <a:pPr lvl="0">
              <a:lnSpc>
                <a:spcPct val="110000"/>
              </a:lnSpc>
            </a:pPr>
            <a:r>
              <a:rPr lang="fr-CI" sz="60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3</a:t>
            </a:r>
          </a:p>
        </p:txBody>
      </p:sp>
      <p:sp>
        <p:nvSpPr>
          <p:cNvPr id="10" name="Rectangle 9"/>
          <p:cNvSpPr/>
          <p:nvPr/>
        </p:nvSpPr>
        <p:spPr>
          <a:xfrm>
            <a:off x="3938554" y="2462184"/>
            <a:ext cx="3816000" cy="1200329"/>
          </a:xfrm>
          <a:prstGeom prst="rect">
            <a:avLst/>
          </a:prstGeom>
        </p:spPr>
        <p:txBody>
          <a:bodyPr wrap="square">
            <a:spAutoFit/>
          </a:bodyPr>
          <a:lstStyle/>
          <a:p>
            <a:r>
              <a:rPr lang="fr-CI" sz="3600" b="1" noProof="0">
                <a:solidFill>
                  <a:schemeClr val="bg1"/>
                </a:solidFill>
                <a:latin typeface="Helvetica" panose="020B0604020202020204" pitchFamily="34" charset="0"/>
                <a:cs typeface="Helvetica" panose="020B0604020202020204" pitchFamily="34" charset="0"/>
              </a:rPr>
              <a:t>Données et qualité</a:t>
            </a:r>
          </a:p>
        </p:txBody>
      </p:sp>
      <p:pic>
        <p:nvPicPr>
          <p:cNvPr id="9" name="Image 8">
            <a:extLst>
              <a:ext uri="{FF2B5EF4-FFF2-40B4-BE49-F238E27FC236}">
                <a16:creationId xmlns:a16="http://schemas.microsoft.com/office/drawing/2014/main" id="{2C356854-0685-DCEF-E2F6-65D5E9653A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1274" y="-185107"/>
            <a:ext cx="3179518" cy="1268781"/>
          </a:xfrm>
          <a:prstGeom prst="rect">
            <a:avLst/>
          </a:prstGeom>
        </p:spPr>
      </p:pic>
      <p:sp>
        <p:nvSpPr>
          <p:cNvPr id="6" name="Rectangle 5"/>
          <p:cNvSpPr/>
          <p:nvPr/>
        </p:nvSpPr>
        <p:spPr>
          <a:xfrm>
            <a:off x="3938554" y="3337559"/>
            <a:ext cx="3816000" cy="923330"/>
          </a:xfrm>
          <a:prstGeom prst="rect">
            <a:avLst/>
          </a:prstGeom>
        </p:spPr>
        <p:txBody>
          <a:bodyPr wrap="square">
            <a:spAutoFit/>
          </a:bodyPr>
          <a:lstStyle/>
          <a:p>
            <a:br>
              <a:rPr lang="fr-CI" noProof="0">
                <a:solidFill>
                  <a:schemeClr val="bg1"/>
                </a:solidFill>
              </a:rPr>
            </a:br>
            <a:r>
              <a:rPr lang="fr-CI" noProof="0">
                <a:solidFill>
                  <a:srgbClr val="EFAC62"/>
                </a:solidFill>
                <a:latin typeface="Helvetica" panose="020B0604020202020204" pitchFamily="34" charset="0"/>
                <a:ea typeface="Open Sans Light" panose="020B0306030504020204" pitchFamily="34" charset="0"/>
                <a:cs typeface="Helvetica" panose="020B0604020202020204" pitchFamily="34" charset="0"/>
              </a:rPr>
              <a:t>Couverture, contrôles, anomalies détectées</a:t>
            </a:r>
          </a:p>
        </p:txBody>
      </p:sp>
      <p:pic>
        <p:nvPicPr>
          <p:cNvPr id="11" name="Imag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5561" y="2415481"/>
            <a:ext cx="1566911" cy="1600975"/>
          </a:xfrm>
          <a:prstGeom prst="rect">
            <a:avLst/>
          </a:prstGeom>
        </p:spPr>
      </p:pic>
    </p:spTree>
    <p:extLst>
      <p:ext uri="{BB962C8B-B14F-4D97-AF65-F5344CB8AC3E}">
        <p14:creationId xmlns:p14="http://schemas.microsoft.com/office/powerpoint/2010/main" val="1391319207"/>
      </p:ext>
    </p:extLst>
  </p:cSld>
  <p:clrMapOvr>
    <a:masterClrMapping/>
  </p:clrMapOvr>
  <p:transition>
    <p:fade/>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7" name="Image 36"/>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3" name="Rectangle 22">
            <a:extLst>
              <a:ext uri="{FF2B5EF4-FFF2-40B4-BE49-F238E27FC236}">
                <a16:creationId xmlns:a16="http://schemas.microsoft.com/office/drawing/2014/main" id="{4CD23CFE-3F31-4BA9-B26F-B9B5B351518E}"/>
              </a:ext>
            </a:extLst>
          </p:cNvPr>
          <p:cNvSpPr/>
          <p:nvPr/>
        </p:nvSpPr>
        <p:spPr>
          <a:xfrm>
            <a:off x="2106184" y="1811264"/>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Exhaustivité</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Adenka calcule l'empreinte numérique de chaque fichier et compte lignes et cellules avant et après conversion : 218 fichiers copiés et 491 feuilles converties sont identiques.</a:t>
            </a:r>
          </a:p>
        </p:txBody>
      </p:sp>
      <p:sp>
        <p:nvSpPr>
          <p:cNvPr id="28" name="Rectangle 27">
            <a:extLst>
              <a:ext uri="{FF2B5EF4-FFF2-40B4-BE49-F238E27FC236}">
                <a16:creationId xmlns:a16="http://schemas.microsoft.com/office/drawing/2014/main" id="{9B9B23AA-050D-4543-80A0-873FE31AFFF7}"/>
              </a:ext>
            </a:extLst>
          </p:cNvPr>
          <p:cNvSpPr/>
          <p:nvPr/>
        </p:nvSpPr>
        <p:spPr>
          <a:xfrm>
            <a:off x="1538714" y="1463475"/>
            <a:ext cx="5748535" cy="166944"/>
          </a:xfrm>
          <a:prstGeom prst="rect">
            <a:avLst/>
          </a:prstGeom>
        </p:spPr>
        <p:txBody>
          <a:bodyPr wrap="square" lIns="0" tIns="0" rIns="0" bIns="0">
            <a:sp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
            </a:r>
          </a:p>
        </p:txBody>
      </p:sp>
      <p:cxnSp>
        <p:nvCxnSpPr>
          <p:cNvPr id="29" name="Straight Connector 28">
            <a:extLst>
              <a:ext uri="{FF2B5EF4-FFF2-40B4-BE49-F238E27FC236}">
                <a16:creationId xmlns:a16="http://schemas.microsoft.com/office/drawing/2014/main" id="{09E553D9-3562-45A7-BE4B-0F12FAA0490F}"/>
              </a:ext>
            </a:extLst>
          </p:cNvPr>
          <p:cNvCxnSpPr>
            <a:cxnSpLocks/>
          </p:cNvCxnSpPr>
          <p:nvPr/>
        </p:nvCxnSpPr>
        <p:spPr>
          <a:xfrm>
            <a:off x="916803" y="1707866"/>
            <a:ext cx="0" cy="3668091"/>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DA735D38-741F-4EFB-826C-6F87FD459AB4}"/>
              </a:ext>
            </a:extLst>
          </p:cNvPr>
          <p:cNvCxnSpPr/>
          <p:nvPr/>
        </p:nvCxnSpPr>
        <p:spPr>
          <a:xfrm>
            <a:off x="916803" y="2291826"/>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EBCFE36B-AE16-49E8-90A6-6621A0EB0473}"/>
              </a:ext>
            </a:extLst>
          </p:cNvPr>
          <p:cNvCxnSpPr/>
          <p:nvPr/>
        </p:nvCxnSpPr>
        <p:spPr>
          <a:xfrm>
            <a:off x="916803" y="3273370"/>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2697F6E2-C26B-4E5F-B7F9-95C6E9325040}"/>
              </a:ext>
            </a:extLst>
          </p:cNvPr>
          <p:cNvCxnSpPr/>
          <p:nvPr/>
        </p:nvCxnSpPr>
        <p:spPr>
          <a:xfrm>
            <a:off x="916803" y="5368324"/>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4CD23CFE-3F31-4BA9-B26F-B9B5B351518E}"/>
              </a:ext>
            </a:extLst>
          </p:cNvPr>
          <p:cNvSpPr/>
          <p:nvPr/>
        </p:nvSpPr>
        <p:spPr>
          <a:xfrm>
            <a:off x="2103510" y="2847523"/>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Cohérence interne</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Les totaux imprimés par les logiciels sont retrouvés dans les 37 balances âgées du Grenier, et les débits égalent les crédits dans les 7 exercices comptables.</a:t>
            </a:r>
          </a:p>
        </p:txBody>
      </p:sp>
      <p:sp>
        <p:nvSpPr>
          <p:cNvPr id="33" name="Rectangle 32">
            <a:extLst>
              <a:ext uri="{FF2B5EF4-FFF2-40B4-BE49-F238E27FC236}">
                <a16:creationId xmlns:a16="http://schemas.microsoft.com/office/drawing/2014/main" id="{4CD23CFE-3F31-4BA9-B26F-B9B5B351518E}"/>
              </a:ext>
            </a:extLst>
          </p:cNvPr>
          <p:cNvSpPr/>
          <p:nvPr/>
        </p:nvSpPr>
        <p:spPr>
          <a:xfrm>
            <a:off x="2125344" y="3881185"/>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Rapprochement</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Deux sources qui décrivent le même flux doivent concorder : le taux de précompte rapporte le montant retour au montant aller, poste par poste et mois par mois.</a:t>
            </a:r>
          </a:p>
        </p:txBody>
      </p:sp>
      <p:sp>
        <p:nvSpPr>
          <p:cNvPr id="34" name="Rectangle 33">
            <a:extLst>
              <a:ext uri="{FF2B5EF4-FFF2-40B4-BE49-F238E27FC236}">
                <a16:creationId xmlns:a16="http://schemas.microsoft.com/office/drawing/2014/main" id="{4CD23CFE-3F31-4BA9-B26F-B9B5B351518E}"/>
              </a:ext>
            </a:extLst>
          </p:cNvPr>
          <p:cNvSpPr/>
          <p:nvPr/>
        </p:nvSpPr>
        <p:spPr>
          <a:xfrm>
            <a:off x="2122670" y="4917444"/>
            <a:ext cx="9685766" cy="901761"/>
          </a:xfrm>
          <a:prstGeom prst="rect">
            <a:avLst/>
          </a:prstGeom>
          <a:ln w="12700">
            <a:solidFill>
              <a:srgbClr val="112A40"/>
            </a:solidFill>
          </a:ln>
        </p:spPr>
        <p:txBody>
          <a:bodyPr wrap="square" lIns="162000" tIns="54000" rIns="72000" bIns="54000" anchor="ctr">
            <a:noAutofit/>
          </a:bodyPr>
          <a:lstStyle/>
          <a:p>
            <a:pPr lvl="1">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Limite</a:t>
            </a:r>
          </a:p>
          <a:p>
            <a:pPr lvl="1">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Ces contrôles prouvent que la base est fidèle aux fichiers reçus. Ils ne prouvent pas que les fichiers du FPPN sont eux-mêmes exacts.</a:t>
            </a:r>
            <a:endParaRPr lang="fr-CI" sz="1200">
              <a:latin typeface="Helvetica" panose="020B0604020202020204" pitchFamily="34" charset="0"/>
              <a:ea typeface="Open Sans Light" panose="020B0306030504020204" pitchFamily="34" charset="0"/>
              <a:cs typeface="Helvetica" panose="020B0604020202020204" pitchFamily="34" charset="0"/>
            </a:endParaRPr>
          </a:p>
        </p:txBody>
      </p:sp>
      <p:cxnSp>
        <p:nvCxnSpPr>
          <p:cNvPr id="39" name="Straight Connector 30">
            <a:extLst>
              <a:ext uri="{FF2B5EF4-FFF2-40B4-BE49-F238E27FC236}">
                <a16:creationId xmlns:a16="http://schemas.microsoft.com/office/drawing/2014/main" id="{EBCFE36B-AE16-49E8-90A6-6621A0EB0473}"/>
              </a:ext>
            </a:extLst>
          </p:cNvPr>
          <p:cNvCxnSpPr/>
          <p:nvPr/>
        </p:nvCxnSpPr>
        <p:spPr>
          <a:xfrm>
            <a:off x="919504" y="4326976"/>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grpSp>
        <p:nvGrpSpPr>
          <p:cNvPr id="11" name="Groupe 10"/>
          <p:cNvGrpSpPr/>
          <p:nvPr/>
        </p:nvGrpSpPr>
        <p:grpSpPr>
          <a:xfrm>
            <a:off x="1554870" y="2047565"/>
            <a:ext cx="548640" cy="548640"/>
            <a:chOff x="-1153645" y="1535690"/>
            <a:chExt cx="548640" cy="548640"/>
          </a:xfrm>
        </p:grpSpPr>
        <p:sp>
          <p:nvSpPr>
            <p:cNvPr id="36" name="Oval 21">
              <a:extLst>
                <a:ext uri="{FF2B5EF4-FFF2-40B4-BE49-F238E27FC236}">
                  <a16:creationId xmlns:a16="http://schemas.microsoft.com/office/drawing/2014/main" id="{7BB796F0-2DE6-45B1-851B-D8991F423CF4}"/>
                </a:ext>
              </a:extLst>
            </p:cNvPr>
            <p:cNvSpPr/>
            <p:nvPr/>
          </p:nvSpPr>
          <p:spPr bwMode="gray">
            <a:xfrm>
              <a:off x="-1153645" y="1535690"/>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40" name="Image 3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3163" y="1564148"/>
              <a:ext cx="486259" cy="491723"/>
            </a:xfrm>
            <a:prstGeom prst="rect">
              <a:avLst/>
            </a:prstGeom>
          </p:spPr>
        </p:pic>
      </p:grpSp>
      <p:grpSp>
        <p:nvGrpSpPr>
          <p:cNvPr id="12" name="Groupe 11"/>
          <p:cNvGrpSpPr/>
          <p:nvPr/>
        </p:nvGrpSpPr>
        <p:grpSpPr>
          <a:xfrm>
            <a:off x="1557425" y="3008849"/>
            <a:ext cx="548640" cy="548640"/>
            <a:chOff x="-1154302" y="2719457"/>
            <a:chExt cx="548640" cy="548640"/>
          </a:xfrm>
        </p:grpSpPr>
        <p:sp>
          <p:nvSpPr>
            <p:cNvPr id="42" name="Oval 21">
              <a:extLst>
                <a:ext uri="{FF2B5EF4-FFF2-40B4-BE49-F238E27FC236}">
                  <a16:creationId xmlns:a16="http://schemas.microsoft.com/office/drawing/2014/main" id="{7BB796F0-2DE6-45B1-851B-D8991F423CF4}"/>
                </a:ext>
              </a:extLst>
            </p:cNvPr>
            <p:cNvSpPr/>
            <p:nvPr/>
          </p:nvSpPr>
          <p:spPr bwMode="gray">
            <a:xfrm>
              <a:off x="-1154302" y="2719457"/>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7" name="Imag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4901" y="2781886"/>
              <a:ext cx="396274" cy="396274"/>
            </a:xfrm>
            <a:prstGeom prst="rect">
              <a:avLst/>
            </a:prstGeom>
          </p:spPr>
        </p:pic>
      </p:grpSp>
      <p:grpSp>
        <p:nvGrpSpPr>
          <p:cNvPr id="13" name="Groupe 12"/>
          <p:cNvGrpSpPr/>
          <p:nvPr/>
        </p:nvGrpSpPr>
        <p:grpSpPr>
          <a:xfrm>
            <a:off x="1567381" y="4044725"/>
            <a:ext cx="548640" cy="552951"/>
            <a:chOff x="-1185544" y="4122202"/>
            <a:chExt cx="548640" cy="552951"/>
          </a:xfrm>
        </p:grpSpPr>
        <p:sp>
          <p:nvSpPr>
            <p:cNvPr id="44" name="Oval 21">
              <a:extLst>
                <a:ext uri="{FF2B5EF4-FFF2-40B4-BE49-F238E27FC236}">
                  <a16:creationId xmlns:a16="http://schemas.microsoft.com/office/drawing/2014/main" id="{7BB796F0-2DE6-45B1-851B-D8991F423CF4}"/>
                </a:ext>
              </a:extLst>
            </p:cNvPr>
            <p:cNvSpPr/>
            <p:nvPr/>
          </p:nvSpPr>
          <p:spPr bwMode="gray">
            <a:xfrm>
              <a:off x="-1185544" y="4122202"/>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8" name="Image 7"/>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71838" y="4144755"/>
              <a:ext cx="524301" cy="530398"/>
            </a:xfrm>
            <a:prstGeom prst="rect">
              <a:avLst/>
            </a:prstGeom>
          </p:spPr>
        </p:pic>
      </p:grpSp>
      <p:grpSp>
        <p:nvGrpSpPr>
          <p:cNvPr id="14" name="Groupe 13"/>
          <p:cNvGrpSpPr/>
          <p:nvPr/>
        </p:nvGrpSpPr>
        <p:grpSpPr>
          <a:xfrm>
            <a:off x="1567381" y="5111071"/>
            <a:ext cx="548640" cy="548640"/>
            <a:chOff x="-1227267" y="5286500"/>
            <a:chExt cx="548640" cy="548640"/>
          </a:xfrm>
        </p:grpSpPr>
        <p:sp>
          <p:nvSpPr>
            <p:cNvPr id="45" name="Oval 21">
              <a:extLst>
                <a:ext uri="{FF2B5EF4-FFF2-40B4-BE49-F238E27FC236}">
                  <a16:creationId xmlns:a16="http://schemas.microsoft.com/office/drawing/2014/main" id="{7BB796F0-2DE6-45B1-851B-D8991F423CF4}"/>
                </a:ext>
              </a:extLst>
            </p:cNvPr>
            <p:cNvSpPr/>
            <p:nvPr/>
          </p:nvSpPr>
          <p:spPr bwMode="gray">
            <a:xfrm>
              <a:off x="-1227267" y="5286500"/>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9" name="Image 8"/>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71838" y="5346402"/>
              <a:ext cx="422834" cy="432026"/>
            </a:xfrm>
            <a:prstGeom prst="rect">
              <a:avLst/>
            </a:prstGeom>
          </p:spPr>
        </p:pic>
      </p:grpSp>
      <p:sp>
        <p:nvSpPr>
          <p:cNvPr id="50" name="ZoneTexte 49">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pic>
        <p:nvPicPr>
          <p:cNvPr id="51" name="Image 50"/>
          <p:cNvPicPr>
            <a:picLocks noChangeAspect="1"/>
          </p:cNvPicPr>
          <p:nvPr/>
        </p:nvPicPr>
        <p:blipFill rotWithShape="1">
          <a:blip r:embed="rId7" cstate="print">
            <a:extLst>
              <a:ext uri="{28A0092B-C50C-407E-A947-70E740481C1C}">
                <a14:useLocalDpi xmlns:a14="http://schemas.microsoft.com/office/drawing/2010/main" val="0"/>
              </a:ext>
            </a:extLst>
          </a:blip>
          <a:srcRect l="4260" t="13024" r="74155" b="14121"/>
          <a:stretch/>
        </p:blipFill>
        <p:spPr>
          <a:xfrm>
            <a:off x="702475" y="1350400"/>
            <a:ext cx="392679" cy="406703"/>
          </a:xfrm>
          <a:prstGeom prst="rect">
            <a:avLst/>
          </a:prstGeom>
        </p:spPr>
      </p:pic>
      <p:sp>
        <p:nvSpPr>
          <p:cNvPr id="52"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Méthode : contrôle des données</a:t>
            </a:r>
          </a:p>
        </p:txBody>
      </p:sp>
      <p:sp>
        <p:nvSpPr>
          <p:cNvPr id="53"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Trois contrôles garantissent que la base reproduit fidèlement les fichiers</a:t>
            </a:r>
          </a:p>
        </p:txBody>
      </p:sp>
      <p:sp>
        <p:nvSpPr>
          <p:cNvPr id="54"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Exhaustivité, cohérence interne et rapprochement entre sources indépendantes, puis une limite assumée</a:t>
            </a:r>
          </a:p>
        </p:txBody>
      </p:sp>
      <p:sp>
        <p:nvSpPr>
          <p:cNvPr id="55"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Adenka</a:t>
            </a:r>
          </a:p>
        </p:txBody>
      </p:sp>
      <p:sp>
        <p:nvSpPr>
          <p:cNvPr id="56" name="TextBox 5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3923676554"/>
      </p:ext>
    </p:extLst>
  </p:cSld>
  <p:clrMapOvr>
    <a:masterClrMapping/>
  </p:clrMapOvr>
  <p:transition>
    <p:fade/>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Couverture de la période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données mensuelles ne couvrent pas les années 2020 à 2022</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Sur 80 mois, seuls la comptabilité et le PEP sont complets. Aucune donnée de prestations n'a été reçue</a:t>
            </a:r>
          </a:p>
        </p:txBody>
      </p:sp>
      <p:sp>
        <p:nvSpPr>
          <p:cNvPr id="30" name="TextBox 29"/>
          <p:cNvSpPr txBox="1"/>
          <p:nvPr/>
        </p:nvSpPr>
        <p:spPr>
          <a:xfrm>
            <a:off x="503999" y="1386000"/>
            <a:ext cx="5976000" cy="251999"/>
          </a:xfrm>
          <a:prstGeom prst="rect">
            <a:avLst/>
          </a:prstGeom>
          <a:noFill/>
        </p:spPr>
        <p:txBody>
          <a:bodyPr wrap="square">
            <a:spAutoFit/>
          </a:bodyPr>
          <a:lstStyle/>
          <a:p>
            <a:pPr algn="ctr">
              <a:spcAft>
                <a:spcPts val="0"/>
              </a:spcAft>
            </a:pPr>
            <a:r>
              <a:rPr sz="1200" b="0">
                <a:solidFill>
                  <a:srgbClr val="EFAC62"/>
                </a:solidFill>
                <a:latin typeface="Helvetica"/>
              </a:rPr>
              <a:t>Figure 6 : Mois reçus par flux de données, sur 80 mois</a:t>
            </a:r>
          </a:p>
        </p:txBody>
      </p:sp>
      <p:sp>
        <p:nvSpPr>
          <p:cNvPr id="31" name="TextBox 30"/>
          <p:cNvSpPr txBox="1"/>
          <p:nvPr/>
        </p:nvSpPr>
        <p:spPr>
          <a:xfrm>
            <a:off x="503999" y="1602000"/>
            <a:ext cx="5976000" cy="162000"/>
          </a:xfrm>
          <a:prstGeom prst="rect">
            <a:avLst/>
          </a:prstGeom>
          <a:noFill/>
        </p:spPr>
        <p:txBody>
          <a:bodyPr wrap="square">
            <a:spAutoFit/>
          </a:bodyPr>
          <a:lstStyle/>
          <a:p>
            <a:pPr algn="l">
              <a:spcAft>
                <a:spcPts val="0"/>
              </a:spcAft>
            </a:pPr>
            <a:r>
              <a:rPr sz="900" b="0">
                <a:solidFill>
                  <a:srgbClr val="060606"/>
                </a:solidFill>
                <a:latin typeface="Helvetica"/>
              </a:rPr>
              <a:t>En nombre de mois (janvier 2020 à août 2026)</a:t>
            </a:r>
          </a:p>
        </p:txBody>
      </p:sp>
      <p:graphicFrame>
        <p:nvGraphicFramePr>
          <p:cNvPr id="32" name="Chart 31"/>
          <p:cNvGraphicFramePr>
            <a:graphicFrameLocks noGrp="1"/>
          </p:cNvGraphicFramePr>
          <p:nvPr/>
        </p:nvGraphicFramePr>
        <p:xfrm>
          <a:off x="503999" y="1782000"/>
          <a:ext cx="5976000" cy="3744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fichiers de précomptes de la Solde, de la CGRAE et du FPPN reçus le 15/10/2026 (dossiers « FPPN-SOLDE », « FPPN-CGRAE », « FPPN-GNA », noms exacts en annexe « Fichiers sources »). Traitements Adenka</a:t>
            </a:r>
          </a:p>
        </p:txBody>
      </p:sp>
      <p:sp>
        <p:nvSpPr>
          <p:cNvPr id="34" name="TextBox 33"/>
          <p:cNvSpPr txBox="1"/>
          <p:nvPr/>
        </p:nvSpPr>
        <p:spPr>
          <a:xfrm>
            <a:off x="6696000" y="1440000"/>
            <a:ext cx="5040000" cy="4428000"/>
          </a:xfrm>
          <a:prstGeom prst="rect">
            <a:avLst/>
          </a:prstGeom>
          <a:noFill/>
        </p:spPr>
        <p:txBody>
          <a:bodyPr wrap="square" lIns="54000" rIns="54000"/>
          <a:lstStyle/>
          <a:p>
            <a:pPr algn="just">
              <a:spcAft>
                <a:spcPts val="600"/>
              </a:spcAft>
            </a:pPr>
            <a:r>
              <a:rPr sz="1400" b="1">
                <a:solidFill>
                  <a:srgbClr val="060606"/>
                </a:solidFill>
                <a:latin typeface="Helvetica"/>
              </a:rPr>
              <a:t>Seules la comptabilité et l'épargne PEP couvrent toute la période d'analyse.</a:t>
            </a:r>
            <a:r>
              <a:rPr sz="1400" b="0">
                <a:solidFill>
                  <a:srgbClr val="060606"/>
                </a:solidFill>
                <a:latin typeface="Helvetica"/>
              </a:rPr>
              <a:t> La comptabilité donne des totaux annuels. Les fichiers texte de la Solde donnent le PEP par mutualiste et par mois de 2020 à 2022.</a:t>
            </a:r>
          </a:p>
          <a:p>
            <a:pPr algn="just">
              <a:spcAft>
                <a:spcPts val="600"/>
              </a:spcAft>
            </a:pPr>
            <a:r>
              <a:rPr sz="1400" b="1">
                <a:solidFill>
                  <a:srgbClr val="060606"/>
                </a:solidFill>
                <a:latin typeface="Helvetica"/>
              </a:rPr>
              <a:t>Les précomptes mensuels commencent en 2023 ou en 2024.</a:t>
            </a:r>
            <a:r>
              <a:rPr sz="1400" b="0">
                <a:solidFill>
                  <a:srgbClr val="060606"/>
                </a:solidFill>
                <a:latin typeface="Helvetica"/>
              </a:rPr>
              <a:t> Les fichiers maladie et décès débutent en janvier 2024, ceux des retraités en février 2024 et ceux de l'EFC en janvier 2023.</a:t>
            </a:r>
          </a:p>
          <a:p>
            <a:pPr algn="just">
              <a:spcAft>
                <a:spcPts val="600"/>
              </a:spcAft>
            </a:pPr>
            <a:r>
              <a:rPr sz="1400" b="1">
                <a:solidFill>
                  <a:srgbClr val="060606"/>
                </a:solidFill>
                <a:latin typeface="Helvetica"/>
              </a:rPr>
              <a:t>Aucune base de prestations n'a été transmise.</a:t>
            </a:r>
            <a:r>
              <a:rPr sz="1400" b="0">
                <a:solidFill>
                  <a:srgbClr val="060606"/>
                </a:solidFill>
                <a:latin typeface="Helvetica"/>
              </a:rPr>
              <a:t> Le coût des soins et des décès n'est connu que par les comptes, sans date de survenance ni bénéficiaire.</a:t>
            </a:r>
          </a:p>
          <a:p>
            <a:pPr algn="just">
              <a:spcAft>
                <a:spcPts val="600"/>
              </a:spcAft>
            </a:pPr>
            <a:r>
              <a:rPr sz="1400" b="0">
                <a:solidFill>
                  <a:srgbClr val="060606"/>
                </a:solidFill>
                <a:latin typeface="Helvetica"/>
              </a:rPr>
              <a:t>Les analyses mensuelles portent sur 2024 à 2026, et les années 2020 à 2023 ne peuvent être analysées qu'en totaux comptables. Les conclusions sur l'évolution de la sinistralité restent donc fragiles tant que les bases de prestations ne sont pas reçues.</a:t>
            </a:r>
          </a:p>
        </p:txBody>
      </p:sp>
      <p:sp>
        <p:nvSpPr>
          <p:cNvPr id="35" name="TextBox 34"/>
          <p:cNvSpPr txBox="1"/>
          <p:nvPr/>
        </p:nvSpPr>
        <p:spPr>
          <a:xfrm>
            <a:off x="503999" y="5526000"/>
            <a:ext cx="5976000" cy="306000"/>
          </a:xfrm>
          <a:prstGeom prst="rect">
            <a:avLst/>
          </a:prstGeom>
          <a:noFill/>
        </p:spPr>
        <p:txBody>
          <a:bodyPr wrap="square" anchor="t" lIns="54000" rIns="54000"/>
          <a:lstStyle/>
          <a:p>
            <a:pPr algn="l"/>
            <a:r>
              <a:rPr sz="850" b="0">
                <a:solidFill>
                  <a:srgbClr val="53565A"/>
                </a:solidFill>
                <a:latin typeface="Helvetica"/>
              </a:rPr>
              <a:t>Valable pour : fichiers de précomptes reçus le 15/10/2026, par poste et par mois, de janvier 2020 à août 2026 (80 mois). Un mois est « reçu » si au moins un fichier lisible le couvre.</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Sigles : FPPN : Fonds de prévoyance de la Police nationale | CGRAE : Caisse générale de retraite des agents de l'État | PEP : Plan Épargne Plus | EFC : entraide fin de carrière | GNA : assureur de la flotte automobile (compte 47111106) | MEDOC : produit santé complémentaire du poste 8Z7 | 936 : poste maladie | 8Z6 : poste décès | 870 : poste EFC | 998 : poste PEP | 9X4 : poste Grenier | 9W3 : poste flotte automobile | 8Z7 : poste MEDOC</a:t>
            </a:r>
          </a:p>
        </p:txBody>
      </p:sp>
    </p:spTree>
    <p:extLst>
      <p:ext uri="{BB962C8B-B14F-4D97-AF65-F5344CB8AC3E}">
        <p14:creationId xmlns:p14="http://schemas.microsoft.com/office/powerpoint/2010/main" val="2991252629"/>
      </p:ext>
    </p:extLst>
  </p:cSld>
  <p:clrMapOvr>
    <a:masterClrMapping/>
  </p:clrMapOvr>
  <p:transition>
    <p:fade/>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Calcul pas à pas : lignes de total</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Une ligne de total cachée aurait doublé les cotisations maladie du mois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Fichier de février 2025 : la dernière ligne porte 202 597 314 FCFA, soit la somme des 27 861 lignes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FPPN-SOLDE\EFFECTIF POLICE (MALADIE)\2025\FEVRIER 2025_effectif_police_936.xlsx (identifiant d'extraction F03875). Noms et matricules masqués</a:t>
            </a:r>
          </a:p>
        </p:txBody>
      </p:sp>
      <p:sp>
        <p:nvSpPr>
          <p:cNvPr id="31" name="TextBox 30"/>
          <p:cNvSpPr txBox="1"/>
          <p:nvPr/>
        </p:nvSpPr>
        <p:spPr>
          <a:xfrm>
            <a:off x="503999" y="1350000"/>
            <a:ext cx="8136000" cy="180000"/>
          </a:xfrm>
          <a:prstGeom prst="rect">
            <a:avLst/>
          </a:prstGeom>
          <a:noFill/>
        </p:spPr>
        <p:txBody>
          <a:bodyPr wrap="square" anchor="t" lIns="54000" rIns="54000"/>
          <a:lstStyle/>
          <a:p>
            <a:pPr algn="l"/>
            <a:r>
              <a:rPr sz="900" b="0">
                <a:solidFill>
                  <a:srgbClr val="53565A"/>
                </a:solidFill>
                <a:latin typeface="Helvetica"/>
              </a:rPr>
              <a:t>Extrait : FPPN-SOLDE\EFFECTIF POLICE (MALADIE)\2025\FEVRIER 2025_effectif_police_936.xlsx</a:t>
            </a:r>
          </a:p>
        </p:txBody>
      </p:sp>
      <p:graphicFrame>
        <p:nvGraphicFramePr>
          <p:cNvPr id="32" name="Table 31"/>
          <p:cNvGraphicFramePr>
            <a:graphicFrameLocks noGrp="1"/>
          </p:cNvGraphicFramePr>
          <p:nvPr/>
        </p:nvGraphicFramePr>
        <p:xfrm>
          <a:off x="503999" y="1548000"/>
          <a:ext cx="8136000" cy="1050045"/>
        </p:xfrm>
        <a:graphic>
          <a:graphicData uri="http://schemas.openxmlformats.org/drawingml/2006/table">
            <a:tbl>
              <a:tblPr firstRow="0" bandRow="0">
                <a:tableStyleId>{5940675A-B579-460E-94D1-54222C63F5DA}</a:tableStyleId>
              </a:tblPr>
              <a:tblGrid>
                <a:gridCol w="720000"/>
                <a:gridCol w="936000"/>
                <a:gridCol w="576000"/>
                <a:gridCol w="1224000"/>
                <a:gridCol w="1296000"/>
                <a:gridCol w="1296000"/>
                <a:gridCol w="1224000"/>
                <a:gridCol w="864000"/>
              </a:tblGrid>
              <a:tr h="210009">
                <a:tc>
                  <a:txBody>
                    <a:bodyPr/>
                    <a:lstStyle/>
                    <a:p>
                      <a:pPr marL="0" indent="0" lvl="0">
                        <a:buNone/>
                      </a:pPr>
                      <a:r>
                        <a:rPr sz="1000" b="1">
                          <a:solidFill>
                            <a:srgbClr val="FFFFFF"/>
                          </a:solidFill>
                          <a:latin typeface="Helvetica"/>
                        </a:rPr>
                        <a:t>Poste</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Référence</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Org</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Matricule</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Nom</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Montant</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Début</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Fin</a:t>
                      </a:r>
                    </a:p>
                  </a:txBody>
                  <a:tcPr marL="43200" marR="43200" marT="14400" marB="14400" anchor="ctr">
                    <a:solidFill>
                      <a:srgbClr val="060606"/>
                    </a:solidFill>
                  </a:tcPr>
                </a:tc>
              </a:tr>
              <a:tr h="210009">
                <a:tc>
                  <a:txBody>
                    <a:bodyPr/>
                    <a:lstStyle/>
                    <a:p>
                      <a:pPr marL="0" indent="0" lvl="0">
                        <a:buNone/>
                      </a:pPr>
                      <a:r>
                        <a:rPr sz="1000" b="1">
                          <a:solidFill>
                            <a:srgbClr val="060606"/>
                          </a:solidFill>
                          <a:latin typeface="Helvetica"/>
                        </a:rPr>
                        <a:t>936</a:t>
                      </a:r>
                    </a:p>
                  </a:txBody>
                  <a:tcPr marL="43200" marR="43200" marT="14400" marB="14400" anchor="ctr">
                    <a:solidFill>
                      <a:srgbClr val="FFFFFF"/>
                    </a:solidFill>
                  </a:tcPr>
                </a:tc>
                <a:tc>
                  <a:txBody>
                    <a:bodyPr/>
                    <a:lstStyle/>
                    <a:p>
                      <a:pPr marL="0" indent="0" lvl="0">
                        <a:buNone/>
                      </a:pP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59</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175***Z</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C. Z.</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22883</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2011-04-01</a:t>
                      </a:r>
                    </a:p>
                  </a:txBody>
                  <a:tcPr marL="43200" marR="43200" marT="14400" marB="14400" anchor="ctr">
                    <a:solidFill>
                      <a:srgbClr val="FFFFFF"/>
                    </a:solidFill>
                  </a:tcPr>
                </a:tc>
                <a:tc>
                  <a:txBody>
                    <a:bodyPr/>
                    <a:lstStyle/>
                    <a:p>
                      <a:pPr marL="0" indent="0" lvl="0">
                        <a:buNone/>
                      </a:pP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936</a:t>
                      </a:r>
                    </a:p>
                  </a:txBody>
                  <a:tcPr marL="43200" marR="43200" marT="14400" marB="14400" anchor="ctr">
                    <a:solidFill>
                      <a:srgbClr val="F2F2F2"/>
                    </a:solidFill>
                  </a:tcPr>
                </a:tc>
                <a:tc>
                  <a:txBody>
                    <a:bodyPr/>
                    <a:lstStyle/>
                    <a:p>
                      <a:pPr marL="0" indent="0" lvl="0">
                        <a:buNone/>
                      </a:pP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59</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175***S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C. 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22003</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2011-04-01</a:t>
                      </a:r>
                    </a:p>
                  </a:txBody>
                  <a:tcPr marL="43200" marR="43200" marT="14400" marB="14400" anchor="ctr">
                    <a:solidFill>
                      <a:srgbClr val="F2F2F2"/>
                    </a:solidFill>
                  </a:tcPr>
                </a:tc>
                <a:tc>
                  <a:txBody>
                    <a:bodyPr/>
                    <a:lstStyle/>
                    <a:p>
                      <a:pPr marL="0" indent="0" lvl="0">
                        <a:buNone/>
                      </a:pP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936</a:t>
                      </a:r>
                    </a:p>
                  </a:txBody>
                  <a:tcPr marL="43200" marR="43200" marT="14400" marB="14400" anchor="ctr">
                    <a:solidFill>
                      <a:srgbClr val="FFFFFF"/>
                    </a:solidFill>
                  </a:tcPr>
                </a:tc>
                <a:tc>
                  <a:txBody>
                    <a:bodyPr/>
                    <a:lstStyle/>
                    <a:p>
                      <a:pPr marL="0" indent="0" lvl="0">
                        <a:buNone/>
                      </a:pP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59</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175***P</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K. T. I.</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22003</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2000-08-01</a:t>
                      </a:r>
                    </a:p>
                  </a:txBody>
                  <a:tcPr marL="43200" marR="43200" marT="14400" marB="14400" anchor="ctr">
                    <a:solidFill>
                      <a:srgbClr val="FFFFFF"/>
                    </a:solidFill>
                  </a:tcPr>
                </a:tc>
                <a:tc>
                  <a:txBody>
                    <a:bodyPr/>
                    <a:lstStyle/>
                    <a:p>
                      <a:pPr marL="0" indent="0" lvl="0">
                        <a:buNone/>
                      </a:pPr>
                    </a:p>
                  </a:txBody>
                  <a:tcPr marL="43200" marR="43200" marT="14400" marB="14400" anchor="ctr">
                    <a:solidFill>
                      <a:srgbClr val="FFFFFF"/>
                    </a:solidFill>
                  </a:tcPr>
                </a:tc>
              </a:tr>
              <a:tr h="210009">
                <a:tc>
                  <a:txBody>
                    <a:bodyPr/>
                    <a:lstStyle/>
                    <a:p>
                      <a:pPr marL="0" indent="0" lvl="0">
                        <a:buNone/>
                      </a:pPr>
                    </a:p>
                  </a:txBody>
                  <a:tcPr marL="43200" marR="43200" marT="14400" marB="14400" anchor="ctr">
                    <a:solidFill>
                      <a:srgbClr val="F2F2F2"/>
                    </a:solidFill>
                  </a:tcPr>
                </a:tc>
                <a:tc>
                  <a:txBody>
                    <a:bodyPr/>
                    <a:lstStyle/>
                    <a:p>
                      <a:pPr marL="0" indent="0" lvl="0">
                        <a:buNone/>
                      </a:pPr>
                    </a:p>
                  </a:txBody>
                  <a:tcPr marL="43200" marR="43200" marT="14400" marB="14400" anchor="ctr">
                    <a:solidFill>
                      <a:srgbClr val="F2F2F2"/>
                    </a:solidFill>
                  </a:tcPr>
                </a:tc>
                <a:tc>
                  <a:txBody>
                    <a:bodyPr/>
                    <a:lstStyle/>
                    <a:p>
                      <a:pPr marL="0" indent="0" lvl="0">
                        <a:buNone/>
                      </a:pP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27 861</a:t>
                      </a:r>
                    </a:p>
                  </a:txBody>
                  <a:tcPr marL="43200" marR="43200" marT="14400" marB="14400" anchor="ctr">
                    <a:solidFill>
                      <a:srgbClr val="F2F2F2"/>
                    </a:solidFill>
                  </a:tcPr>
                </a:tc>
                <a:tc>
                  <a:txBody>
                    <a:bodyPr/>
                    <a:lstStyle/>
                    <a:p>
                      <a:pPr marL="0" indent="0" lvl="0">
                        <a:buNone/>
                      </a:pP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202597314</a:t>
                      </a:r>
                    </a:p>
                  </a:txBody>
                  <a:tcPr marL="43200" marR="43200" marT="14400" marB="14400" anchor="ctr">
                    <a:solidFill>
                      <a:srgbClr val="F2F2F2"/>
                    </a:solidFill>
                  </a:tcPr>
                </a:tc>
                <a:tc>
                  <a:txBody>
                    <a:bodyPr/>
                    <a:lstStyle/>
                    <a:p>
                      <a:pPr marL="0" indent="0" lvl="0">
                        <a:buNone/>
                      </a:pPr>
                    </a:p>
                  </a:txBody>
                  <a:tcPr marL="43200" marR="43200" marT="14400" marB="14400" anchor="ctr">
                    <a:solidFill>
                      <a:srgbClr val="F2F2F2"/>
                    </a:solidFill>
                  </a:tcPr>
                </a:tc>
                <a:tc>
                  <a:txBody>
                    <a:bodyPr/>
                    <a:lstStyle/>
                    <a:p>
                      <a:pPr marL="0" indent="0" lvl="0">
                        <a:buNone/>
                      </a:pPr>
                    </a:p>
                  </a:txBody>
                  <a:tcPr marL="43200" marR="43200" marT="14400" marB="14400" anchor="ctr">
                    <a:solidFill>
                      <a:srgbClr val="F2F2F2"/>
                    </a:solidFill>
                  </a:tcPr>
                </a:tc>
              </a:tr>
            </a:tbl>
          </a:graphicData>
        </a:graphic>
      </p:graphicFrame>
      <p:sp>
        <p:nvSpPr>
          <p:cNvPr id="33" name="Rounded Rectangle 32"/>
          <p:cNvSpPr/>
          <p:nvPr/>
        </p:nvSpPr>
        <p:spPr>
          <a:xfrm>
            <a:off x="2718000" y="2377238"/>
            <a:ext cx="1260000"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780000" y="222603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5" name="Rounded Rectangle 34"/>
          <p:cNvSpPr/>
          <p:nvPr/>
        </p:nvSpPr>
        <p:spPr>
          <a:xfrm>
            <a:off x="5238000" y="2377238"/>
            <a:ext cx="1332000"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372000" y="222603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37" name="Oval 36"/>
          <p:cNvSpPr/>
          <p:nvPr/>
        </p:nvSpPr>
        <p:spPr>
          <a:xfrm>
            <a:off x="8856000" y="1548000"/>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8" name="TextBox 37"/>
          <p:cNvSpPr txBox="1"/>
          <p:nvPr/>
        </p:nvSpPr>
        <p:spPr>
          <a:xfrm>
            <a:off x="9216000" y="1530000"/>
            <a:ext cx="2519999" cy="670023"/>
          </a:xfrm>
          <a:prstGeom prst="rect">
            <a:avLst/>
          </a:prstGeom>
          <a:noFill/>
        </p:spPr>
        <p:txBody>
          <a:bodyPr wrap="square" anchor="t" lIns="54000" rIns="54000"/>
          <a:lstStyle/>
          <a:p>
            <a:pPr algn="l"/>
            <a:r>
              <a:rPr sz="1200" b="0">
                <a:solidFill>
                  <a:srgbClr val="060606"/>
                </a:solidFill>
                <a:latin typeface="Helvetica"/>
              </a:rPr>
              <a:t>La colonne « matricule » de la dernière ligne contient le nombre de lignes du fichier.</a:t>
            </a:r>
          </a:p>
        </p:txBody>
      </p:sp>
      <p:sp>
        <p:nvSpPr>
          <p:cNvPr id="39" name="Oval 38"/>
          <p:cNvSpPr/>
          <p:nvPr/>
        </p:nvSpPr>
        <p:spPr>
          <a:xfrm>
            <a:off x="8856000" y="2308023"/>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40" name="TextBox 39"/>
          <p:cNvSpPr txBox="1"/>
          <p:nvPr/>
        </p:nvSpPr>
        <p:spPr>
          <a:xfrm>
            <a:off x="9216000" y="2290023"/>
            <a:ext cx="2519999" cy="670023"/>
          </a:xfrm>
          <a:prstGeom prst="rect">
            <a:avLst/>
          </a:prstGeom>
          <a:noFill/>
        </p:spPr>
        <p:txBody>
          <a:bodyPr wrap="square" anchor="t" lIns="54000" rIns="54000"/>
          <a:lstStyle/>
          <a:p>
            <a:pPr algn="l"/>
            <a:r>
              <a:rPr sz="1200" b="0">
                <a:solidFill>
                  <a:srgbClr val="060606"/>
                </a:solidFill>
                <a:latin typeface="Helvetica"/>
              </a:rPr>
              <a:t>Le montant de 202 597 314 FCFA est la somme de toutes les lignes au-dessus.</a:t>
            </a:r>
          </a:p>
        </p:txBody>
      </p:sp>
      <p:sp>
        <p:nvSpPr>
          <p:cNvPr id="41" name="Oval 40"/>
          <p:cNvSpPr/>
          <p:nvPr/>
        </p:nvSpPr>
        <p:spPr>
          <a:xfrm>
            <a:off x="8856000" y="3068047"/>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42" name="TextBox 41"/>
          <p:cNvSpPr txBox="1"/>
          <p:nvPr/>
        </p:nvSpPr>
        <p:spPr>
          <a:xfrm>
            <a:off x="9216000" y="3050047"/>
            <a:ext cx="2519999" cy="855963"/>
          </a:xfrm>
          <a:prstGeom prst="rect">
            <a:avLst/>
          </a:prstGeom>
          <a:noFill/>
        </p:spPr>
        <p:txBody>
          <a:bodyPr wrap="square" anchor="t" lIns="54000" rIns="54000"/>
          <a:lstStyle/>
          <a:p>
            <a:pPr algn="l"/>
            <a:r>
              <a:rPr sz="1200" b="0">
                <a:solidFill>
                  <a:srgbClr val="060606"/>
                </a:solidFill>
                <a:latin typeface="Helvetica"/>
              </a:rPr>
              <a:t>Adenka écarte cette ligne et les 87 lignes du même type, ce qui évite 10 340 860 286 FCFA de double compte.</a:t>
            </a:r>
          </a:p>
        </p:txBody>
      </p:sp>
      <p:sp>
        <p:nvSpPr>
          <p:cNvPr id="43" name="TextBox 42"/>
          <p:cNvSpPr txBox="1"/>
          <p:nvPr/>
        </p:nvSpPr>
        <p:spPr>
          <a:xfrm>
            <a:off x="8856000" y="4086011"/>
            <a:ext cx="2879999" cy="1781988"/>
          </a:xfrm>
          <a:prstGeom prst="rect">
            <a:avLst/>
          </a:prstGeom>
          <a:noFill/>
        </p:spPr>
        <p:txBody>
          <a:bodyPr wrap="square" lIns="54000" rIns="54000"/>
          <a:lstStyle/>
          <a:p>
            <a:pPr algn="just">
              <a:spcAft>
                <a:spcPts val="600"/>
              </a:spcAft>
            </a:pPr>
            <a:r>
              <a:rPr sz="1150" b="1">
                <a:solidFill>
                  <a:srgbClr val="060606"/>
                </a:solidFill>
                <a:latin typeface="Helvetica"/>
              </a:rPr>
              <a:t>Une simple somme des fichiers aurait gonflé les cotisations.</a:t>
            </a:r>
            <a:r>
              <a:rPr sz="1150" b="0">
                <a:solidFill>
                  <a:srgbClr val="060606"/>
                </a:solidFill>
                <a:latin typeface="Helvetica"/>
              </a:rPr>
              <a:t> Les lignes de total ont la même forme que les lignes des mutualistes et ne se repèrent que par le calcul.</a:t>
            </a:r>
          </a:p>
          <a:p>
            <a:pPr algn="just">
              <a:spcAft>
                <a:spcPts val="600"/>
              </a:spcAft>
            </a:pPr>
            <a:r>
              <a:rPr sz="1150" b="0">
                <a:solidFill>
                  <a:srgbClr val="060606"/>
                </a:solidFill>
                <a:latin typeface="Helvetica"/>
              </a:rPr>
              <a:t>Le FPPN doit retirer ces lignes de total de ses fichiers, ou les isoler, avant tout traitement automatique.</a:t>
            </a:r>
          </a:p>
        </p:txBody>
      </p:sp>
      <p:sp>
        <p:nvSpPr>
          <p:cNvPr id="44" name="TextBox 4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936 : poste maladie</a:t>
            </a:r>
          </a:p>
        </p:txBody>
      </p:sp>
    </p:spTree>
    <p:extLst>
      <p:ext uri="{BB962C8B-B14F-4D97-AF65-F5344CB8AC3E}">
        <p14:creationId xmlns:p14="http://schemas.microsoft.com/office/powerpoint/2010/main" val="3566953625"/>
      </p:ext>
    </p:extLst>
  </p:cSld>
  <p:clrMapOvr>
    <a:masterClrMapping/>
  </p:clrMapOvr>
  <p:transition>
    <p:fade/>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Calcul pas à pas : montants doublés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Des montants saisis deux fois à la suite gonflaient les précomptes décès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Avril 2024 : 17 montants de plus d'un million de FCFA sont des montants écrits deux fois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FPPN-SOLDE\ALLOCATION DECES\2024\FPPN_ALLOC_DECES_8Z6_AVRIL_2024.xlsx. Noms et matricules masqués</a:t>
            </a:r>
          </a:p>
        </p:txBody>
      </p:sp>
      <p:sp>
        <p:nvSpPr>
          <p:cNvPr id="31" name="TextBox 30"/>
          <p:cNvSpPr txBox="1"/>
          <p:nvPr/>
        </p:nvSpPr>
        <p:spPr>
          <a:xfrm>
            <a:off x="503999" y="1350000"/>
            <a:ext cx="7920000" cy="180000"/>
          </a:xfrm>
          <a:prstGeom prst="rect">
            <a:avLst/>
          </a:prstGeom>
          <a:noFill/>
        </p:spPr>
        <p:txBody>
          <a:bodyPr wrap="square" anchor="t" lIns="54000" rIns="54000"/>
          <a:lstStyle/>
          <a:p>
            <a:pPr algn="l"/>
            <a:r>
              <a:rPr sz="900" b="0">
                <a:solidFill>
                  <a:srgbClr val="53565A"/>
                </a:solidFill>
                <a:latin typeface="Helvetica"/>
              </a:rPr>
              <a:t>Extrait : FPPN-SOLDE\ALLOCATION DECES\2024\FPPN_ALLOC_DECES_8Z6_AVRIL_2024.xlsx</a:t>
            </a:r>
          </a:p>
        </p:txBody>
      </p:sp>
      <p:graphicFrame>
        <p:nvGraphicFramePr>
          <p:cNvPr id="32" name="Table 31"/>
          <p:cNvGraphicFramePr>
            <a:graphicFrameLocks noGrp="1"/>
          </p:cNvGraphicFramePr>
          <p:nvPr/>
        </p:nvGraphicFramePr>
        <p:xfrm>
          <a:off x="503999" y="1548000"/>
          <a:ext cx="7920000" cy="1050045"/>
        </p:xfrm>
        <a:graphic>
          <a:graphicData uri="http://schemas.openxmlformats.org/drawingml/2006/table">
            <a:tbl>
              <a:tblPr firstRow="0" bandRow="0">
                <a:tableStyleId>{5940675A-B579-460E-94D1-54222C63F5DA}</a:tableStyleId>
              </a:tblPr>
              <a:tblGrid>
                <a:gridCol w="1440000"/>
                <a:gridCol w="1440000"/>
                <a:gridCol w="2880000"/>
                <a:gridCol w="2160000"/>
              </a:tblGrid>
              <a:tr h="210009">
                <a:tc>
                  <a:txBody>
                    <a:bodyPr/>
                    <a:lstStyle/>
                    <a:p>
                      <a:pPr marL="0" indent="0" lvl="0">
                        <a:buNone/>
                      </a:pPr>
                      <a:r>
                        <a:rPr sz="1000" b="1">
                          <a:solidFill>
                            <a:srgbClr val="FFFFFF"/>
                          </a:solidFill>
                          <a:latin typeface="Helvetica"/>
                        </a:rPr>
                        <a:t>Matricule</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Nom</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Montant dans le fichier</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Montant corrigé</a:t>
                      </a:r>
                    </a:p>
                  </a:txBody>
                  <a:tcPr marL="43200" marR="43200" marT="14400" marB="14400" anchor="ctr">
                    <a:solidFill>
                      <a:srgbClr val="060606"/>
                    </a:solidFill>
                  </a:tcPr>
                </a:tc>
              </a:tr>
              <a:tr h="210009">
                <a:tc>
                  <a:txBody>
                    <a:bodyPr/>
                    <a:lstStyle/>
                    <a:p>
                      <a:pPr marL="0" indent="0" lvl="0">
                        <a:buNone/>
                      </a:pPr>
                      <a:r>
                        <a:rPr sz="1000" b="1">
                          <a:solidFill>
                            <a:srgbClr val="060606"/>
                          </a:solidFill>
                          <a:latin typeface="Helvetica"/>
                        </a:rPr>
                        <a:t>260***E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K. N. K.</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4792447924</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47924</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463***P</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D. G. 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3506635066</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35066</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498***P</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L. E. D.</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3379533795</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33795</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300***Y</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O. B. F.</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3328733287</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33287</a:t>
                      </a:r>
                    </a:p>
                  </a:txBody>
                  <a:tcPr marL="43200" marR="43200" marT="14400" marB="14400" anchor="ctr">
                    <a:solidFill>
                      <a:srgbClr val="F2F2F2"/>
                    </a:solidFill>
                  </a:tcPr>
                </a:tc>
              </a:tr>
            </a:tbl>
          </a:graphicData>
        </a:graphic>
      </p:graphicFrame>
      <p:sp>
        <p:nvSpPr>
          <p:cNvPr id="33" name="Rounded Rectangle 32"/>
          <p:cNvSpPr/>
          <p:nvPr/>
        </p:nvSpPr>
        <p:spPr>
          <a:xfrm>
            <a:off x="3366000" y="1747209"/>
            <a:ext cx="2916000"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083999" y="1596009"/>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5" name="Rounded Rectangle 34"/>
          <p:cNvSpPr/>
          <p:nvPr/>
        </p:nvSpPr>
        <p:spPr>
          <a:xfrm>
            <a:off x="6245999" y="1747209"/>
            <a:ext cx="2196000"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243999" y="1596009"/>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37" name="Oval 36"/>
          <p:cNvSpPr/>
          <p:nvPr/>
        </p:nvSpPr>
        <p:spPr>
          <a:xfrm>
            <a:off x="8640000" y="1548000"/>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8" name="TextBox 37"/>
          <p:cNvSpPr txBox="1"/>
          <p:nvPr/>
        </p:nvSpPr>
        <p:spPr>
          <a:xfrm>
            <a:off x="9000000" y="1530000"/>
            <a:ext cx="2736000" cy="484084"/>
          </a:xfrm>
          <a:prstGeom prst="rect">
            <a:avLst/>
          </a:prstGeom>
          <a:noFill/>
        </p:spPr>
        <p:txBody>
          <a:bodyPr wrap="square" anchor="t" lIns="54000" rIns="54000"/>
          <a:lstStyle/>
          <a:p>
            <a:pPr algn="l"/>
            <a:r>
              <a:rPr sz="1200" b="0">
                <a:solidFill>
                  <a:srgbClr val="060606"/>
                </a:solidFill>
                <a:latin typeface="Helvetica"/>
              </a:rPr>
              <a:t>Le montant du fichier répète deux fois la suite « 47924 ».</a:t>
            </a:r>
          </a:p>
        </p:txBody>
      </p:sp>
      <p:sp>
        <p:nvSpPr>
          <p:cNvPr id="39" name="Oval 38"/>
          <p:cNvSpPr/>
          <p:nvPr/>
        </p:nvSpPr>
        <p:spPr>
          <a:xfrm>
            <a:off x="8640000" y="2122084"/>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40" name="TextBox 39"/>
          <p:cNvSpPr txBox="1"/>
          <p:nvPr/>
        </p:nvSpPr>
        <p:spPr>
          <a:xfrm>
            <a:off x="9000000" y="2104084"/>
            <a:ext cx="2736000" cy="670023"/>
          </a:xfrm>
          <a:prstGeom prst="rect">
            <a:avLst/>
          </a:prstGeom>
          <a:noFill/>
        </p:spPr>
        <p:txBody>
          <a:bodyPr wrap="square" anchor="t" lIns="54000" rIns="54000"/>
          <a:lstStyle/>
          <a:p>
            <a:pPr algn="l"/>
            <a:r>
              <a:rPr sz="1200" b="0">
                <a:solidFill>
                  <a:srgbClr val="060606"/>
                </a:solidFill>
                <a:latin typeface="Helvetica"/>
              </a:rPr>
              <a:t>Un précompte décès de plus d'un million de FCFA par agent est impossible.</a:t>
            </a:r>
          </a:p>
        </p:txBody>
      </p:sp>
      <p:sp>
        <p:nvSpPr>
          <p:cNvPr id="41" name="Oval 40"/>
          <p:cNvSpPr/>
          <p:nvPr/>
        </p:nvSpPr>
        <p:spPr>
          <a:xfrm>
            <a:off x="8640000" y="288210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42" name="TextBox 41"/>
          <p:cNvSpPr txBox="1"/>
          <p:nvPr/>
        </p:nvSpPr>
        <p:spPr>
          <a:xfrm>
            <a:off x="9000000" y="2864108"/>
            <a:ext cx="2736000" cy="670023"/>
          </a:xfrm>
          <a:prstGeom prst="rect">
            <a:avLst/>
          </a:prstGeom>
          <a:noFill/>
        </p:spPr>
        <p:txBody>
          <a:bodyPr wrap="square" anchor="t" lIns="54000" rIns="54000"/>
          <a:lstStyle/>
          <a:p>
            <a:pPr algn="l"/>
            <a:r>
              <a:rPr sz="1200" b="0">
                <a:solidFill>
                  <a:srgbClr val="060606"/>
                </a:solidFill>
                <a:latin typeface="Helvetica"/>
              </a:rPr>
              <a:t>Adenka retient la première moitié du montant et signale la ligne au FPPN.</a:t>
            </a:r>
          </a:p>
        </p:txBody>
      </p:sp>
      <p:sp>
        <p:nvSpPr>
          <p:cNvPr id="43" name="TextBox 42"/>
          <p:cNvSpPr txBox="1"/>
          <p:nvPr/>
        </p:nvSpPr>
        <p:spPr>
          <a:xfrm>
            <a:off x="8640000" y="3714132"/>
            <a:ext cx="3096000" cy="2153867"/>
          </a:xfrm>
          <a:prstGeom prst="rect">
            <a:avLst/>
          </a:prstGeom>
          <a:noFill/>
        </p:spPr>
        <p:txBody>
          <a:bodyPr wrap="square" lIns="54000" rIns="54000"/>
          <a:lstStyle/>
          <a:p>
            <a:pPr algn="just">
              <a:spcAft>
                <a:spcPts val="600"/>
              </a:spcAft>
            </a:pPr>
            <a:r>
              <a:rPr sz="1200" b="1">
                <a:solidFill>
                  <a:srgbClr val="060606"/>
                </a:solidFill>
                <a:latin typeface="Helvetica"/>
              </a:rPr>
              <a:t>L'erreur vient de la saisie du fichier source, pas d'un calcul.</a:t>
            </a:r>
            <a:r>
              <a:rPr sz="1200" b="0">
                <a:solidFill>
                  <a:srgbClr val="060606"/>
                </a:solidFill>
                <a:latin typeface="Helvetica"/>
              </a:rPr>
              <a:t> Les deux moitiés du montant sont identiques, ce qui signe une double frappe.</a:t>
            </a:r>
          </a:p>
          <a:p>
            <a:pPr algn="just">
              <a:spcAft>
                <a:spcPts val="600"/>
              </a:spcAft>
            </a:pPr>
            <a:r>
              <a:rPr sz="1200" b="0">
                <a:solidFill>
                  <a:srgbClr val="060606"/>
                </a:solidFill>
                <a:latin typeface="Helvetica"/>
              </a:rPr>
              <a:t>La correction est limitée au poste décès et à un seuil d'un million de FCFA pour ne pas modifier de montants réels. Le FPPN doit confirmer chaque ligne signalée.</a:t>
            </a:r>
          </a:p>
        </p:txBody>
      </p:sp>
      <p:sp>
        <p:nvSpPr>
          <p:cNvPr id="44" name="TextBox 4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970690767"/>
      </p:ext>
    </p:extLst>
  </p:cSld>
  <p:clrMapOvr>
    <a:masterClrMapping/>
  </p:clrMapOvr>
  <p:transition>
    <p:fade/>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Rapprochement aller et retour</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Solde précompte en moyenne 97 à 100 % des montants demandés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Sur les mois communs, l'écart moyen est faible, mais certains mois s'écartent fortement</a:t>
            </a:r>
          </a:p>
        </p:txBody>
      </p:sp>
      <p:sp>
        <p:nvSpPr>
          <p:cNvPr id="30" name="TextBox 29"/>
          <p:cNvSpPr txBox="1"/>
          <p:nvPr/>
        </p:nvSpPr>
        <p:spPr>
          <a:xfrm>
            <a:off x="503999" y="1386000"/>
            <a:ext cx="5976000" cy="251999"/>
          </a:xfrm>
          <a:prstGeom prst="rect">
            <a:avLst/>
          </a:prstGeom>
          <a:noFill/>
        </p:spPr>
        <p:txBody>
          <a:bodyPr wrap="square">
            <a:spAutoFit/>
          </a:bodyPr>
          <a:lstStyle/>
          <a:p>
            <a:pPr algn="ctr">
              <a:spcAft>
                <a:spcPts val="0"/>
              </a:spcAft>
            </a:pPr>
            <a:r>
              <a:rPr sz="1200" b="0">
                <a:solidFill>
                  <a:srgbClr val="EFAC62"/>
                </a:solidFill>
                <a:latin typeface="Helvetica"/>
              </a:rPr>
              <a:t>Figure 7 : Montant précompté rapporté au montant demandé, mois communs</a:t>
            </a:r>
          </a:p>
        </p:txBody>
      </p:sp>
      <p:sp>
        <p:nvSpPr>
          <p:cNvPr id="31" name="TextBox 30"/>
          <p:cNvSpPr txBox="1"/>
          <p:nvPr/>
        </p:nvSpPr>
        <p:spPr>
          <a:xfrm>
            <a:off x="503999" y="1602000"/>
            <a:ext cx="5976000" cy="162000"/>
          </a:xfrm>
          <a:prstGeom prst="rect">
            <a:avLst/>
          </a:prstGeom>
          <a:noFill/>
        </p:spPr>
        <p:txBody>
          <a:bodyPr wrap="square">
            <a:spAutoFit/>
          </a:bodyPr>
          <a:lstStyle/>
          <a:p>
            <a:pPr algn="l">
              <a:spcAft>
                <a:spcPts val="0"/>
              </a:spcAft>
            </a:pPr>
            <a:r>
              <a:rPr sz="900" b="0">
                <a:solidFill>
                  <a:srgbClr val="060606"/>
                </a:solidFill>
                <a:latin typeface="Helvetica"/>
              </a:rPr>
              <a:t>En % du montant demandé</a:t>
            </a:r>
          </a:p>
        </p:txBody>
      </p:sp>
      <p:graphicFrame>
        <p:nvGraphicFramePr>
          <p:cNvPr id="32" name="Chart 31"/>
          <p:cNvGraphicFramePr>
            <a:graphicFrameLocks noGrp="1"/>
          </p:cNvGraphicFramePr>
          <p:nvPr/>
        </p:nvGraphicFramePr>
        <p:xfrm>
          <a:off x="503999" y="1782000"/>
          <a:ext cx="5976000" cy="3744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fichiers de précomptes de la Solde, de la CGRAE et du FPPN reçus le 15/10/2026 (dossiers « FPPN-SOLDE », « FPPN-CGRAE », « FPPN-GNA », noms exacts en annexe « Fichiers sources »). Traitements Adenka</a:t>
            </a:r>
          </a:p>
        </p:txBody>
      </p:sp>
      <p:sp>
        <p:nvSpPr>
          <p:cNvPr id="34" name="TextBox 33"/>
          <p:cNvSpPr txBox="1"/>
          <p:nvPr/>
        </p:nvSpPr>
        <p:spPr>
          <a:xfrm>
            <a:off x="6696000" y="1440000"/>
            <a:ext cx="5040000" cy="4428000"/>
          </a:xfrm>
          <a:prstGeom prst="rect">
            <a:avLst/>
          </a:prstGeom>
          <a:noFill/>
        </p:spPr>
        <p:txBody>
          <a:bodyPr wrap="square" lIns="54000" rIns="54000"/>
          <a:lstStyle/>
          <a:p>
            <a:pPr algn="just">
              <a:spcAft>
                <a:spcPts val="600"/>
              </a:spcAft>
            </a:pPr>
            <a:r>
              <a:rPr sz="1400" b="1">
                <a:solidFill>
                  <a:srgbClr val="060606"/>
                </a:solidFill>
                <a:latin typeface="Helvetica"/>
              </a:rPr>
              <a:t>La Solde et la CGRAE retiennent presque tout ce que le FPPN demande.</a:t>
            </a:r>
            <a:r>
              <a:rPr sz="1400" b="0">
                <a:solidFill>
                  <a:srgbClr val="060606"/>
                </a:solidFill>
                <a:latin typeface="Helvetica"/>
              </a:rPr>
              <a:t> Le taux moyen va de 97,41 % à 100,19 % selon le poste.</a:t>
            </a:r>
          </a:p>
          <a:p>
            <a:pPr algn="just">
              <a:spcAft>
                <a:spcPts val="600"/>
              </a:spcAft>
            </a:pPr>
            <a:r>
              <a:rPr sz="1400" b="1">
                <a:solidFill>
                  <a:srgbClr val="060606"/>
                </a:solidFill>
                <a:latin typeface="Helvetica"/>
              </a:rPr>
              <a:t>Certains mois s'écartent nettement de la moyenne.</a:t>
            </a:r>
            <a:r>
              <a:rPr sz="1400" b="0">
                <a:solidFill>
                  <a:srgbClr val="060606"/>
                </a:solidFill>
                <a:latin typeface="Helvetica"/>
              </a:rPr>
              <a:t> Le mois le plus bas atteint 69,19 % pour le Grenier et 76,96 % pour le PEP.</a:t>
            </a:r>
          </a:p>
          <a:p>
            <a:pPr algn="just">
              <a:spcAft>
                <a:spcPts val="600"/>
              </a:spcAft>
            </a:pPr>
            <a:r>
              <a:rPr sz="1400" b="1">
                <a:solidFill>
                  <a:srgbClr val="060606"/>
                </a:solidFill>
                <a:latin typeface="Helvetica"/>
              </a:rPr>
              <a:t>Ces écarts traduisent des rejets ou des fichiers incomplets.</a:t>
            </a:r>
            <a:r>
              <a:rPr sz="1400" b="0">
                <a:solidFill>
                  <a:srgbClr val="060606"/>
                </a:solidFill>
                <a:latin typeface="Helvetica"/>
              </a:rPr>
              <a:t> Le FPPN ne rapproche pas les fichiers aller et retour et ne reçoit les motifs de rejet que depuis environ deux mois (déclaration du responsable des cotisations, entretien du 19/10/2026).</a:t>
            </a:r>
          </a:p>
          <a:p>
            <a:pPr algn="just">
              <a:spcAft>
                <a:spcPts val="600"/>
              </a:spcAft>
            </a:pPr>
            <a:r>
              <a:rPr sz="1400" b="0">
                <a:solidFill>
                  <a:srgbClr val="060606"/>
                </a:solidFill>
                <a:latin typeface="Helvetica"/>
              </a:rPr>
              <a:t>Pour les retraités, le taux mesuré sert d'indicateur de recouvrement des cotisations : il respecte la norme d'au moins 90 % de la Décision n° 05/2022. Pour les cotisations maladie et décès des actifs, le calcul attend les fichiers aller, que la direction du personnel de la Police transmet directement à la Solde.</a:t>
            </a:r>
          </a:p>
        </p:txBody>
      </p:sp>
      <p:sp>
        <p:nvSpPr>
          <p:cNvPr id="35" name="TextBox 34"/>
          <p:cNvSpPr txBox="1"/>
          <p:nvPr/>
        </p:nvSpPr>
        <p:spPr>
          <a:xfrm>
            <a:off x="503999" y="5526000"/>
            <a:ext cx="5976000" cy="306000"/>
          </a:xfrm>
          <a:prstGeom prst="rect">
            <a:avLst/>
          </a:prstGeom>
          <a:noFill/>
        </p:spPr>
        <p:txBody>
          <a:bodyPr wrap="square" anchor="t" lIns="54000" rIns="54000"/>
          <a:lstStyle/>
          <a:p>
            <a:pPr algn="l"/>
            <a:r>
              <a:rPr sz="850" b="0">
                <a:solidFill>
                  <a:srgbClr val="53565A"/>
                </a:solidFill>
                <a:latin typeface="Helvetica"/>
              </a:rPr>
              <a:t>Valable pour : mois pour lesquels le fichier aller et le fichier retour d'un même poste sont tous deux reçus. Montants totaux du mois, sans rapprochement agent par agent.</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Sigles : FPPN : Fonds de prévoyance de la Police nationale | CGRAE : Caisse générale de retraite des agents de l'État | PEP : Plan Épargne Plus | EFC : entraide fin de carrière | GNA : assureur de la flotte automobile (compte 47111106) | MEDOC : produit santé complémentaire du poste 8Z7 | 870 : poste EFC | 998 : poste PEP | 9X4 : poste Grenier | 9W3 : poste flotte automobile | 8Z7 : poste MEDOC</a:t>
            </a:r>
          </a:p>
        </p:txBody>
      </p:sp>
    </p:spTree>
    <p:extLst>
      <p:ext uri="{BB962C8B-B14F-4D97-AF65-F5344CB8AC3E}">
        <p14:creationId xmlns:p14="http://schemas.microsoft.com/office/powerpoint/2010/main" val="1699984065"/>
      </p:ext>
    </p:extLst>
  </p:cSld>
  <p:clrMapOvr>
    <a:masterClrMapping/>
  </p:clrMapOvr>
  <p:transition>
    <p:fade/>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Calcul pas à pas : écarts du PEP</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deux mois extrêmes du PEP s'expliquent par le contenu des fichiers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Janvier 2025 : 76,96 %. Juillet 2024 : 150,62 %</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fichiers de précomptes de la Solde, de la CGRAE et du FPPN reçus le 15/10/2026 (dossiers « FPPN-SOLDE », « FPPN-CGRAE », « FPPN-GNA », noms exacts en annexe « Fichiers sources »). Traitements Adenka</a:t>
            </a:r>
          </a:p>
        </p:txBody>
      </p:sp>
      <p:sp>
        <p:nvSpPr>
          <p:cNvPr id="31" name="TextBox 30"/>
          <p:cNvSpPr txBox="1"/>
          <p:nvPr/>
        </p:nvSpPr>
        <p:spPr>
          <a:xfrm>
            <a:off x="503999" y="1350000"/>
            <a:ext cx="10080000" cy="180000"/>
          </a:xfrm>
          <a:prstGeom prst="rect">
            <a:avLst/>
          </a:prstGeom>
          <a:noFill/>
        </p:spPr>
        <p:txBody>
          <a:bodyPr wrap="square" anchor="t" lIns="54000" rIns="54000"/>
          <a:lstStyle/>
          <a:p>
            <a:pPr algn="l"/>
            <a:r>
              <a:rPr sz="900" b="0">
                <a:solidFill>
                  <a:srgbClr val="53565A"/>
                </a:solidFill>
                <a:latin typeface="Helvetica"/>
              </a:rPr>
              <a:t>Extrait : FPPN-SOLDE\PEP\FICHIER ALLER et FICHIER RETOUR</a:t>
            </a:r>
          </a:p>
        </p:txBody>
      </p:sp>
      <p:graphicFrame>
        <p:nvGraphicFramePr>
          <p:cNvPr id="32" name="Table 31"/>
          <p:cNvGraphicFramePr>
            <a:graphicFrameLocks noGrp="1"/>
          </p:cNvGraphicFramePr>
          <p:nvPr/>
        </p:nvGraphicFramePr>
        <p:xfrm>
          <a:off x="503999" y="1548000"/>
          <a:ext cx="10080000" cy="782437"/>
        </p:xfrm>
        <a:graphic>
          <a:graphicData uri="http://schemas.openxmlformats.org/drawingml/2006/table">
            <a:tbl>
              <a:tblPr firstRow="0" bandRow="0">
                <a:tableStyleId>{5940675A-B579-460E-94D1-54222C63F5DA}</a:tableStyleId>
              </a:tblPr>
              <a:tblGrid>
                <a:gridCol w="864000"/>
                <a:gridCol w="2376000"/>
                <a:gridCol w="936000"/>
                <a:gridCol w="1944000"/>
                <a:gridCol w="936000"/>
                <a:gridCol w="1944000"/>
                <a:gridCol w="1080000"/>
              </a:tblGrid>
              <a:tr h="362419">
                <a:tc>
                  <a:txBody>
                    <a:bodyPr/>
                    <a:lstStyle/>
                    <a:p>
                      <a:pPr marL="0" indent="0" lvl="0">
                        <a:buNone/>
                      </a:pPr>
                      <a:r>
                        <a:rPr sz="1000" b="1">
                          <a:solidFill>
                            <a:srgbClr val="FFFFFF"/>
                          </a:solidFill>
                          <a:latin typeface="Helvetica"/>
                        </a:rPr>
                        <a:t>Mois</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Fichier aller</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Lignes aller</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Montant aller</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Lignes retour</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Montant retour</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Taux</a:t>
                      </a:r>
                    </a:p>
                  </a:txBody>
                  <a:tcPr marL="43200" marR="43200" marT="14400" marB="14400" anchor="ctr">
                    <a:solidFill>
                      <a:srgbClr val="060606"/>
                    </a:solidFill>
                  </a:tcPr>
                </a:tc>
              </a:tr>
              <a:tr h="210009">
                <a:tc>
                  <a:txBody>
                    <a:bodyPr/>
                    <a:lstStyle/>
                    <a:p>
                      <a:pPr marL="0" indent="0" lvl="0">
                        <a:buNone/>
                      </a:pPr>
                      <a:r>
                        <a:rPr sz="1000" b="1">
                          <a:solidFill>
                            <a:srgbClr val="060606"/>
                          </a:solidFill>
                          <a:latin typeface="Helvetica"/>
                        </a:rPr>
                        <a:t>janv. 2025</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FICHIER ALLER JANVIER 2025.xlsx</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12 256</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156 130 575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9 679</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120 164 075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76,96 %</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juil. 2024</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FICHIER ALLER JUILLET 2024.xlsx</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7 180</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97 910 325 FCFA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11 654</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147 477 325 FCFA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150,62 %</a:t>
                      </a:r>
                    </a:p>
                  </a:txBody>
                  <a:tcPr marL="43200" marR="43200" marT="14400" marB="14400" anchor="ctr">
                    <a:solidFill>
                      <a:srgbClr val="F2F2F2"/>
                    </a:solidFill>
                  </a:tcPr>
                </a:tc>
              </a:tr>
            </a:tbl>
          </a:graphicData>
        </a:graphic>
      </p:graphicFrame>
      <p:sp>
        <p:nvSpPr>
          <p:cNvPr id="33" name="Rounded Rectangle 32"/>
          <p:cNvSpPr/>
          <p:nvPr/>
        </p:nvSpPr>
        <p:spPr>
          <a:xfrm>
            <a:off x="6605999" y="1899619"/>
            <a:ext cx="972000"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380000" y="1748419"/>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5" name="Rounded Rectangle 34"/>
          <p:cNvSpPr/>
          <p:nvPr/>
        </p:nvSpPr>
        <p:spPr>
          <a:xfrm>
            <a:off x="6605999" y="2109628"/>
            <a:ext cx="972000"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380000" y="195842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37" name="Oval 36"/>
          <p:cNvSpPr/>
          <p:nvPr/>
        </p:nvSpPr>
        <p:spPr>
          <a:xfrm>
            <a:off x="503999" y="245643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8" name="TextBox 37"/>
          <p:cNvSpPr txBox="1"/>
          <p:nvPr/>
        </p:nvSpPr>
        <p:spPr>
          <a:xfrm>
            <a:off x="864000" y="2438438"/>
            <a:ext cx="9720000" cy="298144"/>
          </a:xfrm>
          <a:prstGeom prst="rect">
            <a:avLst/>
          </a:prstGeom>
          <a:noFill/>
        </p:spPr>
        <p:txBody>
          <a:bodyPr wrap="square" anchor="t" lIns="54000" rIns="54000"/>
          <a:lstStyle/>
          <a:p>
            <a:pPr algn="l"/>
            <a:r>
              <a:rPr sz="1200" b="0">
                <a:solidFill>
                  <a:srgbClr val="060606"/>
                </a:solidFill>
                <a:latin typeface="Helvetica"/>
              </a:rPr>
              <a:t>En janvier 2025, 2 577 épargnants demandés n'ont pas été précomptés.</a:t>
            </a:r>
          </a:p>
        </p:txBody>
      </p:sp>
      <p:sp>
        <p:nvSpPr>
          <p:cNvPr id="39" name="Oval 38"/>
          <p:cNvSpPr/>
          <p:nvPr/>
        </p:nvSpPr>
        <p:spPr>
          <a:xfrm>
            <a:off x="503999" y="2844582"/>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40" name="TextBox 39"/>
          <p:cNvSpPr txBox="1"/>
          <p:nvPr/>
        </p:nvSpPr>
        <p:spPr>
          <a:xfrm>
            <a:off x="864000" y="2826582"/>
            <a:ext cx="9720000" cy="298144"/>
          </a:xfrm>
          <a:prstGeom prst="rect">
            <a:avLst/>
          </a:prstGeom>
          <a:noFill/>
        </p:spPr>
        <p:txBody>
          <a:bodyPr wrap="square" anchor="t" lIns="54000" rIns="54000"/>
          <a:lstStyle/>
          <a:p>
            <a:pPr algn="l"/>
            <a:r>
              <a:rPr sz="1200" b="0">
                <a:solidFill>
                  <a:srgbClr val="060606"/>
                </a:solidFill>
                <a:latin typeface="Helvetica"/>
              </a:rPr>
              <a:t>En juillet 2024, le fichier retour compte 4 474 lignes de plus que le fichier aller.</a:t>
            </a:r>
          </a:p>
        </p:txBody>
      </p:sp>
      <p:sp>
        <p:nvSpPr>
          <p:cNvPr id="41" name="Oval 40"/>
          <p:cNvSpPr/>
          <p:nvPr/>
        </p:nvSpPr>
        <p:spPr>
          <a:xfrm>
            <a:off x="503999" y="3232727"/>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42" name="TextBox 41"/>
          <p:cNvSpPr txBox="1"/>
          <p:nvPr/>
        </p:nvSpPr>
        <p:spPr>
          <a:xfrm>
            <a:off x="864000" y="3214727"/>
            <a:ext cx="9720000" cy="298144"/>
          </a:xfrm>
          <a:prstGeom prst="rect">
            <a:avLst/>
          </a:prstGeom>
          <a:noFill/>
        </p:spPr>
        <p:txBody>
          <a:bodyPr wrap="square" anchor="t" lIns="54000" rIns="54000"/>
          <a:lstStyle/>
          <a:p>
            <a:pPr algn="l"/>
            <a:r>
              <a:rPr sz="1200" b="0">
                <a:solidFill>
                  <a:srgbClr val="060606"/>
                </a:solidFill>
                <a:latin typeface="Helvetica"/>
              </a:rPr>
              <a:t>Le taux mensuel dépend donc de la qualité des deux fichiers, et le FPPN doit tenir un état des rejets.</a:t>
            </a:r>
          </a:p>
        </p:txBody>
      </p:sp>
      <p:sp>
        <p:nvSpPr>
          <p:cNvPr id="43" name="TextBox 42"/>
          <p:cNvSpPr txBox="1"/>
          <p:nvPr/>
        </p:nvSpPr>
        <p:spPr>
          <a:xfrm>
            <a:off x="503999" y="3656871"/>
            <a:ext cx="11232000" cy="2211128"/>
          </a:xfrm>
          <a:prstGeom prst="rect">
            <a:avLst/>
          </a:prstGeom>
          <a:noFill/>
        </p:spPr>
        <p:txBody>
          <a:bodyPr wrap="square" lIns="54000" rIns="54000"/>
          <a:lstStyle/>
          <a:p>
            <a:pPr algn="just">
              <a:spcAft>
                <a:spcPts val="600"/>
              </a:spcAft>
            </a:pPr>
            <a:r>
              <a:rPr sz="1200" b="1">
                <a:solidFill>
                  <a:srgbClr val="060606"/>
                </a:solidFill>
                <a:latin typeface="Helvetica"/>
              </a:rPr>
              <a:t>Un taux supérieur à 100 % ne signifie pas un trop-perçu.</a:t>
            </a:r>
            <a:r>
              <a:rPr sz="1200" b="0">
                <a:solidFill>
                  <a:srgbClr val="060606"/>
                </a:solidFill>
                <a:latin typeface="Helvetica"/>
              </a:rPr>
              <a:t> Il révèle un fichier aller incomplet, qui n'inclut pas les nouveaux épargnants.</a:t>
            </a:r>
          </a:p>
          <a:p>
            <a:pPr algn="just">
              <a:spcAft>
                <a:spcPts val="600"/>
              </a:spcAft>
            </a:pPr>
            <a:r>
              <a:rPr sz="1200" b="0">
                <a:solidFill>
                  <a:srgbClr val="060606"/>
                </a:solidFill>
                <a:latin typeface="Helvetica"/>
              </a:rPr>
              <a:t>Sans état des rejets, le FPPN ne peut pas prouver que chaque épargnant a été précompté du bon montant : c'est une condition pour reconstituer les comptes individuels.</a:t>
            </a:r>
          </a:p>
        </p:txBody>
      </p:sp>
      <p:sp>
        <p:nvSpPr>
          <p:cNvPr id="44" name="TextBox 4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CGRAE : Caisse générale de retraite des agents de l'État | PEP : Plan Épargne Plus | GNA : assureur de la flotte automobile (compte 47111106)</a:t>
            </a:r>
          </a:p>
        </p:txBody>
      </p:sp>
    </p:spTree>
    <p:extLst>
      <p:ext uri="{BB962C8B-B14F-4D97-AF65-F5344CB8AC3E}">
        <p14:creationId xmlns:p14="http://schemas.microsoft.com/office/powerpoint/2010/main" val="3931100071"/>
      </p:ext>
    </p:extLst>
  </p:cSld>
  <p:clrMapOvr>
    <a:masterClrMapping/>
  </p:clrMapOvr>
  <p:transition>
    <p:fade/>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Fichiers vides ou endommagés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Quatre défauts restent ouverts : décembre 2024, MEDOC et deux fichiers mal classés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Tous les fichiers comptables endommagés ont été renvoyés lisibles le 22/10/2026, dont le grand livre des comptes 2022</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journal de contrôle de l'extraction. Note interne des anomalies</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21 : Fichiers à renvoyer ou à corriger</a:t>
            </a:r>
          </a:p>
        </p:txBody>
      </p:sp>
      <p:graphicFrame>
        <p:nvGraphicFramePr>
          <p:cNvPr id="32" name="Table 31"/>
          <p:cNvGraphicFramePr>
            <a:graphicFrameLocks noGrp="1"/>
          </p:cNvGraphicFramePr>
          <p:nvPr/>
        </p:nvGraphicFramePr>
        <p:xfrm>
          <a:off x="503999" y="1655999"/>
          <a:ext cx="11232000" cy="1629202"/>
        </p:xfrm>
        <a:graphic>
          <a:graphicData uri="http://schemas.openxmlformats.org/drawingml/2006/table">
            <a:tbl>
              <a:tblPr firstRow="0" bandRow="0">
                <a:tableStyleId>{5940675A-B579-460E-94D1-54222C63F5DA}</a:tableStyleId>
              </a:tblPr>
              <a:tblGrid>
                <a:gridCol w="4104000"/>
                <a:gridCol w="2232000"/>
                <a:gridCol w="4896000"/>
              </a:tblGrid>
              <a:tr h="225250">
                <a:tc>
                  <a:txBody>
                    <a:bodyPr/>
                    <a:lstStyle/>
                    <a:p>
                      <a:pPr marL="0" indent="0" lvl="0">
                        <a:buNone/>
                      </a:pPr>
                      <a:r>
                        <a:rPr sz="1100" b="1">
                          <a:solidFill>
                            <a:srgbClr val="FFFFFF"/>
                          </a:solidFill>
                          <a:latin typeface="Helvetica"/>
                        </a:rPr>
                        <a:t>Fichier</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Défaut</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Conséquence</a:t>
                      </a:r>
                    </a:p>
                  </a:txBody>
                  <a:tcPr marL="43200" marR="43200" marT="14400" marB="14400" anchor="ctr">
                    <a:solidFill>
                      <a:srgbClr val="060606"/>
                    </a:solidFill>
                  </a:tcPr>
                </a:tc>
              </a:tr>
              <a:tr h="392901">
                <a:tc>
                  <a:txBody>
                    <a:bodyPr/>
                    <a:lstStyle/>
                    <a:p>
                      <a:pPr marL="0" indent="0" lvl="0">
                        <a:buNone/>
                      </a:pPr>
                      <a:r>
                        <a:rPr sz="1100" b="1">
                          <a:solidFill>
                            <a:srgbClr val="060606"/>
                          </a:solidFill>
                          <a:latin typeface="Helvetica"/>
                        </a:rPr>
                        <a:t>« FPPN_ALLOC_DECES_8Z6_DECEMBRE_2024.xlsx » et « 122024_effectif_police_936_DECEMBRE 2024.xlsx »</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Vides (0 octet)</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Le mois de décembre 2024 n'a aucune donnée. Aucun envoi suivant ne les contient.</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MEDOC 8Z7, retours de février et avril 2026</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Aucune ligne</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Les précomptes MEDOC de ces deux mois sont inconnus.</a:t>
                      </a:r>
                    </a:p>
                  </a:txBody>
                  <a:tcPr marL="43200" marR="43200" marT="14400" marB="14400" anchor="ctr">
                    <a:solidFill>
                      <a:srgbClr val="F2F2F2"/>
                    </a:solidFill>
                  </a:tcPr>
                </a:tc>
              </a:tr>
              <a:tr h="560551">
                <a:tc>
                  <a:txBody>
                    <a:bodyPr/>
                    <a:lstStyle/>
                    <a:p>
                      <a:pPr marL="0" indent="0" lvl="0">
                        <a:buNone/>
                      </a:pPr>
                      <a:r>
                        <a:rPr sz="1100" b="1">
                          <a:solidFill>
                            <a:srgbClr val="060606"/>
                          </a:solidFill>
                          <a:latin typeface="Helvetica"/>
                        </a:rPr>
                        <a:t>Balances des tiers 2021 et 2025, grands livres des comptes 2021, 2022 et 2024, grands livres des tiers 2021, 2023, 2024 et 2025 (Excel)</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Endommagés à la première réception</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Renvoyés lisibles le 22/10/2026 (dossier « 02-Nouveaux_GL et Balances »). « GRAND LIVRE DES COMPTES 2022.xlsx » couvre l'année entière (192 comptes).</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Fichiers aller rangés dans les dossiers retour</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Mal classés</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Les retours de CGRAE juin 2024 et GNA janvier 2026 manquent.</a:t>
                      </a:r>
                    </a:p>
                  </a:txBody>
                  <a:tcPr marL="43200" marR="43200" marT="14400" marB="14400" anchor="ctr">
                    <a:solidFill>
                      <a:srgbClr val="F2F2F2"/>
                    </a:solidFill>
                  </a:tcPr>
                </a:tc>
              </a:tr>
            </a:tbl>
          </a:graphicData>
        </a:graphic>
      </p:graphicFrame>
      <p:sp>
        <p:nvSpPr>
          <p:cNvPr id="33" name="TextBox 32"/>
          <p:cNvSpPr txBox="1"/>
          <p:nvPr/>
        </p:nvSpPr>
        <p:spPr>
          <a:xfrm>
            <a:off x="503999" y="3393204"/>
            <a:ext cx="11232000" cy="162000"/>
          </a:xfrm>
          <a:prstGeom prst="rect">
            <a:avLst/>
          </a:prstGeom>
          <a:noFill/>
        </p:spPr>
        <p:txBody>
          <a:bodyPr wrap="square" anchor="t" lIns="54000" rIns="54000"/>
          <a:lstStyle/>
          <a:p>
            <a:pPr algn="l"/>
            <a:r>
              <a:rPr sz="850" b="0">
                <a:solidFill>
                  <a:srgbClr val="53565A"/>
                </a:solidFill>
                <a:latin typeface="Helvetica"/>
              </a:rPr>
              <a:t>Valable pour : fichiers reçus le 15/10/2026 et le 22/10/2026 dont la lecture a échoué ou qui ne contiennent aucune ligne de données. Liste arrêtée au 22/10/2026.</a:t>
            </a:r>
          </a:p>
        </p:txBody>
      </p:sp>
      <p:sp>
        <p:nvSpPr>
          <p:cNvPr id="34" name="TextBox 33"/>
          <p:cNvSpPr txBox="1"/>
          <p:nvPr/>
        </p:nvSpPr>
        <p:spPr>
          <a:xfrm>
            <a:off x="503999" y="3699204"/>
            <a:ext cx="11232000" cy="2168795"/>
          </a:xfrm>
          <a:prstGeom prst="rect">
            <a:avLst/>
          </a:prstGeom>
          <a:noFill/>
        </p:spPr>
        <p:txBody>
          <a:bodyPr wrap="square" lIns="54000" rIns="54000"/>
          <a:lstStyle/>
          <a:p>
            <a:pPr algn="just">
              <a:spcAft>
                <a:spcPts val="600"/>
              </a:spcAft>
            </a:pPr>
            <a:r>
              <a:rPr sz="1300" b="1">
                <a:solidFill>
                  <a:srgbClr val="060606"/>
                </a:solidFill>
                <a:latin typeface="Helvetica"/>
              </a:rPr>
              <a:t>Les défauts portent sur les fichiers reçus et non sur leur traitement.</a:t>
            </a:r>
            <a:r>
              <a:rPr sz="1300" b="0">
                <a:solidFill>
                  <a:srgbClr val="060606"/>
                </a:solidFill>
                <a:latin typeface="Helvetica"/>
              </a:rPr>
              <a:t> Les empreintes numériques prouvent que les fichiers analysés sont identiques à ceux transmis.</a:t>
            </a:r>
          </a:p>
          <a:p>
            <a:pPr algn="just">
              <a:spcAft>
                <a:spcPts val="600"/>
              </a:spcAft>
            </a:pPr>
            <a:r>
              <a:rPr sz="1300" b="0">
                <a:solidFill>
                  <a:srgbClr val="060606"/>
                </a:solidFill>
                <a:latin typeface="Helvetica"/>
              </a:rPr>
              <a:t>Le renvoi des fichiers de décembre 2024 complètera l'année 2024, sans changer les totaux annuels déjà utilisés.</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CGRAE : Caisse générale de retraite des agents de l'État | GNA : assureur de la flotte automobile (compte 47111106) | MEDOC : produit santé complémentaire du poste 8Z7 | 8Z7 : poste MEDOC</a:t>
            </a:r>
          </a:p>
        </p:txBody>
      </p:sp>
    </p:spTree>
    <p:extLst>
      <p:ext uri="{BB962C8B-B14F-4D97-AF65-F5344CB8AC3E}">
        <p14:creationId xmlns:p14="http://schemas.microsoft.com/office/powerpoint/2010/main" val="1689116835"/>
      </p:ext>
    </p:extLst>
  </p:cSld>
  <p:clrMapOvr>
    <a:masterClrMapping/>
  </p:clrMapOvr>
  <p:transition>
    <p:fade/>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Qualité des bases, variable par variable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montants et les identifiants sont complets, les dates de naissance absentes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Les bases permettent les calculs comptables et statistiques, pas les calculs par âge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fichiers de précomptes de la Solde, de la CGRAE et du FPPN reçus le 15/10/2026 (dossiers « FPPN-SOLDE », « FPPN-CGRAE », « FPPN-GNA », noms exacts en annexe « Fichiers sources »). Traitements Adenka. Exports du logiciel de prêts du Grenier du Policier « BalanceAgeeDetaille … .xls » et « production_de_la_periode … .xls » reçus le 15/10/2026. Traitements Adenka. Script qualite_bases_fppn.py</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22 : Complétude et cohérence des bases de données</a:t>
            </a:r>
          </a:p>
        </p:txBody>
      </p:sp>
      <p:graphicFrame>
        <p:nvGraphicFramePr>
          <p:cNvPr id="32" name="Table 31"/>
          <p:cNvGraphicFramePr>
            <a:graphicFrameLocks noGrp="1"/>
          </p:cNvGraphicFramePr>
          <p:nvPr/>
        </p:nvGraphicFramePr>
        <p:xfrm>
          <a:off x="503999" y="1655999"/>
          <a:ext cx="11231998" cy="2183498"/>
        </p:xfrm>
        <a:graphic>
          <a:graphicData uri="http://schemas.openxmlformats.org/drawingml/2006/table">
            <a:tbl>
              <a:tblPr firstRow="0" bandRow="0">
                <a:tableStyleId>{5940675A-B579-460E-94D1-54222C63F5DA}</a:tableStyleId>
              </a:tblPr>
              <a:tblGrid>
                <a:gridCol w="2015999"/>
                <a:gridCol w="1007999"/>
                <a:gridCol w="2376000"/>
                <a:gridCol w="1728000"/>
                <a:gridCol w="3024000"/>
                <a:gridCol w="1080000"/>
              </a:tblGrid>
              <a:tr h="286214">
                <a:tc>
                  <a:txBody>
                    <a:bodyPr/>
                    <a:lstStyle/>
                    <a:p>
                      <a:pPr marL="0" indent="0" lvl="0">
                        <a:buNone/>
                      </a:pPr>
                      <a:r>
                        <a:rPr sz="750" b="1">
                          <a:solidFill>
                            <a:srgbClr val="FFFFFF"/>
                          </a:solidFill>
                          <a:latin typeface="Helvetica"/>
                        </a:rPr>
                        <a:t>Base</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Lignes</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Identifiants et montants</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Date de naissance</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Cohérence</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Utilisable pour les calculs par âge ?</a:t>
                      </a:r>
                    </a:p>
                  </a:txBody>
                  <a:tcPr marL="43200" marR="43200" marT="14400" marB="14400" anchor="ctr">
                    <a:solidFill>
                      <a:srgbClr val="060606"/>
                    </a:solidFill>
                  </a:tcPr>
                </a:tc>
              </a:tr>
              <a:tr h="286214">
                <a:tc>
                  <a:txBody>
                    <a:bodyPr/>
                    <a:lstStyle/>
                    <a:p>
                      <a:pPr marL="0" indent="0" lvl="0">
                        <a:buNone/>
                      </a:pPr>
                      <a:r>
                        <a:rPr sz="750" b="1">
                          <a:solidFill>
                            <a:srgbClr val="060606"/>
                          </a:solidFill>
                          <a:latin typeface="Helvetica"/>
                        </a:rPr>
                        <a:t>Précomptes maladie (936)</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885 607</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Matricule : 0 manquants. Montant : 0</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Date de naissance : 100,00 % manquante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1 488 lignes d'un même matricule dans un mois. 4 montants nuls ou négatifs</a:t>
                      </a:r>
                    </a:p>
                  </a:txBody>
                  <a:tcPr marL="43200" marR="43200" marT="14400" marB="14400" anchor="ctr">
                    <a:solidFill>
                      <a:srgbClr val="FFFFFF"/>
                    </a:solidFill>
                  </a:tcPr>
                </a:tc>
                <a:tc>
                  <a:txBody>
                    <a:bodyPr/>
                    <a:lstStyle/>
                    <a:p>
                      <a:pPr marL="0" indent="0" lvl="0">
                        <a:buNone/>
                      </a:pPr>
                      <a:r>
                        <a:rPr sz="750" b="1">
                          <a:solidFill>
                            <a:srgbClr val="FFFFFF"/>
                          </a:solidFill>
                          <a:latin typeface="Helvetica"/>
                        </a:rPr>
                        <a:t>Non</a:t>
                      </a:r>
                    </a:p>
                  </a:txBody>
                  <a:tcPr marL="43200" marR="43200" marT="14400" marB="14400" anchor="ctr">
                    <a:solidFill>
                      <a:srgbClr val="C00000"/>
                    </a:solidFill>
                  </a:tcPr>
                </a:tc>
              </a:tr>
              <a:tr h="286214">
                <a:tc>
                  <a:txBody>
                    <a:bodyPr/>
                    <a:lstStyle/>
                    <a:p>
                      <a:pPr marL="0" indent="0" lvl="0">
                        <a:buNone/>
                      </a:pPr>
                      <a:r>
                        <a:rPr sz="750" b="1">
                          <a:solidFill>
                            <a:srgbClr val="060606"/>
                          </a:solidFill>
                          <a:latin typeface="Helvetica"/>
                        </a:rPr>
                        <a:t>Précomptes décès (8Z6)</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699 202</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Matricule : 0 manquants. Montant : 0</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Date de naissance : 100,00 % manquante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286 lignes d'un même matricule dans un mois. 4 montants nuls ou négatifs</a:t>
                      </a:r>
                    </a:p>
                  </a:txBody>
                  <a:tcPr marL="43200" marR="43200" marT="14400" marB="14400" anchor="ctr">
                    <a:solidFill>
                      <a:srgbClr val="F2F2F2"/>
                    </a:solidFill>
                  </a:tcPr>
                </a:tc>
                <a:tc>
                  <a:txBody>
                    <a:bodyPr/>
                    <a:lstStyle/>
                    <a:p>
                      <a:pPr marL="0" indent="0" lvl="0">
                        <a:buNone/>
                      </a:pPr>
                      <a:r>
                        <a:rPr sz="750" b="1">
                          <a:solidFill>
                            <a:srgbClr val="FFFFFF"/>
                          </a:solidFill>
                          <a:latin typeface="Helvetica"/>
                        </a:rPr>
                        <a:t>Non</a:t>
                      </a:r>
                    </a:p>
                  </a:txBody>
                  <a:tcPr marL="43200" marR="43200" marT="14400" marB="14400" anchor="ctr">
                    <a:solidFill>
                      <a:srgbClr val="C00000"/>
                    </a:solidFill>
                  </a:tcPr>
                </a:tc>
              </a:tr>
              <a:tr h="286214">
                <a:tc>
                  <a:txBody>
                    <a:bodyPr/>
                    <a:lstStyle/>
                    <a:p>
                      <a:pPr marL="0" indent="0" lvl="0">
                        <a:buNone/>
                      </a:pPr>
                      <a:r>
                        <a:rPr sz="750" b="1">
                          <a:solidFill>
                            <a:srgbClr val="060606"/>
                          </a:solidFill>
                          <a:latin typeface="Helvetica"/>
                        </a:rPr>
                        <a:t>Versements PEP (998)</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521 420</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Matricule : 0 manquants. Montant : 0</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Date de naissance : 100,00 % manquante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8 328 lignes d'un même matricule dans un mois. 0 montants nuls ou négatifs</a:t>
                      </a:r>
                    </a:p>
                  </a:txBody>
                  <a:tcPr marL="43200" marR="43200" marT="14400" marB="14400" anchor="ctr">
                    <a:solidFill>
                      <a:srgbClr val="FFFFFF"/>
                    </a:solidFill>
                  </a:tcPr>
                </a:tc>
                <a:tc>
                  <a:txBody>
                    <a:bodyPr/>
                    <a:lstStyle/>
                    <a:p>
                      <a:pPr marL="0" indent="0" lvl="0">
                        <a:buNone/>
                      </a:pPr>
                      <a:r>
                        <a:rPr sz="750" b="1">
                          <a:solidFill>
                            <a:srgbClr val="FFFFFF"/>
                          </a:solidFill>
                          <a:latin typeface="Helvetica"/>
                        </a:rPr>
                        <a:t>Non</a:t>
                      </a:r>
                    </a:p>
                  </a:txBody>
                  <a:tcPr marL="43200" marR="43200" marT="14400" marB="14400" anchor="ctr">
                    <a:solidFill>
                      <a:srgbClr val="C00000"/>
                    </a:solidFill>
                  </a:tcPr>
                </a:tc>
              </a:tr>
              <a:tr h="286214">
                <a:tc>
                  <a:txBody>
                    <a:bodyPr/>
                    <a:lstStyle/>
                    <a:p>
                      <a:pPr marL="0" indent="0" lvl="0">
                        <a:buNone/>
                      </a:pPr>
                      <a:r>
                        <a:rPr sz="750" b="1">
                          <a:solidFill>
                            <a:srgbClr val="060606"/>
                          </a:solidFill>
                          <a:latin typeface="Helvetica"/>
                        </a:rPr>
                        <a:t>Versements EFC (870)</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794 940</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Matricule : 0 manquants. Montant : 0</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Date de naissance : 100,00 % manquante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788 lignes d'un même matricule dans un mois. 0 montants nuls ou négatifs</a:t>
                      </a:r>
                    </a:p>
                  </a:txBody>
                  <a:tcPr marL="43200" marR="43200" marT="14400" marB="14400" anchor="ctr">
                    <a:solidFill>
                      <a:srgbClr val="F2F2F2"/>
                    </a:solidFill>
                  </a:tcPr>
                </a:tc>
                <a:tc>
                  <a:txBody>
                    <a:bodyPr/>
                    <a:lstStyle/>
                    <a:p>
                      <a:pPr marL="0" indent="0" lvl="0">
                        <a:buNone/>
                      </a:pPr>
                      <a:r>
                        <a:rPr sz="750" b="1">
                          <a:solidFill>
                            <a:srgbClr val="FFFFFF"/>
                          </a:solidFill>
                          <a:latin typeface="Helvetica"/>
                        </a:rPr>
                        <a:t>Non</a:t>
                      </a:r>
                    </a:p>
                  </a:txBody>
                  <a:tcPr marL="43200" marR="43200" marT="14400" marB="14400" anchor="ctr">
                    <a:solidFill>
                      <a:srgbClr val="C00000"/>
                    </a:solidFill>
                  </a:tcPr>
                </a:tc>
              </a:tr>
              <a:tr h="286214">
                <a:tc>
                  <a:txBody>
                    <a:bodyPr/>
                    <a:lstStyle/>
                    <a:p>
                      <a:pPr marL="0" indent="0" lvl="0">
                        <a:buNone/>
                      </a:pPr>
                      <a:r>
                        <a:rPr sz="750" b="1">
                          <a:solidFill>
                            <a:srgbClr val="060606"/>
                          </a:solidFill>
                          <a:latin typeface="Helvetica"/>
                        </a:rPr>
                        <a:t>Remboursements Grenier (9X4)</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66 252</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Matricule : 1 068 manquants. Montant : 0</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Date de naissance : 100,00 % manquante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13 420 lignes d'un même matricule dans un mois. 0 montants nuls ou négatifs</a:t>
                      </a:r>
                    </a:p>
                  </a:txBody>
                  <a:tcPr marL="43200" marR="43200" marT="14400" marB="14400" anchor="ctr">
                    <a:solidFill>
                      <a:srgbClr val="FFFFFF"/>
                    </a:solidFill>
                  </a:tcPr>
                </a:tc>
                <a:tc>
                  <a:txBody>
                    <a:bodyPr/>
                    <a:lstStyle/>
                    <a:p>
                      <a:pPr marL="0" indent="0" lvl="0">
                        <a:buNone/>
                      </a:pPr>
                      <a:r>
                        <a:rPr sz="750" b="1">
                          <a:solidFill>
                            <a:srgbClr val="FFFFFF"/>
                          </a:solidFill>
                          <a:latin typeface="Helvetica"/>
                        </a:rPr>
                        <a:t>Non</a:t>
                      </a:r>
                    </a:p>
                  </a:txBody>
                  <a:tcPr marL="43200" marR="43200" marT="14400" marB="14400" anchor="ctr">
                    <a:solidFill>
                      <a:srgbClr val="C00000"/>
                    </a:solidFill>
                  </a:tcPr>
                </a:tc>
              </a:tr>
              <a:tr h="286214">
                <a:tc>
                  <a:txBody>
                    <a:bodyPr/>
                    <a:lstStyle/>
                    <a:p>
                      <a:pPr marL="0" indent="0" lvl="0">
                        <a:buNone/>
                      </a:pPr>
                      <a:r>
                        <a:rPr sz="750" b="1">
                          <a:solidFill>
                            <a:srgbClr val="060606"/>
                          </a:solidFill>
                          <a:latin typeface="Helvetica"/>
                        </a:rPr>
                        <a:t>Retraités (CGRAE)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11 353</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Matricule : 1 manquants. Montant : 0</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Date de naissance : 98,93 % manquante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100 lignes d'un même matricule dans un mois. 36 montants nuls ou négatifs</a:t>
                      </a:r>
                    </a:p>
                  </a:txBody>
                  <a:tcPr marL="43200" marR="43200" marT="14400" marB="14400" anchor="ctr">
                    <a:solidFill>
                      <a:srgbClr val="F2F2F2"/>
                    </a:solidFill>
                  </a:tcPr>
                </a:tc>
                <a:tc>
                  <a:txBody>
                    <a:bodyPr/>
                    <a:lstStyle/>
                    <a:p>
                      <a:pPr marL="0" indent="0" lvl="0">
                        <a:buNone/>
                      </a:pPr>
                      <a:r>
                        <a:rPr sz="750" b="1">
                          <a:solidFill>
                            <a:srgbClr val="FFFFFF"/>
                          </a:solidFill>
                          <a:latin typeface="Helvetica"/>
                        </a:rPr>
                        <a:t>Non</a:t>
                      </a:r>
                    </a:p>
                  </a:txBody>
                  <a:tcPr marL="43200" marR="43200" marT="14400" marB="14400" anchor="ctr">
                    <a:solidFill>
                      <a:srgbClr val="C00000"/>
                    </a:solidFill>
                  </a:tcPr>
                </a:tc>
              </a:tr>
              <a:tr h="180000">
                <a:tc>
                  <a:txBody>
                    <a:bodyPr/>
                    <a:lstStyle/>
                    <a:p>
                      <a:pPr marL="0" indent="0" lvl="0">
                        <a:buNone/>
                      </a:pPr>
                      <a:r>
                        <a:rPr sz="750" b="1">
                          <a:solidFill>
                            <a:srgbClr val="060606"/>
                          </a:solidFill>
                          <a:latin typeface="Helvetica"/>
                        </a:rPr>
                        <a:t>Prêts du Grenier au 31/08/2026</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2 959</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Mécano : 4 manquants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Dates, taux, durée : complets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Aucune incohérence de dates ni d'encours sur 6 contrôles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Sans objet</a:t>
                      </a:r>
                    </a:p>
                  </a:txBody>
                  <a:tcPr marL="43200" marR="43200" marT="14400" marB="14400" anchor="ctr">
                    <a:solidFill>
                      <a:srgbClr val="FFFFFF"/>
                    </a:solidFill>
                  </a:tcPr>
                </a:tc>
              </a:tr>
            </a:tbl>
          </a:graphicData>
        </a:graphic>
      </p:graphicFrame>
      <p:graphicFrame>
        <p:nvGraphicFramePr>
          <p:cNvPr id="33" name="Table 32"/>
          <p:cNvGraphicFramePr>
            <a:graphicFrameLocks noGrp="1"/>
          </p:cNvGraphicFramePr>
          <p:nvPr/>
        </p:nvGraphicFramePr>
        <p:xfrm>
          <a:off x="503999" y="4035545"/>
          <a:ext cx="11232000" cy="151200"/>
        </p:xfrm>
        <a:graphic>
          <a:graphicData uri="http://schemas.openxmlformats.org/drawingml/2006/table">
            <a:tbl>
              <a:tblPr firstRow="0" bandRow="0">
                <a:tableStyleId>{5C22544A-7EE6-4342-B048-85BDC9FD1C3A}</a:tableStyleId>
              </a:tblPr>
              <a:tblGrid>
                <a:gridCol w="792000"/>
                <a:gridCol w="936000"/>
                <a:gridCol w="9504000"/>
              </a:tblGrid>
              <a:tr h="151200">
                <a:tc>
                  <a:txBody>
                    <a:bodyPr/>
                    <a:lstStyle/>
                    <a:p>
                      <a:r>
                        <a:rPr sz="700" b="1">
                          <a:solidFill>
                            <a:srgbClr val="060606"/>
                          </a:solidFill>
                          <a:latin typeface="Helvetica"/>
                        </a:rPr>
                        <a:t>Code couleur</a:t>
                      </a:r>
                    </a:p>
                  </a:txBody>
                  <a:tcPr marL="28800" marR="28800" marT="3600" marB="3600" anchor="ctr">
                    <a:solidFill>
                      <a:srgbClr val="FFFFFF"/>
                    </a:solidFill>
                  </a:tcPr>
                </a:tc>
                <a:tc>
                  <a:txBody>
                    <a:bodyPr/>
                    <a:lstStyle/>
                    <a:p>
                      <a:r>
                        <a:rPr sz="700" b="1">
                          <a:solidFill>
                            <a:srgbClr val="FFFFFF"/>
                          </a:solidFill>
                          <a:latin typeface="Helvetica"/>
                        </a:rPr>
                        <a:t>Non</a:t>
                      </a:r>
                    </a:p>
                  </a:txBody>
                  <a:tcPr marL="28800" marR="28800" marT="3600" marB="3600" anchor="ctr">
                    <a:solidFill>
                      <a:srgbClr val="C00000"/>
                    </a:solidFill>
                  </a:tcPr>
                </a:tc>
                <a:tc>
                  <a:txBody>
                    <a:bodyPr/>
                    <a:lstStyle/>
                    <a:p>
                      <a:r>
                        <a:rPr sz="700" b="0">
                          <a:solidFill>
                            <a:srgbClr val="060606"/>
                          </a:solidFill>
                          <a:latin typeface="Helvetica"/>
                        </a:rPr>
                        <a:t>réponse négative à la question de la colonne</a:t>
                      </a:r>
                    </a:p>
                  </a:txBody>
                  <a:tcPr marL="28800" marR="28800" marT="3600" marB="3600" anchor="ctr">
                    <a:solidFill>
                      <a:srgbClr val="FFFFFF"/>
                    </a:solidFill>
                  </a:tcPr>
                </a:tc>
              </a:tr>
            </a:tbl>
          </a:graphicData>
        </a:graphic>
      </p:graphicFrame>
      <p:sp>
        <p:nvSpPr>
          <p:cNvPr id="34" name="TextBox 33"/>
          <p:cNvSpPr txBox="1"/>
          <p:nvPr/>
        </p:nvSpPr>
        <p:spPr>
          <a:xfrm>
            <a:off x="503999" y="4294745"/>
            <a:ext cx="11232000" cy="162000"/>
          </a:xfrm>
          <a:prstGeom prst="rect">
            <a:avLst/>
          </a:prstGeom>
          <a:noFill/>
        </p:spPr>
        <p:txBody>
          <a:bodyPr wrap="square" anchor="t" lIns="54000" rIns="54000"/>
          <a:lstStyle/>
          <a:p>
            <a:pPr algn="l"/>
            <a:r>
              <a:rPr sz="850" b="0">
                <a:solidFill>
                  <a:srgbClr val="53565A"/>
                </a:solidFill>
                <a:latin typeface="Helvetica"/>
              </a:rPr>
              <a:t>Valable pour : lignes retenues des fichiers de précomptes de janvier 2020 à août 2026. Balance âgée du Grenier au 31/08/2026.</a:t>
            </a:r>
          </a:p>
        </p:txBody>
      </p:sp>
      <p:sp>
        <p:nvSpPr>
          <p:cNvPr id="35" name="TextBox 34"/>
          <p:cNvSpPr txBox="1"/>
          <p:nvPr/>
        </p:nvSpPr>
        <p:spPr>
          <a:xfrm>
            <a:off x="503999" y="4600745"/>
            <a:ext cx="11232000" cy="1267254"/>
          </a:xfrm>
          <a:prstGeom prst="rect">
            <a:avLst/>
          </a:prstGeom>
          <a:noFill/>
        </p:spPr>
        <p:txBody>
          <a:bodyPr wrap="square" lIns="54000" rIns="54000"/>
          <a:lstStyle/>
          <a:p>
            <a:pPr algn="just">
              <a:spcAft>
                <a:spcPts val="600"/>
              </a:spcAft>
            </a:pPr>
            <a:r>
              <a:rPr sz="1100" b="1">
                <a:solidFill>
                  <a:srgbClr val="060606"/>
                </a:solidFill>
                <a:latin typeface="Helvetica"/>
              </a:rPr>
              <a:t>Les lignes multiples d'un même matricule dans un mois ne sont pas des erreurs pour le PEP et le Grenier</a:t>
            </a:r>
            <a:r>
              <a:rPr sz="1100" b="0">
                <a:solidFill>
                  <a:srgbClr val="060606"/>
                </a:solidFill>
                <a:latin typeface="Helvetica"/>
              </a:rPr>
              <a:t> : un épargnant peut avoir plusieurs plans et un emprunteur plusieurs prêts. Pour la maladie et le décès, les effectifs comptent les matricules distincts : ces lignes ne gonflent pas les effectifs.</a:t>
            </a:r>
          </a:p>
          <a:p>
            <a:pPr algn="just">
              <a:spcAft>
                <a:spcPts val="600"/>
              </a:spcAft>
            </a:pPr>
            <a:r>
              <a:rPr sz="1100" b="1">
                <a:solidFill>
                  <a:srgbClr val="060606"/>
                </a:solidFill>
                <a:latin typeface="Helvetica"/>
              </a:rPr>
              <a:t>Seuls les fichiers CGRAE de février à avril 2024 portent la date de naissance</a:t>
            </a:r>
            <a:r>
              <a:rPr sz="1100" b="0">
                <a:solidFill>
                  <a:srgbClr val="060606"/>
                </a:solidFill>
                <a:latin typeface="Helvetica"/>
              </a:rPr>
              <a:t> (105 retraités). Les grades et salaires ne figurent que dans les fichiers détaillés de la maladie d'avril à octobre 2024 et de janvier 2025 (209 670 lignes, complètes).</a:t>
            </a:r>
          </a:p>
          <a:p>
            <a:pPr algn="just">
              <a:spcAft>
                <a:spcPts val="600"/>
              </a:spcAft>
            </a:pPr>
            <a:r>
              <a:rPr sz="1100" b="0">
                <a:solidFill>
                  <a:srgbClr val="060606"/>
                </a:solidFill>
                <a:latin typeface="Helvetica"/>
              </a:rPr>
              <a:t>La qualité des montants autorise les analyses comptables du rapport. L'absence de date de naissance empêche les seuls calculs par âge (mortalité, engagements viagers, projection).</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Sigles : FPPN : Fonds de prévoyance de la Police nationale | CGRAE : Caisse générale de retraite des agents de l'État | PEP : Plan Épargne Plus | EFC : entraide fin de carrière | GNA : assureur de la flotte automobile (compte 47111106) | 936 : poste maladie | 8Z6 : poste décès | 870 : poste EFC | 998 : poste PEP | 9X4 : poste Grenier</a:t>
            </a:r>
          </a:p>
        </p:txBody>
      </p:sp>
    </p:spTree>
    <p:extLst>
      <p:ext uri="{BB962C8B-B14F-4D97-AF65-F5344CB8AC3E}">
        <p14:creationId xmlns:p14="http://schemas.microsoft.com/office/powerpoint/2010/main" val="1450207418"/>
      </p:ext>
    </p:extLst>
  </p:cSld>
  <p:clrMapOvr>
    <a:masterClrMapping/>
  </p:clrMapOvr>
  <p:transition>
    <p:fade/>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6" name="Image 25"/>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30" name="ZoneTexte 29">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9" name="Google Shape;7386;p39"/>
          <p:cNvSpPr/>
          <p:nvPr/>
        </p:nvSpPr>
        <p:spPr>
          <a:xfrm rot="10800000">
            <a:off x="1748072" y="1436295"/>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10" name="Google Shape;7367;p39"/>
          <p:cNvSpPr/>
          <p:nvPr/>
        </p:nvSpPr>
        <p:spPr>
          <a:xfrm rot="16200000">
            <a:off x="2201124" y="215006"/>
            <a:ext cx="2027916" cy="4306666"/>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chemeClr val="tx1"/>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 name="Rectangle 3"/>
          <p:cNvSpPr/>
          <p:nvPr/>
        </p:nvSpPr>
        <p:spPr>
          <a:xfrm>
            <a:off x="2946575" y="1442741"/>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Constat</a:t>
            </a:r>
          </a:p>
        </p:txBody>
      </p:sp>
      <p:sp>
        <p:nvSpPr>
          <p:cNvPr id="20" name="Google Shape;7386;p39"/>
          <p:cNvSpPr/>
          <p:nvPr/>
        </p:nvSpPr>
        <p:spPr>
          <a:xfrm rot="10800000">
            <a:off x="6372314" y="1459724"/>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21" name="Google Shape;7367;p39"/>
          <p:cNvSpPr/>
          <p:nvPr/>
        </p:nvSpPr>
        <p:spPr>
          <a:xfrm rot="16200000">
            <a:off x="7569073" y="228570"/>
            <a:ext cx="2000788" cy="4306666"/>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rgbClr val="060606"/>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24" name="Rectangle 23"/>
          <p:cNvSpPr/>
          <p:nvPr/>
        </p:nvSpPr>
        <p:spPr>
          <a:xfrm>
            <a:off x="7570816" y="1466170"/>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Preuves</a:t>
            </a:r>
          </a:p>
        </p:txBody>
      </p:sp>
      <p:sp>
        <p:nvSpPr>
          <p:cNvPr id="37" name="Google Shape;7386;p39"/>
          <p:cNvSpPr/>
          <p:nvPr/>
        </p:nvSpPr>
        <p:spPr>
          <a:xfrm rot="10800000">
            <a:off x="1854215" y="3845744"/>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38" name="Google Shape;7367;p39"/>
          <p:cNvSpPr/>
          <p:nvPr/>
        </p:nvSpPr>
        <p:spPr>
          <a:xfrm rot="16200000">
            <a:off x="2838223" y="3190772"/>
            <a:ext cx="1751381" cy="3719393"/>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rgbClr val="060606"/>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0" name="Rectangle 39"/>
          <p:cNvSpPr/>
          <p:nvPr/>
        </p:nvSpPr>
        <p:spPr>
          <a:xfrm>
            <a:off x="3052718" y="3852190"/>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Implication</a:t>
            </a:r>
          </a:p>
        </p:txBody>
      </p:sp>
      <p:sp>
        <p:nvSpPr>
          <p:cNvPr id="42" name="Google Shape;7386;p39"/>
          <p:cNvSpPr/>
          <p:nvPr/>
        </p:nvSpPr>
        <p:spPr>
          <a:xfrm rot="10800000">
            <a:off x="6478457" y="3869173"/>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3" name="Google Shape;7367;p39"/>
          <p:cNvSpPr/>
          <p:nvPr/>
        </p:nvSpPr>
        <p:spPr>
          <a:xfrm rot="16200000">
            <a:off x="7474179" y="3202486"/>
            <a:ext cx="1727953" cy="3719393"/>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chemeClr val="tx1"/>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5" name="Rectangle 44"/>
          <p:cNvSpPr/>
          <p:nvPr/>
        </p:nvSpPr>
        <p:spPr>
          <a:xfrm>
            <a:off x="7676960" y="3875619"/>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Action</a:t>
            </a:r>
          </a:p>
        </p:txBody>
      </p:sp>
      <p:pic>
        <p:nvPicPr>
          <p:cNvPr id="47" name="Image 4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47871" y="3850143"/>
            <a:ext cx="334029" cy="337914"/>
          </a:xfrm>
          <a:prstGeom prst="rect">
            <a:avLst/>
          </a:prstGeom>
        </p:spPr>
      </p:pic>
      <p:pic>
        <p:nvPicPr>
          <p:cNvPr id="50" name="Image 49">
            <a:extLst>
              <a:ext uri="{FF2B5EF4-FFF2-40B4-BE49-F238E27FC236}">
                <a16:creationId xmlns:a16="http://schemas.microsoft.com/office/drawing/2014/main" id="{593DA389-08F4-31D9-6AB9-E96812D83B7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768142" y="1475503"/>
            <a:ext cx="294700" cy="294700"/>
          </a:xfrm>
          <a:prstGeom prst="rect">
            <a:avLst/>
          </a:prstGeom>
        </p:spPr>
      </p:pic>
      <p:pic>
        <p:nvPicPr>
          <p:cNvPr id="25" name="Image 2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156977" y="1457088"/>
            <a:ext cx="281624" cy="284788"/>
          </a:xfrm>
          <a:prstGeom prst="rect">
            <a:avLst/>
          </a:prstGeom>
        </p:spPr>
      </p:pic>
      <p:pic>
        <p:nvPicPr>
          <p:cNvPr id="28" name="Image 27"/>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791905" y="3883760"/>
            <a:ext cx="270937" cy="276827"/>
          </a:xfrm>
          <a:prstGeom prst="rect">
            <a:avLst/>
          </a:prstGeom>
        </p:spPr>
      </p:pic>
      <p:sp>
        <p:nvSpPr>
          <p:cNvPr id="31" name="Rectangle 30"/>
          <p:cNvSpPr/>
          <p:nvPr/>
        </p:nvSpPr>
        <p:spPr>
          <a:xfrm>
            <a:off x="1999671" y="1962253"/>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La base reproduit les fichiers du FPPN, à 26 lignes près sans matricule valide (737 890 FCFA, 0,0017 % des précomptes), mais il manque les données nécessaires aux calculs actuariels.</a:t>
            </a:r>
          </a:p>
        </p:txBody>
      </p:sp>
      <p:sp>
        <p:nvSpPr>
          <p:cNvPr id="32" name="Rectangle 31"/>
          <p:cNvSpPr/>
          <p:nvPr/>
        </p:nvSpPr>
        <p:spPr>
          <a:xfrm>
            <a:off x="6623912" y="1926662"/>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Les empreintes, les lignes et les totaux des logiciels sont identiques. Adenka a écarté 87 lignes de total et corrigé 17 montants doublés.</a:t>
            </a:r>
          </a:p>
        </p:txBody>
      </p:sp>
      <p:sp>
        <p:nvSpPr>
          <p:cNvPr id="33" name="Rectangle 32"/>
          <p:cNvSpPr/>
          <p:nvPr/>
        </p:nvSpPr>
        <p:spPr>
          <a:xfrm>
            <a:off x="2093705" y="4388689"/>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La qualité des analyses dépend désormais de la transmission des données manquantes, et non plus du traitement des fichiers.</a:t>
            </a:r>
          </a:p>
        </p:txBody>
      </p:sp>
      <p:sp>
        <p:nvSpPr>
          <p:cNvPr id="34" name="Rectangle 33"/>
          <p:cNvSpPr/>
          <p:nvPr/>
        </p:nvSpPr>
        <p:spPr>
          <a:xfrm>
            <a:off x="6768142" y="4336111"/>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 FPPN doit transmettre les bases de prestations, les dates de naissance et les fichiers vides de décembre 2024.</a:t>
            </a:r>
          </a:p>
        </p:txBody>
      </p:sp>
      <p:sp>
        <p:nvSpPr>
          <p:cNvPr id="51"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À retenir : données</a:t>
            </a:r>
          </a:p>
        </p:txBody>
      </p:sp>
      <p:sp>
        <p:nvSpPr>
          <p:cNvPr id="52"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données reçues sont fidèlement reprises, mais incomplètes</a:t>
            </a:r>
          </a:p>
        </p:txBody>
      </p:sp>
      <p:sp>
        <p:nvSpPr>
          <p:cNvPr id="53"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Base contrôlée à 100 %, sans prestations, sans âges et sans précomptes mensuels de 2020 à 2022</a:t>
            </a:r>
          </a:p>
        </p:txBody>
      </p:sp>
      <p:sp>
        <p:nvSpPr>
          <p:cNvPr id="54"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analyses Adenka</a:t>
            </a:r>
          </a:p>
        </p:txBody>
      </p:sp>
      <p:sp>
        <p:nvSpPr>
          <p:cNvPr id="55" name="TextBox 5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3843182805"/>
      </p:ext>
    </p:extLst>
  </p:cSld>
  <p:clrMapOvr>
    <a:masterClrMapping/>
  </p:clrMapOvr>
  <p:transition>
    <p:fade/>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Contrôle croisé : états financiers et balances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états financiers concordent avec les balances 5 années sur 7</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Total de l'actif, résultat et trésorerie identiques au franc près, sauf en 2023 (deux versions des comptes) et au 31/08/2026 (résultat)</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ETATS FINANCIERS 2020.pdf à ETATS FINANCIERS 2025.pdf, ETATS FINANCIERS AU 31-08-2026.pdf, BILAN_DE_L'EXERCICE_CLOS_31.12.2023_(corrigé_et_finalisé)[1].pdf. Balances des comptes du FPPN de 2020 au 31/08/2026 (provisoire), fichiers « BALANCE … » listés en annexe « Fichiers sources ». Traitements Adenka</a:t>
            </a:r>
          </a:p>
        </p:txBody>
      </p:sp>
      <p:sp>
        <p:nvSpPr>
          <p:cNvPr id="31" name="TextBox 30"/>
          <p:cNvSpPr txBox="1"/>
          <p:nvPr/>
        </p:nvSpPr>
        <p:spPr>
          <a:xfrm>
            <a:off x="503999" y="1386000"/>
            <a:ext cx="10584000" cy="216000"/>
          </a:xfrm>
          <a:prstGeom prst="rect">
            <a:avLst/>
          </a:prstGeom>
          <a:noFill/>
        </p:spPr>
        <p:txBody>
          <a:bodyPr wrap="square" anchor="t" lIns="54000" rIns="54000"/>
          <a:lstStyle/>
          <a:p>
            <a:pPr algn="ctr"/>
            <a:r>
              <a:rPr sz="1200" b="0">
                <a:solidFill>
                  <a:srgbClr val="EFAC62"/>
                </a:solidFill>
                <a:latin typeface="Helvetica"/>
              </a:rPr>
              <a:t>Tableau 23 : États financiers et balances : actif brut, résultat, trésorerie</a:t>
            </a:r>
          </a:p>
        </p:txBody>
      </p:sp>
      <p:graphicFrame>
        <p:nvGraphicFramePr>
          <p:cNvPr id="32" name="Table 31"/>
          <p:cNvGraphicFramePr>
            <a:graphicFrameLocks noGrp="1"/>
          </p:cNvGraphicFramePr>
          <p:nvPr/>
        </p:nvGraphicFramePr>
        <p:xfrm>
          <a:off x="503999" y="1655999"/>
          <a:ext cx="10584000" cy="1558144"/>
        </p:xfrm>
        <a:graphic>
          <a:graphicData uri="http://schemas.openxmlformats.org/drawingml/2006/table">
            <a:tbl>
              <a:tblPr firstRow="0" bandRow="0">
                <a:tableStyleId>{5940675A-B579-460E-94D1-54222C63F5DA}</a:tableStyleId>
              </a:tblPr>
              <a:tblGrid>
                <a:gridCol w="1296000"/>
                <a:gridCol w="2160000"/>
                <a:gridCol w="1728000"/>
                <a:gridCol w="2160000"/>
                <a:gridCol w="1728000"/>
                <a:gridCol w="1512000"/>
              </a:tblGrid>
              <a:tr h="194768">
                <a:tc>
                  <a:txBody>
                    <a:bodyPr/>
                    <a:lstStyle/>
                    <a:p>
                      <a:pPr marL="0" indent="0" lvl="0">
                        <a:buNone/>
                      </a:pPr>
                      <a:r>
                        <a:rPr sz="900" b="1">
                          <a:solidFill>
                            <a:srgbClr val="FFFFFF"/>
                          </a:solidFill>
                          <a:latin typeface="Helvetica"/>
                        </a:rPr>
                        <a:t>Exercice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Actif brut (états financiers)</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Écart avec la balance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Résultat (états financiers)</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Écart avec la balance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Trésorerie : écart</a:t>
                      </a:r>
                    </a:p>
                  </a:txBody>
                  <a:tcPr marL="43200" marR="43200" marT="14400" marB="14400" anchor="ctr">
                    <a:solidFill>
                      <a:srgbClr val="060606"/>
                    </a:solidFill>
                  </a:tcPr>
                </a:tc>
              </a:tr>
              <a:tr h="194768">
                <a:tc>
                  <a:txBody>
                    <a:bodyPr/>
                    <a:lstStyle/>
                    <a:p>
                      <a:pPr marL="0" indent="0" lvl="0">
                        <a:buNone/>
                      </a:pPr>
                      <a:r>
                        <a:rPr sz="900" b="1">
                          <a:solidFill>
                            <a:srgbClr val="060606"/>
                          </a:solidFill>
                          <a:latin typeface="Helvetica"/>
                        </a:rPr>
                        <a:t>2020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14 446 097 044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1 018 579 699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2021</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16 195 461 159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2 083 908 202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2022</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15 510 713 126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2 060 332 677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2023</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16 157 155 123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-10 000 000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928 699 102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-1 930 000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2024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19 396 236 478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792 069 641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2025</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21 722 068 914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437 899 911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31/08/2026</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23 692 620 745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-437 148 460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4 108 040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FFFFF"/>
                    </a:solidFill>
                  </a:tcPr>
                </a:tc>
              </a:tr>
            </a:tbl>
          </a:graphicData>
        </a:graphic>
      </p:graphicFrame>
      <p:sp>
        <p:nvSpPr>
          <p:cNvPr id="33" name="TextBox 32"/>
          <p:cNvSpPr txBox="1"/>
          <p:nvPr/>
        </p:nvSpPr>
        <p:spPr>
          <a:xfrm>
            <a:off x="503999" y="3322149"/>
            <a:ext cx="11232000" cy="162000"/>
          </a:xfrm>
          <a:prstGeom prst="rect">
            <a:avLst/>
          </a:prstGeom>
          <a:noFill/>
        </p:spPr>
        <p:txBody>
          <a:bodyPr wrap="square" anchor="t" lIns="54000" rIns="54000"/>
          <a:lstStyle/>
          <a:p>
            <a:pPr algn="l"/>
            <a:r>
              <a:rPr sz="850" b="0">
                <a:solidFill>
                  <a:srgbClr val="53565A"/>
                </a:solidFill>
                <a:latin typeface="Helvetica"/>
              </a:rPr>
              <a:t>Valable pour : exercices 2020 à 2025 et situation au 31/08/2026, totaux du bilan et résultat. Les rubriques détaillées n'ont pas été comparées.</a:t>
            </a:r>
          </a:p>
        </p:txBody>
      </p:sp>
      <p:sp>
        <p:nvSpPr>
          <p:cNvPr id="34" name="TextBox 33"/>
          <p:cNvSpPr txBox="1"/>
          <p:nvPr/>
        </p:nvSpPr>
        <p:spPr>
          <a:xfrm>
            <a:off x="503999" y="3628149"/>
            <a:ext cx="11232000" cy="2239850"/>
          </a:xfrm>
          <a:prstGeom prst="rect">
            <a:avLst/>
          </a:prstGeom>
          <a:noFill/>
        </p:spPr>
        <p:txBody>
          <a:bodyPr wrap="square" lIns="54000" rIns="54000"/>
          <a:lstStyle/>
          <a:p>
            <a:pPr algn="just">
              <a:spcAft>
                <a:spcPts val="600"/>
              </a:spcAft>
            </a:pPr>
            <a:r>
              <a:rPr sz="1300" b="1">
                <a:solidFill>
                  <a:srgbClr val="060606"/>
                </a:solidFill>
                <a:latin typeface="Helvetica"/>
              </a:rPr>
              <a:t>En 2023, les états financiers scannés portent un actif brut inférieur de 10 000 000 FCFA et un excédent de 928 699 102 FCFA, contre 930 629 102 FCFA dans la balance.</a:t>
            </a:r>
            <a:r>
              <a:rPr sz="1300" b="0">
                <a:solidFill>
                  <a:srgbClr val="060606"/>
                </a:solidFill>
                <a:latin typeface="Helvetica"/>
              </a:rPr>
              <a:t> Le rapport de gestion 2023 « corrigé et finalisé » et la colonne 2023 des états financiers 2024 reprennent les montants de la balance : le scan est une version antérieure à la correction.</a:t>
            </a:r>
          </a:p>
          <a:p>
            <a:pPr algn="just">
              <a:spcAft>
                <a:spcPts val="600"/>
              </a:spcAft>
            </a:pPr>
            <a:r>
              <a:rPr sz="1300" b="1">
                <a:solidFill>
                  <a:srgbClr val="060606"/>
                </a:solidFill>
                <a:latin typeface="Helvetica"/>
              </a:rPr>
              <a:t>Au 31/08/2026, le résultat des états financiers (-437 148 460 FCFA) diffère de celui de la balance provisoire (-441 256 500 FCFA).</a:t>
            </a:r>
            <a:r>
              <a:rPr sz="1300" b="0">
                <a:solidFill>
                  <a:srgbClr val="060606"/>
                </a:solidFill>
                <a:latin typeface="Helvetica"/>
              </a:rPr>
              <a:t> L'actif brut et la trésorerie sont pourtant identiques.</a:t>
            </a:r>
          </a:p>
          <a:p>
            <a:pPr algn="just">
              <a:spcAft>
                <a:spcPts val="600"/>
              </a:spcAft>
            </a:pPr>
            <a:r>
              <a:rPr sz="1300" b="0">
                <a:solidFill>
                  <a:srgbClr val="060606"/>
                </a:solidFill>
                <a:latin typeface="Helvetica"/>
              </a:rPr>
              <a:t>Les balances utilisées dans le rapport sont confirmées par les comptes publiés. Le FPPN doit indiquer quelle version des comptes 2023 a été approuvée et expliquer l'écart de résultat au 31/08/2026 (PBC, item 76).</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PBC : liste des documents demandés au client</a:t>
            </a:r>
          </a:p>
        </p:txBody>
      </p:sp>
    </p:spTree>
    <p:extLst>
      <p:ext uri="{BB962C8B-B14F-4D97-AF65-F5344CB8AC3E}">
        <p14:creationId xmlns:p14="http://schemas.microsoft.com/office/powerpoint/2010/main" val="584139453"/>
      </p:ext>
    </p:extLst>
  </p:cSld>
  <p:clrMapOvr>
    <a:masterClrMapping/>
  </p:clrMapOvr>
  <p:transition>
    <p:fade/>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Contrôle croisé : effectifs du FPPN et fichiers de la Solde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effectifs déclarés par le FPPN sont ceux des fichiers 8Z6, à dix agents près en 2026</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 nombre d'adhérents du FPPN égale le nombre de lignes 8Z6 en novembre 2024 et décembre 2025. La clé 3,77 / 1,23 s'applique depuis mars 2024</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ETUDE DES RATIO MALADIE DECES 2.xlsx, feuille Tableau, lignes « NB D'ADHERENTS » et « COTISATIONS PAYEES ». Fichiers de précomptes de la Solde, de la CGRAE et du FPPN reçus le 15/10/2026 (dossiers « FPPN-SOLDE », « FPPN-CGRAE », « FPPN-GNA », noms exacts en annexe « Fichiers sources »). Traitements Adenka</a:t>
            </a:r>
          </a:p>
        </p:txBody>
      </p:sp>
      <p:sp>
        <p:nvSpPr>
          <p:cNvPr id="31" name="TextBox 30"/>
          <p:cNvSpPr txBox="1"/>
          <p:nvPr/>
        </p:nvSpPr>
        <p:spPr>
          <a:xfrm>
            <a:off x="503999" y="1386000"/>
            <a:ext cx="10584000" cy="216000"/>
          </a:xfrm>
          <a:prstGeom prst="rect">
            <a:avLst/>
          </a:prstGeom>
          <a:noFill/>
        </p:spPr>
        <p:txBody>
          <a:bodyPr wrap="square" anchor="t" lIns="54000" rIns="54000"/>
          <a:lstStyle/>
          <a:p>
            <a:pPr algn="ctr"/>
            <a:r>
              <a:rPr sz="1200" b="0">
                <a:solidFill>
                  <a:srgbClr val="EFAC62"/>
                </a:solidFill>
                <a:latin typeface="Helvetica"/>
              </a:rPr>
              <a:t>Tableau 24 : Adhérents du FPPN, lignes 8Z6 et rapport 8Z6 / 936</a:t>
            </a:r>
          </a:p>
        </p:txBody>
      </p:sp>
      <p:graphicFrame>
        <p:nvGraphicFramePr>
          <p:cNvPr id="32" name="Table 31"/>
          <p:cNvGraphicFramePr>
            <a:graphicFrameLocks noGrp="1"/>
          </p:cNvGraphicFramePr>
          <p:nvPr/>
        </p:nvGraphicFramePr>
        <p:xfrm>
          <a:off x="503999" y="1655999"/>
          <a:ext cx="10584000" cy="2337216"/>
        </p:xfrm>
        <a:graphic>
          <a:graphicData uri="http://schemas.openxmlformats.org/drawingml/2006/table">
            <a:tbl>
              <a:tblPr firstRow="0" bandRow="0">
                <a:tableStyleId>{5940675A-B579-460E-94D1-54222C63F5DA}</a:tableStyleId>
              </a:tblPr>
              <a:tblGrid>
                <a:gridCol w="1440000"/>
                <a:gridCol w="1800000"/>
                <a:gridCol w="1800000"/>
                <a:gridCol w="1224000"/>
                <a:gridCol w="2160000"/>
                <a:gridCol w="2160000"/>
              </a:tblGrid>
              <a:tr h="194768">
                <a:tc>
                  <a:txBody>
                    <a:bodyPr/>
                    <a:lstStyle/>
                    <a:p>
                      <a:pPr marL="0" indent="0" lvl="0">
                        <a:buNone/>
                      </a:pPr>
                      <a:r>
                        <a:rPr sz="900" b="1">
                          <a:solidFill>
                            <a:srgbClr val="FFFFFF"/>
                          </a:solidFill>
                          <a:latin typeface="Helvetica"/>
                        </a:rPr>
                        <a:t>Période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Adhérents (FPPN)</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Lignes 8Z6 (Solde)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Écart</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Rapport médian 8Z6 / 936</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Lignes à la clé 3,77 / 1,23</a:t>
                      </a:r>
                    </a:p>
                  </a:txBody>
                  <a:tcPr marL="43200" marR="43200" marT="14400" marB="14400" anchor="ctr">
                    <a:solidFill>
                      <a:srgbClr val="060606"/>
                    </a:solidFill>
                  </a:tcPr>
                </a:tc>
              </a:tr>
              <a:tr h="194768">
                <a:tc>
                  <a:txBody>
                    <a:bodyPr/>
                    <a:lstStyle/>
                    <a:p>
                      <a:pPr marL="0" indent="0" lvl="0">
                        <a:buNone/>
                      </a:pPr>
                      <a:r>
                        <a:rPr sz="900" b="1">
                          <a:solidFill>
                            <a:srgbClr val="060606"/>
                          </a:solidFill>
                          <a:latin typeface="Helvetica"/>
                        </a:rPr>
                        <a:t>11/2024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27 657</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27 657</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0,3262</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99,95 %</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12/2025</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31 678</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31 678</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0,3262</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99,98 %</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01/2026</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31 261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31 271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0,3262</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99,99 %</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02/2026</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31 252</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31 262</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0,3262</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99,99 %</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03/2026</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31 240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31 250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0,3262</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99,99 %</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04/2026</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31 230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31 240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0,3262</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99,99 %</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05/2026</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31 234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31 244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0,3262</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99,99 %</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06/2026</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31 225</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31 235</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0,3262</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99,98 %</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01/2024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23 118</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0,3059</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13,79 %</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02/2024</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23 129</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0,3023</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12,32 %</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03/2024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23 123</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0,3263</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100,00 %</a:t>
                      </a:r>
                    </a:p>
                  </a:txBody>
                  <a:tcPr marL="43200" marR="43200" marT="14400" marB="14400" anchor="ctr">
                    <a:solidFill>
                      <a:srgbClr val="FFFFFF"/>
                    </a:solidFill>
                  </a:tcPr>
                </a:tc>
              </a:tr>
            </a:tbl>
          </a:graphicData>
        </a:graphic>
      </p:graphicFrame>
      <p:sp>
        <p:nvSpPr>
          <p:cNvPr id="33" name="TextBox 32"/>
          <p:cNvSpPr txBox="1"/>
          <p:nvPr/>
        </p:nvSpPr>
        <p:spPr>
          <a:xfrm>
            <a:off x="503999" y="4101223"/>
            <a:ext cx="11232000" cy="162000"/>
          </a:xfrm>
          <a:prstGeom prst="rect">
            <a:avLst/>
          </a:prstGeom>
          <a:noFill/>
        </p:spPr>
        <p:txBody>
          <a:bodyPr wrap="square" anchor="t" lIns="54000" rIns="54000"/>
          <a:lstStyle/>
          <a:p>
            <a:pPr algn="l"/>
            <a:r>
              <a:rPr sz="850" b="0">
                <a:solidFill>
                  <a:srgbClr val="53565A"/>
                </a:solidFill>
                <a:latin typeface="Helvetica"/>
              </a:rPr>
              <a:t>Valable pour : mois cités, policiers précomptés par la Solde (8Z6 et 936). Les mois de 2024 sans fichier 8Z6 ne sont pas couverts.</a:t>
            </a:r>
          </a:p>
        </p:txBody>
      </p:sp>
      <p:sp>
        <p:nvSpPr>
          <p:cNvPr id="34" name="TextBox 33"/>
          <p:cNvSpPr txBox="1"/>
          <p:nvPr/>
        </p:nvSpPr>
        <p:spPr>
          <a:xfrm>
            <a:off x="503999" y="4407223"/>
            <a:ext cx="11232000" cy="1460776"/>
          </a:xfrm>
          <a:prstGeom prst="rect">
            <a:avLst/>
          </a:prstGeom>
          <a:noFill/>
        </p:spPr>
        <p:txBody>
          <a:bodyPr wrap="square" lIns="54000" rIns="54000"/>
          <a:lstStyle/>
          <a:p>
            <a:pPr algn="just">
              <a:spcAft>
                <a:spcPts val="600"/>
              </a:spcAft>
            </a:pPr>
            <a:r>
              <a:rPr sz="1300" b="1">
                <a:solidFill>
                  <a:srgbClr val="060606"/>
                </a:solidFill>
                <a:latin typeface="Helvetica"/>
              </a:rPr>
              <a:t>La répartition 3,77 / 1,23 s'applique à 99,99 % des lignes de 2025 et à 99,99 % des lignes de 2026.</a:t>
            </a:r>
            <a:r>
              <a:rPr sz="1300" b="0">
                <a:solidFill>
                  <a:srgbClr val="060606"/>
                </a:solidFill>
                <a:latin typeface="Helvetica"/>
              </a:rPr>
              <a:t> En janvier et février 2024, le rapport médian vaut 0,3059 et 0,3023 : une autre clé s'appliquait alors.</a:t>
            </a:r>
          </a:p>
          <a:p>
            <a:pPr algn="just">
              <a:spcAft>
                <a:spcPts val="600"/>
              </a:spcAft>
            </a:pPr>
            <a:r>
              <a:rPr sz="1300" b="1">
                <a:solidFill>
                  <a:srgbClr val="060606"/>
                </a:solidFill>
                <a:latin typeface="Helvetica"/>
              </a:rPr>
              <a:t>De janvier à juin 2026, le FPPN compte chaque mois dix adhérents de moins que les fichiers 8Z6.</a:t>
            </a:r>
            <a:r>
              <a:rPr sz="1300" b="0">
                <a:solidFill>
                  <a:srgbClr val="060606"/>
                </a:solidFill>
                <a:latin typeface="Helvetica"/>
              </a:rPr>
              <a:t> Les cotisations décès déclarées par le FPPN dépassent aussi la somme des lignes 8Z6 du mois.</a:t>
            </a:r>
          </a:p>
          <a:p>
            <a:pPr algn="just">
              <a:spcAft>
                <a:spcPts val="600"/>
              </a:spcAft>
            </a:pPr>
            <a:r>
              <a:rPr sz="1300" b="0">
                <a:solidFill>
                  <a:srgbClr val="060606"/>
                </a:solidFill>
                <a:latin typeface="Helvetica"/>
              </a:rPr>
              <a:t>Les effectifs utilisés par le FPPN pour ses ratios sont fiables à l'unité près. La clé appliquée avant mars 2024 et l'origine des dix agents d'écart sont à demander (PBC, item 34).</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CGRAE : Caisse générale de retraite des agents de l'État | PBC : liste des documents demandés au client | GNA : assureur de la flotte automobile (compte 47111106) | 8Z6 : poste décès</a:t>
            </a:r>
          </a:p>
        </p:txBody>
      </p:sp>
    </p:spTree>
    <p:extLst>
      <p:ext uri="{BB962C8B-B14F-4D97-AF65-F5344CB8AC3E}">
        <p14:creationId xmlns:p14="http://schemas.microsoft.com/office/powerpoint/2010/main" val="3997075917"/>
      </p:ext>
    </p:extLst>
  </p:cSld>
  <p:clrMapOvr>
    <a:masterClrMapping/>
  </p:clrMapOvr>
  <p:transition>
    <p:fade/>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Contrôle croisé : rapprochements bancaires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soldes bancaires de la comptabilité sont ceux de la balance. Des chèques restent en suspens depuis 2021</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Au 31/12/2025, 49 chèques émis depuis plus d'un an ne sont pas encaissés, pour 14 464 730 FCFA</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ETAT DE RAPPROCHEMENT BANCAIRE FPPN 2020.xlsx à ETAT DE RAPPROCHEMENT BANCAIRE FPPN 2026.xlsx. Balances des comptes du FPPN de 2020 au 31/08/2026 (provisoire), fichiers « BALANCE … » listés en annexe « Fichiers sources ». Traitements Adenka</a:t>
            </a:r>
          </a:p>
        </p:txBody>
      </p:sp>
      <p:sp>
        <p:nvSpPr>
          <p:cNvPr id="31" name="TextBox 30"/>
          <p:cNvSpPr txBox="1"/>
          <p:nvPr/>
        </p:nvSpPr>
        <p:spPr>
          <a:xfrm>
            <a:off x="503999" y="1386000"/>
            <a:ext cx="10944000" cy="216000"/>
          </a:xfrm>
          <a:prstGeom prst="rect">
            <a:avLst/>
          </a:prstGeom>
          <a:noFill/>
        </p:spPr>
        <p:txBody>
          <a:bodyPr wrap="square" anchor="t" lIns="54000" rIns="54000"/>
          <a:lstStyle/>
          <a:p>
            <a:pPr algn="ctr"/>
            <a:r>
              <a:rPr sz="1200" b="0">
                <a:solidFill>
                  <a:srgbClr val="EFAC62"/>
                </a:solidFill>
                <a:latin typeface="Helvetica"/>
              </a:rPr>
              <a:t>Tableau 25 : Rapprochements bancaires au 31 décembre</a:t>
            </a:r>
          </a:p>
        </p:txBody>
      </p:sp>
      <p:graphicFrame>
        <p:nvGraphicFramePr>
          <p:cNvPr id="32" name="Table 31"/>
          <p:cNvGraphicFramePr>
            <a:graphicFrameLocks noGrp="1"/>
          </p:cNvGraphicFramePr>
          <p:nvPr/>
        </p:nvGraphicFramePr>
        <p:xfrm>
          <a:off x="503999" y="1655999"/>
          <a:ext cx="10943998" cy="1500545"/>
        </p:xfrm>
        <a:graphic>
          <a:graphicData uri="http://schemas.openxmlformats.org/drawingml/2006/table">
            <a:tbl>
              <a:tblPr firstRow="0" bandRow="0">
                <a:tableStyleId>{5940675A-B579-460E-94D1-54222C63F5DA}</a:tableStyleId>
              </a:tblPr>
              <a:tblGrid>
                <a:gridCol w="1007999"/>
                <a:gridCol w="1224000"/>
                <a:gridCol w="1368000"/>
                <a:gridCol w="1872000"/>
                <a:gridCol w="1872000"/>
                <a:gridCol w="1944000"/>
                <a:gridCol w="1655999"/>
              </a:tblGrid>
              <a:tr h="331937">
                <a:tc>
                  <a:txBody>
                    <a:bodyPr/>
                    <a:lstStyle/>
                    <a:p>
                      <a:pPr marL="0" indent="0" lvl="0">
                        <a:buNone/>
                      </a:pPr>
                      <a:r>
                        <a:rPr sz="900" b="1">
                          <a:solidFill>
                            <a:srgbClr val="FFFFFF"/>
                          </a:solidFill>
                          <a:latin typeface="Helvetica"/>
                        </a:rPr>
                        <a:t>Exercice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Comptes rapprochés</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Soldes égaux à la balance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Solde comptable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Solde bancaire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Chèques en suspens depuis plus d'un an</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Montant</a:t>
                      </a:r>
                    </a:p>
                  </a:txBody>
                  <a:tcPr marL="43200" marR="43200" marT="14400" marB="14400" anchor="ctr">
                    <a:solidFill>
                      <a:srgbClr val="060606"/>
                    </a:solidFill>
                  </a:tcPr>
                </a:tc>
              </a:tr>
              <a:tr h="194768">
                <a:tc>
                  <a:txBody>
                    <a:bodyPr/>
                    <a:lstStyle/>
                    <a:p>
                      <a:pPr marL="0" indent="0" lvl="0">
                        <a:buNone/>
                      </a:pPr>
                      <a:r>
                        <a:rPr sz="900" b="1">
                          <a:solidFill>
                            <a:srgbClr val="060606"/>
                          </a:solidFill>
                          <a:latin typeface="Helvetica"/>
                        </a:rPr>
                        <a:t>2020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241 249 481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276 678 044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2 609 083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2021</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6</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6</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2 435 456 722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2 526 941 293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2022</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638 155 842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746 468 428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8 791 200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2023</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5</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5</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695 388 139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776 810 618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14</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10 505 723 FCFA</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2024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438 360 275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714 979 473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33</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14 286 786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2025</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6</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6</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1 449 586 812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1 588 906 901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49</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14 464 730 FCFA</a:t>
                      </a:r>
                    </a:p>
                  </a:txBody>
                  <a:tcPr marL="43200" marR="43200" marT="14400" marB="14400" anchor="ctr">
                    <a:solidFill>
                      <a:srgbClr val="F2F2F2"/>
                    </a:solidFill>
                  </a:tcPr>
                </a:tc>
              </a:tr>
            </a:tbl>
          </a:graphicData>
        </a:graphic>
      </p:graphicFrame>
      <p:sp>
        <p:nvSpPr>
          <p:cNvPr id="33" name="TextBox 32"/>
          <p:cNvSpPr txBox="1"/>
          <p:nvPr/>
        </p:nvSpPr>
        <p:spPr>
          <a:xfrm>
            <a:off x="503999" y="3264549"/>
            <a:ext cx="11232000" cy="162000"/>
          </a:xfrm>
          <a:prstGeom prst="rect">
            <a:avLst/>
          </a:prstGeom>
          <a:noFill/>
        </p:spPr>
        <p:txBody>
          <a:bodyPr wrap="square" anchor="t" lIns="54000" rIns="54000"/>
          <a:lstStyle/>
          <a:p>
            <a:pPr algn="l"/>
            <a:r>
              <a:rPr sz="850" b="0">
                <a:solidFill>
                  <a:srgbClr val="53565A"/>
                </a:solidFill>
                <a:latin typeface="Helvetica"/>
              </a:rPr>
              <a:t>Valable pour : comptes bancaires présents dans les états de rapprochement (BOA, Banque Atlantique, Orabank), au 31/12 de 2020 à 2025. Les DAT, le FCP et la caisse ne sont pas couverts.</a:t>
            </a:r>
          </a:p>
        </p:txBody>
      </p:sp>
      <p:sp>
        <p:nvSpPr>
          <p:cNvPr id="34" name="TextBox 33"/>
          <p:cNvSpPr txBox="1"/>
          <p:nvPr/>
        </p:nvSpPr>
        <p:spPr>
          <a:xfrm>
            <a:off x="503999" y="3570549"/>
            <a:ext cx="11232000" cy="2297450"/>
          </a:xfrm>
          <a:prstGeom prst="rect">
            <a:avLst/>
          </a:prstGeom>
          <a:noFill/>
        </p:spPr>
        <p:txBody>
          <a:bodyPr wrap="square" lIns="54000" rIns="54000"/>
          <a:lstStyle/>
          <a:p>
            <a:pPr algn="just">
              <a:spcAft>
                <a:spcPts val="600"/>
              </a:spcAft>
            </a:pPr>
            <a:r>
              <a:rPr sz="1300" b="1">
                <a:solidFill>
                  <a:srgbClr val="060606"/>
                </a:solidFill>
                <a:latin typeface="Helvetica"/>
              </a:rPr>
              <a:t>Chaque solde comptable des rapprochements est égal au solde du compte de banque dans la balance, pour toutes les années.</a:t>
            </a:r>
            <a:r>
              <a:rPr sz="1300" b="0">
                <a:solidFill>
                  <a:srgbClr val="060606"/>
                </a:solidFill>
                <a:latin typeface="Helvetica"/>
              </a:rPr>
              <a:t> Les balances sont donc cohérentes avec le suivi bancaire du FPPN.</a:t>
            </a:r>
          </a:p>
          <a:p>
            <a:pPr algn="just">
              <a:spcAft>
                <a:spcPts val="600"/>
              </a:spcAft>
            </a:pPr>
            <a:r>
              <a:rPr sz="1300" b="1">
                <a:solidFill>
                  <a:srgbClr val="060606"/>
                </a:solidFill>
                <a:latin typeface="Helvetica"/>
              </a:rPr>
              <a:t>Le nombre de chèques en suspens depuis plus d'un an passe de 5 fin 2022 à 49 fin 2025</a:t>
            </a:r>
            <a:r>
              <a:rPr sz="1300" b="0">
                <a:solidFill>
                  <a:srgbClr val="060606"/>
                </a:solidFill>
                <a:latin typeface="Helvetica"/>
              </a:rPr>
              <a:t>, le plus ancien datant du 18/03/2021. Une partie concerne le compte BOA de l'EFC, donc des règlements à des mutualistes.</a:t>
            </a:r>
          </a:p>
          <a:p>
            <a:pPr algn="just">
              <a:spcAft>
                <a:spcPts val="600"/>
              </a:spcAft>
            </a:pPr>
            <a:r>
              <a:rPr sz="1300" b="0">
                <a:solidFill>
                  <a:srgbClr val="060606"/>
                </a:solidFill>
                <a:latin typeface="Helvetica"/>
              </a:rPr>
              <a:t>Les chèques non encaissés restent une dette envers les bénéficiaires : leur montant est faible, mais leur ancienneté doit être expliquée et les chèques périmés régularisés (PBC, item 63).</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EFC : entraide fin de carrière | FCP : fonds commun de placement | DAT : dépôt à terme | PBC : liste des documents demandés au client</a:t>
            </a:r>
          </a:p>
        </p:txBody>
      </p:sp>
    </p:spTree>
    <p:extLst>
      <p:ext uri="{BB962C8B-B14F-4D97-AF65-F5344CB8AC3E}">
        <p14:creationId xmlns:p14="http://schemas.microsoft.com/office/powerpoint/2010/main" val="279529845"/>
      </p:ext>
    </p:extLst>
  </p:cSld>
  <p:clrMapOvr>
    <a:masterClrMapping/>
  </p:clrMapOvr>
  <p:transition>
    <p:fade/>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Google Shape;8651;p70"/>
          <p:cNvSpPr/>
          <p:nvPr/>
        </p:nvSpPr>
        <p:spPr>
          <a:xfrm>
            <a:off x="2013108" y="2588204"/>
            <a:ext cx="1380332" cy="1428252"/>
          </a:xfrm>
          <a:custGeom>
            <a:avLst/>
            <a:gdLst/>
            <a:ahLst/>
            <a:cxnLst/>
            <a:rect l="l" t="t" r="r" b="b"/>
            <a:pathLst>
              <a:path w="8670" h="8971" extrusionOk="0">
                <a:moveTo>
                  <a:pt x="7105" y="1302"/>
                </a:moveTo>
                <a:cubicBezTo>
                  <a:pt x="7105" y="1315"/>
                  <a:pt x="7105" y="1328"/>
                  <a:pt x="7105" y="1341"/>
                </a:cubicBezTo>
                <a:cubicBezTo>
                  <a:pt x="7118" y="1980"/>
                  <a:pt x="7183" y="2619"/>
                  <a:pt x="7183" y="3283"/>
                </a:cubicBezTo>
                <a:cubicBezTo>
                  <a:pt x="7170" y="4404"/>
                  <a:pt x="7183" y="5525"/>
                  <a:pt x="7222" y="6646"/>
                </a:cubicBezTo>
                <a:cubicBezTo>
                  <a:pt x="7235" y="6959"/>
                  <a:pt x="7222" y="7259"/>
                  <a:pt x="7222" y="7559"/>
                </a:cubicBezTo>
                <a:lnTo>
                  <a:pt x="7222" y="7585"/>
                </a:lnTo>
                <a:cubicBezTo>
                  <a:pt x="6935" y="7598"/>
                  <a:pt x="6649" y="7611"/>
                  <a:pt x="6362" y="7611"/>
                </a:cubicBezTo>
                <a:cubicBezTo>
                  <a:pt x="6101" y="7598"/>
                  <a:pt x="5853" y="7585"/>
                  <a:pt x="5593" y="7585"/>
                </a:cubicBezTo>
                <a:cubicBezTo>
                  <a:pt x="4159" y="7559"/>
                  <a:pt x="2712" y="7559"/>
                  <a:pt x="1291" y="7442"/>
                </a:cubicBezTo>
                <a:cubicBezTo>
                  <a:pt x="1278" y="7207"/>
                  <a:pt x="1239" y="6959"/>
                  <a:pt x="1226" y="6725"/>
                </a:cubicBezTo>
                <a:cubicBezTo>
                  <a:pt x="1200" y="6255"/>
                  <a:pt x="1187" y="5799"/>
                  <a:pt x="1200" y="5330"/>
                </a:cubicBezTo>
                <a:cubicBezTo>
                  <a:pt x="1213" y="4222"/>
                  <a:pt x="1226" y="3101"/>
                  <a:pt x="1343" y="1993"/>
                </a:cubicBezTo>
                <a:lnTo>
                  <a:pt x="1552" y="1993"/>
                </a:lnTo>
                <a:cubicBezTo>
                  <a:pt x="2138" y="1980"/>
                  <a:pt x="2725" y="1889"/>
                  <a:pt x="3312" y="1810"/>
                </a:cubicBezTo>
                <a:cubicBezTo>
                  <a:pt x="4576" y="1641"/>
                  <a:pt x="5840" y="1524"/>
                  <a:pt x="7105" y="1302"/>
                </a:cubicBezTo>
                <a:close/>
                <a:moveTo>
                  <a:pt x="7529" y="1"/>
                </a:moveTo>
                <a:cubicBezTo>
                  <a:pt x="7291" y="1"/>
                  <a:pt x="7059" y="53"/>
                  <a:pt x="6818" y="64"/>
                </a:cubicBezTo>
                <a:cubicBezTo>
                  <a:pt x="6375" y="103"/>
                  <a:pt x="5932" y="142"/>
                  <a:pt x="5488" y="194"/>
                </a:cubicBezTo>
                <a:cubicBezTo>
                  <a:pt x="4824" y="259"/>
                  <a:pt x="4107" y="350"/>
                  <a:pt x="3429" y="389"/>
                </a:cubicBezTo>
                <a:cubicBezTo>
                  <a:pt x="2686" y="429"/>
                  <a:pt x="1943" y="481"/>
                  <a:pt x="1213" y="598"/>
                </a:cubicBezTo>
                <a:cubicBezTo>
                  <a:pt x="913" y="624"/>
                  <a:pt x="652" y="728"/>
                  <a:pt x="509" y="976"/>
                </a:cubicBezTo>
                <a:cubicBezTo>
                  <a:pt x="470" y="1028"/>
                  <a:pt x="444" y="1080"/>
                  <a:pt x="431" y="1146"/>
                </a:cubicBezTo>
                <a:cubicBezTo>
                  <a:pt x="300" y="1524"/>
                  <a:pt x="287" y="1928"/>
                  <a:pt x="300" y="2332"/>
                </a:cubicBezTo>
                <a:cubicBezTo>
                  <a:pt x="209" y="3010"/>
                  <a:pt x="209" y="3700"/>
                  <a:pt x="209" y="4378"/>
                </a:cubicBezTo>
                <a:cubicBezTo>
                  <a:pt x="170" y="4769"/>
                  <a:pt x="144" y="5173"/>
                  <a:pt x="131" y="5565"/>
                </a:cubicBezTo>
                <a:cubicBezTo>
                  <a:pt x="105" y="6203"/>
                  <a:pt x="14" y="6842"/>
                  <a:pt x="14" y="7481"/>
                </a:cubicBezTo>
                <a:cubicBezTo>
                  <a:pt x="1" y="7911"/>
                  <a:pt x="157" y="8315"/>
                  <a:pt x="613" y="8419"/>
                </a:cubicBezTo>
                <a:cubicBezTo>
                  <a:pt x="1056" y="8550"/>
                  <a:pt x="1526" y="8524"/>
                  <a:pt x="1982" y="8550"/>
                </a:cubicBezTo>
                <a:cubicBezTo>
                  <a:pt x="2243" y="8563"/>
                  <a:pt x="2503" y="8589"/>
                  <a:pt x="2764" y="8615"/>
                </a:cubicBezTo>
                <a:cubicBezTo>
                  <a:pt x="3885" y="8745"/>
                  <a:pt x="5006" y="8902"/>
                  <a:pt x="6140" y="8941"/>
                </a:cubicBezTo>
                <a:cubicBezTo>
                  <a:pt x="6220" y="8945"/>
                  <a:pt x="6302" y="8946"/>
                  <a:pt x="6383" y="8946"/>
                </a:cubicBezTo>
                <a:cubicBezTo>
                  <a:pt x="6581" y="8946"/>
                  <a:pt x="6781" y="8937"/>
                  <a:pt x="6974" y="8928"/>
                </a:cubicBezTo>
                <a:cubicBezTo>
                  <a:pt x="7118" y="8941"/>
                  <a:pt x="7274" y="8941"/>
                  <a:pt x="7418" y="8941"/>
                </a:cubicBezTo>
                <a:cubicBezTo>
                  <a:pt x="7568" y="8956"/>
                  <a:pt x="7723" y="8971"/>
                  <a:pt x="7877" y="8971"/>
                </a:cubicBezTo>
                <a:cubicBezTo>
                  <a:pt x="7990" y="8971"/>
                  <a:pt x="8103" y="8963"/>
                  <a:pt x="8213" y="8941"/>
                </a:cubicBezTo>
                <a:cubicBezTo>
                  <a:pt x="8643" y="8810"/>
                  <a:pt x="8565" y="8093"/>
                  <a:pt x="8604" y="7741"/>
                </a:cubicBezTo>
                <a:cubicBezTo>
                  <a:pt x="8669" y="6620"/>
                  <a:pt x="8539" y="5499"/>
                  <a:pt x="8487" y="4378"/>
                </a:cubicBezTo>
                <a:cubicBezTo>
                  <a:pt x="8434" y="3453"/>
                  <a:pt x="8330" y="2527"/>
                  <a:pt x="8252" y="1589"/>
                </a:cubicBezTo>
                <a:cubicBezTo>
                  <a:pt x="8200" y="1341"/>
                  <a:pt x="8239" y="637"/>
                  <a:pt x="8096" y="350"/>
                </a:cubicBezTo>
                <a:lnTo>
                  <a:pt x="8082" y="350"/>
                </a:lnTo>
                <a:cubicBezTo>
                  <a:pt x="8056" y="181"/>
                  <a:pt x="7952" y="51"/>
                  <a:pt x="7704" y="11"/>
                </a:cubicBezTo>
                <a:cubicBezTo>
                  <a:pt x="7645" y="4"/>
                  <a:pt x="7587" y="1"/>
                  <a:pt x="7529" y="1"/>
                </a:cubicBezTo>
                <a:close/>
              </a:path>
            </a:pathLst>
          </a:custGeom>
          <a:solidFill>
            <a:schemeClr val="bg1"/>
          </a:solidFill>
          <a:ln w="76200">
            <a:solidFill>
              <a:schemeClr val="tx1"/>
            </a:solid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5" name="Rectangle 24">
            <a:extLst>
              <a:ext uri="{FF2B5EF4-FFF2-40B4-BE49-F238E27FC236}">
                <a16:creationId xmlns:a16="http://schemas.microsoft.com/office/drawing/2014/main" id="{9B9B23AA-050D-4543-80A0-873FE31AFFF7}"/>
              </a:ext>
            </a:extLst>
          </p:cNvPr>
          <p:cNvSpPr/>
          <p:nvPr/>
        </p:nvSpPr>
        <p:spPr>
          <a:xfrm>
            <a:off x="2446471" y="2869098"/>
            <a:ext cx="513606" cy="936923"/>
          </a:xfrm>
          <a:prstGeom prst="rect">
            <a:avLst/>
          </a:prstGeom>
        </p:spPr>
        <p:txBody>
          <a:bodyPr wrap="square" lIns="0" tIns="0" rIns="0" bIns="0">
            <a:spAutoFit/>
          </a:bodyPr>
          <a:lstStyle/>
          <a:p>
            <a:pPr lvl="0">
              <a:lnSpc>
                <a:spcPct val="110000"/>
              </a:lnSpc>
            </a:pPr>
            <a:r>
              <a:rPr lang="fr-CI" sz="60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4</a:t>
            </a:r>
          </a:p>
        </p:txBody>
      </p:sp>
      <p:sp>
        <p:nvSpPr>
          <p:cNvPr id="10" name="Rectangle 9"/>
          <p:cNvSpPr/>
          <p:nvPr/>
        </p:nvSpPr>
        <p:spPr>
          <a:xfrm>
            <a:off x="3938554" y="2462184"/>
            <a:ext cx="3816000" cy="1200329"/>
          </a:xfrm>
          <a:prstGeom prst="rect">
            <a:avLst/>
          </a:prstGeom>
        </p:spPr>
        <p:txBody>
          <a:bodyPr wrap="square">
            <a:spAutoFit/>
          </a:bodyPr>
          <a:lstStyle/>
          <a:p>
            <a:r>
              <a:rPr lang="fr-CI" sz="3600" b="1" noProof="0">
                <a:solidFill>
                  <a:schemeClr val="bg1"/>
                </a:solidFill>
                <a:latin typeface="Helvetica" panose="020B0604020202020204" pitchFamily="34" charset="0"/>
                <a:cs typeface="Helvetica" panose="020B0604020202020204" pitchFamily="34" charset="0"/>
              </a:rPr>
              <a:t>Effectifs et cotisations</a:t>
            </a:r>
          </a:p>
        </p:txBody>
      </p:sp>
      <p:pic>
        <p:nvPicPr>
          <p:cNvPr id="9" name="Image 8">
            <a:extLst>
              <a:ext uri="{FF2B5EF4-FFF2-40B4-BE49-F238E27FC236}">
                <a16:creationId xmlns:a16="http://schemas.microsoft.com/office/drawing/2014/main" id="{2C356854-0685-DCEF-E2F6-65D5E9653A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1274" y="-185107"/>
            <a:ext cx="3179518" cy="1268781"/>
          </a:xfrm>
          <a:prstGeom prst="rect">
            <a:avLst/>
          </a:prstGeom>
        </p:spPr>
      </p:pic>
      <p:sp>
        <p:nvSpPr>
          <p:cNvPr id="6" name="Rectangle 5"/>
          <p:cNvSpPr/>
          <p:nvPr/>
        </p:nvSpPr>
        <p:spPr>
          <a:xfrm>
            <a:off x="3938554" y="3337559"/>
            <a:ext cx="3816000" cy="923330"/>
          </a:xfrm>
          <a:prstGeom prst="rect">
            <a:avLst/>
          </a:prstGeom>
        </p:spPr>
        <p:txBody>
          <a:bodyPr wrap="square">
            <a:spAutoFit/>
          </a:bodyPr>
          <a:lstStyle/>
          <a:p>
            <a:br>
              <a:rPr lang="fr-CI" noProof="0">
                <a:solidFill>
                  <a:schemeClr val="bg1"/>
                </a:solidFill>
              </a:rPr>
            </a:br>
            <a:r>
              <a:rPr lang="fr-CI" noProof="0">
                <a:solidFill>
                  <a:srgbClr val="EFAC62"/>
                </a:solidFill>
                <a:latin typeface="Helvetica" panose="020B0604020202020204" pitchFamily="34" charset="0"/>
                <a:ea typeface="Open Sans Light" panose="020B0306030504020204" pitchFamily="34" charset="0"/>
                <a:cs typeface="Helvetica" panose="020B0604020202020204" pitchFamily="34" charset="0"/>
              </a:rPr>
              <a:t>Cotisants, retraités, taux, cotisations en termes réels</a:t>
            </a:r>
          </a:p>
        </p:txBody>
      </p:sp>
      <p:pic>
        <p:nvPicPr>
          <p:cNvPr id="11" name="Imag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5561" y="2415481"/>
            <a:ext cx="1566911" cy="1600975"/>
          </a:xfrm>
          <a:prstGeom prst="rect">
            <a:avLst/>
          </a:prstGeom>
        </p:spPr>
      </p:pic>
    </p:spTree>
    <p:extLst>
      <p:ext uri="{BB962C8B-B14F-4D97-AF65-F5344CB8AC3E}">
        <p14:creationId xmlns:p14="http://schemas.microsoft.com/office/powerpoint/2010/main" val="1553344032"/>
      </p:ext>
    </p:extLst>
  </p:cSld>
  <p:clrMapOvr>
    <a:masterClrMapping/>
  </p:clrMapOvr>
  <p:transition>
    <p:fade/>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7" name="Image 36"/>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3" name="Rectangle 22">
            <a:extLst>
              <a:ext uri="{FF2B5EF4-FFF2-40B4-BE49-F238E27FC236}">
                <a16:creationId xmlns:a16="http://schemas.microsoft.com/office/drawing/2014/main" id="{4CD23CFE-3F31-4BA9-B26F-B9B5B351518E}"/>
              </a:ext>
            </a:extLst>
          </p:cNvPr>
          <p:cNvSpPr/>
          <p:nvPr/>
        </p:nvSpPr>
        <p:spPr>
          <a:xfrm>
            <a:off x="2106184" y="1811264"/>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Effectif</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L'effectif du mois est le nombre de matricules distincts du fichier maladie 936 de ce mois. Trente et un mois sont disponibles.</a:t>
            </a:r>
          </a:p>
        </p:txBody>
      </p:sp>
      <p:sp>
        <p:nvSpPr>
          <p:cNvPr id="28" name="Rectangle 27">
            <a:extLst>
              <a:ext uri="{FF2B5EF4-FFF2-40B4-BE49-F238E27FC236}">
                <a16:creationId xmlns:a16="http://schemas.microsoft.com/office/drawing/2014/main" id="{9B9B23AA-050D-4543-80A0-873FE31AFFF7}"/>
              </a:ext>
            </a:extLst>
          </p:cNvPr>
          <p:cNvSpPr/>
          <p:nvPr/>
        </p:nvSpPr>
        <p:spPr>
          <a:xfrm>
            <a:off x="1538714" y="1463475"/>
            <a:ext cx="5748535" cy="166944"/>
          </a:xfrm>
          <a:prstGeom prst="rect">
            <a:avLst/>
          </a:prstGeom>
        </p:spPr>
        <p:txBody>
          <a:bodyPr wrap="square" lIns="0" tIns="0" rIns="0" bIns="0">
            <a:sp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
            </a:r>
          </a:p>
        </p:txBody>
      </p:sp>
      <p:cxnSp>
        <p:nvCxnSpPr>
          <p:cNvPr id="29" name="Straight Connector 28">
            <a:extLst>
              <a:ext uri="{FF2B5EF4-FFF2-40B4-BE49-F238E27FC236}">
                <a16:creationId xmlns:a16="http://schemas.microsoft.com/office/drawing/2014/main" id="{09E553D9-3562-45A7-BE4B-0F12FAA0490F}"/>
              </a:ext>
            </a:extLst>
          </p:cNvPr>
          <p:cNvCxnSpPr>
            <a:cxnSpLocks/>
          </p:cNvCxnSpPr>
          <p:nvPr/>
        </p:nvCxnSpPr>
        <p:spPr>
          <a:xfrm>
            <a:off x="916803" y="1707866"/>
            <a:ext cx="0" cy="3668091"/>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DA735D38-741F-4EFB-826C-6F87FD459AB4}"/>
              </a:ext>
            </a:extLst>
          </p:cNvPr>
          <p:cNvCxnSpPr/>
          <p:nvPr/>
        </p:nvCxnSpPr>
        <p:spPr>
          <a:xfrm>
            <a:off x="916803" y="2291826"/>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EBCFE36B-AE16-49E8-90A6-6621A0EB0473}"/>
              </a:ext>
            </a:extLst>
          </p:cNvPr>
          <p:cNvCxnSpPr/>
          <p:nvPr/>
        </p:nvCxnSpPr>
        <p:spPr>
          <a:xfrm>
            <a:off x="916803" y="3273370"/>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2697F6E2-C26B-4E5F-B7F9-95C6E9325040}"/>
              </a:ext>
            </a:extLst>
          </p:cNvPr>
          <p:cNvCxnSpPr/>
          <p:nvPr/>
        </p:nvCxnSpPr>
        <p:spPr>
          <a:xfrm>
            <a:off x="916803" y="5368324"/>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4CD23CFE-3F31-4BA9-B26F-B9B5B351518E}"/>
              </a:ext>
            </a:extLst>
          </p:cNvPr>
          <p:cNvSpPr/>
          <p:nvPr/>
        </p:nvSpPr>
        <p:spPr>
          <a:xfrm>
            <a:off x="2103510" y="2847523"/>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Flux</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Une entrée est un matricule présent un mois et absent le mois précédent. Une sortie est l'inverse. Seuls les mois consécutifs sont comparés.</a:t>
            </a:r>
          </a:p>
        </p:txBody>
      </p:sp>
      <p:sp>
        <p:nvSpPr>
          <p:cNvPr id="33" name="Rectangle 32">
            <a:extLst>
              <a:ext uri="{FF2B5EF4-FFF2-40B4-BE49-F238E27FC236}">
                <a16:creationId xmlns:a16="http://schemas.microsoft.com/office/drawing/2014/main" id="{4CD23CFE-3F31-4BA9-B26F-B9B5B351518E}"/>
              </a:ext>
            </a:extLst>
          </p:cNvPr>
          <p:cNvSpPr/>
          <p:nvPr/>
        </p:nvSpPr>
        <p:spPr>
          <a:xfrm>
            <a:off x="2125344" y="3881185"/>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Taux de cotisation</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Le taux rapporte le précompte du mois au salaire de base du mois, pour chaque agent : 209 670 lignes sont calculées.</a:t>
            </a:r>
          </a:p>
        </p:txBody>
      </p:sp>
      <p:sp>
        <p:nvSpPr>
          <p:cNvPr id="34" name="Rectangle 33">
            <a:extLst>
              <a:ext uri="{FF2B5EF4-FFF2-40B4-BE49-F238E27FC236}">
                <a16:creationId xmlns:a16="http://schemas.microsoft.com/office/drawing/2014/main" id="{4CD23CFE-3F31-4BA9-B26F-B9B5B351518E}"/>
              </a:ext>
            </a:extLst>
          </p:cNvPr>
          <p:cNvSpPr/>
          <p:nvPr/>
        </p:nvSpPr>
        <p:spPr>
          <a:xfrm>
            <a:off x="2122670" y="4917444"/>
            <a:ext cx="9685766" cy="901761"/>
          </a:xfrm>
          <a:prstGeom prst="rect">
            <a:avLst/>
          </a:prstGeom>
          <a:ln w="12700">
            <a:solidFill>
              <a:srgbClr val="112A40"/>
            </a:solidFill>
          </a:ln>
        </p:spPr>
        <p:txBody>
          <a:bodyPr wrap="square" lIns="162000" tIns="54000" rIns="72000" bIns="54000" anchor="ctr">
            <a:noAutofit/>
          </a:bodyPr>
          <a:lstStyle/>
          <a:p>
            <a:pPr lvl="1">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Limite</a:t>
            </a:r>
          </a:p>
          <a:p>
            <a:pPr lvl="1">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Les fichiers ne donnent pas le motif de sortie (retraite, décès, radiation), ni l'âge, ni le sexe des agents.</a:t>
            </a:r>
            <a:endParaRPr lang="fr-CI" sz="1200">
              <a:latin typeface="Helvetica" panose="020B0604020202020204" pitchFamily="34" charset="0"/>
              <a:ea typeface="Open Sans Light" panose="020B0306030504020204" pitchFamily="34" charset="0"/>
              <a:cs typeface="Helvetica" panose="020B0604020202020204" pitchFamily="34" charset="0"/>
            </a:endParaRPr>
          </a:p>
        </p:txBody>
      </p:sp>
      <p:cxnSp>
        <p:nvCxnSpPr>
          <p:cNvPr id="39" name="Straight Connector 30">
            <a:extLst>
              <a:ext uri="{FF2B5EF4-FFF2-40B4-BE49-F238E27FC236}">
                <a16:creationId xmlns:a16="http://schemas.microsoft.com/office/drawing/2014/main" id="{EBCFE36B-AE16-49E8-90A6-6621A0EB0473}"/>
              </a:ext>
            </a:extLst>
          </p:cNvPr>
          <p:cNvCxnSpPr/>
          <p:nvPr/>
        </p:nvCxnSpPr>
        <p:spPr>
          <a:xfrm>
            <a:off x="919504" y="4326976"/>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grpSp>
        <p:nvGrpSpPr>
          <p:cNvPr id="11" name="Groupe 10"/>
          <p:cNvGrpSpPr/>
          <p:nvPr/>
        </p:nvGrpSpPr>
        <p:grpSpPr>
          <a:xfrm>
            <a:off x="1554870" y="2047565"/>
            <a:ext cx="548640" cy="548640"/>
            <a:chOff x="-1153645" y="1535690"/>
            <a:chExt cx="548640" cy="548640"/>
          </a:xfrm>
        </p:grpSpPr>
        <p:sp>
          <p:nvSpPr>
            <p:cNvPr id="36" name="Oval 21">
              <a:extLst>
                <a:ext uri="{FF2B5EF4-FFF2-40B4-BE49-F238E27FC236}">
                  <a16:creationId xmlns:a16="http://schemas.microsoft.com/office/drawing/2014/main" id="{7BB796F0-2DE6-45B1-851B-D8991F423CF4}"/>
                </a:ext>
              </a:extLst>
            </p:cNvPr>
            <p:cNvSpPr/>
            <p:nvPr/>
          </p:nvSpPr>
          <p:spPr bwMode="gray">
            <a:xfrm>
              <a:off x="-1153645" y="1535690"/>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40" name="Image 3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3163" y="1564148"/>
              <a:ext cx="486259" cy="491723"/>
            </a:xfrm>
            <a:prstGeom prst="rect">
              <a:avLst/>
            </a:prstGeom>
          </p:spPr>
        </p:pic>
      </p:grpSp>
      <p:grpSp>
        <p:nvGrpSpPr>
          <p:cNvPr id="12" name="Groupe 11"/>
          <p:cNvGrpSpPr/>
          <p:nvPr/>
        </p:nvGrpSpPr>
        <p:grpSpPr>
          <a:xfrm>
            <a:off x="1557425" y="3008849"/>
            <a:ext cx="548640" cy="548640"/>
            <a:chOff x="-1154302" y="2719457"/>
            <a:chExt cx="548640" cy="548640"/>
          </a:xfrm>
        </p:grpSpPr>
        <p:sp>
          <p:nvSpPr>
            <p:cNvPr id="42" name="Oval 21">
              <a:extLst>
                <a:ext uri="{FF2B5EF4-FFF2-40B4-BE49-F238E27FC236}">
                  <a16:creationId xmlns:a16="http://schemas.microsoft.com/office/drawing/2014/main" id="{7BB796F0-2DE6-45B1-851B-D8991F423CF4}"/>
                </a:ext>
              </a:extLst>
            </p:cNvPr>
            <p:cNvSpPr/>
            <p:nvPr/>
          </p:nvSpPr>
          <p:spPr bwMode="gray">
            <a:xfrm>
              <a:off x="-1154302" y="2719457"/>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7" name="Imag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4901" y="2781886"/>
              <a:ext cx="396274" cy="396274"/>
            </a:xfrm>
            <a:prstGeom prst="rect">
              <a:avLst/>
            </a:prstGeom>
          </p:spPr>
        </p:pic>
      </p:grpSp>
      <p:grpSp>
        <p:nvGrpSpPr>
          <p:cNvPr id="13" name="Groupe 12"/>
          <p:cNvGrpSpPr/>
          <p:nvPr/>
        </p:nvGrpSpPr>
        <p:grpSpPr>
          <a:xfrm>
            <a:off x="1567381" y="4044725"/>
            <a:ext cx="548640" cy="552951"/>
            <a:chOff x="-1185544" y="4122202"/>
            <a:chExt cx="548640" cy="552951"/>
          </a:xfrm>
        </p:grpSpPr>
        <p:sp>
          <p:nvSpPr>
            <p:cNvPr id="44" name="Oval 21">
              <a:extLst>
                <a:ext uri="{FF2B5EF4-FFF2-40B4-BE49-F238E27FC236}">
                  <a16:creationId xmlns:a16="http://schemas.microsoft.com/office/drawing/2014/main" id="{7BB796F0-2DE6-45B1-851B-D8991F423CF4}"/>
                </a:ext>
              </a:extLst>
            </p:cNvPr>
            <p:cNvSpPr/>
            <p:nvPr/>
          </p:nvSpPr>
          <p:spPr bwMode="gray">
            <a:xfrm>
              <a:off x="-1185544" y="4122202"/>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8" name="Image 7"/>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71838" y="4144755"/>
              <a:ext cx="524301" cy="530398"/>
            </a:xfrm>
            <a:prstGeom prst="rect">
              <a:avLst/>
            </a:prstGeom>
          </p:spPr>
        </p:pic>
      </p:grpSp>
      <p:grpSp>
        <p:nvGrpSpPr>
          <p:cNvPr id="14" name="Groupe 13"/>
          <p:cNvGrpSpPr/>
          <p:nvPr/>
        </p:nvGrpSpPr>
        <p:grpSpPr>
          <a:xfrm>
            <a:off x="1567381" y="5111071"/>
            <a:ext cx="548640" cy="548640"/>
            <a:chOff x="-1227267" y="5286500"/>
            <a:chExt cx="548640" cy="548640"/>
          </a:xfrm>
        </p:grpSpPr>
        <p:sp>
          <p:nvSpPr>
            <p:cNvPr id="45" name="Oval 21">
              <a:extLst>
                <a:ext uri="{FF2B5EF4-FFF2-40B4-BE49-F238E27FC236}">
                  <a16:creationId xmlns:a16="http://schemas.microsoft.com/office/drawing/2014/main" id="{7BB796F0-2DE6-45B1-851B-D8991F423CF4}"/>
                </a:ext>
              </a:extLst>
            </p:cNvPr>
            <p:cNvSpPr/>
            <p:nvPr/>
          </p:nvSpPr>
          <p:spPr bwMode="gray">
            <a:xfrm>
              <a:off x="-1227267" y="5286500"/>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9" name="Image 8"/>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71838" y="5346402"/>
              <a:ext cx="422834" cy="432026"/>
            </a:xfrm>
            <a:prstGeom prst="rect">
              <a:avLst/>
            </a:prstGeom>
          </p:spPr>
        </p:pic>
      </p:grpSp>
      <p:sp>
        <p:nvSpPr>
          <p:cNvPr id="50" name="ZoneTexte 49">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pic>
        <p:nvPicPr>
          <p:cNvPr id="51" name="Image 50"/>
          <p:cNvPicPr>
            <a:picLocks noChangeAspect="1"/>
          </p:cNvPicPr>
          <p:nvPr/>
        </p:nvPicPr>
        <p:blipFill rotWithShape="1">
          <a:blip r:embed="rId7" cstate="print">
            <a:extLst>
              <a:ext uri="{28A0092B-C50C-407E-A947-70E740481C1C}">
                <a14:useLocalDpi xmlns:a14="http://schemas.microsoft.com/office/drawing/2010/main" val="0"/>
              </a:ext>
            </a:extLst>
          </a:blip>
          <a:srcRect l="4260" t="13024" r="74155" b="14121"/>
          <a:stretch/>
        </p:blipFill>
        <p:spPr>
          <a:xfrm>
            <a:off x="702475" y="1350400"/>
            <a:ext cx="392679" cy="406703"/>
          </a:xfrm>
          <a:prstGeom prst="rect">
            <a:avLst/>
          </a:prstGeom>
        </p:spPr>
      </p:pic>
      <p:sp>
        <p:nvSpPr>
          <p:cNvPr id="52"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Méthode : effectifs et taux</a:t>
            </a:r>
          </a:p>
        </p:txBody>
      </p:sp>
      <p:sp>
        <p:nvSpPr>
          <p:cNvPr id="53"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Effectifs, flux et taux sont mesurés agent par agent, chaque mois</a:t>
            </a:r>
          </a:p>
        </p:txBody>
      </p:sp>
      <p:sp>
        <p:nvSpPr>
          <p:cNvPr id="54"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Un cotisant est un matricule précompté au poste maladie 936 dans le mois</a:t>
            </a:r>
          </a:p>
        </p:txBody>
      </p:sp>
      <p:sp>
        <p:nvSpPr>
          <p:cNvPr id="55"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Adenka</a:t>
            </a:r>
          </a:p>
        </p:txBody>
      </p:sp>
      <p:sp>
        <p:nvSpPr>
          <p:cNvPr id="56" name="TextBox 5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936 : poste maladie</a:t>
            </a:r>
          </a:p>
        </p:txBody>
      </p:sp>
    </p:spTree>
    <p:extLst>
      <p:ext uri="{BB962C8B-B14F-4D97-AF65-F5344CB8AC3E}">
        <p14:creationId xmlns:p14="http://schemas.microsoft.com/office/powerpoint/2010/main" val="1083985610"/>
      </p:ext>
    </p:extLst>
  </p:cSld>
  <p:clrMapOvr>
    <a:masterClrMapping/>
  </p:clrMapOvr>
  <p:transition>
    <p:fade/>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Effectifs cotisants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cotisants actifs augmentent d'un tiers en trente et un mois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23 119 cotisants en janvier 2024, 31 198 en août 2026</a:t>
            </a:r>
          </a:p>
        </p:txBody>
      </p:sp>
      <p:sp>
        <p:nvSpPr>
          <p:cNvPr id="30" name="TextBox 29"/>
          <p:cNvSpPr txBox="1"/>
          <p:nvPr/>
        </p:nvSpPr>
        <p:spPr>
          <a:xfrm>
            <a:off x="503999" y="1386000"/>
            <a:ext cx="5976000" cy="251999"/>
          </a:xfrm>
          <a:prstGeom prst="rect">
            <a:avLst/>
          </a:prstGeom>
          <a:noFill/>
        </p:spPr>
        <p:txBody>
          <a:bodyPr wrap="square">
            <a:spAutoFit/>
          </a:bodyPr>
          <a:lstStyle/>
          <a:p>
            <a:pPr algn="ctr">
              <a:spcAft>
                <a:spcPts val="0"/>
              </a:spcAft>
            </a:pPr>
            <a:r>
              <a:rPr sz="1200" b="0">
                <a:solidFill>
                  <a:srgbClr val="EFAC62"/>
                </a:solidFill>
                <a:latin typeface="Helvetica"/>
              </a:rPr>
              <a:t>Figure 8 : Cotisants actifs précomptés (poste 936), par mois</a:t>
            </a:r>
          </a:p>
        </p:txBody>
      </p:sp>
      <p:sp>
        <p:nvSpPr>
          <p:cNvPr id="31" name="TextBox 30"/>
          <p:cNvSpPr txBox="1"/>
          <p:nvPr/>
        </p:nvSpPr>
        <p:spPr>
          <a:xfrm>
            <a:off x="503999" y="1602000"/>
            <a:ext cx="5976000" cy="162000"/>
          </a:xfrm>
          <a:prstGeom prst="rect">
            <a:avLst/>
          </a:prstGeom>
          <a:noFill/>
        </p:spPr>
        <p:txBody>
          <a:bodyPr wrap="square">
            <a:spAutoFit/>
          </a:bodyPr>
          <a:lstStyle/>
          <a:p>
            <a:pPr algn="l">
              <a:spcAft>
                <a:spcPts val="0"/>
              </a:spcAft>
            </a:pPr>
            <a:r>
              <a:rPr sz="900" b="0">
                <a:solidFill>
                  <a:srgbClr val="060606"/>
                </a:solidFill>
                <a:latin typeface="Helvetica"/>
              </a:rPr>
              <a:t>En nombre de mutualistes</a:t>
            </a:r>
          </a:p>
        </p:txBody>
      </p:sp>
      <p:graphicFrame>
        <p:nvGraphicFramePr>
          <p:cNvPr id="32" name="Chart 31"/>
          <p:cNvGraphicFramePr>
            <a:graphicFrameLocks noGrp="1"/>
          </p:cNvGraphicFramePr>
          <p:nvPr/>
        </p:nvGraphicFramePr>
        <p:xfrm>
          <a:off x="503999" y="1782000"/>
          <a:ext cx="5976000" cy="3600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fichiers de précomptes de la Solde, de la CGRAE et du FPPN reçus le 15/10/2026 (dossiers « FPPN-SOLDE », « FPPN-CGRAE », « FPPN-GNA », noms exacts en annexe « Fichiers sources »). Traitements Adenka (décembre 2024 : fichier vide)</a:t>
            </a:r>
          </a:p>
        </p:txBody>
      </p:sp>
      <p:sp>
        <p:nvSpPr>
          <p:cNvPr id="34" name="TextBox 33"/>
          <p:cNvSpPr txBox="1"/>
          <p:nvPr/>
        </p:nvSpPr>
        <p:spPr>
          <a:xfrm>
            <a:off x="6696000" y="1440000"/>
            <a:ext cx="5040000" cy="4428000"/>
          </a:xfrm>
          <a:prstGeom prst="rect">
            <a:avLst/>
          </a:prstGeom>
          <a:noFill/>
        </p:spPr>
        <p:txBody>
          <a:bodyPr wrap="square" lIns="54000" rIns="54000"/>
          <a:lstStyle/>
          <a:p>
            <a:pPr algn="just">
              <a:spcAft>
                <a:spcPts val="600"/>
              </a:spcAft>
            </a:pPr>
            <a:r>
              <a:rPr sz="1400" b="1">
                <a:solidFill>
                  <a:srgbClr val="060606"/>
                </a:solidFill>
                <a:latin typeface="Helvetica"/>
              </a:rPr>
              <a:t>Les cotisants actifs augmentent de 34,95 % en 31 mois.</a:t>
            </a:r>
            <a:r>
              <a:rPr sz="1400" b="0">
                <a:solidFill>
                  <a:srgbClr val="060606"/>
                </a:solidFill>
                <a:latin typeface="Helvetica"/>
              </a:rPr>
              <a:t> Le taux de croissance annuel moyen vaut 12,30 %.</a:t>
            </a:r>
          </a:p>
          <a:p>
            <a:pPr algn="just">
              <a:spcAft>
                <a:spcPts val="600"/>
              </a:spcAft>
            </a:pPr>
            <a:r>
              <a:rPr sz="1400" b="1">
                <a:solidFill>
                  <a:srgbClr val="060606"/>
                </a:solidFill>
                <a:latin typeface="Helvetica"/>
              </a:rPr>
              <a:t>La hausse se fait par paliers en juillet, mois d'intégration des promotions de recrues.</a:t>
            </a:r>
            <a:r>
              <a:rPr sz="1400" b="0">
                <a:solidFill>
                  <a:srgbClr val="060606"/>
                </a:solidFill>
                <a:latin typeface="Helvetica"/>
              </a:rPr>
              <a:t> Les fichiers comptent 4 926 entrées en juillet 2024 et 4 127 en juillet 2025.</a:t>
            </a:r>
          </a:p>
          <a:p>
            <a:pPr algn="just">
              <a:spcAft>
                <a:spcPts val="600"/>
              </a:spcAft>
            </a:pPr>
            <a:r>
              <a:rPr sz="1400" b="1">
                <a:solidFill>
                  <a:srgbClr val="060606"/>
                </a:solidFill>
                <a:latin typeface="Helvetica"/>
              </a:rPr>
              <a:t>La tendance est statistiquement significative.</a:t>
            </a:r>
            <a:r>
              <a:rPr sz="1400" b="0">
                <a:solidFill>
                  <a:srgbClr val="060606"/>
                </a:solidFill>
                <a:latin typeface="Helvetica"/>
              </a:rPr>
              <a:t> Elle correspond à 296,28 cotisants de plus par mois en moyenne.</a:t>
            </a:r>
          </a:p>
          <a:p>
            <a:pPr algn="just">
              <a:spcAft>
                <a:spcPts val="600"/>
              </a:spcAft>
            </a:pPr>
            <a:r>
              <a:rPr sz="1400" b="0">
                <a:solidFill>
                  <a:srgbClr val="060606"/>
                </a:solidFill>
                <a:latin typeface="Helvetica"/>
              </a:rPr>
              <a:t>Les recrues cotisent dès leur entrée, alors que leurs besoins de soins et d'épargne viendront plus tard : la croissance actuelle améliore les comptes de l'année, mais elle prépare des engagements plus importants à long terme, que seule une projection par âge permettra de chiffrer.</a:t>
            </a:r>
          </a:p>
        </p:txBody>
      </p:sp>
      <p:sp>
        <p:nvSpPr>
          <p:cNvPr id="35" name="TextBox 34"/>
          <p:cNvSpPr txBox="1"/>
          <p:nvPr/>
        </p:nvSpPr>
        <p:spPr>
          <a:xfrm>
            <a:off x="503999" y="5382000"/>
            <a:ext cx="5976000" cy="450000"/>
          </a:xfrm>
          <a:prstGeom prst="rect">
            <a:avLst/>
          </a:prstGeom>
          <a:noFill/>
        </p:spPr>
        <p:txBody>
          <a:bodyPr wrap="square" anchor="t" lIns="54000" rIns="54000"/>
          <a:lstStyle/>
          <a:p>
            <a:pPr algn="l"/>
            <a:r>
              <a:rPr sz="850" b="0">
                <a:solidFill>
                  <a:srgbClr val="53565A"/>
                </a:solidFill>
                <a:latin typeface="Helvetica"/>
              </a:rPr>
              <a:t>Valable pour : agents précomptés chaque mois dans les fichiers retour du poste 936 (dossier « FPPN-SOLDE\EFFECTIF POLICE (MALADIE) »), janvier 2024 à septembre 2026. Décembre 2024 vide. Hors retraités et civils de la Direction Générale.</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CGRAE : Caisse générale de retraite des agents de l'État | GNA : assureur de la flotte automobile (compte 47111106) | 936 : poste maladie</a:t>
            </a:r>
          </a:p>
        </p:txBody>
      </p:sp>
    </p:spTree>
    <p:extLst>
      <p:ext uri="{BB962C8B-B14F-4D97-AF65-F5344CB8AC3E}">
        <p14:creationId xmlns:p14="http://schemas.microsoft.com/office/powerpoint/2010/main" val="2658025931"/>
      </p:ext>
    </p:extLst>
  </p:cSld>
  <p:clrMapOvr>
    <a:masterClrMapping/>
  </p:clrMapOvr>
  <p:transition>
    <p:fade/>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Entrées et sorties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entrées massives de juillet s'opposent à des sorties faibles et régulières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Entrées : 6 240 en 2024, 4 274 en 2025. Sorties : 1 753 et 464</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9 : Entrées et sorties de cotisants, par mois</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nombre de mutualistes</a:t>
            </a:r>
          </a:p>
        </p:txBody>
      </p:sp>
      <p:graphicFrame>
        <p:nvGraphicFramePr>
          <p:cNvPr id="32" name="Chart 31"/>
          <p:cNvGraphicFramePr>
            <a:graphicFrameLocks noGrp="1"/>
          </p:cNvGraphicFramePr>
          <p:nvPr/>
        </p:nvGraphicFramePr>
        <p:xfrm>
          <a:off x="503999" y="1782000"/>
          <a:ext cx="6552000" cy="3600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fichiers de précomptes de la Solde, de la CGRAE et du FPPN reçus le 15/10/2026 (dossiers « FPPN-SOLDE », « FPPN-CGRAE », « FPPN-GNA », noms exacts en annexe « Fichiers sources »). Traitements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Les entrées sont concentrées en juillet, mois d'intégration des recrues.</a:t>
            </a:r>
            <a:r>
              <a:rPr sz="1400" b="0">
                <a:solidFill>
                  <a:srgbClr val="060606"/>
                </a:solidFill>
                <a:latin typeface="Helvetica"/>
              </a:rPr>
              <a:t> Les autres mois, les entrées et les sorties restent faibles.</a:t>
            </a:r>
          </a:p>
          <a:p>
            <a:pPr algn="just">
              <a:spcAft>
                <a:spcPts val="600"/>
              </a:spcAft>
            </a:pPr>
            <a:r>
              <a:rPr sz="1400" b="1">
                <a:solidFill>
                  <a:srgbClr val="060606"/>
                </a:solidFill>
                <a:latin typeface="Helvetica"/>
              </a:rPr>
              <a:t>Les sorties ne dépassent la moyenne qu'en novembre 2024 et en janvier 2026.</a:t>
            </a:r>
            <a:r>
              <a:rPr sz="1400" b="0">
                <a:solidFill>
                  <a:srgbClr val="060606"/>
                </a:solidFill>
                <a:latin typeface="Helvetica"/>
              </a:rPr>
              <a:t> Leur motif n'est pas indiqué dans les fichiers.</a:t>
            </a:r>
          </a:p>
          <a:p>
            <a:pPr algn="just">
              <a:spcAft>
                <a:spcPts val="600"/>
              </a:spcAft>
            </a:pPr>
            <a:r>
              <a:rPr sz="1400" b="1">
                <a:solidFill>
                  <a:srgbClr val="060606"/>
                </a:solidFill>
                <a:latin typeface="Helvetica"/>
              </a:rPr>
              <a:t>La fidélisation des adhérents est forte.</a:t>
            </a:r>
            <a:r>
              <a:rPr sz="1400" b="0">
                <a:solidFill>
                  <a:srgbClr val="060606"/>
                </a:solidFill>
                <a:latin typeface="Helvetica"/>
              </a:rPr>
              <a:t> Parmi les matricules précomptés en 2024, 96,49 % le sont encore en 2025, au-dessus de la norme d'au moins 80 % de la Décision n° 05/2022.</a:t>
            </a:r>
          </a:p>
          <a:p>
            <a:pPr algn="just">
              <a:spcAft>
                <a:spcPts val="600"/>
              </a:spcAft>
            </a:pPr>
            <a:r>
              <a:rPr sz="1400" b="0">
                <a:solidFill>
                  <a:srgbClr val="060606"/>
                </a:solidFill>
                <a:latin typeface="Helvetica"/>
              </a:rPr>
              <a:t>Le motif de chaque sortie est indispensable pour séparer retraites, décès et radiations, et donc pour mesurer la mortalité des policiers et projeter les départs.</a:t>
            </a:r>
          </a:p>
        </p:txBody>
      </p:sp>
      <p:sp>
        <p:nvSpPr>
          <p:cNvPr id="35" name="TextBox 34"/>
          <p:cNvSpPr txBox="1"/>
          <p:nvPr/>
        </p:nvSpPr>
        <p:spPr>
          <a:xfrm>
            <a:off x="503999" y="5382000"/>
            <a:ext cx="6552000" cy="450000"/>
          </a:xfrm>
          <a:prstGeom prst="rect">
            <a:avLst/>
          </a:prstGeom>
          <a:noFill/>
        </p:spPr>
        <p:txBody>
          <a:bodyPr wrap="square" anchor="t" lIns="54000" rIns="54000"/>
          <a:lstStyle/>
          <a:p>
            <a:pPr algn="l"/>
            <a:r>
              <a:rPr sz="850" b="0">
                <a:solidFill>
                  <a:srgbClr val="53565A"/>
                </a:solidFill>
                <a:latin typeface="Helvetica"/>
              </a:rPr>
              <a:t>Valable pour : matricules présents un mois et absents le suivant (ou l'inverse) dans les fichiers retour du poste 936 (dossier « FPPN-SOLDE\EFFECTIF POLICE (MALADIE) »), janvier 2024 à septembre 2026. Ne distingue pas retraite, décès et radiation.</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CGRAE : Caisse générale de retraite des agents de l'État | GNA : assureur de la flotte automobile (compte 47111106) | 936 : poste maladie</a:t>
            </a:r>
          </a:p>
        </p:txBody>
      </p:sp>
    </p:spTree>
    <p:extLst>
      <p:ext uri="{BB962C8B-B14F-4D97-AF65-F5344CB8AC3E}">
        <p14:creationId xmlns:p14="http://schemas.microsoft.com/office/powerpoint/2010/main" val="3332218738"/>
      </p:ext>
    </p:extLst>
  </p:cSld>
  <p:clrMapOvr>
    <a:masterClrMapping/>
  </p:clrMapOvr>
  <p:transition>
    <p:fade/>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Structure des effectifs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Une population jeune en service, recrutée en majorité depuis moins de dix ans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En janv. 25, ancienneté médiane de 7,50 ans, salaire de base médian de 186 765 FCFA</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10 : Agents par ancienneté de service, janv. 25</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nombre d'agents</a:t>
            </a:r>
          </a:p>
        </p:txBody>
      </p:sp>
      <p:graphicFrame>
        <p:nvGraphicFramePr>
          <p:cNvPr id="32" name="Chart 31"/>
          <p:cNvGraphicFramePr>
            <a:graphicFrameLocks noGrp="1"/>
          </p:cNvGraphicFramePr>
          <p:nvPr/>
        </p:nvGraphicFramePr>
        <p:xfrm>
          <a:off x="503999" y="1782000"/>
          <a:ext cx="6552000" cy="3744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fichiers de précomptes de la Solde, de la CGRAE et du FPPN reçus le 15/10/2026 (dossiers « FPPN-SOLDE », « FPPN-CGRAE », « FPPN-GNA », noms exacts en annexe « Fichiers sources »). Traitements Adenka (fichiers maladie 936 détaillés)</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56,82 % des agents ont moins de dix ans de service.</a:t>
            </a:r>
            <a:r>
              <a:rPr sz="1400" b="0">
                <a:solidFill>
                  <a:srgbClr val="060606"/>
                </a:solidFill>
                <a:latin typeface="Helvetica"/>
              </a:rPr>
              <a:t> Les recrutements récents dominent la population cotisante.</a:t>
            </a:r>
          </a:p>
          <a:p>
            <a:pPr algn="just">
              <a:spcAft>
                <a:spcPts val="600"/>
              </a:spcAft>
            </a:pPr>
            <a:r>
              <a:rPr sz="1400" b="1">
                <a:solidFill>
                  <a:srgbClr val="060606"/>
                </a:solidFill>
                <a:latin typeface="Helvetica"/>
              </a:rPr>
              <a:t>Une seconde vague a 15 à 25 ans de service.</a:t>
            </a:r>
            <a:r>
              <a:rPr sz="1400" b="0">
                <a:solidFill>
                  <a:srgbClr val="060606"/>
                </a:solidFill>
                <a:latin typeface="Helvetica"/>
              </a:rPr>
              <a:t> Elle regroupe 30,79 % des agents.</a:t>
            </a:r>
          </a:p>
          <a:p>
            <a:pPr algn="just">
              <a:spcAft>
                <a:spcPts val="600"/>
              </a:spcAft>
            </a:pPr>
            <a:r>
              <a:rPr sz="1400" b="1">
                <a:solidFill>
                  <a:srgbClr val="060606"/>
                </a:solidFill>
                <a:latin typeface="Helvetica"/>
              </a:rPr>
              <a:t>Cette seconde vague partira à la retraite dans les années à venir.</a:t>
            </a:r>
            <a:r>
              <a:rPr sz="1400" b="0">
                <a:solidFill>
                  <a:srgbClr val="060606"/>
                </a:solidFill>
                <a:latin typeface="Helvetica"/>
              </a:rPr>
              <a:t> Elle deviendra une population de retraités précomptés par la CGRAE, qui consomme davantage de soins.</a:t>
            </a:r>
          </a:p>
          <a:p>
            <a:pPr algn="just">
              <a:spcAft>
                <a:spcPts val="600"/>
              </a:spcAft>
            </a:pPr>
            <a:r>
              <a:rPr sz="1400" b="0">
                <a:solidFill>
                  <a:srgbClr val="060606"/>
                </a:solidFill>
                <a:latin typeface="Helvetica"/>
              </a:rPr>
              <a:t>Les départs de cette vague déclencheront le versement de l'EFC et une hausse de la sinistralité des retraités : c'est le premier effet que la projection de l'équilibre devra chiffrer dès réception des âges.</a:t>
            </a:r>
          </a:p>
        </p:txBody>
      </p:sp>
      <p:sp>
        <p:nvSpPr>
          <p:cNvPr id="35" name="TextBox 34"/>
          <p:cNvSpPr txBox="1"/>
          <p:nvPr/>
        </p:nvSpPr>
        <p:spPr>
          <a:xfrm>
            <a:off x="503999" y="5526000"/>
            <a:ext cx="6552000" cy="306000"/>
          </a:xfrm>
          <a:prstGeom prst="rect">
            <a:avLst/>
          </a:prstGeom>
          <a:noFill/>
        </p:spPr>
        <p:txBody>
          <a:bodyPr wrap="square" anchor="t" lIns="54000" rIns="54000"/>
          <a:lstStyle/>
          <a:p>
            <a:pPr algn="l"/>
            <a:r>
              <a:rPr sz="850" b="0">
                <a:solidFill>
                  <a:srgbClr val="53565A"/>
                </a:solidFill>
                <a:latin typeface="Helvetica"/>
              </a:rPr>
              <a:t>Valable pour : ancienneté de service calculée sur la date d'entrée des fichiers retour du poste 936 (dossier « FPPN-SOLDE\EFFECTIF POLICE (MALADIE) ») de janvier 2025. Âge non disponible.</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CGRAE : Caisse générale de retraite des agents de l'État | EFC : entraide fin de carrière | GNA : assureur de la flotte automobile (compte 47111106) | 936 : poste maladie</a:t>
            </a:r>
          </a:p>
        </p:txBody>
      </p:sp>
    </p:spTree>
    <p:extLst>
      <p:ext uri="{BB962C8B-B14F-4D97-AF65-F5344CB8AC3E}">
        <p14:creationId xmlns:p14="http://schemas.microsoft.com/office/powerpoint/2010/main" val="269637978"/>
      </p:ext>
    </p:extLst>
  </p:cSld>
  <p:clrMapOvr>
    <a:masterClrMapping/>
  </p:clrMapOvr>
  <p:transition>
    <p:fade/>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Calcul pas à pas : taux de cotisation</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Pour chaque agent, maladie et décès font 5,00 % du salaire de base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 taux maladie de 3,77 % se retrouve sur 209 670 lignes de huit mois. Le taux décès de 1,23 % est mesuré en avril 2024 et janvier 2025, puis confirmé par le rapport 8Z6 / 936 (partie 3)</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fichiers de précomptes de la Solde, de la CGRAE et du FPPN reçus le 15/10/2026 (dossiers « FPPN-SOLDE », « FPPN-CGRAE », « FPPN-GNA », noms exacts en annexe « Fichiers sources »). Traitements Adenka. Matricules masqués</a:t>
            </a:r>
          </a:p>
        </p:txBody>
      </p:sp>
      <p:sp>
        <p:nvSpPr>
          <p:cNvPr id="31" name="TextBox 30"/>
          <p:cNvSpPr txBox="1"/>
          <p:nvPr/>
        </p:nvSpPr>
        <p:spPr>
          <a:xfrm>
            <a:off x="503999" y="1350000"/>
            <a:ext cx="9648000" cy="180000"/>
          </a:xfrm>
          <a:prstGeom prst="rect">
            <a:avLst/>
          </a:prstGeom>
          <a:noFill/>
        </p:spPr>
        <p:txBody>
          <a:bodyPr wrap="square" anchor="t" lIns="54000" rIns="54000"/>
          <a:lstStyle/>
          <a:p>
            <a:pPr algn="l"/>
            <a:r>
              <a:rPr sz="900" b="0">
                <a:solidFill>
                  <a:srgbClr val="53565A"/>
                </a:solidFill>
                <a:latin typeface="Helvetica"/>
              </a:rPr>
              <a:t>Extrait : FPPN-SOLDE\EFFECTIF POLICE (MALADIE)\2024\042024_effectif_police_936_AVRIL 2024.xlsx et FPPN_ALLOC_DECES_8Z6_AVRIL_2024.xlsx</a:t>
            </a:r>
          </a:p>
        </p:txBody>
      </p:sp>
      <p:graphicFrame>
        <p:nvGraphicFramePr>
          <p:cNvPr id="32" name="Table 31"/>
          <p:cNvGraphicFramePr>
            <a:graphicFrameLocks noGrp="1"/>
          </p:cNvGraphicFramePr>
          <p:nvPr/>
        </p:nvGraphicFramePr>
        <p:xfrm>
          <a:off x="503999" y="1548000"/>
          <a:ext cx="9648000" cy="840036"/>
        </p:xfrm>
        <a:graphic>
          <a:graphicData uri="http://schemas.openxmlformats.org/drawingml/2006/table">
            <a:tbl>
              <a:tblPr firstRow="0" bandRow="0">
                <a:tableStyleId>{5940675A-B579-460E-94D1-54222C63F5DA}</a:tableStyleId>
              </a:tblPr>
              <a:tblGrid>
                <a:gridCol w="1152000"/>
                <a:gridCol w="792000"/>
                <a:gridCol w="1512000"/>
                <a:gridCol w="1368000"/>
                <a:gridCol w="1296000"/>
                <a:gridCol w="1224000"/>
                <a:gridCol w="1152000"/>
                <a:gridCol w="1152000"/>
              </a:tblGrid>
              <a:tr h="210009">
                <a:tc>
                  <a:txBody>
                    <a:bodyPr/>
                    <a:lstStyle/>
                    <a:p>
                      <a:pPr marL="0" indent="0" lvl="0">
                        <a:buNone/>
                      </a:pPr>
                      <a:r>
                        <a:rPr sz="1000" b="1">
                          <a:solidFill>
                            <a:srgbClr val="FFFFFF"/>
                          </a:solidFill>
                          <a:latin typeface="Helvetica"/>
                        </a:rPr>
                        <a:t>Matricule</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Grade</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Salaire de base</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Maladie 936</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Décès 8Z6</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Maladie %</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Décès %</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Total %</a:t>
                      </a:r>
                    </a:p>
                  </a:txBody>
                  <a:tcPr marL="43200" marR="43200" marT="14400" marB="14400" anchor="ctr">
                    <a:solidFill>
                      <a:srgbClr val="060606"/>
                    </a:solidFill>
                  </a:tcPr>
                </a:tc>
              </a:tr>
              <a:tr h="210009">
                <a:tc>
                  <a:txBody>
                    <a:bodyPr/>
                    <a:lstStyle/>
                    <a:p>
                      <a:pPr marL="0" indent="0" lvl="0">
                        <a:buNone/>
                      </a:pPr>
                      <a:r>
                        <a:rPr sz="1000" b="1">
                          <a:solidFill>
                            <a:srgbClr val="060606"/>
                          </a:solidFill>
                          <a:latin typeface="Helvetica"/>
                        </a:rPr>
                        <a:t>163***W</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MH</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301159</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11354</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3704</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3,77 %</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1,23 %</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5,00 %</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171***W</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MQ</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438898</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16546</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5398</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3,77 %</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1,23 %</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5,00 %</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172***N</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I1</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817097</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30805</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10050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3,77 %</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1,23 %</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5,00 %</a:t>
                      </a:r>
                    </a:p>
                  </a:txBody>
                  <a:tcPr marL="43200" marR="43200" marT="14400" marB="14400" anchor="ctr">
                    <a:solidFill>
                      <a:srgbClr val="FFFFFF"/>
                    </a:solidFill>
                  </a:tcPr>
                </a:tc>
              </a:tr>
            </a:tbl>
          </a:graphicData>
        </a:graphic>
      </p:graphicFrame>
      <p:sp>
        <p:nvSpPr>
          <p:cNvPr id="33" name="Rounded Rectangle 32"/>
          <p:cNvSpPr/>
          <p:nvPr/>
        </p:nvSpPr>
        <p:spPr>
          <a:xfrm>
            <a:off x="6605999" y="1747209"/>
            <a:ext cx="1260000"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67999" y="1596009"/>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5" name="Rounded Rectangle 34"/>
          <p:cNvSpPr/>
          <p:nvPr/>
        </p:nvSpPr>
        <p:spPr>
          <a:xfrm>
            <a:off x="7829999" y="1747209"/>
            <a:ext cx="1188000"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819999" y="1596009"/>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37" name="Rounded Rectangle 36"/>
          <p:cNvSpPr/>
          <p:nvPr/>
        </p:nvSpPr>
        <p:spPr>
          <a:xfrm>
            <a:off x="8982000" y="1747209"/>
            <a:ext cx="1188000"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9972000" y="1596009"/>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39" name="Oval 38"/>
          <p:cNvSpPr/>
          <p:nvPr/>
        </p:nvSpPr>
        <p:spPr>
          <a:xfrm>
            <a:off x="503999" y="251403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40" name="TextBox 39"/>
          <p:cNvSpPr txBox="1"/>
          <p:nvPr/>
        </p:nvSpPr>
        <p:spPr>
          <a:xfrm>
            <a:off x="864000" y="2496038"/>
            <a:ext cx="9288000" cy="298144"/>
          </a:xfrm>
          <a:prstGeom prst="rect">
            <a:avLst/>
          </a:prstGeom>
          <a:noFill/>
        </p:spPr>
        <p:txBody>
          <a:bodyPr wrap="square" anchor="t" lIns="54000" rIns="54000"/>
          <a:lstStyle/>
          <a:p>
            <a:pPr algn="l"/>
            <a:r>
              <a:rPr sz="1200" b="0">
                <a:solidFill>
                  <a:srgbClr val="060606"/>
                </a:solidFill>
                <a:latin typeface="Helvetica"/>
              </a:rPr>
              <a:t>Le précompte maladie vaut 11 354 / 301 159 = 3,77 % du salaire de base, au lieu de 3,5 %.</a:t>
            </a:r>
          </a:p>
        </p:txBody>
      </p:sp>
      <p:sp>
        <p:nvSpPr>
          <p:cNvPr id="41" name="Oval 40"/>
          <p:cNvSpPr/>
          <p:nvPr/>
        </p:nvSpPr>
        <p:spPr>
          <a:xfrm>
            <a:off x="503999" y="2902182"/>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42" name="TextBox 41"/>
          <p:cNvSpPr txBox="1"/>
          <p:nvPr/>
        </p:nvSpPr>
        <p:spPr>
          <a:xfrm>
            <a:off x="864000" y="2884182"/>
            <a:ext cx="9288000" cy="298144"/>
          </a:xfrm>
          <a:prstGeom prst="rect">
            <a:avLst/>
          </a:prstGeom>
          <a:noFill/>
        </p:spPr>
        <p:txBody>
          <a:bodyPr wrap="square" anchor="t" lIns="54000" rIns="54000"/>
          <a:lstStyle/>
          <a:p>
            <a:pPr algn="l"/>
            <a:r>
              <a:rPr sz="1200" b="0">
                <a:solidFill>
                  <a:srgbClr val="060606"/>
                </a:solidFill>
                <a:latin typeface="Helvetica"/>
              </a:rPr>
              <a:t>Le précompte décès vaut 3 704 / 301 159 = 1,23 % du salaire de base, au lieu de 1,5 %.</a:t>
            </a:r>
          </a:p>
        </p:txBody>
      </p:sp>
      <p:sp>
        <p:nvSpPr>
          <p:cNvPr id="43" name="Oval 42"/>
          <p:cNvSpPr/>
          <p:nvPr/>
        </p:nvSpPr>
        <p:spPr>
          <a:xfrm>
            <a:off x="503999" y="3290327"/>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44" name="TextBox 43"/>
          <p:cNvSpPr txBox="1"/>
          <p:nvPr/>
        </p:nvSpPr>
        <p:spPr>
          <a:xfrm>
            <a:off x="864000" y="3272327"/>
            <a:ext cx="9288000" cy="298144"/>
          </a:xfrm>
          <a:prstGeom prst="rect">
            <a:avLst/>
          </a:prstGeom>
          <a:noFill/>
        </p:spPr>
        <p:txBody>
          <a:bodyPr wrap="square" anchor="t" lIns="54000" rIns="54000"/>
          <a:lstStyle/>
          <a:p>
            <a:pPr algn="l"/>
            <a:r>
              <a:rPr sz="1200" b="0">
                <a:solidFill>
                  <a:srgbClr val="060606"/>
                </a:solidFill>
                <a:latin typeface="Helvetica"/>
              </a:rPr>
              <a:t>Le total de 5,00 % est respecté, mais la répartition entre maladie et décès diffère du barème indiqué.</a:t>
            </a:r>
          </a:p>
        </p:txBody>
      </p:sp>
      <p:sp>
        <p:nvSpPr>
          <p:cNvPr id="45" name="TextBox 44"/>
          <p:cNvSpPr txBox="1"/>
          <p:nvPr/>
        </p:nvSpPr>
        <p:spPr>
          <a:xfrm>
            <a:off x="503999" y="3714471"/>
            <a:ext cx="11232000" cy="2153528"/>
          </a:xfrm>
          <a:prstGeom prst="rect">
            <a:avLst/>
          </a:prstGeom>
          <a:noFill/>
        </p:spPr>
        <p:txBody>
          <a:bodyPr wrap="square" lIns="54000" rIns="54000"/>
          <a:lstStyle/>
          <a:p>
            <a:pPr algn="just">
              <a:spcAft>
                <a:spcPts val="600"/>
              </a:spcAft>
            </a:pPr>
            <a:r>
              <a:rPr sz="1200" b="1">
                <a:solidFill>
                  <a:srgbClr val="060606"/>
                </a:solidFill>
                <a:latin typeface="Helvetica"/>
              </a:rPr>
              <a:t>La Solde applique la même clé à tous les agents.</a:t>
            </a:r>
            <a:r>
              <a:rPr sz="1200" b="0">
                <a:solidFill>
                  <a:srgbClr val="060606"/>
                </a:solidFill>
                <a:latin typeface="Helvetica"/>
              </a:rPr>
              <a:t> L'écart avec le barème n'est donc pas une erreur ponctuelle, mais une règle de calcul.</a:t>
            </a:r>
          </a:p>
          <a:p>
            <a:pPr algn="just">
              <a:spcAft>
                <a:spcPts val="600"/>
              </a:spcAft>
            </a:pPr>
            <a:r>
              <a:rPr sz="1200" b="0">
                <a:solidFill>
                  <a:srgbClr val="060606"/>
                </a:solidFill>
                <a:latin typeface="Helvetica"/>
              </a:rPr>
              <a:t>Le barème officiel est fixé par les statuts (art. 17) et le règlement intérieur (art. 33) : la répartition de la Solde doit être corrigée ou expliquée, faute de quoi le résultat de chaque garantie dépend de la source retenue.</a:t>
            </a:r>
          </a:p>
        </p:txBody>
      </p:sp>
      <p:sp>
        <p:nvSpPr>
          <p:cNvPr id="46" name="TextBox 4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CGRAE : Caisse générale de retraite des agents de l'État | GNA : assureur de la flotte automobile (compte 47111106) | 936 : poste maladie | 8Z6 : poste décès</a:t>
            </a:r>
          </a:p>
        </p:txBody>
      </p:sp>
    </p:spTree>
    <p:extLst>
      <p:ext uri="{BB962C8B-B14F-4D97-AF65-F5344CB8AC3E}">
        <p14:creationId xmlns:p14="http://schemas.microsoft.com/office/powerpoint/2010/main" val="1382837663"/>
      </p:ext>
    </p:extLst>
  </p:cSld>
  <p:clrMapOvr>
    <a:masterClrMapping/>
  </p:clrMapOvr>
  <p:transition>
    <p:fade/>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Taux de cotisation</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Trois clés de répartition coexistent pour le même taux de 5 %</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Barème des statuts 3,5 / 1,5. Solde 3,77 / 1,23. Comptabilité 2025 3,52 / 1,48</a:t>
            </a:r>
          </a:p>
        </p:txBody>
      </p:sp>
      <p:sp>
        <p:nvSpPr>
          <p:cNvPr id="30" name="TextBox 29"/>
          <p:cNvSpPr txBox="1"/>
          <p:nvPr/>
        </p:nvSpPr>
        <p:spPr>
          <a:xfrm>
            <a:off x="503999" y="1386000"/>
            <a:ext cx="5976000" cy="251999"/>
          </a:xfrm>
          <a:prstGeom prst="rect">
            <a:avLst/>
          </a:prstGeom>
          <a:noFill/>
        </p:spPr>
        <p:txBody>
          <a:bodyPr wrap="square">
            <a:spAutoFit/>
          </a:bodyPr>
          <a:lstStyle/>
          <a:p>
            <a:pPr algn="ctr">
              <a:spcAft>
                <a:spcPts val="0"/>
              </a:spcAft>
            </a:pPr>
            <a:r>
              <a:rPr sz="1200" b="0">
                <a:solidFill>
                  <a:srgbClr val="EFAC62"/>
                </a:solidFill>
                <a:latin typeface="Helvetica"/>
              </a:rPr>
              <a:t>Figure 11 : Répartition du taux de 5 % selon la source</a:t>
            </a:r>
          </a:p>
        </p:txBody>
      </p:sp>
      <p:sp>
        <p:nvSpPr>
          <p:cNvPr id="31" name="TextBox 30"/>
          <p:cNvSpPr txBox="1"/>
          <p:nvPr/>
        </p:nvSpPr>
        <p:spPr>
          <a:xfrm>
            <a:off x="503999" y="1602000"/>
            <a:ext cx="5976000" cy="162000"/>
          </a:xfrm>
          <a:prstGeom prst="rect">
            <a:avLst/>
          </a:prstGeom>
          <a:noFill/>
        </p:spPr>
        <p:txBody>
          <a:bodyPr wrap="square">
            <a:spAutoFit/>
          </a:bodyPr>
          <a:lstStyle/>
          <a:p>
            <a:pPr algn="l">
              <a:spcAft>
                <a:spcPts val="0"/>
              </a:spcAft>
            </a:pPr>
            <a:r>
              <a:rPr sz="900" b="0">
                <a:solidFill>
                  <a:srgbClr val="060606"/>
                </a:solidFill>
                <a:latin typeface="Helvetica"/>
              </a:rPr>
              <a:t>En % du salaire de base</a:t>
            </a:r>
          </a:p>
        </p:txBody>
      </p:sp>
      <p:graphicFrame>
        <p:nvGraphicFramePr>
          <p:cNvPr id="32" name="Chart 31"/>
          <p:cNvGraphicFramePr>
            <a:graphicFrameLocks noGrp="1"/>
          </p:cNvGraphicFramePr>
          <p:nvPr/>
        </p:nvGraphicFramePr>
        <p:xfrm>
          <a:off x="503999" y="1782000"/>
          <a:ext cx="5976000" cy="3600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fichiers de précomptes de la Solde, de la CGRAE et du FPPN reçus le 15/10/2026 (dossiers « FPPN-SOLDE », « FPPN-CGRAE », « FPPN-GNA », noms exacts en annexe « Fichiers sources »). Traitements Adenka. Balances des comptes du FPPN de 2020 au 31/08/2026 (provisoire), fichiers « BALANCE … » listés en annexe « Fichiers sources ». Traitements Adenka</a:t>
            </a:r>
          </a:p>
        </p:txBody>
      </p:sp>
      <p:sp>
        <p:nvSpPr>
          <p:cNvPr id="34" name="TextBox 33"/>
          <p:cNvSpPr txBox="1"/>
          <p:nvPr/>
        </p:nvSpPr>
        <p:spPr>
          <a:xfrm>
            <a:off x="6696000" y="1440000"/>
            <a:ext cx="5040000" cy="4428000"/>
          </a:xfrm>
          <a:prstGeom prst="rect">
            <a:avLst/>
          </a:prstGeom>
          <a:noFill/>
        </p:spPr>
        <p:txBody>
          <a:bodyPr wrap="square" lIns="54000" rIns="54000"/>
          <a:lstStyle/>
          <a:p>
            <a:pPr algn="just">
              <a:spcAft>
                <a:spcPts val="600"/>
              </a:spcAft>
            </a:pPr>
            <a:r>
              <a:rPr sz="1400" b="1">
                <a:solidFill>
                  <a:srgbClr val="060606"/>
                </a:solidFill>
                <a:latin typeface="Helvetica"/>
              </a:rPr>
              <a:t>Le total de 5 % est respecté dans les trois sources.</a:t>
            </a:r>
            <a:r>
              <a:rPr sz="1400" b="0">
                <a:solidFill>
                  <a:srgbClr val="060606"/>
                </a:solidFill>
                <a:latin typeface="Helvetica"/>
              </a:rPr>
              <a:t> Seule la répartition entre maladie et décès change.</a:t>
            </a:r>
          </a:p>
          <a:p>
            <a:pPr algn="just">
              <a:spcAft>
                <a:spcPts val="600"/>
              </a:spcAft>
            </a:pPr>
            <a:r>
              <a:rPr sz="1400" b="1">
                <a:solidFill>
                  <a:srgbClr val="060606"/>
                </a:solidFill>
                <a:latin typeface="Helvetica"/>
              </a:rPr>
              <a:t>La Solde retient 3,77 % au poste maladie et 1,23 % au poste décès.</a:t>
            </a:r>
            <a:r>
              <a:rPr sz="1400" b="0">
                <a:solidFill>
                  <a:srgbClr val="060606"/>
                </a:solidFill>
                <a:latin typeface="Helvetica"/>
              </a:rPr>
              <a:t> Les statuts (art. 17) et le règlement intérieur (art. 33) fixent 3,5 % et 1,5 %, comme l'avait indiqué le responsable des sinistres et prestations le 16/10/2026. Le responsable des cotisations renvoie la répartition à la comptabilité (entretien du 19/10/2026).</a:t>
            </a:r>
          </a:p>
          <a:p>
            <a:pPr algn="just">
              <a:spcAft>
                <a:spcPts val="600"/>
              </a:spcAft>
            </a:pPr>
            <a:r>
              <a:rPr sz="1400" b="1">
                <a:solidFill>
                  <a:srgbClr val="060606"/>
                </a:solidFill>
                <a:latin typeface="Helvetica"/>
              </a:rPr>
              <a:t>La comptabilité affecte 70,50 % des cotisations à la maladie</a:t>
            </a:r>
            <a:r>
              <a:rPr sz="1400" b="0">
                <a:solidFill>
                  <a:srgbClr val="060606"/>
                </a:solidFill>
                <a:latin typeface="Helvetica"/>
              </a:rPr>
              <a:t>, proche des 70 % du barème indiqué en entretien. Elle ne suit donc pas la Solde.</a:t>
            </a:r>
          </a:p>
          <a:p>
            <a:pPr algn="just">
              <a:spcAft>
                <a:spcPts val="600"/>
              </a:spcAft>
            </a:pPr>
            <a:r>
              <a:rPr sz="1400" b="0">
                <a:solidFill>
                  <a:srgbClr val="060606"/>
                </a:solidFill>
                <a:latin typeface="Helvetica"/>
              </a:rPr>
              <a:t>La Décision n° 05/2022 impose de suivre l'excédent par risque : sans clé unique, le FPPN ne peut pas calculer la réserve obligatoire exigée pour chaque risque (au moins 30 % de l'excédent maladie, 50 % des autres).</a:t>
            </a:r>
          </a:p>
        </p:txBody>
      </p:sp>
      <p:sp>
        <p:nvSpPr>
          <p:cNvPr id="35" name="TextBox 34"/>
          <p:cNvSpPr txBox="1"/>
          <p:nvPr/>
        </p:nvSpPr>
        <p:spPr>
          <a:xfrm>
            <a:off x="503999" y="5382000"/>
            <a:ext cx="5976000" cy="450000"/>
          </a:xfrm>
          <a:prstGeom prst="rect">
            <a:avLst/>
          </a:prstGeom>
          <a:noFill/>
        </p:spPr>
        <p:txBody>
          <a:bodyPr wrap="square" anchor="t" lIns="54000" rIns="54000"/>
          <a:lstStyle/>
          <a:p>
            <a:pPr algn="l"/>
            <a:r>
              <a:rPr sz="850" b="0">
                <a:solidFill>
                  <a:srgbClr val="53565A"/>
                </a:solidFill>
                <a:latin typeface="Helvetica"/>
              </a:rPr>
              <a:t>Valable pour : taux maladie : colonne du salaire de base des fichiers retour du poste 936 (dossier « FPPN-SOLDE\EFFECTIF POLICE (MALADIE) ») (huit mois détaillés). Taux décès : fichiers retour du poste 8Z6 (dossier « FPPN-SOLDE\ALLOCATION DECES ») rapportés au 936 de mars 2024 à septembre 2026.</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CGRAE : Caisse générale de retraite des agents de l'État | GNA : assureur de la flotte automobile (compte 47111106) | 936 : poste maladie | 8Z6 : poste décès</a:t>
            </a:r>
          </a:p>
        </p:txBody>
      </p:sp>
    </p:spTree>
    <p:extLst>
      <p:ext uri="{BB962C8B-B14F-4D97-AF65-F5344CB8AC3E}">
        <p14:creationId xmlns:p14="http://schemas.microsoft.com/office/powerpoint/2010/main" val="2759102081"/>
      </p:ext>
    </p:extLst>
  </p:cSld>
  <p:clrMapOvr>
    <a:masterClrMapping/>
  </p:clrMapOvr>
  <p:transition>
    <p:fade/>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Sensibilité : clé de répartition</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clé retenue change la sinistralité de chaque garantie de plusieurs points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S/C maladie 2025 : 73,53 % avec la clé comptable, 68,75 % avec la clé de la Solde</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12 : Ratio S/C 2025 selon la clé de répartition</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a:t>
            </a:r>
          </a:p>
        </p:txBody>
      </p:sp>
      <p:graphicFrame>
        <p:nvGraphicFramePr>
          <p:cNvPr id="32" name="Chart 31"/>
          <p:cNvGraphicFramePr>
            <a:graphicFrameLocks noGrp="1"/>
          </p:cNvGraphicFramePr>
          <p:nvPr/>
        </p:nvGraphicFramePr>
        <p:xfrm>
          <a:off x="503999" y="1782000"/>
          <a:ext cx="6552000" cy="3744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Avec la clé de la Solde, le S/C maladie 2025 passe à 68,75 %</a:t>
            </a:r>
            <a:r>
              <a:rPr sz="1400" b="0">
                <a:solidFill>
                  <a:srgbClr val="060606"/>
                </a:solidFill>
                <a:latin typeface="Helvetica"/>
              </a:rPr>
              <a:t> et le S/C décès monte à 22,97 %.</a:t>
            </a:r>
          </a:p>
          <a:p>
            <a:pPr algn="just">
              <a:spcAft>
                <a:spcPts val="600"/>
              </a:spcAft>
            </a:pPr>
            <a:r>
              <a:rPr sz="1400" b="1">
                <a:solidFill>
                  <a:srgbClr val="060606"/>
                </a:solidFill>
                <a:latin typeface="Helvetica"/>
              </a:rPr>
              <a:t>Avec le barème indiqué en entretien, le S/C maladie vaut 74,06 %.</a:t>
            </a:r>
            <a:r>
              <a:rPr sz="1400" b="0">
                <a:solidFill>
                  <a:srgbClr val="060606"/>
                </a:solidFill>
                <a:latin typeface="Helvetica"/>
              </a:rPr>
              <a:t> Les prestations restent les mêmes : seule l'affectation des cotisations change.</a:t>
            </a:r>
          </a:p>
          <a:p>
            <a:pPr algn="just">
              <a:spcAft>
                <a:spcPts val="600"/>
              </a:spcAft>
            </a:pPr>
            <a:r>
              <a:rPr sz="1400" b="1">
                <a:solidFill>
                  <a:srgbClr val="060606"/>
                </a:solidFill>
                <a:latin typeface="Helvetica"/>
              </a:rPr>
              <a:t>Le résultat par garantie dépend donc d'une décision de gestion.</a:t>
            </a:r>
            <a:r>
              <a:rPr sz="1400" b="0">
                <a:solidFill>
                  <a:srgbClr val="060606"/>
                </a:solidFill>
                <a:latin typeface="Helvetica"/>
              </a:rPr>
              <a:t> Cette décision doit être écrite dans le barème et appliquée de la même façon par la Solde et par la comptabilité.</a:t>
            </a:r>
          </a:p>
          <a:p>
            <a:pPr algn="just">
              <a:spcAft>
                <a:spcPts val="600"/>
              </a:spcAft>
            </a:pPr>
            <a:r>
              <a:rPr sz="1400" b="0">
                <a:solidFill>
                  <a:srgbClr val="060606"/>
                </a:solidFill>
                <a:latin typeface="Helvetica"/>
              </a:rPr>
              <a:t>Selon la clé, la maladie se situe dans la fourchette réglementaire de 70 % à 80 % ou en dessous : la conclusion sur l'équilibre de la garantie maladie ne sera ferme qu'avec le barème officiel.</a:t>
            </a:r>
          </a:p>
        </p:txBody>
      </p:sp>
      <p:sp>
        <p:nvSpPr>
          <p:cNvPr id="35" name="TextBox 34"/>
          <p:cNvSpPr txBox="1"/>
          <p:nvPr/>
        </p:nvSpPr>
        <p:spPr>
          <a:xfrm>
            <a:off x="503999" y="5526000"/>
            <a:ext cx="6552000" cy="306000"/>
          </a:xfrm>
          <a:prstGeom prst="rect">
            <a:avLst/>
          </a:prstGeom>
          <a:noFill/>
        </p:spPr>
        <p:txBody>
          <a:bodyPr wrap="square" anchor="t" lIns="54000" rIns="54000"/>
          <a:lstStyle/>
          <a:p>
            <a:pPr algn="l"/>
            <a:r>
              <a:rPr sz="850" b="0">
                <a:solidFill>
                  <a:srgbClr val="53565A"/>
                </a:solidFill>
                <a:latin typeface="Helvetica"/>
              </a:rPr>
              <a:t>Valable pour : exercice 2025. Cotisations des comptes 7010 et 7021 de « BALANCE FPPN 2025.xlsx » réparties entre maladie et décès selon la clé testée.</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S/C : prestations / cotisations</a:t>
            </a:r>
          </a:p>
        </p:txBody>
      </p:sp>
    </p:spTree>
    <p:extLst>
      <p:ext uri="{BB962C8B-B14F-4D97-AF65-F5344CB8AC3E}">
        <p14:creationId xmlns:p14="http://schemas.microsoft.com/office/powerpoint/2010/main" val="1357707375"/>
      </p:ext>
    </p:extLst>
  </p:cSld>
  <p:clrMapOvr>
    <a:masterClrMapping/>
  </p:clrMapOvr>
  <p:transition>
    <p:fade/>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Cotisations en termes réels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Hors inflation, les cotisations progressent de 23 % entre 2020 et 2025</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Hausse nominale 45,76 %, hausse des prix 18,50 %, hausse réelle 23,01 %</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13 : Cotisations nominales et réelles (francs de 2020)</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millions de FCFA</a:t>
            </a:r>
          </a:p>
        </p:txBody>
      </p:sp>
      <p:graphicFrame>
        <p:nvGraphicFramePr>
          <p:cNvPr id="32" name="Chart 31"/>
          <p:cNvGraphicFramePr>
            <a:graphicFrameLocks noGrp="1"/>
          </p:cNvGraphicFramePr>
          <p:nvPr/>
        </p:nvGraphicFramePr>
        <p:xfrm>
          <a:off x="503999" y="1782000"/>
          <a:ext cx="6552000" cy="3600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Banque mondiale, FP.CPI.TOTL.ZG, mise à jour du 08/10/2026. Balances des comptes du FPPN de 2020 au 31/08/2026 (provisoire), fichiers « BALANCE … » listés en annexe « Fichiers sources ». Traitements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L'inflation explique une partie de la hausse des cotisations.</a:t>
            </a:r>
            <a:r>
              <a:rPr sz="1400" b="0">
                <a:solidFill>
                  <a:srgbClr val="060606"/>
                </a:solidFill>
                <a:latin typeface="Helvetica"/>
              </a:rPr>
              <a:t> Les prix ont augmenté de 18,50 % entre 2020 et 2025.</a:t>
            </a:r>
          </a:p>
          <a:p>
            <a:pPr algn="just">
              <a:spcAft>
                <a:spcPts val="600"/>
              </a:spcAft>
            </a:pPr>
            <a:r>
              <a:rPr sz="1400" b="1">
                <a:solidFill>
                  <a:srgbClr val="060606"/>
                </a:solidFill>
                <a:latin typeface="Helvetica"/>
              </a:rPr>
              <a:t>La hausse réelle reste nette : 23,01 %.</a:t>
            </a:r>
            <a:r>
              <a:rPr sz="1400" b="0">
                <a:solidFill>
                  <a:srgbClr val="060606"/>
                </a:solidFill>
                <a:latin typeface="Helvetica"/>
              </a:rPr>
              <a:t> Elle vient surtout de la hausse des effectifs, le taux de 5 % étant resté le même.</a:t>
            </a:r>
          </a:p>
          <a:p>
            <a:pPr algn="just">
              <a:spcAft>
                <a:spcPts val="600"/>
              </a:spcAft>
            </a:pPr>
            <a:r>
              <a:rPr sz="1400" b="1">
                <a:solidFill>
                  <a:srgbClr val="060606"/>
                </a:solidFill>
                <a:latin typeface="Helvetica"/>
              </a:rPr>
              <a:t>L'inflation de 2025 est très faible (0,13 %)</a:t>
            </a:r>
            <a:r>
              <a:rPr sz="1400" b="0">
                <a:solidFill>
                  <a:srgbClr val="060606"/>
                </a:solidFill>
                <a:latin typeface="Helvetica"/>
              </a:rPr>
              <a:t>, après 5,23 % en 2022.</a:t>
            </a:r>
          </a:p>
          <a:p>
            <a:pPr algn="just">
              <a:spcAft>
                <a:spcPts val="600"/>
              </a:spcAft>
            </a:pPr>
            <a:r>
              <a:rPr sz="1400" b="0">
                <a:solidFill>
                  <a:srgbClr val="060606"/>
                </a:solidFill>
                <a:latin typeface="Helvetica"/>
              </a:rPr>
              <a:t>Le coût des soins suit les prix de la santé : une cotisation fixée en pourcentage du salaire ne protège le FPPN que si les salaires suivent ces prix. La projection devra tester cette hypothèse.</a:t>
            </a:r>
          </a:p>
        </p:txBody>
      </p:sp>
      <p:sp>
        <p:nvSpPr>
          <p:cNvPr id="35" name="TextBox 34"/>
          <p:cNvSpPr txBox="1"/>
          <p:nvPr/>
        </p:nvSpPr>
        <p:spPr>
          <a:xfrm>
            <a:off x="503999" y="5382000"/>
            <a:ext cx="6552000" cy="450000"/>
          </a:xfrm>
          <a:prstGeom prst="rect">
            <a:avLst/>
          </a:prstGeom>
          <a:noFill/>
        </p:spPr>
        <p:txBody>
          <a:bodyPr wrap="square" anchor="t" lIns="54000" rIns="54000"/>
          <a:lstStyle/>
          <a:p>
            <a:pPr algn="l"/>
            <a:r>
              <a:rPr sz="850" b="0">
                <a:solidFill>
                  <a:srgbClr val="53565A"/>
                </a:solidFill>
                <a:latin typeface="Helvetica"/>
              </a:rPr>
              <a:t>Valable pour : cotisations des comptes 7010 et 7021 des balances « BALANCE FORMAT EXCEL DE 09-2020 AU 31-12-2020.xlsx » à « BALANCE FPPN DU 01-01-2026 AU 31-08-2026.xlsx », 2020 à 2025. Inflation de la Banque mondiale (FP.CPI.TOTL.ZG, Côte d'Ivoire), francs de 2020.</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1756864689"/>
      </p:ext>
    </p:extLst>
  </p:cSld>
  <p:clrMapOvr>
    <a:masterClrMapping/>
  </p:clrMapOvr>
  <p:transition>
    <p:fade/>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Cotisations comptabilisées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cotisations comptabilisées progressent de 45,76 % entre 2020 et 2025</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2 344 618 501 FCFA en 2020, 3 417 551 722 FCFA en 2025. Taux de croissance annuel moyen 7,83 %</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14 : Cotisations comptabilisées par garantie</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millions de FCFA</a:t>
            </a:r>
          </a:p>
        </p:txBody>
      </p:sp>
      <p:graphicFrame>
        <p:nvGraphicFramePr>
          <p:cNvPr id="32" name="Chart 31"/>
          <p:cNvGraphicFramePr>
            <a:graphicFrameLocks noGrp="1"/>
          </p:cNvGraphicFramePr>
          <p:nvPr/>
        </p:nvGraphicFramePr>
        <p:xfrm>
          <a:off x="503999" y="1782000"/>
          <a:ext cx="6552000" cy="3600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En 2025, comptabilité et précomptes maladie diffèrent de 6,89 %.</a:t>
            </a:r>
            <a:r>
              <a:rPr sz="1400" b="0">
                <a:solidFill>
                  <a:srgbClr val="060606"/>
                </a:solidFill>
                <a:latin typeface="Helvetica"/>
              </a:rPr>
              <a:t> La comptabilité enregistre 2 409 281 030 FCFA, contre 2 587 432 980 FCFA de précomptes.</a:t>
            </a:r>
          </a:p>
          <a:p>
            <a:pPr algn="just">
              <a:spcAft>
                <a:spcPts val="600"/>
              </a:spcAft>
            </a:pPr>
            <a:r>
              <a:rPr sz="1400" b="1">
                <a:solidFill>
                  <a:srgbClr val="060606"/>
                </a:solidFill>
                <a:latin typeface="Helvetica"/>
              </a:rPr>
              <a:t>L'écart vient de la clé de répartition.</a:t>
            </a:r>
            <a:r>
              <a:rPr sz="1400" b="0">
                <a:solidFill>
                  <a:srgbClr val="060606"/>
                </a:solidFill>
                <a:latin typeface="Helvetica"/>
              </a:rPr>
              <a:t> La comptabilité affecte au décès une part des cotisations plus grande que la Solde.</a:t>
            </a:r>
          </a:p>
          <a:p>
            <a:pPr algn="just">
              <a:spcAft>
                <a:spcPts val="600"/>
              </a:spcAft>
            </a:pPr>
            <a:r>
              <a:rPr sz="1400" b="1">
                <a:solidFill>
                  <a:srgbClr val="060606"/>
                </a:solidFill>
                <a:latin typeface="Helvetica"/>
              </a:rPr>
              <a:t>Fin 2025, l'État devait 704 189 157 FCFA de cotisations.</a:t>
            </a:r>
            <a:r>
              <a:rPr sz="1400" b="0">
                <a:solidFill>
                  <a:srgbClr val="060606"/>
                </a:solidFill>
                <a:latin typeface="Helvetica"/>
              </a:rPr>
              <a:t> Le compte est soldé au 31/08/2026.</a:t>
            </a:r>
          </a:p>
          <a:p>
            <a:pPr algn="just">
              <a:spcAft>
                <a:spcPts val="600"/>
              </a:spcAft>
            </a:pPr>
            <a:r>
              <a:rPr sz="1400" b="0">
                <a:solidFill>
                  <a:srgbClr val="060606"/>
                </a:solidFill>
                <a:latin typeface="Helvetica"/>
              </a:rPr>
              <a:t>Les cotisations totales concordent, mais leur partage entre maladie et décès diffère selon la source. Tant que cet écart n'est pas réglé, la sinistralité et l'excédent de chaque risque restent incertains.</a:t>
            </a:r>
          </a:p>
        </p:txBody>
      </p:sp>
      <p:sp>
        <p:nvSpPr>
          <p:cNvPr id="35" name="TextBox 34"/>
          <p:cNvSpPr txBox="1"/>
          <p:nvPr/>
        </p:nvSpPr>
        <p:spPr>
          <a:xfrm>
            <a:off x="503999" y="5382000"/>
            <a:ext cx="6552000" cy="450000"/>
          </a:xfrm>
          <a:prstGeom prst="rect">
            <a:avLst/>
          </a:prstGeom>
          <a:noFill/>
        </p:spPr>
        <p:txBody>
          <a:bodyPr wrap="square" anchor="t" lIns="54000" rIns="54000"/>
          <a:lstStyle/>
          <a:p>
            <a:pPr algn="l"/>
            <a:r>
              <a:rPr sz="850" b="0">
                <a:solidFill>
                  <a:srgbClr val="53565A"/>
                </a:solidFill>
                <a:latin typeface="Helvetica"/>
              </a:rPr>
              <a:t>Valable pour : comptes 7010 (maladie) et 7021 (décès) des balances « BALANCE FORMAT EXCEL DE 09-2020 AU 31-12-2020.xlsx » à « BALANCE FPPN DU 01-01-2026 AU 31-08-2026.xlsx », 2020 à 2025 et du 01/01 au 31/08/2026. 2020 = à-nouveaux au 01/09/2020 plus mouvements du 01/09 au 31/12/2020.</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3342494824"/>
      </p:ext>
    </p:extLst>
  </p:cSld>
  <p:clrMapOvr>
    <a:masterClrMapping/>
  </p:clrMapOvr>
  <p:transition>
    <p:fade/>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Règles des produits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fichiers confirment les montants de l'EFC et du PEP. Les textes reçus le 22/10/2026 ne sont pas adoptés formellement</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Maladie et décès en pourcentage du salaire de base, EFC et PEP en montants fixes, sans règle écrite transmise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entretien du 19/10/2026 avec le responsable des cotisations. Fichiers de précomptes de la Solde, de la CGRAE et du FPPN reçus le 15/10/2026 (dossiers « FPPN-SOLDE », « FPPN-CGRAE », « FPPN-GNA », noms exacts en annexe « Fichiers sources »). Traitements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26 : Règles des produits déclarées et confrontées aux fichiers de précomptes</a:t>
            </a:r>
          </a:p>
        </p:txBody>
      </p:sp>
      <p:graphicFrame>
        <p:nvGraphicFramePr>
          <p:cNvPr id="32" name="Table 31"/>
          <p:cNvGraphicFramePr>
            <a:graphicFrameLocks noGrp="1"/>
          </p:cNvGraphicFramePr>
          <p:nvPr/>
        </p:nvGraphicFramePr>
        <p:xfrm>
          <a:off x="503999" y="1655999"/>
          <a:ext cx="11232000" cy="2265957"/>
        </p:xfrm>
        <a:graphic>
          <a:graphicData uri="http://schemas.openxmlformats.org/drawingml/2006/table">
            <a:tbl>
              <a:tblPr firstRow="0" bandRow="0">
                <a:tableStyleId>{5940675A-B579-460E-94D1-54222C63F5DA}</a:tableStyleId>
              </a:tblPr>
              <a:tblGrid>
                <a:gridCol w="1296000"/>
                <a:gridCol w="3600000"/>
                <a:gridCol w="3600000"/>
                <a:gridCol w="2736000"/>
              </a:tblGrid>
              <a:tr h="194768">
                <a:tc>
                  <a:txBody>
                    <a:bodyPr/>
                    <a:lstStyle/>
                    <a:p>
                      <a:pPr marL="0" indent="0" lvl="0">
                        <a:buNone/>
                      </a:pPr>
                      <a:r>
                        <a:rPr sz="900" b="1">
                          <a:solidFill>
                            <a:srgbClr val="FFFFFF"/>
                          </a:solidFill>
                          <a:latin typeface="Helvetica"/>
                        </a:rPr>
                        <a:t>Produit</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Règle déclarée (19/10/2026)</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Ce que montrent les fichiers</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Pièce demandée</a:t>
                      </a:r>
                    </a:p>
                  </a:txBody>
                  <a:tcPr marL="43200" marR="43200" marT="14400" marB="14400" anchor="ctr">
                    <a:solidFill>
                      <a:srgbClr val="060606"/>
                    </a:solidFill>
                  </a:tcPr>
                </a:tc>
              </a:tr>
              <a:tr h="331937">
                <a:tc>
                  <a:txBody>
                    <a:bodyPr/>
                    <a:lstStyle/>
                    <a:p>
                      <a:pPr marL="0" indent="0" lvl="0">
                        <a:buNone/>
                      </a:pPr>
                      <a:r>
                        <a:rPr sz="900" b="1">
                          <a:solidFill>
                            <a:srgbClr val="060606"/>
                          </a:solidFill>
                          <a:latin typeface="Helvetica"/>
                        </a:rPr>
                        <a:t>Maladie (936) et décès (8Z6)</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Pourcentage du salaire de base. La répartition entre maladie et décès relève de la comptabilité.</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La Solde retient 3,77 % et 1,23 % du salaire de base, soit 5,00 % au total.</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Barème officiel et document de notification à la Solde (PBC, item 34).</a:t>
                      </a:r>
                    </a:p>
                  </a:txBody>
                  <a:tcPr marL="43200" marR="43200" marT="14400" marB="14400" anchor="ctr">
                    <a:solidFill>
                      <a:srgbClr val="FFFFFF"/>
                    </a:solidFill>
                  </a:tcPr>
                </a:tc>
              </a:tr>
              <a:tr h="469105">
                <a:tc>
                  <a:txBody>
                    <a:bodyPr/>
                    <a:lstStyle/>
                    <a:p>
                      <a:pPr marL="0" indent="0" lvl="0">
                        <a:buNone/>
                      </a:pPr>
                      <a:r>
                        <a:rPr sz="900" b="1">
                          <a:solidFill>
                            <a:srgbClr val="060606"/>
                          </a:solidFill>
                          <a:latin typeface="Helvetica"/>
                        </a:rPr>
                        <a:t>EFC (870)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6 000 FCFA par mois avant 2021, 10 000 FCFA pour les souscriptions depuis 2021. Les anciens souscripteurs restent à 6 000 FCFA et peuvent passer à 10 000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10 000 FCFA : 62,52 % des lignes en 2023 et 84,98 % en 2026. 6 000 FCFA : 37,38 % puis 14,99 %.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Décision de 2021 (PBC, item 36).</a:t>
                      </a:r>
                    </a:p>
                  </a:txBody>
                  <a:tcPr marL="43200" marR="43200" marT="14400" marB="14400" anchor="ctr">
                    <a:solidFill>
                      <a:srgbClr val="F2F2F2"/>
                    </a:solidFill>
                  </a:tcPr>
                </a:tc>
              </a:tr>
              <a:tr h="469105">
                <a:tc>
                  <a:txBody>
                    <a:bodyPr/>
                    <a:lstStyle/>
                    <a:p>
                      <a:pPr marL="0" indent="0" lvl="0">
                        <a:buNone/>
                      </a:pPr>
                      <a:r>
                        <a:rPr sz="900" b="1">
                          <a:solidFill>
                            <a:srgbClr val="060606"/>
                          </a:solidFill>
                          <a:latin typeface="Helvetica"/>
                        </a:rPr>
                        <a:t>PEP (998)</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À partir de 10 000 FCFA, par paliers de 5 000 FCFA. Durée d'au moins trois ans (règlement intérieur, art. 66).</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99,80 % des montants sont des multiples de 5 000 FCFA et 0,11 % sont inférieurs à 10 000 FCFA. Montant maximal : 300 000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Durée des plans et conditions de retrait (PBC, item 35).</a:t>
                      </a:r>
                    </a:p>
                  </a:txBody>
                  <a:tcPr marL="43200" marR="43200" marT="14400" marB="14400" anchor="ctr">
                    <a:solidFill>
                      <a:srgbClr val="FFFFFF"/>
                    </a:solidFill>
                  </a:tcPr>
                </a:tc>
              </a:tr>
              <a:tr h="331937">
                <a:tc>
                  <a:txBody>
                    <a:bodyPr/>
                    <a:lstStyle/>
                    <a:p>
                      <a:pPr marL="0" indent="0" lvl="0">
                        <a:buNone/>
                      </a:pPr>
                      <a:r>
                        <a:rPr sz="900" b="1">
                          <a:solidFill>
                            <a:srgbClr val="060606"/>
                          </a:solidFill>
                          <a:latin typeface="Helvetica"/>
                        </a:rPr>
                        <a:t>EFC et PEP</a:t>
                      </a:r>
                    </a:p>
                  </a:txBody>
                  <a:tcPr marL="43200" marR="43200" marT="14400" marB="14400" anchor="ctr">
                    <a:solidFill>
                      <a:srgbClr val="F2F2F2"/>
                    </a:solidFill>
                  </a:tcPr>
                </a:tc>
                <a:tc>
                  <a:txBody>
                    <a:bodyPr/>
                    <a:lstStyle/>
                    <a:p>
                      <a:pPr marL="0" indent="0" lvl="0">
                        <a:buNone/>
                      </a:pPr>
                      <a:r>
                        <a:rPr sz="900" b="0">
                          <a:solidFill>
                            <a:srgbClr val="060606"/>
                          </a:solidFill>
                          <a:highlight>
                            <a:srgbClr val="FFFF00"/>
                          </a:highlight>
                          <a:latin typeface="Helvetica"/>
                        </a:rPr>
                        <a:t>Présentés aux élèves policiers comme obligatoires dès l'école, sans texte.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Non mesurable dans les fichiers.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Texte qui fonde l'obligation (aucun reçu).</a:t>
                      </a:r>
                    </a:p>
                  </a:txBody>
                  <a:tcPr marL="43200" marR="43200" marT="14400" marB="14400" anchor="ctr">
                    <a:solidFill>
                      <a:srgbClr val="F2F2F2"/>
                    </a:solidFill>
                  </a:tcPr>
                </a:tc>
              </a:tr>
              <a:tr h="469105">
                <a:tc>
                  <a:txBody>
                    <a:bodyPr/>
                    <a:lstStyle/>
                    <a:p>
                      <a:pPr marL="0" indent="0" lvl="0">
                        <a:buNone/>
                      </a:pPr>
                      <a:r>
                        <a:rPr sz="900" b="1">
                          <a:solidFill>
                            <a:srgbClr val="060606"/>
                          </a:solidFill>
                          <a:latin typeface="Helvetica"/>
                        </a:rPr>
                        <a:t>Prestations</a:t>
                      </a:r>
                    </a:p>
                  </a:txBody>
                  <a:tcPr marL="43200" marR="43200" marT="14400" marB="14400" anchor="ctr">
                    <a:solidFill>
                      <a:srgbClr val="FFFFFF"/>
                    </a:solidFill>
                  </a:tcPr>
                </a:tc>
                <a:tc>
                  <a:txBody>
                    <a:bodyPr/>
                    <a:lstStyle/>
                    <a:p>
                      <a:pPr marL="0" indent="0" lvl="0">
                        <a:buNone/>
                      </a:pPr>
                      <a:r>
                        <a:rPr sz="900" b="0">
                          <a:solidFill>
                            <a:srgbClr val="060606"/>
                          </a:solidFill>
                          <a:highlight>
                            <a:srgbClr val="FFFF00"/>
                          </a:highlight>
                          <a:latin typeface="Helvetica"/>
                        </a:rPr>
                        <a:t>Au moins trois mois de cotisation avant de pouvoir bénéficier des prestations.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Non mesurable sans base des prestations.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Texte et produits concernés (PBC, item 37). L'entretien du 16/10/2026 indiquait l'absence de délai de carence.</a:t>
                      </a:r>
                    </a:p>
                  </a:txBody>
                  <a:tcPr marL="43200" marR="43200" marT="14400" marB="14400" anchor="ctr">
                    <a:solidFill>
                      <a:srgbClr val="FFFFFF"/>
                    </a:solidFill>
                  </a:tcPr>
                </a:tc>
              </a:tr>
            </a:tbl>
          </a:graphicData>
        </a:graphic>
      </p:graphicFrame>
      <p:sp>
        <p:nvSpPr>
          <p:cNvPr id="33" name="TextBox 32"/>
          <p:cNvSpPr txBox="1"/>
          <p:nvPr/>
        </p:nvSpPr>
        <p:spPr>
          <a:xfrm>
            <a:off x="503999" y="4029960"/>
            <a:ext cx="11232000" cy="162000"/>
          </a:xfrm>
          <a:prstGeom prst="rect">
            <a:avLst/>
          </a:prstGeom>
          <a:noFill/>
        </p:spPr>
        <p:txBody>
          <a:bodyPr wrap="square" anchor="t" lIns="54000" rIns="54000"/>
          <a:lstStyle/>
          <a:p>
            <a:pPr algn="l"/>
            <a:r>
              <a:rPr sz="850" b="0">
                <a:solidFill>
                  <a:srgbClr val="53565A"/>
                </a:solidFill>
                <a:latin typeface="Helvetica"/>
              </a:rPr>
              <a:t>Valable pour : déclarations du 19/10/2026 confrontées aux montants des fichiers de précomptes reçus le 15/10/2026, postes 870, 998, 9X4, 9W3 et 8Z7, mois reçus.</a:t>
            </a:r>
          </a:p>
        </p:txBody>
      </p:sp>
      <p:sp>
        <p:nvSpPr>
          <p:cNvPr id="34" name="TextBox 33"/>
          <p:cNvSpPr txBox="1"/>
          <p:nvPr/>
        </p:nvSpPr>
        <p:spPr>
          <a:xfrm>
            <a:off x="503999" y="4335960"/>
            <a:ext cx="11232000" cy="1532039"/>
          </a:xfrm>
          <a:prstGeom prst="rect">
            <a:avLst/>
          </a:prstGeom>
          <a:noFill/>
        </p:spPr>
        <p:txBody>
          <a:bodyPr wrap="square" lIns="54000" rIns="54000"/>
          <a:lstStyle/>
          <a:p>
            <a:pPr algn="just">
              <a:spcAft>
                <a:spcPts val="600"/>
              </a:spcAft>
            </a:pPr>
            <a:r>
              <a:rPr sz="1300" b="1">
                <a:solidFill>
                  <a:srgbClr val="060606"/>
                </a:solidFill>
                <a:latin typeface="Helvetica"/>
              </a:rPr>
              <a:t>Les fichiers confirment les déclarations sur l'EFC et le PEP.</a:t>
            </a:r>
            <a:r>
              <a:rPr sz="1300" b="0">
                <a:solidFill>
                  <a:srgbClr val="060606"/>
                </a:solidFill>
                <a:latin typeface="Helvetica"/>
              </a:rPr>
              <a:t> Le cahier des charges EFC et PEP de 2021 et le manuel des produits d'épargne, reçus le 22/10/2026, décrivent ces produits sans décision d'adoption signée (partie 6). La part de l'EFC à 10 000 FCFA augmente chaque année, ce qui correspond à l'arrivée de nouveaux souscripteurs depuis 2021.</a:t>
            </a:r>
          </a:p>
          <a:p>
            <a:pPr algn="just">
              <a:spcAft>
                <a:spcPts val="600"/>
              </a:spcAft>
            </a:pPr>
            <a:r>
              <a:rPr sz="1300" b="0">
                <a:solidFill>
                  <a:srgbClr val="060606"/>
                </a:solidFill>
                <a:latin typeface="Helvetica"/>
              </a:rPr>
              <a:t>Les engagements d'épargne se calculeront sur les montants réellement précomptés. Le règlement de chaque produit reste indispensable pour connaître les échéances et les conditions de retrait.</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Surligné en jaune : affirmation à confirmer par une pièce ou une réponse écrite du FPPN. Sigles : FPPN : Fonds de prévoyance de la Police nationale | CGRAE : Caisse générale de retraite des agents de l'État | PEP : Plan Épargne Plus | EFC : entraide fin de carrière | PBC : liste des documents demandés au client | GNA : assureur de la flotte automobile (compte 47111106) | 936 : poste maladie | 8Z6 : poste décès | 870 : poste EFC | 998 : poste PEP | 9X4 : poste Grenier | 9W3 : poste flotte automobile | 8Z7 : poste MEDOC</a:t>
            </a:r>
          </a:p>
        </p:txBody>
      </p:sp>
    </p:spTree>
    <p:extLst>
      <p:ext uri="{BB962C8B-B14F-4D97-AF65-F5344CB8AC3E}">
        <p14:creationId xmlns:p14="http://schemas.microsoft.com/office/powerpoint/2010/main" val="929559216"/>
      </p:ext>
    </p:extLst>
  </p:cSld>
  <p:clrMapOvr>
    <a:masterClrMapping/>
  </p:clrMapOvr>
  <p:transition>
    <p:fade/>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Nouvelles recrues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recrues souscrivent avant d'avoir un mécano, ce qui retarde le premier précompte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 mécano est reporté sur les fiches de souscription en masse, après son attribution</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entretien du 19/10/2026 avec le responsable des cotisations</a:t>
            </a:r>
          </a:p>
        </p:txBody>
      </p:sp>
      <p:sp>
        <p:nvSpPr>
          <p:cNvPr id="31" name="Logigramme r1"/>
          <p:cNvSpPr/>
          <p:nvPr/>
        </p:nvSpPr>
        <p:spPr>
          <a:xfrm>
            <a:off x="576000" y="1655999"/>
            <a:ext cx="1296000" cy="576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FFFFFF"/>
                </a:solidFill>
                <a:latin typeface="Helvetica"/>
              </a:rPr>
              <a:t>Élève policier</a:t>
            </a:r>
          </a:p>
          <a:p>
            <a:pPr algn="ctr"/>
            <a:r>
              <a:rPr sz="900" b="1">
                <a:solidFill>
                  <a:srgbClr val="FFFFFF"/>
                </a:solidFill>
                <a:latin typeface="Helvetica"/>
              </a:rPr>
              <a:t>matricule sans mécano</a:t>
            </a:r>
          </a:p>
        </p:txBody>
      </p:sp>
      <p:sp>
        <p:nvSpPr>
          <p:cNvPr id="32" name="Logigramme r2"/>
          <p:cNvSpPr/>
          <p:nvPr/>
        </p:nvSpPr>
        <p:spPr>
          <a:xfrm>
            <a:off x="2178000" y="1655999"/>
            <a:ext cx="1296000" cy="576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060606"/>
                </a:solidFill>
                <a:latin typeface="Helvetica"/>
              </a:rPr>
              <a:t>Fiches de souscription</a:t>
            </a:r>
          </a:p>
          <a:p>
            <a:pPr algn="ctr"/>
            <a:r>
              <a:rPr sz="900" b="0">
                <a:solidFill>
                  <a:srgbClr val="060606"/>
                </a:solidFill>
                <a:latin typeface="Helvetica"/>
              </a:rPr>
              <a:t>EFC et PEP</a:t>
            </a:r>
          </a:p>
        </p:txBody>
      </p:sp>
      <p:sp>
        <p:nvSpPr>
          <p:cNvPr id="33" name="Logigramme r3"/>
          <p:cNvSpPr/>
          <p:nvPr/>
        </p:nvSpPr>
        <p:spPr>
          <a:xfrm>
            <a:off x="3780000" y="1655999"/>
            <a:ext cx="1296000" cy="576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060606"/>
                </a:solidFill>
                <a:latin typeface="Helvetica"/>
              </a:rPr>
              <a:t>Attente</a:t>
            </a:r>
          </a:p>
          <a:p>
            <a:pPr algn="ctr"/>
            <a:r>
              <a:rPr sz="900" b="0">
                <a:solidFill>
                  <a:srgbClr val="060606"/>
                </a:solidFill>
                <a:latin typeface="Helvetica"/>
              </a:rPr>
              <a:t>du mécano</a:t>
            </a:r>
          </a:p>
        </p:txBody>
      </p:sp>
      <p:sp>
        <p:nvSpPr>
          <p:cNvPr id="34" name="Logigramme r4"/>
          <p:cNvSpPr/>
          <p:nvPr/>
        </p:nvSpPr>
        <p:spPr>
          <a:xfrm>
            <a:off x="5382000" y="1627199"/>
            <a:ext cx="1296000" cy="684000"/>
          </a:xfrm>
          <a:prstGeom prst="flowChartDecision">
            <a:avLst/>
          </a:prstGeom>
          <a:solidFill>
            <a:srgbClr val="EFAC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Mécano</a:t>
            </a:r>
          </a:p>
          <a:p>
            <a:pPr algn="ctr"/>
            <a:r>
              <a:rPr sz="850" b="0">
                <a:solidFill>
                  <a:srgbClr val="060606"/>
                </a:solidFill>
                <a:latin typeface="Helvetica"/>
              </a:rPr>
              <a:t>attribué ?</a:t>
            </a:r>
          </a:p>
        </p:txBody>
      </p:sp>
      <p:sp>
        <p:nvSpPr>
          <p:cNvPr id="35" name="Logigramme r5"/>
          <p:cNvSpPr/>
          <p:nvPr/>
        </p:nvSpPr>
        <p:spPr>
          <a:xfrm>
            <a:off x="6984000" y="1655999"/>
            <a:ext cx="1296000" cy="576000"/>
          </a:xfrm>
          <a:prstGeom prst="flowChartProcess">
            <a:avLst/>
          </a:prstGeom>
          <a:solidFill>
            <a:srgbClr val="FFFFFF"/>
          </a:solidFill>
          <a:ln w="285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C00000"/>
                </a:solidFill>
                <a:latin typeface="Helvetica"/>
              </a:rPr>
              <a:t>Report du mécano</a:t>
            </a:r>
          </a:p>
          <a:p>
            <a:pPr algn="ctr"/>
            <a:r>
              <a:rPr sz="900" b="1">
                <a:solidFill>
                  <a:srgbClr val="C00000"/>
                </a:solidFill>
                <a:latin typeface="Helvetica"/>
              </a:rPr>
              <a:t>sur chaque fiche, en masse</a:t>
            </a:r>
          </a:p>
        </p:txBody>
      </p:sp>
      <p:sp>
        <p:nvSpPr>
          <p:cNvPr id="36" name="Logigramme r6"/>
          <p:cNvSpPr/>
          <p:nvPr/>
        </p:nvSpPr>
        <p:spPr>
          <a:xfrm>
            <a:off x="8586000" y="1655999"/>
            <a:ext cx="1296000" cy="576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060606"/>
                </a:solidFill>
                <a:latin typeface="Helvetica"/>
              </a:rPr>
              <a:t>Ajout au fichier</a:t>
            </a:r>
          </a:p>
          <a:p>
            <a:pPr algn="ctr"/>
            <a:r>
              <a:rPr sz="900" b="0">
                <a:solidFill>
                  <a:srgbClr val="060606"/>
                </a:solidFill>
                <a:latin typeface="Helvetica"/>
              </a:rPr>
              <a:t>aller du mois</a:t>
            </a:r>
          </a:p>
        </p:txBody>
      </p:sp>
      <p:sp>
        <p:nvSpPr>
          <p:cNvPr id="37" name="Logigramme r7"/>
          <p:cNvSpPr/>
          <p:nvPr/>
        </p:nvSpPr>
        <p:spPr>
          <a:xfrm>
            <a:off x="10188000" y="1627199"/>
            <a:ext cx="1296000" cy="684000"/>
          </a:xfrm>
          <a:prstGeom prst="flowChartDecision">
            <a:avLst/>
          </a:prstGeom>
          <a:solidFill>
            <a:srgbClr val="EFAC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Précompte</a:t>
            </a:r>
          </a:p>
          <a:p>
            <a:pPr algn="ctr"/>
            <a:r>
              <a:rPr sz="850" b="0">
                <a:solidFill>
                  <a:srgbClr val="060606"/>
                </a:solidFill>
                <a:latin typeface="Helvetica"/>
              </a:rPr>
              <a:t>au 1er mois ?</a:t>
            </a:r>
          </a:p>
        </p:txBody>
      </p:sp>
      <p:sp>
        <p:nvSpPr>
          <p:cNvPr id="38" name="Logigramme r10"/>
          <p:cNvSpPr/>
          <p:nvPr/>
        </p:nvSpPr>
        <p:spPr>
          <a:xfrm>
            <a:off x="10188000" y="3024000"/>
            <a:ext cx="1296000" cy="576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FFFFFF"/>
                </a:solidFill>
                <a:latin typeface="Helvetica"/>
              </a:rPr>
              <a:t>Précompte effectif</a:t>
            </a:r>
          </a:p>
          <a:p>
            <a:pPr algn="ctr"/>
            <a:r>
              <a:rPr sz="900" b="1">
                <a:solidFill>
                  <a:srgbClr val="FFFFFF"/>
                </a:solidFill>
                <a:latin typeface="Helvetica"/>
              </a:rPr>
              <a:t>épargne en cours</a:t>
            </a:r>
          </a:p>
        </p:txBody>
      </p:sp>
      <p:sp>
        <p:nvSpPr>
          <p:cNvPr id="39" name="Logigramme r8"/>
          <p:cNvSpPr/>
          <p:nvPr/>
        </p:nvSpPr>
        <p:spPr>
          <a:xfrm>
            <a:off x="8586000" y="3024000"/>
            <a:ext cx="1296000" cy="576000"/>
          </a:xfrm>
          <a:prstGeom prst="flowChartProcess">
            <a:avLst/>
          </a:prstGeom>
          <a:solidFill>
            <a:srgbClr val="FFFFFF"/>
          </a:solidFill>
          <a:ln w="285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C00000"/>
                </a:solidFill>
                <a:latin typeface="Helvetica"/>
              </a:rPr>
              <a:t>Précompte décalé</a:t>
            </a:r>
          </a:p>
          <a:p>
            <a:pPr algn="ctr"/>
            <a:r>
              <a:rPr sz="900" b="1">
                <a:solidFill>
                  <a:srgbClr val="C00000"/>
                </a:solidFill>
                <a:latin typeface="Helvetica"/>
              </a:rPr>
              <a:t>au mois suivant</a:t>
            </a:r>
          </a:p>
        </p:txBody>
      </p:sp>
      <p:sp>
        <p:nvSpPr>
          <p:cNvPr id="40" name="Logigramme r9"/>
          <p:cNvSpPr/>
          <p:nvPr/>
        </p:nvSpPr>
        <p:spPr>
          <a:xfrm>
            <a:off x="6984000" y="3024000"/>
            <a:ext cx="1296000" cy="576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060606"/>
                </a:solidFill>
                <a:latin typeface="Helvetica"/>
              </a:rPr>
              <a:t>Paiement manuel</a:t>
            </a:r>
          </a:p>
          <a:p>
            <a:pPr algn="ctr"/>
            <a:r>
              <a:rPr sz="900" b="0">
                <a:solidFill>
                  <a:srgbClr val="060606"/>
                </a:solidFill>
                <a:latin typeface="Helvetica"/>
              </a:rPr>
              <a:t>possible, avec date</a:t>
            </a:r>
          </a:p>
        </p:txBody>
      </p:sp>
      <p:cxnSp>
        <p:nvCxnSpPr>
          <p:cNvPr id="41" name="Flèche r1 vers r2"/>
          <p:cNvCxnSpPr>
            <a:stCxn id="31" idx="3"/>
            <a:endCxn id="32" idx="1"/>
          </p:cNvCxnSpPr>
          <p:nvPr/>
        </p:nvCxnSpPr>
        <p:spPr>
          <a:xfrm flipV="1">
            <a:off x="1872000" y="1943999"/>
            <a:ext cx="306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Flèche r2 vers r3"/>
          <p:cNvCxnSpPr>
            <a:stCxn id="32" idx="3"/>
            <a:endCxn id="33" idx="1"/>
          </p:cNvCxnSpPr>
          <p:nvPr/>
        </p:nvCxnSpPr>
        <p:spPr>
          <a:xfrm flipV="1">
            <a:off x="3474000" y="1943999"/>
            <a:ext cx="306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Flèche r3 vers r4"/>
          <p:cNvCxnSpPr>
            <a:stCxn id="33" idx="3"/>
            <a:endCxn id="34" idx="1"/>
          </p:cNvCxnSpPr>
          <p:nvPr/>
        </p:nvCxnSpPr>
        <p:spPr>
          <a:xfrm>
            <a:off x="5076000" y="1943999"/>
            <a:ext cx="306000" cy="252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Flèche r4 vers r5"/>
          <p:cNvCxnSpPr>
            <a:stCxn id="34" idx="3"/>
            <a:endCxn id="35" idx="1"/>
          </p:cNvCxnSpPr>
          <p:nvPr/>
        </p:nvCxnSpPr>
        <p:spPr>
          <a:xfrm flipV="1">
            <a:off x="6678000" y="1943999"/>
            <a:ext cx="306000" cy="252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6721200" y="1789199"/>
            <a:ext cx="864000" cy="162000"/>
          </a:xfrm>
          <a:prstGeom prst="rect">
            <a:avLst/>
          </a:prstGeom>
          <a:noFill/>
        </p:spPr>
        <p:txBody>
          <a:bodyPr wrap="square" anchor="t" lIns="28800" rIns="28800" tIns="10800" bIns="10800">
            <a:spAutoFit/>
          </a:bodyPr>
          <a:lstStyle/>
          <a:p>
            <a:pPr algn="l"/>
            <a:r>
              <a:rPr sz="750" b="1">
                <a:solidFill>
                  <a:srgbClr val="53565A"/>
                </a:solidFill>
                <a:latin typeface="Helvetica"/>
              </a:rPr>
              <a:t>oui</a:t>
            </a:r>
          </a:p>
        </p:txBody>
      </p:sp>
      <p:cxnSp>
        <p:nvCxnSpPr>
          <p:cNvPr id="46" name="Flèche r4 vers r3"/>
          <p:cNvCxnSpPr>
            <a:stCxn id="34" idx="0"/>
            <a:endCxn id="33" idx="0"/>
          </p:cNvCxnSpPr>
          <p:nvPr/>
        </p:nvCxnSpPr>
        <p:spPr>
          <a:xfrm flipH="1">
            <a:off x="4428000" y="1627199"/>
            <a:ext cx="1602000" cy="28800"/>
          </a:xfrm>
          <a:prstGeom prst="bentConnector3">
            <a:avLst/>
          </a:prstGeom>
          <a:ln w="22225">
            <a:solidFill>
              <a:srgbClr val="53565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6083999" y="1447199"/>
            <a:ext cx="864000" cy="162000"/>
          </a:xfrm>
          <a:prstGeom prst="rect">
            <a:avLst/>
          </a:prstGeom>
          <a:noFill/>
        </p:spPr>
        <p:txBody>
          <a:bodyPr wrap="square" anchor="t" lIns="28800" rIns="28800" tIns="10800" bIns="10800">
            <a:spAutoFit/>
          </a:bodyPr>
          <a:lstStyle/>
          <a:p>
            <a:pPr algn="l"/>
            <a:r>
              <a:rPr sz="750" b="1">
                <a:solidFill>
                  <a:srgbClr val="53565A"/>
                </a:solidFill>
                <a:latin typeface="Helvetica"/>
              </a:rPr>
              <a:t>non</a:t>
            </a:r>
          </a:p>
        </p:txBody>
      </p:sp>
      <p:cxnSp>
        <p:nvCxnSpPr>
          <p:cNvPr id="48" name="Flèche r5 vers r6"/>
          <p:cNvCxnSpPr>
            <a:stCxn id="35" idx="3"/>
            <a:endCxn id="36" idx="1"/>
          </p:cNvCxnSpPr>
          <p:nvPr/>
        </p:nvCxnSpPr>
        <p:spPr>
          <a:xfrm flipV="1">
            <a:off x="8280000" y="1943999"/>
            <a:ext cx="306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Flèche r6 vers r7"/>
          <p:cNvCxnSpPr>
            <a:stCxn id="36" idx="3"/>
            <a:endCxn id="37" idx="1"/>
          </p:cNvCxnSpPr>
          <p:nvPr/>
        </p:nvCxnSpPr>
        <p:spPr>
          <a:xfrm>
            <a:off x="9882000" y="1943999"/>
            <a:ext cx="306000" cy="252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Flèche r7 vers r8"/>
          <p:cNvCxnSpPr>
            <a:stCxn id="37" idx="2"/>
            <a:endCxn id="39" idx="0"/>
          </p:cNvCxnSpPr>
          <p:nvPr/>
        </p:nvCxnSpPr>
        <p:spPr>
          <a:xfrm flipH="1">
            <a:off x="9234000" y="2311199"/>
            <a:ext cx="1602000" cy="712801"/>
          </a:xfrm>
          <a:prstGeom prst="bentConnector3">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10890000" y="2329199"/>
            <a:ext cx="864000" cy="162000"/>
          </a:xfrm>
          <a:prstGeom prst="rect">
            <a:avLst/>
          </a:prstGeom>
          <a:noFill/>
        </p:spPr>
        <p:txBody>
          <a:bodyPr wrap="square" anchor="t" lIns="28800" rIns="28800" tIns="10800" bIns="10800">
            <a:spAutoFit/>
          </a:bodyPr>
          <a:lstStyle/>
          <a:p>
            <a:pPr algn="l"/>
            <a:r>
              <a:rPr sz="750" b="1">
                <a:solidFill>
                  <a:srgbClr val="53565A"/>
                </a:solidFill>
                <a:latin typeface="Helvetica"/>
              </a:rPr>
              <a:t>non</a:t>
            </a:r>
          </a:p>
        </p:txBody>
      </p:sp>
      <p:cxnSp>
        <p:nvCxnSpPr>
          <p:cNvPr id="52" name="Flèche r8 vers r9"/>
          <p:cNvCxnSpPr>
            <a:stCxn id="39" idx="1"/>
            <a:endCxn id="40" idx="3"/>
          </p:cNvCxnSpPr>
          <p:nvPr/>
        </p:nvCxnSpPr>
        <p:spPr>
          <a:xfrm flipH="1" flipV="1">
            <a:off x="8280000" y="3312000"/>
            <a:ext cx="306000" cy="0"/>
          </a:xfrm>
          <a:prstGeom prst="line">
            <a:avLst/>
          </a:prstGeom>
          <a:ln w="22225">
            <a:solidFill>
              <a:srgbClr val="53565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7678800" y="3131999"/>
            <a:ext cx="864000" cy="162000"/>
          </a:xfrm>
          <a:prstGeom prst="rect">
            <a:avLst/>
          </a:prstGeom>
          <a:noFill/>
        </p:spPr>
        <p:txBody>
          <a:bodyPr wrap="square" anchor="t" lIns="28800" rIns="28800" tIns="10800" bIns="10800">
            <a:spAutoFit/>
          </a:bodyPr>
          <a:lstStyle/>
          <a:p>
            <a:pPr algn="r"/>
            <a:r>
              <a:rPr sz="750" b="1">
                <a:solidFill>
                  <a:srgbClr val="53565A"/>
                </a:solidFill>
                <a:latin typeface="Helvetica"/>
              </a:rPr>
              <a:t>ou</a:t>
            </a:r>
          </a:p>
        </p:txBody>
      </p:sp>
      <p:cxnSp>
        <p:nvCxnSpPr>
          <p:cNvPr id="54" name="Flèche r7 vers r10"/>
          <p:cNvCxnSpPr>
            <a:stCxn id="37" idx="3"/>
            <a:endCxn id="38" idx="3"/>
          </p:cNvCxnSpPr>
          <p:nvPr/>
        </p:nvCxnSpPr>
        <p:spPr>
          <a:xfrm flipH="1">
            <a:off x="11484000" y="1969199"/>
            <a:ext cx="0" cy="1342801"/>
          </a:xfrm>
          <a:prstGeom prst="bentConnector3">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11527199" y="1789199"/>
            <a:ext cx="864000" cy="162000"/>
          </a:xfrm>
          <a:prstGeom prst="rect">
            <a:avLst/>
          </a:prstGeom>
          <a:noFill/>
        </p:spPr>
        <p:txBody>
          <a:bodyPr wrap="square" anchor="t" lIns="28800" rIns="28800" tIns="10800" bIns="10800">
            <a:spAutoFit/>
          </a:bodyPr>
          <a:lstStyle/>
          <a:p>
            <a:pPr algn="l"/>
            <a:r>
              <a:rPr sz="750" b="1">
                <a:solidFill>
                  <a:srgbClr val="53565A"/>
                </a:solidFill>
                <a:latin typeface="Helvetica"/>
              </a:rPr>
              <a:t>oui</a:t>
            </a:r>
          </a:p>
        </p:txBody>
      </p:sp>
      <p:sp>
        <p:nvSpPr>
          <p:cNvPr id="56" name="TextBox 55"/>
          <p:cNvSpPr txBox="1"/>
          <p:nvPr/>
        </p:nvSpPr>
        <p:spPr>
          <a:xfrm>
            <a:off x="503999" y="3816000"/>
            <a:ext cx="11232000" cy="2052000"/>
          </a:xfrm>
          <a:prstGeom prst="rect">
            <a:avLst/>
          </a:prstGeom>
          <a:noFill/>
        </p:spPr>
        <p:txBody>
          <a:bodyPr wrap="square" lIns="54000" rIns="54000"/>
          <a:lstStyle/>
          <a:p>
            <a:pPr algn="just">
              <a:spcAft>
                <a:spcPts val="600"/>
              </a:spcAft>
            </a:pPr>
            <a:r>
              <a:rPr sz="1200" b="1">
                <a:solidFill>
                  <a:srgbClr val="060606"/>
                </a:solidFill>
                <a:highlight>
                  <a:srgbClr val="FFFF00"/>
                </a:highlight>
                <a:latin typeface="Helvetica"/>
              </a:rPr>
              <a:t>Les nouvelles recrues souscrivent avant d'avoir un mécano.</a:t>
            </a:r>
            <a:r>
              <a:rPr sz="1200" b="0">
                <a:solidFill>
                  <a:srgbClr val="060606"/>
                </a:solidFill>
                <a:highlight>
                  <a:srgbClr val="FFFF00"/>
                </a:highlight>
                <a:latin typeface="Helvetica"/>
              </a:rPr>
              <a:t> Les élèves policiers n'ont qu'un matricule. Le FPPN attend l'attribution des mécanos, puis reporte chaque mécano sur les fiches de souscription avant de les inscrire au fichier aller. Le premier précompte peut être décalé d'un mois</a:t>
            </a:r>
            <a:r>
              <a:rPr sz="1200" b="0">
                <a:solidFill>
                  <a:srgbClr val="060606"/>
                </a:solidFill>
                <a:latin typeface="Helvetica"/>
              </a:rPr>
              <a:t> (déclaration du responsable des cotisations, entretien du 19/10/2026).</a:t>
            </a:r>
          </a:p>
          <a:p>
            <a:pPr algn="just">
              <a:spcAft>
                <a:spcPts val="600"/>
              </a:spcAft>
            </a:pPr>
            <a:r>
              <a:rPr sz="1200" b="1">
                <a:solidFill>
                  <a:srgbClr val="060606"/>
                </a:solidFill>
                <a:latin typeface="Helvetica"/>
              </a:rPr>
              <a:t>Le report en masse des mécanos est une étape à risque.</a:t>
            </a:r>
            <a:r>
              <a:rPr sz="1200" b="0">
                <a:solidFill>
                  <a:srgbClr val="060606"/>
                </a:solidFill>
                <a:latin typeface="Helvetica"/>
              </a:rPr>
              <a:t> Il peut produire des erreurs d'appariement, et donc des précomptes sur la mauvaise personne. Il crée un retard entre la souscription et le premier versement.</a:t>
            </a:r>
          </a:p>
          <a:p>
            <a:pPr algn="just">
              <a:spcAft>
                <a:spcPts val="600"/>
              </a:spcAft>
            </a:pPr>
            <a:r>
              <a:rPr sz="1200" b="0">
                <a:solidFill>
                  <a:srgbClr val="060606"/>
                </a:solidFill>
                <a:latin typeface="Helvetica"/>
              </a:rPr>
              <a:t>Une table de correspondance entre matricule et mécano, fournie par la direction du personnel de la Police, éviterait le report manuel et sécuriserait le premier précompte (PBC, item 44).</a:t>
            </a:r>
          </a:p>
        </p:txBody>
      </p:sp>
      <p:sp>
        <p:nvSpPr>
          <p:cNvPr id="57" name="TextBox 56"/>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Surligné en jaune : affirmation à confirmer par une pièce ou une réponse écrite du FPPN. Sigles : FPPN : Fonds de prévoyance de la Police nationale | PEP : Plan Épargne Plus | EFC : entraide fin de carrière | PBC : liste des documents demandés au client</a:t>
            </a:r>
          </a:p>
        </p:txBody>
      </p:sp>
    </p:spTree>
    <p:extLst>
      <p:ext uri="{BB962C8B-B14F-4D97-AF65-F5344CB8AC3E}">
        <p14:creationId xmlns:p14="http://schemas.microsoft.com/office/powerpoint/2010/main" val="1339295349"/>
      </p:ext>
    </p:extLst>
  </p:cSld>
  <p:clrMapOvr>
    <a:masterClrMapping/>
  </p:clrMapOvr>
  <p:transition>
    <p:fade/>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6" name="Image 25"/>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30" name="ZoneTexte 29">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9" name="Google Shape;7386;p39"/>
          <p:cNvSpPr/>
          <p:nvPr/>
        </p:nvSpPr>
        <p:spPr>
          <a:xfrm rot="10800000">
            <a:off x="1748072" y="1436295"/>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10" name="Google Shape;7367;p39"/>
          <p:cNvSpPr/>
          <p:nvPr/>
        </p:nvSpPr>
        <p:spPr>
          <a:xfrm rot="16200000">
            <a:off x="2201124" y="215006"/>
            <a:ext cx="2027916" cy="4306666"/>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chemeClr val="tx1"/>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 name="Rectangle 3"/>
          <p:cNvSpPr/>
          <p:nvPr/>
        </p:nvSpPr>
        <p:spPr>
          <a:xfrm>
            <a:off x="2946575" y="1442741"/>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Constat</a:t>
            </a:r>
          </a:p>
        </p:txBody>
      </p:sp>
      <p:sp>
        <p:nvSpPr>
          <p:cNvPr id="20" name="Google Shape;7386;p39"/>
          <p:cNvSpPr/>
          <p:nvPr/>
        </p:nvSpPr>
        <p:spPr>
          <a:xfrm rot="10800000">
            <a:off x="6372314" y="1459724"/>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21" name="Google Shape;7367;p39"/>
          <p:cNvSpPr/>
          <p:nvPr/>
        </p:nvSpPr>
        <p:spPr>
          <a:xfrm rot="16200000">
            <a:off x="7569073" y="228570"/>
            <a:ext cx="2000788" cy="4306666"/>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rgbClr val="060606"/>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24" name="Rectangle 23"/>
          <p:cNvSpPr/>
          <p:nvPr/>
        </p:nvSpPr>
        <p:spPr>
          <a:xfrm>
            <a:off x="7570816" y="1466170"/>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Preuves</a:t>
            </a:r>
          </a:p>
        </p:txBody>
      </p:sp>
      <p:sp>
        <p:nvSpPr>
          <p:cNvPr id="37" name="Google Shape;7386;p39"/>
          <p:cNvSpPr/>
          <p:nvPr/>
        </p:nvSpPr>
        <p:spPr>
          <a:xfrm rot="10800000">
            <a:off x="1854215" y="3845744"/>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38" name="Google Shape;7367;p39"/>
          <p:cNvSpPr/>
          <p:nvPr/>
        </p:nvSpPr>
        <p:spPr>
          <a:xfrm rot="16200000">
            <a:off x="2838223" y="3190772"/>
            <a:ext cx="1751381" cy="3719393"/>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rgbClr val="060606"/>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0" name="Rectangle 39"/>
          <p:cNvSpPr/>
          <p:nvPr/>
        </p:nvSpPr>
        <p:spPr>
          <a:xfrm>
            <a:off x="3052718" y="3852190"/>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Implication</a:t>
            </a:r>
          </a:p>
        </p:txBody>
      </p:sp>
      <p:sp>
        <p:nvSpPr>
          <p:cNvPr id="42" name="Google Shape;7386;p39"/>
          <p:cNvSpPr/>
          <p:nvPr/>
        </p:nvSpPr>
        <p:spPr>
          <a:xfrm rot="10800000">
            <a:off x="6478457" y="3869173"/>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3" name="Google Shape;7367;p39"/>
          <p:cNvSpPr/>
          <p:nvPr/>
        </p:nvSpPr>
        <p:spPr>
          <a:xfrm rot="16200000">
            <a:off x="7474179" y="3202486"/>
            <a:ext cx="1727953" cy="3719393"/>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chemeClr val="tx1"/>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5" name="Rectangle 44"/>
          <p:cNvSpPr/>
          <p:nvPr/>
        </p:nvSpPr>
        <p:spPr>
          <a:xfrm>
            <a:off x="7676960" y="3875619"/>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Action</a:t>
            </a:r>
          </a:p>
        </p:txBody>
      </p:sp>
      <p:pic>
        <p:nvPicPr>
          <p:cNvPr id="47" name="Image 4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47871" y="3850143"/>
            <a:ext cx="334029" cy="337914"/>
          </a:xfrm>
          <a:prstGeom prst="rect">
            <a:avLst/>
          </a:prstGeom>
        </p:spPr>
      </p:pic>
      <p:pic>
        <p:nvPicPr>
          <p:cNvPr id="50" name="Image 49">
            <a:extLst>
              <a:ext uri="{FF2B5EF4-FFF2-40B4-BE49-F238E27FC236}">
                <a16:creationId xmlns:a16="http://schemas.microsoft.com/office/drawing/2014/main" id="{593DA389-08F4-31D9-6AB9-E96812D83B7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768142" y="1475503"/>
            <a:ext cx="294700" cy="294700"/>
          </a:xfrm>
          <a:prstGeom prst="rect">
            <a:avLst/>
          </a:prstGeom>
        </p:spPr>
      </p:pic>
      <p:pic>
        <p:nvPicPr>
          <p:cNvPr id="25" name="Image 2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156977" y="1457088"/>
            <a:ext cx="281624" cy="284788"/>
          </a:xfrm>
          <a:prstGeom prst="rect">
            <a:avLst/>
          </a:prstGeom>
        </p:spPr>
      </p:pic>
      <p:pic>
        <p:nvPicPr>
          <p:cNvPr id="28" name="Image 27"/>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791905" y="3883760"/>
            <a:ext cx="270937" cy="276827"/>
          </a:xfrm>
          <a:prstGeom prst="rect">
            <a:avLst/>
          </a:prstGeom>
        </p:spPr>
      </p:pic>
      <p:sp>
        <p:nvSpPr>
          <p:cNvPr id="31" name="Rectangle 30"/>
          <p:cNvSpPr/>
          <p:nvPr/>
        </p:nvSpPr>
        <p:spPr>
          <a:xfrm>
            <a:off x="1999671" y="1962253"/>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 FPPN encaisse davantage chaque année grâce aux recrues, mais il applique trois clés différentes pour partager les cotisations entre maladie et décès.</a:t>
            </a:r>
          </a:p>
        </p:txBody>
      </p:sp>
      <p:sp>
        <p:nvSpPr>
          <p:cNvPr id="32" name="Rectangle 31"/>
          <p:cNvSpPr/>
          <p:nvPr/>
        </p:nvSpPr>
        <p:spPr>
          <a:xfrm>
            <a:off x="6623912" y="1926662"/>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 FPPN compte 31 198 cotisants en août 2026. La Solde retient 3,77 % et 1,23 %, alors que les statuts (art. 17) prévoient 3,5 % et 1,5 %.</a:t>
            </a:r>
          </a:p>
        </p:txBody>
      </p:sp>
      <p:sp>
        <p:nvSpPr>
          <p:cNvPr id="33" name="Rectangle 32"/>
          <p:cNvSpPr/>
          <p:nvPr/>
        </p:nvSpPr>
        <p:spPr>
          <a:xfrm>
            <a:off x="2093705" y="4388689"/>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 résultat de chaque garantie et la réserve obligatoire par risque dépendent d'une clé qui n'est fixée par aucun document transmis.</a:t>
            </a:r>
          </a:p>
        </p:txBody>
      </p:sp>
      <p:sp>
        <p:nvSpPr>
          <p:cNvPr id="34" name="Rectangle 33"/>
          <p:cNvSpPr/>
          <p:nvPr/>
        </p:nvSpPr>
        <p:spPr>
          <a:xfrm>
            <a:off x="6768142" y="4336111"/>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 FPPN doit transmettre le barème officiel, les dates de naissance et les motifs de sortie des agents.</a:t>
            </a:r>
          </a:p>
        </p:txBody>
      </p:sp>
      <p:sp>
        <p:nvSpPr>
          <p:cNvPr id="51"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À retenir : effectifs et cotisations</a:t>
            </a:r>
          </a:p>
        </p:txBody>
      </p:sp>
      <p:sp>
        <p:nvSpPr>
          <p:cNvPr id="52"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cotisations augmentent avec les effectifs, mais leur répartition doit être clarifiée</a:t>
            </a:r>
          </a:p>
        </p:txBody>
      </p:sp>
      <p:sp>
        <p:nvSpPr>
          <p:cNvPr id="53"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Effectifs en hausse d'un tiers, taux total de 5 % respecté, trois clés de répartition différentes</a:t>
            </a:r>
          </a:p>
        </p:txBody>
      </p:sp>
      <p:sp>
        <p:nvSpPr>
          <p:cNvPr id="54"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analyses Adenka</a:t>
            </a:r>
          </a:p>
        </p:txBody>
      </p:sp>
      <p:sp>
        <p:nvSpPr>
          <p:cNvPr id="55" name="TextBox 5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3901355999"/>
      </p:ext>
    </p:extLst>
  </p:cSld>
  <p:clrMapOvr>
    <a:masterClrMapping/>
  </p:clrMapOvr>
  <p:transition>
    <p:fade/>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Google Shape;8651;p70"/>
          <p:cNvSpPr/>
          <p:nvPr/>
        </p:nvSpPr>
        <p:spPr>
          <a:xfrm>
            <a:off x="2013108" y="2588204"/>
            <a:ext cx="1380332" cy="1428252"/>
          </a:xfrm>
          <a:custGeom>
            <a:avLst/>
            <a:gdLst/>
            <a:ahLst/>
            <a:cxnLst/>
            <a:rect l="l" t="t" r="r" b="b"/>
            <a:pathLst>
              <a:path w="8670" h="8971" extrusionOk="0">
                <a:moveTo>
                  <a:pt x="7105" y="1302"/>
                </a:moveTo>
                <a:cubicBezTo>
                  <a:pt x="7105" y="1315"/>
                  <a:pt x="7105" y="1328"/>
                  <a:pt x="7105" y="1341"/>
                </a:cubicBezTo>
                <a:cubicBezTo>
                  <a:pt x="7118" y="1980"/>
                  <a:pt x="7183" y="2619"/>
                  <a:pt x="7183" y="3283"/>
                </a:cubicBezTo>
                <a:cubicBezTo>
                  <a:pt x="7170" y="4404"/>
                  <a:pt x="7183" y="5525"/>
                  <a:pt x="7222" y="6646"/>
                </a:cubicBezTo>
                <a:cubicBezTo>
                  <a:pt x="7235" y="6959"/>
                  <a:pt x="7222" y="7259"/>
                  <a:pt x="7222" y="7559"/>
                </a:cubicBezTo>
                <a:lnTo>
                  <a:pt x="7222" y="7585"/>
                </a:lnTo>
                <a:cubicBezTo>
                  <a:pt x="6935" y="7598"/>
                  <a:pt x="6649" y="7611"/>
                  <a:pt x="6362" y="7611"/>
                </a:cubicBezTo>
                <a:cubicBezTo>
                  <a:pt x="6101" y="7598"/>
                  <a:pt x="5853" y="7585"/>
                  <a:pt x="5593" y="7585"/>
                </a:cubicBezTo>
                <a:cubicBezTo>
                  <a:pt x="4159" y="7559"/>
                  <a:pt x="2712" y="7559"/>
                  <a:pt x="1291" y="7442"/>
                </a:cubicBezTo>
                <a:cubicBezTo>
                  <a:pt x="1278" y="7207"/>
                  <a:pt x="1239" y="6959"/>
                  <a:pt x="1226" y="6725"/>
                </a:cubicBezTo>
                <a:cubicBezTo>
                  <a:pt x="1200" y="6255"/>
                  <a:pt x="1187" y="5799"/>
                  <a:pt x="1200" y="5330"/>
                </a:cubicBezTo>
                <a:cubicBezTo>
                  <a:pt x="1213" y="4222"/>
                  <a:pt x="1226" y="3101"/>
                  <a:pt x="1343" y="1993"/>
                </a:cubicBezTo>
                <a:lnTo>
                  <a:pt x="1552" y="1993"/>
                </a:lnTo>
                <a:cubicBezTo>
                  <a:pt x="2138" y="1980"/>
                  <a:pt x="2725" y="1889"/>
                  <a:pt x="3312" y="1810"/>
                </a:cubicBezTo>
                <a:cubicBezTo>
                  <a:pt x="4576" y="1641"/>
                  <a:pt x="5840" y="1524"/>
                  <a:pt x="7105" y="1302"/>
                </a:cubicBezTo>
                <a:close/>
                <a:moveTo>
                  <a:pt x="7529" y="1"/>
                </a:moveTo>
                <a:cubicBezTo>
                  <a:pt x="7291" y="1"/>
                  <a:pt x="7059" y="53"/>
                  <a:pt x="6818" y="64"/>
                </a:cubicBezTo>
                <a:cubicBezTo>
                  <a:pt x="6375" y="103"/>
                  <a:pt x="5932" y="142"/>
                  <a:pt x="5488" y="194"/>
                </a:cubicBezTo>
                <a:cubicBezTo>
                  <a:pt x="4824" y="259"/>
                  <a:pt x="4107" y="350"/>
                  <a:pt x="3429" y="389"/>
                </a:cubicBezTo>
                <a:cubicBezTo>
                  <a:pt x="2686" y="429"/>
                  <a:pt x="1943" y="481"/>
                  <a:pt x="1213" y="598"/>
                </a:cubicBezTo>
                <a:cubicBezTo>
                  <a:pt x="913" y="624"/>
                  <a:pt x="652" y="728"/>
                  <a:pt x="509" y="976"/>
                </a:cubicBezTo>
                <a:cubicBezTo>
                  <a:pt x="470" y="1028"/>
                  <a:pt x="444" y="1080"/>
                  <a:pt x="431" y="1146"/>
                </a:cubicBezTo>
                <a:cubicBezTo>
                  <a:pt x="300" y="1524"/>
                  <a:pt x="287" y="1928"/>
                  <a:pt x="300" y="2332"/>
                </a:cubicBezTo>
                <a:cubicBezTo>
                  <a:pt x="209" y="3010"/>
                  <a:pt x="209" y="3700"/>
                  <a:pt x="209" y="4378"/>
                </a:cubicBezTo>
                <a:cubicBezTo>
                  <a:pt x="170" y="4769"/>
                  <a:pt x="144" y="5173"/>
                  <a:pt x="131" y="5565"/>
                </a:cubicBezTo>
                <a:cubicBezTo>
                  <a:pt x="105" y="6203"/>
                  <a:pt x="14" y="6842"/>
                  <a:pt x="14" y="7481"/>
                </a:cubicBezTo>
                <a:cubicBezTo>
                  <a:pt x="1" y="7911"/>
                  <a:pt x="157" y="8315"/>
                  <a:pt x="613" y="8419"/>
                </a:cubicBezTo>
                <a:cubicBezTo>
                  <a:pt x="1056" y="8550"/>
                  <a:pt x="1526" y="8524"/>
                  <a:pt x="1982" y="8550"/>
                </a:cubicBezTo>
                <a:cubicBezTo>
                  <a:pt x="2243" y="8563"/>
                  <a:pt x="2503" y="8589"/>
                  <a:pt x="2764" y="8615"/>
                </a:cubicBezTo>
                <a:cubicBezTo>
                  <a:pt x="3885" y="8745"/>
                  <a:pt x="5006" y="8902"/>
                  <a:pt x="6140" y="8941"/>
                </a:cubicBezTo>
                <a:cubicBezTo>
                  <a:pt x="6220" y="8945"/>
                  <a:pt x="6302" y="8946"/>
                  <a:pt x="6383" y="8946"/>
                </a:cubicBezTo>
                <a:cubicBezTo>
                  <a:pt x="6581" y="8946"/>
                  <a:pt x="6781" y="8937"/>
                  <a:pt x="6974" y="8928"/>
                </a:cubicBezTo>
                <a:cubicBezTo>
                  <a:pt x="7118" y="8941"/>
                  <a:pt x="7274" y="8941"/>
                  <a:pt x="7418" y="8941"/>
                </a:cubicBezTo>
                <a:cubicBezTo>
                  <a:pt x="7568" y="8956"/>
                  <a:pt x="7723" y="8971"/>
                  <a:pt x="7877" y="8971"/>
                </a:cubicBezTo>
                <a:cubicBezTo>
                  <a:pt x="7990" y="8971"/>
                  <a:pt x="8103" y="8963"/>
                  <a:pt x="8213" y="8941"/>
                </a:cubicBezTo>
                <a:cubicBezTo>
                  <a:pt x="8643" y="8810"/>
                  <a:pt x="8565" y="8093"/>
                  <a:pt x="8604" y="7741"/>
                </a:cubicBezTo>
                <a:cubicBezTo>
                  <a:pt x="8669" y="6620"/>
                  <a:pt x="8539" y="5499"/>
                  <a:pt x="8487" y="4378"/>
                </a:cubicBezTo>
                <a:cubicBezTo>
                  <a:pt x="8434" y="3453"/>
                  <a:pt x="8330" y="2527"/>
                  <a:pt x="8252" y="1589"/>
                </a:cubicBezTo>
                <a:cubicBezTo>
                  <a:pt x="8200" y="1341"/>
                  <a:pt x="8239" y="637"/>
                  <a:pt x="8096" y="350"/>
                </a:cubicBezTo>
                <a:lnTo>
                  <a:pt x="8082" y="350"/>
                </a:lnTo>
                <a:cubicBezTo>
                  <a:pt x="8056" y="181"/>
                  <a:pt x="7952" y="51"/>
                  <a:pt x="7704" y="11"/>
                </a:cubicBezTo>
                <a:cubicBezTo>
                  <a:pt x="7645" y="4"/>
                  <a:pt x="7587" y="1"/>
                  <a:pt x="7529" y="1"/>
                </a:cubicBezTo>
                <a:close/>
              </a:path>
            </a:pathLst>
          </a:custGeom>
          <a:solidFill>
            <a:schemeClr val="bg1"/>
          </a:solidFill>
          <a:ln w="76200">
            <a:solidFill>
              <a:schemeClr val="tx1"/>
            </a:solid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5" name="Rectangle 24">
            <a:extLst>
              <a:ext uri="{FF2B5EF4-FFF2-40B4-BE49-F238E27FC236}">
                <a16:creationId xmlns:a16="http://schemas.microsoft.com/office/drawing/2014/main" id="{9B9B23AA-050D-4543-80A0-873FE31AFFF7}"/>
              </a:ext>
            </a:extLst>
          </p:cNvPr>
          <p:cNvSpPr/>
          <p:nvPr/>
        </p:nvSpPr>
        <p:spPr>
          <a:xfrm>
            <a:off x="2446471" y="2869098"/>
            <a:ext cx="513606" cy="936923"/>
          </a:xfrm>
          <a:prstGeom prst="rect">
            <a:avLst/>
          </a:prstGeom>
        </p:spPr>
        <p:txBody>
          <a:bodyPr wrap="square" lIns="0" tIns="0" rIns="0" bIns="0">
            <a:spAutoFit/>
          </a:bodyPr>
          <a:lstStyle/>
          <a:p>
            <a:pPr lvl="0">
              <a:lnSpc>
                <a:spcPct val="110000"/>
              </a:lnSpc>
            </a:pPr>
            <a:r>
              <a:rPr lang="fr-CI" sz="60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5</a:t>
            </a:r>
          </a:p>
        </p:txBody>
      </p:sp>
      <p:sp>
        <p:nvSpPr>
          <p:cNvPr id="10" name="Rectangle 9"/>
          <p:cNvSpPr/>
          <p:nvPr/>
        </p:nvSpPr>
        <p:spPr>
          <a:xfrm>
            <a:off x="3938554" y="2462184"/>
            <a:ext cx="3816000" cy="1200329"/>
          </a:xfrm>
          <a:prstGeom prst="rect">
            <a:avLst/>
          </a:prstGeom>
        </p:spPr>
        <p:txBody>
          <a:bodyPr wrap="square">
            <a:spAutoFit/>
          </a:bodyPr>
          <a:lstStyle/>
          <a:p>
            <a:r>
              <a:rPr lang="fr-CI" sz="3600" b="1" noProof="0">
                <a:solidFill>
                  <a:schemeClr val="bg1"/>
                </a:solidFill>
                <a:latin typeface="Helvetica" panose="020B0604020202020204" pitchFamily="34" charset="0"/>
                <a:cs typeface="Helvetica" panose="020B0604020202020204" pitchFamily="34" charset="0"/>
              </a:rPr>
              <a:t>Sinistralité et résultat</a:t>
            </a:r>
          </a:p>
        </p:txBody>
      </p:sp>
      <p:pic>
        <p:nvPicPr>
          <p:cNvPr id="9" name="Image 8">
            <a:extLst>
              <a:ext uri="{FF2B5EF4-FFF2-40B4-BE49-F238E27FC236}">
                <a16:creationId xmlns:a16="http://schemas.microsoft.com/office/drawing/2014/main" id="{2C356854-0685-DCEF-E2F6-65D5E9653A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1274" y="-185107"/>
            <a:ext cx="3179518" cy="1268781"/>
          </a:xfrm>
          <a:prstGeom prst="rect">
            <a:avLst/>
          </a:prstGeom>
        </p:spPr>
      </p:pic>
      <p:sp>
        <p:nvSpPr>
          <p:cNvPr id="6" name="Rectangle 5"/>
          <p:cNvSpPr/>
          <p:nvPr/>
        </p:nvSpPr>
        <p:spPr>
          <a:xfrm>
            <a:off x="3938554" y="3337559"/>
            <a:ext cx="3816000" cy="923330"/>
          </a:xfrm>
          <a:prstGeom prst="rect">
            <a:avLst/>
          </a:prstGeom>
        </p:spPr>
        <p:txBody>
          <a:bodyPr wrap="square">
            <a:spAutoFit/>
          </a:bodyPr>
          <a:lstStyle/>
          <a:p>
            <a:br>
              <a:rPr lang="fr-CI" noProof="0">
                <a:solidFill>
                  <a:schemeClr val="bg1"/>
                </a:solidFill>
              </a:rPr>
            </a:br>
            <a:r>
              <a:rPr lang="fr-CI" noProof="0">
                <a:solidFill>
                  <a:srgbClr val="EFAC62"/>
                </a:solidFill>
                <a:latin typeface="Helvetica" panose="020B0604020202020204" pitchFamily="34" charset="0"/>
                <a:ea typeface="Open Sans Light" panose="020B0306030504020204" pitchFamily="34" charset="0"/>
                <a:cs typeface="Helvetica" panose="020B0604020202020204" pitchFamily="34" charset="0"/>
              </a:rPr>
              <a:t>Prestations, frais de gestion, résultat</a:t>
            </a:r>
          </a:p>
        </p:txBody>
      </p:sp>
      <p:pic>
        <p:nvPicPr>
          <p:cNvPr id="11" name="Imag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5561" y="2415481"/>
            <a:ext cx="1566911" cy="1600975"/>
          </a:xfrm>
          <a:prstGeom prst="rect">
            <a:avLst/>
          </a:prstGeom>
        </p:spPr>
      </p:pic>
    </p:spTree>
    <p:extLst>
      <p:ext uri="{BB962C8B-B14F-4D97-AF65-F5344CB8AC3E}">
        <p14:creationId xmlns:p14="http://schemas.microsoft.com/office/powerpoint/2010/main" val="583108262"/>
      </p:ext>
    </p:extLst>
  </p:cSld>
  <p:clrMapOvr>
    <a:masterClrMapping/>
  </p:clrMapOvr>
  <p:transition>
    <p:fade/>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7" name="Image 36"/>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3" name="Rectangle 22">
            <a:extLst>
              <a:ext uri="{FF2B5EF4-FFF2-40B4-BE49-F238E27FC236}">
                <a16:creationId xmlns:a16="http://schemas.microsoft.com/office/drawing/2014/main" id="{4CD23CFE-3F31-4BA9-B26F-B9B5B351518E}"/>
              </a:ext>
            </a:extLst>
          </p:cNvPr>
          <p:cNvSpPr/>
          <p:nvPr/>
        </p:nvSpPr>
        <p:spPr>
          <a:xfrm>
            <a:off x="2106184" y="1811264"/>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Formule</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Le S/C d'une garantie rapporte ses prestations comptabilisées de l'année à ses cotisations comptabilisées de la même année, de 2020 à 2026.</a:t>
            </a:r>
          </a:p>
        </p:txBody>
      </p:sp>
      <p:sp>
        <p:nvSpPr>
          <p:cNvPr id="28" name="Rectangle 27">
            <a:extLst>
              <a:ext uri="{FF2B5EF4-FFF2-40B4-BE49-F238E27FC236}">
                <a16:creationId xmlns:a16="http://schemas.microsoft.com/office/drawing/2014/main" id="{9B9B23AA-050D-4543-80A0-873FE31AFFF7}"/>
              </a:ext>
            </a:extLst>
          </p:cNvPr>
          <p:cNvSpPr/>
          <p:nvPr/>
        </p:nvSpPr>
        <p:spPr>
          <a:xfrm>
            <a:off x="1538714" y="1463475"/>
            <a:ext cx="5748535" cy="166944"/>
          </a:xfrm>
          <a:prstGeom prst="rect">
            <a:avLst/>
          </a:prstGeom>
        </p:spPr>
        <p:txBody>
          <a:bodyPr wrap="square" lIns="0" tIns="0" rIns="0" bIns="0">
            <a:sp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
            </a:r>
          </a:p>
        </p:txBody>
      </p:sp>
      <p:cxnSp>
        <p:nvCxnSpPr>
          <p:cNvPr id="29" name="Straight Connector 28">
            <a:extLst>
              <a:ext uri="{FF2B5EF4-FFF2-40B4-BE49-F238E27FC236}">
                <a16:creationId xmlns:a16="http://schemas.microsoft.com/office/drawing/2014/main" id="{09E553D9-3562-45A7-BE4B-0F12FAA0490F}"/>
              </a:ext>
            </a:extLst>
          </p:cNvPr>
          <p:cNvCxnSpPr>
            <a:cxnSpLocks/>
          </p:cNvCxnSpPr>
          <p:nvPr/>
        </p:nvCxnSpPr>
        <p:spPr>
          <a:xfrm>
            <a:off x="916803" y="1707866"/>
            <a:ext cx="0" cy="3668091"/>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DA735D38-741F-4EFB-826C-6F87FD459AB4}"/>
              </a:ext>
            </a:extLst>
          </p:cNvPr>
          <p:cNvCxnSpPr/>
          <p:nvPr/>
        </p:nvCxnSpPr>
        <p:spPr>
          <a:xfrm>
            <a:off x="916803" y="2291826"/>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EBCFE36B-AE16-49E8-90A6-6621A0EB0473}"/>
              </a:ext>
            </a:extLst>
          </p:cNvPr>
          <p:cNvCxnSpPr/>
          <p:nvPr/>
        </p:nvCxnSpPr>
        <p:spPr>
          <a:xfrm>
            <a:off x="916803" y="3273370"/>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2697F6E2-C26B-4E5F-B7F9-95C6E9325040}"/>
              </a:ext>
            </a:extLst>
          </p:cNvPr>
          <p:cNvCxnSpPr/>
          <p:nvPr/>
        </p:nvCxnSpPr>
        <p:spPr>
          <a:xfrm>
            <a:off x="916803" y="5368324"/>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4CD23CFE-3F31-4BA9-B26F-B9B5B351518E}"/>
              </a:ext>
            </a:extLst>
          </p:cNvPr>
          <p:cNvSpPr/>
          <p:nvPr/>
        </p:nvSpPr>
        <p:spPr>
          <a:xfrm>
            <a:off x="2103510" y="2847523"/>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Prestations maladie</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Adenka retient les comptes 601, 6013, 6018 et 60800007, soit douze comptes de prestations maladie en 2025.</a:t>
            </a:r>
          </a:p>
        </p:txBody>
      </p:sp>
      <p:sp>
        <p:nvSpPr>
          <p:cNvPr id="33" name="Rectangle 32">
            <a:extLst>
              <a:ext uri="{FF2B5EF4-FFF2-40B4-BE49-F238E27FC236}">
                <a16:creationId xmlns:a16="http://schemas.microsoft.com/office/drawing/2014/main" id="{4CD23CFE-3F31-4BA9-B26F-B9B5B351518E}"/>
              </a:ext>
            </a:extLst>
          </p:cNvPr>
          <p:cNvSpPr/>
          <p:nvPr/>
        </p:nvSpPr>
        <p:spPr>
          <a:xfrm>
            <a:off x="2125344" y="3881185"/>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Prestations décès</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Adenka retient les comptes 6021 et 6024. En 2020, la prime d'assurance décès (65180000) s'y ajoute, car un assureur portait alors la garantie.</a:t>
            </a:r>
          </a:p>
        </p:txBody>
      </p:sp>
      <p:sp>
        <p:nvSpPr>
          <p:cNvPr id="34" name="Rectangle 33">
            <a:extLst>
              <a:ext uri="{FF2B5EF4-FFF2-40B4-BE49-F238E27FC236}">
                <a16:creationId xmlns:a16="http://schemas.microsoft.com/office/drawing/2014/main" id="{4CD23CFE-3F31-4BA9-B26F-B9B5B351518E}"/>
              </a:ext>
            </a:extLst>
          </p:cNvPr>
          <p:cNvSpPr/>
          <p:nvPr/>
        </p:nvSpPr>
        <p:spPr>
          <a:xfrm>
            <a:off x="2122670" y="4917444"/>
            <a:ext cx="9685766" cy="901761"/>
          </a:xfrm>
          <a:prstGeom prst="rect">
            <a:avLst/>
          </a:prstGeom>
          <a:ln w="12700">
            <a:solidFill>
              <a:srgbClr val="112A40"/>
            </a:solidFill>
          </a:ln>
        </p:spPr>
        <p:txBody>
          <a:bodyPr wrap="square" lIns="162000" tIns="54000" rIns="72000" bIns="54000" anchor="ctr">
            <a:noAutofit/>
          </a:bodyPr>
          <a:lstStyle/>
          <a:p>
            <a:pPr lvl="1">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Norme et limite</a:t>
            </a:r>
          </a:p>
          <a:p>
            <a:pPr lvl="1">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La Décision n° 05/2022 fixe une sinistralité entre 70 % et 80 %. Le ratio comptable mélange les soins de l'année et des factures d'années antérieures.</a:t>
            </a:r>
            <a:endParaRPr lang="fr-CI" sz="1200">
              <a:latin typeface="Helvetica" panose="020B0604020202020204" pitchFamily="34" charset="0"/>
              <a:ea typeface="Open Sans Light" panose="020B0306030504020204" pitchFamily="34" charset="0"/>
              <a:cs typeface="Helvetica" panose="020B0604020202020204" pitchFamily="34" charset="0"/>
            </a:endParaRPr>
          </a:p>
        </p:txBody>
      </p:sp>
      <p:cxnSp>
        <p:nvCxnSpPr>
          <p:cNvPr id="39" name="Straight Connector 30">
            <a:extLst>
              <a:ext uri="{FF2B5EF4-FFF2-40B4-BE49-F238E27FC236}">
                <a16:creationId xmlns:a16="http://schemas.microsoft.com/office/drawing/2014/main" id="{EBCFE36B-AE16-49E8-90A6-6621A0EB0473}"/>
              </a:ext>
            </a:extLst>
          </p:cNvPr>
          <p:cNvCxnSpPr/>
          <p:nvPr/>
        </p:nvCxnSpPr>
        <p:spPr>
          <a:xfrm>
            <a:off x="919504" y="4326976"/>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grpSp>
        <p:nvGrpSpPr>
          <p:cNvPr id="11" name="Groupe 10"/>
          <p:cNvGrpSpPr/>
          <p:nvPr/>
        </p:nvGrpSpPr>
        <p:grpSpPr>
          <a:xfrm>
            <a:off x="1554870" y="2047565"/>
            <a:ext cx="548640" cy="548640"/>
            <a:chOff x="-1153645" y="1535690"/>
            <a:chExt cx="548640" cy="548640"/>
          </a:xfrm>
        </p:grpSpPr>
        <p:sp>
          <p:nvSpPr>
            <p:cNvPr id="36" name="Oval 21">
              <a:extLst>
                <a:ext uri="{FF2B5EF4-FFF2-40B4-BE49-F238E27FC236}">
                  <a16:creationId xmlns:a16="http://schemas.microsoft.com/office/drawing/2014/main" id="{7BB796F0-2DE6-45B1-851B-D8991F423CF4}"/>
                </a:ext>
              </a:extLst>
            </p:cNvPr>
            <p:cNvSpPr/>
            <p:nvPr/>
          </p:nvSpPr>
          <p:spPr bwMode="gray">
            <a:xfrm>
              <a:off x="-1153645" y="1535690"/>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40" name="Image 3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3163" y="1564148"/>
              <a:ext cx="486259" cy="491723"/>
            </a:xfrm>
            <a:prstGeom prst="rect">
              <a:avLst/>
            </a:prstGeom>
          </p:spPr>
        </p:pic>
      </p:grpSp>
      <p:grpSp>
        <p:nvGrpSpPr>
          <p:cNvPr id="12" name="Groupe 11"/>
          <p:cNvGrpSpPr/>
          <p:nvPr/>
        </p:nvGrpSpPr>
        <p:grpSpPr>
          <a:xfrm>
            <a:off x="1557425" y="3008849"/>
            <a:ext cx="548640" cy="548640"/>
            <a:chOff x="-1154302" y="2719457"/>
            <a:chExt cx="548640" cy="548640"/>
          </a:xfrm>
        </p:grpSpPr>
        <p:sp>
          <p:nvSpPr>
            <p:cNvPr id="42" name="Oval 21">
              <a:extLst>
                <a:ext uri="{FF2B5EF4-FFF2-40B4-BE49-F238E27FC236}">
                  <a16:creationId xmlns:a16="http://schemas.microsoft.com/office/drawing/2014/main" id="{7BB796F0-2DE6-45B1-851B-D8991F423CF4}"/>
                </a:ext>
              </a:extLst>
            </p:cNvPr>
            <p:cNvSpPr/>
            <p:nvPr/>
          </p:nvSpPr>
          <p:spPr bwMode="gray">
            <a:xfrm>
              <a:off x="-1154302" y="2719457"/>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7" name="Imag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4901" y="2781886"/>
              <a:ext cx="396274" cy="396274"/>
            </a:xfrm>
            <a:prstGeom prst="rect">
              <a:avLst/>
            </a:prstGeom>
          </p:spPr>
        </p:pic>
      </p:grpSp>
      <p:grpSp>
        <p:nvGrpSpPr>
          <p:cNvPr id="13" name="Groupe 12"/>
          <p:cNvGrpSpPr/>
          <p:nvPr/>
        </p:nvGrpSpPr>
        <p:grpSpPr>
          <a:xfrm>
            <a:off x="1567381" y="4044725"/>
            <a:ext cx="548640" cy="552951"/>
            <a:chOff x="-1185544" y="4122202"/>
            <a:chExt cx="548640" cy="552951"/>
          </a:xfrm>
        </p:grpSpPr>
        <p:sp>
          <p:nvSpPr>
            <p:cNvPr id="44" name="Oval 21">
              <a:extLst>
                <a:ext uri="{FF2B5EF4-FFF2-40B4-BE49-F238E27FC236}">
                  <a16:creationId xmlns:a16="http://schemas.microsoft.com/office/drawing/2014/main" id="{7BB796F0-2DE6-45B1-851B-D8991F423CF4}"/>
                </a:ext>
              </a:extLst>
            </p:cNvPr>
            <p:cNvSpPr/>
            <p:nvPr/>
          </p:nvSpPr>
          <p:spPr bwMode="gray">
            <a:xfrm>
              <a:off x="-1185544" y="4122202"/>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8" name="Image 7"/>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71838" y="4144755"/>
              <a:ext cx="524301" cy="530398"/>
            </a:xfrm>
            <a:prstGeom prst="rect">
              <a:avLst/>
            </a:prstGeom>
          </p:spPr>
        </p:pic>
      </p:grpSp>
      <p:grpSp>
        <p:nvGrpSpPr>
          <p:cNvPr id="14" name="Groupe 13"/>
          <p:cNvGrpSpPr/>
          <p:nvPr/>
        </p:nvGrpSpPr>
        <p:grpSpPr>
          <a:xfrm>
            <a:off x="1567381" y="5111071"/>
            <a:ext cx="548640" cy="548640"/>
            <a:chOff x="-1227267" y="5286500"/>
            <a:chExt cx="548640" cy="548640"/>
          </a:xfrm>
        </p:grpSpPr>
        <p:sp>
          <p:nvSpPr>
            <p:cNvPr id="45" name="Oval 21">
              <a:extLst>
                <a:ext uri="{FF2B5EF4-FFF2-40B4-BE49-F238E27FC236}">
                  <a16:creationId xmlns:a16="http://schemas.microsoft.com/office/drawing/2014/main" id="{7BB796F0-2DE6-45B1-851B-D8991F423CF4}"/>
                </a:ext>
              </a:extLst>
            </p:cNvPr>
            <p:cNvSpPr/>
            <p:nvPr/>
          </p:nvSpPr>
          <p:spPr bwMode="gray">
            <a:xfrm>
              <a:off x="-1227267" y="5286500"/>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9" name="Image 8"/>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71838" y="5346402"/>
              <a:ext cx="422834" cy="432026"/>
            </a:xfrm>
            <a:prstGeom prst="rect">
              <a:avLst/>
            </a:prstGeom>
          </p:spPr>
        </p:pic>
      </p:grpSp>
      <p:sp>
        <p:nvSpPr>
          <p:cNvPr id="50" name="ZoneTexte 49">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pic>
        <p:nvPicPr>
          <p:cNvPr id="51" name="Image 50"/>
          <p:cNvPicPr>
            <a:picLocks noChangeAspect="1"/>
          </p:cNvPicPr>
          <p:nvPr/>
        </p:nvPicPr>
        <p:blipFill rotWithShape="1">
          <a:blip r:embed="rId7" cstate="print">
            <a:extLst>
              <a:ext uri="{28A0092B-C50C-407E-A947-70E740481C1C}">
                <a14:useLocalDpi xmlns:a14="http://schemas.microsoft.com/office/drawing/2010/main" val="0"/>
              </a:ext>
            </a:extLst>
          </a:blip>
          <a:srcRect l="4260" t="13024" r="74155" b="14121"/>
          <a:stretch/>
        </p:blipFill>
        <p:spPr>
          <a:xfrm>
            <a:off x="702475" y="1350400"/>
            <a:ext cx="392679" cy="406703"/>
          </a:xfrm>
          <a:prstGeom prst="rect">
            <a:avLst/>
          </a:prstGeom>
        </p:spPr>
      </p:pic>
      <p:sp>
        <p:nvSpPr>
          <p:cNvPr id="52"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Méthode : sinistralité comptable</a:t>
            </a:r>
          </a:p>
        </p:txBody>
      </p:sp>
      <p:sp>
        <p:nvSpPr>
          <p:cNvPr id="53"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ratio S/C rapporte les prestations de l'année aux cotisations de l'année</a:t>
            </a:r>
          </a:p>
        </p:txBody>
      </p:sp>
      <p:sp>
        <p:nvSpPr>
          <p:cNvPr id="54"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S/C = prestations comptabilisées / cotisations comptabilisées, par garantie et par exercice</a:t>
            </a:r>
          </a:p>
        </p:txBody>
      </p:sp>
      <p:sp>
        <p:nvSpPr>
          <p:cNvPr id="55"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Adenka</a:t>
            </a:r>
          </a:p>
        </p:txBody>
      </p:sp>
      <p:sp>
        <p:nvSpPr>
          <p:cNvPr id="56" name="TextBox 5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S/C : prestations / cotisations</a:t>
            </a:r>
          </a:p>
        </p:txBody>
      </p:sp>
    </p:spTree>
    <p:extLst>
      <p:ext uri="{BB962C8B-B14F-4D97-AF65-F5344CB8AC3E}">
        <p14:creationId xmlns:p14="http://schemas.microsoft.com/office/powerpoint/2010/main" val="1478549562"/>
      </p:ext>
    </p:extLst>
  </p:cSld>
  <p:clrMapOvr>
    <a:masterClrMapping/>
  </p:clrMapOvr>
  <p:transition>
    <p:fade/>
  </p:transition>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Calcul pas à pas : S/C maladie 2025</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Douze comptes de prestations divisés par un compte de cotisations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1 771 635 361 FCFA / 2 409 281 030 FCFA = 73,53 %</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 des comptes 2025 (Sage 100). Traitements Adenka</a:t>
            </a:r>
          </a:p>
        </p:txBody>
      </p:sp>
      <p:sp>
        <p:nvSpPr>
          <p:cNvPr id="31" name="TextBox 30"/>
          <p:cNvSpPr txBox="1"/>
          <p:nvPr/>
        </p:nvSpPr>
        <p:spPr>
          <a:xfrm>
            <a:off x="503999" y="1350000"/>
            <a:ext cx="7343999" cy="180000"/>
          </a:xfrm>
          <a:prstGeom prst="rect">
            <a:avLst/>
          </a:prstGeom>
          <a:noFill/>
        </p:spPr>
        <p:txBody>
          <a:bodyPr wrap="square" anchor="t" lIns="54000" rIns="54000"/>
          <a:lstStyle/>
          <a:p>
            <a:pPr algn="l"/>
            <a:r>
              <a:rPr sz="900" b="0">
                <a:solidFill>
                  <a:srgbClr val="53565A"/>
                </a:solidFill>
                <a:latin typeface="Helvetica"/>
              </a:rPr>
              <a:t>Extrait : AUDIT ADENKA\DAFC\2025\BALANCE FPPN 2025.xlsx</a:t>
            </a:r>
          </a:p>
        </p:txBody>
      </p:sp>
      <p:graphicFrame>
        <p:nvGraphicFramePr>
          <p:cNvPr id="32" name="Table 31"/>
          <p:cNvGraphicFramePr>
            <a:graphicFrameLocks noGrp="1"/>
          </p:cNvGraphicFramePr>
          <p:nvPr/>
        </p:nvGraphicFramePr>
        <p:xfrm>
          <a:off x="503999" y="1548000"/>
          <a:ext cx="7344000" cy="2970000"/>
        </p:xfrm>
        <a:graphic>
          <a:graphicData uri="http://schemas.openxmlformats.org/drawingml/2006/table">
            <a:tbl>
              <a:tblPr firstRow="0" bandRow="0">
                <a:tableStyleId>{5940675A-B579-460E-94D1-54222C63F5DA}</a:tableStyleId>
              </a:tblPr>
              <a:tblGrid>
                <a:gridCol w="1224000"/>
                <a:gridCol w="3960000"/>
                <a:gridCol w="2160000"/>
              </a:tblGrid>
              <a:tr h="198000">
                <a:tc>
                  <a:txBody>
                    <a:bodyPr/>
                    <a:lstStyle/>
                    <a:p>
                      <a:pPr marL="0" indent="0" lvl="0">
                        <a:buNone/>
                      </a:pPr>
                      <a:r>
                        <a:rPr sz="900" b="1">
                          <a:solidFill>
                            <a:srgbClr val="FFFFFF"/>
                          </a:solidFill>
                          <a:latin typeface="Helvetica"/>
                        </a:rPr>
                        <a:t>Compte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Intitulé</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Montant 2025</a:t>
                      </a:r>
                    </a:p>
                  </a:txBody>
                  <a:tcPr marL="43200" marR="43200" marT="14400" marB="14400" anchor="ctr">
                    <a:solidFill>
                      <a:srgbClr val="060606"/>
                    </a:solidFill>
                  </a:tcPr>
                </a:tc>
              </a:tr>
              <a:tr h="198000">
                <a:tc>
                  <a:txBody>
                    <a:bodyPr/>
                    <a:lstStyle/>
                    <a:p>
                      <a:pPr marL="0" indent="0" lvl="0">
                        <a:buNone/>
                      </a:pPr>
                      <a:r>
                        <a:rPr sz="900" b="1">
                          <a:solidFill>
                            <a:srgbClr val="060606"/>
                          </a:solidFill>
                          <a:latin typeface="Helvetica"/>
                        </a:rPr>
                        <a:t>60111000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Pharmacie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38 076 031 FCFA</a:t>
                      </a:r>
                    </a:p>
                  </a:txBody>
                  <a:tcPr marL="43200" marR="43200" marT="14400" marB="14400" anchor="ctr">
                    <a:solidFill>
                      <a:srgbClr val="FFFFFF"/>
                    </a:solidFill>
                  </a:tcPr>
                </a:tc>
              </a:tr>
              <a:tr h="198000">
                <a:tc>
                  <a:txBody>
                    <a:bodyPr/>
                    <a:lstStyle/>
                    <a:p>
                      <a:pPr marL="0" indent="0" lvl="0">
                        <a:buNone/>
                      </a:pPr>
                      <a:r>
                        <a:rPr sz="900" b="1">
                          <a:solidFill>
                            <a:srgbClr val="060606"/>
                          </a:solidFill>
                          <a:latin typeface="Helvetica"/>
                        </a:rPr>
                        <a:t>60112000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Consultations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173 759 919 FCFA</a:t>
                      </a:r>
                    </a:p>
                  </a:txBody>
                  <a:tcPr marL="43200" marR="43200" marT="14400" marB="14400" anchor="ctr">
                    <a:solidFill>
                      <a:srgbClr val="F2F2F2"/>
                    </a:solidFill>
                  </a:tcPr>
                </a:tc>
              </a:tr>
              <a:tr h="198000">
                <a:tc>
                  <a:txBody>
                    <a:bodyPr/>
                    <a:lstStyle/>
                    <a:p>
                      <a:pPr marL="0" indent="0" lvl="0">
                        <a:buNone/>
                      </a:pPr>
                      <a:r>
                        <a:rPr sz="900" b="1">
                          <a:solidFill>
                            <a:srgbClr val="060606"/>
                          </a:solidFill>
                          <a:latin typeface="Helvetica"/>
                        </a:rPr>
                        <a:t>60113000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Hospitalisations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23 247 618 FCFA</a:t>
                      </a:r>
                    </a:p>
                  </a:txBody>
                  <a:tcPr marL="43200" marR="43200" marT="14400" marB="14400" anchor="ctr">
                    <a:solidFill>
                      <a:srgbClr val="FFFFFF"/>
                    </a:solidFill>
                  </a:tcPr>
                </a:tc>
              </a:tr>
              <a:tr h="198000">
                <a:tc>
                  <a:txBody>
                    <a:bodyPr/>
                    <a:lstStyle/>
                    <a:p>
                      <a:pPr marL="0" indent="0" lvl="0">
                        <a:buNone/>
                      </a:pPr>
                      <a:r>
                        <a:rPr sz="900" b="1">
                          <a:solidFill>
                            <a:srgbClr val="060606"/>
                          </a:solidFill>
                          <a:latin typeface="Helvetica"/>
                        </a:rPr>
                        <a:t>60114000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Analyses Médicales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234 266 144 FCFA</a:t>
                      </a:r>
                    </a:p>
                  </a:txBody>
                  <a:tcPr marL="43200" marR="43200" marT="14400" marB="14400" anchor="ctr">
                    <a:solidFill>
                      <a:srgbClr val="F2F2F2"/>
                    </a:solidFill>
                  </a:tcPr>
                </a:tc>
              </a:tr>
              <a:tr h="198000">
                <a:tc>
                  <a:txBody>
                    <a:bodyPr/>
                    <a:lstStyle/>
                    <a:p>
                      <a:pPr marL="0" indent="0" lvl="0">
                        <a:buNone/>
                      </a:pPr>
                      <a:r>
                        <a:rPr sz="900" b="1">
                          <a:solidFill>
                            <a:srgbClr val="060606"/>
                          </a:solidFill>
                          <a:latin typeface="Helvetica"/>
                        </a:rPr>
                        <a:t>60115000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Radio Imagérie &amp; Echographie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249 812 169 FCFA</a:t>
                      </a:r>
                    </a:p>
                  </a:txBody>
                  <a:tcPr marL="43200" marR="43200" marT="14400" marB="14400" anchor="ctr">
                    <a:solidFill>
                      <a:srgbClr val="FFFFFF"/>
                    </a:solidFill>
                  </a:tcPr>
                </a:tc>
              </a:tr>
              <a:tr h="198000">
                <a:tc>
                  <a:txBody>
                    <a:bodyPr/>
                    <a:lstStyle/>
                    <a:p>
                      <a:pPr marL="0" indent="0" lvl="0">
                        <a:buNone/>
                      </a:pPr>
                      <a:r>
                        <a:rPr sz="900" b="1">
                          <a:solidFill>
                            <a:srgbClr val="060606"/>
                          </a:solidFill>
                          <a:latin typeface="Helvetica"/>
                        </a:rPr>
                        <a:t>60118000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Transport Médicalisé</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1 265 340 FCFA</a:t>
                      </a:r>
                    </a:p>
                  </a:txBody>
                  <a:tcPr marL="43200" marR="43200" marT="14400" marB="14400" anchor="ctr">
                    <a:solidFill>
                      <a:srgbClr val="F2F2F2"/>
                    </a:solidFill>
                  </a:tcPr>
                </a:tc>
              </a:tr>
              <a:tr h="198000">
                <a:tc>
                  <a:txBody>
                    <a:bodyPr/>
                    <a:lstStyle/>
                    <a:p>
                      <a:pPr marL="0" indent="0" lvl="0">
                        <a:buNone/>
                      </a:pPr>
                      <a:r>
                        <a:rPr sz="900" b="1">
                          <a:solidFill>
                            <a:srgbClr val="060606"/>
                          </a:solidFill>
                          <a:latin typeface="Helvetica"/>
                        </a:rPr>
                        <a:t>60119000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Traitements médicaux</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14 461 585 FCFA</a:t>
                      </a:r>
                    </a:p>
                  </a:txBody>
                  <a:tcPr marL="43200" marR="43200" marT="14400" marB="14400" anchor="ctr">
                    <a:solidFill>
                      <a:srgbClr val="FFFFFF"/>
                    </a:solidFill>
                  </a:tcPr>
                </a:tc>
              </a:tr>
              <a:tr h="198000">
                <a:tc>
                  <a:txBody>
                    <a:bodyPr/>
                    <a:lstStyle/>
                    <a:p>
                      <a:pPr marL="0" indent="0" lvl="0">
                        <a:buNone/>
                      </a:pPr>
                      <a:r>
                        <a:rPr sz="900" b="1">
                          <a:solidFill>
                            <a:srgbClr val="060606"/>
                          </a:solidFill>
                          <a:latin typeface="Helvetica"/>
                        </a:rPr>
                        <a:t>60120000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Charges de Prestations Maladie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989 729 545 FCFA</a:t>
                      </a:r>
                    </a:p>
                  </a:txBody>
                  <a:tcPr marL="43200" marR="43200" marT="14400" marB="14400" anchor="ctr">
                    <a:solidFill>
                      <a:srgbClr val="F2F2F2"/>
                    </a:solidFill>
                  </a:tcPr>
                </a:tc>
              </a:tr>
              <a:tr h="198000">
                <a:tc>
                  <a:txBody>
                    <a:bodyPr/>
                    <a:lstStyle/>
                    <a:p>
                      <a:pPr marL="0" indent="0" lvl="0">
                        <a:buNone/>
                      </a:pPr>
                      <a:r>
                        <a:rPr sz="900" b="1">
                          <a:solidFill>
                            <a:srgbClr val="060606"/>
                          </a:solidFill>
                          <a:latin typeface="Helvetica"/>
                        </a:rPr>
                        <a:t>60121000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Remboursement de soins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4 881 810 FCFA</a:t>
                      </a:r>
                    </a:p>
                  </a:txBody>
                  <a:tcPr marL="43200" marR="43200" marT="14400" marB="14400" anchor="ctr">
                    <a:solidFill>
                      <a:srgbClr val="FFFFFF"/>
                    </a:solidFill>
                  </a:tcPr>
                </a:tc>
              </a:tr>
              <a:tr h="198000">
                <a:tc>
                  <a:txBody>
                    <a:bodyPr/>
                    <a:lstStyle/>
                    <a:p>
                      <a:pPr marL="0" indent="0" lvl="0">
                        <a:buNone/>
                      </a:pPr>
                      <a:r>
                        <a:rPr sz="900" b="1">
                          <a:solidFill>
                            <a:srgbClr val="060606"/>
                          </a:solidFill>
                          <a:latin typeface="Helvetica"/>
                        </a:rPr>
                        <a:t>60122000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Allocation naissance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700 000 FCFA</a:t>
                      </a:r>
                    </a:p>
                  </a:txBody>
                  <a:tcPr marL="43200" marR="43200" marT="14400" marB="14400" anchor="ctr">
                    <a:solidFill>
                      <a:srgbClr val="F2F2F2"/>
                    </a:solidFill>
                  </a:tcPr>
                </a:tc>
              </a:tr>
              <a:tr h="198000">
                <a:tc>
                  <a:txBody>
                    <a:bodyPr/>
                    <a:lstStyle/>
                    <a:p>
                      <a:pPr marL="0" indent="0" lvl="0">
                        <a:buNone/>
                      </a:pPr>
                      <a:r>
                        <a:rPr sz="900" b="1">
                          <a:solidFill>
                            <a:srgbClr val="060606"/>
                          </a:solidFill>
                          <a:latin typeface="Helvetica"/>
                        </a:rPr>
                        <a:t>60130000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Charges de prestat°séance réducat°</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9 485 200 FCFA</a:t>
                      </a:r>
                    </a:p>
                  </a:txBody>
                  <a:tcPr marL="43200" marR="43200" marT="14400" marB="14400" anchor="ctr">
                    <a:solidFill>
                      <a:srgbClr val="FFFFFF"/>
                    </a:solidFill>
                  </a:tcPr>
                </a:tc>
              </a:tr>
              <a:tr h="198000">
                <a:tc>
                  <a:txBody>
                    <a:bodyPr/>
                    <a:lstStyle/>
                    <a:p>
                      <a:pPr marL="0" indent="0" lvl="0">
                        <a:buNone/>
                      </a:pPr>
                      <a:r>
                        <a:rPr sz="900" b="1">
                          <a:solidFill>
                            <a:srgbClr val="060606"/>
                          </a:solidFill>
                          <a:latin typeface="Helvetica"/>
                        </a:rPr>
                        <a:t>60800007</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Bons de prise en charge médicale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31 950 000 FCFA</a:t>
                      </a:r>
                    </a:p>
                  </a:txBody>
                  <a:tcPr marL="43200" marR="43200" marT="14400" marB="14400" anchor="ctr">
                    <a:solidFill>
                      <a:srgbClr val="F2F2F2"/>
                    </a:solidFill>
                  </a:tcPr>
                </a:tc>
              </a:tr>
              <a:tr h="198000">
                <a:tc>
                  <a:txBody>
                    <a:bodyPr/>
                    <a:lstStyle/>
                    <a:p>
                      <a:pPr marL="0" indent="0" lvl="0">
                        <a:buNone/>
                      </a:pPr>
                      <a:r>
                        <a:rPr sz="900" b="1">
                          <a:solidFill>
                            <a:srgbClr val="060606"/>
                          </a:solidFill>
                          <a:latin typeface="Helvetica"/>
                        </a:rPr>
                        <a:t>Total</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Prestations maladie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1 771 635 361 FCFA</a:t>
                      </a:r>
                    </a:p>
                  </a:txBody>
                  <a:tcPr marL="43200" marR="43200" marT="14400" marB="14400" anchor="ctr">
                    <a:solidFill>
                      <a:srgbClr val="FFFFFF"/>
                    </a:solidFill>
                  </a:tcPr>
                </a:tc>
              </a:tr>
              <a:tr h="198000">
                <a:tc>
                  <a:txBody>
                    <a:bodyPr/>
                    <a:lstStyle/>
                    <a:p>
                      <a:pPr marL="0" indent="0" lvl="0">
                        <a:buNone/>
                      </a:pPr>
                      <a:r>
                        <a:rPr sz="900" b="1">
                          <a:solidFill>
                            <a:srgbClr val="060606"/>
                          </a:solidFill>
                          <a:latin typeface="Helvetica"/>
                        </a:rPr>
                        <a:t>70100000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COTISATIONS MALADIES ACQUISES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2 409 281 030 FCFA</a:t>
                      </a:r>
                    </a:p>
                  </a:txBody>
                  <a:tcPr marL="43200" marR="43200" marT="14400" marB="14400" anchor="ctr">
                    <a:solidFill>
                      <a:srgbClr val="F2F2F2"/>
                    </a:solidFill>
                  </a:tcPr>
                </a:tc>
              </a:tr>
            </a:tbl>
          </a:graphicData>
        </a:graphic>
      </p:graphicFrame>
      <p:sp>
        <p:nvSpPr>
          <p:cNvPr id="33" name="Rounded Rectangle 32"/>
          <p:cNvSpPr/>
          <p:nvPr/>
        </p:nvSpPr>
        <p:spPr>
          <a:xfrm>
            <a:off x="5670000" y="3121200"/>
            <a:ext cx="2196000" cy="219600"/>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68000" y="2970000"/>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5" name="Rounded Rectangle 34"/>
          <p:cNvSpPr/>
          <p:nvPr/>
        </p:nvSpPr>
        <p:spPr>
          <a:xfrm>
            <a:off x="5670000" y="4111200"/>
            <a:ext cx="2196000" cy="219600"/>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668000" y="3960000"/>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37" name="Rounded Rectangle 36"/>
          <p:cNvSpPr/>
          <p:nvPr/>
        </p:nvSpPr>
        <p:spPr>
          <a:xfrm>
            <a:off x="5670000" y="4309200"/>
            <a:ext cx="2196000" cy="219600"/>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668000" y="4158000"/>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39" name="Oval 38"/>
          <p:cNvSpPr/>
          <p:nvPr/>
        </p:nvSpPr>
        <p:spPr>
          <a:xfrm>
            <a:off x="8063999" y="1548000"/>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40" name="TextBox 39"/>
          <p:cNvSpPr txBox="1"/>
          <p:nvPr/>
        </p:nvSpPr>
        <p:spPr>
          <a:xfrm>
            <a:off x="8424000" y="1530000"/>
            <a:ext cx="3312000" cy="670023"/>
          </a:xfrm>
          <a:prstGeom prst="rect">
            <a:avLst/>
          </a:prstGeom>
          <a:noFill/>
        </p:spPr>
        <p:txBody>
          <a:bodyPr wrap="square" anchor="t" lIns="54000" rIns="54000"/>
          <a:lstStyle/>
          <a:p>
            <a:pPr algn="l"/>
            <a:r>
              <a:rPr sz="1200" b="0">
                <a:solidFill>
                  <a:srgbClr val="060606"/>
                </a:solidFill>
                <a:latin typeface="Helvetica"/>
              </a:rPr>
              <a:t>Le compte global 60120000 porte plus de la moitié des prestations, sans détail de nature.</a:t>
            </a:r>
          </a:p>
        </p:txBody>
      </p:sp>
      <p:sp>
        <p:nvSpPr>
          <p:cNvPr id="41" name="Oval 40"/>
          <p:cNvSpPr/>
          <p:nvPr/>
        </p:nvSpPr>
        <p:spPr>
          <a:xfrm>
            <a:off x="8063999" y="2308023"/>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42" name="TextBox 41"/>
          <p:cNvSpPr txBox="1"/>
          <p:nvPr/>
        </p:nvSpPr>
        <p:spPr>
          <a:xfrm>
            <a:off x="8424000" y="2290023"/>
            <a:ext cx="3312000" cy="484084"/>
          </a:xfrm>
          <a:prstGeom prst="rect">
            <a:avLst/>
          </a:prstGeom>
          <a:noFill/>
        </p:spPr>
        <p:txBody>
          <a:bodyPr wrap="square" anchor="t" lIns="54000" rIns="54000"/>
          <a:lstStyle/>
          <a:p>
            <a:pPr algn="l"/>
            <a:r>
              <a:rPr sz="1200" b="0">
                <a:solidFill>
                  <a:srgbClr val="060606"/>
                </a:solidFill>
                <a:latin typeface="Helvetica"/>
              </a:rPr>
              <a:t>Les douze comptes de prestations maladie totalisent ce montant.</a:t>
            </a:r>
          </a:p>
        </p:txBody>
      </p:sp>
      <p:sp>
        <p:nvSpPr>
          <p:cNvPr id="43" name="Oval 42"/>
          <p:cNvSpPr/>
          <p:nvPr/>
        </p:nvSpPr>
        <p:spPr>
          <a:xfrm>
            <a:off x="8063999" y="288210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44" name="TextBox 43"/>
          <p:cNvSpPr txBox="1"/>
          <p:nvPr/>
        </p:nvSpPr>
        <p:spPr>
          <a:xfrm>
            <a:off x="8424000" y="2864108"/>
            <a:ext cx="3312000" cy="484084"/>
          </a:xfrm>
          <a:prstGeom prst="rect">
            <a:avLst/>
          </a:prstGeom>
          <a:noFill/>
        </p:spPr>
        <p:txBody>
          <a:bodyPr wrap="square" anchor="t" lIns="54000" rIns="54000"/>
          <a:lstStyle/>
          <a:p>
            <a:pPr algn="l"/>
            <a:r>
              <a:rPr sz="1200" b="0">
                <a:solidFill>
                  <a:srgbClr val="060606"/>
                </a:solidFill>
                <a:latin typeface="Helvetica"/>
              </a:rPr>
              <a:t>Les cotisations maladie acquises forment le dénominateur du ratio.</a:t>
            </a:r>
          </a:p>
        </p:txBody>
      </p:sp>
      <p:sp>
        <p:nvSpPr>
          <p:cNvPr id="45" name="TextBox 44"/>
          <p:cNvSpPr txBox="1"/>
          <p:nvPr/>
        </p:nvSpPr>
        <p:spPr>
          <a:xfrm>
            <a:off x="8063999" y="3528192"/>
            <a:ext cx="3672000" cy="2339807"/>
          </a:xfrm>
          <a:prstGeom prst="rect">
            <a:avLst/>
          </a:prstGeom>
          <a:noFill/>
        </p:spPr>
        <p:txBody>
          <a:bodyPr wrap="square" lIns="54000" rIns="54000"/>
          <a:lstStyle/>
          <a:p>
            <a:pPr algn="just">
              <a:spcAft>
                <a:spcPts val="600"/>
              </a:spcAft>
            </a:pPr>
            <a:r>
              <a:rPr sz="1200" b="1">
                <a:solidFill>
                  <a:srgbClr val="060606"/>
                </a:solidFill>
                <a:latin typeface="Helvetica"/>
              </a:rPr>
              <a:t>Appliquée à la seule maladie, la fourchette réglementaire de 70 % à 80 % est respectée en 2025.</a:t>
            </a:r>
            <a:r>
              <a:rPr sz="1200" b="0">
                <a:solidFill>
                  <a:srgbClr val="060606"/>
                </a:solidFill>
                <a:latin typeface="Helvetica"/>
              </a:rPr>
              <a:t> Le compte global empêche pourtant de savoir quels soins font monter le ratio.</a:t>
            </a:r>
          </a:p>
          <a:p>
            <a:pPr algn="just">
              <a:spcAft>
                <a:spcPts val="600"/>
              </a:spcAft>
            </a:pPr>
            <a:r>
              <a:rPr sz="1200" b="0">
                <a:solidFill>
                  <a:srgbClr val="060606"/>
                </a:solidFill>
                <a:latin typeface="Helvetica"/>
              </a:rPr>
              <a:t>Le FPPN doit ventiler le compte 60120000 par nature de soins et par prestataire, ce qui permettra de cibler les mesures de maîtrise des dépenses.</a:t>
            </a:r>
          </a:p>
        </p:txBody>
      </p:sp>
      <p:sp>
        <p:nvSpPr>
          <p:cNvPr id="46" name="TextBox 4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S/C : prestations / cotisations</a:t>
            </a:r>
          </a:p>
        </p:txBody>
      </p:sp>
    </p:spTree>
    <p:extLst>
      <p:ext uri="{BB962C8B-B14F-4D97-AF65-F5344CB8AC3E}">
        <p14:creationId xmlns:p14="http://schemas.microsoft.com/office/powerpoint/2010/main" val="2182705750"/>
      </p:ext>
    </p:extLst>
  </p:cSld>
  <p:clrMapOvr>
    <a:masterClrMapping/>
  </p:clrMapOvr>
  <p:transition>
    <p:fade/>
  </p:transition>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Sinistralité comptable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prestations maladie absorbent presque toutes les cotisations maladie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S/C maladie : 6,00 % en 2021, 73,53 % en 2025, 97,40 % sur huit mois de 2026</a:t>
            </a:r>
          </a:p>
        </p:txBody>
      </p:sp>
      <p:sp>
        <p:nvSpPr>
          <p:cNvPr id="30" name="TextBox 29"/>
          <p:cNvSpPr txBox="1"/>
          <p:nvPr/>
        </p:nvSpPr>
        <p:spPr>
          <a:xfrm>
            <a:off x="503999" y="1386000"/>
            <a:ext cx="5976000" cy="251999"/>
          </a:xfrm>
          <a:prstGeom prst="rect">
            <a:avLst/>
          </a:prstGeom>
          <a:noFill/>
        </p:spPr>
        <p:txBody>
          <a:bodyPr wrap="square">
            <a:spAutoFit/>
          </a:bodyPr>
          <a:lstStyle/>
          <a:p>
            <a:pPr algn="ctr">
              <a:spcAft>
                <a:spcPts val="0"/>
              </a:spcAft>
            </a:pPr>
            <a:r>
              <a:rPr sz="1200" b="0">
                <a:solidFill>
                  <a:srgbClr val="EFAC62"/>
                </a:solidFill>
                <a:latin typeface="Helvetica"/>
              </a:rPr>
              <a:t>Figure 15 : Prestations comptabilisées / cotisations (S/C)</a:t>
            </a:r>
          </a:p>
        </p:txBody>
      </p:sp>
      <p:sp>
        <p:nvSpPr>
          <p:cNvPr id="31" name="TextBox 30"/>
          <p:cNvSpPr txBox="1"/>
          <p:nvPr/>
        </p:nvSpPr>
        <p:spPr>
          <a:xfrm>
            <a:off x="503999" y="1602000"/>
            <a:ext cx="5976000" cy="162000"/>
          </a:xfrm>
          <a:prstGeom prst="rect">
            <a:avLst/>
          </a:prstGeom>
          <a:noFill/>
        </p:spPr>
        <p:txBody>
          <a:bodyPr wrap="square">
            <a:spAutoFit/>
          </a:bodyPr>
          <a:lstStyle/>
          <a:p>
            <a:pPr algn="l">
              <a:spcAft>
                <a:spcPts val="0"/>
              </a:spcAft>
            </a:pPr>
            <a:r>
              <a:rPr sz="900" b="0">
                <a:solidFill>
                  <a:srgbClr val="060606"/>
                </a:solidFill>
                <a:latin typeface="Helvetica"/>
              </a:rPr>
              <a:t>En % des cotisations de la garantie</a:t>
            </a:r>
          </a:p>
        </p:txBody>
      </p:sp>
      <p:graphicFrame>
        <p:nvGraphicFramePr>
          <p:cNvPr id="32" name="Chart 31"/>
          <p:cNvGraphicFramePr>
            <a:graphicFrameLocks noGrp="1"/>
          </p:cNvGraphicFramePr>
          <p:nvPr/>
        </p:nvGraphicFramePr>
        <p:xfrm>
          <a:off x="503999" y="1782000"/>
          <a:ext cx="5976000" cy="3600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a:t>
            </a:r>
          </a:p>
        </p:txBody>
      </p:sp>
      <p:sp>
        <p:nvSpPr>
          <p:cNvPr id="34" name="TextBox 33"/>
          <p:cNvSpPr txBox="1"/>
          <p:nvPr/>
        </p:nvSpPr>
        <p:spPr>
          <a:xfrm>
            <a:off x="6696000" y="1440000"/>
            <a:ext cx="5040000" cy="4428000"/>
          </a:xfrm>
          <a:prstGeom prst="rect">
            <a:avLst/>
          </a:prstGeom>
          <a:noFill/>
        </p:spPr>
        <p:txBody>
          <a:bodyPr wrap="square" lIns="54000" rIns="54000"/>
          <a:lstStyle/>
          <a:p>
            <a:pPr algn="just">
              <a:spcAft>
                <a:spcPts val="600"/>
              </a:spcAft>
            </a:pPr>
            <a:r>
              <a:rPr sz="1400" b="1">
                <a:solidFill>
                  <a:srgbClr val="060606"/>
                </a:solidFill>
                <a:latin typeface="Helvetica"/>
              </a:rPr>
              <a:t>Le ratio maladie a été multiplié par 12,26 entre 2021 et 2025.</a:t>
            </a:r>
            <a:r>
              <a:rPr sz="1400" b="0">
                <a:solidFill>
                  <a:srgbClr val="060606"/>
                </a:solidFill>
                <a:latin typeface="Helvetica"/>
              </a:rPr>
              <a:t> Il dépasse la fourchette réglementaire sur les huit premiers mois de 2026.</a:t>
            </a:r>
          </a:p>
          <a:p>
            <a:pPr algn="just">
              <a:spcAft>
                <a:spcPts val="600"/>
              </a:spcAft>
            </a:pPr>
            <a:r>
              <a:rPr sz="1400" b="1">
                <a:solidFill>
                  <a:srgbClr val="060606"/>
                </a:solidFill>
                <a:latin typeface="Helvetica"/>
              </a:rPr>
              <a:t>Les ratios de 2020 à 2022 sont bas et s'expliquent par les textes et les comptes.</a:t>
            </a:r>
            <a:r>
              <a:rPr sz="1400" b="0">
                <a:solidFill>
                  <a:srgbClr val="060606"/>
                </a:solidFill>
                <a:latin typeface="Helvetica"/>
              </a:rPr>
              <a:t> Le règlement intérieur limite la couverture aux soins liés à une hospitalisation (art. 41 et 45). Sur 2023 à 2025, seules années mesurables, moins de 1 % des factures d'une année sont enregistrées l'année suivante (diapositive 113).</a:t>
            </a:r>
          </a:p>
          <a:p>
            <a:pPr algn="just">
              <a:spcAft>
                <a:spcPts val="600"/>
              </a:spcAft>
            </a:pPr>
            <a:r>
              <a:rPr sz="1400" b="1">
                <a:solidFill>
                  <a:srgbClr val="060606"/>
                </a:solidFill>
                <a:latin typeface="Helvetica"/>
              </a:rPr>
              <a:t>En décès, le ratio oscille entre 15,21 % et 21,81 % depuis 2022.</a:t>
            </a:r>
            <a:r>
              <a:rPr sz="1400" b="0">
                <a:solidFill>
                  <a:srgbClr val="060606"/>
                </a:solidFill>
                <a:latin typeface="Helvetica"/>
              </a:rPr>
              <a:t> La garantie décès reste largement excédentaire.</a:t>
            </a:r>
          </a:p>
          <a:p>
            <a:pPr algn="just">
              <a:spcAft>
                <a:spcPts val="600"/>
              </a:spcAft>
            </a:pPr>
            <a:r>
              <a:rPr sz="1400" b="0">
                <a:solidFill>
                  <a:srgbClr val="060606"/>
                </a:solidFill>
                <a:latin typeface="Helvetica"/>
              </a:rPr>
              <a:t>À ce rythme, les prestations maladie dépasseront les cotisations maladie : sans mesure de maîtrise ou révision du barème, la garantie maladie deviendra déficitaire et pèsera sur la réserve obligatoire.</a:t>
            </a:r>
          </a:p>
        </p:txBody>
      </p:sp>
      <p:sp>
        <p:nvSpPr>
          <p:cNvPr id="35" name="TextBox 34"/>
          <p:cNvSpPr txBox="1"/>
          <p:nvPr/>
        </p:nvSpPr>
        <p:spPr>
          <a:xfrm>
            <a:off x="503999" y="5382000"/>
            <a:ext cx="5976000" cy="450000"/>
          </a:xfrm>
          <a:prstGeom prst="rect">
            <a:avLst/>
          </a:prstGeom>
          <a:noFill/>
        </p:spPr>
        <p:txBody>
          <a:bodyPr wrap="square" anchor="t" lIns="54000" rIns="54000"/>
          <a:lstStyle/>
          <a:p>
            <a:pPr algn="l"/>
            <a:r>
              <a:rPr sz="850" b="0">
                <a:solidFill>
                  <a:srgbClr val="53565A"/>
                </a:solidFill>
                <a:latin typeface="Helvetica"/>
              </a:rPr>
              <a:t>Valable pour : comptes 601, 6013, 6018, 60800007, 6021 et 6024 (prestations) et 7010, 7021 (cotisations) des balances « BALANCE FORMAT EXCEL DE 09-2020 AU 31-12-2020.xlsx » à « BALANCE FPPN DU 01-01-2026 AU 31-08-2026.xlsx », 2020 à 2025 et du 01/01 au 31/08/2026. Sans provisions ni sinistres tardifs.</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S/C : prestations / cotisations</a:t>
            </a:r>
          </a:p>
        </p:txBody>
      </p:sp>
    </p:spTree>
    <p:extLst>
      <p:ext uri="{BB962C8B-B14F-4D97-AF65-F5344CB8AC3E}">
        <p14:creationId xmlns:p14="http://schemas.microsoft.com/office/powerpoint/2010/main" val="1456825318"/>
      </p:ext>
    </p:extLst>
  </p:cSld>
  <p:clrMapOvr>
    <a:masterClrMapping/>
  </p:clrMapOvr>
  <p:transition>
    <p:fade/>
  </p:transition>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Choix de la formule : sinistralité</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texte fixe un taux global, le rapport ajoute un taux par garantie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La méthode du FPPN, communiquée le 22/10/2026, ignore les provisions et applique la norme globale à chaque garantie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Décision n° 05/2022/COM/UEMOA du 1er juin 2022, annexe, § 1.1.1 et § 1.2.1.2.5. Balances des comptes du FPPN de 2020 au 31/08/2026 (provisoire), fichiers « BALANCE … » listés en annexe « Fichiers sources ». Traitements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27 : Formules du taux de sinistralité comparées</a:t>
            </a:r>
          </a:p>
        </p:txBody>
      </p:sp>
      <p:graphicFrame>
        <p:nvGraphicFramePr>
          <p:cNvPr id="32" name="Table 31"/>
          <p:cNvGraphicFramePr>
            <a:graphicFrameLocks noGrp="1"/>
          </p:cNvGraphicFramePr>
          <p:nvPr/>
        </p:nvGraphicFramePr>
        <p:xfrm>
          <a:off x="503999" y="1655999"/>
          <a:ext cx="11231999" cy="1464915"/>
        </p:xfrm>
        <a:graphic>
          <a:graphicData uri="http://schemas.openxmlformats.org/drawingml/2006/table">
            <a:tbl>
              <a:tblPr firstRow="0" bandRow="0">
                <a:tableStyleId>{5940675A-B579-460E-94D1-54222C63F5DA}</a:tableStyleId>
              </a:tblPr>
              <a:tblGrid>
                <a:gridCol w="1512000"/>
                <a:gridCol w="3024000"/>
                <a:gridCol w="3096000"/>
                <a:gridCol w="1584000"/>
                <a:gridCol w="2015999"/>
              </a:tblGrid>
              <a:tr h="194768">
                <a:tc>
                  <a:txBody>
                    <a:bodyPr/>
                    <a:lstStyle/>
                    <a:p>
                      <a:pPr marL="0" indent="0" lvl="0">
                        <a:buNone/>
                      </a:pPr>
                      <a:r>
                        <a:rPr sz="900" b="1">
                          <a:solidFill>
                            <a:srgbClr val="FFFFFF"/>
                          </a:solidFill>
                          <a:latin typeface="Helvetica"/>
                        </a:rPr>
                        <a:t>Méthode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Formule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Ce qu'elle mesure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Norme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Statut</a:t>
                      </a:r>
                    </a:p>
                  </a:txBody>
                  <a:tcPr marL="43200" marR="43200" marT="14400" marB="14400" anchor="ctr">
                    <a:solidFill>
                      <a:srgbClr val="060606"/>
                    </a:solidFill>
                  </a:tcPr>
                </a:tc>
              </a:tr>
              <a:tr h="469105">
                <a:tc>
                  <a:txBody>
                    <a:bodyPr/>
                    <a:lstStyle/>
                    <a:p>
                      <a:pPr marL="0" indent="0" lvl="0">
                        <a:buNone/>
                      </a:pPr>
                      <a:r>
                        <a:rPr sz="900" b="1">
                          <a:solidFill>
                            <a:srgbClr val="060606"/>
                          </a:solidFill>
                          <a:latin typeface="Helvetica"/>
                        </a:rPr>
                        <a:t>Texte (Décision n° 05/2022)</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(60 + 6901 - 7901) / (70 + 7906 - 6906)</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Toutes les prestations de l'année, variation des provisions comprise, sur toutes les cotisations acquises.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70 % à 80 %</a:t>
                      </a:r>
                    </a:p>
                  </a:txBody>
                  <a:tcPr marL="43200" marR="43200" marT="14400" marB="14400" anchor="ctr">
                    <a:solidFill>
                      <a:srgbClr val="FFFFFF"/>
                    </a:solidFill>
                  </a:tcPr>
                </a:tc>
                <a:tc>
                  <a:txBody>
                    <a:bodyPr/>
                    <a:lstStyle/>
                    <a:p>
                      <a:pPr marL="0" indent="0" lvl="0">
                        <a:buNone/>
                      </a:pPr>
                      <a:r>
                        <a:rPr sz="900" b="1">
                          <a:solidFill>
                            <a:srgbClr val="060606"/>
                          </a:solidFill>
                          <a:latin typeface="Helvetica"/>
                        </a:rPr>
                        <a:t>Conforme au texte</a:t>
                      </a:r>
                    </a:p>
                  </a:txBody>
                  <a:tcPr marL="43200" marR="43200" marT="14400" marB="14400" anchor="ctr">
                    <a:solidFill>
                      <a:srgbClr val="70AD47"/>
                    </a:solidFill>
                  </a:tcPr>
                </a:tc>
              </a:tr>
              <a:tr h="469105">
                <a:tc>
                  <a:txBody>
                    <a:bodyPr/>
                    <a:lstStyle/>
                    <a:p>
                      <a:pPr marL="0" indent="0" lvl="0">
                        <a:buNone/>
                      </a:pPr>
                      <a:r>
                        <a:rPr sz="900" b="1">
                          <a:solidFill>
                            <a:srgbClr val="060606"/>
                          </a:solidFill>
                          <a:latin typeface="Helvetica"/>
                        </a:rPr>
                        <a:t>Méthode du FPPN</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Prestations payées / cotisations payées, par garantie et global, sans provisions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Communiquée le 22/10/2026 (étude des ratios) : 12,95 % en décès, 99,23 % en maladie, 78,49 % au total au 30/06/2026.</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70 % à 80 % appliqués à chaque garantie</a:t>
                      </a:r>
                    </a:p>
                  </a:txBody>
                  <a:tcPr marL="43200" marR="43200" marT="14400" marB="14400" anchor="ctr">
                    <a:solidFill>
                      <a:srgbClr val="F2F2F2"/>
                    </a:solidFill>
                  </a:tcPr>
                </a:tc>
                <a:tc>
                  <a:txBody>
                    <a:bodyPr/>
                    <a:lstStyle/>
                    <a:p>
                      <a:pPr marL="0" indent="0" lvl="0">
                        <a:buNone/>
                      </a:pPr>
                      <a:r>
                        <a:rPr sz="900" b="1">
                          <a:solidFill>
                            <a:srgbClr val="060606"/>
                          </a:solidFill>
                          <a:latin typeface="Helvetica"/>
                        </a:rPr>
                        <a:t>Divergent du texte</a:t>
                      </a:r>
                    </a:p>
                  </a:txBody>
                  <a:tcPr marL="43200" marR="43200" marT="14400" marB="14400" anchor="ctr">
                    <a:solidFill>
                      <a:srgbClr val="EFAC62"/>
                    </a:solidFill>
                  </a:tcPr>
                </a:tc>
              </a:tr>
              <a:tr h="331937">
                <a:tc>
                  <a:txBody>
                    <a:bodyPr/>
                    <a:lstStyle/>
                    <a:p>
                      <a:pPr marL="0" indent="0" lvl="0">
                        <a:buNone/>
                      </a:pPr>
                      <a:r>
                        <a:rPr sz="900" b="1">
                          <a:solidFill>
                            <a:srgbClr val="060606"/>
                          </a:solidFill>
                          <a:latin typeface="Helvetica"/>
                        </a:rPr>
                        <a:t>Par garantie (rapport)</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Maladie : (601 + 6013 + 6018 + 60800007) / 7010. Décès : (6021 + 6024) / 7021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La part des cotisations d'une garantie consommée par ses propres prestations.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Aucune (norme globale)</a:t>
                      </a:r>
                    </a:p>
                  </a:txBody>
                  <a:tcPr marL="43200" marR="43200" marT="14400" marB="14400" anchor="ctr">
                    <a:solidFill>
                      <a:srgbClr val="FFFFFF"/>
                    </a:solidFill>
                  </a:tcPr>
                </a:tc>
                <a:tc>
                  <a:txBody>
                    <a:bodyPr/>
                    <a:lstStyle/>
                    <a:p>
                      <a:pPr marL="0" indent="0" lvl="0">
                        <a:buNone/>
                      </a:pPr>
                      <a:r>
                        <a:rPr sz="900" b="1">
                          <a:solidFill>
                            <a:srgbClr val="060606"/>
                          </a:solidFill>
                          <a:latin typeface="Helvetica"/>
                        </a:rPr>
                        <a:t>Divergent, justifié</a:t>
                      </a:r>
                    </a:p>
                  </a:txBody>
                  <a:tcPr marL="43200" marR="43200" marT="14400" marB="14400" anchor="ctr">
                    <a:solidFill>
                      <a:srgbClr val="EFAC62"/>
                    </a:solidFill>
                  </a:tcPr>
                </a:tc>
              </a:tr>
            </a:tbl>
          </a:graphicData>
        </a:graphic>
      </p:graphicFrame>
      <p:graphicFrame>
        <p:nvGraphicFramePr>
          <p:cNvPr id="33" name="Table 32"/>
          <p:cNvGraphicFramePr>
            <a:graphicFrameLocks noGrp="1"/>
          </p:cNvGraphicFramePr>
          <p:nvPr/>
        </p:nvGraphicFramePr>
        <p:xfrm>
          <a:off x="503999" y="3266662"/>
          <a:ext cx="11232000" cy="151200"/>
        </p:xfrm>
        <a:graphic>
          <a:graphicData uri="http://schemas.openxmlformats.org/drawingml/2006/table">
            <a:tbl>
              <a:tblPr firstRow="0" bandRow="0">
                <a:tableStyleId>{5C22544A-7EE6-4342-B048-85BDC9FD1C3A}</a:tableStyleId>
              </a:tblPr>
              <a:tblGrid>
                <a:gridCol w="792000"/>
                <a:gridCol w="936000"/>
                <a:gridCol w="4284000"/>
                <a:gridCol w="936000"/>
                <a:gridCol w="4284000"/>
              </a:tblGrid>
              <a:tr h="151200">
                <a:tc>
                  <a:txBody>
                    <a:bodyPr/>
                    <a:lstStyle/>
                    <a:p>
                      <a:r>
                        <a:rPr sz="700" b="1">
                          <a:solidFill>
                            <a:srgbClr val="060606"/>
                          </a:solidFill>
                          <a:latin typeface="Helvetica"/>
                        </a:rPr>
                        <a:t>Code couleur</a:t>
                      </a:r>
                    </a:p>
                  </a:txBody>
                  <a:tcPr marL="28800" marR="28800" marT="3600" marB="3600" anchor="ctr">
                    <a:solidFill>
                      <a:srgbClr val="FFFFFF"/>
                    </a:solidFill>
                  </a:tcPr>
                </a:tc>
                <a:tc>
                  <a:txBody>
                    <a:bodyPr/>
                    <a:lstStyle/>
                    <a:p>
                      <a:r>
                        <a:rPr sz="700" b="1">
                          <a:solidFill>
                            <a:srgbClr val="060606"/>
                          </a:solidFill>
                          <a:latin typeface="Helvetica"/>
                        </a:rPr>
                        <a:t>Conforme</a:t>
                      </a:r>
                    </a:p>
                  </a:txBody>
                  <a:tcPr marL="28800" marR="28800" marT="3600" marB="3600" anchor="ctr">
                    <a:solidFill>
                      <a:srgbClr val="70AD47"/>
                    </a:solidFill>
                  </a:tcPr>
                </a:tc>
                <a:tc>
                  <a:txBody>
                    <a:bodyPr/>
                    <a:lstStyle/>
                    <a:p>
                      <a:r>
                        <a:rPr sz="700" b="0">
                          <a:solidFill>
                            <a:srgbClr val="060606"/>
                          </a:solidFill>
                          <a:latin typeface="Helvetica"/>
                        </a:rPr>
                        <a:t>norme respectée</a:t>
                      </a:r>
                    </a:p>
                  </a:txBody>
                  <a:tcPr marL="28800" marR="28800" marT="3600" marB="3600" anchor="ctr">
                    <a:solidFill>
                      <a:srgbClr val="FFFFFF"/>
                    </a:solidFill>
                  </a:tcPr>
                </a:tc>
                <a:tc>
                  <a:txBody>
                    <a:bodyPr/>
                    <a:lstStyle/>
                    <a:p>
                      <a:r>
                        <a:rPr sz="700" b="1">
                          <a:solidFill>
                            <a:srgbClr val="060606"/>
                          </a:solidFill>
                          <a:latin typeface="Helvetica"/>
                        </a:rPr>
                        <a:t>Divergent</a:t>
                      </a:r>
                    </a:p>
                  </a:txBody>
                  <a:tcPr marL="28800" marR="28800" marT="3600" marB="3600" anchor="ctr">
                    <a:solidFill>
                      <a:srgbClr val="EFAC62"/>
                    </a:solidFill>
                  </a:tcPr>
                </a:tc>
                <a:tc>
                  <a:txBody>
                    <a:bodyPr/>
                    <a:lstStyle/>
                    <a:p>
                      <a:r>
                        <a:rPr sz="700" b="0">
                          <a:solidFill>
                            <a:srgbClr val="060606"/>
                          </a:solidFill>
                          <a:latin typeface="Helvetica"/>
                        </a:rPr>
                        <a:t>formule différente du texte</a:t>
                      </a:r>
                    </a:p>
                  </a:txBody>
                  <a:tcPr marL="28800" marR="28800" marT="3600" marB="3600" anchor="ctr">
                    <a:solidFill>
                      <a:srgbClr val="FFFFFF"/>
                    </a:solidFill>
                  </a:tcPr>
                </a:tc>
              </a:tr>
            </a:tbl>
          </a:graphicData>
        </a:graphic>
      </p:graphicFrame>
      <p:sp>
        <p:nvSpPr>
          <p:cNvPr id="34" name="TextBox 33"/>
          <p:cNvSpPr txBox="1"/>
          <p:nvPr/>
        </p:nvSpPr>
        <p:spPr>
          <a:xfrm>
            <a:off x="503999" y="3525862"/>
            <a:ext cx="11232000" cy="306000"/>
          </a:xfrm>
          <a:prstGeom prst="rect">
            <a:avLst/>
          </a:prstGeom>
          <a:noFill/>
        </p:spPr>
        <p:txBody>
          <a:bodyPr wrap="square" anchor="t" lIns="54000" rIns="54000"/>
          <a:lstStyle/>
          <a:p>
            <a:pPr algn="l"/>
            <a:r>
              <a:rPr sz="850" b="0">
                <a:solidFill>
                  <a:srgbClr val="53565A"/>
                </a:solidFill>
                <a:latin typeface="Helvetica"/>
              </a:rPr>
              <a:t>Valable pour : formules de la Décision n° 05/2022 (annexe, § 1.1.1 et § 1.2.1.2.5) appliquées aux comptes de prestations (601 à 6024), de cotisations (7010, 7021) et de provisions (158) des balances « BALANCE FORMAT EXCEL DE 09-2020 AU 31-12-2020.xlsx » à « BALANCE FPPN DU 01-01-2026 AU 31-08-2026.xlsx ».</a:t>
            </a:r>
          </a:p>
        </p:txBody>
      </p:sp>
      <p:sp>
        <p:nvSpPr>
          <p:cNvPr id="35" name="TextBox 34"/>
          <p:cNvSpPr txBox="1"/>
          <p:nvPr/>
        </p:nvSpPr>
        <p:spPr>
          <a:xfrm>
            <a:off x="503999" y="3975862"/>
            <a:ext cx="11232000" cy="1892137"/>
          </a:xfrm>
          <a:prstGeom prst="rect">
            <a:avLst/>
          </a:prstGeom>
          <a:noFill/>
        </p:spPr>
        <p:txBody>
          <a:bodyPr wrap="square" lIns="54000" rIns="54000"/>
          <a:lstStyle/>
          <a:p>
            <a:pPr algn="just">
              <a:spcAft>
                <a:spcPts val="600"/>
              </a:spcAft>
            </a:pPr>
            <a:r>
              <a:rPr sz="1300" b="1">
                <a:solidFill>
                  <a:srgbClr val="060606"/>
                </a:solidFill>
                <a:latin typeface="Helvetica"/>
              </a:rPr>
              <a:t>Le taux par garantie n'est pas un choix libre : il découle du texte.</a:t>
            </a:r>
            <a:r>
              <a:rPr sz="1300" b="0">
                <a:solidFill>
                  <a:srgbClr val="060606"/>
                </a:solidFill>
                <a:latin typeface="Helvetica"/>
              </a:rPr>
              <a:t> La Décision n° 05/2022 (§ 1.1.1) impose de doter la réserve obligatoire d'au moins 30 % de l'excédent maladie et 50 % de l'excédent des autres risques. Il faut donc connaître le résultat de chaque garantie, et donc son taux de sinistralité.</a:t>
            </a:r>
          </a:p>
          <a:p>
            <a:pPr algn="just">
              <a:spcAft>
                <a:spcPts val="600"/>
              </a:spcAft>
            </a:pPr>
            <a:r>
              <a:rPr sz="1300" b="1">
                <a:solidFill>
                  <a:srgbClr val="060606"/>
                </a:solidFill>
                <a:latin typeface="Helvetica"/>
              </a:rPr>
              <a:t>Les deux formules du texte donnent ici le même résultat.</a:t>
            </a:r>
            <a:r>
              <a:rPr sz="1300" b="0">
                <a:solidFill>
                  <a:srgbClr val="060606"/>
                </a:solidFill>
                <a:latin typeface="Helvetica"/>
              </a:rPr>
              <a:t> Le FPPN n'a passé aucune dotation ni reprise de provision technique (comptes 6901, 7901, 7906 et 6906 absents) : la variation des provisions vaut zéro chaque année.</a:t>
            </a:r>
          </a:p>
          <a:p>
            <a:pPr algn="just">
              <a:spcAft>
                <a:spcPts val="600"/>
              </a:spcAft>
            </a:pPr>
            <a:r>
              <a:rPr sz="1300" b="0">
                <a:solidFill>
                  <a:srgbClr val="060606"/>
                </a:solidFill>
                <a:latin typeface="Helvetica"/>
              </a:rPr>
              <a:t>Seul le taux global est comparé à la norme de 70 % à 80 %. Le taux par garantie sert à calculer l'excédent de chaque risque. La méthode du FPPN est détaillée et chiffrée dans la diapositive « Méthode de sinistralité du FPPN ».</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a:t>
            </a:r>
          </a:p>
        </p:txBody>
      </p:sp>
    </p:spTree>
    <p:extLst>
      <p:ext uri="{BB962C8B-B14F-4D97-AF65-F5344CB8AC3E}">
        <p14:creationId xmlns:p14="http://schemas.microsoft.com/office/powerpoint/2010/main" val="2632705950"/>
      </p:ext>
    </p:extLst>
  </p:cSld>
  <p:clrMapOvr>
    <a:masterClrMapping/>
  </p:clrMapOvr>
  <p:transition>
    <p:fade/>
  </p:transition>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Sinistralité selon la formule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Formule du texte et taux par garantie racontent la même hausse, à des niveaux différents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2025 : 57,48 % selon le texte, 73,53 % en maladie, 19,16 % en décès</a:t>
            </a:r>
          </a:p>
        </p:txBody>
      </p:sp>
      <p:sp>
        <p:nvSpPr>
          <p:cNvPr id="30" name="TextBox 29"/>
          <p:cNvSpPr txBox="1"/>
          <p:nvPr/>
        </p:nvSpPr>
        <p:spPr>
          <a:xfrm>
            <a:off x="503999" y="1386000"/>
            <a:ext cx="5976000" cy="251999"/>
          </a:xfrm>
          <a:prstGeom prst="rect">
            <a:avLst/>
          </a:prstGeom>
          <a:noFill/>
        </p:spPr>
        <p:txBody>
          <a:bodyPr wrap="square">
            <a:spAutoFit/>
          </a:bodyPr>
          <a:lstStyle/>
          <a:p>
            <a:pPr algn="ctr">
              <a:spcAft>
                <a:spcPts val="0"/>
              </a:spcAft>
            </a:pPr>
            <a:r>
              <a:rPr sz="1200" b="0">
                <a:solidFill>
                  <a:srgbClr val="EFAC62"/>
                </a:solidFill>
                <a:latin typeface="Helvetica"/>
              </a:rPr>
              <a:t>Figure 16 : Taux de sinistralité selon la formule, 2020 au 31/08/2026</a:t>
            </a:r>
          </a:p>
        </p:txBody>
      </p:sp>
      <p:sp>
        <p:nvSpPr>
          <p:cNvPr id="31" name="TextBox 30"/>
          <p:cNvSpPr txBox="1"/>
          <p:nvPr/>
        </p:nvSpPr>
        <p:spPr>
          <a:xfrm>
            <a:off x="503999" y="1602000"/>
            <a:ext cx="5976000" cy="162000"/>
          </a:xfrm>
          <a:prstGeom prst="rect">
            <a:avLst/>
          </a:prstGeom>
          <a:noFill/>
        </p:spPr>
        <p:txBody>
          <a:bodyPr wrap="square">
            <a:spAutoFit/>
          </a:bodyPr>
          <a:lstStyle/>
          <a:p>
            <a:pPr algn="l">
              <a:spcAft>
                <a:spcPts val="0"/>
              </a:spcAft>
            </a:pPr>
            <a:r>
              <a:rPr sz="900" b="0">
                <a:solidFill>
                  <a:srgbClr val="060606"/>
                </a:solidFill>
                <a:latin typeface="Helvetica"/>
              </a:rPr>
              <a:t>En % des cotisations</a:t>
            </a:r>
          </a:p>
        </p:txBody>
      </p:sp>
      <p:graphicFrame>
        <p:nvGraphicFramePr>
          <p:cNvPr id="32" name="Chart 31"/>
          <p:cNvGraphicFramePr>
            <a:graphicFrameLocks noGrp="1"/>
          </p:cNvGraphicFramePr>
          <p:nvPr/>
        </p:nvGraphicFramePr>
        <p:xfrm>
          <a:off x="503999" y="1782000"/>
          <a:ext cx="5976000" cy="3600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Décision n° 05/2022/COM/UEMOA du 1er juin 2022, annexe, § 1.2.1.2.5. Balances des comptes du FPPN de 2020 au 31/08/2026 (provisoire), fichiers « BALANCE … » listés en annexe « Fichiers sources ». Traitements Adenka</a:t>
            </a:r>
          </a:p>
        </p:txBody>
      </p:sp>
      <p:sp>
        <p:nvSpPr>
          <p:cNvPr id="34" name="TextBox 33"/>
          <p:cNvSpPr txBox="1"/>
          <p:nvPr/>
        </p:nvSpPr>
        <p:spPr>
          <a:xfrm>
            <a:off x="6696000" y="1440000"/>
            <a:ext cx="5040000" cy="4428000"/>
          </a:xfrm>
          <a:prstGeom prst="rect">
            <a:avLst/>
          </a:prstGeom>
          <a:noFill/>
        </p:spPr>
        <p:txBody>
          <a:bodyPr wrap="square" lIns="54000" rIns="54000"/>
          <a:lstStyle/>
          <a:p>
            <a:pPr algn="just">
              <a:spcAft>
                <a:spcPts val="600"/>
              </a:spcAft>
            </a:pPr>
            <a:r>
              <a:rPr sz="1400" b="1">
                <a:solidFill>
                  <a:srgbClr val="060606"/>
                </a:solidFill>
                <a:latin typeface="Helvetica"/>
              </a:rPr>
              <a:t>Le taux global du texte reste sous la fourchette de 70 % à 80 % de 2022 à 2025</a:t>
            </a:r>
            <a:r>
              <a:rPr sz="1400" b="0">
                <a:solidFill>
                  <a:srgbClr val="060606"/>
                </a:solidFill>
                <a:latin typeface="Helvetica"/>
              </a:rPr>
              <a:t> : il passe de 9,06 % en 2022 à 57,48 % en 2025. Il atteint 75,20 % sur huit mois de 2026.</a:t>
            </a:r>
          </a:p>
          <a:p>
            <a:pPr algn="just">
              <a:spcAft>
                <a:spcPts val="600"/>
              </a:spcAft>
            </a:pPr>
            <a:r>
              <a:rPr sz="1400" b="1">
                <a:solidFill>
                  <a:srgbClr val="060606"/>
                </a:solidFill>
                <a:latin typeface="Helvetica"/>
              </a:rPr>
              <a:t>Le taux global est plus bas que le taux maladie, car il mélange une garantie maladie chargée et une garantie décès excédentaire.</a:t>
            </a:r>
            <a:r>
              <a:rPr sz="1400" b="0">
                <a:solidFill>
                  <a:srgbClr val="060606"/>
                </a:solidFill>
                <a:latin typeface="Helvetica"/>
              </a:rPr>
              <a:t> La moyenne masque le déséquilibre de la maladie.</a:t>
            </a:r>
          </a:p>
          <a:p>
            <a:pPr algn="just">
              <a:spcAft>
                <a:spcPts val="600"/>
              </a:spcAft>
            </a:pPr>
            <a:r>
              <a:rPr sz="1400" b="1">
                <a:solidFill>
                  <a:srgbClr val="060606"/>
                </a:solidFill>
                <a:latin typeface="Helvetica"/>
              </a:rPr>
              <a:t>Retirer les bons de prise en charge (60800007, 60800008) ou les cotisations MEDOC (7022) change peu le taux</a:t>
            </a:r>
            <a:r>
              <a:rPr sz="1400" b="0">
                <a:solidFill>
                  <a:srgbClr val="060606"/>
                </a:solidFill>
                <a:latin typeface="Helvetica"/>
              </a:rPr>
              <a:t> : 56,55 % sans les bons et 57,49 % sans MEDOC en 2025.</a:t>
            </a:r>
          </a:p>
          <a:p>
            <a:pPr algn="just">
              <a:spcAft>
                <a:spcPts val="600"/>
              </a:spcAft>
            </a:pPr>
            <a:r>
              <a:rPr sz="1400" b="0">
                <a:solidFill>
                  <a:srgbClr val="060606"/>
                </a:solidFill>
                <a:latin typeface="Helvetica"/>
              </a:rPr>
              <a:t>La conclusion ne dépend pas du choix entre ces variantes : la maladie se rapproche du niveau de ses cotisations, quelle que soit la formule. En revanche, un taux global sous la norme ne prouve pas que chaque garantie est équilibrée.</a:t>
            </a:r>
          </a:p>
        </p:txBody>
      </p:sp>
      <p:sp>
        <p:nvSpPr>
          <p:cNvPr id="35" name="TextBox 34"/>
          <p:cNvSpPr txBox="1"/>
          <p:nvPr/>
        </p:nvSpPr>
        <p:spPr>
          <a:xfrm>
            <a:off x="503999" y="5382000"/>
            <a:ext cx="5976000" cy="450000"/>
          </a:xfrm>
          <a:prstGeom prst="rect">
            <a:avLst/>
          </a:prstGeom>
          <a:noFill/>
        </p:spPr>
        <p:txBody>
          <a:bodyPr wrap="square" anchor="t" lIns="54000" rIns="54000"/>
          <a:lstStyle/>
          <a:p>
            <a:pPr algn="l"/>
            <a:r>
              <a:rPr sz="850" b="0">
                <a:solidFill>
                  <a:srgbClr val="53565A"/>
                </a:solidFill>
                <a:latin typeface="Helvetica"/>
              </a:rPr>
              <a:t>Valable pour : comptes de prestations, de cotisations (7010, 7021) et de provisions (158) des balances « BALANCE FORMAT EXCEL DE 09-2020 AU 31-12-2020.xlsx » à « BALANCE FPPN DU 01-01-2026 AU 31-08-2026.xlsx », 2020 à 2025 et du 01/01 au 31/08/2026. Variation de provision nulle car les provisions ne bougent pas.</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MEDOC : produit santé complémentaire du poste 8Z7</a:t>
            </a:r>
          </a:p>
        </p:txBody>
      </p:sp>
    </p:spTree>
    <p:extLst>
      <p:ext uri="{BB962C8B-B14F-4D97-AF65-F5344CB8AC3E}">
        <p14:creationId xmlns:p14="http://schemas.microsoft.com/office/powerpoint/2010/main" val="3526625959"/>
      </p:ext>
    </p:extLst>
  </p:cSld>
  <p:clrMapOvr>
    <a:masterClrMapping/>
  </p:clrMapOvr>
  <p:transition>
    <p:fade/>
  </p:transition>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Méthode de sinistralité du FPPN</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FPPN rapporte les prestations payées aux cotisations payées, sans provisions, garantie par garantie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Au 30/06/2026, le FPPN calcule 12,95 % en décès, 99,23 % en maladie et 78,49 % pour l'ensemble. Sa propre note écrit aussi 19,66 % et 107 %</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ETUDE DES RATIO MALADIE DECES 2.xlsx (feuilles Tableau, Notes et Historique 2015-2021) et INTERPRETATION DES RATIOS MALADIE MATERNITE ET DECES INVALIDITE.pdf, reçus le 22/10/2026. Décision n° 05/2022/COM/UEMOA du 1er juin 2022, annexe, § 1.2.1.2.5. Balances des comptes du FPPN de 2020 au 31/08/2026 (provisoire), fichiers « BALANCE … » listés en annexe « Fichiers sources ». Traitements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28 : Méthode du FPPN et méthode réglementaire au 30/06/2026</a:t>
            </a:r>
          </a:p>
        </p:txBody>
      </p:sp>
      <p:graphicFrame>
        <p:nvGraphicFramePr>
          <p:cNvPr id="32" name="Table 31"/>
          <p:cNvGraphicFramePr>
            <a:graphicFrameLocks noGrp="1"/>
          </p:cNvGraphicFramePr>
          <p:nvPr/>
        </p:nvGraphicFramePr>
        <p:xfrm>
          <a:off x="503999" y="1655999"/>
          <a:ext cx="11232000" cy="1828228"/>
        </p:xfrm>
        <a:graphic>
          <a:graphicData uri="http://schemas.openxmlformats.org/drawingml/2006/table">
            <a:tbl>
              <a:tblPr firstRow="0" bandRow="0">
                <a:tableStyleId>{5940675A-B579-460E-94D1-54222C63F5DA}</a:tableStyleId>
              </a:tblPr>
              <a:tblGrid>
                <a:gridCol w="1872000"/>
                <a:gridCol w="4680000"/>
                <a:gridCol w="4680000"/>
              </a:tblGrid>
              <a:tr h="187148">
                <a:tc>
                  <a:txBody>
                    <a:bodyPr/>
                    <a:lstStyle/>
                    <a:p>
                      <a:pPr marL="0" indent="0" lvl="0">
                        <a:buNone/>
                      </a:pPr>
                      <a:r>
                        <a:rPr sz="850" b="1">
                          <a:solidFill>
                            <a:srgbClr val="FFFFFF"/>
                          </a:solidFill>
                          <a:latin typeface="Helvetica"/>
                        </a:rPr>
                        <a:t>Élément</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Méthode du FPPN</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Méthode réglementaire (Décision n° 05/2022)</a:t>
                      </a:r>
                    </a:p>
                  </a:txBody>
                  <a:tcPr marL="43200" marR="43200" marT="14400" marB="14400" anchor="ctr">
                    <a:solidFill>
                      <a:srgbClr val="060606"/>
                    </a:solidFill>
                  </a:tcPr>
                </a:tc>
              </a:tr>
              <a:tr h="316696">
                <a:tc>
                  <a:txBody>
                    <a:bodyPr/>
                    <a:lstStyle/>
                    <a:p>
                      <a:pPr marL="0" indent="0" lvl="0">
                        <a:buNone/>
                      </a:pPr>
                      <a:r>
                        <a:rPr sz="850" b="1">
                          <a:solidFill>
                            <a:srgbClr val="060606"/>
                          </a:solidFill>
                          <a:latin typeface="Helvetica"/>
                        </a:rPr>
                        <a:t>Numérateur</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Prestations payées : allocations décès et frais funéraires au barème. Prestations maladie de l'état des hospitalisations et consultations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Charges de prestations (comptes 60) et variation des provisions techniques (6901 - 7901)</a:t>
                      </a:r>
                    </a:p>
                  </a:txBody>
                  <a:tcPr marL="43200" marR="43200" marT="14400" marB="14400" anchor="ctr">
                    <a:solidFill>
                      <a:srgbClr val="FFFFFF"/>
                    </a:solidFill>
                  </a:tcPr>
                </a:tc>
              </a:tr>
              <a:tr h="316696">
                <a:tc>
                  <a:txBody>
                    <a:bodyPr/>
                    <a:lstStyle/>
                    <a:p>
                      <a:pPr marL="0" indent="0" lvl="0">
                        <a:buNone/>
                      </a:pPr>
                      <a:r>
                        <a:rPr sz="850" b="1">
                          <a:solidFill>
                            <a:srgbClr val="060606"/>
                          </a:solidFill>
                          <a:latin typeface="Helvetica"/>
                        </a:rPr>
                        <a:t>Dénominateur</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Cotisations payées : policiers en activité, civils de la Direction Générale, retraités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Cotisations acquises (comptes 70) et variation des provisions sur cotisations (7906 - 6906)</a:t>
                      </a:r>
                    </a:p>
                  </a:txBody>
                  <a:tcPr marL="43200" marR="43200" marT="14400" marB="14400" anchor="ctr">
                    <a:solidFill>
                      <a:srgbClr val="F2F2F2"/>
                    </a:solidFill>
                  </a:tcPr>
                </a:tc>
              </a:tr>
              <a:tr h="316696">
                <a:tc>
                  <a:txBody>
                    <a:bodyPr/>
                    <a:lstStyle/>
                    <a:p>
                      <a:pPr marL="0" indent="0" lvl="0">
                        <a:buNone/>
                      </a:pPr>
                      <a:r>
                        <a:rPr sz="850" b="1">
                          <a:solidFill>
                            <a:srgbClr val="060606"/>
                          </a:solidFill>
                          <a:latin typeface="Helvetica"/>
                        </a:rPr>
                        <a:t>Décès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55 600 000 / 429 215 718 = 12,95 % (« TSD = 13 % »), la même note écrit aussi « TS = 19, 66 %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Pas de taux par garantie dans le texte. Taux par garantie du rapport : partie 5</a:t>
                      </a:r>
                    </a:p>
                  </a:txBody>
                  <a:tcPr marL="43200" marR="43200" marT="14400" marB="14400" anchor="ctr">
                    <a:solidFill>
                      <a:srgbClr val="FFFFFF"/>
                    </a:solidFill>
                  </a:tcPr>
                </a:tc>
              </a:tr>
              <a:tr h="316696">
                <a:tc>
                  <a:txBody>
                    <a:bodyPr/>
                    <a:lstStyle/>
                    <a:p>
                      <a:pPr marL="0" indent="0" lvl="0">
                        <a:buNone/>
                      </a:pPr>
                      <a:r>
                        <a:rPr sz="850" b="1">
                          <a:solidFill>
                            <a:srgbClr val="060606"/>
                          </a:solidFill>
                          <a:latin typeface="Helvetica"/>
                        </a:rPr>
                        <a:t>Maladie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1 345 906 033 / 1 356 344 706 = 99,23 % (« TSM »), la même note écrit aussi « TS = 107 %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Pas de taux par garantie dans le texte</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Ensemble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1 401 506 033 / 1 785 560 424 = 78,49 % (« TSP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Taux global au 31/08/2026 : 75,20 % (balance provisoire, huit mois)</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Norme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Le FPPN compare chaque taux à 70 % à 80 %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70 % à 80 % pour le seul taux global</a:t>
                      </a:r>
                    </a:p>
                  </a:txBody>
                  <a:tcPr marL="43200" marR="43200" marT="14400" marB="14400" anchor="ctr">
                    <a:solidFill>
                      <a:srgbClr val="F2F2F2"/>
                    </a:solidFill>
                  </a:tcPr>
                </a:tc>
              </a:tr>
            </a:tbl>
          </a:graphicData>
        </a:graphic>
      </p:graphicFrame>
      <p:sp>
        <p:nvSpPr>
          <p:cNvPr id="33" name="TextBox 32"/>
          <p:cNvSpPr txBox="1"/>
          <p:nvPr/>
        </p:nvSpPr>
        <p:spPr>
          <a:xfrm>
            <a:off x="503999" y="3592229"/>
            <a:ext cx="11232000" cy="162000"/>
          </a:xfrm>
          <a:prstGeom prst="rect">
            <a:avLst/>
          </a:prstGeom>
          <a:noFill/>
        </p:spPr>
        <p:txBody>
          <a:bodyPr wrap="square" anchor="t" lIns="54000" rIns="54000"/>
          <a:lstStyle/>
          <a:p>
            <a:pPr algn="l"/>
            <a:r>
              <a:rPr sz="850" b="0">
                <a:solidFill>
                  <a:srgbClr val="53565A"/>
                </a:solidFill>
                <a:latin typeface="Helvetica"/>
              </a:rPr>
              <a:t>Valable pour : période du 01/01 au 30/06/2026 pour les taux du FPPN, du 01/01 au 31/08/2026 pour le taux réglementaire.</a:t>
            </a:r>
          </a:p>
        </p:txBody>
      </p:sp>
      <p:sp>
        <p:nvSpPr>
          <p:cNvPr id="34" name="TextBox 33"/>
          <p:cNvSpPr txBox="1"/>
          <p:nvPr/>
        </p:nvSpPr>
        <p:spPr>
          <a:xfrm>
            <a:off x="503999" y="3898229"/>
            <a:ext cx="11232000" cy="1969770"/>
          </a:xfrm>
          <a:prstGeom prst="rect">
            <a:avLst/>
          </a:prstGeom>
          <a:noFill/>
        </p:spPr>
        <p:txBody>
          <a:bodyPr wrap="square" lIns="54000" rIns="54000"/>
          <a:lstStyle/>
          <a:p>
            <a:pPr algn="just">
              <a:spcAft>
                <a:spcPts val="600"/>
              </a:spcAft>
            </a:pPr>
            <a:r>
              <a:rPr sz="1300" b="1">
                <a:solidFill>
                  <a:srgbClr val="060606"/>
                </a:solidFill>
                <a:latin typeface="Helvetica"/>
              </a:rPr>
              <a:t>La méthode du FPPN ignore les provisions et compare chaque garantie à la norme globale.</a:t>
            </a:r>
            <a:r>
              <a:rPr sz="1300" b="0">
                <a:solidFill>
                  <a:srgbClr val="060606"/>
                </a:solidFill>
                <a:latin typeface="Helvetica"/>
              </a:rPr>
              <a:t> La norme de 70 % à 80 % de la Décision s'applique au seul taux global, provisions comprises.</a:t>
            </a:r>
          </a:p>
          <a:p>
            <a:pPr algn="just">
              <a:spcAft>
                <a:spcPts val="600"/>
              </a:spcAft>
            </a:pPr>
            <a:r>
              <a:rPr sz="1300" b="1">
                <a:solidFill>
                  <a:srgbClr val="060606"/>
                </a:solidFill>
                <a:latin typeface="Helvetica"/>
              </a:rPr>
              <a:t>La note du FPPN contient deux taux différents pour le décès et pour la maladie.</a:t>
            </a:r>
            <a:r>
              <a:rPr sz="1300" b="0">
                <a:solidFill>
                  <a:srgbClr val="060606"/>
                </a:solidFill>
                <a:latin typeface="Helvetica"/>
              </a:rPr>
              <a:t> Les quotients écrits donnent 12,95 % et 99,23 %. Les mentions 19,66 % et 107 % ne correspondent à aucun calcul affiché.</a:t>
            </a:r>
          </a:p>
          <a:p>
            <a:pPr algn="just">
              <a:spcAft>
                <a:spcPts val="600"/>
              </a:spcAft>
            </a:pPr>
            <a:r>
              <a:rPr sz="1300" b="0">
                <a:solidFill>
                  <a:srgbClr val="060606"/>
                </a:solidFill>
                <a:latin typeface="Helvetica"/>
              </a:rPr>
              <a:t>La méthode du FPPN est désormais connue : le registre des formules (onglet 11_formules) la reprend. Elle convient au pilotage par garantie, pas à la conformité, qui exige la formule du texte avec les provisions.</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a:t>
            </a:r>
          </a:p>
        </p:txBody>
      </p:sp>
    </p:spTree>
    <p:extLst>
      <p:ext uri="{BB962C8B-B14F-4D97-AF65-F5344CB8AC3E}">
        <p14:creationId xmlns:p14="http://schemas.microsoft.com/office/powerpoint/2010/main" val="2942253060"/>
      </p:ext>
    </p:extLst>
  </p:cSld>
  <p:clrMapOvr>
    <a:masterClrMapping/>
  </p:clrMapOvr>
  <p:transition>
    <p:fade/>
  </p:transition>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Sinistralité décès : le FPPN et les comptes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De 2022 à 2025, les cotisations et les sinistres du FPPN sont ceux de la comptabilité</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 rapport sinistres / cotisations du FPPN égale le taux décès par garantie du rapport de 2022 à 2025. 2020 et 2021 diffèrent</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ETUDE DES RATIO MALADIE DECES 2.xlsx (feuilles Tableau, Notes et Historique 2015-2021) et INTERPRETATION DES RATIOS MALADIE MATERNITE ET DECES INVALIDITE.pdf, reçus le 22/10/2026. Balances des comptes du FPPN de 2020 au 31/08/2026 (provisoire), fichiers « BALANCE … » listés en annexe « Fichiers sources ». Traitements Adenka</a:t>
            </a:r>
          </a:p>
        </p:txBody>
      </p:sp>
      <p:sp>
        <p:nvSpPr>
          <p:cNvPr id="31" name="TextBox 30"/>
          <p:cNvSpPr txBox="1"/>
          <p:nvPr/>
        </p:nvSpPr>
        <p:spPr>
          <a:xfrm>
            <a:off x="503999" y="1386000"/>
            <a:ext cx="10800000" cy="216000"/>
          </a:xfrm>
          <a:prstGeom prst="rect">
            <a:avLst/>
          </a:prstGeom>
          <a:noFill/>
        </p:spPr>
        <p:txBody>
          <a:bodyPr wrap="square" anchor="t" lIns="54000" rIns="54000"/>
          <a:lstStyle/>
          <a:p>
            <a:pPr algn="ctr"/>
            <a:r>
              <a:rPr sz="1200" b="0">
                <a:solidFill>
                  <a:srgbClr val="EFAC62"/>
                </a:solidFill>
                <a:latin typeface="Helvetica"/>
              </a:rPr>
              <a:t>Tableau 29 : Sinistralité décès selon le FPPN et selon les comptes</a:t>
            </a:r>
          </a:p>
        </p:txBody>
      </p:sp>
      <p:graphicFrame>
        <p:nvGraphicFramePr>
          <p:cNvPr id="32" name="Table 31"/>
          <p:cNvGraphicFramePr>
            <a:graphicFrameLocks noGrp="1"/>
          </p:cNvGraphicFramePr>
          <p:nvPr/>
        </p:nvGraphicFramePr>
        <p:xfrm>
          <a:off x="503999" y="1655999"/>
          <a:ext cx="10800000" cy="1363376"/>
        </p:xfrm>
        <a:graphic>
          <a:graphicData uri="http://schemas.openxmlformats.org/drawingml/2006/table">
            <a:tbl>
              <a:tblPr firstRow="0" bandRow="0">
                <a:tableStyleId>{5940675A-B579-460E-94D1-54222C63F5DA}</a:tableStyleId>
              </a:tblPr>
              <a:tblGrid>
                <a:gridCol w="936000"/>
                <a:gridCol w="1800000"/>
                <a:gridCol w="1728000"/>
                <a:gridCol w="1224000"/>
                <a:gridCol w="1944000"/>
                <a:gridCol w="1944000"/>
                <a:gridCol w="1224000"/>
              </a:tblGrid>
              <a:tr h="194768">
                <a:tc>
                  <a:txBody>
                    <a:bodyPr/>
                    <a:lstStyle/>
                    <a:p>
                      <a:pPr marL="0" indent="0" lvl="0">
                        <a:buNone/>
                      </a:pPr>
                      <a:r>
                        <a:rPr sz="900" b="1">
                          <a:solidFill>
                            <a:srgbClr val="FFFFFF"/>
                          </a:solidFill>
                          <a:latin typeface="Helvetica"/>
                        </a:rPr>
                        <a:t>Année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Cotisations (FPPN)</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Sinistres (FPPN)</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S/P du FPPN</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Cotisations décès (comptes)</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Prestations décès (comptes)</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S/C (comptes)</a:t>
                      </a:r>
                    </a:p>
                  </a:txBody>
                  <a:tcPr marL="43200" marR="43200" marT="14400" marB="14400" anchor="ctr">
                    <a:solidFill>
                      <a:srgbClr val="060606"/>
                    </a:solidFill>
                  </a:tcPr>
                </a:tc>
              </a:tr>
              <a:tr h="194768">
                <a:tc>
                  <a:txBody>
                    <a:bodyPr/>
                    <a:lstStyle/>
                    <a:p>
                      <a:pPr marL="0" indent="0" lvl="0">
                        <a:buNone/>
                      </a:pPr>
                      <a:r>
                        <a:rPr sz="900" b="1">
                          <a:solidFill>
                            <a:srgbClr val="060606"/>
                          </a:solidFill>
                          <a:latin typeface="Helvetica"/>
                        </a:rPr>
                        <a:t>2020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557 317 712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493 331 537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88,52 %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703 298 329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578 327 196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82,23 %</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2021</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725 124 908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156 020 000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21,52 %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725 124 908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401 856 666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55,42 %</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2022</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763 338 861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116 090 000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15,21 %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763 338 861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116 090 000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15,21 %</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2023</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829 647 591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141 490 000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17,05 %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829 647 591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141 490 000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17,05 %</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2024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934 555 069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203 801 664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21,81 %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934 555 069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203 801 664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21,81 %</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2025</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1 008 270 692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193 136 666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19,16 %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1 008 270 692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193 136 666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19,16 %</a:t>
                      </a:r>
                    </a:p>
                  </a:txBody>
                  <a:tcPr marL="43200" marR="43200" marT="14400" marB="14400" anchor="ctr">
                    <a:solidFill>
                      <a:srgbClr val="F2F2F2"/>
                    </a:solidFill>
                  </a:tcPr>
                </a:tc>
              </a:tr>
            </a:tbl>
          </a:graphicData>
        </a:graphic>
      </p:graphicFrame>
      <p:sp>
        <p:nvSpPr>
          <p:cNvPr id="33" name="TextBox 32"/>
          <p:cNvSpPr txBox="1"/>
          <p:nvPr/>
        </p:nvSpPr>
        <p:spPr>
          <a:xfrm>
            <a:off x="503999" y="3127380"/>
            <a:ext cx="11232000" cy="162000"/>
          </a:xfrm>
          <a:prstGeom prst="rect">
            <a:avLst/>
          </a:prstGeom>
          <a:noFill/>
        </p:spPr>
        <p:txBody>
          <a:bodyPr wrap="square" anchor="t" lIns="54000" rIns="54000"/>
          <a:lstStyle/>
          <a:p>
            <a:pPr algn="l"/>
            <a:r>
              <a:rPr sz="850" b="0">
                <a:solidFill>
                  <a:srgbClr val="53565A"/>
                </a:solidFill>
                <a:latin typeface="Helvetica"/>
              </a:rPr>
              <a:t>Valable pour : garantie décès-invalidité, exercices 2020 à 2025. Prestations 2020 des comptes = obsèques 3 933 335 FCFA + prime d'assurance décès 574 393 861 FCFA (compte 65180000).</a:t>
            </a:r>
          </a:p>
        </p:txBody>
      </p:sp>
      <p:sp>
        <p:nvSpPr>
          <p:cNvPr id="34" name="TextBox 33"/>
          <p:cNvSpPr txBox="1"/>
          <p:nvPr/>
        </p:nvSpPr>
        <p:spPr>
          <a:xfrm>
            <a:off x="503999" y="3433380"/>
            <a:ext cx="11232000" cy="2434619"/>
          </a:xfrm>
          <a:prstGeom prst="rect">
            <a:avLst/>
          </a:prstGeom>
          <a:noFill/>
        </p:spPr>
        <p:txBody>
          <a:bodyPr wrap="square" lIns="54000" rIns="54000"/>
          <a:lstStyle/>
          <a:p>
            <a:pPr algn="just">
              <a:spcAft>
                <a:spcPts val="600"/>
              </a:spcAft>
            </a:pPr>
            <a:r>
              <a:rPr sz="1300" b="1">
                <a:solidFill>
                  <a:srgbClr val="060606"/>
                </a:solidFill>
                <a:latin typeface="Helvetica"/>
              </a:rPr>
              <a:t>De 2022 à 2025, les deux sources donnent les mêmes cotisations, les mêmes sinistres et donc le même taux.</a:t>
            </a:r>
            <a:r>
              <a:rPr sz="1300" b="0">
                <a:solidFill>
                  <a:srgbClr val="060606"/>
                </a:solidFill>
                <a:latin typeface="Helvetica"/>
              </a:rPr>
              <a:t> Le taux décès par garantie du rapport est ainsi confirmé par le FPPN.</a:t>
            </a:r>
          </a:p>
          <a:p>
            <a:pPr algn="just">
              <a:spcAft>
                <a:spcPts val="600"/>
              </a:spcAft>
            </a:pPr>
            <a:r>
              <a:rPr sz="1300" b="1">
                <a:solidFill>
                  <a:srgbClr val="060606"/>
                </a:solidFill>
                <a:latin typeface="Helvetica"/>
              </a:rPr>
              <a:t>En 2021, le FPPN retient 156 020 000 FCFA de sinistres, contre 401 856 666 FCFA dans les comptes.</a:t>
            </a:r>
            <a:r>
              <a:rPr sz="1300" b="0">
                <a:solidFill>
                  <a:srgbClr val="060606"/>
                </a:solidFill>
                <a:latin typeface="Helvetica"/>
              </a:rPr>
              <a:t> En 2020, ses cotisations et ses sinistres diffèrent aussi des comptes, l'assureur portant alors le risque.</a:t>
            </a:r>
          </a:p>
          <a:p>
            <a:pPr algn="just">
              <a:spcAft>
                <a:spcPts val="600"/>
              </a:spcAft>
            </a:pPr>
            <a:r>
              <a:rPr sz="1300" b="0">
                <a:solidFill>
                  <a:srgbClr val="060606"/>
                </a:solidFill>
                <a:latin typeface="Helvetica"/>
              </a:rPr>
              <a:t>Pour 2022 à 2025, la garantie décès consomme moins d'un quart de ses cotisations selon les deux sources. L'écart de 2021 est demandé au FPPN (questions au FPPN, partie 14).</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S/C : prestations / cotisations | S/P : sinistres sur primes (cotisations)</a:t>
            </a:r>
          </a:p>
        </p:txBody>
      </p:sp>
    </p:spTree>
    <p:extLst>
      <p:ext uri="{BB962C8B-B14F-4D97-AF65-F5344CB8AC3E}">
        <p14:creationId xmlns:p14="http://schemas.microsoft.com/office/powerpoint/2010/main" val="3123906551"/>
      </p:ext>
    </p:extLst>
  </p:cSld>
  <p:clrMapOvr>
    <a:masterClrMapping/>
  </p:clrMapOvr>
  <p:transition>
    <p:fade/>
  </p:transition>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Mortalité brute des membres participants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Entre trois et cinq décès pour mille adhérents chaque année depuis 2021</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En 2025 : 99 décès pour 31 678 adhérents, soit 3,13 pour mille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ETUDE DES RATIO MALADIE DECES 2.xlsx (feuilles Tableau, Notes et Historique 2015-2021) et INTERPRETATION DES RATIOS MALADIE MATERNITE ET DECES INVALIDITE.pdf, reçus le 22/10/2026</a:t>
            </a:r>
          </a:p>
        </p:txBody>
      </p:sp>
      <p:sp>
        <p:nvSpPr>
          <p:cNvPr id="31" name="TextBox 30"/>
          <p:cNvSpPr txBox="1"/>
          <p:nvPr/>
        </p:nvSpPr>
        <p:spPr>
          <a:xfrm>
            <a:off x="503999" y="1386000"/>
            <a:ext cx="10224000" cy="216000"/>
          </a:xfrm>
          <a:prstGeom prst="rect">
            <a:avLst/>
          </a:prstGeom>
          <a:noFill/>
        </p:spPr>
        <p:txBody>
          <a:bodyPr wrap="square" anchor="t" lIns="54000" rIns="54000"/>
          <a:lstStyle/>
          <a:p>
            <a:pPr algn="ctr"/>
            <a:r>
              <a:rPr sz="1200" b="0">
                <a:solidFill>
                  <a:srgbClr val="EFAC62"/>
                </a:solidFill>
                <a:latin typeface="Helvetica"/>
              </a:rPr>
              <a:t>Tableau 30 : Décès et taux brut de mortalité des membres participants</a:t>
            </a:r>
          </a:p>
        </p:txBody>
      </p:sp>
      <p:graphicFrame>
        <p:nvGraphicFramePr>
          <p:cNvPr id="32" name="Table 31"/>
          <p:cNvGraphicFramePr>
            <a:graphicFrameLocks noGrp="1"/>
          </p:cNvGraphicFramePr>
          <p:nvPr/>
        </p:nvGraphicFramePr>
        <p:xfrm>
          <a:off x="503999" y="1655999"/>
          <a:ext cx="10224000" cy="2337216"/>
        </p:xfrm>
        <a:graphic>
          <a:graphicData uri="http://schemas.openxmlformats.org/drawingml/2006/table">
            <a:tbl>
              <a:tblPr firstRow="0" bandRow="0">
                <a:tableStyleId>{5940675A-B579-460E-94D1-54222C63F5DA}</a:tableStyleId>
              </a:tblPr>
              <a:tblGrid>
                <a:gridCol w="1080000"/>
                <a:gridCol w="1800000"/>
                <a:gridCol w="1800000"/>
                <a:gridCol w="1800000"/>
                <a:gridCol w="1800000"/>
                <a:gridCol w="1944000"/>
              </a:tblGrid>
              <a:tr h="194768">
                <a:tc>
                  <a:txBody>
                    <a:bodyPr/>
                    <a:lstStyle/>
                    <a:p>
                      <a:pPr marL="0" indent="0" lvl="0">
                        <a:buNone/>
                      </a:pPr>
                      <a:r>
                        <a:rPr sz="900" b="1">
                          <a:solidFill>
                            <a:srgbClr val="FFFFFF"/>
                          </a:solidFill>
                          <a:latin typeface="Helvetica"/>
                        </a:rPr>
                        <a:t>Année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Adhérents</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Décès de membres</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Décès de conjoints</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Décès d'enfants</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Taux brut (pour mille)</a:t>
                      </a:r>
                    </a:p>
                  </a:txBody>
                  <a:tcPr marL="43200" marR="43200" marT="14400" marB="14400" anchor="ctr">
                    <a:solidFill>
                      <a:srgbClr val="060606"/>
                    </a:solidFill>
                  </a:tcPr>
                </a:tc>
              </a:tr>
              <a:tr h="194768">
                <a:tc>
                  <a:txBody>
                    <a:bodyPr/>
                    <a:lstStyle/>
                    <a:p>
                      <a:pPr marL="0" indent="0" lvl="0">
                        <a:buNone/>
                      </a:pPr>
                      <a:r>
                        <a:rPr sz="900" b="1">
                          <a:solidFill>
                            <a:srgbClr val="060606"/>
                          </a:solidFill>
                          <a:latin typeface="Helvetica"/>
                        </a:rPr>
                        <a:t>2015</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16 518</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96</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12</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5,81</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2016</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17 164</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76</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11</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4,43</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2017</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17 164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99</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9</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5,77</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2018</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17 164</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112</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11</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6</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6,53</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2019</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17 824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78</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19</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7</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4,38</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18 654</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108</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13</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4</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5,79</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2021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19 846</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101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5,09</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2022</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19 846</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76</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8</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4</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3,83</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2023</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23 670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94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9</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3,97</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2024</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27 657</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125</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9</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4,52</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2025</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31 678</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99</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3,13</a:t>
                      </a:r>
                    </a:p>
                  </a:txBody>
                  <a:tcPr marL="43200" marR="43200" marT="14400" marB="14400" anchor="ctr">
                    <a:solidFill>
                      <a:srgbClr val="FFFFFF"/>
                    </a:solidFill>
                  </a:tcPr>
                </a:tc>
              </a:tr>
            </a:tbl>
          </a:graphicData>
        </a:graphic>
      </p:graphicFrame>
      <p:sp>
        <p:nvSpPr>
          <p:cNvPr id="33" name="TextBox 32"/>
          <p:cNvSpPr txBox="1"/>
          <p:nvPr/>
        </p:nvSpPr>
        <p:spPr>
          <a:xfrm>
            <a:off x="503999" y="4101223"/>
            <a:ext cx="11232000" cy="162000"/>
          </a:xfrm>
          <a:prstGeom prst="rect">
            <a:avLst/>
          </a:prstGeom>
          <a:noFill/>
        </p:spPr>
        <p:txBody>
          <a:bodyPr wrap="square" anchor="t" lIns="54000" rIns="54000"/>
          <a:lstStyle/>
          <a:p>
            <a:pPr algn="l"/>
            <a:r>
              <a:rPr sz="850" b="0">
                <a:solidFill>
                  <a:srgbClr val="53565A"/>
                </a:solidFill>
                <a:latin typeface="Helvetica"/>
              </a:rPr>
              <a:t>Valable pour : membres participants recensés par le FPPN, années 2015 à 2025. Ne vaut ni par âge, ni par grade, ni pour les ayants droit.</a:t>
            </a:r>
          </a:p>
        </p:txBody>
      </p:sp>
      <p:sp>
        <p:nvSpPr>
          <p:cNvPr id="34" name="TextBox 33"/>
          <p:cNvSpPr txBox="1"/>
          <p:nvPr/>
        </p:nvSpPr>
        <p:spPr>
          <a:xfrm>
            <a:off x="503999" y="4407223"/>
            <a:ext cx="11232000" cy="1460776"/>
          </a:xfrm>
          <a:prstGeom prst="rect">
            <a:avLst/>
          </a:prstGeom>
          <a:noFill/>
        </p:spPr>
        <p:txBody>
          <a:bodyPr wrap="square" lIns="54000" rIns="54000"/>
          <a:lstStyle/>
          <a:p>
            <a:pPr algn="just">
              <a:spcAft>
                <a:spcPts val="600"/>
              </a:spcAft>
            </a:pPr>
            <a:r>
              <a:rPr sz="1300" b="1">
                <a:solidFill>
                  <a:srgbClr val="060606"/>
                </a:solidFill>
                <a:latin typeface="Helvetica"/>
              </a:rPr>
              <a:t>Le taux brut varie de 3,13 à 5,09 pour mille de 2021 à 2025.</a:t>
            </a:r>
            <a:r>
              <a:rPr sz="1300" b="0">
                <a:solidFill>
                  <a:srgbClr val="060606"/>
                </a:solidFill>
                <a:latin typeface="Helvetica"/>
              </a:rPr>
              <a:t> Le FPPN reporte le même nombre d'adhérents trois années de suite de 2016 à 2018, puis en 2021 et 2022, ce qui fragilise les taux de ces années.</a:t>
            </a:r>
          </a:p>
          <a:p>
            <a:pPr algn="just">
              <a:spcAft>
                <a:spcPts val="600"/>
              </a:spcAft>
            </a:pPr>
            <a:r>
              <a:rPr sz="1300" b="1">
                <a:solidFill>
                  <a:srgbClr val="060606"/>
                </a:solidFill>
                <a:latin typeface="Helvetica"/>
              </a:rPr>
              <a:t>Les décès d'ayants droit (conjoints et enfants) passent de 17 en 2020 à 10 en 2025.</a:t>
            </a:r>
            <a:r>
              <a:rPr sz="1300" b="0">
                <a:solidFill>
                  <a:srgbClr val="060606"/>
                </a:solidFill>
                <a:latin typeface="Helvetica"/>
              </a:rPr>
              <a:t> Le nombre d'ayants droit couverts n'est pas connu : aucun taux ne peut être calculé pour eux.</a:t>
            </a:r>
          </a:p>
          <a:p>
            <a:pPr algn="just">
              <a:spcAft>
                <a:spcPts val="600"/>
              </a:spcAft>
            </a:pPr>
            <a:r>
              <a:rPr sz="1300" b="0">
                <a:solidFill>
                  <a:srgbClr val="060606"/>
                </a:solidFill>
                <a:latin typeface="Helvetica"/>
              </a:rPr>
              <a:t>Le taux brut sert d'ordre de grandeur. La comparaison à la table CIMA H, nécessaire pour juger la cotisation décès, demande les dates de naissance des membres et la base des décès (PBC, items 4, 5, 16 et 43).</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CIMA : Conférence interafricaine des marchés d'assurances | PBC : liste des documents demandés au client</a:t>
            </a:r>
          </a:p>
        </p:txBody>
      </p:sp>
    </p:spTree>
    <p:extLst>
      <p:ext uri="{BB962C8B-B14F-4D97-AF65-F5344CB8AC3E}">
        <p14:creationId xmlns:p14="http://schemas.microsoft.com/office/powerpoint/2010/main" val="2162519797"/>
      </p:ext>
    </p:extLst>
  </p:cSld>
  <p:clrMapOvr>
    <a:masterClrMapping/>
  </p:clrMapOvr>
  <p:transition>
    <p:fade/>
  </p:transition>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Nature des risques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Chaque garantie relève d'une catégorie de risque qui fixe ses provisions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Les textes de la mutualité distinguent risques courts et longs, la CIMA distingue vie et non-vie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règlement d'exécution n° 004/2022/COM/UEMOA du 1er juin 2022, art. 8 à 15. Code CIMA (référence technique).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31 : Nature des risques par garantie et provisions attendues</a:t>
            </a:r>
          </a:p>
        </p:txBody>
      </p:sp>
      <p:graphicFrame>
        <p:nvGraphicFramePr>
          <p:cNvPr id="32" name="Table 31"/>
          <p:cNvGraphicFramePr>
            <a:graphicFrameLocks noGrp="1"/>
          </p:cNvGraphicFramePr>
          <p:nvPr/>
        </p:nvGraphicFramePr>
        <p:xfrm>
          <a:off x="503999" y="1655999"/>
          <a:ext cx="11232000" cy="1912052"/>
        </p:xfrm>
        <a:graphic>
          <a:graphicData uri="http://schemas.openxmlformats.org/drawingml/2006/table">
            <a:tbl>
              <a:tblPr firstRow="0" bandRow="0">
                <a:tableStyleId>{5940675A-B579-460E-94D1-54222C63F5DA}</a:tableStyleId>
              </a:tblPr>
              <a:tblGrid>
                <a:gridCol w="1872000"/>
                <a:gridCol w="1296000"/>
                <a:gridCol w="1584000"/>
                <a:gridCol w="3240000"/>
                <a:gridCol w="3240000"/>
              </a:tblGrid>
              <a:tr h="194768">
                <a:tc>
                  <a:txBody>
                    <a:bodyPr/>
                    <a:lstStyle/>
                    <a:p>
                      <a:pPr marL="0" indent="0" lvl="0">
                        <a:buNone/>
                      </a:pPr>
                      <a:r>
                        <a:rPr sz="900" b="1">
                          <a:solidFill>
                            <a:srgbClr val="FFFFFF"/>
                          </a:solidFill>
                          <a:latin typeface="Helvetica"/>
                        </a:rPr>
                        <a:t>Garantie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UEMOA</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CIMA (référence)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Provision attendue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Effet sur la sinistralité</a:t>
                      </a:r>
                    </a:p>
                  </a:txBody>
                  <a:tcPr marL="43200" marR="43200" marT="14400" marB="14400" anchor="ctr">
                    <a:solidFill>
                      <a:srgbClr val="060606"/>
                    </a:solidFill>
                  </a:tcPr>
                </a:tc>
              </a:tr>
              <a:tr h="331937">
                <a:tc>
                  <a:txBody>
                    <a:bodyPr/>
                    <a:lstStyle/>
                    <a:p>
                      <a:pPr marL="0" indent="0" lvl="0">
                        <a:buNone/>
                      </a:pPr>
                      <a:r>
                        <a:rPr sz="900" b="1">
                          <a:solidFill>
                            <a:srgbClr val="060606"/>
                          </a:solidFill>
                          <a:latin typeface="Helvetica"/>
                        </a:rPr>
                        <a:t>Maladie des actifs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Risque court</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Non-vie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PSAP dossier par dossier et sinistres tardifs (art. 10)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Le taux doit intégrer la variation de la PSAP.</a:t>
                      </a:r>
                    </a:p>
                  </a:txBody>
                  <a:tcPr marL="43200" marR="43200" marT="14400" marB="14400" anchor="ctr">
                    <a:solidFill>
                      <a:srgbClr val="FFFFFF"/>
                    </a:solidFill>
                  </a:tcPr>
                </a:tc>
              </a:tr>
              <a:tr h="331937">
                <a:tc>
                  <a:txBody>
                    <a:bodyPr/>
                    <a:lstStyle/>
                    <a:p>
                      <a:pPr marL="0" indent="0" lvl="0">
                        <a:buNone/>
                      </a:pPr>
                      <a:r>
                        <a:rPr sz="900" b="1">
                          <a:solidFill>
                            <a:srgbClr val="060606"/>
                          </a:solidFill>
                          <a:latin typeface="Helvetica"/>
                        </a:rPr>
                        <a:t>Décès (capital, frais funéraires, allocations)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Risque court si annuel</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Vie (décès temporaire)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PSAP des dossiers déclarés non payés et tardifs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Le taux doit intégrer la variation de la PSAP obsèques.</a:t>
                      </a:r>
                    </a:p>
                  </a:txBody>
                  <a:tcPr marL="43200" marR="43200" marT="14400" marB="14400" anchor="ctr">
                    <a:solidFill>
                      <a:srgbClr val="F2F2F2"/>
                    </a:solidFill>
                  </a:tcPr>
                </a:tc>
              </a:tr>
              <a:tr h="331937">
                <a:tc>
                  <a:txBody>
                    <a:bodyPr/>
                    <a:lstStyle/>
                    <a:p>
                      <a:pPr marL="0" indent="0" lvl="0">
                        <a:buNone/>
                      </a:pPr>
                      <a:r>
                        <a:rPr sz="900" b="1">
                          <a:solidFill>
                            <a:srgbClr val="060606"/>
                          </a:solidFill>
                          <a:latin typeface="Helvetica"/>
                        </a:rPr>
                        <a:t>EFC, PEP</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Risque long</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Vie (épargne)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Dette d'épargne, provision mathématique si un capital est garanti (art. 11)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Hors sinistralité : versements et retraits d'épargne.</a:t>
                      </a:r>
                    </a:p>
                  </a:txBody>
                  <a:tcPr marL="43200" marR="43200" marT="14400" marB="14400" anchor="ctr">
                    <a:solidFill>
                      <a:srgbClr val="FFFFFF"/>
                    </a:solidFill>
                  </a:tcPr>
                </a:tc>
              </a:tr>
              <a:tr h="331937">
                <a:tc>
                  <a:txBody>
                    <a:bodyPr/>
                    <a:lstStyle/>
                    <a:p>
                      <a:pPr marL="0" indent="0" lvl="0">
                        <a:buNone/>
                      </a:pPr>
                      <a:r>
                        <a:rPr sz="900" b="1">
                          <a:solidFill>
                            <a:srgbClr val="060606"/>
                          </a:solidFill>
                          <a:latin typeface="Helvetica"/>
                        </a:rPr>
                        <a:t>Santé des retraités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Risque long si garantie à vie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Vie (rente de soins)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Provision mathématique (art. 11)</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Le taux annuel sous-estime l'engagement futur.</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Flotte automobile (GNA)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Hors champ du FPPN</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Non-vie (porté par GNA)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Aucune provision technique au FPPN</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Hors sinistralité du FPPN.</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MEDOC</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Risque court</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Non-vie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PSAP si le FPPN porte le risque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Cotisations 7022 incluses dans le taux du texte.</a:t>
                      </a:r>
                    </a:p>
                  </a:txBody>
                  <a:tcPr marL="43200" marR="43200" marT="14400" marB="14400" anchor="ctr">
                    <a:solidFill>
                      <a:srgbClr val="F2F2F2"/>
                    </a:solidFill>
                  </a:tcPr>
                </a:tc>
              </a:tr>
            </a:tbl>
          </a:graphicData>
        </a:graphic>
      </p:graphicFrame>
      <p:sp>
        <p:nvSpPr>
          <p:cNvPr id="33" name="TextBox 32"/>
          <p:cNvSpPr txBox="1"/>
          <p:nvPr/>
        </p:nvSpPr>
        <p:spPr>
          <a:xfrm>
            <a:off x="503999" y="3676055"/>
            <a:ext cx="11232000" cy="162000"/>
          </a:xfrm>
          <a:prstGeom prst="rect">
            <a:avLst/>
          </a:prstGeom>
          <a:noFill/>
        </p:spPr>
        <p:txBody>
          <a:bodyPr wrap="square" anchor="t" lIns="54000" rIns="54000"/>
          <a:lstStyle/>
          <a:p>
            <a:pPr algn="l"/>
            <a:r>
              <a:rPr sz="850" b="0">
                <a:solidFill>
                  <a:srgbClr val="53565A"/>
                </a:solidFill>
                <a:latin typeface="Helvetica"/>
              </a:rPr>
              <a:t>Valable pour : garanties décrites par les statuts du 15/06/2023 et le règlement d'exécution n° 004/2022, art. 8 à 15. Qualification sans chiffre.</a:t>
            </a:r>
          </a:p>
        </p:txBody>
      </p:sp>
      <p:sp>
        <p:nvSpPr>
          <p:cNvPr id="34" name="TextBox 33"/>
          <p:cNvSpPr txBox="1"/>
          <p:nvPr/>
        </p:nvSpPr>
        <p:spPr>
          <a:xfrm>
            <a:off x="503999" y="3982055"/>
            <a:ext cx="11232000" cy="1885944"/>
          </a:xfrm>
          <a:prstGeom prst="rect">
            <a:avLst/>
          </a:prstGeom>
          <a:noFill/>
        </p:spPr>
        <p:txBody>
          <a:bodyPr wrap="square" lIns="54000" rIns="54000"/>
          <a:lstStyle/>
          <a:p>
            <a:pPr algn="just">
              <a:spcAft>
                <a:spcPts val="600"/>
              </a:spcAft>
            </a:pPr>
            <a:r>
              <a:rPr sz="1300" b="1">
                <a:solidFill>
                  <a:srgbClr val="060606"/>
                </a:solidFill>
                <a:latin typeface="Helvetica"/>
              </a:rPr>
              <a:t>Le taux de sinistralité ne mesure bien que les risques courts.</a:t>
            </a:r>
            <a:r>
              <a:rPr sz="1300" b="0">
                <a:solidFill>
                  <a:srgbClr val="060606"/>
                </a:solidFill>
                <a:latin typeface="Helvetica"/>
              </a:rPr>
              <a:t> Pour les risques longs, l'engagement se mesure par une provision mathématique, calculée avec une table de mortalité et un taux d'intérêt technique (règlement d'exécution n° 004/2022, art. 11).</a:t>
            </a:r>
          </a:p>
          <a:p>
            <a:pPr algn="just">
              <a:spcAft>
                <a:spcPts val="600"/>
              </a:spcAft>
            </a:pPr>
            <a:r>
              <a:rPr sz="1300" b="0">
                <a:solidFill>
                  <a:srgbClr val="060606"/>
                </a:solidFill>
                <a:latin typeface="Helvetica"/>
              </a:rPr>
              <a:t>Les provisions du FPPN doivent être revues garantie par garantie : seules la maladie et le décès ont une provision, figée depuis 2020 (partie 9).</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Sigles : FPPN : Fonds de prévoyance de la Police nationale | UEMOA : Union économique et monétaire ouest-africaine | CIMA : Conférence interafricaine des marchés d'assurances | PEP : Plan Épargne Plus | EFC : entraide fin de carrière | PSAP : provision pour sinistres à payer | GNA : assureur de la flotte automobile (compte 47111106) | MEDOC : produit santé complémentaire du poste 8Z7</a:t>
            </a:r>
          </a:p>
        </p:txBody>
      </p:sp>
    </p:spTree>
    <p:extLst>
      <p:ext uri="{BB962C8B-B14F-4D97-AF65-F5344CB8AC3E}">
        <p14:creationId xmlns:p14="http://schemas.microsoft.com/office/powerpoint/2010/main" val="3882465494"/>
      </p:ext>
    </p:extLst>
  </p:cSld>
  <p:clrMapOvr>
    <a:masterClrMapping/>
  </p:clrMapOvr>
  <p:transition>
    <p:fade/>
  </p:transition>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Croissance des prestations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prestations maladie croissent beaucoup plus vite que les cotisations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Taux de croissance annuel moyen 2021 à 2025 : prestations maladie 104,42 %, cotisations 7,83 %</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Fichiers de précomptes et exports du Grenier reçus le 15/10/2026 (noms exacts en annexe « Fichiers sources »). Traitements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32 : Taux de croissance annuels moyens</a:t>
            </a:r>
          </a:p>
        </p:txBody>
      </p:sp>
      <p:graphicFrame>
        <p:nvGraphicFramePr>
          <p:cNvPr id="32" name="Table 31"/>
          <p:cNvGraphicFramePr>
            <a:graphicFrameLocks noGrp="1"/>
          </p:cNvGraphicFramePr>
          <p:nvPr/>
        </p:nvGraphicFramePr>
        <p:xfrm>
          <a:off x="503999" y="1655999"/>
          <a:ext cx="11231997" cy="2137302"/>
        </p:xfrm>
        <a:graphic>
          <a:graphicData uri="http://schemas.openxmlformats.org/drawingml/2006/table">
            <a:tbl>
              <a:tblPr firstRow="0" bandRow="0">
                <a:tableStyleId>{5940675A-B579-460E-94D1-54222C63F5DA}</a:tableStyleId>
              </a:tblPr>
              <a:tblGrid>
                <a:gridCol w="2736000"/>
                <a:gridCol w="1655999"/>
                <a:gridCol w="2015999"/>
                <a:gridCol w="2015999"/>
                <a:gridCol w="1296000"/>
                <a:gridCol w="1512000"/>
              </a:tblGrid>
              <a:tr h="225250">
                <a:tc>
                  <a:txBody>
                    <a:bodyPr/>
                    <a:lstStyle/>
                    <a:p>
                      <a:pPr marL="0" indent="0" lvl="0">
                        <a:buNone/>
                      </a:pPr>
                      <a:r>
                        <a:rPr sz="1100" b="1">
                          <a:solidFill>
                            <a:srgbClr val="FFFFFF"/>
                          </a:solidFill>
                          <a:latin typeface="Helvetica"/>
                        </a:rPr>
                        <a:t>Indicateur</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Période</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Valeur de départ</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Valeur d'arrivée</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Multiplié par</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TCAM</a:t>
                      </a:r>
                    </a:p>
                  </a:txBody>
                  <a:tcPr marL="43200" marR="43200" marT="14400" marB="14400" anchor="ctr">
                    <a:solidFill>
                      <a:srgbClr val="060606"/>
                    </a:solidFill>
                  </a:tcPr>
                </a:tc>
              </a:tr>
              <a:tr h="225250">
                <a:tc>
                  <a:txBody>
                    <a:bodyPr/>
                    <a:lstStyle/>
                    <a:p>
                      <a:pPr marL="0" indent="0" lvl="0">
                        <a:buNone/>
                      </a:pPr>
                      <a:r>
                        <a:rPr sz="1100" b="1">
                          <a:solidFill>
                            <a:srgbClr val="060606"/>
                          </a:solidFill>
                          <a:latin typeface="Helvetica"/>
                        </a:rPr>
                        <a:t>Cotisations maladie et décès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2020 à 2025</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2 344 618 501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3 417 551 722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1,46</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7,83 %</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Prestations maladie</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2021 à 2025</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101 453 171 FCFA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1 771 635 361 FCFA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17,46</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104,42 %</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Épargne PEP et EFC (passif)</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2020 à 2025</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10 828 205 640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13 814 066 964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1,28</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4,99 %</a:t>
                      </a:r>
                    </a:p>
                  </a:txBody>
                  <a:tcPr marL="43200" marR="43200" marT="14400" marB="14400" anchor="ctr">
                    <a:solidFill>
                      <a:srgbClr val="FFFFFF"/>
                    </a:solidFill>
                  </a:tcPr>
                </a:tc>
              </a:tr>
              <a:tr h="392901">
                <a:tc>
                  <a:txBody>
                    <a:bodyPr/>
                    <a:lstStyle/>
                    <a:p>
                      <a:pPr marL="0" indent="0" lvl="0">
                        <a:buNone/>
                      </a:pPr>
                      <a:r>
                        <a:rPr sz="1100" b="1">
                          <a:solidFill>
                            <a:srgbClr val="060606"/>
                          </a:solidFill>
                          <a:latin typeface="Helvetica"/>
                        </a:rPr>
                        <a:t>Encours des prêts du Grenier</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31/12/2022 à 31/12/2025</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182 555 907 FCFA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829 623 319 FCFA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4,54</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65,64 %</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Production de prêts du Grenier</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2022 à 2025</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269 775 100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1 609 400 144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5,97</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81,37 %</a:t>
                      </a:r>
                    </a:p>
                  </a:txBody>
                  <a:tcPr marL="43200" marR="43200" marT="14400" marB="14400" anchor="ctr">
                    <a:solidFill>
                      <a:srgbClr val="FFFFFF"/>
                    </a:solidFill>
                  </a:tcPr>
                </a:tc>
              </a:tr>
              <a:tr h="392901">
                <a:tc>
                  <a:txBody>
                    <a:bodyPr/>
                    <a:lstStyle/>
                    <a:p>
                      <a:pPr marL="0" indent="0" lvl="0">
                        <a:buNone/>
                      </a:pPr>
                      <a:r>
                        <a:rPr sz="1100" b="1">
                          <a:solidFill>
                            <a:srgbClr val="060606"/>
                          </a:solidFill>
                          <a:latin typeface="Helvetica"/>
                        </a:rPr>
                        <a:t>Cotisants actifs (maladie 936)</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janv. 2024 à août 2026</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23 119</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31 198</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1,35</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12,30 %</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Investissements au CMP</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2020 à 2025</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2 984 680 712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6 002 976 947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2,01</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15,00 %</a:t>
                      </a:r>
                    </a:p>
                  </a:txBody>
                  <a:tcPr marL="43200" marR="43200" marT="14400" marB="14400" anchor="ctr">
                    <a:solidFill>
                      <a:srgbClr val="FFFFFF"/>
                    </a:solidFill>
                  </a:tcPr>
                </a:tc>
              </a:tr>
            </a:tbl>
          </a:graphicData>
        </a:graphic>
      </p:graphicFrame>
      <p:sp>
        <p:nvSpPr>
          <p:cNvPr id="33" name="TextBox 32"/>
          <p:cNvSpPr txBox="1"/>
          <p:nvPr/>
        </p:nvSpPr>
        <p:spPr>
          <a:xfrm>
            <a:off x="503999" y="3901305"/>
            <a:ext cx="11232000" cy="306000"/>
          </a:xfrm>
          <a:prstGeom prst="rect">
            <a:avLst/>
          </a:prstGeom>
          <a:noFill/>
        </p:spPr>
        <p:txBody>
          <a:bodyPr wrap="square" anchor="t" lIns="54000" rIns="54000"/>
          <a:lstStyle/>
          <a:p>
            <a:pPr algn="l"/>
            <a:r>
              <a:rPr sz="850" b="0">
                <a:solidFill>
                  <a:srgbClr val="53565A"/>
                </a:solidFill>
                <a:latin typeface="Helvetica"/>
              </a:rPr>
              <a:t>Valable pour : taux annuels moyens des comptes de prestations et de cotisations (7010, 7021) des balances « BALANCE FORMAT EXCEL DE 09-2020 AU 31-12-2020.xlsx » à « BALANCE FPPN DU 01-01-2026 AU 31-08-2026.xlsx » et des fichiers de précomptes. Périodes indiquées ligne par ligne.</a:t>
            </a:r>
          </a:p>
        </p:txBody>
      </p:sp>
      <p:sp>
        <p:nvSpPr>
          <p:cNvPr id="34" name="TextBox 33"/>
          <p:cNvSpPr txBox="1"/>
          <p:nvPr/>
        </p:nvSpPr>
        <p:spPr>
          <a:xfrm>
            <a:off x="503999" y="4351305"/>
            <a:ext cx="11232000" cy="1516694"/>
          </a:xfrm>
          <a:prstGeom prst="rect">
            <a:avLst/>
          </a:prstGeom>
          <a:noFill/>
        </p:spPr>
        <p:txBody>
          <a:bodyPr wrap="square" lIns="54000" rIns="54000"/>
          <a:lstStyle/>
          <a:p>
            <a:pPr algn="just">
              <a:spcAft>
                <a:spcPts val="600"/>
              </a:spcAft>
            </a:pPr>
            <a:r>
              <a:rPr sz="1300" b="1">
                <a:solidFill>
                  <a:srgbClr val="060606"/>
                </a:solidFill>
                <a:latin typeface="Helvetica"/>
              </a:rPr>
              <a:t>Les prestations maladie et l'encours du Grenier croissent bien plus vite que les cotisations et les effectifs.</a:t>
            </a:r>
            <a:r>
              <a:rPr sz="1300" b="0">
                <a:solidFill>
                  <a:srgbClr val="060606"/>
                </a:solidFill>
                <a:latin typeface="Helvetica"/>
              </a:rPr>
              <a:t> Les ressources ne suivent pas le rythme des emplois.</a:t>
            </a:r>
          </a:p>
          <a:p>
            <a:pPr algn="just">
              <a:spcAft>
                <a:spcPts val="600"/>
              </a:spcAft>
            </a:pPr>
            <a:r>
              <a:rPr sz="1300" b="0">
                <a:solidFill>
                  <a:srgbClr val="060606"/>
                </a:solidFill>
                <a:latin typeface="Helvetica"/>
              </a:rPr>
              <a:t>Un écart durable entre la croissance des prestations et celle des cotisations conduit mécaniquement à un déficit technique : la projection devra en fixer l'horizon.</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PEP : Plan Épargne Plus | EFC : entraide fin de carrière | CMP : Clinique médicale du policier | TCAM : taux de croissance annuel moyen | 936 : poste maladie</a:t>
            </a:r>
          </a:p>
        </p:txBody>
      </p:sp>
    </p:spTree>
    <p:extLst>
      <p:ext uri="{BB962C8B-B14F-4D97-AF65-F5344CB8AC3E}">
        <p14:creationId xmlns:p14="http://schemas.microsoft.com/office/powerpoint/2010/main" val="3566359266"/>
      </p:ext>
    </p:extLst>
  </p:cSld>
  <p:clrMapOvr>
    <a:masterClrMapping/>
  </p:clrMapOvr>
  <p:transition>
    <p:fade/>
  </p:transition>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Prestations maladie par nature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Plus de la moitié des prestations maladie est enregistrée sans détail de nature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En 2025, le compte global porte 995 311 355 FCFA sur 1 771 635 361 FCFA</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17 : Prestations maladie comptabilisées par nature</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millions de FCFA</a:t>
            </a:r>
          </a:p>
        </p:txBody>
      </p:sp>
      <p:graphicFrame>
        <p:nvGraphicFramePr>
          <p:cNvPr id="32" name="Chart 31"/>
          <p:cNvGraphicFramePr>
            <a:graphicFrameLocks noGrp="1"/>
          </p:cNvGraphicFramePr>
          <p:nvPr/>
        </p:nvGraphicFramePr>
        <p:xfrm>
          <a:off x="503999" y="1782000"/>
          <a:ext cx="6552000" cy="3600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Les prestations maladie passent de 101 453 171 FCFA en 2021 à 1 771 635 361 FCFA en 2025.</a:t>
            </a:r>
          </a:p>
          <a:p>
            <a:pPr algn="just">
              <a:spcAft>
                <a:spcPts val="600"/>
              </a:spcAft>
            </a:pPr>
            <a:r>
              <a:rPr sz="1400" b="1">
                <a:solidFill>
                  <a:srgbClr val="060606"/>
                </a:solidFill>
                <a:latin typeface="Helvetica"/>
              </a:rPr>
              <a:t>Imagerie, analyses et consultations représentent 37,13 % des prestations de 2025.</a:t>
            </a:r>
            <a:r>
              <a:rPr sz="1400" b="0">
                <a:solidFill>
                  <a:srgbClr val="060606"/>
                </a:solidFill>
                <a:latin typeface="Helvetica"/>
              </a:rPr>
              <a:t> Ce sont les natures détaillées qui progressent le plus.</a:t>
            </a:r>
          </a:p>
          <a:p>
            <a:pPr algn="just">
              <a:spcAft>
                <a:spcPts val="600"/>
              </a:spcAft>
            </a:pPr>
            <a:r>
              <a:rPr sz="1400" b="1">
                <a:solidFill>
                  <a:srgbClr val="060606"/>
                </a:solidFill>
                <a:latin typeface="Helvetica"/>
              </a:rPr>
              <a:t>Le compte global empêche le suivi par type de soins et par prestataire.</a:t>
            </a:r>
          </a:p>
          <a:p>
            <a:pPr algn="just">
              <a:spcAft>
                <a:spcPts val="600"/>
              </a:spcAft>
            </a:pPr>
            <a:r>
              <a:rPr sz="1400" b="0">
                <a:solidFill>
                  <a:srgbClr val="060606"/>
                </a:solidFill>
                <a:latin typeface="Helvetica"/>
              </a:rPr>
              <a:t>Sans détail par nature et par prestataire, le FPPN ne peut ni négocier ses tarifs, ni repérer les abus, ni calculer le taux de prestations indues exigé par la Décision n° 05/2022.</a:t>
            </a:r>
          </a:p>
        </p:txBody>
      </p:sp>
      <p:sp>
        <p:nvSpPr>
          <p:cNvPr id="35" name="TextBox 34"/>
          <p:cNvSpPr txBox="1"/>
          <p:nvPr/>
        </p:nvSpPr>
        <p:spPr>
          <a:xfrm>
            <a:off x="503999" y="5382000"/>
            <a:ext cx="6552000" cy="450000"/>
          </a:xfrm>
          <a:prstGeom prst="rect">
            <a:avLst/>
          </a:prstGeom>
          <a:noFill/>
        </p:spPr>
        <p:txBody>
          <a:bodyPr wrap="square" anchor="t" lIns="54000" rIns="54000"/>
          <a:lstStyle/>
          <a:p>
            <a:pPr algn="l"/>
            <a:r>
              <a:rPr sz="850" b="0">
                <a:solidFill>
                  <a:srgbClr val="53565A"/>
                </a:solidFill>
                <a:latin typeface="Helvetica"/>
              </a:rPr>
              <a:t>Valable pour : comptes 601, 6013, 6018 et 60800007 des balances « BALANCE FORMAT EXCEL DE 09-2020 AU 31-12-2020.xlsx » à « BALANCE FPPN DU 01-01-2026 AU 31-08-2026.xlsx », 2020 à 2025 et du 01/01 au 31/08/2026. Nature telle que libellée par le FPPN.</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437175343"/>
      </p:ext>
    </p:extLst>
  </p:cSld>
  <p:clrMapOvr>
    <a:masterClrMapping/>
  </p:clrMapOvr>
  <p:transition>
    <p:fade/>
  </p:transition>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Frais de gestion et résultat</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excédents se réduisent et deviennent un déficit en 2026</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Résultat net : 1 018 579 699 FCFA en 2020, 437 899 911 FCFA en 2025, -441 256 500 FCFA sur huit mois de 2026</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18 : Frais de gestion et résultat net</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millions de FCFA</a:t>
            </a:r>
          </a:p>
        </p:txBody>
      </p:sp>
      <p:graphicFrame>
        <p:nvGraphicFramePr>
          <p:cNvPr id="32" name="Chart 31"/>
          <p:cNvGraphicFramePr>
            <a:graphicFrameLocks noGrp="1"/>
          </p:cNvGraphicFramePr>
          <p:nvPr/>
        </p:nvGraphicFramePr>
        <p:xfrm>
          <a:off x="503999" y="1782000"/>
          <a:ext cx="6552000" cy="3744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Les frais de gestion pèsent entre 31,46 % et 40,11 % des cotisations depuis 2021.</a:t>
            </a:r>
            <a:r>
              <a:rPr sz="1400" b="0">
                <a:solidFill>
                  <a:srgbClr val="060606"/>
                </a:solidFill>
                <a:latin typeface="Helvetica"/>
              </a:rPr>
              <a:t> La Décision n° 05/2022 limite les charges de fonctionnement à 20 % des cotisations.</a:t>
            </a:r>
          </a:p>
          <a:p>
            <a:pPr algn="just">
              <a:spcAft>
                <a:spcPts val="600"/>
              </a:spcAft>
            </a:pPr>
            <a:r>
              <a:rPr sz="1400" b="1">
                <a:solidFill>
                  <a:srgbClr val="060606"/>
                </a:solidFill>
                <a:latin typeface="Helvetica"/>
              </a:rPr>
              <a:t>Le résultat baisse depuis 2021.</a:t>
            </a:r>
            <a:r>
              <a:rPr sz="1400" b="0">
                <a:solidFill>
                  <a:srgbClr val="060606"/>
                </a:solidFill>
                <a:latin typeface="Helvetica"/>
              </a:rPr>
              <a:t> Il passe de 2 083 908 202 FCFA à 437 899 911 FCFA en 2025.</a:t>
            </a:r>
          </a:p>
          <a:p>
            <a:pPr algn="just">
              <a:spcAft>
                <a:spcPts val="600"/>
              </a:spcAft>
            </a:pPr>
            <a:r>
              <a:rPr sz="1400" b="1">
                <a:solidFill>
                  <a:srgbClr val="060606"/>
                </a:solidFill>
                <a:latin typeface="Helvetica"/>
              </a:rPr>
              <a:t>Les huit premiers mois de 2026 sont déficitaires</a:t>
            </a:r>
            <a:r>
              <a:rPr sz="1400" b="0">
                <a:solidFill>
                  <a:srgbClr val="060606"/>
                </a:solidFill>
                <a:latin typeface="Helvetica"/>
              </a:rPr>
              <a:t>, avant même les écritures de fin d'année.</a:t>
            </a:r>
          </a:p>
          <a:p>
            <a:pPr algn="just">
              <a:spcAft>
                <a:spcPts val="600"/>
              </a:spcAft>
            </a:pPr>
            <a:r>
              <a:rPr sz="1400" b="0">
                <a:solidFill>
                  <a:srgbClr val="060606"/>
                </a:solidFill>
                <a:latin typeface="Helvetica"/>
              </a:rPr>
              <a:t>Les frais pèsent presque deux fois la norme réglementaire. Leur réduction est le levier le plus direct pour restaurer l'excédent pendant que la sinistralité monte.</a:t>
            </a:r>
          </a:p>
        </p:txBody>
      </p:sp>
      <p:sp>
        <p:nvSpPr>
          <p:cNvPr id="35" name="TextBox 34"/>
          <p:cNvSpPr txBox="1"/>
          <p:nvPr/>
        </p:nvSpPr>
        <p:spPr>
          <a:xfrm>
            <a:off x="503999" y="5526000"/>
            <a:ext cx="6552000" cy="306000"/>
          </a:xfrm>
          <a:prstGeom prst="rect">
            <a:avLst/>
          </a:prstGeom>
          <a:noFill/>
        </p:spPr>
        <p:txBody>
          <a:bodyPr wrap="square" anchor="t" lIns="54000" rIns="54000"/>
          <a:lstStyle/>
          <a:p>
            <a:pPr algn="l"/>
            <a:r>
              <a:rPr sz="850" b="0">
                <a:solidFill>
                  <a:srgbClr val="53565A"/>
                </a:solidFill>
                <a:latin typeface="Helvetica"/>
              </a:rPr>
              <a:t>Valable pour : comptes 61 à 66 hors 6518 (frais) et résultat net des balances « BALANCE FORMAT EXCEL DE 09-2020 AU 31-12-2020.xlsx » à « BALANCE FPPN DU 01-01-2026 AU 31-08-2026.xlsx », 2020 à 2025 et du 01/01 au 31/08/2026.</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1023117700"/>
      </p:ext>
    </p:extLst>
  </p:cSld>
  <p:clrMapOvr>
    <a:masterClrMapping/>
  </p:clrMapOvr>
  <p:transition>
    <p:fade/>
  </p:transition>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Choix de la formule : frais de gestion</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formule du texte et celle du rapport ne retiennent pas les mêmes comptes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2025 : 32,23 % selon le rapport, 36,34 % selon le texte, pour une norme d'au plus 20 %</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19 : Taux de frais selon la formule</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 des cotisations</a:t>
            </a:r>
          </a:p>
        </p:txBody>
      </p:sp>
      <p:graphicFrame>
        <p:nvGraphicFramePr>
          <p:cNvPr id="32" name="Chart 31"/>
          <p:cNvGraphicFramePr>
            <a:graphicFrameLocks noGrp="1"/>
          </p:cNvGraphicFramePr>
          <p:nvPr/>
        </p:nvGraphicFramePr>
        <p:xfrm>
          <a:off x="503999" y="1782000"/>
          <a:ext cx="6552000" cy="3600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Décision n° 05/2022/COM/UEMOA du 1er juin 2022, annexe, tableau 1. Balances des comptes du FPPN de 2020 au 31/08/2026 (provisoire), fichiers « BALANCE … » listés en annexe « Fichiers sources ». Traitements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Les deux formules diffèrent sur trois points.</a:t>
            </a:r>
            <a:r>
              <a:rPr sz="1400" b="0">
                <a:solidFill>
                  <a:srgbClr val="060606"/>
                </a:solidFill>
                <a:latin typeface="Helvetica"/>
              </a:rPr>
              <a:t> Le texte exclut les comptes 611 et 614 à 617, et inclut les comptes 67 et 68. Il divise par toutes les cotisations acquises, MEDOC compris. Le rapport retenait les comptes 61 à 66 et les seules cotisations maladie et décès.</a:t>
            </a:r>
          </a:p>
          <a:p>
            <a:pPr algn="just">
              <a:spcAft>
                <a:spcPts val="600"/>
              </a:spcAft>
            </a:pPr>
            <a:r>
              <a:rPr sz="1400" b="1">
                <a:solidFill>
                  <a:srgbClr val="060606"/>
                </a:solidFill>
                <a:latin typeface="Helvetica"/>
              </a:rPr>
              <a:t>Seule la formule du texte est comparée à la norme de 20 %.</a:t>
            </a:r>
            <a:r>
              <a:rPr sz="1400" b="0">
                <a:solidFill>
                  <a:srgbClr val="060606"/>
                </a:solidFill>
                <a:latin typeface="Helvetica"/>
              </a:rPr>
              <a:t> La formule du rapport reste utile pour suivre les frais sur la même base que la sinistralité par garantie.</a:t>
            </a:r>
          </a:p>
          <a:p>
            <a:pPr algn="just">
              <a:spcAft>
                <a:spcPts val="600"/>
              </a:spcAft>
            </a:pPr>
            <a:r>
              <a:rPr sz="1400" b="0">
                <a:solidFill>
                  <a:srgbClr val="060606"/>
                </a:solidFill>
                <a:latin typeface="Helvetica"/>
              </a:rPr>
              <a:t>Quelle que soit la formule, les frais dépassent la norme de 20 % des cotisations : la conclusion de la partie 5 ne change pas.</a:t>
            </a:r>
          </a:p>
        </p:txBody>
      </p:sp>
      <p:sp>
        <p:nvSpPr>
          <p:cNvPr id="35" name="TextBox 34"/>
          <p:cNvSpPr txBox="1"/>
          <p:nvPr/>
        </p:nvSpPr>
        <p:spPr>
          <a:xfrm>
            <a:off x="503999" y="5382000"/>
            <a:ext cx="6552000" cy="450000"/>
          </a:xfrm>
          <a:prstGeom prst="rect">
            <a:avLst/>
          </a:prstGeom>
          <a:noFill/>
        </p:spPr>
        <p:txBody>
          <a:bodyPr wrap="square" anchor="t" lIns="54000" rIns="54000"/>
          <a:lstStyle/>
          <a:p>
            <a:pPr algn="l"/>
            <a:r>
              <a:rPr sz="850" b="0">
                <a:solidFill>
                  <a:srgbClr val="53565A"/>
                </a:solidFill>
                <a:latin typeface="Helvetica"/>
              </a:rPr>
              <a:t>Valable pour : formules de la Décision n° 05/2022 (annexe, tableau 1) appliquées aux comptes 61 à 66 hors 6518 et 7010, 7021 des balances « BALANCE FORMAT EXCEL DE 09-2020 AU 31-12-2020.xlsx » à « BALANCE FPPN DU 01-01-2026 AU 31-08-2026.xlsx ».</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MEDOC : produit santé complémentaire du poste 8Z7</a:t>
            </a:r>
          </a:p>
        </p:txBody>
      </p:sp>
    </p:spTree>
    <p:extLst>
      <p:ext uri="{BB962C8B-B14F-4D97-AF65-F5344CB8AC3E}">
        <p14:creationId xmlns:p14="http://schemas.microsoft.com/office/powerpoint/2010/main" val="776294419"/>
      </p:ext>
    </p:extLst>
  </p:cSld>
  <p:clrMapOvr>
    <a:masterClrMapping/>
  </p:clrMapOvr>
  <p:transition>
    <p:fade/>
  </p:transition>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6" name="Image 25"/>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30" name="ZoneTexte 29">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9" name="Google Shape;7386;p39"/>
          <p:cNvSpPr/>
          <p:nvPr/>
        </p:nvSpPr>
        <p:spPr>
          <a:xfrm rot="10800000">
            <a:off x="1748072" y="1436295"/>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10" name="Google Shape;7367;p39"/>
          <p:cNvSpPr/>
          <p:nvPr/>
        </p:nvSpPr>
        <p:spPr>
          <a:xfrm rot="16200000">
            <a:off x="2201124" y="215006"/>
            <a:ext cx="2027916" cy="4306666"/>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chemeClr val="tx1"/>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 name="Rectangle 3"/>
          <p:cNvSpPr/>
          <p:nvPr/>
        </p:nvSpPr>
        <p:spPr>
          <a:xfrm>
            <a:off x="2946575" y="1442741"/>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Constat</a:t>
            </a:r>
          </a:p>
        </p:txBody>
      </p:sp>
      <p:sp>
        <p:nvSpPr>
          <p:cNvPr id="20" name="Google Shape;7386;p39"/>
          <p:cNvSpPr/>
          <p:nvPr/>
        </p:nvSpPr>
        <p:spPr>
          <a:xfrm rot="10800000">
            <a:off x="6372314" y="1459724"/>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21" name="Google Shape;7367;p39"/>
          <p:cNvSpPr/>
          <p:nvPr/>
        </p:nvSpPr>
        <p:spPr>
          <a:xfrm rot="16200000">
            <a:off x="7569073" y="228570"/>
            <a:ext cx="2000788" cy="4306666"/>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rgbClr val="060606"/>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24" name="Rectangle 23"/>
          <p:cNvSpPr/>
          <p:nvPr/>
        </p:nvSpPr>
        <p:spPr>
          <a:xfrm>
            <a:off x="7570816" y="1466170"/>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Preuves</a:t>
            </a:r>
          </a:p>
        </p:txBody>
      </p:sp>
      <p:sp>
        <p:nvSpPr>
          <p:cNvPr id="37" name="Google Shape;7386;p39"/>
          <p:cNvSpPr/>
          <p:nvPr/>
        </p:nvSpPr>
        <p:spPr>
          <a:xfrm rot="10800000">
            <a:off x="1854215" y="3845744"/>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38" name="Google Shape;7367;p39"/>
          <p:cNvSpPr/>
          <p:nvPr/>
        </p:nvSpPr>
        <p:spPr>
          <a:xfrm rot="16200000">
            <a:off x="2838223" y="3190772"/>
            <a:ext cx="1751381" cy="3719393"/>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rgbClr val="060606"/>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0" name="Rectangle 39"/>
          <p:cNvSpPr/>
          <p:nvPr/>
        </p:nvSpPr>
        <p:spPr>
          <a:xfrm>
            <a:off x="3052718" y="3852190"/>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Implication</a:t>
            </a:r>
          </a:p>
        </p:txBody>
      </p:sp>
      <p:sp>
        <p:nvSpPr>
          <p:cNvPr id="42" name="Google Shape;7386;p39"/>
          <p:cNvSpPr/>
          <p:nvPr/>
        </p:nvSpPr>
        <p:spPr>
          <a:xfrm rot="10800000">
            <a:off x="6478457" y="3869173"/>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3" name="Google Shape;7367;p39"/>
          <p:cNvSpPr/>
          <p:nvPr/>
        </p:nvSpPr>
        <p:spPr>
          <a:xfrm rot="16200000">
            <a:off x="7474179" y="3202486"/>
            <a:ext cx="1727953" cy="3719393"/>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chemeClr val="tx1"/>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5" name="Rectangle 44"/>
          <p:cNvSpPr/>
          <p:nvPr/>
        </p:nvSpPr>
        <p:spPr>
          <a:xfrm>
            <a:off x="7676960" y="3875619"/>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Action</a:t>
            </a:r>
          </a:p>
        </p:txBody>
      </p:sp>
      <p:pic>
        <p:nvPicPr>
          <p:cNvPr id="47" name="Image 4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47871" y="3850143"/>
            <a:ext cx="334029" cy="337914"/>
          </a:xfrm>
          <a:prstGeom prst="rect">
            <a:avLst/>
          </a:prstGeom>
        </p:spPr>
      </p:pic>
      <p:pic>
        <p:nvPicPr>
          <p:cNvPr id="50" name="Image 49">
            <a:extLst>
              <a:ext uri="{FF2B5EF4-FFF2-40B4-BE49-F238E27FC236}">
                <a16:creationId xmlns:a16="http://schemas.microsoft.com/office/drawing/2014/main" id="{593DA389-08F4-31D9-6AB9-E96812D83B7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768142" y="1475503"/>
            <a:ext cx="294700" cy="294700"/>
          </a:xfrm>
          <a:prstGeom prst="rect">
            <a:avLst/>
          </a:prstGeom>
        </p:spPr>
      </p:pic>
      <p:pic>
        <p:nvPicPr>
          <p:cNvPr id="25" name="Image 2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156977" y="1457088"/>
            <a:ext cx="281624" cy="284788"/>
          </a:xfrm>
          <a:prstGeom prst="rect">
            <a:avLst/>
          </a:prstGeom>
        </p:spPr>
      </p:pic>
      <p:pic>
        <p:nvPicPr>
          <p:cNvPr id="28" name="Image 27"/>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791905" y="3883760"/>
            <a:ext cx="270937" cy="276827"/>
          </a:xfrm>
          <a:prstGeom prst="rect">
            <a:avLst/>
          </a:prstGeom>
        </p:spPr>
      </p:pic>
      <p:sp>
        <p:nvSpPr>
          <p:cNvPr id="31" name="Rectangle 30"/>
          <p:cNvSpPr/>
          <p:nvPr/>
        </p:nvSpPr>
        <p:spPr>
          <a:xfrm>
            <a:off x="1999671" y="1962253"/>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Les prestations maladie absorbent une part croissante des cotisations, et le résultat du FPPN baisse depuis 2021.</a:t>
            </a:r>
          </a:p>
        </p:txBody>
      </p:sp>
      <p:sp>
        <p:nvSpPr>
          <p:cNvPr id="32" name="Rectangle 31"/>
          <p:cNvSpPr/>
          <p:nvPr/>
        </p:nvSpPr>
        <p:spPr>
          <a:xfrm>
            <a:off x="6623912" y="1926662"/>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La hausse du S/C maladie est statistiquement significative, d'environ 12,91 points par an de 2020 à 2025. Les frais dépassent la norme de 20 % des cotisations.</a:t>
            </a:r>
          </a:p>
        </p:txBody>
      </p:sp>
      <p:sp>
        <p:nvSpPr>
          <p:cNvPr id="33" name="Rectangle 32"/>
          <p:cNvSpPr/>
          <p:nvPr/>
        </p:nvSpPr>
        <p:spPr>
          <a:xfrm>
            <a:off x="2093705" y="4388689"/>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Sans maîtrise des prestations et des frais, le FPPN deviendra déficitaire et ne pourra plus doter sa réserve obligatoire.</a:t>
            </a:r>
          </a:p>
        </p:txBody>
      </p:sp>
      <p:sp>
        <p:nvSpPr>
          <p:cNvPr id="34" name="Rectangle 33"/>
          <p:cNvSpPr/>
          <p:nvPr/>
        </p:nvSpPr>
        <p:spPr>
          <a:xfrm>
            <a:off x="6768142" y="4336111"/>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 FPPN doit détailler le compte global de prestations par nature et par prestataire, et transmettre la base des prestations.</a:t>
            </a:r>
          </a:p>
        </p:txBody>
      </p:sp>
      <p:sp>
        <p:nvSpPr>
          <p:cNvPr id="51"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À retenir : sinistralité</a:t>
            </a:r>
          </a:p>
        </p:txBody>
      </p:sp>
      <p:sp>
        <p:nvSpPr>
          <p:cNvPr id="52"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sinistralité maladie approche le niveau des cotisations</a:t>
            </a:r>
          </a:p>
        </p:txBody>
      </p:sp>
      <p:sp>
        <p:nvSpPr>
          <p:cNvPr id="53"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Ratio S/C maladie multiplié par plus de douze depuis 2021, résultat en baisse, déficit sur 2026</a:t>
            </a:r>
          </a:p>
        </p:txBody>
      </p:sp>
      <p:sp>
        <p:nvSpPr>
          <p:cNvPr id="54"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analyses Adenka</a:t>
            </a:r>
          </a:p>
        </p:txBody>
      </p:sp>
      <p:sp>
        <p:nvSpPr>
          <p:cNvPr id="55" name="TextBox 5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S/C : prestations / cotisations</a:t>
            </a:r>
          </a:p>
        </p:txBody>
      </p:sp>
    </p:spTree>
    <p:extLst>
      <p:ext uri="{BB962C8B-B14F-4D97-AF65-F5344CB8AC3E}">
        <p14:creationId xmlns:p14="http://schemas.microsoft.com/office/powerpoint/2010/main" val="3652768488"/>
      </p:ext>
    </p:extLst>
  </p:cSld>
  <p:clrMapOvr>
    <a:masterClrMapping/>
  </p:clrMapOvr>
  <p:transition>
    <p:fade/>
  </p:transition>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Google Shape;8651;p70"/>
          <p:cNvSpPr/>
          <p:nvPr/>
        </p:nvSpPr>
        <p:spPr>
          <a:xfrm>
            <a:off x="2013108" y="2588204"/>
            <a:ext cx="1380332" cy="1428252"/>
          </a:xfrm>
          <a:custGeom>
            <a:avLst/>
            <a:gdLst/>
            <a:ahLst/>
            <a:cxnLst/>
            <a:rect l="l" t="t" r="r" b="b"/>
            <a:pathLst>
              <a:path w="8670" h="8971" extrusionOk="0">
                <a:moveTo>
                  <a:pt x="7105" y="1302"/>
                </a:moveTo>
                <a:cubicBezTo>
                  <a:pt x="7105" y="1315"/>
                  <a:pt x="7105" y="1328"/>
                  <a:pt x="7105" y="1341"/>
                </a:cubicBezTo>
                <a:cubicBezTo>
                  <a:pt x="7118" y="1980"/>
                  <a:pt x="7183" y="2619"/>
                  <a:pt x="7183" y="3283"/>
                </a:cubicBezTo>
                <a:cubicBezTo>
                  <a:pt x="7170" y="4404"/>
                  <a:pt x="7183" y="5525"/>
                  <a:pt x="7222" y="6646"/>
                </a:cubicBezTo>
                <a:cubicBezTo>
                  <a:pt x="7235" y="6959"/>
                  <a:pt x="7222" y="7259"/>
                  <a:pt x="7222" y="7559"/>
                </a:cubicBezTo>
                <a:lnTo>
                  <a:pt x="7222" y="7585"/>
                </a:lnTo>
                <a:cubicBezTo>
                  <a:pt x="6935" y="7598"/>
                  <a:pt x="6649" y="7611"/>
                  <a:pt x="6362" y="7611"/>
                </a:cubicBezTo>
                <a:cubicBezTo>
                  <a:pt x="6101" y="7598"/>
                  <a:pt x="5853" y="7585"/>
                  <a:pt x="5593" y="7585"/>
                </a:cubicBezTo>
                <a:cubicBezTo>
                  <a:pt x="4159" y="7559"/>
                  <a:pt x="2712" y="7559"/>
                  <a:pt x="1291" y="7442"/>
                </a:cubicBezTo>
                <a:cubicBezTo>
                  <a:pt x="1278" y="7207"/>
                  <a:pt x="1239" y="6959"/>
                  <a:pt x="1226" y="6725"/>
                </a:cubicBezTo>
                <a:cubicBezTo>
                  <a:pt x="1200" y="6255"/>
                  <a:pt x="1187" y="5799"/>
                  <a:pt x="1200" y="5330"/>
                </a:cubicBezTo>
                <a:cubicBezTo>
                  <a:pt x="1213" y="4222"/>
                  <a:pt x="1226" y="3101"/>
                  <a:pt x="1343" y="1993"/>
                </a:cubicBezTo>
                <a:lnTo>
                  <a:pt x="1552" y="1993"/>
                </a:lnTo>
                <a:cubicBezTo>
                  <a:pt x="2138" y="1980"/>
                  <a:pt x="2725" y="1889"/>
                  <a:pt x="3312" y="1810"/>
                </a:cubicBezTo>
                <a:cubicBezTo>
                  <a:pt x="4576" y="1641"/>
                  <a:pt x="5840" y="1524"/>
                  <a:pt x="7105" y="1302"/>
                </a:cubicBezTo>
                <a:close/>
                <a:moveTo>
                  <a:pt x="7529" y="1"/>
                </a:moveTo>
                <a:cubicBezTo>
                  <a:pt x="7291" y="1"/>
                  <a:pt x="7059" y="53"/>
                  <a:pt x="6818" y="64"/>
                </a:cubicBezTo>
                <a:cubicBezTo>
                  <a:pt x="6375" y="103"/>
                  <a:pt x="5932" y="142"/>
                  <a:pt x="5488" y="194"/>
                </a:cubicBezTo>
                <a:cubicBezTo>
                  <a:pt x="4824" y="259"/>
                  <a:pt x="4107" y="350"/>
                  <a:pt x="3429" y="389"/>
                </a:cubicBezTo>
                <a:cubicBezTo>
                  <a:pt x="2686" y="429"/>
                  <a:pt x="1943" y="481"/>
                  <a:pt x="1213" y="598"/>
                </a:cubicBezTo>
                <a:cubicBezTo>
                  <a:pt x="913" y="624"/>
                  <a:pt x="652" y="728"/>
                  <a:pt x="509" y="976"/>
                </a:cubicBezTo>
                <a:cubicBezTo>
                  <a:pt x="470" y="1028"/>
                  <a:pt x="444" y="1080"/>
                  <a:pt x="431" y="1146"/>
                </a:cubicBezTo>
                <a:cubicBezTo>
                  <a:pt x="300" y="1524"/>
                  <a:pt x="287" y="1928"/>
                  <a:pt x="300" y="2332"/>
                </a:cubicBezTo>
                <a:cubicBezTo>
                  <a:pt x="209" y="3010"/>
                  <a:pt x="209" y="3700"/>
                  <a:pt x="209" y="4378"/>
                </a:cubicBezTo>
                <a:cubicBezTo>
                  <a:pt x="170" y="4769"/>
                  <a:pt x="144" y="5173"/>
                  <a:pt x="131" y="5565"/>
                </a:cubicBezTo>
                <a:cubicBezTo>
                  <a:pt x="105" y="6203"/>
                  <a:pt x="14" y="6842"/>
                  <a:pt x="14" y="7481"/>
                </a:cubicBezTo>
                <a:cubicBezTo>
                  <a:pt x="1" y="7911"/>
                  <a:pt x="157" y="8315"/>
                  <a:pt x="613" y="8419"/>
                </a:cubicBezTo>
                <a:cubicBezTo>
                  <a:pt x="1056" y="8550"/>
                  <a:pt x="1526" y="8524"/>
                  <a:pt x="1982" y="8550"/>
                </a:cubicBezTo>
                <a:cubicBezTo>
                  <a:pt x="2243" y="8563"/>
                  <a:pt x="2503" y="8589"/>
                  <a:pt x="2764" y="8615"/>
                </a:cubicBezTo>
                <a:cubicBezTo>
                  <a:pt x="3885" y="8745"/>
                  <a:pt x="5006" y="8902"/>
                  <a:pt x="6140" y="8941"/>
                </a:cubicBezTo>
                <a:cubicBezTo>
                  <a:pt x="6220" y="8945"/>
                  <a:pt x="6302" y="8946"/>
                  <a:pt x="6383" y="8946"/>
                </a:cubicBezTo>
                <a:cubicBezTo>
                  <a:pt x="6581" y="8946"/>
                  <a:pt x="6781" y="8937"/>
                  <a:pt x="6974" y="8928"/>
                </a:cubicBezTo>
                <a:cubicBezTo>
                  <a:pt x="7118" y="8941"/>
                  <a:pt x="7274" y="8941"/>
                  <a:pt x="7418" y="8941"/>
                </a:cubicBezTo>
                <a:cubicBezTo>
                  <a:pt x="7568" y="8956"/>
                  <a:pt x="7723" y="8971"/>
                  <a:pt x="7877" y="8971"/>
                </a:cubicBezTo>
                <a:cubicBezTo>
                  <a:pt x="7990" y="8971"/>
                  <a:pt x="8103" y="8963"/>
                  <a:pt x="8213" y="8941"/>
                </a:cubicBezTo>
                <a:cubicBezTo>
                  <a:pt x="8643" y="8810"/>
                  <a:pt x="8565" y="8093"/>
                  <a:pt x="8604" y="7741"/>
                </a:cubicBezTo>
                <a:cubicBezTo>
                  <a:pt x="8669" y="6620"/>
                  <a:pt x="8539" y="5499"/>
                  <a:pt x="8487" y="4378"/>
                </a:cubicBezTo>
                <a:cubicBezTo>
                  <a:pt x="8434" y="3453"/>
                  <a:pt x="8330" y="2527"/>
                  <a:pt x="8252" y="1589"/>
                </a:cubicBezTo>
                <a:cubicBezTo>
                  <a:pt x="8200" y="1341"/>
                  <a:pt x="8239" y="637"/>
                  <a:pt x="8096" y="350"/>
                </a:cubicBezTo>
                <a:lnTo>
                  <a:pt x="8082" y="350"/>
                </a:lnTo>
                <a:cubicBezTo>
                  <a:pt x="8056" y="181"/>
                  <a:pt x="7952" y="51"/>
                  <a:pt x="7704" y="11"/>
                </a:cubicBezTo>
                <a:cubicBezTo>
                  <a:pt x="7645" y="4"/>
                  <a:pt x="7587" y="1"/>
                  <a:pt x="7529" y="1"/>
                </a:cubicBezTo>
                <a:close/>
              </a:path>
            </a:pathLst>
          </a:custGeom>
          <a:solidFill>
            <a:schemeClr val="bg1"/>
          </a:solidFill>
          <a:ln w="76200">
            <a:solidFill>
              <a:schemeClr val="tx1"/>
            </a:solid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5" name="Rectangle 24">
            <a:extLst>
              <a:ext uri="{FF2B5EF4-FFF2-40B4-BE49-F238E27FC236}">
                <a16:creationId xmlns:a16="http://schemas.microsoft.com/office/drawing/2014/main" id="{9B9B23AA-050D-4543-80A0-873FE31AFFF7}"/>
              </a:ext>
            </a:extLst>
          </p:cNvPr>
          <p:cNvSpPr/>
          <p:nvPr/>
        </p:nvSpPr>
        <p:spPr>
          <a:xfrm>
            <a:off x="2446471" y="2869098"/>
            <a:ext cx="513606" cy="936923"/>
          </a:xfrm>
          <a:prstGeom prst="rect">
            <a:avLst/>
          </a:prstGeom>
        </p:spPr>
        <p:txBody>
          <a:bodyPr wrap="square" lIns="0" tIns="0" rIns="0" bIns="0">
            <a:spAutoFit/>
          </a:bodyPr>
          <a:lstStyle/>
          <a:p>
            <a:pPr lvl="0">
              <a:lnSpc>
                <a:spcPct val="110000"/>
              </a:lnSpc>
            </a:pPr>
            <a:r>
              <a:rPr lang="fr-CI" sz="60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6</a:t>
            </a:r>
          </a:p>
        </p:txBody>
      </p:sp>
      <p:sp>
        <p:nvSpPr>
          <p:cNvPr id="10" name="Rectangle 9"/>
          <p:cNvSpPr/>
          <p:nvPr/>
        </p:nvSpPr>
        <p:spPr>
          <a:xfrm>
            <a:off x="3938554" y="2462184"/>
            <a:ext cx="3816000" cy="1200329"/>
          </a:xfrm>
          <a:prstGeom prst="rect">
            <a:avLst/>
          </a:prstGeom>
        </p:spPr>
        <p:txBody>
          <a:bodyPr wrap="square">
            <a:spAutoFit/>
          </a:bodyPr>
          <a:lstStyle/>
          <a:p>
            <a:r>
              <a:rPr lang="fr-CI" sz="3600" b="1" noProof="0">
                <a:solidFill>
                  <a:schemeClr val="bg1"/>
                </a:solidFill>
                <a:latin typeface="Helvetica" panose="020B0604020202020204" pitchFamily="34" charset="0"/>
                <a:cs typeface="Helvetica" panose="020B0604020202020204" pitchFamily="34" charset="0"/>
              </a:rPr>
              <a:t>Épargne des mutualistes</a:t>
            </a:r>
          </a:p>
        </p:txBody>
      </p:sp>
      <p:pic>
        <p:nvPicPr>
          <p:cNvPr id="9" name="Image 8">
            <a:extLst>
              <a:ext uri="{FF2B5EF4-FFF2-40B4-BE49-F238E27FC236}">
                <a16:creationId xmlns:a16="http://schemas.microsoft.com/office/drawing/2014/main" id="{2C356854-0685-DCEF-E2F6-65D5E9653A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1274" y="-185107"/>
            <a:ext cx="3179518" cy="1268781"/>
          </a:xfrm>
          <a:prstGeom prst="rect">
            <a:avLst/>
          </a:prstGeom>
        </p:spPr>
      </p:pic>
      <p:sp>
        <p:nvSpPr>
          <p:cNvPr id="6" name="Rectangle 5"/>
          <p:cNvSpPr/>
          <p:nvPr/>
        </p:nvSpPr>
        <p:spPr>
          <a:xfrm>
            <a:off x="3938554" y="3337559"/>
            <a:ext cx="3816000" cy="923330"/>
          </a:xfrm>
          <a:prstGeom prst="rect">
            <a:avLst/>
          </a:prstGeom>
        </p:spPr>
        <p:txBody>
          <a:bodyPr wrap="square">
            <a:spAutoFit/>
          </a:bodyPr>
          <a:lstStyle/>
          <a:p>
            <a:br>
              <a:rPr lang="fr-CI" noProof="0">
                <a:solidFill>
                  <a:schemeClr val="bg1"/>
                </a:solidFill>
              </a:rPr>
            </a:br>
            <a:r>
              <a:rPr lang="fr-CI" noProof="0">
                <a:solidFill>
                  <a:srgbClr val="EFAC62"/>
                </a:solidFill>
                <a:latin typeface="Helvetica" panose="020B0604020202020204" pitchFamily="34" charset="0"/>
                <a:ea typeface="Open Sans Light" panose="020B0306030504020204" pitchFamily="34" charset="0"/>
                <a:cs typeface="Helvetica" panose="020B0604020202020204" pitchFamily="34" charset="0"/>
              </a:rPr>
              <a:t>Dette d'épargne, actifs réservés, sensibilité aux retraits</a:t>
            </a:r>
          </a:p>
        </p:txBody>
      </p:sp>
      <p:pic>
        <p:nvPicPr>
          <p:cNvPr id="11" name="Imag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5561" y="2415481"/>
            <a:ext cx="1566911" cy="1600975"/>
          </a:xfrm>
          <a:prstGeom prst="rect">
            <a:avLst/>
          </a:prstGeom>
        </p:spPr>
      </p:pic>
    </p:spTree>
    <p:extLst>
      <p:ext uri="{BB962C8B-B14F-4D97-AF65-F5344CB8AC3E}">
        <p14:creationId xmlns:p14="http://schemas.microsoft.com/office/powerpoint/2010/main" val="526431634"/>
      </p:ext>
    </p:extLst>
  </p:cSld>
  <p:clrMapOvr>
    <a:masterClrMapping/>
  </p:clrMapOvr>
  <p:transition>
    <p:fade/>
  </p:transition>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7" name="Image 36"/>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3" name="Rectangle 22">
            <a:extLst>
              <a:ext uri="{FF2B5EF4-FFF2-40B4-BE49-F238E27FC236}">
                <a16:creationId xmlns:a16="http://schemas.microsoft.com/office/drawing/2014/main" id="{4CD23CFE-3F31-4BA9-B26F-B9B5B351518E}"/>
              </a:ext>
            </a:extLst>
          </p:cNvPr>
          <p:cNvSpPr/>
          <p:nvPr/>
        </p:nvSpPr>
        <p:spPr>
          <a:xfrm>
            <a:off x="2106184" y="1811264"/>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Passif d'épargne</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L'épargne due correspond aux soldes créditeurs des comptes 41195100 (PEP) et 41195200 (EFC). C'est une dette du FPPN envers les mutualistes.</a:t>
            </a:r>
          </a:p>
        </p:txBody>
      </p:sp>
      <p:sp>
        <p:nvSpPr>
          <p:cNvPr id="28" name="Rectangle 27">
            <a:extLst>
              <a:ext uri="{FF2B5EF4-FFF2-40B4-BE49-F238E27FC236}">
                <a16:creationId xmlns:a16="http://schemas.microsoft.com/office/drawing/2014/main" id="{9B9B23AA-050D-4543-80A0-873FE31AFFF7}"/>
              </a:ext>
            </a:extLst>
          </p:cNvPr>
          <p:cNvSpPr/>
          <p:nvPr/>
        </p:nvSpPr>
        <p:spPr>
          <a:xfrm>
            <a:off x="1538714" y="1463475"/>
            <a:ext cx="5748535" cy="166944"/>
          </a:xfrm>
          <a:prstGeom prst="rect">
            <a:avLst/>
          </a:prstGeom>
        </p:spPr>
        <p:txBody>
          <a:bodyPr wrap="square" lIns="0" tIns="0" rIns="0" bIns="0">
            <a:sp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
            </a:r>
          </a:p>
        </p:txBody>
      </p:sp>
      <p:cxnSp>
        <p:nvCxnSpPr>
          <p:cNvPr id="29" name="Straight Connector 28">
            <a:extLst>
              <a:ext uri="{FF2B5EF4-FFF2-40B4-BE49-F238E27FC236}">
                <a16:creationId xmlns:a16="http://schemas.microsoft.com/office/drawing/2014/main" id="{09E553D9-3562-45A7-BE4B-0F12FAA0490F}"/>
              </a:ext>
            </a:extLst>
          </p:cNvPr>
          <p:cNvCxnSpPr>
            <a:cxnSpLocks/>
          </p:cNvCxnSpPr>
          <p:nvPr/>
        </p:nvCxnSpPr>
        <p:spPr>
          <a:xfrm>
            <a:off x="916803" y="1707866"/>
            <a:ext cx="0" cy="3668091"/>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DA735D38-741F-4EFB-826C-6F87FD459AB4}"/>
              </a:ext>
            </a:extLst>
          </p:cNvPr>
          <p:cNvCxnSpPr/>
          <p:nvPr/>
        </p:nvCxnSpPr>
        <p:spPr>
          <a:xfrm>
            <a:off x="916803" y="2291826"/>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EBCFE36B-AE16-49E8-90A6-6621A0EB0473}"/>
              </a:ext>
            </a:extLst>
          </p:cNvPr>
          <p:cNvCxnSpPr/>
          <p:nvPr/>
        </p:nvCxnSpPr>
        <p:spPr>
          <a:xfrm>
            <a:off x="916803" y="3273370"/>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2697F6E2-C26B-4E5F-B7F9-95C6E9325040}"/>
              </a:ext>
            </a:extLst>
          </p:cNvPr>
          <p:cNvCxnSpPr/>
          <p:nvPr/>
        </p:nvCxnSpPr>
        <p:spPr>
          <a:xfrm>
            <a:off x="916803" y="5368324"/>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4CD23CFE-3F31-4BA9-B26F-B9B5B351518E}"/>
              </a:ext>
            </a:extLst>
          </p:cNvPr>
          <p:cNvSpPr/>
          <p:nvPr/>
        </p:nvSpPr>
        <p:spPr>
          <a:xfrm>
            <a:off x="2103510" y="2847523"/>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Actifs réservés</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Adenka retient les comptes bancaires et dépôts à terme dont l'intitulé désigne l'EFC ou le PEP (5211020x, 5221020x, 5211030x, 5221030x, 526120) et le fonds commun de placement (5330).</a:t>
            </a:r>
          </a:p>
        </p:txBody>
      </p:sp>
      <p:sp>
        <p:nvSpPr>
          <p:cNvPr id="33" name="Rectangle 32">
            <a:extLst>
              <a:ext uri="{FF2B5EF4-FFF2-40B4-BE49-F238E27FC236}">
                <a16:creationId xmlns:a16="http://schemas.microsoft.com/office/drawing/2014/main" id="{4CD23CFE-3F31-4BA9-B26F-B9B5B351518E}"/>
              </a:ext>
            </a:extLst>
          </p:cNvPr>
          <p:cNvSpPr/>
          <p:nvPr/>
        </p:nvSpPr>
        <p:spPr>
          <a:xfrm>
            <a:off x="2125344" y="3881185"/>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Couverture</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La couverture rapporte les actifs réservés à l'épargne due, à chaque clôture de 2020 au 31/08/2026.</a:t>
            </a:r>
          </a:p>
        </p:txBody>
      </p:sp>
      <p:sp>
        <p:nvSpPr>
          <p:cNvPr id="34" name="Rectangle 33">
            <a:extLst>
              <a:ext uri="{FF2B5EF4-FFF2-40B4-BE49-F238E27FC236}">
                <a16:creationId xmlns:a16="http://schemas.microsoft.com/office/drawing/2014/main" id="{4CD23CFE-3F31-4BA9-B26F-B9B5B351518E}"/>
              </a:ext>
            </a:extLst>
          </p:cNvPr>
          <p:cNvSpPr/>
          <p:nvPr/>
        </p:nvSpPr>
        <p:spPr>
          <a:xfrm>
            <a:off x="2122670" y="4917444"/>
            <a:ext cx="9685766" cy="901761"/>
          </a:xfrm>
          <a:prstGeom prst="rect">
            <a:avLst/>
          </a:prstGeom>
          <a:ln w="12700">
            <a:solidFill>
              <a:srgbClr val="112A40"/>
            </a:solidFill>
          </a:ln>
        </p:spPr>
        <p:txBody>
          <a:bodyPr wrap="square" lIns="162000" tIns="54000" rIns="72000" bIns="54000" anchor="ctr">
            <a:noAutofit/>
          </a:bodyPr>
          <a:lstStyle/>
          <a:p>
            <a:pPr lvl="1">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Limite</a:t>
            </a:r>
          </a:p>
          <a:p>
            <a:pPr lvl="1">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Le manuel des produits d'épargne ne fixe pas d'échéancier individuel. Le FCP est compté comme actif réservé, aucun document ne l'affectant à un autre emploi.</a:t>
            </a:r>
            <a:endParaRPr lang="fr-CI" sz="1200">
              <a:latin typeface="Helvetica" panose="020B0604020202020204" pitchFamily="34" charset="0"/>
              <a:ea typeface="Open Sans Light" panose="020B0306030504020204" pitchFamily="34" charset="0"/>
              <a:cs typeface="Helvetica" panose="020B0604020202020204" pitchFamily="34" charset="0"/>
            </a:endParaRPr>
          </a:p>
        </p:txBody>
      </p:sp>
      <p:cxnSp>
        <p:nvCxnSpPr>
          <p:cNvPr id="39" name="Straight Connector 30">
            <a:extLst>
              <a:ext uri="{FF2B5EF4-FFF2-40B4-BE49-F238E27FC236}">
                <a16:creationId xmlns:a16="http://schemas.microsoft.com/office/drawing/2014/main" id="{EBCFE36B-AE16-49E8-90A6-6621A0EB0473}"/>
              </a:ext>
            </a:extLst>
          </p:cNvPr>
          <p:cNvCxnSpPr/>
          <p:nvPr/>
        </p:nvCxnSpPr>
        <p:spPr>
          <a:xfrm>
            <a:off x="919504" y="4326976"/>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grpSp>
        <p:nvGrpSpPr>
          <p:cNvPr id="11" name="Groupe 10"/>
          <p:cNvGrpSpPr/>
          <p:nvPr/>
        </p:nvGrpSpPr>
        <p:grpSpPr>
          <a:xfrm>
            <a:off x="1554870" y="2047565"/>
            <a:ext cx="548640" cy="548640"/>
            <a:chOff x="-1153645" y="1535690"/>
            <a:chExt cx="548640" cy="548640"/>
          </a:xfrm>
        </p:grpSpPr>
        <p:sp>
          <p:nvSpPr>
            <p:cNvPr id="36" name="Oval 21">
              <a:extLst>
                <a:ext uri="{FF2B5EF4-FFF2-40B4-BE49-F238E27FC236}">
                  <a16:creationId xmlns:a16="http://schemas.microsoft.com/office/drawing/2014/main" id="{7BB796F0-2DE6-45B1-851B-D8991F423CF4}"/>
                </a:ext>
              </a:extLst>
            </p:cNvPr>
            <p:cNvSpPr/>
            <p:nvPr/>
          </p:nvSpPr>
          <p:spPr bwMode="gray">
            <a:xfrm>
              <a:off x="-1153645" y="1535690"/>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40" name="Image 3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3163" y="1564148"/>
              <a:ext cx="486259" cy="491723"/>
            </a:xfrm>
            <a:prstGeom prst="rect">
              <a:avLst/>
            </a:prstGeom>
          </p:spPr>
        </p:pic>
      </p:grpSp>
      <p:grpSp>
        <p:nvGrpSpPr>
          <p:cNvPr id="12" name="Groupe 11"/>
          <p:cNvGrpSpPr/>
          <p:nvPr/>
        </p:nvGrpSpPr>
        <p:grpSpPr>
          <a:xfrm>
            <a:off x="1557425" y="3008849"/>
            <a:ext cx="548640" cy="548640"/>
            <a:chOff x="-1154302" y="2719457"/>
            <a:chExt cx="548640" cy="548640"/>
          </a:xfrm>
        </p:grpSpPr>
        <p:sp>
          <p:nvSpPr>
            <p:cNvPr id="42" name="Oval 21">
              <a:extLst>
                <a:ext uri="{FF2B5EF4-FFF2-40B4-BE49-F238E27FC236}">
                  <a16:creationId xmlns:a16="http://schemas.microsoft.com/office/drawing/2014/main" id="{7BB796F0-2DE6-45B1-851B-D8991F423CF4}"/>
                </a:ext>
              </a:extLst>
            </p:cNvPr>
            <p:cNvSpPr/>
            <p:nvPr/>
          </p:nvSpPr>
          <p:spPr bwMode="gray">
            <a:xfrm>
              <a:off x="-1154302" y="2719457"/>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7" name="Imag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4901" y="2781886"/>
              <a:ext cx="396274" cy="396274"/>
            </a:xfrm>
            <a:prstGeom prst="rect">
              <a:avLst/>
            </a:prstGeom>
          </p:spPr>
        </p:pic>
      </p:grpSp>
      <p:grpSp>
        <p:nvGrpSpPr>
          <p:cNvPr id="13" name="Groupe 12"/>
          <p:cNvGrpSpPr/>
          <p:nvPr/>
        </p:nvGrpSpPr>
        <p:grpSpPr>
          <a:xfrm>
            <a:off x="1567381" y="4044725"/>
            <a:ext cx="548640" cy="552951"/>
            <a:chOff x="-1185544" y="4122202"/>
            <a:chExt cx="548640" cy="552951"/>
          </a:xfrm>
        </p:grpSpPr>
        <p:sp>
          <p:nvSpPr>
            <p:cNvPr id="44" name="Oval 21">
              <a:extLst>
                <a:ext uri="{FF2B5EF4-FFF2-40B4-BE49-F238E27FC236}">
                  <a16:creationId xmlns:a16="http://schemas.microsoft.com/office/drawing/2014/main" id="{7BB796F0-2DE6-45B1-851B-D8991F423CF4}"/>
                </a:ext>
              </a:extLst>
            </p:cNvPr>
            <p:cNvSpPr/>
            <p:nvPr/>
          </p:nvSpPr>
          <p:spPr bwMode="gray">
            <a:xfrm>
              <a:off x="-1185544" y="4122202"/>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8" name="Image 7"/>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71838" y="4144755"/>
              <a:ext cx="524301" cy="530398"/>
            </a:xfrm>
            <a:prstGeom prst="rect">
              <a:avLst/>
            </a:prstGeom>
          </p:spPr>
        </p:pic>
      </p:grpSp>
      <p:grpSp>
        <p:nvGrpSpPr>
          <p:cNvPr id="14" name="Groupe 13"/>
          <p:cNvGrpSpPr/>
          <p:nvPr/>
        </p:nvGrpSpPr>
        <p:grpSpPr>
          <a:xfrm>
            <a:off x="1567381" y="5111071"/>
            <a:ext cx="548640" cy="548640"/>
            <a:chOff x="-1227267" y="5286500"/>
            <a:chExt cx="548640" cy="548640"/>
          </a:xfrm>
        </p:grpSpPr>
        <p:sp>
          <p:nvSpPr>
            <p:cNvPr id="45" name="Oval 21">
              <a:extLst>
                <a:ext uri="{FF2B5EF4-FFF2-40B4-BE49-F238E27FC236}">
                  <a16:creationId xmlns:a16="http://schemas.microsoft.com/office/drawing/2014/main" id="{7BB796F0-2DE6-45B1-851B-D8991F423CF4}"/>
                </a:ext>
              </a:extLst>
            </p:cNvPr>
            <p:cNvSpPr/>
            <p:nvPr/>
          </p:nvSpPr>
          <p:spPr bwMode="gray">
            <a:xfrm>
              <a:off x="-1227267" y="5286500"/>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9" name="Image 8"/>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71838" y="5346402"/>
              <a:ext cx="422834" cy="432026"/>
            </a:xfrm>
            <a:prstGeom prst="rect">
              <a:avLst/>
            </a:prstGeom>
          </p:spPr>
        </p:pic>
      </p:grpSp>
      <p:sp>
        <p:nvSpPr>
          <p:cNvPr id="50" name="ZoneTexte 49">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pic>
        <p:nvPicPr>
          <p:cNvPr id="51" name="Image 50"/>
          <p:cNvPicPr>
            <a:picLocks noChangeAspect="1"/>
          </p:cNvPicPr>
          <p:nvPr/>
        </p:nvPicPr>
        <p:blipFill rotWithShape="1">
          <a:blip r:embed="rId7" cstate="print">
            <a:extLst>
              <a:ext uri="{28A0092B-C50C-407E-A947-70E740481C1C}">
                <a14:useLocalDpi xmlns:a14="http://schemas.microsoft.com/office/drawing/2010/main" val="0"/>
              </a:ext>
            </a:extLst>
          </a:blip>
          <a:srcRect l="4260" t="13024" r="74155" b="14121"/>
          <a:stretch/>
        </p:blipFill>
        <p:spPr>
          <a:xfrm>
            <a:off x="702475" y="1350400"/>
            <a:ext cx="392679" cy="406703"/>
          </a:xfrm>
          <a:prstGeom prst="rect">
            <a:avLst/>
          </a:prstGeom>
        </p:spPr>
      </p:pic>
      <p:sp>
        <p:nvSpPr>
          <p:cNvPr id="52"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Méthode : adossement de l'épargne</a:t>
            </a:r>
          </a:p>
        </p:txBody>
      </p:sp>
      <p:sp>
        <p:nvSpPr>
          <p:cNvPr id="53"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couverture compare l'épargne due aux actifs qui lui sont réservés</a:t>
            </a:r>
          </a:p>
        </p:txBody>
      </p:sp>
      <p:sp>
        <p:nvSpPr>
          <p:cNvPr id="54"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Couverture = (banques, dépôts à terme et fonds réservés) / (comptes PEP et EFC)</a:t>
            </a:r>
          </a:p>
        </p:txBody>
      </p:sp>
      <p:sp>
        <p:nvSpPr>
          <p:cNvPr id="55"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Adenka</a:t>
            </a:r>
          </a:p>
        </p:txBody>
      </p:sp>
      <p:sp>
        <p:nvSpPr>
          <p:cNvPr id="56" name="TextBox 5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PEP : Plan Épargne Plus | EFC : entraide fin de carrière | FCP : fonds commun de placement</a:t>
            </a:r>
          </a:p>
        </p:txBody>
      </p:sp>
    </p:spTree>
    <p:extLst>
      <p:ext uri="{BB962C8B-B14F-4D97-AF65-F5344CB8AC3E}">
        <p14:creationId xmlns:p14="http://schemas.microsoft.com/office/powerpoint/2010/main" val="543476621"/>
      </p:ext>
    </p:extLst>
  </p:cSld>
  <p:clrMapOvr>
    <a:masterClrMapping/>
  </p:clrMapOvr>
  <p:transition>
    <p:fade/>
  </p:transition>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Calcul pas à pas : couverture de l'épargne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Deux comptes de dette face à quatre comptes d'actifs réservés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2 562 885 661 FCFA / 15 743 516 391 FCFA = 16,28 % au 31/08/2026</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 au 31/08/2026 (impression provisoire)</a:t>
            </a:r>
          </a:p>
        </p:txBody>
      </p:sp>
      <p:sp>
        <p:nvSpPr>
          <p:cNvPr id="31" name="TextBox 30"/>
          <p:cNvSpPr txBox="1"/>
          <p:nvPr/>
        </p:nvSpPr>
        <p:spPr>
          <a:xfrm>
            <a:off x="503999" y="1350000"/>
            <a:ext cx="7703999" cy="180000"/>
          </a:xfrm>
          <a:prstGeom prst="rect">
            <a:avLst/>
          </a:prstGeom>
          <a:noFill/>
        </p:spPr>
        <p:txBody>
          <a:bodyPr wrap="square" anchor="t" lIns="54000" rIns="54000"/>
          <a:lstStyle/>
          <a:p>
            <a:pPr algn="l"/>
            <a:r>
              <a:rPr sz="900" b="0">
                <a:solidFill>
                  <a:srgbClr val="53565A"/>
                </a:solidFill>
                <a:latin typeface="Helvetica"/>
              </a:rPr>
              <a:t>Extrait : AUDIT ADENKA\DAFC\2026\BALANCE FPPN DU 01-01-2026 AU 31-08-2026.xlsx</a:t>
            </a:r>
          </a:p>
        </p:txBody>
      </p:sp>
      <p:graphicFrame>
        <p:nvGraphicFramePr>
          <p:cNvPr id="32" name="Table 31"/>
          <p:cNvGraphicFramePr>
            <a:graphicFrameLocks noGrp="1"/>
          </p:cNvGraphicFramePr>
          <p:nvPr/>
        </p:nvGraphicFramePr>
        <p:xfrm>
          <a:off x="503999" y="1548000"/>
          <a:ext cx="7704000" cy="1890081"/>
        </p:xfrm>
        <a:graphic>
          <a:graphicData uri="http://schemas.openxmlformats.org/drawingml/2006/table">
            <a:tbl>
              <a:tblPr firstRow="0" bandRow="0">
                <a:tableStyleId>{5940675A-B579-460E-94D1-54222C63F5DA}</a:tableStyleId>
              </a:tblPr>
              <a:tblGrid>
                <a:gridCol w="1224000"/>
                <a:gridCol w="4104000"/>
                <a:gridCol w="2376000"/>
              </a:tblGrid>
              <a:tr h="210009">
                <a:tc>
                  <a:txBody>
                    <a:bodyPr/>
                    <a:lstStyle/>
                    <a:p>
                      <a:pPr marL="0" indent="0" lvl="0">
                        <a:buNone/>
                      </a:pPr>
                      <a:r>
                        <a:rPr sz="1000" b="1">
                          <a:solidFill>
                            <a:srgbClr val="FFFFFF"/>
                          </a:solidFill>
                          <a:latin typeface="Helvetica"/>
                        </a:rPr>
                        <a:t>Compte</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Intitulé</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Solde au 31/08/2026</a:t>
                      </a:r>
                    </a:p>
                  </a:txBody>
                  <a:tcPr marL="43200" marR="43200" marT="14400" marB="14400" anchor="ctr">
                    <a:solidFill>
                      <a:srgbClr val="060606"/>
                    </a:solidFill>
                  </a:tcPr>
                </a:tc>
              </a:tr>
              <a:tr h="210009">
                <a:tc>
                  <a:txBody>
                    <a:bodyPr/>
                    <a:lstStyle/>
                    <a:p>
                      <a:pPr marL="0" indent="0" lvl="0">
                        <a:buNone/>
                      </a:pPr>
                      <a:r>
                        <a:rPr sz="1000" b="1">
                          <a:solidFill>
                            <a:srgbClr val="060606"/>
                          </a:solidFill>
                          <a:latin typeface="Helvetica"/>
                        </a:rPr>
                        <a:t>41195100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COTISATION PEP</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5 229 245 425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41195200</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COTISATION EFC</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10 514 270 966 FCFA</a:t>
                      </a:r>
                    </a:p>
                  </a:txBody>
                  <a:tcPr marL="43200" marR="43200" marT="14400" marB="14400" anchor="ctr">
                    <a:solidFill>
                      <a:srgbClr val="F2F2F2"/>
                    </a:solidFill>
                  </a:tcPr>
                </a:tc>
              </a:tr>
              <a:tr h="210009">
                <a:tc>
                  <a:txBody>
                    <a:bodyPr/>
                    <a:lstStyle/>
                    <a:p>
                      <a:pPr marL="0" indent="0" lvl="0">
                        <a:buNone/>
                      </a:pP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Total épargne due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15 743 516 391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52110200</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Banque BOA-Entraide fin de carrière</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1 540 006 941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52110300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Banque BOA PEP</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37 336 916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52210200</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DAT BOA ENTRAIDE  FIN DE CARRIERE</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485 541 804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53300001</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FONDS COMMUN DE PLACEMENT</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500 000 000 FCFA</a:t>
                      </a:r>
                    </a:p>
                  </a:txBody>
                  <a:tcPr marL="43200" marR="43200" marT="14400" marB="14400" anchor="ctr">
                    <a:solidFill>
                      <a:srgbClr val="FFFFFF"/>
                    </a:solidFill>
                  </a:tcPr>
                </a:tc>
              </a:tr>
              <a:tr h="210009">
                <a:tc>
                  <a:txBody>
                    <a:bodyPr/>
                    <a:lstStyle/>
                    <a:p>
                      <a:pPr marL="0" indent="0" lvl="0">
                        <a:buNone/>
                      </a:pP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Total actifs réservés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2 562 885 661 FCFA</a:t>
                      </a:r>
                    </a:p>
                  </a:txBody>
                  <a:tcPr marL="43200" marR="43200" marT="14400" marB="14400" anchor="ctr">
                    <a:solidFill>
                      <a:srgbClr val="F2F2F2"/>
                    </a:solidFill>
                  </a:tcPr>
                </a:tc>
              </a:tr>
            </a:tbl>
          </a:graphicData>
        </a:graphic>
      </p:graphicFrame>
      <p:sp>
        <p:nvSpPr>
          <p:cNvPr id="33" name="Rounded Rectangle 32"/>
          <p:cNvSpPr/>
          <p:nvPr/>
        </p:nvSpPr>
        <p:spPr>
          <a:xfrm>
            <a:off x="5813999" y="2167228"/>
            <a:ext cx="2411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8027999" y="201602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5" name="Rounded Rectangle 34"/>
          <p:cNvSpPr/>
          <p:nvPr/>
        </p:nvSpPr>
        <p:spPr>
          <a:xfrm>
            <a:off x="5813999" y="3217276"/>
            <a:ext cx="2411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027999" y="3066076"/>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37" name="Oval 36"/>
          <p:cNvSpPr/>
          <p:nvPr/>
        </p:nvSpPr>
        <p:spPr>
          <a:xfrm>
            <a:off x="8424000" y="1548000"/>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8" name="TextBox 37"/>
          <p:cNvSpPr txBox="1"/>
          <p:nvPr/>
        </p:nvSpPr>
        <p:spPr>
          <a:xfrm>
            <a:off x="8784000" y="1530000"/>
            <a:ext cx="2952000" cy="670023"/>
          </a:xfrm>
          <a:prstGeom prst="rect">
            <a:avLst/>
          </a:prstGeom>
          <a:noFill/>
        </p:spPr>
        <p:txBody>
          <a:bodyPr wrap="square" anchor="t" lIns="54000" rIns="54000"/>
          <a:lstStyle/>
          <a:p>
            <a:pPr algn="l"/>
            <a:r>
              <a:rPr sz="1200" b="0">
                <a:solidFill>
                  <a:srgbClr val="060606"/>
                </a:solidFill>
                <a:latin typeface="Helvetica"/>
              </a:rPr>
              <a:t>Les deux comptes 41195 enregistrent la dette envers les épargnants PEP et EFC.</a:t>
            </a:r>
          </a:p>
        </p:txBody>
      </p:sp>
      <p:sp>
        <p:nvSpPr>
          <p:cNvPr id="39" name="Oval 38"/>
          <p:cNvSpPr/>
          <p:nvPr/>
        </p:nvSpPr>
        <p:spPr>
          <a:xfrm>
            <a:off x="8424000" y="2308023"/>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40" name="TextBox 39"/>
          <p:cNvSpPr txBox="1"/>
          <p:nvPr/>
        </p:nvSpPr>
        <p:spPr>
          <a:xfrm>
            <a:off x="8784000" y="2290023"/>
            <a:ext cx="2952000" cy="670023"/>
          </a:xfrm>
          <a:prstGeom prst="rect">
            <a:avLst/>
          </a:prstGeom>
          <a:noFill/>
        </p:spPr>
        <p:txBody>
          <a:bodyPr wrap="square" anchor="t" lIns="54000" rIns="54000"/>
          <a:lstStyle/>
          <a:p>
            <a:pPr algn="l"/>
            <a:r>
              <a:rPr sz="1200" b="0">
                <a:solidFill>
                  <a:srgbClr val="060606"/>
                </a:solidFill>
                <a:latin typeface="Helvetica"/>
              </a:rPr>
              <a:t>Les banques, le dépôt à terme et le fonds commun de placement forment les actifs réservés.</a:t>
            </a:r>
          </a:p>
        </p:txBody>
      </p:sp>
      <p:sp>
        <p:nvSpPr>
          <p:cNvPr id="41" name="Oval 40"/>
          <p:cNvSpPr/>
          <p:nvPr/>
        </p:nvSpPr>
        <p:spPr>
          <a:xfrm>
            <a:off x="8424000" y="3068047"/>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42" name="TextBox 41"/>
          <p:cNvSpPr txBox="1"/>
          <p:nvPr/>
        </p:nvSpPr>
        <p:spPr>
          <a:xfrm>
            <a:off x="8784000" y="3050047"/>
            <a:ext cx="2952000" cy="484084"/>
          </a:xfrm>
          <a:prstGeom prst="rect">
            <a:avLst/>
          </a:prstGeom>
          <a:noFill/>
        </p:spPr>
        <p:txBody>
          <a:bodyPr wrap="square" anchor="t" lIns="54000" rIns="54000"/>
          <a:lstStyle/>
          <a:p>
            <a:pPr algn="l"/>
            <a:r>
              <a:rPr sz="1200" b="0">
                <a:solidFill>
                  <a:srgbClr val="060606"/>
                </a:solidFill>
                <a:latin typeface="Helvetica"/>
              </a:rPr>
              <a:t>La couverture vaut donc 16,28 % au 31/08/2026.</a:t>
            </a:r>
          </a:p>
        </p:txBody>
      </p:sp>
      <p:sp>
        <p:nvSpPr>
          <p:cNvPr id="43" name="TextBox 42"/>
          <p:cNvSpPr txBox="1"/>
          <p:nvPr/>
        </p:nvSpPr>
        <p:spPr>
          <a:xfrm>
            <a:off x="8424000" y="3714132"/>
            <a:ext cx="3312000" cy="2153867"/>
          </a:xfrm>
          <a:prstGeom prst="rect">
            <a:avLst/>
          </a:prstGeom>
          <a:noFill/>
        </p:spPr>
        <p:txBody>
          <a:bodyPr wrap="square" lIns="54000" rIns="54000"/>
          <a:lstStyle/>
          <a:p>
            <a:pPr algn="just">
              <a:spcAft>
                <a:spcPts val="600"/>
              </a:spcAft>
            </a:pPr>
            <a:r>
              <a:rPr sz="1200" b="1">
                <a:solidFill>
                  <a:srgbClr val="060606"/>
                </a:solidFill>
                <a:latin typeface="Helvetica"/>
              </a:rPr>
              <a:t>Ce ratio est aussi le ratio de solvabilité des risques longs de la Décision n° 05/2022</a:t>
            </a:r>
            <a:r>
              <a:rPr sz="1200" b="0">
                <a:solidFill>
                  <a:srgbClr val="060606"/>
                </a:solidFill>
                <a:latin typeface="Helvetica"/>
              </a:rPr>
              <a:t> (actifs admis / engagements réglementés), dont la norme est d'au moins 1.</a:t>
            </a:r>
          </a:p>
          <a:p>
            <a:pPr algn="just">
              <a:spcAft>
                <a:spcPts val="600"/>
              </a:spcAft>
            </a:pPr>
            <a:r>
              <a:rPr sz="1200" b="0">
                <a:solidFill>
                  <a:srgbClr val="060606"/>
                </a:solidFill>
                <a:latin typeface="Helvetica"/>
              </a:rPr>
              <a:t>Avec une couverture inférieure à un cinquième, le FPPN ne respecte pas cette norme : la partie 10 la reprend dans le tableau de bord sans refaire le calcul.</a:t>
            </a:r>
          </a:p>
        </p:txBody>
      </p:sp>
      <p:sp>
        <p:nvSpPr>
          <p:cNvPr id="44" name="TextBox 4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PEP : Plan Épargne Plus | EFC : entraide fin de carrière | DAT : dépôt à terme</a:t>
            </a:r>
          </a:p>
        </p:txBody>
      </p:sp>
    </p:spTree>
    <p:extLst>
      <p:ext uri="{BB962C8B-B14F-4D97-AF65-F5344CB8AC3E}">
        <p14:creationId xmlns:p14="http://schemas.microsoft.com/office/powerpoint/2010/main" val="3480146477"/>
      </p:ext>
    </p:extLst>
  </p:cSld>
  <p:clrMapOvr>
    <a:masterClrMapping/>
  </p:clrMapOvr>
  <p:transition>
    <p:fade/>
  </p:transition>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Adossement de l'épargne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L'épargne des mutualistes n'est couverte qu'à 16,28 % par des actifs réservés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Couverture : entre 6,49 % et 19,29 % selon les années</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20 : Épargne au passif et actifs réservés</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millions de FCFA</a:t>
            </a:r>
          </a:p>
        </p:txBody>
      </p:sp>
      <p:graphicFrame>
        <p:nvGraphicFramePr>
          <p:cNvPr id="32" name="Chart 31"/>
          <p:cNvGraphicFramePr>
            <a:graphicFrameLocks noGrp="1"/>
          </p:cNvGraphicFramePr>
          <p:nvPr/>
        </p:nvGraphicFramePr>
        <p:xfrm>
          <a:off x="503999" y="1782000"/>
          <a:ext cx="6552000" cy="3600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La dette d'épargne augmente de 45,39 % depuis 2020.</a:t>
            </a:r>
            <a:r>
              <a:rPr sz="1400" b="0">
                <a:solidFill>
                  <a:srgbClr val="060606"/>
                </a:solidFill>
                <a:latin typeface="Helvetica"/>
              </a:rPr>
              <a:t> Les actifs réservés ne suivent pas cette hausse.</a:t>
            </a:r>
          </a:p>
          <a:p>
            <a:pPr algn="just">
              <a:spcAft>
                <a:spcPts val="600"/>
              </a:spcAft>
            </a:pPr>
            <a:r>
              <a:rPr sz="1400" b="1">
                <a:solidFill>
                  <a:srgbClr val="060606"/>
                </a:solidFill>
                <a:latin typeface="Helvetica"/>
              </a:rPr>
              <a:t>L'épargne EFC triple.</a:t>
            </a:r>
            <a:r>
              <a:rPr sz="1400" b="0">
                <a:solidFill>
                  <a:srgbClr val="060606"/>
                </a:solidFill>
                <a:latin typeface="Helvetica"/>
              </a:rPr>
              <a:t> Elle passe de 3 461 975 893 FCFA en 2020 à 10 514 270 966 FCFA au 31/08/2026.</a:t>
            </a:r>
          </a:p>
          <a:p>
            <a:pPr algn="just">
              <a:spcAft>
                <a:spcPts val="600"/>
              </a:spcAft>
            </a:pPr>
            <a:r>
              <a:rPr sz="1400" b="1">
                <a:solidFill>
                  <a:srgbClr val="060606"/>
                </a:solidFill>
                <a:latin typeface="Helvetica"/>
              </a:rPr>
              <a:t>L'épargne non couverte finance des emplois peu liquides</a:t>
            </a:r>
            <a:r>
              <a:rPr sz="1400" b="0">
                <a:solidFill>
                  <a:srgbClr val="060606"/>
                </a:solidFill>
                <a:latin typeface="Helvetica"/>
              </a:rPr>
              <a:t> : investissements au CMP, terrains, créance sur l'Hôpital de la Police et prêts du Grenier.</a:t>
            </a:r>
          </a:p>
          <a:p>
            <a:pPr algn="just">
              <a:spcAft>
                <a:spcPts val="600"/>
              </a:spcAft>
            </a:pPr>
            <a:r>
              <a:rPr sz="1400" b="0">
                <a:solidFill>
                  <a:srgbClr val="060606"/>
                </a:solidFill>
                <a:latin typeface="Helvetica"/>
              </a:rPr>
              <a:t>Le règlement d'exécution n° 004/2022 impose le cantonnement des patrimoines quand une mutuelle couvre à la fois des risques courts et longs (art. 15). L'épargne n'est séparée qu'en partie des autres ressources du FPPN.</a:t>
            </a:r>
          </a:p>
        </p:txBody>
      </p:sp>
      <p:sp>
        <p:nvSpPr>
          <p:cNvPr id="35" name="TextBox 34"/>
          <p:cNvSpPr txBox="1"/>
          <p:nvPr/>
        </p:nvSpPr>
        <p:spPr>
          <a:xfrm>
            <a:off x="503999" y="5382000"/>
            <a:ext cx="6552000" cy="450000"/>
          </a:xfrm>
          <a:prstGeom prst="rect">
            <a:avLst/>
          </a:prstGeom>
          <a:noFill/>
        </p:spPr>
        <p:txBody>
          <a:bodyPr wrap="square" anchor="t" lIns="54000" rIns="54000"/>
          <a:lstStyle/>
          <a:p>
            <a:pPr algn="l"/>
            <a:r>
              <a:rPr sz="850" b="0">
                <a:solidFill>
                  <a:srgbClr val="53565A"/>
                </a:solidFill>
                <a:latin typeface="Helvetica"/>
              </a:rPr>
              <a:t>Valable pour : comptes 41195100 et 41195200 (épargne) et comptes bancaires, DAT et FCP réservés à l'épargne des balances « BALANCE FORMAT EXCEL DE 09-2020 AU 31-12-2020.xlsx » à « BALANCE FPPN DU 01-01-2026 AU 31-08-2026.xlsx », au 31/12 de 2020 à 2025 et au 31/08/2026.</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PEP : Plan Épargne Plus | EFC : entraide fin de carrière | CMP : Clinique médicale du policier | FCP : fonds commun de placement | DAT : dépôt à terme</a:t>
            </a:r>
          </a:p>
        </p:txBody>
      </p:sp>
    </p:spTree>
    <p:extLst>
      <p:ext uri="{BB962C8B-B14F-4D97-AF65-F5344CB8AC3E}">
        <p14:creationId xmlns:p14="http://schemas.microsoft.com/office/powerpoint/2010/main" val="2744970365"/>
      </p:ext>
    </p:extLst>
  </p:cSld>
  <p:clrMapOvr>
    <a:masterClrMapping/>
  </p:clrMapOvr>
  <p:transition>
    <p:fade/>
  </p:transition>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Versements d'épargne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versements au PEP ont été multipliés par quatre depuis 2022</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PEP 2025 : 2 029 929 725 FCFA versés par 16 932 épargnants</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21 : Versements précomptés par produit d'épargne</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millions de FCFA (EFC à partir de 2023)</a:t>
            </a:r>
          </a:p>
        </p:txBody>
      </p:sp>
      <p:graphicFrame>
        <p:nvGraphicFramePr>
          <p:cNvPr id="32" name="Chart 31"/>
          <p:cNvGraphicFramePr>
            <a:graphicFrameLocks noGrp="1"/>
          </p:cNvGraphicFramePr>
          <p:nvPr/>
        </p:nvGraphicFramePr>
        <p:xfrm>
          <a:off x="503999" y="1782000"/>
          <a:ext cx="6552000" cy="3744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fichiers de précomptes de la Solde, de la CGRAE et du FPPN reçus le 15/10/2026 (dossiers « FPPN-SOLDE », « FPPN-CGRAE », « FPPN-GNA », noms exacts en annexe « Fichiers sources »). Traitements Adenka. Balances des comptes du FPPN de 2020 au 31/08/2026 (provisoire), fichiers « BALANCE … » listés en annexe « Fichiers sources ». Traitements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Les épargnants PEP passent de 1 327 en 2020 à 17 199 en 2026.</a:t>
            </a:r>
            <a:r>
              <a:rPr sz="1400" b="0">
                <a:solidFill>
                  <a:srgbClr val="060606"/>
                </a:solidFill>
                <a:latin typeface="Helvetica"/>
              </a:rPr>
              <a:t> Le produit attire un nombre croissant de policiers.</a:t>
            </a:r>
          </a:p>
          <a:p>
            <a:pPr algn="just">
              <a:spcAft>
                <a:spcPts val="600"/>
              </a:spcAft>
            </a:pPr>
            <a:r>
              <a:rPr sz="1400" b="1">
                <a:solidFill>
                  <a:srgbClr val="060606"/>
                </a:solidFill>
                <a:latin typeface="Helvetica"/>
              </a:rPr>
              <a:t>En 2025, le PEP reçoit 2 029 929 725 FCFA mais le compte n'augmente que de 1 134 898 141 FCFA.</a:t>
            </a:r>
            <a:r>
              <a:rPr sz="1400" b="0">
                <a:solidFill>
                  <a:srgbClr val="060606"/>
                </a:solidFill>
                <a:latin typeface="Helvetica"/>
              </a:rPr>
              <a:t> La différence correspond à des sorties d'épargne.</a:t>
            </a:r>
          </a:p>
          <a:p>
            <a:pPr algn="just">
              <a:spcAft>
                <a:spcPts val="600"/>
              </a:spcAft>
            </a:pPr>
            <a:r>
              <a:rPr sz="1400" b="1">
                <a:solidFill>
                  <a:srgbClr val="060606"/>
                </a:solidFill>
                <a:latin typeface="Helvetica"/>
              </a:rPr>
              <a:t>Les sorties d'épargne atteignent 1 358 821 103 FCFA en 2025</a:t>
            </a:r>
            <a:r>
              <a:rPr sz="1400" b="0">
                <a:solidFill>
                  <a:srgbClr val="060606"/>
                </a:solidFill>
                <a:latin typeface="Helvetica"/>
              </a:rPr>
              <a:t> (débits des comptes 41195100 et 41195200).</a:t>
            </a:r>
          </a:p>
          <a:p>
            <a:pPr algn="just">
              <a:spcAft>
                <a:spcPts val="600"/>
              </a:spcAft>
            </a:pPr>
            <a:r>
              <a:rPr sz="1400" b="0">
                <a:solidFill>
                  <a:srgbClr val="060606"/>
                </a:solidFill>
                <a:latin typeface="Helvetica"/>
              </a:rPr>
              <a:t>Ces sorties sont les « engagements » d'un trimestre que la réserve de trésorerie des risques longs doit couvrir (art. 19 du règlement d'exécution) : leur suivi mensuel est nécessaire pour fixer le niveau de cette réserve.</a:t>
            </a:r>
          </a:p>
        </p:txBody>
      </p:sp>
      <p:sp>
        <p:nvSpPr>
          <p:cNvPr id="35" name="TextBox 34"/>
          <p:cNvSpPr txBox="1"/>
          <p:nvPr/>
        </p:nvSpPr>
        <p:spPr>
          <a:xfrm>
            <a:off x="503999" y="5526000"/>
            <a:ext cx="6552000" cy="306000"/>
          </a:xfrm>
          <a:prstGeom prst="rect">
            <a:avLst/>
          </a:prstGeom>
          <a:noFill/>
        </p:spPr>
        <p:txBody>
          <a:bodyPr wrap="square" anchor="t" lIns="54000" rIns="54000"/>
          <a:lstStyle/>
          <a:p>
            <a:pPr algn="l"/>
            <a:r>
              <a:rPr sz="850" b="0">
                <a:solidFill>
                  <a:srgbClr val="53565A"/>
                </a:solidFill>
                <a:latin typeface="Helvetica"/>
              </a:rPr>
              <a:t>Valable pour : versements des postes 998 (PEP) et 870 (EFC) dans les fichiers retour de la Solde, mois reçus de 2023 à 2026, comparés aux crédits des comptes 41195100 et 41195200.</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CGRAE : Caisse générale de retraite des agents de l'État | PEP : Plan Épargne Plus | EFC : entraide fin de carrière | GNA : assureur de la flotte automobile (compte 47111106) | 870 : poste EFC | 998 : poste PEP</a:t>
            </a:r>
          </a:p>
        </p:txBody>
      </p:sp>
    </p:spTree>
    <p:extLst>
      <p:ext uri="{BB962C8B-B14F-4D97-AF65-F5344CB8AC3E}">
        <p14:creationId xmlns:p14="http://schemas.microsoft.com/office/powerpoint/2010/main" val="2957353985"/>
      </p:ext>
    </p:extLst>
  </p:cSld>
  <p:clrMapOvr>
    <a:masterClrMapping/>
  </p:clrMapOvr>
  <p:transition>
    <p:fade/>
  </p:transition>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Sensibilité : retraits d'épargne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Un retrait de plus d'un cinquième de l'épargne épuiserait toute la trésorerie du FPPN</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Les actifs réservés couvrent un retrait de 16,28 % de l'épargne. La trésorerie totale, 21,34 %</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22 : Besoin de liquidités selon le taux de retrait</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millions de FCFA, au 31/08/2026</a:t>
            </a:r>
          </a:p>
        </p:txBody>
      </p:sp>
      <p:graphicFrame>
        <p:nvGraphicFramePr>
          <p:cNvPr id="32" name="Chart 31"/>
          <p:cNvGraphicFramePr>
            <a:graphicFrameLocks noGrp="1"/>
          </p:cNvGraphicFramePr>
          <p:nvPr/>
        </p:nvGraphicFramePr>
        <p:xfrm>
          <a:off x="503999" y="1782000"/>
          <a:ext cx="6552000" cy="3744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Les actifs réservés couvrent un retrait de 10 % de l'épargne (1 574 351 639 FCFA).</a:t>
            </a:r>
          </a:p>
          <a:p>
            <a:pPr algn="just">
              <a:spcAft>
                <a:spcPts val="600"/>
              </a:spcAft>
            </a:pPr>
            <a:r>
              <a:rPr sz="1400" b="1">
                <a:solidFill>
                  <a:srgbClr val="060606"/>
                </a:solidFill>
                <a:latin typeface="Helvetica"/>
              </a:rPr>
              <a:t>Au-delà de 21,34 % de retraits, toute la trésorerie du FPPN ne suffit plus.</a:t>
            </a:r>
          </a:p>
          <a:p>
            <a:pPr algn="just">
              <a:spcAft>
                <a:spcPts val="600"/>
              </a:spcAft>
            </a:pPr>
            <a:r>
              <a:rPr sz="1400" b="1">
                <a:solidFill>
                  <a:srgbClr val="060606"/>
                </a:solidFill>
                <a:latin typeface="Helvetica"/>
              </a:rPr>
              <a:t>Le FPPN doit alors céder ou mobiliser des actifs peu liquides</a:t>
            </a:r>
            <a:r>
              <a:rPr sz="1400" b="0">
                <a:solidFill>
                  <a:srgbClr val="060606"/>
                </a:solidFill>
                <a:latin typeface="Helvetica"/>
              </a:rPr>
              <a:t>, comme les terrains ou les avances au CMP.</a:t>
            </a:r>
          </a:p>
          <a:p>
            <a:pPr algn="just">
              <a:spcAft>
                <a:spcPts val="600"/>
              </a:spcAft>
            </a:pPr>
            <a:r>
              <a:rPr sz="1400" b="0">
                <a:solidFill>
                  <a:srgbClr val="060606"/>
                </a:solidFill>
                <a:latin typeface="Helvetica"/>
              </a:rPr>
              <a:t>Le risque de liquidité dépend des conditions de retrait du PEP et de l'EFC : le règlement de ces produits et les âges des épargnants permettront de passer de scénarios théoriques à un échéancier réel.</a:t>
            </a:r>
          </a:p>
        </p:txBody>
      </p:sp>
      <p:sp>
        <p:nvSpPr>
          <p:cNvPr id="35" name="TextBox 34"/>
          <p:cNvSpPr txBox="1"/>
          <p:nvPr/>
        </p:nvSpPr>
        <p:spPr>
          <a:xfrm>
            <a:off x="503999" y="5526000"/>
            <a:ext cx="6552000" cy="306000"/>
          </a:xfrm>
          <a:prstGeom prst="rect">
            <a:avLst/>
          </a:prstGeom>
          <a:noFill/>
        </p:spPr>
        <p:txBody>
          <a:bodyPr wrap="square" anchor="t" lIns="54000" rIns="54000"/>
          <a:lstStyle/>
          <a:p>
            <a:pPr algn="l"/>
            <a:r>
              <a:rPr sz="850" b="0">
                <a:solidFill>
                  <a:srgbClr val="53565A"/>
                </a:solidFill>
                <a:latin typeface="Helvetica"/>
              </a:rPr>
              <a:t>Valable pour : épargne due et actifs à moins d'un an au 31/08/2026 (« BALANCE FPPN DU 01-01-2026 AU 31-08-2026.xlsx »). Taux de retrait hypothétiques.</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PEP : Plan Épargne Plus | EFC : entraide fin de carrière | CMP : Clinique médicale du policier</a:t>
            </a:r>
          </a:p>
        </p:txBody>
      </p:sp>
    </p:spTree>
    <p:extLst>
      <p:ext uri="{BB962C8B-B14F-4D97-AF65-F5344CB8AC3E}">
        <p14:creationId xmlns:p14="http://schemas.microsoft.com/office/powerpoint/2010/main" val="3841430944"/>
      </p:ext>
    </p:extLst>
  </p:cSld>
  <p:clrMapOvr>
    <a:masterClrMapping/>
  </p:clrMapOvr>
  <p:transition>
    <p:fade/>
  </p:transition>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Poste 998 : autres références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poste de l'épargne PEP porte aussi d'autres références à expliquer</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PTI, RPEP, EP et TI apparaissent à côté des références PEP sur la période 2020 à 2026</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fichiers de précomptes de la Solde, de la CGRAE et du FPPN reçus le 15/10/2026 (dossiers « FPPN-SOLDE », « FPPN-CGRAE », « FPPN-GNA », noms exacts en annexe « Fichiers sources »). Traitements Adenka</a:t>
            </a:r>
          </a:p>
        </p:txBody>
      </p:sp>
      <p:sp>
        <p:nvSpPr>
          <p:cNvPr id="31" name="TextBox 30"/>
          <p:cNvSpPr txBox="1"/>
          <p:nvPr/>
        </p:nvSpPr>
        <p:spPr>
          <a:xfrm>
            <a:off x="503999" y="1386000"/>
            <a:ext cx="6983999" cy="216000"/>
          </a:xfrm>
          <a:prstGeom prst="rect">
            <a:avLst/>
          </a:prstGeom>
          <a:noFill/>
        </p:spPr>
        <p:txBody>
          <a:bodyPr wrap="square" anchor="t" lIns="54000" rIns="54000"/>
          <a:lstStyle/>
          <a:p>
            <a:pPr algn="ctr"/>
            <a:r>
              <a:rPr sz="1200" b="0">
                <a:solidFill>
                  <a:srgbClr val="EFAC62"/>
                </a:solidFill>
                <a:latin typeface="Helvetica"/>
              </a:rPr>
              <a:t>Tableau 33 : Références du poste 998, 2020 à août 2026</a:t>
            </a:r>
          </a:p>
        </p:txBody>
      </p:sp>
      <p:graphicFrame>
        <p:nvGraphicFramePr>
          <p:cNvPr id="32" name="Table 31"/>
          <p:cNvGraphicFramePr>
            <a:graphicFrameLocks noGrp="1"/>
          </p:cNvGraphicFramePr>
          <p:nvPr/>
        </p:nvGraphicFramePr>
        <p:xfrm>
          <a:off x="503999" y="1655999"/>
          <a:ext cx="6984000" cy="2027250"/>
        </p:xfrm>
        <a:graphic>
          <a:graphicData uri="http://schemas.openxmlformats.org/drawingml/2006/table">
            <a:tbl>
              <a:tblPr firstRow="0" bandRow="0">
                <a:tableStyleId>{5940675A-B579-460E-94D1-54222C63F5DA}</a:tableStyleId>
              </a:tblPr>
              <a:tblGrid>
                <a:gridCol w="1440000"/>
                <a:gridCol w="1440000"/>
                <a:gridCol w="2664000"/>
                <a:gridCol w="1440000"/>
              </a:tblGrid>
              <a:tr h="225250">
                <a:tc>
                  <a:txBody>
                    <a:bodyPr/>
                    <a:lstStyle/>
                    <a:p>
                      <a:pPr marL="0" indent="0" lvl="0">
                        <a:buNone/>
                      </a:pPr>
                      <a:r>
                        <a:rPr sz="1100" b="1">
                          <a:solidFill>
                            <a:srgbClr val="FFFFFF"/>
                          </a:solidFill>
                          <a:latin typeface="Helvetica"/>
                        </a:rPr>
                        <a:t>Référence</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Lignes</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Montant total</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Mutualistes</a:t>
                      </a:r>
                    </a:p>
                  </a:txBody>
                  <a:tcPr marL="43200" marR="43200" marT="14400" marB="14400" anchor="ctr">
                    <a:solidFill>
                      <a:srgbClr val="060606"/>
                    </a:solidFill>
                  </a:tcPr>
                </a:tc>
              </a:tr>
              <a:tr h="225250">
                <a:tc>
                  <a:txBody>
                    <a:bodyPr/>
                    <a:lstStyle/>
                    <a:p>
                      <a:pPr marL="0" indent="0" lvl="0">
                        <a:buNone/>
                      </a:pPr>
                      <a:r>
                        <a:rPr sz="1100" b="1">
                          <a:solidFill>
                            <a:srgbClr val="060606"/>
                          </a:solidFill>
                          <a:latin typeface="Helvetica"/>
                        </a:rPr>
                        <a:t>PEP</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460 252</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6 270 087 894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18 495</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sans référence</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55 703</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702 069 750 FCFA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16 603</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PTI</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1 206</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108 489 526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51</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RPEP</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2 368</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30 896 500 FCFA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2 367</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EP</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1 722</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30 284 000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1 715</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TI</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24</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2 246 770 FCFA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24</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R-PEP</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90</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1 290 000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88</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PTQ</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43</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1 255 064 FCFA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3</a:t>
                      </a:r>
                    </a:p>
                  </a:txBody>
                  <a:tcPr marL="43200" marR="43200" marT="14400" marB="14400" anchor="ctr">
                    <a:solidFill>
                      <a:srgbClr val="F2F2F2"/>
                    </a:solidFill>
                  </a:tcPr>
                </a:tc>
              </a:tr>
            </a:tbl>
          </a:graphicData>
        </a:graphic>
      </p:graphicFrame>
      <p:sp>
        <p:nvSpPr>
          <p:cNvPr id="33" name="TextBox 32"/>
          <p:cNvSpPr txBox="1"/>
          <p:nvPr/>
        </p:nvSpPr>
        <p:spPr>
          <a:xfrm>
            <a:off x="503999" y="3791255"/>
            <a:ext cx="6983999" cy="306000"/>
          </a:xfrm>
          <a:prstGeom prst="rect">
            <a:avLst/>
          </a:prstGeom>
          <a:noFill/>
        </p:spPr>
        <p:txBody>
          <a:bodyPr wrap="square" anchor="t" lIns="54000" rIns="54000"/>
          <a:lstStyle/>
          <a:p>
            <a:pPr algn="l"/>
            <a:r>
              <a:rPr sz="850" b="0">
                <a:solidFill>
                  <a:srgbClr val="53565A"/>
                </a:solidFill>
                <a:latin typeface="Helvetica"/>
              </a:rPr>
              <a:t>Valable pour : références du poste 998 dans les fichiers retour « FPPN-SOLDE\PEP\FICHIER RETOUR », de 2020 à août 2026. 2001 à 2019 non retenus.</a:t>
            </a:r>
          </a:p>
        </p:txBody>
      </p:sp>
      <p:sp>
        <p:nvSpPr>
          <p:cNvPr id="34" name="TextBox 33"/>
          <p:cNvSpPr txBox="1"/>
          <p:nvPr/>
        </p:nvSpPr>
        <p:spPr>
          <a:xfrm>
            <a:off x="7703999" y="1386000"/>
            <a:ext cx="4032000" cy="4482000"/>
          </a:xfrm>
          <a:prstGeom prst="rect">
            <a:avLst/>
          </a:prstGeom>
          <a:noFill/>
        </p:spPr>
        <p:txBody>
          <a:bodyPr wrap="square" lIns="54000" rIns="54000"/>
          <a:lstStyle/>
          <a:p>
            <a:pPr algn="just">
              <a:spcAft>
                <a:spcPts val="600"/>
              </a:spcAft>
            </a:pPr>
            <a:r>
              <a:rPr sz="1400" b="1">
                <a:solidFill>
                  <a:srgbClr val="060606"/>
                </a:solidFill>
                <a:latin typeface="Helvetica"/>
              </a:rPr>
              <a:t>Le poste 998 ne porte pas que de l'épargne PEP.</a:t>
            </a:r>
            <a:r>
              <a:rPr sz="1400" b="0">
                <a:solidFill>
                  <a:srgbClr val="060606"/>
                </a:solidFill>
                <a:latin typeface="Helvetica"/>
              </a:rPr>
              <a:t> D'autres références, dont PTI, apparaissent avec des montants importants et peu de mutualistes.</a:t>
            </a:r>
          </a:p>
          <a:p>
            <a:pPr algn="just">
              <a:spcAft>
                <a:spcPts val="600"/>
              </a:spcAft>
            </a:pPr>
            <a:r>
              <a:rPr sz="1400" b="1">
                <a:solidFill>
                  <a:srgbClr val="060606"/>
                </a:solidFill>
                <a:latin typeface="Helvetica"/>
              </a:rPr>
              <a:t>Leur nature n'est documentée nulle part.</a:t>
            </a:r>
            <a:r>
              <a:rPr sz="1400" b="0">
                <a:solidFill>
                  <a:srgbClr val="060606"/>
                </a:solidFill>
                <a:latin typeface="Helvetica"/>
              </a:rPr>
              <a:t> Il peut s'agir de remboursements de prêts PEP (comptes 27110000 et 27120000), ce que le FPPN doit confirmer.</a:t>
            </a:r>
          </a:p>
          <a:p>
            <a:pPr algn="just">
              <a:spcAft>
                <a:spcPts val="600"/>
              </a:spcAft>
            </a:pPr>
            <a:r>
              <a:rPr sz="1400" b="0">
                <a:solidFill>
                  <a:srgbClr val="060606"/>
                </a:solidFill>
                <a:latin typeface="Helvetica"/>
              </a:rPr>
              <a:t>Tant que ces références ne sont pas expliquées, la dette d'épargne PEP ne peut pas être reconstituée à partir des précomptes.</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CGRAE : Caisse générale de retraite des agents de l'État | PEP : Plan Épargne Plus | GNA : assureur de la flotte automobile (compte 47111106) | 998 : poste PEP</a:t>
            </a:r>
          </a:p>
        </p:txBody>
      </p:sp>
    </p:spTree>
    <p:extLst>
      <p:ext uri="{BB962C8B-B14F-4D97-AF65-F5344CB8AC3E}">
        <p14:creationId xmlns:p14="http://schemas.microsoft.com/office/powerpoint/2010/main" val="1312080579"/>
      </p:ext>
    </p:extLst>
  </p:cSld>
  <p:clrMapOvr>
    <a:masterClrMapping/>
  </p:clrMapOvr>
  <p:transition>
    <p:fade/>
  </p:transition>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6" name="Image 25"/>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30" name="ZoneTexte 29">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9" name="Google Shape;7386;p39"/>
          <p:cNvSpPr/>
          <p:nvPr/>
        </p:nvSpPr>
        <p:spPr>
          <a:xfrm rot="10800000">
            <a:off x="1553518" y="1436295"/>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10" name="Google Shape;7367;p39"/>
          <p:cNvSpPr/>
          <p:nvPr/>
        </p:nvSpPr>
        <p:spPr>
          <a:xfrm rot="16200000">
            <a:off x="2201124" y="215006"/>
            <a:ext cx="2027916" cy="4306666"/>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chemeClr val="tx1"/>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 name="Rectangle 3"/>
          <p:cNvSpPr/>
          <p:nvPr/>
        </p:nvSpPr>
        <p:spPr>
          <a:xfrm>
            <a:off x="2946575" y="1442741"/>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Constat</a:t>
            </a:r>
          </a:p>
        </p:txBody>
      </p:sp>
      <p:sp>
        <p:nvSpPr>
          <p:cNvPr id="20" name="Google Shape;7386;p39"/>
          <p:cNvSpPr/>
          <p:nvPr/>
        </p:nvSpPr>
        <p:spPr>
          <a:xfrm rot="10800000">
            <a:off x="6537686" y="1459724"/>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21" name="Google Shape;7367;p39"/>
          <p:cNvSpPr/>
          <p:nvPr/>
        </p:nvSpPr>
        <p:spPr>
          <a:xfrm rot="16200000">
            <a:off x="7569073" y="228570"/>
            <a:ext cx="2000788" cy="4306666"/>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rgbClr val="060606"/>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24" name="Rectangle 23"/>
          <p:cNvSpPr/>
          <p:nvPr/>
        </p:nvSpPr>
        <p:spPr>
          <a:xfrm>
            <a:off x="7570816" y="1466170"/>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Preuves</a:t>
            </a:r>
          </a:p>
        </p:txBody>
      </p:sp>
      <p:sp>
        <p:nvSpPr>
          <p:cNvPr id="37" name="Google Shape;7386;p39"/>
          <p:cNvSpPr/>
          <p:nvPr/>
        </p:nvSpPr>
        <p:spPr>
          <a:xfrm rot="10800000">
            <a:off x="1854215" y="3845744"/>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38" name="Google Shape;7367;p39"/>
          <p:cNvSpPr/>
          <p:nvPr/>
        </p:nvSpPr>
        <p:spPr>
          <a:xfrm rot="16200000">
            <a:off x="2838223" y="3190772"/>
            <a:ext cx="1751381" cy="3719393"/>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rgbClr val="060606"/>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0" name="Rectangle 39"/>
          <p:cNvSpPr/>
          <p:nvPr/>
        </p:nvSpPr>
        <p:spPr>
          <a:xfrm>
            <a:off x="3052718" y="3852190"/>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Implication</a:t>
            </a:r>
          </a:p>
        </p:txBody>
      </p:sp>
      <p:sp>
        <p:nvSpPr>
          <p:cNvPr id="42" name="Google Shape;7386;p39"/>
          <p:cNvSpPr/>
          <p:nvPr/>
        </p:nvSpPr>
        <p:spPr>
          <a:xfrm rot="10800000">
            <a:off x="6478457" y="3869173"/>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3" name="Google Shape;7367;p39"/>
          <p:cNvSpPr/>
          <p:nvPr/>
        </p:nvSpPr>
        <p:spPr>
          <a:xfrm rot="16200000">
            <a:off x="7474179" y="3202486"/>
            <a:ext cx="1727953" cy="3719393"/>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chemeClr val="tx1"/>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5" name="Rectangle 44"/>
          <p:cNvSpPr/>
          <p:nvPr/>
        </p:nvSpPr>
        <p:spPr>
          <a:xfrm>
            <a:off x="7676960" y="3875619"/>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Action</a:t>
            </a:r>
          </a:p>
        </p:txBody>
      </p:sp>
      <p:pic>
        <p:nvPicPr>
          <p:cNvPr id="47" name="Image 4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47871" y="3850143"/>
            <a:ext cx="334029" cy="337914"/>
          </a:xfrm>
          <a:prstGeom prst="rect">
            <a:avLst/>
          </a:prstGeom>
        </p:spPr>
      </p:pic>
      <p:pic>
        <p:nvPicPr>
          <p:cNvPr id="50" name="Image 49">
            <a:extLst>
              <a:ext uri="{FF2B5EF4-FFF2-40B4-BE49-F238E27FC236}">
                <a16:creationId xmlns:a16="http://schemas.microsoft.com/office/drawing/2014/main" id="{593DA389-08F4-31D9-6AB9-E96812D83B7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933514" y="1475503"/>
            <a:ext cx="294700" cy="294700"/>
          </a:xfrm>
          <a:prstGeom prst="rect">
            <a:avLst/>
          </a:prstGeom>
        </p:spPr>
      </p:pic>
      <p:pic>
        <p:nvPicPr>
          <p:cNvPr id="25" name="Image 2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962423" y="1457088"/>
            <a:ext cx="281624" cy="284788"/>
          </a:xfrm>
          <a:prstGeom prst="rect">
            <a:avLst/>
          </a:prstGeom>
        </p:spPr>
      </p:pic>
      <p:pic>
        <p:nvPicPr>
          <p:cNvPr id="28" name="Image 27"/>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791905" y="3883760"/>
            <a:ext cx="270937" cy="276827"/>
          </a:xfrm>
          <a:prstGeom prst="rect">
            <a:avLst/>
          </a:prstGeom>
        </p:spPr>
      </p:pic>
      <p:sp>
        <p:nvSpPr>
          <p:cNvPr id="31" name="Rectangle 30"/>
          <p:cNvSpPr/>
          <p:nvPr/>
        </p:nvSpPr>
        <p:spPr>
          <a:xfrm>
            <a:off x="1999671" y="1962253"/>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La dette d'épargne augmente plus vite que les actifs réservés, et l'écart finance des emplois peu liquides.</a:t>
            </a:r>
          </a:p>
        </p:txBody>
      </p:sp>
      <p:sp>
        <p:nvSpPr>
          <p:cNvPr id="32" name="Rectangle 31"/>
          <p:cNvSpPr/>
          <p:nvPr/>
        </p:nvSpPr>
        <p:spPr>
          <a:xfrm>
            <a:off x="6623912" y="1926662"/>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15 743 516 391 FCFA d'épargne sont dus au 31/08/2026, pour 2 562 885 661 FCFA d'actifs réservés.</a:t>
            </a:r>
          </a:p>
        </p:txBody>
      </p:sp>
      <p:sp>
        <p:nvSpPr>
          <p:cNvPr id="33" name="Rectangle 32"/>
          <p:cNvSpPr/>
          <p:nvPr/>
        </p:nvSpPr>
        <p:spPr>
          <a:xfrm>
            <a:off x="2093705" y="4388689"/>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 FPPN ne peut pas rembourser rapidement une vague de retraits, et il ne respecte pas le ratio de solvabilité des risques longs.</a:t>
            </a:r>
          </a:p>
        </p:txBody>
      </p:sp>
      <p:sp>
        <p:nvSpPr>
          <p:cNvPr id="34" name="Rectangle 33"/>
          <p:cNvSpPr/>
          <p:nvPr/>
        </p:nvSpPr>
        <p:spPr>
          <a:xfrm>
            <a:off x="6768142" y="4336111"/>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 FPPN doit transmettre le règlement des produits, les comptes individuels et les conditions de retrait, puis cantonner l'épargne.</a:t>
            </a:r>
          </a:p>
        </p:txBody>
      </p:sp>
      <p:sp>
        <p:nvSpPr>
          <p:cNvPr id="51"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À retenir : épargne</a:t>
            </a:r>
          </a:p>
        </p:txBody>
      </p:sp>
      <p:sp>
        <p:nvSpPr>
          <p:cNvPr id="52"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L'épargne due aux mutualistes est très peu couverte par des actifs disponibles</a:t>
            </a:r>
          </a:p>
        </p:txBody>
      </p:sp>
      <p:sp>
        <p:nvSpPr>
          <p:cNvPr id="53"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Couverture de 16,28 % au 31/08/2026. Un retrait de 21,34 % épuiserait toute la trésorerie</a:t>
            </a:r>
          </a:p>
        </p:txBody>
      </p:sp>
      <p:sp>
        <p:nvSpPr>
          <p:cNvPr id="54"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analyses Adenka</a:t>
            </a:r>
          </a:p>
        </p:txBody>
      </p:sp>
      <p:sp>
        <p:nvSpPr>
          <p:cNvPr id="55" name="TextBox 5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204364699"/>
      </p:ext>
    </p:extLst>
  </p:cSld>
  <p:clrMapOvr>
    <a:masterClrMapping/>
  </p:clrMapOvr>
  <p:transition>
    <p:fade/>
  </p:transition>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EFC et PEP : trois taux dans trois documents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taux servi sur l'EFC vaut 3,5 %, 5,5 % ou 14 % selon le document</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Aucun document ne fixe un taux unique, signé et daté : l'engagement d'épargne ne peut pas être évalué sans ce taux</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CAHIER DE CHARGEEFC &amp; PEP 2021.pdf. MANUEL DE PRODUIT D'EPARGNE FPPN VF VF.docx. CARTOGRAPHIE DES RISQUES COUVERTS ET DES PRESTATIONS OFFERTES.docx (reçus le 22/10/2026). Entretien du chef comptable du 19/10/2026</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34 : Taux servis sur l'épargne selon les documents du FPPN</a:t>
            </a:r>
          </a:p>
        </p:txBody>
      </p:sp>
      <p:graphicFrame>
        <p:nvGraphicFramePr>
          <p:cNvPr id="32" name="Table 31"/>
          <p:cNvGraphicFramePr>
            <a:graphicFrameLocks noGrp="1"/>
          </p:cNvGraphicFramePr>
          <p:nvPr/>
        </p:nvGraphicFramePr>
        <p:xfrm>
          <a:off x="503999" y="1655999"/>
          <a:ext cx="11232000" cy="1381984"/>
        </p:xfrm>
        <a:graphic>
          <a:graphicData uri="http://schemas.openxmlformats.org/drawingml/2006/table">
            <a:tbl>
              <a:tblPr firstRow="0" bandRow="0">
                <a:tableStyleId>{5940675A-B579-460E-94D1-54222C63F5DA}</a:tableStyleId>
              </a:tblPr>
              <a:tblGrid>
                <a:gridCol w="3744000"/>
                <a:gridCol w="1080000"/>
                <a:gridCol w="2592000"/>
                <a:gridCol w="3816000"/>
              </a:tblGrid>
              <a:tr h="187148">
                <a:tc>
                  <a:txBody>
                    <a:bodyPr/>
                    <a:lstStyle/>
                    <a:p>
                      <a:pPr marL="0" indent="0" lvl="0">
                        <a:buNone/>
                      </a:pPr>
                      <a:r>
                        <a:rPr sz="850" b="1">
                          <a:solidFill>
                            <a:srgbClr val="FFFFFF"/>
                          </a:solidFill>
                          <a:latin typeface="Helvetica"/>
                        </a:rPr>
                        <a:t>Document (fichier exact)</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Produit</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Taux écrit</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Portée</a:t>
                      </a:r>
                    </a:p>
                  </a:txBody>
                  <a:tcPr marL="43200" marR="43200" marT="14400" marB="14400" anchor="ctr">
                    <a:solidFill>
                      <a:srgbClr val="060606"/>
                    </a:solidFill>
                  </a:tcPr>
                </a:tc>
              </a:tr>
              <a:tr h="316696">
                <a:tc>
                  <a:txBody>
                    <a:bodyPr/>
                    <a:lstStyle/>
                    <a:p>
                      <a:pPr marL="0" indent="0" lvl="0">
                        <a:buNone/>
                      </a:pPr>
                      <a:r>
                        <a:rPr sz="850" b="1">
                          <a:solidFill>
                            <a:srgbClr val="060606"/>
                          </a:solidFill>
                          <a:latin typeface="Helvetica"/>
                        </a:rPr>
                        <a:t>CAHIER DE CHARGEEFC &amp; PEP 2021.pdf, « B- Taux d'intérêt applicable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EFC</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14 % d'intérêt simple, sans période indiquée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Cotisations au-delà de 2024 et souscriptions postérieures au cahier des charges. Bonus de 300 000 FCFA si à jour</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MANUEL DE PRODUIT D'EPARGNE FPPN VF VF.docx</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EFC</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5,5 % l'an</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Rémunération de l'EFC. Certificat d'adoption non signé</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MANUEL DE PRODUIT D'EPARGNE FPPN VF VF.docx</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PEP</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3,5 % tous les ans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Rémunération du PEP</a:t>
                      </a:r>
                    </a:p>
                  </a:txBody>
                  <a:tcPr marL="43200" marR="43200" marT="14400" marB="14400" anchor="ctr">
                    <a:solidFill>
                      <a:srgbClr val="FFFFFF"/>
                    </a:solidFill>
                  </a:tcPr>
                </a:tc>
              </a:tr>
              <a:tr h="316696">
                <a:tc>
                  <a:txBody>
                    <a:bodyPr/>
                    <a:lstStyle/>
                    <a:p>
                      <a:pPr marL="0" indent="0" lvl="0">
                        <a:buNone/>
                      </a:pPr>
                      <a:r>
                        <a:rPr sz="850" b="1">
                          <a:solidFill>
                            <a:srgbClr val="060606"/>
                          </a:solidFill>
                          <a:latin typeface="Helvetica"/>
                        </a:rPr>
                        <a:t>CARTOGRAPHIE DES RISQUES COUVERTS ET DES PRESTATIONS OFFERTES.docx</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EFC</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5,5 % à partir de 2024</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Taux d'intérêt de l'EFC</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Entretien du chef comptable, 19/10/2026</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Épargne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3,5 %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Taux servi déclaré, sans document</a:t>
                      </a:r>
                    </a:p>
                  </a:txBody>
                  <a:tcPr marL="43200" marR="43200" marT="14400" marB="14400" anchor="ctr">
                    <a:solidFill>
                      <a:srgbClr val="FFFFFF"/>
                    </a:solidFill>
                  </a:tcPr>
                </a:tc>
              </a:tr>
            </a:tbl>
          </a:graphicData>
        </a:graphic>
      </p:graphicFrame>
      <p:sp>
        <p:nvSpPr>
          <p:cNvPr id="33" name="TextBox 32"/>
          <p:cNvSpPr txBox="1"/>
          <p:nvPr/>
        </p:nvSpPr>
        <p:spPr>
          <a:xfrm>
            <a:off x="503999" y="3145985"/>
            <a:ext cx="11232000" cy="162000"/>
          </a:xfrm>
          <a:prstGeom prst="rect">
            <a:avLst/>
          </a:prstGeom>
          <a:noFill/>
        </p:spPr>
        <p:txBody>
          <a:bodyPr wrap="square" anchor="t" lIns="54000" rIns="54000"/>
          <a:lstStyle/>
          <a:p>
            <a:pPr algn="l"/>
            <a:r>
              <a:rPr sz="850" b="0">
                <a:solidFill>
                  <a:srgbClr val="53565A"/>
                </a:solidFill>
                <a:latin typeface="Helvetica"/>
              </a:rPr>
              <a:t>Valable pour : documents du FPPN reçus le 22/10/2026 et entretien du 19/10/2026. Le taux réellement appliqué aux mutualistes n'est pas connu.</a:t>
            </a:r>
          </a:p>
        </p:txBody>
      </p:sp>
      <p:sp>
        <p:nvSpPr>
          <p:cNvPr id="34" name="TextBox 33"/>
          <p:cNvSpPr txBox="1"/>
          <p:nvPr/>
        </p:nvSpPr>
        <p:spPr>
          <a:xfrm>
            <a:off x="503999" y="3451985"/>
            <a:ext cx="11232000" cy="2416014"/>
          </a:xfrm>
          <a:prstGeom prst="rect">
            <a:avLst/>
          </a:prstGeom>
          <a:noFill/>
        </p:spPr>
        <p:txBody>
          <a:bodyPr wrap="square" lIns="54000" rIns="54000"/>
          <a:lstStyle/>
          <a:p>
            <a:pPr algn="just">
              <a:spcAft>
                <a:spcPts val="600"/>
              </a:spcAft>
            </a:pPr>
            <a:r>
              <a:rPr sz="1300" b="1">
                <a:solidFill>
                  <a:srgbClr val="060606"/>
                </a:solidFill>
                <a:latin typeface="Helvetica"/>
              </a:rPr>
              <a:t>Pour l'EFC, trois taux coexistent : 3,5 %, 5,5 % l'an et 14 % d'intérêt simple.</a:t>
            </a:r>
            <a:r>
              <a:rPr sz="1300" b="0">
                <a:solidFill>
                  <a:srgbClr val="060606"/>
                </a:solidFill>
                <a:latin typeface="Helvetica"/>
              </a:rPr>
              <a:t> Le cahier des charges n'indique pas si les 14 % s'appliquent une fois ou chaque année.</a:t>
            </a:r>
          </a:p>
          <a:p>
            <a:pPr algn="just">
              <a:spcAft>
                <a:spcPts val="600"/>
              </a:spcAft>
            </a:pPr>
            <a:r>
              <a:rPr sz="1300" b="1">
                <a:solidFill>
                  <a:srgbClr val="060606"/>
                </a:solidFill>
                <a:latin typeface="Helvetica"/>
              </a:rPr>
              <a:t>Aucun des trois documents n'est accompagné d'une décision d'adoption signée.</a:t>
            </a:r>
            <a:r>
              <a:rPr sz="1300" b="0">
                <a:solidFill>
                  <a:srgbClr val="060606"/>
                </a:solidFill>
                <a:latin typeface="Helvetica"/>
              </a:rPr>
              <a:t> Le manuel porte un certificat d'adoption non signé.</a:t>
            </a:r>
          </a:p>
          <a:p>
            <a:pPr algn="just">
              <a:spcAft>
                <a:spcPts val="600"/>
              </a:spcAft>
            </a:pPr>
            <a:r>
              <a:rPr sz="1300" b="0">
                <a:solidFill>
                  <a:srgbClr val="060606"/>
                </a:solidFill>
                <a:latin typeface="Helvetica"/>
              </a:rPr>
              <a:t>Le taux applicable doit être arrêté par une décision des organes du FPPN, puis appliqué de manière identique aux comptes, aux relevés individuels et au calcul de l'engagement (PBC, item 69).</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PEP : Plan Épargne Plus | EFC : entraide fin de carrière | PBC : liste des documents demandés au client</a:t>
            </a:r>
          </a:p>
        </p:txBody>
      </p:sp>
    </p:spTree>
    <p:extLst>
      <p:ext uri="{BB962C8B-B14F-4D97-AF65-F5344CB8AC3E}">
        <p14:creationId xmlns:p14="http://schemas.microsoft.com/office/powerpoint/2010/main" val="530219998"/>
      </p:ext>
    </p:extLst>
  </p:cSld>
  <p:clrMapOvr>
    <a:masterClrMapping/>
  </p:clrMapOvr>
  <p:transition>
    <p:fade/>
  </p:transition>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Intérêts servis : aucune écriture dans les comptes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comptes d'épargne ne reçoivent que des cotisations et ne versent que des remboursements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En 2024, aucune écriture d'intérêts n'est passée sur les comptes PEP et EFC, et aucune balance de 2020 à 2026 ne porte de charge d'intérêts servis aux épargnants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GRAND LIVRE FPPN 2024.xlsx (comptes 41195100 et 41195200). Balances des comptes du FPPN de 2020 au 31/08/2026 (provisoire), fichiers « BALANCE … » listés en annexe « Fichiers sources ». Traitements Adenka</a:t>
            </a:r>
          </a:p>
        </p:txBody>
      </p:sp>
      <p:sp>
        <p:nvSpPr>
          <p:cNvPr id="31" name="TextBox 30"/>
          <p:cNvSpPr txBox="1"/>
          <p:nvPr/>
        </p:nvSpPr>
        <p:spPr>
          <a:xfrm>
            <a:off x="503999" y="1386000"/>
            <a:ext cx="10656000" cy="216000"/>
          </a:xfrm>
          <a:prstGeom prst="rect">
            <a:avLst/>
          </a:prstGeom>
          <a:noFill/>
        </p:spPr>
        <p:txBody>
          <a:bodyPr wrap="square" anchor="t" lIns="54000" rIns="54000"/>
          <a:lstStyle/>
          <a:p>
            <a:pPr algn="ctr"/>
            <a:r>
              <a:rPr sz="1200" b="0">
                <a:solidFill>
                  <a:srgbClr val="EFAC62"/>
                </a:solidFill>
                <a:latin typeface="Helvetica"/>
              </a:rPr>
              <a:t>Tableau 35 : Écritures 2024 des comptes d'épargne par nature</a:t>
            </a:r>
          </a:p>
        </p:txBody>
      </p:sp>
      <p:graphicFrame>
        <p:nvGraphicFramePr>
          <p:cNvPr id="32" name="Table 31"/>
          <p:cNvGraphicFramePr>
            <a:graphicFrameLocks noGrp="1"/>
          </p:cNvGraphicFramePr>
          <p:nvPr/>
        </p:nvGraphicFramePr>
        <p:xfrm>
          <a:off x="503999" y="1655999"/>
          <a:ext cx="10656000" cy="1558144"/>
        </p:xfrm>
        <a:graphic>
          <a:graphicData uri="http://schemas.openxmlformats.org/drawingml/2006/table">
            <a:tbl>
              <a:tblPr firstRow="0" bandRow="0">
                <a:tableStyleId>{5940675A-B579-460E-94D1-54222C63F5DA}</a:tableStyleId>
              </a:tblPr>
              <a:tblGrid>
                <a:gridCol w="1584000"/>
                <a:gridCol w="2160000"/>
                <a:gridCol w="1296000"/>
                <a:gridCol w="2160000"/>
                <a:gridCol w="1296000"/>
                <a:gridCol w="2160000"/>
              </a:tblGrid>
              <a:tr h="194768">
                <a:tc>
                  <a:txBody>
                    <a:bodyPr/>
                    <a:lstStyle/>
                    <a:p>
                      <a:pPr marL="0" indent="0" lvl="0">
                        <a:buNone/>
                      </a:pPr>
                      <a:r>
                        <a:rPr sz="900" b="1">
                          <a:solidFill>
                            <a:srgbClr val="FFFFFF"/>
                          </a:solidFill>
                          <a:latin typeface="Helvetica"/>
                        </a:rPr>
                        <a:t>Compte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Nature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Écritures au débit</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Débit</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Écritures au crédit</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Crédit</a:t>
                      </a:r>
                    </a:p>
                  </a:txBody>
                  <a:tcPr marL="43200" marR="43200" marT="14400" marB="14400" anchor="ctr">
                    <a:solidFill>
                      <a:srgbClr val="060606"/>
                    </a:solidFill>
                  </a:tcPr>
                </a:tc>
              </a:tr>
              <a:tr h="194768">
                <a:tc>
                  <a:txBody>
                    <a:bodyPr/>
                    <a:lstStyle/>
                    <a:p>
                      <a:pPr marL="0" indent="0" lvl="0">
                        <a:buNone/>
                      </a:pPr>
                      <a:r>
                        <a:rPr sz="900" b="1">
                          <a:solidFill>
                            <a:srgbClr val="060606"/>
                          </a:solidFill>
                          <a:latin typeface="Helvetica"/>
                        </a:rPr>
                        <a:t>PEP (41195100)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Précomptes et cotisations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17</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1 453 812 250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PEP (41195100)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Remboursements PEP</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788</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1 163 234 713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PEP (41195100)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Rachats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57</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32 124 275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PEP (41195100)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Autres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-4 678 500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13</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7 086 400 FCFA</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EFC (41195200)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Précomptes et cotisations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130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1 837 450 440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EFC (41195200)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Règlements EFC</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355</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442 318 346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EFC (41195200)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Remboursements PEP</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1 862 400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FFFFF"/>
                    </a:solidFill>
                  </a:tcPr>
                </a:tc>
              </a:tr>
            </a:tbl>
          </a:graphicData>
        </a:graphic>
      </p:graphicFrame>
      <p:sp>
        <p:nvSpPr>
          <p:cNvPr id="33" name="TextBox 32"/>
          <p:cNvSpPr txBox="1"/>
          <p:nvPr/>
        </p:nvSpPr>
        <p:spPr>
          <a:xfrm>
            <a:off x="503999" y="3322149"/>
            <a:ext cx="11232000" cy="162000"/>
          </a:xfrm>
          <a:prstGeom prst="rect">
            <a:avLst/>
          </a:prstGeom>
          <a:noFill/>
        </p:spPr>
        <p:txBody>
          <a:bodyPr wrap="square" anchor="t" lIns="54000" rIns="54000"/>
          <a:lstStyle/>
          <a:p>
            <a:pPr algn="l"/>
            <a:r>
              <a:rPr sz="850" b="0">
                <a:solidFill>
                  <a:srgbClr val="53565A"/>
                </a:solidFill>
                <a:latin typeface="Helvetica"/>
              </a:rPr>
              <a:t>Valable pour : grand livre 2024 pour le détail des écritures. Balances de 2020 au 31/08/2026 pour l'absence de charge d'intérêts.</a:t>
            </a:r>
          </a:p>
        </p:txBody>
      </p:sp>
      <p:sp>
        <p:nvSpPr>
          <p:cNvPr id="34" name="TextBox 33"/>
          <p:cNvSpPr txBox="1"/>
          <p:nvPr/>
        </p:nvSpPr>
        <p:spPr>
          <a:xfrm>
            <a:off x="503999" y="3628149"/>
            <a:ext cx="11232000" cy="2239850"/>
          </a:xfrm>
          <a:prstGeom prst="rect">
            <a:avLst/>
          </a:prstGeom>
          <a:noFill/>
        </p:spPr>
        <p:txBody>
          <a:bodyPr wrap="square" lIns="54000" rIns="54000"/>
          <a:lstStyle/>
          <a:p>
            <a:pPr algn="just">
              <a:spcAft>
                <a:spcPts val="600"/>
              </a:spcAft>
            </a:pPr>
            <a:r>
              <a:rPr sz="1300" b="1">
                <a:solidFill>
                  <a:srgbClr val="060606"/>
                </a:solidFill>
                <a:latin typeface="Helvetica"/>
              </a:rPr>
              <a:t>Aucune écriture d'intérêts ne figure sur les comptes d'épargne en 2024, et aucun compte de charge d'intérêts servis n'existe dans les balances de 2020 au 31/08/2026.</a:t>
            </a:r>
            <a:r>
              <a:rPr sz="1300" b="0">
                <a:solidFill>
                  <a:srgbClr val="060606"/>
                </a:solidFill>
                <a:latin typeface="Helvetica"/>
              </a:rPr>
              <a:t> En 2024, le solde comptable de l'épargne n'évolue donc que par les cotisations, les remboursements et les rachats.</a:t>
            </a:r>
          </a:p>
          <a:p>
            <a:pPr algn="just">
              <a:spcAft>
                <a:spcPts val="600"/>
              </a:spcAft>
            </a:pPr>
            <a:r>
              <a:rPr sz="1300" b="1">
                <a:solidFill>
                  <a:srgbClr val="060606"/>
                </a:solidFill>
                <a:latin typeface="Helvetica"/>
              </a:rPr>
              <a:t>En 2024, 355 règlements EFC ont été payés pour 442 318 346 FCFA.</a:t>
            </a:r>
            <a:r>
              <a:rPr sz="1300" b="0">
                <a:solidFill>
                  <a:srgbClr val="060606"/>
                </a:solidFill>
                <a:latin typeface="Helvetica"/>
              </a:rPr>
              <a:t> Le grand livre ne dit pas si ces règlements comprennent des intérêts calculés hors comptabilité.</a:t>
            </a:r>
          </a:p>
          <a:p>
            <a:pPr algn="just">
              <a:spcAft>
                <a:spcPts val="600"/>
              </a:spcAft>
            </a:pPr>
            <a:r>
              <a:rPr sz="1300" b="0">
                <a:solidFill>
                  <a:srgbClr val="060606"/>
                </a:solidFill>
                <a:latin typeface="Helvetica"/>
              </a:rPr>
              <a:t>Si un taux est dû aux mutualistes, la dette d'épargne inscrite au bilan est inférieure à l'engagement réel du montant des intérêts acquis et non comptabilisés. Ce montant ne peut être chiffré qu'avec le taux applicable et l'historique individuel des versements.</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PEP : Plan Épargne Plus | EFC : entraide fin de carrière</a:t>
            </a:r>
          </a:p>
        </p:txBody>
      </p:sp>
    </p:spTree>
    <p:extLst>
      <p:ext uri="{BB962C8B-B14F-4D97-AF65-F5344CB8AC3E}">
        <p14:creationId xmlns:p14="http://schemas.microsoft.com/office/powerpoint/2010/main" val="1930271948"/>
      </p:ext>
    </p:extLst>
  </p:cSld>
  <p:clrMapOvr>
    <a:masterClrMapping/>
  </p:clrMapOvr>
  <p:transition>
    <p:fade/>
  </p:transition>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Sensibilité : intérêts annuels dus sur l'EFC</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Au taux de 5,5 %, les intérêts dus chaque année dépassent les produits financiers du FPPN</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Encours EFC au 31/12/2025 : 8 848 845 044 FCFA. Intérêts d'une année à 5,5 % : 486 686 477 FCFA</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CAHIER DE CHARGEEFC &amp; PEP 2021.pdf. MANUEL DE PRODUIT D'EPARGNE FPPN VF VF.docx. CARTOGRAPHIE DES RISQUES COUVERTS ET DES PRESTATIONS OFFERTES.docx (reçus le 22/10/2026). Entretien du chef comptable du 19/10/2026. Balances des comptes du FPPN de 2020 au 31/08/2026 (provisoire), fichiers « BALANCE … » listés en annexe « Fichiers sources ». Traitements Adenka</a:t>
            </a:r>
          </a:p>
        </p:txBody>
      </p:sp>
      <p:sp>
        <p:nvSpPr>
          <p:cNvPr id="31" name="TextBox 30"/>
          <p:cNvSpPr txBox="1"/>
          <p:nvPr/>
        </p:nvSpPr>
        <p:spPr>
          <a:xfrm>
            <a:off x="503999" y="1386000"/>
            <a:ext cx="11160000" cy="216000"/>
          </a:xfrm>
          <a:prstGeom prst="rect">
            <a:avLst/>
          </a:prstGeom>
          <a:noFill/>
        </p:spPr>
        <p:txBody>
          <a:bodyPr wrap="square" anchor="t" lIns="54000" rIns="54000"/>
          <a:lstStyle/>
          <a:p>
            <a:pPr algn="ctr"/>
            <a:r>
              <a:rPr sz="1200" b="0">
                <a:solidFill>
                  <a:srgbClr val="EFAC62"/>
                </a:solidFill>
                <a:latin typeface="Helvetica"/>
              </a:rPr>
              <a:t>Tableau 36 : Intérêts d'une année sur l'encours EFC selon le taux servi</a:t>
            </a:r>
          </a:p>
        </p:txBody>
      </p:sp>
      <p:graphicFrame>
        <p:nvGraphicFramePr>
          <p:cNvPr id="32" name="Table 31"/>
          <p:cNvGraphicFramePr>
            <a:graphicFrameLocks noGrp="1"/>
          </p:cNvGraphicFramePr>
          <p:nvPr/>
        </p:nvGraphicFramePr>
        <p:xfrm>
          <a:off x="503999" y="1655999"/>
          <a:ext cx="11159999" cy="1558144"/>
        </p:xfrm>
        <a:graphic>
          <a:graphicData uri="http://schemas.openxmlformats.org/drawingml/2006/table">
            <a:tbl>
              <a:tblPr firstRow="0" bandRow="0">
                <a:tableStyleId>{5940675A-B579-460E-94D1-54222C63F5DA}</a:tableStyleId>
              </a:tblPr>
              <a:tblGrid>
                <a:gridCol w="1080000"/>
                <a:gridCol w="2160000"/>
                <a:gridCol w="1872000"/>
                <a:gridCol w="1872000"/>
                <a:gridCol w="2160000"/>
                <a:gridCol w="2015999"/>
              </a:tblGrid>
              <a:tr h="194768">
                <a:tc>
                  <a:txBody>
                    <a:bodyPr/>
                    <a:lstStyle/>
                    <a:p>
                      <a:pPr marL="0" indent="0" lvl="0">
                        <a:buNone/>
                      </a:pPr>
                      <a:r>
                        <a:rPr sz="900" b="1">
                          <a:solidFill>
                            <a:srgbClr val="FFFFFF"/>
                          </a:solidFill>
                          <a:latin typeface="Helvetica"/>
                        </a:rPr>
                        <a:t>Exercice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Encours EFC (41195200)</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Intérêts à 3,5 %</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Intérêts à 5,5 %</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Intérêts à 14 % (borne haute)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Produits financiers</a:t>
                      </a:r>
                    </a:p>
                  </a:txBody>
                  <a:tcPr marL="43200" marR="43200" marT="14400" marB="14400" anchor="ctr">
                    <a:solidFill>
                      <a:srgbClr val="060606"/>
                    </a:solidFill>
                  </a:tcPr>
                </a:tc>
              </a:tr>
              <a:tr h="194768">
                <a:tc>
                  <a:txBody>
                    <a:bodyPr/>
                    <a:lstStyle/>
                    <a:p>
                      <a:pPr marL="0" indent="0" lvl="0">
                        <a:buNone/>
                      </a:pPr>
                      <a:r>
                        <a:rPr sz="900" b="1">
                          <a:solidFill>
                            <a:srgbClr val="060606"/>
                          </a:solidFill>
                          <a:latin typeface="Helvetica"/>
                        </a:rPr>
                        <a:t>2020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3 461 975 893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121 169 156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190 408 674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484 676 625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2021</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3 785 064 982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132 477 274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208 178 574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529 909 097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32 409 354 FCFA</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2022</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4 453 948 287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155 888 190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244 967 156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623 552 760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7 258 416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2023</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5 561 470 959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194 651 484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305 880 903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778 605 934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7 124 778 FCFA</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2024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6 954 740 653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243 415 923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382 510 736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973 663 691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9 176 280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2025</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8 848 845 044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309 709 577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486 686 477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1 238 838 306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117 912 488 FCFA</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31/08/2026</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10 514 270 966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367 999 484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578 284 903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1 471 997 935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t>
                      </a:r>
                    </a:p>
                  </a:txBody>
                  <a:tcPr marL="43200" marR="43200" marT="14400" marB="14400" anchor="ctr">
                    <a:solidFill>
                      <a:srgbClr val="FFFFFF"/>
                    </a:solidFill>
                  </a:tcPr>
                </a:tc>
              </a:tr>
            </a:tbl>
          </a:graphicData>
        </a:graphic>
      </p:graphicFrame>
      <p:sp>
        <p:nvSpPr>
          <p:cNvPr id="33" name="TextBox 32"/>
          <p:cNvSpPr txBox="1"/>
          <p:nvPr/>
        </p:nvSpPr>
        <p:spPr>
          <a:xfrm>
            <a:off x="503999" y="3322149"/>
            <a:ext cx="11232000" cy="162000"/>
          </a:xfrm>
          <a:prstGeom prst="rect">
            <a:avLst/>
          </a:prstGeom>
          <a:noFill/>
        </p:spPr>
        <p:txBody>
          <a:bodyPr wrap="square" anchor="t" lIns="54000" rIns="54000"/>
          <a:lstStyle/>
          <a:p>
            <a:pPr algn="l"/>
            <a:r>
              <a:rPr sz="850" b="0">
                <a:solidFill>
                  <a:srgbClr val="53565A"/>
                </a:solidFill>
                <a:latin typeface="Helvetica"/>
              </a:rPr>
              <a:t>Valable pour : encours EFC comptable au 31/12 de 2020 à 2025 et au 31/08/2026, une année d'intérêts, sans projection ni capitalisation.</a:t>
            </a:r>
          </a:p>
        </p:txBody>
      </p:sp>
      <p:sp>
        <p:nvSpPr>
          <p:cNvPr id="34" name="TextBox 33"/>
          <p:cNvSpPr txBox="1"/>
          <p:nvPr/>
        </p:nvSpPr>
        <p:spPr>
          <a:xfrm>
            <a:off x="503999" y="3628149"/>
            <a:ext cx="11232000" cy="2239850"/>
          </a:xfrm>
          <a:prstGeom prst="rect">
            <a:avLst/>
          </a:prstGeom>
          <a:noFill/>
        </p:spPr>
        <p:txBody>
          <a:bodyPr wrap="square" lIns="54000" rIns="54000"/>
          <a:lstStyle/>
          <a:p>
            <a:pPr algn="just">
              <a:spcAft>
                <a:spcPts val="600"/>
              </a:spcAft>
            </a:pPr>
            <a:r>
              <a:rPr sz="1300" b="1">
                <a:solidFill>
                  <a:srgbClr val="060606"/>
                </a:solidFill>
                <a:latin typeface="Helvetica"/>
              </a:rPr>
              <a:t>Même au taux le plus bas (3,5 %), les intérêts d'une année sur l'EFC (309 709 577 FCFA en 2025) dépassent, chaque année de 2021 à 2025, les produits financiers de l'année.</a:t>
            </a:r>
          </a:p>
          <a:p>
            <a:pPr algn="just">
              <a:spcAft>
                <a:spcPts val="600"/>
              </a:spcAft>
            </a:pPr>
            <a:r>
              <a:rPr sz="1300" b="1">
                <a:solidFill>
                  <a:srgbClr val="060606"/>
                </a:solidFill>
                <a:latin typeface="Helvetica"/>
              </a:rPr>
              <a:t>L'épargne n'est couverte qu'en faible part par des actifs qui lui sont réservés (partie 6, adossement de l'épargne).</a:t>
            </a:r>
            <a:r>
              <a:rPr sz="1300" b="0">
                <a:solidFill>
                  <a:srgbClr val="060606"/>
                </a:solidFill>
                <a:latin typeface="Helvetica"/>
              </a:rPr>
              <a:t> Les produits de ces actifs ne suffisent pas à servir un taux, quel qu'il soit, sans recourir aux cotisations des garanties.</a:t>
            </a:r>
          </a:p>
          <a:p>
            <a:pPr algn="just">
              <a:spcAft>
                <a:spcPts val="600"/>
              </a:spcAft>
            </a:pPr>
            <a:r>
              <a:rPr sz="1300" b="0">
                <a:solidFill>
                  <a:srgbClr val="060606"/>
                </a:solidFill>
                <a:latin typeface="Helvetica"/>
              </a:rPr>
              <a:t>Le taux promis aux mutualistes doit être cohérent avec le rendement des actifs qui couvrent l'épargne. À défaut, chaque point de taux servi crée une perte récurrente que les excédents des garanties maladie et décès devront combler.</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PEP : Plan Épargne Plus | EFC : entraide fin de carrière</a:t>
            </a:r>
          </a:p>
        </p:txBody>
      </p:sp>
    </p:spTree>
    <p:extLst>
      <p:ext uri="{BB962C8B-B14F-4D97-AF65-F5344CB8AC3E}">
        <p14:creationId xmlns:p14="http://schemas.microsoft.com/office/powerpoint/2010/main" val="521665858"/>
      </p:ext>
    </p:extLst>
  </p:cSld>
  <p:clrMapOvr>
    <a:masterClrMapping/>
  </p:clrMapOvr>
  <p:transition>
    <p:fade/>
  </p:transition>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Épargne : intérêts dus non comptabilisés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Du 01/01/2020 au 31/08/2026, les intérêts dus selon le manuel d'épargne atteignent 3 278 913 238 FCFA</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Engagement d'épargne au 31/08/2026 : 15 743 516 391 FCFA au bilan, 19 022 429 629 FCFA avec les intérêts dus (PEP 3,5 %, EFC 5,5 %)</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CAHIER DE CHARGEEFC &amp; PEP 2021.pdf. MANUEL DE PRODUIT D'EPARGNE FPPN VF VF.docx. CARTOGRAPHIE DES RISQUES COUVERTS ET DES PRESTATIONS OFFERTES.docx (reçus le 22/10/2026). Entretien du chef comptable du 19/10/2026. Balances des comptes du FPPN de 2020 au 31/08/2026 (provisoire), fichiers « BALANCE … » listés en annexe « Fichiers sources ». Traitements Adenka. Onglet 21 du classeur des calculs</a:t>
            </a:r>
          </a:p>
        </p:txBody>
      </p:sp>
      <p:sp>
        <p:nvSpPr>
          <p:cNvPr id="31" name="TextBox 30"/>
          <p:cNvSpPr txBox="1"/>
          <p:nvPr/>
        </p:nvSpPr>
        <p:spPr>
          <a:xfrm>
            <a:off x="503999" y="1386000"/>
            <a:ext cx="11016000" cy="216000"/>
          </a:xfrm>
          <a:prstGeom prst="rect">
            <a:avLst/>
          </a:prstGeom>
          <a:noFill/>
        </p:spPr>
        <p:txBody>
          <a:bodyPr wrap="square" anchor="t" lIns="54000" rIns="54000"/>
          <a:lstStyle/>
          <a:p>
            <a:pPr algn="ctr"/>
            <a:r>
              <a:rPr sz="1200" b="0">
                <a:solidFill>
                  <a:srgbClr val="EFAC62"/>
                </a:solidFill>
                <a:latin typeface="Helvetica"/>
              </a:rPr>
              <a:t>Tableau 37 : Intérêts dus sur l'épargne, par exercice</a:t>
            </a:r>
          </a:p>
        </p:txBody>
      </p:sp>
      <p:graphicFrame>
        <p:nvGraphicFramePr>
          <p:cNvPr id="32" name="Table 31"/>
          <p:cNvGraphicFramePr>
            <a:graphicFrameLocks noGrp="1"/>
          </p:cNvGraphicFramePr>
          <p:nvPr/>
        </p:nvGraphicFramePr>
        <p:xfrm>
          <a:off x="503999" y="1655999"/>
          <a:ext cx="11015998" cy="1684332"/>
        </p:xfrm>
        <a:graphic>
          <a:graphicData uri="http://schemas.openxmlformats.org/drawingml/2006/table">
            <a:tbl>
              <a:tblPr firstRow="0" bandRow="0">
                <a:tableStyleId>{5940675A-B579-460E-94D1-54222C63F5DA}</a:tableStyleId>
              </a:tblPr>
              <a:tblGrid>
                <a:gridCol w="1080000"/>
                <a:gridCol w="1728000"/>
                <a:gridCol w="1728000"/>
                <a:gridCol w="1584000"/>
                <a:gridCol w="1584000"/>
                <a:gridCol w="1655999"/>
                <a:gridCol w="1655999"/>
              </a:tblGrid>
              <a:tr h="187148">
                <a:tc>
                  <a:txBody>
                    <a:bodyPr/>
                    <a:lstStyle/>
                    <a:p>
                      <a:pPr marL="0" indent="0" lvl="0">
                        <a:buNone/>
                      </a:pPr>
                      <a:r>
                        <a:rPr sz="850" b="1">
                          <a:solidFill>
                            <a:srgbClr val="FFFFFF"/>
                          </a:solidFill>
                          <a:latin typeface="Helvetica"/>
                        </a:rPr>
                        <a:t>Exercice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PEP moyen</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EFC moyenne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Intérêts PEP (3,5 %)</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Intérêts EFC (5,5 %)</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Total de l'année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Total si EFC à 3,5 %</a:t>
                      </a:r>
                    </a:p>
                  </a:txBody>
                  <a:tcPr marL="43200" marR="43200" marT="14400" marB="14400" anchor="ctr">
                    <a:solidFill>
                      <a:srgbClr val="060606"/>
                    </a:solidFill>
                  </a:tcPr>
                </a:tc>
              </a:tr>
              <a:tr h="187148">
                <a:tc>
                  <a:txBody>
                    <a:bodyPr/>
                    <a:lstStyle/>
                    <a:p>
                      <a:pPr marL="0" indent="0" lvl="0">
                        <a:buNone/>
                      </a:pPr>
                      <a:r>
                        <a:rPr sz="850" b="1">
                          <a:solidFill>
                            <a:srgbClr val="060606"/>
                          </a:solidFill>
                          <a:latin typeface="Helvetica"/>
                        </a:rPr>
                        <a:t>2020</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7 539 594 956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3 490 677 433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263 885 823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191 987 259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455 873 082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386 059 534 FCFA</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2021</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6 864 293 020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3 623 520 438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240 250 256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199 293 624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439 543 880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367 073 471 FCFA</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2022</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5 636 626 650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4 119 506 634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197 281 933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226 572 865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423 854 798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341 464 665 FCFA</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2023</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4 235 501 312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5 007 709 623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148 242 546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275 424 029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423 666 575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323 512 383 FCFA</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2024</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3 695 214 698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6 258 105 806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129 332 514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344 195 819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473 528 334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348 366 218 FCFA</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2025</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4 397 772 850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7 901 792 848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153 922 050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434 598 607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588 520 656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430 484 799 FCFA</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2026 (8 mois)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5 097 233 672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9 681 558 005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118 935 452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354 990 460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473 925 913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344 838 472 FCFA</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Total</a:t>
                      </a:r>
                    </a:p>
                  </a:txBody>
                  <a:tcPr marL="43200" marR="43200" marT="14400" marB="14400" anchor="ctr">
                    <a:solidFill>
                      <a:srgbClr val="F2F2F2"/>
                    </a:solidFill>
                  </a:tcPr>
                </a:tc>
                <a:tc>
                  <a:txBody>
                    <a:bodyPr/>
                    <a:lstStyle/>
                    <a:p>
                      <a:pPr marL="0" indent="0" lvl="0">
                        <a:buNone/>
                      </a:pPr>
                    </a:p>
                  </a:txBody>
                  <a:tcPr marL="43200" marR="43200" marT="14400" marB="14400" anchor="ctr">
                    <a:solidFill>
                      <a:srgbClr val="F2F2F2"/>
                    </a:solidFill>
                  </a:tcPr>
                </a:tc>
                <a:tc>
                  <a:txBody>
                    <a:bodyPr/>
                    <a:lstStyle/>
                    <a:p>
                      <a:pPr marL="0" indent="0" lvl="0">
                        <a:buNone/>
                      </a:pP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1 251 850 574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2 027 062 663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3 278 913 238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2 541 799 542 FCFA</a:t>
                      </a:r>
                    </a:p>
                  </a:txBody>
                  <a:tcPr marL="43200" marR="43200" marT="14400" marB="14400" anchor="ctr">
                    <a:solidFill>
                      <a:srgbClr val="F2F2F2"/>
                    </a:solidFill>
                  </a:tcPr>
                </a:tc>
              </a:tr>
            </a:tbl>
          </a:graphicData>
        </a:graphic>
      </p:graphicFrame>
      <p:sp>
        <p:nvSpPr>
          <p:cNvPr id="33" name="TextBox 32"/>
          <p:cNvSpPr txBox="1"/>
          <p:nvPr/>
        </p:nvSpPr>
        <p:spPr>
          <a:xfrm>
            <a:off x="503999" y="3448333"/>
            <a:ext cx="11232000" cy="306000"/>
          </a:xfrm>
          <a:prstGeom prst="rect">
            <a:avLst/>
          </a:prstGeom>
          <a:noFill/>
        </p:spPr>
        <p:txBody>
          <a:bodyPr wrap="square" anchor="t" lIns="54000" rIns="54000"/>
          <a:lstStyle/>
          <a:p>
            <a:pPr algn="l"/>
            <a:r>
              <a:rPr sz="850" b="0">
                <a:solidFill>
                  <a:srgbClr val="53565A"/>
                </a:solidFill>
                <a:latin typeface="Helvetica"/>
              </a:rPr>
              <a:t>Valable pour : soldes des comptes 41195100 (PEP) et 41195200 (EFC) du 01/09/2020 au 31/08/2026 (balances 2020 à 2025 et provisoire 2026), 2020 approché par les soldes du 01/09 et du 31/12. Taux du manuel d'épargne. Intérêts antérieurs au 01/01/2020 et capitalisation non comptés.</a:t>
            </a:r>
          </a:p>
        </p:txBody>
      </p:sp>
      <p:sp>
        <p:nvSpPr>
          <p:cNvPr id="34" name="TextBox 33"/>
          <p:cNvSpPr txBox="1"/>
          <p:nvPr/>
        </p:nvSpPr>
        <p:spPr>
          <a:xfrm>
            <a:off x="503999" y="3898333"/>
            <a:ext cx="11232000" cy="1969666"/>
          </a:xfrm>
          <a:prstGeom prst="rect">
            <a:avLst/>
          </a:prstGeom>
          <a:noFill/>
        </p:spPr>
        <p:txBody>
          <a:bodyPr wrap="square" lIns="54000" rIns="54000"/>
          <a:lstStyle/>
          <a:p>
            <a:pPr algn="just">
              <a:spcAft>
                <a:spcPts val="600"/>
              </a:spcAft>
            </a:pPr>
            <a:r>
              <a:rPr sz="1300" b="1">
                <a:solidFill>
                  <a:srgbClr val="060606"/>
                </a:solidFill>
                <a:latin typeface="Helvetica"/>
              </a:rPr>
              <a:t>Selon le taux retenu pour l'EFC, les intérêts dus depuis le 01/01/2020 sont compris entre 2 541 799 542 FCFA et 3 278 913 238 FCFA.</a:t>
            </a:r>
            <a:r>
              <a:rPr sz="1300" b="0">
                <a:solidFill>
                  <a:srgbClr val="060606"/>
                </a:solidFill>
                <a:latin typeface="Helvetica"/>
              </a:rPr>
              <a:t> Aucun de ces montants n'est comptabilisé : il n'existe ni charge d'intérêts ni dette d'intérêts dans les balances.</a:t>
            </a:r>
          </a:p>
          <a:p>
            <a:pPr algn="just">
              <a:spcAft>
                <a:spcPts val="600"/>
              </a:spcAft>
            </a:pPr>
            <a:r>
              <a:rPr sz="1300" b="1">
                <a:solidFill>
                  <a:srgbClr val="060606"/>
                </a:solidFill>
                <a:latin typeface="Helvetica"/>
              </a:rPr>
              <a:t>Au 31/12/2025, les intérêts dus atteignent déjà 2 804 987 325 FCFA</a:t>
            </a:r>
            <a:r>
              <a:rPr sz="1300" b="0">
                <a:solidFill>
                  <a:srgbClr val="060606"/>
                </a:solidFill>
                <a:latin typeface="Helvetica"/>
              </a:rPr>
              <a:t>, soit 16,1 fois les produits financiers du FPPN de 2021 à 2025 (173 881 316 FCFA).</a:t>
            </a:r>
          </a:p>
          <a:p>
            <a:pPr algn="just">
              <a:spcAft>
                <a:spcPts val="600"/>
              </a:spcAft>
            </a:pPr>
            <a:r>
              <a:rPr sz="1300" b="0">
                <a:solidFill>
                  <a:srgbClr val="060606"/>
                </a:solidFill>
                <a:latin typeface="Helvetica"/>
              </a:rPr>
              <a:t>Les intérêts dus sont une dette envers les mutualistes. Le taux servi doit être arrêté par une décision signée, puis les intérêts calculés compte par compte et comptabilisés chaque année.</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PEP : Plan Épargne Plus | EFC : entraide fin de carrière</a:t>
            </a:r>
          </a:p>
        </p:txBody>
      </p:sp>
    </p:spTree>
    <p:extLst>
      <p:ext uri="{BB962C8B-B14F-4D97-AF65-F5344CB8AC3E}">
        <p14:creationId xmlns:p14="http://schemas.microsoft.com/office/powerpoint/2010/main" val="2189486437"/>
      </p:ext>
    </p:extLst>
  </p:cSld>
  <p:clrMapOvr>
    <a:masterClrMapping/>
  </p:clrMapOvr>
  <p:transition>
    <p:fade/>
  </p:transition>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Rapport de gestion 2025 : l'épargne présentée est la collecte de l'année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rapport annonce 4,39 milliards de FCFA d'épargne, alors que la dette d'épargne atteint 13,81 milliards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Les montants du rapport de gestion 2025 sont les crédits de l'année des comptes 41195100 et 41195200, présentés comme « le montant de ces épargnes au 31/12/2025 »</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Rapport de Gestion  2025 Final (2).pdf, pages 97 et 98, tableau 2 (III). Balances des comptes du FPPN de 2020 au 31/08/2026 (provisoire), fichiers « BALANCE … » listés en annexe « Fichiers sources ». Traitements Adenka</a:t>
            </a:r>
          </a:p>
        </p:txBody>
      </p:sp>
      <p:sp>
        <p:nvSpPr>
          <p:cNvPr id="31" name="TextBox 30"/>
          <p:cNvSpPr txBox="1"/>
          <p:nvPr/>
        </p:nvSpPr>
        <p:spPr>
          <a:xfrm>
            <a:off x="503999" y="1386000"/>
            <a:ext cx="11160000" cy="216000"/>
          </a:xfrm>
          <a:prstGeom prst="rect">
            <a:avLst/>
          </a:prstGeom>
          <a:noFill/>
        </p:spPr>
        <p:txBody>
          <a:bodyPr wrap="square" anchor="t" lIns="54000" rIns="54000"/>
          <a:lstStyle/>
          <a:p>
            <a:pPr algn="ctr"/>
            <a:r>
              <a:rPr sz="1200" b="0">
                <a:solidFill>
                  <a:srgbClr val="EFAC62"/>
                </a:solidFill>
                <a:latin typeface="Helvetica"/>
              </a:rPr>
              <a:t>Tableau 38 : Épargne au 31/12/2025 : rapport de gestion et balance</a:t>
            </a:r>
          </a:p>
        </p:txBody>
      </p:sp>
      <p:graphicFrame>
        <p:nvGraphicFramePr>
          <p:cNvPr id="32" name="Table 31"/>
          <p:cNvGraphicFramePr>
            <a:graphicFrameLocks noGrp="1"/>
          </p:cNvGraphicFramePr>
          <p:nvPr/>
        </p:nvGraphicFramePr>
        <p:xfrm>
          <a:off x="503999" y="1655999"/>
          <a:ext cx="11159999" cy="779072"/>
        </p:xfrm>
        <a:graphic>
          <a:graphicData uri="http://schemas.openxmlformats.org/drawingml/2006/table">
            <a:tbl>
              <a:tblPr firstRow="0" bandRow="0">
                <a:tableStyleId>{5940675A-B579-460E-94D1-54222C63F5DA}</a:tableStyleId>
              </a:tblPr>
              <a:tblGrid>
                <a:gridCol w="1655999"/>
                <a:gridCol w="2304000"/>
                <a:gridCol w="2304000"/>
                <a:gridCol w="2448000"/>
                <a:gridCol w="2448000"/>
              </a:tblGrid>
              <a:tr h="194768">
                <a:tc>
                  <a:txBody>
                    <a:bodyPr/>
                    <a:lstStyle/>
                    <a:p>
                      <a:pPr marL="0" indent="0" lvl="0">
                        <a:buNone/>
                      </a:pPr>
                      <a:r>
                        <a:rPr sz="900" b="1">
                          <a:solidFill>
                            <a:srgbClr val="FFFFFF"/>
                          </a:solidFill>
                          <a:latin typeface="Helvetica"/>
                        </a:rPr>
                        <a:t>Compte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Rapport de gestion 2025</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Crédits de l'année (balance)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Solde au 31/12/2025 (balance)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Solde au 31/12/2024 (balance)</a:t>
                      </a:r>
                    </a:p>
                  </a:txBody>
                  <a:tcPr marL="43200" marR="43200" marT="14400" marB="14400" anchor="ctr">
                    <a:solidFill>
                      <a:srgbClr val="060606"/>
                    </a:solidFill>
                  </a:tcPr>
                </a:tc>
              </a:tr>
              <a:tr h="194768">
                <a:tc>
                  <a:txBody>
                    <a:bodyPr/>
                    <a:lstStyle/>
                    <a:p>
                      <a:pPr marL="0" indent="0" lvl="0">
                        <a:buNone/>
                      </a:pPr>
                      <a:r>
                        <a:rPr sz="900" b="1">
                          <a:solidFill>
                            <a:srgbClr val="060606"/>
                          </a:solidFill>
                          <a:latin typeface="Helvetica"/>
                        </a:rPr>
                        <a:t>PEP (41195100)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2 038 935 495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2 038 935 495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4 965 221 920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3 830 323 779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EFC (41195200)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2 348 888 140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2 348 888 140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8 848 845 044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6 954 740 653 FCFA</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Total</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4 387 823 635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4 387 823 635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13 814 066 964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10 785 064 432 FCFA</a:t>
                      </a:r>
                    </a:p>
                  </a:txBody>
                  <a:tcPr marL="43200" marR="43200" marT="14400" marB="14400" anchor="ctr">
                    <a:solidFill>
                      <a:srgbClr val="FFFFFF"/>
                    </a:solidFill>
                  </a:tcPr>
                </a:tc>
              </a:tr>
            </a:tbl>
          </a:graphicData>
        </a:graphic>
      </p:graphicFrame>
      <p:sp>
        <p:nvSpPr>
          <p:cNvPr id="33" name="TextBox 32"/>
          <p:cNvSpPr txBox="1"/>
          <p:nvPr/>
        </p:nvSpPr>
        <p:spPr>
          <a:xfrm>
            <a:off x="503999" y="2543074"/>
            <a:ext cx="11232000" cy="162000"/>
          </a:xfrm>
          <a:prstGeom prst="rect">
            <a:avLst/>
          </a:prstGeom>
          <a:noFill/>
        </p:spPr>
        <p:txBody>
          <a:bodyPr wrap="square" anchor="t" lIns="54000" rIns="54000"/>
          <a:lstStyle/>
          <a:p>
            <a:pPr algn="l"/>
            <a:r>
              <a:rPr sz="850" b="0">
                <a:solidFill>
                  <a:srgbClr val="53565A"/>
                </a:solidFill>
                <a:latin typeface="Helvetica"/>
              </a:rPr>
              <a:t>Valable pour : exercice 2025. Les rapports de gestion des autres années n'ont pas été contrôlés sur ce point.</a:t>
            </a:r>
          </a:p>
        </p:txBody>
      </p:sp>
      <p:sp>
        <p:nvSpPr>
          <p:cNvPr id="34" name="TextBox 33"/>
          <p:cNvSpPr txBox="1"/>
          <p:nvPr/>
        </p:nvSpPr>
        <p:spPr>
          <a:xfrm>
            <a:off x="503999" y="2849074"/>
            <a:ext cx="11232000" cy="3018925"/>
          </a:xfrm>
          <a:prstGeom prst="rect">
            <a:avLst/>
          </a:prstGeom>
          <a:noFill/>
        </p:spPr>
        <p:txBody>
          <a:bodyPr wrap="square" lIns="54000" rIns="54000"/>
          <a:lstStyle/>
          <a:p>
            <a:pPr algn="just">
              <a:spcAft>
                <a:spcPts val="600"/>
              </a:spcAft>
            </a:pPr>
            <a:r>
              <a:rPr sz="1300" b="1">
                <a:solidFill>
                  <a:srgbClr val="060606"/>
                </a:solidFill>
                <a:latin typeface="Helvetica"/>
              </a:rPr>
              <a:t>Les montants du rapport de gestion sont exactement les crédits de l'année dans la balance</a:t>
            </a:r>
            <a:r>
              <a:rPr sz="1300" b="0">
                <a:solidFill>
                  <a:srgbClr val="060606"/>
                </a:solidFill>
                <a:latin typeface="Helvetica"/>
              </a:rPr>
              <a:t>, c'est-à-dire les cotisations d'épargne collectées en 2025, et non l'épargne due aux mutualistes.</a:t>
            </a:r>
          </a:p>
          <a:p>
            <a:pPr algn="just">
              <a:spcAft>
                <a:spcPts val="600"/>
              </a:spcAft>
            </a:pPr>
            <a:r>
              <a:rPr sz="1300" b="1">
                <a:solidFill>
                  <a:srgbClr val="060606"/>
                </a:solidFill>
                <a:latin typeface="Helvetica"/>
              </a:rPr>
              <a:t>La dette d'épargne réelle au 31/12/2025 est plus de trois fois supérieure au montant présenté.</a:t>
            </a:r>
            <a:r>
              <a:rPr sz="1300" b="0">
                <a:solidFill>
                  <a:srgbClr val="060606"/>
                </a:solidFill>
                <a:latin typeface="Helvetica"/>
              </a:rPr>
              <a:t> Le rapport compare aussi la collecte 2025 à la collecte 2024 en la qualifiant de « variation » de l'épargne.</a:t>
            </a:r>
          </a:p>
          <a:p>
            <a:pPr algn="just">
              <a:spcAft>
                <a:spcPts val="600"/>
              </a:spcAft>
            </a:pPr>
            <a:r>
              <a:rPr sz="1300" b="0">
                <a:solidFill>
                  <a:srgbClr val="060606"/>
                </a:solidFill>
                <a:latin typeface="Helvetica"/>
              </a:rPr>
              <a:t>L'information donnée à l'Assemblée générale minore l'engagement d'épargne du FPPN. Le rapport de gestion doit présenter le solde dû aux mutualistes, distinct de la collecte de l'année (PBC, item 77).</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PEP : Plan Épargne Plus | EFC : entraide fin de carrière | PBC : liste des documents demandés au client</a:t>
            </a:r>
          </a:p>
        </p:txBody>
      </p:sp>
    </p:spTree>
    <p:extLst>
      <p:ext uri="{BB962C8B-B14F-4D97-AF65-F5344CB8AC3E}">
        <p14:creationId xmlns:p14="http://schemas.microsoft.com/office/powerpoint/2010/main" val="1576115978"/>
      </p:ext>
    </p:extLst>
  </p:cSld>
  <p:clrMapOvr>
    <a:masterClrMapping/>
  </p:clrMapOvr>
  <p:transition>
    <p:fade/>
  </p:transition>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Google Shape;8651;p70"/>
          <p:cNvSpPr/>
          <p:nvPr/>
        </p:nvSpPr>
        <p:spPr>
          <a:xfrm>
            <a:off x="2013108" y="2588204"/>
            <a:ext cx="1380332" cy="1428252"/>
          </a:xfrm>
          <a:custGeom>
            <a:avLst/>
            <a:gdLst/>
            <a:ahLst/>
            <a:cxnLst/>
            <a:rect l="l" t="t" r="r" b="b"/>
            <a:pathLst>
              <a:path w="8670" h="8971" extrusionOk="0">
                <a:moveTo>
                  <a:pt x="7105" y="1302"/>
                </a:moveTo>
                <a:cubicBezTo>
                  <a:pt x="7105" y="1315"/>
                  <a:pt x="7105" y="1328"/>
                  <a:pt x="7105" y="1341"/>
                </a:cubicBezTo>
                <a:cubicBezTo>
                  <a:pt x="7118" y="1980"/>
                  <a:pt x="7183" y="2619"/>
                  <a:pt x="7183" y="3283"/>
                </a:cubicBezTo>
                <a:cubicBezTo>
                  <a:pt x="7170" y="4404"/>
                  <a:pt x="7183" y="5525"/>
                  <a:pt x="7222" y="6646"/>
                </a:cubicBezTo>
                <a:cubicBezTo>
                  <a:pt x="7235" y="6959"/>
                  <a:pt x="7222" y="7259"/>
                  <a:pt x="7222" y="7559"/>
                </a:cubicBezTo>
                <a:lnTo>
                  <a:pt x="7222" y="7585"/>
                </a:lnTo>
                <a:cubicBezTo>
                  <a:pt x="6935" y="7598"/>
                  <a:pt x="6649" y="7611"/>
                  <a:pt x="6362" y="7611"/>
                </a:cubicBezTo>
                <a:cubicBezTo>
                  <a:pt x="6101" y="7598"/>
                  <a:pt x="5853" y="7585"/>
                  <a:pt x="5593" y="7585"/>
                </a:cubicBezTo>
                <a:cubicBezTo>
                  <a:pt x="4159" y="7559"/>
                  <a:pt x="2712" y="7559"/>
                  <a:pt x="1291" y="7442"/>
                </a:cubicBezTo>
                <a:cubicBezTo>
                  <a:pt x="1278" y="7207"/>
                  <a:pt x="1239" y="6959"/>
                  <a:pt x="1226" y="6725"/>
                </a:cubicBezTo>
                <a:cubicBezTo>
                  <a:pt x="1200" y="6255"/>
                  <a:pt x="1187" y="5799"/>
                  <a:pt x="1200" y="5330"/>
                </a:cubicBezTo>
                <a:cubicBezTo>
                  <a:pt x="1213" y="4222"/>
                  <a:pt x="1226" y="3101"/>
                  <a:pt x="1343" y="1993"/>
                </a:cubicBezTo>
                <a:lnTo>
                  <a:pt x="1552" y="1993"/>
                </a:lnTo>
                <a:cubicBezTo>
                  <a:pt x="2138" y="1980"/>
                  <a:pt x="2725" y="1889"/>
                  <a:pt x="3312" y="1810"/>
                </a:cubicBezTo>
                <a:cubicBezTo>
                  <a:pt x="4576" y="1641"/>
                  <a:pt x="5840" y="1524"/>
                  <a:pt x="7105" y="1302"/>
                </a:cubicBezTo>
                <a:close/>
                <a:moveTo>
                  <a:pt x="7529" y="1"/>
                </a:moveTo>
                <a:cubicBezTo>
                  <a:pt x="7291" y="1"/>
                  <a:pt x="7059" y="53"/>
                  <a:pt x="6818" y="64"/>
                </a:cubicBezTo>
                <a:cubicBezTo>
                  <a:pt x="6375" y="103"/>
                  <a:pt x="5932" y="142"/>
                  <a:pt x="5488" y="194"/>
                </a:cubicBezTo>
                <a:cubicBezTo>
                  <a:pt x="4824" y="259"/>
                  <a:pt x="4107" y="350"/>
                  <a:pt x="3429" y="389"/>
                </a:cubicBezTo>
                <a:cubicBezTo>
                  <a:pt x="2686" y="429"/>
                  <a:pt x="1943" y="481"/>
                  <a:pt x="1213" y="598"/>
                </a:cubicBezTo>
                <a:cubicBezTo>
                  <a:pt x="913" y="624"/>
                  <a:pt x="652" y="728"/>
                  <a:pt x="509" y="976"/>
                </a:cubicBezTo>
                <a:cubicBezTo>
                  <a:pt x="470" y="1028"/>
                  <a:pt x="444" y="1080"/>
                  <a:pt x="431" y="1146"/>
                </a:cubicBezTo>
                <a:cubicBezTo>
                  <a:pt x="300" y="1524"/>
                  <a:pt x="287" y="1928"/>
                  <a:pt x="300" y="2332"/>
                </a:cubicBezTo>
                <a:cubicBezTo>
                  <a:pt x="209" y="3010"/>
                  <a:pt x="209" y="3700"/>
                  <a:pt x="209" y="4378"/>
                </a:cubicBezTo>
                <a:cubicBezTo>
                  <a:pt x="170" y="4769"/>
                  <a:pt x="144" y="5173"/>
                  <a:pt x="131" y="5565"/>
                </a:cubicBezTo>
                <a:cubicBezTo>
                  <a:pt x="105" y="6203"/>
                  <a:pt x="14" y="6842"/>
                  <a:pt x="14" y="7481"/>
                </a:cubicBezTo>
                <a:cubicBezTo>
                  <a:pt x="1" y="7911"/>
                  <a:pt x="157" y="8315"/>
                  <a:pt x="613" y="8419"/>
                </a:cubicBezTo>
                <a:cubicBezTo>
                  <a:pt x="1056" y="8550"/>
                  <a:pt x="1526" y="8524"/>
                  <a:pt x="1982" y="8550"/>
                </a:cubicBezTo>
                <a:cubicBezTo>
                  <a:pt x="2243" y="8563"/>
                  <a:pt x="2503" y="8589"/>
                  <a:pt x="2764" y="8615"/>
                </a:cubicBezTo>
                <a:cubicBezTo>
                  <a:pt x="3885" y="8745"/>
                  <a:pt x="5006" y="8902"/>
                  <a:pt x="6140" y="8941"/>
                </a:cubicBezTo>
                <a:cubicBezTo>
                  <a:pt x="6220" y="8945"/>
                  <a:pt x="6302" y="8946"/>
                  <a:pt x="6383" y="8946"/>
                </a:cubicBezTo>
                <a:cubicBezTo>
                  <a:pt x="6581" y="8946"/>
                  <a:pt x="6781" y="8937"/>
                  <a:pt x="6974" y="8928"/>
                </a:cubicBezTo>
                <a:cubicBezTo>
                  <a:pt x="7118" y="8941"/>
                  <a:pt x="7274" y="8941"/>
                  <a:pt x="7418" y="8941"/>
                </a:cubicBezTo>
                <a:cubicBezTo>
                  <a:pt x="7568" y="8956"/>
                  <a:pt x="7723" y="8971"/>
                  <a:pt x="7877" y="8971"/>
                </a:cubicBezTo>
                <a:cubicBezTo>
                  <a:pt x="7990" y="8971"/>
                  <a:pt x="8103" y="8963"/>
                  <a:pt x="8213" y="8941"/>
                </a:cubicBezTo>
                <a:cubicBezTo>
                  <a:pt x="8643" y="8810"/>
                  <a:pt x="8565" y="8093"/>
                  <a:pt x="8604" y="7741"/>
                </a:cubicBezTo>
                <a:cubicBezTo>
                  <a:pt x="8669" y="6620"/>
                  <a:pt x="8539" y="5499"/>
                  <a:pt x="8487" y="4378"/>
                </a:cubicBezTo>
                <a:cubicBezTo>
                  <a:pt x="8434" y="3453"/>
                  <a:pt x="8330" y="2527"/>
                  <a:pt x="8252" y="1589"/>
                </a:cubicBezTo>
                <a:cubicBezTo>
                  <a:pt x="8200" y="1341"/>
                  <a:pt x="8239" y="637"/>
                  <a:pt x="8096" y="350"/>
                </a:cubicBezTo>
                <a:lnTo>
                  <a:pt x="8082" y="350"/>
                </a:lnTo>
                <a:cubicBezTo>
                  <a:pt x="8056" y="181"/>
                  <a:pt x="7952" y="51"/>
                  <a:pt x="7704" y="11"/>
                </a:cubicBezTo>
                <a:cubicBezTo>
                  <a:pt x="7645" y="4"/>
                  <a:pt x="7587" y="1"/>
                  <a:pt x="7529" y="1"/>
                </a:cubicBezTo>
                <a:close/>
              </a:path>
            </a:pathLst>
          </a:custGeom>
          <a:solidFill>
            <a:schemeClr val="bg1"/>
          </a:solidFill>
          <a:ln w="76200">
            <a:solidFill>
              <a:schemeClr val="tx1"/>
            </a:solid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5" name="Rectangle 24">
            <a:extLst>
              <a:ext uri="{FF2B5EF4-FFF2-40B4-BE49-F238E27FC236}">
                <a16:creationId xmlns:a16="http://schemas.microsoft.com/office/drawing/2014/main" id="{9B9B23AA-050D-4543-80A0-873FE31AFFF7}"/>
              </a:ext>
            </a:extLst>
          </p:cNvPr>
          <p:cNvSpPr/>
          <p:nvPr/>
        </p:nvSpPr>
        <p:spPr>
          <a:xfrm>
            <a:off x="2446471" y="2869098"/>
            <a:ext cx="513606" cy="936923"/>
          </a:xfrm>
          <a:prstGeom prst="rect">
            <a:avLst/>
          </a:prstGeom>
        </p:spPr>
        <p:txBody>
          <a:bodyPr wrap="square" lIns="0" tIns="0" rIns="0" bIns="0">
            <a:spAutoFit/>
          </a:bodyPr>
          <a:lstStyle/>
          <a:p>
            <a:pPr lvl="0">
              <a:lnSpc>
                <a:spcPct val="110000"/>
              </a:lnSpc>
            </a:pPr>
            <a:r>
              <a:rPr lang="fr-CI" sz="60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7</a:t>
            </a:r>
          </a:p>
        </p:txBody>
      </p:sp>
      <p:sp>
        <p:nvSpPr>
          <p:cNvPr id="10" name="Rectangle 9"/>
          <p:cNvSpPr/>
          <p:nvPr/>
        </p:nvSpPr>
        <p:spPr>
          <a:xfrm>
            <a:off x="3938554" y="2462184"/>
            <a:ext cx="3816000" cy="1200329"/>
          </a:xfrm>
          <a:prstGeom prst="rect">
            <a:avLst/>
          </a:prstGeom>
        </p:spPr>
        <p:txBody>
          <a:bodyPr wrap="square">
            <a:spAutoFit/>
          </a:bodyPr>
          <a:lstStyle/>
          <a:p>
            <a:r>
              <a:rPr lang="fr-CI" sz="3600" b="1" noProof="0">
                <a:solidFill>
                  <a:schemeClr val="bg1"/>
                </a:solidFill>
                <a:latin typeface="Helvetica" panose="020B0604020202020204" pitchFamily="34" charset="0"/>
                <a:cs typeface="Helvetica" panose="020B0604020202020204" pitchFamily="34" charset="0"/>
              </a:rPr>
              <a:t>Prêts du Grenier</a:t>
            </a:r>
          </a:p>
        </p:txBody>
      </p:sp>
      <p:pic>
        <p:nvPicPr>
          <p:cNvPr id="9" name="Image 8">
            <a:extLst>
              <a:ext uri="{FF2B5EF4-FFF2-40B4-BE49-F238E27FC236}">
                <a16:creationId xmlns:a16="http://schemas.microsoft.com/office/drawing/2014/main" id="{2C356854-0685-DCEF-E2F6-65D5E9653A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1274" y="-185107"/>
            <a:ext cx="3179518" cy="1268781"/>
          </a:xfrm>
          <a:prstGeom prst="rect">
            <a:avLst/>
          </a:prstGeom>
        </p:spPr>
      </p:pic>
      <p:sp>
        <p:nvSpPr>
          <p:cNvPr id="6" name="Rectangle 5"/>
          <p:cNvSpPr/>
          <p:nvPr/>
        </p:nvSpPr>
        <p:spPr>
          <a:xfrm>
            <a:off x="3938554" y="3337559"/>
            <a:ext cx="3816000" cy="923330"/>
          </a:xfrm>
          <a:prstGeom prst="rect">
            <a:avLst/>
          </a:prstGeom>
        </p:spPr>
        <p:txBody>
          <a:bodyPr wrap="square">
            <a:spAutoFit/>
          </a:bodyPr>
          <a:lstStyle/>
          <a:p>
            <a:br>
              <a:rPr lang="fr-CI" noProof="0">
                <a:solidFill>
                  <a:schemeClr val="bg1"/>
                </a:solidFill>
              </a:rPr>
            </a:br>
            <a:r>
              <a:rPr lang="fr-CI" noProof="0">
                <a:solidFill>
                  <a:srgbClr val="EFAC62"/>
                </a:solidFill>
                <a:latin typeface="Helvetica" panose="020B0604020202020204" pitchFamily="34" charset="0"/>
                <a:ea typeface="Open Sans Light" panose="020B0306030504020204" pitchFamily="34" charset="0"/>
                <a:cs typeface="Helvetica" panose="020B0604020202020204" pitchFamily="34" charset="0"/>
              </a:rPr>
              <a:t>Encours, production, retards, précomptes</a:t>
            </a:r>
          </a:p>
        </p:txBody>
      </p:sp>
      <p:pic>
        <p:nvPicPr>
          <p:cNvPr id="11" name="Imag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5561" y="2415481"/>
            <a:ext cx="1566911" cy="1600975"/>
          </a:xfrm>
          <a:prstGeom prst="rect">
            <a:avLst/>
          </a:prstGeom>
        </p:spPr>
      </p:pic>
    </p:spTree>
    <p:extLst>
      <p:ext uri="{BB962C8B-B14F-4D97-AF65-F5344CB8AC3E}">
        <p14:creationId xmlns:p14="http://schemas.microsoft.com/office/powerpoint/2010/main" val="1959183956"/>
      </p:ext>
    </p:extLst>
  </p:cSld>
  <p:clrMapOvr>
    <a:masterClrMapping/>
  </p:clrMapOvr>
  <p:transition>
    <p:fade/>
  </p:transition>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7" name="Image 36"/>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3" name="Rectangle 22">
            <a:extLst>
              <a:ext uri="{FF2B5EF4-FFF2-40B4-BE49-F238E27FC236}">
                <a16:creationId xmlns:a16="http://schemas.microsoft.com/office/drawing/2014/main" id="{4CD23CFE-3F31-4BA9-B26F-B9B5B351518E}"/>
              </a:ext>
            </a:extLst>
          </p:cNvPr>
          <p:cNvSpPr/>
          <p:nvPr/>
        </p:nvSpPr>
        <p:spPr>
          <a:xfrm>
            <a:off x="2106184" y="1811264"/>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Part en retard (montant)</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Adenka rapporte l'encours des prêts en retard de plus de 30 jours à l'encours total, sur les 37 balances âgées reçues.</a:t>
            </a:r>
          </a:p>
        </p:txBody>
      </p:sp>
      <p:sp>
        <p:nvSpPr>
          <p:cNvPr id="28" name="Rectangle 27">
            <a:extLst>
              <a:ext uri="{FF2B5EF4-FFF2-40B4-BE49-F238E27FC236}">
                <a16:creationId xmlns:a16="http://schemas.microsoft.com/office/drawing/2014/main" id="{9B9B23AA-050D-4543-80A0-873FE31AFFF7}"/>
              </a:ext>
            </a:extLst>
          </p:cNvPr>
          <p:cNvSpPr/>
          <p:nvPr/>
        </p:nvSpPr>
        <p:spPr>
          <a:xfrm>
            <a:off x="1538714" y="1463475"/>
            <a:ext cx="5748535" cy="166944"/>
          </a:xfrm>
          <a:prstGeom prst="rect">
            <a:avLst/>
          </a:prstGeom>
        </p:spPr>
        <p:txBody>
          <a:bodyPr wrap="square" lIns="0" tIns="0" rIns="0" bIns="0">
            <a:sp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
            </a:r>
          </a:p>
        </p:txBody>
      </p:sp>
      <p:cxnSp>
        <p:nvCxnSpPr>
          <p:cNvPr id="29" name="Straight Connector 28">
            <a:extLst>
              <a:ext uri="{FF2B5EF4-FFF2-40B4-BE49-F238E27FC236}">
                <a16:creationId xmlns:a16="http://schemas.microsoft.com/office/drawing/2014/main" id="{09E553D9-3562-45A7-BE4B-0F12FAA0490F}"/>
              </a:ext>
            </a:extLst>
          </p:cNvPr>
          <p:cNvCxnSpPr>
            <a:cxnSpLocks/>
          </p:cNvCxnSpPr>
          <p:nvPr/>
        </p:nvCxnSpPr>
        <p:spPr>
          <a:xfrm>
            <a:off x="916803" y="1707866"/>
            <a:ext cx="0" cy="3668091"/>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DA735D38-741F-4EFB-826C-6F87FD459AB4}"/>
              </a:ext>
            </a:extLst>
          </p:cNvPr>
          <p:cNvCxnSpPr/>
          <p:nvPr/>
        </p:nvCxnSpPr>
        <p:spPr>
          <a:xfrm>
            <a:off x="916803" y="2291826"/>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EBCFE36B-AE16-49E8-90A6-6621A0EB0473}"/>
              </a:ext>
            </a:extLst>
          </p:cNvPr>
          <p:cNvCxnSpPr/>
          <p:nvPr/>
        </p:nvCxnSpPr>
        <p:spPr>
          <a:xfrm>
            <a:off x="916803" y="3273370"/>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2697F6E2-C26B-4E5F-B7F9-95C6E9325040}"/>
              </a:ext>
            </a:extLst>
          </p:cNvPr>
          <p:cNvCxnSpPr/>
          <p:nvPr/>
        </p:nvCxnSpPr>
        <p:spPr>
          <a:xfrm>
            <a:off x="916803" y="5368324"/>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4CD23CFE-3F31-4BA9-B26F-B9B5B351518E}"/>
              </a:ext>
            </a:extLst>
          </p:cNvPr>
          <p:cNvSpPr/>
          <p:nvPr/>
        </p:nvSpPr>
        <p:spPr>
          <a:xfrm>
            <a:off x="2103510" y="2847523"/>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Part en retard (nombre)</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Adenka rapporte le nombre de prêts en retard au nombre de prêts au 31/08/2026, avec un intervalle de confiance de Wilson à 95 %.</a:t>
            </a:r>
          </a:p>
        </p:txBody>
      </p:sp>
      <p:sp>
        <p:nvSpPr>
          <p:cNvPr id="33" name="Rectangle 32">
            <a:extLst>
              <a:ext uri="{FF2B5EF4-FFF2-40B4-BE49-F238E27FC236}">
                <a16:creationId xmlns:a16="http://schemas.microsoft.com/office/drawing/2014/main" id="{4CD23CFE-3F31-4BA9-B26F-B9B5B351518E}"/>
              </a:ext>
            </a:extLst>
          </p:cNvPr>
          <p:cNvSpPr/>
          <p:nvPr/>
        </p:nvSpPr>
        <p:spPr>
          <a:xfrm>
            <a:off x="2125344" y="3881185"/>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Précompte des échéances</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Adenka rapporte les précomptes 9X4 du mois aux échéances des prêts en cours, pour les mois de 2026.</a:t>
            </a:r>
          </a:p>
        </p:txBody>
      </p:sp>
      <p:sp>
        <p:nvSpPr>
          <p:cNvPr id="34" name="Rectangle 33">
            <a:extLst>
              <a:ext uri="{FF2B5EF4-FFF2-40B4-BE49-F238E27FC236}">
                <a16:creationId xmlns:a16="http://schemas.microsoft.com/office/drawing/2014/main" id="{4CD23CFE-3F31-4BA9-B26F-B9B5B351518E}"/>
              </a:ext>
            </a:extLst>
          </p:cNvPr>
          <p:cNvSpPr/>
          <p:nvPr/>
        </p:nvSpPr>
        <p:spPr>
          <a:xfrm>
            <a:off x="2122670" y="4917444"/>
            <a:ext cx="9685766" cy="901761"/>
          </a:xfrm>
          <a:prstGeom prst="rect">
            <a:avLst/>
          </a:prstGeom>
          <a:ln w="12700">
            <a:solidFill>
              <a:srgbClr val="112A40"/>
            </a:solidFill>
          </a:ln>
        </p:spPr>
        <p:txBody>
          <a:bodyPr wrap="square" lIns="162000" tIns="54000" rIns="72000" bIns="54000" anchor="ctr">
            <a:noAutofit/>
          </a:bodyPr>
          <a:lstStyle/>
          <a:p>
            <a:pPr lvl="1">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Limite</a:t>
            </a:r>
          </a:p>
          <a:p>
            <a:pPr lvl="1">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Le retard est celui que calcule le logiciel de prêts. Il dépend de la date à laquelle la Solde verse les précomptes.</a:t>
            </a:r>
            <a:endParaRPr lang="fr-CI" sz="1200">
              <a:latin typeface="Helvetica" panose="020B0604020202020204" pitchFamily="34" charset="0"/>
              <a:ea typeface="Open Sans Light" panose="020B0306030504020204" pitchFamily="34" charset="0"/>
              <a:cs typeface="Helvetica" panose="020B0604020202020204" pitchFamily="34" charset="0"/>
            </a:endParaRPr>
          </a:p>
        </p:txBody>
      </p:sp>
      <p:cxnSp>
        <p:nvCxnSpPr>
          <p:cNvPr id="39" name="Straight Connector 30">
            <a:extLst>
              <a:ext uri="{FF2B5EF4-FFF2-40B4-BE49-F238E27FC236}">
                <a16:creationId xmlns:a16="http://schemas.microsoft.com/office/drawing/2014/main" id="{EBCFE36B-AE16-49E8-90A6-6621A0EB0473}"/>
              </a:ext>
            </a:extLst>
          </p:cNvPr>
          <p:cNvCxnSpPr/>
          <p:nvPr/>
        </p:nvCxnSpPr>
        <p:spPr>
          <a:xfrm>
            <a:off x="919504" y="4326976"/>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grpSp>
        <p:nvGrpSpPr>
          <p:cNvPr id="11" name="Groupe 10"/>
          <p:cNvGrpSpPr/>
          <p:nvPr/>
        </p:nvGrpSpPr>
        <p:grpSpPr>
          <a:xfrm>
            <a:off x="1554870" y="2047565"/>
            <a:ext cx="548640" cy="548640"/>
            <a:chOff x="-1153645" y="1535690"/>
            <a:chExt cx="548640" cy="548640"/>
          </a:xfrm>
        </p:grpSpPr>
        <p:sp>
          <p:nvSpPr>
            <p:cNvPr id="36" name="Oval 21">
              <a:extLst>
                <a:ext uri="{FF2B5EF4-FFF2-40B4-BE49-F238E27FC236}">
                  <a16:creationId xmlns:a16="http://schemas.microsoft.com/office/drawing/2014/main" id="{7BB796F0-2DE6-45B1-851B-D8991F423CF4}"/>
                </a:ext>
              </a:extLst>
            </p:cNvPr>
            <p:cNvSpPr/>
            <p:nvPr/>
          </p:nvSpPr>
          <p:spPr bwMode="gray">
            <a:xfrm>
              <a:off x="-1153645" y="1535690"/>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40" name="Image 3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3163" y="1564148"/>
              <a:ext cx="486259" cy="491723"/>
            </a:xfrm>
            <a:prstGeom prst="rect">
              <a:avLst/>
            </a:prstGeom>
          </p:spPr>
        </p:pic>
      </p:grpSp>
      <p:grpSp>
        <p:nvGrpSpPr>
          <p:cNvPr id="12" name="Groupe 11"/>
          <p:cNvGrpSpPr/>
          <p:nvPr/>
        </p:nvGrpSpPr>
        <p:grpSpPr>
          <a:xfrm>
            <a:off x="1557425" y="3008849"/>
            <a:ext cx="548640" cy="548640"/>
            <a:chOff x="-1154302" y="2719457"/>
            <a:chExt cx="548640" cy="548640"/>
          </a:xfrm>
        </p:grpSpPr>
        <p:sp>
          <p:nvSpPr>
            <p:cNvPr id="42" name="Oval 21">
              <a:extLst>
                <a:ext uri="{FF2B5EF4-FFF2-40B4-BE49-F238E27FC236}">
                  <a16:creationId xmlns:a16="http://schemas.microsoft.com/office/drawing/2014/main" id="{7BB796F0-2DE6-45B1-851B-D8991F423CF4}"/>
                </a:ext>
              </a:extLst>
            </p:cNvPr>
            <p:cNvSpPr/>
            <p:nvPr/>
          </p:nvSpPr>
          <p:spPr bwMode="gray">
            <a:xfrm>
              <a:off x="-1154302" y="2719457"/>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7" name="Imag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4901" y="2781886"/>
              <a:ext cx="396274" cy="396274"/>
            </a:xfrm>
            <a:prstGeom prst="rect">
              <a:avLst/>
            </a:prstGeom>
          </p:spPr>
        </p:pic>
      </p:grpSp>
      <p:grpSp>
        <p:nvGrpSpPr>
          <p:cNvPr id="13" name="Groupe 12"/>
          <p:cNvGrpSpPr/>
          <p:nvPr/>
        </p:nvGrpSpPr>
        <p:grpSpPr>
          <a:xfrm>
            <a:off x="1567381" y="4044725"/>
            <a:ext cx="548640" cy="552951"/>
            <a:chOff x="-1185544" y="4122202"/>
            <a:chExt cx="548640" cy="552951"/>
          </a:xfrm>
        </p:grpSpPr>
        <p:sp>
          <p:nvSpPr>
            <p:cNvPr id="44" name="Oval 21">
              <a:extLst>
                <a:ext uri="{FF2B5EF4-FFF2-40B4-BE49-F238E27FC236}">
                  <a16:creationId xmlns:a16="http://schemas.microsoft.com/office/drawing/2014/main" id="{7BB796F0-2DE6-45B1-851B-D8991F423CF4}"/>
                </a:ext>
              </a:extLst>
            </p:cNvPr>
            <p:cNvSpPr/>
            <p:nvPr/>
          </p:nvSpPr>
          <p:spPr bwMode="gray">
            <a:xfrm>
              <a:off x="-1185544" y="4122202"/>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8" name="Image 7"/>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71838" y="4144755"/>
              <a:ext cx="524301" cy="530398"/>
            </a:xfrm>
            <a:prstGeom prst="rect">
              <a:avLst/>
            </a:prstGeom>
          </p:spPr>
        </p:pic>
      </p:grpSp>
      <p:grpSp>
        <p:nvGrpSpPr>
          <p:cNvPr id="14" name="Groupe 13"/>
          <p:cNvGrpSpPr/>
          <p:nvPr/>
        </p:nvGrpSpPr>
        <p:grpSpPr>
          <a:xfrm>
            <a:off x="1567381" y="5111071"/>
            <a:ext cx="548640" cy="548640"/>
            <a:chOff x="-1227267" y="5286500"/>
            <a:chExt cx="548640" cy="548640"/>
          </a:xfrm>
        </p:grpSpPr>
        <p:sp>
          <p:nvSpPr>
            <p:cNvPr id="45" name="Oval 21">
              <a:extLst>
                <a:ext uri="{FF2B5EF4-FFF2-40B4-BE49-F238E27FC236}">
                  <a16:creationId xmlns:a16="http://schemas.microsoft.com/office/drawing/2014/main" id="{7BB796F0-2DE6-45B1-851B-D8991F423CF4}"/>
                </a:ext>
              </a:extLst>
            </p:cNvPr>
            <p:cNvSpPr/>
            <p:nvPr/>
          </p:nvSpPr>
          <p:spPr bwMode="gray">
            <a:xfrm>
              <a:off x="-1227267" y="5286500"/>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9" name="Image 8"/>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71838" y="5346402"/>
              <a:ext cx="422834" cy="432026"/>
            </a:xfrm>
            <a:prstGeom prst="rect">
              <a:avLst/>
            </a:prstGeom>
          </p:spPr>
        </p:pic>
      </p:grpSp>
      <p:sp>
        <p:nvSpPr>
          <p:cNvPr id="50" name="ZoneTexte 49">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pic>
        <p:nvPicPr>
          <p:cNvPr id="51" name="Image 50"/>
          <p:cNvPicPr>
            <a:picLocks noChangeAspect="1"/>
          </p:cNvPicPr>
          <p:nvPr/>
        </p:nvPicPr>
        <p:blipFill rotWithShape="1">
          <a:blip r:embed="rId7" cstate="print">
            <a:extLst>
              <a:ext uri="{28A0092B-C50C-407E-A947-70E740481C1C}">
                <a14:useLocalDpi xmlns:a14="http://schemas.microsoft.com/office/drawing/2010/main" val="0"/>
              </a:ext>
            </a:extLst>
          </a:blip>
          <a:srcRect l="4260" t="13024" r="74155" b="14121"/>
          <a:stretch/>
        </p:blipFill>
        <p:spPr>
          <a:xfrm>
            <a:off x="702475" y="1350400"/>
            <a:ext cx="392679" cy="406703"/>
          </a:xfrm>
          <a:prstGeom prst="rect">
            <a:avLst/>
          </a:prstGeom>
        </p:spPr>
      </p:pic>
      <p:sp>
        <p:nvSpPr>
          <p:cNvPr id="52"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Méthode : risque de crédit</a:t>
            </a:r>
          </a:p>
        </p:txBody>
      </p:sp>
      <p:sp>
        <p:nvSpPr>
          <p:cNvPr id="53"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risque des prêts se mesure par la part de l'encours en retard</a:t>
            </a:r>
          </a:p>
        </p:txBody>
      </p:sp>
      <p:sp>
        <p:nvSpPr>
          <p:cNvPr id="54"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Encours en retard de plus de 30 jours / encours total, à chaque date de balance âgée</a:t>
            </a:r>
          </a:p>
        </p:txBody>
      </p:sp>
      <p:sp>
        <p:nvSpPr>
          <p:cNvPr id="55"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Adenka</a:t>
            </a:r>
          </a:p>
        </p:txBody>
      </p:sp>
      <p:sp>
        <p:nvSpPr>
          <p:cNvPr id="56" name="TextBox 5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9X4 : poste Grenier</a:t>
            </a:r>
          </a:p>
        </p:txBody>
      </p:sp>
    </p:spTree>
    <p:extLst>
      <p:ext uri="{BB962C8B-B14F-4D97-AF65-F5344CB8AC3E}">
        <p14:creationId xmlns:p14="http://schemas.microsoft.com/office/powerpoint/2010/main" val="3517894150"/>
      </p:ext>
    </p:extLst>
  </p:cSld>
  <p:clrMapOvr>
    <a:masterClrMapping/>
  </p:clrMapOvr>
  <p:transition>
    <p:fade/>
  </p:transition>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Encours du Grenier</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L'encours de prêts a été multiplié par 132 depuis fin 2021</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Au 31/08/2026 : 2 959 prêts, 1 044 302 107 FCFA, dont 915 477 260 FCFA financés par le FPPN</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23 : Encours des prêts et financement du FPPN</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millions de FCFA</a:t>
            </a:r>
          </a:p>
        </p:txBody>
      </p:sp>
      <p:graphicFrame>
        <p:nvGraphicFramePr>
          <p:cNvPr id="32" name="Chart 31"/>
          <p:cNvGraphicFramePr>
            <a:graphicFrameLocks noGrp="1"/>
          </p:cNvGraphicFramePr>
          <p:nvPr/>
        </p:nvGraphicFramePr>
        <p:xfrm>
          <a:off x="503999" y="1782000"/>
          <a:ext cx="6552000" cy="3600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exports du logiciel de prêts du Grenier du Policier « BalanceAgeeDetaille … .xls » et « production_de_la_periode … .xls » reçus le 15/10/2026. Traitements Adenka. Balances des comptes du FPPN de 2020 au 31/08/2026 (provisoire), fichiers « BALANCE … » listés en annexe « Fichiers sources ». Traitements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L'encours passe de 7 900 000 FCFA fin 2021 à 1 044 302 107 FCFA au 31/08/2026</a:t>
            </a:r>
            <a:r>
              <a:rPr sz="1400" b="0">
                <a:solidFill>
                  <a:srgbClr val="060606"/>
                </a:solidFill>
                <a:latin typeface="Helvetica"/>
              </a:rPr>
              <a:t>, soit 132,19 fois plus.</a:t>
            </a:r>
          </a:p>
          <a:p>
            <a:pPr algn="just">
              <a:spcAft>
                <a:spcPts val="600"/>
              </a:spcAft>
            </a:pPr>
            <a:r>
              <a:rPr sz="1400" b="1">
                <a:solidFill>
                  <a:srgbClr val="060606"/>
                </a:solidFill>
                <a:latin typeface="Helvetica"/>
              </a:rPr>
              <a:t>Le FPPN finance 87,66 % de l'encours.</a:t>
            </a:r>
            <a:r>
              <a:rPr sz="1400" b="0">
                <a:solidFill>
                  <a:srgbClr val="060606"/>
                </a:solidFill>
                <a:latin typeface="Helvetica"/>
              </a:rPr>
              <a:t> Le Grenier repose donc presque entièrement sur les ressources du FPPN.</a:t>
            </a:r>
          </a:p>
          <a:p>
            <a:pPr algn="just">
              <a:spcAft>
                <a:spcPts val="600"/>
              </a:spcAft>
            </a:pPr>
            <a:r>
              <a:rPr sz="1400" b="1">
                <a:solidFill>
                  <a:srgbClr val="060606"/>
                </a:solidFill>
                <a:latin typeface="Helvetica"/>
              </a:rPr>
              <a:t>Les prêts sont courts et chers.</a:t>
            </a:r>
            <a:r>
              <a:rPr sz="1400" b="0">
                <a:solidFill>
                  <a:srgbClr val="060606"/>
                </a:solidFill>
                <a:latin typeface="Helvetica"/>
              </a:rPr>
              <a:t> La durée médiane est de 10 mois et le taux médian de 18,00 %.</a:t>
            </a:r>
          </a:p>
          <a:p>
            <a:pPr algn="just">
              <a:spcAft>
                <a:spcPts val="600"/>
              </a:spcAft>
            </a:pPr>
            <a:r>
              <a:rPr sz="1400" b="0">
                <a:solidFill>
                  <a:srgbClr val="060606"/>
                </a:solidFill>
                <a:latin typeface="Helvetica"/>
              </a:rPr>
              <a:t>Si le Grenier relève des activités génératrices de revenus, le règlement d'exécution n° 004/2022 les autorise à condition qu'elles ne mettent pas en péril l'activité d'assurance et que leurs pertes ne soient pas couvertes par les cotisations ni par les réserves (art. 26) : le financement du Grenier doit être encadré par une décision formelle.</a:t>
            </a:r>
          </a:p>
        </p:txBody>
      </p:sp>
      <p:sp>
        <p:nvSpPr>
          <p:cNvPr id="35" name="TextBox 34"/>
          <p:cNvSpPr txBox="1"/>
          <p:nvPr/>
        </p:nvSpPr>
        <p:spPr>
          <a:xfrm>
            <a:off x="503999" y="5382000"/>
            <a:ext cx="6552000" cy="450000"/>
          </a:xfrm>
          <a:prstGeom prst="rect">
            <a:avLst/>
          </a:prstGeom>
          <a:noFill/>
        </p:spPr>
        <p:txBody>
          <a:bodyPr wrap="square" anchor="t" lIns="54000" rIns="54000"/>
          <a:lstStyle/>
          <a:p>
            <a:pPr algn="l"/>
            <a:r>
              <a:rPr sz="850" b="0">
                <a:solidFill>
                  <a:srgbClr val="53565A"/>
                </a:solidFill>
                <a:latin typeface="Helvetica"/>
              </a:rPr>
              <a:t>Valable pour : encours des exports « BalanceAgeeDetaille … .xls » du logiciel de prêts du Grenier aux arrêtés du 31/12/2021 au 31/12/2025 et mensuels de 2026. Financement : compte 47111102 des balances « BALANCE FORMAT EXCEL DE 09-2020 AU 31-12-2020.xlsx » à « BALANCE FPPN DU 01-01-2026 AU 31-08-2026.xlsx ».</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835804075"/>
      </p:ext>
    </p:extLst>
  </p:cSld>
  <p:clrMapOvr>
    <a:masterClrMapping/>
  </p:clrMapOvr>
  <p:transition>
    <p:fade/>
  </p:transition>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Production de prêts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crédits scolaires et habitat portent la croissance de la production</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Montants débloqués : 269 775 100 FCFA en 2022, 1 609 400 144 FCFA en 2025 (4 774 prêts)</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24 : Montants débloqués par type de crédit</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millions de FCFA</a:t>
            </a:r>
          </a:p>
        </p:txBody>
      </p:sp>
      <p:graphicFrame>
        <p:nvGraphicFramePr>
          <p:cNvPr id="32" name="Chart 31"/>
          <p:cNvGraphicFramePr>
            <a:graphicFrameLocks noGrp="1"/>
          </p:cNvGraphicFramePr>
          <p:nvPr/>
        </p:nvGraphicFramePr>
        <p:xfrm>
          <a:off x="503999" y="1782000"/>
          <a:ext cx="6552000" cy="3744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exports du logiciel de prêts du Grenier du Policier « BalanceAgeeDetaille … .xls » et « production_de_la_periode … .xls » reçus le 15/10/2026. Traitements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La production a été multipliée par 5,97 entre 2022 et 2025.</a:t>
            </a:r>
          </a:p>
          <a:p>
            <a:pPr algn="just">
              <a:spcAft>
                <a:spcPts val="600"/>
              </a:spcAft>
            </a:pPr>
            <a:r>
              <a:rPr sz="1400" b="1">
                <a:solidFill>
                  <a:srgbClr val="060606"/>
                </a:solidFill>
                <a:latin typeface="Helvetica"/>
              </a:rPr>
              <a:t>Les crédits scolaires et habitat font 66,12 % des montants de 2025.</a:t>
            </a:r>
          </a:p>
          <a:p>
            <a:pPr algn="just">
              <a:spcAft>
                <a:spcPts val="600"/>
              </a:spcAft>
            </a:pPr>
            <a:r>
              <a:rPr sz="1400" b="1">
                <a:solidFill>
                  <a:srgbClr val="060606"/>
                </a:solidFill>
                <a:latin typeface="Helvetica"/>
              </a:rPr>
              <a:t>Le crédit habitat, aux montants unitaires plus importants, allonge la durée du risque.</a:t>
            </a:r>
          </a:p>
          <a:p>
            <a:pPr algn="just">
              <a:spcAft>
                <a:spcPts val="600"/>
              </a:spcAft>
            </a:pPr>
            <a:r>
              <a:rPr sz="1400" b="0">
                <a:solidFill>
                  <a:srgbClr val="060606"/>
                </a:solidFill>
                <a:latin typeface="Helvetica"/>
              </a:rPr>
              <a:t>Une production qui croît plus vite que les ressources propres du Grenier augmente le besoin de financement du FPPN : la politique de crédit doit fixer un plafond d'encours rapporté aux ressources disponibles.</a:t>
            </a:r>
          </a:p>
        </p:txBody>
      </p:sp>
      <p:sp>
        <p:nvSpPr>
          <p:cNvPr id="35" name="TextBox 34"/>
          <p:cNvSpPr txBox="1"/>
          <p:nvPr/>
        </p:nvSpPr>
        <p:spPr>
          <a:xfrm>
            <a:off x="503999" y="5526000"/>
            <a:ext cx="6552000" cy="306000"/>
          </a:xfrm>
          <a:prstGeom prst="rect">
            <a:avLst/>
          </a:prstGeom>
          <a:noFill/>
        </p:spPr>
        <p:txBody>
          <a:bodyPr wrap="square" anchor="t" lIns="54000" rIns="54000"/>
          <a:lstStyle/>
          <a:p>
            <a:pPr algn="l"/>
            <a:r>
              <a:rPr sz="850" b="0">
                <a:solidFill>
                  <a:srgbClr val="53565A"/>
                </a:solidFill>
                <a:latin typeface="Helvetica"/>
              </a:rPr>
              <a:t>Valable pour : montants débloqués des exports « production_de_la_periode … .xls » du logiciel de prêts du Grenier, 2021 à septembre 2026, par type de crédit. Prêts non rapprochés des contrats.</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1251865998"/>
      </p:ext>
    </p:extLst>
  </p:cSld>
  <p:clrMapOvr>
    <a:masterClrMapping/>
  </p:clrMapOvr>
  <p:transition>
    <p:fade/>
  </p:transition>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Retards de remboursement</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retards ont culminé début 2026 avant de revenir à un niveau faible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Encours en retard de plus de 30 jours : 61,96 % fin janvier 2026, 1,83 % au 31/08/2026</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25 : Part de l'encours en retard de plus de 30 et 90 jours</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 de l'encours</a:t>
            </a:r>
          </a:p>
        </p:txBody>
      </p:sp>
      <p:graphicFrame>
        <p:nvGraphicFramePr>
          <p:cNvPr id="32" name="Chart 31"/>
          <p:cNvGraphicFramePr>
            <a:graphicFrameLocks noGrp="1"/>
          </p:cNvGraphicFramePr>
          <p:nvPr/>
        </p:nvGraphicFramePr>
        <p:xfrm>
          <a:off x="503999" y="1782000"/>
          <a:ext cx="6552000" cy="3744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exports du logiciel de prêts du Grenier du Policier « BalanceAgeeDetaille … .xls » et « production_de_la_periode … .xls » reçus le 15/10/2026. Traitements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Fin janvier 2026, la plus grande part de l'encours avait entre 31 et 90 jours de retard.</a:t>
            </a:r>
          </a:p>
          <a:p>
            <a:pPr algn="just">
              <a:spcAft>
                <a:spcPts val="600"/>
              </a:spcAft>
            </a:pPr>
            <a:r>
              <a:rPr sz="1400" b="1">
                <a:solidFill>
                  <a:srgbClr val="060606"/>
                </a:solidFill>
                <a:latin typeface="Helvetica"/>
              </a:rPr>
              <a:t>Ces retards se sont résorbés en quelques mois.</a:t>
            </a:r>
            <a:r>
              <a:rPr sz="1400" b="0">
                <a:solidFill>
                  <a:srgbClr val="060606"/>
                </a:solidFill>
                <a:latin typeface="Helvetica"/>
              </a:rPr>
              <a:t> Ce profil fait penser à des échéances non précomptées en fin d'année 2025.</a:t>
            </a:r>
          </a:p>
          <a:p>
            <a:pPr algn="just">
              <a:spcAft>
                <a:spcPts val="600"/>
              </a:spcAft>
            </a:pPr>
            <a:r>
              <a:rPr sz="1400" b="1">
                <a:solidFill>
                  <a:srgbClr val="060606"/>
                </a:solidFill>
                <a:latin typeface="Helvetica"/>
              </a:rPr>
              <a:t>126 prêts ont plus de 180 jours de retard.</a:t>
            </a:r>
            <a:r>
              <a:rPr sz="1400" b="0">
                <a:solidFill>
                  <a:srgbClr val="060606"/>
                </a:solidFill>
                <a:latin typeface="Helvetica"/>
              </a:rPr>
              <a:t> Ces prêts doivent être provisionnés.</a:t>
            </a:r>
          </a:p>
          <a:p>
            <a:pPr algn="just">
              <a:spcAft>
                <a:spcPts val="600"/>
              </a:spcAft>
            </a:pPr>
            <a:r>
              <a:rPr sz="1400" b="0">
                <a:solidFill>
                  <a:srgbClr val="060606"/>
                </a:solidFill>
                <a:latin typeface="Helvetica"/>
              </a:rPr>
              <a:t>Les retards dépendent surtout du circuit de précompte, pas de la solvabilité des emprunteurs : le FPPN doit obtenir de la Solde un calendrier fiable et suivre chaque mois les échéances non précomptées.</a:t>
            </a:r>
          </a:p>
        </p:txBody>
      </p:sp>
      <p:sp>
        <p:nvSpPr>
          <p:cNvPr id="35" name="TextBox 34"/>
          <p:cNvSpPr txBox="1"/>
          <p:nvPr/>
        </p:nvSpPr>
        <p:spPr>
          <a:xfrm>
            <a:off x="503999" y="5526000"/>
            <a:ext cx="6552000" cy="306000"/>
          </a:xfrm>
          <a:prstGeom prst="rect">
            <a:avLst/>
          </a:prstGeom>
          <a:noFill/>
        </p:spPr>
        <p:txBody>
          <a:bodyPr wrap="square" anchor="t" lIns="54000" rIns="54000"/>
          <a:lstStyle/>
          <a:p>
            <a:pPr algn="l"/>
            <a:r>
              <a:rPr sz="850" b="0">
                <a:solidFill>
                  <a:srgbClr val="53565A"/>
                </a:solidFill>
                <a:latin typeface="Helvetica"/>
              </a:rPr>
              <a:t>Valable pour : colonne « retard » des exports « BalanceAgeeDetaille … .xls » du logiciel de prêts du Grenier, arrêtés du 31/12/2021 au 31/08/2026. Retard compté sur l'échéance la plus ancienne impayée.</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2525358014"/>
      </p:ext>
    </p:extLst>
  </p:cSld>
  <p:clrMapOvr>
    <a:masterClrMapping/>
  </p:clrMapOvr>
  <p:transition>
    <p:fade/>
  </p:transition>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Calcul pas à pas : prêts en retard</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retards les plus anciens dépassent trois ans et révèlent des mécanos anormaux</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Les quatre prêts les plus en retard au 31/08/2026 ont entre 1 105 et 1 308 jours de retard</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exports du logiciel de prêts du Grenier du Policier « BalanceAgeeDetaille … .xls » et « production_de_la_periode … .xls » reçus le 15/10/2026. Traitements Adenka. Noms masqués</a:t>
            </a:r>
          </a:p>
        </p:txBody>
      </p:sp>
      <p:sp>
        <p:nvSpPr>
          <p:cNvPr id="31" name="TextBox 30"/>
          <p:cNvSpPr txBox="1"/>
          <p:nvPr/>
        </p:nvSpPr>
        <p:spPr>
          <a:xfrm>
            <a:off x="503999" y="1350000"/>
            <a:ext cx="8496000" cy="180000"/>
          </a:xfrm>
          <a:prstGeom prst="rect">
            <a:avLst/>
          </a:prstGeom>
          <a:noFill/>
        </p:spPr>
        <p:txBody>
          <a:bodyPr wrap="square" anchor="t" lIns="54000" rIns="54000"/>
          <a:lstStyle/>
          <a:p>
            <a:pPr algn="l"/>
            <a:r>
              <a:rPr sz="900" b="0">
                <a:solidFill>
                  <a:srgbClr val="53565A"/>
                </a:solidFill>
                <a:latin typeface="Helvetica"/>
              </a:rPr>
              <a:t>Extrait : AUDIT ADENKA\SERVICE GRENIER DU POLICIER\FICHIER ALLER\GRENIER AOÛT 2026\BalanceAgeeDetaille AOUT 2026.xls</a:t>
            </a:r>
          </a:p>
        </p:txBody>
      </p:sp>
      <p:graphicFrame>
        <p:nvGraphicFramePr>
          <p:cNvPr id="32" name="Table 31"/>
          <p:cNvGraphicFramePr>
            <a:graphicFrameLocks noGrp="1"/>
          </p:cNvGraphicFramePr>
          <p:nvPr/>
        </p:nvGraphicFramePr>
        <p:xfrm>
          <a:off x="503999" y="1548000"/>
          <a:ext cx="8495998" cy="1050045"/>
        </p:xfrm>
        <a:graphic>
          <a:graphicData uri="http://schemas.openxmlformats.org/drawingml/2006/table">
            <a:tbl>
              <a:tblPr firstRow="0" bandRow="0">
                <a:tableStyleId>{5940675A-B579-460E-94D1-54222C63F5DA}</a:tableStyleId>
              </a:tblPr>
              <a:tblGrid>
                <a:gridCol w="1224000"/>
                <a:gridCol w="1440000"/>
                <a:gridCol w="2160000"/>
                <a:gridCol w="2015999"/>
                <a:gridCol w="1655999"/>
              </a:tblGrid>
              <a:tr h="210009">
                <a:tc>
                  <a:txBody>
                    <a:bodyPr/>
                    <a:lstStyle/>
                    <a:p>
                      <a:pPr marL="0" indent="0" lvl="0">
                        <a:buNone/>
                      </a:pPr>
                      <a:r>
                        <a:rPr sz="1000" b="1">
                          <a:solidFill>
                            <a:srgbClr val="FFFFFF"/>
                          </a:solidFill>
                          <a:latin typeface="Helvetica"/>
                        </a:rPr>
                        <a:t>Mécano</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Nom</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Montant débloqué</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Encours</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Retard (jours)</a:t>
                      </a:r>
                    </a:p>
                  </a:txBody>
                  <a:tcPr marL="43200" marR="43200" marT="14400" marB="14400" anchor="ctr">
                    <a:solidFill>
                      <a:srgbClr val="060606"/>
                    </a:solidFill>
                  </a:tcPr>
                </a:tc>
              </a:tr>
              <a:tr h="210009">
                <a:tc>
                  <a:txBody>
                    <a:bodyPr/>
                    <a:lstStyle/>
                    <a:p>
                      <a:pPr marL="0" indent="0" lvl="0">
                        <a:buNone/>
                      </a:pPr>
                      <a:r>
                        <a:rPr sz="1000" b="1">
                          <a:solidFill>
                            <a:srgbClr val="060606"/>
                          </a:solidFill>
                          <a:latin typeface="Helvetica"/>
                        </a:rPr>
                        <a:t>142</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C. M.</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500 000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90 536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1308</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87</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B. K. M.</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400 000 FCFA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83 743 FCFA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1279</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166</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M. R.</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800 000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60 468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1189</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418***9</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K. A. F.</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100 000 FCFA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100 000 FCFA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1105</a:t>
                      </a:r>
                    </a:p>
                  </a:txBody>
                  <a:tcPr marL="43200" marR="43200" marT="14400" marB="14400" anchor="ctr">
                    <a:solidFill>
                      <a:srgbClr val="F2F2F2"/>
                    </a:solidFill>
                  </a:tcPr>
                </a:tc>
              </a:tr>
            </a:tbl>
          </a:graphicData>
        </a:graphic>
      </p:graphicFrame>
      <p:sp>
        <p:nvSpPr>
          <p:cNvPr id="33" name="Rounded Rectangle 32"/>
          <p:cNvSpPr/>
          <p:nvPr/>
        </p:nvSpPr>
        <p:spPr>
          <a:xfrm>
            <a:off x="485999" y="1747209"/>
            <a:ext cx="1260000"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548000" y="1596009"/>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5" name="Rounded Rectangle 34"/>
          <p:cNvSpPr/>
          <p:nvPr/>
        </p:nvSpPr>
        <p:spPr>
          <a:xfrm>
            <a:off x="7325999" y="1747209"/>
            <a:ext cx="1691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820000" y="1596009"/>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37" name="Rounded Rectangle 36"/>
          <p:cNvSpPr/>
          <p:nvPr/>
        </p:nvSpPr>
        <p:spPr>
          <a:xfrm>
            <a:off x="485999" y="1957219"/>
            <a:ext cx="1260000"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1548000" y="1806019"/>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39" name="Oval 38"/>
          <p:cNvSpPr/>
          <p:nvPr/>
        </p:nvSpPr>
        <p:spPr>
          <a:xfrm>
            <a:off x="9216000" y="1548000"/>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40" name="TextBox 39"/>
          <p:cNvSpPr txBox="1"/>
          <p:nvPr/>
        </p:nvSpPr>
        <p:spPr>
          <a:xfrm>
            <a:off x="9576000" y="1530000"/>
            <a:ext cx="2160000" cy="670023"/>
          </a:xfrm>
          <a:prstGeom prst="rect">
            <a:avLst/>
          </a:prstGeom>
          <a:noFill/>
        </p:spPr>
        <p:txBody>
          <a:bodyPr wrap="square" anchor="t" lIns="54000" rIns="54000"/>
          <a:lstStyle/>
          <a:p>
            <a:pPr algn="l"/>
            <a:r>
              <a:rPr sz="1200" b="0">
                <a:solidFill>
                  <a:srgbClr val="060606"/>
                </a:solidFill>
                <a:latin typeface="Helvetica"/>
              </a:rPr>
              <a:t>Ces prêts ont un mécano de 2 ou 3 chiffres, ce qui révèle une saisie anormale.</a:t>
            </a:r>
          </a:p>
        </p:txBody>
      </p:sp>
      <p:sp>
        <p:nvSpPr>
          <p:cNvPr id="41" name="Oval 40"/>
          <p:cNvSpPr/>
          <p:nvPr/>
        </p:nvSpPr>
        <p:spPr>
          <a:xfrm>
            <a:off x="9216000" y="2308023"/>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42" name="TextBox 41"/>
          <p:cNvSpPr txBox="1"/>
          <p:nvPr/>
        </p:nvSpPr>
        <p:spPr>
          <a:xfrm>
            <a:off x="9576000" y="2290023"/>
            <a:ext cx="2160000" cy="670023"/>
          </a:xfrm>
          <a:prstGeom prst="rect">
            <a:avLst/>
          </a:prstGeom>
          <a:noFill/>
        </p:spPr>
        <p:txBody>
          <a:bodyPr wrap="square" anchor="t" lIns="54000" rIns="54000"/>
          <a:lstStyle/>
          <a:p>
            <a:pPr algn="l"/>
            <a:r>
              <a:rPr sz="1200" b="0">
                <a:solidFill>
                  <a:srgbClr val="060606"/>
                </a:solidFill>
                <a:latin typeface="Helvetica"/>
              </a:rPr>
              <a:t>Le plus ancien de ces prêts a plus de trois ans de retard.</a:t>
            </a:r>
          </a:p>
        </p:txBody>
      </p:sp>
      <p:sp>
        <p:nvSpPr>
          <p:cNvPr id="43" name="Oval 42"/>
          <p:cNvSpPr/>
          <p:nvPr/>
        </p:nvSpPr>
        <p:spPr>
          <a:xfrm>
            <a:off x="9216000" y="3068047"/>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44" name="TextBox 43"/>
          <p:cNvSpPr txBox="1"/>
          <p:nvPr/>
        </p:nvSpPr>
        <p:spPr>
          <a:xfrm>
            <a:off x="9576000" y="3050047"/>
            <a:ext cx="2160000" cy="670023"/>
          </a:xfrm>
          <a:prstGeom prst="rect">
            <a:avLst/>
          </a:prstGeom>
          <a:noFill/>
        </p:spPr>
        <p:txBody>
          <a:bodyPr wrap="square" anchor="t" lIns="54000" rIns="54000"/>
          <a:lstStyle/>
          <a:p>
            <a:pPr algn="l"/>
            <a:r>
              <a:rPr sz="1200" b="0">
                <a:solidFill>
                  <a:srgbClr val="060606"/>
                </a:solidFill>
                <a:latin typeface="Helvetica"/>
              </a:rPr>
              <a:t>Ces prêts ont encore un encours inscrit, qui doit être provisionné.</a:t>
            </a:r>
          </a:p>
        </p:txBody>
      </p:sp>
      <p:sp>
        <p:nvSpPr>
          <p:cNvPr id="45" name="TextBox 44"/>
          <p:cNvSpPr txBox="1"/>
          <p:nvPr/>
        </p:nvSpPr>
        <p:spPr>
          <a:xfrm>
            <a:off x="9216000" y="3900071"/>
            <a:ext cx="2520000" cy="1967928"/>
          </a:xfrm>
          <a:prstGeom prst="rect">
            <a:avLst/>
          </a:prstGeom>
          <a:noFill/>
        </p:spPr>
        <p:txBody>
          <a:bodyPr wrap="square" lIns="54000" rIns="54000"/>
          <a:lstStyle/>
          <a:p>
            <a:pPr algn="just">
              <a:spcAft>
                <a:spcPts val="600"/>
              </a:spcAft>
            </a:pPr>
            <a:r>
              <a:rPr sz="1150" b="1">
                <a:solidFill>
                  <a:srgbClr val="060606"/>
                </a:solidFill>
                <a:latin typeface="Helvetica"/>
              </a:rPr>
              <a:t>Les prêts les plus anciens ne peuvent plus être précomptés, car leur mécano est faux.</a:t>
            </a:r>
            <a:r>
              <a:rPr sz="1150" b="0">
                <a:solidFill>
                  <a:srgbClr val="060606"/>
                </a:solidFill>
                <a:latin typeface="Helvetica"/>
              </a:rPr>
              <a:t> Sans mécano valide, la Solde ne peut pas retenir l'échéance sur le salaire.</a:t>
            </a:r>
          </a:p>
          <a:p>
            <a:pPr algn="just">
              <a:spcAft>
                <a:spcPts val="600"/>
              </a:spcAft>
            </a:pPr>
            <a:r>
              <a:rPr sz="1150" b="0">
                <a:solidFill>
                  <a:srgbClr val="060606"/>
                </a:solidFill>
                <a:latin typeface="Helvetica"/>
              </a:rPr>
              <a:t>Le Grenier doit corriger ces identifiants et décider, pour chaque prêt, d'une provision ou d'un passage en perte.</a:t>
            </a:r>
          </a:p>
        </p:txBody>
      </p:sp>
    </p:spTree>
    <p:extLst>
      <p:ext uri="{BB962C8B-B14F-4D97-AF65-F5344CB8AC3E}">
        <p14:creationId xmlns:p14="http://schemas.microsoft.com/office/powerpoint/2010/main" val="3753682357"/>
      </p:ext>
    </p:extLst>
  </p:cSld>
  <p:clrMapOvr>
    <a:masterClrMapping/>
  </p:clrMapOvr>
  <p:transition>
    <p:fade/>
  </p:transition>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Échéances et précomptes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précomptes ne couvrent que 76 à 85 % des échéances des prêts en cours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De janvier à août 2026, l'écart mensuel va de 25 226 684 FCFA à 44 655 924 FCFA</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26 : Échéances des prêts en cours et précomptes 9X4, 2026</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millions de FCFA</a:t>
            </a:r>
          </a:p>
        </p:txBody>
      </p:sp>
      <p:graphicFrame>
        <p:nvGraphicFramePr>
          <p:cNvPr id="32" name="Chart 31"/>
          <p:cNvGraphicFramePr>
            <a:graphicFrameLocks noGrp="1"/>
          </p:cNvGraphicFramePr>
          <p:nvPr/>
        </p:nvGraphicFramePr>
        <p:xfrm>
          <a:off x="503999" y="1782000"/>
          <a:ext cx="6552000" cy="3744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exports du logiciel de prêts du Grenier du Policier « BalanceAgeeDetaille … .xls » et « production_de_la_periode … .xls » reçus le 15/10/2026. Traitements Adenka. Fichiers de précomptes de la Solde, de la CGRAE et du FPPN reçus le 15/10/2026 (dossiers « FPPN-SOLDE », « FPPN-CGRAE », « FPPN-GNA », noms exacts en annexe « Fichiers sources »). Traitements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La part précomptée va de 75,74 % à 85,38 % selon le mois.</a:t>
            </a:r>
          </a:p>
          <a:p>
            <a:pPr algn="just">
              <a:spcAft>
                <a:spcPts val="600"/>
              </a:spcAft>
            </a:pPr>
            <a:r>
              <a:rPr sz="1400" b="1">
                <a:solidFill>
                  <a:srgbClr val="060606"/>
                </a:solidFill>
                <a:latin typeface="Helvetica"/>
              </a:rPr>
              <a:t>L'export du logiciel perd la lettre-clé du mécano</a:t>
            </a:r>
            <a:r>
              <a:rPr sz="1400" b="0">
                <a:solidFill>
                  <a:srgbClr val="060606"/>
                </a:solidFill>
                <a:latin typeface="Helvetica"/>
              </a:rPr>
              <a:t> (321100C devient 321100), ce qui complique le rapprochement prêt par prêt.</a:t>
            </a:r>
          </a:p>
          <a:p>
            <a:pPr algn="just">
              <a:spcAft>
                <a:spcPts val="600"/>
              </a:spcAft>
            </a:pPr>
            <a:r>
              <a:rPr sz="1400" b="1">
                <a:solidFill>
                  <a:srgbClr val="060606"/>
                </a:solidFill>
                <a:latin typeface="Helvetica"/>
              </a:rPr>
              <a:t>Un rapprochement avec les encaissements bancaires du Grenier est nécessaire</a:t>
            </a:r>
            <a:r>
              <a:rPr sz="1400" b="0">
                <a:solidFill>
                  <a:srgbClr val="060606"/>
                </a:solidFill>
                <a:latin typeface="Helvetica"/>
              </a:rPr>
              <a:t> pour savoir si l'écart est payé autrement.</a:t>
            </a:r>
          </a:p>
          <a:p>
            <a:pPr algn="just">
              <a:spcAft>
                <a:spcPts val="600"/>
              </a:spcAft>
            </a:pPr>
            <a:r>
              <a:rPr sz="1400" b="0">
                <a:solidFill>
                  <a:srgbClr val="060606"/>
                </a:solidFill>
                <a:latin typeface="Helvetica"/>
              </a:rPr>
              <a:t>Si l'écart n'est pas encaissé par un autre canal, il alimente chaque mois de nouveaux retards : c'est la question à poser en priorité au service du Grenier.</a:t>
            </a:r>
          </a:p>
        </p:txBody>
      </p:sp>
      <p:sp>
        <p:nvSpPr>
          <p:cNvPr id="35" name="TextBox 34"/>
          <p:cNvSpPr txBox="1"/>
          <p:nvPr/>
        </p:nvSpPr>
        <p:spPr>
          <a:xfrm>
            <a:off x="503999" y="5526000"/>
            <a:ext cx="6552000" cy="306000"/>
          </a:xfrm>
          <a:prstGeom prst="rect">
            <a:avLst/>
          </a:prstGeom>
          <a:noFill/>
        </p:spPr>
        <p:txBody>
          <a:bodyPr wrap="square" anchor="t" lIns="54000" rIns="54000"/>
          <a:lstStyle/>
          <a:p>
            <a:pPr algn="l"/>
            <a:r>
              <a:rPr sz="850" b="0">
                <a:solidFill>
                  <a:srgbClr val="53565A"/>
                </a:solidFill>
                <a:latin typeface="Helvetica"/>
              </a:rPr>
              <a:t>Valable pour : échéances des prêts en cours des exports « BalanceAgeeDetaille … .xls » du logiciel de prêts du Grenier et précomptes du poste 9X4 (« FPPN-SOLDE\GRENIER\FICHIER ALLER RETOUR »), mois de 2026 reçus.</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CGRAE : Caisse générale de retraite des agents de l'État | GNA : assureur de la flotte automobile (compte 47111106) | 9X4 : poste Grenier</a:t>
            </a:r>
          </a:p>
        </p:txBody>
      </p:sp>
    </p:spTree>
    <p:extLst>
      <p:ext uri="{BB962C8B-B14F-4D97-AF65-F5344CB8AC3E}">
        <p14:creationId xmlns:p14="http://schemas.microsoft.com/office/powerpoint/2010/main" val="225062477"/>
      </p:ext>
    </p:extLst>
  </p:cSld>
  <p:clrMapOvr>
    <a:masterClrMapping/>
  </p:clrMapOvr>
  <p:transition>
    <p:fade/>
  </p:transition>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Sensibilité : pertes sur prêts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Même une perte totale sur les prêts très en retard reste limitée en montant</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Encours en retard de plus de 180 jours : 14 826 812 FCFA. De plus de 90 jours : 17 845 260 FCFA</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exports du logiciel de prêts du Grenier du Policier « BalanceAgeeDetaille … .xls » et « production_de_la_periode … .xls » reçus le 15/10/2026. Traitements Adenka</a:t>
            </a:r>
          </a:p>
        </p:txBody>
      </p:sp>
      <p:sp>
        <p:nvSpPr>
          <p:cNvPr id="31" name="TextBox 30"/>
          <p:cNvSpPr txBox="1"/>
          <p:nvPr/>
        </p:nvSpPr>
        <p:spPr>
          <a:xfrm>
            <a:off x="503999" y="1386000"/>
            <a:ext cx="6983999" cy="216000"/>
          </a:xfrm>
          <a:prstGeom prst="rect">
            <a:avLst/>
          </a:prstGeom>
          <a:noFill/>
        </p:spPr>
        <p:txBody>
          <a:bodyPr wrap="square" anchor="t" lIns="54000" rIns="54000"/>
          <a:lstStyle/>
          <a:p>
            <a:pPr algn="ctr"/>
            <a:r>
              <a:rPr sz="1200" b="0">
                <a:solidFill>
                  <a:srgbClr val="EFAC62"/>
                </a:solidFill>
                <a:latin typeface="Helvetica"/>
              </a:rPr>
              <a:t>Tableau 39 : Provision selon le taux de perte</a:t>
            </a:r>
          </a:p>
        </p:txBody>
      </p:sp>
      <p:graphicFrame>
        <p:nvGraphicFramePr>
          <p:cNvPr id="32" name="Table 31"/>
          <p:cNvGraphicFramePr>
            <a:graphicFrameLocks noGrp="1"/>
          </p:cNvGraphicFramePr>
          <p:nvPr/>
        </p:nvGraphicFramePr>
        <p:xfrm>
          <a:off x="503999" y="1655999"/>
          <a:ext cx="6984000" cy="901000"/>
        </p:xfrm>
        <a:graphic>
          <a:graphicData uri="http://schemas.openxmlformats.org/drawingml/2006/table">
            <a:tbl>
              <a:tblPr firstRow="0" bandRow="0">
                <a:tableStyleId>{5940675A-B579-460E-94D1-54222C63F5DA}</a:tableStyleId>
              </a:tblPr>
              <a:tblGrid>
                <a:gridCol w="1800000"/>
                <a:gridCol w="2592000"/>
                <a:gridCol w="2592000"/>
              </a:tblGrid>
              <a:tr h="225250">
                <a:tc>
                  <a:txBody>
                    <a:bodyPr/>
                    <a:lstStyle/>
                    <a:p>
                      <a:pPr marL="0" indent="0" lvl="0">
                        <a:buNone/>
                      </a:pPr>
                      <a:r>
                        <a:rPr sz="1100" b="1">
                          <a:solidFill>
                            <a:srgbClr val="FFFFFF"/>
                          </a:solidFill>
                          <a:latin typeface="Helvetica"/>
                        </a:rPr>
                        <a:t>Taux de perte</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Sur l'encours &gt; 180 jours</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Sur l'encours &gt; 90 jours</a:t>
                      </a:r>
                    </a:p>
                  </a:txBody>
                  <a:tcPr marL="43200" marR="43200" marT="14400" marB="14400" anchor="ctr">
                    <a:solidFill>
                      <a:srgbClr val="060606"/>
                    </a:solidFill>
                  </a:tcPr>
                </a:tc>
              </a:tr>
              <a:tr h="225250">
                <a:tc>
                  <a:txBody>
                    <a:bodyPr/>
                    <a:lstStyle/>
                    <a:p>
                      <a:pPr marL="0" indent="0" lvl="0">
                        <a:buNone/>
                      </a:pPr>
                      <a:r>
                        <a:rPr sz="1100" b="1">
                          <a:solidFill>
                            <a:srgbClr val="060606"/>
                          </a:solidFill>
                          <a:latin typeface="Helvetica"/>
                        </a:rPr>
                        <a:t>25,00 %</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3 706 703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4 461 315 FCFA</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50,00 %</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7 413 406 FCFA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8 922 630 FCFA</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100,00 %</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14 826 812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17 845 260 FCFA</a:t>
                      </a:r>
                    </a:p>
                  </a:txBody>
                  <a:tcPr marL="43200" marR="43200" marT="14400" marB="14400" anchor="ctr">
                    <a:solidFill>
                      <a:srgbClr val="FFFFFF"/>
                    </a:solidFill>
                  </a:tcPr>
                </a:tc>
              </a:tr>
            </a:tbl>
          </a:graphicData>
        </a:graphic>
      </p:graphicFrame>
      <p:sp>
        <p:nvSpPr>
          <p:cNvPr id="33" name="TextBox 32"/>
          <p:cNvSpPr txBox="1"/>
          <p:nvPr/>
        </p:nvSpPr>
        <p:spPr>
          <a:xfrm>
            <a:off x="503999" y="2665002"/>
            <a:ext cx="6983999" cy="306000"/>
          </a:xfrm>
          <a:prstGeom prst="rect">
            <a:avLst/>
          </a:prstGeom>
          <a:noFill/>
        </p:spPr>
        <p:txBody>
          <a:bodyPr wrap="square" anchor="t" lIns="54000" rIns="54000"/>
          <a:lstStyle/>
          <a:p>
            <a:pPr algn="l"/>
            <a:r>
              <a:rPr sz="850" b="0">
                <a:solidFill>
                  <a:srgbClr val="53565A"/>
                </a:solidFill>
                <a:latin typeface="Helvetica"/>
              </a:rPr>
              <a:t>Valable pour : encours au 31/08/2026 des exports « BalanceAgeeDetaille … .xls » du logiciel de prêts du Grenier. Taux de perte hypothétiques (la politique de crédit est appliquée en partie 9).</a:t>
            </a:r>
          </a:p>
        </p:txBody>
      </p:sp>
      <p:sp>
        <p:nvSpPr>
          <p:cNvPr id="34" name="TextBox 33"/>
          <p:cNvSpPr txBox="1"/>
          <p:nvPr/>
        </p:nvSpPr>
        <p:spPr>
          <a:xfrm>
            <a:off x="7703999" y="1386000"/>
            <a:ext cx="4032000" cy="4482000"/>
          </a:xfrm>
          <a:prstGeom prst="rect">
            <a:avLst/>
          </a:prstGeom>
          <a:noFill/>
        </p:spPr>
        <p:txBody>
          <a:bodyPr wrap="square" lIns="54000" rIns="54000"/>
          <a:lstStyle/>
          <a:p>
            <a:pPr algn="just">
              <a:spcAft>
                <a:spcPts val="600"/>
              </a:spcAft>
            </a:pPr>
            <a:r>
              <a:rPr sz="1400" b="1">
                <a:solidFill>
                  <a:srgbClr val="060606"/>
                </a:solidFill>
                <a:latin typeface="Helvetica"/>
              </a:rPr>
              <a:t>Une perte totale sur les prêts en retard de plus de 90 jours coûterait 17 845 260 FCFA.</a:t>
            </a:r>
            <a:r>
              <a:rPr sz="1400" b="0">
                <a:solidFill>
                  <a:srgbClr val="060606"/>
                </a:solidFill>
                <a:latin typeface="Helvetica"/>
              </a:rPr>
              <a:t> Ce montant reste faible au regard de l'encours.</a:t>
            </a:r>
          </a:p>
          <a:p>
            <a:pPr algn="just">
              <a:spcAft>
                <a:spcPts val="600"/>
              </a:spcAft>
            </a:pPr>
            <a:r>
              <a:rPr sz="1400" b="1">
                <a:solidFill>
                  <a:srgbClr val="060606"/>
                </a:solidFill>
                <a:latin typeface="Helvetica"/>
              </a:rPr>
              <a:t>Le risque du Grenier n'est donc pas la perte sur prêts.</a:t>
            </a:r>
            <a:r>
              <a:rPr sz="1400" b="0">
                <a:solidFill>
                  <a:srgbClr val="060606"/>
                </a:solidFill>
                <a:latin typeface="Helvetica"/>
              </a:rPr>
              <a:t> Il tient au volume de ressources du FPPN immobilisées dans les prêts.</a:t>
            </a:r>
          </a:p>
          <a:p>
            <a:pPr algn="just">
              <a:spcAft>
                <a:spcPts val="600"/>
              </a:spcAft>
            </a:pPr>
            <a:r>
              <a:rPr sz="1400" b="0">
                <a:solidFill>
                  <a:srgbClr val="060606"/>
                </a:solidFill>
                <a:latin typeface="Helvetica"/>
              </a:rPr>
              <a:t>Une politique de provisionnement écrite (taux par tranche de retard) suffirait à couvrir ce risque, mais elle ne règle pas la question de la liquidité de l'épargne.</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3901653242"/>
      </p:ext>
    </p:extLst>
  </p:cSld>
  <p:clrMapOvr>
    <a:masterClrMapping/>
  </p:clrMapOvr>
  <p:transition>
    <p:fade/>
  </p:transition>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6" name="Image 25"/>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30" name="ZoneTexte 29">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9" name="Google Shape;7386;p39"/>
          <p:cNvSpPr/>
          <p:nvPr/>
        </p:nvSpPr>
        <p:spPr>
          <a:xfrm rot="10800000">
            <a:off x="1748072" y="1436295"/>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10" name="Google Shape;7367;p39"/>
          <p:cNvSpPr/>
          <p:nvPr/>
        </p:nvSpPr>
        <p:spPr>
          <a:xfrm rot="16200000">
            <a:off x="2201124" y="215006"/>
            <a:ext cx="2027916" cy="4306666"/>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chemeClr val="tx1"/>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 name="Rectangle 3"/>
          <p:cNvSpPr/>
          <p:nvPr/>
        </p:nvSpPr>
        <p:spPr>
          <a:xfrm>
            <a:off x="2946575" y="1442741"/>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Constat</a:t>
            </a:r>
          </a:p>
        </p:txBody>
      </p:sp>
      <p:sp>
        <p:nvSpPr>
          <p:cNvPr id="20" name="Google Shape;7386;p39"/>
          <p:cNvSpPr/>
          <p:nvPr/>
        </p:nvSpPr>
        <p:spPr>
          <a:xfrm rot="10800000">
            <a:off x="6372314" y="1459724"/>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21" name="Google Shape;7367;p39"/>
          <p:cNvSpPr/>
          <p:nvPr/>
        </p:nvSpPr>
        <p:spPr>
          <a:xfrm rot="16200000">
            <a:off x="7569073" y="228570"/>
            <a:ext cx="2000788" cy="4306666"/>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rgbClr val="060606"/>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24" name="Rectangle 23"/>
          <p:cNvSpPr/>
          <p:nvPr/>
        </p:nvSpPr>
        <p:spPr>
          <a:xfrm>
            <a:off x="7570816" y="1466170"/>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Preuves</a:t>
            </a:r>
          </a:p>
        </p:txBody>
      </p:sp>
      <p:sp>
        <p:nvSpPr>
          <p:cNvPr id="37" name="Google Shape;7386;p39"/>
          <p:cNvSpPr/>
          <p:nvPr/>
        </p:nvSpPr>
        <p:spPr>
          <a:xfrm rot="10800000">
            <a:off x="1854215" y="3845744"/>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38" name="Google Shape;7367;p39"/>
          <p:cNvSpPr/>
          <p:nvPr/>
        </p:nvSpPr>
        <p:spPr>
          <a:xfrm rot="16200000">
            <a:off x="2838223" y="3190772"/>
            <a:ext cx="1751381" cy="3719393"/>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rgbClr val="060606"/>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0" name="Rectangle 39"/>
          <p:cNvSpPr/>
          <p:nvPr/>
        </p:nvSpPr>
        <p:spPr>
          <a:xfrm>
            <a:off x="3052718" y="3852190"/>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Implication</a:t>
            </a:r>
          </a:p>
        </p:txBody>
      </p:sp>
      <p:sp>
        <p:nvSpPr>
          <p:cNvPr id="42" name="Google Shape;7386;p39"/>
          <p:cNvSpPr/>
          <p:nvPr/>
        </p:nvSpPr>
        <p:spPr>
          <a:xfrm rot="10800000">
            <a:off x="6478457" y="3869173"/>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3" name="Google Shape;7367;p39"/>
          <p:cNvSpPr/>
          <p:nvPr/>
        </p:nvSpPr>
        <p:spPr>
          <a:xfrm rot="16200000">
            <a:off x="7474179" y="3202486"/>
            <a:ext cx="1727953" cy="3719393"/>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chemeClr val="tx1"/>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5" name="Rectangle 44"/>
          <p:cNvSpPr/>
          <p:nvPr/>
        </p:nvSpPr>
        <p:spPr>
          <a:xfrm>
            <a:off x="7676960" y="3875619"/>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Action</a:t>
            </a:r>
          </a:p>
        </p:txBody>
      </p:sp>
      <p:pic>
        <p:nvPicPr>
          <p:cNvPr id="47" name="Image 4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47871" y="3850143"/>
            <a:ext cx="334029" cy="337914"/>
          </a:xfrm>
          <a:prstGeom prst="rect">
            <a:avLst/>
          </a:prstGeom>
        </p:spPr>
      </p:pic>
      <p:pic>
        <p:nvPicPr>
          <p:cNvPr id="50" name="Image 49">
            <a:extLst>
              <a:ext uri="{FF2B5EF4-FFF2-40B4-BE49-F238E27FC236}">
                <a16:creationId xmlns:a16="http://schemas.microsoft.com/office/drawing/2014/main" id="{593DA389-08F4-31D9-6AB9-E96812D83B7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768142" y="1475503"/>
            <a:ext cx="294700" cy="294700"/>
          </a:xfrm>
          <a:prstGeom prst="rect">
            <a:avLst/>
          </a:prstGeom>
        </p:spPr>
      </p:pic>
      <p:pic>
        <p:nvPicPr>
          <p:cNvPr id="25" name="Image 2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156977" y="1457088"/>
            <a:ext cx="281624" cy="284788"/>
          </a:xfrm>
          <a:prstGeom prst="rect">
            <a:avLst/>
          </a:prstGeom>
        </p:spPr>
      </p:pic>
      <p:pic>
        <p:nvPicPr>
          <p:cNvPr id="28" name="Image 27"/>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791905" y="3883760"/>
            <a:ext cx="270937" cy="276827"/>
          </a:xfrm>
          <a:prstGeom prst="rect">
            <a:avLst/>
          </a:prstGeom>
        </p:spPr>
      </p:pic>
      <p:sp>
        <p:nvSpPr>
          <p:cNvPr id="31" name="Rectangle 30"/>
          <p:cNvSpPr/>
          <p:nvPr/>
        </p:nvSpPr>
        <p:spPr>
          <a:xfrm>
            <a:off x="1999671" y="1962253"/>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 Grenier a multiplié ses prêts en s'appuyant presque entièrement sur les ressources du FPPN.</a:t>
            </a:r>
          </a:p>
        </p:txBody>
      </p:sp>
      <p:sp>
        <p:nvSpPr>
          <p:cNvPr id="32" name="Rectangle 31"/>
          <p:cNvSpPr/>
          <p:nvPr/>
        </p:nvSpPr>
        <p:spPr>
          <a:xfrm>
            <a:off x="6623912" y="1926662"/>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L'encours atteint 1 044 302 107 FCFA au 31/08/2026. Les précomptes couvrent 76 à 85 % des échéances, et 126 prêts ont plus de 180 jours de retard.</a:t>
            </a:r>
          </a:p>
        </p:txBody>
      </p:sp>
      <p:sp>
        <p:nvSpPr>
          <p:cNvPr id="33" name="Rectangle 32"/>
          <p:cNvSpPr/>
          <p:nvPr/>
        </p:nvSpPr>
        <p:spPr>
          <a:xfrm>
            <a:off x="2093705" y="4388689"/>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 principal risque n'est pas la perte sur prêts, limitée, mais l'immobilisation de l'épargne des mutualistes dans les prêts.</a:t>
            </a:r>
          </a:p>
        </p:txBody>
      </p:sp>
      <p:sp>
        <p:nvSpPr>
          <p:cNvPr id="34" name="Rectangle 33"/>
          <p:cNvSpPr/>
          <p:nvPr/>
        </p:nvSpPr>
        <p:spPr>
          <a:xfrm>
            <a:off x="6768142" y="4336111"/>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 FPPN doit transmettre une politique de crédit lisible, les encaissements hors Solde et la décision qui encadre le financement du Grenier.</a:t>
            </a:r>
          </a:p>
        </p:txBody>
      </p:sp>
      <p:sp>
        <p:nvSpPr>
          <p:cNvPr id="51"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À retenir : Grenier</a:t>
            </a:r>
          </a:p>
        </p:txBody>
      </p:sp>
      <p:sp>
        <p:nvSpPr>
          <p:cNvPr id="52"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Grenier croît très vite grâce au financement du FPPN</a:t>
            </a:r>
          </a:p>
        </p:txBody>
      </p:sp>
      <p:sp>
        <p:nvSpPr>
          <p:cNvPr id="53"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Encours multiplié par 132, financé à 87,66 %, retards maîtrisés mais précomptes incomplets</a:t>
            </a:r>
          </a:p>
        </p:txBody>
      </p:sp>
      <p:sp>
        <p:nvSpPr>
          <p:cNvPr id="54"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analyses Adenka</a:t>
            </a:r>
          </a:p>
        </p:txBody>
      </p:sp>
      <p:sp>
        <p:nvSpPr>
          <p:cNvPr id="55" name="TextBox 5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1359987184"/>
      </p:ext>
    </p:extLst>
  </p:cSld>
  <p:clrMapOvr>
    <a:masterClrMapping/>
  </p:clrMapOvr>
  <p:transition>
    <p:fade/>
  </p:transition>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Google Shape;8651;p70"/>
          <p:cNvSpPr/>
          <p:nvPr/>
        </p:nvSpPr>
        <p:spPr>
          <a:xfrm>
            <a:off x="2013108" y="2588204"/>
            <a:ext cx="1380332" cy="1428252"/>
          </a:xfrm>
          <a:custGeom>
            <a:avLst/>
            <a:gdLst/>
            <a:ahLst/>
            <a:cxnLst/>
            <a:rect l="l" t="t" r="r" b="b"/>
            <a:pathLst>
              <a:path w="8670" h="8971" extrusionOk="0">
                <a:moveTo>
                  <a:pt x="7105" y="1302"/>
                </a:moveTo>
                <a:cubicBezTo>
                  <a:pt x="7105" y="1315"/>
                  <a:pt x="7105" y="1328"/>
                  <a:pt x="7105" y="1341"/>
                </a:cubicBezTo>
                <a:cubicBezTo>
                  <a:pt x="7118" y="1980"/>
                  <a:pt x="7183" y="2619"/>
                  <a:pt x="7183" y="3283"/>
                </a:cubicBezTo>
                <a:cubicBezTo>
                  <a:pt x="7170" y="4404"/>
                  <a:pt x="7183" y="5525"/>
                  <a:pt x="7222" y="6646"/>
                </a:cubicBezTo>
                <a:cubicBezTo>
                  <a:pt x="7235" y="6959"/>
                  <a:pt x="7222" y="7259"/>
                  <a:pt x="7222" y="7559"/>
                </a:cubicBezTo>
                <a:lnTo>
                  <a:pt x="7222" y="7585"/>
                </a:lnTo>
                <a:cubicBezTo>
                  <a:pt x="6935" y="7598"/>
                  <a:pt x="6649" y="7611"/>
                  <a:pt x="6362" y="7611"/>
                </a:cubicBezTo>
                <a:cubicBezTo>
                  <a:pt x="6101" y="7598"/>
                  <a:pt x="5853" y="7585"/>
                  <a:pt x="5593" y="7585"/>
                </a:cubicBezTo>
                <a:cubicBezTo>
                  <a:pt x="4159" y="7559"/>
                  <a:pt x="2712" y="7559"/>
                  <a:pt x="1291" y="7442"/>
                </a:cubicBezTo>
                <a:cubicBezTo>
                  <a:pt x="1278" y="7207"/>
                  <a:pt x="1239" y="6959"/>
                  <a:pt x="1226" y="6725"/>
                </a:cubicBezTo>
                <a:cubicBezTo>
                  <a:pt x="1200" y="6255"/>
                  <a:pt x="1187" y="5799"/>
                  <a:pt x="1200" y="5330"/>
                </a:cubicBezTo>
                <a:cubicBezTo>
                  <a:pt x="1213" y="4222"/>
                  <a:pt x="1226" y="3101"/>
                  <a:pt x="1343" y="1993"/>
                </a:cubicBezTo>
                <a:lnTo>
                  <a:pt x="1552" y="1993"/>
                </a:lnTo>
                <a:cubicBezTo>
                  <a:pt x="2138" y="1980"/>
                  <a:pt x="2725" y="1889"/>
                  <a:pt x="3312" y="1810"/>
                </a:cubicBezTo>
                <a:cubicBezTo>
                  <a:pt x="4576" y="1641"/>
                  <a:pt x="5840" y="1524"/>
                  <a:pt x="7105" y="1302"/>
                </a:cubicBezTo>
                <a:close/>
                <a:moveTo>
                  <a:pt x="7529" y="1"/>
                </a:moveTo>
                <a:cubicBezTo>
                  <a:pt x="7291" y="1"/>
                  <a:pt x="7059" y="53"/>
                  <a:pt x="6818" y="64"/>
                </a:cubicBezTo>
                <a:cubicBezTo>
                  <a:pt x="6375" y="103"/>
                  <a:pt x="5932" y="142"/>
                  <a:pt x="5488" y="194"/>
                </a:cubicBezTo>
                <a:cubicBezTo>
                  <a:pt x="4824" y="259"/>
                  <a:pt x="4107" y="350"/>
                  <a:pt x="3429" y="389"/>
                </a:cubicBezTo>
                <a:cubicBezTo>
                  <a:pt x="2686" y="429"/>
                  <a:pt x="1943" y="481"/>
                  <a:pt x="1213" y="598"/>
                </a:cubicBezTo>
                <a:cubicBezTo>
                  <a:pt x="913" y="624"/>
                  <a:pt x="652" y="728"/>
                  <a:pt x="509" y="976"/>
                </a:cubicBezTo>
                <a:cubicBezTo>
                  <a:pt x="470" y="1028"/>
                  <a:pt x="444" y="1080"/>
                  <a:pt x="431" y="1146"/>
                </a:cubicBezTo>
                <a:cubicBezTo>
                  <a:pt x="300" y="1524"/>
                  <a:pt x="287" y="1928"/>
                  <a:pt x="300" y="2332"/>
                </a:cubicBezTo>
                <a:cubicBezTo>
                  <a:pt x="209" y="3010"/>
                  <a:pt x="209" y="3700"/>
                  <a:pt x="209" y="4378"/>
                </a:cubicBezTo>
                <a:cubicBezTo>
                  <a:pt x="170" y="4769"/>
                  <a:pt x="144" y="5173"/>
                  <a:pt x="131" y="5565"/>
                </a:cubicBezTo>
                <a:cubicBezTo>
                  <a:pt x="105" y="6203"/>
                  <a:pt x="14" y="6842"/>
                  <a:pt x="14" y="7481"/>
                </a:cubicBezTo>
                <a:cubicBezTo>
                  <a:pt x="1" y="7911"/>
                  <a:pt x="157" y="8315"/>
                  <a:pt x="613" y="8419"/>
                </a:cubicBezTo>
                <a:cubicBezTo>
                  <a:pt x="1056" y="8550"/>
                  <a:pt x="1526" y="8524"/>
                  <a:pt x="1982" y="8550"/>
                </a:cubicBezTo>
                <a:cubicBezTo>
                  <a:pt x="2243" y="8563"/>
                  <a:pt x="2503" y="8589"/>
                  <a:pt x="2764" y="8615"/>
                </a:cubicBezTo>
                <a:cubicBezTo>
                  <a:pt x="3885" y="8745"/>
                  <a:pt x="5006" y="8902"/>
                  <a:pt x="6140" y="8941"/>
                </a:cubicBezTo>
                <a:cubicBezTo>
                  <a:pt x="6220" y="8945"/>
                  <a:pt x="6302" y="8946"/>
                  <a:pt x="6383" y="8946"/>
                </a:cubicBezTo>
                <a:cubicBezTo>
                  <a:pt x="6581" y="8946"/>
                  <a:pt x="6781" y="8937"/>
                  <a:pt x="6974" y="8928"/>
                </a:cubicBezTo>
                <a:cubicBezTo>
                  <a:pt x="7118" y="8941"/>
                  <a:pt x="7274" y="8941"/>
                  <a:pt x="7418" y="8941"/>
                </a:cubicBezTo>
                <a:cubicBezTo>
                  <a:pt x="7568" y="8956"/>
                  <a:pt x="7723" y="8971"/>
                  <a:pt x="7877" y="8971"/>
                </a:cubicBezTo>
                <a:cubicBezTo>
                  <a:pt x="7990" y="8971"/>
                  <a:pt x="8103" y="8963"/>
                  <a:pt x="8213" y="8941"/>
                </a:cubicBezTo>
                <a:cubicBezTo>
                  <a:pt x="8643" y="8810"/>
                  <a:pt x="8565" y="8093"/>
                  <a:pt x="8604" y="7741"/>
                </a:cubicBezTo>
                <a:cubicBezTo>
                  <a:pt x="8669" y="6620"/>
                  <a:pt x="8539" y="5499"/>
                  <a:pt x="8487" y="4378"/>
                </a:cubicBezTo>
                <a:cubicBezTo>
                  <a:pt x="8434" y="3453"/>
                  <a:pt x="8330" y="2527"/>
                  <a:pt x="8252" y="1589"/>
                </a:cubicBezTo>
                <a:cubicBezTo>
                  <a:pt x="8200" y="1341"/>
                  <a:pt x="8239" y="637"/>
                  <a:pt x="8096" y="350"/>
                </a:cubicBezTo>
                <a:lnTo>
                  <a:pt x="8082" y="350"/>
                </a:lnTo>
                <a:cubicBezTo>
                  <a:pt x="8056" y="181"/>
                  <a:pt x="7952" y="51"/>
                  <a:pt x="7704" y="11"/>
                </a:cubicBezTo>
                <a:cubicBezTo>
                  <a:pt x="7645" y="4"/>
                  <a:pt x="7587" y="1"/>
                  <a:pt x="7529" y="1"/>
                </a:cubicBezTo>
                <a:close/>
              </a:path>
            </a:pathLst>
          </a:custGeom>
          <a:solidFill>
            <a:schemeClr val="bg1"/>
          </a:solidFill>
          <a:ln w="76200">
            <a:solidFill>
              <a:schemeClr val="tx1"/>
            </a:solid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5" name="Rectangle 24">
            <a:extLst>
              <a:ext uri="{FF2B5EF4-FFF2-40B4-BE49-F238E27FC236}">
                <a16:creationId xmlns:a16="http://schemas.microsoft.com/office/drawing/2014/main" id="{9B9B23AA-050D-4543-80A0-873FE31AFFF7}"/>
              </a:ext>
            </a:extLst>
          </p:cNvPr>
          <p:cNvSpPr/>
          <p:nvPr/>
        </p:nvSpPr>
        <p:spPr>
          <a:xfrm>
            <a:off x="2446471" y="2869098"/>
            <a:ext cx="513606" cy="936923"/>
          </a:xfrm>
          <a:prstGeom prst="rect">
            <a:avLst/>
          </a:prstGeom>
        </p:spPr>
        <p:txBody>
          <a:bodyPr wrap="square" lIns="0" tIns="0" rIns="0" bIns="0">
            <a:spAutoFit/>
          </a:bodyPr>
          <a:lstStyle/>
          <a:p>
            <a:pPr lvl="0">
              <a:lnSpc>
                <a:spcPct val="110000"/>
              </a:lnSpc>
            </a:pPr>
            <a:r>
              <a:rPr lang="fr-CI" sz="60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8</a:t>
            </a:r>
          </a:p>
        </p:txBody>
      </p:sp>
      <p:sp>
        <p:nvSpPr>
          <p:cNvPr id="10" name="Rectangle 9"/>
          <p:cNvSpPr/>
          <p:nvPr/>
        </p:nvSpPr>
        <p:spPr>
          <a:xfrm>
            <a:off x="3938554" y="2462184"/>
            <a:ext cx="3816000" cy="1200329"/>
          </a:xfrm>
          <a:prstGeom prst="rect">
            <a:avLst/>
          </a:prstGeom>
        </p:spPr>
        <p:txBody>
          <a:bodyPr wrap="square">
            <a:spAutoFit/>
          </a:bodyPr>
          <a:lstStyle/>
          <a:p>
            <a:r>
              <a:rPr lang="fr-CI" sz="3600" b="1" noProof="0">
                <a:solidFill>
                  <a:schemeClr val="bg1"/>
                </a:solidFill>
                <a:latin typeface="Helvetica" panose="020B0604020202020204" pitchFamily="34" charset="0"/>
                <a:cs typeface="Helvetica" panose="020B0604020202020204" pitchFamily="34" charset="0"/>
              </a:rPr>
              <a:t>Retraités et annexes</a:t>
            </a:r>
          </a:p>
        </p:txBody>
      </p:sp>
      <p:pic>
        <p:nvPicPr>
          <p:cNvPr id="9" name="Image 8">
            <a:extLst>
              <a:ext uri="{FF2B5EF4-FFF2-40B4-BE49-F238E27FC236}">
                <a16:creationId xmlns:a16="http://schemas.microsoft.com/office/drawing/2014/main" id="{2C356854-0685-DCEF-E2F6-65D5E9653A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1274" y="-185107"/>
            <a:ext cx="3179518" cy="1268781"/>
          </a:xfrm>
          <a:prstGeom prst="rect">
            <a:avLst/>
          </a:prstGeom>
        </p:spPr>
      </p:pic>
      <p:sp>
        <p:nvSpPr>
          <p:cNvPr id="6" name="Rectangle 5"/>
          <p:cNvSpPr/>
          <p:nvPr/>
        </p:nvSpPr>
        <p:spPr>
          <a:xfrm>
            <a:off x="3938554" y="3337559"/>
            <a:ext cx="3816000" cy="923330"/>
          </a:xfrm>
          <a:prstGeom prst="rect">
            <a:avLst/>
          </a:prstGeom>
        </p:spPr>
        <p:txBody>
          <a:bodyPr wrap="square">
            <a:spAutoFit/>
          </a:bodyPr>
          <a:lstStyle/>
          <a:p>
            <a:br>
              <a:rPr lang="fr-CI" noProof="0">
                <a:solidFill>
                  <a:schemeClr val="bg1"/>
                </a:solidFill>
              </a:rPr>
            </a:br>
            <a:r>
              <a:rPr lang="fr-CI" noProof="0">
                <a:solidFill>
                  <a:srgbClr val="EFAC62"/>
                </a:solidFill>
                <a:latin typeface="Helvetica" panose="020B0604020202020204" pitchFamily="34" charset="0"/>
                <a:ea typeface="Open Sans Light" panose="020B0306030504020204" pitchFamily="34" charset="0"/>
                <a:cs typeface="Helvetica" panose="020B0604020202020204" pitchFamily="34" charset="0"/>
              </a:rPr>
              <a:t>CGRAE, flotte automobile, MEDOC, projets immobiliers</a:t>
            </a:r>
          </a:p>
        </p:txBody>
      </p:sp>
      <p:pic>
        <p:nvPicPr>
          <p:cNvPr id="11" name="Imag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5561" y="2415481"/>
            <a:ext cx="1566911" cy="1600975"/>
          </a:xfrm>
          <a:prstGeom prst="rect">
            <a:avLst/>
          </a:prstGeom>
        </p:spPr>
      </p:pic>
    </p:spTree>
    <p:extLst>
      <p:ext uri="{BB962C8B-B14F-4D97-AF65-F5344CB8AC3E}">
        <p14:creationId xmlns:p14="http://schemas.microsoft.com/office/powerpoint/2010/main" val="3860396757"/>
      </p:ext>
    </p:extLst>
  </p:cSld>
  <p:clrMapOvr>
    <a:masterClrMapping/>
  </p:clrMapOvr>
  <p:transition>
    <p:fade/>
  </p:transition>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Retraités CGRAE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retraités cotisants sont passés de 16 à 610 en deux ans et demi</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Précompte moyen de 11 940 FCFA par mois sur la pension. Données depuis février 2024</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27 : Retraités précomptés par la CGRAE, par mois</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nombre de retraités</a:t>
            </a:r>
          </a:p>
        </p:txBody>
      </p:sp>
      <p:graphicFrame>
        <p:nvGraphicFramePr>
          <p:cNvPr id="32" name="Chart 31"/>
          <p:cNvGraphicFramePr>
            <a:graphicFrameLocks noGrp="1"/>
          </p:cNvGraphicFramePr>
          <p:nvPr/>
        </p:nvGraphicFramePr>
        <p:xfrm>
          <a:off x="503999" y="1782000"/>
          <a:ext cx="6552000" cy="3744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fichiers de précomptes de la Solde, de la CGRAE et du FPPN reçus le 15/10/2026 (dossiers « FPPN-SOLDE », « FPPN-CGRAE », « FPPN-GNA », noms exacts en annexe « Fichiers sources »). Traitements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610 retraités sont précomptés en août 2026.</a:t>
            </a:r>
            <a:r>
              <a:rPr sz="1400" b="0">
                <a:solidFill>
                  <a:srgbClr val="060606"/>
                </a:solidFill>
                <a:latin typeface="Helvetica"/>
              </a:rPr>
              <a:t> Leur nombre augmente chaque mois depuis février 2024.</a:t>
            </a:r>
          </a:p>
          <a:p>
            <a:pPr algn="just">
              <a:spcAft>
                <a:spcPts val="600"/>
              </a:spcAft>
            </a:pPr>
            <a:r>
              <a:rPr sz="1400" b="1">
                <a:solidFill>
                  <a:srgbClr val="060606"/>
                </a:solidFill>
                <a:latin typeface="Helvetica"/>
              </a:rPr>
              <a:t>Plusieurs anomalies de gestion apparaissent dans les fichiers</a:t>
            </a:r>
            <a:r>
              <a:rPr sz="1400" b="0">
                <a:solidFill>
                  <a:srgbClr val="060606"/>
                </a:solidFill>
                <a:latin typeface="Helvetica"/>
              </a:rPr>
              <a:t> : précomptes en double ou indus remboursés, numéros de décision erronés, précomptes non effectués.</a:t>
            </a:r>
          </a:p>
          <a:p>
            <a:pPr algn="just">
              <a:spcAft>
                <a:spcPts val="600"/>
              </a:spcAft>
            </a:pPr>
            <a:r>
              <a:rPr sz="1400" b="1">
                <a:solidFill>
                  <a:srgbClr val="060606"/>
                </a:solidFill>
                <a:latin typeface="Helvetica"/>
              </a:rPr>
              <a:t>La CGRAE précompte 100,19 % des montants demandés</a:t>
            </a:r>
            <a:r>
              <a:rPr sz="1400" b="0">
                <a:solidFill>
                  <a:srgbClr val="060606"/>
                </a:solidFill>
                <a:latin typeface="Helvetica"/>
              </a:rPr>
              <a:t> sur 30 mois communs.</a:t>
            </a:r>
          </a:p>
          <a:p>
            <a:pPr algn="just">
              <a:spcAft>
                <a:spcPts val="600"/>
              </a:spcAft>
            </a:pPr>
            <a:r>
              <a:rPr sz="1400" b="0">
                <a:solidFill>
                  <a:srgbClr val="060606"/>
                </a:solidFill>
                <a:latin typeface="Helvetica"/>
              </a:rPr>
              <a:t>Si la garantie santé est maintenue à vie aux retraités pour une cotisation inférieure à son coût, elle devient un engagement viager : sa valeur se calculera avec la table CIMA F (partie 11) dès que les âges et les coûts de soins seront transmis.</a:t>
            </a:r>
          </a:p>
        </p:txBody>
      </p:sp>
      <p:sp>
        <p:nvSpPr>
          <p:cNvPr id="35" name="TextBox 34"/>
          <p:cNvSpPr txBox="1"/>
          <p:nvPr/>
        </p:nvSpPr>
        <p:spPr>
          <a:xfrm>
            <a:off x="503999" y="5526000"/>
            <a:ext cx="6552000" cy="306000"/>
          </a:xfrm>
          <a:prstGeom prst="rect">
            <a:avLst/>
          </a:prstGeom>
          <a:noFill/>
        </p:spPr>
        <p:txBody>
          <a:bodyPr wrap="square" anchor="t" lIns="54000" rIns="54000"/>
          <a:lstStyle/>
          <a:p>
            <a:pPr algn="l"/>
            <a:r>
              <a:rPr sz="850" b="0">
                <a:solidFill>
                  <a:srgbClr val="53565A"/>
                </a:solidFill>
                <a:latin typeface="Helvetica"/>
              </a:rPr>
              <a:t>Valable pour : retraités précomptés dans les fichiers retour de la CGRAE (dossier « FPPN-CGRAE\PRECOMTES\FICHIER RETOUR (CGRAE) »), février 2024 à septembre 2026. Ne couvre pas les retraités sans quotité cessible.</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CIMA : Conférence interafricaine des marchés d'assurances | CGRAE : Caisse générale de retraite des agents de l'État | GNA : assureur de la flotte automobile (compte 47111106)</a:t>
            </a:r>
          </a:p>
        </p:txBody>
      </p:sp>
    </p:spTree>
    <p:extLst>
      <p:ext uri="{BB962C8B-B14F-4D97-AF65-F5344CB8AC3E}">
        <p14:creationId xmlns:p14="http://schemas.microsoft.com/office/powerpoint/2010/main" val="143247554"/>
      </p:ext>
    </p:extLst>
  </p:cSld>
  <p:clrMapOvr>
    <a:masterClrMapping/>
  </p:clrMapOvr>
  <p:transition>
    <p:fade/>
  </p:transition>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Convention IPS-CGRAE : santé des policiers retraités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FPPN assure la santé des retraités souscripteurs, même si la CGRAE reverse en retard</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La convention organise le précompte des cotisations sur les pensions. Elle confirme une garantie santé des retraités, donc un risque long</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CONVENTION DE PARTENARIAT ENTRE IPS-CGRAE ET LE FPPN.pdf (scan lu par reconnaissance de caractères, articles 3 à 7). Fichiers de précomptes de la Solde, de la CGRAE et du FPPN reçus le 15/10/2026 (dossiers « FPPN-SOLDE », « FPPN-CGRAE », « FPPN-GNA », noms exacts en annexe « Fichiers sources »). Traitements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40 : Clauses de la convention IPS-CGRAE utiles à la mission</a:t>
            </a:r>
          </a:p>
        </p:txBody>
      </p:sp>
      <p:graphicFrame>
        <p:nvGraphicFramePr>
          <p:cNvPr id="32" name="Table 31"/>
          <p:cNvGraphicFramePr>
            <a:graphicFrameLocks noGrp="1"/>
          </p:cNvGraphicFramePr>
          <p:nvPr/>
        </p:nvGraphicFramePr>
        <p:xfrm>
          <a:off x="503999" y="1655999"/>
          <a:ext cx="11232000" cy="1381984"/>
        </p:xfrm>
        <a:graphic>
          <a:graphicData uri="http://schemas.openxmlformats.org/drawingml/2006/table">
            <a:tbl>
              <a:tblPr firstRow="0" bandRow="0">
                <a:tableStyleId>{5940675A-B579-460E-94D1-54222C63F5DA}</a:tableStyleId>
              </a:tblPr>
              <a:tblGrid>
                <a:gridCol w="1080000"/>
                <a:gridCol w="5472000"/>
                <a:gridCol w="4680000"/>
              </a:tblGrid>
              <a:tr h="187148">
                <a:tc>
                  <a:txBody>
                    <a:bodyPr/>
                    <a:lstStyle/>
                    <a:p>
                      <a:pPr marL="0" indent="0" lvl="0">
                        <a:buNone/>
                      </a:pPr>
                      <a:r>
                        <a:rPr sz="850" b="1">
                          <a:solidFill>
                            <a:srgbClr val="FFFFFF"/>
                          </a:solidFill>
                          <a:latin typeface="Helvetica"/>
                        </a:rPr>
                        <a:t>Article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Clause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Effet sur la mission</a:t>
                      </a:r>
                    </a:p>
                  </a:txBody>
                  <a:tcPr marL="43200" marR="43200" marT="14400" marB="14400" anchor="ctr">
                    <a:solidFill>
                      <a:srgbClr val="060606"/>
                    </a:solidFill>
                  </a:tcPr>
                </a:tc>
              </a:tr>
              <a:tr h="316696">
                <a:tc>
                  <a:txBody>
                    <a:bodyPr/>
                    <a:lstStyle/>
                    <a:p>
                      <a:pPr marL="0" indent="0" lvl="0">
                        <a:buNone/>
                      </a:pPr>
                      <a:r>
                        <a:rPr sz="850" b="1">
                          <a:solidFill>
                            <a:srgbClr val="060606"/>
                          </a:solidFill>
                          <a:latin typeface="Helvetica"/>
                        </a:rPr>
                        <a:t>Art. 3</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Précompte, sur la pension, des cotisations de prise en charge médicale du policier retraité qui l'autorise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Les retraités deviennent des cotisants à part entière (partie 8 : 610 en août 26)</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Art. 4.1 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Le FPPN ne suspend aucune prestation pour cause de retard de reversement par l'IPS-CGRAE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Le FPPN porte le risque de trésorerie entre le soin et l'encaissement</a:t>
                      </a:r>
                    </a:p>
                  </a:txBody>
                  <a:tcPr marL="43200" marR="43200" marT="14400" marB="14400" anchor="ctr">
                    <a:solidFill>
                      <a:srgbClr val="F2F2F2"/>
                    </a:solidFill>
                  </a:tcPr>
                </a:tc>
              </a:tr>
              <a:tr h="316696">
                <a:tc>
                  <a:txBody>
                    <a:bodyPr/>
                    <a:lstStyle/>
                    <a:p>
                      <a:pPr marL="0" indent="0" lvl="0">
                        <a:buNone/>
                      </a:pPr>
                      <a:r>
                        <a:rPr sz="850" b="1">
                          <a:solidFill>
                            <a:srgbClr val="060606"/>
                          </a:solidFill>
                          <a:latin typeface="Helvetica"/>
                        </a:rPr>
                        <a:t>Art. 4.2 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Précompte dans la limite de la quotité cessible. Seuls les retraités qui en disposent sont précomptés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Une partie des retraités souscripteurs peut ne pas être précomptée</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Art. 5</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Aucun frais de gestion facturé par l'IPS-CGRAE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Pas de charge de gestion à prévoir</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Art. 7</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En cas de décès, le FPPN reverse les précomptes perçus après le décès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Dette envers la CGRAE à suivre</a:t>
                      </a:r>
                    </a:p>
                  </a:txBody>
                  <a:tcPr marL="43200" marR="43200" marT="14400" marB="14400" anchor="ctr">
                    <a:solidFill>
                      <a:srgbClr val="FFFFFF"/>
                    </a:solidFill>
                  </a:tcPr>
                </a:tc>
              </a:tr>
            </a:tbl>
          </a:graphicData>
        </a:graphic>
      </p:graphicFrame>
      <p:sp>
        <p:nvSpPr>
          <p:cNvPr id="33" name="TextBox 32"/>
          <p:cNvSpPr txBox="1"/>
          <p:nvPr/>
        </p:nvSpPr>
        <p:spPr>
          <a:xfrm>
            <a:off x="503999" y="3145985"/>
            <a:ext cx="11232000" cy="162000"/>
          </a:xfrm>
          <a:prstGeom prst="rect">
            <a:avLst/>
          </a:prstGeom>
          <a:noFill/>
        </p:spPr>
        <p:txBody>
          <a:bodyPr wrap="square" anchor="t" lIns="54000" rIns="54000"/>
          <a:lstStyle/>
          <a:p>
            <a:pPr algn="l"/>
            <a:r>
              <a:rPr sz="850" b="0">
                <a:solidFill>
                  <a:srgbClr val="53565A"/>
                </a:solidFill>
                <a:latin typeface="Helvetica"/>
              </a:rPr>
              <a:t>Valable pour : texte de la convention reçu le 22/10/2026. Son application (nombre de retraités, montants précomptés) est mesurée en partie 8 de février 2024 à septembre 2026.</a:t>
            </a:r>
          </a:p>
        </p:txBody>
      </p:sp>
      <p:sp>
        <p:nvSpPr>
          <p:cNvPr id="34" name="TextBox 33"/>
          <p:cNvSpPr txBox="1"/>
          <p:nvPr/>
        </p:nvSpPr>
        <p:spPr>
          <a:xfrm>
            <a:off x="503999" y="3451985"/>
            <a:ext cx="11232000" cy="2416014"/>
          </a:xfrm>
          <a:prstGeom prst="rect">
            <a:avLst/>
          </a:prstGeom>
          <a:noFill/>
        </p:spPr>
        <p:txBody>
          <a:bodyPr wrap="square" lIns="54000" rIns="54000"/>
          <a:lstStyle/>
          <a:p>
            <a:pPr algn="just">
              <a:spcAft>
                <a:spcPts val="600"/>
              </a:spcAft>
            </a:pPr>
            <a:r>
              <a:rPr sz="1300" b="1">
                <a:solidFill>
                  <a:srgbClr val="060606"/>
                </a:solidFill>
                <a:latin typeface="Helvetica"/>
              </a:rPr>
              <a:t>La convention confirme que le FPPN assure la santé des policiers retraités qui y souscrivent.</a:t>
            </a:r>
            <a:r>
              <a:rPr sz="1300" b="0">
                <a:solidFill>
                  <a:srgbClr val="060606"/>
                </a:solidFill>
                <a:latin typeface="Helvetica"/>
              </a:rPr>
              <a:t> Les statuts (art. 7 et 80) laissaient la question ouverte.</a:t>
            </a:r>
          </a:p>
          <a:p>
            <a:pPr algn="just">
              <a:spcAft>
                <a:spcPts val="600"/>
              </a:spcAft>
            </a:pPr>
            <a:r>
              <a:rPr sz="1300" b="1">
                <a:solidFill>
                  <a:srgbClr val="060606"/>
                </a:solidFill>
                <a:latin typeface="Helvetica"/>
              </a:rPr>
              <a:t>La garantie santé des retraités relève des risques longs</a:t>
            </a:r>
            <a:r>
              <a:rPr sz="1300" b="0">
                <a:solidFill>
                  <a:srgbClr val="060606"/>
                </a:solidFill>
                <a:latin typeface="Helvetica"/>
              </a:rPr>
              <a:t> : sa tarification et sa provision demandent les âges des retraités, leurs consommations et la cotisation appliquée.</a:t>
            </a:r>
          </a:p>
          <a:p>
            <a:pPr algn="just">
              <a:spcAft>
                <a:spcPts val="600"/>
              </a:spcAft>
            </a:pPr>
            <a:r>
              <a:rPr sz="1300" b="0">
                <a:solidFill>
                  <a:srgbClr val="060606"/>
                </a:solidFill>
                <a:latin typeface="Helvetica"/>
              </a:rPr>
              <a:t>L'engagement santé des retraités doit être évalué séparément de celui des actifs, avec ses propres cotisations (PBC, items 2 et 52).</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CGRAE : Caisse générale de retraite des agents de l'État | PBC : liste des documents demandés au client | GNA : assureur de la flotte automobile (compte 47111106) | IPS-CGRAE : Institution de prévoyance sociale - Caisse générale de retraite des agents de l'État</a:t>
            </a:r>
          </a:p>
        </p:txBody>
      </p:sp>
    </p:spTree>
    <p:extLst>
      <p:ext uri="{BB962C8B-B14F-4D97-AF65-F5344CB8AC3E}">
        <p14:creationId xmlns:p14="http://schemas.microsoft.com/office/powerpoint/2010/main" val="1979226048"/>
      </p:ext>
    </p:extLst>
  </p:cSld>
  <p:clrMapOvr>
    <a:masterClrMapping/>
  </p:clrMapOvr>
  <p:transition>
    <p:fade/>
  </p:transition>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Santé des retraités : ce que l'on peut mesurer</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retraités précomptés passent de 16 en févr. 24 à 610 en août 26</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Les cotisations des retraités sont mesurées. Leurs prestations, leurs âges et donc l'engagement à vie du FPPN ne le sont pas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fichiers de précomptes de la Solde, de la CGRAE et du FPPN reçus le 15/10/2026 (dossiers « FPPN-SOLDE », « FPPN-CGRAE », « FPPN-GNA », noms exacts en annexe « Fichiers sources »). Traitements Adenka. CONVENTION DE PARTENARIAT ENTRE IPS-CGRAE ET LE FPPN.pdf. Onglet 22 du classeur des calculs</a:t>
            </a:r>
          </a:p>
        </p:txBody>
      </p:sp>
      <p:sp>
        <p:nvSpPr>
          <p:cNvPr id="31" name="TextBox 30"/>
          <p:cNvSpPr txBox="1"/>
          <p:nvPr/>
        </p:nvSpPr>
        <p:spPr>
          <a:xfrm>
            <a:off x="503999" y="1386000"/>
            <a:ext cx="7056000" cy="216000"/>
          </a:xfrm>
          <a:prstGeom prst="rect">
            <a:avLst/>
          </a:prstGeom>
          <a:noFill/>
        </p:spPr>
        <p:txBody>
          <a:bodyPr wrap="square" anchor="t" lIns="54000" rIns="54000"/>
          <a:lstStyle/>
          <a:p>
            <a:pPr algn="ctr"/>
            <a:r>
              <a:rPr sz="1200" b="0">
                <a:solidFill>
                  <a:srgbClr val="EFAC62"/>
                </a:solidFill>
                <a:latin typeface="Helvetica"/>
              </a:rPr>
              <a:t>Tableau 41 : Retraités précomptés par la CGRAE</a:t>
            </a:r>
          </a:p>
        </p:txBody>
      </p:sp>
      <p:graphicFrame>
        <p:nvGraphicFramePr>
          <p:cNvPr id="32" name="Table 31"/>
          <p:cNvGraphicFramePr>
            <a:graphicFrameLocks noGrp="1"/>
          </p:cNvGraphicFramePr>
          <p:nvPr/>
        </p:nvGraphicFramePr>
        <p:xfrm>
          <a:off x="503999" y="1655999"/>
          <a:ext cx="7056000" cy="1947680"/>
        </p:xfrm>
        <a:graphic>
          <a:graphicData uri="http://schemas.openxmlformats.org/drawingml/2006/table">
            <a:tbl>
              <a:tblPr firstRow="0" bandRow="0">
                <a:tableStyleId>{5940675A-B579-460E-94D1-54222C63F5DA}</a:tableStyleId>
              </a:tblPr>
              <a:tblGrid>
                <a:gridCol w="1634400"/>
                <a:gridCol w="1634400"/>
                <a:gridCol w="1958400"/>
                <a:gridCol w="1828800"/>
              </a:tblGrid>
              <a:tr h="194768">
                <a:tc>
                  <a:txBody>
                    <a:bodyPr/>
                    <a:lstStyle/>
                    <a:p>
                      <a:pPr marL="0" indent="0" lvl="0">
                        <a:buNone/>
                      </a:pPr>
                      <a:r>
                        <a:rPr sz="900" b="1">
                          <a:solidFill>
                            <a:srgbClr val="FFFFFF"/>
                          </a:solidFill>
                          <a:latin typeface="Helvetica"/>
                        </a:rPr>
                        <a:t>Mois</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Retraités précomptés</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Montant précompté</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Cotisation moyenne</a:t>
                      </a:r>
                    </a:p>
                  </a:txBody>
                  <a:tcPr marL="43200" marR="43200" marT="14400" marB="14400" anchor="ctr">
                    <a:solidFill>
                      <a:srgbClr val="060606"/>
                    </a:solidFill>
                  </a:tcPr>
                </a:tc>
              </a:tr>
              <a:tr h="194768">
                <a:tc>
                  <a:txBody>
                    <a:bodyPr/>
                    <a:lstStyle/>
                    <a:p>
                      <a:pPr marL="0" indent="0" lvl="0">
                        <a:buNone/>
                      </a:pPr>
                      <a:r>
                        <a:rPr sz="900" b="1">
                          <a:solidFill>
                            <a:srgbClr val="060606"/>
                          </a:solidFill>
                          <a:latin typeface="Helvetica"/>
                        </a:rPr>
                        <a:t>févr. 24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16</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202 655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12 666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juil. 24</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176</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2 097 392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11 917 FCFA</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nov. 24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280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3 347 635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11 956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mars 25</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322</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3 945 438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12 253 FCFA</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juil. 25</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386</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4 646 872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12 039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nov. 25</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506</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6 010 492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11 878 FCFA</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mars 26</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584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6 862 774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11 751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juil. 26</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600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7 117 178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11 862 FCFA</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août 26</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610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7 292 072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11 954 FCFA</a:t>
                      </a:r>
                    </a:p>
                  </a:txBody>
                  <a:tcPr marL="43200" marR="43200" marT="14400" marB="14400" anchor="ctr">
                    <a:solidFill>
                      <a:srgbClr val="FFFFFF"/>
                    </a:solidFill>
                  </a:tcPr>
                </a:tc>
              </a:tr>
            </a:tbl>
          </a:graphicData>
        </a:graphic>
      </p:graphicFrame>
      <p:sp>
        <p:nvSpPr>
          <p:cNvPr id="33" name="TextBox 32"/>
          <p:cNvSpPr txBox="1"/>
          <p:nvPr/>
        </p:nvSpPr>
        <p:spPr>
          <a:xfrm>
            <a:off x="503999" y="3711686"/>
            <a:ext cx="7056000" cy="306000"/>
          </a:xfrm>
          <a:prstGeom prst="rect">
            <a:avLst/>
          </a:prstGeom>
          <a:noFill/>
        </p:spPr>
        <p:txBody>
          <a:bodyPr wrap="square" anchor="t" lIns="54000" rIns="54000"/>
          <a:lstStyle/>
          <a:p>
            <a:pPr algn="l"/>
            <a:r>
              <a:rPr sz="850" b="0">
                <a:solidFill>
                  <a:srgbClr val="53565A"/>
                </a:solidFill>
                <a:latin typeface="Helvetica"/>
              </a:rPr>
              <a:t>Valable pour : fichiers retour de la CGRAE reçus le 15/10/2026, févr. 24 à août 26 (un mois sur quatre affiché, tous les mois dans le classeur). Ne couvre pas les retraités non précomptés.</a:t>
            </a:r>
          </a:p>
        </p:txBody>
      </p:sp>
      <p:sp>
        <p:nvSpPr>
          <p:cNvPr id="34" name="TextBox 33"/>
          <p:cNvSpPr txBox="1"/>
          <p:nvPr/>
        </p:nvSpPr>
        <p:spPr>
          <a:xfrm>
            <a:off x="7776000" y="1386000"/>
            <a:ext cx="3960000" cy="4482000"/>
          </a:xfrm>
          <a:prstGeom prst="rect">
            <a:avLst/>
          </a:prstGeom>
          <a:noFill/>
        </p:spPr>
        <p:txBody>
          <a:bodyPr wrap="square" lIns="54000" rIns="54000"/>
          <a:lstStyle/>
          <a:p>
            <a:pPr algn="just">
              <a:spcAft>
                <a:spcPts val="600"/>
              </a:spcAft>
            </a:pPr>
            <a:r>
              <a:rPr sz="1400" b="1">
                <a:solidFill>
                  <a:srgbClr val="060606"/>
                </a:solidFill>
                <a:latin typeface="Helvetica"/>
              </a:rPr>
              <a:t>Les retraités sont une population cotisante en forte hausse.</a:t>
            </a:r>
            <a:r>
              <a:rPr sz="1400" b="0">
                <a:solidFill>
                  <a:srgbClr val="060606"/>
                </a:solidFill>
                <a:latin typeface="Helvetica"/>
              </a:rPr>
              <a:t> Leurs prestations ne sont pas isolées dans les comptes ni dans les fichiers reçus.</a:t>
            </a:r>
          </a:p>
          <a:p>
            <a:pPr algn="just">
              <a:spcAft>
                <a:spcPts val="600"/>
              </a:spcAft>
            </a:pPr>
            <a:r>
              <a:rPr sz="1400" b="1">
                <a:solidFill>
                  <a:srgbClr val="060606"/>
                </a:solidFill>
                <a:latin typeface="Helvetica"/>
              </a:rPr>
              <a:t>Les fichiers retour de la CGRAE de février à avril 2024 donnent la date de naissance de 105 retraités, âgés en moyenne de 63,3 ans au 30/09/2026.</a:t>
            </a:r>
            <a:r>
              <a:rPr sz="1400" b="0">
                <a:solidFill>
                  <a:srgbClr val="060606"/>
                </a:solidFill>
                <a:latin typeface="Helvetica"/>
              </a:rPr>
              <a:t> Aucun fichier ne donne les dates des autres retraités ni les soins de chacun : l'engagement à vie ne peut pas être calculé (annexe « Méthodes non retenues et pourquoi »).</a:t>
            </a:r>
          </a:p>
          <a:p>
            <a:pPr algn="just">
              <a:spcAft>
                <a:spcPts val="600"/>
              </a:spcAft>
            </a:pPr>
            <a:r>
              <a:rPr sz="1400" b="0">
                <a:solidFill>
                  <a:srgbClr val="060606"/>
                </a:solidFill>
                <a:latin typeface="Helvetica"/>
              </a:rPr>
              <a:t>Tant que ces données manquent, le FPPN ne peut pas savoir si la cotisation des retraités couvre leurs soins jusqu'à la fin de leur vie.</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CGRAE : Caisse générale de retraite des agents de l'État | GNA : assureur de la flotte automobile (compte 47111106) | IPS-CGRAE : Institution de prévoyance sociale - Caisse générale de retraite des agents de l'État</a:t>
            </a:r>
          </a:p>
        </p:txBody>
      </p:sp>
    </p:spTree>
    <p:extLst>
      <p:ext uri="{BB962C8B-B14F-4D97-AF65-F5344CB8AC3E}">
        <p14:creationId xmlns:p14="http://schemas.microsoft.com/office/powerpoint/2010/main" val="1676881866"/>
      </p:ext>
    </p:extLst>
  </p:cSld>
  <p:clrMapOvr>
    <a:masterClrMapping/>
  </p:clrMapOvr>
  <p:transition>
    <p:fade/>
  </p:transition>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Produits annexes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Deux produits sont précomptés sans documentation transmise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Flotte automobile (9W3) : convention avec GNA non reçue. MEDOC (8Z7) : aucun document. Projets immobiliers suivis en compte d'attente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fichiers de précomptes de la Solde, de la CGRAE et du FPPN reçus le 15/10/2026 (dossiers « FPPN-SOLDE », « FPPN-CGRAE », « FPPN-GNA », noms exacts en annexe « Fichiers sources »). Traitements Adenka. Balances des comptes du FPPN de 2020 au 31/08/2026 (provisoire), fichiers « BALANCE … » listés en annexe « Fichiers sources ». Traitements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42 : Produits annexes et points à clarifier</a:t>
            </a:r>
          </a:p>
        </p:txBody>
      </p:sp>
      <p:graphicFrame>
        <p:nvGraphicFramePr>
          <p:cNvPr id="32" name="Table 31"/>
          <p:cNvGraphicFramePr>
            <a:graphicFrameLocks noGrp="1"/>
          </p:cNvGraphicFramePr>
          <p:nvPr/>
        </p:nvGraphicFramePr>
        <p:xfrm>
          <a:off x="503999" y="1655999"/>
          <a:ext cx="11232000" cy="2132154"/>
        </p:xfrm>
        <a:graphic>
          <a:graphicData uri="http://schemas.openxmlformats.org/drawingml/2006/table">
            <a:tbl>
              <a:tblPr firstRow="0" bandRow="0">
                <a:tableStyleId>{5940675A-B579-460E-94D1-54222C63F5DA}</a:tableStyleId>
              </a:tblPr>
              <a:tblGrid>
                <a:gridCol w="1728000"/>
                <a:gridCol w="4752000"/>
                <a:gridCol w="4752000"/>
              </a:tblGrid>
              <a:tr h="225250">
                <a:tc>
                  <a:txBody>
                    <a:bodyPr/>
                    <a:lstStyle/>
                    <a:p>
                      <a:pPr marL="0" indent="0" lvl="0">
                        <a:buNone/>
                      </a:pPr>
                      <a:r>
                        <a:rPr sz="1100" b="1">
                          <a:solidFill>
                            <a:srgbClr val="FFFFFF"/>
                          </a:solidFill>
                          <a:latin typeface="Helvetica"/>
                        </a:rPr>
                        <a:t>Produit</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Ce que montrent les données</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À obtenir du FPPN</a:t>
                      </a:r>
                    </a:p>
                  </a:txBody>
                  <a:tcPr marL="43200" marR="43200" marT="14400" marB="14400" anchor="ctr">
                    <a:solidFill>
                      <a:srgbClr val="060606"/>
                    </a:solidFill>
                  </a:tcPr>
                </a:tc>
              </a:tr>
              <a:tr h="560551">
                <a:tc>
                  <a:txBody>
                    <a:bodyPr/>
                    <a:lstStyle/>
                    <a:p>
                      <a:pPr marL="0" indent="0" lvl="0">
                        <a:buNone/>
                      </a:pPr>
                      <a:r>
                        <a:rPr sz="1100" b="1">
                          <a:solidFill>
                            <a:srgbClr val="060606"/>
                          </a:solidFill>
                          <a:latin typeface="Helvetica"/>
                        </a:rPr>
                        <a:t>Flotte automobile (9W3)</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La Solde précompte environ 10 000 FCFA par mois et par adhérent de 2023 à 2026. Le compte 47111106 « GNA ASSURANCE » suit l'assureur.</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La convention avec GNA, les primes reversées, les sinistres et les soldes par adhérent. </a:t>
                      </a:r>
                      <a:r>
                        <a:rPr sz="1100" b="0">
                          <a:solidFill>
                            <a:srgbClr val="060606"/>
                          </a:solidFill>
                          <a:highlight>
                            <a:srgbClr val="FFFF00"/>
                          </a:highlight>
                          <a:latin typeface="Helvetica"/>
                        </a:rPr>
                        <a:t>GNA met mal à jour les soldes (responsable des cotisations, entretien du 19/10/2026)</a:t>
                      </a:r>
                      <a:r>
                        <a:rPr sz="1100" b="0">
                          <a:solidFill>
                            <a:srgbClr val="060606"/>
                          </a:solidFill>
                          <a:latin typeface="Helvetica"/>
                        </a:rPr>
                        <a:t>.</a:t>
                      </a:r>
                    </a:p>
                  </a:txBody>
                  <a:tcPr marL="43200" marR="43200" marT="14400" marB="14400" anchor="ctr">
                    <a:solidFill>
                      <a:srgbClr val="FFFFFF"/>
                    </a:solidFill>
                  </a:tcPr>
                </a:tc>
              </a:tr>
              <a:tr h="560551">
                <a:tc>
                  <a:txBody>
                    <a:bodyPr/>
                    <a:lstStyle/>
                    <a:p>
                      <a:pPr marL="0" indent="0" lvl="0">
                        <a:buNone/>
                      </a:pPr>
                      <a:r>
                        <a:rPr sz="1100" b="1">
                          <a:solidFill>
                            <a:srgbClr val="060606"/>
                          </a:solidFill>
                          <a:latin typeface="Helvetica"/>
                        </a:rPr>
                        <a:t>MEDOC (8Z7)</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Le FPPN précompte 5 000 FCFA par mois depuis novembre 2025. Les retours de février et avril 2026 sont vides.</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La période de fonctionnement et la décision de suspension. </a:t>
                      </a:r>
                      <a:r>
                        <a:rPr sz="1100" b="0">
                          <a:solidFill>
                            <a:srgbClr val="060606"/>
                          </a:solidFill>
                          <a:highlight>
                            <a:srgbClr val="FFFF00"/>
                          </a:highlight>
                          <a:latin typeface="Helvetica"/>
                        </a:rPr>
                        <a:t>Produit décrit comme un complément pharmacie, en pause depuis environ deux mois (entretien du 19/10/2026)</a:t>
                      </a:r>
                      <a:r>
                        <a:rPr sz="1100" b="0">
                          <a:solidFill>
                            <a:srgbClr val="060606"/>
                          </a:solidFill>
                          <a:latin typeface="Helvetica"/>
                        </a:rPr>
                        <a:t>.</a:t>
                      </a:r>
                    </a:p>
                  </a:txBody>
                  <a:tcPr marL="43200" marR="43200" marT="14400" marB="14400" anchor="ctr">
                    <a:solidFill>
                      <a:srgbClr val="F2F2F2"/>
                    </a:solidFill>
                  </a:tcPr>
                </a:tc>
              </a:tr>
              <a:tr h="392901">
                <a:tc>
                  <a:txBody>
                    <a:bodyPr/>
                    <a:lstStyle/>
                    <a:p>
                      <a:pPr marL="0" indent="0" lvl="0">
                        <a:buNone/>
                      </a:pPr>
                      <a:r>
                        <a:rPr sz="1100" b="1">
                          <a:solidFill>
                            <a:srgbClr val="060606"/>
                          </a:solidFill>
                          <a:latin typeface="Helvetica"/>
                        </a:rPr>
                        <a:t>Projets immobiliers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Les comptes 47111200 et 47111201 portent des projets immobiliers. Aucun compte n'est intitulé SCI.</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Le statut juridique des projets et le lien éventuel avec la SCI « La Prévoyance ».</a:t>
                      </a:r>
                    </a:p>
                  </a:txBody>
                  <a:tcPr marL="43200" marR="43200" marT="14400" marB="14400" anchor="ctr">
                    <a:solidFill>
                      <a:srgbClr val="FFFFFF"/>
                    </a:solidFill>
                  </a:tcPr>
                </a:tc>
              </a:tr>
              <a:tr h="392901">
                <a:tc>
                  <a:txBody>
                    <a:bodyPr/>
                    <a:lstStyle/>
                    <a:p>
                      <a:pPr marL="0" indent="0" lvl="0">
                        <a:buNone/>
                      </a:pPr>
                      <a:r>
                        <a:rPr sz="1100" b="1">
                          <a:solidFill>
                            <a:srgbClr val="060606"/>
                          </a:solidFill>
                          <a:latin typeface="Helvetica"/>
                        </a:rPr>
                        <a:t>Identifiants « 183FPPN »</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Les fichiers aller PEP et Grenier de 2025 et 2026 contiennent 34 identifiants sans mécano.</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L'identité et le mécano de ces personnes.</a:t>
                      </a:r>
                    </a:p>
                  </a:txBody>
                  <a:tcPr marL="43200" marR="43200" marT="14400" marB="14400" anchor="ctr">
                    <a:solidFill>
                      <a:srgbClr val="F2F2F2"/>
                    </a:solidFill>
                  </a:tcPr>
                </a:tc>
              </a:tr>
            </a:tbl>
          </a:graphicData>
        </a:graphic>
      </p:graphicFrame>
      <p:sp>
        <p:nvSpPr>
          <p:cNvPr id="33" name="TextBox 32"/>
          <p:cNvSpPr txBox="1"/>
          <p:nvPr/>
        </p:nvSpPr>
        <p:spPr>
          <a:xfrm>
            <a:off x="503999" y="3896156"/>
            <a:ext cx="11232000" cy="306000"/>
          </a:xfrm>
          <a:prstGeom prst="rect">
            <a:avLst/>
          </a:prstGeom>
          <a:noFill/>
        </p:spPr>
        <p:txBody>
          <a:bodyPr wrap="square" anchor="t" lIns="54000" rIns="54000"/>
          <a:lstStyle/>
          <a:p>
            <a:pPr algn="l"/>
            <a:r>
              <a:rPr sz="850" b="0">
                <a:solidFill>
                  <a:srgbClr val="53565A"/>
                </a:solidFill>
                <a:latin typeface="Helvetica"/>
              </a:rPr>
              <a:t>Valable pour : postes 9W3 (GNA) et 8Z7 (MEDOC) des fichiers « FPPN-GNA » et « FPPN-SOLDE\MEDOC », mois reçus de 2023 à 2026. Compte 71800000 des balances « BALANCE FORMAT EXCEL DE 09-2020 AU 31-12-2020.xlsx » à « BALANCE FPPN DU 01-01-2026 AU 31-08-2026.xlsx ».</a:t>
            </a:r>
          </a:p>
        </p:txBody>
      </p:sp>
      <p:sp>
        <p:nvSpPr>
          <p:cNvPr id="34" name="TextBox 33"/>
          <p:cNvSpPr txBox="1"/>
          <p:nvPr/>
        </p:nvSpPr>
        <p:spPr>
          <a:xfrm>
            <a:off x="503999" y="4346156"/>
            <a:ext cx="11232000" cy="1521843"/>
          </a:xfrm>
          <a:prstGeom prst="rect">
            <a:avLst/>
          </a:prstGeom>
          <a:noFill/>
        </p:spPr>
        <p:txBody>
          <a:bodyPr wrap="square" lIns="54000" rIns="54000"/>
          <a:lstStyle/>
          <a:p>
            <a:pPr algn="just">
              <a:spcAft>
                <a:spcPts val="600"/>
              </a:spcAft>
            </a:pPr>
            <a:r>
              <a:rPr sz="1300" b="1">
                <a:solidFill>
                  <a:srgbClr val="060606"/>
                </a:solidFill>
                <a:latin typeface="Helvetica"/>
              </a:rPr>
              <a:t>Ces activités engagent le FPPN sans que leurs règles soient documentées.</a:t>
            </a:r>
            <a:r>
              <a:rPr sz="1300" b="0">
                <a:solidFill>
                  <a:srgbClr val="060606"/>
                </a:solidFill>
                <a:latin typeface="Helvetica"/>
              </a:rPr>
              <a:t> Le FPPN encaisse des précomptes pour le compte de tiers ou pour des produits dont la nature n'est pas écrite.</a:t>
            </a:r>
          </a:p>
          <a:p>
            <a:pPr algn="just">
              <a:spcAft>
                <a:spcPts val="600"/>
              </a:spcAft>
            </a:pPr>
            <a:r>
              <a:rPr sz="1300" b="0">
                <a:solidFill>
                  <a:srgbClr val="060606"/>
                </a:solidFill>
                <a:latin typeface="Helvetica"/>
              </a:rPr>
              <a:t>Si le FPPN porte lui-même le risque de la flotte automobile, il exerce une activité d'assurance de dommages qui sort du champ des mutuelles sociales : la convention doit le préciser.</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Surligné en jaune : affirmation à confirmer par une pièce ou une réponse écrite du FPPN. Sigles : FPPN : Fonds de prévoyance de la Police nationale | CGRAE : Caisse générale de retraite des agents de l'État | PEP : Plan Épargne Plus | GNA : assureur de la flotte automobile (compte 47111106) | MEDOC : produit santé complémentaire du poste 8Z7 | SCI : société civile immobilière | 9W3 : poste flotte automobile | 8Z7 : poste MEDOC</a:t>
            </a:r>
          </a:p>
        </p:txBody>
      </p:sp>
    </p:spTree>
    <p:extLst>
      <p:ext uri="{BB962C8B-B14F-4D97-AF65-F5344CB8AC3E}">
        <p14:creationId xmlns:p14="http://schemas.microsoft.com/office/powerpoint/2010/main" val="303626831"/>
      </p:ext>
    </p:extLst>
  </p:cSld>
  <p:clrMapOvr>
    <a:masterClrMapping/>
  </p:clrMapOvr>
  <p:transition>
    <p:fade/>
  </p:transition>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Google Shape;8651;p70"/>
          <p:cNvSpPr/>
          <p:nvPr/>
        </p:nvSpPr>
        <p:spPr>
          <a:xfrm>
            <a:off x="2013108" y="2588204"/>
            <a:ext cx="1380332" cy="1428252"/>
          </a:xfrm>
          <a:custGeom>
            <a:avLst/>
            <a:gdLst/>
            <a:ahLst/>
            <a:cxnLst/>
            <a:rect l="l" t="t" r="r" b="b"/>
            <a:pathLst>
              <a:path w="8670" h="8971" extrusionOk="0">
                <a:moveTo>
                  <a:pt x="7105" y="1302"/>
                </a:moveTo>
                <a:cubicBezTo>
                  <a:pt x="7105" y="1315"/>
                  <a:pt x="7105" y="1328"/>
                  <a:pt x="7105" y="1341"/>
                </a:cubicBezTo>
                <a:cubicBezTo>
                  <a:pt x="7118" y="1980"/>
                  <a:pt x="7183" y="2619"/>
                  <a:pt x="7183" y="3283"/>
                </a:cubicBezTo>
                <a:cubicBezTo>
                  <a:pt x="7170" y="4404"/>
                  <a:pt x="7183" y="5525"/>
                  <a:pt x="7222" y="6646"/>
                </a:cubicBezTo>
                <a:cubicBezTo>
                  <a:pt x="7235" y="6959"/>
                  <a:pt x="7222" y="7259"/>
                  <a:pt x="7222" y="7559"/>
                </a:cubicBezTo>
                <a:lnTo>
                  <a:pt x="7222" y="7585"/>
                </a:lnTo>
                <a:cubicBezTo>
                  <a:pt x="6935" y="7598"/>
                  <a:pt x="6649" y="7611"/>
                  <a:pt x="6362" y="7611"/>
                </a:cubicBezTo>
                <a:cubicBezTo>
                  <a:pt x="6101" y="7598"/>
                  <a:pt x="5853" y="7585"/>
                  <a:pt x="5593" y="7585"/>
                </a:cubicBezTo>
                <a:cubicBezTo>
                  <a:pt x="4159" y="7559"/>
                  <a:pt x="2712" y="7559"/>
                  <a:pt x="1291" y="7442"/>
                </a:cubicBezTo>
                <a:cubicBezTo>
                  <a:pt x="1278" y="7207"/>
                  <a:pt x="1239" y="6959"/>
                  <a:pt x="1226" y="6725"/>
                </a:cubicBezTo>
                <a:cubicBezTo>
                  <a:pt x="1200" y="6255"/>
                  <a:pt x="1187" y="5799"/>
                  <a:pt x="1200" y="5330"/>
                </a:cubicBezTo>
                <a:cubicBezTo>
                  <a:pt x="1213" y="4222"/>
                  <a:pt x="1226" y="3101"/>
                  <a:pt x="1343" y="1993"/>
                </a:cubicBezTo>
                <a:lnTo>
                  <a:pt x="1552" y="1993"/>
                </a:lnTo>
                <a:cubicBezTo>
                  <a:pt x="2138" y="1980"/>
                  <a:pt x="2725" y="1889"/>
                  <a:pt x="3312" y="1810"/>
                </a:cubicBezTo>
                <a:cubicBezTo>
                  <a:pt x="4576" y="1641"/>
                  <a:pt x="5840" y="1524"/>
                  <a:pt x="7105" y="1302"/>
                </a:cubicBezTo>
                <a:close/>
                <a:moveTo>
                  <a:pt x="7529" y="1"/>
                </a:moveTo>
                <a:cubicBezTo>
                  <a:pt x="7291" y="1"/>
                  <a:pt x="7059" y="53"/>
                  <a:pt x="6818" y="64"/>
                </a:cubicBezTo>
                <a:cubicBezTo>
                  <a:pt x="6375" y="103"/>
                  <a:pt x="5932" y="142"/>
                  <a:pt x="5488" y="194"/>
                </a:cubicBezTo>
                <a:cubicBezTo>
                  <a:pt x="4824" y="259"/>
                  <a:pt x="4107" y="350"/>
                  <a:pt x="3429" y="389"/>
                </a:cubicBezTo>
                <a:cubicBezTo>
                  <a:pt x="2686" y="429"/>
                  <a:pt x="1943" y="481"/>
                  <a:pt x="1213" y="598"/>
                </a:cubicBezTo>
                <a:cubicBezTo>
                  <a:pt x="913" y="624"/>
                  <a:pt x="652" y="728"/>
                  <a:pt x="509" y="976"/>
                </a:cubicBezTo>
                <a:cubicBezTo>
                  <a:pt x="470" y="1028"/>
                  <a:pt x="444" y="1080"/>
                  <a:pt x="431" y="1146"/>
                </a:cubicBezTo>
                <a:cubicBezTo>
                  <a:pt x="300" y="1524"/>
                  <a:pt x="287" y="1928"/>
                  <a:pt x="300" y="2332"/>
                </a:cubicBezTo>
                <a:cubicBezTo>
                  <a:pt x="209" y="3010"/>
                  <a:pt x="209" y="3700"/>
                  <a:pt x="209" y="4378"/>
                </a:cubicBezTo>
                <a:cubicBezTo>
                  <a:pt x="170" y="4769"/>
                  <a:pt x="144" y="5173"/>
                  <a:pt x="131" y="5565"/>
                </a:cubicBezTo>
                <a:cubicBezTo>
                  <a:pt x="105" y="6203"/>
                  <a:pt x="14" y="6842"/>
                  <a:pt x="14" y="7481"/>
                </a:cubicBezTo>
                <a:cubicBezTo>
                  <a:pt x="1" y="7911"/>
                  <a:pt x="157" y="8315"/>
                  <a:pt x="613" y="8419"/>
                </a:cubicBezTo>
                <a:cubicBezTo>
                  <a:pt x="1056" y="8550"/>
                  <a:pt x="1526" y="8524"/>
                  <a:pt x="1982" y="8550"/>
                </a:cubicBezTo>
                <a:cubicBezTo>
                  <a:pt x="2243" y="8563"/>
                  <a:pt x="2503" y="8589"/>
                  <a:pt x="2764" y="8615"/>
                </a:cubicBezTo>
                <a:cubicBezTo>
                  <a:pt x="3885" y="8745"/>
                  <a:pt x="5006" y="8902"/>
                  <a:pt x="6140" y="8941"/>
                </a:cubicBezTo>
                <a:cubicBezTo>
                  <a:pt x="6220" y="8945"/>
                  <a:pt x="6302" y="8946"/>
                  <a:pt x="6383" y="8946"/>
                </a:cubicBezTo>
                <a:cubicBezTo>
                  <a:pt x="6581" y="8946"/>
                  <a:pt x="6781" y="8937"/>
                  <a:pt x="6974" y="8928"/>
                </a:cubicBezTo>
                <a:cubicBezTo>
                  <a:pt x="7118" y="8941"/>
                  <a:pt x="7274" y="8941"/>
                  <a:pt x="7418" y="8941"/>
                </a:cubicBezTo>
                <a:cubicBezTo>
                  <a:pt x="7568" y="8956"/>
                  <a:pt x="7723" y="8971"/>
                  <a:pt x="7877" y="8971"/>
                </a:cubicBezTo>
                <a:cubicBezTo>
                  <a:pt x="7990" y="8971"/>
                  <a:pt x="8103" y="8963"/>
                  <a:pt x="8213" y="8941"/>
                </a:cubicBezTo>
                <a:cubicBezTo>
                  <a:pt x="8643" y="8810"/>
                  <a:pt x="8565" y="8093"/>
                  <a:pt x="8604" y="7741"/>
                </a:cubicBezTo>
                <a:cubicBezTo>
                  <a:pt x="8669" y="6620"/>
                  <a:pt x="8539" y="5499"/>
                  <a:pt x="8487" y="4378"/>
                </a:cubicBezTo>
                <a:cubicBezTo>
                  <a:pt x="8434" y="3453"/>
                  <a:pt x="8330" y="2527"/>
                  <a:pt x="8252" y="1589"/>
                </a:cubicBezTo>
                <a:cubicBezTo>
                  <a:pt x="8200" y="1341"/>
                  <a:pt x="8239" y="637"/>
                  <a:pt x="8096" y="350"/>
                </a:cubicBezTo>
                <a:lnTo>
                  <a:pt x="8082" y="350"/>
                </a:lnTo>
                <a:cubicBezTo>
                  <a:pt x="8056" y="181"/>
                  <a:pt x="7952" y="51"/>
                  <a:pt x="7704" y="11"/>
                </a:cubicBezTo>
                <a:cubicBezTo>
                  <a:pt x="7645" y="4"/>
                  <a:pt x="7587" y="1"/>
                  <a:pt x="7529" y="1"/>
                </a:cubicBezTo>
                <a:close/>
              </a:path>
            </a:pathLst>
          </a:custGeom>
          <a:solidFill>
            <a:schemeClr val="bg1"/>
          </a:solidFill>
          <a:ln w="76200">
            <a:solidFill>
              <a:schemeClr val="tx1"/>
            </a:solid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5" name="Rectangle 24">
            <a:extLst>
              <a:ext uri="{FF2B5EF4-FFF2-40B4-BE49-F238E27FC236}">
                <a16:creationId xmlns:a16="http://schemas.microsoft.com/office/drawing/2014/main" id="{9B9B23AA-050D-4543-80A0-873FE31AFFF7}"/>
              </a:ext>
            </a:extLst>
          </p:cNvPr>
          <p:cNvSpPr/>
          <p:nvPr/>
        </p:nvSpPr>
        <p:spPr>
          <a:xfrm>
            <a:off x="2446471" y="2869098"/>
            <a:ext cx="513606" cy="936923"/>
          </a:xfrm>
          <a:prstGeom prst="rect">
            <a:avLst/>
          </a:prstGeom>
        </p:spPr>
        <p:txBody>
          <a:bodyPr wrap="square" lIns="0" tIns="0" rIns="0" bIns="0">
            <a:spAutoFit/>
          </a:bodyPr>
          <a:lstStyle/>
          <a:p>
            <a:pPr lvl="0">
              <a:lnSpc>
                <a:spcPct val="110000"/>
              </a:lnSpc>
            </a:pPr>
            <a:r>
              <a:rPr lang="fr-CI" sz="60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9</a:t>
            </a:r>
          </a:p>
        </p:txBody>
      </p:sp>
      <p:sp>
        <p:nvSpPr>
          <p:cNvPr id="10" name="Rectangle 9"/>
          <p:cNvSpPr/>
          <p:nvPr/>
        </p:nvSpPr>
        <p:spPr>
          <a:xfrm>
            <a:off x="3938554" y="2462184"/>
            <a:ext cx="3816000" cy="1200329"/>
          </a:xfrm>
          <a:prstGeom prst="rect">
            <a:avLst/>
          </a:prstGeom>
        </p:spPr>
        <p:txBody>
          <a:bodyPr wrap="square">
            <a:spAutoFit/>
          </a:bodyPr>
          <a:lstStyle/>
          <a:p>
            <a:r>
              <a:rPr lang="fr-CI" sz="3600" b="1" noProof="0">
                <a:solidFill>
                  <a:schemeClr val="bg1"/>
                </a:solidFill>
                <a:latin typeface="Helvetica" panose="020B0604020202020204" pitchFamily="34" charset="0"/>
                <a:cs typeface="Helvetica" panose="020B0604020202020204" pitchFamily="34" charset="0"/>
              </a:rPr>
              <a:t>Bilan, provisions et placements</a:t>
            </a:r>
          </a:p>
        </p:txBody>
      </p:sp>
      <p:pic>
        <p:nvPicPr>
          <p:cNvPr id="9" name="Image 8">
            <a:extLst>
              <a:ext uri="{FF2B5EF4-FFF2-40B4-BE49-F238E27FC236}">
                <a16:creationId xmlns:a16="http://schemas.microsoft.com/office/drawing/2014/main" id="{2C356854-0685-DCEF-E2F6-65D5E9653A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1274" y="-185107"/>
            <a:ext cx="3179518" cy="1268781"/>
          </a:xfrm>
          <a:prstGeom prst="rect">
            <a:avLst/>
          </a:prstGeom>
        </p:spPr>
      </p:pic>
      <p:sp>
        <p:nvSpPr>
          <p:cNvPr id="6" name="Rectangle 5"/>
          <p:cNvSpPr/>
          <p:nvPr/>
        </p:nvSpPr>
        <p:spPr>
          <a:xfrm>
            <a:off x="3938554" y="3337559"/>
            <a:ext cx="3816000" cy="923330"/>
          </a:xfrm>
          <a:prstGeom prst="rect">
            <a:avLst/>
          </a:prstGeom>
        </p:spPr>
        <p:txBody>
          <a:bodyPr wrap="square">
            <a:spAutoFit/>
          </a:bodyPr>
          <a:lstStyle/>
          <a:p>
            <a:br>
              <a:rPr lang="fr-CI" noProof="0">
                <a:solidFill>
                  <a:schemeClr val="bg1"/>
                </a:solidFill>
              </a:rPr>
            </a:br>
            <a:r>
              <a:rPr lang="fr-CI" noProof="0">
                <a:solidFill>
                  <a:srgbClr val="EFAC62"/>
                </a:solidFill>
                <a:latin typeface="Helvetica" panose="020B0604020202020204" pitchFamily="34" charset="0"/>
                <a:ea typeface="Open Sans Light" panose="020B0306030504020204" pitchFamily="34" charset="0"/>
                <a:cs typeface="Helvetica" panose="020B0604020202020204" pitchFamily="34" charset="0"/>
              </a:rPr>
              <a:t>Provisions par produit, adossement, fonds propres, rendement</a:t>
            </a:r>
          </a:p>
        </p:txBody>
      </p:sp>
      <p:pic>
        <p:nvPicPr>
          <p:cNvPr id="11" name="Imag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5561" y="2415481"/>
            <a:ext cx="1566911" cy="1600975"/>
          </a:xfrm>
          <a:prstGeom prst="rect">
            <a:avLst/>
          </a:prstGeom>
        </p:spPr>
      </p:pic>
    </p:spTree>
    <p:extLst>
      <p:ext uri="{BB962C8B-B14F-4D97-AF65-F5344CB8AC3E}">
        <p14:creationId xmlns:p14="http://schemas.microsoft.com/office/powerpoint/2010/main" val="1770184262"/>
      </p:ext>
    </p:extLst>
  </p:cSld>
  <p:clrMapOvr>
    <a:masterClrMapping/>
  </p:clrMapOvr>
  <p:transition>
    <p:fade/>
  </p:transition>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7" name="Image 36"/>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3" name="Rectangle 22">
            <a:extLst>
              <a:ext uri="{FF2B5EF4-FFF2-40B4-BE49-F238E27FC236}">
                <a16:creationId xmlns:a16="http://schemas.microsoft.com/office/drawing/2014/main" id="{4CD23CFE-3F31-4BA9-B26F-B9B5B351518E}"/>
              </a:ext>
            </a:extLst>
          </p:cNvPr>
          <p:cNvSpPr/>
          <p:nvPr/>
        </p:nvSpPr>
        <p:spPr>
          <a:xfrm>
            <a:off x="2106184" y="1811264"/>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Provisions techniques</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Adenka lit les comptes 19011000 et 19012000 jusqu'en 2023, puis 15801000 et 15802000 à partir de 2024 (prestations à payer).</a:t>
            </a:r>
          </a:p>
        </p:txBody>
      </p:sp>
      <p:sp>
        <p:nvSpPr>
          <p:cNvPr id="28" name="Rectangle 27">
            <a:extLst>
              <a:ext uri="{FF2B5EF4-FFF2-40B4-BE49-F238E27FC236}">
                <a16:creationId xmlns:a16="http://schemas.microsoft.com/office/drawing/2014/main" id="{9B9B23AA-050D-4543-80A0-873FE31AFFF7}"/>
              </a:ext>
            </a:extLst>
          </p:cNvPr>
          <p:cNvSpPr/>
          <p:nvPr/>
        </p:nvSpPr>
        <p:spPr>
          <a:xfrm>
            <a:off x="1538714" y="1463475"/>
            <a:ext cx="5748535" cy="166944"/>
          </a:xfrm>
          <a:prstGeom prst="rect">
            <a:avLst/>
          </a:prstGeom>
        </p:spPr>
        <p:txBody>
          <a:bodyPr wrap="square" lIns="0" tIns="0" rIns="0" bIns="0">
            <a:sp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
            </a:r>
          </a:p>
        </p:txBody>
      </p:sp>
      <p:cxnSp>
        <p:nvCxnSpPr>
          <p:cNvPr id="29" name="Straight Connector 28">
            <a:extLst>
              <a:ext uri="{FF2B5EF4-FFF2-40B4-BE49-F238E27FC236}">
                <a16:creationId xmlns:a16="http://schemas.microsoft.com/office/drawing/2014/main" id="{09E553D9-3562-45A7-BE4B-0F12FAA0490F}"/>
              </a:ext>
            </a:extLst>
          </p:cNvPr>
          <p:cNvCxnSpPr>
            <a:cxnSpLocks/>
          </p:cNvCxnSpPr>
          <p:nvPr/>
        </p:nvCxnSpPr>
        <p:spPr>
          <a:xfrm>
            <a:off x="916803" y="1707866"/>
            <a:ext cx="0" cy="3668091"/>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DA735D38-741F-4EFB-826C-6F87FD459AB4}"/>
              </a:ext>
            </a:extLst>
          </p:cNvPr>
          <p:cNvCxnSpPr/>
          <p:nvPr/>
        </p:nvCxnSpPr>
        <p:spPr>
          <a:xfrm>
            <a:off x="916803" y="2291826"/>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EBCFE36B-AE16-49E8-90A6-6621A0EB0473}"/>
              </a:ext>
            </a:extLst>
          </p:cNvPr>
          <p:cNvCxnSpPr/>
          <p:nvPr/>
        </p:nvCxnSpPr>
        <p:spPr>
          <a:xfrm>
            <a:off x="916803" y="3273370"/>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2697F6E2-C26B-4E5F-B7F9-95C6E9325040}"/>
              </a:ext>
            </a:extLst>
          </p:cNvPr>
          <p:cNvCxnSpPr/>
          <p:nvPr/>
        </p:nvCxnSpPr>
        <p:spPr>
          <a:xfrm>
            <a:off x="916803" y="5368324"/>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4CD23CFE-3F31-4BA9-B26F-B9B5B351518E}"/>
              </a:ext>
            </a:extLst>
          </p:cNvPr>
          <p:cNvSpPr/>
          <p:nvPr/>
        </p:nvSpPr>
        <p:spPr>
          <a:xfrm>
            <a:off x="2103510" y="2847523"/>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Fonds propres</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Les fonds propres additionnent les comptes 10, 11 et 12 et le résultat de l'exercice, à chaque clôture.</a:t>
            </a:r>
          </a:p>
        </p:txBody>
      </p:sp>
      <p:sp>
        <p:nvSpPr>
          <p:cNvPr id="33" name="Rectangle 32">
            <a:extLst>
              <a:ext uri="{FF2B5EF4-FFF2-40B4-BE49-F238E27FC236}">
                <a16:creationId xmlns:a16="http://schemas.microsoft.com/office/drawing/2014/main" id="{4CD23CFE-3F31-4BA9-B26F-B9B5B351518E}"/>
              </a:ext>
            </a:extLst>
          </p:cNvPr>
          <p:cNvSpPr/>
          <p:nvPr/>
        </p:nvSpPr>
        <p:spPr>
          <a:xfrm>
            <a:off x="2125344" y="3881185"/>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Adossement par échéance</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Adenka classe l'actif selon son délai de mobilisation et le passif selon son échéance, puis compare les deux, tranche par tranche.</a:t>
            </a:r>
          </a:p>
        </p:txBody>
      </p:sp>
      <p:sp>
        <p:nvSpPr>
          <p:cNvPr id="34" name="Rectangle 33">
            <a:extLst>
              <a:ext uri="{FF2B5EF4-FFF2-40B4-BE49-F238E27FC236}">
                <a16:creationId xmlns:a16="http://schemas.microsoft.com/office/drawing/2014/main" id="{4CD23CFE-3F31-4BA9-B26F-B9B5B351518E}"/>
              </a:ext>
            </a:extLst>
          </p:cNvPr>
          <p:cNvSpPr/>
          <p:nvPr/>
        </p:nvSpPr>
        <p:spPr>
          <a:xfrm>
            <a:off x="2122670" y="4917444"/>
            <a:ext cx="9685766" cy="901761"/>
          </a:xfrm>
          <a:prstGeom prst="rect">
            <a:avLst/>
          </a:prstGeom>
          <a:ln w="12700">
            <a:solidFill>
              <a:srgbClr val="112A40"/>
            </a:solidFill>
          </a:ln>
        </p:spPr>
        <p:txBody>
          <a:bodyPr wrap="square" lIns="162000" tIns="54000" rIns="72000" bIns="54000" anchor="ctr">
            <a:noAutofit/>
          </a:bodyPr>
          <a:lstStyle/>
          <a:p>
            <a:pPr lvl="1">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Limite</a:t>
            </a:r>
          </a:p>
          <a:p>
            <a:pPr lvl="1">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Le bilan est reconstitué compte par compte, puis confronté aux états financiers de 2020 au 31/08/2026 reçus le 22/10/2026 (partie 3). La balance au 31/08/2026 est provisoire.</a:t>
            </a:r>
            <a:endParaRPr lang="fr-CI" sz="1200">
              <a:latin typeface="Helvetica" panose="020B0604020202020204" pitchFamily="34" charset="0"/>
              <a:ea typeface="Open Sans Light" panose="020B0306030504020204" pitchFamily="34" charset="0"/>
              <a:cs typeface="Helvetica" panose="020B0604020202020204" pitchFamily="34" charset="0"/>
            </a:endParaRPr>
          </a:p>
        </p:txBody>
      </p:sp>
      <p:cxnSp>
        <p:nvCxnSpPr>
          <p:cNvPr id="39" name="Straight Connector 30">
            <a:extLst>
              <a:ext uri="{FF2B5EF4-FFF2-40B4-BE49-F238E27FC236}">
                <a16:creationId xmlns:a16="http://schemas.microsoft.com/office/drawing/2014/main" id="{EBCFE36B-AE16-49E8-90A6-6621A0EB0473}"/>
              </a:ext>
            </a:extLst>
          </p:cNvPr>
          <p:cNvCxnSpPr/>
          <p:nvPr/>
        </p:nvCxnSpPr>
        <p:spPr>
          <a:xfrm>
            <a:off x="919504" y="4326976"/>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grpSp>
        <p:nvGrpSpPr>
          <p:cNvPr id="11" name="Groupe 10"/>
          <p:cNvGrpSpPr/>
          <p:nvPr/>
        </p:nvGrpSpPr>
        <p:grpSpPr>
          <a:xfrm>
            <a:off x="1554870" y="2047565"/>
            <a:ext cx="548640" cy="548640"/>
            <a:chOff x="-1153645" y="1535690"/>
            <a:chExt cx="548640" cy="548640"/>
          </a:xfrm>
        </p:grpSpPr>
        <p:sp>
          <p:nvSpPr>
            <p:cNvPr id="36" name="Oval 21">
              <a:extLst>
                <a:ext uri="{FF2B5EF4-FFF2-40B4-BE49-F238E27FC236}">
                  <a16:creationId xmlns:a16="http://schemas.microsoft.com/office/drawing/2014/main" id="{7BB796F0-2DE6-45B1-851B-D8991F423CF4}"/>
                </a:ext>
              </a:extLst>
            </p:cNvPr>
            <p:cNvSpPr/>
            <p:nvPr/>
          </p:nvSpPr>
          <p:spPr bwMode="gray">
            <a:xfrm>
              <a:off x="-1153645" y="1535690"/>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40" name="Image 3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3163" y="1564148"/>
              <a:ext cx="486259" cy="491723"/>
            </a:xfrm>
            <a:prstGeom prst="rect">
              <a:avLst/>
            </a:prstGeom>
          </p:spPr>
        </p:pic>
      </p:grpSp>
      <p:grpSp>
        <p:nvGrpSpPr>
          <p:cNvPr id="12" name="Groupe 11"/>
          <p:cNvGrpSpPr/>
          <p:nvPr/>
        </p:nvGrpSpPr>
        <p:grpSpPr>
          <a:xfrm>
            <a:off x="1557425" y="3008849"/>
            <a:ext cx="548640" cy="548640"/>
            <a:chOff x="-1154302" y="2719457"/>
            <a:chExt cx="548640" cy="548640"/>
          </a:xfrm>
        </p:grpSpPr>
        <p:sp>
          <p:nvSpPr>
            <p:cNvPr id="42" name="Oval 21">
              <a:extLst>
                <a:ext uri="{FF2B5EF4-FFF2-40B4-BE49-F238E27FC236}">
                  <a16:creationId xmlns:a16="http://schemas.microsoft.com/office/drawing/2014/main" id="{7BB796F0-2DE6-45B1-851B-D8991F423CF4}"/>
                </a:ext>
              </a:extLst>
            </p:cNvPr>
            <p:cNvSpPr/>
            <p:nvPr/>
          </p:nvSpPr>
          <p:spPr bwMode="gray">
            <a:xfrm>
              <a:off x="-1154302" y="2719457"/>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7" name="Imag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4901" y="2781886"/>
              <a:ext cx="396274" cy="396274"/>
            </a:xfrm>
            <a:prstGeom prst="rect">
              <a:avLst/>
            </a:prstGeom>
          </p:spPr>
        </p:pic>
      </p:grpSp>
      <p:grpSp>
        <p:nvGrpSpPr>
          <p:cNvPr id="13" name="Groupe 12"/>
          <p:cNvGrpSpPr/>
          <p:nvPr/>
        </p:nvGrpSpPr>
        <p:grpSpPr>
          <a:xfrm>
            <a:off x="1567381" y="4044725"/>
            <a:ext cx="548640" cy="552951"/>
            <a:chOff x="-1185544" y="4122202"/>
            <a:chExt cx="548640" cy="552951"/>
          </a:xfrm>
        </p:grpSpPr>
        <p:sp>
          <p:nvSpPr>
            <p:cNvPr id="44" name="Oval 21">
              <a:extLst>
                <a:ext uri="{FF2B5EF4-FFF2-40B4-BE49-F238E27FC236}">
                  <a16:creationId xmlns:a16="http://schemas.microsoft.com/office/drawing/2014/main" id="{7BB796F0-2DE6-45B1-851B-D8991F423CF4}"/>
                </a:ext>
              </a:extLst>
            </p:cNvPr>
            <p:cNvSpPr/>
            <p:nvPr/>
          </p:nvSpPr>
          <p:spPr bwMode="gray">
            <a:xfrm>
              <a:off x="-1185544" y="4122202"/>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8" name="Image 7"/>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71838" y="4144755"/>
              <a:ext cx="524301" cy="530398"/>
            </a:xfrm>
            <a:prstGeom prst="rect">
              <a:avLst/>
            </a:prstGeom>
          </p:spPr>
        </p:pic>
      </p:grpSp>
      <p:grpSp>
        <p:nvGrpSpPr>
          <p:cNvPr id="14" name="Groupe 13"/>
          <p:cNvGrpSpPr/>
          <p:nvPr/>
        </p:nvGrpSpPr>
        <p:grpSpPr>
          <a:xfrm>
            <a:off x="1567381" y="5111071"/>
            <a:ext cx="548640" cy="548640"/>
            <a:chOff x="-1227267" y="5286500"/>
            <a:chExt cx="548640" cy="548640"/>
          </a:xfrm>
        </p:grpSpPr>
        <p:sp>
          <p:nvSpPr>
            <p:cNvPr id="45" name="Oval 21">
              <a:extLst>
                <a:ext uri="{FF2B5EF4-FFF2-40B4-BE49-F238E27FC236}">
                  <a16:creationId xmlns:a16="http://schemas.microsoft.com/office/drawing/2014/main" id="{7BB796F0-2DE6-45B1-851B-D8991F423CF4}"/>
                </a:ext>
              </a:extLst>
            </p:cNvPr>
            <p:cNvSpPr/>
            <p:nvPr/>
          </p:nvSpPr>
          <p:spPr bwMode="gray">
            <a:xfrm>
              <a:off x="-1227267" y="5286500"/>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9" name="Image 8"/>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71838" y="5346402"/>
              <a:ext cx="422834" cy="432026"/>
            </a:xfrm>
            <a:prstGeom prst="rect">
              <a:avLst/>
            </a:prstGeom>
          </p:spPr>
        </p:pic>
      </p:grpSp>
      <p:sp>
        <p:nvSpPr>
          <p:cNvPr id="50" name="ZoneTexte 49">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pic>
        <p:nvPicPr>
          <p:cNvPr id="51" name="Image 50"/>
          <p:cNvPicPr>
            <a:picLocks noChangeAspect="1"/>
          </p:cNvPicPr>
          <p:nvPr/>
        </p:nvPicPr>
        <p:blipFill rotWithShape="1">
          <a:blip r:embed="rId7" cstate="print">
            <a:extLst>
              <a:ext uri="{28A0092B-C50C-407E-A947-70E740481C1C}">
                <a14:useLocalDpi xmlns:a14="http://schemas.microsoft.com/office/drawing/2010/main" val="0"/>
              </a:ext>
            </a:extLst>
          </a:blip>
          <a:srcRect l="4260" t="13024" r="74155" b="14121"/>
          <a:stretch/>
        </p:blipFill>
        <p:spPr>
          <a:xfrm>
            <a:off x="702475" y="1350400"/>
            <a:ext cx="392679" cy="406703"/>
          </a:xfrm>
          <a:prstGeom prst="rect">
            <a:avLst/>
          </a:prstGeom>
        </p:spPr>
      </p:pic>
      <p:sp>
        <p:nvSpPr>
          <p:cNvPr id="52"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Méthode : lecture du bilan</a:t>
            </a:r>
          </a:p>
        </p:txBody>
      </p:sp>
      <p:sp>
        <p:nvSpPr>
          <p:cNvPr id="53"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bilan est reconstitué compte par compte à partir des balances</a:t>
            </a:r>
          </a:p>
        </p:txBody>
      </p:sp>
      <p:sp>
        <p:nvSpPr>
          <p:cNvPr id="54"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Provisions, épargne, actifs et fonds propres sont calculés à chaque clôture, de 2020 au 31/08/2026</a:t>
            </a:r>
          </a:p>
        </p:txBody>
      </p:sp>
      <p:sp>
        <p:nvSpPr>
          <p:cNvPr id="55"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Adenka</a:t>
            </a:r>
          </a:p>
        </p:txBody>
      </p:sp>
    </p:spTree>
    <p:extLst>
      <p:ext uri="{BB962C8B-B14F-4D97-AF65-F5344CB8AC3E}">
        <p14:creationId xmlns:p14="http://schemas.microsoft.com/office/powerpoint/2010/main" val="3501570315"/>
      </p:ext>
    </p:extLst>
  </p:cSld>
  <p:clrMapOvr>
    <a:masterClrMapping/>
  </p:clrMapOvr>
  <p:transition>
    <p:fade/>
  </p:transition>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Calcul pas à pas : provisions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deux comptes de provisions portent exactement le même montant sept ans de suite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Maladie 2 867 602 878 FCFA et obsèques 1 961 695 412 FCFA à chaque clôture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a:t>
            </a:r>
          </a:p>
        </p:txBody>
      </p:sp>
      <p:sp>
        <p:nvSpPr>
          <p:cNvPr id="31" name="TextBox 30"/>
          <p:cNvSpPr txBox="1"/>
          <p:nvPr/>
        </p:nvSpPr>
        <p:spPr>
          <a:xfrm>
            <a:off x="503999" y="1350000"/>
            <a:ext cx="9072000" cy="180000"/>
          </a:xfrm>
          <a:prstGeom prst="rect">
            <a:avLst/>
          </a:prstGeom>
          <a:noFill/>
        </p:spPr>
        <p:txBody>
          <a:bodyPr wrap="square" anchor="t" lIns="54000" rIns="54000"/>
          <a:lstStyle/>
          <a:p>
            <a:pPr algn="l"/>
            <a:r>
              <a:rPr sz="900" b="0">
                <a:solidFill>
                  <a:srgbClr val="53565A"/>
                </a:solidFill>
                <a:latin typeface="Helvetica"/>
              </a:rPr>
              <a:t>Extrait : AUDIT ADENKA\DAFC\2020 à 2026 (balances des comptes)</a:t>
            </a:r>
          </a:p>
        </p:txBody>
      </p:sp>
      <p:graphicFrame>
        <p:nvGraphicFramePr>
          <p:cNvPr id="32" name="Table 31"/>
          <p:cNvGraphicFramePr>
            <a:graphicFrameLocks noGrp="1"/>
          </p:cNvGraphicFramePr>
          <p:nvPr/>
        </p:nvGraphicFramePr>
        <p:xfrm>
          <a:off x="503999" y="1548000"/>
          <a:ext cx="9072000" cy="1680072"/>
        </p:xfrm>
        <a:graphic>
          <a:graphicData uri="http://schemas.openxmlformats.org/drawingml/2006/table">
            <a:tbl>
              <a:tblPr firstRow="0" bandRow="0">
                <a:tableStyleId>{5940675A-B579-460E-94D1-54222C63F5DA}</a:tableStyleId>
              </a:tblPr>
              <a:tblGrid>
                <a:gridCol w="1296000"/>
                <a:gridCol w="1440000"/>
                <a:gridCol w="2448000"/>
                <a:gridCol w="1440000"/>
                <a:gridCol w="2448000"/>
              </a:tblGrid>
              <a:tr h="210009">
                <a:tc>
                  <a:txBody>
                    <a:bodyPr/>
                    <a:lstStyle/>
                    <a:p>
                      <a:pPr marL="0" indent="0" lvl="0">
                        <a:buNone/>
                      </a:pPr>
                      <a:r>
                        <a:rPr sz="1000" b="1">
                          <a:solidFill>
                            <a:srgbClr val="FFFFFF"/>
                          </a:solidFill>
                          <a:latin typeface="Helvetica"/>
                        </a:rPr>
                        <a:t>Clôture</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Compte maladie</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Provision maladie</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Compte obsèques</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Provision obsèques</a:t>
                      </a:r>
                    </a:p>
                  </a:txBody>
                  <a:tcPr marL="43200" marR="43200" marT="14400" marB="14400" anchor="ctr">
                    <a:solidFill>
                      <a:srgbClr val="060606"/>
                    </a:solidFill>
                  </a:tcPr>
                </a:tc>
              </a:tr>
              <a:tr h="210009">
                <a:tc>
                  <a:txBody>
                    <a:bodyPr/>
                    <a:lstStyle/>
                    <a:p>
                      <a:pPr marL="0" indent="0" lvl="0">
                        <a:buNone/>
                      </a:pPr>
                      <a:r>
                        <a:rPr sz="1000" b="1">
                          <a:solidFill>
                            <a:srgbClr val="060606"/>
                          </a:solidFill>
                          <a:latin typeface="Helvetica"/>
                        </a:rPr>
                        <a:t>2020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19011000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2 867 602 878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19012000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1 961 695 412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2021</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19011000</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2 867 602 878 FCFA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19012000</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1 961 695 412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2022</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19011000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2 867 602 878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19012000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1 961 695 412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2023</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19011000</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2 867 602 878 FCFA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19012000</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1 961 695 412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2024</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15801000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2 867 602 878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15802000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1 961 695 412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2025</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15801000</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2 867 602 878 FCFA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15802000</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1 961 695 412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31/08/2026</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15801000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2 867 602 878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15802000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1 961 695 412 FCFA</a:t>
                      </a:r>
                    </a:p>
                  </a:txBody>
                  <a:tcPr marL="43200" marR="43200" marT="14400" marB="14400" anchor="ctr">
                    <a:solidFill>
                      <a:srgbClr val="FFFFFF"/>
                    </a:solidFill>
                  </a:tcPr>
                </a:tc>
              </a:tr>
            </a:tbl>
          </a:graphicData>
        </a:graphic>
      </p:graphicFrame>
      <p:sp>
        <p:nvSpPr>
          <p:cNvPr id="33" name="Rounded Rectangle 32"/>
          <p:cNvSpPr/>
          <p:nvPr/>
        </p:nvSpPr>
        <p:spPr>
          <a:xfrm>
            <a:off x="3221999" y="1747209"/>
            <a:ext cx="2484000"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5508000" y="1596009"/>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5" name="Rounded Rectangle 34"/>
          <p:cNvSpPr/>
          <p:nvPr/>
        </p:nvSpPr>
        <p:spPr>
          <a:xfrm>
            <a:off x="3221999" y="3007267"/>
            <a:ext cx="2484000"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5508000" y="2856067"/>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37" name="Rounded Rectangle 36"/>
          <p:cNvSpPr/>
          <p:nvPr/>
        </p:nvSpPr>
        <p:spPr>
          <a:xfrm>
            <a:off x="1782000" y="2587247"/>
            <a:ext cx="1475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060000" y="2436047"/>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39" name="Oval 38"/>
          <p:cNvSpPr/>
          <p:nvPr/>
        </p:nvSpPr>
        <p:spPr>
          <a:xfrm>
            <a:off x="503999" y="3354076"/>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40" name="TextBox 39"/>
          <p:cNvSpPr txBox="1"/>
          <p:nvPr/>
        </p:nvSpPr>
        <p:spPr>
          <a:xfrm>
            <a:off x="864000" y="3336076"/>
            <a:ext cx="8712000" cy="298144"/>
          </a:xfrm>
          <a:prstGeom prst="rect">
            <a:avLst/>
          </a:prstGeom>
          <a:noFill/>
        </p:spPr>
        <p:txBody>
          <a:bodyPr wrap="square" anchor="t" lIns="54000" rIns="54000"/>
          <a:lstStyle/>
          <a:p>
            <a:pPr algn="l"/>
            <a:r>
              <a:rPr sz="1200" b="0">
                <a:solidFill>
                  <a:srgbClr val="060606"/>
                </a:solidFill>
                <a:latin typeface="Helvetica"/>
              </a:rPr>
              <a:t>La provision maladie vaut le même montant en 2020…</a:t>
            </a:r>
          </a:p>
        </p:txBody>
      </p:sp>
      <p:sp>
        <p:nvSpPr>
          <p:cNvPr id="41" name="Oval 40"/>
          <p:cNvSpPr/>
          <p:nvPr/>
        </p:nvSpPr>
        <p:spPr>
          <a:xfrm>
            <a:off x="503999" y="3742221"/>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42" name="TextBox 41"/>
          <p:cNvSpPr txBox="1"/>
          <p:nvPr/>
        </p:nvSpPr>
        <p:spPr>
          <a:xfrm>
            <a:off x="864000" y="3724221"/>
            <a:ext cx="8712000" cy="298144"/>
          </a:xfrm>
          <a:prstGeom prst="rect">
            <a:avLst/>
          </a:prstGeom>
          <a:noFill/>
        </p:spPr>
        <p:txBody>
          <a:bodyPr wrap="square" anchor="t" lIns="54000" rIns="54000"/>
          <a:lstStyle/>
          <a:p>
            <a:pPr algn="l"/>
            <a:r>
              <a:rPr sz="1200" b="0">
                <a:solidFill>
                  <a:srgbClr val="060606"/>
                </a:solidFill>
                <a:latin typeface="Helvetica"/>
              </a:rPr>
              <a:t>… et au 31/08/2026, au franc près.</a:t>
            </a:r>
          </a:p>
        </p:txBody>
      </p:sp>
      <p:sp>
        <p:nvSpPr>
          <p:cNvPr id="43" name="Oval 42"/>
          <p:cNvSpPr/>
          <p:nvPr/>
        </p:nvSpPr>
        <p:spPr>
          <a:xfrm>
            <a:off x="503999" y="4130365"/>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44" name="TextBox 43"/>
          <p:cNvSpPr txBox="1"/>
          <p:nvPr/>
        </p:nvSpPr>
        <p:spPr>
          <a:xfrm>
            <a:off x="864000" y="4112365"/>
            <a:ext cx="8712000" cy="298144"/>
          </a:xfrm>
          <a:prstGeom prst="rect">
            <a:avLst/>
          </a:prstGeom>
          <a:noFill/>
        </p:spPr>
        <p:txBody>
          <a:bodyPr wrap="square" anchor="t" lIns="54000" rIns="54000"/>
          <a:lstStyle/>
          <a:p>
            <a:pPr algn="l"/>
            <a:r>
              <a:rPr sz="1200" b="0">
                <a:solidFill>
                  <a:srgbClr val="060606"/>
                </a:solidFill>
                <a:latin typeface="Helvetica"/>
              </a:rPr>
              <a:t>Seul le numéro de compte change en 2024, du compte 19 vers le compte 158.</a:t>
            </a:r>
          </a:p>
        </p:txBody>
      </p:sp>
      <p:sp>
        <p:nvSpPr>
          <p:cNvPr id="45" name="TextBox 44"/>
          <p:cNvSpPr txBox="1"/>
          <p:nvPr/>
        </p:nvSpPr>
        <p:spPr>
          <a:xfrm>
            <a:off x="503999" y="4554510"/>
            <a:ext cx="11232000" cy="1313489"/>
          </a:xfrm>
          <a:prstGeom prst="rect">
            <a:avLst/>
          </a:prstGeom>
          <a:noFill/>
        </p:spPr>
        <p:txBody>
          <a:bodyPr wrap="square" lIns="54000" rIns="54000"/>
          <a:lstStyle/>
          <a:p>
            <a:pPr algn="just">
              <a:spcAft>
                <a:spcPts val="600"/>
              </a:spcAft>
            </a:pPr>
            <a:r>
              <a:rPr sz="1200" b="1">
                <a:solidFill>
                  <a:srgbClr val="060606"/>
                </a:solidFill>
                <a:latin typeface="Helvetica"/>
              </a:rPr>
              <a:t>La provision n'est pas recalculée.</a:t>
            </a:r>
            <a:r>
              <a:rPr sz="1200" b="0">
                <a:solidFill>
                  <a:srgbClr val="060606"/>
                </a:solidFill>
                <a:latin typeface="Helvetica"/>
              </a:rPr>
              <a:t> Un montant identique au franc près pendant sept ans ne peut pas résulter d'une évaluation des dossiers en cours.</a:t>
            </a:r>
          </a:p>
          <a:p>
            <a:pPr algn="just">
              <a:spcAft>
                <a:spcPts val="600"/>
              </a:spcAft>
            </a:pPr>
            <a:r>
              <a:rPr sz="1200" b="0">
                <a:solidFill>
                  <a:srgbClr val="060606"/>
                </a:solidFill>
                <a:latin typeface="Helvetica"/>
              </a:rPr>
              <a:t>Le règlement d'exécution n° 004/2022 impose une provision pour prestations à payer calculée exercice par exercice, dossier par dossier, augmentée des sinistres non déclarés (art. 10). Le compte 158 est par ailleurs réservé aux provisions réglementées à caractère fiscal.</a:t>
            </a:r>
          </a:p>
        </p:txBody>
      </p:sp>
      <p:sp>
        <p:nvSpPr>
          <p:cNvPr id="46" name="TextBox 4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2727843526"/>
      </p:ext>
    </p:extLst>
  </p:cSld>
  <p:clrMapOvr>
    <a:masterClrMapping/>
  </p:clrMapOvr>
  <p:transition>
    <p:fade/>
  </p:transition>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Provisions techniques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provision ne couvre plus que 21 mois de prestations, contre 115 en 2021</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Provisions / prestations mensuelles : 115,14 mois en 2021, 29,50 en 2025, 21,48 en 2026</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28 : Mois de prestations couverts par les provisions</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nombre de mois de prestations</a:t>
            </a:r>
          </a:p>
        </p:txBody>
      </p:sp>
      <p:graphicFrame>
        <p:nvGraphicFramePr>
          <p:cNvPr id="32" name="Chart 31"/>
          <p:cNvGraphicFramePr>
            <a:graphicFrameLocks noGrp="1"/>
          </p:cNvGraphicFramePr>
          <p:nvPr/>
        </p:nvGraphicFramePr>
        <p:xfrm>
          <a:off x="503999" y="1782000"/>
          <a:ext cx="6552000" cy="3600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La provision vaut 4 829 298 290 FCFA chaque année.</a:t>
            </a:r>
          </a:p>
          <a:p>
            <a:pPr algn="just">
              <a:spcAft>
                <a:spcPts val="600"/>
              </a:spcAft>
            </a:pPr>
            <a:r>
              <a:rPr sz="1400" b="1">
                <a:solidFill>
                  <a:srgbClr val="060606"/>
                </a:solidFill>
                <a:latin typeface="Helvetica"/>
              </a:rPr>
              <a:t>Les prestations mensuelles passent de 41 942 486 FCFA en 2021 à 224 856 973 FCFA en 2026.</a:t>
            </a:r>
            <a:r>
              <a:rPr sz="1400" b="0">
                <a:solidFill>
                  <a:srgbClr val="060606"/>
                </a:solidFill>
                <a:latin typeface="Helvetica"/>
              </a:rPr>
              <a:t> La provision représente donc de moins en moins de mois de prestations.</a:t>
            </a:r>
          </a:p>
          <a:p>
            <a:pPr algn="just">
              <a:spcAft>
                <a:spcPts val="600"/>
              </a:spcAft>
            </a:pPr>
            <a:r>
              <a:rPr sz="1400" b="1">
                <a:solidFill>
                  <a:srgbClr val="060606"/>
                </a:solidFill>
                <a:latin typeface="Helvetica"/>
              </a:rPr>
              <a:t>La provision nécessaire est mesurée sur les factures arrivées après la clôture</a:t>
            </a:r>
            <a:r>
              <a:rPr sz="1400" b="0">
                <a:solidFill>
                  <a:srgbClr val="060606"/>
                </a:solidFill>
                <a:latin typeface="Helvetica"/>
              </a:rPr>
              <a:t> (diapositive 114) : quelques millions de FCFA, très loin du montant au bilan.</a:t>
            </a:r>
          </a:p>
          <a:p>
            <a:pPr algn="just">
              <a:spcAft>
                <a:spcPts val="600"/>
              </a:spcAft>
            </a:pPr>
            <a:r>
              <a:rPr sz="1400" b="0">
                <a:solidFill>
                  <a:srgbClr val="060606"/>
                </a:solidFill>
                <a:latin typeface="Helvetica"/>
              </a:rPr>
              <a:t>Si les délais de paiement s'allongent pendant que les prestations augmentent, la provision deviendra insuffisante : son recalcul est la première tâche dès réception des bases de prestations.</a:t>
            </a:r>
          </a:p>
        </p:txBody>
      </p:sp>
      <p:sp>
        <p:nvSpPr>
          <p:cNvPr id="35" name="TextBox 34"/>
          <p:cNvSpPr txBox="1"/>
          <p:nvPr/>
        </p:nvSpPr>
        <p:spPr>
          <a:xfrm>
            <a:off x="503999" y="5382000"/>
            <a:ext cx="6552000" cy="450000"/>
          </a:xfrm>
          <a:prstGeom prst="rect">
            <a:avLst/>
          </a:prstGeom>
          <a:noFill/>
        </p:spPr>
        <p:txBody>
          <a:bodyPr wrap="square" anchor="t" lIns="54000" rIns="54000"/>
          <a:lstStyle/>
          <a:p>
            <a:pPr algn="l"/>
            <a:r>
              <a:rPr sz="850" b="0">
                <a:solidFill>
                  <a:srgbClr val="53565A"/>
                </a:solidFill>
                <a:latin typeface="Helvetica"/>
              </a:rPr>
              <a:t>Valable pour : comptes 15801 et 15802 (19011 et 19012 avant leur reclassement) des balances « BALANCE FORMAT EXCEL DE 09-2020 AU 31-12-2020.xlsx » à « BALANCE FPPN DU 01-01-2026 AU 31-08-2026.xlsx », rapportés aux prestations de l'année. 2026 sur huit mois.</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3294175115"/>
      </p:ext>
    </p:extLst>
  </p:cSld>
  <p:clrMapOvr>
    <a:masterClrMapping/>
  </p:clrMapOvr>
  <p:transition>
    <p:fade/>
  </p:transition>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Provisions attendues par produit</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Seules la maladie et le décès ont une provision, figée depuis 2020</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 règlement d'exécution n° 004/2022 prévoit quatre provisions techniques. Le FPPN n'en a constitué qu'une, sans la recalculer</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règlement d'exécution n° 004/2022/COM/UEMOA du 1er juin 2022, art. 7 à 11. PCMS. Balances des comptes du FPPN de 2020 au 31/08/2026 (provisoire), fichiers « BALANCE … » listés en annexe « Fichiers sources ». Traitements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43 : Provisions exigées et provisions au bilan, par produit</a:t>
            </a:r>
          </a:p>
        </p:txBody>
      </p:sp>
      <p:graphicFrame>
        <p:nvGraphicFramePr>
          <p:cNvPr id="32" name="Table 31"/>
          <p:cNvGraphicFramePr>
            <a:graphicFrameLocks noGrp="1"/>
          </p:cNvGraphicFramePr>
          <p:nvPr/>
        </p:nvGraphicFramePr>
        <p:xfrm>
          <a:off x="503999" y="1655999"/>
          <a:ext cx="11231998" cy="2575925"/>
        </p:xfrm>
        <a:graphic>
          <a:graphicData uri="http://schemas.openxmlformats.org/drawingml/2006/table">
            <a:tbl>
              <a:tblPr firstRow="0" bandRow="0">
                <a:tableStyleId>{5940675A-B579-460E-94D1-54222C63F5DA}</a:tableStyleId>
              </a:tblPr>
              <a:tblGrid>
                <a:gridCol w="1655999"/>
                <a:gridCol w="3384000"/>
                <a:gridCol w="2520000"/>
                <a:gridCol w="3671999"/>
              </a:tblGrid>
              <a:tr h="194768">
                <a:tc>
                  <a:txBody>
                    <a:bodyPr/>
                    <a:lstStyle/>
                    <a:p>
                      <a:pPr marL="0" indent="0" lvl="0">
                        <a:buNone/>
                      </a:pPr>
                      <a:r>
                        <a:rPr sz="900" b="1">
                          <a:solidFill>
                            <a:srgbClr val="FFFFFF"/>
                          </a:solidFill>
                          <a:latin typeface="Helvetica"/>
                        </a:rPr>
                        <a:t>Produit</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Provision exigée (texte)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Au bilan du FPPN</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Constat</a:t>
                      </a:r>
                    </a:p>
                  </a:txBody>
                  <a:tcPr marL="43200" marR="43200" marT="14400" marB="14400" anchor="ctr">
                    <a:solidFill>
                      <a:srgbClr val="060606"/>
                    </a:solidFill>
                  </a:tcPr>
                </a:tc>
              </a:tr>
              <a:tr h="331937">
                <a:tc>
                  <a:txBody>
                    <a:bodyPr/>
                    <a:lstStyle/>
                    <a:p>
                      <a:pPr marL="0" indent="0" lvl="0">
                        <a:buNone/>
                      </a:pPr>
                      <a:r>
                        <a:rPr sz="900" b="1">
                          <a:solidFill>
                            <a:srgbClr val="060606"/>
                          </a:solidFill>
                          <a:latin typeface="Helvetica"/>
                        </a:rPr>
                        <a:t>Maladie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PSAP dossier par dossier et sinistres tardifs (art. 10)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2 867 602 878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Montant hérité d'environ 2004, non calculé. Besoin mesuré de quelques millions de FCFA (méthode courte).</a:t>
                      </a:r>
                    </a:p>
                  </a:txBody>
                  <a:tcPr marL="43200" marR="43200" marT="14400" marB="14400" anchor="ctr">
                    <a:solidFill>
                      <a:srgbClr val="FFFFFF"/>
                    </a:solidFill>
                  </a:tcPr>
                </a:tc>
              </a:tr>
              <a:tr h="469105">
                <a:tc>
                  <a:txBody>
                    <a:bodyPr/>
                    <a:lstStyle/>
                    <a:p>
                      <a:pPr marL="0" indent="0" lvl="0">
                        <a:buNone/>
                      </a:pPr>
                      <a:r>
                        <a:rPr sz="900" b="1">
                          <a:solidFill>
                            <a:srgbClr val="060606"/>
                          </a:solidFill>
                          <a:latin typeface="Helvetica"/>
                        </a:rPr>
                        <a:t>Décès (obsèques)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PSAP dossier par dossier et sinistres tardifs (art. 10)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1 961 695 412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Montant hérité d'environ 2004, inchangé. Le calcul annuel des allocations restant à payer est passé au compte 41591000.</a:t>
                      </a:r>
                    </a:p>
                  </a:txBody>
                  <a:tcPr marL="43200" marR="43200" marT="14400" marB="14400" anchor="ctr">
                    <a:solidFill>
                      <a:srgbClr val="F2F2F2"/>
                    </a:solidFill>
                  </a:tcPr>
                </a:tc>
              </a:tr>
              <a:tr h="331937">
                <a:tc>
                  <a:txBody>
                    <a:bodyPr/>
                    <a:lstStyle/>
                    <a:p>
                      <a:pPr marL="0" indent="0" lvl="0">
                        <a:buNone/>
                      </a:pPr>
                      <a:r>
                        <a:rPr sz="900" b="1">
                          <a:solidFill>
                            <a:srgbClr val="060606"/>
                          </a:solidFill>
                          <a:latin typeface="Helvetica"/>
                        </a:rPr>
                        <a:t>Toutes garanties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Provision pour risques en cours (art. 9)</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Aucune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Cotisation précomptée sur le mois qu'elle couvre : provision nulle (statuts, art. 88).</a:t>
                      </a:r>
                    </a:p>
                  </a:txBody>
                  <a:tcPr marL="43200" marR="43200" marT="14400" marB="14400" anchor="ctr">
                    <a:solidFill>
                      <a:srgbClr val="FFFFFF"/>
                    </a:solidFill>
                  </a:tcPr>
                </a:tc>
              </a:tr>
              <a:tr h="331937">
                <a:tc>
                  <a:txBody>
                    <a:bodyPr/>
                    <a:lstStyle/>
                    <a:p>
                      <a:pPr marL="0" indent="0" lvl="0">
                        <a:buNone/>
                      </a:pPr>
                      <a:r>
                        <a:rPr sz="900" b="1">
                          <a:solidFill>
                            <a:srgbClr val="060606"/>
                          </a:solidFill>
                          <a:latin typeface="Helvetica"/>
                        </a:rPr>
                        <a:t>EFC, PEP</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Provision mathématique si un capital est garanti (art. 11)</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Dettes d'épargne seulement</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Intérêts dus non comptabilisés : 3 278 913 238 FCFA au 31/08/2026 (PEP 3,5 %, EFC 5,5 %).</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Santé des retraités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Provision mathématique si garantie à vie (art. 11)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Aucune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Âges et règles de la garantie non reçus.</a:t>
                      </a:r>
                    </a:p>
                  </a:txBody>
                  <a:tcPr marL="43200" marR="43200" marT="14400" marB="14400" anchor="ctr">
                    <a:solidFill>
                      <a:srgbClr val="FFFFFF"/>
                    </a:solidFill>
                  </a:tcPr>
                </a:tc>
              </a:tr>
              <a:tr h="331937">
                <a:tc>
                  <a:txBody>
                    <a:bodyPr/>
                    <a:lstStyle/>
                    <a:p>
                      <a:pPr marL="0" indent="0" lvl="0">
                        <a:buNone/>
                      </a:pPr>
                      <a:r>
                        <a:rPr sz="900" b="1">
                          <a:solidFill>
                            <a:srgbClr val="060606"/>
                          </a:solidFill>
                          <a:latin typeface="Helvetica"/>
                        </a:rPr>
                        <a:t>Prêts du Grenier</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Dépréciation des créances (PCMS, prudence)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Aucune depuis 2022</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Dépréciation calculée avec la politique de crédit du Grenier (40 %, 80 %, 100 %).</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Flotte automobile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Aucune provision technique (risque porté par GNA)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Compte de tiers 47111106</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Trop-perçus à traiter comme une dette envers les adhérents.</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Personnel du FPPN</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Indemnités de départ à la retraite (SYSCOHADA révisé)</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43 666 678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Provision annuelle au compte 196, méthode non communiquée.</a:t>
                      </a:r>
                    </a:p>
                  </a:txBody>
                  <a:tcPr marL="43200" marR="43200" marT="14400" marB="14400" anchor="ctr">
                    <a:solidFill>
                      <a:srgbClr val="F2F2F2"/>
                    </a:solidFill>
                  </a:tcPr>
                </a:tc>
              </a:tr>
            </a:tbl>
          </a:graphicData>
        </a:graphic>
      </p:graphicFrame>
      <p:sp>
        <p:nvSpPr>
          <p:cNvPr id="33" name="TextBox 32"/>
          <p:cNvSpPr txBox="1"/>
          <p:nvPr/>
        </p:nvSpPr>
        <p:spPr>
          <a:xfrm>
            <a:off x="503999" y="4339929"/>
            <a:ext cx="11232000" cy="162000"/>
          </a:xfrm>
          <a:prstGeom prst="rect">
            <a:avLst/>
          </a:prstGeom>
          <a:noFill/>
        </p:spPr>
        <p:txBody>
          <a:bodyPr wrap="square" anchor="t" lIns="54000" rIns="54000"/>
          <a:lstStyle/>
          <a:p>
            <a:pPr algn="l"/>
            <a:r>
              <a:rPr sz="850" b="0">
                <a:solidFill>
                  <a:srgbClr val="53565A"/>
                </a:solidFill>
                <a:latin typeface="Helvetica"/>
              </a:rPr>
              <a:t>Valable pour : provisions au 31/12/2025 des comptes 158 et 196 de « BALANCE FPPN 2025.xlsx ». Besoins mesurés dans les diapositives suivantes de la partie 9.</a:t>
            </a:r>
          </a:p>
        </p:txBody>
      </p:sp>
      <p:sp>
        <p:nvSpPr>
          <p:cNvPr id="34" name="TextBox 33"/>
          <p:cNvSpPr txBox="1"/>
          <p:nvPr/>
        </p:nvSpPr>
        <p:spPr>
          <a:xfrm>
            <a:off x="503999" y="4645929"/>
            <a:ext cx="11232000" cy="1222070"/>
          </a:xfrm>
          <a:prstGeom prst="rect">
            <a:avLst/>
          </a:prstGeom>
          <a:noFill/>
        </p:spPr>
        <p:txBody>
          <a:bodyPr wrap="square" lIns="54000" rIns="54000"/>
          <a:lstStyle/>
          <a:p>
            <a:pPr algn="just">
              <a:spcAft>
                <a:spcPts val="600"/>
              </a:spcAft>
            </a:pPr>
            <a:r>
              <a:rPr sz="1300" b="1">
                <a:solidFill>
                  <a:srgbClr val="060606"/>
                </a:solidFill>
                <a:latin typeface="Helvetica"/>
              </a:rPr>
              <a:t>La revue produit par produit montre trois manques : provision non recalculée, provisions mathématiques absentes, dépréciation des prêts absente.</a:t>
            </a:r>
            <a:r>
              <a:rPr sz="1300" b="0">
                <a:solidFill>
                  <a:srgbClr val="060606"/>
                </a:solidFill>
                <a:latin typeface="Helvetica"/>
              </a:rPr>
              <a:t> Le sens des écritures est correct (provisions au passif, au crédit), mais leur montant n'est pas une estimation.</a:t>
            </a:r>
          </a:p>
          <a:p>
            <a:pPr algn="just">
              <a:spcAft>
                <a:spcPts val="600"/>
              </a:spcAft>
            </a:pPr>
            <a:r>
              <a:rPr sz="1300" b="0">
                <a:solidFill>
                  <a:srgbClr val="060606"/>
                </a:solidFill>
                <a:latin typeface="Helvetica"/>
              </a:rPr>
              <a:t>Le FPPN ne peut pas justifier « à tout moment » des provisions suffisantes, comme l'exige l'article 7 du règlement d'exécution n° 004/2022. Les diapositives suivantes détaillent chaque point.</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Sigles : FPPN : Fonds de prévoyance de la Police nationale | UEMOA : Union économique et monétaire ouest-africaine | PCMS : plan comptable des mutuelles sociales | PEP : Plan Épargne Plus | EFC : entraide fin de carrière | PSAP : provision pour sinistres à payer | SYSCOHADA : système comptable de l'OHADA | GNA : assureur de la flotte automobile (compte 47111106)</a:t>
            </a:r>
          </a:p>
        </p:txBody>
      </p:sp>
    </p:spTree>
    <p:extLst>
      <p:ext uri="{BB962C8B-B14F-4D97-AF65-F5344CB8AC3E}">
        <p14:creationId xmlns:p14="http://schemas.microsoft.com/office/powerpoint/2010/main" val="2281060857"/>
      </p:ext>
    </p:extLst>
  </p:cSld>
  <p:clrMapOvr>
    <a:masterClrMapping/>
  </p:clrMapOvr>
  <p:transition>
    <p:fade/>
  </p:transition>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PSAP et dettes envers les cliniques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factures des cliniques déjà enregistrées ne représentent qu'une petite part de la provision</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2025 : PSAP maladie 2 867 602 878 FCFA, dettes envers les cliniques 242 140 869 FCFA</a:t>
            </a:r>
          </a:p>
        </p:txBody>
      </p:sp>
      <p:sp>
        <p:nvSpPr>
          <p:cNvPr id="30" name="TextBox 29"/>
          <p:cNvSpPr txBox="1"/>
          <p:nvPr/>
        </p:nvSpPr>
        <p:spPr>
          <a:xfrm>
            <a:off x="503999" y="1386000"/>
            <a:ext cx="5976000" cy="251999"/>
          </a:xfrm>
          <a:prstGeom prst="rect">
            <a:avLst/>
          </a:prstGeom>
          <a:noFill/>
        </p:spPr>
        <p:txBody>
          <a:bodyPr wrap="square">
            <a:spAutoFit/>
          </a:bodyPr>
          <a:lstStyle/>
          <a:p>
            <a:pPr algn="ctr">
              <a:spcAft>
                <a:spcPts val="0"/>
              </a:spcAft>
            </a:pPr>
            <a:r>
              <a:rPr sz="1200" b="0">
                <a:solidFill>
                  <a:srgbClr val="EFAC62"/>
                </a:solidFill>
                <a:latin typeface="Helvetica"/>
              </a:rPr>
              <a:t>Figure 29 : PSAP maladie et dettes envers les cliniques</a:t>
            </a:r>
          </a:p>
        </p:txBody>
      </p:sp>
      <p:sp>
        <p:nvSpPr>
          <p:cNvPr id="31" name="TextBox 30"/>
          <p:cNvSpPr txBox="1"/>
          <p:nvPr/>
        </p:nvSpPr>
        <p:spPr>
          <a:xfrm>
            <a:off x="503999" y="1602000"/>
            <a:ext cx="5976000" cy="162000"/>
          </a:xfrm>
          <a:prstGeom prst="rect">
            <a:avLst/>
          </a:prstGeom>
          <a:noFill/>
        </p:spPr>
        <p:txBody>
          <a:bodyPr wrap="square">
            <a:spAutoFit/>
          </a:bodyPr>
          <a:lstStyle/>
          <a:p>
            <a:pPr algn="l">
              <a:spcAft>
                <a:spcPts val="0"/>
              </a:spcAft>
            </a:pPr>
            <a:r>
              <a:rPr sz="900" b="0">
                <a:solidFill>
                  <a:srgbClr val="060606"/>
                </a:solidFill>
                <a:latin typeface="Helvetica"/>
              </a:rPr>
              <a:t>En millions de FCFA</a:t>
            </a:r>
          </a:p>
        </p:txBody>
      </p:sp>
      <p:graphicFrame>
        <p:nvGraphicFramePr>
          <p:cNvPr id="32" name="Chart 31"/>
          <p:cNvGraphicFramePr>
            <a:graphicFrameLocks noGrp="1"/>
          </p:cNvGraphicFramePr>
          <p:nvPr/>
        </p:nvGraphicFramePr>
        <p:xfrm>
          <a:off x="503999" y="1782000"/>
          <a:ext cx="5976000" cy="3600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a:t>
            </a:r>
          </a:p>
        </p:txBody>
      </p:sp>
      <p:sp>
        <p:nvSpPr>
          <p:cNvPr id="34" name="TextBox 33"/>
          <p:cNvSpPr txBox="1"/>
          <p:nvPr/>
        </p:nvSpPr>
        <p:spPr>
          <a:xfrm>
            <a:off x="6696000" y="1440000"/>
            <a:ext cx="5040000" cy="4428000"/>
          </a:xfrm>
          <a:prstGeom prst="rect">
            <a:avLst/>
          </a:prstGeom>
          <a:noFill/>
        </p:spPr>
        <p:txBody>
          <a:bodyPr wrap="square" lIns="54000" rIns="54000"/>
          <a:lstStyle/>
          <a:p>
            <a:pPr algn="just">
              <a:spcAft>
                <a:spcPts val="600"/>
              </a:spcAft>
            </a:pPr>
            <a:r>
              <a:rPr sz="1400" b="1">
                <a:solidFill>
                  <a:srgbClr val="060606"/>
                </a:solidFill>
                <a:latin typeface="Helvetica"/>
              </a:rPr>
              <a:t>Les factures enregistrées représentent 1,64 mois de prestations en 2025, la PSAP 19,42 mois.</a:t>
            </a:r>
            <a:r>
              <a:rPr sz="1400" b="0">
                <a:solidFill>
                  <a:srgbClr val="060606"/>
                </a:solidFill>
                <a:latin typeface="Helvetica"/>
              </a:rPr>
              <a:t> La PSAP vaut 11,84 fois les dettes envers les cliniques.</a:t>
            </a:r>
          </a:p>
          <a:p>
            <a:pPr algn="just">
              <a:spcAft>
                <a:spcPts val="600"/>
              </a:spcAft>
            </a:pPr>
            <a:r>
              <a:rPr sz="1400" b="1">
                <a:solidFill>
                  <a:srgbClr val="060606"/>
                </a:solidFill>
                <a:latin typeface="Helvetica"/>
              </a:rPr>
              <a:t>La provision décès représente 121,88 mois de prestations décès de 2025.</a:t>
            </a:r>
            <a:r>
              <a:rPr sz="1400" b="0">
                <a:solidFill>
                  <a:srgbClr val="060606"/>
                </a:solidFill>
                <a:latin typeface="Helvetica"/>
              </a:rPr>
              <a:t> Un tel niveau n'a de sens que s'il correspond à des dossiers anciens non payés, dont la liste a été demandée.</a:t>
            </a:r>
          </a:p>
          <a:p>
            <a:pPr algn="just">
              <a:spcAft>
                <a:spcPts val="600"/>
              </a:spcAft>
            </a:pPr>
            <a:r>
              <a:rPr sz="1400" b="1">
                <a:solidFill>
                  <a:srgbClr val="060606"/>
                </a:solidFill>
                <a:latin typeface="Helvetica"/>
              </a:rPr>
              <a:t>Sans la base des prestations, on ne peut dire si la provision est trop forte ou trop faible.</a:t>
            </a:r>
            <a:r>
              <a:rPr sz="1400" b="0">
                <a:solidFill>
                  <a:srgbClr val="060606"/>
                </a:solidFill>
                <a:latin typeface="Helvetica"/>
              </a:rPr>
              <a:t> On peut seulement dire qu'elle ne suit ni les dettes, ni les prestations.</a:t>
            </a:r>
          </a:p>
          <a:p>
            <a:pPr algn="just">
              <a:spcAft>
                <a:spcPts val="600"/>
              </a:spcAft>
            </a:pPr>
            <a:r>
              <a:rPr sz="1400" b="0">
                <a:solidFill>
                  <a:srgbClr val="060606"/>
                </a:solidFill>
                <a:latin typeface="Helvetica"/>
              </a:rPr>
              <a:t>Les trois diapositives suivantes mesurent la provision maladie nécessaire avec la méthode courte que permettent le règlement intérieur et les factures reçues.</a:t>
            </a:r>
          </a:p>
        </p:txBody>
      </p:sp>
      <p:sp>
        <p:nvSpPr>
          <p:cNvPr id="35" name="TextBox 34"/>
          <p:cNvSpPr txBox="1"/>
          <p:nvPr/>
        </p:nvSpPr>
        <p:spPr>
          <a:xfrm>
            <a:off x="503999" y="5382000"/>
            <a:ext cx="5976000" cy="450000"/>
          </a:xfrm>
          <a:prstGeom prst="rect">
            <a:avLst/>
          </a:prstGeom>
          <a:noFill/>
        </p:spPr>
        <p:txBody>
          <a:bodyPr wrap="square" anchor="t" lIns="54000" rIns="54000"/>
          <a:lstStyle/>
          <a:p>
            <a:pPr algn="l"/>
            <a:r>
              <a:rPr sz="850" b="0">
                <a:solidFill>
                  <a:srgbClr val="53565A"/>
                </a:solidFill>
                <a:latin typeface="Helvetica"/>
              </a:rPr>
              <a:t>Valable pour : compte 15801000 et compte 40110000 (dettes envers les cliniques) des balances « BALANCE FORMAT EXCEL DE 09-2020 AU 31-12-2020.xlsx » à « BALANCE FPPN DU 01-01-2026 AU 31-08-2026.xlsx », au 31/12 de 2020 à 2025 et au 31/08/2026.</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PSAP : provision pour sinistres à payer</a:t>
            </a:r>
          </a:p>
        </p:txBody>
      </p:sp>
    </p:spTree>
    <p:extLst>
      <p:ext uri="{BB962C8B-B14F-4D97-AF65-F5344CB8AC3E}">
        <p14:creationId xmlns:p14="http://schemas.microsoft.com/office/powerpoint/2010/main" val="1913527309"/>
      </p:ext>
    </p:extLst>
  </p:cSld>
  <p:clrMapOvr>
    <a:masterClrMapping/>
  </p:clrMapOvr>
  <p:transition>
    <p:fade/>
  </p:transition>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Circuit d'une facture de soins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date des soins n'est saisie nulle part : la comptabilité ne connaît que la date d'enregistrement de la facture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 règlement intérieur fixe trois délais : paiement des cliniques en trois mois, demande de remboursement en trois mois, remboursement en six mois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règlement intérieur du FPPN édité le 15/06/2023, art. 52, 57 et 60. Grands livres des tiers 2023 à 2025 (journal SIN)</a:t>
            </a:r>
          </a:p>
        </p:txBody>
      </p:sp>
      <p:sp>
        <p:nvSpPr>
          <p:cNvPr id="31" name="Logigramme f1"/>
          <p:cNvSpPr/>
          <p:nvPr/>
        </p:nvSpPr>
        <p:spPr>
          <a:xfrm>
            <a:off x="576000" y="1655999"/>
            <a:ext cx="1296000" cy="576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FFFFFF"/>
                </a:solidFill>
                <a:latin typeface="Helvetica"/>
              </a:rPr>
              <a:t>Soins dans une</a:t>
            </a:r>
          </a:p>
          <a:p>
            <a:pPr algn="ctr"/>
            <a:r>
              <a:rPr sz="900" b="1">
                <a:solidFill>
                  <a:srgbClr val="FFFFFF"/>
                </a:solidFill>
                <a:latin typeface="Helvetica"/>
              </a:rPr>
              <a:t>clinique conventionnée</a:t>
            </a:r>
          </a:p>
        </p:txBody>
      </p:sp>
      <p:sp>
        <p:nvSpPr>
          <p:cNvPr id="32" name="Logigramme f2"/>
          <p:cNvSpPr/>
          <p:nvPr/>
        </p:nvSpPr>
        <p:spPr>
          <a:xfrm>
            <a:off x="2178000" y="1655999"/>
            <a:ext cx="1296000" cy="576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060606"/>
                </a:solidFill>
                <a:latin typeface="Helvetica"/>
              </a:rPr>
              <a:t>Facture de la clinique</a:t>
            </a:r>
          </a:p>
          <a:p>
            <a:pPr algn="ctr"/>
            <a:r>
              <a:rPr sz="900" b="0">
                <a:solidFill>
                  <a:srgbClr val="060606"/>
                </a:solidFill>
                <a:latin typeface="Helvetica"/>
              </a:rPr>
              <a:t>(numéro, date)</a:t>
            </a:r>
          </a:p>
        </p:txBody>
      </p:sp>
      <p:sp>
        <p:nvSpPr>
          <p:cNvPr id="33" name="Logigramme f3"/>
          <p:cNvSpPr/>
          <p:nvPr/>
        </p:nvSpPr>
        <p:spPr>
          <a:xfrm>
            <a:off x="3780000" y="1655999"/>
            <a:ext cx="1296000" cy="576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060606"/>
                </a:solidFill>
                <a:latin typeface="Helvetica"/>
              </a:rPr>
              <a:t>Dépôt au FPPN</a:t>
            </a:r>
          </a:p>
          <a:p>
            <a:pPr algn="ctr"/>
            <a:r>
              <a:rPr sz="900" b="0">
                <a:solidFill>
                  <a:srgbClr val="060606"/>
                </a:solidFill>
                <a:latin typeface="Helvetica"/>
              </a:rPr>
              <a:t>(date de dépôt)</a:t>
            </a:r>
          </a:p>
        </p:txBody>
      </p:sp>
      <p:sp>
        <p:nvSpPr>
          <p:cNvPr id="34" name="Logigramme f4"/>
          <p:cNvSpPr/>
          <p:nvPr/>
        </p:nvSpPr>
        <p:spPr>
          <a:xfrm>
            <a:off x="5382000" y="1655999"/>
            <a:ext cx="1296000" cy="576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060606"/>
                </a:solidFill>
                <a:latin typeface="Helvetica"/>
              </a:rPr>
              <a:t>Enregistrement au</a:t>
            </a:r>
          </a:p>
          <a:p>
            <a:pPr algn="ctr"/>
            <a:r>
              <a:rPr sz="900" b="0">
                <a:solidFill>
                  <a:srgbClr val="060606"/>
                </a:solidFill>
                <a:latin typeface="Helvetica"/>
              </a:rPr>
              <a:t>40110000 (journal SIN)</a:t>
            </a:r>
          </a:p>
        </p:txBody>
      </p:sp>
      <p:sp>
        <p:nvSpPr>
          <p:cNvPr id="35" name="Logigramme f5"/>
          <p:cNvSpPr/>
          <p:nvPr/>
        </p:nvSpPr>
        <p:spPr>
          <a:xfrm>
            <a:off x="6984000" y="1601999"/>
            <a:ext cx="1296000" cy="684000"/>
          </a:xfrm>
          <a:prstGeom prst="flowChartDecision">
            <a:avLst/>
          </a:prstGeom>
          <a:solidFill>
            <a:srgbClr val="EFAC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Payée dans</a:t>
            </a:r>
          </a:p>
          <a:p>
            <a:pPr algn="ctr"/>
            <a:r>
              <a:rPr sz="850" b="0">
                <a:solidFill>
                  <a:srgbClr val="060606"/>
                </a:solidFill>
                <a:latin typeface="Helvetica"/>
              </a:rPr>
              <a:t>les 3 mois ?</a:t>
            </a:r>
          </a:p>
        </p:txBody>
      </p:sp>
      <p:sp>
        <p:nvSpPr>
          <p:cNvPr id="36" name="Logigramme f6"/>
          <p:cNvSpPr/>
          <p:nvPr/>
        </p:nvSpPr>
        <p:spPr>
          <a:xfrm>
            <a:off x="8586000" y="1655999"/>
            <a:ext cx="1296000" cy="576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FFFFFF"/>
                </a:solidFill>
                <a:latin typeface="Helvetica"/>
              </a:rPr>
              <a:t>Paiement de la clinique</a:t>
            </a:r>
          </a:p>
          <a:p>
            <a:pPr algn="ctr"/>
            <a:r>
              <a:rPr sz="900" b="1">
                <a:solidFill>
                  <a:srgbClr val="FFFFFF"/>
                </a:solidFill>
                <a:latin typeface="Helvetica"/>
              </a:rPr>
              <a:t>(RI, art. 52)</a:t>
            </a:r>
          </a:p>
        </p:txBody>
      </p:sp>
      <p:sp>
        <p:nvSpPr>
          <p:cNvPr id="37" name="Logigramme f7"/>
          <p:cNvSpPr/>
          <p:nvPr/>
        </p:nvSpPr>
        <p:spPr>
          <a:xfrm>
            <a:off x="8586000" y="2951999"/>
            <a:ext cx="1296000" cy="576000"/>
          </a:xfrm>
          <a:prstGeom prst="flowChartProcess">
            <a:avLst/>
          </a:prstGeom>
          <a:solidFill>
            <a:srgbClr val="FFFFFF"/>
          </a:solidFill>
          <a:ln w="285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C00000"/>
                </a:solidFill>
                <a:latin typeface="Helvetica"/>
              </a:rPr>
              <a:t>Arriérés : délai moyen</a:t>
            </a:r>
          </a:p>
          <a:p>
            <a:pPr algn="ctr"/>
            <a:r>
              <a:rPr sz="900" b="1">
                <a:solidFill>
                  <a:srgbClr val="C00000"/>
                </a:solidFill>
                <a:latin typeface="Helvetica"/>
              </a:rPr>
              <a:t>53 mois en 2020,</a:t>
            </a:r>
          </a:p>
          <a:p>
            <a:pPr algn="ctr"/>
            <a:r>
              <a:rPr sz="900" b="1">
                <a:solidFill>
                  <a:srgbClr val="C00000"/>
                </a:solidFill>
                <a:latin typeface="Helvetica"/>
              </a:rPr>
              <a:t>2,62 mois en 2025</a:t>
            </a:r>
          </a:p>
        </p:txBody>
      </p:sp>
      <p:sp>
        <p:nvSpPr>
          <p:cNvPr id="38" name="Logigramme f8"/>
          <p:cNvSpPr/>
          <p:nvPr/>
        </p:nvSpPr>
        <p:spPr>
          <a:xfrm>
            <a:off x="576000" y="2951999"/>
            <a:ext cx="1296000" cy="576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FFFFFF"/>
                </a:solidFill>
                <a:latin typeface="Helvetica"/>
              </a:rPr>
              <a:t>Soins payés par</a:t>
            </a:r>
          </a:p>
          <a:p>
            <a:pPr algn="ctr"/>
            <a:r>
              <a:rPr sz="900" b="1">
                <a:solidFill>
                  <a:srgbClr val="FFFFFF"/>
                </a:solidFill>
                <a:latin typeface="Helvetica"/>
              </a:rPr>
              <a:t>le mutualiste</a:t>
            </a:r>
          </a:p>
        </p:txBody>
      </p:sp>
      <p:sp>
        <p:nvSpPr>
          <p:cNvPr id="39" name="Logigramme f9"/>
          <p:cNvSpPr/>
          <p:nvPr/>
        </p:nvSpPr>
        <p:spPr>
          <a:xfrm>
            <a:off x="2178000" y="2951999"/>
            <a:ext cx="1296000" cy="576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060606"/>
                </a:solidFill>
                <a:latin typeface="Helvetica"/>
              </a:rPr>
              <a:t>Demande de rembourse-</a:t>
            </a:r>
          </a:p>
          <a:p>
            <a:pPr algn="ctr"/>
            <a:r>
              <a:rPr sz="900" b="0">
                <a:solidFill>
                  <a:srgbClr val="060606"/>
                </a:solidFill>
                <a:latin typeface="Helvetica"/>
              </a:rPr>
              <a:t>ment au plus 3 mois</a:t>
            </a:r>
          </a:p>
          <a:p>
            <a:pPr algn="ctr"/>
            <a:r>
              <a:rPr sz="900" b="0">
                <a:solidFill>
                  <a:srgbClr val="060606"/>
                </a:solidFill>
                <a:latin typeface="Helvetica"/>
              </a:rPr>
              <a:t>après la facture (art. 60)</a:t>
            </a:r>
          </a:p>
        </p:txBody>
      </p:sp>
      <p:sp>
        <p:nvSpPr>
          <p:cNvPr id="40" name="Logigramme f10"/>
          <p:cNvSpPr/>
          <p:nvPr/>
        </p:nvSpPr>
        <p:spPr>
          <a:xfrm>
            <a:off x="3780000" y="2951999"/>
            <a:ext cx="1296000" cy="576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FFFFFF"/>
                </a:solidFill>
                <a:latin typeface="Helvetica"/>
              </a:rPr>
              <a:t>Remboursement au plus</a:t>
            </a:r>
          </a:p>
          <a:p>
            <a:pPr algn="ctr"/>
            <a:r>
              <a:rPr sz="900" b="1">
                <a:solidFill>
                  <a:srgbClr val="FFFFFF"/>
                </a:solidFill>
                <a:latin typeface="Helvetica"/>
              </a:rPr>
              <a:t>6 mois après la</a:t>
            </a:r>
          </a:p>
          <a:p>
            <a:pPr algn="ctr"/>
            <a:r>
              <a:rPr sz="900" b="1">
                <a:solidFill>
                  <a:srgbClr val="FFFFFF"/>
                </a:solidFill>
                <a:latin typeface="Helvetica"/>
              </a:rPr>
              <a:t>demande (art. 57)</a:t>
            </a:r>
          </a:p>
        </p:txBody>
      </p:sp>
      <p:sp>
        <p:nvSpPr>
          <p:cNvPr id="41" name="Logigramme f11"/>
          <p:cNvSpPr/>
          <p:nvPr/>
        </p:nvSpPr>
        <p:spPr>
          <a:xfrm>
            <a:off x="5382000" y="2951999"/>
            <a:ext cx="1296000" cy="576000"/>
          </a:xfrm>
          <a:prstGeom prst="flowChartProcess">
            <a:avLst/>
          </a:prstGeom>
          <a:solidFill>
            <a:srgbClr val="FFFFFF"/>
          </a:solidFill>
          <a:ln w="285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C00000"/>
                </a:solidFill>
                <a:latin typeface="Helvetica"/>
              </a:rPr>
              <a:t>Date des soins</a:t>
            </a:r>
          </a:p>
          <a:p>
            <a:pPr algn="ctr"/>
            <a:r>
              <a:rPr sz="900" b="1">
                <a:solidFill>
                  <a:srgbClr val="C00000"/>
                </a:solidFill>
                <a:latin typeface="Helvetica"/>
              </a:rPr>
              <a:t>non saisie en</a:t>
            </a:r>
          </a:p>
          <a:p>
            <a:pPr algn="ctr"/>
            <a:r>
              <a:rPr sz="900" b="1">
                <a:solidFill>
                  <a:srgbClr val="C00000"/>
                </a:solidFill>
                <a:latin typeface="Helvetica"/>
              </a:rPr>
              <a:t>comptabilité</a:t>
            </a:r>
          </a:p>
        </p:txBody>
      </p:sp>
      <p:sp>
        <p:nvSpPr>
          <p:cNvPr id="42" name="Logigramme f12"/>
          <p:cNvSpPr/>
          <p:nvPr/>
        </p:nvSpPr>
        <p:spPr>
          <a:xfrm>
            <a:off x="10188000" y="2951999"/>
            <a:ext cx="1296000" cy="576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060606"/>
                </a:solidFill>
                <a:latin typeface="Helvetica"/>
              </a:rPr>
              <a:t>Provision maladie</a:t>
            </a:r>
          </a:p>
          <a:p>
            <a:pPr algn="ctr"/>
            <a:r>
              <a:rPr sz="900" b="0">
                <a:solidFill>
                  <a:srgbClr val="060606"/>
                </a:solidFill>
                <a:latin typeface="Helvetica"/>
              </a:rPr>
              <a:t>(soins de l'année</a:t>
            </a:r>
          </a:p>
          <a:p>
            <a:pPr algn="ctr"/>
            <a:r>
              <a:rPr sz="900" b="0">
                <a:solidFill>
                  <a:srgbClr val="060606"/>
                </a:solidFill>
                <a:latin typeface="Helvetica"/>
              </a:rPr>
              <a:t>facturés après le 31/12)</a:t>
            </a:r>
          </a:p>
        </p:txBody>
      </p:sp>
      <p:cxnSp>
        <p:nvCxnSpPr>
          <p:cNvPr id="43" name="Flèche f1 vers f2"/>
          <p:cNvCxnSpPr>
            <a:stCxn id="31" idx="3"/>
            <a:endCxn id="32" idx="1"/>
          </p:cNvCxnSpPr>
          <p:nvPr/>
        </p:nvCxnSpPr>
        <p:spPr>
          <a:xfrm flipV="1">
            <a:off x="1872000" y="1943999"/>
            <a:ext cx="306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Flèche f2 vers f3"/>
          <p:cNvCxnSpPr>
            <a:stCxn id="32" idx="3"/>
            <a:endCxn id="33" idx="1"/>
          </p:cNvCxnSpPr>
          <p:nvPr/>
        </p:nvCxnSpPr>
        <p:spPr>
          <a:xfrm flipV="1">
            <a:off x="3474000" y="1943999"/>
            <a:ext cx="306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Flèche f3 vers f4"/>
          <p:cNvCxnSpPr>
            <a:stCxn id="33" idx="3"/>
            <a:endCxn id="34" idx="1"/>
          </p:cNvCxnSpPr>
          <p:nvPr/>
        </p:nvCxnSpPr>
        <p:spPr>
          <a:xfrm flipV="1">
            <a:off x="5076000" y="1943999"/>
            <a:ext cx="306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Flèche f4 vers f5"/>
          <p:cNvCxnSpPr>
            <a:stCxn id="34" idx="3"/>
            <a:endCxn id="35" idx="1"/>
          </p:cNvCxnSpPr>
          <p:nvPr/>
        </p:nvCxnSpPr>
        <p:spPr>
          <a:xfrm flipV="1">
            <a:off x="6678000" y="1943999"/>
            <a:ext cx="306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Flèche f5 vers f6"/>
          <p:cNvCxnSpPr>
            <a:stCxn id="35" idx="3"/>
            <a:endCxn id="36" idx="1"/>
          </p:cNvCxnSpPr>
          <p:nvPr/>
        </p:nvCxnSpPr>
        <p:spPr>
          <a:xfrm flipV="1">
            <a:off x="8280000" y="1943999"/>
            <a:ext cx="306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8323200" y="1763998"/>
            <a:ext cx="864000" cy="162000"/>
          </a:xfrm>
          <a:prstGeom prst="rect">
            <a:avLst/>
          </a:prstGeom>
          <a:noFill/>
        </p:spPr>
        <p:txBody>
          <a:bodyPr wrap="square" anchor="t" lIns="28800" rIns="28800" tIns="10800" bIns="10800">
            <a:spAutoFit/>
          </a:bodyPr>
          <a:lstStyle/>
          <a:p>
            <a:pPr algn="l"/>
            <a:r>
              <a:rPr sz="750" b="1">
                <a:solidFill>
                  <a:srgbClr val="53565A"/>
                </a:solidFill>
                <a:latin typeface="Helvetica"/>
              </a:rPr>
              <a:t>oui</a:t>
            </a:r>
          </a:p>
        </p:txBody>
      </p:sp>
      <p:cxnSp>
        <p:nvCxnSpPr>
          <p:cNvPr id="49" name="Flèche f5 vers f7"/>
          <p:cNvCxnSpPr>
            <a:stCxn id="35" idx="2"/>
            <a:endCxn id="37" idx="0"/>
          </p:cNvCxnSpPr>
          <p:nvPr/>
        </p:nvCxnSpPr>
        <p:spPr>
          <a:xfrm>
            <a:off x="7632000" y="2285999"/>
            <a:ext cx="1602000" cy="666000"/>
          </a:xfrm>
          <a:prstGeom prst="bentConnector3">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7685999" y="2303999"/>
            <a:ext cx="864000" cy="162000"/>
          </a:xfrm>
          <a:prstGeom prst="rect">
            <a:avLst/>
          </a:prstGeom>
          <a:noFill/>
        </p:spPr>
        <p:txBody>
          <a:bodyPr wrap="square" anchor="t" lIns="28800" rIns="28800" tIns="10800" bIns="10800">
            <a:spAutoFit/>
          </a:bodyPr>
          <a:lstStyle/>
          <a:p>
            <a:pPr algn="l"/>
            <a:r>
              <a:rPr sz="750" b="1">
                <a:solidFill>
                  <a:srgbClr val="53565A"/>
                </a:solidFill>
                <a:latin typeface="Helvetica"/>
              </a:rPr>
              <a:t>non</a:t>
            </a:r>
          </a:p>
        </p:txBody>
      </p:sp>
      <p:cxnSp>
        <p:nvCxnSpPr>
          <p:cNvPr id="51" name="Flèche f8 vers f9"/>
          <p:cNvCxnSpPr>
            <a:stCxn id="38" idx="3"/>
            <a:endCxn id="39" idx="1"/>
          </p:cNvCxnSpPr>
          <p:nvPr/>
        </p:nvCxnSpPr>
        <p:spPr>
          <a:xfrm flipV="1">
            <a:off x="1872000" y="3239999"/>
            <a:ext cx="306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Flèche f9 vers f10"/>
          <p:cNvCxnSpPr>
            <a:stCxn id="39" idx="3"/>
            <a:endCxn id="40" idx="1"/>
          </p:cNvCxnSpPr>
          <p:nvPr/>
        </p:nvCxnSpPr>
        <p:spPr>
          <a:xfrm flipV="1">
            <a:off x="3474000" y="3239999"/>
            <a:ext cx="306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3" name="Flèche f4 vers f11"/>
          <p:cNvCxnSpPr>
            <a:stCxn id="34" idx="2"/>
            <a:endCxn id="41" idx="0"/>
          </p:cNvCxnSpPr>
          <p:nvPr/>
        </p:nvCxnSpPr>
        <p:spPr>
          <a:xfrm flipH="1">
            <a:off x="6030000" y="2231999"/>
            <a:ext cx="0" cy="720000"/>
          </a:xfrm>
          <a:prstGeom prst="line">
            <a:avLst/>
          </a:prstGeom>
          <a:ln w="22225">
            <a:solidFill>
              <a:srgbClr val="53565A"/>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54" name="Flèche f6 vers f12"/>
          <p:cNvCxnSpPr>
            <a:stCxn id="36" idx="3"/>
            <a:endCxn id="42" idx="0"/>
          </p:cNvCxnSpPr>
          <p:nvPr/>
        </p:nvCxnSpPr>
        <p:spPr>
          <a:xfrm>
            <a:off x="9882000" y="1943999"/>
            <a:ext cx="954000" cy="1008000"/>
          </a:xfrm>
          <a:prstGeom prst="bentConnector3">
            <a:avLst/>
          </a:prstGeom>
          <a:ln w="22225">
            <a:solidFill>
              <a:srgbClr val="53565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503999" y="3816000"/>
            <a:ext cx="11232000" cy="2052000"/>
          </a:xfrm>
          <a:prstGeom prst="rect">
            <a:avLst/>
          </a:prstGeom>
          <a:noFill/>
        </p:spPr>
        <p:txBody>
          <a:bodyPr wrap="square" lIns="54000" rIns="54000"/>
          <a:lstStyle/>
          <a:p>
            <a:pPr algn="just">
              <a:spcAft>
                <a:spcPts val="600"/>
              </a:spcAft>
            </a:pPr>
            <a:r>
              <a:rPr sz="1200" b="1">
                <a:solidFill>
                  <a:srgbClr val="060606"/>
                </a:solidFill>
                <a:latin typeface="Helvetica"/>
              </a:rPr>
              <a:t>La facture est enregistrée au compte 40110000 à sa réception, avec son numéro et sa date d'enregistrement.</a:t>
            </a:r>
            <a:r>
              <a:rPr sz="1200" b="0">
                <a:solidFill>
                  <a:srgbClr val="060606"/>
                </a:solidFill>
                <a:latin typeface="Helvetica"/>
              </a:rPr>
              <a:t> La date des soins n'apparaît que dans le numéro de facture, et seulement pour une partie des factures.</a:t>
            </a:r>
          </a:p>
          <a:p>
            <a:pPr algn="just">
              <a:spcAft>
                <a:spcPts val="600"/>
              </a:spcAft>
            </a:pPr>
            <a:r>
              <a:rPr sz="1200" b="1">
                <a:solidFill>
                  <a:srgbClr val="060606"/>
                </a:solidFill>
                <a:latin typeface="Helvetica"/>
              </a:rPr>
              <a:t>La provision maladie se mesure donc sur les factures d'une année enregistrées l'année suivante</a:t>
            </a:r>
            <a:r>
              <a:rPr sz="1200" b="0">
                <a:solidFill>
                  <a:srgbClr val="060606"/>
                </a:solidFill>
                <a:latin typeface="Helvetica"/>
              </a:rPr>
              <a:t> (diapositives suivantes). Une base des prestations datée donnerait la date des soins de chaque facture.</a:t>
            </a:r>
          </a:p>
          <a:p>
            <a:pPr algn="just">
              <a:spcAft>
                <a:spcPts val="600"/>
              </a:spcAft>
            </a:pPr>
            <a:r>
              <a:rPr sz="1200" b="0">
                <a:solidFill>
                  <a:srgbClr val="060606"/>
                </a:solidFill>
                <a:latin typeface="Helvetica"/>
              </a:rPr>
              <a:t>Saisir la date des soins et la date de dépôt de chaque facture permet de calculer chaque année la provision maladie et le délai réel de paiement des cliniques.</a:t>
            </a:r>
          </a:p>
        </p:txBody>
      </p:sp>
      <p:sp>
        <p:nvSpPr>
          <p:cNvPr id="56" name="TextBox 5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1524972734"/>
      </p:ext>
    </p:extLst>
  </p:cSld>
  <p:clrMapOvr>
    <a:masterClrMapping/>
  </p:clrMapOvr>
  <p:transition>
    <p:fade/>
  </p:transition>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Provision maladie : délais de paiement des cliniques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délai moyen de paiement passe de 53,4 mois en 2020 à 2,62 mois en 2025</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La règle des trois mois (règlement intérieur, art. 52) est approchée depuis 2024 mais pas respectée chaque année. Elle justifie une provision calculée sur quelques mois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règlement intérieur du FPPN édité le 15/06/2023, art. 52, 57 et 60. Balances des comptes du FPPN de 2020 au 31/08/2026 (provisoire), fichiers « BALANCE … » listés en annexe « Fichiers sources ». Traitements Adenka. Onglet 18a du classeur des calculs</a:t>
            </a:r>
          </a:p>
        </p:txBody>
      </p:sp>
      <p:sp>
        <p:nvSpPr>
          <p:cNvPr id="31" name="TextBox 30"/>
          <p:cNvSpPr txBox="1"/>
          <p:nvPr/>
        </p:nvSpPr>
        <p:spPr>
          <a:xfrm>
            <a:off x="503999" y="1386000"/>
            <a:ext cx="10872000" cy="216000"/>
          </a:xfrm>
          <a:prstGeom prst="rect">
            <a:avLst/>
          </a:prstGeom>
          <a:noFill/>
        </p:spPr>
        <p:txBody>
          <a:bodyPr wrap="square" anchor="t" lIns="54000" rIns="54000"/>
          <a:lstStyle/>
          <a:p>
            <a:pPr algn="ctr"/>
            <a:r>
              <a:rPr sz="1200" b="0">
                <a:solidFill>
                  <a:srgbClr val="EFAC62"/>
                </a:solidFill>
                <a:latin typeface="Helvetica"/>
              </a:rPr>
              <a:t>Tableau 44 : Factures de cliniques (compte 40110000) et délai moyen de paiement</a:t>
            </a:r>
          </a:p>
        </p:txBody>
      </p:sp>
      <p:graphicFrame>
        <p:nvGraphicFramePr>
          <p:cNvPr id="32" name="Table 31"/>
          <p:cNvGraphicFramePr>
            <a:graphicFrameLocks noGrp="1"/>
          </p:cNvGraphicFramePr>
          <p:nvPr/>
        </p:nvGraphicFramePr>
        <p:xfrm>
          <a:off x="503999" y="1655999"/>
          <a:ext cx="10871998" cy="1558144"/>
        </p:xfrm>
        <a:graphic>
          <a:graphicData uri="http://schemas.openxmlformats.org/drawingml/2006/table">
            <a:tbl>
              <a:tblPr firstRow="0" bandRow="0">
                <a:tableStyleId>{5940675A-B579-460E-94D1-54222C63F5DA}</a:tableStyleId>
              </a:tblPr>
              <a:tblGrid>
                <a:gridCol w="1152000"/>
                <a:gridCol w="2015999"/>
                <a:gridCol w="2015999"/>
                <a:gridCol w="2088000"/>
                <a:gridCol w="1440000"/>
                <a:gridCol w="2160000"/>
              </a:tblGrid>
              <a:tr h="194768">
                <a:tc>
                  <a:txBody>
                    <a:bodyPr/>
                    <a:lstStyle/>
                    <a:p>
                      <a:pPr marL="0" indent="0" lvl="0">
                        <a:buNone/>
                      </a:pPr>
                      <a:r>
                        <a:rPr sz="900" b="1">
                          <a:solidFill>
                            <a:srgbClr val="FFFFFF"/>
                          </a:solidFill>
                          <a:latin typeface="Helvetica"/>
                        </a:rPr>
                        <a:t>Exercice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Factures enregistrées</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Factures payées</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Non payées en fin de période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Délai moyen (mois)</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Prestations maladie</a:t>
                      </a:r>
                    </a:p>
                  </a:txBody>
                  <a:tcPr marL="43200" marR="43200" marT="14400" marB="14400" anchor="ctr">
                    <a:solidFill>
                      <a:srgbClr val="060606"/>
                    </a:solidFill>
                  </a:tcPr>
                </a:tc>
              </a:tr>
              <a:tr h="194768">
                <a:tc>
                  <a:txBody>
                    <a:bodyPr/>
                    <a:lstStyle/>
                    <a:p>
                      <a:pPr marL="0" indent="0" lvl="0">
                        <a:buNone/>
                      </a:pPr>
                      <a:r>
                        <a:rPr sz="900" b="1">
                          <a:solidFill>
                            <a:srgbClr val="060606"/>
                          </a:solidFill>
                          <a:latin typeface="Helvetica"/>
                        </a:rPr>
                        <a:t>2020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313 578 298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315 748 758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1 394 774 547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53,38</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205 812 056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2021</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103 385 027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622 939 017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875 220 557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101,59</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101 453 171 FCFA</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2022</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104 085 535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446 161 744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533 144 348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61,47</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115 237 773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2023</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312 091 366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573 964 958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271 270 756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10,43</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521 004 362 FCFA</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2024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613 863 474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648 416 917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236 353 873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4,62</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1 060 419 627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2025</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1 107 859 142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1 102 072 146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242 140 869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2,62</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1 771 635 361 FCFA</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31/08/2026</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1 104 671 563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656 525 181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690 234 451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5,00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1 646 039 117 FCFA</a:t>
                      </a:r>
                    </a:p>
                  </a:txBody>
                  <a:tcPr marL="43200" marR="43200" marT="14400" marB="14400" anchor="ctr">
                    <a:solidFill>
                      <a:srgbClr val="FFFFFF"/>
                    </a:solidFill>
                  </a:tcPr>
                </a:tc>
              </a:tr>
            </a:tbl>
          </a:graphicData>
        </a:graphic>
      </p:graphicFrame>
      <p:sp>
        <p:nvSpPr>
          <p:cNvPr id="33" name="TextBox 32"/>
          <p:cNvSpPr txBox="1"/>
          <p:nvPr/>
        </p:nvSpPr>
        <p:spPr>
          <a:xfrm>
            <a:off x="503999" y="3322149"/>
            <a:ext cx="11232000" cy="306000"/>
          </a:xfrm>
          <a:prstGeom prst="rect">
            <a:avLst/>
          </a:prstGeom>
          <a:noFill/>
        </p:spPr>
        <p:txBody>
          <a:bodyPr wrap="square" anchor="t" lIns="54000" rIns="54000"/>
          <a:lstStyle/>
          <a:p>
            <a:pPr algn="l"/>
            <a:r>
              <a:rPr sz="850" b="0">
                <a:solidFill>
                  <a:srgbClr val="53565A"/>
                </a:solidFill>
                <a:latin typeface="Helvetica"/>
              </a:rPr>
              <a:t>Valable pour : factures de cliniques enregistrées au compte 40110000, exercices 2020 à 2025 et du 01/01 au 31/08/2026. Ne couvre pas les remboursements aux mutualistes ni les bons payés hors de ce compte.</a:t>
            </a:r>
          </a:p>
        </p:txBody>
      </p:sp>
      <p:sp>
        <p:nvSpPr>
          <p:cNvPr id="34" name="TextBox 33"/>
          <p:cNvSpPr txBox="1"/>
          <p:nvPr/>
        </p:nvSpPr>
        <p:spPr>
          <a:xfrm>
            <a:off x="503999" y="3772149"/>
            <a:ext cx="11232000" cy="2095850"/>
          </a:xfrm>
          <a:prstGeom prst="rect">
            <a:avLst/>
          </a:prstGeom>
          <a:noFill/>
        </p:spPr>
        <p:txBody>
          <a:bodyPr wrap="square" lIns="54000" rIns="54000"/>
          <a:lstStyle/>
          <a:p>
            <a:pPr algn="just">
              <a:spcAft>
                <a:spcPts val="600"/>
              </a:spcAft>
            </a:pPr>
            <a:r>
              <a:rPr sz="1300" b="1">
                <a:solidFill>
                  <a:srgbClr val="060606"/>
                </a:solidFill>
                <a:latin typeface="Helvetica"/>
              </a:rPr>
              <a:t>De 2020 à 2022, les factures non payées représentent de 53 à 102 mois de factures : ce sont des arriérés, non un délai normal.</a:t>
            </a:r>
            <a:r>
              <a:rPr sz="1300" b="0">
                <a:solidFill>
                  <a:srgbClr val="060606"/>
                </a:solidFill>
                <a:latin typeface="Helvetica"/>
              </a:rPr>
              <a:t> Depuis 2024, le délai moyen est compris entre 2,62 et 5,00 mois.</a:t>
            </a:r>
          </a:p>
          <a:p>
            <a:pPr algn="just">
              <a:spcAft>
                <a:spcPts val="600"/>
              </a:spcAft>
            </a:pPr>
            <a:r>
              <a:rPr sz="1300" b="1">
                <a:solidFill>
                  <a:srgbClr val="060606"/>
                </a:solidFill>
                <a:latin typeface="Helvetica"/>
              </a:rPr>
              <a:t>Depuis 2024, le délai moyen reste proche de la règle des trois mois (art. 52).</a:t>
            </a:r>
            <a:r>
              <a:rPr sz="1300" b="0">
                <a:solidFill>
                  <a:srgbClr val="060606"/>
                </a:solidFill>
                <a:latin typeface="Helvetica"/>
              </a:rPr>
              <a:t> Cette règle limite la durée pendant laquelle une prestation reste à payer, ce qui rend inutile une méthode sur plusieurs années (annexe des méthodes non retenues).</a:t>
            </a:r>
          </a:p>
          <a:p>
            <a:pPr algn="just">
              <a:spcAft>
                <a:spcPts val="600"/>
              </a:spcAft>
            </a:pPr>
            <a:r>
              <a:rPr sz="1300" b="0">
                <a:solidFill>
                  <a:srgbClr val="060606"/>
                </a:solidFill>
                <a:latin typeface="Helvetica"/>
              </a:rPr>
              <a:t>La provision maladie se calcule sur quelques mois : factures reçues non payées (déjà au passif) et soins de l'année facturés plus tard.</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2955610784"/>
      </p:ext>
    </p:extLst>
  </p:cSld>
  <p:clrMapOvr>
    <a:masterClrMapping/>
  </p:clrMapOvr>
  <p:transition>
    <p:fade/>
  </p:transition>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Provision maladie : factures arrivées en retard</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Moins de 1 % des factures d'une année sont enregistrées l'année suivante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Les soins d'une année facturés l'année suivante sont le seul montant que la provision maladie doit couvrir en plus des factures reçues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grands livres des tiers 2023 à 2025 (« GRAND LIVRE DES TIERS FPPN 2023.xlsx » et suivants) (journal SIN, colonne « N° facture »). Circulaire n° 00230/CIMA/CRCA/PDT/2005. Onglet 18b du classeur des calculs</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45 : Factures de cliniques d'une année enregistrées l'année suivante</a:t>
            </a:r>
          </a:p>
        </p:txBody>
      </p:sp>
      <p:graphicFrame>
        <p:nvGraphicFramePr>
          <p:cNvPr id="32" name="Table 31"/>
          <p:cNvGraphicFramePr>
            <a:graphicFrameLocks noGrp="1"/>
          </p:cNvGraphicFramePr>
          <p:nvPr/>
        </p:nvGraphicFramePr>
        <p:xfrm>
          <a:off x="503999" y="1655999"/>
          <a:ext cx="11232000" cy="916241"/>
        </p:xfrm>
        <a:graphic>
          <a:graphicData uri="http://schemas.openxmlformats.org/drawingml/2006/table">
            <a:tbl>
              <a:tblPr firstRow="0" bandRow="0">
                <a:tableStyleId>{5940675A-B579-460E-94D1-54222C63F5DA}</a:tableStyleId>
              </a:tblPr>
              <a:tblGrid>
                <a:gridCol w="1080000"/>
                <a:gridCol w="3384000"/>
                <a:gridCol w="1872000"/>
                <a:gridCol w="1584000"/>
                <a:gridCol w="1872000"/>
                <a:gridCol w="1440000"/>
              </a:tblGrid>
              <a:tr h="331937">
                <a:tc>
                  <a:txBody>
                    <a:bodyPr/>
                    <a:lstStyle/>
                    <a:p>
                      <a:pPr marL="0" indent="0" lvl="0">
                        <a:buNone/>
                      </a:pPr>
                      <a:r>
                        <a:rPr sz="900" b="1">
                          <a:solidFill>
                            <a:srgbClr val="FFFFFF"/>
                          </a:solidFill>
                          <a:latin typeface="Helvetica"/>
                        </a:rPr>
                        <a:t>Clôture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Grand livre lu</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Factures du journal SIN</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Part dont l'année est lisible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Factures de l'année de clôture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Part en retard</a:t>
                      </a:r>
                    </a:p>
                  </a:txBody>
                  <a:tcPr marL="43200" marR="43200" marT="14400" marB="14400" anchor="ctr">
                    <a:solidFill>
                      <a:srgbClr val="060606"/>
                    </a:solidFill>
                  </a:tcPr>
                </a:tc>
              </a:tr>
              <a:tr h="194768">
                <a:tc>
                  <a:txBody>
                    <a:bodyPr/>
                    <a:lstStyle/>
                    <a:p>
                      <a:pPr marL="0" indent="0" lvl="0">
                        <a:buNone/>
                      </a:pPr>
                      <a:r>
                        <a:rPr sz="900" b="1">
                          <a:solidFill>
                            <a:srgbClr val="060606"/>
                          </a:solidFill>
                          <a:latin typeface="Helvetica"/>
                        </a:rPr>
                        <a:t>31/12/2022</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GRAND LIVRE DES TIERS FPPN 2023.xlsx</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309 338 647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81,29 %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2 748 440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0,89 %</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31/12/2023</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GRAND LIVRE DES TIERS 2024.xlsx</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609 600 324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86,95 %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1 308 550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0,21 %</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31/12/2024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GRAND LIVRES DES TIERS 2025.xlsx</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844 124 742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15,57 %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1 215 600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0,14 %</a:t>
                      </a:r>
                    </a:p>
                  </a:txBody>
                  <a:tcPr marL="43200" marR="43200" marT="14400" marB="14400" anchor="ctr">
                    <a:solidFill>
                      <a:srgbClr val="FFFFFF"/>
                    </a:solidFill>
                  </a:tcPr>
                </a:tc>
              </a:tr>
            </a:tbl>
          </a:graphicData>
        </a:graphic>
      </p:graphicFrame>
      <p:sp>
        <p:nvSpPr>
          <p:cNvPr id="33" name="TextBox 32"/>
          <p:cNvSpPr txBox="1"/>
          <p:nvPr/>
        </p:nvSpPr>
        <p:spPr>
          <a:xfrm>
            <a:off x="503999" y="2680243"/>
            <a:ext cx="11232000" cy="162000"/>
          </a:xfrm>
          <a:prstGeom prst="rect">
            <a:avLst/>
          </a:prstGeom>
          <a:noFill/>
        </p:spPr>
        <p:txBody>
          <a:bodyPr wrap="square" anchor="t" lIns="54000" rIns="54000"/>
          <a:lstStyle/>
          <a:p>
            <a:pPr algn="l"/>
            <a:r>
              <a:rPr sz="850" b="0">
                <a:solidFill>
                  <a:srgbClr val="53565A"/>
                </a:solidFill>
                <a:latin typeface="Helvetica"/>
              </a:rPr>
              <a:t>Valable pour : factures de cliniques enregistrées au journal SIN en 2023, 2024 et 2025, dont l'année figure dans le numéro. Ne couvre pas les factures sans année lisible.</a:t>
            </a:r>
          </a:p>
        </p:txBody>
      </p:sp>
      <p:sp>
        <p:nvSpPr>
          <p:cNvPr id="34" name="TextBox 33"/>
          <p:cNvSpPr txBox="1"/>
          <p:nvPr/>
        </p:nvSpPr>
        <p:spPr>
          <a:xfrm>
            <a:off x="503999" y="2986243"/>
            <a:ext cx="11232000" cy="2881756"/>
          </a:xfrm>
          <a:prstGeom prst="rect">
            <a:avLst/>
          </a:prstGeom>
          <a:noFill/>
        </p:spPr>
        <p:txBody>
          <a:bodyPr wrap="square" lIns="54000" rIns="54000"/>
          <a:lstStyle/>
          <a:p>
            <a:pPr algn="just">
              <a:spcAft>
                <a:spcPts val="600"/>
              </a:spcAft>
            </a:pPr>
            <a:r>
              <a:rPr sz="1300" b="1">
                <a:solidFill>
                  <a:srgbClr val="060606"/>
                </a:solidFill>
                <a:latin typeface="Helvetica"/>
              </a:rPr>
              <a:t>Les factures en retard représentent de 1 215 600 FCFA à 2 748 440 FCFA selon la clôture.</a:t>
            </a:r>
            <a:r>
              <a:rPr sz="1300" b="0">
                <a:solidFill>
                  <a:srgbClr val="060606"/>
                </a:solidFill>
                <a:latin typeface="Helvetica"/>
              </a:rPr>
              <a:t> Le FPPN enregistre l'essentiel des factures de l'année avant le 31 décembre.</a:t>
            </a:r>
          </a:p>
          <a:p>
            <a:pPr algn="just">
              <a:spcAft>
                <a:spcPts val="600"/>
              </a:spcAft>
            </a:pPr>
            <a:r>
              <a:rPr sz="1300" b="1">
                <a:solidFill>
                  <a:srgbClr val="060606"/>
                </a:solidFill>
                <a:latin typeface="Helvetica"/>
              </a:rPr>
              <a:t>Dans le grand livre 2025, l'année n'est lisible que pour 15,57 % des factures</a:t>
            </a:r>
            <a:r>
              <a:rPr sz="1300" b="0">
                <a:solidFill>
                  <a:srgbClr val="060606"/>
                </a:solidFill>
                <a:latin typeface="Helvetica"/>
              </a:rPr>
              <a:t> : la clôture 2024 est donc mesurée avec moins de précision.</a:t>
            </a:r>
          </a:p>
          <a:p>
            <a:pPr algn="just">
              <a:spcAft>
                <a:spcPts val="600"/>
              </a:spcAft>
            </a:pPr>
            <a:r>
              <a:rPr sz="1300" b="0">
                <a:solidFill>
                  <a:srgbClr val="060606"/>
                </a:solidFill>
                <a:latin typeface="Helvetica"/>
              </a:rPr>
              <a:t>La cadence de première année est faible : la provision pour sinistres tardifs en maladie est de l'ordre de quelques millions de FCFA, non de quelques milliards.</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CIMA : Conférence interafricaine des marchés d'assurances</a:t>
            </a:r>
          </a:p>
        </p:txBody>
      </p:sp>
    </p:spTree>
    <p:extLst>
      <p:ext uri="{BB962C8B-B14F-4D97-AF65-F5344CB8AC3E}">
        <p14:creationId xmlns:p14="http://schemas.microsoft.com/office/powerpoint/2010/main" val="2448158941"/>
      </p:ext>
    </p:extLst>
  </p:cSld>
  <p:clrMapOvr>
    <a:masterClrMapping/>
  </p:clrMapOvr>
  <p:transition>
    <p:fade/>
  </p:transition>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Provision maladie : montant nécessaire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besoin estimé est de quelques millions de FCFA. La provision du bilan vaut 2 867 602 878 FCFA</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Au 31/12/2024 : besoin estimé 12 481 392 FCFA, soit 230 fois moins que la provision</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statuts du FPPN édités le 15/06/2023, art. 85 et 89. Règlement d'exécution n° 004/2022/COM/UEMOA du 1er juin 2022, art. 10. Grands livres des tiers 2023 à 2025 (« GRAND LIVRE DES TIERS FPPN 2023.xlsx » et suivants). Balances des comptes du FPPN de 2020 au 31/08/2026 (provisoire), fichiers « BALANCE … » listés en annexe « Fichiers sources ». Traitements Adenka. Onglet 18c du classeur des calculs</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46 : Provision maladie nécessaire et provision du bilan</a:t>
            </a:r>
          </a:p>
        </p:txBody>
      </p:sp>
      <p:graphicFrame>
        <p:nvGraphicFramePr>
          <p:cNvPr id="32" name="Table 31"/>
          <p:cNvGraphicFramePr>
            <a:graphicFrameLocks noGrp="1"/>
          </p:cNvGraphicFramePr>
          <p:nvPr/>
        </p:nvGraphicFramePr>
        <p:xfrm>
          <a:off x="503999" y="1655999"/>
          <a:ext cx="11231998" cy="916241"/>
        </p:xfrm>
        <a:graphic>
          <a:graphicData uri="http://schemas.openxmlformats.org/drawingml/2006/table">
            <a:tbl>
              <a:tblPr firstRow="0" bandRow="0">
                <a:tableStyleId>{5940675A-B579-460E-94D1-54222C63F5DA}</a:tableStyleId>
              </a:tblPr>
              <a:tblGrid>
                <a:gridCol w="1080000"/>
                <a:gridCol w="2015999"/>
                <a:gridCol w="1872000"/>
                <a:gridCol w="2160000"/>
                <a:gridCol w="2015999"/>
                <a:gridCol w="2088000"/>
              </a:tblGrid>
              <a:tr h="331937">
                <a:tc>
                  <a:txBody>
                    <a:bodyPr/>
                    <a:lstStyle/>
                    <a:p>
                      <a:pPr marL="0" indent="0" lvl="0">
                        <a:buNone/>
                      </a:pPr>
                      <a:r>
                        <a:rPr sz="900" b="1">
                          <a:solidFill>
                            <a:srgbClr val="FFFFFF"/>
                          </a:solidFill>
                          <a:latin typeface="Helvetica"/>
                        </a:rPr>
                        <a:t>Clôture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Factures reçues non payées (au passif)</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Factures en retard mesurées</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Provision nécessaire (estimation élargie)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Provision du bilan</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Écart</a:t>
                      </a:r>
                    </a:p>
                  </a:txBody>
                  <a:tcPr marL="43200" marR="43200" marT="14400" marB="14400" anchor="ctr">
                    <a:solidFill>
                      <a:srgbClr val="060606"/>
                    </a:solidFill>
                  </a:tcPr>
                </a:tc>
              </a:tr>
              <a:tr h="194768">
                <a:tc>
                  <a:txBody>
                    <a:bodyPr/>
                    <a:lstStyle/>
                    <a:p>
                      <a:pPr marL="0" indent="0" lvl="0">
                        <a:buNone/>
                      </a:pPr>
                      <a:r>
                        <a:rPr sz="900" b="1">
                          <a:solidFill>
                            <a:srgbClr val="060606"/>
                          </a:solidFill>
                          <a:latin typeface="Helvetica"/>
                        </a:rPr>
                        <a:t>31/12/2022</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533 144 348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2 748 440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5 644 139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2 867 602 878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2 861 958 739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31/12/2023</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271 270 756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1 308 550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2 599 652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2 867 602 878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2 865 003 226 FCFA</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31/12/2024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236 353 873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1 215 600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12 481 392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2 867 602 878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2 855 121 486 FCFA</a:t>
                      </a:r>
                    </a:p>
                  </a:txBody>
                  <a:tcPr marL="43200" marR="43200" marT="14400" marB="14400" anchor="ctr">
                    <a:solidFill>
                      <a:srgbClr val="FFFFFF"/>
                    </a:solidFill>
                  </a:tcPr>
                </a:tc>
              </a:tr>
            </a:tbl>
          </a:graphicData>
        </a:graphic>
      </p:graphicFrame>
      <p:sp>
        <p:nvSpPr>
          <p:cNvPr id="33" name="TextBox 32"/>
          <p:cNvSpPr txBox="1"/>
          <p:nvPr/>
        </p:nvSpPr>
        <p:spPr>
          <a:xfrm>
            <a:off x="503999" y="2680243"/>
            <a:ext cx="11232000" cy="162000"/>
          </a:xfrm>
          <a:prstGeom prst="rect">
            <a:avLst/>
          </a:prstGeom>
          <a:noFill/>
        </p:spPr>
        <p:txBody>
          <a:bodyPr wrap="square" anchor="t" lIns="54000" rIns="54000"/>
          <a:lstStyle/>
          <a:p>
            <a:pPr algn="l"/>
            <a:r>
              <a:rPr sz="850" b="0">
                <a:solidFill>
                  <a:srgbClr val="53565A"/>
                </a:solidFill>
                <a:latin typeface="Helvetica"/>
              </a:rPr>
              <a:t>Valable pour : clôtures 2022, 2023 et 2024. Prestations maladie des balances. Factures de cliniques du journal SIN.</a:t>
            </a:r>
          </a:p>
        </p:txBody>
      </p:sp>
      <p:sp>
        <p:nvSpPr>
          <p:cNvPr id="34" name="TextBox 33"/>
          <p:cNvSpPr txBox="1"/>
          <p:nvPr/>
        </p:nvSpPr>
        <p:spPr>
          <a:xfrm>
            <a:off x="503999" y="2986243"/>
            <a:ext cx="11232000" cy="2881756"/>
          </a:xfrm>
          <a:prstGeom prst="rect">
            <a:avLst/>
          </a:prstGeom>
          <a:noFill/>
        </p:spPr>
        <p:txBody>
          <a:bodyPr wrap="square" lIns="54000" rIns="54000"/>
          <a:lstStyle/>
          <a:p>
            <a:pPr algn="just">
              <a:spcAft>
                <a:spcPts val="600"/>
              </a:spcAft>
            </a:pPr>
            <a:r>
              <a:rPr sz="1300" b="1">
                <a:solidFill>
                  <a:srgbClr val="060606"/>
                </a:solidFill>
                <a:latin typeface="Helvetica"/>
              </a:rPr>
              <a:t>La provision maladie du bilan ne correspond à aucun calcul et vaut de 230 à 1 103 fois le besoin mesuré.</a:t>
            </a:r>
            <a:r>
              <a:rPr sz="1300" b="0">
                <a:solidFill>
                  <a:srgbClr val="060606"/>
                </a:solidFill>
                <a:latin typeface="Helvetica"/>
              </a:rPr>
              <a:t> Son montant est identique de 2020 au 31/08/2026, alors que les prestations maladie ont été multipliées par 8,6 de 2020 à 2025.</a:t>
            </a:r>
          </a:p>
          <a:p>
            <a:pPr algn="just">
              <a:spcAft>
                <a:spcPts val="600"/>
              </a:spcAft>
            </a:pPr>
            <a:r>
              <a:rPr sz="1300" b="1">
                <a:solidFill>
                  <a:srgbClr val="060606"/>
                </a:solidFill>
                <a:latin typeface="Helvetica"/>
              </a:rPr>
              <a:t>Le besoin n'est pas nul</a:t>
            </a:r>
            <a:r>
              <a:rPr sz="1300" b="0">
                <a:solidFill>
                  <a:srgbClr val="060606"/>
                </a:solidFill>
                <a:latin typeface="Helvetica"/>
              </a:rPr>
              <a:t> : l'article 89 des statuts et l'article 10 du règlement d'exécution n° 004/2022 imposent de l'estimer chaque année.</a:t>
            </a:r>
          </a:p>
          <a:p>
            <a:pPr algn="just">
              <a:spcAft>
                <a:spcPts val="600"/>
              </a:spcAft>
            </a:pPr>
            <a:r>
              <a:rPr sz="1300" b="0">
                <a:solidFill>
                  <a:srgbClr val="060606"/>
                </a:solidFill>
                <a:latin typeface="Helvetica"/>
              </a:rPr>
              <a:t>L'excédent est en réalité une réserve. Son reclassement relève d'une décision de l'Assemblée générale (statuts, art. 85) et du dialogue avec l'AIRMS. Il ne peut se faire qu'avec une base des prestations portant les dates des soins, du dépôt et du paiement (PBC, item 47).</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AIRMS : Agence ivoirienne de régulation de la mutualité sociale | UEMOA : Union économique et monétaire ouest-africaine | PBC : liste des documents demandés au client</a:t>
            </a:r>
          </a:p>
        </p:txBody>
      </p:sp>
    </p:spTree>
    <p:extLst>
      <p:ext uri="{BB962C8B-B14F-4D97-AF65-F5344CB8AC3E}">
        <p14:creationId xmlns:p14="http://schemas.microsoft.com/office/powerpoint/2010/main" val="3932237302"/>
      </p:ext>
    </p:extLst>
  </p:cSld>
  <p:clrMapOvr>
    <a:masterClrMapping/>
  </p:clrMapOvr>
  <p:transition>
    <p:fade/>
  </p:transition>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Allocations décès : méthode du FPPN</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dossiers non payés sont valorisés au barème et passés en dette au compte 41591000</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Les états de fin d'année reçus le 22/10/2026 confirment le circuit décrit en entretien et en donnent le compte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entretien du 19/10/2026 (16h) avec M. Koffi, chef comptable</a:t>
            </a:r>
          </a:p>
        </p:txBody>
      </p:sp>
      <p:sp>
        <p:nvSpPr>
          <p:cNvPr id="31" name="Logigramme d1"/>
          <p:cNvSpPr/>
          <p:nvPr/>
        </p:nvSpPr>
        <p:spPr>
          <a:xfrm>
            <a:off x="576000" y="1655999"/>
            <a:ext cx="1296000" cy="576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FFFFFF"/>
                </a:solidFill>
                <a:latin typeface="Helvetica"/>
              </a:rPr>
              <a:t>Liste des décès</a:t>
            </a:r>
          </a:p>
          <a:p>
            <a:pPr algn="ctr"/>
            <a:r>
              <a:rPr sz="900" b="1">
                <a:solidFill>
                  <a:srgbClr val="FFFFFF"/>
                </a:solidFill>
                <a:latin typeface="Helvetica"/>
              </a:rPr>
              <a:t>(direction du personnel)</a:t>
            </a:r>
          </a:p>
        </p:txBody>
      </p:sp>
      <p:sp>
        <p:nvSpPr>
          <p:cNvPr id="32" name="Logigramme d2"/>
          <p:cNvSpPr/>
          <p:nvPr/>
        </p:nvSpPr>
        <p:spPr>
          <a:xfrm>
            <a:off x="2178000" y="1655999"/>
            <a:ext cx="1296000" cy="576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060606"/>
                </a:solidFill>
                <a:latin typeface="Helvetica"/>
              </a:rPr>
              <a:t>Informaticien :</a:t>
            </a:r>
          </a:p>
          <a:p>
            <a:pPr algn="ctr"/>
            <a:r>
              <a:rPr sz="900" b="0">
                <a:solidFill>
                  <a:srgbClr val="060606"/>
                </a:solidFill>
                <a:latin typeface="Helvetica"/>
              </a:rPr>
              <a:t>arrêt du précompte</a:t>
            </a:r>
          </a:p>
        </p:txBody>
      </p:sp>
      <p:sp>
        <p:nvSpPr>
          <p:cNvPr id="33" name="Logigramme d3"/>
          <p:cNvSpPr/>
          <p:nvPr/>
        </p:nvSpPr>
        <p:spPr>
          <a:xfrm>
            <a:off x="3780000" y="1655999"/>
            <a:ext cx="1296000" cy="576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060606"/>
                </a:solidFill>
                <a:latin typeface="Helvetica"/>
              </a:rPr>
              <a:t>Liste annuelle</a:t>
            </a:r>
          </a:p>
          <a:p>
            <a:pPr algn="ctr"/>
            <a:r>
              <a:rPr sz="900" b="0">
                <a:solidFill>
                  <a:srgbClr val="060606"/>
                </a:solidFill>
                <a:latin typeface="Helvetica"/>
              </a:rPr>
              <a:t>au chef comptable</a:t>
            </a:r>
          </a:p>
        </p:txBody>
      </p:sp>
      <p:sp>
        <p:nvSpPr>
          <p:cNvPr id="34" name="Logigramme d4"/>
          <p:cNvSpPr/>
          <p:nvPr/>
        </p:nvSpPr>
        <p:spPr>
          <a:xfrm>
            <a:off x="5382000" y="1655999"/>
            <a:ext cx="1296000" cy="576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060606"/>
                </a:solidFill>
                <a:latin typeface="Helvetica"/>
              </a:rPr>
              <a:t>Pointage avec les</a:t>
            </a:r>
          </a:p>
          <a:p>
            <a:pPr algn="ctr"/>
            <a:r>
              <a:rPr sz="900" b="0">
                <a:solidFill>
                  <a:srgbClr val="060606"/>
                </a:solidFill>
                <a:latin typeface="Helvetica"/>
              </a:rPr>
              <a:t>allocations payées</a:t>
            </a:r>
          </a:p>
        </p:txBody>
      </p:sp>
      <p:sp>
        <p:nvSpPr>
          <p:cNvPr id="35" name="Logigramme d5"/>
          <p:cNvSpPr/>
          <p:nvPr/>
        </p:nvSpPr>
        <p:spPr>
          <a:xfrm>
            <a:off x="6984000" y="1601999"/>
            <a:ext cx="1296000" cy="684000"/>
          </a:xfrm>
          <a:prstGeom prst="flowChartDecision">
            <a:avLst/>
          </a:prstGeom>
          <a:solidFill>
            <a:srgbClr val="EFAC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Allocation</a:t>
            </a:r>
          </a:p>
          <a:p>
            <a:pPr algn="ctr"/>
            <a:r>
              <a:rPr sz="850" b="0">
                <a:solidFill>
                  <a:srgbClr val="060606"/>
                </a:solidFill>
                <a:latin typeface="Helvetica"/>
              </a:rPr>
              <a:t>payée ?</a:t>
            </a:r>
          </a:p>
        </p:txBody>
      </p:sp>
      <p:sp>
        <p:nvSpPr>
          <p:cNvPr id="36" name="Logigramme d6"/>
          <p:cNvSpPr/>
          <p:nvPr/>
        </p:nvSpPr>
        <p:spPr>
          <a:xfrm>
            <a:off x="8586000" y="1655999"/>
            <a:ext cx="1296000" cy="576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FFFFFF"/>
                </a:solidFill>
                <a:latin typeface="Helvetica"/>
              </a:rPr>
              <a:t>Charge de</a:t>
            </a:r>
          </a:p>
          <a:p>
            <a:pPr algn="ctr"/>
            <a:r>
              <a:rPr sz="900" b="1">
                <a:solidFill>
                  <a:srgbClr val="FFFFFF"/>
                </a:solidFill>
                <a:latin typeface="Helvetica"/>
              </a:rPr>
              <a:t>l'exercice</a:t>
            </a:r>
          </a:p>
        </p:txBody>
      </p:sp>
      <p:sp>
        <p:nvSpPr>
          <p:cNvPr id="37" name="Logigramme d7"/>
          <p:cNvSpPr/>
          <p:nvPr/>
        </p:nvSpPr>
        <p:spPr>
          <a:xfrm>
            <a:off x="6984000" y="2951999"/>
            <a:ext cx="1296000" cy="576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060606"/>
                </a:solidFill>
                <a:latin typeface="Helvetica"/>
              </a:rPr>
              <a:t>Barème : 1 400 000 / 1 600 000 /</a:t>
            </a:r>
          </a:p>
          <a:p>
            <a:pPr algn="ctr"/>
            <a:r>
              <a:rPr sz="900" b="0">
                <a:solidFill>
                  <a:srgbClr val="060606"/>
                </a:solidFill>
                <a:latin typeface="Helvetica"/>
              </a:rPr>
              <a:t>2 200 000 FCFA. Conjoint, enfant.</a:t>
            </a:r>
          </a:p>
          <a:p>
            <a:pPr algn="ctr"/>
            <a:r>
              <a:rPr sz="900" b="0">
                <a:solidFill>
                  <a:srgbClr val="060606"/>
                </a:solidFill>
                <a:latin typeface="Helvetica"/>
              </a:rPr>
              <a:t>Suicide valorisé à 0</a:t>
            </a:r>
          </a:p>
        </p:txBody>
      </p:sp>
      <p:sp>
        <p:nvSpPr>
          <p:cNvPr id="38" name="Logigramme d8"/>
          <p:cNvSpPr/>
          <p:nvPr/>
        </p:nvSpPr>
        <p:spPr>
          <a:xfrm>
            <a:off x="8586000" y="2951999"/>
            <a:ext cx="1296000" cy="576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FFFFFF"/>
                </a:solidFill>
                <a:latin typeface="Helvetica"/>
              </a:rPr>
              <a:t>Dette envers les</a:t>
            </a:r>
          </a:p>
          <a:p>
            <a:pPr algn="ctr"/>
            <a:r>
              <a:rPr sz="900" b="1">
                <a:solidFill>
                  <a:srgbClr val="FFFFFF"/>
                </a:solidFill>
                <a:latin typeface="Helvetica"/>
              </a:rPr>
              <a:t>bénéficiaires (41591000)</a:t>
            </a:r>
          </a:p>
        </p:txBody>
      </p:sp>
      <p:sp>
        <p:nvSpPr>
          <p:cNvPr id="39" name="Logigramme d9"/>
          <p:cNvSpPr/>
          <p:nvPr/>
        </p:nvSpPr>
        <p:spPr>
          <a:xfrm>
            <a:off x="576000" y="2951999"/>
            <a:ext cx="1296000" cy="576000"/>
          </a:xfrm>
          <a:prstGeom prst="flowChartProcess">
            <a:avLst/>
          </a:prstGeom>
          <a:solidFill>
            <a:srgbClr val="FFFFFF"/>
          </a:solidFill>
          <a:ln w="285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C00000"/>
                </a:solidFill>
                <a:latin typeface="Helvetica"/>
              </a:rPr>
              <a:t>Décès non encore</a:t>
            </a:r>
          </a:p>
          <a:p>
            <a:pPr algn="ctr"/>
            <a:r>
              <a:rPr sz="900" b="1">
                <a:solidFill>
                  <a:srgbClr val="C00000"/>
                </a:solidFill>
                <a:latin typeface="Helvetica"/>
              </a:rPr>
              <a:t>déclarés au 31/12</a:t>
            </a:r>
          </a:p>
          <a:p>
            <a:pPr algn="ctr"/>
            <a:r>
              <a:rPr sz="900" b="1">
                <a:solidFill>
                  <a:srgbClr val="C00000"/>
                </a:solidFill>
                <a:latin typeface="Helvetica"/>
              </a:rPr>
              <a:t>(tardifs)</a:t>
            </a:r>
          </a:p>
        </p:txBody>
      </p:sp>
      <p:sp>
        <p:nvSpPr>
          <p:cNvPr id="40" name="Logigramme d10"/>
          <p:cNvSpPr/>
          <p:nvPr/>
        </p:nvSpPr>
        <p:spPr>
          <a:xfrm>
            <a:off x="2178000" y="2951999"/>
            <a:ext cx="1296000" cy="576000"/>
          </a:xfrm>
          <a:prstGeom prst="flowChartProcess">
            <a:avLst/>
          </a:prstGeom>
          <a:solidFill>
            <a:srgbClr val="FFFFFF"/>
          </a:solidFill>
          <a:ln w="285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C00000"/>
                </a:solidFill>
                <a:latin typeface="Helvetica"/>
              </a:rPr>
              <a:t>Forclusion (RI, art. 58)</a:t>
            </a:r>
          </a:p>
          <a:p>
            <a:pPr algn="ctr"/>
            <a:r>
              <a:rPr sz="900" b="1">
                <a:solidFill>
                  <a:srgbClr val="C00000"/>
                </a:solidFill>
                <a:latin typeface="Helvetica"/>
              </a:rPr>
              <a:t>non vérifiable : date</a:t>
            </a:r>
          </a:p>
          <a:p>
            <a:pPr algn="ctr"/>
            <a:r>
              <a:rPr sz="900" b="1">
                <a:solidFill>
                  <a:srgbClr val="C00000"/>
                </a:solidFill>
                <a:latin typeface="Helvetica"/>
              </a:rPr>
              <a:t>de dépôt non saisie</a:t>
            </a:r>
          </a:p>
        </p:txBody>
      </p:sp>
      <p:sp>
        <p:nvSpPr>
          <p:cNvPr id="41" name="Logigramme d11"/>
          <p:cNvSpPr/>
          <p:nvPr/>
        </p:nvSpPr>
        <p:spPr>
          <a:xfrm>
            <a:off x="3780000" y="2951999"/>
            <a:ext cx="1296000" cy="576000"/>
          </a:xfrm>
          <a:prstGeom prst="flowChartProcess">
            <a:avLst/>
          </a:prstGeom>
          <a:solidFill>
            <a:srgbClr val="FFFFFF"/>
          </a:solidFill>
          <a:ln w="285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C00000"/>
                </a:solidFill>
                <a:latin typeface="Helvetica"/>
              </a:rPr>
              <a:t>2024 : 102 allocations</a:t>
            </a:r>
          </a:p>
          <a:p>
            <a:pPr algn="ctr"/>
            <a:r>
              <a:rPr sz="900" b="1">
                <a:solidFill>
                  <a:srgbClr val="C00000"/>
                </a:solidFill>
                <a:latin typeface="Helvetica"/>
              </a:rPr>
              <a:t>payées par les comptes</a:t>
            </a:r>
          </a:p>
          <a:p>
            <a:pPr algn="ctr"/>
            <a:r>
              <a:rPr sz="900" b="1">
                <a:solidFill>
                  <a:srgbClr val="C00000"/>
                </a:solidFill>
                <a:latin typeface="Helvetica"/>
              </a:rPr>
              <a:t>bancaires de l'épargne</a:t>
            </a:r>
          </a:p>
        </p:txBody>
      </p:sp>
      <p:sp>
        <p:nvSpPr>
          <p:cNvPr id="42" name="Logigramme d12"/>
          <p:cNvSpPr/>
          <p:nvPr/>
        </p:nvSpPr>
        <p:spPr>
          <a:xfrm>
            <a:off x="5382000" y="2951999"/>
            <a:ext cx="1296000" cy="576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FFFFFF"/>
                </a:solidFill>
                <a:latin typeface="Helvetica"/>
              </a:rPr>
              <a:t>Frais funéraires :</a:t>
            </a:r>
          </a:p>
          <a:p>
            <a:pPr algn="ctr"/>
            <a:r>
              <a:rPr sz="900" b="1">
                <a:solidFill>
                  <a:srgbClr val="FFFFFF"/>
                </a:solidFill>
                <a:latin typeface="Helvetica"/>
              </a:rPr>
              <a:t>dette au 41592000</a:t>
            </a:r>
          </a:p>
        </p:txBody>
      </p:sp>
      <p:sp>
        <p:nvSpPr>
          <p:cNvPr id="43" name="Logigramme d13"/>
          <p:cNvSpPr/>
          <p:nvPr/>
        </p:nvSpPr>
        <p:spPr>
          <a:xfrm>
            <a:off x="10188000" y="2951999"/>
            <a:ext cx="1296000" cy="576000"/>
          </a:xfrm>
          <a:prstGeom prst="flowChartProcess">
            <a:avLst/>
          </a:prstGeom>
          <a:solidFill>
            <a:srgbClr val="FFFFFF"/>
          </a:solidFill>
          <a:ln w="285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C00000"/>
                </a:solidFill>
                <a:latin typeface="Helvetica"/>
              </a:rPr>
              <a:t>Provision obsèques</a:t>
            </a:r>
          </a:p>
          <a:p>
            <a:pPr algn="ctr"/>
            <a:r>
              <a:rPr sz="900" b="1">
                <a:solidFill>
                  <a:srgbClr val="C00000"/>
                </a:solidFill>
                <a:latin typeface="Helvetica"/>
              </a:rPr>
              <a:t>15802000 inchangée :</a:t>
            </a:r>
          </a:p>
          <a:p>
            <a:pPr algn="ctr"/>
            <a:r>
              <a:rPr sz="900" b="1">
                <a:solidFill>
                  <a:srgbClr val="C00000"/>
                </a:solidFill>
                <a:latin typeface="Helvetica"/>
              </a:rPr>
              <a:t>double emploi</a:t>
            </a:r>
          </a:p>
        </p:txBody>
      </p:sp>
      <p:cxnSp>
        <p:nvCxnSpPr>
          <p:cNvPr id="44" name="Flèche d8 vers d13"/>
          <p:cNvCxnSpPr>
            <a:stCxn id="38" idx="3"/>
            <a:endCxn id="43" idx="1"/>
          </p:cNvCxnSpPr>
          <p:nvPr/>
        </p:nvCxnSpPr>
        <p:spPr>
          <a:xfrm flipV="1">
            <a:off x="9882000" y="3239999"/>
            <a:ext cx="306000" cy="0"/>
          </a:xfrm>
          <a:prstGeom prst="line">
            <a:avLst/>
          </a:prstGeom>
          <a:ln w="22225">
            <a:solidFill>
              <a:srgbClr val="53565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9925200" y="3059998"/>
            <a:ext cx="864000" cy="162000"/>
          </a:xfrm>
          <a:prstGeom prst="rect">
            <a:avLst/>
          </a:prstGeom>
          <a:noFill/>
        </p:spPr>
        <p:txBody>
          <a:bodyPr wrap="square" anchor="t" lIns="28800" rIns="28800" tIns="10800" bIns="10800">
            <a:spAutoFit/>
          </a:bodyPr>
          <a:lstStyle/>
          <a:p>
            <a:pPr algn="l"/>
            <a:r>
              <a:rPr sz="750" b="1">
                <a:solidFill>
                  <a:srgbClr val="53565A"/>
                </a:solidFill>
                <a:latin typeface="Helvetica"/>
              </a:rPr>
              <a:t>en plus</a:t>
            </a:r>
          </a:p>
        </p:txBody>
      </p:sp>
      <p:cxnSp>
        <p:nvCxnSpPr>
          <p:cNvPr id="46" name="Flèche d1 vers d2"/>
          <p:cNvCxnSpPr>
            <a:stCxn id="31" idx="3"/>
            <a:endCxn id="32" idx="1"/>
          </p:cNvCxnSpPr>
          <p:nvPr/>
        </p:nvCxnSpPr>
        <p:spPr>
          <a:xfrm flipV="1">
            <a:off x="1872000" y="1943999"/>
            <a:ext cx="306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Flèche d2 vers d3"/>
          <p:cNvCxnSpPr>
            <a:stCxn id="32" idx="3"/>
            <a:endCxn id="33" idx="1"/>
          </p:cNvCxnSpPr>
          <p:nvPr/>
        </p:nvCxnSpPr>
        <p:spPr>
          <a:xfrm flipV="1">
            <a:off x="3474000" y="1943999"/>
            <a:ext cx="306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Flèche d3 vers d4"/>
          <p:cNvCxnSpPr>
            <a:stCxn id="33" idx="3"/>
            <a:endCxn id="34" idx="1"/>
          </p:cNvCxnSpPr>
          <p:nvPr/>
        </p:nvCxnSpPr>
        <p:spPr>
          <a:xfrm flipV="1">
            <a:off x="5076000" y="1943999"/>
            <a:ext cx="306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Flèche d4 vers d5"/>
          <p:cNvCxnSpPr>
            <a:stCxn id="34" idx="3"/>
            <a:endCxn id="35" idx="1"/>
          </p:cNvCxnSpPr>
          <p:nvPr/>
        </p:nvCxnSpPr>
        <p:spPr>
          <a:xfrm flipV="1">
            <a:off x="6678000" y="1943999"/>
            <a:ext cx="306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Flèche d5 vers d6"/>
          <p:cNvCxnSpPr>
            <a:stCxn id="35" idx="3"/>
            <a:endCxn id="36" idx="1"/>
          </p:cNvCxnSpPr>
          <p:nvPr/>
        </p:nvCxnSpPr>
        <p:spPr>
          <a:xfrm flipV="1">
            <a:off x="8280000" y="1943999"/>
            <a:ext cx="306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8323200" y="1763998"/>
            <a:ext cx="864000" cy="162000"/>
          </a:xfrm>
          <a:prstGeom prst="rect">
            <a:avLst/>
          </a:prstGeom>
          <a:noFill/>
        </p:spPr>
        <p:txBody>
          <a:bodyPr wrap="square" anchor="t" lIns="28800" rIns="28800" tIns="10800" bIns="10800">
            <a:spAutoFit/>
          </a:bodyPr>
          <a:lstStyle/>
          <a:p>
            <a:pPr algn="l"/>
            <a:r>
              <a:rPr sz="750" b="1">
                <a:solidFill>
                  <a:srgbClr val="53565A"/>
                </a:solidFill>
                <a:latin typeface="Helvetica"/>
              </a:rPr>
              <a:t>oui</a:t>
            </a:r>
          </a:p>
        </p:txBody>
      </p:sp>
      <p:cxnSp>
        <p:nvCxnSpPr>
          <p:cNvPr id="52" name="Flèche d5 vers d7"/>
          <p:cNvCxnSpPr>
            <a:stCxn id="35" idx="2"/>
            <a:endCxn id="37" idx="0"/>
          </p:cNvCxnSpPr>
          <p:nvPr/>
        </p:nvCxnSpPr>
        <p:spPr>
          <a:xfrm flipH="1">
            <a:off x="7632000" y="2285999"/>
            <a:ext cx="0" cy="6660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7685999" y="2303999"/>
            <a:ext cx="864000" cy="162000"/>
          </a:xfrm>
          <a:prstGeom prst="rect">
            <a:avLst/>
          </a:prstGeom>
          <a:noFill/>
        </p:spPr>
        <p:txBody>
          <a:bodyPr wrap="square" anchor="t" lIns="28800" rIns="28800" tIns="10800" bIns="10800">
            <a:spAutoFit/>
          </a:bodyPr>
          <a:lstStyle/>
          <a:p>
            <a:pPr algn="l"/>
            <a:r>
              <a:rPr sz="750" b="1">
                <a:solidFill>
                  <a:srgbClr val="53565A"/>
                </a:solidFill>
                <a:latin typeface="Helvetica"/>
              </a:rPr>
              <a:t>non</a:t>
            </a:r>
          </a:p>
        </p:txBody>
      </p:sp>
      <p:cxnSp>
        <p:nvCxnSpPr>
          <p:cNvPr id="54" name="Flèche d7 vers d8"/>
          <p:cNvCxnSpPr>
            <a:stCxn id="37" idx="3"/>
            <a:endCxn id="38" idx="1"/>
          </p:cNvCxnSpPr>
          <p:nvPr/>
        </p:nvCxnSpPr>
        <p:spPr>
          <a:xfrm flipV="1">
            <a:off x="8280000" y="3239999"/>
            <a:ext cx="306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5" name="Flèche d1 vers d9"/>
          <p:cNvCxnSpPr>
            <a:stCxn id="31" idx="2"/>
            <a:endCxn id="39" idx="0"/>
          </p:cNvCxnSpPr>
          <p:nvPr/>
        </p:nvCxnSpPr>
        <p:spPr>
          <a:xfrm flipH="1">
            <a:off x="1224000" y="2231999"/>
            <a:ext cx="0" cy="720000"/>
          </a:xfrm>
          <a:prstGeom prst="line">
            <a:avLst/>
          </a:prstGeom>
          <a:ln w="22225">
            <a:solidFill>
              <a:srgbClr val="53565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1278000" y="2249999"/>
            <a:ext cx="864000" cy="162000"/>
          </a:xfrm>
          <a:prstGeom prst="rect">
            <a:avLst/>
          </a:prstGeom>
          <a:noFill/>
        </p:spPr>
        <p:txBody>
          <a:bodyPr wrap="square" anchor="t" lIns="28800" rIns="28800" tIns="10800" bIns="10800">
            <a:spAutoFit/>
          </a:bodyPr>
          <a:lstStyle/>
          <a:p>
            <a:pPr algn="l"/>
            <a:r>
              <a:rPr sz="750" b="1">
                <a:solidFill>
                  <a:srgbClr val="53565A"/>
                </a:solidFill>
                <a:latin typeface="Helvetica"/>
              </a:rPr>
              <a:t>hors liste</a:t>
            </a:r>
          </a:p>
        </p:txBody>
      </p:sp>
      <p:sp>
        <p:nvSpPr>
          <p:cNvPr id="57" name="TextBox 56"/>
          <p:cNvSpPr txBox="1"/>
          <p:nvPr/>
        </p:nvSpPr>
        <p:spPr>
          <a:xfrm>
            <a:off x="503999" y="3816000"/>
            <a:ext cx="11232000" cy="2052000"/>
          </a:xfrm>
          <a:prstGeom prst="rect">
            <a:avLst/>
          </a:prstGeom>
          <a:noFill/>
        </p:spPr>
        <p:txBody>
          <a:bodyPr wrap="square" lIns="54000" rIns="54000"/>
          <a:lstStyle/>
          <a:p>
            <a:pPr algn="just">
              <a:spcAft>
                <a:spcPts val="600"/>
              </a:spcAft>
            </a:pPr>
            <a:r>
              <a:rPr sz="1200" b="1">
                <a:solidFill>
                  <a:srgbClr val="060606"/>
                </a:solidFill>
                <a:latin typeface="Helvetica"/>
              </a:rPr>
              <a:t>La méthode du FPPN se rapproche d'une évaluation dossier par dossier.</a:t>
            </a:r>
            <a:r>
              <a:rPr sz="1200" b="0">
                <a:solidFill>
                  <a:srgbClr val="060606"/>
                </a:solidFill>
                <a:latin typeface="Helvetica"/>
              </a:rPr>
              <a:t> La liste des décès transmise par la direction du personnel est rapprochée des allocations payées. Les dossiers restants sont valorisés au barème par grade.</a:t>
            </a:r>
          </a:p>
          <a:p>
            <a:pPr algn="just">
              <a:spcAft>
                <a:spcPts val="600"/>
              </a:spcAft>
            </a:pPr>
            <a:r>
              <a:rPr sz="1200" b="1">
                <a:solidFill>
                  <a:srgbClr val="060606"/>
                </a:solidFill>
                <a:latin typeface="Helvetica"/>
              </a:rPr>
              <a:t>Le calcul annuel est comptabilisé en dette au compte 41591000, non au compte de provision 15802000</a:t>
            </a:r>
            <a:r>
              <a:rPr sz="1200" b="0">
                <a:solidFill>
                  <a:srgbClr val="060606"/>
                </a:solidFill>
                <a:latin typeface="Helvetica"/>
              </a:rPr>
              <a:t>, qui ne bouge pas depuis 2020 (diapositive suivante).</a:t>
            </a:r>
          </a:p>
          <a:p>
            <a:pPr algn="just">
              <a:spcAft>
                <a:spcPts val="600"/>
              </a:spcAft>
            </a:pPr>
            <a:r>
              <a:rPr sz="1200" b="1">
                <a:solidFill>
                  <a:srgbClr val="060606"/>
                </a:solidFill>
                <a:latin typeface="Helvetica"/>
              </a:rPr>
              <a:t>Les décès de conjoints et d'enfants n'apparaissent que s'ils sont déclarés.</a:t>
            </a:r>
            <a:r>
              <a:rPr sz="1200" b="0">
                <a:solidFill>
                  <a:srgbClr val="060606"/>
                </a:solidFill>
                <a:latin typeface="Helvetica"/>
              </a:rPr>
              <a:t> Ils relèvent des sinistres tardifs.</a:t>
            </a:r>
          </a:p>
          <a:p>
            <a:pPr algn="just">
              <a:spcAft>
                <a:spcPts val="600"/>
              </a:spcAft>
            </a:pPr>
            <a:r>
              <a:rPr sz="1200" b="0">
                <a:solidFill>
                  <a:srgbClr val="060606"/>
                </a:solidFill>
                <a:latin typeface="Helvetica"/>
              </a:rPr>
              <a:t>Le règlement d'exécution n° 004/2022 (art. 10) demande cette évaluation dossier par dossier, plus les sinistres tardifs. La méthode du FPPN peut servir de base, si son résultat est comptabilisé et documenté.</a:t>
            </a:r>
          </a:p>
        </p:txBody>
      </p:sp>
      <p:sp>
        <p:nvSpPr>
          <p:cNvPr id="58" name="TextBox 57"/>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3018584799"/>
      </p:ext>
    </p:extLst>
  </p:cSld>
  <p:clrMapOvr>
    <a:masterClrMapping/>
  </p:clrMapOvr>
  <p:transition>
    <p:fade/>
  </p:transition>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Allocations décès : états de fin d'année et compte 41591000</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calcul de fin d'année du FPPN est comptabilisé au compte 41591000, au franc près en 2024 et 2025</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Chaque 31 décembre, le FPPN liste les décès non payés, applique le barème du grade et passe le total en dette envers les bénéficiaires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états de fin d'année des allocations décès 2021 à 2025 (« PROV ALLOCATION DECES 2021.xlsx » et suivants, voir l'annexe « Fichiers sources »). « GRAND LIVRE FPPN 2024.xlsx » (compte 41591000). « CARTOGRAPHIE DES RISQUES COUVERTS ET DES PRESTATIONS OFFERTES.docx ». Balances 2021 à 2025. Onglet 19a du classeur des calculs</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47 : États de fin d'année des allocations décès et crédits du compte 41591000</a:t>
            </a:r>
          </a:p>
        </p:txBody>
      </p:sp>
      <p:graphicFrame>
        <p:nvGraphicFramePr>
          <p:cNvPr id="32" name="Table 31"/>
          <p:cNvGraphicFramePr>
            <a:graphicFrameLocks noGrp="1"/>
          </p:cNvGraphicFramePr>
          <p:nvPr/>
        </p:nvGraphicFramePr>
        <p:xfrm>
          <a:off x="503999" y="1655999"/>
          <a:ext cx="11231998" cy="1122888"/>
        </p:xfrm>
        <a:graphic>
          <a:graphicData uri="http://schemas.openxmlformats.org/drawingml/2006/table">
            <a:tbl>
              <a:tblPr firstRow="0" bandRow="0">
                <a:tableStyleId>{5940675A-B579-460E-94D1-54222C63F5DA}</a:tableStyleId>
              </a:tblPr>
              <a:tblGrid>
                <a:gridCol w="936000"/>
                <a:gridCol w="4320000"/>
                <a:gridCol w="1007999"/>
                <a:gridCol w="1655999"/>
                <a:gridCol w="1728000"/>
                <a:gridCol w="1584000"/>
              </a:tblGrid>
              <a:tr h="187148">
                <a:tc>
                  <a:txBody>
                    <a:bodyPr/>
                    <a:lstStyle/>
                    <a:p>
                      <a:pPr marL="0" indent="0" lvl="0">
                        <a:buNone/>
                      </a:pPr>
                      <a:r>
                        <a:rPr sz="850" b="1">
                          <a:solidFill>
                            <a:srgbClr val="FFFFFF"/>
                          </a:solidFill>
                          <a:latin typeface="Helvetica"/>
                        </a:rPr>
                        <a:t>Exercice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Fichier</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Dossiers</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Total du fichier</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Crédit au 41591000</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Écart</a:t>
                      </a:r>
                    </a:p>
                  </a:txBody>
                  <a:tcPr marL="43200" marR="43200" marT="14400" marB="14400" anchor="ctr">
                    <a:solidFill>
                      <a:srgbClr val="060606"/>
                    </a:solidFill>
                  </a:tcPr>
                </a:tc>
              </a:tr>
              <a:tr h="187148">
                <a:tc>
                  <a:txBody>
                    <a:bodyPr/>
                    <a:lstStyle/>
                    <a:p>
                      <a:pPr marL="0" indent="0" lvl="0">
                        <a:buNone/>
                      </a:pPr>
                      <a:r>
                        <a:rPr sz="850" b="1">
                          <a:solidFill>
                            <a:srgbClr val="060606"/>
                          </a:solidFill>
                          <a:latin typeface="Helvetica"/>
                        </a:rPr>
                        <a:t>2021</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PROV ALLOCATION DECES 2021.xlsx</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81</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112 820 000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370 503 332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257 683 332 FCFA</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2022</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PROV ALLOCATION DECES 2022.xlsx</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62</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88 000 000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97 653 333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9 653 333 FCFA</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2023</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ALLOC DECES 2023 PAYER ET A PROVISIONNER .xlsx</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106</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124 690 000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120 690 000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-4 000 000 FCFA</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2024</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PROV ALLOCATION DECES 2024.xlsx</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99</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140 800 000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140 800 000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0 FCFA</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2025</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PROV ALLOCATIONS DECES ET FRAIS FUNERAIRES 2025.xlsx</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89</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130 600 000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130 600 000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0 FCFA</a:t>
                      </a:r>
                    </a:p>
                  </a:txBody>
                  <a:tcPr marL="43200" marR="43200" marT="14400" marB="14400" anchor="ctr">
                    <a:solidFill>
                      <a:srgbClr val="FFFFFF"/>
                    </a:solidFill>
                  </a:tcPr>
                </a:tc>
              </a:tr>
            </a:tbl>
          </a:graphicData>
        </a:graphic>
      </p:graphicFrame>
      <p:sp>
        <p:nvSpPr>
          <p:cNvPr id="33" name="TextBox 32"/>
          <p:cNvSpPr txBox="1"/>
          <p:nvPr/>
        </p:nvSpPr>
        <p:spPr>
          <a:xfrm>
            <a:off x="503999" y="2886888"/>
            <a:ext cx="11232000" cy="162000"/>
          </a:xfrm>
          <a:prstGeom prst="rect">
            <a:avLst/>
          </a:prstGeom>
          <a:noFill/>
        </p:spPr>
        <p:txBody>
          <a:bodyPr wrap="square" anchor="t" lIns="54000" rIns="54000"/>
          <a:lstStyle/>
          <a:p>
            <a:pPr algn="l"/>
            <a:r>
              <a:rPr sz="850" b="0">
                <a:solidFill>
                  <a:srgbClr val="53565A"/>
                </a:solidFill>
                <a:latin typeface="Helvetica"/>
              </a:rPr>
              <a:t>Valable pour : états de fin d'année 2021 à 2025 tels que reçus le 22/10/2026. Crédits du compte 41591000 des balances 2021 à 2025.</a:t>
            </a:r>
          </a:p>
        </p:txBody>
      </p:sp>
      <p:sp>
        <p:nvSpPr>
          <p:cNvPr id="34" name="TextBox 33"/>
          <p:cNvSpPr txBox="1"/>
          <p:nvPr/>
        </p:nvSpPr>
        <p:spPr>
          <a:xfrm>
            <a:off x="503999" y="3192888"/>
            <a:ext cx="11232000" cy="2675111"/>
          </a:xfrm>
          <a:prstGeom prst="rect">
            <a:avLst/>
          </a:prstGeom>
          <a:noFill/>
        </p:spPr>
        <p:txBody>
          <a:bodyPr wrap="square" lIns="54000" rIns="54000"/>
          <a:lstStyle/>
          <a:p>
            <a:pPr algn="just">
              <a:spcAft>
                <a:spcPts val="600"/>
              </a:spcAft>
            </a:pPr>
            <a:r>
              <a:rPr sz="1300" b="1">
                <a:solidFill>
                  <a:srgbClr val="060606"/>
                </a:solidFill>
                <a:latin typeface="Helvetica"/>
              </a:rPr>
              <a:t>En 2024 et 2025, le crédit de l'année au compte 41591000 est exactement le total du fichier.</a:t>
            </a:r>
            <a:r>
              <a:rPr sz="1300" b="0">
                <a:solidFill>
                  <a:srgbClr val="060606"/>
                </a:solidFill>
                <a:latin typeface="Helvetica"/>
              </a:rPr>
              <a:t> Le grand livre 2024 montre l'écriture du 31/12/2024 « PROVISION ALLO DECES 2024 » de 140 800 000 FCFA.</a:t>
            </a:r>
          </a:p>
          <a:p>
            <a:pPr algn="just">
              <a:spcAft>
                <a:spcPts val="600"/>
              </a:spcAft>
            </a:pPr>
            <a:r>
              <a:rPr sz="1300" b="1">
                <a:solidFill>
                  <a:srgbClr val="060606"/>
                </a:solidFill>
                <a:latin typeface="Helvetica"/>
              </a:rPr>
              <a:t>En 2022 et 2023, les crédits du compte diffèrent des états. En 2021, le premier crédit reprend aussi des dossiers antérieurs à l'ouverture du compte.</a:t>
            </a:r>
            <a:r>
              <a:rPr sz="1300" b="0">
                <a:solidFill>
                  <a:srgbClr val="060606"/>
                </a:solidFill>
                <a:latin typeface="Helvetica"/>
              </a:rPr>
              <a:t> Le fichier 2024 porte la mention « BILAN NON EXHAUSTIF » et la somme de ses lignes dépasse son total de 1 400 000 FCFA.</a:t>
            </a:r>
          </a:p>
          <a:p>
            <a:pPr algn="just">
              <a:spcAft>
                <a:spcPts val="600"/>
              </a:spcAft>
            </a:pPr>
            <a:r>
              <a:rPr sz="1300" b="0">
                <a:solidFill>
                  <a:srgbClr val="060606"/>
                </a:solidFill>
                <a:latin typeface="Helvetica"/>
              </a:rPr>
              <a:t>La méthode du FPPN est bien une évaluation dossier par dossier (statuts, art. 89). Elle est comptabilisée comme une dette, non comme une provision : la provision obsèques ne doit pas la reprendre une seconde fois.</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1225447007"/>
      </p:ext>
    </p:extLst>
  </p:cSld>
  <p:clrMapOvr>
    <a:masterClrMapping/>
  </p:clrMapOvr>
  <p:transition>
    <p:fade/>
  </p:transition>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Allocations décès : dette réelle et provision obsèques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provision obsèques vaut 4,0 fois la dette décès calculée par le FPPN au 31/08/2026</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Dette décès (41591000 et 41592000) : 489 419 669 FCFA. Provision obsèques inchangée depuis 2020 : 1 961 695 412 FCFA</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 « GRAND LIVRE FPPN 2024.xlsx » (journaux BQ PEP, BQEFC). Règlement intérieur du FPPN édité le 15/06/2023, art. 58. Onglet 19b du classeur des calculs</a:t>
            </a:r>
          </a:p>
        </p:txBody>
      </p:sp>
      <p:sp>
        <p:nvSpPr>
          <p:cNvPr id="31" name="TextBox 30"/>
          <p:cNvSpPr txBox="1"/>
          <p:nvPr/>
        </p:nvSpPr>
        <p:spPr>
          <a:xfrm>
            <a:off x="503999" y="1386000"/>
            <a:ext cx="11016000" cy="216000"/>
          </a:xfrm>
          <a:prstGeom prst="rect">
            <a:avLst/>
          </a:prstGeom>
          <a:noFill/>
        </p:spPr>
        <p:txBody>
          <a:bodyPr wrap="square" anchor="t" lIns="54000" rIns="54000"/>
          <a:lstStyle/>
          <a:p>
            <a:pPr algn="ctr"/>
            <a:r>
              <a:rPr sz="1200" b="0">
                <a:solidFill>
                  <a:srgbClr val="EFAC62"/>
                </a:solidFill>
                <a:latin typeface="Helvetica"/>
              </a:rPr>
              <a:t>Tableau 48 : Dette décès du FPPN et provision obsèques</a:t>
            </a:r>
          </a:p>
        </p:txBody>
      </p:sp>
      <p:graphicFrame>
        <p:nvGraphicFramePr>
          <p:cNvPr id="32" name="Table 31"/>
          <p:cNvGraphicFramePr>
            <a:graphicFrameLocks noGrp="1"/>
          </p:cNvGraphicFramePr>
          <p:nvPr/>
        </p:nvGraphicFramePr>
        <p:xfrm>
          <a:off x="503999" y="1655999"/>
          <a:ext cx="11015996" cy="1363376"/>
        </p:xfrm>
        <a:graphic>
          <a:graphicData uri="http://schemas.openxmlformats.org/drawingml/2006/table">
            <a:tbl>
              <a:tblPr firstRow="0" bandRow="0">
                <a:tableStyleId>{5940675A-B579-460E-94D1-54222C63F5DA}</a:tableStyleId>
              </a:tblPr>
              <a:tblGrid>
                <a:gridCol w="1080000"/>
                <a:gridCol w="1655999"/>
                <a:gridCol w="1655999"/>
                <a:gridCol w="1655999"/>
                <a:gridCol w="1584000"/>
                <a:gridCol w="1655999"/>
                <a:gridCol w="1728000"/>
              </a:tblGrid>
              <a:tr h="194768">
                <a:tc>
                  <a:txBody>
                    <a:bodyPr/>
                    <a:lstStyle/>
                    <a:p>
                      <a:pPr marL="0" indent="0" lvl="0">
                        <a:buNone/>
                      </a:pPr>
                      <a:r>
                        <a:rPr sz="900" b="1">
                          <a:solidFill>
                            <a:srgbClr val="FFFFFF"/>
                          </a:solidFill>
                          <a:latin typeface="Helvetica"/>
                        </a:rPr>
                        <a:t>Exercice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Allocations ajoutées</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Allocations payées</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Dette allocations</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Dette frais funéraires</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Dette décès totale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Provision obsèques</a:t>
                      </a:r>
                    </a:p>
                  </a:txBody>
                  <a:tcPr marL="43200" marR="43200" marT="14400" marB="14400" anchor="ctr">
                    <a:solidFill>
                      <a:srgbClr val="060606"/>
                    </a:solidFill>
                  </a:tcPr>
                </a:tc>
              </a:tr>
              <a:tr h="194768">
                <a:tc>
                  <a:txBody>
                    <a:bodyPr/>
                    <a:lstStyle/>
                    <a:p>
                      <a:pPr marL="0" indent="0" lvl="0">
                        <a:buNone/>
                      </a:pPr>
                      <a:r>
                        <a:rPr sz="900" b="1">
                          <a:solidFill>
                            <a:srgbClr val="060606"/>
                          </a:solidFill>
                          <a:latin typeface="Helvetica"/>
                        </a:rPr>
                        <a:t>2021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370 503 332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370 503 332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370 503 332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1 961 695 412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2022</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97 653 333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87 638 748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380 517 917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380 517 917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1 961 695 412 FCFA</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2023</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120 690 000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64 112 728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437 095 189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437 095 189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1 961 695 412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2024</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140 800 000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185 943 302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391 951 887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391 951 887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1 961 695 412 FCFA</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2025</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130 600 000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107 207 220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415 344 667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17 100 000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432 444 667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1 961 695 412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31/08/2026</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111 000 000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69 324 998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457 019 669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32 400 000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489 419 669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1 961 695 412 FCFA</a:t>
                      </a:r>
                    </a:p>
                  </a:txBody>
                  <a:tcPr marL="43200" marR="43200" marT="14400" marB="14400" anchor="ctr">
                    <a:solidFill>
                      <a:srgbClr val="F2F2F2"/>
                    </a:solidFill>
                  </a:tcPr>
                </a:tc>
              </a:tr>
            </a:tbl>
          </a:graphicData>
        </a:graphic>
      </p:graphicFrame>
      <p:sp>
        <p:nvSpPr>
          <p:cNvPr id="33" name="TextBox 32"/>
          <p:cNvSpPr txBox="1"/>
          <p:nvPr/>
        </p:nvSpPr>
        <p:spPr>
          <a:xfrm>
            <a:off x="503999" y="3127380"/>
            <a:ext cx="11232000" cy="162000"/>
          </a:xfrm>
          <a:prstGeom prst="rect">
            <a:avLst/>
          </a:prstGeom>
          <a:noFill/>
        </p:spPr>
        <p:txBody>
          <a:bodyPr wrap="square" anchor="t" lIns="54000" rIns="54000"/>
          <a:lstStyle/>
          <a:p>
            <a:pPr algn="l"/>
            <a:r>
              <a:rPr sz="850" b="0">
                <a:solidFill>
                  <a:srgbClr val="53565A"/>
                </a:solidFill>
                <a:latin typeface="Helvetica"/>
              </a:rPr>
              <a:t>Valable pour : comptes 41591000, 41592000, 19012000 et 15802000, exercices 2021 à 2025 et du 01/01 au 31/08/2026 (provisoire). Paiements par banque d'après le grand livre 2024 seulement.</a:t>
            </a:r>
          </a:p>
        </p:txBody>
      </p:sp>
      <p:sp>
        <p:nvSpPr>
          <p:cNvPr id="34" name="TextBox 33"/>
          <p:cNvSpPr txBox="1"/>
          <p:nvPr/>
        </p:nvSpPr>
        <p:spPr>
          <a:xfrm>
            <a:off x="503999" y="3433380"/>
            <a:ext cx="11232000" cy="2434619"/>
          </a:xfrm>
          <a:prstGeom prst="rect">
            <a:avLst/>
          </a:prstGeom>
          <a:noFill/>
        </p:spPr>
        <p:txBody>
          <a:bodyPr wrap="square" lIns="54000" rIns="54000"/>
          <a:lstStyle/>
          <a:p>
            <a:pPr algn="just">
              <a:spcAft>
                <a:spcPts val="600"/>
              </a:spcAft>
            </a:pPr>
            <a:r>
              <a:rPr sz="1300" b="1">
                <a:solidFill>
                  <a:srgbClr val="060606"/>
                </a:solidFill>
                <a:latin typeface="Helvetica"/>
              </a:rPr>
              <a:t>Chaque année, le FPPN ajoute plus d'allocations qu'il n'en paie : la dette passe de 370 503 332 FCFA fin 2021 à 489 419 669 FCFA au 31/08/2026.</a:t>
            </a:r>
            <a:r>
              <a:rPr sz="1300" b="0">
                <a:solidFill>
                  <a:srgbClr val="060606"/>
                </a:solidFill>
                <a:latin typeface="Helvetica"/>
              </a:rPr>
              <a:t> Le stock contient donc des dossiers de plusieurs années.</a:t>
            </a:r>
          </a:p>
          <a:p>
            <a:pPr algn="just">
              <a:spcAft>
                <a:spcPts val="600"/>
              </a:spcAft>
            </a:pPr>
            <a:r>
              <a:rPr sz="1300" b="1">
                <a:solidFill>
                  <a:srgbClr val="060606"/>
                </a:solidFill>
                <a:latin typeface="Helvetica"/>
              </a:rPr>
              <a:t>En 2024, des allocations ont été payées depuis les comptes bancaires de l'épargne</a:t>
            </a:r>
            <a:r>
              <a:rPr sz="1300" b="0">
                <a:solidFill>
                  <a:srgbClr val="060606"/>
                </a:solidFill>
                <a:latin typeface="Helvetica"/>
              </a:rPr>
              <a:t> : 93 paiements pour 49 000 000 FCFA par le compte BOA PEP et 9 pour 4 288 000 FCFA par le compte BOA EFC (grand livre 2024).</a:t>
            </a:r>
          </a:p>
          <a:p>
            <a:pPr algn="just">
              <a:spcAft>
                <a:spcPts val="600"/>
              </a:spcAft>
            </a:pPr>
            <a:r>
              <a:rPr sz="1300" b="0">
                <a:solidFill>
                  <a:srgbClr val="060606"/>
                </a:solidFill>
                <a:latin typeface="Helvetica"/>
              </a:rPr>
              <a:t>La provision obsèques fait double emploi avec la dette du 41591000. La dette elle-même doit être justifiée dossier par dossier, avec la date de dépôt de chaque demande, pour écarter les demandes frappées de forclusion (règlement intérieur, art. 58 : 3 ans pour un membre, 12 mois pour un ayant droit).</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PEP : Plan Épargne Plus | EFC : entraide fin de carrière</a:t>
            </a:r>
          </a:p>
        </p:txBody>
      </p:sp>
    </p:spTree>
    <p:extLst>
      <p:ext uri="{BB962C8B-B14F-4D97-AF65-F5344CB8AC3E}">
        <p14:creationId xmlns:p14="http://schemas.microsoft.com/office/powerpoint/2010/main" val="615782024"/>
      </p:ext>
    </p:extLst>
  </p:cSld>
  <p:clrMapOvr>
    <a:masterClrMapping/>
  </p:clrMapOvr>
  <p:transition>
    <p:fade/>
  </p:transition>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Allocations décès : décès connus après la clôture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6 décès d'une année n'ont été enregistrés que l'année suivante, pour 7 100 000 FCFA</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Ces décès manquent dans l'état du 31 décembre : ils donnent l'ordre de grandeur de la provision pour décès survenus non déclarés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 PROV ALLOCATION DECES 2021.xlsx » (feuille IMPAYEES GLOBAL 2021). « ALLOC DECES 2023 PAYER ET A PROVISIONNER .xlsx » (feuille ALL DECES  A PROVISIONNER 2023). Onglet 19c du classeur des calculs</a:t>
            </a:r>
          </a:p>
        </p:txBody>
      </p:sp>
      <p:sp>
        <p:nvSpPr>
          <p:cNvPr id="31" name="TextBox 30"/>
          <p:cNvSpPr txBox="1"/>
          <p:nvPr/>
        </p:nvSpPr>
        <p:spPr>
          <a:xfrm>
            <a:off x="503999" y="1386000"/>
            <a:ext cx="7776000" cy="216000"/>
          </a:xfrm>
          <a:prstGeom prst="rect">
            <a:avLst/>
          </a:prstGeom>
          <a:noFill/>
        </p:spPr>
        <p:txBody>
          <a:bodyPr wrap="square" anchor="t" lIns="54000" rIns="54000"/>
          <a:lstStyle/>
          <a:p>
            <a:pPr algn="ctr"/>
            <a:r>
              <a:rPr sz="1200" b="0">
                <a:solidFill>
                  <a:srgbClr val="EFAC62"/>
                </a:solidFill>
                <a:latin typeface="Helvetica"/>
              </a:rPr>
              <a:t>Tableau 49 : Décès enregistrés l'année suivant le décès</a:t>
            </a:r>
          </a:p>
        </p:txBody>
      </p:sp>
      <p:graphicFrame>
        <p:nvGraphicFramePr>
          <p:cNvPr id="32" name="Table 31"/>
          <p:cNvGraphicFramePr>
            <a:graphicFrameLocks noGrp="1"/>
          </p:cNvGraphicFramePr>
          <p:nvPr/>
        </p:nvGraphicFramePr>
        <p:xfrm>
          <a:off x="503999" y="1655999"/>
          <a:ext cx="7776000" cy="1363376"/>
        </p:xfrm>
        <a:graphic>
          <a:graphicData uri="http://schemas.openxmlformats.org/drawingml/2006/table">
            <a:tbl>
              <a:tblPr firstRow="0" bandRow="0">
                <a:tableStyleId>{5940675A-B579-460E-94D1-54222C63F5DA}</a:tableStyleId>
              </a:tblPr>
              <a:tblGrid>
                <a:gridCol w="1296000"/>
                <a:gridCol w="2160000"/>
                <a:gridCol w="2160000"/>
                <a:gridCol w="2160000"/>
              </a:tblGrid>
              <a:tr h="194768">
                <a:tc>
                  <a:txBody>
                    <a:bodyPr/>
                    <a:lstStyle/>
                    <a:p>
                      <a:pPr marL="0" indent="0" lvl="0">
                        <a:buNone/>
                      </a:pPr>
                      <a:r>
                        <a:rPr sz="900" b="1">
                          <a:solidFill>
                            <a:srgbClr val="FFFFFF"/>
                          </a:solidFill>
                          <a:latin typeface="Helvetica"/>
                        </a:rPr>
                        <a:t>État</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Date du décès</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Date d'enregistrement</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Montant</a:t>
                      </a:r>
                    </a:p>
                  </a:txBody>
                  <a:tcPr marL="43200" marR="43200" marT="14400" marB="14400" anchor="ctr">
                    <a:solidFill>
                      <a:srgbClr val="060606"/>
                    </a:solidFill>
                  </a:tcPr>
                </a:tc>
              </a:tr>
              <a:tr h="194768">
                <a:tc>
                  <a:txBody>
                    <a:bodyPr/>
                    <a:lstStyle/>
                    <a:p>
                      <a:pPr marL="0" indent="0" lvl="0">
                        <a:buNone/>
                      </a:pPr>
                      <a:r>
                        <a:rPr sz="900" b="1">
                          <a:solidFill>
                            <a:srgbClr val="060606"/>
                          </a:solidFill>
                          <a:latin typeface="Helvetica"/>
                        </a:rPr>
                        <a:t>2021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27/12/2021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03/01/2022</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1 400 000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2021</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02/11/2021</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05/01/2022</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600 000 FCFA</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2021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21/12/2021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12/01/2022</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1 400 000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2021</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15/12/2021</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12/01/2022</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1 400 000 FCFA</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2021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22/12/2021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14/01/2022</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1 600 000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2021</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16/08/2021</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28/03/2022</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700 000 FCFA</a:t>
                      </a:r>
                    </a:p>
                  </a:txBody>
                  <a:tcPr marL="43200" marR="43200" marT="14400" marB="14400" anchor="ctr">
                    <a:solidFill>
                      <a:srgbClr val="F2F2F2"/>
                    </a:solidFill>
                  </a:tcPr>
                </a:tc>
              </a:tr>
            </a:tbl>
          </a:graphicData>
        </a:graphic>
      </p:graphicFrame>
      <p:sp>
        <p:nvSpPr>
          <p:cNvPr id="33" name="TextBox 32"/>
          <p:cNvSpPr txBox="1"/>
          <p:nvPr/>
        </p:nvSpPr>
        <p:spPr>
          <a:xfrm>
            <a:off x="503999" y="3127380"/>
            <a:ext cx="11232000" cy="162000"/>
          </a:xfrm>
          <a:prstGeom prst="rect">
            <a:avLst/>
          </a:prstGeom>
          <a:noFill/>
        </p:spPr>
        <p:txBody>
          <a:bodyPr wrap="square" anchor="t" lIns="54000" rIns="54000"/>
          <a:lstStyle/>
          <a:p>
            <a:pPr algn="l"/>
            <a:r>
              <a:rPr sz="850" b="0">
                <a:solidFill>
                  <a:srgbClr val="53565A"/>
                </a:solidFill>
                <a:latin typeface="Helvetica"/>
              </a:rPr>
              <a:t>Valable pour : états de fin d'année 2021 et 2023, seuls à porter la date d'enregistrement. Dossiers de membres et d'ayants droit valorisés.</a:t>
            </a:r>
          </a:p>
        </p:txBody>
      </p:sp>
      <p:sp>
        <p:nvSpPr>
          <p:cNvPr id="34" name="TextBox 33"/>
          <p:cNvSpPr txBox="1"/>
          <p:nvPr/>
        </p:nvSpPr>
        <p:spPr>
          <a:xfrm>
            <a:off x="503999" y="3433380"/>
            <a:ext cx="11232000" cy="2434619"/>
          </a:xfrm>
          <a:prstGeom prst="rect">
            <a:avLst/>
          </a:prstGeom>
          <a:noFill/>
        </p:spPr>
        <p:txBody>
          <a:bodyPr wrap="square" lIns="54000" rIns="54000"/>
          <a:lstStyle/>
          <a:p>
            <a:pPr algn="just">
              <a:spcAft>
                <a:spcPts val="600"/>
              </a:spcAft>
            </a:pPr>
            <a:r>
              <a:rPr sz="1300" b="1">
                <a:solidFill>
                  <a:srgbClr val="060606"/>
                </a:solidFill>
                <a:latin typeface="Helvetica"/>
              </a:rPr>
              <a:t>Les décès déclarés tardivement représentent 7 100 000 FCFA sur deux états, soit quelques dossiers par an.</a:t>
            </a:r>
            <a:r>
              <a:rPr sz="1300" b="0">
                <a:solidFill>
                  <a:srgbClr val="060606"/>
                </a:solidFill>
                <a:latin typeface="Helvetica"/>
              </a:rPr>
              <a:t> Le délai de forclusion de trois ans (art. 58) borne la période pendant laquelle un décès peut encore être déclaré.</a:t>
            </a:r>
          </a:p>
          <a:p>
            <a:pPr algn="just">
              <a:spcAft>
                <a:spcPts val="600"/>
              </a:spcAft>
            </a:pPr>
            <a:r>
              <a:rPr sz="1300" b="0">
                <a:solidFill>
                  <a:srgbClr val="060606"/>
                </a:solidFill>
                <a:latin typeface="Helvetica"/>
              </a:rPr>
              <a:t>La provision décès nécessaire est la dette du 41591000, justifiée dossier par dossier, plus une estimation des décès non encore déclarés de quelques millions de FCFA par an.</a:t>
            </a:r>
          </a:p>
        </p:txBody>
      </p:sp>
    </p:spTree>
    <p:extLst>
      <p:ext uri="{BB962C8B-B14F-4D97-AF65-F5344CB8AC3E}">
        <p14:creationId xmlns:p14="http://schemas.microsoft.com/office/powerpoint/2010/main" val="1942129980"/>
      </p:ext>
    </p:extLst>
  </p:cSld>
  <p:clrMapOvr>
    <a:masterClrMapping/>
  </p:clrMapOvr>
  <p:transition>
    <p:fade/>
  </p:transition>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Provision pour risques courts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Aucune provision n'est nécessaire : les cotisations mensuelles couvrent leur propre mois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La provision pour risques courts (statuts, art. 88) couvre la période entre la clôture et la prochaine échéance de cotisation. Cette période est nulle au FPPN</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statuts du FPPN édités le 15/06/2023, art. 88. Code CIMA, art. 334-10 (référence technique). Fichiers de précomptes de la Solde, de la CGRAE et du FPPN reçus le 15/10/2026 (dossiers « FPPN-SOLDE », « FPPN-CGRAE », « FPPN-GNA », noms exacts en annexe « Fichiers sources »). Traitements Adenka. Onglet 20 du classeur des calculs</a:t>
            </a:r>
          </a:p>
        </p:txBody>
      </p:sp>
      <p:sp>
        <p:nvSpPr>
          <p:cNvPr id="31" name="TextBox 30"/>
          <p:cNvSpPr txBox="1"/>
          <p:nvPr/>
        </p:nvSpPr>
        <p:spPr>
          <a:xfrm>
            <a:off x="503999" y="1386000"/>
            <a:ext cx="8856000" cy="216000"/>
          </a:xfrm>
          <a:prstGeom prst="rect">
            <a:avLst/>
          </a:prstGeom>
          <a:noFill/>
        </p:spPr>
        <p:txBody>
          <a:bodyPr wrap="square" anchor="t" lIns="54000" rIns="54000"/>
          <a:lstStyle/>
          <a:p>
            <a:pPr algn="ctr"/>
            <a:r>
              <a:rPr sz="1200" b="0">
                <a:solidFill>
                  <a:srgbClr val="EFAC62"/>
                </a:solidFill>
                <a:latin typeface="Helvetica"/>
              </a:rPr>
              <a:t>Tableau 50 : Provision pour risques courts au 31 décembre</a:t>
            </a:r>
          </a:p>
        </p:txBody>
      </p:sp>
      <p:graphicFrame>
        <p:nvGraphicFramePr>
          <p:cNvPr id="32" name="Table 31"/>
          <p:cNvGraphicFramePr>
            <a:graphicFrameLocks noGrp="1"/>
          </p:cNvGraphicFramePr>
          <p:nvPr/>
        </p:nvGraphicFramePr>
        <p:xfrm>
          <a:off x="503999" y="1655999"/>
          <a:ext cx="8856000" cy="1363376"/>
        </p:xfrm>
        <a:graphic>
          <a:graphicData uri="http://schemas.openxmlformats.org/drawingml/2006/table">
            <a:tbl>
              <a:tblPr firstRow="0" bandRow="0">
                <a:tableStyleId>{5940675A-B579-460E-94D1-54222C63F5DA}</a:tableStyleId>
              </a:tblPr>
              <a:tblGrid>
                <a:gridCol w="1296000"/>
                <a:gridCol w="2880000"/>
                <a:gridCol w="2520000"/>
                <a:gridCol w="2160000"/>
              </a:tblGrid>
              <a:tr h="194768">
                <a:tc>
                  <a:txBody>
                    <a:bodyPr/>
                    <a:lstStyle/>
                    <a:p>
                      <a:pPr marL="0" indent="0" lvl="0">
                        <a:buNone/>
                      </a:pPr>
                      <a:r>
                        <a:rPr sz="900" b="1">
                          <a:solidFill>
                            <a:srgbClr val="FFFFFF"/>
                          </a:solidFill>
                          <a:latin typeface="Helvetica"/>
                        </a:rPr>
                        <a:t>Exercice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Prestations et frais de l'année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Jours non couverts par une cotisation</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Provision</a:t>
                      </a:r>
                    </a:p>
                  </a:txBody>
                  <a:tcPr marL="43200" marR="43200" marT="14400" marB="14400" anchor="ctr">
                    <a:solidFill>
                      <a:srgbClr val="060606"/>
                    </a:solidFill>
                  </a:tcPr>
                </a:tc>
              </a:tr>
              <a:tr h="194768">
                <a:tc>
                  <a:txBody>
                    <a:bodyPr/>
                    <a:lstStyle/>
                    <a:p>
                      <a:pPr marL="0" indent="0" lvl="0">
                        <a:buNone/>
                      </a:pPr>
                      <a:r>
                        <a:rPr sz="900" b="1">
                          <a:solidFill>
                            <a:srgbClr val="060606"/>
                          </a:solidFill>
                          <a:latin typeface="Helvetica"/>
                        </a:rPr>
                        <a:t>2020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1 420 369 950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2021</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1 465 285 314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2022</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1 251 789 161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2023</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1 702 471 561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2024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2 251 530 156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2025</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3 066 122 048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2F2F2"/>
                    </a:solidFill>
                  </a:tcPr>
                </a:tc>
              </a:tr>
            </a:tbl>
          </a:graphicData>
        </a:graphic>
      </p:graphicFrame>
      <p:sp>
        <p:nvSpPr>
          <p:cNvPr id="33" name="TextBox 32"/>
          <p:cNvSpPr txBox="1"/>
          <p:nvPr/>
        </p:nvSpPr>
        <p:spPr>
          <a:xfrm>
            <a:off x="503999" y="3127380"/>
            <a:ext cx="11232000" cy="162000"/>
          </a:xfrm>
          <a:prstGeom prst="rect">
            <a:avLst/>
          </a:prstGeom>
          <a:noFill/>
        </p:spPr>
        <p:txBody>
          <a:bodyPr wrap="square" anchor="t" lIns="54000" rIns="54000"/>
          <a:lstStyle/>
          <a:p>
            <a:pPr algn="l"/>
            <a:r>
              <a:rPr sz="850" b="0">
                <a:solidFill>
                  <a:srgbClr val="53565A"/>
                </a:solidFill>
                <a:latin typeface="Helvetica"/>
              </a:rPr>
              <a:t>Valable pour : cotisations maladie et décès précomptées par la Solde (postes 936 et 8Z6, janvier 2024 à septembre 2026) et par la CGRAE (février 2024 à septembre 2026).</a:t>
            </a:r>
          </a:p>
        </p:txBody>
      </p:sp>
      <p:sp>
        <p:nvSpPr>
          <p:cNvPr id="34" name="TextBox 33"/>
          <p:cNvSpPr txBox="1"/>
          <p:nvPr/>
        </p:nvSpPr>
        <p:spPr>
          <a:xfrm>
            <a:off x="503999" y="3433380"/>
            <a:ext cx="11232000" cy="2434619"/>
          </a:xfrm>
          <a:prstGeom prst="rect">
            <a:avLst/>
          </a:prstGeom>
          <a:noFill/>
        </p:spPr>
        <p:txBody>
          <a:bodyPr wrap="square" lIns="54000" rIns="54000"/>
          <a:lstStyle/>
          <a:p>
            <a:pPr algn="just">
              <a:spcAft>
                <a:spcPts val="600"/>
              </a:spcAft>
            </a:pPr>
            <a:r>
              <a:rPr sz="1300" b="1">
                <a:solidFill>
                  <a:srgbClr val="060606"/>
                </a:solidFill>
                <a:latin typeface="Helvetica"/>
              </a:rPr>
              <a:t>La provision pour risques courts est nulle tant que les cotisations sont précomptées sur la solde ou la pension du mois qu'elles couvrent.</a:t>
            </a:r>
            <a:r>
              <a:rPr sz="1300" b="0">
                <a:solidFill>
                  <a:srgbClr val="060606"/>
                </a:solidFill>
                <a:latin typeface="Helvetica"/>
              </a:rPr>
              <a:t> Elle deviendrait nécessaire si des cotisations étaient encaissées d'avance pour plusieurs mois.</a:t>
            </a:r>
          </a:p>
          <a:p>
            <a:pPr algn="just">
              <a:spcAft>
                <a:spcPts val="600"/>
              </a:spcAft>
            </a:pPr>
            <a:r>
              <a:rPr sz="1300" b="0">
                <a:solidFill>
                  <a:srgbClr val="060606"/>
                </a:solidFill>
                <a:latin typeface="Helvetica"/>
              </a:rPr>
              <a:t>Le FPPN n'a pas de provision pour risques courts à constituer. Il doit le justifier par écrit dans sa note de calcul annuelle des provisions.</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CIMA : Conférence interafricaine des marchés d'assurances | CGRAE : Caisse générale de retraite des agents de l'État | GNA : assureur de la flotte automobile (compte 47111106) | 936 : poste maladie | 8Z6 : poste décès</a:t>
            </a:r>
          </a:p>
        </p:txBody>
      </p:sp>
    </p:spTree>
    <p:extLst>
      <p:ext uri="{BB962C8B-B14F-4D97-AF65-F5344CB8AC3E}">
        <p14:creationId xmlns:p14="http://schemas.microsoft.com/office/powerpoint/2010/main" val="2028395937"/>
      </p:ext>
    </p:extLst>
  </p:cSld>
  <p:clrMapOvr>
    <a:masterClrMapping/>
  </p:clrMapOvr>
  <p:transition>
    <p:fade/>
  </p:transition>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Prêts du Grenier : dépréciation selon la politique de crédit</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politique du Grenier conduit à déprécier 14 016 392 FCFA au 31/08/2026. Les comptes n'en portent aucune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Taux de la politique de crédit (chapitre XI.3) : 40 % de 3 à 6 mois de retard, 80 % de 6 à 12 mois, 100 % de 12 à 24 mois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 POLITIK DE CREDIT DU GRENIER VFVF.doc », chapitre XI.3. Exports du logiciel de prêts du Grenier du Policier « BalanceAgeeDetaille … .xls » et « production_de_la_periode … .xls » reçus le 15/10/2026. Traitements Adenka. Onglet 23 du classeur des calculs</a:t>
            </a:r>
          </a:p>
        </p:txBody>
      </p:sp>
      <p:sp>
        <p:nvSpPr>
          <p:cNvPr id="31" name="TextBox 30"/>
          <p:cNvSpPr txBox="1"/>
          <p:nvPr/>
        </p:nvSpPr>
        <p:spPr>
          <a:xfrm>
            <a:off x="503999" y="1386000"/>
            <a:ext cx="9360000" cy="216000"/>
          </a:xfrm>
          <a:prstGeom prst="rect">
            <a:avLst/>
          </a:prstGeom>
          <a:noFill/>
        </p:spPr>
        <p:txBody>
          <a:bodyPr wrap="square" anchor="t" lIns="54000" rIns="54000"/>
          <a:lstStyle/>
          <a:p>
            <a:pPr algn="ctr"/>
            <a:r>
              <a:rPr sz="1200" b="0">
                <a:solidFill>
                  <a:srgbClr val="EFAC62"/>
                </a:solidFill>
                <a:latin typeface="Helvetica"/>
              </a:rPr>
              <a:t>Tableau 51 : Dépréciation des prêts du Grenier selon sa politique de crédit</a:t>
            </a:r>
          </a:p>
        </p:txBody>
      </p:sp>
      <p:graphicFrame>
        <p:nvGraphicFramePr>
          <p:cNvPr id="32" name="Table 31"/>
          <p:cNvGraphicFramePr>
            <a:graphicFrameLocks noGrp="1"/>
          </p:cNvGraphicFramePr>
          <p:nvPr/>
        </p:nvGraphicFramePr>
        <p:xfrm>
          <a:off x="503999" y="1655999"/>
          <a:ext cx="9359997" cy="1310036"/>
        </p:xfrm>
        <a:graphic>
          <a:graphicData uri="http://schemas.openxmlformats.org/drawingml/2006/table">
            <a:tbl>
              <a:tblPr firstRow="0" bandRow="0">
                <a:tableStyleId>{5940675A-B579-460E-94D1-54222C63F5DA}</a:tableStyleId>
              </a:tblPr>
              <a:tblGrid>
                <a:gridCol w="1296000"/>
                <a:gridCol w="2015999"/>
                <a:gridCol w="1007999"/>
                <a:gridCol w="2015999"/>
                <a:gridCol w="1080000"/>
                <a:gridCol w="1944000"/>
              </a:tblGrid>
              <a:tr h="187148">
                <a:tc>
                  <a:txBody>
                    <a:bodyPr/>
                    <a:lstStyle/>
                    <a:p>
                      <a:pPr marL="0" indent="0" lvl="0">
                        <a:buNone/>
                      </a:pPr>
                      <a:r>
                        <a:rPr sz="850" b="1">
                          <a:solidFill>
                            <a:srgbClr val="FFFFFF"/>
                          </a:solidFill>
                          <a:latin typeface="Helvetica"/>
                        </a:rPr>
                        <a:t>Arrêté</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Tranche de retard</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Prêts</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Encours</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Taux</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Dépréciation</a:t>
                      </a:r>
                    </a:p>
                  </a:txBody>
                  <a:tcPr marL="43200" marR="43200" marT="14400" marB="14400" anchor="ctr">
                    <a:solidFill>
                      <a:srgbClr val="060606"/>
                    </a:solidFill>
                  </a:tcPr>
                </a:tc>
              </a:tr>
              <a:tr h="187148">
                <a:tc>
                  <a:txBody>
                    <a:bodyPr/>
                    <a:lstStyle/>
                    <a:p>
                      <a:pPr marL="0" indent="0" lvl="0">
                        <a:buNone/>
                      </a:pPr>
                      <a:r>
                        <a:rPr sz="850" b="1">
                          <a:solidFill>
                            <a:srgbClr val="060606"/>
                          </a:solidFill>
                          <a:latin typeface="Helvetica"/>
                        </a:rPr>
                        <a:t>31/12/2025</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91 à 180 jours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21</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2 683 220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40,00 %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1 073 288 FCFA</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31/12/2025</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181 à 365 jours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22</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3 441 406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80,00 %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2 753 125 FCFA</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31/12/2025</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Plus de 365 jours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7</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919 716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100,00 %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919 716 FCFA</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31/08/2026</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91 à 180 jours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17</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3 018 448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40,00 %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1 207 379 FCFA</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31/08/2026</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181 à 365 jours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99</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10 088 997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80,00 %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8 071 198 FCFA</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31/08/2026</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Plus de 365 jours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27</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4 737 815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100,00 %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4 737 815 FCFA</a:t>
                      </a:r>
                    </a:p>
                  </a:txBody>
                  <a:tcPr marL="43200" marR="43200" marT="14400" marB="14400" anchor="ctr">
                    <a:solidFill>
                      <a:srgbClr val="F2F2F2"/>
                    </a:solidFill>
                  </a:tcPr>
                </a:tc>
              </a:tr>
            </a:tbl>
          </a:graphicData>
        </a:graphic>
      </p:graphicFrame>
      <p:sp>
        <p:nvSpPr>
          <p:cNvPr id="33" name="TextBox 32"/>
          <p:cNvSpPr txBox="1"/>
          <p:nvPr/>
        </p:nvSpPr>
        <p:spPr>
          <a:xfrm>
            <a:off x="503999" y="3074037"/>
            <a:ext cx="11232000" cy="162000"/>
          </a:xfrm>
          <a:prstGeom prst="rect">
            <a:avLst/>
          </a:prstGeom>
          <a:noFill/>
        </p:spPr>
        <p:txBody>
          <a:bodyPr wrap="square" anchor="t" lIns="54000" rIns="54000"/>
          <a:lstStyle/>
          <a:p>
            <a:pPr algn="l"/>
            <a:r>
              <a:rPr sz="850" b="0">
                <a:solidFill>
                  <a:srgbClr val="53565A"/>
                </a:solidFill>
                <a:latin typeface="Helvetica"/>
              </a:rPr>
              <a:t>Valable pour : prêts du Grenier aux arrêtés du 31/12/2025 et du 31/08/2026, tranches de retard du logiciel de prêts.</a:t>
            </a:r>
          </a:p>
        </p:txBody>
      </p:sp>
      <p:sp>
        <p:nvSpPr>
          <p:cNvPr id="34" name="TextBox 33"/>
          <p:cNvSpPr txBox="1"/>
          <p:nvPr/>
        </p:nvSpPr>
        <p:spPr>
          <a:xfrm>
            <a:off x="503999" y="3380037"/>
            <a:ext cx="11232000" cy="2487962"/>
          </a:xfrm>
          <a:prstGeom prst="rect">
            <a:avLst/>
          </a:prstGeom>
          <a:noFill/>
        </p:spPr>
        <p:txBody>
          <a:bodyPr wrap="square" lIns="54000" rIns="54000"/>
          <a:lstStyle/>
          <a:p>
            <a:pPr algn="just">
              <a:spcAft>
                <a:spcPts val="600"/>
              </a:spcAft>
            </a:pPr>
            <a:r>
              <a:rPr sz="1300" b="1">
                <a:solidFill>
                  <a:srgbClr val="060606"/>
                </a:solidFill>
                <a:latin typeface="Helvetica"/>
              </a:rPr>
              <a:t>La dépréciation passe de 4 746 129 FCFA au 31/12/2025 à 14 016 392 FCFA au 31/08/2026.</a:t>
            </a:r>
            <a:r>
              <a:rPr sz="1300" b="0">
                <a:solidFill>
                  <a:srgbClr val="060606"/>
                </a:solidFill>
                <a:latin typeface="Helvetica"/>
              </a:rPr>
              <a:t> Le montant reste faible au regard de l'encours, mais il doit être comptabilisé.</a:t>
            </a:r>
          </a:p>
          <a:p>
            <a:pPr algn="just">
              <a:spcAft>
                <a:spcPts val="600"/>
              </a:spcAft>
            </a:pPr>
            <a:r>
              <a:rPr sz="1300" b="0">
                <a:solidFill>
                  <a:srgbClr val="060606"/>
                </a:solidFill>
                <a:latin typeface="Helvetica"/>
              </a:rPr>
              <a:t>Le risque principal du Grenier reste l'immobilisation de l'épargne dans les prêts, non la perte sur prêts.</a:t>
            </a:r>
          </a:p>
        </p:txBody>
      </p:sp>
    </p:spTree>
    <p:extLst>
      <p:ext uri="{BB962C8B-B14F-4D97-AF65-F5344CB8AC3E}">
        <p14:creationId xmlns:p14="http://schemas.microsoft.com/office/powerpoint/2010/main" val="3233983870"/>
      </p:ext>
    </p:extLst>
  </p:cSld>
  <p:clrMapOvr>
    <a:masterClrMapping/>
  </p:clrMapOvr>
  <p:transition>
    <p:fade/>
  </p:transition>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Flotte automobile : risque porté par GNA</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FPPN est apporteur d'affaires de GNA et ne doit pas de provision technique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Commission déclarée de 20 % des primes collectées, versée en fin d'année. Trop-perçus à traiter comme une dette envers les adhérents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entretiens du 19/10/2026. Balances des comptes du FPPN de 2020 au 31/08/2026 (provisoire), fichiers « BALANCE … » listés en annexe « Fichiers sources ». Traitements Adenka. Fichiers de précomptes reçus le 15/10/2026</a:t>
            </a:r>
          </a:p>
        </p:txBody>
      </p:sp>
      <p:sp>
        <p:nvSpPr>
          <p:cNvPr id="31" name="TextBox 30"/>
          <p:cNvSpPr txBox="1"/>
          <p:nvPr/>
        </p:nvSpPr>
        <p:spPr>
          <a:xfrm>
            <a:off x="503999" y="1386000"/>
            <a:ext cx="7056000" cy="216000"/>
          </a:xfrm>
          <a:prstGeom prst="rect">
            <a:avLst/>
          </a:prstGeom>
          <a:noFill/>
        </p:spPr>
        <p:txBody>
          <a:bodyPr wrap="square" anchor="t" lIns="54000" rIns="54000"/>
          <a:lstStyle/>
          <a:p>
            <a:pPr algn="ctr"/>
            <a:r>
              <a:rPr sz="1200" b="0">
                <a:solidFill>
                  <a:srgbClr val="EFAC62"/>
                </a:solidFill>
                <a:latin typeface="Helvetica"/>
              </a:rPr>
              <a:t>Tableau 52 : Compte GNA (47111106) et produits des activités annexes (71800000)</a:t>
            </a:r>
          </a:p>
        </p:txBody>
      </p:sp>
      <p:graphicFrame>
        <p:nvGraphicFramePr>
          <p:cNvPr id="32" name="Table 31"/>
          <p:cNvGraphicFramePr>
            <a:graphicFrameLocks noGrp="1"/>
          </p:cNvGraphicFramePr>
          <p:nvPr/>
        </p:nvGraphicFramePr>
        <p:xfrm>
          <a:off x="503999" y="1655999"/>
          <a:ext cx="7056000" cy="1293901"/>
        </p:xfrm>
        <a:graphic>
          <a:graphicData uri="http://schemas.openxmlformats.org/drawingml/2006/table">
            <a:tbl>
              <a:tblPr firstRow="0" bandRow="0">
                <a:tableStyleId>{5940675A-B579-460E-94D1-54222C63F5DA}</a:tableStyleId>
              </a:tblPr>
              <a:tblGrid>
                <a:gridCol w="1162800"/>
                <a:gridCol w="1918800"/>
                <a:gridCol w="1918800"/>
                <a:gridCol w="2055600"/>
              </a:tblGrid>
              <a:tr h="392901">
                <a:tc>
                  <a:txBody>
                    <a:bodyPr/>
                    <a:lstStyle/>
                    <a:p>
                      <a:pPr marL="0" indent="0" lvl="0">
                        <a:buNone/>
                      </a:pPr>
                      <a:r>
                        <a:rPr sz="1100" b="1">
                          <a:solidFill>
                            <a:srgbClr val="FFFFFF"/>
                          </a:solidFill>
                          <a:latin typeface="Helvetica"/>
                        </a:rPr>
                        <a:t>Exercice</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Débit du compte GNA</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Solde du compte GNA</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Produits annexes (71800000)</a:t>
                      </a:r>
                    </a:p>
                  </a:txBody>
                  <a:tcPr marL="43200" marR="43200" marT="14400" marB="14400" anchor="ctr">
                    <a:solidFill>
                      <a:srgbClr val="060606"/>
                    </a:solidFill>
                  </a:tcPr>
                </a:tc>
              </a:tr>
              <a:tr h="225250">
                <a:tc>
                  <a:txBody>
                    <a:bodyPr/>
                    <a:lstStyle/>
                    <a:p>
                      <a:pPr marL="0" indent="0" lvl="0">
                        <a:buNone/>
                      </a:pPr>
                      <a:r>
                        <a:rPr sz="1100" b="1">
                          <a:solidFill>
                            <a:srgbClr val="060606"/>
                          </a:solidFill>
                          <a:latin typeface="Helvetica"/>
                        </a:rPr>
                        <a:t>2023</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1 024 011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1 024 011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6 024 011 FCFA</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2024</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3 676 481 FCFA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4 700 492 FCFA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3 676 481 FCFA</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2025</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837 513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2 457 312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43 668 069 FCFA</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31/08/2026</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600 586 FCFA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3 057 898 FCFA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932 138 FCFA</a:t>
                      </a:r>
                    </a:p>
                  </a:txBody>
                  <a:tcPr marL="43200" marR="43200" marT="14400" marB="14400" anchor="ctr">
                    <a:solidFill>
                      <a:srgbClr val="F2F2F2"/>
                    </a:solidFill>
                  </a:tcPr>
                </a:tc>
              </a:tr>
            </a:tbl>
          </a:graphicData>
        </a:graphic>
      </p:graphicFrame>
      <p:sp>
        <p:nvSpPr>
          <p:cNvPr id="33" name="TextBox 32"/>
          <p:cNvSpPr txBox="1"/>
          <p:nvPr/>
        </p:nvSpPr>
        <p:spPr>
          <a:xfrm>
            <a:off x="503999" y="3057903"/>
            <a:ext cx="7056000" cy="306000"/>
          </a:xfrm>
          <a:prstGeom prst="rect">
            <a:avLst/>
          </a:prstGeom>
          <a:noFill/>
        </p:spPr>
        <p:txBody>
          <a:bodyPr wrap="square" anchor="t" lIns="54000" rIns="54000"/>
          <a:lstStyle/>
          <a:p>
            <a:pPr algn="l"/>
            <a:r>
              <a:rPr sz="850" b="0">
                <a:solidFill>
                  <a:srgbClr val="53565A"/>
                </a:solidFill>
                <a:latin typeface="Helvetica"/>
              </a:rPr>
              <a:t>Valable pour : compte 47111106 (GNA) et compte 71800000 des balances 2023 à 2026. Précomptes 9W3 de 2024. Convention avec GNA non reçue.</a:t>
            </a:r>
          </a:p>
        </p:txBody>
      </p:sp>
      <p:sp>
        <p:nvSpPr>
          <p:cNvPr id="34" name="TextBox 33"/>
          <p:cNvSpPr txBox="1"/>
          <p:nvPr/>
        </p:nvSpPr>
        <p:spPr>
          <a:xfrm>
            <a:off x="7776000" y="1386000"/>
            <a:ext cx="3960000" cy="4482000"/>
          </a:xfrm>
          <a:prstGeom prst="rect">
            <a:avLst/>
          </a:prstGeom>
          <a:noFill/>
        </p:spPr>
        <p:txBody>
          <a:bodyPr wrap="square" lIns="54000" rIns="54000"/>
          <a:lstStyle/>
          <a:p>
            <a:pPr algn="just">
              <a:spcAft>
                <a:spcPts val="600"/>
              </a:spcAft>
            </a:pPr>
            <a:r>
              <a:rPr sz="1400" b="1">
                <a:solidFill>
                  <a:srgbClr val="060606"/>
                </a:solidFill>
                <a:latin typeface="Helvetica"/>
              </a:rPr>
              <a:t>En 2024, le débit du compte GNA est égal aux produits des activités annexes</a:t>
            </a:r>
            <a:r>
              <a:rPr sz="1400" b="0">
                <a:solidFill>
                  <a:srgbClr val="060606"/>
                </a:solidFill>
                <a:latin typeface="Helvetica"/>
              </a:rPr>
              <a:t> : le compte enregistre les commissions dues par GNA. </a:t>
            </a:r>
            <a:r>
              <a:rPr sz="1400" b="0">
                <a:solidFill>
                  <a:srgbClr val="060606"/>
                </a:solidFill>
                <a:highlight>
                  <a:srgbClr val="FFFF00"/>
                </a:highlight>
                <a:latin typeface="Helvetica"/>
              </a:rPr>
              <a:t>Ses crédits sont les versements de GNA</a:t>
            </a:r>
            <a:r>
              <a:rPr sz="1400" b="0">
                <a:solidFill>
                  <a:srgbClr val="060606"/>
                </a:solidFill>
                <a:latin typeface="Helvetica"/>
              </a:rPr>
              <a:t>.</a:t>
            </a:r>
          </a:p>
          <a:p>
            <a:pPr algn="just">
              <a:spcAft>
                <a:spcPts val="600"/>
              </a:spcAft>
            </a:pPr>
            <a:r>
              <a:rPr sz="1400" b="1">
                <a:solidFill>
                  <a:srgbClr val="060606"/>
                </a:solidFill>
                <a:latin typeface="Helvetica"/>
              </a:rPr>
              <a:t>La commission comptabilisée en 2024 ne vaut pas 20 % des précomptes 9W3 de l'année (7 913 002 FCFA).</a:t>
            </a:r>
            <a:r>
              <a:rPr sz="1400" b="0">
                <a:solidFill>
                  <a:srgbClr val="060606"/>
                </a:solidFill>
                <a:latin typeface="Helvetica"/>
              </a:rPr>
              <a:t> </a:t>
            </a:r>
            <a:r>
              <a:rPr sz="1400" b="0">
                <a:solidFill>
                  <a:srgbClr val="060606"/>
                </a:solidFill>
                <a:highlight>
                  <a:srgbClr val="FFFF00"/>
                </a:highlight>
                <a:latin typeface="Helvetica"/>
              </a:rPr>
              <a:t>La commission porte aussi sur des primes payées hors précompte</a:t>
            </a:r>
            <a:r>
              <a:rPr sz="1400" b="0">
                <a:solidFill>
                  <a:srgbClr val="060606"/>
                </a:solidFill>
                <a:latin typeface="Helvetica"/>
              </a:rPr>
              <a:t> (convention demandée, PBC, item 61).</a:t>
            </a:r>
          </a:p>
          <a:p>
            <a:pPr algn="just">
              <a:spcAft>
                <a:spcPts val="600"/>
              </a:spcAft>
            </a:pPr>
            <a:r>
              <a:rPr sz="1400" b="0">
                <a:solidFill>
                  <a:srgbClr val="060606"/>
                </a:solidFill>
                <a:latin typeface="Helvetica"/>
              </a:rPr>
              <a:t>Aucune provision technique n'est due par le FPPN. La convention avec GNA doit fixer l'assiette de la commission et le traitement des trop-perçus (PBC, item 61).</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Surligné en jaune : affirmation à confirmer par une pièce ou une réponse écrite du FPPN. Sigles : FPPN : Fonds de prévoyance de la Police nationale | PBC : liste des documents demandés au client | GNA : assureur de la flotte automobile (compte 47111106) | 9W3 : poste flotte automobile</a:t>
            </a:r>
          </a:p>
        </p:txBody>
      </p:sp>
    </p:spTree>
    <p:extLst>
      <p:ext uri="{BB962C8B-B14F-4D97-AF65-F5344CB8AC3E}">
        <p14:creationId xmlns:p14="http://schemas.microsoft.com/office/powerpoint/2010/main" val="1374605119"/>
      </p:ext>
    </p:extLst>
  </p:cSld>
  <p:clrMapOvr>
    <a:masterClrMapping/>
  </p:clrMapOvr>
  <p:transition>
    <p:fade/>
  </p:transition>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Départ à la retraite du personnel</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provision du personnel est reprise puis dotée en totalité chaque année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Provision au compte 196 : 24 155 943 FCFA en 2020, 43 666 678 FCFA en 2025. Recalcul agent par agent dans les diapositives suivantes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 Décret n° 2017-210 du 30/03/2017. Convention collective interprofessionnelle du 19/07/1977, art. 40. SYSCOHADA révisé</a:t>
            </a:r>
          </a:p>
        </p:txBody>
      </p:sp>
      <p:sp>
        <p:nvSpPr>
          <p:cNvPr id="31" name="TextBox 30"/>
          <p:cNvSpPr txBox="1"/>
          <p:nvPr/>
        </p:nvSpPr>
        <p:spPr>
          <a:xfrm>
            <a:off x="503999" y="1386000"/>
            <a:ext cx="7056000" cy="216000"/>
          </a:xfrm>
          <a:prstGeom prst="rect">
            <a:avLst/>
          </a:prstGeom>
          <a:noFill/>
        </p:spPr>
        <p:txBody>
          <a:bodyPr wrap="square" anchor="t" lIns="54000" rIns="54000"/>
          <a:lstStyle/>
          <a:p>
            <a:pPr algn="ctr"/>
            <a:r>
              <a:rPr sz="1200" b="0">
                <a:solidFill>
                  <a:srgbClr val="EFAC62"/>
                </a:solidFill>
                <a:latin typeface="Helvetica"/>
              </a:rPr>
              <a:t>Tableau 53 : Provision pour départ à la retraite du personnel</a:t>
            </a:r>
          </a:p>
        </p:txBody>
      </p:sp>
      <p:graphicFrame>
        <p:nvGraphicFramePr>
          <p:cNvPr id="32" name="Table 31"/>
          <p:cNvGraphicFramePr>
            <a:graphicFrameLocks noGrp="1"/>
          </p:cNvGraphicFramePr>
          <p:nvPr/>
        </p:nvGraphicFramePr>
        <p:xfrm>
          <a:off x="503999" y="1655999"/>
          <a:ext cx="7056000" cy="1576750"/>
        </p:xfrm>
        <a:graphic>
          <a:graphicData uri="http://schemas.openxmlformats.org/drawingml/2006/table">
            <a:tbl>
              <a:tblPr firstRow="0" bandRow="0">
                <a:tableStyleId>{5940675A-B579-460E-94D1-54222C63F5DA}</a:tableStyleId>
              </a:tblPr>
              <a:tblGrid>
                <a:gridCol w="1245600"/>
                <a:gridCol w="1936800"/>
                <a:gridCol w="1936800"/>
                <a:gridCol w="1936800"/>
              </a:tblGrid>
              <a:tr h="225250">
                <a:tc>
                  <a:txBody>
                    <a:bodyPr/>
                    <a:lstStyle/>
                    <a:p>
                      <a:pPr marL="0" indent="0" lvl="0">
                        <a:buNone/>
                      </a:pPr>
                      <a:r>
                        <a:rPr sz="1100" b="1">
                          <a:solidFill>
                            <a:srgbClr val="FFFFFF"/>
                          </a:solidFill>
                          <a:latin typeface="Helvetica"/>
                        </a:rPr>
                        <a:t>Exercice</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Provision (196)</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Dotation (6911)</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Reprise (7911)</a:t>
                      </a:r>
                    </a:p>
                  </a:txBody>
                  <a:tcPr marL="43200" marR="43200" marT="14400" marB="14400" anchor="ctr">
                    <a:solidFill>
                      <a:srgbClr val="060606"/>
                    </a:solidFill>
                  </a:tcPr>
                </a:tc>
              </a:tr>
              <a:tr h="225250">
                <a:tc>
                  <a:txBody>
                    <a:bodyPr/>
                    <a:lstStyle/>
                    <a:p>
                      <a:pPr marL="0" indent="0" lvl="0">
                        <a:buNone/>
                      </a:pPr>
                      <a:r>
                        <a:rPr sz="1100" b="1">
                          <a:solidFill>
                            <a:srgbClr val="060606"/>
                          </a:solidFill>
                          <a:latin typeface="Helvetica"/>
                        </a:rPr>
                        <a:t>2020</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24 155 943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24 155 943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21 855 876 FCFA</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2021</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22 542 542 FCFA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22 542 542 FCFA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24 155 943 FCFA</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2022</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28 325 794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28 325 794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22 542 542 FCFA</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2023</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35 312 179 FCFA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35 312 179 FCFA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28 325 794 FCFA</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2024</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34 753 547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34 753 547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35 312 179 FCFA</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2025</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43 666 678 FCFA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43 666 678 FCFA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34 753 547 FCFA</a:t>
                      </a:r>
                    </a:p>
                  </a:txBody>
                  <a:tcPr marL="43200" marR="43200" marT="14400" marB="14400" anchor="ctr">
                    <a:solidFill>
                      <a:srgbClr val="F2F2F2"/>
                    </a:solidFill>
                  </a:tcPr>
                </a:tc>
              </a:tr>
            </a:tbl>
          </a:graphicData>
        </a:graphic>
      </p:graphicFrame>
      <p:sp>
        <p:nvSpPr>
          <p:cNvPr id="33" name="TextBox 32"/>
          <p:cNvSpPr txBox="1"/>
          <p:nvPr/>
        </p:nvSpPr>
        <p:spPr>
          <a:xfrm>
            <a:off x="503999" y="3340753"/>
            <a:ext cx="7056000" cy="306000"/>
          </a:xfrm>
          <a:prstGeom prst="rect">
            <a:avLst/>
          </a:prstGeom>
          <a:noFill/>
        </p:spPr>
        <p:txBody>
          <a:bodyPr wrap="square" anchor="t" lIns="54000" rIns="54000"/>
          <a:lstStyle/>
          <a:p>
            <a:pPr algn="l"/>
            <a:r>
              <a:rPr sz="850" b="0">
                <a:solidFill>
                  <a:srgbClr val="53565A"/>
                </a:solidFill>
                <a:latin typeface="Helvetica"/>
              </a:rPr>
              <a:t>Valable pour : comptes 196, 6911 et 7911 des balances « BALANCE FORMAT EXCEL DE 09-2020 AU 31-12-2020.xlsx » à « BALANCE FPPN DU 01-01-2026 AU 31-08-2026.xlsx », exercices 2020 à 2025.</a:t>
            </a:r>
          </a:p>
        </p:txBody>
      </p:sp>
      <p:sp>
        <p:nvSpPr>
          <p:cNvPr id="34" name="TextBox 33"/>
          <p:cNvSpPr txBox="1"/>
          <p:nvPr/>
        </p:nvSpPr>
        <p:spPr>
          <a:xfrm>
            <a:off x="7776000" y="1386000"/>
            <a:ext cx="3960000" cy="4482000"/>
          </a:xfrm>
          <a:prstGeom prst="rect">
            <a:avLst/>
          </a:prstGeom>
          <a:noFill/>
        </p:spPr>
        <p:txBody>
          <a:bodyPr wrap="square" lIns="54000" rIns="54000"/>
          <a:lstStyle/>
          <a:p>
            <a:pPr algn="just">
              <a:spcAft>
                <a:spcPts val="600"/>
              </a:spcAft>
            </a:pPr>
            <a:r>
              <a:rPr sz="1300" b="1">
                <a:solidFill>
                  <a:srgbClr val="060606"/>
                </a:solidFill>
                <a:latin typeface="Helvetica"/>
              </a:rPr>
              <a:t>Chaque année, la provision de l'année précédente est reprise en totalité et la nouvelle est dotée en totalité.</a:t>
            </a:r>
            <a:r>
              <a:rPr sz="1300" b="0">
                <a:solidFill>
                  <a:srgbClr val="060606"/>
                </a:solidFill>
                <a:latin typeface="Helvetica"/>
              </a:rPr>
              <a:t> Selon le chef comptable (entretien du 19/10/2026), le calcul applique la convention collective à l'ancienneté acquise.</a:t>
            </a:r>
          </a:p>
          <a:p>
            <a:pPr algn="just">
              <a:spcAft>
                <a:spcPts val="600"/>
              </a:spcAft>
            </a:pPr>
            <a:r>
              <a:rPr sz="1300" b="1">
                <a:solidFill>
                  <a:srgbClr val="060606"/>
                </a:solidFill>
                <a:latin typeface="Helvetica"/>
              </a:rPr>
              <a:t>Les charges patronales s'ajoutent à l'indemnité</a:t>
            </a:r>
            <a:r>
              <a:rPr sz="1300" b="0">
                <a:solidFill>
                  <a:srgbClr val="060606"/>
                </a:solidFill>
                <a:latin typeface="Helvetica"/>
              </a:rPr>
              <a:t> : charges fiscales de 2,80 % (IS 1,20 %, FDFP 0,40 % et 1,20 %), retraite 7,70 % plafonnée à 3 375 000 FCFA, prestations familiales 5,75 % et risques professionnels 2 % (taux du FPPN), plafonnés à 75 000 FCFA.</a:t>
            </a:r>
          </a:p>
          <a:p>
            <a:pPr algn="just">
              <a:spcAft>
                <a:spcPts val="600"/>
              </a:spcAft>
            </a:pPr>
            <a:r>
              <a:rPr sz="1300" b="1">
                <a:solidFill>
                  <a:srgbClr val="060606"/>
                </a:solidFill>
                <a:latin typeface="Helvetica"/>
              </a:rPr>
              <a:t>Les DISA reçues le 22/10/2026 donnent l'âge, l'ancienneté et le salaire de chaque agent civil.</a:t>
            </a:r>
            <a:r>
              <a:rPr sz="1300" b="0">
                <a:solidFill>
                  <a:srgbClr val="060606"/>
                </a:solidFill>
                <a:latin typeface="Helvetica"/>
              </a:rPr>
              <a:t> Le recalcul est présenté dans les diapositives suivantes.</a:t>
            </a:r>
          </a:p>
          <a:p>
            <a:pPr algn="just">
              <a:spcAft>
                <a:spcPts val="600"/>
              </a:spcAft>
            </a:pPr>
            <a:r>
              <a:rPr sz="1300" b="0">
                <a:solidFill>
                  <a:srgbClr val="060606"/>
                </a:solidFill>
                <a:latin typeface="Helvetica"/>
              </a:rPr>
              <a:t>Le montant est faible au regard des provisions techniques, mais il entre dans les dettes à long terme et dans les ratios de la partie 10.</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IS : impôt sur les salaires (part patronale) | FDFP : Fonds de développement de la formation professionnelle | SYSCOHADA : système comptable de l'OHADA | DISA : déclaration individuelle des salaires annuels à la CNPS</a:t>
            </a:r>
          </a:p>
        </p:txBody>
      </p:sp>
    </p:spTree>
    <p:extLst>
      <p:ext uri="{BB962C8B-B14F-4D97-AF65-F5344CB8AC3E}">
        <p14:creationId xmlns:p14="http://schemas.microsoft.com/office/powerpoint/2010/main" val="1054208828"/>
      </p:ext>
    </p:extLst>
  </p:cSld>
  <p:clrMapOvr>
    <a:masterClrMapping/>
  </p:clrMapOvr>
  <p:transition>
    <p:fade/>
  </p:transition>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Provision du personnel : méthode et paramètres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Chaque agent civil est évalué à partir de sa déclaration CNPS, avec des paramètres observés ou fixés par les textes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Méthode des unités de crédit projetées : indemnité projetée au départ, acquise au prorata de l'ancienneté, pondérée par la survie, la rotation et l'actualisation</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DISA_256927_2021.xls, DISA_256927_2022.xls, DISA_256927_2023.xls, DISA_256927_2025.xls (déclarations CNPS). ETAT 301 &amp; DISA 2024 FPPN.xls (RECAPSALAIRES 2024 CMP). ETAT 301 &amp; DISA 2025 FPPN.xls (RECAPSALAIRES 2025 GRENIER). Décret n° 2017-210 du 30/03/2017. Convention collective du 19/07/1977, art. 40. IAS 19, § 67 et 83. Investing.com. Table CIMA F</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54 : Paramètres de la provision du personnel au 31/12/2025</a:t>
            </a:r>
          </a:p>
        </p:txBody>
      </p:sp>
      <p:graphicFrame>
        <p:nvGraphicFramePr>
          <p:cNvPr id="32" name="Table 31"/>
          <p:cNvGraphicFramePr>
            <a:graphicFrameLocks noGrp="1"/>
          </p:cNvGraphicFramePr>
          <p:nvPr/>
        </p:nvGraphicFramePr>
        <p:xfrm>
          <a:off x="503999" y="1655999"/>
          <a:ext cx="11232000" cy="1943428"/>
        </p:xfrm>
        <a:graphic>
          <a:graphicData uri="http://schemas.openxmlformats.org/drawingml/2006/table">
            <a:tbl>
              <a:tblPr firstRow="0" bandRow="0">
                <a:tableStyleId>{5940675A-B579-460E-94D1-54222C63F5DA}</a:tableStyleId>
              </a:tblPr>
              <a:tblGrid>
                <a:gridCol w="2304000"/>
                <a:gridCol w="1440000"/>
                <a:gridCol w="7488000"/>
              </a:tblGrid>
              <a:tr h="187148">
                <a:tc>
                  <a:txBody>
                    <a:bodyPr/>
                    <a:lstStyle/>
                    <a:p>
                      <a:pPr marL="0" indent="0" lvl="0">
                        <a:buNone/>
                      </a:pPr>
                      <a:r>
                        <a:rPr sz="850" b="1">
                          <a:solidFill>
                            <a:srgbClr val="FFFFFF"/>
                          </a:solidFill>
                          <a:latin typeface="Helvetica"/>
                        </a:rPr>
                        <a:t>Paramètre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Valeur</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Justification</a:t>
                      </a:r>
                    </a:p>
                  </a:txBody>
                  <a:tcPr marL="43200" marR="43200" marT="14400" marB="14400" anchor="ctr">
                    <a:solidFill>
                      <a:srgbClr val="060606"/>
                    </a:solidFill>
                  </a:tcPr>
                </a:tc>
              </a:tr>
              <a:tr h="316696">
                <a:tc>
                  <a:txBody>
                    <a:bodyPr/>
                    <a:lstStyle/>
                    <a:p>
                      <a:pPr marL="0" indent="0" lvl="0">
                        <a:buNone/>
                      </a:pPr>
                      <a:r>
                        <a:rPr sz="850" b="1">
                          <a:solidFill>
                            <a:srgbClr val="060606"/>
                          </a:solidFill>
                          <a:latin typeface="Helvetica"/>
                        </a:rPr>
                        <a:t>Âge de départ</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55 ans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Convention collective interprofessionnelle du 19/07/1977, art. 40 : 55 ans, plus un an par enfant à charge (au plus 3). Les enfants ne figurent pas dans les fichiers reçus.</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Barème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30 %. 35 %. 40 %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Décret n° 2017-210, art. 4 : jusqu'à 5 ans, de 6 à 10 ans, au-delà de 10 ans, fractions d'année au mois inférieur.</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Salaire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Brut annuel / mois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Salaire brut de la DISA divisé par la durée d'activité de l'année (salaire global mensuel moyen, art. 4).</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Taux d'actualisation</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7,19 %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Moyenne de 2025 du rendement de l'obligation de l'État de Côte d'Ivoire à 10 ans, 248 cotations Investing.com (IAS 19, § 83).</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Croissance des salaires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10,36 %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Médiane de la croissance annuelle observée sur les 26 agents présents douze mois en 2021 et en 2025.</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Rotation du personnel</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9,79 %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Moyenne des taux annuels de sortie observés entre les DISA 2021, 2022, 2023 et 2025.</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Survie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Table CIMA F</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Table de survie, prudente pour une indemnité versée si l'agent est en vie au départ (principe de prudence, partie 11).</a:t>
                      </a:r>
                    </a:p>
                  </a:txBody>
                  <a:tcPr marL="43200" marR="43200" marT="14400" marB="14400" anchor="ctr">
                    <a:solidFill>
                      <a:srgbClr val="FFFFFF"/>
                    </a:solidFill>
                  </a:tcPr>
                </a:tc>
              </a:tr>
              <a:tr h="316696">
                <a:tc>
                  <a:txBody>
                    <a:bodyPr/>
                    <a:lstStyle/>
                    <a:p>
                      <a:pPr marL="0" indent="0" lvl="0">
                        <a:buNone/>
                      </a:pPr>
                      <a:r>
                        <a:rPr sz="850" b="1">
                          <a:solidFill>
                            <a:srgbClr val="060606"/>
                          </a:solidFill>
                          <a:latin typeface="Helvetica"/>
                        </a:rPr>
                        <a:t>Entité</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DG, CMP, Grenier</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Listes nominatives des récapitulatifs de salaires 2024 (CMP) et 2025 (Grenier). Agents absents de ces listes : rattachement non documenté.</a:t>
                      </a:r>
                    </a:p>
                  </a:txBody>
                  <a:tcPr marL="43200" marR="43200" marT="14400" marB="14400" anchor="ctr">
                    <a:solidFill>
                      <a:srgbClr val="F2F2F2"/>
                    </a:solidFill>
                  </a:tcPr>
                </a:tc>
              </a:tr>
            </a:tbl>
          </a:graphicData>
        </a:graphic>
      </p:graphicFrame>
      <p:sp>
        <p:nvSpPr>
          <p:cNvPr id="33" name="TextBox 32"/>
          <p:cNvSpPr txBox="1"/>
          <p:nvPr/>
        </p:nvSpPr>
        <p:spPr>
          <a:xfrm>
            <a:off x="503999" y="3707429"/>
            <a:ext cx="11232000" cy="162000"/>
          </a:xfrm>
          <a:prstGeom prst="rect">
            <a:avLst/>
          </a:prstGeom>
          <a:noFill/>
        </p:spPr>
        <p:txBody>
          <a:bodyPr wrap="square" anchor="t" lIns="54000" rIns="54000"/>
          <a:lstStyle/>
          <a:p>
            <a:pPr algn="l"/>
            <a:r>
              <a:rPr sz="850" b="0">
                <a:solidFill>
                  <a:srgbClr val="53565A"/>
                </a:solidFill>
                <a:latin typeface="Helvetica"/>
              </a:rPr>
              <a:t>Valable pour : personnel civil déclaré à la CNPS (DISA), hors travailleurs occasionnels et fonctionnaires de police détachés, évaluation au 31/12.</a:t>
            </a:r>
          </a:p>
        </p:txBody>
      </p:sp>
      <p:sp>
        <p:nvSpPr>
          <p:cNvPr id="34" name="TextBox 33"/>
          <p:cNvSpPr txBox="1"/>
          <p:nvPr/>
        </p:nvSpPr>
        <p:spPr>
          <a:xfrm>
            <a:off x="503999" y="4013429"/>
            <a:ext cx="11232000" cy="1854570"/>
          </a:xfrm>
          <a:prstGeom prst="rect">
            <a:avLst/>
          </a:prstGeom>
          <a:noFill/>
        </p:spPr>
        <p:txBody>
          <a:bodyPr wrap="square" lIns="54000" rIns="54000"/>
          <a:lstStyle/>
          <a:p>
            <a:pPr algn="just">
              <a:spcAft>
                <a:spcPts val="600"/>
              </a:spcAft>
            </a:pPr>
            <a:r>
              <a:rPr sz="1300" b="1">
                <a:solidFill>
                  <a:srgbClr val="060606"/>
                </a:solidFill>
                <a:latin typeface="Helvetica"/>
              </a:rPr>
              <a:t>Tous les paramètres viennent d'un texte ou d'une observation sur les fichiers du FPPN.</a:t>
            </a:r>
            <a:r>
              <a:rPr sz="1300" b="0">
                <a:solidFill>
                  <a:srgbClr val="060606"/>
                </a:solidFill>
                <a:latin typeface="Helvetica"/>
              </a:rPr>
              <a:t> Seuls l'âge de départ, faute d'enfants déclarés, et le taux d'actualisation, faute de marché profond, relèvent d'un choix justifié.</a:t>
            </a:r>
          </a:p>
          <a:p>
            <a:pPr algn="just">
              <a:spcAft>
                <a:spcPts val="600"/>
              </a:spcAft>
            </a:pPr>
            <a:r>
              <a:rPr sz="1300" b="0">
                <a:solidFill>
                  <a:srgbClr val="060606"/>
                </a:solidFill>
                <a:latin typeface="Helvetica"/>
              </a:rPr>
              <a:t>Les effets de l'âge de départ, du taux, de la rotation et des salaires sont mesurés plus loin, une hypothèse à la fois.</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Sigles : FPPN : Fonds de prévoyance de la Police nationale | CIMA : Conférence interafricaine des marchés d'assurances | CMP : Clinique médicale du policier | CNPS : Caisse nationale de prévoyance sociale | IAS, IFRS : normes comptables internationales | DISA : déclaration individuelle des salaires annuels à la CNPS | DG : Direction Générale du FPPN</a:t>
            </a:r>
          </a:p>
        </p:txBody>
      </p:sp>
    </p:spTree>
    <p:extLst>
      <p:ext uri="{BB962C8B-B14F-4D97-AF65-F5344CB8AC3E}">
        <p14:creationId xmlns:p14="http://schemas.microsoft.com/office/powerpoint/2010/main" val="2977670550"/>
      </p:ext>
    </p:extLst>
  </p:cSld>
  <p:clrMapOvr>
    <a:masterClrMapping/>
  </p:clrMapOvr>
  <p:transition>
    <p:fade/>
  </p:transition>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Provision du personnel par entité de 2021 à 2025</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provision recalculée est inférieure au compte 196. Les droits acquis en sont proches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Au 31/12/2025 : provision recalculée 24 446 566 FCFA, droits acquis 43 195 084 FCFA, compte 196 43 666 678 FCFA</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DISA_256927_2021.xls, DISA_256927_2022.xls, DISA_256927_2023.xls, DISA_256927_2025.xls (déclarations CNPS). ETAT 301 &amp; DISA 2024 FPPN.xls (RECAPSALAIRES 2024 CMP). ETAT 301 &amp; DISA 2025 FPPN.xls (RECAPSALAIRES 2025 GRENIER). Balances des comptes du FPPN de 2020 au 31/08/2026 (provisoire), fichiers « BALANCE … » listés en annexe « Fichiers sources ». Traitements Adenka. Onglets 14b et 14c du classeur des calculs</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55 : Provision du personnel par entité, droits acquis et compte 196</a:t>
            </a:r>
          </a:p>
        </p:txBody>
      </p:sp>
      <p:graphicFrame>
        <p:nvGraphicFramePr>
          <p:cNvPr id="32" name="Table 31"/>
          <p:cNvGraphicFramePr>
            <a:graphicFrameLocks noGrp="1"/>
          </p:cNvGraphicFramePr>
          <p:nvPr/>
        </p:nvGraphicFramePr>
        <p:xfrm>
          <a:off x="503999" y="1655999"/>
          <a:ext cx="11232000" cy="935740"/>
        </p:xfrm>
        <a:graphic>
          <a:graphicData uri="http://schemas.openxmlformats.org/drawingml/2006/table">
            <a:tbl>
              <a:tblPr firstRow="0" bandRow="0">
                <a:tableStyleId>{5940675A-B579-460E-94D1-54222C63F5DA}</a:tableStyleId>
              </a:tblPr>
              <a:tblGrid>
                <a:gridCol w="864000"/>
                <a:gridCol w="792000"/>
                <a:gridCol w="1368000"/>
                <a:gridCol w="1224000"/>
                <a:gridCol w="1152000"/>
                <a:gridCol w="1296000"/>
                <a:gridCol w="1512000"/>
                <a:gridCol w="1512000"/>
                <a:gridCol w="1512000"/>
              </a:tblGrid>
              <a:tr h="187148">
                <a:tc>
                  <a:txBody>
                    <a:bodyPr/>
                    <a:lstStyle/>
                    <a:p>
                      <a:pPr marL="0" indent="0" lvl="0">
                        <a:buNone/>
                      </a:pPr>
                      <a:r>
                        <a:rPr sz="850" b="1">
                          <a:solidFill>
                            <a:srgbClr val="FFFFFF"/>
                          </a:solidFill>
                          <a:latin typeface="Helvetica"/>
                        </a:rPr>
                        <a:t>Exercice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Agents</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Direction Générale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CMP</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Grenier</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Non documentée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Provision recalculée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Droits acquis</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Compte 196 (FPPN)</a:t>
                      </a:r>
                    </a:p>
                  </a:txBody>
                  <a:tcPr marL="43200" marR="43200" marT="14400" marB="14400" anchor="ctr">
                    <a:solidFill>
                      <a:srgbClr val="060606"/>
                    </a:solidFill>
                  </a:tcPr>
                </a:tc>
              </a:tr>
              <a:tr h="187148">
                <a:tc>
                  <a:txBody>
                    <a:bodyPr/>
                    <a:lstStyle/>
                    <a:p>
                      <a:pPr marL="0" indent="0" lvl="0">
                        <a:buNone/>
                      </a:pPr>
                      <a:r>
                        <a:rPr sz="850" b="1">
                          <a:solidFill>
                            <a:srgbClr val="060606"/>
                          </a:solidFill>
                          <a:latin typeface="Helvetica"/>
                        </a:rPr>
                        <a:t>2021</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49</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7 630 201</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1 319 886</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466 838</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5 602 748</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15 019 673</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28 162 298</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22 542 542</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2022</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56</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9 003 702</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2 099 651</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593 156</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7 367 571</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19 064 081</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33 558 812</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28 325 794</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2023</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62</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12 501 712</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3 243 122</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851 186</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6 302 573</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22 898 594</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40 339 551</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35 312 179</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2025</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79</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16 118 202</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6 680 600</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1 454 296</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193 469</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24 446 566</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43 195 084</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43 666 678</a:t>
                      </a:r>
                    </a:p>
                  </a:txBody>
                  <a:tcPr marL="43200" marR="43200" marT="14400" marB="14400" anchor="ctr">
                    <a:solidFill>
                      <a:srgbClr val="F2F2F2"/>
                    </a:solidFill>
                  </a:tcPr>
                </a:tc>
              </a:tr>
            </a:tbl>
          </a:graphicData>
        </a:graphic>
      </p:graphicFrame>
      <p:sp>
        <p:nvSpPr>
          <p:cNvPr id="33" name="TextBox 32"/>
          <p:cNvSpPr txBox="1"/>
          <p:nvPr/>
        </p:nvSpPr>
        <p:spPr>
          <a:xfrm>
            <a:off x="503999" y="2699740"/>
            <a:ext cx="11232000" cy="162000"/>
          </a:xfrm>
          <a:prstGeom prst="rect">
            <a:avLst/>
          </a:prstGeom>
          <a:noFill/>
        </p:spPr>
        <p:txBody>
          <a:bodyPr wrap="square" anchor="t" lIns="54000" rIns="54000"/>
          <a:lstStyle/>
          <a:p>
            <a:pPr algn="l"/>
            <a:r>
              <a:rPr sz="850" b="0">
                <a:solidFill>
                  <a:srgbClr val="53565A"/>
                </a:solidFill>
                <a:latin typeface="Helvetica"/>
              </a:rPr>
              <a:t>Valable pour : agents des DISA 2021, 2022, 2023 et 2025 (« DISA_256927_&lt;année&gt;.xls »), au 31/12 de chaque année. 2024 non calculé (DISA scannée). Hors policiers détachés.</a:t>
            </a:r>
          </a:p>
        </p:txBody>
      </p:sp>
      <p:sp>
        <p:nvSpPr>
          <p:cNvPr id="34" name="TextBox 33"/>
          <p:cNvSpPr txBox="1"/>
          <p:nvPr/>
        </p:nvSpPr>
        <p:spPr>
          <a:xfrm>
            <a:off x="503999" y="3005740"/>
            <a:ext cx="11232000" cy="2862259"/>
          </a:xfrm>
          <a:prstGeom prst="rect">
            <a:avLst/>
          </a:prstGeom>
          <a:noFill/>
        </p:spPr>
        <p:txBody>
          <a:bodyPr wrap="square" lIns="54000" rIns="54000"/>
          <a:lstStyle/>
          <a:p>
            <a:pPr algn="just">
              <a:spcAft>
                <a:spcPts val="600"/>
              </a:spcAft>
            </a:pPr>
            <a:r>
              <a:rPr sz="1300" b="1">
                <a:solidFill>
                  <a:srgbClr val="060606"/>
                </a:solidFill>
                <a:latin typeface="Helvetica"/>
              </a:rPr>
              <a:t>Au 31/12/2025, la provision recalculée vaut 55,98 % du compte 196. Les droits acquis en valent 98,92 %.</a:t>
            </a:r>
            <a:r>
              <a:rPr sz="1300" b="0">
                <a:solidFill>
                  <a:srgbClr val="060606"/>
                </a:solidFill>
                <a:latin typeface="Helvetica"/>
              </a:rPr>
              <a:t> Le montant du FPPN est donc proche d'un calcul sans projection ni actualisation, comme l'a décrit le chef comptable.</a:t>
            </a:r>
          </a:p>
          <a:p>
            <a:pPr algn="just">
              <a:spcAft>
                <a:spcPts val="600"/>
              </a:spcAft>
            </a:pPr>
            <a:r>
              <a:rPr sz="1300" b="1">
                <a:solidFill>
                  <a:srgbClr val="060606"/>
                </a:solidFill>
                <a:latin typeface="Helvetica"/>
              </a:rPr>
              <a:t>La Direction Générale porte 65,93 % de la provision 2025 avec 20 agents.</a:t>
            </a:r>
            <a:r>
              <a:rPr sz="1300" b="0">
                <a:solidFill>
                  <a:srgbClr val="060606"/>
                </a:solidFill>
                <a:latin typeface="Helvetica"/>
              </a:rPr>
              <a:t> Le CMP compte 37 agents, dont 27 recrutés depuis 2022 : leurs droits acquis restent faibles.</a:t>
            </a:r>
          </a:p>
          <a:p>
            <a:pPr algn="just">
              <a:spcAft>
                <a:spcPts val="600"/>
              </a:spcAft>
            </a:pPr>
            <a:r>
              <a:rPr sz="1300" b="0">
                <a:solidFill>
                  <a:srgbClr val="060606"/>
                </a:solidFill>
                <a:latin typeface="Helvetica"/>
              </a:rPr>
              <a:t>Le compte 196 couvre la provision recalculée selon les deux approches. </a:t>
            </a:r>
            <a:r>
              <a:rPr sz="1300" b="0">
                <a:solidFill>
                  <a:srgbClr val="060606"/>
                </a:solidFill>
                <a:highlight>
                  <a:srgbClr val="FFFF00"/>
                </a:highlight>
                <a:latin typeface="Helvetica"/>
              </a:rPr>
              <a:t>La méthode du FPPN est celle des droits acquis</a:t>
            </a:r>
            <a:r>
              <a:rPr sz="1300" b="0">
                <a:solidFill>
                  <a:srgbClr val="060606"/>
                </a:solidFill>
                <a:latin typeface="Helvetica"/>
              </a:rPr>
              <a:t> : sa note de calcul est demandée (PBC, item 78).</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Surligné en jaune : affirmation à confirmer par une pièce ou une réponse écrite du FPPN. Sigles : FPPN : Fonds de prévoyance de la Police nationale | CMP : Clinique médicale du policier | CNPS : Caisse nationale de prévoyance sociale | PBC : liste des documents demandés au client | DISA : déclaration individuelle des salaires annuels à la CNPS</a:t>
            </a:r>
          </a:p>
        </p:txBody>
      </p:sp>
    </p:spTree>
    <p:extLst>
      <p:ext uri="{BB962C8B-B14F-4D97-AF65-F5344CB8AC3E}">
        <p14:creationId xmlns:p14="http://schemas.microsoft.com/office/powerpoint/2010/main" val="3209376896"/>
      </p:ext>
    </p:extLst>
  </p:cSld>
  <p:clrMapOvr>
    <a:masterClrMapping/>
  </p:clrMapOvr>
  <p:transition>
    <p:fade/>
  </p:transition>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Provision du personnel agent par agent : Direction Générale (1/2)</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cinq provisions les plus élevées font 66,04 % de la provision de l'entité</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10 agents. Provision recalculée 14 040 396 FCFA. Droits acquis 21 620 323 FCFA</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DISA_256927_2021.xls, DISA_256927_2022.xls, DISA_256927_2023.xls, DISA_256927_2025.xls (déclarations CNPS). ETAT 301 &amp; DISA 2024 FPPN.xls (RECAPSALAIRES 2024 CMP). ETAT 301 &amp; DISA 2025 FPPN.xls (RECAPSALAIRES 2025 GRENIER). Onglet 14b du classeur des calculs</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56 : Provision du personnel au 31/12/2025 : Direction Générale (1/2)</a:t>
            </a:r>
          </a:p>
        </p:txBody>
      </p:sp>
      <p:graphicFrame>
        <p:nvGraphicFramePr>
          <p:cNvPr id="32" name="Table 31"/>
          <p:cNvGraphicFramePr>
            <a:graphicFrameLocks noGrp="1"/>
          </p:cNvGraphicFramePr>
          <p:nvPr/>
        </p:nvGraphicFramePr>
        <p:xfrm>
          <a:off x="503999" y="1655999"/>
          <a:ext cx="11231999" cy="1980000"/>
        </p:xfrm>
        <a:graphic>
          <a:graphicData uri="http://schemas.openxmlformats.org/drawingml/2006/table">
            <a:tbl>
              <a:tblPr firstRow="0" bandRow="0">
                <a:tableStyleId>{5940675A-B579-460E-94D1-54222C63F5DA}</a:tableStyleId>
              </a:tblPr>
              <a:tblGrid>
                <a:gridCol w="1080000"/>
                <a:gridCol w="1080000"/>
                <a:gridCol w="1296000"/>
                <a:gridCol w="864000"/>
                <a:gridCol w="1296000"/>
                <a:gridCol w="1800000"/>
                <a:gridCol w="1800000"/>
                <a:gridCol w="2015999"/>
              </a:tblGrid>
              <a:tr h="180000">
                <a:tc>
                  <a:txBody>
                    <a:bodyPr/>
                    <a:lstStyle/>
                    <a:p>
                      <a:pPr marL="0" indent="0" lvl="0">
                        <a:buNone/>
                      </a:pPr>
                      <a:r>
                        <a:rPr sz="800" b="1">
                          <a:solidFill>
                            <a:srgbClr val="FFFFFF"/>
                          </a:solidFill>
                          <a:latin typeface="Helvetica"/>
                        </a:rPr>
                        <a:t>Agent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Naissance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Embauche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Âge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Ancienneté (ans)</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Salaire mensuel moyen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Droits acquis</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Provision recalculée</a:t>
                      </a:r>
                    </a:p>
                  </a:txBody>
                  <a:tcPr marL="43200" marR="43200" marT="14400" marB="14400" anchor="ctr">
                    <a:solidFill>
                      <a:srgbClr val="060606"/>
                    </a:solidFill>
                  </a:tcPr>
                </a:tc>
              </a:tr>
              <a:tr h="180000">
                <a:tc>
                  <a:txBody>
                    <a:bodyPr/>
                    <a:lstStyle/>
                    <a:p>
                      <a:pPr marL="0" indent="0" lvl="0">
                        <a:buNone/>
                      </a:pPr>
                      <a:r>
                        <a:rPr sz="800" b="1">
                          <a:solidFill>
                            <a:srgbClr val="060606"/>
                          </a:solidFill>
                          <a:latin typeface="Helvetica"/>
                        </a:rPr>
                        <a:t>A25-01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1975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28/10/2013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50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12,17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1 234 373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5 081 501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3 617 604</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A25-04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1978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01/10/2014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11,17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1 341 090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4 984 383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2 896 107</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A25-02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1974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28/10/2013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51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12,17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617 329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2 541 339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1 940 839</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A25-05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1982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01/01/2014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11,92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677 034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2 719 421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1 172 709</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A25-07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1970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22/07/2014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55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11,42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266 335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1 016 512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1 016 512</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A25-09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1979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01/09/2016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9,25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609 510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1 820 911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1 003 992</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A25-03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1978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28/10/2013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47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12,17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296 617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1 221 075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701 666</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A25-10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1965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01/01/2017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60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8,92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235 750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676 800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676 800</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A25-08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1979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01/06/2016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46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9,50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323 675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995 301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548 419</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A25-11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1973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01/01/2017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52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8,92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196 138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563 080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465 751</a:t>
                      </a:r>
                    </a:p>
                  </a:txBody>
                  <a:tcPr marL="43200" marR="43200" marT="14400" marB="14400" anchor="ctr">
                    <a:solidFill>
                      <a:srgbClr val="F2F2F2"/>
                    </a:solidFill>
                  </a:tcPr>
                </a:tc>
              </a:tr>
            </a:tbl>
          </a:graphicData>
        </a:graphic>
      </p:graphicFrame>
      <p:sp>
        <p:nvSpPr>
          <p:cNvPr id="33" name="TextBox 32"/>
          <p:cNvSpPr txBox="1"/>
          <p:nvPr/>
        </p:nvSpPr>
        <p:spPr>
          <a:xfrm>
            <a:off x="503999" y="3744000"/>
            <a:ext cx="11232000" cy="162000"/>
          </a:xfrm>
          <a:prstGeom prst="rect">
            <a:avLst/>
          </a:prstGeom>
          <a:noFill/>
        </p:spPr>
        <p:txBody>
          <a:bodyPr wrap="square" anchor="t" lIns="54000" rIns="54000"/>
          <a:lstStyle/>
          <a:p>
            <a:pPr algn="l"/>
            <a:r>
              <a:rPr sz="850" b="0">
                <a:solidFill>
                  <a:srgbClr val="53565A"/>
                </a:solidFill>
                <a:latin typeface="Helvetica"/>
              </a:rPr>
              <a:t>Valable pour : agents déclarés dans la DISA 2025, évaluation au 31/12/2025. Paramètres de l'onglet 14a.</a:t>
            </a:r>
          </a:p>
        </p:txBody>
      </p:sp>
      <p:sp>
        <p:nvSpPr>
          <p:cNvPr id="34" name="TextBox 33"/>
          <p:cNvSpPr txBox="1"/>
          <p:nvPr/>
        </p:nvSpPr>
        <p:spPr>
          <a:xfrm>
            <a:off x="503999" y="4050000"/>
            <a:ext cx="11232000" cy="1818000"/>
          </a:xfrm>
          <a:prstGeom prst="rect">
            <a:avLst/>
          </a:prstGeom>
          <a:noFill/>
        </p:spPr>
        <p:txBody>
          <a:bodyPr wrap="square" lIns="54000" rIns="54000"/>
          <a:lstStyle/>
          <a:p>
            <a:pPr algn="just">
              <a:spcAft>
                <a:spcPts val="600"/>
              </a:spcAft>
            </a:pPr>
            <a:r>
              <a:rPr sz="1300" b="1">
                <a:solidFill>
                  <a:srgbClr val="060606"/>
                </a:solidFill>
                <a:latin typeface="Helvetica"/>
              </a:rPr>
              <a:t>L'agent A25-01 porte la provision la plus élevée de ce tableau (3 617 604 FCFA)</a:t>
            </a:r>
            <a:r>
              <a:rPr sz="1300" b="0">
                <a:solidFill>
                  <a:srgbClr val="060606"/>
                </a:solidFill>
                <a:latin typeface="Helvetica"/>
              </a:rPr>
              <a:t>, avec 12,17 ans d'ancienneté.</a:t>
            </a:r>
          </a:p>
          <a:p>
            <a:pPr algn="just">
              <a:spcAft>
                <a:spcPts val="600"/>
              </a:spcAft>
            </a:pPr>
            <a:r>
              <a:rPr sz="1300" b="0">
                <a:solidFill>
                  <a:srgbClr val="060606"/>
                </a:solidFill>
                <a:latin typeface="Helvetica"/>
              </a:rPr>
              <a:t>Ces montants s'additionnent dans la diapositive « Provision du personnel par entité ». L'âge de départ, la date d'embauche et l'entité de chaque agent sont demandés au FPPN (PBC, item 78).</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CMP : Clinique médicale du policier | CNPS : Caisse nationale de prévoyance sociale | PBC : liste des documents demandés au client | DISA : déclaration individuelle des salaires annuels à la CNPS</a:t>
            </a:r>
          </a:p>
        </p:txBody>
      </p:sp>
    </p:spTree>
    <p:extLst>
      <p:ext uri="{BB962C8B-B14F-4D97-AF65-F5344CB8AC3E}">
        <p14:creationId xmlns:p14="http://schemas.microsoft.com/office/powerpoint/2010/main" val="1239228711"/>
      </p:ext>
    </p:extLst>
  </p:cSld>
  <p:clrMapOvr>
    <a:masterClrMapping/>
  </p:clrMapOvr>
  <p:transition>
    <p:fade/>
  </p:transition>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Provision du personnel agent par agent : Direction Générale (2/2)</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cinq provisions les plus élevées font 66,04 % de la provision de l'entité</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10 agents. Provision recalculée 2 077 805 FCFA. Droits acquis 5 820 351 FCFA</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DISA_256927_2021.xls, DISA_256927_2022.xls, DISA_256927_2023.xls, DISA_256927_2025.xls (déclarations CNPS). ETAT 301 &amp; DISA 2024 FPPN.xls (RECAPSALAIRES 2024 CMP). ETAT 301 &amp; DISA 2025 FPPN.xls (RECAPSALAIRES 2025 GRENIER). Onglet 14b du classeur des calculs</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57 : Provision du personnel au 31/12/2025 : Direction Générale (2/2)</a:t>
            </a:r>
          </a:p>
        </p:txBody>
      </p:sp>
      <p:graphicFrame>
        <p:nvGraphicFramePr>
          <p:cNvPr id="32" name="Table 31"/>
          <p:cNvGraphicFramePr>
            <a:graphicFrameLocks noGrp="1"/>
          </p:cNvGraphicFramePr>
          <p:nvPr/>
        </p:nvGraphicFramePr>
        <p:xfrm>
          <a:off x="503999" y="1655999"/>
          <a:ext cx="11231999" cy="1980000"/>
        </p:xfrm>
        <a:graphic>
          <a:graphicData uri="http://schemas.openxmlformats.org/drawingml/2006/table">
            <a:tbl>
              <a:tblPr firstRow="0" bandRow="0">
                <a:tableStyleId>{5940675A-B579-460E-94D1-54222C63F5DA}</a:tableStyleId>
              </a:tblPr>
              <a:tblGrid>
                <a:gridCol w="1080000"/>
                <a:gridCol w="1080000"/>
                <a:gridCol w="1296000"/>
                <a:gridCol w="864000"/>
                <a:gridCol w="1296000"/>
                <a:gridCol w="1800000"/>
                <a:gridCol w="1800000"/>
                <a:gridCol w="2015999"/>
              </a:tblGrid>
              <a:tr h="180000">
                <a:tc>
                  <a:txBody>
                    <a:bodyPr/>
                    <a:lstStyle/>
                    <a:p>
                      <a:pPr marL="0" indent="0" lvl="0">
                        <a:buNone/>
                      </a:pPr>
                      <a:r>
                        <a:rPr sz="800" b="1">
                          <a:solidFill>
                            <a:srgbClr val="FFFFFF"/>
                          </a:solidFill>
                          <a:latin typeface="Helvetica"/>
                        </a:rPr>
                        <a:t>Agent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Naissance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Embauche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Âge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Ancienneté (ans)</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Salaire mensuel moyen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Droits acquis</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Provision recalculée</a:t>
                      </a:r>
                    </a:p>
                  </a:txBody>
                  <a:tcPr marL="43200" marR="43200" marT="14400" marB="14400" anchor="ctr">
                    <a:solidFill>
                      <a:srgbClr val="060606"/>
                    </a:solidFill>
                  </a:tcPr>
                </a:tc>
              </a:tr>
              <a:tr h="180000">
                <a:tc>
                  <a:txBody>
                    <a:bodyPr/>
                    <a:lstStyle/>
                    <a:p>
                      <a:pPr marL="0" indent="0" lvl="0">
                        <a:buNone/>
                      </a:pPr>
                      <a:r>
                        <a:rPr sz="800" b="1">
                          <a:solidFill>
                            <a:srgbClr val="060606"/>
                          </a:solidFill>
                          <a:latin typeface="Helvetica"/>
                        </a:rPr>
                        <a:t>A25-16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1978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01/01/2018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47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7,92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226 049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569 831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338 418</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A25-15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1990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01/01/2018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7,92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477 571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1 203 877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303 590</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A25-27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1980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01/10/2020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45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5,17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309 299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481 991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257 399</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A25-26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1990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01/01/2020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5,92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507 094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923 334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239 581</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A25-30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1990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09/08/2022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3,33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877 150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877 150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231 458</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A25-23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1981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01/01/2019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6,92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175 975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382 013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185 524</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A25-19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1982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01/01/2019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43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6,92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180 401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391 621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177 290</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A25-17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1985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01/09/2018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7,25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200 616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458 908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167 224</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A25-48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1981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18/10/2022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44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3,17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292 815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278 175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136 962</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A25-38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1997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03/05/2022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3,58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235 769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253 452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40 360</a:t>
                      </a:r>
                    </a:p>
                  </a:txBody>
                  <a:tcPr marL="43200" marR="43200" marT="14400" marB="14400" anchor="ctr">
                    <a:solidFill>
                      <a:srgbClr val="F2F2F2"/>
                    </a:solidFill>
                  </a:tcPr>
                </a:tc>
              </a:tr>
            </a:tbl>
          </a:graphicData>
        </a:graphic>
      </p:graphicFrame>
      <p:sp>
        <p:nvSpPr>
          <p:cNvPr id="33" name="TextBox 32"/>
          <p:cNvSpPr txBox="1"/>
          <p:nvPr/>
        </p:nvSpPr>
        <p:spPr>
          <a:xfrm>
            <a:off x="503999" y="3744000"/>
            <a:ext cx="11232000" cy="162000"/>
          </a:xfrm>
          <a:prstGeom prst="rect">
            <a:avLst/>
          </a:prstGeom>
          <a:noFill/>
        </p:spPr>
        <p:txBody>
          <a:bodyPr wrap="square" anchor="t" lIns="54000" rIns="54000"/>
          <a:lstStyle/>
          <a:p>
            <a:pPr algn="l"/>
            <a:r>
              <a:rPr sz="850" b="0">
                <a:solidFill>
                  <a:srgbClr val="53565A"/>
                </a:solidFill>
                <a:latin typeface="Helvetica"/>
              </a:rPr>
              <a:t>Valable pour : agents déclarés dans la DISA 2025, évaluation au 31/12/2025. Paramètres de l'onglet 14a.</a:t>
            </a:r>
          </a:p>
        </p:txBody>
      </p:sp>
      <p:sp>
        <p:nvSpPr>
          <p:cNvPr id="34" name="TextBox 33"/>
          <p:cNvSpPr txBox="1"/>
          <p:nvPr/>
        </p:nvSpPr>
        <p:spPr>
          <a:xfrm>
            <a:off x="503999" y="4050000"/>
            <a:ext cx="11232000" cy="1818000"/>
          </a:xfrm>
          <a:prstGeom prst="rect">
            <a:avLst/>
          </a:prstGeom>
          <a:noFill/>
        </p:spPr>
        <p:txBody>
          <a:bodyPr wrap="square" lIns="54000" rIns="54000"/>
          <a:lstStyle/>
          <a:p>
            <a:pPr algn="just">
              <a:spcAft>
                <a:spcPts val="600"/>
              </a:spcAft>
            </a:pPr>
            <a:r>
              <a:rPr sz="1300" b="1">
                <a:solidFill>
                  <a:srgbClr val="060606"/>
                </a:solidFill>
                <a:latin typeface="Helvetica"/>
              </a:rPr>
              <a:t>L'agent A25-16 porte la provision la plus élevée de ce tableau (338 418 FCFA)</a:t>
            </a:r>
            <a:r>
              <a:rPr sz="1300" b="0">
                <a:solidFill>
                  <a:srgbClr val="060606"/>
                </a:solidFill>
                <a:latin typeface="Helvetica"/>
              </a:rPr>
              <a:t>, avec 7,92 ans d'ancienneté.</a:t>
            </a:r>
          </a:p>
          <a:p>
            <a:pPr algn="just">
              <a:spcAft>
                <a:spcPts val="600"/>
              </a:spcAft>
            </a:pPr>
            <a:r>
              <a:rPr sz="1300" b="0">
                <a:solidFill>
                  <a:srgbClr val="060606"/>
                </a:solidFill>
                <a:latin typeface="Helvetica"/>
              </a:rPr>
              <a:t>Ces montants s'additionnent dans la diapositive « Provision du personnel par entité ». L'âge de départ, la date d'embauche et l'entité de chaque agent sont demandés au FPPN (PBC, item 78).</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CMP : Clinique médicale du policier | CNPS : Caisse nationale de prévoyance sociale | PBC : liste des documents demandés au client | DISA : déclaration individuelle des salaires annuels à la CNPS</a:t>
            </a:r>
          </a:p>
        </p:txBody>
      </p:sp>
    </p:spTree>
    <p:extLst>
      <p:ext uri="{BB962C8B-B14F-4D97-AF65-F5344CB8AC3E}">
        <p14:creationId xmlns:p14="http://schemas.microsoft.com/office/powerpoint/2010/main" val="3732951174"/>
      </p:ext>
    </p:extLst>
  </p:cSld>
  <p:clrMapOvr>
    <a:masterClrMapping/>
  </p:clrMapOvr>
  <p:transition>
    <p:fade/>
  </p:transition>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Provision du personnel agent par agent : CMP (1/3)</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Un personnel récent : les droits acquis restent faibles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13 agents. Provision recalculée 5 160 374 FCFA. Droits acquis 8 217 341 FCFA</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DISA_256927_2021.xls, DISA_256927_2022.xls, DISA_256927_2023.xls, DISA_256927_2025.xls (déclarations CNPS). ETAT 301 &amp; DISA 2024 FPPN.xls (RECAPSALAIRES 2024 CMP). ETAT 301 &amp; DISA 2025 FPPN.xls (RECAPSALAIRES 2025 GRENIER). Onglet 14b du classeur des calculs</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58 : Provision du personnel au 31/12/2025 : CMP (1/3)</a:t>
            </a:r>
          </a:p>
        </p:txBody>
      </p:sp>
      <p:graphicFrame>
        <p:nvGraphicFramePr>
          <p:cNvPr id="32" name="Table 31"/>
          <p:cNvGraphicFramePr>
            <a:graphicFrameLocks noGrp="1"/>
          </p:cNvGraphicFramePr>
          <p:nvPr/>
        </p:nvGraphicFramePr>
        <p:xfrm>
          <a:off x="503999" y="1655999"/>
          <a:ext cx="11231999" cy="2520000"/>
        </p:xfrm>
        <a:graphic>
          <a:graphicData uri="http://schemas.openxmlformats.org/drawingml/2006/table">
            <a:tbl>
              <a:tblPr firstRow="0" bandRow="0">
                <a:tableStyleId>{5940675A-B579-460E-94D1-54222C63F5DA}</a:tableStyleId>
              </a:tblPr>
              <a:tblGrid>
                <a:gridCol w="1080000"/>
                <a:gridCol w="1080000"/>
                <a:gridCol w="1296000"/>
                <a:gridCol w="864000"/>
                <a:gridCol w="1296000"/>
                <a:gridCol w="1800000"/>
                <a:gridCol w="1800000"/>
                <a:gridCol w="2015999"/>
              </a:tblGrid>
              <a:tr h="180000">
                <a:tc>
                  <a:txBody>
                    <a:bodyPr/>
                    <a:lstStyle/>
                    <a:p>
                      <a:pPr marL="0" indent="0" lvl="0">
                        <a:buNone/>
                      </a:pPr>
                      <a:r>
                        <a:rPr sz="800" b="1">
                          <a:solidFill>
                            <a:srgbClr val="FFFFFF"/>
                          </a:solidFill>
                          <a:latin typeface="Helvetica"/>
                        </a:rPr>
                        <a:t>Agent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Naissance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Embauche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Âge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Ancienneté (ans)</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Salaire mensuel moyen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Droits acquis</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Provision recalculée</a:t>
                      </a:r>
                    </a:p>
                  </a:txBody>
                  <a:tcPr marL="43200" marR="43200" marT="14400" marB="14400" anchor="ctr">
                    <a:solidFill>
                      <a:srgbClr val="060606"/>
                    </a:solidFill>
                  </a:tcPr>
                </a:tc>
              </a:tr>
              <a:tr h="180000">
                <a:tc>
                  <a:txBody>
                    <a:bodyPr/>
                    <a:lstStyle/>
                    <a:p>
                      <a:pPr marL="0" indent="0" lvl="0">
                        <a:buNone/>
                      </a:pPr>
                      <a:r>
                        <a:rPr sz="800" b="1">
                          <a:solidFill>
                            <a:srgbClr val="060606"/>
                          </a:solidFill>
                          <a:latin typeface="Helvetica"/>
                        </a:rPr>
                        <a:t>A25-24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1973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01/02/2019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52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6,83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649 853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1 391 768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1 138 786</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A25-28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1970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01/07/2021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55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4,42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834 630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1 105 884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1 105 884</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A25-12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1977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01/01/2016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48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9,92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214 476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690 792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437 938</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A25-31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1990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03/05/2022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3,58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1 473 449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1 583 957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418 355</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A25-13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1978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01/01/2016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47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9,92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185 792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598 404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353 612</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A25-14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1978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01/01/2016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9,92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175 002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563 652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333 076</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A25-36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1976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03/05/2022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49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3,58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385 407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414 312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279 828</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A25-25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1980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01/02/2019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6,83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206 709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442 702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230 692</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A25-20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1978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01/01/2019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47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6,92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164 534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357 176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213 283</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A25-55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1975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01/08/2023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50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2,33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375 286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262 700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187 015</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A25-40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1978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03/05/2022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47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3,58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256 677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275 928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165 245</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A25-32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1977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03/05/2022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3,58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228 440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245 573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155 976</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A25-39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1981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03/05/2022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44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3,58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264 645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284 493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140 683</a:t>
                      </a:r>
                    </a:p>
                  </a:txBody>
                  <a:tcPr marL="43200" marR="43200" marT="14400" marB="14400" anchor="ctr">
                    <a:solidFill>
                      <a:srgbClr val="FFFFFF"/>
                    </a:solidFill>
                  </a:tcPr>
                </a:tc>
              </a:tr>
            </a:tbl>
          </a:graphicData>
        </a:graphic>
      </p:graphicFrame>
      <p:sp>
        <p:nvSpPr>
          <p:cNvPr id="33" name="TextBox 32"/>
          <p:cNvSpPr txBox="1"/>
          <p:nvPr/>
        </p:nvSpPr>
        <p:spPr>
          <a:xfrm>
            <a:off x="503999" y="4284000"/>
            <a:ext cx="11232000" cy="162000"/>
          </a:xfrm>
          <a:prstGeom prst="rect">
            <a:avLst/>
          </a:prstGeom>
          <a:noFill/>
        </p:spPr>
        <p:txBody>
          <a:bodyPr wrap="square" anchor="t" lIns="54000" rIns="54000"/>
          <a:lstStyle/>
          <a:p>
            <a:pPr algn="l"/>
            <a:r>
              <a:rPr sz="850" b="0">
                <a:solidFill>
                  <a:srgbClr val="53565A"/>
                </a:solidFill>
                <a:latin typeface="Helvetica"/>
              </a:rPr>
              <a:t>Valable pour : agents déclarés dans la DISA 2025, évaluation au 31/12/2025. Paramètres de l'onglet 14a.</a:t>
            </a:r>
          </a:p>
        </p:txBody>
      </p:sp>
      <p:sp>
        <p:nvSpPr>
          <p:cNvPr id="34" name="TextBox 33"/>
          <p:cNvSpPr txBox="1"/>
          <p:nvPr/>
        </p:nvSpPr>
        <p:spPr>
          <a:xfrm>
            <a:off x="503999" y="4590000"/>
            <a:ext cx="11232000" cy="1278000"/>
          </a:xfrm>
          <a:prstGeom prst="rect">
            <a:avLst/>
          </a:prstGeom>
          <a:noFill/>
        </p:spPr>
        <p:txBody>
          <a:bodyPr wrap="square" lIns="54000" rIns="54000"/>
          <a:lstStyle/>
          <a:p>
            <a:pPr algn="just">
              <a:spcAft>
                <a:spcPts val="600"/>
              </a:spcAft>
            </a:pPr>
            <a:r>
              <a:rPr sz="1300" b="1">
                <a:solidFill>
                  <a:srgbClr val="060606"/>
                </a:solidFill>
                <a:latin typeface="Helvetica"/>
              </a:rPr>
              <a:t>L'agent A25-24 porte la provision la plus élevée de ce tableau (1 138 786 FCFA)</a:t>
            </a:r>
            <a:r>
              <a:rPr sz="1300" b="0">
                <a:solidFill>
                  <a:srgbClr val="060606"/>
                </a:solidFill>
                <a:latin typeface="Helvetica"/>
              </a:rPr>
              <a:t>, avec 6,83 ans d'ancienneté.</a:t>
            </a:r>
          </a:p>
          <a:p>
            <a:pPr algn="just">
              <a:spcAft>
                <a:spcPts val="600"/>
              </a:spcAft>
            </a:pPr>
            <a:r>
              <a:rPr sz="1300" b="0">
                <a:solidFill>
                  <a:srgbClr val="060606"/>
                </a:solidFill>
                <a:latin typeface="Helvetica"/>
              </a:rPr>
              <a:t>Ces montants s'additionnent dans la diapositive « Provision du personnel par entité ». L'âge de départ, la date d'embauche et l'entité de chaque agent sont demandés au FPPN (PBC, item 78).</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CMP : Clinique médicale du policier | CNPS : Caisse nationale de prévoyance sociale | PBC : liste des documents demandés au client | DISA : déclaration individuelle des salaires annuels à la CNPS</a:t>
            </a:r>
          </a:p>
        </p:txBody>
      </p:sp>
    </p:spTree>
    <p:extLst>
      <p:ext uri="{BB962C8B-B14F-4D97-AF65-F5344CB8AC3E}">
        <p14:creationId xmlns:p14="http://schemas.microsoft.com/office/powerpoint/2010/main" val="3466904260"/>
      </p:ext>
    </p:extLst>
  </p:cSld>
  <p:clrMapOvr>
    <a:masterClrMapping/>
  </p:clrMapOvr>
  <p:transition>
    <p:fade/>
  </p:transition>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Provision du personnel agent par agent : CMP (2/3)</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Un personnel récent : les droits acquis restent faibles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13 agents. Provision recalculée 1 179 170 FCFA. Droits acquis 2 957 567 FCFA</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DISA_256927_2021.xls, DISA_256927_2022.xls, DISA_256927_2023.xls, DISA_256927_2025.xls (déclarations CNPS). ETAT 301 &amp; DISA 2024 FPPN.xls (RECAPSALAIRES 2024 CMP). ETAT 301 &amp; DISA 2025 FPPN.xls (RECAPSALAIRES 2025 GRENIER). Onglet 14b du classeur des calculs</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59 : Provision du personnel au 31/12/2025 : CMP (2/3)</a:t>
            </a:r>
          </a:p>
        </p:txBody>
      </p:sp>
      <p:graphicFrame>
        <p:nvGraphicFramePr>
          <p:cNvPr id="32" name="Table 31"/>
          <p:cNvGraphicFramePr>
            <a:graphicFrameLocks noGrp="1"/>
          </p:cNvGraphicFramePr>
          <p:nvPr/>
        </p:nvGraphicFramePr>
        <p:xfrm>
          <a:off x="503999" y="1655999"/>
          <a:ext cx="11231999" cy="2520000"/>
        </p:xfrm>
        <a:graphic>
          <a:graphicData uri="http://schemas.openxmlformats.org/drawingml/2006/table">
            <a:tbl>
              <a:tblPr firstRow="0" bandRow="0">
                <a:tableStyleId>{5940675A-B579-460E-94D1-54222C63F5DA}</a:tableStyleId>
              </a:tblPr>
              <a:tblGrid>
                <a:gridCol w="1080000"/>
                <a:gridCol w="1080000"/>
                <a:gridCol w="1296000"/>
                <a:gridCol w="864000"/>
                <a:gridCol w="1296000"/>
                <a:gridCol w="1800000"/>
                <a:gridCol w="1800000"/>
                <a:gridCol w="2015999"/>
              </a:tblGrid>
              <a:tr h="180000">
                <a:tc>
                  <a:txBody>
                    <a:bodyPr/>
                    <a:lstStyle/>
                    <a:p>
                      <a:pPr marL="0" indent="0" lvl="0">
                        <a:buNone/>
                      </a:pPr>
                      <a:r>
                        <a:rPr sz="800" b="1">
                          <a:solidFill>
                            <a:srgbClr val="FFFFFF"/>
                          </a:solidFill>
                          <a:latin typeface="Helvetica"/>
                        </a:rPr>
                        <a:t>Agent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Naissance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Embauche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Âge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Ancienneté (ans)</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Salaire mensuel moyen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Droits acquis</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Provision recalculée</a:t>
                      </a:r>
                    </a:p>
                  </a:txBody>
                  <a:tcPr marL="43200" marR="43200" marT="14400" marB="14400" anchor="ctr">
                    <a:solidFill>
                      <a:srgbClr val="060606"/>
                    </a:solidFill>
                  </a:tcPr>
                </a:tc>
              </a:tr>
              <a:tr h="180000">
                <a:tc>
                  <a:txBody>
                    <a:bodyPr/>
                    <a:lstStyle/>
                    <a:p>
                      <a:pPr marL="0" indent="0" lvl="0">
                        <a:buNone/>
                      </a:pPr>
                      <a:r>
                        <a:rPr sz="800" b="1">
                          <a:solidFill>
                            <a:srgbClr val="060606"/>
                          </a:solidFill>
                          <a:latin typeface="Helvetica"/>
                        </a:rPr>
                        <a:t>A25-34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1974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03/05/2022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51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3,58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162 362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174 539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134 789</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A25-54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1972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09/06/2023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53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2,50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208 269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156 201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133 463</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A25-22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1988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01/01/2019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6,92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182 299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395 742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116 694</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A25-44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1980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03/05/2022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3,58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181 222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194 814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102 876</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A25-49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1977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08/05/2023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48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2,58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200 788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155 610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97 269</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A25-43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1987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03/05/2022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3,58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235 549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253 215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82 796</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A25-21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1992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01/01/2019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6,92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170 968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371 143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81 901</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A25-33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1986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03/05/2022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3,58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216 488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232 724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81 650</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A25-53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1969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23/05/2023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56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2,58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102 147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79 164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79 164</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A25-18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1996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01/01/2019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6,92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213 172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462 761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76 274</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A25-56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1967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19/01/2024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58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115 067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66 163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66 163</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A25-41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1989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03/05/2022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3,58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208 985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224 659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63 733</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A25-42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1987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03/05/2022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3,58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177 518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190 832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62 398</a:t>
                      </a:r>
                    </a:p>
                  </a:txBody>
                  <a:tcPr marL="43200" marR="43200" marT="14400" marB="14400" anchor="ctr">
                    <a:solidFill>
                      <a:srgbClr val="FFFFFF"/>
                    </a:solidFill>
                  </a:tcPr>
                </a:tc>
              </a:tr>
            </a:tbl>
          </a:graphicData>
        </a:graphic>
      </p:graphicFrame>
      <p:sp>
        <p:nvSpPr>
          <p:cNvPr id="33" name="TextBox 32"/>
          <p:cNvSpPr txBox="1"/>
          <p:nvPr/>
        </p:nvSpPr>
        <p:spPr>
          <a:xfrm>
            <a:off x="503999" y="4284000"/>
            <a:ext cx="11232000" cy="162000"/>
          </a:xfrm>
          <a:prstGeom prst="rect">
            <a:avLst/>
          </a:prstGeom>
          <a:noFill/>
        </p:spPr>
        <p:txBody>
          <a:bodyPr wrap="square" anchor="t" lIns="54000" rIns="54000"/>
          <a:lstStyle/>
          <a:p>
            <a:pPr algn="l"/>
            <a:r>
              <a:rPr sz="850" b="0">
                <a:solidFill>
                  <a:srgbClr val="53565A"/>
                </a:solidFill>
                <a:latin typeface="Helvetica"/>
              </a:rPr>
              <a:t>Valable pour : agents déclarés dans la DISA 2025, évaluation au 31/12/2025. Paramètres de l'onglet 14a.</a:t>
            </a:r>
          </a:p>
        </p:txBody>
      </p:sp>
      <p:sp>
        <p:nvSpPr>
          <p:cNvPr id="34" name="TextBox 33"/>
          <p:cNvSpPr txBox="1"/>
          <p:nvPr/>
        </p:nvSpPr>
        <p:spPr>
          <a:xfrm>
            <a:off x="503999" y="4590000"/>
            <a:ext cx="11232000" cy="1278000"/>
          </a:xfrm>
          <a:prstGeom prst="rect">
            <a:avLst/>
          </a:prstGeom>
          <a:noFill/>
        </p:spPr>
        <p:txBody>
          <a:bodyPr wrap="square" lIns="54000" rIns="54000"/>
          <a:lstStyle/>
          <a:p>
            <a:pPr algn="just">
              <a:spcAft>
                <a:spcPts val="600"/>
              </a:spcAft>
            </a:pPr>
            <a:r>
              <a:rPr sz="1300" b="1">
                <a:solidFill>
                  <a:srgbClr val="060606"/>
                </a:solidFill>
                <a:latin typeface="Helvetica"/>
              </a:rPr>
              <a:t>L'agent A25-34 porte la provision la plus élevée de ce tableau (134 789 FCFA)</a:t>
            </a:r>
            <a:r>
              <a:rPr sz="1300" b="0">
                <a:solidFill>
                  <a:srgbClr val="060606"/>
                </a:solidFill>
                <a:latin typeface="Helvetica"/>
              </a:rPr>
              <a:t>, avec 3,58 ans d'ancienneté.</a:t>
            </a:r>
          </a:p>
          <a:p>
            <a:pPr algn="just">
              <a:spcAft>
                <a:spcPts val="600"/>
              </a:spcAft>
            </a:pPr>
            <a:r>
              <a:rPr sz="1300" b="0">
                <a:solidFill>
                  <a:srgbClr val="060606"/>
                </a:solidFill>
                <a:latin typeface="Helvetica"/>
              </a:rPr>
              <a:t>Ces montants s'additionnent dans la diapositive « Provision du personnel par entité ». L'âge de départ, la date d'embauche et l'entité de chaque agent sont demandés au FPPN (PBC, item 78).</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CMP : Clinique médicale du policier | CNPS : Caisse nationale de prévoyance sociale | PBC : liste des documents demandés au client | DISA : déclaration individuelle des salaires annuels à la CNPS</a:t>
            </a:r>
          </a:p>
        </p:txBody>
      </p:sp>
    </p:spTree>
    <p:extLst>
      <p:ext uri="{BB962C8B-B14F-4D97-AF65-F5344CB8AC3E}">
        <p14:creationId xmlns:p14="http://schemas.microsoft.com/office/powerpoint/2010/main" val="2407894353"/>
      </p:ext>
    </p:extLst>
  </p:cSld>
  <p:clrMapOvr>
    <a:masterClrMapping/>
  </p:clrMapOvr>
  <p:transition>
    <p:fade/>
  </p:transition>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Provision du personnel agent par agent : CMP (3/3)</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Un personnel récent : les droits acquis restent faibles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11 agents. Provision recalculée 341 056 FCFA. Droits acquis 1 215 565 FCFA</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DISA_256927_2021.xls, DISA_256927_2022.xls, DISA_256927_2023.xls, DISA_256927_2025.xls (déclarations CNPS). ETAT 301 &amp; DISA 2024 FPPN.xls (RECAPSALAIRES 2024 CMP). ETAT 301 &amp; DISA 2025 FPPN.xls (RECAPSALAIRES 2025 GRENIER). Onglet 14b du classeur des calculs</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60 : Provision du personnel au 31/12/2025 : CMP (3/3)</a:t>
            </a:r>
          </a:p>
        </p:txBody>
      </p:sp>
      <p:graphicFrame>
        <p:nvGraphicFramePr>
          <p:cNvPr id="32" name="Table 31"/>
          <p:cNvGraphicFramePr>
            <a:graphicFrameLocks noGrp="1"/>
          </p:cNvGraphicFramePr>
          <p:nvPr/>
        </p:nvGraphicFramePr>
        <p:xfrm>
          <a:off x="503999" y="1655999"/>
          <a:ext cx="11231999" cy="2160000"/>
        </p:xfrm>
        <a:graphic>
          <a:graphicData uri="http://schemas.openxmlformats.org/drawingml/2006/table">
            <a:tbl>
              <a:tblPr firstRow="0" bandRow="0">
                <a:tableStyleId>{5940675A-B579-460E-94D1-54222C63F5DA}</a:tableStyleId>
              </a:tblPr>
              <a:tblGrid>
                <a:gridCol w="1080000"/>
                <a:gridCol w="1080000"/>
                <a:gridCol w="1296000"/>
                <a:gridCol w="864000"/>
                <a:gridCol w="1296000"/>
                <a:gridCol w="1800000"/>
                <a:gridCol w="1800000"/>
                <a:gridCol w="2015999"/>
              </a:tblGrid>
              <a:tr h="180000">
                <a:tc>
                  <a:txBody>
                    <a:bodyPr/>
                    <a:lstStyle/>
                    <a:p>
                      <a:pPr marL="0" indent="0" lvl="0">
                        <a:buNone/>
                      </a:pPr>
                      <a:r>
                        <a:rPr sz="800" b="1">
                          <a:solidFill>
                            <a:srgbClr val="FFFFFF"/>
                          </a:solidFill>
                          <a:latin typeface="Helvetica"/>
                        </a:rPr>
                        <a:t>Agent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Naissance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Embauche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Âge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Ancienneté (ans)</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Salaire mensuel moyen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Droits acquis</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Provision recalculée</a:t>
                      </a:r>
                    </a:p>
                  </a:txBody>
                  <a:tcPr marL="43200" marR="43200" marT="14400" marB="14400" anchor="ctr">
                    <a:solidFill>
                      <a:srgbClr val="060606"/>
                    </a:solidFill>
                  </a:tcPr>
                </a:tc>
              </a:tr>
              <a:tr h="180000">
                <a:tc>
                  <a:txBody>
                    <a:bodyPr/>
                    <a:lstStyle/>
                    <a:p>
                      <a:pPr marL="0" indent="0" lvl="0">
                        <a:buNone/>
                      </a:pPr>
                      <a:r>
                        <a:rPr sz="800" b="1">
                          <a:solidFill>
                            <a:srgbClr val="060606"/>
                          </a:solidFill>
                          <a:latin typeface="Helvetica"/>
                        </a:rPr>
                        <a:t>A25-51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1984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27/04/2023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41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2,67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159 843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127 874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51 239</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A25-47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1984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01/09/2022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3,25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115 273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112 391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45 228</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A25-46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1986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01/09/2022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3,25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113 347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110 513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38 702</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A25-52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1984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01/05/2023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2,58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114 947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89 084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35 673</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A25-45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1988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01/09/2022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3,25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108 698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105 980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32 235</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A25-37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1994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03/05/2022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3,58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149 755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160 987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31 877</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A25-50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1992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27/04/2023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2,67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151 077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120 861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27 569</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A25-61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1981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03/02/2025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0,83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216 752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54 188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25 877</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A25-35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1998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03/05/2022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3,58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161 414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173 520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25 689</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A25-58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1989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10/06/2024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1,50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121 201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54 541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15 330</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A25-57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2002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26/03/2024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1,75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201 192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105 626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11 636</a:t>
                      </a:r>
                    </a:p>
                  </a:txBody>
                  <a:tcPr marL="43200" marR="43200" marT="14400" marB="14400" anchor="ctr">
                    <a:solidFill>
                      <a:srgbClr val="FFFFFF"/>
                    </a:solidFill>
                  </a:tcPr>
                </a:tc>
              </a:tr>
            </a:tbl>
          </a:graphicData>
        </a:graphic>
      </p:graphicFrame>
      <p:sp>
        <p:nvSpPr>
          <p:cNvPr id="33" name="TextBox 32"/>
          <p:cNvSpPr txBox="1"/>
          <p:nvPr/>
        </p:nvSpPr>
        <p:spPr>
          <a:xfrm>
            <a:off x="503999" y="3924000"/>
            <a:ext cx="11232000" cy="162000"/>
          </a:xfrm>
          <a:prstGeom prst="rect">
            <a:avLst/>
          </a:prstGeom>
          <a:noFill/>
        </p:spPr>
        <p:txBody>
          <a:bodyPr wrap="square" anchor="t" lIns="54000" rIns="54000"/>
          <a:lstStyle/>
          <a:p>
            <a:pPr algn="l"/>
            <a:r>
              <a:rPr sz="850" b="0">
                <a:solidFill>
                  <a:srgbClr val="53565A"/>
                </a:solidFill>
                <a:latin typeface="Helvetica"/>
              </a:rPr>
              <a:t>Valable pour : agents déclarés dans la DISA 2025, évaluation au 31/12/2025. Paramètres de l'onglet 14a.</a:t>
            </a:r>
          </a:p>
        </p:txBody>
      </p:sp>
      <p:sp>
        <p:nvSpPr>
          <p:cNvPr id="34" name="TextBox 33"/>
          <p:cNvSpPr txBox="1"/>
          <p:nvPr/>
        </p:nvSpPr>
        <p:spPr>
          <a:xfrm>
            <a:off x="503999" y="4230000"/>
            <a:ext cx="11232000" cy="1638000"/>
          </a:xfrm>
          <a:prstGeom prst="rect">
            <a:avLst/>
          </a:prstGeom>
          <a:noFill/>
        </p:spPr>
        <p:txBody>
          <a:bodyPr wrap="square" lIns="54000" rIns="54000"/>
          <a:lstStyle/>
          <a:p>
            <a:pPr algn="just">
              <a:spcAft>
                <a:spcPts val="600"/>
              </a:spcAft>
            </a:pPr>
            <a:r>
              <a:rPr sz="1300" b="1">
                <a:solidFill>
                  <a:srgbClr val="060606"/>
                </a:solidFill>
                <a:latin typeface="Helvetica"/>
              </a:rPr>
              <a:t>L'agent A25-51 porte la provision la plus élevée de ce tableau (51 239 FCFA)</a:t>
            </a:r>
            <a:r>
              <a:rPr sz="1300" b="0">
                <a:solidFill>
                  <a:srgbClr val="060606"/>
                </a:solidFill>
                <a:latin typeface="Helvetica"/>
              </a:rPr>
              <a:t>, avec 2,67 ans d'ancienneté.</a:t>
            </a:r>
          </a:p>
          <a:p>
            <a:pPr algn="just">
              <a:spcAft>
                <a:spcPts val="600"/>
              </a:spcAft>
            </a:pPr>
            <a:r>
              <a:rPr sz="1300" b="0">
                <a:solidFill>
                  <a:srgbClr val="060606"/>
                </a:solidFill>
                <a:latin typeface="Helvetica"/>
              </a:rPr>
              <a:t>Ces montants s'additionnent dans la diapositive « Provision du personnel par entité ». L'âge de départ, la date d'embauche et l'entité de chaque agent sont demandés au FPPN (PBC, item 78).</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CMP : Clinique médicale du policier | CNPS : Caisse nationale de prévoyance sociale | PBC : liste des documents demandés au client | DISA : déclaration individuelle des salaires annuels à la CNPS</a:t>
            </a:r>
          </a:p>
        </p:txBody>
      </p:sp>
    </p:spTree>
    <p:extLst>
      <p:ext uri="{BB962C8B-B14F-4D97-AF65-F5344CB8AC3E}">
        <p14:creationId xmlns:p14="http://schemas.microsoft.com/office/powerpoint/2010/main" val="266437743"/>
      </p:ext>
    </p:extLst>
  </p:cSld>
  <p:clrMapOvr>
    <a:masterClrMapping/>
  </p:clrMapOvr>
  <p:transition>
    <p:fade/>
  </p:transition>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Provision du personnel agent par agent : Grenier</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Trois agents, dont un recruté en 2025</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3 agents. Provision recalculée 1 454 296 FCFA. Droits acquis 2 790 059 FCFA</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DISA_256927_2021.xls, DISA_256927_2022.xls, DISA_256927_2023.xls, DISA_256927_2025.xls (déclarations CNPS). ETAT 301 &amp; DISA 2024 FPPN.xls (RECAPSALAIRES 2024 CMP). ETAT 301 &amp; DISA 2025 FPPN.xls (RECAPSALAIRES 2025 GRENIER). Onglet 14b du classeur des calculs</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61 : Provision du personnel au 31/12/2025 : Grenier</a:t>
            </a:r>
          </a:p>
        </p:txBody>
      </p:sp>
      <p:graphicFrame>
        <p:nvGraphicFramePr>
          <p:cNvPr id="32" name="Table 31"/>
          <p:cNvGraphicFramePr>
            <a:graphicFrameLocks noGrp="1"/>
          </p:cNvGraphicFramePr>
          <p:nvPr/>
        </p:nvGraphicFramePr>
        <p:xfrm>
          <a:off x="503999" y="1655999"/>
          <a:ext cx="11231999" cy="720000"/>
        </p:xfrm>
        <a:graphic>
          <a:graphicData uri="http://schemas.openxmlformats.org/drawingml/2006/table">
            <a:tbl>
              <a:tblPr firstRow="0" bandRow="0">
                <a:tableStyleId>{5940675A-B579-460E-94D1-54222C63F5DA}</a:tableStyleId>
              </a:tblPr>
              <a:tblGrid>
                <a:gridCol w="1080000"/>
                <a:gridCol w="1080000"/>
                <a:gridCol w="1296000"/>
                <a:gridCol w="864000"/>
                <a:gridCol w="1296000"/>
                <a:gridCol w="1800000"/>
                <a:gridCol w="1800000"/>
                <a:gridCol w="2015999"/>
              </a:tblGrid>
              <a:tr h="180000">
                <a:tc>
                  <a:txBody>
                    <a:bodyPr/>
                    <a:lstStyle/>
                    <a:p>
                      <a:pPr marL="0" indent="0" lvl="0">
                        <a:buNone/>
                      </a:pPr>
                      <a:r>
                        <a:rPr sz="800" b="1">
                          <a:solidFill>
                            <a:srgbClr val="FFFFFF"/>
                          </a:solidFill>
                          <a:latin typeface="Helvetica"/>
                        </a:rPr>
                        <a:t>Agent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Naissance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Embauche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Âge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Ancienneté (ans)</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Salaire mensuel moyen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Droits acquis</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Provision recalculée</a:t>
                      </a:r>
                    </a:p>
                  </a:txBody>
                  <a:tcPr marL="43200" marR="43200" marT="14400" marB="14400" anchor="ctr">
                    <a:solidFill>
                      <a:srgbClr val="060606"/>
                    </a:solidFill>
                  </a:tcPr>
                </a:tc>
              </a:tr>
              <a:tr h="180000">
                <a:tc>
                  <a:txBody>
                    <a:bodyPr/>
                    <a:lstStyle/>
                    <a:p>
                      <a:pPr marL="0" indent="0" lvl="0">
                        <a:buNone/>
                      </a:pPr>
                      <a:r>
                        <a:rPr sz="800" b="1">
                          <a:solidFill>
                            <a:srgbClr val="060606"/>
                          </a:solidFill>
                          <a:latin typeface="Helvetica"/>
                        </a:rPr>
                        <a:t>A25-06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1979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01/01/2014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46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11,92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601 941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2 417 796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1 296 016</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A25-29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1982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01/12/2021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4,00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278 607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334 328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155 168</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A25-64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2006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01/05/2025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0,58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216 771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37 935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3 113</a:t>
                      </a:r>
                    </a:p>
                  </a:txBody>
                  <a:tcPr marL="43200" marR="43200" marT="14400" marB="14400" anchor="ctr">
                    <a:solidFill>
                      <a:srgbClr val="FFFFFF"/>
                    </a:solidFill>
                  </a:tcPr>
                </a:tc>
              </a:tr>
            </a:tbl>
          </a:graphicData>
        </a:graphic>
      </p:graphicFrame>
      <p:sp>
        <p:nvSpPr>
          <p:cNvPr id="33" name="TextBox 32"/>
          <p:cNvSpPr txBox="1"/>
          <p:nvPr/>
        </p:nvSpPr>
        <p:spPr>
          <a:xfrm>
            <a:off x="503999" y="2484000"/>
            <a:ext cx="11232000" cy="162000"/>
          </a:xfrm>
          <a:prstGeom prst="rect">
            <a:avLst/>
          </a:prstGeom>
          <a:noFill/>
        </p:spPr>
        <p:txBody>
          <a:bodyPr wrap="square" anchor="t" lIns="54000" rIns="54000"/>
          <a:lstStyle/>
          <a:p>
            <a:pPr algn="l"/>
            <a:r>
              <a:rPr sz="850" b="0">
                <a:solidFill>
                  <a:srgbClr val="53565A"/>
                </a:solidFill>
                <a:latin typeface="Helvetica"/>
              </a:rPr>
              <a:t>Valable pour : agents déclarés dans la DISA 2025, évaluation au 31/12/2025. Paramètres de l'onglet 14a.</a:t>
            </a:r>
          </a:p>
        </p:txBody>
      </p:sp>
      <p:sp>
        <p:nvSpPr>
          <p:cNvPr id="34" name="TextBox 33"/>
          <p:cNvSpPr txBox="1"/>
          <p:nvPr/>
        </p:nvSpPr>
        <p:spPr>
          <a:xfrm>
            <a:off x="503999" y="2789999"/>
            <a:ext cx="11232000" cy="3078000"/>
          </a:xfrm>
          <a:prstGeom prst="rect">
            <a:avLst/>
          </a:prstGeom>
          <a:noFill/>
        </p:spPr>
        <p:txBody>
          <a:bodyPr wrap="square" lIns="54000" rIns="54000"/>
          <a:lstStyle/>
          <a:p>
            <a:pPr algn="just">
              <a:spcAft>
                <a:spcPts val="600"/>
              </a:spcAft>
            </a:pPr>
            <a:r>
              <a:rPr sz="1300" b="1">
                <a:solidFill>
                  <a:srgbClr val="060606"/>
                </a:solidFill>
                <a:latin typeface="Helvetica"/>
              </a:rPr>
              <a:t>L'agent A25-06 porte la provision la plus élevée de ce tableau (1 296 016 FCFA)</a:t>
            </a:r>
            <a:r>
              <a:rPr sz="1300" b="0">
                <a:solidFill>
                  <a:srgbClr val="060606"/>
                </a:solidFill>
                <a:latin typeface="Helvetica"/>
              </a:rPr>
              <a:t>, avec 11,92 ans d'ancienneté.</a:t>
            </a:r>
          </a:p>
          <a:p>
            <a:pPr algn="just">
              <a:spcAft>
                <a:spcPts val="600"/>
              </a:spcAft>
            </a:pPr>
            <a:r>
              <a:rPr sz="1300" b="0">
                <a:solidFill>
                  <a:srgbClr val="060606"/>
                </a:solidFill>
                <a:latin typeface="Helvetica"/>
              </a:rPr>
              <a:t>Ces montants s'additionnent dans la diapositive « Provision du personnel par entité ». L'âge de départ, la date d'embauche et l'entité de chaque agent sont demandés au FPPN (PBC, item 78).</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CMP : Clinique médicale du policier | CNPS : Caisse nationale de prévoyance sociale | PBC : liste des documents demandés au client | DISA : déclaration individuelle des salaires annuels à la CNPS</a:t>
            </a:r>
          </a:p>
        </p:txBody>
      </p:sp>
    </p:spTree>
    <p:extLst>
      <p:ext uri="{BB962C8B-B14F-4D97-AF65-F5344CB8AC3E}">
        <p14:creationId xmlns:p14="http://schemas.microsoft.com/office/powerpoint/2010/main" val="2040077335"/>
      </p:ext>
    </p:extLst>
  </p:cSld>
  <p:clrMapOvr>
    <a:masterClrMapping/>
  </p:clrMapOvr>
  <p:transition>
    <p:fade/>
  </p:transition>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Provision du personnel agent par agent : rattachement non documenté (1/2)</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19 agents recrutés en 2025 ne figurent dans aucun récapitulatif de salaires par entité</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10 agents. Provision recalculée 143 225 FCFA. Droits acquis 355 935 FCFA</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DISA_256927_2021.xls, DISA_256927_2022.xls, DISA_256927_2023.xls, DISA_256927_2025.xls (déclarations CNPS). ETAT 301 &amp; DISA 2024 FPPN.xls (RECAPSALAIRES 2024 CMP). ETAT 301 &amp; DISA 2025 FPPN.xls (RECAPSALAIRES 2025 GRENIER). Onglet 14b du classeur des calculs</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62 : Provision du personnel au 31/12/2025 : Non documentée (1/2)</a:t>
            </a:r>
          </a:p>
        </p:txBody>
      </p:sp>
      <p:graphicFrame>
        <p:nvGraphicFramePr>
          <p:cNvPr id="32" name="Table 31"/>
          <p:cNvGraphicFramePr>
            <a:graphicFrameLocks noGrp="1"/>
          </p:cNvGraphicFramePr>
          <p:nvPr/>
        </p:nvGraphicFramePr>
        <p:xfrm>
          <a:off x="503999" y="1655999"/>
          <a:ext cx="11231999" cy="1980000"/>
        </p:xfrm>
        <a:graphic>
          <a:graphicData uri="http://schemas.openxmlformats.org/drawingml/2006/table">
            <a:tbl>
              <a:tblPr firstRow="0" bandRow="0">
                <a:tableStyleId>{5940675A-B579-460E-94D1-54222C63F5DA}</a:tableStyleId>
              </a:tblPr>
              <a:tblGrid>
                <a:gridCol w="1080000"/>
                <a:gridCol w="1080000"/>
                <a:gridCol w="1296000"/>
                <a:gridCol w="864000"/>
                <a:gridCol w="1296000"/>
                <a:gridCol w="1800000"/>
                <a:gridCol w="1800000"/>
                <a:gridCol w="2015999"/>
              </a:tblGrid>
              <a:tr h="180000">
                <a:tc>
                  <a:txBody>
                    <a:bodyPr/>
                    <a:lstStyle/>
                    <a:p>
                      <a:pPr marL="0" indent="0" lvl="0">
                        <a:buNone/>
                      </a:pPr>
                      <a:r>
                        <a:rPr sz="800" b="1">
                          <a:solidFill>
                            <a:srgbClr val="FFFFFF"/>
                          </a:solidFill>
                          <a:latin typeface="Helvetica"/>
                        </a:rPr>
                        <a:t>Agent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Naissance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Embauche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Âge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Ancienneté (ans)</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Salaire mensuel moyen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Droits acquis</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Provision recalculée</a:t>
                      </a:r>
                    </a:p>
                  </a:txBody>
                  <a:tcPr marL="43200" marR="43200" marT="14400" marB="14400" anchor="ctr">
                    <a:solidFill>
                      <a:srgbClr val="060606"/>
                    </a:solidFill>
                  </a:tcPr>
                </a:tc>
              </a:tr>
              <a:tr h="180000">
                <a:tc>
                  <a:txBody>
                    <a:bodyPr/>
                    <a:lstStyle/>
                    <a:p>
                      <a:pPr marL="0" indent="0" lvl="0">
                        <a:buNone/>
                      </a:pPr>
                      <a:r>
                        <a:rPr sz="800" b="1">
                          <a:solidFill>
                            <a:srgbClr val="060606"/>
                          </a:solidFill>
                          <a:latin typeface="Helvetica"/>
                        </a:rPr>
                        <a:t>A25-68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1981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18/06/2025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44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0,50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329 861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49 479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23 500</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A25-67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1978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11/06/2025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0,50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216 619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32 493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18 608</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A25-59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1993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03/02/2025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0,83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297 488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74 372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15 692</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A25-63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1975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25/03/2025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50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0,75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95 176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21 415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14 792</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A25-72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1982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11/06/2025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43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0,50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215 194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32 279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14 424</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A25-62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1976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07/04/2025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0,67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103 727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20 745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13 518</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A25-66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1982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01/06/2025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43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0,50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195 447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29 317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13 101</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A25-70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1985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11/06/2025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0,50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210 908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31 636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11 638</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A25-65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1989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01/06/2025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0,50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219 636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32 945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9 212</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A25-71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1989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09/06/2025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0,50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208 357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31 254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8 739</a:t>
                      </a:r>
                    </a:p>
                  </a:txBody>
                  <a:tcPr marL="43200" marR="43200" marT="14400" marB="14400" anchor="ctr">
                    <a:solidFill>
                      <a:srgbClr val="F2F2F2"/>
                    </a:solidFill>
                  </a:tcPr>
                </a:tc>
              </a:tr>
            </a:tbl>
          </a:graphicData>
        </a:graphic>
      </p:graphicFrame>
      <p:sp>
        <p:nvSpPr>
          <p:cNvPr id="33" name="TextBox 32"/>
          <p:cNvSpPr txBox="1"/>
          <p:nvPr/>
        </p:nvSpPr>
        <p:spPr>
          <a:xfrm>
            <a:off x="503999" y="3744000"/>
            <a:ext cx="11232000" cy="162000"/>
          </a:xfrm>
          <a:prstGeom prst="rect">
            <a:avLst/>
          </a:prstGeom>
          <a:noFill/>
        </p:spPr>
        <p:txBody>
          <a:bodyPr wrap="square" anchor="t" lIns="54000" rIns="54000"/>
          <a:lstStyle/>
          <a:p>
            <a:pPr algn="l"/>
            <a:r>
              <a:rPr sz="850" b="0">
                <a:solidFill>
                  <a:srgbClr val="53565A"/>
                </a:solidFill>
                <a:latin typeface="Helvetica"/>
              </a:rPr>
              <a:t>Valable pour : agents déclarés dans la DISA 2025, évaluation au 31/12/2025. Paramètres de l'onglet 14a.</a:t>
            </a:r>
          </a:p>
        </p:txBody>
      </p:sp>
      <p:sp>
        <p:nvSpPr>
          <p:cNvPr id="34" name="TextBox 33"/>
          <p:cNvSpPr txBox="1"/>
          <p:nvPr/>
        </p:nvSpPr>
        <p:spPr>
          <a:xfrm>
            <a:off x="503999" y="4050000"/>
            <a:ext cx="11232000" cy="1818000"/>
          </a:xfrm>
          <a:prstGeom prst="rect">
            <a:avLst/>
          </a:prstGeom>
          <a:noFill/>
        </p:spPr>
        <p:txBody>
          <a:bodyPr wrap="square" lIns="54000" rIns="54000"/>
          <a:lstStyle/>
          <a:p>
            <a:pPr algn="just">
              <a:spcAft>
                <a:spcPts val="600"/>
              </a:spcAft>
            </a:pPr>
            <a:r>
              <a:rPr sz="1300" b="1">
                <a:solidFill>
                  <a:srgbClr val="060606"/>
                </a:solidFill>
                <a:latin typeface="Helvetica"/>
              </a:rPr>
              <a:t>L'agent A25-68 porte la provision la plus élevée de ce tableau (23 500 FCFA)</a:t>
            </a:r>
            <a:r>
              <a:rPr sz="1300" b="0">
                <a:solidFill>
                  <a:srgbClr val="060606"/>
                </a:solidFill>
                <a:latin typeface="Helvetica"/>
              </a:rPr>
              <a:t>, avec 0,50 ans d'ancienneté.</a:t>
            </a:r>
          </a:p>
          <a:p>
            <a:pPr algn="just">
              <a:spcAft>
                <a:spcPts val="600"/>
              </a:spcAft>
            </a:pPr>
            <a:r>
              <a:rPr sz="1300" b="0">
                <a:solidFill>
                  <a:srgbClr val="060606"/>
                </a:solidFill>
                <a:latin typeface="Helvetica"/>
              </a:rPr>
              <a:t>Ces montants s'additionnent dans la diapositive « Provision du personnel par entité ». L'âge de départ, la date d'embauche et l'entité de chaque agent sont demandés au FPPN (PBC, item 78).</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CMP : Clinique médicale du policier | CNPS : Caisse nationale de prévoyance sociale | PBC : liste des documents demandés au client | DISA : déclaration individuelle des salaires annuels à la CNPS</a:t>
            </a:r>
          </a:p>
        </p:txBody>
      </p:sp>
    </p:spTree>
    <p:extLst>
      <p:ext uri="{BB962C8B-B14F-4D97-AF65-F5344CB8AC3E}">
        <p14:creationId xmlns:p14="http://schemas.microsoft.com/office/powerpoint/2010/main" val="2547330331"/>
      </p:ext>
    </p:extLst>
  </p:cSld>
  <p:clrMapOvr>
    <a:masterClrMapping/>
  </p:clrMapOvr>
  <p:transition>
    <p:fade/>
  </p:transition>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Provision du personnel agent par agent : rattachement non documenté (2/2)</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19 agents recrutés en 2025 ne figurent dans aucun récapitulatif de salaires par entité</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9 agents. Provision recalculée 50 244 FCFA. Droits acquis 217 943 FCFA</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DISA_256927_2021.xls, DISA_256927_2022.xls, DISA_256927_2023.xls, DISA_256927_2025.xls (déclarations CNPS). ETAT 301 &amp; DISA 2024 FPPN.xls (RECAPSALAIRES 2024 CMP). ETAT 301 &amp; DISA 2025 FPPN.xls (RECAPSALAIRES 2025 GRENIER). Onglet 14b du classeur des calculs</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63 : Provision du personnel au 31/12/2025 : Non documentée (2/2)</a:t>
            </a:r>
          </a:p>
        </p:txBody>
      </p:sp>
      <p:graphicFrame>
        <p:nvGraphicFramePr>
          <p:cNvPr id="32" name="Table 31"/>
          <p:cNvGraphicFramePr>
            <a:graphicFrameLocks noGrp="1"/>
          </p:cNvGraphicFramePr>
          <p:nvPr/>
        </p:nvGraphicFramePr>
        <p:xfrm>
          <a:off x="503999" y="1655999"/>
          <a:ext cx="11231999" cy="1800000"/>
        </p:xfrm>
        <a:graphic>
          <a:graphicData uri="http://schemas.openxmlformats.org/drawingml/2006/table">
            <a:tbl>
              <a:tblPr firstRow="0" bandRow="0">
                <a:tableStyleId>{5940675A-B579-460E-94D1-54222C63F5DA}</a:tableStyleId>
              </a:tblPr>
              <a:tblGrid>
                <a:gridCol w="1080000"/>
                <a:gridCol w="1080000"/>
                <a:gridCol w="1296000"/>
                <a:gridCol w="864000"/>
                <a:gridCol w="1296000"/>
                <a:gridCol w="1800000"/>
                <a:gridCol w="1800000"/>
                <a:gridCol w="2015999"/>
              </a:tblGrid>
              <a:tr h="180000">
                <a:tc>
                  <a:txBody>
                    <a:bodyPr/>
                    <a:lstStyle/>
                    <a:p>
                      <a:pPr marL="0" indent="0" lvl="0">
                        <a:buNone/>
                      </a:pPr>
                      <a:r>
                        <a:rPr sz="800" b="1">
                          <a:solidFill>
                            <a:srgbClr val="FFFFFF"/>
                          </a:solidFill>
                          <a:latin typeface="Helvetica"/>
                        </a:rPr>
                        <a:t>Agent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Naissance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Embauche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Âge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Ancienneté (ans)</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Salaire mensuel moyen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Droits acquis</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Provision recalculée</a:t>
                      </a:r>
                    </a:p>
                  </a:txBody>
                  <a:tcPr marL="43200" marR="43200" marT="14400" marB="14400" anchor="ctr">
                    <a:solidFill>
                      <a:srgbClr val="060606"/>
                    </a:solidFill>
                  </a:tcPr>
                </a:tc>
              </a:tr>
              <a:tr h="180000">
                <a:tc>
                  <a:txBody>
                    <a:bodyPr/>
                    <a:lstStyle/>
                    <a:p>
                      <a:pPr marL="0" indent="0" lvl="0">
                        <a:buNone/>
                      </a:pPr>
                      <a:r>
                        <a:rPr sz="800" b="1">
                          <a:solidFill>
                            <a:srgbClr val="060606"/>
                          </a:solidFill>
                          <a:latin typeface="Helvetica"/>
                        </a:rPr>
                        <a:t>A25-60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1999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03/02/2025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0,83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251 915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62 979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8 619</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A25-78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1987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03/07/2025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0,42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194 348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24 294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7 799</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A25-77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1984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03/07/2025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41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0,42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137 651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17 206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6 758</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A25-73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1982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04/07/2025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0,42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115 067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14 383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6 420</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A25-76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1992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09/07/2025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0,42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205 256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25 657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5 804</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A25-75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1982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04/07/2025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0,42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103 727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12 966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5 787</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A25-69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2003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09/06/2025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0,50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229 527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34 429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3 518</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A25-79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1990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03/07/2025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0,42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98 590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12 324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3 211</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A25-74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1996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04/07/2025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0,42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109 642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13 705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2 328</a:t>
                      </a:r>
                    </a:p>
                  </a:txBody>
                  <a:tcPr marL="43200" marR="43200" marT="14400" marB="14400" anchor="ctr">
                    <a:solidFill>
                      <a:srgbClr val="FFFFFF"/>
                    </a:solidFill>
                  </a:tcPr>
                </a:tc>
              </a:tr>
            </a:tbl>
          </a:graphicData>
        </a:graphic>
      </p:graphicFrame>
      <p:sp>
        <p:nvSpPr>
          <p:cNvPr id="33" name="TextBox 32"/>
          <p:cNvSpPr txBox="1"/>
          <p:nvPr/>
        </p:nvSpPr>
        <p:spPr>
          <a:xfrm>
            <a:off x="503999" y="3564000"/>
            <a:ext cx="11232000" cy="162000"/>
          </a:xfrm>
          <a:prstGeom prst="rect">
            <a:avLst/>
          </a:prstGeom>
          <a:noFill/>
        </p:spPr>
        <p:txBody>
          <a:bodyPr wrap="square" anchor="t" lIns="54000" rIns="54000"/>
          <a:lstStyle/>
          <a:p>
            <a:pPr algn="l"/>
            <a:r>
              <a:rPr sz="850" b="0">
                <a:solidFill>
                  <a:srgbClr val="53565A"/>
                </a:solidFill>
                <a:latin typeface="Helvetica"/>
              </a:rPr>
              <a:t>Valable pour : agents déclarés dans la DISA 2025, évaluation au 31/12/2025. Paramètres de l'onglet 14a.</a:t>
            </a:r>
          </a:p>
        </p:txBody>
      </p:sp>
      <p:sp>
        <p:nvSpPr>
          <p:cNvPr id="34" name="TextBox 33"/>
          <p:cNvSpPr txBox="1"/>
          <p:nvPr/>
        </p:nvSpPr>
        <p:spPr>
          <a:xfrm>
            <a:off x="503999" y="3870000"/>
            <a:ext cx="11232000" cy="1998000"/>
          </a:xfrm>
          <a:prstGeom prst="rect">
            <a:avLst/>
          </a:prstGeom>
          <a:noFill/>
        </p:spPr>
        <p:txBody>
          <a:bodyPr wrap="square" lIns="54000" rIns="54000"/>
          <a:lstStyle/>
          <a:p>
            <a:pPr algn="just">
              <a:spcAft>
                <a:spcPts val="600"/>
              </a:spcAft>
            </a:pPr>
            <a:r>
              <a:rPr sz="1300" b="1">
                <a:solidFill>
                  <a:srgbClr val="060606"/>
                </a:solidFill>
                <a:latin typeface="Helvetica"/>
              </a:rPr>
              <a:t>L'agent A25-60 porte la provision la plus élevée de ce tableau (8 619 FCFA)</a:t>
            </a:r>
            <a:r>
              <a:rPr sz="1300" b="0">
                <a:solidFill>
                  <a:srgbClr val="060606"/>
                </a:solidFill>
                <a:latin typeface="Helvetica"/>
              </a:rPr>
              <a:t>, avec 0,83 ans d'ancienneté.</a:t>
            </a:r>
          </a:p>
          <a:p>
            <a:pPr algn="just">
              <a:spcAft>
                <a:spcPts val="600"/>
              </a:spcAft>
            </a:pPr>
            <a:r>
              <a:rPr sz="1300" b="0">
                <a:solidFill>
                  <a:srgbClr val="060606"/>
                </a:solidFill>
                <a:latin typeface="Helvetica"/>
              </a:rPr>
              <a:t>Ces montants s'additionnent dans la diapositive « Provision du personnel par entité ». L'âge de départ, la date d'embauche et l'entité de chaque agent sont demandés au FPPN (PBC, item 78).</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CMP : Clinique médicale du policier | CNPS : Caisse nationale de prévoyance sociale | PBC : liste des documents demandés au client | DISA : déclaration individuelle des salaires annuels à la CNPS</a:t>
            </a:r>
          </a:p>
        </p:txBody>
      </p:sp>
    </p:spTree>
    <p:extLst>
      <p:ext uri="{BB962C8B-B14F-4D97-AF65-F5344CB8AC3E}">
        <p14:creationId xmlns:p14="http://schemas.microsoft.com/office/powerpoint/2010/main" val="1421866853"/>
      </p:ext>
    </p:extLst>
  </p:cSld>
  <p:clrMapOvr>
    <a:masterClrMapping/>
  </p:clrMapOvr>
  <p:transition>
    <p:fade/>
  </p:transition>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Provision du personnel : sensibilités et qualité des données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rotation du personnel pèse plus que l'âge de départ ou le taux d'actualisation</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Sans rotation, la provision passerait de 24 446 566 FCFA à 62 618 476 FCFA. 12 dates d'embauche changent dans la DISA 2025</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DISA_256927_2021.xls, DISA_256927_2022.xls, DISA_256927_2023.xls, DISA_256927_2025.xls (déclarations CNPS). ETAT 301 &amp; DISA 2024 FPPN.xls (RECAPSALAIRES 2024 CMP). ETAT 301 &amp; DISA 2025 FPPN.xls (RECAPSALAIRES 2025 GRENIER). IAS 19, § 145. Convention collective interprofessionnelle du 19/07/1977, art. 40. Décret n° 2022-986 du 21/12/2022 (SMIG). Onglets 14a à 14c du classeur des calculs</a:t>
            </a:r>
          </a:p>
        </p:txBody>
      </p:sp>
      <p:sp>
        <p:nvSpPr>
          <p:cNvPr id="31" name="TextBox 30"/>
          <p:cNvSpPr txBox="1"/>
          <p:nvPr/>
        </p:nvSpPr>
        <p:spPr>
          <a:xfrm>
            <a:off x="503999" y="1386000"/>
            <a:ext cx="10080000" cy="216000"/>
          </a:xfrm>
          <a:prstGeom prst="rect">
            <a:avLst/>
          </a:prstGeom>
          <a:noFill/>
        </p:spPr>
        <p:txBody>
          <a:bodyPr wrap="square" anchor="t" lIns="54000" rIns="54000"/>
          <a:lstStyle/>
          <a:p>
            <a:pPr algn="ctr"/>
            <a:r>
              <a:rPr sz="1200" b="0">
                <a:solidFill>
                  <a:srgbClr val="EFAC62"/>
                </a:solidFill>
                <a:latin typeface="Helvetica"/>
              </a:rPr>
              <a:t>Tableau 64 : Sensibilité de la provision du personnel au 31/12/2025</a:t>
            </a:r>
          </a:p>
        </p:txBody>
      </p:sp>
      <p:graphicFrame>
        <p:nvGraphicFramePr>
          <p:cNvPr id="32" name="Table 31"/>
          <p:cNvGraphicFramePr>
            <a:graphicFrameLocks noGrp="1"/>
          </p:cNvGraphicFramePr>
          <p:nvPr/>
        </p:nvGraphicFramePr>
        <p:xfrm>
          <a:off x="503999" y="1655999"/>
          <a:ext cx="10080000" cy="1363376"/>
        </p:xfrm>
        <a:graphic>
          <a:graphicData uri="http://schemas.openxmlformats.org/drawingml/2006/table">
            <a:tbl>
              <a:tblPr firstRow="0" bandRow="0">
                <a:tableStyleId>{5940675A-B579-460E-94D1-54222C63F5DA}</a:tableStyleId>
              </a:tblPr>
              <a:tblGrid>
                <a:gridCol w="4320000"/>
                <a:gridCol w="2880000"/>
                <a:gridCol w="2880000"/>
              </a:tblGrid>
              <a:tr h="194768">
                <a:tc>
                  <a:txBody>
                    <a:bodyPr/>
                    <a:lstStyle/>
                    <a:p>
                      <a:pPr marL="0" indent="0" lvl="0">
                        <a:buNone/>
                      </a:pPr>
                      <a:r>
                        <a:rPr sz="900" b="1">
                          <a:solidFill>
                            <a:srgbClr val="FFFFFF"/>
                          </a:solidFill>
                          <a:latin typeface="Helvetica"/>
                        </a:rPr>
                        <a:t>Hypothèse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Provision</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Écart à l'hypothèse centrale</a:t>
                      </a:r>
                    </a:p>
                  </a:txBody>
                  <a:tcPr marL="43200" marR="43200" marT="14400" marB="14400" anchor="ctr">
                    <a:solidFill>
                      <a:srgbClr val="060606"/>
                    </a:solidFill>
                  </a:tcPr>
                </a:tc>
              </a:tr>
              <a:tr h="194768">
                <a:tc>
                  <a:txBody>
                    <a:bodyPr/>
                    <a:lstStyle/>
                    <a:p>
                      <a:pPr marL="0" indent="0" lvl="0">
                        <a:buNone/>
                      </a:pPr>
                      <a:r>
                        <a:rPr sz="900" b="1">
                          <a:solidFill>
                            <a:srgbClr val="060606"/>
                          </a:solidFill>
                          <a:latin typeface="Helvetica"/>
                        </a:rPr>
                        <a:t>Hypothèses centrales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24 446 566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0,00 %</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Départ à 58 ans (trois enfants à charge)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19 848 492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-18,81 %</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Départ à 60 ans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17 184 450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-29,71 %</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Taux d'actualisation de 3,5 %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32 254 939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31,94 %</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Sans rotation du personnel</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62 618 476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156,14 %</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Salaires + 1 point par an</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26 163 645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7,02 %</a:t>
                      </a:r>
                    </a:p>
                  </a:txBody>
                  <a:tcPr marL="43200" marR="43200" marT="14400" marB="14400" anchor="ctr">
                    <a:solidFill>
                      <a:srgbClr val="F2F2F2"/>
                    </a:solidFill>
                  </a:tcPr>
                </a:tc>
              </a:tr>
            </a:tbl>
          </a:graphicData>
        </a:graphic>
      </p:graphicFrame>
      <p:sp>
        <p:nvSpPr>
          <p:cNvPr id="33" name="TextBox 32"/>
          <p:cNvSpPr txBox="1"/>
          <p:nvPr/>
        </p:nvSpPr>
        <p:spPr>
          <a:xfrm>
            <a:off x="503999" y="3127380"/>
            <a:ext cx="11232000" cy="162000"/>
          </a:xfrm>
          <a:prstGeom prst="rect">
            <a:avLst/>
          </a:prstGeom>
          <a:noFill/>
        </p:spPr>
        <p:txBody>
          <a:bodyPr wrap="square" anchor="t" lIns="54000" rIns="54000"/>
          <a:lstStyle/>
          <a:p>
            <a:pPr algn="l"/>
            <a:r>
              <a:rPr sz="850" b="0">
                <a:solidFill>
                  <a:srgbClr val="53565A"/>
                </a:solidFill>
                <a:latin typeface="Helvetica"/>
              </a:rPr>
              <a:t>Valable pour : personnel civil de la DISA 2025, évaluation au 31/12/2025. Plafond conventionnel chiffré à part.</a:t>
            </a:r>
          </a:p>
        </p:txBody>
      </p:sp>
      <p:sp>
        <p:nvSpPr>
          <p:cNvPr id="34" name="TextBox 33"/>
          <p:cNvSpPr txBox="1"/>
          <p:nvPr/>
        </p:nvSpPr>
        <p:spPr>
          <a:xfrm>
            <a:off x="503999" y="3433380"/>
            <a:ext cx="11232000" cy="2434619"/>
          </a:xfrm>
          <a:prstGeom prst="rect">
            <a:avLst/>
          </a:prstGeom>
          <a:noFill/>
        </p:spPr>
        <p:txBody>
          <a:bodyPr wrap="square" lIns="54000" rIns="54000"/>
          <a:lstStyle/>
          <a:p>
            <a:pPr algn="just">
              <a:spcAft>
                <a:spcPts val="600"/>
              </a:spcAft>
            </a:pPr>
            <a:r>
              <a:rPr sz="1300" b="1">
                <a:solidFill>
                  <a:srgbClr val="060606"/>
                </a:solidFill>
                <a:latin typeface="Helvetica"/>
              </a:rPr>
              <a:t>5 agents ont déjà 55 ans ou plus et sont toujours en poste en 2025, dont un de 60 ans.</a:t>
            </a:r>
            <a:r>
              <a:rPr sz="1300" b="0">
                <a:solidFill>
                  <a:srgbClr val="060606"/>
                </a:solidFill>
                <a:latin typeface="Helvetica"/>
              </a:rPr>
              <a:t> </a:t>
            </a:r>
            <a:r>
              <a:rPr sz="1300" b="0">
                <a:solidFill>
                  <a:srgbClr val="060606"/>
                </a:solidFill>
                <a:highlight>
                  <a:srgbClr val="FFFF00"/>
                </a:highlight>
                <a:latin typeface="Helvetica"/>
              </a:rPr>
              <a:t>Le FPPN n'applique donc pas l'âge de 55 ans</a:t>
            </a:r>
            <a:r>
              <a:rPr sz="1300" b="0">
                <a:solidFill>
                  <a:srgbClr val="060606"/>
                </a:solidFill>
                <a:latin typeface="Helvetica"/>
              </a:rPr>
              <a:t> : la sensibilité ci-dessus chiffre un départ à 58 et à 60 ans.</a:t>
            </a:r>
          </a:p>
          <a:p>
            <a:pPr algn="just">
              <a:spcAft>
                <a:spcPts val="600"/>
              </a:spcAft>
            </a:pPr>
            <a:r>
              <a:rPr sz="1300" b="1">
                <a:solidFill>
                  <a:srgbClr val="060606"/>
                </a:solidFill>
                <a:latin typeface="Helvetica"/>
              </a:rPr>
              <a:t>Pour 12 agents, la date d'embauche de la DISA 2025 diffère de celle des DISA 2021 à 2023</a:t>
            </a:r>
            <a:r>
              <a:rPr sz="1300" b="0">
                <a:solidFill>
                  <a:srgbClr val="060606"/>
                </a:solidFill>
                <a:latin typeface="Helvetica"/>
              </a:rPr>
              <a:t>, dont 3 remplacées par le 28/10/2013. Pour l'agent A25-01, embauché le 01/01/2006 selon les DISA 2021 à 2023, l'ancienneté retenue baisse de plus de sept ans.</a:t>
            </a:r>
          </a:p>
          <a:p>
            <a:pPr algn="just">
              <a:spcAft>
                <a:spcPts val="600"/>
              </a:spcAft>
            </a:pPr>
            <a:r>
              <a:rPr sz="1300" b="1">
                <a:solidFill>
                  <a:srgbClr val="060606"/>
                </a:solidFill>
                <a:latin typeface="Helvetica"/>
              </a:rPr>
              <a:t>Le plafond de la convention collective (art. 40 : 25 fois le SMIG annuel de 2 080 heures) vaut 22 500 000 FCFA</a:t>
            </a:r>
            <a:r>
              <a:rPr sz="1300" b="0">
                <a:solidFill>
                  <a:srgbClr val="060606"/>
                </a:solidFill>
                <a:latin typeface="Helvetica"/>
              </a:rPr>
              <a:t> avec le SMIG de 75 000 FCFA par mois (décret n° 2022-986 du 21/12/2022). 12 agents le dépassent : la provision passe à 23 729 412 FCFA, toujours sous le compte 196. Le décret n° 2017-210 (art. 4 et 5), plus récent, ne prévoit pas de plafond : le calcul central ne l'applique pas.</a:t>
            </a:r>
          </a:p>
          <a:p>
            <a:pPr algn="just">
              <a:spcAft>
                <a:spcPts val="600"/>
              </a:spcAft>
            </a:pPr>
            <a:r>
              <a:rPr sz="1300" b="0">
                <a:solidFill>
                  <a:srgbClr val="060606"/>
                </a:solidFill>
                <a:latin typeface="Helvetica"/>
              </a:rPr>
              <a:t>L'âge de départ appliqué, les dates d'embauche, le rattachement des agents recrutés en 2025 et le nombre d'enfants à charge sont demandés au FPPN (PBC, item 78). Aucune de ces données ne peut porter la provision au-dessus du compte 196.</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Surligné en jaune : affirmation à confirmer par une pièce ou une réponse écrite du FPPN. Sigles : FPPN : Fonds de prévoyance de la Police nationale | CMP : Clinique médicale du policier | CNPS : Caisse nationale de prévoyance sociale | PBC : liste des documents demandés au client | IAS, IFRS : normes comptables internationales | SMIG : salaire minimum interprofessionnel garanti | DISA : déclaration individuelle des salaires annuels à la CNPS</a:t>
            </a:r>
          </a:p>
        </p:txBody>
      </p:sp>
    </p:spTree>
    <p:extLst>
      <p:ext uri="{BB962C8B-B14F-4D97-AF65-F5344CB8AC3E}">
        <p14:creationId xmlns:p14="http://schemas.microsoft.com/office/powerpoint/2010/main" val="2744527089"/>
      </p:ext>
    </p:extLst>
  </p:cSld>
  <p:clrMapOvr>
    <a:masterClrMapping/>
  </p:clrMapOvr>
  <p:transition>
    <p:fade/>
  </p:transition>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Conclusion : engagements envers les adhérents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L'épargne et ses intérêts dus représentent l'essentiel des engagements mesurés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Engagements mesurés au 31/08/2026 : 19 518 949 298 FCFA (épargne avec intérêts dus, allocations décès dues et décès tardifs)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diapositives diapositive 89, diapositive 117, diapositive 118, diapositive 114</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65 : Engagements envers les adhérents et ayants droit : méthode et résultat</a:t>
            </a:r>
          </a:p>
        </p:txBody>
      </p:sp>
      <p:graphicFrame>
        <p:nvGraphicFramePr>
          <p:cNvPr id="32" name="Table 31"/>
          <p:cNvGraphicFramePr>
            <a:graphicFrameLocks noGrp="1"/>
          </p:cNvGraphicFramePr>
          <p:nvPr/>
        </p:nvGraphicFramePr>
        <p:xfrm>
          <a:off x="503999" y="1655999"/>
          <a:ext cx="11232000" cy="1828228"/>
        </p:xfrm>
        <a:graphic>
          <a:graphicData uri="http://schemas.openxmlformats.org/drawingml/2006/table">
            <a:tbl>
              <a:tblPr firstRow="0" bandRow="0">
                <a:tableStyleId>{5940675A-B579-460E-94D1-54222C63F5DA}</a:tableStyleId>
              </a:tblPr>
              <a:tblGrid>
                <a:gridCol w="2088000"/>
                <a:gridCol w="3384000"/>
                <a:gridCol w="1944000"/>
                <a:gridCol w="3816000"/>
              </a:tblGrid>
              <a:tr h="187148">
                <a:tc>
                  <a:txBody>
                    <a:bodyPr/>
                    <a:lstStyle/>
                    <a:p>
                      <a:pPr marL="0" indent="0" lvl="0">
                        <a:buNone/>
                      </a:pPr>
                      <a:r>
                        <a:rPr sz="850" b="1">
                          <a:solidFill>
                            <a:srgbClr val="FFFFFF"/>
                          </a:solidFill>
                          <a:latin typeface="Helvetica"/>
                        </a:rPr>
                        <a:t>Engagement</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Méthode retenue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Résultat</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Ce qui manque pour conclure</a:t>
                      </a:r>
                    </a:p>
                  </a:txBody>
                  <a:tcPr marL="43200" marR="43200" marT="14400" marB="14400" anchor="ctr">
                    <a:solidFill>
                      <a:srgbClr val="060606"/>
                    </a:solidFill>
                  </a:tcPr>
                </a:tc>
              </a:tr>
              <a:tr h="316696">
                <a:tc>
                  <a:txBody>
                    <a:bodyPr/>
                    <a:lstStyle/>
                    <a:p>
                      <a:pPr marL="0" indent="0" lvl="0">
                        <a:buNone/>
                      </a:pPr>
                      <a:r>
                        <a:rPr sz="850" b="1">
                          <a:solidFill>
                            <a:srgbClr val="060606"/>
                          </a:solidFill>
                          <a:latin typeface="Helvetica"/>
                        </a:rPr>
                        <a:t>Épargne PEP et EFC</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Solde comptable + intérêts dus du 01/01/2020 au taux du manuel</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19 022 429 629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Taux arrêté, relevés individuels, âge de départ de chaque titulaire d'EFC</a:t>
                      </a:r>
                    </a:p>
                  </a:txBody>
                  <a:tcPr marL="43200" marR="43200" marT="14400" marB="14400" anchor="ctr">
                    <a:solidFill>
                      <a:srgbClr val="FFFFFF"/>
                    </a:solidFill>
                  </a:tcPr>
                </a:tc>
              </a:tr>
              <a:tr h="316696">
                <a:tc>
                  <a:txBody>
                    <a:bodyPr/>
                    <a:lstStyle/>
                    <a:p>
                      <a:pPr marL="0" indent="0" lvl="0">
                        <a:buNone/>
                      </a:pPr>
                      <a:r>
                        <a:rPr sz="850" b="1">
                          <a:solidFill>
                            <a:srgbClr val="060606"/>
                          </a:solidFill>
                          <a:latin typeface="Helvetica"/>
                        </a:rPr>
                        <a:t>Allocations décès dues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Liste du FPPN des décès non payés au barème (41591000, 41592000)</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489 419 669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Date de dépôt de chaque demande, pour écarter les dossiers forclos</a:t>
                      </a:r>
                    </a:p>
                  </a:txBody>
                  <a:tcPr marL="43200" marR="43200" marT="14400" marB="14400" anchor="ctr">
                    <a:solidFill>
                      <a:srgbClr val="F2F2F2"/>
                    </a:solidFill>
                  </a:tcPr>
                </a:tc>
              </a:tr>
              <a:tr h="316696">
                <a:tc>
                  <a:txBody>
                    <a:bodyPr/>
                    <a:lstStyle/>
                    <a:p>
                      <a:pPr marL="0" indent="0" lvl="0">
                        <a:buNone/>
                      </a:pPr>
                      <a:r>
                        <a:rPr sz="850" b="1">
                          <a:solidFill>
                            <a:srgbClr val="060606"/>
                          </a:solidFill>
                          <a:latin typeface="Helvetica"/>
                        </a:rPr>
                        <a:t>Décès non encore déclarés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Décès d'une année enregistrés l'année suivante (états 2021 et 2023)</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7 100 000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Date d'enregistrement dans les états 2022, 2024 et 2025</a:t>
                      </a:r>
                    </a:p>
                  </a:txBody>
                  <a:tcPr marL="43200" marR="43200" marT="14400" marB="14400" anchor="ctr">
                    <a:solidFill>
                      <a:srgbClr val="FFFFFF"/>
                    </a:solidFill>
                  </a:tcPr>
                </a:tc>
              </a:tr>
              <a:tr h="316696">
                <a:tc>
                  <a:txBody>
                    <a:bodyPr/>
                    <a:lstStyle/>
                    <a:p>
                      <a:pPr marL="0" indent="0" lvl="0">
                        <a:buNone/>
                      </a:pPr>
                      <a:r>
                        <a:rPr sz="850" b="1">
                          <a:solidFill>
                            <a:srgbClr val="060606"/>
                          </a:solidFill>
                          <a:latin typeface="Helvetica"/>
                        </a:rPr>
                        <a:t>Soins faits, non encore facturés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Factures de cliniques d'une année enregistrées l'année suivante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12 481 392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Base des prestations avec dates des soins, du dépôt et du paiement</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Santé des retraités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Non mesurable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Non mesuré</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Âges et prestations des retraités</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Personnel du FPPN (hors adhérents)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Recalcul agent par agent (décret n° 2017-210)</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24 446 566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Fichier des agents policiers détachés</a:t>
                      </a:r>
                    </a:p>
                  </a:txBody>
                  <a:tcPr marL="43200" marR="43200" marT="14400" marB="14400" anchor="ctr">
                    <a:solidFill>
                      <a:srgbClr val="F2F2F2"/>
                    </a:solidFill>
                  </a:tcPr>
                </a:tc>
              </a:tr>
            </a:tbl>
          </a:graphicData>
        </a:graphic>
      </p:graphicFrame>
      <p:sp>
        <p:nvSpPr>
          <p:cNvPr id="33" name="TextBox 32"/>
          <p:cNvSpPr txBox="1"/>
          <p:nvPr/>
        </p:nvSpPr>
        <p:spPr>
          <a:xfrm>
            <a:off x="503999" y="3592229"/>
            <a:ext cx="11232000" cy="162000"/>
          </a:xfrm>
          <a:prstGeom prst="rect">
            <a:avLst/>
          </a:prstGeom>
          <a:noFill/>
        </p:spPr>
        <p:txBody>
          <a:bodyPr wrap="square" anchor="t" lIns="54000" rIns="54000"/>
          <a:lstStyle/>
          <a:p>
            <a:pPr algn="l"/>
            <a:r>
              <a:rPr sz="850" b="0">
                <a:solidFill>
                  <a:srgbClr val="53565A"/>
                </a:solidFill>
                <a:latin typeface="Helvetica"/>
              </a:rPr>
              <a:t>Valable pour : balance provisoire au 31/08/2026. États de fin d'année des allocations décès 2021 à 2025. Factures de cliniques du journal SIN 2023 à 2025. DISA 2021 à 2025.</a:t>
            </a:r>
          </a:p>
        </p:txBody>
      </p:sp>
      <p:sp>
        <p:nvSpPr>
          <p:cNvPr id="34" name="TextBox 33"/>
          <p:cNvSpPr txBox="1"/>
          <p:nvPr/>
        </p:nvSpPr>
        <p:spPr>
          <a:xfrm>
            <a:off x="503999" y="3898229"/>
            <a:ext cx="11232000" cy="1969770"/>
          </a:xfrm>
          <a:prstGeom prst="rect">
            <a:avLst/>
          </a:prstGeom>
          <a:noFill/>
        </p:spPr>
        <p:txBody>
          <a:bodyPr wrap="square" lIns="54000" rIns="54000"/>
          <a:lstStyle/>
          <a:p>
            <a:pPr algn="just">
              <a:spcAft>
                <a:spcPts val="600"/>
              </a:spcAft>
            </a:pPr>
            <a:r>
              <a:rPr sz="1300" b="1">
                <a:solidFill>
                  <a:srgbClr val="060606"/>
                </a:solidFill>
                <a:latin typeface="Helvetica"/>
              </a:rPr>
              <a:t>L'épargne représente 97,46 % des engagements mesurés envers les adhérents.</a:t>
            </a:r>
            <a:r>
              <a:rPr sz="1300" b="0">
                <a:solidFill>
                  <a:srgbClr val="060606"/>
                </a:solidFill>
                <a:latin typeface="Helvetica"/>
              </a:rPr>
              <a:t> Les engagements maladie et décès sont des dettes de quelques mois : le délai moyen de paiement des cliniques est de 2,62 mois en 2025 (diapositive 112), et la dette décès s'élève à 489 419 669 FCFA au 31/08/2026 (diapositive 117).</a:t>
            </a:r>
          </a:p>
          <a:p>
            <a:pPr algn="just">
              <a:spcAft>
                <a:spcPts val="600"/>
              </a:spcAft>
            </a:pPr>
            <a:r>
              <a:rPr sz="1300" b="0">
                <a:solidFill>
                  <a:srgbClr val="060606"/>
                </a:solidFill>
                <a:latin typeface="Helvetica"/>
              </a:rPr>
              <a:t>L'évaluation des engagements dépend d'abord de l'épargne : arrêter le taux servi et tenir des comptes individuels à jour sont les deux conditions d'un engagement démontré.</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PEP : Plan Épargne Plus | EFC : entraide fin de carrière | DISA : déclaration individuelle des salaires annuels à la CNPS</a:t>
            </a:r>
          </a:p>
        </p:txBody>
      </p:sp>
    </p:spTree>
    <p:extLst>
      <p:ext uri="{BB962C8B-B14F-4D97-AF65-F5344CB8AC3E}">
        <p14:creationId xmlns:p14="http://schemas.microsoft.com/office/powerpoint/2010/main" val="3495822775"/>
      </p:ext>
    </p:extLst>
  </p:cSld>
  <p:clrMapOvr>
    <a:masterClrMapping/>
  </p:clrMapOvr>
  <p:transition>
    <p:fade/>
  </p:transition>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Conclusion : suffisance des provisions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provisions du bilan suffisent en montant, mais aucune n'est calculée et deux manquent</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Provisions maladie et obsèques au bilan : 4 829 298 290 FCFA. Besoins mesurés : 19 581 392 FCFA hors dettes déjà comptabilisées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statuts du FPPN édités le 15/06/2023, art. 85, 88 et 89. Règlement d'exécution n° 004/2022/COM/UEMOA du 1er juin 2022, art. 10. Diapositives de détail de la partie 9</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66 : Provisions : méthode annuelle proposée et montants</a:t>
            </a:r>
          </a:p>
        </p:txBody>
      </p:sp>
      <p:graphicFrame>
        <p:nvGraphicFramePr>
          <p:cNvPr id="32" name="Table 31"/>
          <p:cNvGraphicFramePr>
            <a:graphicFrameLocks noGrp="1"/>
          </p:cNvGraphicFramePr>
          <p:nvPr/>
        </p:nvGraphicFramePr>
        <p:xfrm>
          <a:off x="503999" y="1655999"/>
          <a:ext cx="11232000" cy="1511532"/>
        </p:xfrm>
        <a:graphic>
          <a:graphicData uri="http://schemas.openxmlformats.org/drawingml/2006/table">
            <a:tbl>
              <a:tblPr firstRow="0" bandRow="0">
                <a:tableStyleId>{5940675A-B579-460E-94D1-54222C63F5DA}</a:tableStyleId>
              </a:tblPr>
              <a:tblGrid>
                <a:gridCol w="1728000"/>
                <a:gridCol w="3600000"/>
                <a:gridCol w="1728000"/>
                <a:gridCol w="1728000"/>
                <a:gridCol w="2448000"/>
              </a:tblGrid>
              <a:tr h="187148">
                <a:tc>
                  <a:txBody>
                    <a:bodyPr/>
                    <a:lstStyle/>
                    <a:p>
                      <a:pPr marL="0" indent="0" lvl="0">
                        <a:buNone/>
                      </a:pPr>
                      <a:r>
                        <a:rPr sz="850" b="1">
                          <a:solidFill>
                            <a:srgbClr val="FFFFFF"/>
                          </a:solidFill>
                          <a:latin typeface="Helvetica"/>
                        </a:rPr>
                        <a:t>Provision</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Méthode annuelle proposée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Au bilan</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Besoin mesuré</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Fichier du FPPN à utiliser</a:t>
                      </a:r>
                    </a:p>
                  </a:txBody>
                  <a:tcPr marL="43200" marR="43200" marT="14400" marB="14400" anchor="ctr">
                    <a:solidFill>
                      <a:srgbClr val="060606"/>
                    </a:solidFill>
                  </a:tcPr>
                </a:tc>
              </a:tr>
              <a:tr h="316696">
                <a:tc>
                  <a:txBody>
                    <a:bodyPr/>
                    <a:lstStyle/>
                    <a:p>
                      <a:pPr marL="0" indent="0" lvl="0">
                        <a:buNone/>
                      </a:pPr>
                      <a:r>
                        <a:rPr sz="850" b="1">
                          <a:solidFill>
                            <a:srgbClr val="060606"/>
                          </a:solidFill>
                          <a:latin typeface="Helvetica"/>
                        </a:rPr>
                        <a:t>Maladie (15801000)</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Soins de l'année facturés après la clôture, mesurés sur les factures reçues de janvier à mars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2 867 602 878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12 481 392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Journal SIN, numéro et date de facture</a:t>
                      </a:r>
                    </a:p>
                  </a:txBody>
                  <a:tcPr marL="43200" marR="43200" marT="14400" marB="14400" anchor="ctr">
                    <a:solidFill>
                      <a:srgbClr val="FFFFFF"/>
                    </a:solidFill>
                  </a:tcPr>
                </a:tc>
              </a:tr>
              <a:tr h="316696">
                <a:tc>
                  <a:txBody>
                    <a:bodyPr/>
                    <a:lstStyle/>
                    <a:p>
                      <a:pPr marL="0" indent="0" lvl="0">
                        <a:buNone/>
                      </a:pPr>
                      <a:r>
                        <a:rPr sz="850" b="1">
                          <a:solidFill>
                            <a:srgbClr val="060606"/>
                          </a:solidFill>
                          <a:latin typeface="Helvetica"/>
                        </a:rPr>
                        <a:t>Décès (15802000)</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Décès survenus non déclarés. Les décès connus restent au 41591000</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1 961 695 412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7 100 000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État de fin d'année avec date de décès et d'enregistrement</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Risques courts (art. 88)</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Période non couverte par une cotisation à la clôture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Aucune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0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Calendrier des précomptes</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Intérêts dus sur l'épargne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Épargne moyenne × taux arrêté, compte par compte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Aucune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3 278 913 238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Relevés individuels PEP et EFC</a:t>
                      </a:r>
                    </a:p>
                  </a:txBody>
                  <a:tcPr marL="43200" marR="43200" marT="14400" marB="14400" anchor="ctr">
                    <a:solidFill>
                      <a:srgbClr val="F2F2F2"/>
                    </a:solidFill>
                  </a:tcPr>
                </a:tc>
              </a:tr>
              <a:tr h="316696">
                <a:tc>
                  <a:txBody>
                    <a:bodyPr/>
                    <a:lstStyle/>
                    <a:p>
                      <a:pPr marL="0" indent="0" lvl="0">
                        <a:buNone/>
                      </a:pPr>
                      <a:r>
                        <a:rPr sz="850" b="1">
                          <a:solidFill>
                            <a:srgbClr val="060606"/>
                          </a:solidFill>
                          <a:latin typeface="Helvetica"/>
                        </a:rPr>
                        <a:t>Dépréciation des prêts du Grenier</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Encours par tranche de retard × taux de la politique de crédit</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Aucune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14 016 392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Balance âgée du logiciel de prêts</a:t>
                      </a:r>
                    </a:p>
                  </a:txBody>
                  <a:tcPr marL="43200" marR="43200" marT="14400" marB="14400" anchor="ctr">
                    <a:solidFill>
                      <a:srgbClr val="FFFFFF"/>
                    </a:solidFill>
                  </a:tcPr>
                </a:tc>
              </a:tr>
            </a:tbl>
          </a:graphicData>
        </a:graphic>
      </p:graphicFrame>
      <p:sp>
        <p:nvSpPr>
          <p:cNvPr id="33" name="TextBox 32"/>
          <p:cNvSpPr txBox="1"/>
          <p:nvPr/>
        </p:nvSpPr>
        <p:spPr>
          <a:xfrm>
            <a:off x="503999" y="3275533"/>
            <a:ext cx="11232000" cy="162000"/>
          </a:xfrm>
          <a:prstGeom prst="rect">
            <a:avLst/>
          </a:prstGeom>
          <a:noFill/>
        </p:spPr>
        <p:txBody>
          <a:bodyPr wrap="square" anchor="t" lIns="54000" rIns="54000"/>
          <a:lstStyle/>
          <a:p>
            <a:pPr algn="l"/>
            <a:r>
              <a:rPr sz="850" b="0">
                <a:solidFill>
                  <a:srgbClr val="53565A"/>
                </a:solidFill>
                <a:latin typeface="Helvetica"/>
              </a:rPr>
              <a:t>Valable pour : provisions au bilan du 31/08/2026. Besoins mesurés aux dates indiquées dans les diapositives de détail.</a:t>
            </a:r>
          </a:p>
        </p:txBody>
      </p:sp>
      <p:sp>
        <p:nvSpPr>
          <p:cNvPr id="34" name="TextBox 33"/>
          <p:cNvSpPr txBox="1"/>
          <p:nvPr/>
        </p:nvSpPr>
        <p:spPr>
          <a:xfrm>
            <a:off x="503999" y="3581533"/>
            <a:ext cx="11232000" cy="2286466"/>
          </a:xfrm>
          <a:prstGeom prst="rect">
            <a:avLst/>
          </a:prstGeom>
          <a:noFill/>
        </p:spPr>
        <p:txBody>
          <a:bodyPr wrap="square" lIns="54000" rIns="54000"/>
          <a:lstStyle/>
          <a:p>
            <a:pPr algn="just">
              <a:spcAft>
                <a:spcPts val="600"/>
              </a:spcAft>
            </a:pPr>
            <a:r>
              <a:rPr sz="1300" b="1">
                <a:solidFill>
                  <a:srgbClr val="060606"/>
                </a:solidFill>
                <a:latin typeface="Helvetica"/>
              </a:rPr>
              <a:t>Le FPPN dispose déjà des fichiers nécessaires à un calcul annuel simple de chaque provision.</a:t>
            </a:r>
            <a:r>
              <a:rPr sz="1300" b="0">
                <a:solidFill>
                  <a:srgbClr val="060606"/>
                </a:solidFill>
                <a:latin typeface="Helvetica"/>
              </a:rPr>
              <a:t> Ce calcul n'est pas fait : les provisions maladie et obsèques sont inchangées depuis 2020.</a:t>
            </a:r>
          </a:p>
          <a:p>
            <a:pPr algn="just">
              <a:spcAft>
                <a:spcPts val="600"/>
              </a:spcAft>
            </a:pPr>
            <a:r>
              <a:rPr sz="1300" b="0">
                <a:solidFill>
                  <a:srgbClr val="060606"/>
                </a:solidFill>
                <a:latin typeface="Helvetica"/>
              </a:rPr>
              <a:t>Chaque année, le service comptable établit une note de calcul qui reprend ce tableau : méthode, fichiers utilisés, montant de chaque provision et comparaison au bilan. Le directeur général la signe, et elle est présentée à l'Assemblée générale avec les comptes (statuts, art. 85 et 89). Elle démontre la suffisance des provisions à l'AIRMS et au commissaire aux comptes.</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AIRMS : Agence ivoirienne de régulation de la mutualité sociale | UEMOA : Union économique et monétaire ouest-africaine | PEP : Plan Épargne Plus | EFC : entraide fin de carrière</a:t>
            </a:r>
          </a:p>
        </p:txBody>
      </p:sp>
    </p:spTree>
    <p:extLst>
      <p:ext uri="{BB962C8B-B14F-4D97-AF65-F5344CB8AC3E}">
        <p14:creationId xmlns:p14="http://schemas.microsoft.com/office/powerpoint/2010/main" val="2756839936"/>
      </p:ext>
    </p:extLst>
  </p:cSld>
  <p:clrMapOvr>
    <a:masterClrMapping/>
  </p:clrMapOvr>
  <p:transition>
    <p:fade/>
  </p:transition>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Méthode du FPPN et recalcul</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FPPN a provisionné trop pour la maladie et le décès, et rien pour les intérêts et les prêts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Écart total sur les cinq postes : 1 536 007 381 FCFA, montant du FPPN moins recalcul</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 Diapositive 114, diapositive 118, diapositive 124, diapositive 89, diapositive 120</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67 : Montants du FPPN, recalcul et écarts</a:t>
            </a:r>
          </a:p>
        </p:txBody>
      </p:sp>
      <p:graphicFrame>
        <p:nvGraphicFramePr>
          <p:cNvPr id="32" name="Table 31"/>
          <p:cNvGraphicFramePr>
            <a:graphicFrameLocks noGrp="1"/>
          </p:cNvGraphicFramePr>
          <p:nvPr/>
        </p:nvGraphicFramePr>
        <p:xfrm>
          <a:off x="503999" y="1655999"/>
          <a:ext cx="11231999" cy="1770628"/>
        </p:xfrm>
        <a:graphic>
          <a:graphicData uri="http://schemas.openxmlformats.org/drawingml/2006/table">
            <a:tbl>
              <a:tblPr firstRow="0" bandRow="0">
                <a:tableStyleId>{5940675A-B579-460E-94D1-54222C63F5DA}</a:tableStyleId>
              </a:tblPr>
              <a:tblGrid>
                <a:gridCol w="2015999"/>
                <a:gridCol w="1800000"/>
                <a:gridCol w="1440000"/>
                <a:gridCol w="1440000"/>
                <a:gridCol w="2160000"/>
                <a:gridCol w="1512000"/>
                <a:gridCol w="864000"/>
              </a:tblGrid>
              <a:tr h="187148">
                <a:tc>
                  <a:txBody>
                    <a:bodyPr/>
                    <a:lstStyle/>
                    <a:p>
                      <a:pPr marL="0" indent="0" lvl="0">
                        <a:buNone/>
                      </a:pPr>
                      <a:r>
                        <a:rPr sz="850" b="1">
                          <a:solidFill>
                            <a:srgbClr val="FFFFFF"/>
                          </a:solidFill>
                          <a:latin typeface="Helvetica"/>
                        </a:rPr>
                        <a:t>Poste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Méthode du FPPN</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Montant du FPPN</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Recalcul</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Méthode du recalcul</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Écart absolu</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Écart relatif</a:t>
                      </a:r>
                    </a:p>
                  </a:txBody>
                  <a:tcPr marL="43200" marR="43200" marT="14400" marB="14400" anchor="ctr">
                    <a:solidFill>
                      <a:srgbClr val="060606"/>
                    </a:solidFill>
                  </a:tcPr>
                </a:tc>
              </a:tr>
              <a:tr h="316696">
                <a:tc>
                  <a:txBody>
                    <a:bodyPr/>
                    <a:lstStyle/>
                    <a:p>
                      <a:pPr marL="0" indent="0" lvl="0">
                        <a:buNone/>
                      </a:pPr>
                      <a:r>
                        <a:rPr sz="850" b="1">
                          <a:solidFill>
                            <a:srgbClr val="060606"/>
                          </a:solidFill>
                          <a:latin typeface="Helvetica"/>
                        </a:rPr>
                        <a:t>Provision maladie (15801000)</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Montant hérité, inchangé depuis 2020</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2 867 602 878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12 481 392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Soins facturés l'année suivante, journal SIN</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2 855 121 486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22 875,03 %</a:t>
                      </a:r>
                    </a:p>
                  </a:txBody>
                  <a:tcPr marL="43200" marR="43200" marT="14400" marB="14400" anchor="ctr">
                    <a:solidFill>
                      <a:srgbClr val="FFFFFF"/>
                    </a:solidFill>
                  </a:tcPr>
                </a:tc>
              </a:tr>
              <a:tr h="316696">
                <a:tc>
                  <a:txBody>
                    <a:bodyPr/>
                    <a:lstStyle/>
                    <a:p>
                      <a:pPr marL="0" indent="0" lvl="0">
                        <a:buNone/>
                      </a:pPr>
                      <a:r>
                        <a:rPr sz="850" b="1">
                          <a:solidFill>
                            <a:srgbClr val="060606"/>
                          </a:solidFill>
                          <a:latin typeface="Helvetica"/>
                        </a:rPr>
                        <a:t>Provision obsèques (15802000)</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Montant hérité, inchangé depuis 2020</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1 961 695 412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7 100 000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Décès déclarés après la clôture (dette connue au 41591000)</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1 954 595 412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27 529,51 %</a:t>
                      </a:r>
                    </a:p>
                  </a:txBody>
                  <a:tcPr marL="43200" marR="43200" marT="14400" marB="14400" anchor="ctr">
                    <a:solidFill>
                      <a:srgbClr val="F2F2F2"/>
                    </a:solidFill>
                  </a:tcPr>
                </a:tc>
              </a:tr>
              <a:tr h="316696">
                <a:tc>
                  <a:txBody>
                    <a:bodyPr/>
                    <a:lstStyle/>
                    <a:p>
                      <a:pPr marL="0" indent="0" lvl="0">
                        <a:buNone/>
                      </a:pPr>
                      <a:r>
                        <a:rPr sz="850" b="1">
                          <a:solidFill>
                            <a:srgbClr val="060606"/>
                          </a:solidFill>
                          <a:latin typeface="Helvetica"/>
                        </a:rPr>
                        <a:t>Départ à la retraite du personnel (196)</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Reprise et dotation annuelles, méthode non transmise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43 666 678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24 446 566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Unités de crédit projetées, agent par agent</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19 220 112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78,62 %</a:t>
                      </a:r>
                    </a:p>
                  </a:txBody>
                  <a:tcPr marL="43200" marR="43200" marT="14400" marB="14400" anchor="ctr">
                    <a:solidFill>
                      <a:srgbClr val="FFFFFF"/>
                    </a:solidFill>
                  </a:tcPr>
                </a:tc>
              </a:tr>
              <a:tr h="316696">
                <a:tc>
                  <a:txBody>
                    <a:bodyPr/>
                    <a:lstStyle/>
                    <a:p>
                      <a:pPr marL="0" indent="0" lvl="0">
                        <a:buNone/>
                      </a:pPr>
                      <a:r>
                        <a:rPr sz="850" b="1">
                          <a:solidFill>
                            <a:srgbClr val="060606"/>
                          </a:solidFill>
                          <a:latin typeface="Helvetica"/>
                        </a:rPr>
                        <a:t>Intérêts dus sur l'épargne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Aucune écriture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0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3 278 913 238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Taux du manuel d'épargne, du 01/01/2020 au 31/08/2026</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-3 278 913 238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-100,00 %</a:t>
                      </a:r>
                    </a:p>
                  </a:txBody>
                  <a:tcPr marL="43200" marR="43200" marT="14400" marB="14400" anchor="ctr">
                    <a:solidFill>
                      <a:srgbClr val="F2F2F2"/>
                    </a:solidFill>
                  </a:tcPr>
                </a:tc>
              </a:tr>
              <a:tr h="316696">
                <a:tc>
                  <a:txBody>
                    <a:bodyPr/>
                    <a:lstStyle/>
                    <a:p>
                      <a:pPr marL="0" indent="0" lvl="0">
                        <a:buNone/>
                      </a:pPr>
                      <a:r>
                        <a:rPr sz="850" b="1">
                          <a:solidFill>
                            <a:srgbClr val="060606"/>
                          </a:solidFill>
                          <a:latin typeface="Helvetica"/>
                        </a:rPr>
                        <a:t>Dépréciation des prêts du Grenier</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Aucune écriture depuis 2022</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0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14 016 392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Taux de la politique de crédit du Grenier</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-14 016 392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-100,00 %</a:t>
                      </a:r>
                    </a:p>
                  </a:txBody>
                  <a:tcPr marL="43200" marR="43200" marT="14400" marB="14400" anchor="ctr">
                    <a:solidFill>
                      <a:srgbClr val="FFFFFF"/>
                    </a:solidFill>
                  </a:tcPr>
                </a:tc>
              </a:tr>
            </a:tbl>
          </a:graphicData>
        </a:graphic>
      </p:graphicFrame>
      <p:sp>
        <p:nvSpPr>
          <p:cNvPr id="33" name="TextBox 32"/>
          <p:cNvSpPr txBox="1"/>
          <p:nvPr/>
        </p:nvSpPr>
        <p:spPr>
          <a:xfrm>
            <a:off x="503999" y="3534629"/>
            <a:ext cx="11232000" cy="162000"/>
          </a:xfrm>
          <a:prstGeom prst="rect">
            <a:avLst/>
          </a:prstGeom>
          <a:noFill/>
        </p:spPr>
        <p:txBody>
          <a:bodyPr wrap="square" anchor="t" lIns="54000" rIns="54000"/>
          <a:lstStyle/>
          <a:p>
            <a:pPr algn="l"/>
            <a:r>
              <a:rPr sz="850" b="0">
                <a:solidFill>
                  <a:srgbClr val="53565A"/>
                </a:solidFill>
                <a:latin typeface="Helvetica"/>
              </a:rPr>
              <a:t>Valable pour : bilan provisoire au 31/08/2026. Recalculs des diapositives de la partie 9. Provision du personnel au 31/12/2025.</a:t>
            </a:r>
          </a:p>
        </p:txBody>
      </p:sp>
      <p:sp>
        <p:nvSpPr>
          <p:cNvPr id="34" name="TextBox 33"/>
          <p:cNvSpPr txBox="1"/>
          <p:nvPr/>
        </p:nvSpPr>
        <p:spPr>
          <a:xfrm>
            <a:off x="503999" y="3840629"/>
            <a:ext cx="11232000" cy="2027370"/>
          </a:xfrm>
          <a:prstGeom prst="rect">
            <a:avLst/>
          </a:prstGeom>
          <a:noFill/>
        </p:spPr>
        <p:txBody>
          <a:bodyPr wrap="square" lIns="54000" rIns="54000"/>
          <a:lstStyle/>
          <a:p>
            <a:pPr algn="just">
              <a:spcAft>
                <a:spcPts val="600"/>
              </a:spcAft>
            </a:pPr>
            <a:r>
              <a:rPr sz="1300" b="1">
                <a:solidFill>
                  <a:srgbClr val="060606"/>
                </a:solidFill>
                <a:latin typeface="Helvetica"/>
              </a:rPr>
              <a:t>Les provisions maladie et obsèques dépassent largement les besoins mesurés, alors que les intérêts dus et la dépréciation des prêts ne sont pas provisionnés.</a:t>
            </a:r>
            <a:r>
              <a:rPr sz="1300" b="0">
                <a:solidFill>
                  <a:srgbClr val="060606"/>
                </a:solidFill>
                <a:latin typeface="Helvetica"/>
              </a:rPr>
              <a:t> Le total des provisions n'est pas insuffisant : il est mal affecté.</a:t>
            </a:r>
          </a:p>
          <a:p>
            <a:pPr algn="just">
              <a:spcAft>
                <a:spcPts val="600"/>
              </a:spcAft>
            </a:pPr>
            <a:r>
              <a:rPr sz="1300" b="0">
                <a:solidFill>
                  <a:srgbClr val="060606"/>
                </a:solidFill>
                <a:latin typeface="Helvetica"/>
              </a:rPr>
              <a:t>Le reclassement des montants hérités vers les intérêts dus sur l'épargne suppose une décision des organes et l'information de l'AIRMS (recommandation 1).</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AIRMS : Agence ivoirienne de régulation de la mutualité sociale</a:t>
            </a:r>
          </a:p>
        </p:txBody>
      </p:sp>
    </p:spTree>
    <p:extLst>
      <p:ext uri="{BB962C8B-B14F-4D97-AF65-F5344CB8AC3E}">
        <p14:creationId xmlns:p14="http://schemas.microsoft.com/office/powerpoint/2010/main" val="1089155039"/>
      </p:ext>
    </p:extLst>
  </p:cSld>
  <p:clrMapOvr>
    <a:masterClrMapping/>
  </p:clrMapOvr>
  <p:transition>
    <p:fade/>
  </p:transition>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Enjeux d'un provisionnement mal calibré</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Une provision trop forte masque les vrais engagements, une provision trop faible surévalue les fonds propres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Au FPPN, les deux erreurs coexistent : maladie et décès surprovisionnés, épargne et prêts sous-provisionnés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analyses Adenka, partie 9. Règlement d'exécution n° 004/2022/COM/UEMOA du 1er juin 2022, art. 7 à 11. Statuts du FPPN édités le 15/06/2023, art. 89</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68 : Effets d'une provision mal calibrée et situation du FPPN</a:t>
            </a:r>
          </a:p>
        </p:txBody>
      </p:sp>
      <p:graphicFrame>
        <p:nvGraphicFramePr>
          <p:cNvPr id="32" name="Table 31"/>
          <p:cNvGraphicFramePr>
            <a:graphicFrameLocks noGrp="1"/>
          </p:cNvGraphicFramePr>
          <p:nvPr/>
        </p:nvGraphicFramePr>
        <p:xfrm>
          <a:off x="503999" y="1655999"/>
          <a:ext cx="11231998" cy="1137236"/>
        </p:xfrm>
        <a:graphic>
          <a:graphicData uri="http://schemas.openxmlformats.org/drawingml/2006/table">
            <a:tbl>
              <a:tblPr firstRow="0" bandRow="0">
                <a:tableStyleId>{5940675A-B579-460E-94D1-54222C63F5DA}</a:tableStyleId>
              </a:tblPr>
              <a:tblGrid>
                <a:gridCol w="1655999"/>
                <a:gridCol w="3024000"/>
                <a:gridCol w="3240000"/>
                <a:gridCol w="3311999"/>
              </a:tblGrid>
              <a:tr h="187148">
                <a:tc>
                  <a:txBody>
                    <a:bodyPr/>
                    <a:lstStyle/>
                    <a:p>
                      <a:pPr marL="0" indent="0" lvl="0">
                        <a:buNone/>
                      </a:pPr>
                      <a:r>
                        <a:rPr sz="850" b="1">
                          <a:solidFill>
                            <a:srgbClr val="FFFFFF"/>
                          </a:solidFill>
                          <a:latin typeface="Helvetica"/>
                        </a:rPr>
                        <a:t>Erreur</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Effet sur les comptes</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Effet sur les ratios et les décisions</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Situation au FPPN</a:t>
                      </a:r>
                    </a:p>
                  </a:txBody>
                  <a:tcPr marL="43200" marR="43200" marT="14400" marB="14400" anchor="ctr">
                    <a:solidFill>
                      <a:srgbClr val="060606"/>
                    </a:solidFill>
                  </a:tcPr>
                </a:tc>
              </a:tr>
              <a:tr h="316696">
                <a:tc>
                  <a:txBody>
                    <a:bodyPr/>
                    <a:lstStyle/>
                    <a:p>
                      <a:pPr marL="0" indent="0" lvl="0">
                        <a:buNone/>
                      </a:pPr>
                      <a:r>
                        <a:rPr sz="850" b="1">
                          <a:solidFill>
                            <a:srgbClr val="060606"/>
                          </a:solidFill>
                          <a:latin typeface="Helvetica"/>
                        </a:rPr>
                        <a:t>Provision trop forte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Résultat et fonds propres sous-évalués. Charges futures déjà couvertes deux fois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Sinistralité et frais mal mesurés. Cotisations jugées insuffisantes à tort</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Maladie et obsèques : 4 809 716 898 FCFA au-dessus des besoins mesurés</a:t>
                      </a:r>
                    </a:p>
                  </a:txBody>
                  <a:tcPr marL="43200" marR="43200" marT="14400" marB="14400" anchor="ctr">
                    <a:solidFill>
                      <a:srgbClr val="FFFFFF"/>
                    </a:solidFill>
                  </a:tcPr>
                </a:tc>
              </a:tr>
              <a:tr h="316696">
                <a:tc>
                  <a:txBody>
                    <a:bodyPr/>
                    <a:lstStyle/>
                    <a:p>
                      <a:pPr marL="0" indent="0" lvl="0">
                        <a:buNone/>
                      </a:pPr>
                      <a:r>
                        <a:rPr sz="850" b="1">
                          <a:solidFill>
                            <a:srgbClr val="060606"/>
                          </a:solidFill>
                          <a:latin typeface="Helvetica"/>
                        </a:rPr>
                        <a:t>Provision trop faible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Dettes futures absentes du bilan. Résultat et fonds propres surévalués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Marge de solvabilité et réserve obligatoire surévaluées. Tarifs et placements décidés sur une base fausse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Intérêts dus non provisionnés : 3 278 913 238 FCFA. Prêts non dépréciés : 14 016 392 FCFA</a:t>
                      </a:r>
                    </a:p>
                  </a:txBody>
                  <a:tcPr marL="43200" marR="43200" marT="14400" marB="14400" anchor="ctr">
                    <a:solidFill>
                      <a:srgbClr val="F2F2F2"/>
                    </a:solidFill>
                  </a:tcPr>
                </a:tc>
              </a:tr>
              <a:tr h="316696">
                <a:tc>
                  <a:txBody>
                    <a:bodyPr/>
                    <a:lstStyle/>
                    <a:p>
                      <a:pPr marL="0" indent="0" lvl="0">
                        <a:buNone/>
                      </a:pPr>
                      <a:r>
                        <a:rPr sz="850" b="1">
                          <a:solidFill>
                            <a:srgbClr val="060606"/>
                          </a:solidFill>
                          <a:latin typeface="Helvetica"/>
                        </a:rPr>
                        <a:t>Provision non recalculée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Montant sans lien avec les engagements de l'année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Impossible de démontrer la suffisance à l'AIRMS ou au commissaire aux comptes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Montants identiques de 2020 au 31/08/2026 (statuts, art. 89, non appliqué)</a:t>
                      </a:r>
                    </a:p>
                  </a:txBody>
                  <a:tcPr marL="43200" marR="43200" marT="14400" marB="14400" anchor="ctr">
                    <a:solidFill>
                      <a:srgbClr val="FFFFFF"/>
                    </a:solidFill>
                  </a:tcPr>
                </a:tc>
              </a:tr>
            </a:tbl>
          </a:graphicData>
        </a:graphic>
      </p:graphicFrame>
      <p:sp>
        <p:nvSpPr>
          <p:cNvPr id="33" name="TextBox 32"/>
          <p:cNvSpPr txBox="1"/>
          <p:nvPr/>
        </p:nvSpPr>
        <p:spPr>
          <a:xfrm>
            <a:off x="503999" y="2901237"/>
            <a:ext cx="11232000" cy="162000"/>
          </a:xfrm>
          <a:prstGeom prst="rect">
            <a:avLst/>
          </a:prstGeom>
          <a:noFill/>
        </p:spPr>
        <p:txBody>
          <a:bodyPr wrap="square" anchor="t" lIns="54000" rIns="54000"/>
          <a:lstStyle/>
          <a:p>
            <a:pPr algn="l"/>
            <a:r>
              <a:rPr sz="850" b="0">
                <a:solidFill>
                  <a:srgbClr val="53565A"/>
                </a:solidFill>
                <a:latin typeface="Helvetica"/>
              </a:rPr>
              <a:t>Valable pour : provisions et recalculs au 31/08/2026.</a:t>
            </a:r>
          </a:p>
        </p:txBody>
      </p:sp>
      <p:sp>
        <p:nvSpPr>
          <p:cNvPr id="34" name="TextBox 33"/>
          <p:cNvSpPr txBox="1"/>
          <p:nvPr/>
        </p:nvSpPr>
        <p:spPr>
          <a:xfrm>
            <a:off x="503999" y="3207237"/>
            <a:ext cx="11232000" cy="2660762"/>
          </a:xfrm>
          <a:prstGeom prst="rect">
            <a:avLst/>
          </a:prstGeom>
          <a:noFill/>
        </p:spPr>
        <p:txBody>
          <a:bodyPr wrap="square" lIns="54000" rIns="54000"/>
          <a:lstStyle/>
          <a:p>
            <a:pPr algn="just">
              <a:spcAft>
                <a:spcPts val="600"/>
              </a:spcAft>
            </a:pPr>
            <a:r>
              <a:rPr sz="1300" b="1">
                <a:solidFill>
                  <a:srgbClr val="060606"/>
                </a:solidFill>
                <a:latin typeface="Helvetica"/>
              </a:rPr>
              <a:t>Le risque principal du FPPN n'est pas un manque global de provisions, mais leur affectation.</a:t>
            </a:r>
            <a:r>
              <a:rPr sz="1300" b="0">
                <a:solidFill>
                  <a:srgbClr val="060606"/>
                </a:solidFill>
                <a:latin typeface="Helvetica"/>
              </a:rPr>
              <a:t> Les engagements d'épargne, les plus importants, sont les moins provisionnés.</a:t>
            </a:r>
          </a:p>
          <a:p>
            <a:pPr algn="just">
              <a:spcAft>
                <a:spcPts val="600"/>
              </a:spcAft>
            </a:pPr>
            <a:r>
              <a:rPr sz="1300" b="0">
                <a:solidFill>
                  <a:srgbClr val="060606"/>
                </a:solidFill>
                <a:latin typeface="Helvetica"/>
              </a:rPr>
              <a:t>Une note de calcul annuelle, signée et présentée à l'Assemblée générale, corrige les trois erreurs à la fois (recommandation 1).</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AIRMS : Agence ivoirienne de régulation de la mutualité sociale | UEMOA : Union économique et monétaire ouest-africaine</a:t>
            </a:r>
          </a:p>
        </p:txBody>
      </p:sp>
    </p:spTree>
    <p:extLst>
      <p:ext uri="{BB962C8B-B14F-4D97-AF65-F5344CB8AC3E}">
        <p14:creationId xmlns:p14="http://schemas.microsoft.com/office/powerpoint/2010/main" val="2640054366"/>
      </p:ext>
    </p:extLst>
  </p:cSld>
  <p:clrMapOvr>
    <a:masterClrMapping/>
  </p:clrMapOvr>
  <p:transition>
    <p:fade/>
  </p:transition>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Google Shape;8651;p70"/>
          <p:cNvSpPr/>
          <p:nvPr/>
        </p:nvSpPr>
        <p:spPr>
          <a:xfrm>
            <a:off x="2013108" y="2588204"/>
            <a:ext cx="1380332" cy="1428252"/>
          </a:xfrm>
          <a:custGeom>
            <a:avLst/>
            <a:gdLst/>
            <a:ahLst/>
            <a:cxnLst/>
            <a:rect l="l" t="t" r="r" b="b"/>
            <a:pathLst>
              <a:path w="8670" h="8971" extrusionOk="0">
                <a:moveTo>
                  <a:pt x="7105" y="1302"/>
                </a:moveTo>
                <a:cubicBezTo>
                  <a:pt x="7105" y="1315"/>
                  <a:pt x="7105" y="1328"/>
                  <a:pt x="7105" y="1341"/>
                </a:cubicBezTo>
                <a:cubicBezTo>
                  <a:pt x="7118" y="1980"/>
                  <a:pt x="7183" y="2619"/>
                  <a:pt x="7183" y="3283"/>
                </a:cubicBezTo>
                <a:cubicBezTo>
                  <a:pt x="7170" y="4404"/>
                  <a:pt x="7183" y="5525"/>
                  <a:pt x="7222" y="6646"/>
                </a:cubicBezTo>
                <a:cubicBezTo>
                  <a:pt x="7235" y="6959"/>
                  <a:pt x="7222" y="7259"/>
                  <a:pt x="7222" y="7559"/>
                </a:cubicBezTo>
                <a:lnTo>
                  <a:pt x="7222" y="7585"/>
                </a:lnTo>
                <a:cubicBezTo>
                  <a:pt x="6935" y="7598"/>
                  <a:pt x="6649" y="7611"/>
                  <a:pt x="6362" y="7611"/>
                </a:cubicBezTo>
                <a:cubicBezTo>
                  <a:pt x="6101" y="7598"/>
                  <a:pt x="5853" y="7585"/>
                  <a:pt x="5593" y="7585"/>
                </a:cubicBezTo>
                <a:cubicBezTo>
                  <a:pt x="4159" y="7559"/>
                  <a:pt x="2712" y="7559"/>
                  <a:pt x="1291" y="7442"/>
                </a:cubicBezTo>
                <a:cubicBezTo>
                  <a:pt x="1278" y="7207"/>
                  <a:pt x="1239" y="6959"/>
                  <a:pt x="1226" y="6725"/>
                </a:cubicBezTo>
                <a:cubicBezTo>
                  <a:pt x="1200" y="6255"/>
                  <a:pt x="1187" y="5799"/>
                  <a:pt x="1200" y="5330"/>
                </a:cubicBezTo>
                <a:cubicBezTo>
                  <a:pt x="1213" y="4222"/>
                  <a:pt x="1226" y="3101"/>
                  <a:pt x="1343" y="1993"/>
                </a:cubicBezTo>
                <a:lnTo>
                  <a:pt x="1552" y="1993"/>
                </a:lnTo>
                <a:cubicBezTo>
                  <a:pt x="2138" y="1980"/>
                  <a:pt x="2725" y="1889"/>
                  <a:pt x="3312" y="1810"/>
                </a:cubicBezTo>
                <a:cubicBezTo>
                  <a:pt x="4576" y="1641"/>
                  <a:pt x="5840" y="1524"/>
                  <a:pt x="7105" y="1302"/>
                </a:cubicBezTo>
                <a:close/>
                <a:moveTo>
                  <a:pt x="7529" y="1"/>
                </a:moveTo>
                <a:cubicBezTo>
                  <a:pt x="7291" y="1"/>
                  <a:pt x="7059" y="53"/>
                  <a:pt x="6818" y="64"/>
                </a:cubicBezTo>
                <a:cubicBezTo>
                  <a:pt x="6375" y="103"/>
                  <a:pt x="5932" y="142"/>
                  <a:pt x="5488" y="194"/>
                </a:cubicBezTo>
                <a:cubicBezTo>
                  <a:pt x="4824" y="259"/>
                  <a:pt x="4107" y="350"/>
                  <a:pt x="3429" y="389"/>
                </a:cubicBezTo>
                <a:cubicBezTo>
                  <a:pt x="2686" y="429"/>
                  <a:pt x="1943" y="481"/>
                  <a:pt x="1213" y="598"/>
                </a:cubicBezTo>
                <a:cubicBezTo>
                  <a:pt x="913" y="624"/>
                  <a:pt x="652" y="728"/>
                  <a:pt x="509" y="976"/>
                </a:cubicBezTo>
                <a:cubicBezTo>
                  <a:pt x="470" y="1028"/>
                  <a:pt x="444" y="1080"/>
                  <a:pt x="431" y="1146"/>
                </a:cubicBezTo>
                <a:cubicBezTo>
                  <a:pt x="300" y="1524"/>
                  <a:pt x="287" y="1928"/>
                  <a:pt x="300" y="2332"/>
                </a:cubicBezTo>
                <a:cubicBezTo>
                  <a:pt x="209" y="3010"/>
                  <a:pt x="209" y="3700"/>
                  <a:pt x="209" y="4378"/>
                </a:cubicBezTo>
                <a:cubicBezTo>
                  <a:pt x="170" y="4769"/>
                  <a:pt x="144" y="5173"/>
                  <a:pt x="131" y="5565"/>
                </a:cubicBezTo>
                <a:cubicBezTo>
                  <a:pt x="105" y="6203"/>
                  <a:pt x="14" y="6842"/>
                  <a:pt x="14" y="7481"/>
                </a:cubicBezTo>
                <a:cubicBezTo>
                  <a:pt x="1" y="7911"/>
                  <a:pt x="157" y="8315"/>
                  <a:pt x="613" y="8419"/>
                </a:cubicBezTo>
                <a:cubicBezTo>
                  <a:pt x="1056" y="8550"/>
                  <a:pt x="1526" y="8524"/>
                  <a:pt x="1982" y="8550"/>
                </a:cubicBezTo>
                <a:cubicBezTo>
                  <a:pt x="2243" y="8563"/>
                  <a:pt x="2503" y="8589"/>
                  <a:pt x="2764" y="8615"/>
                </a:cubicBezTo>
                <a:cubicBezTo>
                  <a:pt x="3885" y="8745"/>
                  <a:pt x="5006" y="8902"/>
                  <a:pt x="6140" y="8941"/>
                </a:cubicBezTo>
                <a:cubicBezTo>
                  <a:pt x="6220" y="8945"/>
                  <a:pt x="6302" y="8946"/>
                  <a:pt x="6383" y="8946"/>
                </a:cubicBezTo>
                <a:cubicBezTo>
                  <a:pt x="6581" y="8946"/>
                  <a:pt x="6781" y="8937"/>
                  <a:pt x="6974" y="8928"/>
                </a:cubicBezTo>
                <a:cubicBezTo>
                  <a:pt x="7118" y="8941"/>
                  <a:pt x="7274" y="8941"/>
                  <a:pt x="7418" y="8941"/>
                </a:cubicBezTo>
                <a:cubicBezTo>
                  <a:pt x="7568" y="8956"/>
                  <a:pt x="7723" y="8971"/>
                  <a:pt x="7877" y="8971"/>
                </a:cubicBezTo>
                <a:cubicBezTo>
                  <a:pt x="7990" y="8971"/>
                  <a:pt x="8103" y="8963"/>
                  <a:pt x="8213" y="8941"/>
                </a:cubicBezTo>
                <a:cubicBezTo>
                  <a:pt x="8643" y="8810"/>
                  <a:pt x="8565" y="8093"/>
                  <a:pt x="8604" y="7741"/>
                </a:cubicBezTo>
                <a:cubicBezTo>
                  <a:pt x="8669" y="6620"/>
                  <a:pt x="8539" y="5499"/>
                  <a:pt x="8487" y="4378"/>
                </a:cubicBezTo>
                <a:cubicBezTo>
                  <a:pt x="8434" y="3453"/>
                  <a:pt x="8330" y="2527"/>
                  <a:pt x="8252" y="1589"/>
                </a:cubicBezTo>
                <a:cubicBezTo>
                  <a:pt x="8200" y="1341"/>
                  <a:pt x="8239" y="637"/>
                  <a:pt x="8096" y="350"/>
                </a:cubicBezTo>
                <a:lnTo>
                  <a:pt x="8082" y="350"/>
                </a:lnTo>
                <a:cubicBezTo>
                  <a:pt x="8056" y="181"/>
                  <a:pt x="7952" y="51"/>
                  <a:pt x="7704" y="11"/>
                </a:cubicBezTo>
                <a:cubicBezTo>
                  <a:pt x="7645" y="4"/>
                  <a:pt x="7587" y="1"/>
                  <a:pt x="7529" y="1"/>
                </a:cubicBezTo>
                <a:close/>
              </a:path>
            </a:pathLst>
          </a:custGeom>
          <a:solidFill>
            <a:schemeClr val="bg1"/>
          </a:solidFill>
          <a:ln w="76200">
            <a:solidFill>
              <a:schemeClr val="tx1"/>
            </a:solid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5" name="Rectangle 24">
            <a:extLst>
              <a:ext uri="{FF2B5EF4-FFF2-40B4-BE49-F238E27FC236}">
                <a16:creationId xmlns:a16="http://schemas.microsoft.com/office/drawing/2014/main" id="{9B9B23AA-050D-4543-80A0-873FE31AFFF7}"/>
              </a:ext>
            </a:extLst>
          </p:cNvPr>
          <p:cNvSpPr/>
          <p:nvPr/>
        </p:nvSpPr>
        <p:spPr>
          <a:xfrm>
            <a:off x="2446471" y="2869098"/>
            <a:ext cx="513606" cy="936923"/>
          </a:xfrm>
          <a:prstGeom prst="rect">
            <a:avLst/>
          </a:prstGeom>
        </p:spPr>
        <p:txBody>
          <a:bodyPr wrap="none" lIns="0" tIns="0" rIns="0" bIns="0">
            <a:spAutoFit/>
          </a:bodyPr>
          <a:lstStyle/>
          <a:p>
            <a:pPr lvl="0">
              <a:lnSpc>
                <a:spcPct val="110000"/>
              </a:lnSpc>
            </a:pPr>
            <a:r>
              <a:rPr lang="fr-CI" sz="42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9.2</a:t>
            </a:r>
          </a:p>
        </p:txBody>
      </p:sp>
      <p:sp>
        <p:nvSpPr>
          <p:cNvPr id="10" name="Rectangle 9"/>
          <p:cNvSpPr/>
          <p:nvPr/>
        </p:nvSpPr>
        <p:spPr>
          <a:xfrm>
            <a:off x="3938554" y="2462184"/>
            <a:ext cx="3816000" cy="1200329"/>
          </a:xfrm>
          <a:prstGeom prst="rect">
            <a:avLst/>
          </a:prstGeom>
        </p:spPr>
        <p:txBody>
          <a:bodyPr wrap="square">
            <a:spAutoFit/>
          </a:bodyPr>
          <a:lstStyle/>
          <a:p>
            <a:r>
              <a:rPr lang="fr-CI" sz="3600" b="1" noProof="0">
                <a:solidFill>
                  <a:schemeClr val="bg1"/>
                </a:solidFill>
                <a:latin typeface="Helvetica" panose="020B0604020202020204" pitchFamily="34" charset="0"/>
                <a:cs typeface="Helvetica" panose="020B0604020202020204" pitchFamily="34" charset="0"/>
              </a:rPr>
              <a:t>Adossement actif-passif</a:t>
            </a:r>
          </a:p>
        </p:txBody>
      </p:sp>
      <p:pic>
        <p:nvPicPr>
          <p:cNvPr id="9" name="Image 8">
            <a:extLst>
              <a:ext uri="{FF2B5EF4-FFF2-40B4-BE49-F238E27FC236}">
                <a16:creationId xmlns:a16="http://schemas.microsoft.com/office/drawing/2014/main" id="{2C356854-0685-DCEF-E2F6-65D5E9653A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1274" y="-185107"/>
            <a:ext cx="3179518" cy="1268781"/>
          </a:xfrm>
          <a:prstGeom prst="rect">
            <a:avLst/>
          </a:prstGeom>
        </p:spPr>
      </p:pic>
      <p:sp>
        <p:nvSpPr>
          <p:cNvPr id="6" name="Rectangle 5"/>
          <p:cNvSpPr/>
          <p:nvPr/>
        </p:nvSpPr>
        <p:spPr>
          <a:xfrm>
            <a:off x="3938554" y="3337559"/>
            <a:ext cx="3816000" cy="923330"/>
          </a:xfrm>
          <a:prstGeom prst="rect">
            <a:avLst/>
          </a:prstGeom>
        </p:spPr>
        <p:txBody>
          <a:bodyPr wrap="square">
            <a:spAutoFit/>
          </a:bodyPr>
          <a:lstStyle/>
          <a:p>
            <a:br>
              <a:rPr lang="fr-CI" noProof="0">
                <a:solidFill>
                  <a:schemeClr val="bg1"/>
                </a:solidFill>
              </a:rPr>
            </a:br>
            <a:r>
              <a:rPr lang="fr-CI" noProof="0">
                <a:solidFill>
                  <a:srgbClr val="EFAC62"/>
                </a:solidFill>
                <a:latin typeface="Helvetica" panose="020B0604020202020204" pitchFamily="34" charset="0"/>
                <a:ea typeface="Open Sans Light" panose="020B0306030504020204" pitchFamily="34" charset="0"/>
                <a:cs typeface="Helvetica" panose="020B0604020202020204" pitchFamily="34" charset="0"/>
              </a:rPr>
              <a:t>Liquidité, écoulement de l'épargne, tests de résistance, gouvernance</a:t>
            </a:r>
          </a:p>
        </p:txBody>
      </p:sp>
      <p:pic>
        <p:nvPicPr>
          <p:cNvPr id="11" name="Imag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5561" y="2415481"/>
            <a:ext cx="1566911" cy="1600975"/>
          </a:xfrm>
          <a:prstGeom prst="rect">
            <a:avLst/>
          </a:prstGeom>
        </p:spPr>
      </p:pic>
    </p:spTree>
    <p:extLst>
      <p:ext uri="{BB962C8B-B14F-4D97-AF65-F5344CB8AC3E}">
        <p14:creationId xmlns:p14="http://schemas.microsoft.com/office/powerpoint/2010/main" val="697227221"/>
      </p:ext>
    </p:extLst>
  </p:cSld>
  <p:clrMapOvr>
    <a:masterClrMapping/>
  </p:clrMapOvr>
  <p:transition>
    <p:fade/>
  </p:transition>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Structure de l'actif</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L'actif repose sur des créances et des investissements peu liquides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Au 31/08/2026 : CMP 7 083 534 565 FCFA, terrains 5 245 896 750 FCFA, trésorerie 3 359 100 618 FCFA</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30 : Principaux postes de l'actif</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millions de FCFA</a:t>
            </a:r>
          </a:p>
        </p:txBody>
      </p:sp>
      <p:graphicFrame>
        <p:nvGraphicFramePr>
          <p:cNvPr id="32" name="Chart 31"/>
          <p:cNvGraphicFramePr>
            <a:graphicFrameLocks noGrp="1"/>
          </p:cNvGraphicFramePr>
          <p:nvPr/>
        </p:nvGraphicFramePr>
        <p:xfrm>
          <a:off x="503999" y="1782000"/>
          <a:ext cx="6552000" cy="3600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Les montants « CMP » passent de 2 984 680 712 FCFA en 2020 à 7 083 534 565 FCFA au 31/08/2026.</a:t>
            </a:r>
          </a:p>
          <a:p>
            <a:pPr algn="just">
              <a:spcAft>
                <a:spcPts val="600"/>
              </a:spcAft>
            </a:pPr>
            <a:r>
              <a:rPr sz="1400" b="1">
                <a:solidFill>
                  <a:srgbClr val="060606"/>
                </a:solidFill>
                <a:latin typeface="Helvetica"/>
              </a:rPr>
              <a:t>La créance sur l'Hôpital de la Police (3 407 519 850 FCFA) n'a pas bougé depuis 2020.</a:t>
            </a:r>
            <a:r>
              <a:rPr sz="1400" b="0">
                <a:solidFill>
                  <a:srgbClr val="060606"/>
                </a:solidFill>
                <a:latin typeface="Helvetica"/>
              </a:rPr>
              <a:t> Aucun remboursement n'apparaît.</a:t>
            </a:r>
          </a:p>
          <a:p>
            <a:pPr algn="just">
              <a:spcAft>
                <a:spcPts val="600"/>
              </a:spcAft>
            </a:pPr>
            <a:r>
              <a:rPr sz="1400" b="1">
                <a:solidFill>
                  <a:srgbClr val="060606"/>
                </a:solidFill>
                <a:latin typeface="Helvetica"/>
              </a:rPr>
              <a:t>Les dettes envers les cliniques atteignent 690 234 451 FCFA au 31/08/2026.</a:t>
            </a:r>
          </a:p>
          <a:p>
            <a:pPr algn="just">
              <a:spcAft>
                <a:spcPts val="600"/>
              </a:spcAft>
            </a:pPr>
            <a:r>
              <a:rPr sz="1400" b="0">
                <a:solidFill>
                  <a:srgbClr val="060606"/>
                </a:solidFill>
                <a:latin typeface="Helvetica"/>
              </a:rPr>
              <a:t>Le FPPN finance aussi des charges de fonctionnement « au CMP ». Le règlement d'exécution n° 004/2022 interdit de couvrir les pertes d'activités sanitaires par les cotisations ou les réserves obligatoires (art. 27) : une comptabilité séparée de ces activités doit le démontrer.</a:t>
            </a:r>
          </a:p>
        </p:txBody>
      </p:sp>
      <p:sp>
        <p:nvSpPr>
          <p:cNvPr id="35" name="TextBox 34"/>
          <p:cNvSpPr txBox="1"/>
          <p:nvPr/>
        </p:nvSpPr>
        <p:spPr>
          <a:xfrm>
            <a:off x="503999" y="5382000"/>
            <a:ext cx="6552000" cy="450000"/>
          </a:xfrm>
          <a:prstGeom prst="rect">
            <a:avLst/>
          </a:prstGeom>
          <a:noFill/>
        </p:spPr>
        <p:txBody>
          <a:bodyPr wrap="square" anchor="t" lIns="54000" rIns="54000"/>
          <a:lstStyle/>
          <a:p>
            <a:pPr algn="l"/>
            <a:r>
              <a:rPr sz="850" b="0">
                <a:solidFill>
                  <a:srgbClr val="53565A"/>
                </a:solidFill>
                <a:latin typeface="Helvetica"/>
              </a:rPr>
              <a:t>Valable pour : comptes d'actif (classes 2 à 5, 41 et 47) des balances « BALANCE FORMAT EXCEL DE 09-2020 AU 31-12-2020.xlsx » à « BALANCE FPPN DU 01-01-2026 AU 31-08-2026.xlsx », au 31/12 de 2020 à 2025 et au 31/08/2026. Valeurs comptables non réévaluées.</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CMP : Clinique médicale du policier</a:t>
            </a:r>
          </a:p>
        </p:txBody>
      </p:sp>
    </p:spTree>
    <p:extLst>
      <p:ext uri="{BB962C8B-B14F-4D97-AF65-F5344CB8AC3E}">
        <p14:creationId xmlns:p14="http://schemas.microsoft.com/office/powerpoint/2010/main" val="448776936"/>
      </p:ext>
    </p:extLst>
  </p:cSld>
  <p:clrMapOvr>
    <a:masterClrMapping/>
  </p:clrMapOvr>
  <p:transition>
    <p:fade/>
  </p:transition>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Adossement de liquidité provisoire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L'actif mobilisable en moins d'un an couvre la moitié du passif à moins d'un an</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Au 31/08/2026 : actif mobilisable en moins d'un an 3 457 866 951 FCFA, passif à moins d'un an hors épargne 7 017 736 497 FCFA</a:t>
            </a:r>
          </a:p>
        </p:txBody>
      </p:sp>
      <p:sp>
        <p:nvSpPr>
          <p:cNvPr id="30" name="TextBox 29"/>
          <p:cNvSpPr txBox="1"/>
          <p:nvPr/>
        </p:nvSpPr>
        <p:spPr>
          <a:xfrm>
            <a:off x="503999" y="1386000"/>
            <a:ext cx="5976000" cy="251999"/>
          </a:xfrm>
          <a:prstGeom prst="rect">
            <a:avLst/>
          </a:prstGeom>
          <a:noFill/>
        </p:spPr>
        <p:txBody>
          <a:bodyPr wrap="square">
            <a:spAutoFit/>
          </a:bodyPr>
          <a:lstStyle/>
          <a:p>
            <a:pPr algn="ctr">
              <a:spcAft>
                <a:spcPts val="0"/>
              </a:spcAft>
            </a:pPr>
            <a:r>
              <a:rPr sz="1200" b="0">
                <a:solidFill>
                  <a:srgbClr val="EFAC62"/>
                </a:solidFill>
                <a:latin typeface="Helvetica"/>
              </a:rPr>
              <a:t>Figure 31 : Actif par délai de mobilisation et passif par échéance</a:t>
            </a:r>
          </a:p>
        </p:txBody>
      </p:sp>
      <p:sp>
        <p:nvSpPr>
          <p:cNvPr id="31" name="TextBox 30"/>
          <p:cNvSpPr txBox="1"/>
          <p:nvPr/>
        </p:nvSpPr>
        <p:spPr>
          <a:xfrm>
            <a:off x="503999" y="1602000"/>
            <a:ext cx="5976000" cy="162000"/>
          </a:xfrm>
          <a:prstGeom prst="rect">
            <a:avLst/>
          </a:prstGeom>
          <a:noFill/>
        </p:spPr>
        <p:txBody>
          <a:bodyPr wrap="square">
            <a:spAutoFit/>
          </a:bodyPr>
          <a:lstStyle/>
          <a:p>
            <a:pPr algn="l">
              <a:spcAft>
                <a:spcPts val="0"/>
              </a:spcAft>
            </a:pPr>
            <a:r>
              <a:rPr sz="900" b="0">
                <a:solidFill>
                  <a:srgbClr val="060606"/>
                </a:solidFill>
                <a:latin typeface="Helvetica"/>
              </a:rPr>
              <a:t>En millions de FCFA</a:t>
            </a:r>
          </a:p>
        </p:txBody>
      </p:sp>
      <p:graphicFrame>
        <p:nvGraphicFramePr>
          <p:cNvPr id="32" name="Chart 31"/>
          <p:cNvGraphicFramePr>
            <a:graphicFrameLocks noGrp="1"/>
          </p:cNvGraphicFramePr>
          <p:nvPr/>
        </p:nvGraphicFramePr>
        <p:xfrm>
          <a:off x="503999" y="1782000"/>
          <a:ext cx="5976000" cy="3600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 Dossier de préparation de la mission, § 3.1</a:t>
            </a:r>
          </a:p>
        </p:txBody>
      </p:sp>
      <p:sp>
        <p:nvSpPr>
          <p:cNvPr id="34" name="TextBox 33"/>
          <p:cNvSpPr txBox="1"/>
          <p:nvPr/>
        </p:nvSpPr>
        <p:spPr>
          <a:xfrm>
            <a:off x="6696000" y="1440000"/>
            <a:ext cx="5040000" cy="4428000"/>
          </a:xfrm>
          <a:prstGeom prst="rect">
            <a:avLst/>
          </a:prstGeom>
          <a:noFill/>
        </p:spPr>
        <p:txBody>
          <a:bodyPr wrap="square" lIns="54000" rIns="54000"/>
          <a:lstStyle/>
          <a:p>
            <a:pPr algn="just">
              <a:spcAft>
                <a:spcPts val="600"/>
              </a:spcAft>
            </a:pPr>
            <a:r>
              <a:rPr sz="1400" b="1">
                <a:solidFill>
                  <a:srgbClr val="060606"/>
                </a:solidFill>
                <a:latin typeface="Helvetica"/>
              </a:rPr>
              <a:t>Plus des trois quarts de l'actif sont à plus de cinq ans ou de délai incertain.</a:t>
            </a:r>
            <a:r>
              <a:rPr sz="1400" b="0">
                <a:solidFill>
                  <a:srgbClr val="060606"/>
                </a:solidFill>
                <a:latin typeface="Helvetica"/>
              </a:rPr>
              <a:t> Cette tranche vaut 17 170 238 905 FCFA sur 21 925 420 866 FCFA au 31/08/2026.</a:t>
            </a:r>
          </a:p>
          <a:p>
            <a:pPr algn="just">
              <a:spcAft>
                <a:spcPts val="600"/>
              </a:spcAft>
            </a:pPr>
            <a:r>
              <a:rPr sz="1400" b="1">
                <a:solidFill>
                  <a:srgbClr val="060606"/>
                </a:solidFill>
                <a:latin typeface="Helvetica"/>
              </a:rPr>
              <a:t>L'actif à moins d'un an ne couvre pas le passif à moins d'un an.</a:t>
            </a:r>
            <a:r>
              <a:rPr sz="1400" b="0">
                <a:solidFill>
                  <a:srgbClr val="060606"/>
                </a:solidFill>
                <a:latin typeface="Helvetica"/>
              </a:rPr>
              <a:t> L'écart vaut 3 559 869 546 FCFA au 31/08/2026, avant même toute sortie d'épargne.</a:t>
            </a:r>
          </a:p>
          <a:p>
            <a:pPr algn="just">
              <a:spcAft>
                <a:spcPts val="600"/>
              </a:spcAft>
            </a:pPr>
            <a:r>
              <a:rPr sz="1400" b="1">
                <a:solidFill>
                  <a:srgbClr val="060606"/>
                </a:solidFill>
                <a:latin typeface="Helvetica"/>
              </a:rPr>
              <a:t>L'épargne (15 743 516 391 FCFA) n'a pas d'échéancier connu.</a:t>
            </a:r>
            <a:r>
              <a:rPr sz="1400" b="0">
                <a:solidFill>
                  <a:srgbClr val="060606"/>
                </a:solidFill>
                <a:latin typeface="Helvetica"/>
              </a:rPr>
              <a:t> Chaque départ à la retraite déclenche pourtant le versement de l'EFC.</a:t>
            </a:r>
          </a:p>
          <a:p>
            <a:pPr algn="just">
              <a:spcAft>
                <a:spcPts val="600"/>
              </a:spcAft>
            </a:pPr>
            <a:r>
              <a:rPr sz="1400" b="0">
                <a:solidFill>
                  <a:srgbClr val="060606"/>
                </a:solidFill>
                <a:latin typeface="Helvetica"/>
              </a:rPr>
              <a:t>Cet adossement est une borne favorable (diapositive suivante) : le passif à moins d'un an comprend les provisions pour prestations à payer, dont le montant n'est pas recalculé. Le FPPN finance des engagements courts avec des actifs longs : c'est le risque de liquidité central, chiffré dans les écarts année par année.</a:t>
            </a:r>
          </a:p>
        </p:txBody>
      </p:sp>
      <p:sp>
        <p:nvSpPr>
          <p:cNvPr id="35" name="TextBox 34"/>
          <p:cNvSpPr txBox="1"/>
          <p:nvPr/>
        </p:nvSpPr>
        <p:spPr>
          <a:xfrm>
            <a:off x="503999" y="5382000"/>
            <a:ext cx="5976000" cy="450000"/>
          </a:xfrm>
          <a:prstGeom prst="rect">
            <a:avLst/>
          </a:prstGeom>
          <a:noFill/>
        </p:spPr>
        <p:txBody>
          <a:bodyPr wrap="square" anchor="t" lIns="54000" rIns="54000"/>
          <a:lstStyle/>
          <a:p>
            <a:pPr algn="l"/>
            <a:r>
              <a:rPr sz="850" b="0">
                <a:solidFill>
                  <a:srgbClr val="53565A"/>
                </a:solidFill>
                <a:latin typeface="Helvetica"/>
              </a:rPr>
              <a:t>Valable pour : actifs classés par délai de mobilisation et passif par échéance d'après la nature des comptes des balances « BALANCE FORMAT EXCEL DE 09-2020 AU 31-12-2020.xlsx » à « BALANCE FPPN DU 01-01-2026 AU 31-08-2026.xlsx », au 31/12/2025 et au 31/08/2026.</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EFC : entraide fin de carrière</a:t>
            </a:r>
          </a:p>
        </p:txBody>
      </p:sp>
    </p:spTree>
    <p:extLst>
      <p:ext uri="{BB962C8B-B14F-4D97-AF65-F5344CB8AC3E}">
        <p14:creationId xmlns:p14="http://schemas.microsoft.com/office/powerpoint/2010/main" val="1903195641"/>
      </p:ext>
    </p:extLst>
  </p:cSld>
  <p:clrMapOvr>
    <a:masterClrMapping/>
  </p:clrMapOvr>
  <p:transition>
    <p:fade/>
  </p:transition>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Pourquoi l'adossement est une borne favorable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Toutes les corrections attendues augmentent le passif ou réduisent l'actif</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L'écart mesuré entre actifs et engagements est donc le meilleur cas possible : les données manquantes ne peuvent que l'aggraver</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règlement d'exécution n° 004/2022/COM/UEMOA du 1er juin 2022, art. 17, 19, 20, 21 et 27. Décision n° 05/2022/COM/UEMOA du 1er juin 2022, annexe, section II, § 2.1. PCMS (règlement n° 03/2012/CM/UEMOA). Balances des comptes du FPPN de 2020 au 31/08/2026 (provisoire), fichiers « BALANCE … » listés en annexe « Fichiers sources ». Traitements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69 : Corrections attendues et sens de leur effet sur l'adossement</a:t>
            </a:r>
          </a:p>
        </p:txBody>
      </p:sp>
      <p:graphicFrame>
        <p:nvGraphicFramePr>
          <p:cNvPr id="32" name="Table 31"/>
          <p:cNvGraphicFramePr>
            <a:graphicFrameLocks noGrp="1"/>
          </p:cNvGraphicFramePr>
          <p:nvPr/>
        </p:nvGraphicFramePr>
        <p:xfrm>
          <a:off x="503999" y="1655999"/>
          <a:ext cx="11232000" cy="2533568"/>
        </p:xfrm>
        <a:graphic>
          <a:graphicData uri="http://schemas.openxmlformats.org/drawingml/2006/table">
            <a:tbl>
              <a:tblPr firstRow="0" bandRow="0">
                <a:tableStyleId>{5940675A-B579-460E-94D1-54222C63F5DA}</a:tableStyleId>
              </a:tblPr>
              <a:tblGrid>
                <a:gridCol w="792000"/>
                <a:gridCol w="2232000"/>
                <a:gridCol w="3384000"/>
                <a:gridCol w="1800000"/>
                <a:gridCol w="3024000"/>
              </a:tblGrid>
              <a:tr h="187148">
                <a:tc>
                  <a:txBody>
                    <a:bodyPr/>
                    <a:lstStyle/>
                    <a:p>
                      <a:pPr marL="0" indent="0" lvl="0">
                        <a:buNone/>
                      </a:pPr>
                      <a:r>
                        <a:rPr sz="850" b="1">
                          <a:solidFill>
                            <a:srgbClr val="FFFFFF"/>
                          </a:solidFill>
                          <a:latin typeface="Helvetica"/>
                        </a:rPr>
                        <a:t>Côté</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Élément</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Situation au 31/08/2026</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Sens de la correction</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Texte de référence</a:t>
                      </a:r>
                    </a:p>
                  </a:txBody>
                  <a:tcPr marL="43200" marR="43200" marT="14400" marB="14400" anchor="ctr">
                    <a:solidFill>
                      <a:srgbClr val="060606"/>
                    </a:solidFill>
                  </a:tcPr>
                </a:tc>
              </a:tr>
              <a:tr h="446244">
                <a:tc>
                  <a:txBody>
                    <a:bodyPr/>
                    <a:lstStyle/>
                    <a:p>
                      <a:pPr marL="0" indent="0" lvl="0">
                        <a:buNone/>
                      </a:pPr>
                      <a:r>
                        <a:rPr sz="850" b="1">
                          <a:solidFill>
                            <a:srgbClr val="060606"/>
                          </a:solidFill>
                          <a:latin typeface="Helvetica"/>
                        </a:rPr>
                        <a:t>Passif</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Provisions maladie et décès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Montants hérités d'environ 2004, jamais recalculés. Aucune provision maladie calculée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Baisse : besoins mesurés très inférieurs au bilan (partie 9)</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règlement d'exécution n° 004/2022/COM/UEMOA du 1er juin 2022, art. 10</a:t>
                      </a:r>
                    </a:p>
                  </a:txBody>
                  <a:tcPr marL="43200" marR="43200" marT="14400" marB="14400" anchor="ctr">
                    <a:solidFill>
                      <a:srgbClr val="FFFFFF"/>
                    </a:solidFill>
                  </a:tcPr>
                </a:tc>
              </a:tr>
              <a:tr h="316696">
                <a:tc>
                  <a:txBody>
                    <a:bodyPr/>
                    <a:lstStyle/>
                    <a:p>
                      <a:pPr marL="0" indent="0" lvl="0">
                        <a:buNone/>
                      </a:pPr>
                      <a:r>
                        <a:rPr sz="850" b="1">
                          <a:solidFill>
                            <a:srgbClr val="060606"/>
                          </a:solidFill>
                          <a:latin typeface="Helvetica"/>
                        </a:rPr>
                        <a:t>Passif</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Provision mathématique (EFC, santé des retraités)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Absente du bilan</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Hausse si un capital ou une garantie à vie est promis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règlement d'exécution n° 004/2022/COM/UEMOA du 1er juin 2022, art. 11</a:t>
                      </a:r>
                    </a:p>
                  </a:txBody>
                  <a:tcPr marL="43200" marR="43200" marT="14400" marB="14400" anchor="ctr">
                    <a:solidFill>
                      <a:srgbClr val="F2F2F2"/>
                    </a:solidFill>
                  </a:tcPr>
                </a:tc>
              </a:tr>
              <a:tr h="316696">
                <a:tc>
                  <a:txBody>
                    <a:bodyPr/>
                    <a:lstStyle/>
                    <a:p>
                      <a:pPr marL="0" indent="0" lvl="0">
                        <a:buNone/>
                      </a:pPr>
                      <a:r>
                        <a:rPr sz="850" b="1">
                          <a:solidFill>
                            <a:srgbClr val="060606"/>
                          </a:solidFill>
                          <a:latin typeface="Helvetica"/>
                        </a:rPr>
                        <a:t>Passif</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Épargne PEP et EFC</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15 743 516 391 FCFA, sans échéancier. Taux servi non établi (3,5 %, 5,5 % ou 14 % selon le document)</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Hausse des flux futurs (intérêts servis, non comptabilisés)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Manuel des produits d'épargne (taux de 3,5 % et 5,5 %)</a:t>
                      </a:r>
                    </a:p>
                  </a:txBody>
                  <a:tcPr marL="43200" marR="43200" marT="14400" marB="14400" anchor="ctr">
                    <a:solidFill>
                      <a:srgbClr val="FFFFFF"/>
                    </a:solidFill>
                  </a:tcPr>
                </a:tc>
              </a:tr>
              <a:tr h="446244">
                <a:tc>
                  <a:txBody>
                    <a:bodyPr/>
                    <a:lstStyle/>
                    <a:p>
                      <a:pPr marL="0" indent="0" lvl="0">
                        <a:buNone/>
                      </a:pPr>
                      <a:r>
                        <a:rPr sz="850" b="1">
                          <a:solidFill>
                            <a:srgbClr val="060606"/>
                          </a:solidFill>
                          <a:latin typeface="Helvetica"/>
                        </a:rPr>
                        <a:t>Actif</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Créance sur l'hôpital de la Police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3 407 519 850 FCFA, inchangée depuis 2020</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Baisse (recouvrement non démontré)</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PCMS (dépréciation des créances). Règlement d'exécution n° 004/2022/COM/UEMOA du 1er juin 2022, art. 20</a:t>
                      </a:r>
                    </a:p>
                  </a:txBody>
                  <a:tcPr marL="43200" marR="43200" marT="14400" marB="14400" anchor="ctr">
                    <a:solidFill>
                      <a:srgbClr val="F2F2F2"/>
                    </a:solidFill>
                  </a:tcPr>
                </a:tc>
              </a:tr>
              <a:tr h="316696">
                <a:tc>
                  <a:txBody>
                    <a:bodyPr/>
                    <a:lstStyle/>
                    <a:p>
                      <a:pPr marL="0" indent="0" lvl="0">
                        <a:buNone/>
                      </a:pPr>
                      <a:r>
                        <a:rPr sz="850" b="1">
                          <a:solidFill>
                            <a:srgbClr val="060606"/>
                          </a:solidFill>
                          <a:latin typeface="Helvetica"/>
                        </a:rPr>
                        <a:t>Actif</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Clinique du FPPN (CMP)</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5 803 025 455 FCFA d'investissements et 1 280 300 860 FCFA de charges en comptes 47</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Baisse (charges consommées, valeur de marché non établie)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règlement d'exécution n° 004/2022/COM/UEMOA du 1er juin 2022, art. 20 et 27</a:t>
                      </a:r>
                    </a:p>
                  </a:txBody>
                  <a:tcPr marL="43200" marR="43200" marT="14400" marB="14400" anchor="ctr">
                    <a:solidFill>
                      <a:srgbClr val="FFFFFF"/>
                    </a:solidFill>
                  </a:tcPr>
                </a:tc>
              </a:tr>
              <a:tr h="316696">
                <a:tc>
                  <a:txBody>
                    <a:bodyPr/>
                    <a:lstStyle/>
                    <a:p>
                      <a:pPr marL="0" indent="0" lvl="0">
                        <a:buNone/>
                      </a:pPr>
                      <a:r>
                        <a:rPr sz="850" b="1">
                          <a:solidFill>
                            <a:srgbClr val="060606"/>
                          </a:solidFill>
                          <a:latin typeface="Helvetica"/>
                        </a:rPr>
                        <a:t>Actif</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Terrains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5 245 896 750 FCFA, sans évaluation récente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Sens inconnu sans évaluation</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règlement d'exécution n° 004/2022/COM/UEMOA du 1er juin 2022, art. 20</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Actif</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Prêts du Grenier</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Aucune dépréciation des prêts en retard</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Baisse (faible montant)</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PCMS. Politique de crédit du Grenier</a:t>
                      </a:r>
                    </a:p>
                  </a:txBody>
                  <a:tcPr marL="43200" marR="43200" marT="14400" marB="14400" anchor="ctr">
                    <a:solidFill>
                      <a:srgbClr val="FFFFFF"/>
                    </a:solidFill>
                  </a:tcPr>
                </a:tc>
              </a:tr>
            </a:tbl>
          </a:graphicData>
        </a:graphic>
      </p:graphicFrame>
      <p:sp>
        <p:nvSpPr>
          <p:cNvPr id="33" name="TextBox 32"/>
          <p:cNvSpPr txBox="1"/>
          <p:nvPr/>
        </p:nvSpPr>
        <p:spPr>
          <a:xfrm>
            <a:off x="503999" y="4297570"/>
            <a:ext cx="11232000" cy="162000"/>
          </a:xfrm>
          <a:prstGeom prst="rect">
            <a:avLst/>
          </a:prstGeom>
          <a:noFill/>
        </p:spPr>
        <p:txBody>
          <a:bodyPr wrap="square" anchor="t" lIns="54000" rIns="54000"/>
          <a:lstStyle/>
          <a:p>
            <a:pPr algn="l"/>
            <a:r>
              <a:rPr sz="850" b="0">
                <a:solidFill>
                  <a:srgbClr val="53565A"/>
                </a:solidFill>
                <a:latin typeface="Helvetica"/>
              </a:rPr>
              <a:t>Valable pour : corrections attendues tirées des textes cités et des constats du rapport. Sens de l'effet seulement, sans montant.</a:t>
            </a:r>
          </a:p>
        </p:txBody>
      </p:sp>
      <p:sp>
        <p:nvSpPr>
          <p:cNvPr id="34" name="TextBox 33"/>
          <p:cNvSpPr txBox="1"/>
          <p:nvPr/>
        </p:nvSpPr>
        <p:spPr>
          <a:xfrm>
            <a:off x="503999" y="4603570"/>
            <a:ext cx="11232000" cy="1264429"/>
          </a:xfrm>
          <a:prstGeom prst="rect">
            <a:avLst/>
          </a:prstGeom>
          <a:noFill/>
        </p:spPr>
        <p:txBody>
          <a:bodyPr wrap="square" lIns="54000" rIns="54000"/>
          <a:lstStyle/>
          <a:p>
            <a:pPr algn="just">
              <a:spcAft>
                <a:spcPts val="600"/>
              </a:spcAft>
            </a:pPr>
            <a:r>
              <a:rPr sz="1300" b="1">
                <a:solidFill>
                  <a:srgbClr val="060606"/>
                </a:solidFill>
                <a:latin typeface="Helvetica"/>
              </a:rPr>
              <a:t>Les intérêts dus ajoutent du passif, les actifs non évalués peuvent réduire l'actif.</a:t>
            </a:r>
            <a:r>
              <a:rPr sz="1300" b="0">
                <a:solidFill>
                  <a:srgbClr val="060606"/>
                </a:solidFill>
                <a:latin typeface="Helvetica"/>
              </a:rPr>
              <a:t> Seule la baisse des provisions maladie et décès allège le passif : elle est trop faible pour changer la conclusion (manque cumulé de 12 596 052 822 FCFA à cinq ans).</a:t>
            </a:r>
          </a:p>
          <a:p>
            <a:pPr algn="just">
              <a:spcAft>
                <a:spcPts val="600"/>
              </a:spcAft>
            </a:pPr>
            <a:r>
              <a:rPr sz="1300" b="0">
                <a:solidFill>
                  <a:srgbClr val="060606"/>
                </a:solidFill>
                <a:latin typeface="Helvetica"/>
              </a:rPr>
              <a:t>Le FPPN n'est pas adossé, même dans l'hypothèse la plus favorable. L'écart est chiffré : manque cumulé de 12 596 052 822 FCFA à cinq ans (diapositive 146) et couverture de 34,42 % des paiements de l'année dans le scénario central (diapositive 147).</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PCMS : plan comptable des mutuelles sociales | PEP : Plan Épargne Plus | EFC : entraide fin de carrière | CMP : Clinique médicale du policier</a:t>
            </a:r>
          </a:p>
        </p:txBody>
      </p:sp>
    </p:spTree>
    <p:extLst>
      <p:ext uri="{BB962C8B-B14F-4D97-AF65-F5344CB8AC3E}">
        <p14:creationId xmlns:p14="http://schemas.microsoft.com/office/powerpoint/2010/main" val="1559815429"/>
      </p:ext>
    </p:extLst>
  </p:cSld>
  <p:clrMapOvr>
    <a:masterClrMapping/>
  </p:clrMapOvr>
  <p:transition>
    <p:fade/>
  </p:transition>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Règles de valorisation des actifs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textes fixent quels actifs peuvent couvrir les engagements, et à quelle valeur</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Chaque scénario applique une règle tirée d'un texte, et non un taux de décote choisi par Adenka</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règlement d'exécution n° 004/2022/COM/UEMOA du 1er juin 2022, art. 17, 19, 20, 21 et 27. Décision n° 05/2022/COM/UEMOA du 1er juin 2022, annexe, section II, § 2.1. PCMS (règlement n° 03/2012/CM/UEMOA)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70 : Règles de valorisation retenues dans chaque scénario</a:t>
            </a:r>
          </a:p>
        </p:txBody>
      </p:sp>
      <p:graphicFrame>
        <p:nvGraphicFramePr>
          <p:cNvPr id="32" name="Table 31"/>
          <p:cNvGraphicFramePr>
            <a:graphicFrameLocks noGrp="1"/>
          </p:cNvGraphicFramePr>
          <p:nvPr/>
        </p:nvGraphicFramePr>
        <p:xfrm>
          <a:off x="503999" y="1655999"/>
          <a:ext cx="11231998" cy="2071189"/>
        </p:xfrm>
        <a:graphic>
          <a:graphicData uri="http://schemas.openxmlformats.org/drawingml/2006/table">
            <a:tbl>
              <a:tblPr firstRow="0" bandRow="0">
                <a:tableStyleId>{5940675A-B579-460E-94D1-54222C63F5DA}</a:tableStyleId>
              </a:tblPr>
              <a:tblGrid>
                <a:gridCol w="1655999"/>
                <a:gridCol w="3456000"/>
                <a:gridCol w="3168000"/>
                <a:gridCol w="2951999"/>
              </a:tblGrid>
              <a:tr h="194768">
                <a:tc>
                  <a:txBody>
                    <a:bodyPr/>
                    <a:lstStyle/>
                    <a:p>
                      <a:pPr marL="0" indent="0" lvl="0">
                        <a:buNone/>
                      </a:pPr>
                      <a:r>
                        <a:rPr sz="900" b="1">
                          <a:solidFill>
                            <a:srgbClr val="FFFFFF"/>
                          </a:solidFill>
                          <a:latin typeface="Helvetica"/>
                        </a:rPr>
                        <a:t>Scénario</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Règle appliquée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Actifs retirés</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Fondement</a:t>
                      </a:r>
                    </a:p>
                  </a:txBody>
                  <a:tcPr marL="43200" marR="43200" marT="14400" marB="14400" anchor="ctr">
                    <a:solidFill>
                      <a:srgbClr val="060606"/>
                    </a:solidFill>
                  </a:tcPr>
                </a:tc>
              </a:tr>
              <a:tr h="331937">
                <a:tc>
                  <a:txBody>
                    <a:bodyPr/>
                    <a:lstStyle/>
                    <a:p>
                      <a:pPr marL="0" indent="0" lvl="0">
                        <a:buNone/>
                      </a:pPr>
                      <a:r>
                        <a:rPr sz="900" b="1">
                          <a:solidFill>
                            <a:srgbClr val="060606"/>
                          </a:solidFill>
                          <a:latin typeface="Helvetica"/>
                        </a:rPr>
                        <a:t>1. Lecture comptable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Valeurs des balances, continuité de l'activité</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Aucun</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PCMS (coût historique, continuité de l'exploitation)</a:t>
                      </a:r>
                    </a:p>
                  </a:txBody>
                  <a:tcPr marL="43200" marR="43200" marT="14400" marB="14400" anchor="ctr">
                    <a:solidFill>
                      <a:srgbClr val="FFFFFF"/>
                    </a:solidFill>
                  </a:tcPr>
                </a:tc>
              </a:tr>
              <a:tr h="469105">
                <a:tc>
                  <a:txBody>
                    <a:bodyPr/>
                    <a:lstStyle/>
                    <a:p>
                      <a:pPr marL="0" indent="0" lvl="0">
                        <a:buNone/>
                      </a:pPr>
                      <a:r>
                        <a:rPr sz="900" b="1">
                          <a:solidFill>
                            <a:srgbClr val="060606"/>
                          </a:solidFill>
                          <a:latin typeface="Helvetica"/>
                        </a:rPr>
                        <a:t>2. Actifs sans valeur réalisable retirés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Une dépense consommée ou une créance non recouvrée depuis 2020 n'a pas de valeur de marché démontrée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Créance sur l'hôpital. Charges de fonctionnement de la clinique (47111105)</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règlement d'exécution n° 004/2022/COM/UEMOA du 1er juin 2022, art. 20 et 27. PCMS (dépréciation des créances)</a:t>
                      </a:r>
                    </a:p>
                  </a:txBody>
                  <a:tcPr marL="43200" marR="43200" marT="14400" marB="14400" anchor="ctr">
                    <a:solidFill>
                      <a:srgbClr val="F2F2F2"/>
                    </a:solidFill>
                  </a:tcPr>
                </a:tc>
              </a:tr>
              <a:tr h="606274">
                <a:tc>
                  <a:txBody>
                    <a:bodyPr/>
                    <a:lstStyle/>
                    <a:p>
                      <a:pPr marL="0" indent="0" lvl="0">
                        <a:buNone/>
                      </a:pPr>
                      <a:r>
                        <a:rPr sz="900" b="1">
                          <a:solidFill>
                            <a:srgbClr val="060606"/>
                          </a:solidFill>
                          <a:latin typeface="Helvetica"/>
                        </a:rPr>
                        <a:t>3. Actifs sans valeur de marché établie retirés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Un actif ne couvre les engagements que si sa valeur de marché est établie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Scénario 2, plus les investissements de la clinique (47111104) et les terrains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règlement d'exécution n° 004/2022/COM/UEMOA du 1er juin 2022, art. 20. Décision n° 05/2022/COM/UEMOA du 1er juin 2022, annexe, section II, § 2.1 (actifs admis)</a:t>
                      </a:r>
                    </a:p>
                  </a:txBody>
                  <a:tcPr marL="43200" marR="43200" marT="14400" marB="14400" anchor="ctr">
                    <a:solidFill>
                      <a:srgbClr val="FFFFFF"/>
                    </a:solidFill>
                  </a:tcPr>
                </a:tc>
              </a:tr>
              <a:tr h="469105">
                <a:tc>
                  <a:txBody>
                    <a:bodyPr/>
                    <a:lstStyle/>
                    <a:p>
                      <a:pPr marL="0" indent="0" lvl="0">
                        <a:buNone/>
                      </a:pPr>
                      <a:r>
                        <a:rPr sz="900" b="1">
                          <a:solidFill>
                            <a:srgbClr val="060606"/>
                          </a:solidFill>
                          <a:latin typeface="Helvetica"/>
                        </a:rPr>
                        <a:t>4. Actifs liquides à un an</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Seuls les actifs mobilisables en moins d'un an paient les sorties de l'année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Tout actif à plus d'un an</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PCMS (valeur liquidative). Règlement d'exécution n° 004/2022/COM/UEMOA du 1er juin 2022, art. 19 et 21 (liquidité)</a:t>
                      </a:r>
                    </a:p>
                  </a:txBody>
                  <a:tcPr marL="43200" marR="43200" marT="14400" marB="14400" anchor="ctr">
                    <a:solidFill>
                      <a:srgbClr val="F2F2F2"/>
                    </a:solidFill>
                  </a:tcPr>
                </a:tc>
              </a:tr>
            </a:tbl>
          </a:graphicData>
        </a:graphic>
      </p:graphicFrame>
      <p:sp>
        <p:nvSpPr>
          <p:cNvPr id="33" name="TextBox 32"/>
          <p:cNvSpPr txBox="1"/>
          <p:nvPr/>
        </p:nvSpPr>
        <p:spPr>
          <a:xfrm>
            <a:off x="503999" y="3835192"/>
            <a:ext cx="11232000" cy="162000"/>
          </a:xfrm>
          <a:prstGeom prst="rect">
            <a:avLst/>
          </a:prstGeom>
          <a:noFill/>
        </p:spPr>
        <p:txBody>
          <a:bodyPr wrap="square" anchor="t" lIns="54000" rIns="54000"/>
          <a:lstStyle/>
          <a:p>
            <a:pPr algn="l"/>
            <a:r>
              <a:rPr sz="850" b="0">
                <a:solidFill>
                  <a:srgbClr val="53565A"/>
                </a:solidFill>
                <a:latin typeface="Helvetica"/>
              </a:rPr>
              <a:t>Valable pour : règles du règlement d'exécution n° 004/2022 (art. 17, 19 à 21, 27), de la Décision n° 05/2022 et du PCMS. Liste ivoirienne des actifs admis non reçue.</a:t>
            </a:r>
          </a:p>
        </p:txBody>
      </p:sp>
      <p:sp>
        <p:nvSpPr>
          <p:cNvPr id="34" name="TextBox 33"/>
          <p:cNvSpPr txBox="1"/>
          <p:nvPr/>
        </p:nvSpPr>
        <p:spPr>
          <a:xfrm>
            <a:off x="503999" y="4141192"/>
            <a:ext cx="11232000" cy="1726807"/>
          </a:xfrm>
          <a:prstGeom prst="rect">
            <a:avLst/>
          </a:prstGeom>
          <a:noFill/>
        </p:spPr>
        <p:txBody>
          <a:bodyPr wrap="square" lIns="54000" rIns="54000"/>
          <a:lstStyle/>
          <a:p>
            <a:pPr algn="just">
              <a:spcAft>
                <a:spcPts val="600"/>
              </a:spcAft>
            </a:pPr>
            <a:r>
              <a:rPr sz="1300" b="1">
                <a:solidFill>
                  <a:srgbClr val="060606"/>
                </a:solidFill>
                <a:latin typeface="Helvetica"/>
              </a:rPr>
              <a:t>Les scénarios 2 et 3 retirent un actif tant que sa valeur n'est pas démontrée : ce ne sont pas des pertes certaines.</a:t>
            </a:r>
            <a:r>
              <a:rPr sz="1300" b="0">
                <a:solidFill>
                  <a:srgbClr val="060606"/>
                </a:solidFill>
                <a:latin typeface="Helvetica"/>
              </a:rPr>
              <a:t> Un rapport d'évaluation des terrains ou de la clinique, ou un accord de recouvrement avec l'État, permettrait de les réintégrer.</a:t>
            </a:r>
          </a:p>
          <a:p>
            <a:pPr algn="just">
              <a:spcAft>
                <a:spcPts val="600"/>
              </a:spcAft>
            </a:pPr>
            <a:r>
              <a:rPr sz="1300" b="1">
                <a:solidFill>
                  <a:srgbClr val="060606"/>
                </a:solidFill>
                <a:latin typeface="Helvetica"/>
              </a:rPr>
              <a:t>Les prêts du Grenier restent dans tous les scénarios sauf le quatrième.</a:t>
            </a:r>
            <a:r>
              <a:rPr sz="1300" b="0">
                <a:solidFill>
                  <a:srgbClr val="060606"/>
                </a:solidFill>
                <a:latin typeface="Helvetica"/>
              </a:rPr>
              <a:t> Leur dépréciation sera calculée avec le barème de la BCEAO des SFD, dès réception du texte. Les montants en retard sont faibles (partie 9).</a:t>
            </a:r>
          </a:p>
          <a:p>
            <a:pPr algn="just">
              <a:spcAft>
                <a:spcPts val="600"/>
              </a:spcAft>
            </a:pPr>
            <a:r>
              <a:rPr sz="1300" b="0">
                <a:solidFill>
                  <a:srgbClr val="060606"/>
                </a:solidFill>
                <a:latin typeface="Helvetica"/>
              </a:rPr>
              <a:t>La décision ministérielle qui fixe, en Côte d'Ivoire, les conditions de placement et la liste des actifs admis (art. 17) n'a pas été reçue (PBC, item 32). Elle permettra de remplacer ces règles générales par la liste officielle.</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UEMOA : Union économique et monétaire ouest-africaine | PCMS : plan comptable des mutuelles sociales | BCEAO : Banque centrale des États de l'Afrique de l'Ouest | SFD : systèmes financiers décentralisés | PBC : liste des documents demandés au client</a:t>
            </a:r>
          </a:p>
        </p:txBody>
      </p:sp>
    </p:spTree>
    <p:extLst>
      <p:ext uri="{BB962C8B-B14F-4D97-AF65-F5344CB8AC3E}">
        <p14:creationId xmlns:p14="http://schemas.microsoft.com/office/powerpoint/2010/main" val="2241176251"/>
      </p:ext>
    </p:extLst>
  </p:cSld>
  <p:clrMapOvr>
    <a:masterClrMapping/>
  </p:clrMapOvr>
  <p:transition>
    <p:fade/>
  </p:transition>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Scénarios de couverture des engagements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Même en lecture comptable, l'actif ne couvre pas tous les engagements connus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Au 31/08/2026, couverture des engagements connus : 96,33 % en lecture comptable, 27,19 % sans les actifs de valeur non établie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règlement d'exécution n° 004/2022/COM/UEMOA du 1er juin 2022, art. 17, 19, 20, 21 et 27. Décision n° 05/2022/COM/UEMOA du 1er juin 2022, annexe, section II, § 2.1. PCMS (règlement n° 03/2012/CM/UEMOA). Balances des comptes du FPPN de 2020 au 31/08/2026 (provisoire), fichiers « BALANCE … » listés en annexe « Fichiers sources ». Traitements Adenka</a:t>
            </a:r>
          </a:p>
        </p:txBody>
      </p:sp>
      <p:sp>
        <p:nvSpPr>
          <p:cNvPr id="31" name="TextBox 30"/>
          <p:cNvSpPr txBox="1"/>
          <p:nvPr/>
        </p:nvSpPr>
        <p:spPr>
          <a:xfrm>
            <a:off x="503999" y="1386000"/>
            <a:ext cx="9792000" cy="216000"/>
          </a:xfrm>
          <a:prstGeom prst="rect">
            <a:avLst/>
          </a:prstGeom>
          <a:noFill/>
        </p:spPr>
        <p:txBody>
          <a:bodyPr wrap="square" anchor="t" lIns="54000" rIns="54000"/>
          <a:lstStyle/>
          <a:p>
            <a:pPr algn="ctr"/>
            <a:r>
              <a:rPr sz="1200" b="0">
                <a:solidFill>
                  <a:srgbClr val="EFAC62"/>
                </a:solidFill>
                <a:latin typeface="Helvetica"/>
              </a:rPr>
              <a:t>Tableau 71 : Couverture des engagements connus selon le scénario</a:t>
            </a:r>
          </a:p>
        </p:txBody>
      </p:sp>
      <p:graphicFrame>
        <p:nvGraphicFramePr>
          <p:cNvPr id="32" name="Table 31"/>
          <p:cNvGraphicFramePr>
            <a:graphicFrameLocks noGrp="1"/>
          </p:cNvGraphicFramePr>
          <p:nvPr/>
        </p:nvGraphicFramePr>
        <p:xfrm>
          <a:off x="503999" y="1655999"/>
          <a:ext cx="9792000" cy="1412464"/>
        </p:xfrm>
        <a:graphic>
          <a:graphicData uri="http://schemas.openxmlformats.org/drawingml/2006/table">
            <a:tbl>
              <a:tblPr firstRow="0" bandRow="0">
                <a:tableStyleId>{5940675A-B579-460E-94D1-54222C63F5DA}</a:tableStyleId>
              </a:tblPr>
              <a:tblGrid>
                <a:gridCol w="2736000"/>
                <a:gridCol w="2232000"/>
                <a:gridCol w="1296000"/>
                <a:gridCol w="2232000"/>
                <a:gridCol w="1296000"/>
              </a:tblGrid>
              <a:tr h="210009">
                <a:tc>
                  <a:txBody>
                    <a:bodyPr/>
                    <a:lstStyle/>
                    <a:p>
                      <a:pPr marL="0" indent="0" lvl="0">
                        <a:buNone/>
                      </a:pPr>
                      <a:r>
                        <a:rPr sz="1000" b="1">
                          <a:solidFill>
                            <a:srgbClr val="FFFFFF"/>
                          </a:solidFill>
                          <a:latin typeface="Helvetica"/>
                        </a:rPr>
                        <a:t>Scénario</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Actif retenu au 31/12/2025</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Couverture 2025</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Actif retenu au 31/08/2026</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Couverture 2026</a:t>
                      </a:r>
                    </a:p>
                  </a:txBody>
                  <a:tcPr marL="43200" marR="43200" marT="14400" marB="14400" anchor="ctr">
                    <a:solidFill>
                      <a:srgbClr val="060606"/>
                    </a:solidFill>
                  </a:tcPr>
                </a:tc>
              </a:tr>
              <a:tr h="210009">
                <a:tc>
                  <a:txBody>
                    <a:bodyPr/>
                    <a:lstStyle/>
                    <a:p>
                      <a:pPr marL="0" indent="0" lvl="0">
                        <a:buNone/>
                      </a:pPr>
                      <a:r>
                        <a:rPr sz="1000" b="1">
                          <a:solidFill>
                            <a:srgbClr val="060606"/>
                          </a:solidFill>
                          <a:latin typeface="Helvetica"/>
                        </a:rPr>
                        <a:t>1. Lecture comptable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19 954 869 035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98,06 %</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21 925 420 866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96,33 %</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2. Sans actifs de valeur non réalisable</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15 732 740 110 FCFA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77,31 %</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17 237 600 156 FCFA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75,73 %</a:t>
                      </a:r>
                    </a:p>
                  </a:txBody>
                  <a:tcPr marL="43200" marR="43200" marT="14400" marB="14400" anchor="ctr">
                    <a:solidFill>
                      <a:srgbClr val="F2F2F2"/>
                    </a:solidFill>
                  </a:tcPr>
                </a:tc>
              </a:tr>
              <a:tr h="362419">
                <a:tc>
                  <a:txBody>
                    <a:bodyPr/>
                    <a:lstStyle/>
                    <a:p>
                      <a:pPr marL="0" indent="0" lvl="0">
                        <a:buNone/>
                      </a:pPr>
                      <a:r>
                        <a:rPr sz="1000" b="1">
                          <a:solidFill>
                            <a:srgbClr val="060606"/>
                          </a:solidFill>
                          <a:latin typeface="Helvetica"/>
                        </a:rPr>
                        <a:t>3. Sans actifs de valeur de marché non établie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5 298 475 488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26,04 %</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6 188 677 951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27,19 %</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4. Actifs à un an / passif à un an</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2 715 008 827 FCFA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41,54 %</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3 457 866 951 FCFA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49,27 %</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Engagements connus (scénarios 1 à 3)</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20 349 444 557 FCFA</a:t>
                      </a:r>
                    </a:p>
                  </a:txBody>
                  <a:tcPr marL="43200" marR="43200" marT="14400" marB="14400" anchor="ctr">
                    <a:solidFill>
                      <a:srgbClr val="FFFFFF"/>
                    </a:solidFill>
                  </a:tcPr>
                </a:tc>
                <a:tc>
                  <a:txBody>
                    <a:bodyPr/>
                    <a:lstStyle/>
                    <a:p>
                      <a:pPr marL="0" indent="0" lvl="0">
                        <a:buNone/>
                      </a:pP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22 761 252 888 FCFA</a:t>
                      </a:r>
                    </a:p>
                  </a:txBody>
                  <a:tcPr marL="43200" marR="43200" marT="14400" marB="14400" anchor="ctr">
                    <a:solidFill>
                      <a:srgbClr val="FFFFFF"/>
                    </a:solidFill>
                  </a:tcPr>
                </a:tc>
                <a:tc>
                  <a:txBody>
                    <a:bodyPr/>
                    <a:lstStyle/>
                    <a:p>
                      <a:pPr marL="0" indent="0" lvl="0">
                        <a:buNone/>
                      </a:pPr>
                    </a:p>
                  </a:txBody>
                  <a:tcPr marL="43200" marR="43200" marT="14400" marB="14400" anchor="ctr">
                    <a:solidFill>
                      <a:srgbClr val="FFFFFF"/>
                    </a:solidFill>
                  </a:tcPr>
                </a:tc>
              </a:tr>
            </a:tbl>
          </a:graphicData>
        </a:graphic>
      </p:graphicFrame>
      <p:sp>
        <p:nvSpPr>
          <p:cNvPr id="33" name="TextBox 32"/>
          <p:cNvSpPr txBox="1"/>
          <p:nvPr/>
        </p:nvSpPr>
        <p:spPr>
          <a:xfrm>
            <a:off x="503999" y="3176467"/>
            <a:ext cx="11232000" cy="306000"/>
          </a:xfrm>
          <a:prstGeom prst="rect">
            <a:avLst/>
          </a:prstGeom>
          <a:noFill/>
        </p:spPr>
        <p:txBody>
          <a:bodyPr wrap="square" anchor="t" lIns="54000" rIns="54000"/>
          <a:lstStyle/>
          <a:p>
            <a:pPr algn="l"/>
            <a:r>
              <a:rPr sz="850" b="0">
                <a:solidFill>
                  <a:srgbClr val="53565A"/>
                </a:solidFill>
                <a:latin typeface="Helvetica"/>
              </a:rPr>
              <a:t>Valable pour : actifs et engagements au 31/12/2025 et au 31/08/2026 des balances « BALANCE FORMAT EXCEL DE 09-2020 AU 31-12-2020.xlsx » à « BALANCE FPPN DU 01-01-2026 AU 31-08-2026.xlsx ». Valorisation selon les règles de la diapositive précédente.</a:t>
            </a:r>
          </a:p>
        </p:txBody>
      </p:sp>
      <p:sp>
        <p:nvSpPr>
          <p:cNvPr id="34" name="TextBox 33"/>
          <p:cNvSpPr txBox="1"/>
          <p:nvPr/>
        </p:nvSpPr>
        <p:spPr>
          <a:xfrm>
            <a:off x="503999" y="3626467"/>
            <a:ext cx="11232000" cy="2241532"/>
          </a:xfrm>
          <a:prstGeom prst="rect">
            <a:avLst/>
          </a:prstGeom>
          <a:noFill/>
        </p:spPr>
        <p:txBody>
          <a:bodyPr wrap="square" lIns="54000" rIns="54000"/>
          <a:lstStyle/>
          <a:p>
            <a:pPr algn="just">
              <a:spcAft>
                <a:spcPts val="600"/>
              </a:spcAft>
            </a:pPr>
            <a:r>
              <a:rPr sz="1300" b="1">
                <a:solidFill>
                  <a:srgbClr val="060606"/>
                </a:solidFill>
                <a:latin typeface="Helvetica"/>
              </a:rPr>
              <a:t>Même en lecture comptable, l'actif ne couvre que 96,33 % des engagements connus au 31/08/2026.</a:t>
            </a:r>
            <a:r>
              <a:rPr sz="1300" b="0">
                <a:solidFill>
                  <a:srgbClr val="060606"/>
                </a:solidFill>
                <a:latin typeface="Helvetica"/>
              </a:rPr>
              <a:t> C'est la traduction des fonds propres négatifs.</a:t>
            </a:r>
          </a:p>
          <a:p>
            <a:pPr algn="just">
              <a:spcAft>
                <a:spcPts val="600"/>
              </a:spcAft>
            </a:pPr>
            <a:r>
              <a:rPr sz="1300" b="1">
                <a:solidFill>
                  <a:srgbClr val="060606"/>
                </a:solidFill>
                <a:latin typeface="Helvetica"/>
              </a:rPr>
              <a:t>Sans les actifs dont la valeur n'est pas établie, la couverture tombe à 27,19 %.</a:t>
            </a:r>
            <a:r>
              <a:rPr sz="1300" b="0">
                <a:solidFill>
                  <a:srgbClr val="060606"/>
                </a:solidFill>
                <a:latin typeface="Helvetica"/>
              </a:rPr>
              <a:t> L'hôpital, la clinique et les terrains portent l'essentiel de l'actif.</a:t>
            </a:r>
          </a:p>
          <a:p>
            <a:pPr algn="just">
              <a:spcAft>
                <a:spcPts val="600"/>
              </a:spcAft>
            </a:pPr>
            <a:r>
              <a:rPr sz="1300" b="1">
                <a:solidFill>
                  <a:srgbClr val="060606"/>
                </a:solidFill>
                <a:latin typeface="Helvetica"/>
              </a:rPr>
              <a:t>À un an, l'actif liquide couvre 49,27 % du passif à un an</a:t>
            </a:r>
            <a:r>
              <a:rPr sz="1300" b="0">
                <a:solidFill>
                  <a:srgbClr val="060606"/>
                </a:solidFill>
                <a:latin typeface="Helvetica"/>
              </a:rPr>
              <a:t>, avant toute sortie d'épargne.</a:t>
            </a:r>
          </a:p>
          <a:p>
            <a:pPr algn="just">
              <a:spcAft>
                <a:spcPts val="600"/>
              </a:spcAft>
            </a:pPr>
            <a:r>
              <a:rPr sz="1300" b="0">
                <a:solidFill>
                  <a:srgbClr val="060606"/>
                </a:solidFill>
                <a:latin typeface="Helvetica"/>
              </a:rPr>
              <a:t>Ces couvertures sont des maxima : les engagements non provisionnés (provisions recalculées, provisions mathématiques) ne sont pas encore au dénominateur. Le FPPN doit faire évaluer ses actifs immobiliers et sa clinique, et documenter le recouvrement de la créance sur l'hôpital.</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PCMS : plan comptable des mutuelles sociales</a:t>
            </a:r>
          </a:p>
        </p:txBody>
      </p:sp>
    </p:spTree>
    <p:extLst>
      <p:ext uri="{BB962C8B-B14F-4D97-AF65-F5344CB8AC3E}">
        <p14:creationId xmlns:p14="http://schemas.microsoft.com/office/powerpoint/2010/main" val="1681875503"/>
      </p:ext>
    </p:extLst>
  </p:cSld>
  <p:clrMapOvr>
    <a:masterClrMapping/>
  </p:clrMapOvr>
  <p:transition>
    <p:fade/>
  </p:transition>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Choix des méthodes d'adossement</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Des méthodes de liquidité, adaptées à un passif court et à une épargne sans échéancier</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Chaque méthode est retenue parce que ses conditions d'emploi sont remplies par les données du FPPN. Les méthodes écartées sont démontrées en annexe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 ALM_ONT.pdf ». « Gestion des Risques Bancaires(Actif PAssif).pdf » (Sciences-Po, 2009-2010). « Ch13_Gestion_Actif-Passif_French.pdf » (Association actuarielle internationale, 2016). « Construction d'un modèle ALM.pdf ». « 2024081723_jerome-lavoie-pilote.pdf » (Institut des actuaires)</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72 : Méthodes d'adossement retenues et justification</a:t>
            </a:r>
          </a:p>
        </p:txBody>
      </p:sp>
      <p:graphicFrame>
        <p:nvGraphicFramePr>
          <p:cNvPr id="32" name="Table 31"/>
          <p:cNvGraphicFramePr>
            <a:graphicFrameLocks noGrp="1"/>
          </p:cNvGraphicFramePr>
          <p:nvPr/>
        </p:nvGraphicFramePr>
        <p:xfrm>
          <a:off x="503999" y="1655999"/>
          <a:ext cx="11232000" cy="2598369"/>
        </p:xfrm>
        <a:graphic>
          <a:graphicData uri="http://schemas.openxmlformats.org/drawingml/2006/table">
            <a:tbl>
              <a:tblPr firstRow="0" bandRow="0">
                <a:tableStyleId>{5940675A-B579-460E-94D1-54222C63F5DA}</a:tableStyleId>
              </a:tblPr>
              <a:tblGrid>
                <a:gridCol w="1800000"/>
                <a:gridCol w="2448000"/>
                <a:gridCol w="3960000"/>
                <a:gridCol w="3024000"/>
              </a:tblGrid>
              <a:tr h="180000">
                <a:tc>
                  <a:txBody>
                    <a:bodyPr/>
                    <a:lstStyle/>
                    <a:p>
                      <a:pPr marL="0" indent="0" lvl="0">
                        <a:buNone/>
                      </a:pPr>
                      <a:r>
                        <a:rPr sz="800" b="1">
                          <a:solidFill>
                            <a:srgbClr val="FFFFFF"/>
                          </a:solidFill>
                          <a:latin typeface="Helvetica"/>
                        </a:rPr>
                        <a:t>Question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Méthode retenue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Pourquoi (document de référence, page)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Donnée du FPPN qui le permet</a:t>
                      </a:r>
                    </a:p>
                  </a:txBody>
                  <a:tcPr marL="43200" marR="43200" marT="14400" marB="14400" anchor="ctr">
                    <a:solidFill>
                      <a:srgbClr val="060606"/>
                    </a:solidFill>
                  </a:tcPr>
                </a:tc>
              </a:tr>
              <a:tr h="301455">
                <a:tc>
                  <a:txBody>
                    <a:bodyPr/>
                    <a:lstStyle/>
                    <a:p>
                      <a:pPr marL="0" indent="0" lvl="0">
                        <a:buNone/>
                      </a:pPr>
                      <a:r>
                        <a:rPr sz="800" b="1">
                          <a:solidFill>
                            <a:srgbClr val="060606"/>
                          </a:solidFill>
                          <a:latin typeface="Helvetica"/>
                        </a:rPr>
                        <a:t>Quel est l'enjeu pour la maladie et le décès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Liquidité à court terme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Contrats santé de durée courte : complexité actif-passif « faible », l'enjeu est la gestion du portefeuille d'actifs (« ALM_ONT.pdf », p. 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Délai moyen de paiement des cliniques de 2,62 mois en 2025</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Quand l'épargne sortira-t-elle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Écoulement conventionnel</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Les comptes d'épargne sans échéance contractuelle ont un amortissement « à modéliser » (« Gestion des Risques Bancaires(Actif PAssif).pdf » (Sciences-Po, 2009-2010), p. 33)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Sorties annuelles des comptes 41195100 et 41195200 de 2021 à 2025</a:t>
                      </a:r>
                    </a:p>
                  </a:txBody>
                  <a:tcPr marL="43200" marR="43200" marT="14400" marB="14400" anchor="ctr">
                    <a:solidFill>
                      <a:srgbClr val="F2F2F2"/>
                    </a:solidFill>
                  </a:tcPr>
                </a:tc>
              </a:tr>
              <a:tr h="423383">
                <a:tc>
                  <a:txBody>
                    <a:bodyPr/>
                    <a:lstStyle/>
                    <a:p>
                      <a:pPr marL="0" indent="0" lvl="0">
                        <a:buNone/>
                      </a:pPr>
                      <a:r>
                        <a:rPr sz="800" b="1">
                          <a:solidFill>
                            <a:srgbClr val="060606"/>
                          </a:solidFill>
                          <a:latin typeface="Helvetica"/>
                        </a:rPr>
                        <a:t>L'actif suit-il les sorties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Écart de liquidité par échéance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Écart entre passifs et actifs au cours du temps après écoulement des éléments du bilan (« Gestion des Risques Bancaires(Actif PAssif).pdf » (Sciences-Po, 2009-2010), p. 86)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Actifs classés par délai de mobilisation aux bilans 2025 et 2026</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Quels actifs sont mobilisables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Classes de liquidité</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Les titres sont classés selon leur degré de liquidité (« Gestion des Risques Bancaires(Actif PAssif).pdf » (Sciences-Po, 2009-2010), p. 95)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Nature comptable de chaque actif (banques, DAT, FCP, prêts, immeubles)</a:t>
                      </a:r>
                    </a:p>
                  </a:txBody>
                  <a:tcPr marL="43200" marR="43200" marT="14400" marB="14400" anchor="ctr">
                    <a:solidFill>
                      <a:srgbClr val="F2F2F2"/>
                    </a:solidFill>
                  </a:tcPr>
                </a:tc>
              </a:tr>
              <a:tr h="423383">
                <a:tc>
                  <a:txBody>
                    <a:bodyPr/>
                    <a:lstStyle/>
                    <a:p>
                      <a:pPr marL="0" indent="0" lvl="0">
                        <a:buNone/>
                      </a:pPr>
                      <a:r>
                        <a:rPr sz="800" b="1">
                          <a:solidFill>
                            <a:srgbClr val="060606"/>
                          </a:solidFill>
                          <a:latin typeface="Helvetica"/>
                        </a:rPr>
                        <a:t>Que se passe-t-il en cas de choc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Tests de résistance calibrés sur le FPPN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Le rachat massif de 40 % de la formule standard européenne (« Construction d'un modèle ALM.pdf », p. 110) n'est pas calibré sur le FPPN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Taux de sortie maximal observé : 27,55 %. Hausse maximale des prestations maladie de 2024 et 2025 : 103,53 %</a:t>
                      </a:r>
                    </a:p>
                  </a:txBody>
                  <a:tcPr marL="43200" marR="43200" marT="14400" marB="14400" anchor="ctr">
                    <a:solidFill>
                      <a:srgbClr val="FFFFFF"/>
                    </a:solidFill>
                  </a:tcPr>
                </a:tc>
              </a:tr>
              <a:tr h="545310">
                <a:tc>
                  <a:txBody>
                    <a:bodyPr/>
                    <a:lstStyle/>
                    <a:p>
                      <a:pPr marL="0" indent="0" lvl="0">
                        <a:buNone/>
                      </a:pPr>
                      <a:r>
                        <a:rPr sz="800" b="1">
                          <a:solidFill>
                            <a:srgbClr val="060606"/>
                          </a:solidFill>
                          <a:latin typeface="Helvetica"/>
                        </a:rPr>
                        <a:t>Qui décide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Gouvernance actif-passif</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Le conseil d'administration fixe les limites, un comité suit les écarts (« Ch13_Gestion_Actif-Passif_French.pdf » (Association actuarielle internationale, 2016), p. 15 et 19. « 2024081723_jerome-lavoie-pilote.pdf » (Institut des actuaires), p. 8 et 11)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de placement par le seul directeur général (entretien du 19/10/2026)</a:t>
                      </a:r>
                    </a:p>
                  </a:txBody>
                  <a:tcPr marL="43200" marR="43200" marT="14400" marB="14400" anchor="ctr">
                    <a:solidFill>
                      <a:srgbClr val="F2F2F2"/>
                    </a:solidFill>
                  </a:tcPr>
                </a:tc>
              </a:tr>
            </a:tbl>
          </a:graphicData>
        </a:graphic>
      </p:graphicFrame>
      <p:sp>
        <p:nvSpPr>
          <p:cNvPr id="33" name="TextBox 32"/>
          <p:cNvSpPr txBox="1"/>
          <p:nvPr/>
        </p:nvSpPr>
        <p:spPr>
          <a:xfrm>
            <a:off x="503999" y="4362370"/>
            <a:ext cx="11232000" cy="162000"/>
          </a:xfrm>
          <a:prstGeom prst="rect">
            <a:avLst/>
          </a:prstGeom>
          <a:noFill/>
        </p:spPr>
        <p:txBody>
          <a:bodyPr wrap="square" anchor="t" lIns="54000" rIns="54000"/>
          <a:lstStyle/>
          <a:p>
            <a:pPr algn="l"/>
            <a:r>
              <a:rPr sz="850" b="0">
                <a:solidFill>
                  <a:srgbClr val="53565A"/>
                </a:solidFill>
                <a:latin typeface="Helvetica"/>
              </a:rPr>
              <a:t>Valable pour : choix de méthode fondé sur les documents de référence cités et sur les données du FPPN de 2020 au 31/08/2026.</a:t>
            </a:r>
          </a:p>
        </p:txBody>
      </p:sp>
      <p:sp>
        <p:nvSpPr>
          <p:cNvPr id="34" name="TextBox 33"/>
          <p:cNvSpPr txBox="1"/>
          <p:nvPr/>
        </p:nvSpPr>
        <p:spPr>
          <a:xfrm>
            <a:off x="503999" y="4668370"/>
            <a:ext cx="11232000" cy="1199629"/>
          </a:xfrm>
          <a:prstGeom prst="rect">
            <a:avLst/>
          </a:prstGeom>
          <a:noFill/>
        </p:spPr>
        <p:txBody>
          <a:bodyPr wrap="square" lIns="54000" rIns="54000"/>
          <a:lstStyle/>
          <a:p>
            <a:pPr algn="just">
              <a:spcAft>
                <a:spcPts val="600"/>
              </a:spcAft>
            </a:pPr>
            <a:r>
              <a:rPr sz="1300" b="1">
                <a:solidFill>
                  <a:srgbClr val="060606"/>
                </a:solidFill>
                <a:latin typeface="Helvetica"/>
              </a:rPr>
              <a:t>Les méthodes de taux (duration, immunisation, modèles stochastiques, VaR) ne sont pas retenues</a:t>
            </a:r>
            <a:r>
              <a:rPr sz="1300" b="0">
                <a:solidFill>
                  <a:srgbClr val="060606"/>
                </a:solidFill>
                <a:latin typeface="Helvetica"/>
              </a:rPr>
              <a:t> : elles supposent des flux de passif connus et un portefeuille obligataire, absents au FPPN (annexe « Méthodes non retenues et pourquoi »).</a:t>
            </a:r>
          </a:p>
          <a:p>
            <a:pPr algn="just">
              <a:spcAft>
                <a:spcPts val="600"/>
              </a:spcAft>
            </a:pPr>
            <a:r>
              <a:rPr sz="1300" b="0">
                <a:solidFill>
                  <a:srgbClr val="060606"/>
                </a:solidFill>
                <a:latin typeface="Helvetica"/>
              </a:rPr>
              <a:t>Les résultats de l'adossement sont des ordres de grandeur fondés sur le comportement observé des mutualistes. Ils deviendront des flux contractuels dès que l'épargne aura un échéancier.</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FCP : fonds commun de placement | DAT : dépôt à terme</a:t>
            </a:r>
          </a:p>
        </p:txBody>
      </p:sp>
    </p:spTree>
    <p:extLst>
      <p:ext uri="{BB962C8B-B14F-4D97-AF65-F5344CB8AC3E}">
        <p14:creationId xmlns:p14="http://schemas.microsoft.com/office/powerpoint/2010/main" val="3741892976"/>
      </p:ext>
    </p:extLst>
  </p:cSld>
  <p:clrMapOvr>
    <a:masterClrMapping/>
  </p:clrMapOvr>
  <p:transition>
    <p:fade/>
  </p:transition>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Adossement : à quel rythme l'épargne sort-elle ?</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De 2021 à 2025, il sort chaque année en moyenne 19,24 % de l'épargne du début d'année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Taux de sortie compris entre 12,60 % et 27,55 %. Le PEP sort plus vite que l'EFC</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 « Gestion des Risques Bancaires(Actif PAssif).pdf » (Sciences-Po, 2009-2010), p. 33 à 36. Onglet 24a du classeur des calculs</a:t>
            </a:r>
          </a:p>
        </p:txBody>
      </p:sp>
      <p:sp>
        <p:nvSpPr>
          <p:cNvPr id="31" name="TextBox 30"/>
          <p:cNvSpPr txBox="1"/>
          <p:nvPr/>
        </p:nvSpPr>
        <p:spPr>
          <a:xfrm>
            <a:off x="503999" y="1386000"/>
            <a:ext cx="7056000" cy="216000"/>
          </a:xfrm>
          <a:prstGeom prst="rect">
            <a:avLst/>
          </a:prstGeom>
          <a:noFill/>
        </p:spPr>
        <p:txBody>
          <a:bodyPr wrap="square" anchor="t" lIns="54000" rIns="54000"/>
          <a:lstStyle/>
          <a:p>
            <a:pPr algn="ctr"/>
            <a:r>
              <a:rPr sz="1200" b="0">
                <a:solidFill>
                  <a:srgbClr val="EFAC62"/>
                </a:solidFill>
                <a:latin typeface="Helvetica"/>
              </a:rPr>
              <a:t>Tableau 73 : Sorties annuelles de l'épargne et taux de sortie</a:t>
            </a:r>
          </a:p>
        </p:txBody>
      </p:sp>
      <p:graphicFrame>
        <p:nvGraphicFramePr>
          <p:cNvPr id="32" name="Table 31"/>
          <p:cNvGraphicFramePr>
            <a:graphicFrameLocks noGrp="1"/>
          </p:cNvGraphicFramePr>
          <p:nvPr/>
        </p:nvGraphicFramePr>
        <p:xfrm>
          <a:off x="503999" y="1655999"/>
          <a:ext cx="7056000" cy="1168608"/>
        </p:xfrm>
        <a:graphic>
          <a:graphicData uri="http://schemas.openxmlformats.org/drawingml/2006/table">
            <a:tbl>
              <a:tblPr firstRow="0" bandRow="0">
                <a:tableStyleId>{5940675A-B579-460E-94D1-54222C63F5DA}</a:tableStyleId>
              </a:tblPr>
              <a:tblGrid>
                <a:gridCol w="860400"/>
                <a:gridCol w="1548000"/>
                <a:gridCol w="1548000"/>
                <a:gridCol w="1033200"/>
                <a:gridCol w="1033200"/>
                <a:gridCol w="1033200"/>
              </a:tblGrid>
              <a:tr h="194768">
                <a:tc>
                  <a:txBody>
                    <a:bodyPr/>
                    <a:lstStyle/>
                    <a:p>
                      <a:pPr marL="0" indent="0" lvl="0">
                        <a:buNone/>
                      </a:pPr>
                      <a:r>
                        <a:rPr sz="900" b="1">
                          <a:solidFill>
                            <a:srgbClr val="FFFFFF"/>
                          </a:solidFill>
                          <a:latin typeface="Helvetica"/>
                        </a:rPr>
                        <a:t>Exercice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Épargne au début</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Sorties de l'année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Taux PEP</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Taux EFC</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Taux total</a:t>
                      </a:r>
                    </a:p>
                  </a:txBody>
                  <a:tcPr marL="43200" marR="43200" marT="14400" marB="14400" anchor="ctr">
                    <a:solidFill>
                      <a:srgbClr val="060606"/>
                    </a:solidFill>
                  </a:tcPr>
                </a:tc>
              </a:tr>
              <a:tr h="194768">
                <a:tc>
                  <a:txBody>
                    <a:bodyPr/>
                    <a:lstStyle/>
                    <a:p>
                      <a:pPr marL="0" indent="0" lvl="0">
                        <a:buNone/>
                      </a:pPr>
                      <a:r>
                        <a:rPr sz="900" b="1">
                          <a:solidFill>
                            <a:srgbClr val="060606"/>
                          </a:solidFill>
                          <a:latin typeface="Helvetica"/>
                        </a:rPr>
                        <a:t>2021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10 828 205 640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1 652 904 458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17,73 %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10,02 %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15,26 %</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2022</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10 147 421 276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2 317 974 441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30,55 %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9,88 %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22,84 %</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2023</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9 364 845 293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2 579 886 392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46,17 %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7,02 %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27,55 %</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2024</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9 121 576 576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1 634 861 234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33,45 %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7,99 %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17,92 %</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2025</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10 785 064 432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1 358 821 103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23,60 %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6,54 %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12,60 %</a:t>
                      </a:r>
                    </a:p>
                  </a:txBody>
                  <a:tcPr marL="43200" marR="43200" marT="14400" marB="14400" anchor="ctr">
                    <a:solidFill>
                      <a:srgbClr val="FFFFFF"/>
                    </a:solidFill>
                  </a:tcPr>
                </a:tc>
              </a:tr>
            </a:tbl>
          </a:graphicData>
        </a:graphic>
      </p:graphicFrame>
      <p:sp>
        <p:nvSpPr>
          <p:cNvPr id="33" name="TextBox 32"/>
          <p:cNvSpPr txBox="1"/>
          <p:nvPr/>
        </p:nvSpPr>
        <p:spPr>
          <a:xfrm>
            <a:off x="503999" y="2932611"/>
            <a:ext cx="7056000" cy="306000"/>
          </a:xfrm>
          <a:prstGeom prst="rect">
            <a:avLst/>
          </a:prstGeom>
          <a:noFill/>
        </p:spPr>
        <p:txBody>
          <a:bodyPr wrap="square" anchor="t" lIns="54000" rIns="54000"/>
          <a:lstStyle/>
          <a:p>
            <a:pPr algn="l"/>
            <a:r>
              <a:rPr sz="850" b="0">
                <a:solidFill>
                  <a:srgbClr val="53565A"/>
                </a:solidFill>
                <a:latin typeface="Helvetica"/>
              </a:rPr>
              <a:t>Valable pour : débits et soldes des comptes 41195100 et 41195200, balances 2020 à 2025. L'année 2020 sert de point de départ. 2026 non retenue (huit mois).</a:t>
            </a:r>
          </a:p>
        </p:txBody>
      </p:sp>
      <p:sp>
        <p:nvSpPr>
          <p:cNvPr id="34" name="TextBox 33"/>
          <p:cNvSpPr txBox="1"/>
          <p:nvPr/>
        </p:nvSpPr>
        <p:spPr>
          <a:xfrm>
            <a:off x="7776000" y="1386000"/>
            <a:ext cx="3960000" cy="4482000"/>
          </a:xfrm>
          <a:prstGeom prst="rect">
            <a:avLst/>
          </a:prstGeom>
          <a:noFill/>
        </p:spPr>
        <p:txBody>
          <a:bodyPr wrap="square" lIns="54000" rIns="54000"/>
          <a:lstStyle/>
          <a:p>
            <a:pPr algn="just">
              <a:spcAft>
                <a:spcPts val="600"/>
              </a:spcAft>
            </a:pPr>
            <a:r>
              <a:rPr sz="1400" b="1">
                <a:solidFill>
                  <a:srgbClr val="060606"/>
                </a:solidFill>
                <a:latin typeface="Helvetica"/>
              </a:rPr>
              <a:t>Le taux moyen (19,24 %) sert au scénario central, le taux maximal (27,55 %, en 2023) au test de résistance.</a:t>
            </a:r>
          </a:p>
          <a:p>
            <a:pPr algn="just">
              <a:spcAft>
                <a:spcPts val="600"/>
              </a:spcAft>
            </a:pPr>
            <a:r>
              <a:rPr sz="1400" b="1">
                <a:solidFill>
                  <a:srgbClr val="060606"/>
                </a:solidFill>
                <a:latin typeface="Helvetica"/>
              </a:rPr>
              <a:t>Les sorties de l'EFC suivent les départs à la retraite</a:t>
            </a:r>
            <a:r>
              <a:rPr sz="1400" b="0">
                <a:solidFill>
                  <a:srgbClr val="060606"/>
                </a:solidFill>
                <a:latin typeface="Helvetica"/>
              </a:rPr>
              <a:t>, que seules les dates de naissance permettraient de prévoir.</a:t>
            </a:r>
          </a:p>
          <a:p>
            <a:pPr algn="just">
              <a:spcAft>
                <a:spcPts val="600"/>
              </a:spcAft>
            </a:pPr>
            <a:r>
              <a:rPr sz="1400" b="0">
                <a:solidFill>
                  <a:srgbClr val="060606"/>
                </a:solidFill>
                <a:latin typeface="Helvetica"/>
              </a:rPr>
              <a:t>Les sorties d'épargne d'une année représentent plusieurs milliards de FCFA : c'est le premier besoin de liquidité du FPPN, devant les prestations.</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PEP : Plan Épargne Plus | EFC : entraide fin de carrière</a:t>
            </a:r>
          </a:p>
        </p:txBody>
      </p:sp>
    </p:spTree>
    <p:extLst>
      <p:ext uri="{BB962C8B-B14F-4D97-AF65-F5344CB8AC3E}">
        <p14:creationId xmlns:p14="http://schemas.microsoft.com/office/powerpoint/2010/main" val="3507456308"/>
      </p:ext>
    </p:extLst>
  </p:cSld>
  <p:clrMapOvr>
    <a:masterClrMapping/>
  </p:clrMapOvr>
  <p:transition>
    <p:fade/>
  </p:transition>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Adossement : écarts de liquidité année par année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manque de liquidité cumulé atteint 12 596 052 822 FCFA à la fin de la cinquième année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Même en comptant à leur valeur comptable les terrains, la clinique et les créances longues, il manque 835 832 022 FCFA</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 « Gestion des Risques Bancaires(Actif PAssif).pdf » (Sciences-Po, 2009-2010), p. 86 et 87. Onglet 24b du classeur des calculs</a:t>
            </a:r>
          </a:p>
        </p:txBody>
      </p:sp>
      <p:sp>
        <p:nvSpPr>
          <p:cNvPr id="31" name="TextBox 30"/>
          <p:cNvSpPr txBox="1"/>
          <p:nvPr/>
        </p:nvSpPr>
        <p:spPr>
          <a:xfrm>
            <a:off x="503999" y="1386000"/>
            <a:ext cx="10800000" cy="216000"/>
          </a:xfrm>
          <a:prstGeom prst="rect">
            <a:avLst/>
          </a:prstGeom>
          <a:noFill/>
        </p:spPr>
        <p:txBody>
          <a:bodyPr wrap="square" anchor="t" lIns="54000" rIns="54000"/>
          <a:lstStyle/>
          <a:p>
            <a:pPr algn="ctr"/>
            <a:r>
              <a:rPr sz="1200" b="0">
                <a:solidFill>
                  <a:srgbClr val="EFAC62"/>
                </a:solidFill>
                <a:latin typeface="Helvetica"/>
              </a:rPr>
              <a:t>Tableau 74 : Écarts de liquidité au 31/08/2026, scénario central</a:t>
            </a:r>
          </a:p>
        </p:txBody>
      </p:sp>
      <p:graphicFrame>
        <p:nvGraphicFramePr>
          <p:cNvPr id="32" name="Table 31"/>
          <p:cNvGraphicFramePr>
            <a:graphicFrameLocks noGrp="1"/>
          </p:cNvGraphicFramePr>
          <p:nvPr/>
        </p:nvGraphicFramePr>
        <p:xfrm>
          <a:off x="503999" y="1655999"/>
          <a:ext cx="10800000" cy="1363376"/>
        </p:xfrm>
        <a:graphic>
          <a:graphicData uri="http://schemas.openxmlformats.org/drawingml/2006/table">
            <a:tbl>
              <a:tblPr firstRow="0" bandRow="0">
                <a:tableStyleId>{5940675A-B579-460E-94D1-54222C63F5DA}</a:tableStyleId>
              </a:tblPr>
              <a:tblGrid>
                <a:gridCol w="1368000"/>
                <a:gridCol w="1944000"/>
                <a:gridCol w="1800000"/>
                <a:gridCol w="1800000"/>
                <a:gridCol w="1944000"/>
                <a:gridCol w="1944000"/>
              </a:tblGrid>
              <a:tr h="194768">
                <a:tc>
                  <a:txBody>
                    <a:bodyPr/>
                    <a:lstStyle/>
                    <a:p>
                      <a:pPr marL="0" indent="0" lvl="0">
                        <a:buNone/>
                      </a:pPr>
                      <a:r>
                        <a:rPr sz="900" b="1">
                          <a:solidFill>
                            <a:srgbClr val="FFFFFF"/>
                          </a:solidFill>
                          <a:latin typeface="Helvetica"/>
                        </a:rPr>
                        <a:t>Échéance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Actifs disponibles</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Dettes à payer</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Sorties d'épargne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Écart de l'année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Écart cumulé</a:t>
                      </a:r>
                    </a:p>
                  </a:txBody>
                  <a:tcPr marL="43200" marR="43200" marT="14400" marB="14400" anchor="ctr">
                    <a:solidFill>
                      <a:srgbClr val="060606"/>
                    </a:solidFill>
                  </a:tcPr>
                </a:tc>
              </a:tr>
              <a:tr h="194768">
                <a:tc>
                  <a:txBody>
                    <a:bodyPr/>
                    <a:lstStyle/>
                    <a:p>
                      <a:pPr marL="0" indent="0" lvl="0">
                        <a:buNone/>
                      </a:pPr>
                      <a:r>
                        <a:rPr sz="900" b="1">
                          <a:solidFill>
                            <a:srgbClr val="060606"/>
                          </a:solidFill>
                          <a:latin typeface="Helvetica"/>
                        </a:rPr>
                        <a:t>Année 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3 457 866 951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7 017 736 497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3 028 376 687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-6 588 246 233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-6 588 246 233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Année 2</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324 328 752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2 445 847 020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-2 121 518 268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-8 709 764 501 FCFA</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Année 3</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324 328 752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1 975 371 053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-1 651 042 301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-10 360 806 802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Année 4</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324 328 752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1 595 394 465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-1 271 065 713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-11 631 872 515 FCFA</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Année 5</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324 328 752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1 288 509 060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-964 180 307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-12 596 052 822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Au-delà de 5 ans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17 170 238 905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5 410 018 105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11 760 220 800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-835 832 022 FCFA</a:t>
                      </a:r>
                    </a:p>
                  </a:txBody>
                  <a:tcPr marL="43200" marR="43200" marT="14400" marB="14400" anchor="ctr">
                    <a:solidFill>
                      <a:srgbClr val="F2F2F2"/>
                    </a:solidFill>
                  </a:tcPr>
                </a:tc>
              </a:tr>
            </a:tbl>
          </a:graphicData>
        </a:graphic>
      </p:graphicFrame>
      <p:sp>
        <p:nvSpPr>
          <p:cNvPr id="33" name="TextBox 32"/>
          <p:cNvSpPr txBox="1"/>
          <p:nvPr/>
        </p:nvSpPr>
        <p:spPr>
          <a:xfrm>
            <a:off x="503999" y="3127380"/>
            <a:ext cx="11232000" cy="162000"/>
          </a:xfrm>
          <a:prstGeom prst="rect">
            <a:avLst/>
          </a:prstGeom>
          <a:noFill/>
        </p:spPr>
        <p:txBody>
          <a:bodyPr wrap="square" anchor="t" lIns="54000" rIns="54000"/>
          <a:lstStyle/>
          <a:p>
            <a:pPr algn="l"/>
            <a:r>
              <a:rPr sz="850" b="0">
                <a:solidFill>
                  <a:srgbClr val="53565A"/>
                </a:solidFill>
                <a:latin typeface="Helvetica"/>
              </a:rPr>
              <a:t>Valable pour : bilan provisoire au 31/08/2026, actifs classés par nature comptable. Taux de sortie moyen 2021 à 2025. Sans nouveaux versements ni intérêts dus.</a:t>
            </a:r>
          </a:p>
        </p:txBody>
      </p:sp>
      <p:sp>
        <p:nvSpPr>
          <p:cNvPr id="34" name="TextBox 33"/>
          <p:cNvSpPr txBox="1"/>
          <p:nvPr/>
        </p:nvSpPr>
        <p:spPr>
          <a:xfrm>
            <a:off x="503999" y="3433380"/>
            <a:ext cx="11232000" cy="2434619"/>
          </a:xfrm>
          <a:prstGeom prst="rect">
            <a:avLst/>
          </a:prstGeom>
          <a:noFill/>
        </p:spPr>
        <p:txBody>
          <a:bodyPr wrap="square" lIns="54000" rIns="54000"/>
          <a:lstStyle/>
          <a:p>
            <a:pPr algn="just">
              <a:spcAft>
                <a:spcPts val="600"/>
              </a:spcAft>
            </a:pPr>
            <a:r>
              <a:rPr sz="1300" b="1">
                <a:solidFill>
                  <a:srgbClr val="060606"/>
                </a:solidFill>
                <a:latin typeface="Helvetica"/>
              </a:rPr>
              <a:t>Dès la première année, les paiements dépassent les actifs disponibles de 6 588 246 233 FCFA.</a:t>
            </a:r>
            <a:r>
              <a:rPr sz="1300" b="0">
                <a:solidFill>
                  <a:srgbClr val="060606"/>
                </a:solidFill>
                <a:latin typeface="Helvetica"/>
              </a:rPr>
              <a:t> L'écart se creuse chaque année : les actifs de 1 à 5 ans (prêts du Grenier, créances) sont trop faibles pour suivre les sorties.</a:t>
            </a:r>
          </a:p>
          <a:p>
            <a:pPr algn="just">
              <a:spcAft>
                <a:spcPts val="600"/>
              </a:spcAft>
            </a:pPr>
            <a:r>
              <a:rPr sz="1300" b="1">
                <a:solidFill>
                  <a:srgbClr val="060606"/>
                </a:solidFill>
                <a:latin typeface="Helvetica"/>
              </a:rPr>
              <a:t>Même en ajoutant les 17 170 238 905 FCFA d'actifs longs ou incertains (terrains, clinique, créance sur l'hôpital) à leur valeur comptable, l'écart cumulé reste négatif de 835 832 022 FCFA.</a:t>
            </a:r>
            <a:r>
              <a:rPr sz="1300" b="0">
                <a:solidFill>
                  <a:srgbClr val="060606"/>
                </a:solidFill>
                <a:latin typeface="Helvetica"/>
              </a:rPr>
              <a:t> Leur valeur de vente n'est d'ailleurs pas établie.</a:t>
            </a:r>
          </a:p>
          <a:p>
            <a:pPr algn="just">
              <a:spcAft>
                <a:spcPts val="600"/>
              </a:spcAft>
            </a:pPr>
            <a:r>
              <a:rPr sz="1300" b="0">
                <a:solidFill>
                  <a:srgbClr val="060606"/>
                </a:solidFill>
                <a:latin typeface="Helvetica"/>
              </a:rPr>
              <a:t>En pratique, l'écart est comblé chaque année par les nouvelles cotisations d'épargne et les excédents : le FPPN dépend de la poursuite des versements pour payer les sorties.</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642125034"/>
      </p:ext>
    </p:extLst>
  </p:cSld>
  <p:clrMapOvr>
    <a:masterClrMapping/>
  </p:clrMapOvr>
  <p:transition>
    <p:fade/>
  </p:transition>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Adossement : tests de résistance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Même dans le scénario central, l'actif à moins d'un an couvre 34,42 % des paiements de l'année au 31/08/2026</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Les chocs sont calibrés sur les extrêmes observés au FPPN, pour rester cohérents avec le reste du rapport</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 Onglet 24b du classeur des calculs</a:t>
            </a:r>
          </a:p>
        </p:txBody>
      </p:sp>
      <p:sp>
        <p:nvSpPr>
          <p:cNvPr id="31" name="TextBox 30"/>
          <p:cNvSpPr txBox="1"/>
          <p:nvPr/>
        </p:nvSpPr>
        <p:spPr>
          <a:xfrm>
            <a:off x="503999" y="1386000"/>
            <a:ext cx="10872000" cy="216000"/>
          </a:xfrm>
          <a:prstGeom prst="rect">
            <a:avLst/>
          </a:prstGeom>
          <a:noFill/>
        </p:spPr>
        <p:txBody>
          <a:bodyPr wrap="square" anchor="t" lIns="54000" rIns="54000"/>
          <a:lstStyle/>
          <a:p>
            <a:pPr algn="ctr"/>
            <a:r>
              <a:rPr sz="1200" b="0">
                <a:solidFill>
                  <a:srgbClr val="EFAC62"/>
                </a:solidFill>
                <a:latin typeface="Helvetica"/>
              </a:rPr>
              <a:t>Tableau 75 : Couverture des paiements de l'année selon trois scénarios</a:t>
            </a:r>
          </a:p>
        </p:txBody>
      </p:sp>
      <p:graphicFrame>
        <p:nvGraphicFramePr>
          <p:cNvPr id="32" name="Table 31"/>
          <p:cNvGraphicFramePr>
            <a:graphicFrameLocks noGrp="1"/>
          </p:cNvGraphicFramePr>
          <p:nvPr/>
        </p:nvGraphicFramePr>
        <p:xfrm>
          <a:off x="503999" y="1655999"/>
          <a:ext cx="10872000" cy="1569132"/>
        </p:xfrm>
        <a:graphic>
          <a:graphicData uri="http://schemas.openxmlformats.org/drawingml/2006/table">
            <a:tbl>
              <a:tblPr firstRow="0" bandRow="0">
                <a:tableStyleId>{5940675A-B579-460E-94D1-54222C63F5DA}</a:tableStyleId>
              </a:tblPr>
              <a:tblGrid>
                <a:gridCol w="1080000"/>
                <a:gridCol w="1296000"/>
                <a:gridCol w="2664000"/>
                <a:gridCol w="1584000"/>
                <a:gridCol w="1584000"/>
                <a:gridCol w="1584000"/>
                <a:gridCol w="1080000"/>
              </a:tblGrid>
              <a:tr h="187148">
                <a:tc>
                  <a:txBody>
                    <a:bodyPr/>
                    <a:lstStyle/>
                    <a:p>
                      <a:pPr marL="0" indent="0" lvl="0">
                        <a:buNone/>
                      </a:pPr>
                      <a:r>
                        <a:rPr sz="850" b="1">
                          <a:solidFill>
                            <a:srgbClr val="FFFFFF"/>
                          </a:solidFill>
                          <a:latin typeface="Helvetica"/>
                        </a:rPr>
                        <a:t>Clôture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Scénario</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Hypothèse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Actif à moins d'un an</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Besoin de l'année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Écart</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Couverture</a:t>
                      </a:r>
                    </a:p>
                  </a:txBody>
                  <a:tcPr marL="43200" marR="43200" marT="14400" marB="14400" anchor="ctr">
                    <a:solidFill>
                      <a:srgbClr val="060606"/>
                    </a:solidFill>
                  </a:tcPr>
                </a:tc>
              </a:tr>
              <a:tr h="187148">
                <a:tc>
                  <a:txBody>
                    <a:bodyPr/>
                    <a:lstStyle/>
                    <a:p>
                      <a:pPr marL="0" indent="0" lvl="0">
                        <a:buNone/>
                      </a:pPr>
                      <a:r>
                        <a:rPr sz="850" b="1">
                          <a:solidFill>
                            <a:srgbClr val="060606"/>
                          </a:solidFill>
                          <a:latin typeface="Helvetica"/>
                        </a:rPr>
                        <a:t>31/12/2025</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Central</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Taux de sortie moyen 2021 à 2025</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2 715 008 827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9 192 611 042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-6 477 602 215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29,53 %</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31/12/2025</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Résistance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Taux de sortie maximal observé</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2 715 008 827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10 340 963 512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-7 625 954 685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26,25 %</a:t>
                      </a:r>
                    </a:p>
                  </a:txBody>
                  <a:tcPr marL="43200" marR="43200" marT="14400" marB="14400" anchor="ctr">
                    <a:solidFill>
                      <a:srgbClr val="F2F2F2"/>
                    </a:solidFill>
                  </a:tcPr>
                </a:tc>
              </a:tr>
              <a:tr h="316696">
                <a:tc>
                  <a:txBody>
                    <a:bodyPr/>
                    <a:lstStyle/>
                    <a:p>
                      <a:pPr marL="0" indent="0" lvl="0">
                        <a:buNone/>
                      </a:pPr>
                      <a:r>
                        <a:rPr sz="850" b="1">
                          <a:solidFill>
                            <a:srgbClr val="060606"/>
                          </a:solidFill>
                          <a:latin typeface="Helvetica"/>
                        </a:rPr>
                        <a:t>31/12/2025</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Résistance sévère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Taux maximal et hausse des prestations maladie de 103,53 %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2 715 008 827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12 175 203 736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-9 460 194 909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22,30 %</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31/08/2026</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Central</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Taux de sortie moyen 2021 à 2025</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3 457 866 951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10 046 113 184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-6 588 246 233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34,42 %</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31/08/2026</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Résistance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Taux de sortie maximal observé</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3 457 866 951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11 354 859 261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-7 896 992 310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30,45 %</a:t>
                      </a:r>
                    </a:p>
                  </a:txBody>
                  <a:tcPr marL="43200" marR="43200" marT="14400" marB="14400" anchor="ctr">
                    <a:solidFill>
                      <a:srgbClr val="FFFFFF"/>
                    </a:solidFill>
                  </a:tcPr>
                </a:tc>
              </a:tr>
              <a:tr h="316696">
                <a:tc>
                  <a:txBody>
                    <a:bodyPr/>
                    <a:lstStyle/>
                    <a:p>
                      <a:pPr marL="0" indent="0" lvl="0">
                        <a:buNone/>
                      </a:pPr>
                      <a:r>
                        <a:rPr sz="850" b="1">
                          <a:solidFill>
                            <a:srgbClr val="060606"/>
                          </a:solidFill>
                          <a:latin typeface="Helvetica"/>
                        </a:rPr>
                        <a:t>31/08/2026</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Résistance sévère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Taux maximal et hausse des prestations maladie de 103,53 %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3 457 866 951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13 189 099 485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-9 731 232 534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26,22 %</a:t>
                      </a:r>
                    </a:p>
                  </a:txBody>
                  <a:tcPr marL="43200" marR="43200" marT="14400" marB="14400" anchor="ctr">
                    <a:solidFill>
                      <a:srgbClr val="F2F2F2"/>
                    </a:solidFill>
                  </a:tcPr>
                </a:tc>
              </a:tr>
            </a:tbl>
          </a:graphicData>
        </a:graphic>
      </p:graphicFrame>
      <p:sp>
        <p:nvSpPr>
          <p:cNvPr id="33" name="TextBox 32"/>
          <p:cNvSpPr txBox="1"/>
          <p:nvPr/>
        </p:nvSpPr>
        <p:spPr>
          <a:xfrm>
            <a:off x="503999" y="3333133"/>
            <a:ext cx="11232000" cy="162000"/>
          </a:xfrm>
          <a:prstGeom prst="rect">
            <a:avLst/>
          </a:prstGeom>
          <a:noFill/>
        </p:spPr>
        <p:txBody>
          <a:bodyPr wrap="square" anchor="t" lIns="54000" rIns="54000"/>
          <a:lstStyle/>
          <a:p>
            <a:pPr algn="l"/>
            <a:r>
              <a:rPr sz="850" b="0">
                <a:solidFill>
                  <a:srgbClr val="53565A"/>
                </a:solidFill>
                <a:latin typeface="Helvetica"/>
              </a:rPr>
              <a:t>Valable pour : bilans au 31/12/2025 et au 31/08/2026 (provisoire). Taux de sortie 2021 à 2025. Prestations maladie 2023 à 2025.</a:t>
            </a:r>
          </a:p>
        </p:txBody>
      </p:sp>
      <p:sp>
        <p:nvSpPr>
          <p:cNvPr id="34" name="TextBox 33"/>
          <p:cNvSpPr txBox="1"/>
          <p:nvPr/>
        </p:nvSpPr>
        <p:spPr>
          <a:xfrm>
            <a:off x="503999" y="3639133"/>
            <a:ext cx="11232000" cy="2228866"/>
          </a:xfrm>
          <a:prstGeom prst="rect">
            <a:avLst/>
          </a:prstGeom>
          <a:noFill/>
        </p:spPr>
        <p:txBody>
          <a:bodyPr wrap="square" lIns="54000" rIns="54000"/>
          <a:lstStyle/>
          <a:p>
            <a:pPr algn="just">
              <a:spcAft>
                <a:spcPts val="600"/>
              </a:spcAft>
            </a:pPr>
            <a:r>
              <a:rPr sz="1300" b="1">
                <a:solidFill>
                  <a:srgbClr val="060606"/>
                </a:solidFill>
                <a:latin typeface="Helvetica"/>
              </a:rPr>
              <a:t>La couverture varie entre 22,30 % et 34,42 % selon le scénario et la clôture.</a:t>
            </a:r>
            <a:r>
              <a:rPr sz="1300" b="0">
                <a:solidFill>
                  <a:srgbClr val="060606"/>
                </a:solidFill>
                <a:latin typeface="Helvetica"/>
              </a:rPr>
              <a:t> Aucun scénario n'approche 100 %.</a:t>
            </a:r>
          </a:p>
          <a:p>
            <a:pPr algn="just">
              <a:spcAft>
                <a:spcPts val="600"/>
              </a:spcAft>
            </a:pPr>
            <a:r>
              <a:rPr sz="1300" b="0">
                <a:solidFill>
                  <a:srgbClr val="060606"/>
                </a:solidFill>
                <a:latin typeface="Helvetica"/>
              </a:rPr>
              <a:t>Une réserve de liquidité égale aux sorties d'épargne d'une année au taux maximal observé est la cible minimale d'une politique actif-passif.</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1362783144"/>
      </p:ext>
    </p:extLst>
  </p:cSld>
  <p:clrMapOvr>
    <a:masterClrMapping/>
  </p:clrMapOvr>
  <p:transition>
    <p:fade/>
  </p:transition>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Adossement : gouvernance à mettre en place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Aucune des pratiques de gouvernance actif-passif de référence n'est en place au FPPN</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 conseil d'administration doit fixer les limites. Un comité doit suivre les écarts et en rendre compte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 Ch13_Gestion_Actif-Passif_French.pdf » (Association actuarielle internationale, 2016). « 2024081723_jerome-lavoie-pilote.pdf » (Institut des actuaires). « Gestion des Risques Bancaires(Actif PAssif).pdf » (Sciences-Po, 2009-2010). Entretien du 19/10/2026 (14h) avec M. Koffi, chef comptable</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76 : Gouvernance actif-passif : pratiques de référence et situation du FPPN</a:t>
            </a:r>
          </a:p>
        </p:txBody>
      </p:sp>
      <p:graphicFrame>
        <p:nvGraphicFramePr>
          <p:cNvPr id="32" name="Table 31"/>
          <p:cNvGraphicFramePr>
            <a:graphicFrameLocks noGrp="1"/>
          </p:cNvGraphicFramePr>
          <p:nvPr/>
        </p:nvGraphicFramePr>
        <p:xfrm>
          <a:off x="503999" y="1655999"/>
          <a:ext cx="11231999" cy="1641080"/>
        </p:xfrm>
        <a:graphic>
          <a:graphicData uri="http://schemas.openxmlformats.org/drawingml/2006/table">
            <a:tbl>
              <a:tblPr firstRow="0" bandRow="0">
                <a:tableStyleId>{5940675A-B579-460E-94D1-54222C63F5DA}</a:tableStyleId>
              </a:tblPr>
              <a:tblGrid>
                <a:gridCol w="2736000"/>
                <a:gridCol w="1944000"/>
                <a:gridCol w="3240000"/>
                <a:gridCol w="3311999"/>
              </a:tblGrid>
              <a:tr h="187148">
                <a:tc>
                  <a:txBody>
                    <a:bodyPr/>
                    <a:lstStyle/>
                    <a:p>
                      <a:pPr marL="0" indent="0" lvl="0">
                        <a:buNone/>
                      </a:pPr>
                      <a:r>
                        <a:rPr sz="850" b="1">
                          <a:solidFill>
                            <a:srgbClr val="FFFFFF"/>
                          </a:solidFill>
                          <a:latin typeface="Helvetica"/>
                        </a:rPr>
                        <a:t>Pratique de référence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Source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Situation du FPPN</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Action proposée</a:t>
                      </a:r>
                    </a:p>
                  </a:txBody>
                  <a:tcPr marL="43200" marR="43200" marT="14400" marB="14400" anchor="ctr">
                    <a:solidFill>
                      <a:srgbClr val="060606"/>
                    </a:solidFill>
                  </a:tcPr>
                </a:tc>
              </a:tr>
              <a:tr h="316696">
                <a:tc>
                  <a:txBody>
                    <a:bodyPr/>
                    <a:lstStyle/>
                    <a:p>
                      <a:pPr marL="0" indent="0" lvl="0">
                        <a:buNone/>
                      </a:pPr>
                      <a:r>
                        <a:rPr sz="850" b="1">
                          <a:solidFill>
                            <a:srgbClr val="060606"/>
                          </a:solidFill>
                          <a:latin typeface="Helvetica"/>
                        </a:rPr>
                        <a:t>Le conseil d'administration s'engage et approuve les limites de risque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AAI, ch. 13, p. 15</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Aucune limite votée. Le directeur général décide seul des placements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Faire voter une politique actif-passif et de placement</a:t>
                      </a:r>
                    </a:p>
                  </a:txBody>
                  <a:tcPr marL="43200" marR="43200" marT="14400" marB="14400" anchor="ctr">
                    <a:solidFill>
                      <a:srgbClr val="FFFFFF"/>
                    </a:solidFill>
                  </a:tcPr>
                </a:tc>
              </a:tr>
              <a:tr h="316696">
                <a:tc>
                  <a:txBody>
                    <a:bodyPr/>
                    <a:lstStyle/>
                    <a:p>
                      <a:pPr marL="0" indent="0" lvl="0">
                        <a:buNone/>
                      </a:pPr>
                      <a:r>
                        <a:rPr sz="850" b="1">
                          <a:solidFill>
                            <a:srgbClr val="060606"/>
                          </a:solidFill>
                          <a:latin typeface="Helvetica"/>
                        </a:rPr>
                        <a:t>Un comité actif-passif, avec un mandat écrit</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AAI, ch. 13, p. 19. Lavoie, p. 11</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Pas de comité</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Créer un comité : direction, comptabilité, actuaire</a:t>
                      </a:r>
                    </a:p>
                  </a:txBody>
                  <a:tcPr marL="43200" marR="43200" marT="14400" marB="14400" anchor="ctr">
                    <a:solidFill>
                      <a:srgbClr val="F2F2F2"/>
                    </a:solidFill>
                  </a:tcPr>
                </a:tc>
              </a:tr>
              <a:tr h="316696">
                <a:tc>
                  <a:txBody>
                    <a:bodyPr/>
                    <a:lstStyle/>
                    <a:p>
                      <a:pPr marL="0" indent="0" lvl="0">
                        <a:buNone/>
                      </a:pPr>
                      <a:r>
                        <a:rPr sz="850" b="1">
                          <a:solidFill>
                            <a:srgbClr val="060606"/>
                          </a:solidFill>
                          <a:latin typeface="Helvetica"/>
                        </a:rPr>
                        <a:t>Une politique qui encadre la gestion actif-passif</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Lavoie, p. 8</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Pas de politique écrite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Fixer réserve de liquidité, actifs admis, rendement minimal</a:t>
                      </a:r>
                    </a:p>
                  </a:txBody>
                  <a:tcPr marL="43200" marR="43200" marT="14400" marB="14400" anchor="ctr">
                    <a:solidFill>
                      <a:srgbClr val="FFFFFF"/>
                    </a:solidFill>
                  </a:tcPr>
                </a:tc>
              </a:tr>
              <a:tr h="316696">
                <a:tc>
                  <a:txBody>
                    <a:bodyPr/>
                    <a:lstStyle/>
                    <a:p>
                      <a:pPr marL="0" indent="0" lvl="0">
                        <a:buNone/>
                      </a:pPr>
                      <a:r>
                        <a:rPr sz="850" b="1">
                          <a:solidFill>
                            <a:srgbClr val="060606"/>
                          </a:solidFill>
                          <a:latin typeface="Helvetica"/>
                        </a:rPr>
                        <a:t>Un suivi régulier des écarts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Gestion des risques bancaires, p. 86</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Pas d'échéancier de l'épargne, pas de tableau de suivi</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Écarts de liquidité trimestriels, présentés au comité</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Des engagements connus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AAI, ch. 13, p. 3</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Taux servi non arrêté, comptes individuels non transmis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Arrêter le taux, tenir les comptes individuels</a:t>
                      </a:r>
                    </a:p>
                  </a:txBody>
                  <a:tcPr marL="43200" marR="43200" marT="14400" marB="14400" anchor="ctr">
                    <a:solidFill>
                      <a:srgbClr val="FFFFFF"/>
                    </a:solidFill>
                  </a:tcPr>
                </a:tc>
              </a:tr>
            </a:tbl>
          </a:graphicData>
        </a:graphic>
      </p:graphicFrame>
      <p:sp>
        <p:nvSpPr>
          <p:cNvPr id="33" name="TextBox 32"/>
          <p:cNvSpPr txBox="1"/>
          <p:nvPr/>
        </p:nvSpPr>
        <p:spPr>
          <a:xfrm>
            <a:off x="503999" y="3405081"/>
            <a:ext cx="11232000" cy="162000"/>
          </a:xfrm>
          <a:prstGeom prst="rect">
            <a:avLst/>
          </a:prstGeom>
          <a:noFill/>
        </p:spPr>
        <p:txBody>
          <a:bodyPr wrap="square" anchor="t" lIns="54000" rIns="54000"/>
          <a:lstStyle/>
          <a:p>
            <a:pPr algn="l"/>
            <a:r>
              <a:rPr sz="850" b="0">
                <a:solidFill>
                  <a:srgbClr val="53565A"/>
                </a:solidFill>
                <a:latin typeface="Helvetica"/>
              </a:rPr>
              <a:t>Valable pour : pratiques des documents de référence cités. Situation du FPPN constatée en entretien le 19/10/2026 et sur les documents reçus jusqu'au 22/10/2026.</a:t>
            </a:r>
          </a:p>
        </p:txBody>
      </p:sp>
      <p:sp>
        <p:nvSpPr>
          <p:cNvPr id="34" name="TextBox 33"/>
          <p:cNvSpPr txBox="1"/>
          <p:nvPr/>
        </p:nvSpPr>
        <p:spPr>
          <a:xfrm>
            <a:off x="503999" y="3711081"/>
            <a:ext cx="11232000" cy="2156918"/>
          </a:xfrm>
          <a:prstGeom prst="rect">
            <a:avLst/>
          </a:prstGeom>
          <a:noFill/>
        </p:spPr>
        <p:txBody>
          <a:bodyPr wrap="square" lIns="54000" rIns="54000"/>
          <a:lstStyle/>
          <a:p>
            <a:pPr algn="just">
              <a:spcAft>
                <a:spcPts val="600"/>
              </a:spcAft>
            </a:pPr>
            <a:r>
              <a:rPr sz="1300" b="1">
                <a:solidFill>
                  <a:srgbClr val="060606"/>
                </a:solidFill>
                <a:latin typeface="Helvetica"/>
              </a:rPr>
              <a:t>L'absence de gouvernance explique les constats chiffrés</a:t>
            </a:r>
            <a:r>
              <a:rPr sz="1300" b="0">
                <a:solidFill>
                  <a:srgbClr val="060606"/>
                </a:solidFill>
                <a:latin typeface="Helvetica"/>
              </a:rPr>
              <a:t> : sans limite ni suivi, l'épargne a financé des actifs longs sans que personne ne mesure l'effet sur la liquidité.</a:t>
            </a:r>
          </a:p>
          <a:p>
            <a:pPr algn="just">
              <a:spcAft>
                <a:spcPts val="600"/>
              </a:spcAft>
            </a:pPr>
            <a:r>
              <a:rPr sz="1300" b="0">
                <a:solidFill>
                  <a:srgbClr val="060606"/>
                </a:solidFill>
                <a:latin typeface="Helvetica"/>
              </a:rPr>
              <a:t>La gouvernance est le levier le moins coûteux : elle ne demande ni vente d'actif ni hausse de cotisation.</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1854077365"/>
      </p:ext>
    </p:extLst>
  </p:cSld>
  <p:clrMapOvr>
    <a:masterClrMapping/>
  </p:clrMapOvr>
  <p:transition>
    <p:fade/>
  </p:transition>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Conclusion : adossement actif-passif</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FPPN n'est pas adossé : l'épargne exigible finance des actifs longs et peu liquides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Couverture des paiements de l'année au 31/08/2026 : 34,42 % (central) à 26,22 % (sévère)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diapositives diapositive 146, diapositive 147, diapositive 148</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77 : Adossement actif-passif : réponse et niveau de preuve</a:t>
            </a:r>
          </a:p>
        </p:txBody>
      </p:sp>
      <p:graphicFrame>
        <p:nvGraphicFramePr>
          <p:cNvPr id="32" name="Table 31"/>
          <p:cNvGraphicFramePr>
            <a:graphicFrameLocks noGrp="1"/>
          </p:cNvGraphicFramePr>
          <p:nvPr/>
        </p:nvGraphicFramePr>
        <p:xfrm>
          <a:off x="503999" y="1655999"/>
          <a:ext cx="11231998" cy="1194836"/>
        </p:xfrm>
        <a:graphic>
          <a:graphicData uri="http://schemas.openxmlformats.org/drawingml/2006/table">
            <a:tbl>
              <a:tblPr firstRow="0" bandRow="0">
                <a:tableStyleId>{5940675A-B579-460E-94D1-54222C63F5DA}</a:tableStyleId>
              </a:tblPr>
              <a:tblGrid>
                <a:gridCol w="2160000"/>
                <a:gridCol w="3744000"/>
                <a:gridCol w="2015999"/>
                <a:gridCol w="3311999"/>
              </a:tblGrid>
              <a:tr h="187148">
                <a:tc>
                  <a:txBody>
                    <a:bodyPr/>
                    <a:lstStyle/>
                    <a:p>
                      <a:pPr marL="0" indent="0" lvl="0">
                        <a:buNone/>
                      </a:pPr>
                      <a:r>
                        <a:rPr sz="850" b="1">
                          <a:solidFill>
                            <a:srgbClr val="FFFFFF"/>
                          </a:solidFill>
                          <a:latin typeface="Helvetica"/>
                        </a:rPr>
                        <a:t>Question</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Réponse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Méthode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Pour aller plus loin</a:t>
                      </a:r>
                    </a:p>
                  </a:txBody>
                  <a:tcPr marL="43200" marR="43200" marT="14400" marB="14400" anchor="ctr">
                    <a:solidFill>
                      <a:srgbClr val="060606"/>
                    </a:solidFill>
                  </a:tcPr>
                </a:tc>
              </a:tr>
              <a:tr h="316696">
                <a:tc>
                  <a:txBody>
                    <a:bodyPr/>
                    <a:lstStyle/>
                    <a:p>
                      <a:pPr marL="0" indent="0" lvl="0">
                        <a:buNone/>
                      </a:pPr>
                      <a:r>
                        <a:rPr sz="850" b="1">
                          <a:solidFill>
                            <a:srgbClr val="060606"/>
                          </a:solidFill>
                          <a:latin typeface="Helvetica"/>
                        </a:rPr>
                        <a:t>La liquidité couvre-t-elle l'année qui vient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Non : 34,42 % dans le scénario central</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Écoulement conventionnel</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Échéancier de l'épargne</a:t>
                      </a:r>
                    </a:p>
                  </a:txBody>
                  <a:tcPr marL="43200" marR="43200" marT="14400" marB="14400" anchor="ctr">
                    <a:solidFill>
                      <a:srgbClr val="FFFFFF"/>
                    </a:solidFill>
                  </a:tcPr>
                </a:tc>
              </a:tr>
              <a:tr h="316696">
                <a:tc>
                  <a:txBody>
                    <a:bodyPr/>
                    <a:lstStyle/>
                    <a:p>
                      <a:pPr marL="0" indent="0" lvl="0">
                        <a:buNone/>
                      </a:pPr>
                      <a:r>
                        <a:rPr sz="850" b="1">
                          <a:solidFill>
                            <a:srgbClr val="060606"/>
                          </a:solidFill>
                          <a:latin typeface="Helvetica"/>
                        </a:rPr>
                        <a:t>L'écart se résorbe-t-il dans les cinq ans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Non : manque cumulé de 12 596 052 822 FCFA à cinq ans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Écarts par année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Classement contractuel des actifs</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Le FPPN résiste-t-il à un choc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Non : 26,22 % dans le scénario sévère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Tests de résistance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Données de sorties par motif</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Le FPPN pilote-t-il son adossement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Non : ni politique, ni comité, ni limites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Pratiques de référence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Décision du conseil d'administration</a:t>
                      </a:r>
                    </a:p>
                  </a:txBody>
                  <a:tcPr marL="43200" marR="43200" marT="14400" marB="14400" anchor="ctr">
                    <a:solidFill>
                      <a:srgbClr val="F2F2F2"/>
                    </a:solidFill>
                  </a:tcPr>
                </a:tc>
              </a:tr>
            </a:tbl>
          </a:graphicData>
        </a:graphic>
      </p:graphicFrame>
      <p:sp>
        <p:nvSpPr>
          <p:cNvPr id="33" name="TextBox 32"/>
          <p:cNvSpPr txBox="1"/>
          <p:nvPr/>
        </p:nvSpPr>
        <p:spPr>
          <a:xfrm>
            <a:off x="503999" y="2958837"/>
            <a:ext cx="11232000" cy="162000"/>
          </a:xfrm>
          <a:prstGeom prst="rect">
            <a:avLst/>
          </a:prstGeom>
          <a:noFill/>
        </p:spPr>
        <p:txBody>
          <a:bodyPr wrap="square" anchor="t" lIns="54000" rIns="54000"/>
          <a:lstStyle/>
          <a:p>
            <a:pPr algn="l"/>
            <a:r>
              <a:rPr sz="850" b="0">
                <a:solidFill>
                  <a:srgbClr val="53565A"/>
                </a:solidFill>
                <a:latin typeface="Helvetica"/>
              </a:rPr>
              <a:t>Valable pour : bilans au 31/12/2025 et au 31/08/2026 (provisoire). Comportements de sortie observés de 2021 à 2025.</a:t>
            </a:r>
          </a:p>
        </p:txBody>
      </p:sp>
      <p:sp>
        <p:nvSpPr>
          <p:cNvPr id="34" name="TextBox 33"/>
          <p:cNvSpPr txBox="1"/>
          <p:nvPr/>
        </p:nvSpPr>
        <p:spPr>
          <a:xfrm>
            <a:off x="503999" y="3264837"/>
            <a:ext cx="11232000" cy="2603162"/>
          </a:xfrm>
          <a:prstGeom prst="rect">
            <a:avLst/>
          </a:prstGeom>
          <a:noFill/>
        </p:spPr>
        <p:txBody>
          <a:bodyPr wrap="square" lIns="54000" rIns="54000"/>
          <a:lstStyle/>
          <a:p>
            <a:pPr algn="just">
              <a:spcAft>
                <a:spcPts val="600"/>
              </a:spcAft>
            </a:pPr>
            <a:r>
              <a:rPr sz="1300" b="1">
                <a:solidFill>
                  <a:srgbClr val="060606"/>
                </a:solidFill>
                <a:latin typeface="Helvetica"/>
              </a:rPr>
              <a:t>Le non-adossement est démontré avec les données du FPPN</a:t>
            </a:r>
            <a:r>
              <a:rPr sz="1300" b="0">
                <a:solidFill>
                  <a:srgbClr val="060606"/>
                </a:solidFill>
                <a:latin typeface="Helvetica"/>
              </a:rPr>
              <a:t>, quel que soit le scénario retenu. Un échéancier individuel de l'épargne remplacerait le taux de sortie observé, sans changer la conclusion.</a:t>
            </a:r>
          </a:p>
          <a:p>
            <a:pPr algn="just">
              <a:spcAft>
                <a:spcPts val="600"/>
              </a:spcAft>
            </a:pPr>
            <a:r>
              <a:rPr sz="1300" b="0">
                <a:solidFill>
                  <a:srgbClr val="060606"/>
                </a:solidFill>
                <a:latin typeface="Helvetica"/>
              </a:rPr>
              <a:t>Le plan de redressement doit traiter en priorité la liquidité de l'épargne : réserve de liquidité, arrêt du financement d'actifs longs par l'épargne, politique actif-passif votée.</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1340578088"/>
      </p:ext>
    </p:extLst>
  </p:cSld>
  <p:clrMapOvr>
    <a:masterClrMapping/>
  </p:clrMapOvr>
  <p:transition>
    <p:fade/>
  </p:transition>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Google Shape;8651;p70"/>
          <p:cNvSpPr/>
          <p:nvPr/>
        </p:nvSpPr>
        <p:spPr>
          <a:xfrm>
            <a:off x="2013108" y="2588204"/>
            <a:ext cx="1380332" cy="1428252"/>
          </a:xfrm>
          <a:custGeom>
            <a:avLst/>
            <a:gdLst/>
            <a:ahLst/>
            <a:cxnLst/>
            <a:rect l="l" t="t" r="r" b="b"/>
            <a:pathLst>
              <a:path w="8670" h="8971" extrusionOk="0">
                <a:moveTo>
                  <a:pt x="7105" y="1302"/>
                </a:moveTo>
                <a:cubicBezTo>
                  <a:pt x="7105" y="1315"/>
                  <a:pt x="7105" y="1328"/>
                  <a:pt x="7105" y="1341"/>
                </a:cubicBezTo>
                <a:cubicBezTo>
                  <a:pt x="7118" y="1980"/>
                  <a:pt x="7183" y="2619"/>
                  <a:pt x="7183" y="3283"/>
                </a:cubicBezTo>
                <a:cubicBezTo>
                  <a:pt x="7170" y="4404"/>
                  <a:pt x="7183" y="5525"/>
                  <a:pt x="7222" y="6646"/>
                </a:cubicBezTo>
                <a:cubicBezTo>
                  <a:pt x="7235" y="6959"/>
                  <a:pt x="7222" y="7259"/>
                  <a:pt x="7222" y="7559"/>
                </a:cubicBezTo>
                <a:lnTo>
                  <a:pt x="7222" y="7585"/>
                </a:lnTo>
                <a:cubicBezTo>
                  <a:pt x="6935" y="7598"/>
                  <a:pt x="6649" y="7611"/>
                  <a:pt x="6362" y="7611"/>
                </a:cubicBezTo>
                <a:cubicBezTo>
                  <a:pt x="6101" y="7598"/>
                  <a:pt x="5853" y="7585"/>
                  <a:pt x="5593" y="7585"/>
                </a:cubicBezTo>
                <a:cubicBezTo>
                  <a:pt x="4159" y="7559"/>
                  <a:pt x="2712" y="7559"/>
                  <a:pt x="1291" y="7442"/>
                </a:cubicBezTo>
                <a:cubicBezTo>
                  <a:pt x="1278" y="7207"/>
                  <a:pt x="1239" y="6959"/>
                  <a:pt x="1226" y="6725"/>
                </a:cubicBezTo>
                <a:cubicBezTo>
                  <a:pt x="1200" y="6255"/>
                  <a:pt x="1187" y="5799"/>
                  <a:pt x="1200" y="5330"/>
                </a:cubicBezTo>
                <a:cubicBezTo>
                  <a:pt x="1213" y="4222"/>
                  <a:pt x="1226" y="3101"/>
                  <a:pt x="1343" y="1993"/>
                </a:cubicBezTo>
                <a:lnTo>
                  <a:pt x="1552" y="1993"/>
                </a:lnTo>
                <a:cubicBezTo>
                  <a:pt x="2138" y="1980"/>
                  <a:pt x="2725" y="1889"/>
                  <a:pt x="3312" y="1810"/>
                </a:cubicBezTo>
                <a:cubicBezTo>
                  <a:pt x="4576" y="1641"/>
                  <a:pt x="5840" y="1524"/>
                  <a:pt x="7105" y="1302"/>
                </a:cubicBezTo>
                <a:close/>
                <a:moveTo>
                  <a:pt x="7529" y="1"/>
                </a:moveTo>
                <a:cubicBezTo>
                  <a:pt x="7291" y="1"/>
                  <a:pt x="7059" y="53"/>
                  <a:pt x="6818" y="64"/>
                </a:cubicBezTo>
                <a:cubicBezTo>
                  <a:pt x="6375" y="103"/>
                  <a:pt x="5932" y="142"/>
                  <a:pt x="5488" y="194"/>
                </a:cubicBezTo>
                <a:cubicBezTo>
                  <a:pt x="4824" y="259"/>
                  <a:pt x="4107" y="350"/>
                  <a:pt x="3429" y="389"/>
                </a:cubicBezTo>
                <a:cubicBezTo>
                  <a:pt x="2686" y="429"/>
                  <a:pt x="1943" y="481"/>
                  <a:pt x="1213" y="598"/>
                </a:cubicBezTo>
                <a:cubicBezTo>
                  <a:pt x="913" y="624"/>
                  <a:pt x="652" y="728"/>
                  <a:pt x="509" y="976"/>
                </a:cubicBezTo>
                <a:cubicBezTo>
                  <a:pt x="470" y="1028"/>
                  <a:pt x="444" y="1080"/>
                  <a:pt x="431" y="1146"/>
                </a:cubicBezTo>
                <a:cubicBezTo>
                  <a:pt x="300" y="1524"/>
                  <a:pt x="287" y="1928"/>
                  <a:pt x="300" y="2332"/>
                </a:cubicBezTo>
                <a:cubicBezTo>
                  <a:pt x="209" y="3010"/>
                  <a:pt x="209" y="3700"/>
                  <a:pt x="209" y="4378"/>
                </a:cubicBezTo>
                <a:cubicBezTo>
                  <a:pt x="170" y="4769"/>
                  <a:pt x="144" y="5173"/>
                  <a:pt x="131" y="5565"/>
                </a:cubicBezTo>
                <a:cubicBezTo>
                  <a:pt x="105" y="6203"/>
                  <a:pt x="14" y="6842"/>
                  <a:pt x="14" y="7481"/>
                </a:cubicBezTo>
                <a:cubicBezTo>
                  <a:pt x="1" y="7911"/>
                  <a:pt x="157" y="8315"/>
                  <a:pt x="613" y="8419"/>
                </a:cubicBezTo>
                <a:cubicBezTo>
                  <a:pt x="1056" y="8550"/>
                  <a:pt x="1526" y="8524"/>
                  <a:pt x="1982" y="8550"/>
                </a:cubicBezTo>
                <a:cubicBezTo>
                  <a:pt x="2243" y="8563"/>
                  <a:pt x="2503" y="8589"/>
                  <a:pt x="2764" y="8615"/>
                </a:cubicBezTo>
                <a:cubicBezTo>
                  <a:pt x="3885" y="8745"/>
                  <a:pt x="5006" y="8902"/>
                  <a:pt x="6140" y="8941"/>
                </a:cubicBezTo>
                <a:cubicBezTo>
                  <a:pt x="6220" y="8945"/>
                  <a:pt x="6302" y="8946"/>
                  <a:pt x="6383" y="8946"/>
                </a:cubicBezTo>
                <a:cubicBezTo>
                  <a:pt x="6581" y="8946"/>
                  <a:pt x="6781" y="8937"/>
                  <a:pt x="6974" y="8928"/>
                </a:cubicBezTo>
                <a:cubicBezTo>
                  <a:pt x="7118" y="8941"/>
                  <a:pt x="7274" y="8941"/>
                  <a:pt x="7418" y="8941"/>
                </a:cubicBezTo>
                <a:cubicBezTo>
                  <a:pt x="7568" y="8956"/>
                  <a:pt x="7723" y="8971"/>
                  <a:pt x="7877" y="8971"/>
                </a:cubicBezTo>
                <a:cubicBezTo>
                  <a:pt x="7990" y="8971"/>
                  <a:pt x="8103" y="8963"/>
                  <a:pt x="8213" y="8941"/>
                </a:cubicBezTo>
                <a:cubicBezTo>
                  <a:pt x="8643" y="8810"/>
                  <a:pt x="8565" y="8093"/>
                  <a:pt x="8604" y="7741"/>
                </a:cubicBezTo>
                <a:cubicBezTo>
                  <a:pt x="8669" y="6620"/>
                  <a:pt x="8539" y="5499"/>
                  <a:pt x="8487" y="4378"/>
                </a:cubicBezTo>
                <a:cubicBezTo>
                  <a:pt x="8434" y="3453"/>
                  <a:pt x="8330" y="2527"/>
                  <a:pt x="8252" y="1589"/>
                </a:cubicBezTo>
                <a:cubicBezTo>
                  <a:pt x="8200" y="1341"/>
                  <a:pt x="8239" y="637"/>
                  <a:pt x="8096" y="350"/>
                </a:cubicBezTo>
                <a:lnTo>
                  <a:pt x="8082" y="350"/>
                </a:lnTo>
                <a:cubicBezTo>
                  <a:pt x="8056" y="181"/>
                  <a:pt x="7952" y="51"/>
                  <a:pt x="7704" y="11"/>
                </a:cubicBezTo>
                <a:cubicBezTo>
                  <a:pt x="7645" y="4"/>
                  <a:pt x="7587" y="1"/>
                  <a:pt x="7529" y="1"/>
                </a:cubicBezTo>
                <a:close/>
              </a:path>
            </a:pathLst>
          </a:custGeom>
          <a:solidFill>
            <a:schemeClr val="bg1"/>
          </a:solidFill>
          <a:ln w="76200">
            <a:solidFill>
              <a:schemeClr val="tx1"/>
            </a:solid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5" name="Rectangle 24">
            <a:extLst>
              <a:ext uri="{FF2B5EF4-FFF2-40B4-BE49-F238E27FC236}">
                <a16:creationId xmlns:a16="http://schemas.microsoft.com/office/drawing/2014/main" id="{9B9B23AA-050D-4543-80A0-873FE31AFFF7}"/>
              </a:ext>
            </a:extLst>
          </p:cNvPr>
          <p:cNvSpPr/>
          <p:nvPr/>
        </p:nvSpPr>
        <p:spPr>
          <a:xfrm>
            <a:off x="2446471" y="2869098"/>
            <a:ext cx="513606" cy="936923"/>
          </a:xfrm>
          <a:prstGeom prst="rect">
            <a:avLst/>
          </a:prstGeom>
        </p:spPr>
        <p:txBody>
          <a:bodyPr wrap="none" lIns="0" tIns="0" rIns="0" bIns="0">
            <a:spAutoFit/>
          </a:bodyPr>
          <a:lstStyle/>
          <a:p>
            <a:pPr lvl="0">
              <a:lnSpc>
                <a:spcPct val="110000"/>
              </a:lnSpc>
            </a:pPr>
            <a:r>
              <a:rPr lang="fr-CI" sz="42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9.3</a:t>
            </a:r>
          </a:p>
        </p:txBody>
      </p:sp>
      <p:sp>
        <p:nvSpPr>
          <p:cNvPr id="10" name="Rectangle 9"/>
          <p:cNvSpPr/>
          <p:nvPr/>
        </p:nvSpPr>
        <p:spPr>
          <a:xfrm>
            <a:off x="3938554" y="2462184"/>
            <a:ext cx="3816000" cy="1200329"/>
          </a:xfrm>
          <a:prstGeom prst="rect">
            <a:avLst/>
          </a:prstGeom>
        </p:spPr>
        <p:txBody>
          <a:bodyPr wrap="square">
            <a:spAutoFit/>
          </a:bodyPr>
          <a:lstStyle/>
          <a:p>
            <a:r>
              <a:rPr lang="fr-CI" sz="3600" b="1" noProof="0">
                <a:solidFill>
                  <a:schemeClr val="bg1"/>
                </a:solidFill>
                <a:latin typeface="Helvetica" panose="020B0604020202020204" pitchFamily="34" charset="0"/>
                <a:cs typeface="Helvetica" panose="020B0604020202020204" pitchFamily="34" charset="0"/>
              </a:rPr>
              <a:t>Fonds propres et placements</a:t>
            </a:r>
          </a:p>
        </p:txBody>
      </p:sp>
      <p:pic>
        <p:nvPicPr>
          <p:cNvPr id="9" name="Image 8">
            <a:extLst>
              <a:ext uri="{FF2B5EF4-FFF2-40B4-BE49-F238E27FC236}">
                <a16:creationId xmlns:a16="http://schemas.microsoft.com/office/drawing/2014/main" id="{2C356854-0685-DCEF-E2F6-65D5E9653A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1274" y="-185107"/>
            <a:ext cx="3179518" cy="1268781"/>
          </a:xfrm>
          <a:prstGeom prst="rect">
            <a:avLst/>
          </a:prstGeom>
        </p:spPr>
      </p:pic>
      <p:sp>
        <p:nvSpPr>
          <p:cNvPr id="6" name="Rectangle 5"/>
          <p:cNvSpPr/>
          <p:nvPr/>
        </p:nvSpPr>
        <p:spPr>
          <a:xfrm>
            <a:off x="3938554" y="3337559"/>
            <a:ext cx="3816000" cy="923330"/>
          </a:xfrm>
          <a:prstGeom prst="rect">
            <a:avLst/>
          </a:prstGeom>
        </p:spPr>
        <p:txBody>
          <a:bodyPr wrap="square">
            <a:spAutoFit/>
          </a:bodyPr>
          <a:lstStyle/>
          <a:p>
            <a:br>
              <a:rPr lang="fr-CI" noProof="0">
                <a:solidFill>
                  <a:schemeClr val="bg1"/>
                </a:solidFill>
              </a:rPr>
            </a:br>
            <a:r>
              <a:rPr lang="fr-CI" noProof="0">
                <a:solidFill>
                  <a:srgbClr val="EFAC62"/>
                </a:solidFill>
                <a:latin typeface="Helvetica" panose="020B0604020202020204" pitchFamily="34" charset="0"/>
                <a:ea typeface="Open Sans Light" panose="020B0306030504020204" pitchFamily="34" charset="0"/>
                <a:cs typeface="Helvetica" panose="020B0604020202020204" pitchFamily="34" charset="0"/>
              </a:rPr>
              <a:t>Fonds propres, placements, actifs immobilisés, adéquation aux engagements</a:t>
            </a:r>
          </a:p>
        </p:txBody>
      </p:sp>
      <p:pic>
        <p:nvPicPr>
          <p:cNvPr id="11" name="Imag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5561" y="2415481"/>
            <a:ext cx="1566911" cy="1600975"/>
          </a:xfrm>
          <a:prstGeom prst="rect">
            <a:avLst/>
          </a:prstGeom>
        </p:spPr>
      </p:pic>
    </p:spTree>
    <p:extLst>
      <p:ext uri="{BB962C8B-B14F-4D97-AF65-F5344CB8AC3E}">
        <p14:creationId xmlns:p14="http://schemas.microsoft.com/office/powerpoint/2010/main" val="2490111428"/>
      </p:ext>
    </p:extLst>
  </p:cSld>
  <p:clrMapOvr>
    <a:masterClrMapping/>
  </p:clrMapOvr>
  <p:transition>
    <p:fade/>
  </p:transition>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Calcul pas à pas : fonds propres 2025</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pertes reportées dépassent les réserves, d'où des fonds propres négatifs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Fonds propres 2025 = -876 142 111 FCFA + résultat 437 899 911 FCFA = -438 242 200 FCFA</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 des comptes 2025</a:t>
            </a:r>
          </a:p>
        </p:txBody>
      </p:sp>
      <p:sp>
        <p:nvSpPr>
          <p:cNvPr id="31" name="TextBox 30"/>
          <p:cNvSpPr txBox="1"/>
          <p:nvPr/>
        </p:nvSpPr>
        <p:spPr>
          <a:xfrm>
            <a:off x="503999" y="1350000"/>
            <a:ext cx="7703999" cy="180000"/>
          </a:xfrm>
          <a:prstGeom prst="rect">
            <a:avLst/>
          </a:prstGeom>
          <a:noFill/>
        </p:spPr>
        <p:txBody>
          <a:bodyPr wrap="square" anchor="t" lIns="54000" rIns="54000"/>
          <a:lstStyle/>
          <a:p>
            <a:pPr algn="l"/>
            <a:r>
              <a:rPr sz="900" b="0">
                <a:solidFill>
                  <a:srgbClr val="53565A"/>
                </a:solidFill>
                <a:latin typeface="Helvetica"/>
              </a:rPr>
              <a:t>Extrait : AUDIT ADENKA\DAFC\2025\BALANCE FPPN 2025.xlsx</a:t>
            </a:r>
          </a:p>
        </p:txBody>
      </p:sp>
      <p:graphicFrame>
        <p:nvGraphicFramePr>
          <p:cNvPr id="32" name="Table 31"/>
          <p:cNvGraphicFramePr>
            <a:graphicFrameLocks noGrp="1"/>
          </p:cNvGraphicFramePr>
          <p:nvPr/>
        </p:nvGraphicFramePr>
        <p:xfrm>
          <a:off x="503999" y="1548000"/>
          <a:ext cx="7704000" cy="1680072"/>
        </p:xfrm>
        <a:graphic>
          <a:graphicData uri="http://schemas.openxmlformats.org/drawingml/2006/table">
            <a:tbl>
              <a:tblPr firstRow="0" bandRow="0">
                <a:tableStyleId>{5940675A-B579-460E-94D1-54222C63F5DA}</a:tableStyleId>
              </a:tblPr>
              <a:tblGrid>
                <a:gridCol w="1224000"/>
                <a:gridCol w="4104000"/>
                <a:gridCol w="2376000"/>
              </a:tblGrid>
              <a:tr h="210009">
                <a:tc>
                  <a:txBody>
                    <a:bodyPr/>
                    <a:lstStyle/>
                    <a:p>
                      <a:pPr marL="0" indent="0" lvl="0">
                        <a:buNone/>
                      </a:pPr>
                      <a:r>
                        <a:rPr sz="1000" b="1">
                          <a:solidFill>
                            <a:srgbClr val="FFFFFF"/>
                          </a:solidFill>
                          <a:latin typeface="Helvetica"/>
                        </a:rPr>
                        <a:t>Compte</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Intitulé (balance 2025)</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Montant</a:t>
                      </a:r>
                    </a:p>
                  </a:txBody>
                  <a:tcPr marL="43200" marR="43200" marT="14400" marB="14400" anchor="ctr">
                    <a:solidFill>
                      <a:srgbClr val="060606"/>
                    </a:solidFill>
                  </a:tcPr>
                </a:tc>
              </a:tr>
              <a:tr h="210009">
                <a:tc>
                  <a:txBody>
                    <a:bodyPr/>
                    <a:lstStyle/>
                    <a:p>
                      <a:pPr marL="0" indent="0" lvl="0">
                        <a:buNone/>
                      </a:pPr>
                      <a:r>
                        <a:rPr sz="1000" b="1">
                          <a:solidFill>
                            <a:srgbClr val="060606"/>
                          </a:solidFill>
                          <a:latin typeface="Helvetica"/>
                        </a:rPr>
                        <a:t>10620000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Réévaluation matériels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2 899 400 000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11100000</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Réserves légale</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820 232 819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11880000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RESERVES FACULTATIVES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677 208 998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12900000</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Report à nouveau débiteur</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-5 272 983 928 FCFA</a:t>
                      </a:r>
                    </a:p>
                  </a:txBody>
                  <a:tcPr marL="43200" marR="43200" marT="14400" marB="14400" anchor="ctr">
                    <a:solidFill>
                      <a:srgbClr val="F2F2F2"/>
                    </a:solidFill>
                  </a:tcPr>
                </a:tc>
              </a:tr>
              <a:tr h="210009">
                <a:tc>
                  <a:txBody>
                    <a:bodyPr/>
                    <a:lstStyle/>
                    <a:p>
                      <a:pPr marL="0" indent="0" lvl="0">
                        <a:buNone/>
                      </a:pP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Sous-total capitaux propres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-876 142 111 FCFA</a:t>
                      </a:r>
                    </a:p>
                  </a:txBody>
                  <a:tcPr marL="43200" marR="43200" marT="14400" marB="14400" anchor="ctr">
                    <a:solidFill>
                      <a:srgbClr val="FFFFFF"/>
                    </a:solidFill>
                  </a:tcPr>
                </a:tc>
              </a:tr>
              <a:tr h="210009">
                <a:tc>
                  <a:txBody>
                    <a:bodyPr/>
                    <a:lstStyle/>
                    <a:p>
                      <a:pPr marL="0" indent="0" lvl="0">
                        <a:buNone/>
                      </a:pP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Résultat de l'exercice 2025</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437 899 911 FCFA</a:t>
                      </a:r>
                    </a:p>
                  </a:txBody>
                  <a:tcPr marL="43200" marR="43200" marT="14400" marB="14400" anchor="ctr">
                    <a:solidFill>
                      <a:srgbClr val="F2F2F2"/>
                    </a:solidFill>
                  </a:tcPr>
                </a:tc>
              </a:tr>
              <a:tr h="210009">
                <a:tc>
                  <a:txBody>
                    <a:bodyPr/>
                    <a:lstStyle/>
                    <a:p>
                      <a:pPr marL="0" indent="0" lvl="0">
                        <a:buNone/>
                      </a:pP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Fonds propres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-438 242 200 FCFA</a:t>
                      </a:r>
                    </a:p>
                  </a:txBody>
                  <a:tcPr marL="43200" marR="43200" marT="14400" marB="14400" anchor="ctr">
                    <a:solidFill>
                      <a:srgbClr val="FFFFFF"/>
                    </a:solidFill>
                  </a:tcPr>
                </a:tc>
              </a:tr>
            </a:tbl>
          </a:graphicData>
        </a:graphic>
      </p:graphicFrame>
      <p:sp>
        <p:nvSpPr>
          <p:cNvPr id="33" name="Rounded Rectangle 32"/>
          <p:cNvSpPr/>
          <p:nvPr/>
        </p:nvSpPr>
        <p:spPr>
          <a:xfrm>
            <a:off x="5813999" y="2377238"/>
            <a:ext cx="2411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8027999" y="222603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5" name="Rounded Rectangle 34"/>
          <p:cNvSpPr/>
          <p:nvPr/>
        </p:nvSpPr>
        <p:spPr>
          <a:xfrm>
            <a:off x="5813999" y="3007267"/>
            <a:ext cx="2411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027999" y="2856067"/>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37" name="Oval 36"/>
          <p:cNvSpPr/>
          <p:nvPr/>
        </p:nvSpPr>
        <p:spPr>
          <a:xfrm>
            <a:off x="8424000" y="1548000"/>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8" name="TextBox 37"/>
          <p:cNvSpPr txBox="1"/>
          <p:nvPr/>
        </p:nvSpPr>
        <p:spPr>
          <a:xfrm>
            <a:off x="8784000" y="1530000"/>
            <a:ext cx="2952000" cy="484084"/>
          </a:xfrm>
          <a:prstGeom prst="rect">
            <a:avLst/>
          </a:prstGeom>
          <a:noFill/>
        </p:spPr>
        <p:txBody>
          <a:bodyPr wrap="square" anchor="t" lIns="54000" rIns="54000"/>
          <a:lstStyle/>
          <a:p>
            <a:pPr algn="l"/>
            <a:r>
              <a:rPr sz="1200" b="0">
                <a:solidFill>
                  <a:srgbClr val="060606"/>
                </a:solidFill>
                <a:latin typeface="Helvetica"/>
              </a:rPr>
              <a:t>Les pertes reportées (compte 129) dépassent l'ensemble des réserves.</a:t>
            </a:r>
          </a:p>
        </p:txBody>
      </p:sp>
      <p:sp>
        <p:nvSpPr>
          <p:cNvPr id="39" name="Oval 38"/>
          <p:cNvSpPr/>
          <p:nvPr/>
        </p:nvSpPr>
        <p:spPr>
          <a:xfrm>
            <a:off x="8424000" y="2122084"/>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40" name="TextBox 39"/>
          <p:cNvSpPr txBox="1"/>
          <p:nvPr/>
        </p:nvSpPr>
        <p:spPr>
          <a:xfrm>
            <a:off x="8784000" y="2104084"/>
            <a:ext cx="2952000" cy="484084"/>
          </a:xfrm>
          <a:prstGeom prst="rect">
            <a:avLst/>
          </a:prstGeom>
          <a:noFill/>
        </p:spPr>
        <p:txBody>
          <a:bodyPr wrap="square" anchor="t" lIns="54000" rIns="54000"/>
          <a:lstStyle/>
          <a:p>
            <a:pPr algn="l"/>
            <a:r>
              <a:rPr sz="1200" b="0">
                <a:solidFill>
                  <a:srgbClr val="060606"/>
                </a:solidFill>
                <a:latin typeface="Helvetica"/>
              </a:rPr>
              <a:t>Les fonds propres restent négatifs malgré le résultat positif de 2025.</a:t>
            </a:r>
          </a:p>
        </p:txBody>
      </p:sp>
      <p:sp>
        <p:nvSpPr>
          <p:cNvPr id="41" name="Oval 40"/>
          <p:cNvSpPr/>
          <p:nvPr/>
        </p:nvSpPr>
        <p:spPr>
          <a:xfrm>
            <a:off x="8424000" y="269616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42" name="TextBox 41"/>
          <p:cNvSpPr txBox="1"/>
          <p:nvPr/>
        </p:nvSpPr>
        <p:spPr>
          <a:xfrm>
            <a:off x="8784000" y="2678168"/>
            <a:ext cx="2952000" cy="484084"/>
          </a:xfrm>
          <a:prstGeom prst="rect">
            <a:avLst/>
          </a:prstGeom>
          <a:noFill/>
        </p:spPr>
        <p:txBody>
          <a:bodyPr wrap="square" anchor="t" lIns="54000" rIns="54000"/>
          <a:lstStyle/>
          <a:p>
            <a:pPr algn="l"/>
            <a:r>
              <a:rPr sz="1200" b="0">
                <a:solidFill>
                  <a:srgbClr val="060606"/>
                </a:solidFill>
                <a:latin typeface="Helvetica"/>
              </a:rPr>
              <a:t>Les excédents futurs devront absorber ce solde négatif.</a:t>
            </a:r>
          </a:p>
        </p:txBody>
      </p:sp>
      <p:sp>
        <p:nvSpPr>
          <p:cNvPr id="43" name="TextBox 42"/>
          <p:cNvSpPr txBox="1"/>
          <p:nvPr/>
        </p:nvSpPr>
        <p:spPr>
          <a:xfrm>
            <a:off x="8424000" y="3342252"/>
            <a:ext cx="3312000" cy="2525747"/>
          </a:xfrm>
          <a:prstGeom prst="rect">
            <a:avLst/>
          </a:prstGeom>
          <a:noFill/>
        </p:spPr>
        <p:txBody>
          <a:bodyPr wrap="square" lIns="54000" rIns="54000"/>
          <a:lstStyle/>
          <a:p>
            <a:pPr algn="just">
              <a:spcAft>
                <a:spcPts val="600"/>
              </a:spcAft>
            </a:pPr>
            <a:r>
              <a:rPr sz="1200" b="1">
                <a:solidFill>
                  <a:srgbClr val="060606"/>
                </a:solidFill>
                <a:latin typeface="Helvetica"/>
              </a:rPr>
              <a:t>Les réserves existent, mais les pertes passées les dépassent.</a:t>
            </a:r>
            <a:r>
              <a:rPr sz="1200" b="0">
                <a:solidFill>
                  <a:srgbClr val="060606"/>
                </a:solidFill>
                <a:latin typeface="Helvetica"/>
              </a:rPr>
              <a:t> Le compte 10620000, intitulé « Réévaluation matériels » de 2020 à 2025, est le plus important des comptes positifs. Le chef comptable l'explique par la réévaluation du terrain du siège (partie 10).</a:t>
            </a:r>
          </a:p>
          <a:p>
            <a:pPr algn="just">
              <a:spcAft>
                <a:spcPts val="600"/>
              </a:spcAft>
            </a:pPr>
            <a:r>
              <a:rPr sz="1200" b="0">
                <a:solidFill>
                  <a:srgbClr val="060606"/>
                </a:solidFill>
                <a:latin typeface="Helvetica"/>
              </a:rPr>
              <a:t>La marge de solvabilité de la Décision n° 05/2022 se calcule sur ces réserves : selon que les pertes reportées sont déduites ou non, le FPPN est conforme ou non (partie 10).</a:t>
            </a:r>
          </a:p>
        </p:txBody>
      </p:sp>
      <p:sp>
        <p:nvSpPr>
          <p:cNvPr id="44" name="TextBox 4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1767441663"/>
      </p:ext>
    </p:extLst>
  </p:cSld>
  <p:clrMapOvr>
    <a:masterClrMapping/>
  </p:clrMapOvr>
  <p:transition>
    <p:fade/>
  </p:transition>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Fonds propres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fonds propres restent négatifs malgré six années d'excédents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-6 743 081 733 FCFA fin 2020, -438 242 200 FCFA fin 2025, -879 498 700 FCFA au 31/08/2026</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32 : Fonds propres et résultat de l'exercice</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millions de FCFA</a:t>
            </a:r>
          </a:p>
        </p:txBody>
      </p:sp>
      <p:graphicFrame>
        <p:nvGraphicFramePr>
          <p:cNvPr id="32" name="Chart 31"/>
          <p:cNvGraphicFramePr>
            <a:graphicFrameLocks noGrp="1"/>
          </p:cNvGraphicFramePr>
          <p:nvPr/>
        </p:nvGraphicFramePr>
        <p:xfrm>
          <a:off x="503999" y="1782000"/>
          <a:ext cx="6552000" cy="3600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Les excédents de 2020 à 2025 réduisent l'écart sans le combler.</a:t>
            </a:r>
            <a:r>
              <a:rPr sz="1400" b="0">
                <a:solidFill>
                  <a:srgbClr val="060606"/>
                </a:solidFill>
                <a:latin typeface="Helvetica"/>
              </a:rPr>
              <a:t> Les fonds propres passent de -6 743 081 733 FCFA à -438 242 200 FCFA.</a:t>
            </a:r>
          </a:p>
          <a:p>
            <a:pPr algn="just">
              <a:spcAft>
                <a:spcPts val="600"/>
              </a:spcAft>
            </a:pPr>
            <a:r>
              <a:rPr sz="1400" b="1">
                <a:solidFill>
                  <a:srgbClr val="060606"/>
                </a:solidFill>
                <a:latin typeface="Helvetica"/>
              </a:rPr>
              <a:t>Le déficit des huit premiers mois de 2026 inverse la tendance.</a:t>
            </a:r>
            <a:r>
              <a:rPr sz="1400" b="0">
                <a:solidFill>
                  <a:srgbClr val="060606"/>
                </a:solidFill>
                <a:latin typeface="Helvetica"/>
              </a:rPr>
              <a:t> Les fonds propres reculent à nouveau au 31/08/2026.</a:t>
            </a:r>
          </a:p>
          <a:p>
            <a:pPr algn="just">
              <a:spcAft>
                <a:spcPts val="600"/>
              </a:spcAft>
            </a:pPr>
            <a:r>
              <a:rPr sz="1400" b="1">
                <a:solidFill>
                  <a:srgbClr val="060606"/>
                </a:solidFill>
                <a:latin typeface="Helvetica"/>
              </a:rPr>
              <a:t>Le ratio des fonds propres et assimilés vaut 0,22 en 2025, pour une norme d'au moins 1.</a:t>
            </a:r>
          </a:p>
          <a:p>
            <a:pPr algn="just">
              <a:spcAft>
                <a:spcPts val="600"/>
              </a:spcAft>
            </a:pPr>
            <a:r>
              <a:rPr sz="1400" b="0">
                <a:solidFill>
                  <a:srgbClr val="060606"/>
                </a:solidFill>
                <a:latin typeface="Helvetica"/>
              </a:rPr>
              <a:t>Au rythme des excédents de 2024 et 2025, il faudrait encore au moins un exercice excédentaire pour revenir à des fonds propres positifs. Le déficit de 2026 éloigne cette échéance : le redressement dépend de la maîtrise de la sinistralité et des frais.</a:t>
            </a:r>
          </a:p>
        </p:txBody>
      </p:sp>
      <p:sp>
        <p:nvSpPr>
          <p:cNvPr id="35" name="TextBox 34"/>
          <p:cNvSpPr txBox="1"/>
          <p:nvPr/>
        </p:nvSpPr>
        <p:spPr>
          <a:xfrm>
            <a:off x="503999" y="5382000"/>
            <a:ext cx="6552000" cy="450000"/>
          </a:xfrm>
          <a:prstGeom prst="rect">
            <a:avLst/>
          </a:prstGeom>
          <a:noFill/>
        </p:spPr>
        <p:txBody>
          <a:bodyPr wrap="square" anchor="t" lIns="54000" rIns="54000"/>
          <a:lstStyle/>
          <a:p>
            <a:pPr algn="l"/>
            <a:r>
              <a:rPr sz="850" b="0">
                <a:solidFill>
                  <a:srgbClr val="53565A"/>
                </a:solidFill>
                <a:latin typeface="Helvetica"/>
              </a:rPr>
              <a:t>Valable pour : comptes 10, 11, 12 et résultat des balances « BALANCE FORMAT EXCEL DE 09-2020 AU 31-12-2020.xlsx » à « BALANCE FPPN DU 01-01-2026 AU 31-08-2026.xlsx », au 31/12 de 2020 à 2025 et au 31/08/2026. Sans retraitement des provisions.</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3086861193"/>
      </p:ext>
    </p:extLst>
  </p:cSld>
  <p:clrMapOvr>
    <a:masterClrMapping/>
  </p:clrMapOvr>
  <p:transition>
    <p:fade/>
  </p:transition>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Placements du FPPN</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Un dépôt mensuel pour payer l'EFC, un dépôt PEP de cinq ans, un FCP depuis 2025</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Encours moyen réellement placé en 2025 : 763 752 135 FCFA. Au 31/08/2026 : DAT BOA 485 541 804 FCFA et FCP 500 000 000 FCFA</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grands livres des comptes du FPPN de 2021 au 31/08/2026. Balances des comptes du FPPN de 2020 au 31/08/2026 (provisoire), fichiers « BALANCE … » listés en annexe « Fichiers sources ». Traitements Adenka. Entretien du 19/10/2026 (14h) avec M. Koffi, chef comptable</a:t>
            </a:r>
          </a:p>
        </p:txBody>
      </p:sp>
      <p:sp>
        <p:nvSpPr>
          <p:cNvPr id="31" name="TextBox 30"/>
          <p:cNvSpPr txBox="1"/>
          <p:nvPr/>
        </p:nvSpPr>
        <p:spPr>
          <a:xfrm>
            <a:off x="503999" y="1386000"/>
            <a:ext cx="11160000" cy="216000"/>
          </a:xfrm>
          <a:prstGeom prst="rect">
            <a:avLst/>
          </a:prstGeom>
          <a:noFill/>
        </p:spPr>
        <p:txBody>
          <a:bodyPr wrap="square" anchor="t" lIns="54000" rIns="54000"/>
          <a:lstStyle/>
          <a:p>
            <a:pPr algn="ctr"/>
            <a:r>
              <a:rPr sz="1200" b="0">
                <a:solidFill>
                  <a:srgbClr val="EFAC62"/>
                </a:solidFill>
                <a:latin typeface="Helvetica"/>
              </a:rPr>
              <a:t>Tableau 78 : Encours des placements lus dans les grands livres (DAT et FCP)</a:t>
            </a:r>
          </a:p>
        </p:txBody>
      </p:sp>
      <p:graphicFrame>
        <p:nvGraphicFramePr>
          <p:cNvPr id="32" name="Table 31"/>
          <p:cNvGraphicFramePr>
            <a:graphicFrameLocks noGrp="1"/>
          </p:cNvGraphicFramePr>
          <p:nvPr/>
        </p:nvGraphicFramePr>
        <p:xfrm>
          <a:off x="503999" y="1655999"/>
          <a:ext cx="11159996" cy="1500545"/>
        </p:xfrm>
        <a:graphic>
          <a:graphicData uri="http://schemas.openxmlformats.org/drawingml/2006/table">
            <a:tbl>
              <a:tblPr firstRow="0" bandRow="0">
                <a:tableStyleId>{5940675A-B579-460E-94D1-54222C63F5DA}</a:tableStyleId>
              </a:tblPr>
              <a:tblGrid>
                <a:gridCol w="1080000"/>
                <a:gridCol w="1655999"/>
                <a:gridCol w="1584000"/>
                <a:gridCol w="1655999"/>
                <a:gridCol w="1872000"/>
                <a:gridCol w="1655999"/>
                <a:gridCol w="1655999"/>
              </a:tblGrid>
              <a:tr h="331937">
                <a:tc>
                  <a:txBody>
                    <a:bodyPr/>
                    <a:lstStyle/>
                    <a:p>
                      <a:pPr marL="0" indent="0" lvl="0">
                        <a:buNone/>
                      </a:pPr>
                      <a:r>
                        <a:rPr sz="900" b="1">
                          <a:solidFill>
                            <a:srgbClr val="FFFFFF"/>
                          </a:solidFill>
                          <a:latin typeface="Helvetica"/>
                        </a:rPr>
                        <a:t>Exercice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DAT EFC : encours moyen</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DAT EFC : plus haut</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DAT PEP : encours moyen</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DAT Orabank et FCP : encours moyen</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Total : encours moyen</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Total à la clôture</a:t>
                      </a:r>
                    </a:p>
                  </a:txBody>
                  <a:tcPr marL="43200" marR="43200" marT="14400" marB="14400" anchor="ctr">
                    <a:solidFill>
                      <a:srgbClr val="060606"/>
                    </a:solidFill>
                  </a:tcPr>
                </a:tc>
              </a:tr>
              <a:tr h="194768">
                <a:tc>
                  <a:txBody>
                    <a:bodyPr/>
                    <a:lstStyle/>
                    <a:p>
                      <a:pPr marL="0" indent="0" lvl="0">
                        <a:buNone/>
                      </a:pPr>
                      <a:r>
                        <a:rPr sz="900" b="1">
                          <a:solidFill>
                            <a:srgbClr val="060606"/>
                          </a:solidFill>
                          <a:latin typeface="Helvetica"/>
                        </a:rPr>
                        <a:t>2021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196 540 324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366 316 656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505 383 858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701 924 182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505 383 858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2022</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173 255 937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365 290 127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505 383 858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24 640 000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703 279 795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563 924 385 FCFA</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2023</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136 861 631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303 458 525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505 383 858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17 440 000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659 685 489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505 383 858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2024</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211 637 502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447 116 677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505 383 858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717 021 360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505 383 858 FCFA</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2025</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266 146 860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558 880 052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418 153 219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79 452 055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763 752 135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500 000 000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2026 (8 mois)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247 695 588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485 541 804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500 000 000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747 695 588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985 541 804 FCFA</a:t>
                      </a:r>
                    </a:p>
                  </a:txBody>
                  <a:tcPr marL="43200" marR="43200" marT="14400" marB="14400" anchor="ctr">
                    <a:solidFill>
                      <a:srgbClr val="F2F2F2"/>
                    </a:solidFill>
                  </a:tcPr>
                </a:tc>
              </a:tr>
            </a:tbl>
          </a:graphicData>
        </a:graphic>
      </p:graphicFrame>
      <p:sp>
        <p:nvSpPr>
          <p:cNvPr id="33" name="TextBox 32"/>
          <p:cNvSpPr txBox="1"/>
          <p:nvPr/>
        </p:nvSpPr>
        <p:spPr>
          <a:xfrm>
            <a:off x="503999" y="3264549"/>
            <a:ext cx="11232000" cy="162000"/>
          </a:xfrm>
          <a:prstGeom prst="rect">
            <a:avLst/>
          </a:prstGeom>
          <a:noFill/>
        </p:spPr>
        <p:txBody>
          <a:bodyPr wrap="square" anchor="t" lIns="54000" rIns="54000"/>
          <a:lstStyle/>
          <a:p>
            <a:pPr algn="l"/>
            <a:r>
              <a:rPr sz="850" b="0">
                <a:solidFill>
                  <a:srgbClr val="53565A"/>
                </a:solidFill>
                <a:latin typeface="Helvetica"/>
              </a:rPr>
              <a:t>Valable pour : comptes 52210200 et 52210201 (DAT BOA) et 53300001 (FCP) des balances 2021 à 2026. Décision de placement selon l'entretien du 19/10/2026.</a:t>
            </a:r>
          </a:p>
        </p:txBody>
      </p:sp>
      <p:sp>
        <p:nvSpPr>
          <p:cNvPr id="34" name="TextBox 33"/>
          <p:cNvSpPr txBox="1"/>
          <p:nvPr/>
        </p:nvSpPr>
        <p:spPr>
          <a:xfrm>
            <a:off x="503999" y="3570549"/>
            <a:ext cx="11232000" cy="2297450"/>
          </a:xfrm>
          <a:prstGeom prst="rect">
            <a:avLst/>
          </a:prstGeom>
          <a:noFill/>
        </p:spPr>
        <p:txBody>
          <a:bodyPr wrap="square" lIns="54000" rIns="54000"/>
          <a:lstStyle/>
          <a:p>
            <a:pPr algn="just">
              <a:spcAft>
                <a:spcPts val="600"/>
              </a:spcAft>
            </a:pPr>
            <a:r>
              <a:rPr sz="1300" b="1">
                <a:solidFill>
                  <a:srgbClr val="060606"/>
                </a:solidFill>
                <a:latin typeface="Helvetica"/>
              </a:rPr>
              <a:t>Le DAT EFC (compte 52210200) est un dépôt d'un mois, renouvelé chaque mois et augmenté de l'épargne EFC précomptée.</a:t>
            </a:r>
            <a:r>
              <a:rPr sz="1300" b="0">
                <a:solidFill>
                  <a:srgbClr val="060606"/>
                </a:solidFill>
                <a:latin typeface="Helvetica"/>
              </a:rPr>
              <a:t> En 2024, il passe de 80 126 234 FCFA fin février à 447 116 677 FCFA fin novembre, puis il est viré au FPPN le 12/12/2024 pour payer l'EFC. Les mouvements annuels du compte additionnent ces renouvellements et ne mesurent pas le montant placé.</a:t>
            </a:r>
          </a:p>
          <a:p>
            <a:pPr algn="just">
              <a:spcAft>
                <a:spcPts val="600"/>
              </a:spcAft>
            </a:pPr>
            <a:r>
              <a:rPr sz="1300" b="1">
                <a:solidFill>
                  <a:srgbClr val="060606"/>
                </a:solidFill>
                <a:latin typeface="Helvetica"/>
              </a:rPr>
              <a:t>Le DAT PEP (compte 52210300) est resté placé de 2020 à 2025 pour 505 383 858 FCFA.</a:t>
            </a:r>
            <a:r>
              <a:rPr sz="1300" b="0">
                <a:solidFill>
                  <a:srgbClr val="060606"/>
                </a:solidFill>
                <a:latin typeface="Helvetica"/>
              </a:rPr>
              <a:t> Il est soldé le 30/10/2025 pour 638 047 119 FCFA, dont 132 663 262 FCFA d'intérêts enregistrés en une fois en 2025. </a:t>
            </a:r>
            <a:r>
              <a:rPr sz="1300" b="0">
                <a:solidFill>
                  <a:srgbClr val="060606"/>
                </a:solidFill>
                <a:highlight>
                  <a:srgbClr val="FFFF00"/>
                </a:highlight>
                <a:latin typeface="Helvetica"/>
              </a:rPr>
              <a:t>Le FCP de 500 000 000 FCFA a un rendement annoncé de 8 à 10 %, non garanti</a:t>
            </a:r>
            <a:r>
              <a:rPr sz="1300" b="0">
                <a:solidFill>
                  <a:srgbClr val="060606"/>
                </a:solidFill>
                <a:latin typeface="Helvetica"/>
              </a:rPr>
              <a:t> : il n'est pas revalorisé dans les comptes.</a:t>
            </a:r>
          </a:p>
          <a:p>
            <a:pPr algn="just">
              <a:spcAft>
                <a:spcPts val="600"/>
              </a:spcAft>
            </a:pPr>
            <a:r>
              <a:rPr sz="1300" b="0">
                <a:solidFill>
                  <a:srgbClr val="060606"/>
                </a:solidFill>
                <a:latin typeface="Helvetica"/>
              </a:rPr>
              <a:t>Le DAT EFC finance les paiements de fin d'année de l'EFC : ce n'est pas une réserve. Seuls le DAT PEP, puis le FCP, ont été des placements durables, face à une épargne de 15 743 516 391 FCFA au 31/08/2026.</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Surligné en jaune : affirmation à confirmer par une pièce ou une réponse écrite du FPPN. Sigles : FPPN : Fonds de prévoyance de la Police nationale | PEP : Plan Épargne Plus | EFC : entraide fin de carrière | FCP : fonds commun de placement | DAT : dépôt à terme</a:t>
            </a:r>
          </a:p>
        </p:txBody>
      </p:sp>
    </p:spTree>
    <p:extLst>
      <p:ext uri="{BB962C8B-B14F-4D97-AF65-F5344CB8AC3E}">
        <p14:creationId xmlns:p14="http://schemas.microsoft.com/office/powerpoint/2010/main" val="1702965188"/>
      </p:ext>
    </p:extLst>
  </p:cSld>
  <p:clrMapOvr>
    <a:masterClrMapping/>
  </p:clrMapOvr>
  <p:transition>
    <p:fade/>
  </p:transition>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Décision de placement</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directeur général décide seul, sur la base d'un point de trésorerie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Ni comité, ni avis du conseil d'administration, ni politique de placement écrite selon le chef comptable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entretien du 19/10/2026 (14h) avec M. Koffi, chef comptable</a:t>
            </a:r>
          </a:p>
        </p:txBody>
      </p:sp>
      <p:sp>
        <p:nvSpPr>
          <p:cNvPr id="31" name="Rectangle 30"/>
          <p:cNvSpPr/>
          <p:nvPr/>
        </p:nvSpPr>
        <p:spPr>
          <a:xfrm>
            <a:off x="503999" y="1404000"/>
            <a:ext cx="11232000" cy="846000"/>
          </a:xfrm>
          <a:prstGeom prst="rect">
            <a:avLst/>
          </a:prstGeom>
          <a:solidFill>
            <a:srgbClr val="F7F7F7"/>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03999" y="1404000"/>
            <a:ext cx="1404000" cy="846000"/>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Banque</a:t>
            </a:r>
          </a:p>
        </p:txBody>
      </p:sp>
      <p:sp>
        <p:nvSpPr>
          <p:cNvPr id="33" name="Rectangle 32"/>
          <p:cNvSpPr/>
          <p:nvPr/>
        </p:nvSpPr>
        <p:spPr>
          <a:xfrm>
            <a:off x="503999" y="2250000"/>
            <a:ext cx="11232000" cy="8460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3999" y="2250000"/>
            <a:ext cx="1404000" cy="846000"/>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Direction générale</a:t>
            </a:r>
          </a:p>
        </p:txBody>
      </p:sp>
      <p:sp>
        <p:nvSpPr>
          <p:cNvPr id="35" name="Rectangle 34"/>
          <p:cNvSpPr/>
          <p:nvPr/>
        </p:nvSpPr>
        <p:spPr>
          <a:xfrm>
            <a:off x="503999" y="3096000"/>
            <a:ext cx="11232000" cy="846000"/>
          </a:xfrm>
          <a:prstGeom prst="rect">
            <a:avLst/>
          </a:prstGeom>
          <a:solidFill>
            <a:srgbClr val="F7F7F7"/>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03999" y="3096000"/>
            <a:ext cx="1404000" cy="846000"/>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DAF</a:t>
            </a:r>
          </a:p>
        </p:txBody>
      </p:sp>
      <p:sp>
        <p:nvSpPr>
          <p:cNvPr id="37" name="Rectangle 36"/>
          <p:cNvSpPr/>
          <p:nvPr/>
        </p:nvSpPr>
        <p:spPr>
          <a:xfrm>
            <a:off x="503999" y="3942000"/>
            <a:ext cx="11232000" cy="8460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03999" y="3942000"/>
            <a:ext cx="1404000" cy="846000"/>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Comptabilité (chef comptable)</a:t>
            </a:r>
          </a:p>
        </p:txBody>
      </p:sp>
      <p:sp>
        <p:nvSpPr>
          <p:cNvPr id="39" name="Logigramme p1"/>
          <p:cNvSpPr/>
          <p:nvPr/>
        </p:nvSpPr>
        <p:spPr>
          <a:xfrm>
            <a:off x="2015999" y="1539000"/>
            <a:ext cx="1224000" cy="576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FFFFFF"/>
                </a:solidFill>
                <a:latin typeface="Helvetica"/>
              </a:rPr>
              <a:t>Proposition</a:t>
            </a:r>
          </a:p>
          <a:p>
            <a:pPr algn="ctr"/>
            <a:r>
              <a:rPr sz="850" b="1">
                <a:solidFill>
                  <a:srgbClr val="FFFFFF"/>
                </a:solidFill>
                <a:latin typeface="Helvetica"/>
              </a:rPr>
              <a:t>de placement</a:t>
            </a:r>
          </a:p>
        </p:txBody>
      </p:sp>
      <p:sp>
        <p:nvSpPr>
          <p:cNvPr id="40" name="Logigramme p2"/>
          <p:cNvSpPr/>
          <p:nvPr/>
        </p:nvSpPr>
        <p:spPr>
          <a:xfrm>
            <a:off x="3401999" y="2385000"/>
            <a:ext cx="1224000" cy="576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Analyse de</a:t>
            </a:r>
          </a:p>
          <a:p>
            <a:pPr algn="ctr"/>
            <a:r>
              <a:rPr sz="850" b="0">
                <a:solidFill>
                  <a:srgbClr val="060606"/>
                </a:solidFill>
                <a:latin typeface="Helvetica"/>
              </a:rPr>
              <a:t>la proposition</a:t>
            </a:r>
          </a:p>
        </p:txBody>
      </p:sp>
      <p:sp>
        <p:nvSpPr>
          <p:cNvPr id="41" name="Logigramme p3"/>
          <p:cNvSpPr/>
          <p:nvPr/>
        </p:nvSpPr>
        <p:spPr>
          <a:xfrm>
            <a:off x="4788000" y="3231000"/>
            <a:ext cx="1224000" cy="576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Demande du point</a:t>
            </a:r>
          </a:p>
          <a:p>
            <a:pPr algn="ctr"/>
            <a:r>
              <a:rPr sz="850" b="0">
                <a:solidFill>
                  <a:srgbClr val="060606"/>
                </a:solidFill>
                <a:latin typeface="Helvetica"/>
              </a:rPr>
              <a:t>de trésorerie</a:t>
            </a:r>
          </a:p>
        </p:txBody>
      </p:sp>
      <p:sp>
        <p:nvSpPr>
          <p:cNvPr id="42" name="Logigramme p4"/>
          <p:cNvSpPr/>
          <p:nvPr/>
        </p:nvSpPr>
        <p:spPr>
          <a:xfrm>
            <a:off x="4788000" y="4077000"/>
            <a:ext cx="1224000" cy="576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Point de</a:t>
            </a:r>
          </a:p>
          <a:p>
            <a:pPr algn="ctr"/>
            <a:r>
              <a:rPr sz="850" b="0">
                <a:solidFill>
                  <a:srgbClr val="060606"/>
                </a:solidFill>
                <a:latin typeface="Helvetica"/>
              </a:rPr>
              <a:t>trésorerie</a:t>
            </a:r>
          </a:p>
        </p:txBody>
      </p:sp>
      <p:sp>
        <p:nvSpPr>
          <p:cNvPr id="43" name="Logigramme p5"/>
          <p:cNvSpPr/>
          <p:nvPr/>
        </p:nvSpPr>
        <p:spPr>
          <a:xfrm>
            <a:off x="6173999" y="2331000"/>
            <a:ext cx="1224000" cy="684000"/>
          </a:xfrm>
          <a:prstGeom prst="flowChartDecision">
            <a:avLst/>
          </a:prstGeom>
          <a:solidFill>
            <a:srgbClr val="EFAC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0">
                <a:solidFill>
                  <a:srgbClr val="060606"/>
                </a:solidFill>
                <a:latin typeface="Helvetica"/>
              </a:rPr>
              <a:t>Investir ?</a:t>
            </a:r>
          </a:p>
        </p:txBody>
      </p:sp>
      <p:sp>
        <p:nvSpPr>
          <p:cNvPr id="44" name="Logigramme p6"/>
          <p:cNvSpPr/>
          <p:nvPr/>
        </p:nvSpPr>
        <p:spPr>
          <a:xfrm>
            <a:off x="6173999" y="1539000"/>
            <a:ext cx="1224000" cy="576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FFFFFF"/>
                </a:solidFill>
                <a:latin typeface="Helvetica"/>
              </a:rPr>
              <a:t>Pas de</a:t>
            </a:r>
          </a:p>
          <a:p>
            <a:pPr algn="ctr"/>
            <a:r>
              <a:rPr sz="850" b="1">
                <a:solidFill>
                  <a:srgbClr val="FFFFFF"/>
                </a:solidFill>
                <a:latin typeface="Helvetica"/>
              </a:rPr>
              <a:t>placement</a:t>
            </a:r>
          </a:p>
        </p:txBody>
      </p:sp>
      <p:sp>
        <p:nvSpPr>
          <p:cNvPr id="45" name="Logigramme p7"/>
          <p:cNvSpPr/>
          <p:nvPr/>
        </p:nvSpPr>
        <p:spPr>
          <a:xfrm>
            <a:off x="7560000" y="3231000"/>
            <a:ext cx="1224000" cy="576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Lettre d'ouverture</a:t>
            </a:r>
          </a:p>
          <a:p>
            <a:pPr algn="ctr"/>
            <a:r>
              <a:rPr sz="850" b="0">
                <a:solidFill>
                  <a:srgbClr val="060606"/>
                </a:solidFill>
                <a:latin typeface="Helvetica"/>
              </a:rPr>
              <a:t>à la banque</a:t>
            </a:r>
          </a:p>
        </p:txBody>
      </p:sp>
      <p:sp>
        <p:nvSpPr>
          <p:cNvPr id="46" name="Logigramme p8"/>
          <p:cNvSpPr/>
          <p:nvPr/>
        </p:nvSpPr>
        <p:spPr>
          <a:xfrm>
            <a:off x="8946000" y="1539000"/>
            <a:ext cx="1224000" cy="576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Prélèvements</a:t>
            </a:r>
          </a:p>
          <a:p>
            <a:pPr algn="ctr"/>
            <a:r>
              <a:rPr sz="850" b="0">
                <a:solidFill>
                  <a:srgbClr val="060606"/>
                </a:solidFill>
                <a:latin typeface="Helvetica"/>
              </a:rPr>
              <a:t>mensuels</a:t>
            </a:r>
          </a:p>
        </p:txBody>
      </p:sp>
      <p:sp>
        <p:nvSpPr>
          <p:cNvPr id="47" name="Logigramme p9"/>
          <p:cNvSpPr/>
          <p:nvPr/>
        </p:nvSpPr>
        <p:spPr>
          <a:xfrm>
            <a:off x="10332000" y="1539000"/>
            <a:ext cx="1224000" cy="576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Relevés</a:t>
            </a:r>
          </a:p>
          <a:p>
            <a:pPr algn="ctr"/>
            <a:r>
              <a:rPr sz="850" b="0">
                <a:solidFill>
                  <a:srgbClr val="060606"/>
                </a:solidFill>
                <a:latin typeface="Helvetica"/>
              </a:rPr>
              <a:t>bancaires</a:t>
            </a:r>
          </a:p>
        </p:txBody>
      </p:sp>
      <p:sp>
        <p:nvSpPr>
          <p:cNvPr id="48" name="Logigramme p10"/>
          <p:cNvSpPr/>
          <p:nvPr/>
        </p:nvSpPr>
        <p:spPr>
          <a:xfrm>
            <a:off x="10332000" y="4077000"/>
            <a:ext cx="1224000" cy="576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Comptabilisation</a:t>
            </a:r>
          </a:p>
          <a:p>
            <a:pPr algn="ctr"/>
            <a:r>
              <a:rPr sz="850" b="0">
                <a:solidFill>
                  <a:srgbClr val="060606"/>
                </a:solidFill>
                <a:latin typeface="Helvetica"/>
              </a:rPr>
              <a:t>sur relevés</a:t>
            </a:r>
          </a:p>
        </p:txBody>
      </p:sp>
      <p:sp>
        <p:nvSpPr>
          <p:cNvPr id="49" name="Logigramme p11"/>
          <p:cNvSpPr/>
          <p:nvPr/>
        </p:nvSpPr>
        <p:spPr>
          <a:xfrm>
            <a:off x="8946000" y="4077000"/>
            <a:ext cx="1224000" cy="576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FFFFFF"/>
                </a:solidFill>
                <a:latin typeface="Helvetica"/>
              </a:rPr>
              <a:t>Débouclage, dont</a:t>
            </a:r>
          </a:p>
          <a:p>
            <a:pPr algn="ctr"/>
            <a:r>
              <a:rPr sz="850" b="1">
                <a:solidFill>
                  <a:srgbClr val="FFFFFF"/>
                </a:solidFill>
                <a:latin typeface="Helvetica"/>
              </a:rPr>
              <a:t>paiement de l'EFC</a:t>
            </a:r>
          </a:p>
        </p:txBody>
      </p:sp>
      <p:sp>
        <p:nvSpPr>
          <p:cNvPr id="50" name="Logigramme p12"/>
          <p:cNvSpPr/>
          <p:nvPr/>
        </p:nvSpPr>
        <p:spPr>
          <a:xfrm>
            <a:off x="7560000" y="4077000"/>
            <a:ext cx="1224000" cy="576000"/>
          </a:xfrm>
          <a:prstGeom prst="flowChartProcess">
            <a:avLst/>
          </a:prstGeom>
          <a:solidFill>
            <a:srgbClr val="FFFFFF"/>
          </a:solidFill>
          <a:ln w="285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C00000"/>
                </a:solidFill>
                <a:latin typeface="Helvetica"/>
              </a:rPr>
              <a:t>Ni comité, ni</a:t>
            </a:r>
          </a:p>
          <a:p>
            <a:pPr algn="ctr"/>
            <a:r>
              <a:rPr sz="850" b="1">
                <a:solidFill>
                  <a:srgbClr val="C00000"/>
                </a:solidFill>
                <a:latin typeface="Helvetica"/>
              </a:rPr>
              <a:t>procédure écrite</a:t>
            </a:r>
          </a:p>
        </p:txBody>
      </p:sp>
      <p:sp>
        <p:nvSpPr>
          <p:cNvPr id="51" name="Logigramme p13"/>
          <p:cNvSpPr/>
          <p:nvPr/>
        </p:nvSpPr>
        <p:spPr>
          <a:xfrm>
            <a:off x="2015999" y="2385000"/>
            <a:ext cx="1224000" cy="576000"/>
          </a:xfrm>
          <a:prstGeom prst="flowChartProcess">
            <a:avLst/>
          </a:prstGeom>
          <a:solidFill>
            <a:srgbClr val="FFFFFF"/>
          </a:solidFill>
          <a:ln w="285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C00000"/>
                </a:solidFill>
                <a:latin typeface="Helvetica"/>
              </a:rPr>
              <a:t>Mandat du directeur</a:t>
            </a:r>
          </a:p>
          <a:p>
            <a:pPr algn="ctr"/>
            <a:r>
              <a:rPr sz="850" b="1">
                <a:solidFill>
                  <a:srgbClr val="C00000"/>
                </a:solidFill>
                <a:latin typeface="Helvetica"/>
              </a:rPr>
              <a:t>général documenté</a:t>
            </a:r>
          </a:p>
          <a:p>
            <a:pPr algn="ctr"/>
            <a:r>
              <a:rPr sz="850" b="1">
                <a:solidFill>
                  <a:srgbClr val="C00000"/>
                </a:solidFill>
                <a:latin typeface="Helvetica"/>
              </a:rPr>
              <a:t>pour 2020-2023 seulement</a:t>
            </a:r>
          </a:p>
        </p:txBody>
      </p:sp>
      <p:sp>
        <p:nvSpPr>
          <p:cNvPr id="52" name="Logigramme p14"/>
          <p:cNvSpPr/>
          <p:nvPr/>
        </p:nvSpPr>
        <p:spPr>
          <a:xfrm>
            <a:off x="2015999" y="3231000"/>
            <a:ext cx="1224000" cy="576000"/>
          </a:xfrm>
          <a:prstGeom prst="flowChartProcess">
            <a:avLst/>
          </a:prstGeom>
          <a:solidFill>
            <a:srgbClr val="FFFFFF"/>
          </a:solidFill>
          <a:ln w="285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C00000"/>
                </a:solidFill>
                <a:latin typeface="Helvetica"/>
              </a:rPr>
              <a:t>Projet immobilier de</a:t>
            </a:r>
          </a:p>
          <a:p>
            <a:pPr algn="ctr"/>
            <a:r>
              <a:rPr sz="850" b="1">
                <a:solidFill>
                  <a:srgbClr val="C00000"/>
                </a:solidFill>
                <a:latin typeface="Helvetica"/>
              </a:rPr>
              <a:t>Cocody : décision des</a:t>
            </a:r>
          </a:p>
          <a:p>
            <a:pPr algn="ctr"/>
            <a:r>
              <a:rPr sz="850" b="1">
                <a:solidFill>
                  <a:srgbClr val="C00000"/>
                </a:solidFill>
                <a:latin typeface="Helvetica"/>
              </a:rPr>
              <a:t>organes non reçue</a:t>
            </a:r>
          </a:p>
        </p:txBody>
      </p:sp>
      <p:cxnSp>
        <p:nvCxnSpPr>
          <p:cNvPr id="53" name="Flèche p1 vers p2"/>
          <p:cNvCxnSpPr>
            <a:stCxn id="39" idx="3"/>
            <a:endCxn id="40" idx="0"/>
          </p:cNvCxnSpPr>
          <p:nvPr/>
        </p:nvCxnSpPr>
        <p:spPr>
          <a:xfrm>
            <a:off x="3239999" y="1827000"/>
            <a:ext cx="774000" cy="558000"/>
          </a:xfrm>
          <a:prstGeom prst="bentConnector3">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4" name="Flèche p2 vers p3"/>
          <p:cNvCxnSpPr>
            <a:stCxn id="40" idx="3"/>
            <a:endCxn id="41" idx="0"/>
          </p:cNvCxnSpPr>
          <p:nvPr/>
        </p:nvCxnSpPr>
        <p:spPr>
          <a:xfrm>
            <a:off x="4625999" y="2673000"/>
            <a:ext cx="774001" cy="558000"/>
          </a:xfrm>
          <a:prstGeom prst="bentConnector3">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5" name="Flèche p3 vers p4"/>
          <p:cNvCxnSpPr>
            <a:stCxn id="41" idx="2"/>
            <a:endCxn id="42" idx="0"/>
          </p:cNvCxnSpPr>
          <p:nvPr/>
        </p:nvCxnSpPr>
        <p:spPr>
          <a:xfrm flipH="1">
            <a:off x="5400000" y="3807000"/>
            <a:ext cx="0" cy="2700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6" name="Flèche p4 vers p5"/>
          <p:cNvCxnSpPr>
            <a:stCxn id="42" idx="3"/>
            <a:endCxn id="43" idx="2"/>
          </p:cNvCxnSpPr>
          <p:nvPr/>
        </p:nvCxnSpPr>
        <p:spPr>
          <a:xfrm flipV="1">
            <a:off x="6012000" y="3015000"/>
            <a:ext cx="773999" cy="1350000"/>
          </a:xfrm>
          <a:prstGeom prst="bentConnector3">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7" name="Flèche p5 vers p6"/>
          <p:cNvCxnSpPr>
            <a:stCxn id="43" idx="0"/>
            <a:endCxn id="44" idx="2"/>
          </p:cNvCxnSpPr>
          <p:nvPr/>
        </p:nvCxnSpPr>
        <p:spPr>
          <a:xfrm flipH="1" flipV="1">
            <a:off x="6785999" y="2115000"/>
            <a:ext cx="0" cy="2160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6839998" y="2151000"/>
            <a:ext cx="864000" cy="162000"/>
          </a:xfrm>
          <a:prstGeom prst="rect">
            <a:avLst/>
          </a:prstGeom>
          <a:noFill/>
        </p:spPr>
        <p:txBody>
          <a:bodyPr wrap="square" anchor="t" lIns="28800" rIns="28800" tIns="10800" bIns="10800">
            <a:spAutoFit/>
          </a:bodyPr>
          <a:lstStyle/>
          <a:p>
            <a:pPr algn="l"/>
            <a:r>
              <a:rPr sz="700" b="1">
                <a:solidFill>
                  <a:srgbClr val="53565A"/>
                </a:solidFill>
                <a:latin typeface="Helvetica"/>
              </a:rPr>
              <a:t>non</a:t>
            </a:r>
          </a:p>
        </p:txBody>
      </p:sp>
      <p:cxnSp>
        <p:nvCxnSpPr>
          <p:cNvPr id="59" name="Flèche p5 vers p7"/>
          <p:cNvCxnSpPr>
            <a:stCxn id="43" idx="3"/>
            <a:endCxn id="45" idx="0"/>
          </p:cNvCxnSpPr>
          <p:nvPr/>
        </p:nvCxnSpPr>
        <p:spPr>
          <a:xfrm>
            <a:off x="7397999" y="2673000"/>
            <a:ext cx="774001" cy="558000"/>
          </a:xfrm>
          <a:prstGeom prst="bentConnector3">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7441199" y="2493000"/>
            <a:ext cx="864000" cy="162000"/>
          </a:xfrm>
          <a:prstGeom prst="rect">
            <a:avLst/>
          </a:prstGeom>
          <a:noFill/>
        </p:spPr>
        <p:txBody>
          <a:bodyPr wrap="square" anchor="t" lIns="28800" rIns="28800" tIns="10800" bIns="10800">
            <a:spAutoFit/>
          </a:bodyPr>
          <a:lstStyle/>
          <a:p>
            <a:pPr algn="l"/>
            <a:r>
              <a:rPr sz="700" b="1">
                <a:solidFill>
                  <a:srgbClr val="53565A"/>
                </a:solidFill>
                <a:latin typeface="Helvetica"/>
              </a:rPr>
              <a:t>oui</a:t>
            </a:r>
          </a:p>
        </p:txBody>
      </p:sp>
      <p:cxnSp>
        <p:nvCxnSpPr>
          <p:cNvPr id="61" name="Flèche p7 vers p8"/>
          <p:cNvCxnSpPr>
            <a:stCxn id="45" idx="3"/>
            <a:endCxn id="46" idx="2"/>
          </p:cNvCxnSpPr>
          <p:nvPr/>
        </p:nvCxnSpPr>
        <p:spPr>
          <a:xfrm flipV="1">
            <a:off x="8784000" y="2115000"/>
            <a:ext cx="774000" cy="1404000"/>
          </a:xfrm>
          <a:prstGeom prst="bentConnector3">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2" name="Flèche p8 vers p9"/>
          <p:cNvCxnSpPr>
            <a:stCxn id="46" idx="3"/>
            <a:endCxn id="47" idx="1"/>
          </p:cNvCxnSpPr>
          <p:nvPr/>
        </p:nvCxnSpPr>
        <p:spPr>
          <a:xfrm flipV="1">
            <a:off x="10170000" y="1827000"/>
            <a:ext cx="162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3" name="Flèche p9 vers p10"/>
          <p:cNvCxnSpPr>
            <a:stCxn id="47" idx="2"/>
            <a:endCxn id="48" idx="0"/>
          </p:cNvCxnSpPr>
          <p:nvPr/>
        </p:nvCxnSpPr>
        <p:spPr>
          <a:xfrm flipH="1">
            <a:off x="10944000" y="2115000"/>
            <a:ext cx="0" cy="19620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4" name="Flèche p10 vers p11"/>
          <p:cNvCxnSpPr>
            <a:stCxn id="48" idx="1"/>
            <a:endCxn id="49" idx="3"/>
          </p:cNvCxnSpPr>
          <p:nvPr/>
        </p:nvCxnSpPr>
        <p:spPr>
          <a:xfrm flipH="1" flipV="1">
            <a:off x="10170000" y="4365000"/>
            <a:ext cx="162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TextBox 64"/>
          <p:cNvSpPr txBox="1"/>
          <p:nvPr/>
        </p:nvSpPr>
        <p:spPr>
          <a:xfrm>
            <a:off x="503999" y="4878000"/>
            <a:ext cx="11232000" cy="990000"/>
          </a:xfrm>
          <a:prstGeom prst="rect">
            <a:avLst/>
          </a:prstGeom>
          <a:noFill/>
        </p:spPr>
        <p:txBody>
          <a:bodyPr wrap="square" lIns="54000" rIns="54000"/>
          <a:lstStyle/>
          <a:p>
            <a:pPr algn="just">
              <a:spcAft>
                <a:spcPts val="600"/>
              </a:spcAft>
            </a:pPr>
            <a:r>
              <a:rPr sz="1200" b="1">
                <a:solidFill>
                  <a:srgbClr val="060606"/>
                </a:solidFill>
                <a:latin typeface="Helvetica"/>
              </a:rPr>
              <a:t>Le choix des placements ne suit aucune politique validée par les organes du FPPN.</a:t>
            </a:r>
            <a:r>
              <a:rPr sz="1200" b="0">
                <a:solidFill>
                  <a:srgbClr val="060606"/>
                </a:solidFill>
                <a:latin typeface="Helvetica"/>
              </a:rPr>
              <a:t> </a:t>
            </a:r>
            <a:r>
              <a:rPr sz="1200" b="0">
                <a:solidFill>
                  <a:srgbClr val="060606"/>
                </a:solidFill>
                <a:highlight>
                  <a:srgbClr val="FFFF00"/>
                </a:highlight>
                <a:latin typeface="Helvetica"/>
              </a:rPr>
              <a:t>La banque propose, le directeur général décide après un point de trésorerie, et la comptabilité enregistre sur la base des relevés.</a:t>
            </a:r>
          </a:p>
          <a:p>
            <a:pPr algn="just">
              <a:spcAft>
                <a:spcPts val="600"/>
              </a:spcAft>
            </a:pPr>
            <a:r>
              <a:rPr sz="1200" b="0">
                <a:solidFill>
                  <a:srgbClr val="060606"/>
                </a:solidFill>
                <a:latin typeface="Helvetica"/>
              </a:rPr>
              <a:t>Le règlement d'exécution n° 004/2022 (art. 17) exige que les placements satisfassent aux conditions de sécurité, de rendement, de liquidité et de diversification : sans politique écrite, le FPPN ne peut pas démontrer le respect de ces conditions.</a:t>
            </a:r>
          </a:p>
        </p:txBody>
      </p:sp>
      <p:sp>
        <p:nvSpPr>
          <p:cNvPr id="66" name="TextBox 6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Surligné en jaune : affirmation à confirmer par une pièce ou une réponse écrite du FPPN. Sigles : FPPN : Fonds de prévoyance de la Police nationale | EFC : entraide fin de carrière | DAF : directeur administratif et financier</a:t>
            </a:r>
          </a:p>
        </p:txBody>
      </p:sp>
    </p:spTree>
    <p:extLst>
      <p:ext uri="{BB962C8B-B14F-4D97-AF65-F5344CB8AC3E}">
        <p14:creationId xmlns:p14="http://schemas.microsoft.com/office/powerpoint/2010/main" val="1823339294"/>
      </p:ext>
    </p:extLst>
  </p:cSld>
  <p:clrMapOvr>
    <a:masterClrMapping/>
  </p:clrMapOvr>
  <p:transition>
    <p:fade/>
  </p:transition>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Clinique, projet de Cocody et désignation du directeur général</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documents établissent la propriété de la clinique et le projet de Cocody, pas leur valeur</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Clinique, terrains et créance sur l'hôpital au 31/08/2026 : 15 736 951 165 FCFA, financés en grande partie par l'épargne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arrêté n° 0027/MSHP/DGS/DEPS du 10/02/2020. Lettre de dérogation d'urbanisme de janvier 2025. Attestation de désignation du 04/09/2020 (noms exacts en annexe « Fichiers sources »). Règlement d'exécution n° 004/2022/COM/UEMOA du 1er juin 2022, art. 27. Balances des comptes du FPPN de 2020 au 31/08/2026 (provisoire), fichiers « BALANCE … » listés en annexe « Fichiers sources ». Traitements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79 : Documents sur les actifs immobilisés et la gouvernance</a:t>
            </a:r>
          </a:p>
        </p:txBody>
      </p:sp>
      <p:graphicFrame>
        <p:nvGraphicFramePr>
          <p:cNvPr id="32" name="Table 31"/>
          <p:cNvGraphicFramePr>
            <a:graphicFrameLocks noGrp="1"/>
          </p:cNvGraphicFramePr>
          <p:nvPr/>
        </p:nvGraphicFramePr>
        <p:xfrm>
          <a:off x="503999" y="1655999"/>
          <a:ext cx="11232000" cy="1328221"/>
        </p:xfrm>
        <a:graphic>
          <a:graphicData uri="http://schemas.openxmlformats.org/drawingml/2006/table">
            <a:tbl>
              <a:tblPr firstRow="0" bandRow="0">
                <a:tableStyleId>{5940675A-B579-460E-94D1-54222C63F5DA}</a:tableStyleId>
              </a:tblPr>
              <a:tblGrid>
                <a:gridCol w="2304000"/>
                <a:gridCol w="3600000"/>
                <a:gridCol w="3096000"/>
                <a:gridCol w="2232000"/>
              </a:tblGrid>
              <a:tr h="180000">
                <a:tc>
                  <a:txBody>
                    <a:bodyPr/>
                    <a:lstStyle/>
                    <a:p>
                      <a:pPr marL="0" indent="0" lvl="0">
                        <a:buNone/>
                      </a:pPr>
                      <a:r>
                        <a:rPr sz="800" b="1">
                          <a:solidFill>
                            <a:srgbClr val="FFFFFF"/>
                          </a:solidFill>
                          <a:latin typeface="Helvetica"/>
                        </a:rPr>
                        <a:t>Document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Ce qu'il établit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Ce qu'il n'établit pas</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Montant au bilan au 31/08/2026</a:t>
                      </a:r>
                    </a:p>
                  </a:txBody>
                  <a:tcPr marL="43200" marR="43200" marT="14400" marB="14400" anchor="ctr">
                    <a:solidFill>
                      <a:srgbClr val="060606"/>
                    </a:solidFill>
                  </a:tcPr>
                </a:tc>
              </a:tr>
              <a:tr h="423383">
                <a:tc>
                  <a:txBody>
                    <a:bodyPr/>
                    <a:lstStyle/>
                    <a:p>
                      <a:pPr marL="0" indent="0" lvl="0">
                        <a:buNone/>
                      </a:pPr>
                      <a:r>
                        <a:rPr sz="800" b="1">
                          <a:solidFill>
                            <a:srgbClr val="060606"/>
                          </a:solidFill>
                          <a:latin typeface="Helvetica"/>
                        </a:rPr>
                        <a:t>Arrêté n° 0027/MSHP/DGS/DEPS du 10/02/2020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Le « Centre médical du FPPN », établissement sanitaire privé mutualiste à Yopougon Andokoi, est autorisé et immatriculé (art. 1 et 2). Le FPPN en est le promoteur et propriétaire (art. 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Valeur de la clinique, résultat de son activité, comptabilité séparée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7 083 534 565 FCFA (investissements au CMP)</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Lettre du ministre de la Construction, janvier 2025 (jour illisible)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Accord pour quatre immeubles R+5 sur les lots 3005 à 3007, îlot 83, 5 007 m², titre foncier n° 119 230, Deux Plateaux, Cocody. Le FPPN avait demandé R+6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Budget, financement, calendrier, rendement attendu, décision des organes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5 245 896 750 FCFA (terrains, tous sites)</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Attestation du 04/09/2020 du président du conseil d'administration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Désignation du directeur général pour la mandature 2020-2023, après l'Assemblée générale du 27/08/2020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Désignation ou prolongation après 2023. Délégation de pouvoir pour les placements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Sans objet</a:t>
                      </a:r>
                    </a:p>
                  </a:txBody>
                  <a:tcPr marL="43200" marR="43200" marT="14400" marB="14400" anchor="ctr">
                    <a:solidFill>
                      <a:srgbClr val="FFFFFF"/>
                    </a:solidFill>
                  </a:tcPr>
                </a:tc>
              </a:tr>
            </a:tbl>
          </a:graphicData>
        </a:graphic>
      </p:graphicFrame>
      <p:sp>
        <p:nvSpPr>
          <p:cNvPr id="33" name="TextBox 32"/>
          <p:cNvSpPr txBox="1"/>
          <p:nvPr/>
        </p:nvSpPr>
        <p:spPr>
          <a:xfrm>
            <a:off x="503999" y="3092221"/>
            <a:ext cx="11232000" cy="162000"/>
          </a:xfrm>
          <a:prstGeom prst="rect">
            <a:avLst/>
          </a:prstGeom>
          <a:noFill/>
        </p:spPr>
        <p:txBody>
          <a:bodyPr wrap="square" anchor="t" lIns="54000" rIns="54000"/>
          <a:lstStyle/>
          <a:p>
            <a:pPr algn="l"/>
            <a:r>
              <a:rPr sz="850" b="0">
                <a:solidFill>
                  <a:srgbClr val="53565A"/>
                </a:solidFill>
                <a:latin typeface="Helvetica"/>
              </a:rPr>
              <a:t>Valable pour : documents reçus le 22/10/2026 (scans lus par reconnaissance de caractères). Montants des comptes 222, 47111101, 47111104, 47111105 et 47111100 au 31/08/2026 (provisoire).</a:t>
            </a:r>
          </a:p>
        </p:txBody>
      </p:sp>
      <p:sp>
        <p:nvSpPr>
          <p:cNvPr id="34" name="TextBox 33"/>
          <p:cNvSpPr txBox="1"/>
          <p:nvPr/>
        </p:nvSpPr>
        <p:spPr>
          <a:xfrm>
            <a:off x="503999" y="3398221"/>
            <a:ext cx="11232000" cy="2469778"/>
          </a:xfrm>
          <a:prstGeom prst="rect">
            <a:avLst/>
          </a:prstGeom>
          <a:noFill/>
        </p:spPr>
        <p:txBody>
          <a:bodyPr wrap="square" lIns="54000" rIns="54000"/>
          <a:lstStyle/>
          <a:p>
            <a:pPr algn="just">
              <a:spcAft>
                <a:spcPts val="600"/>
              </a:spcAft>
            </a:pPr>
            <a:r>
              <a:rPr sz="1300" b="1">
                <a:solidFill>
                  <a:srgbClr val="060606"/>
                </a:solidFill>
                <a:latin typeface="Helvetica"/>
              </a:rPr>
              <a:t>Le projet de Cocody engagerait l'épargne dans un actif immobilier de long terme, alors que l'épargne est exigible et que la liquidité ne couvre pas l'année qui vient.</a:t>
            </a:r>
            <a:r>
              <a:rPr sz="1300" b="0">
                <a:solidFill>
                  <a:srgbClr val="060606"/>
                </a:solidFill>
                <a:latin typeface="Helvetica"/>
              </a:rPr>
              <a:t> Aucun document reçu n'en donne le coût ni le mode de financement.</a:t>
            </a:r>
          </a:p>
          <a:p>
            <a:pPr algn="just">
              <a:spcAft>
                <a:spcPts val="600"/>
              </a:spcAft>
            </a:pPr>
            <a:r>
              <a:rPr sz="1300" b="1">
                <a:solidFill>
                  <a:srgbClr val="060606"/>
                </a:solidFill>
                <a:latin typeface="Helvetica"/>
              </a:rPr>
              <a:t>Le règlement d'exécution n° 004/2022 interdit de couvrir les pertes d'une activité sanitaire par les cotisations ou les réserves obligatoires (art. 27)</a:t>
            </a:r>
            <a:r>
              <a:rPr sz="1300" b="0">
                <a:solidFill>
                  <a:srgbClr val="060606"/>
                </a:solidFill>
                <a:latin typeface="Helvetica"/>
              </a:rPr>
              <a:t> : la clinique doit avoir une comptabilité séparée pour le démontrer.</a:t>
            </a:r>
          </a:p>
          <a:p>
            <a:pPr algn="just">
              <a:spcAft>
                <a:spcPts val="600"/>
              </a:spcAft>
            </a:pPr>
            <a:r>
              <a:rPr sz="1300" b="0">
                <a:solidFill>
                  <a:srgbClr val="060606"/>
                </a:solidFill>
                <a:latin typeface="Helvetica"/>
              </a:rPr>
              <a:t>Avant tout engagement sur le projet de Cocody, le FPPN doit présenter aux organes son budget, son financement et son effet sur la liquidité de l'épargne (PBC, nouveaux items).</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CMP : Clinique médicale du policier | PBC : liste des documents demandés au client</a:t>
            </a:r>
          </a:p>
        </p:txBody>
      </p:sp>
    </p:spTree>
    <p:extLst>
      <p:ext uri="{BB962C8B-B14F-4D97-AF65-F5344CB8AC3E}">
        <p14:creationId xmlns:p14="http://schemas.microsoft.com/office/powerpoint/2010/main" val="3564285555"/>
      </p:ext>
    </p:extLst>
  </p:cSld>
  <p:clrMapOvr>
    <a:masterClrMapping/>
  </p:clrMapOvr>
  <p:transition>
    <p:fade/>
  </p:transition>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Rendement des placements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problème des placements est leur faible volume, pas leur rendement</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Rendement moyen apparent 2021 à 2025 : 4,90 % par an. Taux directeur BCEAO entre 2,00 % et 3,50 %</a:t>
            </a:r>
          </a:p>
        </p:txBody>
      </p:sp>
      <p:sp>
        <p:nvSpPr>
          <p:cNvPr id="30" name="TextBox 29"/>
          <p:cNvSpPr txBox="1"/>
          <p:nvPr/>
        </p:nvSpPr>
        <p:spPr>
          <a:xfrm>
            <a:off x="503999" y="1386000"/>
            <a:ext cx="5976000" cy="251999"/>
          </a:xfrm>
          <a:prstGeom prst="rect">
            <a:avLst/>
          </a:prstGeom>
          <a:noFill/>
        </p:spPr>
        <p:txBody>
          <a:bodyPr wrap="square">
            <a:spAutoFit/>
          </a:bodyPr>
          <a:lstStyle/>
          <a:p>
            <a:pPr algn="ctr">
              <a:spcAft>
                <a:spcPts val="0"/>
              </a:spcAft>
            </a:pPr>
            <a:r>
              <a:rPr sz="1200" b="0">
                <a:solidFill>
                  <a:srgbClr val="EFAC62"/>
                </a:solidFill>
                <a:latin typeface="Helvetica"/>
              </a:rPr>
              <a:t>Figure 33 : Taux directeur de la BCEAO</a:t>
            </a:r>
          </a:p>
        </p:txBody>
      </p:sp>
      <p:sp>
        <p:nvSpPr>
          <p:cNvPr id="31" name="TextBox 30"/>
          <p:cNvSpPr txBox="1"/>
          <p:nvPr/>
        </p:nvSpPr>
        <p:spPr>
          <a:xfrm>
            <a:off x="503999" y="1602000"/>
            <a:ext cx="5976000" cy="162000"/>
          </a:xfrm>
          <a:prstGeom prst="rect">
            <a:avLst/>
          </a:prstGeom>
          <a:noFill/>
        </p:spPr>
        <p:txBody>
          <a:bodyPr wrap="square">
            <a:spAutoFit/>
          </a:bodyPr>
          <a:lstStyle/>
          <a:p>
            <a:pPr algn="l">
              <a:spcAft>
                <a:spcPts val="0"/>
              </a:spcAft>
            </a:pPr>
            <a:r>
              <a:rPr sz="900" b="0">
                <a:solidFill>
                  <a:srgbClr val="060606"/>
                </a:solidFill>
                <a:latin typeface="Helvetica"/>
              </a:rPr>
              <a:t>En %, date d'effet</a:t>
            </a:r>
          </a:p>
        </p:txBody>
      </p:sp>
      <p:graphicFrame>
        <p:nvGraphicFramePr>
          <p:cNvPr id="32" name="Chart 31"/>
          <p:cNvGraphicFramePr>
            <a:graphicFrameLocks noGrp="1"/>
          </p:cNvGraphicFramePr>
          <p:nvPr/>
        </p:nvGraphicFramePr>
        <p:xfrm>
          <a:off x="503999" y="1782000"/>
          <a:ext cx="5976000" cy="3744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BCEAO, communiqués du Comité de politique monétaire. Balances des comptes du FPPN de 2020 au 31/08/2026 (provisoire), fichiers « BALANCE … » listés en annexe « Fichiers sources ». Traitements Adenka</a:t>
            </a:r>
          </a:p>
        </p:txBody>
      </p:sp>
      <p:sp>
        <p:nvSpPr>
          <p:cNvPr id="34" name="TextBox 33"/>
          <p:cNvSpPr txBox="1"/>
          <p:nvPr/>
        </p:nvSpPr>
        <p:spPr>
          <a:xfrm>
            <a:off x="6696000" y="1440000"/>
            <a:ext cx="5040000" cy="4428000"/>
          </a:xfrm>
          <a:prstGeom prst="rect">
            <a:avLst/>
          </a:prstGeom>
          <a:noFill/>
        </p:spPr>
        <p:txBody>
          <a:bodyPr wrap="square" lIns="54000" rIns="54000"/>
          <a:lstStyle/>
          <a:p>
            <a:pPr algn="just">
              <a:spcAft>
                <a:spcPts val="600"/>
              </a:spcAft>
            </a:pPr>
            <a:r>
              <a:rPr sz="1300" b="1">
                <a:solidFill>
                  <a:srgbClr val="060606"/>
                </a:solidFill>
                <a:latin typeface="Helvetica"/>
              </a:rPr>
              <a:t>Les produits financiers de 2021 à 2025 atteignent 173 881 316 FCFA</a:t>
            </a:r>
            <a:r>
              <a:rPr sz="1300" b="0">
                <a:solidFill>
                  <a:srgbClr val="060606"/>
                </a:solidFill>
                <a:latin typeface="Helvetica"/>
              </a:rPr>
              <a:t>, pour un encours moyen de placements de 709 132 592 FCFA (grands livres).</a:t>
            </a:r>
          </a:p>
          <a:p>
            <a:pPr algn="just">
              <a:spcAft>
                <a:spcPts val="600"/>
              </a:spcAft>
            </a:pPr>
            <a:r>
              <a:rPr sz="1300" b="1">
                <a:solidFill>
                  <a:srgbClr val="060606"/>
                </a:solidFill>
                <a:latin typeface="Helvetica"/>
              </a:rPr>
              <a:t>Le rendement moyen dépasse le taux directeur, mais il est irrégulier.</a:t>
            </a:r>
            <a:r>
              <a:rPr sz="1300" b="0">
                <a:solidFill>
                  <a:srgbClr val="060606"/>
                </a:solidFill>
                <a:latin typeface="Helvetica"/>
              </a:rPr>
              <a:t> En 2025, 132 663 262 FCFA d'intérêts du DAT PEP, accumulés depuis 2020, sont enregistrés en une fois.</a:t>
            </a:r>
          </a:p>
          <a:p>
            <a:pPr algn="just">
              <a:spcAft>
                <a:spcPts val="600"/>
              </a:spcAft>
            </a:pPr>
            <a:r>
              <a:rPr sz="1300" b="1">
                <a:solidFill>
                  <a:srgbClr val="060606"/>
                </a:solidFill>
                <a:latin typeface="Helvetica"/>
              </a:rPr>
              <a:t>Le taux servi sur l'épargne (3,5 % sur le PEP, 3,5 % ou 5,5 % sur l'EFC selon le document) est un engagement de rendement</a:t>
            </a:r>
            <a:r>
              <a:rPr sz="1300" b="0">
                <a:solidFill>
                  <a:srgbClr val="060606"/>
                </a:solidFill>
                <a:latin typeface="Helvetica"/>
              </a:rPr>
              <a:t> que les produits des placements ne couvrent pas (partie 6).</a:t>
            </a:r>
          </a:p>
          <a:p>
            <a:pPr algn="just">
              <a:spcAft>
                <a:spcPts val="600"/>
              </a:spcAft>
            </a:pPr>
            <a:r>
              <a:rPr sz="1300" b="1">
                <a:solidFill>
                  <a:srgbClr val="060606"/>
                </a:solidFill>
                <a:latin typeface="Helvetica"/>
              </a:rPr>
              <a:t>Le vrai sujet est le volume placé</a:t>
            </a:r>
            <a:r>
              <a:rPr sz="1300" b="0">
                <a:solidFill>
                  <a:srgbClr val="060606"/>
                </a:solidFill>
                <a:latin typeface="Helvetica"/>
              </a:rPr>
              <a:t>, face à 15 743 516 391 FCFA d'épargne à restituer. Le solde des comptes courants non rémunérés atteint 2 356 399 123 FCFA au 31/08/2026.</a:t>
            </a:r>
          </a:p>
          <a:p>
            <a:pPr algn="just">
              <a:spcAft>
                <a:spcPts val="600"/>
              </a:spcAft>
            </a:pPr>
            <a:r>
              <a:rPr sz="1300" b="0">
                <a:solidFill>
                  <a:srgbClr val="060606"/>
                </a:solidFill>
                <a:latin typeface="Helvetica"/>
              </a:rPr>
              <a:t>La Décision n° 05/2022 demande aux mutuelles qui gèrent des risques longs un solde des comptes courants non rémunérés proche de zéro : une partie de cette trésorerie peut être placée à terme sans nuire à la liquidité.</a:t>
            </a:r>
          </a:p>
        </p:txBody>
      </p:sp>
      <p:sp>
        <p:nvSpPr>
          <p:cNvPr id="35" name="TextBox 34"/>
          <p:cNvSpPr txBox="1"/>
          <p:nvPr/>
        </p:nvSpPr>
        <p:spPr>
          <a:xfrm>
            <a:off x="503999" y="5526000"/>
            <a:ext cx="5976000" cy="306000"/>
          </a:xfrm>
          <a:prstGeom prst="rect">
            <a:avLst/>
          </a:prstGeom>
          <a:noFill/>
        </p:spPr>
        <p:txBody>
          <a:bodyPr wrap="square" anchor="t" lIns="54000" rIns="54000"/>
          <a:lstStyle/>
          <a:p>
            <a:pPr algn="l"/>
            <a:r>
              <a:rPr sz="850" b="0">
                <a:solidFill>
                  <a:srgbClr val="53565A"/>
                </a:solidFill>
                <a:latin typeface="Helvetica"/>
              </a:rPr>
              <a:t>Valable pour : produits financiers (classe 77) et placements moyens (comptes 52 et 53) des balances 2021 à 2025. Taux directeurs de la BCEAO de 2020 à 2026.</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BCEAO : Banque centrale des États de l'Afrique de l'Ouest | PEP : Plan Épargne Plus | EFC : entraide fin de carrière | DAT : dépôt à terme</a:t>
            </a:r>
          </a:p>
        </p:txBody>
      </p:sp>
    </p:spTree>
    <p:extLst>
      <p:ext uri="{BB962C8B-B14F-4D97-AF65-F5344CB8AC3E}">
        <p14:creationId xmlns:p14="http://schemas.microsoft.com/office/powerpoint/2010/main" val="270551398"/>
      </p:ext>
    </p:extLst>
  </p:cSld>
  <p:clrMapOvr>
    <a:masterClrMapping/>
  </p:clrMapOvr>
  <p:transition>
    <p:fade/>
  </p:transition>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Conclusion : adéquation des placements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placements ne sont adéquats ni en volume, ni en liquidité, ni en rendement</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Aucune des quatre conditions de l'article 17 (sécurité, rendement, liquidité, diversification) n'est démontrée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règlement d'exécution n° 004/2022/COM/UEMOA du 1er juin 2022, art. 17. Balances des comptes du FPPN de 2020 au 31/08/2026 (provisoire), fichiers « BALANCE … » listés en annexe « Fichiers sources ». Traitements Adenka. Diapositives diapositive 147, diapositive 89, diapositive 156</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80 : Placements et emplois du FPPN confrontés aux conditions de l'article 17</a:t>
            </a:r>
          </a:p>
        </p:txBody>
      </p:sp>
      <p:graphicFrame>
        <p:nvGraphicFramePr>
          <p:cNvPr id="32" name="Table 31"/>
          <p:cNvGraphicFramePr>
            <a:graphicFrameLocks noGrp="1"/>
          </p:cNvGraphicFramePr>
          <p:nvPr/>
        </p:nvGraphicFramePr>
        <p:xfrm>
          <a:off x="503999" y="1655999"/>
          <a:ext cx="11232000" cy="1194836"/>
        </p:xfrm>
        <a:graphic>
          <a:graphicData uri="http://schemas.openxmlformats.org/drawingml/2006/table">
            <a:tbl>
              <a:tblPr firstRow="0" bandRow="0">
                <a:tableStyleId>{5940675A-B579-460E-94D1-54222C63F5DA}</a:tableStyleId>
              </a:tblPr>
              <a:tblGrid>
                <a:gridCol w="1296000"/>
                <a:gridCol w="3024000"/>
                <a:gridCol w="5040000"/>
                <a:gridCol w="1872000"/>
              </a:tblGrid>
              <a:tr h="187148">
                <a:tc>
                  <a:txBody>
                    <a:bodyPr/>
                    <a:lstStyle/>
                    <a:p>
                      <a:pPr marL="0" indent="0" lvl="0">
                        <a:buNone/>
                      </a:pPr>
                      <a:r>
                        <a:rPr sz="850" b="1">
                          <a:solidFill>
                            <a:srgbClr val="FFFFFF"/>
                          </a:solidFill>
                          <a:latin typeface="Helvetica"/>
                        </a:rPr>
                        <a:t>Condition</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Ce qu'il faudrait</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Ce que montrent les chiffres</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Appréciation</a:t>
                      </a:r>
                    </a:p>
                  </a:txBody>
                  <a:tcPr marL="43200" marR="43200" marT="14400" marB="14400" anchor="ctr">
                    <a:solidFill>
                      <a:srgbClr val="060606"/>
                    </a:solidFill>
                  </a:tcPr>
                </a:tc>
              </a:tr>
              <a:tr h="316696">
                <a:tc>
                  <a:txBody>
                    <a:bodyPr/>
                    <a:lstStyle/>
                    <a:p>
                      <a:pPr marL="0" indent="0" lvl="0">
                        <a:buNone/>
                      </a:pPr>
                      <a:r>
                        <a:rPr sz="850" b="1">
                          <a:solidFill>
                            <a:srgbClr val="060606"/>
                          </a:solidFill>
                          <a:latin typeface="Helvetica"/>
                        </a:rPr>
                        <a:t>Liquidité</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Couvrir les paiements de l'année, sorties d'épargne comprises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Couverture de 34,42 % au 31/08/2026 (scénario central)</a:t>
                      </a:r>
                    </a:p>
                  </a:txBody>
                  <a:tcPr marL="43200" marR="43200" marT="14400" marB="14400" anchor="ctr">
                    <a:solidFill>
                      <a:srgbClr val="FFFFFF"/>
                    </a:solidFill>
                  </a:tcPr>
                </a:tc>
                <a:tc>
                  <a:txBody>
                    <a:bodyPr/>
                    <a:lstStyle/>
                    <a:p>
                      <a:pPr marL="0" indent="0" lvl="0">
                        <a:buNone/>
                      </a:pPr>
                      <a:r>
                        <a:rPr sz="850" b="1">
                          <a:solidFill>
                            <a:srgbClr val="FFFFFF"/>
                          </a:solidFill>
                          <a:latin typeface="Helvetica"/>
                        </a:rPr>
                        <a:t>Non remplie</a:t>
                      </a:r>
                    </a:p>
                  </a:txBody>
                  <a:tcPr marL="43200" marR="43200" marT="14400" marB="14400" anchor="ctr">
                    <a:solidFill>
                      <a:srgbClr val="C00000"/>
                    </a:solidFill>
                  </a:tcPr>
                </a:tc>
              </a:tr>
              <a:tr h="316696">
                <a:tc>
                  <a:txBody>
                    <a:bodyPr/>
                    <a:lstStyle/>
                    <a:p>
                      <a:pPr marL="0" indent="0" lvl="0">
                        <a:buNone/>
                      </a:pPr>
                      <a:r>
                        <a:rPr sz="850" b="1">
                          <a:solidFill>
                            <a:srgbClr val="060606"/>
                          </a:solidFill>
                          <a:latin typeface="Helvetica"/>
                        </a:rPr>
                        <a:t>Rendement</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Couvrir les intérêts dus sur l'épargne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Produits financiers 2021 à 2025 : 173 881 316 FCFA. Intérêts dus sur la même période : 2 349 114 243 FCFA</a:t>
                      </a:r>
                    </a:p>
                  </a:txBody>
                  <a:tcPr marL="43200" marR="43200" marT="14400" marB="14400" anchor="ctr">
                    <a:solidFill>
                      <a:srgbClr val="F2F2F2"/>
                    </a:solidFill>
                  </a:tcPr>
                </a:tc>
                <a:tc>
                  <a:txBody>
                    <a:bodyPr/>
                    <a:lstStyle/>
                    <a:p>
                      <a:pPr marL="0" indent="0" lvl="0">
                        <a:buNone/>
                      </a:pPr>
                      <a:r>
                        <a:rPr sz="850" b="1">
                          <a:solidFill>
                            <a:srgbClr val="FFFFFF"/>
                          </a:solidFill>
                          <a:latin typeface="Helvetica"/>
                        </a:rPr>
                        <a:t>Non remplie</a:t>
                      </a:r>
                    </a:p>
                  </a:txBody>
                  <a:tcPr marL="43200" marR="43200" marT="14400" marB="14400" anchor="ctr">
                    <a:solidFill>
                      <a:srgbClr val="C00000"/>
                    </a:solidFill>
                  </a:tcPr>
                </a:tc>
              </a:tr>
              <a:tr h="187148">
                <a:tc>
                  <a:txBody>
                    <a:bodyPr/>
                    <a:lstStyle/>
                    <a:p>
                      <a:pPr marL="0" indent="0" lvl="0">
                        <a:buNone/>
                      </a:pPr>
                      <a:r>
                        <a:rPr sz="850" b="1">
                          <a:solidFill>
                            <a:srgbClr val="060606"/>
                          </a:solidFill>
                          <a:latin typeface="Helvetica"/>
                        </a:rPr>
                        <a:t>Sécurité</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Actifs évalués et contreparties solides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Clinique, terrains et créance sur l'hôpital non évalués. FCP non garanti</a:t>
                      </a:r>
                    </a:p>
                  </a:txBody>
                  <a:tcPr marL="43200" marR="43200" marT="14400" marB="14400" anchor="ctr">
                    <a:solidFill>
                      <a:srgbClr val="FFFFFF"/>
                    </a:solidFill>
                  </a:tcPr>
                </a:tc>
                <a:tc>
                  <a:txBody>
                    <a:bodyPr/>
                    <a:lstStyle/>
                    <a:p>
                      <a:pPr marL="0" indent="0" lvl="0">
                        <a:buNone/>
                      </a:pPr>
                      <a:r>
                        <a:rPr sz="850" b="1">
                          <a:solidFill>
                            <a:srgbClr val="060606"/>
                          </a:solidFill>
                          <a:latin typeface="Helvetica"/>
                        </a:rPr>
                        <a:t>Non démontrée</a:t>
                      </a:r>
                    </a:p>
                  </a:txBody>
                  <a:tcPr marL="43200" marR="43200" marT="14400" marB="14400" anchor="ctr">
                    <a:solidFill>
                      <a:srgbClr val="EFAC62"/>
                    </a:solidFill>
                  </a:tcPr>
                </a:tc>
              </a:tr>
              <a:tr h="187148">
                <a:tc>
                  <a:txBody>
                    <a:bodyPr/>
                    <a:lstStyle/>
                    <a:p>
                      <a:pPr marL="0" indent="0" lvl="0">
                        <a:buNone/>
                      </a:pPr>
                      <a:r>
                        <a:rPr sz="850" b="1">
                          <a:solidFill>
                            <a:srgbClr val="060606"/>
                          </a:solidFill>
                          <a:latin typeface="Helvetica"/>
                        </a:rPr>
                        <a:t>Diversification</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Pas de concentration sur un emploi</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Plus des trois quarts de l'actif à plus de cinq ans ou à délai incertain</a:t>
                      </a:r>
                    </a:p>
                  </a:txBody>
                  <a:tcPr marL="43200" marR="43200" marT="14400" marB="14400" anchor="ctr">
                    <a:solidFill>
                      <a:srgbClr val="F2F2F2"/>
                    </a:solidFill>
                  </a:tcPr>
                </a:tc>
                <a:tc>
                  <a:txBody>
                    <a:bodyPr/>
                    <a:lstStyle/>
                    <a:p>
                      <a:pPr marL="0" indent="0" lvl="0">
                        <a:buNone/>
                      </a:pPr>
                      <a:r>
                        <a:rPr sz="850" b="1">
                          <a:solidFill>
                            <a:srgbClr val="FFFFFF"/>
                          </a:solidFill>
                          <a:latin typeface="Helvetica"/>
                        </a:rPr>
                        <a:t>Non remplie</a:t>
                      </a:r>
                    </a:p>
                  </a:txBody>
                  <a:tcPr marL="43200" marR="43200" marT="14400" marB="14400" anchor="ctr">
                    <a:solidFill>
                      <a:srgbClr val="C00000"/>
                    </a:solidFill>
                  </a:tcPr>
                </a:tc>
              </a:tr>
            </a:tbl>
          </a:graphicData>
        </a:graphic>
      </p:graphicFrame>
      <p:graphicFrame>
        <p:nvGraphicFramePr>
          <p:cNvPr id="33" name="Table 32"/>
          <p:cNvGraphicFramePr>
            <a:graphicFrameLocks noGrp="1"/>
          </p:cNvGraphicFramePr>
          <p:nvPr/>
        </p:nvGraphicFramePr>
        <p:xfrm>
          <a:off x="503999" y="2977675"/>
          <a:ext cx="11232000" cy="151200"/>
        </p:xfrm>
        <a:graphic>
          <a:graphicData uri="http://schemas.openxmlformats.org/drawingml/2006/table">
            <a:tbl>
              <a:tblPr firstRow="0" bandRow="0">
                <a:tableStyleId>{5C22544A-7EE6-4342-B048-85BDC9FD1C3A}</a:tableStyleId>
              </a:tblPr>
              <a:tblGrid>
                <a:gridCol w="792000"/>
                <a:gridCol w="936000"/>
                <a:gridCol w="4284000"/>
                <a:gridCol w="936000"/>
                <a:gridCol w="4284000"/>
              </a:tblGrid>
              <a:tr h="151200">
                <a:tc>
                  <a:txBody>
                    <a:bodyPr/>
                    <a:lstStyle/>
                    <a:p>
                      <a:r>
                        <a:rPr sz="700" b="1">
                          <a:solidFill>
                            <a:srgbClr val="060606"/>
                          </a:solidFill>
                          <a:latin typeface="Helvetica"/>
                        </a:rPr>
                        <a:t>Code couleur</a:t>
                      </a:r>
                    </a:p>
                  </a:txBody>
                  <a:tcPr marL="28800" marR="28800" marT="3600" marB="3600" anchor="ctr">
                    <a:solidFill>
                      <a:srgbClr val="FFFFFF"/>
                    </a:solidFill>
                  </a:tcPr>
                </a:tc>
                <a:tc>
                  <a:txBody>
                    <a:bodyPr/>
                    <a:lstStyle/>
                    <a:p>
                      <a:r>
                        <a:rPr sz="700" b="1">
                          <a:solidFill>
                            <a:srgbClr val="FFFFFF"/>
                          </a:solidFill>
                          <a:latin typeface="Helvetica"/>
                        </a:rPr>
                        <a:t>Non remplie</a:t>
                      </a:r>
                    </a:p>
                  </a:txBody>
                  <a:tcPr marL="28800" marR="28800" marT="3600" marB="3600" anchor="ctr">
                    <a:solidFill>
                      <a:srgbClr val="C00000"/>
                    </a:solidFill>
                  </a:tcPr>
                </a:tc>
                <a:tc>
                  <a:txBody>
                    <a:bodyPr/>
                    <a:lstStyle/>
                    <a:p>
                      <a:r>
                        <a:rPr sz="700" b="0">
                          <a:solidFill>
                            <a:srgbClr val="060606"/>
                          </a:solidFill>
                          <a:latin typeface="Helvetica"/>
                        </a:rPr>
                        <a:t>condition non remplie</a:t>
                      </a:r>
                    </a:p>
                  </a:txBody>
                  <a:tcPr marL="28800" marR="28800" marT="3600" marB="3600" anchor="ctr">
                    <a:solidFill>
                      <a:srgbClr val="FFFFFF"/>
                    </a:solidFill>
                  </a:tcPr>
                </a:tc>
                <a:tc>
                  <a:txBody>
                    <a:bodyPr/>
                    <a:lstStyle/>
                    <a:p>
                      <a:r>
                        <a:rPr sz="700" b="1">
                          <a:solidFill>
                            <a:srgbClr val="060606"/>
                          </a:solidFill>
                          <a:latin typeface="Helvetica"/>
                        </a:rPr>
                        <a:t>Non démontré</a:t>
                      </a:r>
                    </a:p>
                  </a:txBody>
                  <a:tcPr marL="28800" marR="28800" marT="3600" marB="3600" anchor="ctr">
                    <a:solidFill>
                      <a:srgbClr val="EFAC62"/>
                    </a:solidFill>
                  </a:tcPr>
                </a:tc>
                <a:tc>
                  <a:txBody>
                    <a:bodyPr/>
                    <a:lstStyle/>
                    <a:p>
                      <a:r>
                        <a:rPr sz="700" b="0">
                          <a:solidFill>
                            <a:srgbClr val="060606"/>
                          </a:solidFill>
                          <a:latin typeface="Helvetica"/>
                        </a:rPr>
                        <a:t>non démontré par les documents reçus</a:t>
                      </a:r>
                    </a:p>
                  </a:txBody>
                  <a:tcPr marL="28800" marR="28800" marT="3600" marB="3600" anchor="ctr">
                    <a:solidFill>
                      <a:srgbClr val="FFFFFF"/>
                    </a:solidFill>
                  </a:tcPr>
                </a:tc>
              </a:tr>
            </a:tbl>
          </a:graphicData>
        </a:graphic>
      </p:graphicFrame>
      <p:sp>
        <p:nvSpPr>
          <p:cNvPr id="34" name="TextBox 33"/>
          <p:cNvSpPr txBox="1"/>
          <p:nvPr/>
        </p:nvSpPr>
        <p:spPr>
          <a:xfrm>
            <a:off x="503999" y="3236875"/>
            <a:ext cx="11232000" cy="162000"/>
          </a:xfrm>
          <a:prstGeom prst="rect">
            <a:avLst/>
          </a:prstGeom>
          <a:noFill/>
        </p:spPr>
        <p:txBody>
          <a:bodyPr wrap="square" anchor="t" lIns="54000" rIns="54000"/>
          <a:lstStyle/>
          <a:p>
            <a:pPr algn="l"/>
            <a:r>
              <a:rPr sz="850" b="0">
                <a:solidFill>
                  <a:srgbClr val="53565A"/>
                </a:solidFill>
                <a:latin typeface="Helvetica"/>
              </a:rPr>
              <a:t>Valable pour : placements et produits financiers de 2021 à 2025. Actifs et épargne au 31/08/2026 (provisoire). Intérêts dus aux taux du manuel d'épargne.</a:t>
            </a:r>
          </a:p>
        </p:txBody>
      </p:sp>
      <p:sp>
        <p:nvSpPr>
          <p:cNvPr id="35" name="TextBox 34"/>
          <p:cNvSpPr txBox="1"/>
          <p:nvPr/>
        </p:nvSpPr>
        <p:spPr>
          <a:xfrm>
            <a:off x="503999" y="3542875"/>
            <a:ext cx="11232000" cy="2325124"/>
          </a:xfrm>
          <a:prstGeom prst="rect">
            <a:avLst/>
          </a:prstGeom>
          <a:noFill/>
        </p:spPr>
        <p:txBody>
          <a:bodyPr wrap="square" lIns="54000" rIns="54000"/>
          <a:lstStyle/>
          <a:p>
            <a:pPr algn="just">
              <a:spcAft>
                <a:spcPts val="600"/>
              </a:spcAft>
            </a:pPr>
            <a:r>
              <a:rPr sz="1300" b="1">
                <a:solidFill>
                  <a:srgbClr val="060606"/>
                </a:solidFill>
                <a:latin typeface="Helvetica"/>
              </a:rPr>
              <a:t>Le portefeuille est inadéquat d'abord parce que l'épargne finance des actifs qui ne produisent ni revenu financier ni liquidité.</a:t>
            </a:r>
            <a:r>
              <a:rPr sz="1300" b="0">
                <a:solidFill>
                  <a:srgbClr val="060606"/>
                </a:solidFill>
                <a:latin typeface="Helvetica"/>
              </a:rPr>
              <a:t> Le rendement des placements financiers eux-mêmes n'est pas le problème principal.</a:t>
            </a:r>
          </a:p>
          <a:p>
            <a:pPr algn="just">
              <a:spcAft>
                <a:spcPts val="600"/>
              </a:spcAft>
            </a:pPr>
            <a:r>
              <a:rPr sz="1300" b="0">
                <a:solidFill>
                  <a:srgbClr val="060606"/>
                </a:solidFill>
                <a:latin typeface="Helvetica"/>
              </a:rPr>
              <a:t>Une politique de placement votée par le conseil d'administration doit fixer une réserve de liquidité, un rendement minimal au regard du taux servi arrêté et des limites sur les actifs immobiliers, avant tout nouvel investissement.</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FCP : fonds commun de placement</a:t>
            </a:r>
          </a:p>
        </p:txBody>
      </p:sp>
    </p:spTree>
    <p:extLst>
      <p:ext uri="{BB962C8B-B14F-4D97-AF65-F5344CB8AC3E}">
        <p14:creationId xmlns:p14="http://schemas.microsoft.com/office/powerpoint/2010/main" val="2418794063"/>
      </p:ext>
    </p:extLst>
  </p:cSld>
  <p:clrMapOvr>
    <a:masterClrMapping/>
  </p:clrMapOvr>
  <p:transition>
    <p:fade/>
  </p:transition>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6" name="Image 25"/>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30" name="ZoneTexte 29">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9" name="Google Shape;7386;p39"/>
          <p:cNvSpPr/>
          <p:nvPr/>
        </p:nvSpPr>
        <p:spPr>
          <a:xfrm rot="10800000">
            <a:off x="1748072" y="1436295"/>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10" name="Google Shape;7367;p39"/>
          <p:cNvSpPr/>
          <p:nvPr/>
        </p:nvSpPr>
        <p:spPr>
          <a:xfrm rot="16200000">
            <a:off x="2201124" y="215006"/>
            <a:ext cx="2027916" cy="4306666"/>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chemeClr val="tx1"/>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 name="Rectangle 3"/>
          <p:cNvSpPr/>
          <p:nvPr/>
        </p:nvSpPr>
        <p:spPr>
          <a:xfrm>
            <a:off x="2946575" y="1442741"/>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Constat</a:t>
            </a:r>
          </a:p>
        </p:txBody>
      </p:sp>
      <p:sp>
        <p:nvSpPr>
          <p:cNvPr id="20" name="Google Shape;7386;p39"/>
          <p:cNvSpPr/>
          <p:nvPr/>
        </p:nvSpPr>
        <p:spPr>
          <a:xfrm rot="10800000">
            <a:off x="6372314" y="1459724"/>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21" name="Google Shape;7367;p39"/>
          <p:cNvSpPr/>
          <p:nvPr/>
        </p:nvSpPr>
        <p:spPr>
          <a:xfrm rot="16200000">
            <a:off x="7569073" y="228570"/>
            <a:ext cx="2000788" cy="4306666"/>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rgbClr val="060606"/>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24" name="Rectangle 23"/>
          <p:cNvSpPr/>
          <p:nvPr/>
        </p:nvSpPr>
        <p:spPr>
          <a:xfrm>
            <a:off x="7570816" y="1466170"/>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Preuves</a:t>
            </a:r>
          </a:p>
        </p:txBody>
      </p:sp>
      <p:sp>
        <p:nvSpPr>
          <p:cNvPr id="37" name="Google Shape;7386;p39"/>
          <p:cNvSpPr/>
          <p:nvPr/>
        </p:nvSpPr>
        <p:spPr>
          <a:xfrm rot="10800000">
            <a:off x="1854215" y="3845744"/>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38" name="Google Shape;7367;p39"/>
          <p:cNvSpPr/>
          <p:nvPr/>
        </p:nvSpPr>
        <p:spPr>
          <a:xfrm rot="16200000">
            <a:off x="2838223" y="3190772"/>
            <a:ext cx="1751381" cy="3719393"/>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rgbClr val="060606"/>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0" name="Rectangle 39"/>
          <p:cNvSpPr/>
          <p:nvPr/>
        </p:nvSpPr>
        <p:spPr>
          <a:xfrm>
            <a:off x="3052718" y="3852190"/>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Implication</a:t>
            </a:r>
          </a:p>
        </p:txBody>
      </p:sp>
      <p:sp>
        <p:nvSpPr>
          <p:cNvPr id="42" name="Google Shape;7386;p39"/>
          <p:cNvSpPr/>
          <p:nvPr/>
        </p:nvSpPr>
        <p:spPr>
          <a:xfrm rot="10800000">
            <a:off x="6478457" y="3869173"/>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3" name="Google Shape;7367;p39"/>
          <p:cNvSpPr/>
          <p:nvPr/>
        </p:nvSpPr>
        <p:spPr>
          <a:xfrm rot="16200000">
            <a:off x="7474179" y="3202486"/>
            <a:ext cx="1727953" cy="3719393"/>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chemeClr val="tx1"/>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5" name="Rectangle 44"/>
          <p:cNvSpPr/>
          <p:nvPr/>
        </p:nvSpPr>
        <p:spPr>
          <a:xfrm>
            <a:off x="7676960" y="3875619"/>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Action</a:t>
            </a:r>
          </a:p>
        </p:txBody>
      </p:sp>
      <p:pic>
        <p:nvPicPr>
          <p:cNvPr id="47" name="Image 4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47871" y="3850143"/>
            <a:ext cx="334029" cy="337914"/>
          </a:xfrm>
          <a:prstGeom prst="rect">
            <a:avLst/>
          </a:prstGeom>
        </p:spPr>
      </p:pic>
      <p:pic>
        <p:nvPicPr>
          <p:cNvPr id="50" name="Image 49">
            <a:extLst>
              <a:ext uri="{FF2B5EF4-FFF2-40B4-BE49-F238E27FC236}">
                <a16:creationId xmlns:a16="http://schemas.microsoft.com/office/drawing/2014/main" id="{593DA389-08F4-31D9-6AB9-E96812D83B7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768142" y="1475503"/>
            <a:ext cx="294700" cy="294700"/>
          </a:xfrm>
          <a:prstGeom prst="rect">
            <a:avLst/>
          </a:prstGeom>
        </p:spPr>
      </p:pic>
      <p:pic>
        <p:nvPicPr>
          <p:cNvPr id="25" name="Image 2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156977" y="1457088"/>
            <a:ext cx="281624" cy="284788"/>
          </a:xfrm>
          <a:prstGeom prst="rect">
            <a:avLst/>
          </a:prstGeom>
        </p:spPr>
      </p:pic>
      <p:pic>
        <p:nvPicPr>
          <p:cNvPr id="28" name="Image 27"/>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791905" y="3883760"/>
            <a:ext cx="270937" cy="276827"/>
          </a:xfrm>
          <a:prstGeom prst="rect">
            <a:avLst/>
          </a:prstGeom>
        </p:spPr>
      </p:pic>
      <p:sp>
        <p:nvSpPr>
          <p:cNvPr id="31" name="Rectangle 30"/>
          <p:cNvSpPr/>
          <p:nvPr/>
        </p:nvSpPr>
        <p:spPr>
          <a:xfrm>
            <a:off x="1999671" y="1962253"/>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 FPPN porte des engagements courts et une épargne croissante avec des actifs longs, des provisions non recalculées et des fonds propres négatifs.</a:t>
            </a:r>
          </a:p>
        </p:txBody>
      </p:sp>
      <p:sp>
        <p:nvSpPr>
          <p:cNvPr id="32" name="Rectangle 31"/>
          <p:cNvSpPr/>
          <p:nvPr/>
        </p:nvSpPr>
        <p:spPr>
          <a:xfrm>
            <a:off x="6623912" y="1926662"/>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Les provisions gardent le même montant de 2020 à 2026, les fonds propres sont négatifs à chaque clôture, et plus des trois quarts de l'actif sont à plus de cinq ans ou de délai incertain.</a:t>
            </a:r>
          </a:p>
        </p:txBody>
      </p:sp>
      <p:sp>
        <p:nvSpPr>
          <p:cNvPr id="33" name="Rectangle 32"/>
          <p:cNvSpPr/>
          <p:nvPr/>
        </p:nvSpPr>
        <p:spPr>
          <a:xfrm>
            <a:off x="2093705" y="4388689"/>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 FPPN ne peut absorber ni un choc de prestations, ni une vague de retraits, sans céder des actifs peu liquides.</a:t>
            </a:r>
          </a:p>
        </p:txBody>
      </p:sp>
      <p:sp>
        <p:nvSpPr>
          <p:cNvPr id="34" name="Rectangle 33"/>
          <p:cNvSpPr/>
          <p:nvPr/>
        </p:nvSpPr>
        <p:spPr>
          <a:xfrm>
            <a:off x="6768142" y="4336111"/>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 FPPN doit adopter une politique de provisionnement, une politique de placement et un encadrement écrit des investissements dans les structures liées.</a:t>
            </a:r>
          </a:p>
        </p:txBody>
      </p:sp>
      <p:sp>
        <p:nvSpPr>
          <p:cNvPr id="51"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À retenir : bilan</a:t>
            </a:r>
          </a:p>
        </p:txBody>
      </p:sp>
      <p:sp>
        <p:nvSpPr>
          <p:cNvPr id="52"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bilan combine provisions figées, fonds propres négatifs et actifs peu liquides</a:t>
            </a:r>
          </a:p>
        </p:txBody>
      </p:sp>
      <p:sp>
        <p:nvSpPr>
          <p:cNvPr id="53"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Trois fragilités cumulées limitent la capacité du FPPN à faire face à un choc</a:t>
            </a:r>
          </a:p>
        </p:txBody>
      </p:sp>
      <p:sp>
        <p:nvSpPr>
          <p:cNvPr id="54"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analyses Adenka</a:t>
            </a:r>
          </a:p>
        </p:txBody>
      </p:sp>
      <p:sp>
        <p:nvSpPr>
          <p:cNvPr id="55" name="TextBox 5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606296729"/>
      </p:ext>
    </p:extLst>
  </p:cSld>
  <p:clrMapOvr>
    <a:masterClrMapping/>
  </p:clrMapOvr>
  <p:transition>
    <p:fade/>
  </p:transition>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Google Shape;8651;p70"/>
          <p:cNvSpPr/>
          <p:nvPr/>
        </p:nvSpPr>
        <p:spPr>
          <a:xfrm>
            <a:off x="2013108" y="2588204"/>
            <a:ext cx="1380332" cy="1428252"/>
          </a:xfrm>
          <a:custGeom>
            <a:avLst/>
            <a:gdLst/>
            <a:ahLst/>
            <a:cxnLst/>
            <a:rect l="l" t="t" r="r" b="b"/>
            <a:pathLst>
              <a:path w="8670" h="8971" extrusionOk="0">
                <a:moveTo>
                  <a:pt x="7105" y="1302"/>
                </a:moveTo>
                <a:cubicBezTo>
                  <a:pt x="7105" y="1315"/>
                  <a:pt x="7105" y="1328"/>
                  <a:pt x="7105" y="1341"/>
                </a:cubicBezTo>
                <a:cubicBezTo>
                  <a:pt x="7118" y="1980"/>
                  <a:pt x="7183" y="2619"/>
                  <a:pt x="7183" y="3283"/>
                </a:cubicBezTo>
                <a:cubicBezTo>
                  <a:pt x="7170" y="4404"/>
                  <a:pt x="7183" y="5525"/>
                  <a:pt x="7222" y="6646"/>
                </a:cubicBezTo>
                <a:cubicBezTo>
                  <a:pt x="7235" y="6959"/>
                  <a:pt x="7222" y="7259"/>
                  <a:pt x="7222" y="7559"/>
                </a:cubicBezTo>
                <a:lnTo>
                  <a:pt x="7222" y="7585"/>
                </a:lnTo>
                <a:cubicBezTo>
                  <a:pt x="6935" y="7598"/>
                  <a:pt x="6649" y="7611"/>
                  <a:pt x="6362" y="7611"/>
                </a:cubicBezTo>
                <a:cubicBezTo>
                  <a:pt x="6101" y="7598"/>
                  <a:pt x="5853" y="7585"/>
                  <a:pt x="5593" y="7585"/>
                </a:cubicBezTo>
                <a:cubicBezTo>
                  <a:pt x="4159" y="7559"/>
                  <a:pt x="2712" y="7559"/>
                  <a:pt x="1291" y="7442"/>
                </a:cubicBezTo>
                <a:cubicBezTo>
                  <a:pt x="1278" y="7207"/>
                  <a:pt x="1239" y="6959"/>
                  <a:pt x="1226" y="6725"/>
                </a:cubicBezTo>
                <a:cubicBezTo>
                  <a:pt x="1200" y="6255"/>
                  <a:pt x="1187" y="5799"/>
                  <a:pt x="1200" y="5330"/>
                </a:cubicBezTo>
                <a:cubicBezTo>
                  <a:pt x="1213" y="4222"/>
                  <a:pt x="1226" y="3101"/>
                  <a:pt x="1343" y="1993"/>
                </a:cubicBezTo>
                <a:lnTo>
                  <a:pt x="1552" y="1993"/>
                </a:lnTo>
                <a:cubicBezTo>
                  <a:pt x="2138" y="1980"/>
                  <a:pt x="2725" y="1889"/>
                  <a:pt x="3312" y="1810"/>
                </a:cubicBezTo>
                <a:cubicBezTo>
                  <a:pt x="4576" y="1641"/>
                  <a:pt x="5840" y="1524"/>
                  <a:pt x="7105" y="1302"/>
                </a:cubicBezTo>
                <a:close/>
                <a:moveTo>
                  <a:pt x="7529" y="1"/>
                </a:moveTo>
                <a:cubicBezTo>
                  <a:pt x="7291" y="1"/>
                  <a:pt x="7059" y="53"/>
                  <a:pt x="6818" y="64"/>
                </a:cubicBezTo>
                <a:cubicBezTo>
                  <a:pt x="6375" y="103"/>
                  <a:pt x="5932" y="142"/>
                  <a:pt x="5488" y="194"/>
                </a:cubicBezTo>
                <a:cubicBezTo>
                  <a:pt x="4824" y="259"/>
                  <a:pt x="4107" y="350"/>
                  <a:pt x="3429" y="389"/>
                </a:cubicBezTo>
                <a:cubicBezTo>
                  <a:pt x="2686" y="429"/>
                  <a:pt x="1943" y="481"/>
                  <a:pt x="1213" y="598"/>
                </a:cubicBezTo>
                <a:cubicBezTo>
                  <a:pt x="913" y="624"/>
                  <a:pt x="652" y="728"/>
                  <a:pt x="509" y="976"/>
                </a:cubicBezTo>
                <a:cubicBezTo>
                  <a:pt x="470" y="1028"/>
                  <a:pt x="444" y="1080"/>
                  <a:pt x="431" y="1146"/>
                </a:cubicBezTo>
                <a:cubicBezTo>
                  <a:pt x="300" y="1524"/>
                  <a:pt x="287" y="1928"/>
                  <a:pt x="300" y="2332"/>
                </a:cubicBezTo>
                <a:cubicBezTo>
                  <a:pt x="209" y="3010"/>
                  <a:pt x="209" y="3700"/>
                  <a:pt x="209" y="4378"/>
                </a:cubicBezTo>
                <a:cubicBezTo>
                  <a:pt x="170" y="4769"/>
                  <a:pt x="144" y="5173"/>
                  <a:pt x="131" y="5565"/>
                </a:cubicBezTo>
                <a:cubicBezTo>
                  <a:pt x="105" y="6203"/>
                  <a:pt x="14" y="6842"/>
                  <a:pt x="14" y="7481"/>
                </a:cubicBezTo>
                <a:cubicBezTo>
                  <a:pt x="1" y="7911"/>
                  <a:pt x="157" y="8315"/>
                  <a:pt x="613" y="8419"/>
                </a:cubicBezTo>
                <a:cubicBezTo>
                  <a:pt x="1056" y="8550"/>
                  <a:pt x="1526" y="8524"/>
                  <a:pt x="1982" y="8550"/>
                </a:cubicBezTo>
                <a:cubicBezTo>
                  <a:pt x="2243" y="8563"/>
                  <a:pt x="2503" y="8589"/>
                  <a:pt x="2764" y="8615"/>
                </a:cubicBezTo>
                <a:cubicBezTo>
                  <a:pt x="3885" y="8745"/>
                  <a:pt x="5006" y="8902"/>
                  <a:pt x="6140" y="8941"/>
                </a:cubicBezTo>
                <a:cubicBezTo>
                  <a:pt x="6220" y="8945"/>
                  <a:pt x="6302" y="8946"/>
                  <a:pt x="6383" y="8946"/>
                </a:cubicBezTo>
                <a:cubicBezTo>
                  <a:pt x="6581" y="8946"/>
                  <a:pt x="6781" y="8937"/>
                  <a:pt x="6974" y="8928"/>
                </a:cubicBezTo>
                <a:cubicBezTo>
                  <a:pt x="7118" y="8941"/>
                  <a:pt x="7274" y="8941"/>
                  <a:pt x="7418" y="8941"/>
                </a:cubicBezTo>
                <a:cubicBezTo>
                  <a:pt x="7568" y="8956"/>
                  <a:pt x="7723" y="8971"/>
                  <a:pt x="7877" y="8971"/>
                </a:cubicBezTo>
                <a:cubicBezTo>
                  <a:pt x="7990" y="8971"/>
                  <a:pt x="8103" y="8963"/>
                  <a:pt x="8213" y="8941"/>
                </a:cubicBezTo>
                <a:cubicBezTo>
                  <a:pt x="8643" y="8810"/>
                  <a:pt x="8565" y="8093"/>
                  <a:pt x="8604" y="7741"/>
                </a:cubicBezTo>
                <a:cubicBezTo>
                  <a:pt x="8669" y="6620"/>
                  <a:pt x="8539" y="5499"/>
                  <a:pt x="8487" y="4378"/>
                </a:cubicBezTo>
                <a:cubicBezTo>
                  <a:pt x="8434" y="3453"/>
                  <a:pt x="8330" y="2527"/>
                  <a:pt x="8252" y="1589"/>
                </a:cubicBezTo>
                <a:cubicBezTo>
                  <a:pt x="8200" y="1341"/>
                  <a:pt x="8239" y="637"/>
                  <a:pt x="8096" y="350"/>
                </a:cubicBezTo>
                <a:lnTo>
                  <a:pt x="8082" y="350"/>
                </a:lnTo>
                <a:cubicBezTo>
                  <a:pt x="8056" y="181"/>
                  <a:pt x="7952" y="51"/>
                  <a:pt x="7704" y="11"/>
                </a:cubicBezTo>
                <a:cubicBezTo>
                  <a:pt x="7645" y="4"/>
                  <a:pt x="7587" y="1"/>
                  <a:pt x="7529" y="1"/>
                </a:cubicBezTo>
                <a:close/>
              </a:path>
            </a:pathLst>
          </a:custGeom>
          <a:solidFill>
            <a:schemeClr val="bg1"/>
          </a:solidFill>
          <a:ln w="76200">
            <a:solidFill>
              <a:schemeClr val="tx1"/>
            </a:solid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5" name="Rectangle 24">
            <a:extLst>
              <a:ext uri="{FF2B5EF4-FFF2-40B4-BE49-F238E27FC236}">
                <a16:creationId xmlns:a16="http://schemas.microsoft.com/office/drawing/2014/main" id="{9B9B23AA-050D-4543-80A0-873FE31AFFF7}"/>
              </a:ext>
            </a:extLst>
          </p:cNvPr>
          <p:cNvSpPr/>
          <p:nvPr/>
        </p:nvSpPr>
        <p:spPr>
          <a:xfrm>
            <a:off x="2446471" y="2869098"/>
            <a:ext cx="513606" cy="936923"/>
          </a:xfrm>
          <a:prstGeom prst="rect">
            <a:avLst/>
          </a:prstGeom>
        </p:spPr>
        <p:txBody>
          <a:bodyPr wrap="none" lIns="0" tIns="0" rIns="0" bIns="0">
            <a:spAutoFit/>
          </a:bodyPr>
          <a:lstStyle/>
          <a:p>
            <a:pPr lvl="0">
              <a:lnSpc>
                <a:spcPct val="110000"/>
              </a:lnSpc>
            </a:pPr>
            <a:r>
              <a:rPr lang="fr-CI" sz="42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10</a:t>
            </a:r>
          </a:p>
        </p:txBody>
      </p:sp>
      <p:sp>
        <p:nvSpPr>
          <p:cNvPr id="10" name="Rectangle 9"/>
          <p:cNvSpPr/>
          <p:nvPr/>
        </p:nvSpPr>
        <p:spPr>
          <a:xfrm>
            <a:off x="3938554" y="2462184"/>
            <a:ext cx="3816000" cy="1200329"/>
          </a:xfrm>
          <a:prstGeom prst="rect">
            <a:avLst/>
          </a:prstGeom>
        </p:spPr>
        <p:txBody>
          <a:bodyPr wrap="square">
            <a:spAutoFit/>
          </a:bodyPr>
          <a:lstStyle/>
          <a:p>
            <a:r>
              <a:rPr lang="fr-CI" sz="3600" b="1" noProof="0">
                <a:solidFill>
                  <a:schemeClr val="bg1"/>
                </a:solidFill>
                <a:latin typeface="Helvetica" panose="020B0604020202020204" pitchFamily="34" charset="0"/>
                <a:cs typeface="Helvetica" panose="020B0604020202020204" pitchFamily="34" charset="0"/>
              </a:rPr>
              <a:t>Conformité prudentielle</a:t>
            </a:r>
          </a:p>
        </p:txBody>
      </p:sp>
      <p:pic>
        <p:nvPicPr>
          <p:cNvPr id="9" name="Image 8">
            <a:extLst>
              <a:ext uri="{FF2B5EF4-FFF2-40B4-BE49-F238E27FC236}">
                <a16:creationId xmlns:a16="http://schemas.microsoft.com/office/drawing/2014/main" id="{2C356854-0685-DCEF-E2F6-65D5E9653A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1274" y="-185107"/>
            <a:ext cx="3179518" cy="1268781"/>
          </a:xfrm>
          <a:prstGeom prst="rect">
            <a:avLst/>
          </a:prstGeom>
        </p:spPr>
      </p:pic>
      <p:sp>
        <p:nvSpPr>
          <p:cNvPr id="6" name="Rectangle 5"/>
          <p:cNvSpPr/>
          <p:nvPr/>
        </p:nvSpPr>
        <p:spPr>
          <a:xfrm>
            <a:off x="3938554" y="3337559"/>
            <a:ext cx="3816000" cy="923330"/>
          </a:xfrm>
          <a:prstGeom prst="rect">
            <a:avLst/>
          </a:prstGeom>
        </p:spPr>
        <p:txBody>
          <a:bodyPr wrap="square">
            <a:spAutoFit/>
          </a:bodyPr>
          <a:lstStyle/>
          <a:p>
            <a:br>
              <a:rPr lang="fr-CI" noProof="0">
                <a:solidFill>
                  <a:schemeClr val="bg1"/>
                </a:solidFill>
              </a:rPr>
            </a:br>
            <a:r>
              <a:rPr lang="fr-CI" noProof="0">
                <a:solidFill>
                  <a:srgbClr val="EFAC62"/>
                </a:solidFill>
                <a:latin typeface="Helvetica" panose="020B0604020202020204" pitchFamily="34" charset="0"/>
                <a:ea typeface="Open Sans Light" panose="020B0306030504020204" pitchFamily="34" charset="0"/>
                <a:cs typeface="Helvetica" panose="020B0604020202020204" pitchFamily="34" charset="0"/>
              </a:rPr>
              <a:t>Textes UEMOA, ratios, réserves, plan comptable, leviers de conformité</a:t>
            </a:r>
          </a:p>
        </p:txBody>
      </p:sp>
      <p:pic>
        <p:nvPicPr>
          <p:cNvPr id="11" name="Imag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5561" y="2415481"/>
            <a:ext cx="1566911" cy="1600975"/>
          </a:xfrm>
          <a:prstGeom prst="rect">
            <a:avLst/>
          </a:prstGeom>
        </p:spPr>
      </p:pic>
    </p:spTree>
    <p:extLst>
      <p:ext uri="{BB962C8B-B14F-4D97-AF65-F5344CB8AC3E}">
        <p14:creationId xmlns:p14="http://schemas.microsoft.com/office/powerpoint/2010/main" val="2366617427"/>
      </p:ext>
    </p:extLst>
  </p:cSld>
  <p:clrMapOvr>
    <a:masterClrMapping/>
  </p:clrMapOvr>
  <p:transition>
    <p:fade/>
  </p:transition>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Textes applicables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Cinq textes fixent les règles prudentielles que le FPPN doit respecter</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Les articles cités sont lus dans les textes intégraux. Les pages scannées ont été lues par reconnaissance optique de caractères (OCR) et vérifiées à l'image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textes cités, documentation publique de l'AIRMS fournie le 18/10/2026 (validée)</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81 : Textes de la mutualité sociale appliqués au FPPN</a:t>
            </a:r>
          </a:p>
        </p:txBody>
      </p:sp>
      <p:graphicFrame>
        <p:nvGraphicFramePr>
          <p:cNvPr id="32" name="Table 31"/>
          <p:cNvGraphicFramePr>
            <a:graphicFrameLocks noGrp="1"/>
          </p:cNvGraphicFramePr>
          <p:nvPr/>
        </p:nvGraphicFramePr>
        <p:xfrm>
          <a:off x="503999" y="1655999"/>
          <a:ext cx="11232000" cy="2189754"/>
        </p:xfrm>
        <a:graphic>
          <a:graphicData uri="http://schemas.openxmlformats.org/drawingml/2006/table">
            <a:tbl>
              <a:tblPr firstRow="0" bandRow="0">
                <a:tableStyleId>{5940675A-B579-460E-94D1-54222C63F5DA}</a:tableStyleId>
              </a:tblPr>
              <a:tblGrid>
                <a:gridCol w="3096000"/>
                <a:gridCol w="5688000"/>
                <a:gridCol w="2448000"/>
              </a:tblGrid>
              <a:tr h="225250">
                <a:tc>
                  <a:txBody>
                    <a:bodyPr/>
                    <a:lstStyle/>
                    <a:p>
                      <a:pPr marL="0" indent="0" lvl="0">
                        <a:buNone/>
                      </a:pPr>
                      <a:r>
                        <a:rPr sz="1100" b="1">
                          <a:solidFill>
                            <a:srgbClr val="FFFFFF"/>
                          </a:solidFill>
                          <a:latin typeface="Helvetica"/>
                        </a:rPr>
                        <a:t>Texte</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Ce qu'il impose au FPPN</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Articles utilisés</a:t>
                      </a:r>
                    </a:p>
                  </a:txBody>
                  <a:tcPr marL="43200" marR="43200" marT="14400" marB="14400" anchor="ctr">
                    <a:solidFill>
                      <a:srgbClr val="060606"/>
                    </a:solidFill>
                  </a:tcPr>
                </a:tc>
              </a:tr>
              <a:tr h="392901">
                <a:tc>
                  <a:txBody>
                    <a:bodyPr/>
                    <a:lstStyle/>
                    <a:p>
                      <a:pPr marL="0" indent="0" lvl="0">
                        <a:buNone/>
                      </a:pPr>
                      <a:r>
                        <a:rPr sz="1100" b="1">
                          <a:solidFill>
                            <a:srgbClr val="060606"/>
                          </a:solidFill>
                          <a:latin typeface="Helvetica"/>
                        </a:rPr>
                        <a:t>Règlement n° 07/2009/CM/UEMOA du 26/06/2009</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Il impose l'agrément, une comptabilité selon le plan comptable, la répartition des excédents en réserves et le placement des fonds en banque.</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Art. 22, 28, 60 à 63, 83, 84</a:t>
                      </a:r>
                    </a:p>
                  </a:txBody>
                  <a:tcPr marL="43200" marR="43200" marT="14400" marB="14400" anchor="ctr">
                    <a:solidFill>
                      <a:srgbClr val="FFFFFF"/>
                    </a:solidFill>
                  </a:tcPr>
                </a:tc>
              </a:tr>
              <a:tr h="392901">
                <a:tc>
                  <a:txBody>
                    <a:bodyPr/>
                    <a:lstStyle/>
                    <a:p>
                      <a:pPr marL="0" indent="0" lvl="0">
                        <a:buNone/>
                      </a:pPr>
                      <a:r>
                        <a:rPr sz="1100" b="1">
                          <a:solidFill>
                            <a:srgbClr val="060606"/>
                          </a:solidFill>
                          <a:latin typeface="Helvetica"/>
                        </a:rPr>
                        <a:t>Règlement d'exécution n° 004/2022/COM/UEMOA du 01/06/2022</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Il impose des provisions suffisantes, une réserve légale, des règles propres aux risques longs et le cantonnement des patrimoines.</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Art. 3 à 27, 35</a:t>
                      </a:r>
                    </a:p>
                  </a:txBody>
                  <a:tcPr marL="43200" marR="43200" marT="14400" marB="14400" anchor="ctr">
                    <a:solidFill>
                      <a:srgbClr val="F2F2F2"/>
                    </a:solidFill>
                  </a:tcPr>
                </a:tc>
              </a:tr>
              <a:tr h="560551">
                <a:tc>
                  <a:txBody>
                    <a:bodyPr/>
                    <a:lstStyle/>
                    <a:p>
                      <a:pPr marL="0" indent="0" lvl="0">
                        <a:buNone/>
                      </a:pPr>
                      <a:r>
                        <a:rPr sz="1100" b="1">
                          <a:solidFill>
                            <a:srgbClr val="060606"/>
                          </a:solidFill>
                          <a:latin typeface="Helvetica"/>
                        </a:rPr>
                        <a:t>Décision n° 05/2022/COM/UEMOA du 01/06/2022</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Elle fixe 13 indicateurs de gouvernance, 11 indicateurs de contrôle, 9 ratios pour les risques longs, la marge de solvabilité et l'affectation des excédents.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Annexe, tableaux 1 et 2, § 1.1 à 2.9</a:t>
                      </a:r>
                    </a:p>
                  </a:txBody>
                  <a:tcPr marL="43200" marR="43200" marT="14400" marB="14400" anchor="ctr">
                    <a:solidFill>
                      <a:srgbClr val="FFFFFF"/>
                    </a:solidFill>
                  </a:tcPr>
                </a:tc>
              </a:tr>
              <a:tr h="392901">
                <a:tc>
                  <a:txBody>
                    <a:bodyPr/>
                    <a:lstStyle/>
                    <a:p>
                      <a:pPr marL="0" indent="0" lvl="0">
                        <a:buNone/>
                      </a:pPr>
                      <a:r>
                        <a:rPr sz="1100" b="1">
                          <a:solidFill>
                            <a:srgbClr val="060606"/>
                          </a:solidFill>
                          <a:latin typeface="Helvetica"/>
                        </a:rPr>
                        <a:t>Règlement n° 03/2012/CM/UEMOA et PCMS de mai 2012</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Ils imposent le plan comptable des mutuelles sociales à partir de l'exercice ouvert le 1er janvier 2014.</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Art. 2. Liste des comptes. Fiches 1, 2, 6, 25</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Arrêté n° 00115/MEPS/CAB du 12/12/2023</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Il fixe les sanctions administratives et pécuniaires en cas de manquement.</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Annexe, lignes 6 et 13</a:t>
                      </a:r>
                    </a:p>
                  </a:txBody>
                  <a:tcPr marL="43200" marR="43200" marT="14400" marB="14400" anchor="ctr">
                    <a:solidFill>
                      <a:srgbClr val="FFFFFF"/>
                    </a:solidFill>
                  </a:tcPr>
                </a:tc>
              </a:tr>
            </a:tbl>
          </a:graphicData>
        </a:graphic>
      </p:graphicFrame>
      <p:sp>
        <p:nvSpPr>
          <p:cNvPr id="33" name="TextBox 32"/>
          <p:cNvSpPr txBox="1"/>
          <p:nvPr/>
        </p:nvSpPr>
        <p:spPr>
          <a:xfrm>
            <a:off x="503999" y="3953756"/>
            <a:ext cx="11232000" cy="162000"/>
          </a:xfrm>
          <a:prstGeom prst="rect">
            <a:avLst/>
          </a:prstGeom>
          <a:noFill/>
        </p:spPr>
        <p:txBody>
          <a:bodyPr wrap="square" anchor="t" lIns="54000" rIns="54000"/>
          <a:lstStyle/>
          <a:p>
            <a:pPr algn="l"/>
            <a:r>
              <a:rPr sz="850" b="0">
                <a:solidFill>
                  <a:srgbClr val="53565A"/>
                </a:solidFill>
                <a:latin typeface="Helvetica"/>
              </a:rPr>
              <a:t>Valable pour : textes de la mutualité sociale UEMOA et ivoirienne fournis le 18/10/2026. Versions en vigueur au 22/10/2026.</a:t>
            </a:r>
          </a:p>
        </p:txBody>
      </p:sp>
      <p:sp>
        <p:nvSpPr>
          <p:cNvPr id="34" name="TextBox 33"/>
          <p:cNvSpPr txBox="1"/>
          <p:nvPr/>
        </p:nvSpPr>
        <p:spPr>
          <a:xfrm>
            <a:off x="503999" y="4259756"/>
            <a:ext cx="11232000" cy="1608243"/>
          </a:xfrm>
          <a:prstGeom prst="rect">
            <a:avLst/>
          </a:prstGeom>
          <a:noFill/>
        </p:spPr>
        <p:txBody>
          <a:bodyPr wrap="square" lIns="54000" rIns="54000"/>
          <a:lstStyle/>
          <a:p>
            <a:pPr algn="just">
              <a:spcAft>
                <a:spcPts val="600"/>
              </a:spcAft>
            </a:pPr>
            <a:r>
              <a:rPr sz="1300" b="1">
                <a:solidFill>
                  <a:srgbClr val="060606"/>
                </a:solidFill>
                <a:latin typeface="Helvetica"/>
              </a:rPr>
              <a:t>Ces textes forment un ensemble complet et chiffré depuis juin 2022.</a:t>
            </a:r>
            <a:r>
              <a:rPr sz="1300" b="0">
                <a:solidFill>
                  <a:srgbClr val="060606"/>
                </a:solidFill>
                <a:latin typeface="Helvetica"/>
              </a:rPr>
              <a:t> Ils couvrent la comptabilité, les provisions, les réserves, la liquidité et les sanctions.</a:t>
            </a:r>
          </a:p>
          <a:p>
            <a:pPr algn="just">
              <a:spcAft>
                <a:spcPts val="600"/>
              </a:spcAft>
            </a:pPr>
            <a:r>
              <a:rPr sz="1300" b="0">
                <a:solidFill>
                  <a:srgbClr val="060606"/>
                </a:solidFill>
                <a:latin typeface="Helvetica"/>
              </a:rPr>
              <a:t>Le FPPN dépasse les seuils du système normal du plan comptable (plus de 10 millions de FCFA de cotisations ou plus de 1 000 adhérents, art. 4 du règlement d'exécution) : il doit tenir une comptabilité d'engagement et produire un TAFIRE (art. 5).</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Sigles : FPPN : Fonds de prévoyance de la Police nationale | AIRMS : Agence ivoirienne de régulation de la mutualité sociale | UEMOA : Union économique et monétaire ouest-africaine | PCMS : plan comptable des mutuelles sociales | S/C : prestations / cotisations | MEPS : ministère de l'Emploi et de la Protection sociale | TAFIRE : tableau financier des ressources et des emplois | OCR : reconnaissance optique de caractères</a:t>
            </a:r>
          </a:p>
        </p:txBody>
      </p:sp>
    </p:spTree>
    <p:extLst>
      <p:ext uri="{BB962C8B-B14F-4D97-AF65-F5344CB8AC3E}">
        <p14:creationId xmlns:p14="http://schemas.microsoft.com/office/powerpoint/2010/main" val="2041745155"/>
      </p:ext>
    </p:extLst>
  </p:cSld>
  <p:clrMapOvr>
    <a:masterClrMapping/>
  </p:clrMapOvr>
  <p:transition>
    <p:fade/>
  </p:transition>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Risques courts et risques longs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FPPN couvre des risques courts et, avec l'épargne, des risques longs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Un risque est long quand plus d'un an sépare la cotisation de la prestation (règlement d'exécution n° 004/2022, art. 1)</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règlement d'exécution n° 004/2022/COM/UEMOA du 1er juin 2022, art. 1, 3, 12 à 15. Fichiers de précomptes. Balances du FPPN</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82 : Qualification des garanties du FPPN</a:t>
            </a:r>
          </a:p>
        </p:txBody>
      </p:sp>
      <p:graphicFrame>
        <p:nvGraphicFramePr>
          <p:cNvPr id="32" name="Table 31"/>
          <p:cNvGraphicFramePr>
            <a:graphicFrameLocks noGrp="1"/>
          </p:cNvGraphicFramePr>
          <p:nvPr/>
        </p:nvGraphicFramePr>
        <p:xfrm>
          <a:off x="503999" y="1655999"/>
          <a:ext cx="11232000" cy="1796853"/>
        </p:xfrm>
        <a:graphic>
          <a:graphicData uri="http://schemas.openxmlformats.org/drawingml/2006/table">
            <a:tbl>
              <a:tblPr firstRow="0" bandRow="0">
                <a:tableStyleId>{5940675A-B579-460E-94D1-54222C63F5DA}</a:tableStyleId>
              </a:tblPr>
              <a:tblGrid>
                <a:gridCol w="1584000"/>
                <a:gridCol w="3024000"/>
                <a:gridCol w="2376000"/>
                <a:gridCol w="4248000"/>
              </a:tblGrid>
              <a:tr h="225250">
                <a:tc>
                  <a:txBody>
                    <a:bodyPr/>
                    <a:lstStyle/>
                    <a:p>
                      <a:pPr marL="0" indent="0" lvl="0">
                        <a:buNone/>
                      </a:pPr>
                      <a:r>
                        <a:rPr sz="1100" b="1">
                          <a:solidFill>
                            <a:srgbClr val="FFFFFF"/>
                          </a:solidFill>
                          <a:latin typeface="Helvetica"/>
                        </a:rPr>
                        <a:t>Garantie</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Délai entre cotisation et prestation</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Qualification proposée</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Conséquence</a:t>
                      </a:r>
                    </a:p>
                  </a:txBody>
                  <a:tcPr marL="43200" marR="43200" marT="14400" marB="14400" anchor="ctr">
                    <a:solidFill>
                      <a:srgbClr val="060606"/>
                    </a:solidFill>
                  </a:tcPr>
                </a:tc>
              </a:tr>
              <a:tr h="225250">
                <a:tc>
                  <a:txBody>
                    <a:bodyPr/>
                    <a:lstStyle/>
                    <a:p>
                      <a:pPr marL="0" indent="0" lvl="0">
                        <a:buNone/>
                      </a:pPr>
                      <a:r>
                        <a:rPr sz="1100" b="1">
                          <a:solidFill>
                            <a:srgbClr val="060606"/>
                          </a:solidFill>
                          <a:latin typeface="Helvetica"/>
                        </a:rPr>
                        <a:t>Maladie (936, CGRAE)</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Les soins sont payés dans l'année.</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Risque court</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Ratios du tableau 1 de la Décision n° 05/2022.</a:t>
                      </a:r>
                    </a:p>
                  </a:txBody>
                  <a:tcPr marL="43200" marR="43200" marT="14400" marB="14400" anchor="ctr">
                    <a:solidFill>
                      <a:srgbClr val="FFFFFF"/>
                    </a:solidFill>
                  </a:tcPr>
                </a:tc>
              </a:tr>
              <a:tr h="392901">
                <a:tc>
                  <a:txBody>
                    <a:bodyPr/>
                    <a:lstStyle/>
                    <a:p>
                      <a:pPr marL="0" indent="0" lvl="0">
                        <a:buNone/>
                      </a:pPr>
                      <a:r>
                        <a:rPr sz="1100" b="1">
                          <a:solidFill>
                            <a:srgbClr val="060606"/>
                          </a:solidFill>
                          <a:latin typeface="Helvetica"/>
                        </a:rPr>
                        <a:t>Décès (8Z6)</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Le capital est payé au décès, sans capitalisation connue.</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Risque court</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Ratios du tableau 1. Qualification à revoir si un mécanisme de capitalisation existe.</a:t>
                      </a:r>
                    </a:p>
                  </a:txBody>
                  <a:tcPr marL="43200" marR="43200" marT="14400" marB="14400" anchor="ctr">
                    <a:solidFill>
                      <a:srgbClr val="F2F2F2"/>
                    </a:solidFill>
                  </a:tcPr>
                </a:tc>
              </a:tr>
              <a:tr h="392901">
                <a:tc>
                  <a:txBody>
                    <a:bodyPr/>
                    <a:lstStyle/>
                    <a:p>
                      <a:pPr marL="0" indent="0" lvl="0">
                        <a:buNone/>
                      </a:pPr>
                      <a:r>
                        <a:rPr sz="1100" b="1">
                          <a:solidFill>
                            <a:srgbClr val="060606"/>
                          </a:solidFill>
                          <a:latin typeface="Helvetica"/>
                        </a:rPr>
                        <a:t>EFC (870)</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L'épargne est versée en fin de carrière, des années après les versements.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Risque long (vieillesse)</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Ratios de la section II, réserve de trésorerie, étude actuarielle, certification.</a:t>
                      </a:r>
                    </a:p>
                  </a:txBody>
                  <a:tcPr marL="43200" marR="43200" marT="14400" marB="14400" anchor="ctr">
                    <a:solidFill>
                      <a:srgbClr val="FFFFFF"/>
                    </a:solidFill>
                  </a:tcPr>
                </a:tc>
              </a:tr>
              <a:tr h="560551">
                <a:tc>
                  <a:txBody>
                    <a:bodyPr/>
                    <a:lstStyle/>
                    <a:p>
                      <a:pPr marL="0" indent="0" lvl="0">
                        <a:buNone/>
                      </a:pPr>
                      <a:r>
                        <a:rPr sz="1100" b="1">
                          <a:solidFill>
                            <a:srgbClr val="060606"/>
                          </a:solidFill>
                          <a:latin typeface="Helvetica"/>
                        </a:rPr>
                        <a:t>PEP (998)</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L'épargne est restituée à l'échéance du plan, en général après plus d'un an.</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Risque long (plan d'au moins trois ans, règlement intérieur, art. 66)</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Mêmes obligations que l'EFC.</a:t>
                      </a:r>
                    </a:p>
                  </a:txBody>
                  <a:tcPr marL="43200" marR="43200" marT="14400" marB="14400" anchor="ctr">
                    <a:solidFill>
                      <a:srgbClr val="F2F2F2"/>
                    </a:solidFill>
                  </a:tcPr>
                </a:tc>
              </a:tr>
            </a:tbl>
          </a:graphicData>
        </a:graphic>
      </p:graphicFrame>
      <p:sp>
        <p:nvSpPr>
          <p:cNvPr id="33" name="TextBox 32"/>
          <p:cNvSpPr txBox="1"/>
          <p:nvPr/>
        </p:nvSpPr>
        <p:spPr>
          <a:xfrm>
            <a:off x="503999" y="3560855"/>
            <a:ext cx="11232000" cy="306000"/>
          </a:xfrm>
          <a:prstGeom prst="rect">
            <a:avLst/>
          </a:prstGeom>
          <a:noFill/>
        </p:spPr>
        <p:txBody>
          <a:bodyPr wrap="square" anchor="t" lIns="54000" rIns="54000"/>
          <a:lstStyle/>
          <a:p>
            <a:pPr algn="l"/>
            <a:r>
              <a:rPr sz="850" b="0">
                <a:solidFill>
                  <a:srgbClr val="53565A"/>
                </a:solidFill>
                <a:latin typeface="Helvetica"/>
              </a:rPr>
              <a:t>Valable pour : garanties du FPPN qualifiées selon le règlement d'exécution n° 004/2022 (art. 1, 3, 12 à 15), sur les fichiers de précomptes et les balances « BALANCE FORMAT EXCEL DE 09-2020 AU 31-12-2020.xlsx » à « BALANCE FPPN DU 01-01-2026 AU 31-08-2026.xlsx ».</a:t>
            </a:r>
          </a:p>
        </p:txBody>
      </p:sp>
      <p:sp>
        <p:nvSpPr>
          <p:cNvPr id="34" name="TextBox 33"/>
          <p:cNvSpPr txBox="1"/>
          <p:nvPr/>
        </p:nvSpPr>
        <p:spPr>
          <a:xfrm>
            <a:off x="503999" y="4010855"/>
            <a:ext cx="11232000" cy="1857144"/>
          </a:xfrm>
          <a:prstGeom prst="rect">
            <a:avLst/>
          </a:prstGeom>
          <a:noFill/>
        </p:spPr>
        <p:txBody>
          <a:bodyPr wrap="square" lIns="54000" rIns="54000"/>
          <a:lstStyle/>
          <a:p>
            <a:pPr algn="just">
              <a:spcAft>
                <a:spcPts val="600"/>
              </a:spcAft>
            </a:pPr>
            <a:r>
              <a:rPr sz="1300" b="1">
                <a:solidFill>
                  <a:srgbClr val="060606"/>
                </a:solidFill>
                <a:latin typeface="Helvetica"/>
              </a:rPr>
              <a:t>Avec l'EFC et le PEP, le FPPN entre dans le champ des risques longs.</a:t>
            </a:r>
            <a:r>
              <a:rPr sz="1300" b="0">
                <a:solidFill>
                  <a:srgbClr val="060606"/>
                </a:solidFill>
                <a:latin typeface="Helvetica"/>
              </a:rPr>
              <a:t> Ces deux produits représentent 15 743 516 391 FCFA d'engagements au 31/08/2026.</a:t>
            </a:r>
          </a:p>
          <a:p>
            <a:pPr algn="just">
              <a:spcAft>
                <a:spcPts val="600"/>
              </a:spcAft>
            </a:pPr>
            <a:r>
              <a:rPr sz="1300" b="0">
                <a:solidFill>
                  <a:srgbClr val="060606"/>
                </a:solidFill>
                <a:latin typeface="Helvetica"/>
              </a:rPr>
              <a:t>Une mutuelle qui couvre à la fois des risques courts et longs doit cantonner ses patrimoines et séparer ses opérations (art. 15), faire certifier ses comptes par un commissaire aux comptes (art. 12) et réaliser une étude actuarielle tous les cinq ans (art. 14).</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CGRAE : Caisse générale de retraite des agents de l'État | PEP : Plan Épargne Plus | EFC : entraide fin de carrière | 936 : poste maladie | 8Z6 : poste décès | 870 : poste EFC | 998 : poste PEP</a:t>
            </a:r>
          </a:p>
        </p:txBody>
      </p:sp>
    </p:spTree>
    <p:extLst>
      <p:ext uri="{BB962C8B-B14F-4D97-AF65-F5344CB8AC3E}">
        <p14:creationId xmlns:p14="http://schemas.microsoft.com/office/powerpoint/2010/main" val="3407435090"/>
      </p:ext>
    </p:extLst>
  </p:cSld>
  <p:clrMapOvr>
    <a:masterClrMapping/>
  </p:clrMapOvr>
  <p:transition>
    <p:fade/>
  </p:transition>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1">
            <a:extLst>
              <a:ext uri="{FF2B5EF4-FFF2-40B4-BE49-F238E27FC236}">
                <a16:creationId xmlns:a16="http://schemas.microsoft.com/office/drawing/2014/main" id="{B8E3EC90-0B67-5A40-9A33-0584F45B7F83}"/>
              </a:ext>
            </a:extLst>
          </p:cNvPr>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15" name="ZoneTexte 14">
            <a:extLst>
              <a:ext uri="{FF2B5EF4-FFF2-40B4-BE49-F238E27FC236}">
                <a16:creationId xmlns:a16="http://schemas.microsoft.com/office/drawing/2014/main" id="{105C7D73-CA09-E6BB-E55A-DE5ED4264F4C}"/>
              </a:ext>
            </a:extLst>
          </p:cNvPr>
          <p:cNvSpPr txBox="1"/>
          <p:nvPr/>
        </p:nvSpPr>
        <p:spPr>
          <a:xfrm>
            <a:off x="222607" y="6396590"/>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3" name="Rounded Rectangle 5">
            <a:extLst>
              <a:ext uri="{FF2B5EF4-FFF2-40B4-BE49-F238E27FC236}">
                <a16:creationId xmlns:a16="http://schemas.microsoft.com/office/drawing/2014/main" id="{F036A678-2139-4604-A2D8-3656B956898F}"/>
              </a:ext>
            </a:extLst>
          </p:cNvPr>
          <p:cNvSpPr/>
          <p:nvPr/>
        </p:nvSpPr>
        <p:spPr>
          <a:xfrm>
            <a:off x="3129156" y="1489204"/>
            <a:ext cx="3270872" cy="1990634"/>
          </a:xfrm>
          <a:custGeom>
            <a:avLst/>
            <a:gdLst>
              <a:gd name="connsiteX0" fmla="*/ 0 w 2354580"/>
              <a:gd name="connsiteY0" fmla="*/ 398782 h 1432560"/>
              <a:gd name="connsiteX1" fmla="*/ 398782 w 2354580"/>
              <a:gd name="connsiteY1" fmla="*/ 0 h 1432560"/>
              <a:gd name="connsiteX2" fmla="*/ 1955798 w 2354580"/>
              <a:gd name="connsiteY2" fmla="*/ 0 h 1432560"/>
              <a:gd name="connsiteX3" fmla="*/ 2354580 w 2354580"/>
              <a:gd name="connsiteY3" fmla="*/ 398782 h 1432560"/>
              <a:gd name="connsiteX4" fmla="*/ 2354580 w 2354580"/>
              <a:gd name="connsiteY4" fmla="*/ 1033778 h 1432560"/>
              <a:gd name="connsiteX5" fmla="*/ 1955798 w 2354580"/>
              <a:gd name="connsiteY5" fmla="*/ 1432560 h 1432560"/>
              <a:gd name="connsiteX6" fmla="*/ 398782 w 2354580"/>
              <a:gd name="connsiteY6" fmla="*/ 1432560 h 1432560"/>
              <a:gd name="connsiteX7" fmla="*/ 0 w 2354580"/>
              <a:gd name="connsiteY7" fmla="*/ 1033778 h 1432560"/>
              <a:gd name="connsiteX8" fmla="*/ 0 w 2354580"/>
              <a:gd name="connsiteY8" fmla="*/ 398782 h 1432560"/>
              <a:gd name="connsiteX0" fmla="*/ 0 w 2362200"/>
              <a:gd name="connsiteY0" fmla="*/ 102717 h 1517495"/>
              <a:gd name="connsiteX1" fmla="*/ 406402 w 2362200"/>
              <a:gd name="connsiteY1" fmla="*/ 84935 h 1517495"/>
              <a:gd name="connsiteX2" fmla="*/ 1963418 w 2362200"/>
              <a:gd name="connsiteY2" fmla="*/ 84935 h 1517495"/>
              <a:gd name="connsiteX3" fmla="*/ 2362200 w 2362200"/>
              <a:gd name="connsiteY3" fmla="*/ 483717 h 1517495"/>
              <a:gd name="connsiteX4" fmla="*/ 2362200 w 2362200"/>
              <a:gd name="connsiteY4" fmla="*/ 1118713 h 1517495"/>
              <a:gd name="connsiteX5" fmla="*/ 1963418 w 2362200"/>
              <a:gd name="connsiteY5" fmla="*/ 1517495 h 1517495"/>
              <a:gd name="connsiteX6" fmla="*/ 406402 w 2362200"/>
              <a:gd name="connsiteY6" fmla="*/ 1517495 h 1517495"/>
              <a:gd name="connsiteX7" fmla="*/ 7620 w 2362200"/>
              <a:gd name="connsiteY7" fmla="*/ 1118713 h 1517495"/>
              <a:gd name="connsiteX8" fmla="*/ 0 w 2362200"/>
              <a:gd name="connsiteY8" fmla="*/ 102717 h 1517495"/>
              <a:gd name="connsiteX0" fmla="*/ 0 w 2362200"/>
              <a:gd name="connsiteY0" fmla="*/ 17782 h 1432560"/>
              <a:gd name="connsiteX1" fmla="*/ 406402 w 2362200"/>
              <a:gd name="connsiteY1" fmla="*/ 0 h 1432560"/>
              <a:gd name="connsiteX2" fmla="*/ 1963418 w 2362200"/>
              <a:gd name="connsiteY2" fmla="*/ 0 h 1432560"/>
              <a:gd name="connsiteX3" fmla="*/ 2362200 w 2362200"/>
              <a:gd name="connsiteY3" fmla="*/ 398782 h 1432560"/>
              <a:gd name="connsiteX4" fmla="*/ 2362200 w 2362200"/>
              <a:gd name="connsiteY4" fmla="*/ 1033778 h 1432560"/>
              <a:gd name="connsiteX5" fmla="*/ 1963418 w 2362200"/>
              <a:gd name="connsiteY5" fmla="*/ 1432560 h 1432560"/>
              <a:gd name="connsiteX6" fmla="*/ 406402 w 2362200"/>
              <a:gd name="connsiteY6" fmla="*/ 1432560 h 1432560"/>
              <a:gd name="connsiteX7" fmla="*/ 7620 w 2362200"/>
              <a:gd name="connsiteY7" fmla="*/ 1033778 h 1432560"/>
              <a:gd name="connsiteX8" fmla="*/ 0 w 2362200"/>
              <a:gd name="connsiteY8" fmla="*/ 17782 h 1432560"/>
              <a:gd name="connsiteX0" fmla="*/ 0 w 2362200"/>
              <a:gd name="connsiteY0" fmla="*/ 2542 h 1432560"/>
              <a:gd name="connsiteX1" fmla="*/ 406402 w 2362200"/>
              <a:gd name="connsiteY1" fmla="*/ 0 h 1432560"/>
              <a:gd name="connsiteX2" fmla="*/ 1963418 w 2362200"/>
              <a:gd name="connsiteY2" fmla="*/ 0 h 1432560"/>
              <a:gd name="connsiteX3" fmla="*/ 2362200 w 2362200"/>
              <a:gd name="connsiteY3" fmla="*/ 398782 h 1432560"/>
              <a:gd name="connsiteX4" fmla="*/ 2362200 w 2362200"/>
              <a:gd name="connsiteY4" fmla="*/ 1033778 h 1432560"/>
              <a:gd name="connsiteX5" fmla="*/ 1963418 w 2362200"/>
              <a:gd name="connsiteY5" fmla="*/ 1432560 h 1432560"/>
              <a:gd name="connsiteX6" fmla="*/ 406402 w 2362200"/>
              <a:gd name="connsiteY6" fmla="*/ 1432560 h 1432560"/>
              <a:gd name="connsiteX7" fmla="*/ 7620 w 2362200"/>
              <a:gd name="connsiteY7" fmla="*/ 1033778 h 1432560"/>
              <a:gd name="connsiteX8" fmla="*/ 0 w 2362200"/>
              <a:gd name="connsiteY8" fmla="*/ 2542 h 1432560"/>
              <a:gd name="connsiteX0" fmla="*/ 0 w 2354580"/>
              <a:gd name="connsiteY0" fmla="*/ 17782 h 1432560"/>
              <a:gd name="connsiteX1" fmla="*/ 398782 w 2354580"/>
              <a:gd name="connsiteY1" fmla="*/ 0 h 1432560"/>
              <a:gd name="connsiteX2" fmla="*/ 1955798 w 2354580"/>
              <a:gd name="connsiteY2" fmla="*/ 0 h 1432560"/>
              <a:gd name="connsiteX3" fmla="*/ 2354580 w 2354580"/>
              <a:gd name="connsiteY3" fmla="*/ 398782 h 1432560"/>
              <a:gd name="connsiteX4" fmla="*/ 2354580 w 2354580"/>
              <a:gd name="connsiteY4" fmla="*/ 1033778 h 1432560"/>
              <a:gd name="connsiteX5" fmla="*/ 1955798 w 2354580"/>
              <a:gd name="connsiteY5" fmla="*/ 1432560 h 1432560"/>
              <a:gd name="connsiteX6" fmla="*/ 398782 w 2354580"/>
              <a:gd name="connsiteY6" fmla="*/ 1432560 h 1432560"/>
              <a:gd name="connsiteX7" fmla="*/ 0 w 2354580"/>
              <a:gd name="connsiteY7" fmla="*/ 1033778 h 1432560"/>
              <a:gd name="connsiteX8" fmla="*/ 0 w 2354580"/>
              <a:gd name="connsiteY8" fmla="*/ 17782 h 1432560"/>
              <a:gd name="connsiteX0" fmla="*/ 0 w 2354580"/>
              <a:gd name="connsiteY0" fmla="*/ 0 h 1433828"/>
              <a:gd name="connsiteX1" fmla="*/ 398782 w 2354580"/>
              <a:gd name="connsiteY1" fmla="*/ 1268 h 1433828"/>
              <a:gd name="connsiteX2" fmla="*/ 1955798 w 2354580"/>
              <a:gd name="connsiteY2" fmla="*/ 1268 h 1433828"/>
              <a:gd name="connsiteX3" fmla="*/ 2354580 w 2354580"/>
              <a:gd name="connsiteY3" fmla="*/ 400050 h 1433828"/>
              <a:gd name="connsiteX4" fmla="*/ 2354580 w 2354580"/>
              <a:gd name="connsiteY4" fmla="*/ 1035046 h 1433828"/>
              <a:gd name="connsiteX5" fmla="*/ 1955798 w 2354580"/>
              <a:gd name="connsiteY5" fmla="*/ 1433828 h 1433828"/>
              <a:gd name="connsiteX6" fmla="*/ 398782 w 2354580"/>
              <a:gd name="connsiteY6" fmla="*/ 1433828 h 1433828"/>
              <a:gd name="connsiteX7" fmla="*/ 0 w 2354580"/>
              <a:gd name="connsiteY7" fmla="*/ 1035046 h 1433828"/>
              <a:gd name="connsiteX8" fmla="*/ 0 w 2354580"/>
              <a:gd name="connsiteY8" fmla="*/ 0 h 1433828"/>
              <a:gd name="connsiteX0" fmla="*/ 4763 w 2354580"/>
              <a:gd name="connsiteY0" fmla="*/ 3494 h 1432560"/>
              <a:gd name="connsiteX1" fmla="*/ 398782 w 2354580"/>
              <a:gd name="connsiteY1" fmla="*/ 0 h 1432560"/>
              <a:gd name="connsiteX2" fmla="*/ 1955798 w 2354580"/>
              <a:gd name="connsiteY2" fmla="*/ 0 h 1432560"/>
              <a:gd name="connsiteX3" fmla="*/ 2354580 w 2354580"/>
              <a:gd name="connsiteY3" fmla="*/ 398782 h 1432560"/>
              <a:gd name="connsiteX4" fmla="*/ 2354580 w 2354580"/>
              <a:gd name="connsiteY4" fmla="*/ 1033778 h 1432560"/>
              <a:gd name="connsiteX5" fmla="*/ 1955798 w 2354580"/>
              <a:gd name="connsiteY5" fmla="*/ 1432560 h 1432560"/>
              <a:gd name="connsiteX6" fmla="*/ 398782 w 2354580"/>
              <a:gd name="connsiteY6" fmla="*/ 1432560 h 1432560"/>
              <a:gd name="connsiteX7" fmla="*/ 0 w 2354580"/>
              <a:gd name="connsiteY7" fmla="*/ 1033778 h 1432560"/>
              <a:gd name="connsiteX8" fmla="*/ 4763 w 2354580"/>
              <a:gd name="connsiteY8" fmla="*/ 3494 h 1432560"/>
              <a:gd name="connsiteX0" fmla="*/ 2382 w 2354580"/>
              <a:gd name="connsiteY0" fmla="*/ 0 h 1436210"/>
              <a:gd name="connsiteX1" fmla="*/ 398782 w 2354580"/>
              <a:gd name="connsiteY1" fmla="*/ 3650 h 1436210"/>
              <a:gd name="connsiteX2" fmla="*/ 1955798 w 2354580"/>
              <a:gd name="connsiteY2" fmla="*/ 3650 h 1436210"/>
              <a:gd name="connsiteX3" fmla="*/ 2354580 w 2354580"/>
              <a:gd name="connsiteY3" fmla="*/ 402432 h 1436210"/>
              <a:gd name="connsiteX4" fmla="*/ 2354580 w 2354580"/>
              <a:gd name="connsiteY4" fmla="*/ 1037428 h 1436210"/>
              <a:gd name="connsiteX5" fmla="*/ 1955798 w 2354580"/>
              <a:gd name="connsiteY5" fmla="*/ 1436210 h 1436210"/>
              <a:gd name="connsiteX6" fmla="*/ 398782 w 2354580"/>
              <a:gd name="connsiteY6" fmla="*/ 1436210 h 1436210"/>
              <a:gd name="connsiteX7" fmla="*/ 0 w 2354580"/>
              <a:gd name="connsiteY7" fmla="*/ 1037428 h 1436210"/>
              <a:gd name="connsiteX8" fmla="*/ 2382 w 2354580"/>
              <a:gd name="connsiteY8" fmla="*/ 0 h 1436210"/>
              <a:gd name="connsiteX0" fmla="*/ 4763 w 2354580"/>
              <a:gd name="connsiteY0" fmla="*/ 5875 h 1432560"/>
              <a:gd name="connsiteX1" fmla="*/ 398782 w 2354580"/>
              <a:gd name="connsiteY1" fmla="*/ 0 h 1432560"/>
              <a:gd name="connsiteX2" fmla="*/ 1955798 w 2354580"/>
              <a:gd name="connsiteY2" fmla="*/ 0 h 1432560"/>
              <a:gd name="connsiteX3" fmla="*/ 2354580 w 2354580"/>
              <a:gd name="connsiteY3" fmla="*/ 398782 h 1432560"/>
              <a:gd name="connsiteX4" fmla="*/ 2354580 w 2354580"/>
              <a:gd name="connsiteY4" fmla="*/ 1033778 h 1432560"/>
              <a:gd name="connsiteX5" fmla="*/ 1955798 w 2354580"/>
              <a:gd name="connsiteY5" fmla="*/ 1432560 h 1432560"/>
              <a:gd name="connsiteX6" fmla="*/ 398782 w 2354580"/>
              <a:gd name="connsiteY6" fmla="*/ 1432560 h 1432560"/>
              <a:gd name="connsiteX7" fmla="*/ 0 w 2354580"/>
              <a:gd name="connsiteY7" fmla="*/ 1033778 h 1432560"/>
              <a:gd name="connsiteX8" fmla="*/ 4763 w 2354580"/>
              <a:gd name="connsiteY8" fmla="*/ 5875 h 1432560"/>
              <a:gd name="connsiteX0" fmla="*/ 4763 w 2354580"/>
              <a:gd name="connsiteY0" fmla="*/ 0 h 1433829"/>
              <a:gd name="connsiteX1" fmla="*/ 398782 w 2354580"/>
              <a:gd name="connsiteY1" fmla="*/ 1269 h 1433829"/>
              <a:gd name="connsiteX2" fmla="*/ 1955798 w 2354580"/>
              <a:gd name="connsiteY2" fmla="*/ 1269 h 1433829"/>
              <a:gd name="connsiteX3" fmla="*/ 2354580 w 2354580"/>
              <a:gd name="connsiteY3" fmla="*/ 400051 h 1433829"/>
              <a:gd name="connsiteX4" fmla="*/ 2354580 w 2354580"/>
              <a:gd name="connsiteY4" fmla="*/ 1035047 h 1433829"/>
              <a:gd name="connsiteX5" fmla="*/ 1955798 w 2354580"/>
              <a:gd name="connsiteY5" fmla="*/ 1433829 h 1433829"/>
              <a:gd name="connsiteX6" fmla="*/ 398782 w 2354580"/>
              <a:gd name="connsiteY6" fmla="*/ 1433829 h 1433829"/>
              <a:gd name="connsiteX7" fmla="*/ 0 w 2354580"/>
              <a:gd name="connsiteY7" fmla="*/ 1035047 h 1433829"/>
              <a:gd name="connsiteX8" fmla="*/ 4763 w 2354580"/>
              <a:gd name="connsiteY8" fmla="*/ 0 h 1433829"/>
              <a:gd name="connsiteX0" fmla="*/ 4763 w 2354580"/>
              <a:gd name="connsiteY0" fmla="*/ 0 h 1433829"/>
              <a:gd name="connsiteX1" fmla="*/ 398782 w 2354580"/>
              <a:gd name="connsiteY1" fmla="*/ 1269 h 1433829"/>
              <a:gd name="connsiteX2" fmla="*/ 1955798 w 2354580"/>
              <a:gd name="connsiteY2" fmla="*/ 1269 h 1433829"/>
              <a:gd name="connsiteX3" fmla="*/ 2354580 w 2354580"/>
              <a:gd name="connsiteY3" fmla="*/ 400051 h 1433829"/>
              <a:gd name="connsiteX4" fmla="*/ 2354580 w 2354580"/>
              <a:gd name="connsiteY4" fmla="*/ 1035047 h 1433829"/>
              <a:gd name="connsiteX5" fmla="*/ 1955798 w 2354580"/>
              <a:gd name="connsiteY5" fmla="*/ 1433829 h 1433829"/>
              <a:gd name="connsiteX6" fmla="*/ 398782 w 2354580"/>
              <a:gd name="connsiteY6" fmla="*/ 1433829 h 1433829"/>
              <a:gd name="connsiteX7" fmla="*/ 0 w 2354580"/>
              <a:gd name="connsiteY7" fmla="*/ 1035047 h 1433829"/>
              <a:gd name="connsiteX8" fmla="*/ 4763 w 2354580"/>
              <a:gd name="connsiteY8" fmla="*/ 0 h 1433829"/>
              <a:gd name="connsiteX0" fmla="*/ 4763 w 2354580"/>
              <a:gd name="connsiteY0" fmla="*/ 0 h 1433829"/>
              <a:gd name="connsiteX1" fmla="*/ 398782 w 2354580"/>
              <a:gd name="connsiteY1" fmla="*/ 1269 h 1433829"/>
              <a:gd name="connsiteX2" fmla="*/ 1955798 w 2354580"/>
              <a:gd name="connsiteY2" fmla="*/ 1269 h 1433829"/>
              <a:gd name="connsiteX3" fmla="*/ 2354580 w 2354580"/>
              <a:gd name="connsiteY3" fmla="*/ 400051 h 1433829"/>
              <a:gd name="connsiteX4" fmla="*/ 2354580 w 2354580"/>
              <a:gd name="connsiteY4" fmla="*/ 1035047 h 1433829"/>
              <a:gd name="connsiteX5" fmla="*/ 1955798 w 2354580"/>
              <a:gd name="connsiteY5" fmla="*/ 1433829 h 1433829"/>
              <a:gd name="connsiteX6" fmla="*/ 398782 w 2354580"/>
              <a:gd name="connsiteY6" fmla="*/ 1433829 h 1433829"/>
              <a:gd name="connsiteX7" fmla="*/ 0 w 2354580"/>
              <a:gd name="connsiteY7" fmla="*/ 1035047 h 1433829"/>
              <a:gd name="connsiteX8" fmla="*/ 4763 w 2354580"/>
              <a:gd name="connsiteY8" fmla="*/ 0 h 1433829"/>
              <a:gd name="connsiteX0" fmla="*/ 4763 w 2432776"/>
              <a:gd name="connsiteY0" fmla="*/ 0 h 1433829"/>
              <a:gd name="connsiteX1" fmla="*/ 398782 w 2432776"/>
              <a:gd name="connsiteY1" fmla="*/ 1269 h 1433829"/>
              <a:gd name="connsiteX2" fmla="*/ 1955798 w 2432776"/>
              <a:gd name="connsiteY2" fmla="*/ 1269 h 1433829"/>
              <a:gd name="connsiteX3" fmla="*/ 2354580 w 2432776"/>
              <a:gd name="connsiteY3" fmla="*/ 400051 h 1433829"/>
              <a:gd name="connsiteX4" fmla="*/ 2354580 w 2432776"/>
              <a:gd name="connsiteY4" fmla="*/ 1035047 h 1433829"/>
              <a:gd name="connsiteX5" fmla="*/ 2327273 w 2432776"/>
              <a:gd name="connsiteY5" fmla="*/ 1433829 h 1433829"/>
              <a:gd name="connsiteX6" fmla="*/ 398782 w 2432776"/>
              <a:gd name="connsiteY6" fmla="*/ 1433829 h 1433829"/>
              <a:gd name="connsiteX7" fmla="*/ 0 w 2432776"/>
              <a:gd name="connsiteY7" fmla="*/ 1035047 h 1433829"/>
              <a:gd name="connsiteX8" fmla="*/ 4763 w 2432776"/>
              <a:gd name="connsiteY8" fmla="*/ 0 h 1433829"/>
              <a:gd name="connsiteX0" fmla="*/ 4763 w 2441222"/>
              <a:gd name="connsiteY0" fmla="*/ 0 h 1433829"/>
              <a:gd name="connsiteX1" fmla="*/ 398782 w 2441222"/>
              <a:gd name="connsiteY1" fmla="*/ 1269 h 1433829"/>
              <a:gd name="connsiteX2" fmla="*/ 1955798 w 2441222"/>
              <a:gd name="connsiteY2" fmla="*/ 1269 h 1433829"/>
              <a:gd name="connsiteX3" fmla="*/ 2354580 w 2441222"/>
              <a:gd name="connsiteY3" fmla="*/ 400051 h 1433829"/>
              <a:gd name="connsiteX4" fmla="*/ 2354580 w 2441222"/>
              <a:gd name="connsiteY4" fmla="*/ 1035047 h 1433829"/>
              <a:gd name="connsiteX5" fmla="*/ 2339179 w 2441222"/>
              <a:gd name="connsiteY5" fmla="*/ 1431447 h 1433829"/>
              <a:gd name="connsiteX6" fmla="*/ 398782 w 2441222"/>
              <a:gd name="connsiteY6" fmla="*/ 1433829 h 1433829"/>
              <a:gd name="connsiteX7" fmla="*/ 0 w 2441222"/>
              <a:gd name="connsiteY7" fmla="*/ 1035047 h 1433829"/>
              <a:gd name="connsiteX8" fmla="*/ 4763 w 2441222"/>
              <a:gd name="connsiteY8" fmla="*/ 0 h 1433829"/>
              <a:gd name="connsiteX0" fmla="*/ 4763 w 2449885"/>
              <a:gd name="connsiteY0" fmla="*/ 0 h 1433829"/>
              <a:gd name="connsiteX1" fmla="*/ 398782 w 2449885"/>
              <a:gd name="connsiteY1" fmla="*/ 1269 h 1433829"/>
              <a:gd name="connsiteX2" fmla="*/ 1955798 w 2449885"/>
              <a:gd name="connsiteY2" fmla="*/ 1269 h 1433829"/>
              <a:gd name="connsiteX3" fmla="*/ 2354580 w 2449885"/>
              <a:gd name="connsiteY3" fmla="*/ 400051 h 1433829"/>
              <a:gd name="connsiteX4" fmla="*/ 2354580 w 2449885"/>
              <a:gd name="connsiteY4" fmla="*/ 1035047 h 1433829"/>
              <a:gd name="connsiteX5" fmla="*/ 2351086 w 2449885"/>
              <a:gd name="connsiteY5" fmla="*/ 1433828 h 1433829"/>
              <a:gd name="connsiteX6" fmla="*/ 398782 w 2449885"/>
              <a:gd name="connsiteY6" fmla="*/ 1433829 h 1433829"/>
              <a:gd name="connsiteX7" fmla="*/ 0 w 2449885"/>
              <a:gd name="connsiteY7" fmla="*/ 1035047 h 1433829"/>
              <a:gd name="connsiteX8" fmla="*/ 4763 w 2449885"/>
              <a:gd name="connsiteY8" fmla="*/ 0 h 1433829"/>
              <a:gd name="connsiteX0" fmla="*/ 4763 w 2355967"/>
              <a:gd name="connsiteY0" fmla="*/ 0 h 1433829"/>
              <a:gd name="connsiteX1" fmla="*/ 398782 w 2355967"/>
              <a:gd name="connsiteY1" fmla="*/ 1269 h 1433829"/>
              <a:gd name="connsiteX2" fmla="*/ 1955798 w 2355967"/>
              <a:gd name="connsiteY2" fmla="*/ 1269 h 1433829"/>
              <a:gd name="connsiteX3" fmla="*/ 2354580 w 2355967"/>
              <a:gd name="connsiteY3" fmla="*/ 400051 h 1433829"/>
              <a:gd name="connsiteX4" fmla="*/ 2354580 w 2355967"/>
              <a:gd name="connsiteY4" fmla="*/ 1035047 h 1433829"/>
              <a:gd name="connsiteX5" fmla="*/ 2351086 w 2355967"/>
              <a:gd name="connsiteY5" fmla="*/ 1433828 h 1433829"/>
              <a:gd name="connsiteX6" fmla="*/ 398782 w 2355967"/>
              <a:gd name="connsiteY6" fmla="*/ 1433829 h 1433829"/>
              <a:gd name="connsiteX7" fmla="*/ 0 w 2355967"/>
              <a:gd name="connsiteY7" fmla="*/ 1035047 h 1433829"/>
              <a:gd name="connsiteX8" fmla="*/ 4763 w 2355967"/>
              <a:gd name="connsiteY8" fmla="*/ 0 h 14338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355967" h="1433829">
                <a:moveTo>
                  <a:pt x="4763" y="0"/>
                </a:moveTo>
                <a:cubicBezTo>
                  <a:pt x="30957" y="1215"/>
                  <a:pt x="178541" y="1269"/>
                  <a:pt x="398782" y="1269"/>
                </a:cubicBezTo>
                <a:lnTo>
                  <a:pt x="1955798" y="1269"/>
                </a:lnTo>
                <a:cubicBezTo>
                  <a:pt x="2176039" y="1269"/>
                  <a:pt x="2354580" y="179810"/>
                  <a:pt x="2354580" y="400051"/>
                </a:cubicBezTo>
                <a:lnTo>
                  <a:pt x="2354580" y="1035047"/>
                </a:lnTo>
                <a:cubicBezTo>
                  <a:pt x="2354580" y="1255288"/>
                  <a:pt x="2359396" y="1431446"/>
                  <a:pt x="2351086" y="1433828"/>
                </a:cubicBezTo>
                <a:lnTo>
                  <a:pt x="398782" y="1433829"/>
                </a:lnTo>
                <a:cubicBezTo>
                  <a:pt x="178541" y="1433829"/>
                  <a:pt x="0" y="1255288"/>
                  <a:pt x="0" y="1035047"/>
                </a:cubicBezTo>
                <a:cubicBezTo>
                  <a:pt x="1588" y="691619"/>
                  <a:pt x="3175" y="343428"/>
                  <a:pt x="4763" y="0"/>
                </a:cubicBezTo>
                <a:close/>
              </a:path>
            </a:pathLst>
          </a:custGeom>
          <a:noFill/>
          <a:ln w="19050">
            <a:solidFill>
              <a:srgbClr val="112A40"/>
            </a:solidFill>
          </a:ln>
        </p:spPr>
        <p:style>
          <a:lnRef idx="2">
            <a:schemeClr val="accent1">
              <a:shade val="50000"/>
            </a:schemeClr>
          </a:lnRef>
          <a:fillRef idx="1">
            <a:schemeClr val="accent1"/>
          </a:fillRef>
          <a:effectRef idx="0">
            <a:schemeClr val="accent1"/>
          </a:effectRef>
          <a:fontRef idx="minor">
            <a:schemeClr val="lt1"/>
          </a:fontRef>
        </p:style>
        <p:txBody>
          <a:bodyPr lIns="91440" tIns="91440" rIns="91440" bIns="91440" rtlCol="0" anchor="ctr">
            <a:noAutofit/>
          </a:bodyPr>
          <a:lstStyle/>
          <a:p>
            <a:pPr algn="ctr"/>
            <a:endParaRPr lang="fr-CI" sz="1400" noProof="0">
              <a:solidFill>
                <a:schemeClr val="tx2"/>
              </a:solidFill>
            </a:endParaRPr>
          </a:p>
        </p:txBody>
      </p:sp>
      <p:sp>
        <p:nvSpPr>
          <p:cNvPr id="4" name="Rounded Rectangle 5">
            <a:extLst>
              <a:ext uri="{FF2B5EF4-FFF2-40B4-BE49-F238E27FC236}">
                <a16:creationId xmlns:a16="http://schemas.microsoft.com/office/drawing/2014/main" id="{7D09F7F3-AD70-F22F-FF80-50BF6DD57968}"/>
              </a:ext>
            </a:extLst>
          </p:cNvPr>
          <p:cNvSpPr/>
          <p:nvPr/>
        </p:nvSpPr>
        <p:spPr>
          <a:xfrm>
            <a:off x="6391951" y="3585630"/>
            <a:ext cx="3270872" cy="1990634"/>
          </a:xfrm>
          <a:custGeom>
            <a:avLst/>
            <a:gdLst>
              <a:gd name="connsiteX0" fmla="*/ 0 w 2354580"/>
              <a:gd name="connsiteY0" fmla="*/ 398782 h 1432560"/>
              <a:gd name="connsiteX1" fmla="*/ 398782 w 2354580"/>
              <a:gd name="connsiteY1" fmla="*/ 0 h 1432560"/>
              <a:gd name="connsiteX2" fmla="*/ 1955798 w 2354580"/>
              <a:gd name="connsiteY2" fmla="*/ 0 h 1432560"/>
              <a:gd name="connsiteX3" fmla="*/ 2354580 w 2354580"/>
              <a:gd name="connsiteY3" fmla="*/ 398782 h 1432560"/>
              <a:gd name="connsiteX4" fmla="*/ 2354580 w 2354580"/>
              <a:gd name="connsiteY4" fmla="*/ 1033778 h 1432560"/>
              <a:gd name="connsiteX5" fmla="*/ 1955798 w 2354580"/>
              <a:gd name="connsiteY5" fmla="*/ 1432560 h 1432560"/>
              <a:gd name="connsiteX6" fmla="*/ 398782 w 2354580"/>
              <a:gd name="connsiteY6" fmla="*/ 1432560 h 1432560"/>
              <a:gd name="connsiteX7" fmla="*/ 0 w 2354580"/>
              <a:gd name="connsiteY7" fmla="*/ 1033778 h 1432560"/>
              <a:gd name="connsiteX8" fmla="*/ 0 w 2354580"/>
              <a:gd name="connsiteY8" fmla="*/ 398782 h 1432560"/>
              <a:gd name="connsiteX0" fmla="*/ 0 w 2362200"/>
              <a:gd name="connsiteY0" fmla="*/ 102717 h 1517495"/>
              <a:gd name="connsiteX1" fmla="*/ 406402 w 2362200"/>
              <a:gd name="connsiteY1" fmla="*/ 84935 h 1517495"/>
              <a:gd name="connsiteX2" fmla="*/ 1963418 w 2362200"/>
              <a:gd name="connsiteY2" fmla="*/ 84935 h 1517495"/>
              <a:gd name="connsiteX3" fmla="*/ 2362200 w 2362200"/>
              <a:gd name="connsiteY3" fmla="*/ 483717 h 1517495"/>
              <a:gd name="connsiteX4" fmla="*/ 2362200 w 2362200"/>
              <a:gd name="connsiteY4" fmla="*/ 1118713 h 1517495"/>
              <a:gd name="connsiteX5" fmla="*/ 1963418 w 2362200"/>
              <a:gd name="connsiteY5" fmla="*/ 1517495 h 1517495"/>
              <a:gd name="connsiteX6" fmla="*/ 406402 w 2362200"/>
              <a:gd name="connsiteY6" fmla="*/ 1517495 h 1517495"/>
              <a:gd name="connsiteX7" fmla="*/ 7620 w 2362200"/>
              <a:gd name="connsiteY7" fmla="*/ 1118713 h 1517495"/>
              <a:gd name="connsiteX8" fmla="*/ 0 w 2362200"/>
              <a:gd name="connsiteY8" fmla="*/ 102717 h 1517495"/>
              <a:gd name="connsiteX0" fmla="*/ 0 w 2362200"/>
              <a:gd name="connsiteY0" fmla="*/ 17782 h 1432560"/>
              <a:gd name="connsiteX1" fmla="*/ 406402 w 2362200"/>
              <a:gd name="connsiteY1" fmla="*/ 0 h 1432560"/>
              <a:gd name="connsiteX2" fmla="*/ 1963418 w 2362200"/>
              <a:gd name="connsiteY2" fmla="*/ 0 h 1432560"/>
              <a:gd name="connsiteX3" fmla="*/ 2362200 w 2362200"/>
              <a:gd name="connsiteY3" fmla="*/ 398782 h 1432560"/>
              <a:gd name="connsiteX4" fmla="*/ 2362200 w 2362200"/>
              <a:gd name="connsiteY4" fmla="*/ 1033778 h 1432560"/>
              <a:gd name="connsiteX5" fmla="*/ 1963418 w 2362200"/>
              <a:gd name="connsiteY5" fmla="*/ 1432560 h 1432560"/>
              <a:gd name="connsiteX6" fmla="*/ 406402 w 2362200"/>
              <a:gd name="connsiteY6" fmla="*/ 1432560 h 1432560"/>
              <a:gd name="connsiteX7" fmla="*/ 7620 w 2362200"/>
              <a:gd name="connsiteY7" fmla="*/ 1033778 h 1432560"/>
              <a:gd name="connsiteX8" fmla="*/ 0 w 2362200"/>
              <a:gd name="connsiteY8" fmla="*/ 17782 h 1432560"/>
              <a:gd name="connsiteX0" fmla="*/ 0 w 2362200"/>
              <a:gd name="connsiteY0" fmla="*/ 2542 h 1432560"/>
              <a:gd name="connsiteX1" fmla="*/ 406402 w 2362200"/>
              <a:gd name="connsiteY1" fmla="*/ 0 h 1432560"/>
              <a:gd name="connsiteX2" fmla="*/ 1963418 w 2362200"/>
              <a:gd name="connsiteY2" fmla="*/ 0 h 1432560"/>
              <a:gd name="connsiteX3" fmla="*/ 2362200 w 2362200"/>
              <a:gd name="connsiteY3" fmla="*/ 398782 h 1432560"/>
              <a:gd name="connsiteX4" fmla="*/ 2362200 w 2362200"/>
              <a:gd name="connsiteY4" fmla="*/ 1033778 h 1432560"/>
              <a:gd name="connsiteX5" fmla="*/ 1963418 w 2362200"/>
              <a:gd name="connsiteY5" fmla="*/ 1432560 h 1432560"/>
              <a:gd name="connsiteX6" fmla="*/ 406402 w 2362200"/>
              <a:gd name="connsiteY6" fmla="*/ 1432560 h 1432560"/>
              <a:gd name="connsiteX7" fmla="*/ 7620 w 2362200"/>
              <a:gd name="connsiteY7" fmla="*/ 1033778 h 1432560"/>
              <a:gd name="connsiteX8" fmla="*/ 0 w 2362200"/>
              <a:gd name="connsiteY8" fmla="*/ 2542 h 1432560"/>
              <a:gd name="connsiteX0" fmla="*/ 0 w 2354580"/>
              <a:gd name="connsiteY0" fmla="*/ 17782 h 1432560"/>
              <a:gd name="connsiteX1" fmla="*/ 398782 w 2354580"/>
              <a:gd name="connsiteY1" fmla="*/ 0 h 1432560"/>
              <a:gd name="connsiteX2" fmla="*/ 1955798 w 2354580"/>
              <a:gd name="connsiteY2" fmla="*/ 0 h 1432560"/>
              <a:gd name="connsiteX3" fmla="*/ 2354580 w 2354580"/>
              <a:gd name="connsiteY3" fmla="*/ 398782 h 1432560"/>
              <a:gd name="connsiteX4" fmla="*/ 2354580 w 2354580"/>
              <a:gd name="connsiteY4" fmla="*/ 1033778 h 1432560"/>
              <a:gd name="connsiteX5" fmla="*/ 1955798 w 2354580"/>
              <a:gd name="connsiteY5" fmla="*/ 1432560 h 1432560"/>
              <a:gd name="connsiteX6" fmla="*/ 398782 w 2354580"/>
              <a:gd name="connsiteY6" fmla="*/ 1432560 h 1432560"/>
              <a:gd name="connsiteX7" fmla="*/ 0 w 2354580"/>
              <a:gd name="connsiteY7" fmla="*/ 1033778 h 1432560"/>
              <a:gd name="connsiteX8" fmla="*/ 0 w 2354580"/>
              <a:gd name="connsiteY8" fmla="*/ 17782 h 1432560"/>
              <a:gd name="connsiteX0" fmla="*/ 0 w 2354580"/>
              <a:gd name="connsiteY0" fmla="*/ 0 h 1433828"/>
              <a:gd name="connsiteX1" fmla="*/ 398782 w 2354580"/>
              <a:gd name="connsiteY1" fmla="*/ 1268 h 1433828"/>
              <a:gd name="connsiteX2" fmla="*/ 1955798 w 2354580"/>
              <a:gd name="connsiteY2" fmla="*/ 1268 h 1433828"/>
              <a:gd name="connsiteX3" fmla="*/ 2354580 w 2354580"/>
              <a:gd name="connsiteY3" fmla="*/ 400050 h 1433828"/>
              <a:gd name="connsiteX4" fmla="*/ 2354580 w 2354580"/>
              <a:gd name="connsiteY4" fmla="*/ 1035046 h 1433828"/>
              <a:gd name="connsiteX5" fmla="*/ 1955798 w 2354580"/>
              <a:gd name="connsiteY5" fmla="*/ 1433828 h 1433828"/>
              <a:gd name="connsiteX6" fmla="*/ 398782 w 2354580"/>
              <a:gd name="connsiteY6" fmla="*/ 1433828 h 1433828"/>
              <a:gd name="connsiteX7" fmla="*/ 0 w 2354580"/>
              <a:gd name="connsiteY7" fmla="*/ 1035046 h 1433828"/>
              <a:gd name="connsiteX8" fmla="*/ 0 w 2354580"/>
              <a:gd name="connsiteY8" fmla="*/ 0 h 1433828"/>
              <a:gd name="connsiteX0" fmla="*/ 4763 w 2354580"/>
              <a:gd name="connsiteY0" fmla="*/ 3494 h 1432560"/>
              <a:gd name="connsiteX1" fmla="*/ 398782 w 2354580"/>
              <a:gd name="connsiteY1" fmla="*/ 0 h 1432560"/>
              <a:gd name="connsiteX2" fmla="*/ 1955798 w 2354580"/>
              <a:gd name="connsiteY2" fmla="*/ 0 h 1432560"/>
              <a:gd name="connsiteX3" fmla="*/ 2354580 w 2354580"/>
              <a:gd name="connsiteY3" fmla="*/ 398782 h 1432560"/>
              <a:gd name="connsiteX4" fmla="*/ 2354580 w 2354580"/>
              <a:gd name="connsiteY4" fmla="*/ 1033778 h 1432560"/>
              <a:gd name="connsiteX5" fmla="*/ 1955798 w 2354580"/>
              <a:gd name="connsiteY5" fmla="*/ 1432560 h 1432560"/>
              <a:gd name="connsiteX6" fmla="*/ 398782 w 2354580"/>
              <a:gd name="connsiteY6" fmla="*/ 1432560 h 1432560"/>
              <a:gd name="connsiteX7" fmla="*/ 0 w 2354580"/>
              <a:gd name="connsiteY7" fmla="*/ 1033778 h 1432560"/>
              <a:gd name="connsiteX8" fmla="*/ 4763 w 2354580"/>
              <a:gd name="connsiteY8" fmla="*/ 3494 h 1432560"/>
              <a:gd name="connsiteX0" fmla="*/ 2382 w 2354580"/>
              <a:gd name="connsiteY0" fmla="*/ 0 h 1436210"/>
              <a:gd name="connsiteX1" fmla="*/ 398782 w 2354580"/>
              <a:gd name="connsiteY1" fmla="*/ 3650 h 1436210"/>
              <a:gd name="connsiteX2" fmla="*/ 1955798 w 2354580"/>
              <a:gd name="connsiteY2" fmla="*/ 3650 h 1436210"/>
              <a:gd name="connsiteX3" fmla="*/ 2354580 w 2354580"/>
              <a:gd name="connsiteY3" fmla="*/ 402432 h 1436210"/>
              <a:gd name="connsiteX4" fmla="*/ 2354580 w 2354580"/>
              <a:gd name="connsiteY4" fmla="*/ 1037428 h 1436210"/>
              <a:gd name="connsiteX5" fmla="*/ 1955798 w 2354580"/>
              <a:gd name="connsiteY5" fmla="*/ 1436210 h 1436210"/>
              <a:gd name="connsiteX6" fmla="*/ 398782 w 2354580"/>
              <a:gd name="connsiteY6" fmla="*/ 1436210 h 1436210"/>
              <a:gd name="connsiteX7" fmla="*/ 0 w 2354580"/>
              <a:gd name="connsiteY7" fmla="*/ 1037428 h 1436210"/>
              <a:gd name="connsiteX8" fmla="*/ 2382 w 2354580"/>
              <a:gd name="connsiteY8" fmla="*/ 0 h 1436210"/>
              <a:gd name="connsiteX0" fmla="*/ 4763 w 2354580"/>
              <a:gd name="connsiteY0" fmla="*/ 5875 h 1432560"/>
              <a:gd name="connsiteX1" fmla="*/ 398782 w 2354580"/>
              <a:gd name="connsiteY1" fmla="*/ 0 h 1432560"/>
              <a:gd name="connsiteX2" fmla="*/ 1955798 w 2354580"/>
              <a:gd name="connsiteY2" fmla="*/ 0 h 1432560"/>
              <a:gd name="connsiteX3" fmla="*/ 2354580 w 2354580"/>
              <a:gd name="connsiteY3" fmla="*/ 398782 h 1432560"/>
              <a:gd name="connsiteX4" fmla="*/ 2354580 w 2354580"/>
              <a:gd name="connsiteY4" fmla="*/ 1033778 h 1432560"/>
              <a:gd name="connsiteX5" fmla="*/ 1955798 w 2354580"/>
              <a:gd name="connsiteY5" fmla="*/ 1432560 h 1432560"/>
              <a:gd name="connsiteX6" fmla="*/ 398782 w 2354580"/>
              <a:gd name="connsiteY6" fmla="*/ 1432560 h 1432560"/>
              <a:gd name="connsiteX7" fmla="*/ 0 w 2354580"/>
              <a:gd name="connsiteY7" fmla="*/ 1033778 h 1432560"/>
              <a:gd name="connsiteX8" fmla="*/ 4763 w 2354580"/>
              <a:gd name="connsiteY8" fmla="*/ 5875 h 1432560"/>
              <a:gd name="connsiteX0" fmla="*/ 4763 w 2354580"/>
              <a:gd name="connsiteY0" fmla="*/ 0 h 1433829"/>
              <a:gd name="connsiteX1" fmla="*/ 398782 w 2354580"/>
              <a:gd name="connsiteY1" fmla="*/ 1269 h 1433829"/>
              <a:gd name="connsiteX2" fmla="*/ 1955798 w 2354580"/>
              <a:gd name="connsiteY2" fmla="*/ 1269 h 1433829"/>
              <a:gd name="connsiteX3" fmla="*/ 2354580 w 2354580"/>
              <a:gd name="connsiteY3" fmla="*/ 400051 h 1433829"/>
              <a:gd name="connsiteX4" fmla="*/ 2354580 w 2354580"/>
              <a:gd name="connsiteY4" fmla="*/ 1035047 h 1433829"/>
              <a:gd name="connsiteX5" fmla="*/ 1955798 w 2354580"/>
              <a:gd name="connsiteY5" fmla="*/ 1433829 h 1433829"/>
              <a:gd name="connsiteX6" fmla="*/ 398782 w 2354580"/>
              <a:gd name="connsiteY6" fmla="*/ 1433829 h 1433829"/>
              <a:gd name="connsiteX7" fmla="*/ 0 w 2354580"/>
              <a:gd name="connsiteY7" fmla="*/ 1035047 h 1433829"/>
              <a:gd name="connsiteX8" fmla="*/ 4763 w 2354580"/>
              <a:gd name="connsiteY8" fmla="*/ 0 h 1433829"/>
              <a:gd name="connsiteX0" fmla="*/ 4763 w 2354580"/>
              <a:gd name="connsiteY0" fmla="*/ 0 h 1433829"/>
              <a:gd name="connsiteX1" fmla="*/ 398782 w 2354580"/>
              <a:gd name="connsiteY1" fmla="*/ 1269 h 1433829"/>
              <a:gd name="connsiteX2" fmla="*/ 1955798 w 2354580"/>
              <a:gd name="connsiteY2" fmla="*/ 1269 h 1433829"/>
              <a:gd name="connsiteX3" fmla="*/ 2354580 w 2354580"/>
              <a:gd name="connsiteY3" fmla="*/ 400051 h 1433829"/>
              <a:gd name="connsiteX4" fmla="*/ 2354580 w 2354580"/>
              <a:gd name="connsiteY4" fmla="*/ 1035047 h 1433829"/>
              <a:gd name="connsiteX5" fmla="*/ 1955798 w 2354580"/>
              <a:gd name="connsiteY5" fmla="*/ 1433829 h 1433829"/>
              <a:gd name="connsiteX6" fmla="*/ 398782 w 2354580"/>
              <a:gd name="connsiteY6" fmla="*/ 1433829 h 1433829"/>
              <a:gd name="connsiteX7" fmla="*/ 0 w 2354580"/>
              <a:gd name="connsiteY7" fmla="*/ 1035047 h 1433829"/>
              <a:gd name="connsiteX8" fmla="*/ 4763 w 2354580"/>
              <a:gd name="connsiteY8" fmla="*/ 0 h 1433829"/>
              <a:gd name="connsiteX0" fmla="*/ 4763 w 2354580"/>
              <a:gd name="connsiteY0" fmla="*/ 0 h 1433829"/>
              <a:gd name="connsiteX1" fmla="*/ 398782 w 2354580"/>
              <a:gd name="connsiteY1" fmla="*/ 1269 h 1433829"/>
              <a:gd name="connsiteX2" fmla="*/ 1955798 w 2354580"/>
              <a:gd name="connsiteY2" fmla="*/ 1269 h 1433829"/>
              <a:gd name="connsiteX3" fmla="*/ 2354580 w 2354580"/>
              <a:gd name="connsiteY3" fmla="*/ 400051 h 1433829"/>
              <a:gd name="connsiteX4" fmla="*/ 2354580 w 2354580"/>
              <a:gd name="connsiteY4" fmla="*/ 1035047 h 1433829"/>
              <a:gd name="connsiteX5" fmla="*/ 1955798 w 2354580"/>
              <a:gd name="connsiteY5" fmla="*/ 1433829 h 1433829"/>
              <a:gd name="connsiteX6" fmla="*/ 398782 w 2354580"/>
              <a:gd name="connsiteY6" fmla="*/ 1433829 h 1433829"/>
              <a:gd name="connsiteX7" fmla="*/ 0 w 2354580"/>
              <a:gd name="connsiteY7" fmla="*/ 1035047 h 1433829"/>
              <a:gd name="connsiteX8" fmla="*/ 4763 w 2354580"/>
              <a:gd name="connsiteY8" fmla="*/ 0 h 1433829"/>
              <a:gd name="connsiteX0" fmla="*/ 4763 w 2432776"/>
              <a:gd name="connsiteY0" fmla="*/ 0 h 1433829"/>
              <a:gd name="connsiteX1" fmla="*/ 398782 w 2432776"/>
              <a:gd name="connsiteY1" fmla="*/ 1269 h 1433829"/>
              <a:gd name="connsiteX2" fmla="*/ 1955798 w 2432776"/>
              <a:gd name="connsiteY2" fmla="*/ 1269 h 1433829"/>
              <a:gd name="connsiteX3" fmla="*/ 2354580 w 2432776"/>
              <a:gd name="connsiteY3" fmla="*/ 400051 h 1433829"/>
              <a:gd name="connsiteX4" fmla="*/ 2354580 w 2432776"/>
              <a:gd name="connsiteY4" fmla="*/ 1035047 h 1433829"/>
              <a:gd name="connsiteX5" fmla="*/ 2327273 w 2432776"/>
              <a:gd name="connsiteY5" fmla="*/ 1433829 h 1433829"/>
              <a:gd name="connsiteX6" fmla="*/ 398782 w 2432776"/>
              <a:gd name="connsiteY6" fmla="*/ 1433829 h 1433829"/>
              <a:gd name="connsiteX7" fmla="*/ 0 w 2432776"/>
              <a:gd name="connsiteY7" fmla="*/ 1035047 h 1433829"/>
              <a:gd name="connsiteX8" fmla="*/ 4763 w 2432776"/>
              <a:gd name="connsiteY8" fmla="*/ 0 h 1433829"/>
              <a:gd name="connsiteX0" fmla="*/ 4763 w 2441222"/>
              <a:gd name="connsiteY0" fmla="*/ 0 h 1433829"/>
              <a:gd name="connsiteX1" fmla="*/ 398782 w 2441222"/>
              <a:gd name="connsiteY1" fmla="*/ 1269 h 1433829"/>
              <a:gd name="connsiteX2" fmla="*/ 1955798 w 2441222"/>
              <a:gd name="connsiteY2" fmla="*/ 1269 h 1433829"/>
              <a:gd name="connsiteX3" fmla="*/ 2354580 w 2441222"/>
              <a:gd name="connsiteY3" fmla="*/ 400051 h 1433829"/>
              <a:gd name="connsiteX4" fmla="*/ 2354580 w 2441222"/>
              <a:gd name="connsiteY4" fmla="*/ 1035047 h 1433829"/>
              <a:gd name="connsiteX5" fmla="*/ 2339179 w 2441222"/>
              <a:gd name="connsiteY5" fmla="*/ 1431447 h 1433829"/>
              <a:gd name="connsiteX6" fmla="*/ 398782 w 2441222"/>
              <a:gd name="connsiteY6" fmla="*/ 1433829 h 1433829"/>
              <a:gd name="connsiteX7" fmla="*/ 0 w 2441222"/>
              <a:gd name="connsiteY7" fmla="*/ 1035047 h 1433829"/>
              <a:gd name="connsiteX8" fmla="*/ 4763 w 2441222"/>
              <a:gd name="connsiteY8" fmla="*/ 0 h 1433829"/>
              <a:gd name="connsiteX0" fmla="*/ 4763 w 2449885"/>
              <a:gd name="connsiteY0" fmla="*/ 0 h 1433829"/>
              <a:gd name="connsiteX1" fmla="*/ 398782 w 2449885"/>
              <a:gd name="connsiteY1" fmla="*/ 1269 h 1433829"/>
              <a:gd name="connsiteX2" fmla="*/ 1955798 w 2449885"/>
              <a:gd name="connsiteY2" fmla="*/ 1269 h 1433829"/>
              <a:gd name="connsiteX3" fmla="*/ 2354580 w 2449885"/>
              <a:gd name="connsiteY3" fmla="*/ 400051 h 1433829"/>
              <a:gd name="connsiteX4" fmla="*/ 2354580 w 2449885"/>
              <a:gd name="connsiteY4" fmla="*/ 1035047 h 1433829"/>
              <a:gd name="connsiteX5" fmla="*/ 2351086 w 2449885"/>
              <a:gd name="connsiteY5" fmla="*/ 1433828 h 1433829"/>
              <a:gd name="connsiteX6" fmla="*/ 398782 w 2449885"/>
              <a:gd name="connsiteY6" fmla="*/ 1433829 h 1433829"/>
              <a:gd name="connsiteX7" fmla="*/ 0 w 2449885"/>
              <a:gd name="connsiteY7" fmla="*/ 1035047 h 1433829"/>
              <a:gd name="connsiteX8" fmla="*/ 4763 w 2449885"/>
              <a:gd name="connsiteY8" fmla="*/ 0 h 1433829"/>
              <a:gd name="connsiteX0" fmla="*/ 4763 w 2355967"/>
              <a:gd name="connsiteY0" fmla="*/ 0 h 1433829"/>
              <a:gd name="connsiteX1" fmla="*/ 398782 w 2355967"/>
              <a:gd name="connsiteY1" fmla="*/ 1269 h 1433829"/>
              <a:gd name="connsiteX2" fmla="*/ 1955798 w 2355967"/>
              <a:gd name="connsiteY2" fmla="*/ 1269 h 1433829"/>
              <a:gd name="connsiteX3" fmla="*/ 2354580 w 2355967"/>
              <a:gd name="connsiteY3" fmla="*/ 400051 h 1433829"/>
              <a:gd name="connsiteX4" fmla="*/ 2354580 w 2355967"/>
              <a:gd name="connsiteY4" fmla="*/ 1035047 h 1433829"/>
              <a:gd name="connsiteX5" fmla="*/ 2351086 w 2355967"/>
              <a:gd name="connsiteY5" fmla="*/ 1433828 h 1433829"/>
              <a:gd name="connsiteX6" fmla="*/ 398782 w 2355967"/>
              <a:gd name="connsiteY6" fmla="*/ 1433829 h 1433829"/>
              <a:gd name="connsiteX7" fmla="*/ 0 w 2355967"/>
              <a:gd name="connsiteY7" fmla="*/ 1035047 h 1433829"/>
              <a:gd name="connsiteX8" fmla="*/ 4763 w 2355967"/>
              <a:gd name="connsiteY8" fmla="*/ 0 h 14338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355967" h="1433829">
                <a:moveTo>
                  <a:pt x="4763" y="0"/>
                </a:moveTo>
                <a:cubicBezTo>
                  <a:pt x="30957" y="1215"/>
                  <a:pt x="178541" y="1269"/>
                  <a:pt x="398782" y="1269"/>
                </a:cubicBezTo>
                <a:lnTo>
                  <a:pt x="1955798" y="1269"/>
                </a:lnTo>
                <a:cubicBezTo>
                  <a:pt x="2176039" y="1269"/>
                  <a:pt x="2354580" y="179810"/>
                  <a:pt x="2354580" y="400051"/>
                </a:cubicBezTo>
                <a:lnTo>
                  <a:pt x="2354580" y="1035047"/>
                </a:lnTo>
                <a:cubicBezTo>
                  <a:pt x="2354580" y="1255288"/>
                  <a:pt x="2359396" y="1431446"/>
                  <a:pt x="2351086" y="1433828"/>
                </a:cubicBezTo>
                <a:lnTo>
                  <a:pt x="398782" y="1433829"/>
                </a:lnTo>
                <a:cubicBezTo>
                  <a:pt x="178541" y="1433829"/>
                  <a:pt x="0" y="1255288"/>
                  <a:pt x="0" y="1035047"/>
                </a:cubicBezTo>
                <a:cubicBezTo>
                  <a:pt x="1588" y="691619"/>
                  <a:pt x="3175" y="343428"/>
                  <a:pt x="4763" y="0"/>
                </a:cubicBezTo>
                <a:close/>
              </a:path>
            </a:pathLst>
          </a:custGeom>
          <a:noFill/>
          <a:ln w="19050">
            <a:solidFill>
              <a:srgbClr val="112A40"/>
            </a:solidFill>
          </a:ln>
        </p:spPr>
        <p:style>
          <a:lnRef idx="2">
            <a:schemeClr val="accent1">
              <a:shade val="50000"/>
            </a:schemeClr>
          </a:lnRef>
          <a:fillRef idx="1">
            <a:schemeClr val="accent1"/>
          </a:fillRef>
          <a:effectRef idx="0">
            <a:schemeClr val="accent1"/>
          </a:effectRef>
          <a:fontRef idx="minor">
            <a:schemeClr val="lt1"/>
          </a:fontRef>
        </p:style>
        <p:txBody>
          <a:bodyPr lIns="91440" tIns="91440" rIns="91440" bIns="91440" rtlCol="0" anchor="ctr">
            <a:noAutofit/>
          </a:bodyPr>
          <a:lstStyle/>
          <a:p>
            <a:pPr algn="ctr"/>
            <a:endParaRPr lang="fr-CI" sz="1400" noProof="0">
              <a:solidFill>
                <a:schemeClr val="tx2"/>
              </a:solidFill>
            </a:endParaRPr>
          </a:p>
        </p:txBody>
      </p:sp>
      <p:sp>
        <p:nvSpPr>
          <p:cNvPr id="5" name="Rounded Rectangle 5">
            <a:extLst>
              <a:ext uri="{FF2B5EF4-FFF2-40B4-BE49-F238E27FC236}">
                <a16:creationId xmlns:a16="http://schemas.microsoft.com/office/drawing/2014/main" id="{91CD7C4B-BFBA-DBCC-083F-B9F54E841171}"/>
              </a:ext>
            </a:extLst>
          </p:cNvPr>
          <p:cNvSpPr/>
          <p:nvPr/>
        </p:nvSpPr>
        <p:spPr>
          <a:xfrm flipV="1">
            <a:off x="6514797" y="1769837"/>
            <a:ext cx="2434660" cy="1710001"/>
          </a:xfrm>
          <a:custGeom>
            <a:avLst/>
            <a:gdLst>
              <a:gd name="connsiteX0" fmla="*/ 0 w 2354580"/>
              <a:gd name="connsiteY0" fmla="*/ 398782 h 1432560"/>
              <a:gd name="connsiteX1" fmla="*/ 398782 w 2354580"/>
              <a:gd name="connsiteY1" fmla="*/ 0 h 1432560"/>
              <a:gd name="connsiteX2" fmla="*/ 1955798 w 2354580"/>
              <a:gd name="connsiteY2" fmla="*/ 0 h 1432560"/>
              <a:gd name="connsiteX3" fmla="*/ 2354580 w 2354580"/>
              <a:gd name="connsiteY3" fmla="*/ 398782 h 1432560"/>
              <a:gd name="connsiteX4" fmla="*/ 2354580 w 2354580"/>
              <a:gd name="connsiteY4" fmla="*/ 1033778 h 1432560"/>
              <a:gd name="connsiteX5" fmla="*/ 1955798 w 2354580"/>
              <a:gd name="connsiteY5" fmla="*/ 1432560 h 1432560"/>
              <a:gd name="connsiteX6" fmla="*/ 398782 w 2354580"/>
              <a:gd name="connsiteY6" fmla="*/ 1432560 h 1432560"/>
              <a:gd name="connsiteX7" fmla="*/ 0 w 2354580"/>
              <a:gd name="connsiteY7" fmla="*/ 1033778 h 1432560"/>
              <a:gd name="connsiteX8" fmla="*/ 0 w 2354580"/>
              <a:gd name="connsiteY8" fmla="*/ 398782 h 1432560"/>
              <a:gd name="connsiteX0" fmla="*/ 0 w 2362200"/>
              <a:gd name="connsiteY0" fmla="*/ 102717 h 1517495"/>
              <a:gd name="connsiteX1" fmla="*/ 406402 w 2362200"/>
              <a:gd name="connsiteY1" fmla="*/ 84935 h 1517495"/>
              <a:gd name="connsiteX2" fmla="*/ 1963418 w 2362200"/>
              <a:gd name="connsiteY2" fmla="*/ 84935 h 1517495"/>
              <a:gd name="connsiteX3" fmla="*/ 2362200 w 2362200"/>
              <a:gd name="connsiteY3" fmla="*/ 483717 h 1517495"/>
              <a:gd name="connsiteX4" fmla="*/ 2362200 w 2362200"/>
              <a:gd name="connsiteY4" fmla="*/ 1118713 h 1517495"/>
              <a:gd name="connsiteX5" fmla="*/ 1963418 w 2362200"/>
              <a:gd name="connsiteY5" fmla="*/ 1517495 h 1517495"/>
              <a:gd name="connsiteX6" fmla="*/ 406402 w 2362200"/>
              <a:gd name="connsiteY6" fmla="*/ 1517495 h 1517495"/>
              <a:gd name="connsiteX7" fmla="*/ 7620 w 2362200"/>
              <a:gd name="connsiteY7" fmla="*/ 1118713 h 1517495"/>
              <a:gd name="connsiteX8" fmla="*/ 0 w 2362200"/>
              <a:gd name="connsiteY8" fmla="*/ 102717 h 1517495"/>
              <a:gd name="connsiteX0" fmla="*/ 0 w 2362200"/>
              <a:gd name="connsiteY0" fmla="*/ 17782 h 1432560"/>
              <a:gd name="connsiteX1" fmla="*/ 406402 w 2362200"/>
              <a:gd name="connsiteY1" fmla="*/ 0 h 1432560"/>
              <a:gd name="connsiteX2" fmla="*/ 1963418 w 2362200"/>
              <a:gd name="connsiteY2" fmla="*/ 0 h 1432560"/>
              <a:gd name="connsiteX3" fmla="*/ 2362200 w 2362200"/>
              <a:gd name="connsiteY3" fmla="*/ 398782 h 1432560"/>
              <a:gd name="connsiteX4" fmla="*/ 2362200 w 2362200"/>
              <a:gd name="connsiteY4" fmla="*/ 1033778 h 1432560"/>
              <a:gd name="connsiteX5" fmla="*/ 1963418 w 2362200"/>
              <a:gd name="connsiteY5" fmla="*/ 1432560 h 1432560"/>
              <a:gd name="connsiteX6" fmla="*/ 406402 w 2362200"/>
              <a:gd name="connsiteY6" fmla="*/ 1432560 h 1432560"/>
              <a:gd name="connsiteX7" fmla="*/ 7620 w 2362200"/>
              <a:gd name="connsiteY7" fmla="*/ 1033778 h 1432560"/>
              <a:gd name="connsiteX8" fmla="*/ 0 w 2362200"/>
              <a:gd name="connsiteY8" fmla="*/ 17782 h 1432560"/>
              <a:gd name="connsiteX0" fmla="*/ 0 w 2362200"/>
              <a:gd name="connsiteY0" fmla="*/ 2542 h 1432560"/>
              <a:gd name="connsiteX1" fmla="*/ 406402 w 2362200"/>
              <a:gd name="connsiteY1" fmla="*/ 0 h 1432560"/>
              <a:gd name="connsiteX2" fmla="*/ 1963418 w 2362200"/>
              <a:gd name="connsiteY2" fmla="*/ 0 h 1432560"/>
              <a:gd name="connsiteX3" fmla="*/ 2362200 w 2362200"/>
              <a:gd name="connsiteY3" fmla="*/ 398782 h 1432560"/>
              <a:gd name="connsiteX4" fmla="*/ 2362200 w 2362200"/>
              <a:gd name="connsiteY4" fmla="*/ 1033778 h 1432560"/>
              <a:gd name="connsiteX5" fmla="*/ 1963418 w 2362200"/>
              <a:gd name="connsiteY5" fmla="*/ 1432560 h 1432560"/>
              <a:gd name="connsiteX6" fmla="*/ 406402 w 2362200"/>
              <a:gd name="connsiteY6" fmla="*/ 1432560 h 1432560"/>
              <a:gd name="connsiteX7" fmla="*/ 7620 w 2362200"/>
              <a:gd name="connsiteY7" fmla="*/ 1033778 h 1432560"/>
              <a:gd name="connsiteX8" fmla="*/ 0 w 2362200"/>
              <a:gd name="connsiteY8" fmla="*/ 2542 h 1432560"/>
              <a:gd name="connsiteX0" fmla="*/ 0 w 2354580"/>
              <a:gd name="connsiteY0" fmla="*/ 17782 h 1432560"/>
              <a:gd name="connsiteX1" fmla="*/ 398782 w 2354580"/>
              <a:gd name="connsiteY1" fmla="*/ 0 h 1432560"/>
              <a:gd name="connsiteX2" fmla="*/ 1955798 w 2354580"/>
              <a:gd name="connsiteY2" fmla="*/ 0 h 1432560"/>
              <a:gd name="connsiteX3" fmla="*/ 2354580 w 2354580"/>
              <a:gd name="connsiteY3" fmla="*/ 398782 h 1432560"/>
              <a:gd name="connsiteX4" fmla="*/ 2354580 w 2354580"/>
              <a:gd name="connsiteY4" fmla="*/ 1033778 h 1432560"/>
              <a:gd name="connsiteX5" fmla="*/ 1955798 w 2354580"/>
              <a:gd name="connsiteY5" fmla="*/ 1432560 h 1432560"/>
              <a:gd name="connsiteX6" fmla="*/ 398782 w 2354580"/>
              <a:gd name="connsiteY6" fmla="*/ 1432560 h 1432560"/>
              <a:gd name="connsiteX7" fmla="*/ 0 w 2354580"/>
              <a:gd name="connsiteY7" fmla="*/ 1033778 h 1432560"/>
              <a:gd name="connsiteX8" fmla="*/ 0 w 2354580"/>
              <a:gd name="connsiteY8" fmla="*/ 17782 h 1432560"/>
              <a:gd name="connsiteX0" fmla="*/ 0 w 2354580"/>
              <a:gd name="connsiteY0" fmla="*/ 0 h 1433828"/>
              <a:gd name="connsiteX1" fmla="*/ 398782 w 2354580"/>
              <a:gd name="connsiteY1" fmla="*/ 1268 h 1433828"/>
              <a:gd name="connsiteX2" fmla="*/ 1955798 w 2354580"/>
              <a:gd name="connsiteY2" fmla="*/ 1268 h 1433828"/>
              <a:gd name="connsiteX3" fmla="*/ 2354580 w 2354580"/>
              <a:gd name="connsiteY3" fmla="*/ 400050 h 1433828"/>
              <a:gd name="connsiteX4" fmla="*/ 2354580 w 2354580"/>
              <a:gd name="connsiteY4" fmla="*/ 1035046 h 1433828"/>
              <a:gd name="connsiteX5" fmla="*/ 1955798 w 2354580"/>
              <a:gd name="connsiteY5" fmla="*/ 1433828 h 1433828"/>
              <a:gd name="connsiteX6" fmla="*/ 398782 w 2354580"/>
              <a:gd name="connsiteY6" fmla="*/ 1433828 h 1433828"/>
              <a:gd name="connsiteX7" fmla="*/ 0 w 2354580"/>
              <a:gd name="connsiteY7" fmla="*/ 1035046 h 1433828"/>
              <a:gd name="connsiteX8" fmla="*/ 0 w 2354580"/>
              <a:gd name="connsiteY8" fmla="*/ 0 h 1433828"/>
              <a:gd name="connsiteX0" fmla="*/ 4763 w 2354580"/>
              <a:gd name="connsiteY0" fmla="*/ 3494 h 1432560"/>
              <a:gd name="connsiteX1" fmla="*/ 398782 w 2354580"/>
              <a:gd name="connsiteY1" fmla="*/ 0 h 1432560"/>
              <a:gd name="connsiteX2" fmla="*/ 1955798 w 2354580"/>
              <a:gd name="connsiteY2" fmla="*/ 0 h 1432560"/>
              <a:gd name="connsiteX3" fmla="*/ 2354580 w 2354580"/>
              <a:gd name="connsiteY3" fmla="*/ 398782 h 1432560"/>
              <a:gd name="connsiteX4" fmla="*/ 2354580 w 2354580"/>
              <a:gd name="connsiteY4" fmla="*/ 1033778 h 1432560"/>
              <a:gd name="connsiteX5" fmla="*/ 1955798 w 2354580"/>
              <a:gd name="connsiteY5" fmla="*/ 1432560 h 1432560"/>
              <a:gd name="connsiteX6" fmla="*/ 398782 w 2354580"/>
              <a:gd name="connsiteY6" fmla="*/ 1432560 h 1432560"/>
              <a:gd name="connsiteX7" fmla="*/ 0 w 2354580"/>
              <a:gd name="connsiteY7" fmla="*/ 1033778 h 1432560"/>
              <a:gd name="connsiteX8" fmla="*/ 4763 w 2354580"/>
              <a:gd name="connsiteY8" fmla="*/ 3494 h 1432560"/>
              <a:gd name="connsiteX0" fmla="*/ 2382 w 2354580"/>
              <a:gd name="connsiteY0" fmla="*/ 0 h 1436210"/>
              <a:gd name="connsiteX1" fmla="*/ 398782 w 2354580"/>
              <a:gd name="connsiteY1" fmla="*/ 3650 h 1436210"/>
              <a:gd name="connsiteX2" fmla="*/ 1955798 w 2354580"/>
              <a:gd name="connsiteY2" fmla="*/ 3650 h 1436210"/>
              <a:gd name="connsiteX3" fmla="*/ 2354580 w 2354580"/>
              <a:gd name="connsiteY3" fmla="*/ 402432 h 1436210"/>
              <a:gd name="connsiteX4" fmla="*/ 2354580 w 2354580"/>
              <a:gd name="connsiteY4" fmla="*/ 1037428 h 1436210"/>
              <a:gd name="connsiteX5" fmla="*/ 1955798 w 2354580"/>
              <a:gd name="connsiteY5" fmla="*/ 1436210 h 1436210"/>
              <a:gd name="connsiteX6" fmla="*/ 398782 w 2354580"/>
              <a:gd name="connsiteY6" fmla="*/ 1436210 h 1436210"/>
              <a:gd name="connsiteX7" fmla="*/ 0 w 2354580"/>
              <a:gd name="connsiteY7" fmla="*/ 1037428 h 1436210"/>
              <a:gd name="connsiteX8" fmla="*/ 2382 w 2354580"/>
              <a:gd name="connsiteY8" fmla="*/ 0 h 1436210"/>
              <a:gd name="connsiteX0" fmla="*/ 4763 w 2354580"/>
              <a:gd name="connsiteY0" fmla="*/ 5875 h 1432560"/>
              <a:gd name="connsiteX1" fmla="*/ 398782 w 2354580"/>
              <a:gd name="connsiteY1" fmla="*/ 0 h 1432560"/>
              <a:gd name="connsiteX2" fmla="*/ 1955798 w 2354580"/>
              <a:gd name="connsiteY2" fmla="*/ 0 h 1432560"/>
              <a:gd name="connsiteX3" fmla="*/ 2354580 w 2354580"/>
              <a:gd name="connsiteY3" fmla="*/ 398782 h 1432560"/>
              <a:gd name="connsiteX4" fmla="*/ 2354580 w 2354580"/>
              <a:gd name="connsiteY4" fmla="*/ 1033778 h 1432560"/>
              <a:gd name="connsiteX5" fmla="*/ 1955798 w 2354580"/>
              <a:gd name="connsiteY5" fmla="*/ 1432560 h 1432560"/>
              <a:gd name="connsiteX6" fmla="*/ 398782 w 2354580"/>
              <a:gd name="connsiteY6" fmla="*/ 1432560 h 1432560"/>
              <a:gd name="connsiteX7" fmla="*/ 0 w 2354580"/>
              <a:gd name="connsiteY7" fmla="*/ 1033778 h 1432560"/>
              <a:gd name="connsiteX8" fmla="*/ 4763 w 2354580"/>
              <a:gd name="connsiteY8" fmla="*/ 5875 h 1432560"/>
              <a:gd name="connsiteX0" fmla="*/ 4763 w 2354580"/>
              <a:gd name="connsiteY0" fmla="*/ 0 h 1433829"/>
              <a:gd name="connsiteX1" fmla="*/ 398782 w 2354580"/>
              <a:gd name="connsiteY1" fmla="*/ 1269 h 1433829"/>
              <a:gd name="connsiteX2" fmla="*/ 1955798 w 2354580"/>
              <a:gd name="connsiteY2" fmla="*/ 1269 h 1433829"/>
              <a:gd name="connsiteX3" fmla="*/ 2354580 w 2354580"/>
              <a:gd name="connsiteY3" fmla="*/ 400051 h 1433829"/>
              <a:gd name="connsiteX4" fmla="*/ 2354580 w 2354580"/>
              <a:gd name="connsiteY4" fmla="*/ 1035047 h 1433829"/>
              <a:gd name="connsiteX5" fmla="*/ 1955798 w 2354580"/>
              <a:gd name="connsiteY5" fmla="*/ 1433829 h 1433829"/>
              <a:gd name="connsiteX6" fmla="*/ 398782 w 2354580"/>
              <a:gd name="connsiteY6" fmla="*/ 1433829 h 1433829"/>
              <a:gd name="connsiteX7" fmla="*/ 0 w 2354580"/>
              <a:gd name="connsiteY7" fmla="*/ 1035047 h 1433829"/>
              <a:gd name="connsiteX8" fmla="*/ 4763 w 2354580"/>
              <a:gd name="connsiteY8" fmla="*/ 0 h 1433829"/>
              <a:gd name="connsiteX0" fmla="*/ 4763 w 2354580"/>
              <a:gd name="connsiteY0" fmla="*/ 0 h 1433829"/>
              <a:gd name="connsiteX1" fmla="*/ 398782 w 2354580"/>
              <a:gd name="connsiteY1" fmla="*/ 1269 h 1433829"/>
              <a:gd name="connsiteX2" fmla="*/ 1955798 w 2354580"/>
              <a:gd name="connsiteY2" fmla="*/ 1269 h 1433829"/>
              <a:gd name="connsiteX3" fmla="*/ 2354580 w 2354580"/>
              <a:gd name="connsiteY3" fmla="*/ 400051 h 1433829"/>
              <a:gd name="connsiteX4" fmla="*/ 2354580 w 2354580"/>
              <a:gd name="connsiteY4" fmla="*/ 1035047 h 1433829"/>
              <a:gd name="connsiteX5" fmla="*/ 1955798 w 2354580"/>
              <a:gd name="connsiteY5" fmla="*/ 1433829 h 1433829"/>
              <a:gd name="connsiteX6" fmla="*/ 398782 w 2354580"/>
              <a:gd name="connsiteY6" fmla="*/ 1433829 h 1433829"/>
              <a:gd name="connsiteX7" fmla="*/ 0 w 2354580"/>
              <a:gd name="connsiteY7" fmla="*/ 1035047 h 1433829"/>
              <a:gd name="connsiteX8" fmla="*/ 4763 w 2354580"/>
              <a:gd name="connsiteY8" fmla="*/ 0 h 1433829"/>
              <a:gd name="connsiteX0" fmla="*/ 4763 w 2354580"/>
              <a:gd name="connsiteY0" fmla="*/ 0 h 1433829"/>
              <a:gd name="connsiteX1" fmla="*/ 398782 w 2354580"/>
              <a:gd name="connsiteY1" fmla="*/ 1269 h 1433829"/>
              <a:gd name="connsiteX2" fmla="*/ 1955798 w 2354580"/>
              <a:gd name="connsiteY2" fmla="*/ 1269 h 1433829"/>
              <a:gd name="connsiteX3" fmla="*/ 2354580 w 2354580"/>
              <a:gd name="connsiteY3" fmla="*/ 400051 h 1433829"/>
              <a:gd name="connsiteX4" fmla="*/ 2354580 w 2354580"/>
              <a:gd name="connsiteY4" fmla="*/ 1035047 h 1433829"/>
              <a:gd name="connsiteX5" fmla="*/ 1955798 w 2354580"/>
              <a:gd name="connsiteY5" fmla="*/ 1433829 h 1433829"/>
              <a:gd name="connsiteX6" fmla="*/ 398782 w 2354580"/>
              <a:gd name="connsiteY6" fmla="*/ 1433829 h 1433829"/>
              <a:gd name="connsiteX7" fmla="*/ 0 w 2354580"/>
              <a:gd name="connsiteY7" fmla="*/ 1035047 h 1433829"/>
              <a:gd name="connsiteX8" fmla="*/ 4763 w 2354580"/>
              <a:gd name="connsiteY8" fmla="*/ 0 h 1433829"/>
              <a:gd name="connsiteX0" fmla="*/ 4763 w 2432776"/>
              <a:gd name="connsiteY0" fmla="*/ 0 h 1433829"/>
              <a:gd name="connsiteX1" fmla="*/ 398782 w 2432776"/>
              <a:gd name="connsiteY1" fmla="*/ 1269 h 1433829"/>
              <a:gd name="connsiteX2" fmla="*/ 1955798 w 2432776"/>
              <a:gd name="connsiteY2" fmla="*/ 1269 h 1433829"/>
              <a:gd name="connsiteX3" fmla="*/ 2354580 w 2432776"/>
              <a:gd name="connsiteY3" fmla="*/ 400051 h 1433829"/>
              <a:gd name="connsiteX4" fmla="*/ 2354580 w 2432776"/>
              <a:gd name="connsiteY4" fmla="*/ 1035047 h 1433829"/>
              <a:gd name="connsiteX5" fmla="*/ 2327273 w 2432776"/>
              <a:gd name="connsiteY5" fmla="*/ 1433829 h 1433829"/>
              <a:gd name="connsiteX6" fmla="*/ 398782 w 2432776"/>
              <a:gd name="connsiteY6" fmla="*/ 1433829 h 1433829"/>
              <a:gd name="connsiteX7" fmla="*/ 0 w 2432776"/>
              <a:gd name="connsiteY7" fmla="*/ 1035047 h 1433829"/>
              <a:gd name="connsiteX8" fmla="*/ 4763 w 2432776"/>
              <a:gd name="connsiteY8" fmla="*/ 0 h 1433829"/>
              <a:gd name="connsiteX0" fmla="*/ 4763 w 2441222"/>
              <a:gd name="connsiteY0" fmla="*/ 0 h 1433829"/>
              <a:gd name="connsiteX1" fmla="*/ 398782 w 2441222"/>
              <a:gd name="connsiteY1" fmla="*/ 1269 h 1433829"/>
              <a:gd name="connsiteX2" fmla="*/ 1955798 w 2441222"/>
              <a:gd name="connsiteY2" fmla="*/ 1269 h 1433829"/>
              <a:gd name="connsiteX3" fmla="*/ 2354580 w 2441222"/>
              <a:gd name="connsiteY3" fmla="*/ 400051 h 1433829"/>
              <a:gd name="connsiteX4" fmla="*/ 2354580 w 2441222"/>
              <a:gd name="connsiteY4" fmla="*/ 1035047 h 1433829"/>
              <a:gd name="connsiteX5" fmla="*/ 2339179 w 2441222"/>
              <a:gd name="connsiteY5" fmla="*/ 1431447 h 1433829"/>
              <a:gd name="connsiteX6" fmla="*/ 398782 w 2441222"/>
              <a:gd name="connsiteY6" fmla="*/ 1433829 h 1433829"/>
              <a:gd name="connsiteX7" fmla="*/ 0 w 2441222"/>
              <a:gd name="connsiteY7" fmla="*/ 1035047 h 1433829"/>
              <a:gd name="connsiteX8" fmla="*/ 4763 w 2441222"/>
              <a:gd name="connsiteY8" fmla="*/ 0 h 1433829"/>
              <a:gd name="connsiteX0" fmla="*/ 4763 w 2449885"/>
              <a:gd name="connsiteY0" fmla="*/ 0 h 1433829"/>
              <a:gd name="connsiteX1" fmla="*/ 398782 w 2449885"/>
              <a:gd name="connsiteY1" fmla="*/ 1269 h 1433829"/>
              <a:gd name="connsiteX2" fmla="*/ 1955798 w 2449885"/>
              <a:gd name="connsiteY2" fmla="*/ 1269 h 1433829"/>
              <a:gd name="connsiteX3" fmla="*/ 2354580 w 2449885"/>
              <a:gd name="connsiteY3" fmla="*/ 400051 h 1433829"/>
              <a:gd name="connsiteX4" fmla="*/ 2354580 w 2449885"/>
              <a:gd name="connsiteY4" fmla="*/ 1035047 h 1433829"/>
              <a:gd name="connsiteX5" fmla="*/ 2351086 w 2449885"/>
              <a:gd name="connsiteY5" fmla="*/ 1433828 h 1433829"/>
              <a:gd name="connsiteX6" fmla="*/ 398782 w 2449885"/>
              <a:gd name="connsiteY6" fmla="*/ 1433829 h 1433829"/>
              <a:gd name="connsiteX7" fmla="*/ 0 w 2449885"/>
              <a:gd name="connsiteY7" fmla="*/ 1035047 h 1433829"/>
              <a:gd name="connsiteX8" fmla="*/ 4763 w 2449885"/>
              <a:gd name="connsiteY8" fmla="*/ 0 h 1433829"/>
              <a:gd name="connsiteX0" fmla="*/ 4763 w 2355967"/>
              <a:gd name="connsiteY0" fmla="*/ 0 h 1433829"/>
              <a:gd name="connsiteX1" fmla="*/ 398782 w 2355967"/>
              <a:gd name="connsiteY1" fmla="*/ 1269 h 1433829"/>
              <a:gd name="connsiteX2" fmla="*/ 1955798 w 2355967"/>
              <a:gd name="connsiteY2" fmla="*/ 1269 h 1433829"/>
              <a:gd name="connsiteX3" fmla="*/ 2354580 w 2355967"/>
              <a:gd name="connsiteY3" fmla="*/ 400051 h 1433829"/>
              <a:gd name="connsiteX4" fmla="*/ 2354580 w 2355967"/>
              <a:gd name="connsiteY4" fmla="*/ 1035047 h 1433829"/>
              <a:gd name="connsiteX5" fmla="*/ 2351086 w 2355967"/>
              <a:gd name="connsiteY5" fmla="*/ 1433828 h 1433829"/>
              <a:gd name="connsiteX6" fmla="*/ 398782 w 2355967"/>
              <a:gd name="connsiteY6" fmla="*/ 1433829 h 1433829"/>
              <a:gd name="connsiteX7" fmla="*/ 0 w 2355967"/>
              <a:gd name="connsiteY7" fmla="*/ 1035047 h 1433829"/>
              <a:gd name="connsiteX8" fmla="*/ 4763 w 2355967"/>
              <a:gd name="connsiteY8" fmla="*/ 0 h 14338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355967" h="1433829">
                <a:moveTo>
                  <a:pt x="4763" y="0"/>
                </a:moveTo>
                <a:cubicBezTo>
                  <a:pt x="30957" y="1215"/>
                  <a:pt x="178541" y="1269"/>
                  <a:pt x="398782" y="1269"/>
                </a:cubicBezTo>
                <a:lnTo>
                  <a:pt x="1955798" y="1269"/>
                </a:lnTo>
                <a:cubicBezTo>
                  <a:pt x="2176039" y="1269"/>
                  <a:pt x="2354580" y="179810"/>
                  <a:pt x="2354580" y="400051"/>
                </a:cubicBezTo>
                <a:lnTo>
                  <a:pt x="2354580" y="1035047"/>
                </a:lnTo>
                <a:cubicBezTo>
                  <a:pt x="2354580" y="1255288"/>
                  <a:pt x="2359396" y="1431446"/>
                  <a:pt x="2351086" y="1433828"/>
                </a:cubicBezTo>
                <a:lnTo>
                  <a:pt x="398782" y="1433829"/>
                </a:lnTo>
                <a:cubicBezTo>
                  <a:pt x="178541" y="1433829"/>
                  <a:pt x="0" y="1255288"/>
                  <a:pt x="0" y="1035047"/>
                </a:cubicBezTo>
                <a:cubicBezTo>
                  <a:pt x="1588" y="691619"/>
                  <a:pt x="3175" y="343428"/>
                  <a:pt x="4763" y="0"/>
                </a:cubicBezTo>
                <a:close/>
              </a:path>
            </a:pathLst>
          </a:custGeom>
          <a:noFill/>
          <a:ln w="19050">
            <a:solidFill>
              <a:srgbClr val="112A40"/>
            </a:solidFill>
          </a:ln>
        </p:spPr>
        <p:style>
          <a:lnRef idx="2">
            <a:schemeClr val="accent1">
              <a:shade val="50000"/>
            </a:schemeClr>
          </a:lnRef>
          <a:fillRef idx="1">
            <a:schemeClr val="accent1"/>
          </a:fillRef>
          <a:effectRef idx="0">
            <a:schemeClr val="accent1"/>
          </a:effectRef>
          <a:fontRef idx="minor">
            <a:schemeClr val="lt1"/>
          </a:fontRef>
        </p:style>
        <p:txBody>
          <a:bodyPr lIns="91440" tIns="91440" rIns="91440" bIns="91440" rtlCol="0" anchor="ctr">
            <a:noAutofit/>
          </a:bodyPr>
          <a:lstStyle/>
          <a:p>
            <a:pPr algn="ctr"/>
            <a:endParaRPr lang="fr-CI" sz="1400" noProof="0">
              <a:solidFill>
                <a:schemeClr val="tx2"/>
              </a:solidFill>
            </a:endParaRPr>
          </a:p>
        </p:txBody>
      </p:sp>
      <p:sp>
        <p:nvSpPr>
          <p:cNvPr id="6" name="Rectangle 5">
            <a:extLst>
              <a:ext uri="{FF2B5EF4-FFF2-40B4-BE49-F238E27FC236}">
                <a16:creationId xmlns:a16="http://schemas.microsoft.com/office/drawing/2014/main" id="{B8A5BA39-707D-4505-CF26-1E9EC5011AB5}"/>
              </a:ext>
            </a:extLst>
          </p:cNvPr>
          <p:cNvSpPr/>
          <p:nvPr/>
        </p:nvSpPr>
        <p:spPr>
          <a:xfrm>
            <a:off x="3817401" y="1634006"/>
            <a:ext cx="2426584" cy="800458"/>
          </a:xfrm>
          <a:prstGeom prst="rect">
            <a:avLst/>
          </a:prstGeom>
        </p:spPr>
        <p:txBody>
          <a:bodyPr wrap="square" lIns="0" tIns="0" rIns="0" bIns="0">
            <a:spAutoFit/>
          </a:bodyPr>
          <a:lstStyle/>
          <a:p>
            <a:pPr>
              <a:spcBef>
                <a:spcPts val="600"/>
              </a:spcBef>
            </a:pPr>
            <a:r>
              <a:rPr lang="fr-CI" sz="1400" b="1" noProof="0">
                <a:latin typeface="Helvetica" panose="020B0604020202020204" pitchFamily="34" charset="0"/>
                <a:cs typeface="Helvetica" panose="020B0604020202020204" pitchFamily="34" charset="0"/>
              </a:rPr>
              <a:t>Ressources longues</a:t>
            </a:r>
          </a:p>
          <a:p>
            <a:pPr>
              <a:spcBef>
                <a:spcPts val="600"/>
              </a:spcBef>
            </a:pPr>
            <a:r>
              <a:rPr lang="fr-CI" sz="1200" noProof="0" b="0">
                <a:latin typeface="Helvetica" panose="020B0604020202020204" pitchFamily="34" charset="0"/>
                <a:cs typeface="Helvetica" panose="020B0604020202020204" pitchFamily="34" charset="0"/>
              </a:rPr>
              <a:t>Argent qui reste longtemps à la disposition du FPPN : fonds propres, provisions, emprunts.</a:t>
            </a:r>
          </a:p>
        </p:txBody>
      </p:sp>
      <p:cxnSp>
        <p:nvCxnSpPr>
          <p:cNvPr id="7" name="Straight Connector 51">
            <a:extLst>
              <a:ext uri="{FF2B5EF4-FFF2-40B4-BE49-F238E27FC236}">
                <a16:creationId xmlns:a16="http://schemas.microsoft.com/office/drawing/2014/main" id="{D644D8CD-15C8-1174-426A-80C46730AB94}"/>
              </a:ext>
            </a:extLst>
          </p:cNvPr>
          <p:cNvCxnSpPr/>
          <p:nvPr/>
        </p:nvCxnSpPr>
        <p:spPr>
          <a:xfrm>
            <a:off x="3823408" y="1885769"/>
            <a:ext cx="2223818" cy="3600"/>
          </a:xfrm>
          <a:prstGeom prst="line">
            <a:avLst/>
          </a:prstGeom>
          <a:ln w="9525">
            <a:solidFill>
              <a:srgbClr val="BBBCBC"/>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8" name="Rectangle 7">
            <a:extLst>
              <a:ext uri="{FF2B5EF4-FFF2-40B4-BE49-F238E27FC236}">
                <a16:creationId xmlns:a16="http://schemas.microsoft.com/office/drawing/2014/main" id="{15BAC69A-93C6-4C68-2B4D-52264A7239C0}"/>
              </a:ext>
            </a:extLst>
          </p:cNvPr>
          <p:cNvSpPr/>
          <p:nvPr/>
        </p:nvSpPr>
        <p:spPr>
          <a:xfrm>
            <a:off x="6667705" y="2099782"/>
            <a:ext cx="1900232" cy="654919"/>
          </a:xfrm>
          <a:prstGeom prst="rect">
            <a:avLst/>
          </a:prstGeom>
        </p:spPr>
        <p:txBody>
          <a:bodyPr wrap="square" lIns="0" tIns="0" rIns="0" bIns="0">
            <a:spAutoFit/>
          </a:bodyPr>
          <a:lstStyle/>
          <a:p>
            <a:pPr>
              <a:spcBef>
                <a:spcPts val="600"/>
              </a:spcBef>
            </a:pPr>
            <a:r>
              <a:rPr lang="fr-CI" sz="1400" b="1" noProof="0">
                <a:latin typeface="Helvetica" panose="020B0604020202020204" pitchFamily="34" charset="0"/>
                <a:cs typeface="Helvetica" panose="020B0604020202020204" pitchFamily="34" charset="0"/>
              </a:rPr>
              <a:t>Dettes à court terme</a:t>
            </a:r>
          </a:p>
          <a:p>
            <a:pPr>
              <a:spcBef>
                <a:spcPts val="600"/>
              </a:spcBef>
            </a:pPr>
            <a:r>
              <a:rPr lang="fr-CI" sz="1200" noProof="0" b="0">
                <a:latin typeface="Helvetica" panose="020B0604020202020204" pitchFamily="34" charset="0"/>
                <a:cs typeface="Helvetica" panose="020B0604020202020204" pitchFamily="34" charset="0"/>
              </a:rPr>
              <a:t>Argent que le FPPN doit rendre dans l'année : fournisseurs, cliniques, État.</a:t>
            </a:r>
          </a:p>
        </p:txBody>
      </p:sp>
      <p:cxnSp>
        <p:nvCxnSpPr>
          <p:cNvPr id="9" name="Straight Connector 53">
            <a:extLst>
              <a:ext uri="{FF2B5EF4-FFF2-40B4-BE49-F238E27FC236}">
                <a16:creationId xmlns:a16="http://schemas.microsoft.com/office/drawing/2014/main" id="{88E2B00B-A730-792A-F766-F69869238B01}"/>
              </a:ext>
            </a:extLst>
          </p:cNvPr>
          <p:cNvCxnSpPr/>
          <p:nvPr/>
        </p:nvCxnSpPr>
        <p:spPr>
          <a:xfrm>
            <a:off x="6637478" y="2360100"/>
            <a:ext cx="1489591" cy="3600"/>
          </a:xfrm>
          <a:prstGeom prst="line">
            <a:avLst/>
          </a:prstGeom>
          <a:ln w="9525">
            <a:solidFill>
              <a:srgbClr val="BBBCBC"/>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E49CF9D8-9183-05A2-006C-E37491C14CB6}"/>
              </a:ext>
            </a:extLst>
          </p:cNvPr>
          <p:cNvSpPr/>
          <p:nvPr/>
        </p:nvSpPr>
        <p:spPr>
          <a:xfrm>
            <a:off x="6725638" y="3799190"/>
            <a:ext cx="2304183" cy="654919"/>
          </a:xfrm>
          <a:prstGeom prst="rect">
            <a:avLst/>
          </a:prstGeom>
        </p:spPr>
        <p:txBody>
          <a:bodyPr wrap="square" lIns="0" tIns="0" rIns="0" bIns="0">
            <a:spAutoFit/>
          </a:bodyPr>
          <a:lstStyle/>
          <a:p>
            <a:pPr>
              <a:spcBef>
                <a:spcPts val="600"/>
              </a:spcBef>
            </a:pPr>
            <a:r>
              <a:rPr lang="fr-CI" sz="1400" b="1" noProof="0">
                <a:latin typeface="Helvetica" panose="020B0604020202020204" pitchFamily="34" charset="0"/>
                <a:cs typeface="Helvetica" panose="020B0604020202020204" pitchFamily="34" charset="0"/>
              </a:rPr>
              <a:t>Trésorerie</a:t>
            </a:r>
          </a:p>
          <a:p>
            <a:pPr>
              <a:spcBef>
                <a:spcPts val="600"/>
              </a:spcBef>
            </a:pPr>
            <a:r>
              <a:rPr lang="fr-CI" sz="1200" noProof="0" b="0">
                <a:latin typeface="Helvetica" panose="020B0604020202020204" pitchFamily="34" charset="0"/>
                <a:cs typeface="Helvetica" panose="020B0604020202020204" pitchFamily="34" charset="0"/>
              </a:rPr>
              <a:t>Argent disponible tout de suite ou presque : caisse, comptes en banque, dépôts à terme.</a:t>
            </a:r>
          </a:p>
        </p:txBody>
      </p:sp>
      <p:cxnSp>
        <p:nvCxnSpPr>
          <p:cNvPr id="11" name="Straight Connector 59">
            <a:extLst>
              <a:ext uri="{FF2B5EF4-FFF2-40B4-BE49-F238E27FC236}">
                <a16:creationId xmlns:a16="http://schemas.microsoft.com/office/drawing/2014/main" id="{B837FEE1-6F73-8BCD-FE32-7B970AB912B9}"/>
              </a:ext>
            </a:extLst>
          </p:cNvPr>
          <p:cNvCxnSpPr/>
          <p:nvPr/>
        </p:nvCxnSpPr>
        <p:spPr>
          <a:xfrm>
            <a:off x="6725637" y="4046526"/>
            <a:ext cx="2223818" cy="3600"/>
          </a:xfrm>
          <a:prstGeom prst="line">
            <a:avLst/>
          </a:prstGeom>
          <a:ln w="9525">
            <a:solidFill>
              <a:srgbClr val="BBBCBC"/>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12" name="Rounded Rectangle 5">
            <a:extLst>
              <a:ext uri="{FF2B5EF4-FFF2-40B4-BE49-F238E27FC236}">
                <a16:creationId xmlns:a16="http://schemas.microsoft.com/office/drawing/2014/main" id="{F4681A56-7E9F-9A36-2D0F-B0DE5726AF2E}"/>
              </a:ext>
            </a:extLst>
          </p:cNvPr>
          <p:cNvSpPr/>
          <p:nvPr/>
        </p:nvSpPr>
        <p:spPr>
          <a:xfrm flipV="1">
            <a:off x="2851616" y="3585630"/>
            <a:ext cx="3540335" cy="2211916"/>
          </a:xfrm>
          <a:custGeom>
            <a:avLst/>
            <a:gdLst>
              <a:gd name="connsiteX0" fmla="*/ 0 w 2354580"/>
              <a:gd name="connsiteY0" fmla="*/ 398782 h 1432560"/>
              <a:gd name="connsiteX1" fmla="*/ 398782 w 2354580"/>
              <a:gd name="connsiteY1" fmla="*/ 0 h 1432560"/>
              <a:gd name="connsiteX2" fmla="*/ 1955798 w 2354580"/>
              <a:gd name="connsiteY2" fmla="*/ 0 h 1432560"/>
              <a:gd name="connsiteX3" fmla="*/ 2354580 w 2354580"/>
              <a:gd name="connsiteY3" fmla="*/ 398782 h 1432560"/>
              <a:gd name="connsiteX4" fmla="*/ 2354580 w 2354580"/>
              <a:gd name="connsiteY4" fmla="*/ 1033778 h 1432560"/>
              <a:gd name="connsiteX5" fmla="*/ 1955798 w 2354580"/>
              <a:gd name="connsiteY5" fmla="*/ 1432560 h 1432560"/>
              <a:gd name="connsiteX6" fmla="*/ 398782 w 2354580"/>
              <a:gd name="connsiteY6" fmla="*/ 1432560 h 1432560"/>
              <a:gd name="connsiteX7" fmla="*/ 0 w 2354580"/>
              <a:gd name="connsiteY7" fmla="*/ 1033778 h 1432560"/>
              <a:gd name="connsiteX8" fmla="*/ 0 w 2354580"/>
              <a:gd name="connsiteY8" fmla="*/ 398782 h 1432560"/>
              <a:gd name="connsiteX0" fmla="*/ 0 w 2362200"/>
              <a:gd name="connsiteY0" fmla="*/ 102717 h 1517495"/>
              <a:gd name="connsiteX1" fmla="*/ 406402 w 2362200"/>
              <a:gd name="connsiteY1" fmla="*/ 84935 h 1517495"/>
              <a:gd name="connsiteX2" fmla="*/ 1963418 w 2362200"/>
              <a:gd name="connsiteY2" fmla="*/ 84935 h 1517495"/>
              <a:gd name="connsiteX3" fmla="*/ 2362200 w 2362200"/>
              <a:gd name="connsiteY3" fmla="*/ 483717 h 1517495"/>
              <a:gd name="connsiteX4" fmla="*/ 2362200 w 2362200"/>
              <a:gd name="connsiteY4" fmla="*/ 1118713 h 1517495"/>
              <a:gd name="connsiteX5" fmla="*/ 1963418 w 2362200"/>
              <a:gd name="connsiteY5" fmla="*/ 1517495 h 1517495"/>
              <a:gd name="connsiteX6" fmla="*/ 406402 w 2362200"/>
              <a:gd name="connsiteY6" fmla="*/ 1517495 h 1517495"/>
              <a:gd name="connsiteX7" fmla="*/ 7620 w 2362200"/>
              <a:gd name="connsiteY7" fmla="*/ 1118713 h 1517495"/>
              <a:gd name="connsiteX8" fmla="*/ 0 w 2362200"/>
              <a:gd name="connsiteY8" fmla="*/ 102717 h 1517495"/>
              <a:gd name="connsiteX0" fmla="*/ 0 w 2362200"/>
              <a:gd name="connsiteY0" fmla="*/ 17782 h 1432560"/>
              <a:gd name="connsiteX1" fmla="*/ 406402 w 2362200"/>
              <a:gd name="connsiteY1" fmla="*/ 0 h 1432560"/>
              <a:gd name="connsiteX2" fmla="*/ 1963418 w 2362200"/>
              <a:gd name="connsiteY2" fmla="*/ 0 h 1432560"/>
              <a:gd name="connsiteX3" fmla="*/ 2362200 w 2362200"/>
              <a:gd name="connsiteY3" fmla="*/ 398782 h 1432560"/>
              <a:gd name="connsiteX4" fmla="*/ 2362200 w 2362200"/>
              <a:gd name="connsiteY4" fmla="*/ 1033778 h 1432560"/>
              <a:gd name="connsiteX5" fmla="*/ 1963418 w 2362200"/>
              <a:gd name="connsiteY5" fmla="*/ 1432560 h 1432560"/>
              <a:gd name="connsiteX6" fmla="*/ 406402 w 2362200"/>
              <a:gd name="connsiteY6" fmla="*/ 1432560 h 1432560"/>
              <a:gd name="connsiteX7" fmla="*/ 7620 w 2362200"/>
              <a:gd name="connsiteY7" fmla="*/ 1033778 h 1432560"/>
              <a:gd name="connsiteX8" fmla="*/ 0 w 2362200"/>
              <a:gd name="connsiteY8" fmla="*/ 17782 h 1432560"/>
              <a:gd name="connsiteX0" fmla="*/ 0 w 2362200"/>
              <a:gd name="connsiteY0" fmla="*/ 2542 h 1432560"/>
              <a:gd name="connsiteX1" fmla="*/ 406402 w 2362200"/>
              <a:gd name="connsiteY1" fmla="*/ 0 h 1432560"/>
              <a:gd name="connsiteX2" fmla="*/ 1963418 w 2362200"/>
              <a:gd name="connsiteY2" fmla="*/ 0 h 1432560"/>
              <a:gd name="connsiteX3" fmla="*/ 2362200 w 2362200"/>
              <a:gd name="connsiteY3" fmla="*/ 398782 h 1432560"/>
              <a:gd name="connsiteX4" fmla="*/ 2362200 w 2362200"/>
              <a:gd name="connsiteY4" fmla="*/ 1033778 h 1432560"/>
              <a:gd name="connsiteX5" fmla="*/ 1963418 w 2362200"/>
              <a:gd name="connsiteY5" fmla="*/ 1432560 h 1432560"/>
              <a:gd name="connsiteX6" fmla="*/ 406402 w 2362200"/>
              <a:gd name="connsiteY6" fmla="*/ 1432560 h 1432560"/>
              <a:gd name="connsiteX7" fmla="*/ 7620 w 2362200"/>
              <a:gd name="connsiteY7" fmla="*/ 1033778 h 1432560"/>
              <a:gd name="connsiteX8" fmla="*/ 0 w 2362200"/>
              <a:gd name="connsiteY8" fmla="*/ 2542 h 1432560"/>
              <a:gd name="connsiteX0" fmla="*/ 0 w 2354580"/>
              <a:gd name="connsiteY0" fmla="*/ 17782 h 1432560"/>
              <a:gd name="connsiteX1" fmla="*/ 398782 w 2354580"/>
              <a:gd name="connsiteY1" fmla="*/ 0 h 1432560"/>
              <a:gd name="connsiteX2" fmla="*/ 1955798 w 2354580"/>
              <a:gd name="connsiteY2" fmla="*/ 0 h 1432560"/>
              <a:gd name="connsiteX3" fmla="*/ 2354580 w 2354580"/>
              <a:gd name="connsiteY3" fmla="*/ 398782 h 1432560"/>
              <a:gd name="connsiteX4" fmla="*/ 2354580 w 2354580"/>
              <a:gd name="connsiteY4" fmla="*/ 1033778 h 1432560"/>
              <a:gd name="connsiteX5" fmla="*/ 1955798 w 2354580"/>
              <a:gd name="connsiteY5" fmla="*/ 1432560 h 1432560"/>
              <a:gd name="connsiteX6" fmla="*/ 398782 w 2354580"/>
              <a:gd name="connsiteY6" fmla="*/ 1432560 h 1432560"/>
              <a:gd name="connsiteX7" fmla="*/ 0 w 2354580"/>
              <a:gd name="connsiteY7" fmla="*/ 1033778 h 1432560"/>
              <a:gd name="connsiteX8" fmla="*/ 0 w 2354580"/>
              <a:gd name="connsiteY8" fmla="*/ 17782 h 1432560"/>
              <a:gd name="connsiteX0" fmla="*/ 0 w 2354580"/>
              <a:gd name="connsiteY0" fmla="*/ 0 h 1433828"/>
              <a:gd name="connsiteX1" fmla="*/ 398782 w 2354580"/>
              <a:gd name="connsiteY1" fmla="*/ 1268 h 1433828"/>
              <a:gd name="connsiteX2" fmla="*/ 1955798 w 2354580"/>
              <a:gd name="connsiteY2" fmla="*/ 1268 h 1433828"/>
              <a:gd name="connsiteX3" fmla="*/ 2354580 w 2354580"/>
              <a:gd name="connsiteY3" fmla="*/ 400050 h 1433828"/>
              <a:gd name="connsiteX4" fmla="*/ 2354580 w 2354580"/>
              <a:gd name="connsiteY4" fmla="*/ 1035046 h 1433828"/>
              <a:gd name="connsiteX5" fmla="*/ 1955798 w 2354580"/>
              <a:gd name="connsiteY5" fmla="*/ 1433828 h 1433828"/>
              <a:gd name="connsiteX6" fmla="*/ 398782 w 2354580"/>
              <a:gd name="connsiteY6" fmla="*/ 1433828 h 1433828"/>
              <a:gd name="connsiteX7" fmla="*/ 0 w 2354580"/>
              <a:gd name="connsiteY7" fmla="*/ 1035046 h 1433828"/>
              <a:gd name="connsiteX8" fmla="*/ 0 w 2354580"/>
              <a:gd name="connsiteY8" fmla="*/ 0 h 1433828"/>
              <a:gd name="connsiteX0" fmla="*/ 4763 w 2354580"/>
              <a:gd name="connsiteY0" fmla="*/ 3494 h 1432560"/>
              <a:gd name="connsiteX1" fmla="*/ 398782 w 2354580"/>
              <a:gd name="connsiteY1" fmla="*/ 0 h 1432560"/>
              <a:gd name="connsiteX2" fmla="*/ 1955798 w 2354580"/>
              <a:gd name="connsiteY2" fmla="*/ 0 h 1432560"/>
              <a:gd name="connsiteX3" fmla="*/ 2354580 w 2354580"/>
              <a:gd name="connsiteY3" fmla="*/ 398782 h 1432560"/>
              <a:gd name="connsiteX4" fmla="*/ 2354580 w 2354580"/>
              <a:gd name="connsiteY4" fmla="*/ 1033778 h 1432560"/>
              <a:gd name="connsiteX5" fmla="*/ 1955798 w 2354580"/>
              <a:gd name="connsiteY5" fmla="*/ 1432560 h 1432560"/>
              <a:gd name="connsiteX6" fmla="*/ 398782 w 2354580"/>
              <a:gd name="connsiteY6" fmla="*/ 1432560 h 1432560"/>
              <a:gd name="connsiteX7" fmla="*/ 0 w 2354580"/>
              <a:gd name="connsiteY7" fmla="*/ 1033778 h 1432560"/>
              <a:gd name="connsiteX8" fmla="*/ 4763 w 2354580"/>
              <a:gd name="connsiteY8" fmla="*/ 3494 h 1432560"/>
              <a:gd name="connsiteX0" fmla="*/ 2382 w 2354580"/>
              <a:gd name="connsiteY0" fmla="*/ 0 h 1436210"/>
              <a:gd name="connsiteX1" fmla="*/ 398782 w 2354580"/>
              <a:gd name="connsiteY1" fmla="*/ 3650 h 1436210"/>
              <a:gd name="connsiteX2" fmla="*/ 1955798 w 2354580"/>
              <a:gd name="connsiteY2" fmla="*/ 3650 h 1436210"/>
              <a:gd name="connsiteX3" fmla="*/ 2354580 w 2354580"/>
              <a:gd name="connsiteY3" fmla="*/ 402432 h 1436210"/>
              <a:gd name="connsiteX4" fmla="*/ 2354580 w 2354580"/>
              <a:gd name="connsiteY4" fmla="*/ 1037428 h 1436210"/>
              <a:gd name="connsiteX5" fmla="*/ 1955798 w 2354580"/>
              <a:gd name="connsiteY5" fmla="*/ 1436210 h 1436210"/>
              <a:gd name="connsiteX6" fmla="*/ 398782 w 2354580"/>
              <a:gd name="connsiteY6" fmla="*/ 1436210 h 1436210"/>
              <a:gd name="connsiteX7" fmla="*/ 0 w 2354580"/>
              <a:gd name="connsiteY7" fmla="*/ 1037428 h 1436210"/>
              <a:gd name="connsiteX8" fmla="*/ 2382 w 2354580"/>
              <a:gd name="connsiteY8" fmla="*/ 0 h 1436210"/>
              <a:gd name="connsiteX0" fmla="*/ 4763 w 2354580"/>
              <a:gd name="connsiteY0" fmla="*/ 5875 h 1432560"/>
              <a:gd name="connsiteX1" fmla="*/ 398782 w 2354580"/>
              <a:gd name="connsiteY1" fmla="*/ 0 h 1432560"/>
              <a:gd name="connsiteX2" fmla="*/ 1955798 w 2354580"/>
              <a:gd name="connsiteY2" fmla="*/ 0 h 1432560"/>
              <a:gd name="connsiteX3" fmla="*/ 2354580 w 2354580"/>
              <a:gd name="connsiteY3" fmla="*/ 398782 h 1432560"/>
              <a:gd name="connsiteX4" fmla="*/ 2354580 w 2354580"/>
              <a:gd name="connsiteY4" fmla="*/ 1033778 h 1432560"/>
              <a:gd name="connsiteX5" fmla="*/ 1955798 w 2354580"/>
              <a:gd name="connsiteY5" fmla="*/ 1432560 h 1432560"/>
              <a:gd name="connsiteX6" fmla="*/ 398782 w 2354580"/>
              <a:gd name="connsiteY6" fmla="*/ 1432560 h 1432560"/>
              <a:gd name="connsiteX7" fmla="*/ 0 w 2354580"/>
              <a:gd name="connsiteY7" fmla="*/ 1033778 h 1432560"/>
              <a:gd name="connsiteX8" fmla="*/ 4763 w 2354580"/>
              <a:gd name="connsiteY8" fmla="*/ 5875 h 1432560"/>
              <a:gd name="connsiteX0" fmla="*/ 4763 w 2354580"/>
              <a:gd name="connsiteY0" fmla="*/ 0 h 1433829"/>
              <a:gd name="connsiteX1" fmla="*/ 398782 w 2354580"/>
              <a:gd name="connsiteY1" fmla="*/ 1269 h 1433829"/>
              <a:gd name="connsiteX2" fmla="*/ 1955798 w 2354580"/>
              <a:gd name="connsiteY2" fmla="*/ 1269 h 1433829"/>
              <a:gd name="connsiteX3" fmla="*/ 2354580 w 2354580"/>
              <a:gd name="connsiteY3" fmla="*/ 400051 h 1433829"/>
              <a:gd name="connsiteX4" fmla="*/ 2354580 w 2354580"/>
              <a:gd name="connsiteY4" fmla="*/ 1035047 h 1433829"/>
              <a:gd name="connsiteX5" fmla="*/ 1955798 w 2354580"/>
              <a:gd name="connsiteY5" fmla="*/ 1433829 h 1433829"/>
              <a:gd name="connsiteX6" fmla="*/ 398782 w 2354580"/>
              <a:gd name="connsiteY6" fmla="*/ 1433829 h 1433829"/>
              <a:gd name="connsiteX7" fmla="*/ 0 w 2354580"/>
              <a:gd name="connsiteY7" fmla="*/ 1035047 h 1433829"/>
              <a:gd name="connsiteX8" fmla="*/ 4763 w 2354580"/>
              <a:gd name="connsiteY8" fmla="*/ 0 h 1433829"/>
              <a:gd name="connsiteX0" fmla="*/ 4763 w 2354580"/>
              <a:gd name="connsiteY0" fmla="*/ 0 h 1433829"/>
              <a:gd name="connsiteX1" fmla="*/ 398782 w 2354580"/>
              <a:gd name="connsiteY1" fmla="*/ 1269 h 1433829"/>
              <a:gd name="connsiteX2" fmla="*/ 1955798 w 2354580"/>
              <a:gd name="connsiteY2" fmla="*/ 1269 h 1433829"/>
              <a:gd name="connsiteX3" fmla="*/ 2354580 w 2354580"/>
              <a:gd name="connsiteY3" fmla="*/ 400051 h 1433829"/>
              <a:gd name="connsiteX4" fmla="*/ 2354580 w 2354580"/>
              <a:gd name="connsiteY4" fmla="*/ 1035047 h 1433829"/>
              <a:gd name="connsiteX5" fmla="*/ 1955798 w 2354580"/>
              <a:gd name="connsiteY5" fmla="*/ 1433829 h 1433829"/>
              <a:gd name="connsiteX6" fmla="*/ 398782 w 2354580"/>
              <a:gd name="connsiteY6" fmla="*/ 1433829 h 1433829"/>
              <a:gd name="connsiteX7" fmla="*/ 0 w 2354580"/>
              <a:gd name="connsiteY7" fmla="*/ 1035047 h 1433829"/>
              <a:gd name="connsiteX8" fmla="*/ 4763 w 2354580"/>
              <a:gd name="connsiteY8" fmla="*/ 0 h 1433829"/>
              <a:gd name="connsiteX0" fmla="*/ 4763 w 2354580"/>
              <a:gd name="connsiteY0" fmla="*/ 0 h 1433829"/>
              <a:gd name="connsiteX1" fmla="*/ 398782 w 2354580"/>
              <a:gd name="connsiteY1" fmla="*/ 1269 h 1433829"/>
              <a:gd name="connsiteX2" fmla="*/ 1955798 w 2354580"/>
              <a:gd name="connsiteY2" fmla="*/ 1269 h 1433829"/>
              <a:gd name="connsiteX3" fmla="*/ 2354580 w 2354580"/>
              <a:gd name="connsiteY3" fmla="*/ 400051 h 1433829"/>
              <a:gd name="connsiteX4" fmla="*/ 2354580 w 2354580"/>
              <a:gd name="connsiteY4" fmla="*/ 1035047 h 1433829"/>
              <a:gd name="connsiteX5" fmla="*/ 1955798 w 2354580"/>
              <a:gd name="connsiteY5" fmla="*/ 1433829 h 1433829"/>
              <a:gd name="connsiteX6" fmla="*/ 398782 w 2354580"/>
              <a:gd name="connsiteY6" fmla="*/ 1433829 h 1433829"/>
              <a:gd name="connsiteX7" fmla="*/ 0 w 2354580"/>
              <a:gd name="connsiteY7" fmla="*/ 1035047 h 1433829"/>
              <a:gd name="connsiteX8" fmla="*/ 4763 w 2354580"/>
              <a:gd name="connsiteY8" fmla="*/ 0 h 1433829"/>
              <a:gd name="connsiteX0" fmla="*/ 4763 w 2432776"/>
              <a:gd name="connsiteY0" fmla="*/ 0 h 1433829"/>
              <a:gd name="connsiteX1" fmla="*/ 398782 w 2432776"/>
              <a:gd name="connsiteY1" fmla="*/ 1269 h 1433829"/>
              <a:gd name="connsiteX2" fmla="*/ 1955798 w 2432776"/>
              <a:gd name="connsiteY2" fmla="*/ 1269 h 1433829"/>
              <a:gd name="connsiteX3" fmla="*/ 2354580 w 2432776"/>
              <a:gd name="connsiteY3" fmla="*/ 400051 h 1433829"/>
              <a:gd name="connsiteX4" fmla="*/ 2354580 w 2432776"/>
              <a:gd name="connsiteY4" fmla="*/ 1035047 h 1433829"/>
              <a:gd name="connsiteX5" fmla="*/ 2327273 w 2432776"/>
              <a:gd name="connsiteY5" fmla="*/ 1433829 h 1433829"/>
              <a:gd name="connsiteX6" fmla="*/ 398782 w 2432776"/>
              <a:gd name="connsiteY6" fmla="*/ 1433829 h 1433829"/>
              <a:gd name="connsiteX7" fmla="*/ 0 w 2432776"/>
              <a:gd name="connsiteY7" fmla="*/ 1035047 h 1433829"/>
              <a:gd name="connsiteX8" fmla="*/ 4763 w 2432776"/>
              <a:gd name="connsiteY8" fmla="*/ 0 h 1433829"/>
              <a:gd name="connsiteX0" fmla="*/ 4763 w 2441222"/>
              <a:gd name="connsiteY0" fmla="*/ 0 h 1433829"/>
              <a:gd name="connsiteX1" fmla="*/ 398782 w 2441222"/>
              <a:gd name="connsiteY1" fmla="*/ 1269 h 1433829"/>
              <a:gd name="connsiteX2" fmla="*/ 1955798 w 2441222"/>
              <a:gd name="connsiteY2" fmla="*/ 1269 h 1433829"/>
              <a:gd name="connsiteX3" fmla="*/ 2354580 w 2441222"/>
              <a:gd name="connsiteY3" fmla="*/ 400051 h 1433829"/>
              <a:gd name="connsiteX4" fmla="*/ 2354580 w 2441222"/>
              <a:gd name="connsiteY4" fmla="*/ 1035047 h 1433829"/>
              <a:gd name="connsiteX5" fmla="*/ 2339179 w 2441222"/>
              <a:gd name="connsiteY5" fmla="*/ 1431447 h 1433829"/>
              <a:gd name="connsiteX6" fmla="*/ 398782 w 2441222"/>
              <a:gd name="connsiteY6" fmla="*/ 1433829 h 1433829"/>
              <a:gd name="connsiteX7" fmla="*/ 0 w 2441222"/>
              <a:gd name="connsiteY7" fmla="*/ 1035047 h 1433829"/>
              <a:gd name="connsiteX8" fmla="*/ 4763 w 2441222"/>
              <a:gd name="connsiteY8" fmla="*/ 0 h 1433829"/>
              <a:gd name="connsiteX0" fmla="*/ 4763 w 2449885"/>
              <a:gd name="connsiteY0" fmla="*/ 0 h 1433829"/>
              <a:gd name="connsiteX1" fmla="*/ 398782 w 2449885"/>
              <a:gd name="connsiteY1" fmla="*/ 1269 h 1433829"/>
              <a:gd name="connsiteX2" fmla="*/ 1955798 w 2449885"/>
              <a:gd name="connsiteY2" fmla="*/ 1269 h 1433829"/>
              <a:gd name="connsiteX3" fmla="*/ 2354580 w 2449885"/>
              <a:gd name="connsiteY3" fmla="*/ 400051 h 1433829"/>
              <a:gd name="connsiteX4" fmla="*/ 2354580 w 2449885"/>
              <a:gd name="connsiteY4" fmla="*/ 1035047 h 1433829"/>
              <a:gd name="connsiteX5" fmla="*/ 2351086 w 2449885"/>
              <a:gd name="connsiteY5" fmla="*/ 1433828 h 1433829"/>
              <a:gd name="connsiteX6" fmla="*/ 398782 w 2449885"/>
              <a:gd name="connsiteY6" fmla="*/ 1433829 h 1433829"/>
              <a:gd name="connsiteX7" fmla="*/ 0 w 2449885"/>
              <a:gd name="connsiteY7" fmla="*/ 1035047 h 1433829"/>
              <a:gd name="connsiteX8" fmla="*/ 4763 w 2449885"/>
              <a:gd name="connsiteY8" fmla="*/ 0 h 1433829"/>
              <a:gd name="connsiteX0" fmla="*/ 4763 w 2355967"/>
              <a:gd name="connsiteY0" fmla="*/ 0 h 1433829"/>
              <a:gd name="connsiteX1" fmla="*/ 398782 w 2355967"/>
              <a:gd name="connsiteY1" fmla="*/ 1269 h 1433829"/>
              <a:gd name="connsiteX2" fmla="*/ 1955798 w 2355967"/>
              <a:gd name="connsiteY2" fmla="*/ 1269 h 1433829"/>
              <a:gd name="connsiteX3" fmla="*/ 2354580 w 2355967"/>
              <a:gd name="connsiteY3" fmla="*/ 400051 h 1433829"/>
              <a:gd name="connsiteX4" fmla="*/ 2354580 w 2355967"/>
              <a:gd name="connsiteY4" fmla="*/ 1035047 h 1433829"/>
              <a:gd name="connsiteX5" fmla="*/ 2351086 w 2355967"/>
              <a:gd name="connsiteY5" fmla="*/ 1433828 h 1433829"/>
              <a:gd name="connsiteX6" fmla="*/ 398782 w 2355967"/>
              <a:gd name="connsiteY6" fmla="*/ 1433829 h 1433829"/>
              <a:gd name="connsiteX7" fmla="*/ 0 w 2355967"/>
              <a:gd name="connsiteY7" fmla="*/ 1035047 h 1433829"/>
              <a:gd name="connsiteX8" fmla="*/ 4763 w 2355967"/>
              <a:gd name="connsiteY8" fmla="*/ 0 h 14338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355967" h="1433829">
                <a:moveTo>
                  <a:pt x="4763" y="0"/>
                </a:moveTo>
                <a:cubicBezTo>
                  <a:pt x="30957" y="1215"/>
                  <a:pt x="178541" y="1269"/>
                  <a:pt x="398782" y="1269"/>
                </a:cubicBezTo>
                <a:lnTo>
                  <a:pt x="1955798" y="1269"/>
                </a:lnTo>
                <a:cubicBezTo>
                  <a:pt x="2176039" y="1269"/>
                  <a:pt x="2354580" y="179810"/>
                  <a:pt x="2354580" y="400051"/>
                </a:cubicBezTo>
                <a:lnTo>
                  <a:pt x="2354580" y="1035047"/>
                </a:lnTo>
                <a:cubicBezTo>
                  <a:pt x="2354580" y="1255288"/>
                  <a:pt x="2359396" y="1431446"/>
                  <a:pt x="2351086" y="1433828"/>
                </a:cubicBezTo>
                <a:lnTo>
                  <a:pt x="398782" y="1433829"/>
                </a:lnTo>
                <a:cubicBezTo>
                  <a:pt x="178541" y="1433829"/>
                  <a:pt x="0" y="1255288"/>
                  <a:pt x="0" y="1035047"/>
                </a:cubicBezTo>
                <a:cubicBezTo>
                  <a:pt x="1588" y="691619"/>
                  <a:pt x="3175" y="343428"/>
                  <a:pt x="4763" y="0"/>
                </a:cubicBezTo>
                <a:close/>
              </a:path>
            </a:pathLst>
          </a:custGeom>
          <a:noFill/>
          <a:ln w="19050">
            <a:solidFill>
              <a:srgbClr val="112A40"/>
            </a:solidFill>
          </a:ln>
        </p:spPr>
        <p:style>
          <a:lnRef idx="2">
            <a:schemeClr val="accent1">
              <a:shade val="50000"/>
            </a:schemeClr>
          </a:lnRef>
          <a:fillRef idx="1">
            <a:schemeClr val="accent1"/>
          </a:fillRef>
          <a:effectRef idx="0">
            <a:schemeClr val="accent1"/>
          </a:effectRef>
          <a:fontRef idx="minor">
            <a:schemeClr val="lt1"/>
          </a:fontRef>
        </p:style>
        <p:txBody>
          <a:bodyPr lIns="91440" tIns="91440" rIns="91440" bIns="91440" rtlCol="0" anchor="ctr">
            <a:noAutofit/>
          </a:bodyPr>
          <a:lstStyle/>
          <a:p>
            <a:pPr algn="ctr"/>
            <a:endParaRPr lang="fr-CI" sz="1400" noProof="0">
              <a:solidFill>
                <a:schemeClr val="tx2"/>
              </a:solidFill>
            </a:endParaRPr>
          </a:p>
        </p:txBody>
      </p:sp>
      <p:sp>
        <p:nvSpPr>
          <p:cNvPr id="13" name="Rectangle 12">
            <a:extLst>
              <a:ext uri="{FF2B5EF4-FFF2-40B4-BE49-F238E27FC236}">
                <a16:creationId xmlns:a16="http://schemas.microsoft.com/office/drawing/2014/main" id="{1F18419A-23F6-2CD0-B648-53C2736789A0}"/>
              </a:ext>
            </a:extLst>
          </p:cNvPr>
          <p:cNvSpPr/>
          <p:nvPr/>
        </p:nvSpPr>
        <p:spPr>
          <a:xfrm>
            <a:off x="3806664" y="3779137"/>
            <a:ext cx="2395004" cy="800458"/>
          </a:xfrm>
          <a:prstGeom prst="rect">
            <a:avLst/>
          </a:prstGeom>
        </p:spPr>
        <p:txBody>
          <a:bodyPr wrap="square" lIns="0" tIns="0" rIns="0" bIns="0">
            <a:spAutoFit/>
          </a:bodyPr>
          <a:lstStyle/>
          <a:p>
            <a:pPr>
              <a:spcBef>
                <a:spcPts val="600"/>
              </a:spcBef>
            </a:pPr>
            <a:r>
              <a:rPr lang="fr-CI" sz="1400" b="1" noProof="0">
                <a:latin typeface="Helvetica" panose="020B0604020202020204" pitchFamily="34" charset="0"/>
                <a:cs typeface="Helvetica" panose="020B0604020202020204" pitchFamily="34" charset="0"/>
              </a:rPr>
              <a:t>Emplois longs</a:t>
            </a:r>
          </a:p>
          <a:p>
            <a:pPr>
              <a:spcBef>
                <a:spcPts val="600"/>
              </a:spcBef>
            </a:pPr>
            <a:r>
              <a:rPr lang="fr-CI" sz="1200" noProof="0" b="0">
                <a:latin typeface="Helvetica" panose="020B0604020202020204" pitchFamily="34" charset="0"/>
                <a:cs typeface="Helvetica" panose="020B0604020202020204" pitchFamily="34" charset="0"/>
              </a:rPr>
              <a:t>Argent placé pour longtemps : terrains, bâtiments, prêts, avances aux structures liées.</a:t>
            </a:r>
          </a:p>
        </p:txBody>
      </p:sp>
      <p:cxnSp>
        <p:nvCxnSpPr>
          <p:cNvPr id="14" name="Straight Connector 67">
            <a:extLst>
              <a:ext uri="{FF2B5EF4-FFF2-40B4-BE49-F238E27FC236}">
                <a16:creationId xmlns:a16="http://schemas.microsoft.com/office/drawing/2014/main" id="{1187744F-1BE7-3A28-DBC2-3AB195946082}"/>
              </a:ext>
            </a:extLst>
          </p:cNvPr>
          <p:cNvCxnSpPr/>
          <p:nvPr/>
        </p:nvCxnSpPr>
        <p:spPr>
          <a:xfrm>
            <a:off x="3806664" y="4026471"/>
            <a:ext cx="2223818" cy="3600"/>
          </a:xfrm>
          <a:prstGeom prst="line">
            <a:avLst/>
          </a:prstGeom>
          <a:ln w="9525">
            <a:solidFill>
              <a:srgbClr val="BBBCBC"/>
            </a:solidFill>
            <a:headEnd type="none"/>
            <a:tailEnd type="none"/>
          </a:ln>
        </p:spPr>
        <p:style>
          <a:lnRef idx="1">
            <a:schemeClr val="accent1"/>
          </a:lnRef>
          <a:fillRef idx="0">
            <a:schemeClr val="accent1"/>
          </a:fillRef>
          <a:effectRef idx="0">
            <a:schemeClr val="accent1"/>
          </a:effectRef>
          <a:fontRef idx="minor">
            <a:schemeClr val="tx1"/>
          </a:fontRef>
        </p:style>
      </p:cxnSp>
      <p:pic>
        <p:nvPicPr>
          <p:cNvPr id="20" name="Image 19">
            <a:extLst>
              <a:ext uri="{FF2B5EF4-FFF2-40B4-BE49-F238E27FC236}">
                <a16:creationId xmlns:a16="http://schemas.microsoft.com/office/drawing/2014/main" id="{DB69389C-778C-9663-739F-408FE8EC148F}"/>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rot="19997307">
            <a:off x="3353573" y="1583438"/>
            <a:ext cx="372797" cy="372797"/>
          </a:xfrm>
          <a:prstGeom prst="rect">
            <a:avLst/>
          </a:prstGeom>
        </p:spPr>
      </p:pic>
      <p:pic>
        <p:nvPicPr>
          <p:cNvPr id="21" name="Image 20">
            <a:extLst>
              <a:ext uri="{FF2B5EF4-FFF2-40B4-BE49-F238E27FC236}">
                <a16:creationId xmlns:a16="http://schemas.microsoft.com/office/drawing/2014/main" id="{DC22CFF3-27E2-3D77-5D88-C5CF6EB0530C}"/>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9072301" y="3639438"/>
            <a:ext cx="398425" cy="407086"/>
          </a:xfrm>
          <a:prstGeom prst="rect">
            <a:avLst/>
          </a:prstGeom>
        </p:spPr>
      </p:pic>
      <p:pic>
        <p:nvPicPr>
          <p:cNvPr id="22" name="Image 21">
            <a:extLst>
              <a:ext uri="{FF2B5EF4-FFF2-40B4-BE49-F238E27FC236}">
                <a16:creationId xmlns:a16="http://schemas.microsoft.com/office/drawing/2014/main" id="{6B846A96-4C92-37D4-AE1E-706483CE7BB4}"/>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8278416" y="1993990"/>
            <a:ext cx="331566" cy="331566"/>
          </a:xfrm>
          <a:prstGeom prst="rect">
            <a:avLst/>
          </a:prstGeom>
        </p:spPr>
      </p:pic>
      <p:pic>
        <p:nvPicPr>
          <p:cNvPr id="23" name="Image 22">
            <a:extLst>
              <a:ext uri="{FF2B5EF4-FFF2-40B4-BE49-F238E27FC236}">
                <a16:creationId xmlns:a16="http://schemas.microsoft.com/office/drawing/2014/main" id="{78F0071B-D442-D38C-01FF-77DDC6787EA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3131664" y="3693061"/>
            <a:ext cx="573169" cy="579832"/>
          </a:xfrm>
          <a:prstGeom prst="rect">
            <a:avLst/>
          </a:prstGeom>
        </p:spPr>
      </p:pic>
      <p:sp>
        <p:nvSpPr>
          <p:cNvPr id="24"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Lire un ratio : les tiroirs du bilan</a:t>
            </a:r>
          </a:p>
        </p:txBody>
      </p:sp>
      <p:sp>
        <p:nvSpPr>
          <p:cNvPr id="25"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Chaque compte est rangé dans un tiroir selon le temps que met l'argent à entrer ou sortir</a:t>
            </a:r>
          </a:p>
        </p:txBody>
      </p:sp>
      <p:sp>
        <p:nvSpPr>
          <p:cNvPr id="26"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Un ratio compare le contenu de deux tiroirs. Le classement des comptes décide donc du résultat</a:t>
            </a:r>
          </a:p>
        </p:txBody>
      </p:sp>
      <p:sp>
        <p:nvSpPr>
          <p:cNvPr id="27"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PCMS (structure des classes de comptes). Adenka</a:t>
            </a:r>
          </a:p>
        </p:txBody>
      </p:sp>
      <p:sp>
        <p:nvSpPr>
          <p:cNvPr id="28" name="TextBox 27"/>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PCMS : plan comptable des mutuelles sociales</a:t>
            </a:r>
          </a:p>
        </p:txBody>
      </p:sp>
    </p:spTree>
    <p:extLst>
      <p:ext uri="{BB962C8B-B14F-4D97-AF65-F5344CB8AC3E}">
        <p14:creationId xmlns:p14="http://schemas.microsoft.com/office/powerpoint/2010/main" val="1419168722"/>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Deux lectures : comme le FPPN, puis retraitée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Trois groupes de comptes sont rangés dans un tiroir qui ne reflète pas leur nature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Adenka calcule d'abord chaque ratio avec les comptes tels qu'ils sont tenus, puis avec trois reclassements motivés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PCMS, fiches n° 1 et 25. Règlement d'exécution n° 004/2022/COM/UEMOA du 1er juin 2022, art. 3. Balances du FPPN. Classement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83 : Reclassements de la lecture retraitée</a:t>
            </a:r>
          </a:p>
        </p:txBody>
      </p:sp>
      <p:graphicFrame>
        <p:nvGraphicFramePr>
          <p:cNvPr id="32" name="Table 31"/>
          <p:cNvGraphicFramePr>
            <a:graphicFrameLocks noGrp="1"/>
          </p:cNvGraphicFramePr>
          <p:nvPr/>
        </p:nvGraphicFramePr>
        <p:xfrm>
          <a:off x="503999" y="1655999"/>
          <a:ext cx="11232000" cy="1739253"/>
        </p:xfrm>
        <a:graphic>
          <a:graphicData uri="http://schemas.openxmlformats.org/drawingml/2006/table">
            <a:tbl>
              <a:tblPr firstRow="0" bandRow="0">
                <a:tableStyleId>{5940675A-B579-460E-94D1-54222C63F5DA}</a:tableStyleId>
              </a:tblPr>
              <a:tblGrid>
                <a:gridCol w="2376000"/>
                <a:gridCol w="1944000"/>
                <a:gridCol w="1944000"/>
                <a:gridCol w="4968000"/>
              </a:tblGrid>
              <a:tr h="225250">
                <a:tc>
                  <a:txBody>
                    <a:bodyPr/>
                    <a:lstStyle/>
                    <a:p>
                      <a:pPr marL="0" indent="0" lvl="0">
                        <a:buNone/>
                      </a:pPr>
                      <a:r>
                        <a:rPr sz="1100" b="1">
                          <a:solidFill>
                            <a:srgbClr val="FFFFFF"/>
                          </a:solidFill>
                          <a:latin typeface="Helvetica"/>
                        </a:rPr>
                        <a:t>Comptes</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Tiroir comme le FPPN</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Tiroir retraité</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Raison du reclassement</a:t>
                      </a:r>
                    </a:p>
                  </a:txBody>
                  <a:tcPr marL="43200" marR="43200" marT="14400" marB="14400" anchor="ctr">
                    <a:solidFill>
                      <a:srgbClr val="060606"/>
                    </a:solidFill>
                  </a:tcPr>
                </a:tc>
              </a:tr>
              <a:tr h="392901">
                <a:tc>
                  <a:txBody>
                    <a:bodyPr/>
                    <a:lstStyle/>
                    <a:p>
                      <a:pPr marL="0" indent="0" lvl="0">
                        <a:buNone/>
                      </a:pPr>
                      <a:r>
                        <a:rPr sz="1100" b="1">
                          <a:solidFill>
                            <a:srgbClr val="060606"/>
                          </a:solidFill>
                          <a:latin typeface="Helvetica"/>
                        </a:rPr>
                        <a:t>41195100, 41195200 : épargne PEP et EFC</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Dette à court terme (classe 4)</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Ressource longue</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L'épargne est un risque long (art. 3 du règlement d'exécution) : elle n'est pas exigible en totalité dans l'année.</a:t>
                      </a:r>
                    </a:p>
                  </a:txBody>
                  <a:tcPr marL="43200" marR="43200" marT="14400" marB="14400" anchor="ctr">
                    <a:solidFill>
                      <a:srgbClr val="FFFFFF"/>
                    </a:solidFill>
                  </a:tcPr>
                </a:tc>
              </a:tr>
              <a:tr h="560551">
                <a:tc>
                  <a:txBody>
                    <a:bodyPr/>
                    <a:lstStyle/>
                    <a:p>
                      <a:pPr marL="0" indent="0" lvl="0">
                        <a:buNone/>
                      </a:pPr>
                      <a:r>
                        <a:rPr sz="1100" b="1">
                          <a:solidFill>
                            <a:srgbClr val="060606"/>
                          </a:solidFill>
                          <a:latin typeface="Helvetica"/>
                        </a:rPr>
                        <a:t>47111100 à 47111105, 47111201, 485 : avances et créances durables</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Créance à court terme (classe 4)</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Emploi long</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Ces montants financent le CMP, le Grenier et l'Hôpital de la Police depuis plusieurs années, sans remboursement à court terme.</a:t>
                      </a:r>
                    </a:p>
                  </a:txBody>
                  <a:tcPr marL="43200" marR="43200" marT="14400" marB="14400" anchor="ctr">
                    <a:solidFill>
                      <a:srgbClr val="F2F2F2"/>
                    </a:solidFill>
                  </a:tcPr>
                </a:tc>
              </a:tr>
              <a:tr h="560551">
                <a:tc>
                  <a:txBody>
                    <a:bodyPr/>
                    <a:lstStyle/>
                    <a:p>
                      <a:pPr marL="0" indent="0" lvl="0">
                        <a:buNone/>
                      </a:pPr>
                      <a:r>
                        <a:rPr sz="1100" b="1">
                          <a:solidFill>
                            <a:srgbClr val="060606"/>
                          </a:solidFill>
                          <a:latin typeface="Helvetica"/>
                        </a:rPr>
                        <a:t>10620000 : réévaluation</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Réserve libre (libellé « Réserve disponible » en 2026)</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Écart de réévaluation (terrain du siège selon le chef comptable)</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Le PCMS réserve le compte 106 aux écarts de réévaluation des immeubles, qui ne comptent pas dans la marge de solvabilité.</a:t>
                      </a:r>
                    </a:p>
                  </a:txBody>
                  <a:tcPr marL="43200" marR="43200" marT="14400" marB="14400" anchor="ctr">
                    <a:solidFill>
                      <a:srgbClr val="FFFFFF"/>
                    </a:solidFill>
                  </a:tcPr>
                </a:tc>
              </a:tr>
            </a:tbl>
          </a:graphicData>
        </a:graphic>
      </p:graphicFrame>
      <p:sp>
        <p:nvSpPr>
          <p:cNvPr id="33" name="TextBox 32"/>
          <p:cNvSpPr txBox="1"/>
          <p:nvPr/>
        </p:nvSpPr>
        <p:spPr>
          <a:xfrm>
            <a:off x="503999" y="3503255"/>
            <a:ext cx="11232000" cy="306000"/>
          </a:xfrm>
          <a:prstGeom prst="rect">
            <a:avLst/>
          </a:prstGeom>
          <a:noFill/>
        </p:spPr>
        <p:txBody>
          <a:bodyPr wrap="square" anchor="t" lIns="54000" rIns="54000"/>
          <a:lstStyle/>
          <a:p>
            <a:pPr algn="l"/>
            <a:r>
              <a:rPr sz="850" b="0">
                <a:solidFill>
                  <a:srgbClr val="53565A"/>
                </a:solidFill>
                <a:latin typeface="Helvetica"/>
              </a:rPr>
              <a:t>Valable pour : reclassements de comptes selon le PCMS (fiches 1 et 25) appliqués aux balances « BALANCE FORMAT EXCEL DE 09-2020 AU 31-12-2020.xlsx » à « BALANCE FPPN DU 01-01-2026 AU 31-08-2026.xlsx ».</a:t>
            </a:r>
          </a:p>
        </p:txBody>
      </p:sp>
      <p:sp>
        <p:nvSpPr>
          <p:cNvPr id="34" name="TextBox 33"/>
          <p:cNvSpPr txBox="1"/>
          <p:nvPr/>
        </p:nvSpPr>
        <p:spPr>
          <a:xfrm>
            <a:off x="503999" y="3953255"/>
            <a:ext cx="11232000" cy="1914744"/>
          </a:xfrm>
          <a:prstGeom prst="rect">
            <a:avLst/>
          </a:prstGeom>
          <a:noFill/>
        </p:spPr>
        <p:txBody>
          <a:bodyPr wrap="square" lIns="54000" rIns="54000"/>
          <a:lstStyle/>
          <a:p>
            <a:pPr algn="just">
              <a:spcAft>
                <a:spcPts val="600"/>
              </a:spcAft>
            </a:pPr>
            <a:r>
              <a:rPr sz="1300" b="1">
                <a:solidFill>
                  <a:srgbClr val="060606"/>
                </a:solidFill>
                <a:latin typeface="Helvetica"/>
              </a:rPr>
              <a:t>Les deux lectures encadrent la réalité.</a:t>
            </a:r>
            <a:r>
              <a:rPr sz="1300" b="0">
                <a:solidFill>
                  <a:srgbClr val="060606"/>
                </a:solidFill>
                <a:latin typeface="Helvetica"/>
              </a:rPr>
              <a:t> La lecture comme le FPPN est prudente pour l'épargne, mais optimiste pour les avances durables. La lecture retraitée corrige les deux.</a:t>
            </a:r>
          </a:p>
          <a:p>
            <a:pPr algn="just">
              <a:spcAft>
                <a:spcPts val="600"/>
              </a:spcAft>
            </a:pPr>
            <a:r>
              <a:rPr sz="1300" b="0">
                <a:solidFill>
                  <a:srgbClr val="060606"/>
                </a:solidFill>
                <a:latin typeface="Helvetica"/>
              </a:rPr>
              <a:t>La réponse définitive dépend de l'échéancier réel de l'épargne : les conditions de retrait et les âges des épargnants trancheront entre les deux lectures.</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PCMS : plan comptable des mutuelles sociales | PEP : Plan Épargne Plus | EFC : entraide fin de carrière | CMP : Clinique médicale du policier</a:t>
            </a:r>
          </a:p>
        </p:txBody>
      </p:sp>
    </p:spTree>
    <p:extLst>
      <p:ext uri="{BB962C8B-B14F-4D97-AF65-F5344CB8AC3E}">
        <p14:creationId xmlns:p14="http://schemas.microsoft.com/office/powerpoint/2010/main" val="3602113325"/>
      </p:ext>
    </p:extLst>
  </p:cSld>
  <p:clrMapOvr>
    <a:masterClrMapping/>
  </p:clrMapOvr>
  <p:transition>
    <p:fade/>
  </p:transition>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7" name="Image 36"/>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3" name="Rectangle 22">
            <a:extLst>
              <a:ext uri="{FF2B5EF4-FFF2-40B4-BE49-F238E27FC236}">
                <a16:creationId xmlns:a16="http://schemas.microsoft.com/office/drawing/2014/main" id="{4CD23CFE-3F31-4BA9-B26F-B9B5B351518E}"/>
              </a:ext>
            </a:extLst>
          </p:cNvPr>
          <p:cNvSpPr/>
          <p:nvPr/>
        </p:nvSpPr>
        <p:spPr>
          <a:xfrm>
            <a:off x="2106184" y="1811264"/>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Conforme ou non conforme</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Un ratio est conforme quand sa valeur respecte la norme chiffrée de la Décision n° 05/2022. Il est non conforme sinon. Pour une fourchette, une valeur au-dessus de la borne haute est signalée à part.</a:t>
            </a:r>
          </a:p>
        </p:txBody>
      </p:sp>
      <p:sp>
        <p:nvSpPr>
          <p:cNvPr id="28" name="Rectangle 27">
            <a:extLst>
              <a:ext uri="{FF2B5EF4-FFF2-40B4-BE49-F238E27FC236}">
                <a16:creationId xmlns:a16="http://schemas.microsoft.com/office/drawing/2014/main" id="{9B9B23AA-050D-4543-80A0-873FE31AFFF7}"/>
              </a:ext>
            </a:extLst>
          </p:cNvPr>
          <p:cNvSpPr/>
          <p:nvPr/>
        </p:nvSpPr>
        <p:spPr>
          <a:xfrm>
            <a:off x="1538714" y="1463475"/>
            <a:ext cx="5748535" cy="166944"/>
          </a:xfrm>
          <a:prstGeom prst="rect">
            <a:avLst/>
          </a:prstGeom>
        </p:spPr>
        <p:txBody>
          <a:bodyPr wrap="square" lIns="0" tIns="0" rIns="0" bIns="0">
            <a:sp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
            </a:r>
          </a:p>
        </p:txBody>
      </p:sp>
      <p:cxnSp>
        <p:nvCxnSpPr>
          <p:cNvPr id="29" name="Straight Connector 28">
            <a:extLst>
              <a:ext uri="{FF2B5EF4-FFF2-40B4-BE49-F238E27FC236}">
                <a16:creationId xmlns:a16="http://schemas.microsoft.com/office/drawing/2014/main" id="{09E553D9-3562-45A7-BE4B-0F12FAA0490F}"/>
              </a:ext>
            </a:extLst>
          </p:cNvPr>
          <p:cNvCxnSpPr>
            <a:cxnSpLocks/>
          </p:cNvCxnSpPr>
          <p:nvPr/>
        </p:nvCxnSpPr>
        <p:spPr>
          <a:xfrm>
            <a:off x="916803" y="1707866"/>
            <a:ext cx="0" cy="3668091"/>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DA735D38-741F-4EFB-826C-6F87FD459AB4}"/>
              </a:ext>
            </a:extLst>
          </p:cNvPr>
          <p:cNvCxnSpPr/>
          <p:nvPr/>
        </p:nvCxnSpPr>
        <p:spPr>
          <a:xfrm>
            <a:off x="916803" y="2291826"/>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EBCFE36B-AE16-49E8-90A6-6621A0EB0473}"/>
              </a:ext>
            </a:extLst>
          </p:cNvPr>
          <p:cNvCxnSpPr/>
          <p:nvPr/>
        </p:nvCxnSpPr>
        <p:spPr>
          <a:xfrm>
            <a:off x="916803" y="3273370"/>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2697F6E2-C26B-4E5F-B7F9-95C6E9325040}"/>
              </a:ext>
            </a:extLst>
          </p:cNvPr>
          <p:cNvCxnSpPr/>
          <p:nvPr/>
        </p:nvCxnSpPr>
        <p:spPr>
          <a:xfrm>
            <a:off x="916803" y="5368324"/>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4CD23CFE-3F31-4BA9-B26F-B9B5B351518E}"/>
              </a:ext>
            </a:extLst>
          </p:cNvPr>
          <p:cNvSpPr/>
          <p:nvPr/>
        </p:nvSpPr>
        <p:spPr>
          <a:xfrm>
            <a:off x="2103510" y="2847523"/>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En attente</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Un ratio est en attente quand une donnée nécessaire n'a pas été transmise : fichiers aller des postes 936 et 8Z6 (détenus par la direction du personnel de la Police), procès-verbaux, registre des contrôles, cotisation au FNG.</a:t>
            </a:r>
          </a:p>
        </p:txBody>
      </p:sp>
      <p:sp>
        <p:nvSpPr>
          <p:cNvPr id="33" name="Rectangle 32">
            <a:extLst>
              <a:ext uri="{FF2B5EF4-FFF2-40B4-BE49-F238E27FC236}">
                <a16:creationId xmlns:a16="http://schemas.microsoft.com/office/drawing/2014/main" id="{4CD23CFE-3F31-4BA9-B26F-B9B5B351518E}"/>
              </a:ext>
            </a:extLst>
          </p:cNvPr>
          <p:cNvSpPr/>
          <p:nvPr/>
        </p:nvSpPr>
        <p:spPr>
          <a:xfrm>
            <a:off x="2125344" y="3881185"/>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À apprécier</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Un ratio est à apprécier quand la norme n'est pas chiffrée : délai contractuel, objectif du plan stratégique, solde « avoisinant zéro », taux moyen du marché.</a:t>
            </a:r>
          </a:p>
        </p:txBody>
      </p:sp>
      <p:sp>
        <p:nvSpPr>
          <p:cNvPr id="34" name="Rectangle 33">
            <a:extLst>
              <a:ext uri="{FF2B5EF4-FFF2-40B4-BE49-F238E27FC236}">
                <a16:creationId xmlns:a16="http://schemas.microsoft.com/office/drawing/2014/main" id="{4CD23CFE-3F31-4BA9-B26F-B9B5B351518E}"/>
              </a:ext>
            </a:extLst>
          </p:cNvPr>
          <p:cNvSpPr/>
          <p:nvPr/>
        </p:nvSpPr>
        <p:spPr>
          <a:xfrm>
            <a:off x="2122670" y="4917444"/>
            <a:ext cx="9685766" cy="901761"/>
          </a:xfrm>
          <a:prstGeom prst="rect">
            <a:avLst/>
          </a:prstGeom>
          <a:ln w="12700">
            <a:solidFill>
              <a:srgbClr val="112A40"/>
            </a:solidFill>
          </a:ln>
        </p:spPr>
        <p:txBody>
          <a:bodyPr wrap="square" lIns="162000" tIns="54000" rIns="72000" bIns="54000" anchor="ctr">
            <a:noAutofit/>
          </a:bodyPr>
          <a:lstStyle/>
          <a:p>
            <a:pPr lvl="1">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Période jugée</a:t>
            </a:r>
          </a:p>
          <a:p>
            <a:pPr lvl="1">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La Décision est entrée en vigueur le 1er juin 2022 : 2020 et 2021 sont indicatifs, comme les huit mois provisoires de 2026. Deux exercices non conformes de suite sont signalés, car l'article 84 du règlement n° 07/2009 prévoit alors le retrait d'agrément.</a:t>
            </a:r>
            <a:endParaRPr lang="fr-CI" sz="1200">
              <a:latin typeface="Helvetica" panose="020B0604020202020204" pitchFamily="34" charset="0"/>
              <a:ea typeface="Open Sans Light" panose="020B0306030504020204" pitchFamily="34" charset="0"/>
              <a:cs typeface="Helvetica" panose="020B0604020202020204" pitchFamily="34" charset="0"/>
            </a:endParaRPr>
          </a:p>
        </p:txBody>
      </p:sp>
      <p:cxnSp>
        <p:nvCxnSpPr>
          <p:cNvPr id="39" name="Straight Connector 30">
            <a:extLst>
              <a:ext uri="{FF2B5EF4-FFF2-40B4-BE49-F238E27FC236}">
                <a16:creationId xmlns:a16="http://schemas.microsoft.com/office/drawing/2014/main" id="{EBCFE36B-AE16-49E8-90A6-6621A0EB0473}"/>
              </a:ext>
            </a:extLst>
          </p:cNvPr>
          <p:cNvCxnSpPr/>
          <p:nvPr/>
        </p:nvCxnSpPr>
        <p:spPr>
          <a:xfrm>
            <a:off x="919504" y="4326976"/>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grpSp>
        <p:nvGrpSpPr>
          <p:cNvPr id="11" name="Groupe 10"/>
          <p:cNvGrpSpPr/>
          <p:nvPr/>
        </p:nvGrpSpPr>
        <p:grpSpPr>
          <a:xfrm>
            <a:off x="1554870" y="2047565"/>
            <a:ext cx="548640" cy="548640"/>
            <a:chOff x="-1153645" y="1535690"/>
            <a:chExt cx="548640" cy="548640"/>
          </a:xfrm>
        </p:grpSpPr>
        <p:sp>
          <p:nvSpPr>
            <p:cNvPr id="36" name="Oval 21">
              <a:extLst>
                <a:ext uri="{FF2B5EF4-FFF2-40B4-BE49-F238E27FC236}">
                  <a16:creationId xmlns:a16="http://schemas.microsoft.com/office/drawing/2014/main" id="{7BB796F0-2DE6-45B1-851B-D8991F423CF4}"/>
                </a:ext>
              </a:extLst>
            </p:cNvPr>
            <p:cNvSpPr/>
            <p:nvPr/>
          </p:nvSpPr>
          <p:spPr bwMode="gray">
            <a:xfrm>
              <a:off x="-1153645" y="1535690"/>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40" name="Image 3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3163" y="1564148"/>
              <a:ext cx="486259" cy="491723"/>
            </a:xfrm>
            <a:prstGeom prst="rect">
              <a:avLst/>
            </a:prstGeom>
          </p:spPr>
        </p:pic>
      </p:grpSp>
      <p:grpSp>
        <p:nvGrpSpPr>
          <p:cNvPr id="12" name="Groupe 11"/>
          <p:cNvGrpSpPr/>
          <p:nvPr/>
        </p:nvGrpSpPr>
        <p:grpSpPr>
          <a:xfrm>
            <a:off x="1557425" y="3008849"/>
            <a:ext cx="548640" cy="548640"/>
            <a:chOff x="-1154302" y="2719457"/>
            <a:chExt cx="548640" cy="548640"/>
          </a:xfrm>
        </p:grpSpPr>
        <p:sp>
          <p:nvSpPr>
            <p:cNvPr id="42" name="Oval 21">
              <a:extLst>
                <a:ext uri="{FF2B5EF4-FFF2-40B4-BE49-F238E27FC236}">
                  <a16:creationId xmlns:a16="http://schemas.microsoft.com/office/drawing/2014/main" id="{7BB796F0-2DE6-45B1-851B-D8991F423CF4}"/>
                </a:ext>
              </a:extLst>
            </p:cNvPr>
            <p:cNvSpPr/>
            <p:nvPr/>
          </p:nvSpPr>
          <p:spPr bwMode="gray">
            <a:xfrm>
              <a:off x="-1154302" y="2719457"/>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7" name="Imag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4901" y="2781886"/>
              <a:ext cx="396274" cy="396274"/>
            </a:xfrm>
            <a:prstGeom prst="rect">
              <a:avLst/>
            </a:prstGeom>
          </p:spPr>
        </p:pic>
      </p:grpSp>
      <p:grpSp>
        <p:nvGrpSpPr>
          <p:cNvPr id="13" name="Groupe 12"/>
          <p:cNvGrpSpPr/>
          <p:nvPr/>
        </p:nvGrpSpPr>
        <p:grpSpPr>
          <a:xfrm>
            <a:off x="1567381" y="4044725"/>
            <a:ext cx="548640" cy="552951"/>
            <a:chOff x="-1185544" y="4122202"/>
            <a:chExt cx="548640" cy="552951"/>
          </a:xfrm>
        </p:grpSpPr>
        <p:sp>
          <p:nvSpPr>
            <p:cNvPr id="44" name="Oval 21">
              <a:extLst>
                <a:ext uri="{FF2B5EF4-FFF2-40B4-BE49-F238E27FC236}">
                  <a16:creationId xmlns:a16="http://schemas.microsoft.com/office/drawing/2014/main" id="{7BB796F0-2DE6-45B1-851B-D8991F423CF4}"/>
                </a:ext>
              </a:extLst>
            </p:cNvPr>
            <p:cNvSpPr/>
            <p:nvPr/>
          </p:nvSpPr>
          <p:spPr bwMode="gray">
            <a:xfrm>
              <a:off x="-1185544" y="4122202"/>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8" name="Image 7"/>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71838" y="4144755"/>
              <a:ext cx="524301" cy="530398"/>
            </a:xfrm>
            <a:prstGeom prst="rect">
              <a:avLst/>
            </a:prstGeom>
          </p:spPr>
        </p:pic>
      </p:grpSp>
      <p:grpSp>
        <p:nvGrpSpPr>
          <p:cNvPr id="14" name="Groupe 13"/>
          <p:cNvGrpSpPr/>
          <p:nvPr/>
        </p:nvGrpSpPr>
        <p:grpSpPr>
          <a:xfrm>
            <a:off x="1567381" y="5111071"/>
            <a:ext cx="548640" cy="548640"/>
            <a:chOff x="-1227267" y="5286500"/>
            <a:chExt cx="548640" cy="548640"/>
          </a:xfrm>
        </p:grpSpPr>
        <p:sp>
          <p:nvSpPr>
            <p:cNvPr id="45" name="Oval 21">
              <a:extLst>
                <a:ext uri="{FF2B5EF4-FFF2-40B4-BE49-F238E27FC236}">
                  <a16:creationId xmlns:a16="http://schemas.microsoft.com/office/drawing/2014/main" id="{7BB796F0-2DE6-45B1-851B-D8991F423CF4}"/>
                </a:ext>
              </a:extLst>
            </p:cNvPr>
            <p:cNvSpPr/>
            <p:nvPr/>
          </p:nvSpPr>
          <p:spPr bwMode="gray">
            <a:xfrm>
              <a:off x="-1227267" y="5286500"/>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9" name="Image 8"/>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71838" y="5346402"/>
              <a:ext cx="422834" cy="432026"/>
            </a:xfrm>
            <a:prstGeom prst="rect">
              <a:avLst/>
            </a:prstGeom>
          </p:spPr>
        </p:pic>
      </p:grpSp>
      <p:sp>
        <p:nvSpPr>
          <p:cNvPr id="50" name="ZoneTexte 49">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pic>
        <p:nvPicPr>
          <p:cNvPr id="51" name="Image 50"/>
          <p:cNvPicPr>
            <a:picLocks noChangeAspect="1"/>
          </p:cNvPicPr>
          <p:nvPr/>
        </p:nvPicPr>
        <p:blipFill rotWithShape="1">
          <a:blip r:embed="rId7" cstate="print">
            <a:extLst>
              <a:ext uri="{28A0092B-C50C-407E-A947-70E740481C1C}">
                <a14:useLocalDpi xmlns:a14="http://schemas.microsoft.com/office/drawing/2010/main" val="0"/>
              </a:ext>
            </a:extLst>
          </a:blip>
          <a:srcRect l="4260" t="13024" r="74155" b="14121"/>
          <a:stretch/>
        </p:blipFill>
        <p:spPr>
          <a:xfrm>
            <a:off x="702475" y="1350400"/>
            <a:ext cx="392679" cy="406703"/>
          </a:xfrm>
          <a:prstGeom prst="rect">
            <a:avLst/>
          </a:prstGeom>
        </p:spPr>
      </p:pic>
      <p:sp>
        <p:nvSpPr>
          <p:cNvPr id="52"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Règle de statut</a:t>
            </a:r>
          </a:p>
        </p:txBody>
      </p:sp>
      <p:sp>
        <p:nvSpPr>
          <p:cNvPr id="53"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statut de chaque ratio suit une règle écrite et vérifiable</a:t>
            </a:r>
          </a:p>
        </p:txBody>
      </p:sp>
      <p:sp>
        <p:nvSpPr>
          <p:cNvPr id="54"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 statut compare la valeur calculée à la norme du texte. Il est jugé sur les exercices 2022 à 2025</a:t>
            </a:r>
          </a:p>
        </p:txBody>
      </p:sp>
      <p:sp>
        <p:nvSpPr>
          <p:cNvPr id="55"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Décision n° 05/2022/COM/UEMOA du 1er juin 2022, annexe, article 3. Règlement n° 07/2009/CM/UEMOA du 26 juin 2009, art. 84. Adenka</a:t>
            </a:r>
          </a:p>
        </p:txBody>
      </p:sp>
      <p:sp>
        <p:nvSpPr>
          <p:cNvPr id="56" name="TextBox 5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UEMOA : Union économique et monétaire ouest-africaine | FNG : fonds national de garantie | 936 : poste maladie | 8Z6 : poste décès</a:t>
            </a:r>
          </a:p>
        </p:txBody>
      </p:sp>
    </p:spTree>
    <p:extLst>
      <p:ext uri="{BB962C8B-B14F-4D97-AF65-F5344CB8AC3E}">
        <p14:creationId xmlns:p14="http://schemas.microsoft.com/office/powerpoint/2010/main" val="2292774624"/>
      </p:ext>
    </p:extLst>
  </p:cSld>
  <p:clrMapOvr>
    <a:masterClrMapping/>
  </p:clrMapOvr>
  <p:transition>
    <p:fade/>
  </p:transition>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Image 15"/>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1" name="ZoneTexte 20">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9" name="Google Shape;8472;p64"/>
          <p:cNvSpPr/>
          <p:nvPr/>
        </p:nvSpPr>
        <p:spPr>
          <a:xfrm>
            <a:off x="6398615" y="4634460"/>
            <a:ext cx="27543" cy="15536"/>
          </a:xfrm>
          <a:custGeom>
            <a:avLst/>
            <a:gdLst/>
            <a:ahLst/>
            <a:cxnLst/>
            <a:rect l="l" t="t" r="r" b="b"/>
            <a:pathLst>
              <a:path w="718" h="405" extrusionOk="0">
                <a:moveTo>
                  <a:pt x="0" y="1"/>
                </a:moveTo>
                <a:cubicBezTo>
                  <a:pt x="157" y="92"/>
                  <a:pt x="313" y="196"/>
                  <a:pt x="469" y="300"/>
                </a:cubicBezTo>
                <a:cubicBezTo>
                  <a:pt x="535" y="327"/>
                  <a:pt x="587" y="379"/>
                  <a:pt x="665" y="392"/>
                </a:cubicBezTo>
                <a:cubicBezTo>
                  <a:pt x="678" y="405"/>
                  <a:pt x="691" y="405"/>
                  <a:pt x="717" y="405"/>
                </a:cubicBezTo>
                <a:cubicBezTo>
                  <a:pt x="482" y="261"/>
                  <a:pt x="248" y="118"/>
                  <a:pt x="0" y="1"/>
                </a:cubicBezTo>
                <a:close/>
              </a:path>
            </a:pathLst>
          </a:custGeom>
          <a:solidFill>
            <a:srgbClr val="BA6C2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5" name="Google Shape;6489;p32"/>
          <p:cNvSpPr/>
          <p:nvPr/>
        </p:nvSpPr>
        <p:spPr>
          <a:xfrm rot="6194666">
            <a:off x="7534623" y="3415586"/>
            <a:ext cx="510848" cy="1956086"/>
          </a:xfrm>
          <a:custGeom>
            <a:avLst/>
            <a:gdLst/>
            <a:ahLst/>
            <a:cxnLst/>
            <a:rect l="l" t="t" r="r" b="b"/>
            <a:pathLst>
              <a:path w="5410" h="10537" extrusionOk="0">
                <a:moveTo>
                  <a:pt x="4708" y="1"/>
                </a:moveTo>
                <a:cubicBezTo>
                  <a:pt x="4660" y="1"/>
                  <a:pt x="4607" y="10"/>
                  <a:pt x="4549" y="28"/>
                </a:cubicBezTo>
                <a:cubicBezTo>
                  <a:pt x="4184" y="145"/>
                  <a:pt x="3872" y="354"/>
                  <a:pt x="3533" y="523"/>
                </a:cubicBezTo>
                <a:cubicBezTo>
                  <a:pt x="2021" y="1318"/>
                  <a:pt x="887" y="2478"/>
                  <a:pt x="274" y="4095"/>
                </a:cubicBezTo>
                <a:cubicBezTo>
                  <a:pt x="65" y="4616"/>
                  <a:pt x="13" y="5164"/>
                  <a:pt x="0" y="5985"/>
                </a:cubicBezTo>
                <a:cubicBezTo>
                  <a:pt x="13" y="7067"/>
                  <a:pt x="600" y="8110"/>
                  <a:pt x="1630" y="8931"/>
                </a:cubicBezTo>
                <a:cubicBezTo>
                  <a:pt x="1825" y="9087"/>
                  <a:pt x="2034" y="9231"/>
                  <a:pt x="2242" y="9387"/>
                </a:cubicBezTo>
                <a:cubicBezTo>
                  <a:pt x="2881" y="9895"/>
                  <a:pt x="3624" y="10221"/>
                  <a:pt x="4393" y="10469"/>
                </a:cubicBezTo>
                <a:cubicBezTo>
                  <a:pt x="4517" y="10503"/>
                  <a:pt x="4651" y="10537"/>
                  <a:pt x="4786" y="10537"/>
                </a:cubicBezTo>
                <a:cubicBezTo>
                  <a:pt x="4807" y="10537"/>
                  <a:pt x="4828" y="10536"/>
                  <a:pt x="4849" y="10534"/>
                </a:cubicBezTo>
                <a:cubicBezTo>
                  <a:pt x="5136" y="10521"/>
                  <a:pt x="5358" y="10326"/>
                  <a:pt x="5384" y="10065"/>
                </a:cubicBezTo>
                <a:cubicBezTo>
                  <a:pt x="5410" y="9752"/>
                  <a:pt x="5253" y="9504"/>
                  <a:pt x="4967" y="9439"/>
                </a:cubicBezTo>
                <a:cubicBezTo>
                  <a:pt x="4693" y="9387"/>
                  <a:pt x="4419" y="9348"/>
                  <a:pt x="4158" y="9296"/>
                </a:cubicBezTo>
                <a:cubicBezTo>
                  <a:pt x="4080" y="9283"/>
                  <a:pt x="4002" y="9270"/>
                  <a:pt x="3924" y="9244"/>
                </a:cubicBezTo>
                <a:cubicBezTo>
                  <a:pt x="3259" y="8957"/>
                  <a:pt x="2594" y="8631"/>
                  <a:pt x="2008" y="8188"/>
                </a:cubicBezTo>
                <a:cubicBezTo>
                  <a:pt x="1356" y="7706"/>
                  <a:pt x="1134" y="6989"/>
                  <a:pt x="1056" y="6219"/>
                </a:cubicBezTo>
                <a:cubicBezTo>
                  <a:pt x="939" y="5242"/>
                  <a:pt x="1238" y="4382"/>
                  <a:pt x="1812" y="3586"/>
                </a:cubicBezTo>
                <a:cubicBezTo>
                  <a:pt x="2281" y="2935"/>
                  <a:pt x="2738" y="2283"/>
                  <a:pt x="3298" y="1709"/>
                </a:cubicBezTo>
                <a:cubicBezTo>
                  <a:pt x="3559" y="1462"/>
                  <a:pt x="3819" y="1240"/>
                  <a:pt x="4184" y="1162"/>
                </a:cubicBezTo>
                <a:cubicBezTo>
                  <a:pt x="4406" y="1110"/>
                  <a:pt x="4602" y="992"/>
                  <a:pt x="4797" y="862"/>
                </a:cubicBezTo>
                <a:lnTo>
                  <a:pt x="4784" y="862"/>
                </a:lnTo>
                <a:cubicBezTo>
                  <a:pt x="5019" y="706"/>
                  <a:pt x="5097" y="445"/>
                  <a:pt x="4980" y="184"/>
                </a:cubicBezTo>
                <a:cubicBezTo>
                  <a:pt x="4923" y="62"/>
                  <a:pt x="4833" y="1"/>
                  <a:pt x="4708" y="1"/>
                </a:cubicBezTo>
                <a:close/>
              </a:path>
            </a:pathLst>
          </a:custGeom>
          <a:solidFill>
            <a:srgbClr val="EFAC62"/>
          </a:solidFill>
          <a:ln w="0">
            <a:no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26" name="Google Shape;6489;p32"/>
          <p:cNvSpPr/>
          <p:nvPr/>
        </p:nvSpPr>
        <p:spPr>
          <a:xfrm rot="14662897">
            <a:off x="7323071" y="1857476"/>
            <a:ext cx="426766" cy="1747435"/>
          </a:xfrm>
          <a:custGeom>
            <a:avLst/>
            <a:gdLst/>
            <a:ahLst/>
            <a:cxnLst/>
            <a:rect l="l" t="t" r="r" b="b"/>
            <a:pathLst>
              <a:path w="5410" h="10537" extrusionOk="0">
                <a:moveTo>
                  <a:pt x="4708" y="1"/>
                </a:moveTo>
                <a:cubicBezTo>
                  <a:pt x="4660" y="1"/>
                  <a:pt x="4607" y="10"/>
                  <a:pt x="4549" y="28"/>
                </a:cubicBezTo>
                <a:cubicBezTo>
                  <a:pt x="4184" y="145"/>
                  <a:pt x="3872" y="354"/>
                  <a:pt x="3533" y="523"/>
                </a:cubicBezTo>
                <a:cubicBezTo>
                  <a:pt x="2021" y="1318"/>
                  <a:pt x="887" y="2478"/>
                  <a:pt x="274" y="4095"/>
                </a:cubicBezTo>
                <a:cubicBezTo>
                  <a:pt x="65" y="4616"/>
                  <a:pt x="13" y="5164"/>
                  <a:pt x="0" y="5985"/>
                </a:cubicBezTo>
                <a:cubicBezTo>
                  <a:pt x="13" y="7067"/>
                  <a:pt x="600" y="8110"/>
                  <a:pt x="1630" y="8931"/>
                </a:cubicBezTo>
                <a:cubicBezTo>
                  <a:pt x="1825" y="9087"/>
                  <a:pt x="2034" y="9231"/>
                  <a:pt x="2242" y="9387"/>
                </a:cubicBezTo>
                <a:cubicBezTo>
                  <a:pt x="2881" y="9895"/>
                  <a:pt x="3624" y="10221"/>
                  <a:pt x="4393" y="10469"/>
                </a:cubicBezTo>
                <a:cubicBezTo>
                  <a:pt x="4517" y="10503"/>
                  <a:pt x="4651" y="10537"/>
                  <a:pt x="4786" y="10537"/>
                </a:cubicBezTo>
                <a:cubicBezTo>
                  <a:pt x="4807" y="10537"/>
                  <a:pt x="4828" y="10536"/>
                  <a:pt x="4849" y="10534"/>
                </a:cubicBezTo>
                <a:cubicBezTo>
                  <a:pt x="5136" y="10521"/>
                  <a:pt x="5358" y="10326"/>
                  <a:pt x="5384" y="10065"/>
                </a:cubicBezTo>
                <a:cubicBezTo>
                  <a:pt x="5410" y="9752"/>
                  <a:pt x="5253" y="9504"/>
                  <a:pt x="4967" y="9439"/>
                </a:cubicBezTo>
                <a:cubicBezTo>
                  <a:pt x="4693" y="9387"/>
                  <a:pt x="4419" y="9348"/>
                  <a:pt x="4158" y="9296"/>
                </a:cubicBezTo>
                <a:cubicBezTo>
                  <a:pt x="4080" y="9283"/>
                  <a:pt x="4002" y="9270"/>
                  <a:pt x="3924" y="9244"/>
                </a:cubicBezTo>
                <a:cubicBezTo>
                  <a:pt x="3259" y="8957"/>
                  <a:pt x="2594" y="8631"/>
                  <a:pt x="2008" y="8188"/>
                </a:cubicBezTo>
                <a:cubicBezTo>
                  <a:pt x="1356" y="7706"/>
                  <a:pt x="1134" y="6989"/>
                  <a:pt x="1056" y="6219"/>
                </a:cubicBezTo>
                <a:cubicBezTo>
                  <a:pt x="939" y="5242"/>
                  <a:pt x="1238" y="4382"/>
                  <a:pt x="1812" y="3586"/>
                </a:cubicBezTo>
                <a:cubicBezTo>
                  <a:pt x="2281" y="2935"/>
                  <a:pt x="2738" y="2283"/>
                  <a:pt x="3298" y="1709"/>
                </a:cubicBezTo>
                <a:cubicBezTo>
                  <a:pt x="3559" y="1462"/>
                  <a:pt x="3819" y="1240"/>
                  <a:pt x="4184" y="1162"/>
                </a:cubicBezTo>
                <a:cubicBezTo>
                  <a:pt x="4406" y="1110"/>
                  <a:pt x="4602" y="992"/>
                  <a:pt x="4797" y="862"/>
                </a:cubicBezTo>
                <a:lnTo>
                  <a:pt x="4784" y="862"/>
                </a:lnTo>
                <a:cubicBezTo>
                  <a:pt x="5019" y="706"/>
                  <a:pt x="5097" y="445"/>
                  <a:pt x="4980" y="184"/>
                </a:cubicBezTo>
                <a:cubicBezTo>
                  <a:pt x="4923" y="62"/>
                  <a:pt x="4833" y="1"/>
                  <a:pt x="4708" y="1"/>
                </a:cubicBezTo>
                <a:close/>
              </a:path>
            </a:pathLst>
          </a:custGeom>
          <a:solidFill>
            <a:srgbClr val="EFAC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27" name="Google Shape;8472;p64"/>
          <p:cNvSpPr/>
          <p:nvPr/>
        </p:nvSpPr>
        <p:spPr>
          <a:xfrm>
            <a:off x="6398615" y="4634460"/>
            <a:ext cx="27543" cy="15536"/>
          </a:xfrm>
          <a:custGeom>
            <a:avLst/>
            <a:gdLst/>
            <a:ahLst/>
            <a:cxnLst/>
            <a:rect l="l" t="t" r="r" b="b"/>
            <a:pathLst>
              <a:path w="718" h="405" extrusionOk="0">
                <a:moveTo>
                  <a:pt x="0" y="1"/>
                </a:moveTo>
                <a:cubicBezTo>
                  <a:pt x="157" y="92"/>
                  <a:pt x="313" y="196"/>
                  <a:pt x="469" y="300"/>
                </a:cubicBezTo>
                <a:cubicBezTo>
                  <a:pt x="535" y="327"/>
                  <a:pt x="587" y="379"/>
                  <a:pt x="665" y="392"/>
                </a:cubicBezTo>
                <a:cubicBezTo>
                  <a:pt x="678" y="405"/>
                  <a:pt x="691" y="405"/>
                  <a:pt x="717" y="405"/>
                </a:cubicBezTo>
                <a:cubicBezTo>
                  <a:pt x="482" y="261"/>
                  <a:pt x="248" y="118"/>
                  <a:pt x="0" y="1"/>
                </a:cubicBezTo>
                <a:close/>
              </a:path>
            </a:pathLst>
          </a:custGeom>
          <a:solidFill>
            <a:srgbClr val="BA6C2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8" name="Google Shape;6489;p32"/>
          <p:cNvSpPr/>
          <p:nvPr/>
        </p:nvSpPr>
        <p:spPr>
          <a:xfrm rot="7166758">
            <a:off x="4528324" y="1602745"/>
            <a:ext cx="510848" cy="2185420"/>
          </a:xfrm>
          <a:custGeom>
            <a:avLst/>
            <a:gdLst/>
            <a:ahLst/>
            <a:cxnLst/>
            <a:rect l="l" t="t" r="r" b="b"/>
            <a:pathLst>
              <a:path w="5410" h="10537" extrusionOk="0">
                <a:moveTo>
                  <a:pt x="4708" y="1"/>
                </a:moveTo>
                <a:cubicBezTo>
                  <a:pt x="4660" y="1"/>
                  <a:pt x="4607" y="10"/>
                  <a:pt x="4549" y="28"/>
                </a:cubicBezTo>
                <a:cubicBezTo>
                  <a:pt x="4184" y="145"/>
                  <a:pt x="3872" y="354"/>
                  <a:pt x="3533" y="523"/>
                </a:cubicBezTo>
                <a:cubicBezTo>
                  <a:pt x="2021" y="1318"/>
                  <a:pt x="887" y="2478"/>
                  <a:pt x="274" y="4095"/>
                </a:cubicBezTo>
                <a:cubicBezTo>
                  <a:pt x="65" y="4616"/>
                  <a:pt x="13" y="5164"/>
                  <a:pt x="0" y="5985"/>
                </a:cubicBezTo>
                <a:cubicBezTo>
                  <a:pt x="13" y="7067"/>
                  <a:pt x="600" y="8110"/>
                  <a:pt x="1630" y="8931"/>
                </a:cubicBezTo>
                <a:cubicBezTo>
                  <a:pt x="1825" y="9087"/>
                  <a:pt x="2034" y="9231"/>
                  <a:pt x="2242" y="9387"/>
                </a:cubicBezTo>
                <a:cubicBezTo>
                  <a:pt x="2881" y="9895"/>
                  <a:pt x="3624" y="10221"/>
                  <a:pt x="4393" y="10469"/>
                </a:cubicBezTo>
                <a:cubicBezTo>
                  <a:pt x="4517" y="10503"/>
                  <a:pt x="4651" y="10537"/>
                  <a:pt x="4786" y="10537"/>
                </a:cubicBezTo>
                <a:cubicBezTo>
                  <a:pt x="4807" y="10537"/>
                  <a:pt x="4828" y="10536"/>
                  <a:pt x="4849" y="10534"/>
                </a:cubicBezTo>
                <a:cubicBezTo>
                  <a:pt x="5136" y="10521"/>
                  <a:pt x="5358" y="10326"/>
                  <a:pt x="5384" y="10065"/>
                </a:cubicBezTo>
                <a:cubicBezTo>
                  <a:pt x="5410" y="9752"/>
                  <a:pt x="5253" y="9504"/>
                  <a:pt x="4967" y="9439"/>
                </a:cubicBezTo>
                <a:cubicBezTo>
                  <a:pt x="4693" y="9387"/>
                  <a:pt x="4419" y="9348"/>
                  <a:pt x="4158" y="9296"/>
                </a:cubicBezTo>
                <a:cubicBezTo>
                  <a:pt x="4080" y="9283"/>
                  <a:pt x="4002" y="9270"/>
                  <a:pt x="3924" y="9244"/>
                </a:cubicBezTo>
                <a:cubicBezTo>
                  <a:pt x="3259" y="8957"/>
                  <a:pt x="2594" y="8631"/>
                  <a:pt x="2008" y="8188"/>
                </a:cubicBezTo>
                <a:cubicBezTo>
                  <a:pt x="1356" y="7706"/>
                  <a:pt x="1134" y="6989"/>
                  <a:pt x="1056" y="6219"/>
                </a:cubicBezTo>
                <a:cubicBezTo>
                  <a:pt x="939" y="5242"/>
                  <a:pt x="1238" y="4382"/>
                  <a:pt x="1812" y="3586"/>
                </a:cubicBezTo>
                <a:cubicBezTo>
                  <a:pt x="2281" y="2935"/>
                  <a:pt x="2738" y="2283"/>
                  <a:pt x="3298" y="1709"/>
                </a:cubicBezTo>
                <a:cubicBezTo>
                  <a:pt x="3559" y="1462"/>
                  <a:pt x="3819" y="1240"/>
                  <a:pt x="4184" y="1162"/>
                </a:cubicBezTo>
                <a:cubicBezTo>
                  <a:pt x="4406" y="1110"/>
                  <a:pt x="4602" y="992"/>
                  <a:pt x="4797" y="862"/>
                </a:cubicBezTo>
                <a:lnTo>
                  <a:pt x="4784" y="862"/>
                </a:lnTo>
                <a:cubicBezTo>
                  <a:pt x="5019" y="706"/>
                  <a:pt x="5097" y="445"/>
                  <a:pt x="4980" y="184"/>
                </a:cubicBezTo>
                <a:cubicBezTo>
                  <a:pt x="4923" y="62"/>
                  <a:pt x="4833" y="1"/>
                  <a:pt x="4708" y="1"/>
                </a:cubicBezTo>
                <a:close/>
              </a:path>
            </a:pathLst>
          </a:custGeom>
          <a:solidFill>
            <a:srgbClr val="EFAC62"/>
          </a:solidFill>
          <a:ln w="0">
            <a:no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30" name="Google Shape;6489;p32"/>
          <p:cNvSpPr/>
          <p:nvPr/>
        </p:nvSpPr>
        <p:spPr>
          <a:xfrm rot="15357084">
            <a:off x="4507070" y="3638509"/>
            <a:ext cx="510848" cy="1998266"/>
          </a:xfrm>
          <a:custGeom>
            <a:avLst/>
            <a:gdLst/>
            <a:ahLst/>
            <a:cxnLst/>
            <a:rect l="l" t="t" r="r" b="b"/>
            <a:pathLst>
              <a:path w="5410" h="10537" extrusionOk="0">
                <a:moveTo>
                  <a:pt x="4708" y="1"/>
                </a:moveTo>
                <a:cubicBezTo>
                  <a:pt x="4660" y="1"/>
                  <a:pt x="4607" y="10"/>
                  <a:pt x="4549" y="28"/>
                </a:cubicBezTo>
                <a:cubicBezTo>
                  <a:pt x="4184" y="145"/>
                  <a:pt x="3872" y="354"/>
                  <a:pt x="3533" y="523"/>
                </a:cubicBezTo>
                <a:cubicBezTo>
                  <a:pt x="2021" y="1318"/>
                  <a:pt x="887" y="2478"/>
                  <a:pt x="274" y="4095"/>
                </a:cubicBezTo>
                <a:cubicBezTo>
                  <a:pt x="65" y="4616"/>
                  <a:pt x="13" y="5164"/>
                  <a:pt x="0" y="5985"/>
                </a:cubicBezTo>
                <a:cubicBezTo>
                  <a:pt x="13" y="7067"/>
                  <a:pt x="600" y="8110"/>
                  <a:pt x="1630" y="8931"/>
                </a:cubicBezTo>
                <a:cubicBezTo>
                  <a:pt x="1825" y="9087"/>
                  <a:pt x="2034" y="9231"/>
                  <a:pt x="2242" y="9387"/>
                </a:cubicBezTo>
                <a:cubicBezTo>
                  <a:pt x="2881" y="9895"/>
                  <a:pt x="3624" y="10221"/>
                  <a:pt x="4393" y="10469"/>
                </a:cubicBezTo>
                <a:cubicBezTo>
                  <a:pt x="4517" y="10503"/>
                  <a:pt x="4651" y="10537"/>
                  <a:pt x="4786" y="10537"/>
                </a:cubicBezTo>
                <a:cubicBezTo>
                  <a:pt x="4807" y="10537"/>
                  <a:pt x="4828" y="10536"/>
                  <a:pt x="4849" y="10534"/>
                </a:cubicBezTo>
                <a:cubicBezTo>
                  <a:pt x="5136" y="10521"/>
                  <a:pt x="5358" y="10326"/>
                  <a:pt x="5384" y="10065"/>
                </a:cubicBezTo>
                <a:cubicBezTo>
                  <a:pt x="5410" y="9752"/>
                  <a:pt x="5253" y="9504"/>
                  <a:pt x="4967" y="9439"/>
                </a:cubicBezTo>
                <a:cubicBezTo>
                  <a:pt x="4693" y="9387"/>
                  <a:pt x="4419" y="9348"/>
                  <a:pt x="4158" y="9296"/>
                </a:cubicBezTo>
                <a:cubicBezTo>
                  <a:pt x="4080" y="9283"/>
                  <a:pt x="4002" y="9270"/>
                  <a:pt x="3924" y="9244"/>
                </a:cubicBezTo>
                <a:cubicBezTo>
                  <a:pt x="3259" y="8957"/>
                  <a:pt x="2594" y="8631"/>
                  <a:pt x="2008" y="8188"/>
                </a:cubicBezTo>
                <a:cubicBezTo>
                  <a:pt x="1356" y="7706"/>
                  <a:pt x="1134" y="6989"/>
                  <a:pt x="1056" y="6219"/>
                </a:cubicBezTo>
                <a:cubicBezTo>
                  <a:pt x="939" y="5242"/>
                  <a:pt x="1238" y="4382"/>
                  <a:pt x="1812" y="3586"/>
                </a:cubicBezTo>
                <a:cubicBezTo>
                  <a:pt x="2281" y="2935"/>
                  <a:pt x="2738" y="2283"/>
                  <a:pt x="3298" y="1709"/>
                </a:cubicBezTo>
                <a:cubicBezTo>
                  <a:pt x="3559" y="1462"/>
                  <a:pt x="3819" y="1240"/>
                  <a:pt x="4184" y="1162"/>
                </a:cubicBezTo>
                <a:cubicBezTo>
                  <a:pt x="4406" y="1110"/>
                  <a:pt x="4602" y="992"/>
                  <a:pt x="4797" y="862"/>
                </a:cubicBezTo>
                <a:lnTo>
                  <a:pt x="4784" y="862"/>
                </a:lnTo>
                <a:cubicBezTo>
                  <a:pt x="5019" y="706"/>
                  <a:pt x="5097" y="445"/>
                  <a:pt x="4980" y="184"/>
                </a:cubicBezTo>
                <a:cubicBezTo>
                  <a:pt x="4923" y="62"/>
                  <a:pt x="4833" y="1"/>
                  <a:pt x="4708" y="1"/>
                </a:cubicBezTo>
                <a:close/>
              </a:path>
            </a:pathLst>
          </a:custGeom>
          <a:solidFill>
            <a:srgbClr val="EFAC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31" name="Rectangle 30"/>
          <p:cNvSpPr/>
          <p:nvPr/>
        </p:nvSpPr>
        <p:spPr>
          <a:xfrm>
            <a:off x="8333454" y="1834006"/>
            <a:ext cx="3220254" cy="1083627"/>
          </a:xfrm>
          <a:prstGeom prst="rect">
            <a:avLst/>
          </a:prstGeom>
        </p:spPr>
        <p:txBody>
          <a:bodyPr wrap="square">
            <a:spAutoFit/>
          </a:bodyPr>
          <a:lstStyle/>
          <a:p>
            <a:pPr lvl="0">
              <a:lnSpc>
                <a:spcPct val="110000"/>
              </a:lnSpc>
            </a:pPr>
            <a:r>
              <a:rPr lang="fr-CI" sz="1400" b="1" noProof="0">
                <a:solidFill>
                  <a:srgbClr val="EFAC62"/>
                </a:solidFill>
                <a:latin typeface="Helvetica" panose="020B0604020202020204" pitchFamily="34" charset="0"/>
                <a:ea typeface="Open Sans Semibold" panose="020B0706030804020204" pitchFamily="34" charset="0"/>
                <a:cs typeface="Helvetica" panose="020B0604020202020204" pitchFamily="34" charset="0"/>
              </a:rPr>
              <a:t>Réserves et fonds propres</a:t>
            </a:r>
            <a:endParaRPr lang="fr-CI" sz="16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endParaRPr>
          </a:p>
          <a:p>
            <a:r>
              <a:rPr lang="fr-CI" sz="1150" noProof="0" b="0">
                <a:latin typeface="Helvetica" panose="020B0604020202020204" pitchFamily="34" charset="0"/>
                <a:ea typeface="Open Sans Light" panose="020B0306030504020204" pitchFamily="34" charset="0"/>
                <a:cs typeface="Helvetica" panose="020B0604020202020204" pitchFamily="34" charset="0"/>
              </a:rPr>
              <a:t>Réserve obligatoire, fonds propres et assimilés, fonds des risques longs : ces ratios disent si le FPPN a mis de côté assez de ressources propres.</a:t>
            </a:r>
            <a:endParaRPr lang="fr-CI" sz="1600" noProof="0"/>
          </a:p>
        </p:txBody>
      </p:sp>
      <p:sp>
        <p:nvSpPr>
          <p:cNvPr id="32" name="Rectangle 31"/>
          <p:cNvSpPr/>
          <p:nvPr/>
        </p:nvSpPr>
        <p:spPr>
          <a:xfrm>
            <a:off x="327639" y="4236148"/>
            <a:ext cx="3220254" cy="1083627"/>
          </a:xfrm>
          <a:prstGeom prst="rect">
            <a:avLst/>
          </a:prstGeom>
        </p:spPr>
        <p:txBody>
          <a:bodyPr wrap="square">
            <a:spAutoFit/>
          </a:bodyPr>
          <a:lstStyle/>
          <a:p>
            <a:pPr lvl="0" algn="r">
              <a:lnSpc>
                <a:spcPct val="110000"/>
              </a:lnSpc>
            </a:pPr>
            <a:r>
              <a:rPr lang="fr-CI" sz="1400" b="1" noProof="0">
                <a:solidFill>
                  <a:srgbClr val="EFAC62"/>
                </a:solidFill>
                <a:latin typeface="Helvetica" panose="020B0604020202020204" pitchFamily="34" charset="0"/>
                <a:ea typeface="Open Sans Semibold" panose="020B0706030804020204" pitchFamily="34" charset="0"/>
                <a:cs typeface="Helvetica" panose="020B0604020202020204" pitchFamily="34" charset="0"/>
              </a:rPr>
              <a:t>Liquidité et équilibre</a:t>
            </a:r>
            <a:endParaRPr lang="fr-CI" sz="16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endParaRPr>
          </a:p>
          <a:p>
            <a:pPr algn="r"/>
            <a:r>
              <a:rPr lang="fr-CI" sz="1150" noProof="0" b="0">
                <a:latin typeface="Helvetica" panose="020B0604020202020204" pitchFamily="34" charset="0"/>
                <a:ea typeface="Open Sans Light" panose="020B0306030504020204" pitchFamily="34" charset="0"/>
                <a:cs typeface="Helvetica" panose="020B0604020202020204" pitchFamily="34" charset="0"/>
              </a:rPr>
              <a:t>Liquidité, trésorerie à échéance et immédiate, équilibre stable, solvabilité de l'épargne : ces ratios disent si l'argent est disponible à temps.</a:t>
            </a:r>
            <a:endParaRPr lang="fr-CI" sz="1600" noProof="0"/>
          </a:p>
        </p:txBody>
      </p:sp>
      <p:sp>
        <p:nvSpPr>
          <p:cNvPr id="34" name="Rectangle 33"/>
          <p:cNvSpPr/>
          <p:nvPr/>
        </p:nvSpPr>
        <p:spPr>
          <a:xfrm>
            <a:off x="362962" y="1811347"/>
            <a:ext cx="3220254" cy="1083627"/>
          </a:xfrm>
          <a:prstGeom prst="rect">
            <a:avLst/>
          </a:prstGeom>
        </p:spPr>
        <p:txBody>
          <a:bodyPr wrap="square">
            <a:spAutoFit/>
          </a:bodyPr>
          <a:lstStyle/>
          <a:p>
            <a:pPr lvl="0" algn="r">
              <a:lnSpc>
                <a:spcPct val="110000"/>
              </a:lnSpc>
            </a:pPr>
            <a:r>
              <a:rPr lang="fr-CI" sz="1400" b="1" noProof="0">
                <a:solidFill>
                  <a:srgbClr val="EFAC62"/>
                </a:solidFill>
                <a:latin typeface="Helvetica" panose="020B0604020202020204" pitchFamily="34" charset="0"/>
                <a:ea typeface="Open Sans Semibold" panose="020B0706030804020204" pitchFamily="34" charset="0"/>
                <a:cs typeface="Helvetica" panose="020B0604020202020204" pitchFamily="34" charset="0"/>
              </a:rPr>
              <a:t>Sinistralité et solvabilité</a:t>
            </a:r>
            <a:endParaRPr lang="fr-CI" sz="16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endParaRPr>
          </a:p>
          <a:p>
            <a:pPr algn="r"/>
            <a:r>
              <a:rPr lang="fr-CI" sz="1150" noProof="0" b="0">
                <a:latin typeface="Helvetica" panose="020B0604020202020204" pitchFamily="34" charset="0"/>
                <a:ea typeface="Open Sans Light" panose="020B0306030504020204" pitchFamily="34" charset="0"/>
                <a:cs typeface="Helvetica" panose="020B0604020202020204" pitchFamily="34" charset="0"/>
              </a:rPr>
              <a:t>Sinistralité, marge de solvabilité, autonomie financière, excédent net : ces ratios disent si les cotisations suffisent et si le FPPN peut absorber un choc.</a:t>
            </a:r>
            <a:endParaRPr lang="fr-CI" sz="1600" noProof="0">
              <a:solidFill>
                <a:schemeClr val="bg1"/>
              </a:solidFill>
            </a:endParaRPr>
          </a:p>
        </p:txBody>
      </p:sp>
      <p:sp>
        <p:nvSpPr>
          <p:cNvPr id="42" name="Rectangle 41"/>
          <p:cNvSpPr/>
          <p:nvPr/>
        </p:nvSpPr>
        <p:spPr>
          <a:xfrm>
            <a:off x="8677463" y="4236148"/>
            <a:ext cx="3220254" cy="1083627"/>
          </a:xfrm>
          <a:prstGeom prst="rect">
            <a:avLst/>
          </a:prstGeom>
        </p:spPr>
        <p:txBody>
          <a:bodyPr wrap="square">
            <a:spAutoFit/>
          </a:bodyPr>
          <a:lstStyle/>
          <a:p>
            <a:pPr lvl="0">
              <a:lnSpc>
                <a:spcPct val="110000"/>
              </a:lnSpc>
            </a:pPr>
            <a:r>
              <a:rPr lang="fr-CI" sz="1400" b="1" noProof="0">
                <a:solidFill>
                  <a:srgbClr val="EFAC62"/>
                </a:solidFill>
                <a:latin typeface="Helvetica" panose="020B0604020202020204" pitchFamily="34" charset="0"/>
                <a:ea typeface="Open Sans Semibold" panose="020B0706030804020204" pitchFamily="34" charset="0"/>
                <a:cs typeface="Helvetica" panose="020B0604020202020204" pitchFamily="34" charset="0"/>
              </a:rPr>
              <a:t>Gestion et gouvernance</a:t>
            </a:r>
            <a:endParaRPr lang="fr-CI" sz="16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endParaRPr>
          </a:p>
          <a:p>
            <a:r>
              <a:rPr lang="fr-CI" sz="1150" noProof="0" b="0">
                <a:latin typeface="Helvetica" panose="020B0604020202020204" pitchFamily="34" charset="0"/>
                <a:ea typeface="Open Sans Light" panose="020B0306030504020204" pitchFamily="34" charset="0"/>
                <a:cs typeface="Helvetica" panose="020B0604020202020204" pitchFamily="34" charset="0"/>
              </a:rPr>
              <a:t>Frais, personnel, recouvrement, délais, contrôles, réunions des organes, FNG : ces ratios disent si l'organisation est efficace et contrôlée.</a:t>
            </a:r>
            <a:endParaRPr lang="fr-CI" sz="1600" noProof="0"/>
          </a:p>
        </p:txBody>
      </p:sp>
      <p:pic>
        <p:nvPicPr>
          <p:cNvPr id="43" name="Image 42"/>
          <p:cNvPicPr>
            <a:picLocks noChangeAspect="1"/>
          </p:cNvPicPr>
          <p:nvPr/>
        </p:nvPicPr>
        <p:blipFill rotWithShape="1">
          <a:blip r:embed="rId3">
            <a:extLst>
              <a:ext uri="{28A0092B-C50C-407E-A947-70E740481C1C}">
                <a14:useLocalDpi xmlns:a14="http://schemas.microsoft.com/office/drawing/2010/main" val="0"/>
              </a:ext>
            </a:extLst>
          </a:blip>
          <a:srcRect l="4165" t="11941" r="73679" b="13899"/>
          <a:stretch/>
        </p:blipFill>
        <p:spPr>
          <a:xfrm>
            <a:off x="5257860" y="2529185"/>
            <a:ext cx="2172929" cy="2231923"/>
          </a:xfrm>
          <a:prstGeom prst="rect">
            <a:avLst/>
          </a:prstGeom>
        </p:spPr>
      </p:pic>
      <p:sp>
        <p:nvSpPr>
          <p:cNvPr id="44"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Quatre familles de ratios</a:t>
            </a:r>
          </a:p>
        </p:txBody>
      </p:sp>
      <p:sp>
        <p:nvSpPr>
          <p:cNvPr id="45"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36 indicateurs examinés se regroupent en quatre familles, de la plus actuarielle à la gouvernance</a:t>
            </a:r>
          </a:p>
        </p:txBody>
      </p:sp>
      <p:sp>
        <p:nvSpPr>
          <p:cNvPr id="46"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L'ordre de priorité suit l'importance pour la protection des adhérents : solvabilité d'abord, gouvernance ensuite</a:t>
            </a:r>
          </a:p>
        </p:txBody>
      </p:sp>
      <p:sp>
        <p:nvSpPr>
          <p:cNvPr id="47"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Décision n° 05/2022/COM/UEMOA du 1er juin 2022, annexe. Classement Adenka</a:t>
            </a:r>
          </a:p>
        </p:txBody>
      </p:sp>
      <p:sp>
        <p:nvSpPr>
          <p:cNvPr id="48" name="TextBox 47"/>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FNG : fonds national de garantie</a:t>
            </a:r>
          </a:p>
        </p:txBody>
      </p:sp>
    </p:spTree>
    <p:extLst>
      <p:ext uri="{BB962C8B-B14F-4D97-AF65-F5344CB8AC3E}">
        <p14:creationId xmlns:p14="http://schemas.microsoft.com/office/powerpoint/2010/main" val="1762640310"/>
      </p:ext>
    </p:extLst>
  </p:cSld>
  <p:clrMapOvr>
    <a:masterClrMapping/>
  </p:clrMapOvr>
  <p:transition>
    <p:fade/>
  </p:transition>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Tableau de bord (1/4) : solvabilité et réserves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sinistralité globale, les réserves, les fonds propres et la liquidité sont non conformes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Ratios de priorité actuarielle 1 à 9, lecture comme le FPPN. 2026 est indicatif</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Décision n° 05/2022/COM/UEMOA du 1er juin 2022, annexe. Règlement d'exécution n° 004/2022/COM/UEMOA du 1er juin 2022. Règlement n° 07/2009/CM/UEMOA du 26 juin 2009. Balances du FPPN. Calculs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84 : Tableau de bord des ratios prudentiels, priorités 1 à 9</a:t>
            </a:r>
          </a:p>
        </p:txBody>
      </p:sp>
      <p:graphicFrame>
        <p:nvGraphicFramePr>
          <p:cNvPr id="32" name="Table 31"/>
          <p:cNvGraphicFramePr>
            <a:graphicFrameLocks noGrp="1"/>
          </p:cNvGraphicFramePr>
          <p:nvPr/>
        </p:nvGraphicFramePr>
        <p:xfrm>
          <a:off x="503999" y="1655999"/>
          <a:ext cx="11232000" cy="1947680"/>
        </p:xfrm>
        <a:graphic>
          <a:graphicData uri="http://schemas.openxmlformats.org/drawingml/2006/table">
            <a:tbl>
              <a:tblPr firstRow="0" bandRow="0">
                <a:tableStyleId>{5940675A-B579-460E-94D1-54222C63F5DA}</a:tableStyleId>
              </a:tblPr>
              <a:tblGrid>
                <a:gridCol w="324000"/>
                <a:gridCol w="3024000"/>
                <a:gridCol w="1728000"/>
                <a:gridCol w="972000"/>
                <a:gridCol w="972000"/>
                <a:gridCol w="972000"/>
                <a:gridCol w="972000"/>
                <a:gridCol w="1044000"/>
                <a:gridCol w="1224000"/>
              </a:tblGrid>
              <a:tr h="194768">
                <a:tc>
                  <a:txBody>
                    <a:bodyPr/>
                    <a:lstStyle/>
                    <a:p>
                      <a:pPr marL="0" indent="0" lvl="0">
                        <a:buNone/>
                      </a:pPr>
                      <a:r>
                        <a:rPr sz="900" b="1">
                          <a:solidFill>
                            <a:srgbClr val="FFFFFF"/>
                          </a:solidFill>
                          <a:latin typeface="Helvetica"/>
                        </a:rPr>
                        <a:t>N°</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Ratio</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Norme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2022</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2023</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2024</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2025</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2026 (8 mois)</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Statut</a:t>
                      </a:r>
                    </a:p>
                  </a:txBody>
                  <a:tcPr marL="43200" marR="43200" marT="14400" marB="14400" anchor="ctr">
                    <a:solidFill>
                      <a:srgbClr val="060606"/>
                    </a:solidFill>
                  </a:tcPr>
                </a:tc>
              </a:tr>
              <a:tr h="194768">
                <a:tc>
                  <a:txBody>
                    <a:bodyPr/>
                    <a:lstStyle/>
                    <a:p>
                      <a:pPr marL="0" indent="0" lvl="0">
                        <a:buNone/>
                      </a:pPr>
                      <a:r>
                        <a:rPr sz="900" b="1">
                          <a:solidFill>
                            <a:srgbClr val="060606"/>
                          </a:solidFill>
                          <a:latin typeface="Helvetica"/>
                        </a:rPr>
                        <a:t>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Taux de sinistralité</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Entre 70 % et 80 %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9,06 %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24,56 %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40,34 %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57,48 %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75,20 %</a:t>
                      </a:r>
                    </a:p>
                  </a:txBody>
                  <a:tcPr marL="43200" marR="43200" marT="14400" marB="14400" anchor="ctr">
                    <a:solidFill>
                      <a:srgbClr val="FFFFFF"/>
                    </a:solidFill>
                  </a:tcPr>
                </a:tc>
                <a:tc>
                  <a:txBody>
                    <a:bodyPr/>
                    <a:lstStyle/>
                    <a:p>
                      <a:pPr marL="0" indent="0" lvl="0">
                        <a:buNone/>
                      </a:pPr>
                      <a:r>
                        <a:rPr sz="900" b="1">
                          <a:solidFill>
                            <a:srgbClr val="FFFFFF"/>
                          </a:solidFill>
                          <a:latin typeface="Helvetica"/>
                        </a:rPr>
                        <a:t>Non conforme</a:t>
                      </a:r>
                    </a:p>
                  </a:txBody>
                  <a:tcPr marL="43200" marR="43200" marT="14400" marB="14400" anchor="ctr">
                    <a:solidFill>
                      <a:srgbClr val="C00000"/>
                    </a:solidFill>
                  </a:tcPr>
                </a:tc>
              </a:tr>
              <a:tr h="194768">
                <a:tc>
                  <a:txBody>
                    <a:bodyPr/>
                    <a:lstStyle/>
                    <a:p>
                      <a:pPr marL="0" indent="0" lvl="0">
                        <a:buNone/>
                      </a:pPr>
                      <a:r>
                        <a:rPr sz="900" b="1">
                          <a:solidFill>
                            <a:srgbClr val="060606"/>
                          </a:solidFill>
                          <a:latin typeface="Helvetica"/>
                        </a:rPr>
                        <a:t>2</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Marge de solvabilité disponible / exigée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Au moins 1</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6,65</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6,70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7,22</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7,77</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7,15</a:t>
                      </a:r>
                    </a:p>
                  </a:txBody>
                  <a:tcPr marL="43200" marR="43200" marT="14400" marB="14400" anchor="ctr">
                    <a:solidFill>
                      <a:srgbClr val="F2F2F2"/>
                    </a:solidFill>
                  </a:tcPr>
                </a:tc>
                <a:tc>
                  <a:txBody>
                    <a:bodyPr/>
                    <a:lstStyle/>
                    <a:p>
                      <a:pPr marL="0" indent="0" lvl="0">
                        <a:buNone/>
                      </a:pPr>
                      <a:r>
                        <a:rPr sz="900" b="1">
                          <a:solidFill>
                            <a:srgbClr val="060606"/>
                          </a:solidFill>
                          <a:latin typeface="Helvetica"/>
                        </a:rPr>
                        <a:t>Conforme</a:t>
                      </a:r>
                    </a:p>
                  </a:txBody>
                  <a:tcPr marL="43200" marR="43200" marT="14400" marB="14400" anchor="ctr">
                    <a:solidFill>
                      <a:srgbClr val="70AD47"/>
                    </a:solidFill>
                  </a:tcPr>
                </a:tc>
              </a:tr>
              <a:tr h="194768">
                <a:tc>
                  <a:txBody>
                    <a:bodyPr/>
                    <a:lstStyle/>
                    <a:p>
                      <a:pPr marL="0" indent="0" lvl="0">
                        <a:buNone/>
                      </a:pPr>
                      <a:r>
                        <a:rPr sz="900" b="1">
                          <a:solidFill>
                            <a:srgbClr val="060606"/>
                          </a:solidFill>
                          <a:latin typeface="Helvetica"/>
                        </a:rPr>
                        <a:t>3</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Ratio de réserve obligatoire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Entre 6 et 9 mois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-0,00 mois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3,25 mois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4,91 mois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5,01 mois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3,65 mois</a:t>
                      </a:r>
                    </a:p>
                  </a:txBody>
                  <a:tcPr marL="43200" marR="43200" marT="14400" marB="14400" anchor="ctr">
                    <a:solidFill>
                      <a:srgbClr val="FFFFFF"/>
                    </a:solidFill>
                  </a:tcPr>
                </a:tc>
                <a:tc>
                  <a:txBody>
                    <a:bodyPr/>
                    <a:lstStyle/>
                    <a:p>
                      <a:pPr marL="0" indent="0" lvl="0">
                        <a:buNone/>
                      </a:pPr>
                      <a:r>
                        <a:rPr sz="900" b="1">
                          <a:solidFill>
                            <a:srgbClr val="FFFFFF"/>
                          </a:solidFill>
                          <a:latin typeface="Helvetica"/>
                        </a:rPr>
                        <a:t>Non conforme</a:t>
                      </a:r>
                    </a:p>
                  </a:txBody>
                  <a:tcPr marL="43200" marR="43200" marT="14400" marB="14400" anchor="ctr">
                    <a:solidFill>
                      <a:srgbClr val="C00000"/>
                    </a:solidFill>
                  </a:tcPr>
                </a:tc>
              </a:tr>
              <a:tr h="194768">
                <a:tc>
                  <a:txBody>
                    <a:bodyPr/>
                    <a:lstStyle/>
                    <a:p>
                      <a:pPr marL="0" indent="0" lvl="0">
                        <a:buNone/>
                      </a:pPr>
                      <a:r>
                        <a:rPr sz="900" b="1">
                          <a:solidFill>
                            <a:srgbClr val="060606"/>
                          </a:solidFill>
                          <a:latin typeface="Helvetica"/>
                        </a:rPr>
                        <a:t>4</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Ratio des fonds propres et assimilés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Au moins 1</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0,13</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0,19</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0,21</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0,22</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0,17</a:t>
                      </a:r>
                    </a:p>
                  </a:txBody>
                  <a:tcPr marL="43200" marR="43200" marT="14400" marB="14400" anchor="ctr">
                    <a:solidFill>
                      <a:srgbClr val="F2F2F2"/>
                    </a:solidFill>
                  </a:tcPr>
                </a:tc>
                <a:tc>
                  <a:txBody>
                    <a:bodyPr/>
                    <a:lstStyle/>
                    <a:p>
                      <a:pPr marL="0" indent="0" lvl="0">
                        <a:buNone/>
                      </a:pPr>
                      <a:r>
                        <a:rPr sz="900" b="1">
                          <a:solidFill>
                            <a:srgbClr val="FFFFFF"/>
                          </a:solidFill>
                          <a:latin typeface="Helvetica"/>
                        </a:rPr>
                        <a:t>Non conforme</a:t>
                      </a:r>
                    </a:p>
                  </a:txBody>
                  <a:tcPr marL="43200" marR="43200" marT="14400" marB="14400" anchor="ctr">
                    <a:solidFill>
                      <a:srgbClr val="C00000"/>
                    </a:solidFill>
                  </a:tcPr>
                </a:tc>
              </a:tr>
              <a:tr h="194768">
                <a:tc>
                  <a:txBody>
                    <a:bodyPr/>
                    <a:lstStyle/>
                    <a:p>
                      <a:pPr marL="0" indent="0" lvl="0">
                        <a:buNone/>
                      </a:pPr>
                      <a:r>
                        <a:rPr sz="900" b="1">
                          <a:solidFill>
                            <a:srgbClr val="060606"/>
                          </a:solidFill>
                          <a:latin typeface="Helvetica"/>
                        </a:rPr>
                        <a:t>5</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Ratio de liquidité</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Au moins 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0,10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0,11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0,07</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0,13</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0,19</a:t>
                      </a:r>
                    </a:p>
                  </a:txBody>
                  <a:tcPr marL="43200" marR="43200" marT="14400" marB="14400" anchor="ctr">
                    <a:solidFill>
                      <a:srgbClr val="FFFFFF"/>
                    </a:solidFill>
                  </a:tcPr>
                </a:tc>
                <a:tc>
                  <a:txBody>
                    <a:bodyPr/>
                    <a:lstStyle/>
                    <a:p>
                      <a:pPr marL="0" indent="0" lvl="0">
                        <a:buNone/>
                      </a:pPr>
                      <a:r>
                        <a:rPr sz="900" b="1">
                          <a:solidFill>
                            <a:srgbClr val="FFFFFF"/>
                          </a:solidFill>
                          <a:latin typeface="Helvetica"/>
                        </a:rPr>
                        <a:t>Non conforme</a:t>
                      </a:r>
                    </a:p>
                  </a:txBody>
                  <a:tcPr marL="43200" marR="43200" marT="14400" marB="14400" anchor="ctr">
                    <a:solidFill>
                      <a:srgbClr val="C00000"/>
                    </a:solidFill>
                  </a:tcPr>
                </a:tc>
              </a:tr>
              <a:tr h="194768">
                <a:tc>
                  <a:txBody>
                    <a:bodyPr/>
                    <a:lstStyle/>
                    <a:p>
                      <a:pPr marL="0" indent="0" lvl="0">
                        <a:buNone/>
                      </a:pPr>
                      <a:r>
                        <a:rPr sz="900" b="1">
                          <a:solidFill>
                            <a:srgbClr val="060606"/>
                          </a:solidFill>
                          <a:latin typeface="Helvetica"/>
                        </a:rPr>
                        <a:t>6</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Ratio d'équilibre stable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Au plus 1</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2,13</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1,61</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1,70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1,54</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1,72</a:t>
                      </a:r>
                    </a:p>
                  </a:txBody>
                  <a:tcPr marL="43200" marR="43200" marT="14400" marB="14400" anchor="ctr">
                    <a:solidFill>
                      <a:srgbClr val="F2F2F2"/>
                    </a:solidFill>
                  </a:tcPr>
                </a:tc>
                <a:tc>
                  <a:txBody>
                    <a:bodyPr/>
                    <a:lstStyle/>
                    <a:p>
                      <a:pPr marL="0" indent="0" lvl="0">
                        <a:buNone/>
                      </a:pPr>
                      <a:r>
                        <a:rPr sz="900" b="1">
                          <a:solidFill>
                            <a:srgbClr val="FFFFFF"/>
                          </a:solidFill>
                          <a:latin typeface="Helvetica"/>
                        </a:rPr>
                        <a:t>Non conforme</a:t>
                      </a:r>
                    </a:p>
                  </a:txBody>
                  <a:tcPr marL="43200" marR="43200" marT="14400" marB="14400" anchor="ctr">
                    <a:solidFill>
                      <a:srgbClr val="C00000"/>
                    </a:solidFill>
                  </a:tcPr>
                </a:tc>
              </a:tr>
              <a:tr h="194768">
                <a:tc>
                  <a:txBody>
                    <a:bodyPr/>
                    <a:lstStyle/>
                    <a:p>
                      <a:pPr marL="0" indent="0" lvl="0">
                        <a:buNone/>
                      </a:pPr>
                      <a:r>
                        <a:rPr sz="900" b="1">
                          <a:solidFill>
                            <a:srgbClr val="060606"/>
                          </a:solidFill>
                          <a:latin typeface="Helvetica"/>
                        </a:rPr>
                        <a:t>7</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Ratio d'autonomie financière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Au moins 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1,74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1,40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1,29</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1,05</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0,84</a:t>
                      </a:r>
                    </a:p>
                  </a:txBody>
                  <a:tcPr marL="43200" marR="43200" marT="14400" marB="14400" anchor="ctr">
                    <a:solidFill>
                      <a:srgbClr val="FFFFFF"/>
                    </a:solidFill>
                  </a:tcPr>
                </a:tc>
                <a:tc>
                  <a:txBody>
                    <a:bodyPr/>
                    <a:lstStyle/>
                    <a:p>
                      <a:pPr marL="0" indent="0" lvl="0">
                        <a:buNone/>
                      </a:pPr>
                      <a:r>
                        <a:rPr sz="900" b="1">
                          <a:solidFill>
                            <a:srgbClr val="060606"/>
                          </a:solidFill>
                          <a:latin typeface="Helvetica"/>
                        </a:rPr>
                        <a:t>Conforme</a:t>
                      </a:r>
                    </a:p>
                  </a:txBody>
                  <a:tcPr marL="43200" marR="43200" marT="14400" marB="14400" anchor="ctr">
                    <a:solidFill>
                      <a:srgbClr val="70AD47"/>
                    </a:solidFill>
                  </a:tcPr>
                </a:tc>
              </a:tr>
              <a:tr h="194768">
                <a:tc>
                  <a:txBody>
                    <a:bodyPr/>
                    <a:lstStyle/>
                    <a:p>
                      <a:pPr marL="0" indent="0" lvl="0">
                        <a:buNone/>
                      </a:pPr>
                      <a:r>
                        <a:rPr sz="900" b="1">
                          <a:solidFill>
                            <a:srgbClr val="060606"/>
                          </a:solidFill>
                          <a:latin typeface="Helvetica"/>
                        </a:rPr>
                        <a:t>8</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Taux d'excédent net</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Au plus 5 %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80,64 %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33,55 %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25,18 %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12,81 %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-18,45 %</a:t>
                      </a:r>
                    </a:p>
                  </a:txBody>
                  <a:tcPr marL="43200" marR="43200" marT="14400" marB="14400" anchor="ctr">
                    <a:solidFill>
                      <a:srgbClr val="F2F2F2"/>
                    </a:solidFill>
                  </a:tcPr>
                </a:tc>
                <a:tc>
                  <a:txBody>
                    <a:bodyPr/>
                    <a:lstStyle/>
                    <a:p>
                      <a:pPr marL="0" indent="0" lvl="0">
                        <a:buNone/>
                      </a:pPr>
                      <a:r>
                        <a:rPr sz="900" b="1">
                          <a:solidFill>
                            <a:srgbClr val="FFFFFF"/>
                          </a:solidFill>
                          <a:latin typeface="Helvetica"/>
                        </a:rPr>
                        <a:t>Non conforme</a:t>
                      </a:r>
                    </a:p>
                  </a:txBody>
                  <a:tcPr marL="43200" marR="43200" marT="14400" marB="14400" anchor="ctr">
                    <a:solidFill>
                      <a:srgbClr val="C00000"/>
                    </a:solidFill>
                  </a:tcPr>
                </a:tc>
              </a:tr>
              <a:tr h="194768">
                <a:tc>
                  <a:txBody>
                    <a:bodyPr/>
                    <a:lstStyle/>
                    <a:p>
                      <a:pPr marL="0" indent="0" lvl="0">
                        <a:buNone/>
                      </a:pPr>
                      <a:r>
                        <a:rPr sz="900" b="1">
                          <a:solidFill>
                            <a:srgbClr val="060606"/>
                          </a:solidFill>
                          <a:latin typeface="Helvetica"/>
                        </a:rPr>
                        <a:t>9</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Taux de financement propre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Au moins 100 %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240,20 %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146,82 %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132,48 %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113,47 %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84,54 %</a:t>
                      </a:r>
                    </a:p>
                  </a:txBody>
                  <a:tcPr marL="43200" marR="43200" marT="14400" marB="14400" anchor="ctr">
                    <a:solidFill>
                      <a:srgbClr val="FFFFFF"/>
                    </a:solidFill>
                  </a:tcPr>
                </a:tc>
                <a:tc>
                  <a:txBody>
                    <a:bodyPr/>
                    <a:lstStyle/>
                    <a:p>
                      <a:pPr marL="0" indent="0" lvl="0">
                        <a:buNone/>
                      </a:pPr>
                      <a:r>
                        <a:rPr sz="900" b="1">
                          <a:solidFill>
                            <a:srgbClr val="060606"/>
                          </a:solidFill>
                          <a:latin typeface="Helvetica"/>
                        </a:rPr>
                        <a:t>Conforme</a:t>
                      </a:r>
                    </a:p>
                  </a:txBody>
                  <a:tcPr marL="43200" marR="43200" marT="14400" marB="14400" anchor="ctr">
                    <a:solidFill>
                      <a:srgbClr val="70AD47"/>
                    </a:solidFill>
                  </a:tcPr>
                </a:tc>
              </a:tr>
            </a:tbl>
          </a:graphicData>
        </a:graphic>
      </p:graphicFrame>
      <p:graphicFrame>
        <p:nvGraphicFramePr>
          <p:cNvPr id="33" name="Table 32"/>
          <p:cNvGraphicFramePr>
            <a:graphicFrameLocks noGrp="1"/>
          </p:cNvGraphicFramePr>
          <p:nvPr/>
        </p:nvGraphicFramePr>
        <p:xfrm>
          <a:off x="503999" y="3783224"/>
          <a:ext cx="11232000" cy="151200"/>
        </p:xfrm>
        <a:graphic>
          <a:graphicData uri="http://schemas.openxmlformats.org/drawingml/2006/table">
            <a:tbl>
              <a:tblPr firstRow="0" bandRow="0">
                <a:tableStyleId>{5C22544A-7EE6-4342-B048-85BDC9FD1C3A}</a:tableStyleId>
              </a:tblPr>
              <a:tblGrid>
                <a:gridCol w="792000"/>
                <a:gridCol w="936000"/>
                <a:gridCol w="4284000"/>
                <a:gridCol w="936000"/>
                <a:gridCol w="4284000"/>
              </a:tblGrid>
              <a:tr h="151200">
                <a:tc>
                  <a:txBody>
                    <a:bodyPr/>
                    <a:lstStyle/>
                    <a:p>
                      <a:r>
                        <a:rPr sz="700" b="1">
                          <a:solidFill>
                            <a:srgbClr val="060606"/>
                          </a:solidFill>
                          <a:latin typeface="Helvetica"/>
                        </a:rPr>
                        <a:t>Code couleur</a:t>
                      </a:r>
                    </a:p>
                  </a:txBody>
                  <a:tcPr marL="28800" marR="28800" marT="3600" marB="3600" anchor="ctr">
                    <a:solidFill>
                      <a:srgbClr val="FFFFFF"/>
                    </a:solidFill>
                  </a:tcPr>
                </a:tc>
                <a:tc>
                  <a:txBody>
                    <a:bodyPr/>
                    <a:lstStyle/>
                    <a:p>
                      <a:r>
                        <a:rPr sz="700" b="1">
                          <a:solidFill>
                            <a:srgbClr val="FFFFFF"/>
                          </a:solidFill>
                          <a:latin typeface="Helvetica"/>
                        </a:rPr>
                        <a:t>Non conforme</a:t>
                      </a:r>
                    </a:p>
                  </a:txBody>
                  <a:tcPr marL="28800" marR="28800" marT="3600" marB="3600" anchor="ctr">
                    <a:solidFill>
                      <a:srgbClr val="C00000"/>
                    </a:solidFill>
                  </a:tcPr>
                </a:tc>
                <a:tc>
                  <a:txBody>
                    <a:bodyPr/>
                    <a:lstStyle/>
                    <a:p>
                      <a:r>
                        <a:rPr sz="700" b="0">
                          <a:solidFill>
                            <a:srgbClr val="060606"/>
                          </a:solidFill>
                          <a:latin typeface="Helvetica"/>
                        </a:rPr>
                        <a:t>norme non respectée</a:t>
                      </a:r>
                    </a:p>
                  </a:txBody>
                  <a:tcPr marL="28800" marR="28800" marT="3600" marB="3600" anchor="ctr">
                    <a:solidFill>
                      <a:srgbClr val="FFFFFF"/>
                    </a:solidFill>
                  </a:tcPr>
                </a:tc>
                <a:tc>
                  <a:txBody>
                    <a:bodyPr/>
                    <a:lstStyle/>
                    <a:p>
                      <a:r>
                        <a:rPr sz="700" b="1">
                          <a:solidFill>
                            <a:srgbClr val="060606"/>
                          </a:solidFill>
                          <a:latin typeface="Helvetica"/>
                        </a:rPr>
                        <a:t>Conforme</a:t>
                      </a:r>
                    </a:p>
                  </a:txBody>
                  <a:tcPr marL="28800" marR="28800" marT="3600" marB="3600" anchor="ctr">
                    <a:solidFill>
                      <a:srgbClr val="70AD47"/>
                    </a:solidFill>
                  </a:tcPr>
                </a:tc>
                <a:tc>
                  <a:txBody>
                    <a:bodyPr/>
                    <a:lstStyle/>
                    <a:p>
                      <a:r>
                        <a:rPr sz="700" b="0">
                          <a:solidFill>
                            <a:srgbClr val="060606"/>
                          </a:solidFill>
                          <a:latin typeface="Helvetica"/>
                        </a:rPr>
                        <a:t>norme respectée</a:t>
                      </a:r>
                    </a:p>
                  </a:txBody>
                  <a:tcPr marL="28800" marR="28800" marT="3600" marB="3600" anchor="ctr">
                    <a:solidFill>
                      <a:srgbClr val="FFFFFF"/>
                    </a:solidFill>
                  </a:tcPr>
                </a:tc>
              </a:tr>
            </a:tbl>
          </a:graphicData>
        </a:graphic>
      </p:graphicFrame>
      <p:sp>
        <p:nvSpPr>
          <p:cNvPr id="34" name="TextBox 33"/>
          <p:cNvSpPr txBox="1"/>
          <p:nvPr/>
        </p:nvSpPr>
        <p:spPr>
          <a:xfrm>
            <a:off x="503999" y="4042424"/>
            <a:ext cx="11232000" cy="306000"/>
          </a:xfrm>
          <a:prstGeom prst="rect">
            <a:avLst/>
          </a:prstGeom>
          <a:noFill/>
        </p:spPr>
        <p:txBody>
          <a:bodyPr wrap="square" anchor="t" lIns="54000" rIns="54000"/>
          <a:lstStyle/>
          <a:p>
            <a:pPr algn="l"/>
            <a:r>
              <a:rPr sz="850" b="0">
                <a:solidFill>
                  <a:srgbClr val="53565A"/>
                </a:solidFill>
                <a:latin typeface="Helvetica"/>
              </a:rPr>
              <a:t>Valable pour : ratios de la Décision n° 05/2022 recalculés sur les balances « BALANCE FORMAT EXCEL DE 09-2020 AU 31-12-2020.xlsx » à « BALANCE FPPN DU 01-01-2026 AU 31-08-2026.xlsx », 2020 au 31/08/2026. Statut opposable de 2022 à 2025, indicatif en 2020, 2021 et 2026.</a:t>
            </a:r>
          </a:p>
        </p:txBody>
      </p:sp>
      <p:sp>
        <p:nvSpPr>
          <p:cNvPr id="35" name="TextBox 34"/>
          <p:cNvSpPr txBox="1"/>
          <p:nvPr/>
        </p:nvSpPr>
        <p:spPr>
          <a:xfrm>
            <a:off x="503999" y="4492424"/>
            <a:ext cx="11232000" cy="1375575"/>
          </a:xfrm>
          <a:prstGeom prst="rect">
            <a:avLst/>
          </a:prstGeom>
          <a:noFill/>
        </p:spPr>
        <p:txBody>
          <a:bodyPr wrap="square" lIns="54000" rIns="54000"/>
          <a:lstStyle/>
          <a:p>
            <a:pPr algn="just">
              <a:spcAft>
                <a:spcPts val="600"/>
              </a:spcAft>
            </a:pPr>
            <a:r>
              <a:rPr sz="1300" b="1">
                <a:solidFill>
                  <a:srgbClr val="060606"/>
                </a:solidFill>
                <a:latin typeface="Helvetica"/>
              </a:rPr>
              <a:t>Six des neuf ratios prioritaires sont non conformes plusieurs années de suite.</a:t>
            </a:r>
            <a:r>
              <a:rPr sz="1300" b="0">
                <a:solidFill>
                  <a:srgbClr val="060606"/>
                </a:solidFill>
                <a:latin typeface="Helvetica"/>
              </a:rPr>
              <a:t> Seuls l'autonomie financière, le financement propre et la marge de solvabilité calculée comme le FPPN respectent la norme.</a:t>
            </a:r>
          </a:p>
          <a:p>
            <a:pPr algn="just">
              <a:spcAft>
                <a:spcPts val="600"/>
              </a:spcAft>
            </a:pPr>
            <a:r>
              <a:rPr sz="1300" b="0">
                <a:solidFill>
                  <a:srgbClr val="060606"/>
                </a:solidFill>
                <a:latin typeface="Helvetica"/>
              </a:rPr>
              <a:t>La non-conformité répétée de la réserve obligatoire, des fonds propres et de la liquidité expose le FPPN aux sanctions prévues pour le non-respect des règles prudentielles sur deux exercices.</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a:t>
            </a:r>
          </a:p>
        </p:txBody>
      </p:sp>
    </p:spTree>
    <p:extLst>
      <p:ext uri="{BB962C8B-B14F-4D97-AF65-F5344CB8AC3E}">
        <p14:creationId xmlns:p14="http://schemas.microsoft.com/office/powerpoint/2010/main" val="1294679207"/>
      </p:ext>
    </p:extLst>
  </p:cSld>
  <p:clrMapOvr>
    <a:masterClrMapping/>
  </p:clrMapOvr>
  <p:transition>
    <p:fade/>
  </p:transition>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Tableau de bord (2/4) : risques longs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Aucun ratio propre aux risques longs n'est respecté</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Ratios de priorité 10 à 16, applicables à l'épargne EFC et PEP qualifiée de risque long</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Décision n° 05/2022/COM/UEMOA du 1er juin 2022, annexe. Règlement d'exécution n° 004/2022/COM/UEMOA du 1er juin 2022. Règlement n° 07/2009/CM/UEMOA du 26 juin 2009. Balances du FPPN. Calculs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85 : Tableau de bord des ratios des risques longs, priorités 10 à 16</a:t>
            </a:r>
          </a:p>
        </p:txBody>
      </p:sp>
      <p:graphicFrame>
        <p:nvGraphicFramePr>
          <p:cNvPr id="32" name="Table 31"/>
          <p:cNvGraphicFramePr>
            <a:graphicFrameLocks noGrp="1"/>
          </p:cNvGraphicFramePr>
          <p:nvPr/>
        </p:nvGraphicFramePr>
        <p:xfrm>
          <a:off x="503999" y="1655999"/>
          <a:ext cx="11232000" cy="2106820"/>
        </p:xfrm>
        <a:graphic>
          <a:graphicData uri="http://schemas.openxmlformats.org/drawingml/2006/table">
            <a:tbl>
              <a:tblPr firstRow="0" bandRow="0">
                <a:tableStyleId>{5940675A-B579-460E-94D1-54222C63F5DA}</a:tableStyleId>
              </a:tblPr>
              <a:tblGrid>
                <a:gridCol w="324000"/>
                <a:gridCol w="3024000"/>
                <a:gridCol w="1728000"/>
                <a:gridCol w="972000"/>
                <a:gridCol w="972000"/>
                <a:gridCol w="972000"/>
                <a:gridCol w="972000"/>
                <a:gridCol w="1044000"/>
                <a:gridCol w="1224000"/>
              </a:tblGrid>
              <a:tr h="194768">
                <a:tc>
                  <a:txBody>
                    <a:bodyPr/>
                    <a:lstStyle/>
                    <a:p>
                      <a:pPr marL="0" indent="0" lvl="0">
                        <a:buNone/>
                      </a:pPr>
                      <a:r>
                        <a:rPr sz="900" b="1">
                          <a:solidFill>
                            <a:srgbClr val="FFFFFF"/>
                          </a:solidFill>
                          <a:latin typeface="Helvetica"/>
                        </a:rPr>
                        <a:t>N°</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Ratio</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Norme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2022</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2023</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2024</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2025</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2026 (8 mois)</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Statut</a:t>
                      </a:r>
                    </a:p>
                  </a:txBody>
                  <a:tcPr marL="43200" marR="43200" marT="14400" marB="14400" anchor="ctr">
                    <a:solidFill>
                      <a:srgbClr val="060606"/>
                    </a:solidFill>
                  </a:tcPr>
                </a:tc>
              </a:tr>
              <a:tr h="194768">
                <a:tc>
                  <a:txBody>
                    <a:bodyPr/>
                    <a:lstStyle/>
                    <a:p>
                      <a:pPr marL="0" indent="0" lvl="0">
                        <a:buNone/>
                      </a:pPr>
                      <a:r>
                        <a:rPr sz="900" b="1">
                          <a:solidFill>
                            <a:srgbClr val="060606"/>
                          </a:solidFill>
                          <a:latin typeface="Helvetica"/>
                        </a:rPr>
                        <a:t>10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Ratio de solvabilité de la branche épargne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Au moins 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0,09</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0,09</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0,06</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0,12</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0,16</a:t>
                      </a:r>
                    </a:p>
                  </a:txBody>
                  <a:tcPr marL="43200" marR="43200" marT="14400" marB="14400" anchor="ctr">
                    <a:solidFill>
                      <a:srgbClr val="FFFFFF"/>
                    </a:solidFill>
                  </a:tcPr>
                </a:tc>
                <a:tc>
                  <a:txBody>
                    <a:bodyPr/>
                    <a:lstStyle/>
                    <a:p>
                      <a:pPr marL="0" indent="0" lvl="0">
                        <a:buNone/>
                      </a:pPr>
                      <a:r>
                        <a:rPr sz="900" b="1">
                          <a:solidFill>
                            <a:srgbClr val="FFFFFF"/>
                          </a:solidFill>
                          <a:latin typeface="Helvetica"/>
                        </a:rPr>
                        <a:t>Non conforme</a:t>
                      </a:r>
                    </a:p>
                  </a:txBody>
                  <a:tcPr marL="43200" marR="43200" marT="14400" marB="14400" anchor="ctr">
                    <a:solidFill>
                      <a:srgbClr val="C00000"/>
                    </a:solidFill>
                  </a:tcPr>
                </a:tc>
              </a:tr>
              <a:tr h="194768">
                <a:tc>
                  <a:txBody>
                    <a:bodyPr/>
                    <a:lstStyle/>
                    <a:p>
                      <a:pPr marL="0" indent="0" lvl="0">
                        <a:buNone/>
                      </a:pPr>
                      <a:r>
                        <a:rPr sz="900" b="1">
                          <a:solidFill>
                            <a:srgbClr val="060606"/>
                          </a:solidFill>
                          <a:latin typeface="Helvetica"/>
                        </a:rPr>
                        <a:t>11</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Ratio de trésorerie à échéance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Supérieur à 1</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0,12</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0,11</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0,13</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0,17</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0,19</a:t>
                      </a:r>
                    </a:p>
                  </a:txBody>
                  <a:tcPr marL="43200" marR="43200" marT="14400" marB="14400" anchor="ctr">
                    <a:solidFill>
                      <a:srgbClr val="F2F2F2"/>
                    </a:solidFill>
                  </a:tcPr>
                </a:tc>
                <a:tc>
                  <a:txBody>
                    <a:bodyPr/>
                    <a:lstStyle/>
                    <a:p>
                      <a:pPr marL="0" indent="0" lvl="0">
                        <a:buNone/>
                      </a:pPr>
                      <a:r>
                        <a:rPr sz="900" b="1">
                          <a:solidFill>
                            <a:srgbClr val="FFFFFF"/>
                          </a:solidFill>
                          <a:latin typeface="Helvetica"/>
                        </a:rPr>
                        <a:t>Non conforme</a:t>
                      </a:r>
                    </a:p>
                  </a:txBody>
                  <a:tcPr marL="43200" marR="43200" marT="14400" marB="14400" anchor="ctr">
                    <a:solidFill>
                      <a:srgbClr val="C00000"/>
                    </a:solidFill>
                  </a:tcPr>
                </a:tc>
              </a:tr>
              <a:tr h="194768">
                <a:tc>
                  <a:txBody>
                    <a:bodyPr/>
                    <a:lstStyle/>
                    <a:p>
                      <a:pPr marL="0" indent="0" lvl="0">
                        <a:buNone/>
                      </a:pPr>
                      <a:r>
                        <a:rPr sz="900" b="1">
                          <a:solidFill>
                            <a:srgbClr val="060606"/>
                          </a:solidFill>
                          <a:latin typeface="Helvetica"/>
                        </a:rPr>
                        <a:t>12</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Ratio de trésorerie immédiate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Au moins 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0,10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0,11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0,07</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0,13</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0,19</a:t>
                      </a:r>
                    </a:p>
                  </a:txBody>
                  <a:tcPr marL="43200" marR="43200" marT="14400" marB="14400" anchor="ctr">
                    <a:solidFill>
                      <a:srgbClr val="FFFFFF"/>
                    </a:solidFill>
                  </a:tcPr>
                </a:tc>
                <a:tc>
                  <a:txBody>
                    <a:bodyPr/>
                    <a:lstStyle/>
                    <a:p>
                      <a:pPr marL="0" indent="0" lvl="0">
                        <a:buNone/>
                      </a:pPr>
                      <a:r>
                        <a:rPr sz="900" b="1">
                          <a:solidFill>
                            <a:srgbClr val="FFFFFF"/>
                          </a:solidFill>
                          <a:latin typeface="Helvetica"/>
                        </a:rPr>
                        <a:t>Non conforme</a:t>
                      </a:r>
                    </a:p>
                  </a:txBody>
                  <a:tcPr marL="43200" marR="43200" marT="14400" marB="14400" anchor="ctr">
                    <a:solidFill>
                      <a:srgbClr val="C00000"/>
                    </a:solidFill>
                  </a:tcPr>
                </a:tc>
              </a:tr>
              <a:tr h="331937">
                <a:tc>
                  <a:txBody>
                    <a:bodyPr/>
                    <a:lstStyle/>
                    <a:p>
                      <a:pPr marL="0" indent="0" lvl="0">
                        <a:buNone/>
                      </a:pPr>
                      <a:r>
                        <a:rPr sz="900" b="1">
                          <a:solidFill>
                            <a:srgbClr val="060606"/>
                          </a:solidFill>
                          <a:latin typeface="Helvetica"/>
                        </a:rPr>
                        <a:t>13</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Réserve de trésorerie des risques longs (un trimestre d'engagements et de frais)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Au moins 1 trimestre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0,00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0,00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0,00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0,00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0,00</a:t>
                      </a:r>
                    </a:p>
                  </a:txBody>
                  <a:tcPr marL="43200" marR="43200" marT="14400" marB="14400" anchor="ctr">
                    <a:solidFill>
                      <a:srgbClr val="F2F2F2"/>
                    </a:solidFill>
                  </a:tcPr>
                </a:tc>
                <a:tc>
                  <a:txBody>
                    <a:bodyPr/>
                    <a:lstStyle/>
                    <a:p>
                      <a:pPr marL="0" indent="0" lvl="0">
                        <a:buNone/>
                      </a:pPr>
                      <a:r>
                        <a:rPr sz="900" b="1">
                          <a:solidFill>
                            <a:srgbClr val="FFFFFF"/>
                          </a:solidFill>
                          <a:latin typeface="Helvetica"/>
                        </a:rPr>
                        <a:t>Non conforme</a:t>
                      </a:r>
                    </a:p>
                  </a:txBody>
                  <a:tcPr marL="43200" marR="43200" marT="14400" marB="14400" anchor="ctr">
                    <a:solidFill>
                      <a:srgbClr val="C00000"/>
                    </a:solidFill>
                  </a:tcPr>
                </a:tc>
              </a:tr>
              <a:tr h="331937">
                <a:tc>
                  <a:txBody>
                    <a:bodyPr/>
                    <a:lstStyle/>
                    <a:p>
                      <a:pPr marL="0" indent="0" lvl="0">
                        <a:buNone/>
                      </a:pPr>
                      <a:r>
                        <a:rPr sz="900" b="1">
                          <a:solidFill>
                            <a:srgbClr val="060606"/>
                          </a:solidFill>
                          <a:latin typeface="Helvetica"/>
                        </a:rPr>
                        <a:t>14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Fonds propres / prestations des risques longs des deux derniers exercices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Au moins 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-0,65</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-0,34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-0,21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-0,15</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-0,31</a:t>
                      </a:r>
                    </a:p>
                  </a:txBody>
                  <a:tcPr marL="43200" marR="43200" marT="14400" marB="14400" anchor="ctr">
                    <a:solidFill>
                      <a:srgbClr val="FFFFFF"/>
                    </a:solidFill>
                  </a:tcPr>
                </a:tc>
                <a:tc>
                  <a:txBody>
                    <a:bodyPr/>
                    <a:lstStyle/>
                    <a:p>
                      <a:pPr marL="0" indent="0" lvl="0">
                        <a:buNone/>
                      </a:pPr>
                      <a:r>
                        <a:rPr sz="900" b="1">
                          <a:solidFill>
                            <a:srgbClr val="FFFFFF"/>
                          </a:solidFill>
                          <a:latin typeface="Helvetica"/>
                        </a:rPr>
                        <a:t>Non conforme</a:t>
                      </a:r>
                    </a:p>
                  </a:txBody>
                  <a:tcPr marL="43200" marR="43200" marT="14400" marB="14400" anchor="ctr">
                    <a:solidFill>
                      <a:srgbClr val="C00000"/>
                    </a:solidFill>
                  </a:tcPr>
                </a:tc>
              </a:tr>
              <a:tr h="331937">
                <a:tc>
                  <a:txBody>
                    <a:bodyPr/>
                    <a:lstStyle/>
                    <a:p>
                      <a:pPr marL="0" indent="0" lvl="0">
                        <a:buNone/>
                      </a:pPr>
                      <a:r>
                        <a:rPr sz="900" b="1">
                          <a:solidFill>
                            <a:srgbClr val="060606"/>
                          </a:solidFill>
                          <a:latin typeface="Helvetica"/>
                        </a:rPr>
                        <a:t>15</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Taux brut de rentabilité des placements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Au moins le taux moyen du marché</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1,30 %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1,28 %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1,73 %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22,88 %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n.d.</a:t>
                      </a:r>
                    </a:p>
                  </a:txBody>
                  <a:tcPr marL="43200" marR="43200" marT="14400" marB="14400" anchor="ctr">
                    <a:solidFill>
                      <a:srgbClr val="F2F2F2"/>
                    </a:solidFill>
                  </a:tcPr>
                </a:tc>
                <a:tc>
                  <a:txBody>
                    <a:bodyPr/>
                    <a:lstStyle/>
                    <a:p>
                      <a:pPr marL="0" indent="0" lvl="0">
                        <a:buNone/>
                      </a:pPr>
                      <a:r>
                        <a:rPr sz="900" b="1">
                          <a:solidFill>
                            <a:srgbClr val="060606"/>
                          </a:solidFill>
                          <a:latin typeface="Helvetica"/>
                        </a:rPr>
                        <a:t>À apprécier</a:t>
                      </a:r>
                    </a:p>
                  </a:txBody>
                  <a:tcPr marL="43200" marR="43200" marT="14400" marB="14400" anchor="ctr">
                    <a:solidFill>
                      <a:srgbClr val="FFD966"/>
                    </a:solidFill>
                  </a:tcPr>
                </a:tc>
              </a:tr>
              <a:tr h="331937">
                <a:tc>
                  <a:txBody>
                    <a:bodyPr/>
                    <a:lstStyle/>
                    <a:p>
                      <a:pPr marL="0" indent="0" lvl="0">
                        <a:buNone/>
                      </a:pPr>
                      <a:r>
                        <a:rPr sz="900" b="1">
                          <a:solidFill>
                            <a:srgbClr val="060606"/>
                          </a:solidFill>
                          <a:latin typeface="Helvetica"/>
                        </a:rPr>
                        <a:t>16</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Solde moyen des comptes courants non rémunérés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Avoisinant zéro</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638 155 842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695 388 139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438 360 275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1 449 586 812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2 356 399 123 FCFA</a:t>
                      </a:r>
                    </a:p>
                  </a:txBody>
                  <a:tcPr marL="43200" marR="43200" marT="14400" marB="14400" anchor="ctr">
                    <a:solidFill>
                      <a:srgbClr val="FFFFFF"/>
                    </a:solidFill>
                  </a:tcPr>
                </a:tc>
                <a:tc>
                  <a:txBody>
                    <a:bodyPr/>
                    <a:lstStyle/>
                    <a:p>
                      <a:pPr marL="0" indent="0" lvl="0">
                        <a:buNone/>
                      </a:pPr>
                      <a:r>
                        <a:rPr sz="900" b="1">
                          <a:solidFill>
                            <a:srgbClr val="060606"/>
                          </a:solidFill>
                          <a:latin typeface="Helvetica"/>
                        </a:rPr>
                        <a:t>À apprécier</a:t>
                      </a:r>
                    </a:p>
                  </a:txBody>
                  <a:tcPr marL="43200" marR="43200" marT="14400" marB="14400" anchor="ctr">
                    <a:solidFill>
                      <a:srgbClr val="FFD966"/>
                    </a:solidFill>
                  </a:tcPr>
                </a:tc>
              </a:tr>
            </a:tbl>
          </a:graphicData>
        </a:graphic>
      </p:graphicFrame>
      <p:graphicFrame>
        <p:nvGraphicFramePr>
          <p:cNvPr id="33" name="Table 32"/>
          <p:cNvGraphicFramePr>
            <a:graphicFrameLocks noGrp="1"/>
          </p:cNvGraphicFramePr>
          <p:nvPr/>
        </p:nvGraphicFramePr>
        <p:xfrm>
          <a:off x="503999" y="3953501"/>
          <a:ext cx="11232000" cy="151200"/>
        </p:xfrm>
        <a:graphic>
          <a:graphicData uri="http://schemas.openxmlformats.org/drawingml/2006/table">
            <a:tbl>
              <a:tblPr firstRow="0" bandRow="0">
                <a:tableStyleId>{5C22544A-7EE6-4342-B048-85BDC9FD1C3A}</a:tableStyleId>
              </a:tblPr>
              <a:tblGrid>
                <a:gridCol w="792000"/>
                <a:gridCol w="936000"/>
                <a:gridCol w="4284000"/>
                <a:gridCol w="936000"/>
                <a:gridCol w="4284000"/>
              </a:tblGrid>
              <a:tr h="151200">
                <a:tc>
                  <a:txBody>
                    <a:bodyPr/>
                    <a:lstStyle/>
                    <a:p>
                      <a:r>
                        <a:rPr sz="700" b="1">
                          <a:solidFill>
                            <a:srgbClr val="060606"/>
                          </a:solidFill>
                          <a:latin typeface="Helvetica"/>
                        </a:rPr>
                        <a:t>Code couleur</a:t>
                      </a:r>
                    </a:p>
                  </a:txBody>
                  <a:tcPr marL="28800" marR="28800" marT="3600" marB="3600" anchor="ctr">
                    <a:solidFill>
                      <a:srgbClr val="FFFFFF"/>
                    </a:solidFill>
                  </a:tcPr>
                </a:tc>
                <a:tc>
                  <a:txBody>
                    <a:bodyPr/>
                    <a:lstStyle/>
                    <a:p>
                      <a:r>
                        <a:rPr sz="700" b="1">
                          <a:solidFill>
                            <a:srgbClr val="FFFFFF"/>
                          </a:solidFill>
                          <a:latin typeface="Helvetica"/>
                        </a:rPr>
                        <a:t>Non conforme</a:t>
                      </a:r>
                    </a:p>
                  </a:txBody>
                  <a:tcPr marL="28800" marR="28800" marT="3600" marB="3600" anchor="ctr">
                    <a:solidFill>
                      <a:srgbClr val="C00000"/>
                    </a:solidFill>
                  </a:tcPr>
                </a:tc>
                <a:tc>
                  <a:txBody>
                    <a:bodyPr/>
                    <a:lstStyle/>
                    <a:p>
                      <a:r>
                        <a:rPr sz="700" b="0">
                          <a:solidFill>
                            <a:srgbClr val="060606"/>
                          </a:solidFill>
                          <a:latin typeface="Helvetica"/>
                        </a:rPr>
                        <a:t>norme non respectée</a:t>
                      </a:r>
                    </a:p>
                  </a:txBody>
                  <a:tcPr marL="28800" marR="28800" marT="3600" marB="3600" anchor="ctr">
                    <a:solidFill>
                      <a:srgbClr val="FFFFFF"/>
                    </a:solidFill>
                  </a:tcPr>
                </a:tc>
                <a:tc>
                  <a:txBody>
                    <a:bodyPr/>
                    <a:lstStyle/>
                    <a:p>
                      <a:r>
                        <a:rPr sz="700" b="1">
                          <a:solidFill>
                            <a:srgbClr val="060606"/>
                          </a:solidFill>
                          <a:latin typeface="Helvetica"/>
                        </a:rPr>
                        <a:t>À apprécier</a:t>
                      </a:r>
                    </a:p>
                  </a:txBody>
                  <a:tcPr marL="28800" marR="28800" marT="3600" marB="3600" anchor="ctr">
                    <a:solidFill>
                      <a:srgbClr val="FFD966"/>
                    </a:solidFill>
                  </a:tcPr>
                </a:tc>
                <a:tc>
                  <a:txBody>
                    <a:bodyPr/>
                    <a:lstStyle/>
                    <a:p>
                      <a:r>
                        <a:rPr sz="700" b="0">
                          <a:solidFill>
                            <a:srgbClr val="060606"/>
                          </a:solidFill>
                          <a:latin typeface="Helvetica"/>
                        </a:rPr>
                        <a:t>norme non chiffrée</a:t>
                      </a:r>
                    </a:p>
                  </a:txBody>
                  <a:tcPr marL="28800" marR="28800" marT="3600" marB="3600" anchor="ctr">
                    <a:solidFill>
                      <a:srgbClr val="FFFFFF"/>
                    </a:solidFill>
                  </a:tcPr>
                </a:tc>
              </a:tr>
            </a:tbl>
          </a:graphicData>
        </a:graphic>
      </p:graphicFrame>
      <p:sp>
        <p:nvSpPr>
          <p:cNvPr id="34" name="TextBox 33"/>
          <p:cNvSpPr txBox="1"/>
          <p:nvPr/>
        </p:nvSpPr>
        <p:spPr>
          <a:xfrm>
            <a:off x="503999" y="4212701"/>
            <a:ext cx="11232000" cy="306000"/>
          </a:xfrm>
          <a:prstGeom prst="rect">
            <a:avLst/>
          </a:prstGeom>
          <a:noFill/>
        </p:spPr>
        <p:txBody>
          <a:bodyPr wrap="square" anchor="t" lIns="54000" rIns="54000"/>
          <a:lstStyle/>
          <a:p>
            <a:pPr algn="l"/>
            <a:r>
              <a:rPr sz="850" b="0">
                <a:solidFill>
                  <a:srgbClr val="53565A"/>
                </a:solidFill>
                <a:latin typeface="Helvetica"/>
              </a:rPr>
              <a:t>Valable pour : ratios de la Décision n° 05/2022 recalculés sur les balances « BALANCE FORMAT EXCEL DE 09-2020 AU 31-12-2020.xlsx » à « BALANCE FPPN DU 01-01-2026 AU 31-08-2026.xlsx », 2020 au 31/08/2026. Épargne traitée comme risque long. Statut opposable de 2022 à 2025.</a:t>
            </a:r>
          </a:p>
        </p:txBody>
      </p:sp>
      <p:sp>
        <p:nvSpPr>
          <p:cNvPr id="35" name="TextBox 34"/>
          <p:cNvSpPr txBox="1"/>
          <p:nvPr/>
        </p:nvSpPr>
        <p:spPr>
          <a:xfrm>
            <a:off x="503999" y="4662701"/>
            <a:ext cx="11232000" cy="1205298"/>
          </a:xfrm>
          <a:prstGeom prst="rect">
            <a:avLst/>
          </a:prstGeom>
          <a:noFill/>
        </p:spPr>
        <p:txBody>
          <a:bodyPr wrap="square" lIns="54000" rIns="54000"/>
          <a:lstStyle/>
          <a:p>
            <a:pPr algn="just">
              <a:spcAft>
                <a:spcPts val="600"/>
              </a:spcAft>
            </a:pPr>
            <a:r>
              <a:rPr sz="1300" b="1">
                <a:solidFill>
                  <a:srgbClr val="060606"/>
                </a:solidFill>
                <a:latin typeface="Helvetica"/>
              </a:rPr>
              <a:t>Les engagements d'épargne ne sont adossés ni à des actifs réservés suffisants, ni à une réserve de trésorerie, ni à des fonds propres positifs.</a:t>
            </a:r>
            <a:r>
              <a:rPr sz="1300" b="0">
                <a:solidFill>
                  <a:srgbClr val="060606"/>
                </a:solidFill>
                <a:latin typeface="Helvetica"/>
              </a:rPr>
              <a:t> Les deux derniers indicateurs n'ont pas de seuil chiffré et sont à apprécier.</a:t>
            </a:r>
          </a:p>
          <a:p>
            <a:pPr algn="just">
              <a:spcAft>
                <a:spcPts val="600"/>
              </a:spcAft>
            </a:pPr>
            <a:r>
              <a:rPr sz="1300" b="0">
                <a:solidFill>
                  <a:srgbClr val="060606"/>
                </a:solidFill>
                <a:latin typeface="Helvetica"/>
              </a:rPr>
              <a:t>Pour les risques longs, le règlement d'exécution exige aussi une étude actuarielle tous les cinq ans et la certification des comptes : le FPPN doit indiquer s'il les a réalisées.</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PEP : Plan Épargne Plus | EFC : entraide fin de carrière</a:t>
            </a:r>
          </a:p>
        </p:txBody>
      </p:sp>
    </p:spTree>
    <p:extLst>
      <p:ext uri="{BB962C8B-B14F-4D97-AF65-F5344CB8AC3E}">
        <p14:creationId xmlns:p14="http://schemas.microsoft.com/office/powerpoint/2010/main" val="416025221"/>
      </p:ext>
    </p:extLst>
  </p:cSld>
  <p:clrMapOvr>
    <a:masterClrMapping/>
  </p:clrMapOvr>
  <p:transition>
    <p:fade/>
  </p:transition>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Tableau de bord (3/4) : gestion</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frais dépassent nettement les normes, alors que le personnel et la fidélisation sont conformes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Ratios de gestion de priorité 17 à 25. Le recouvrement n'est mesurable que pour les retraités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Décision n° 05/2022/COM/UEMOA du 1er juin 2022, annexe. Règlement d'exécution n° 004/2022/COM/UEMOA du 1er juin 2022. Règlement n° 07/2009/CM/UEMOA du 26 juin 2009. Balances du FPPN. Calculs Adenka. Fichiers de précomptes</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86 : Tableau de bord des ratios de gestion, priorités 17 à 25</a:t>
            </a:r>
          </a:p>
        </p:txBody>
      </p:sp>
      <p:graphicFrame>
        <p:nvGraphicFramePr>
          <p:cNvPr id="32" name="Table 31"/>
          <p:cNvGraphicFramePr>
            <a:graphicFrameLocks noGrp="1"/>
          </p:cNvGraphicFramePr>
          <p:nvPr/>
        </p:nvGraphicFramePr>
        <p:xfrm>
          <a:off x="503999" y="1655999"/>
          <a:ext cx="11232000" cy="2359187"/>
        </p:xfrm>
        <a:graphic>
          <a:graphicData uri="http://schemas.openxmlformats.org/drawingml/2006/table">
            <a:tbl>
              <a:tblPr firstRow="0" bandRow="0">
                <a:tableStyleId>{5940675A-B579-460E-94D1-54222C63F5DA}</a:tableStyleId>
              </a:tblPr>
              <a:tblGrid>
                <a:gridCol w="324000"/>
                <a:gridCol w="3024000"/>
                <a:gridCol w="1728000"/>
                <a:gridCol w="972000"/>
                <a:gridCol w="972000"/>
                <a:gridCol w="972000"/>
                <a:gridCol w="972000"/>
                <a:gridCol w="1044000"/>
                <a:gridCol w="1224000"/>
              </a:tblGrid>
              <a:tr h="194768">
                <a:tc>
                  <a:txBody>
                    <a:bodyPr/>
                    <a:lstStyle/>
                    <a:p>
                      <a:pPr marL="0" indent="0" lvl="0">
                        <a:buNone/>
                      </a:pPr>
                      <a:r>
                        <a:rPr sz="900" b="1">
                          <a:solidFill>
                            <a:srgbClr val="FFFFFF"/>
                          </a:solidFill>
                          <a:latin typeface="Helvetica"/>
                        </a:rPr>
                        <a:t>N°</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Ratio</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Norme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2022</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2023</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2024</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2025</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2026 (8 mois)</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Statut</a:t>
                      </a:r>
                    </a:p>
                  </a:txBody>
                  <a:tcPr marL="43200" marR="43200" marT="14400" marB="14400" anchor="ctr">
                    <a:solidFill>
                      <a:srgbClr val="060606"/>
                    </a:solidFill>
                  </a:tcPr>
                </a:tc>
              </a:tr>
              <a:tr h="194768">
                <a:tc>
                  <a:txBody>
                    <a:bodyPr/>
                    <a:lstStyle/>
                    <a:p>
                      <a:pPr marL="0" indent="0" lvl="0">
                        <a:buNone/>
                      </a:pPr>
                      <a:r>
                        <a:rPr sz="900" b="1">
                          <a:solidFill>
                            <a:srgbClr val="060606"/>
                          </a:solidFill>
                          <a:latin typeface="Helvetica"/>
                        </a:rPr>
                        <a:t>17</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Taux des charges de fonctionnement</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Au plus 20 %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47,35 %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44,82 %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36,07 %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36,34 %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44,12 %</a:t>
                      </a:r>
                    </a:p>
                  </a:txBody>
                  <a:tcPr marL="43200" marR="43200" marT="14400" marB="14400" anchor="ctr">
                    <a:solidFill>
                      <a:srgbClr val="FFFFFF"/>
                    </a:solidFill>
                  </a:tcPr>
                </a:tc>
                <a:tc>
                  <a:txBody>
                    <a:bodyPr/>
                    <a:lstStyle/>
                    <a:p>
                      <a:pPr marL="0" indent="0" lvl="0">
                        <a:buNone/>
                      </a:pPr>
                      <a:r>
                        <a:rPr sz="900" b="1">
                          <a:solidFill>
                            <a:srgbClr val="FFFFFF"/>
                          </a:solidFill>
                          <a:latin typeface="Helvetica"/>
                        </a:rPr>
                        <a:t>Non conforme</a:t>
                      </a:r>
                    </a:p>
                  </a:txBody>
                  <a:tcPr marL="43200" marR="43200" marT="14400" marB="14400" anchor="ctr">
                    <a:solidFill>
                      <a:srgbClr val="C00000"/>
                    </a:solidFill>
                  </a:tcPr>
                </a:tc>
              </a:tr>
              <a:tr h="194768">
                <a:tc>
                  <a:txBody>
                    <a:bodyPr/>
                    <a:lstStyle/>
                    <a:p>
                      <a:pPr marL="0" indent="0" lvl="0">
                        <a:buNone/>
                      </a:pPr>
                      <a:r>
                        <a:rPr sz="900" b="1">
                          <a:solidFill>
                            <a:srgbClr val="060606"/>
                          </a:solidFill>
                          <a:latin typeface="Helvetica"/>
                        </a:rPr>
                        <a:t>18</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Taux des charges de fonctionnement brut</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Au plus 15 %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35,08 %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43,81 %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36,20 %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34,86 %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43,74 %</a:t>
                      </a:r>
                    </a:p>
                  </a:txBody>
                  <a:tcPr marL="43200" marR="43200" marT="14400" marB="14400" anchor="ctr">
                    <a:solidFill>
                      <a:srgbClr val="F2F2F2"/>
                    </a:solidFill>
                  </a:tcPr>
                </a:tc>
                <a:tc>
                  <a:txBody>
                    <a:bodyPr/>
                    <a:lstStyle/>
                    <a:p>
                      <a:pPr marL="0" indent="0" lvl="0">
                        <a:buNone/>
                      </a:pPr>
                      <a:r>
                        <a:rPr sz="900" b="1">
                          <a:solidFill>
                            <a:srgbClr val="FFFFFF"/>
                          </a:solidFill>
                          <a:latin typeface="Helvetica"/>
                        </a:rPr>
                        <a:t>Non conforme</a:t>
                      </a:r>
                    </a:p>
                  </a:txBody>
                  <a:tcPr marL="43200" marR="43200" marT="14400" marB="14400" anchor="ctr">
                    <a:solidFill>
                      <a:srgbClr val="C00000"/>
                    </a:solidFill>
                  </a:tcPr>
                </a:tc>
              </a:tr>
              <a:tr h="194768">
                <a:tc>
                  <a:txBody>
                    <a:bodyPr/>
                    <a:lstStyle/>
                    <a:p>
                      <a:pPr marL="0" indent="0" lvl="0">
                        <a:buNone/>
                      </a:pPr>
                      <a:r>
                        <a:rPr sz="900" b="1">
                          <a:solidFill>
                            <a:srgbClr val="060606"/>
                          </a:solidFill>
                          <a:latin typeface="Helvetica"/>
                        </a:rPr>
                        <a:t>19</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Coût par unité monétaire prestée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Au plus 15 %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522,78 %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182,49 %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89,40 %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63,21 %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58,67 %</a:t>
                      </a:r>
                    </a:p>
                  </a:txBody>
                  <a:tcPr marL="43200" marR="43200" marT="14400" marB="14400" anchor="ctr">
                    <a:solidFill>
                      <a:srgbClr val="FFFFFF"/>
                    </a:solidFill>
                  </a:tcPr>
                </a:tc>
                <a:tc>
                  <a:txBody>
                    <a:bodyPr/>
                    <a:lstStyle/>
                    <a:p>
                      <a:pPr marL="0" indent="0" lvl="0">
                        <a:buNone/>
                      </a:pPr>
                      <a:r>
                        <a:rPr sz="900" b="1">
                          <a:solidFill>
                            <a:srgbClr val="FFFFFF"/>
                          </a:solidFill>
                          <a:latin typeface="Helvetica"/>
                        </a:rPr>
                        <a:t>Non conforme</a:t>
                      </a:r>
                    </a:p>
                  </a:txBody>
                  <a:tcPr marL="43200" marR="43200" marT="14400" marB="14400" anchor="ctr">
                    <a:solidFill>
                      <a:srgbClr val="C00000"/>
                    </a:solidFill>
                  </a:tcPr>
                </a:tc>
              </a:tr>
              <a:tr h="194768">
                <a:tc>
                  <a:txBody>
                    <a:bodyPr/>
                    <a:lstStyle/>
                    <a:p>
                      <a:pPr marL="0" indent="0" lvl="0">
                        <a:buNone/>
                      </a:pPr>
                      <a:r>
                        <a:rPr sz="900" b="1">
                          <a:solidFill>
                            <a:srgbClr val="060606"/>
                          </a:solidFill>
                          <a:latin typeface="Helvetica"/>
                        </a:rPr>
                        <a:t>20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Taux de charges de personnel</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Au plus 85 %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19,26 %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23,21 %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24,83 %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26,57 %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25,83 %</a:t>
                      </a:r>
                    </a:p>
                  </a:txBody>
                  <a:tcPr marL="43200" marR="43200" marT="14400" marB="14400" anchor="ctr">
                    <a:solidFill>
                      <a:srgbClr val="F2F2F2"/>
                    </a:solidFill>
                  </a:tcPr>
                </a:tc>
                <a:tc>
                  <a:txBody>
                    <a:bodyPr/>
                    <a:lstStyle/>
                    <a:p>
                      <a:pPr marL="0" indent="0" lvl="0">
                        <a:buNone/>
                      </a:pPr>
                      <a:r>
                        <a:rPr sz="900" b="1">
                          <a:solidFill>
                            <a:srgbClr val="060606"/>
                          </a:solidFill>
                          <a:latin typeface="Helvetica"/>
                        </a:rPr>
                        <a:t>Conforme</a:t>
                      </a:r>
                    </a:p>
                  </a:txBody>
                  <a:tcPr marL="43200" marR="43200" marT="14400" marB="14400" anchor="ctr">
                    <a:solidFill>
                      <a:srgbClr val="70AD47"/>
                    </a:solidFill>
                  </a:tcPr>
                </a:tc>
              </a:tr>
              <a:tr h="194768">
                <a:tc>
                  <a:txBody>
                    <a:bodyPr/>
                    <a:lstStyle/>
                    <a:p>
                      <a:pPr marL="0" indent="0" lvl="0">
                        <a:buNone/>
                      </a:pPr>
                      <a:r>
                        <a:rPr sz="900" b="1">
                          <a:solidFill>
                            <a:srgbClr val="060606"/>
                          </a:solidFill>
                          <a:latin typeface="Helvetica"/>
                        </a:rPr>
                        <a:t>22</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Taux de fidélisation</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Au moins 80 %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n.d.</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n.d.</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n.d.</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96,49 %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97,83 %</a:t>
                      </a:r>
                    </a:p>
                  </a:txBody>
                  <a:tcPr marL="43200" marR="43200" marT="14400" marB="14400" anchor="ctr">
                    <a:solidFill>
                      <a:srgbClr val="FFFFFF"/>
                    </a:solidFill>
                  </a:tcPr>
                </a:tc>
                <a:tc>
                  <a:txBody>
                    <a:bodyPr/>
                    <a:lstStyle/>
                    <a:p>
                      <a:pPr marL="0" indent="0" lvl="0">
                        <a:buNone/>
                      </a:pPr>
                      <a:r>
                        <a:rPr sz="900" b="1">
                          <a:solidFill>
                            <a:srgbClr val="060606"/>
                          </a:solidFill>
                          <a:latin typeface="Helvetica"/>
                        </a:rPr>
                        <a:t>Conforme</a:t>
                      </a:r>
                    </a:p>
                  </a:txBody>
                  <a:tcPr marL="43200" marR="43200" marT="14400" marB="14400" anchor="ctr">
                    <a:solidFill>
                      <a:srgbClr val="70AD47"/>
                    </a:solidFill>
                  </a:tcPr>
                </a:tc>
              </a:tr>
              <a:tr h="331937">
                <a:tc>
                  <a:txBody>
                    <a:bodyPr/>
                    <a:lstStyle/>
                    <a:p>
                      <a:pPr marL="0" indent="0" lvl="0">
                        <a:buNone/>
                      </a:pPr>
                      <a:r>
                        <a:rPr sz="900" b="1">
                          <a:solidFill>
                            <a:srgbClr val="060606"/>
                          </a:solidFill>
                          <a:latin typeface="Helvetica"/>
                        </a:rPr>
                        <a:t>23</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Délai moyen de paiement des prestataires de soins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Délai contractuel</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841 jours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145 jours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68 jours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45 jours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93 jours</a:t>
                      </a:r>
                    </a:p>
                  </a:txBody>
                  <a:tcPr marL="43200" marR="43200" marT="14400" marB="14400" anchor="ctr">
                    <a:solidFill>
                      <a:srgbClr val="F2F2F2"/>
                    </a:solidFill>
                  </a:tcPr>
                </a:tc>
                <a:tc>
                  <a:txBody>
                    <a:bodyPr/>
                    <a:lstStyle/>
                    <a:p>
                      <a:pPr marL="0" indent="0" lvl="0">
                        <a:buNone/>
                      </a:pPr>
                      <a:r>
                        <a:rPr sz="900" b="1">
                          <a:solidFill>
                            <a:srgbClr val="060606"/>
                          </a:solidFill>
                          <a:latin typeface="Helvetica"/>
                        </a:rPr>
                        <a:t>À apprécier</a:t>
                      </a:r>
                    </a:p>
                  </a:txBody>
                  <a:tcPr marL="43200" marR="43200" marT="14400" marB="14400" anchor="ctr">
                    <a:solidFill>
                      <a:srgbClr val="FFD966"/>
                    </a:solidFill>
                  </a:tcPr>
                </a:tc>
              </a:tr>
              <a:tr h="194768">
                <a:tc>
                  <a:txBody>
                    <a:bodyPr/>
                    <a:lstStyle/>
                    <a:p>
                      <a:pPr marL="0" indent="0" lvl="0">
                        <a:buNone/>
                      </a:pPr>
                      <a:r>
                        <a:rPr sz="900" b="1">
                          <a:solidFill>
                            <a:srgbClr val="060606"/>
                          </a:solidFill>
                          <a:latin typeface="Helvetica"/>
                        </a:rPr>
                        <a:t>24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Taux d'investissement brut en formation</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Au plus 3 %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0,01 %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0,19 %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0,04 %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0,75 %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0,04 %</a:t>
                      </a:r>
                    </a:p>
                  </a:txBody>
                  <a:tcPr marL="43200" marR="43200" marT="14400" marB="14400" anchor="ctr">
                    <a:solidFill>
                      <a:srgbClr val="FFFFFF"/>
                    </a:solidFill>
                  </a:tcPr>
                </a:tc>
                <a:tc>
                  <a:txBody>
                    <a:bodyPr/>
                    <a:lstStyle/>
                    <a:p>
                      <a:pPr marL="0" indent="0" lvl="0">
                        <a:buNone/>
                      </a:pPr>
                      <a:r>
                        <a:rPr sz="900" b="1">
                          <a:solidFill>
                            <a:srgbClr val="060606"/>
                          </a:solidFill>
                          <a:latin typeface="Helvetica"/>
                        </a:rPr>
                        <a:t>Conforme</a:t>
                      </a:r>
                    </a:p>
                  </a:txBody>
                  <a:tcPr marL="43200" marR="43200" marT="14400" marB="14400" anchor="ctr">
                    <a:solidFill>
                      <a:srgbClr val="70AD47"/>
                    </a:solidFill>
                  </a:tcPr>
                </a:tc>
              </a:tr>
              <a:tr h="331937">
                <a:tc>
                  <a:txBody>
                    <a:bodyPr/>
                    <a:lstStyle/>
                    <a:p>
                      <a:pPr marL="0" indent="0" lvl="0">
                        <a:buNone/>
                      </a:pPr>
                      <a:r>
                        <a:rPr sz="900" b="1">
                          <a:solidFill>
                            <a:srgbClr val="060606"/>
                          </a:solidFill>
                          <a:latin typeface="Helvetica"/>
                        </a:rPr>
                        <a:t>25</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Taux de croissance brute des bénéficiaires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Objectif du plan de développement stratégique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n.d.</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n.d.</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n.d.</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10,73 %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n.d.</a:t>
                      </a:r>
                    </a:p>
                  </a:txBody>
                  <a:tcPr marL="43200" marR="43200" marT="14400" marB="14400" anchor="ctr">
                    <a:solidFill>
                      <a:srgbClr val="F2F2F2"/>
                    </a:solidFill>
                  </a:tcPr>
                </a:tc>
                <a:tc>
                  <a:txBody>
                    <a:bodyPr/>
                    <a:lstStyle/>
                    <a:p>
                      <a:pPr marL="0" indent="0" lvl="0">
                        <a:buNone/>
                      </a:pPr>
                      <a:r>
                        <a:rPr sz="900" b="1">
                          <a:solidFill>
                            <a:srgbClr val="060606"/>
                          </a:solidFill>
                          <a:latin typeface="Helvetica"/>
                        </a:rPr>
                        <a:t>À apprécier</a:t>
                      </a:r>
                    </a:p>
                  </a:txBody>
                  <a:tcPr marL="43200" marR="43200" marT="14400" marB="14400" anchor="ctr">
                    <a:solidFill>
                      <a:srgbClr val="FFD966"/>
                    </a:solidFill>
                  </a:tcPr>
                </a:tc>
              </a:tr>
              <a:tr h="331937">
                <a:tc>
                  <a:txBody>
                    <a:bodyPr/>
                    <a:lstStyle/>
                    <a:p>
                      <a:pPr marL="0" indent="0" lvl="0">
                        <a:buNone/>
                      </a:pPr>
                      <a:r>
                        <a:rPr sz="900" b="1">
                          <a:solidFill>
                            <a:srgbClr val="060606"/>
                          </a:solidFill>
                          <a:latin typeface="Helvetica"/>
                        </a:rPr>
                        <a:t>21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Taux de recouvrement des cotisations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Au moins 90 %</a:t>
                      </a:r>
                    </a:p>
                  </a:txBody>
                  <a:tcPr marL="43200" marR="43200" marT="14400" marB="14400" anchor="ctr">
                    <a:solidFill>
                      <a:srgbClr val="FFFFFF"/>
                    </a:solidFill>
                  </a:tcPr>
                </a:tc>
                <a:tc>
                  <a:txBody>
                    <a:bodyPr/>
                    <a:lstStyle/>
                    <a:p>
                      <a:pPr marL="0" indent="0" lvl="0">
                        <a:buNone/>
                      </a:pPr>
                    </a:p>
                  </a:txBody>
                  <a:tcPr marL="43200" marR="43200" marT="14400" marB="14400" anchor="ctr">
                    <a:solidFill>
                      <a:srgbClr val="FFFFFF"/>
                    </a:solidFill>
                  </a:tcPr>
                </a:tc>
                <a:tc>
                  <a:txBody>
                    <a:bodyPr/>
                    <a:lstStyle/>
                    <a:p>
                      <a:pPr marL="0" indent="0" lvl="0">
                        <a:buNone/>
                      </a:pPr>
                    </a:p>
                  </a:txBody>
                  <a:tcPr marL="43200" marR="43200" marT="14400" marB="14400" anchor="ctr">
                    <a:solidFill>
                      <a:srgbClr val="FFFFFF"/>
                    </a:solidFill>
                  </a:tcPr>
                </a:tc>
                <a:tc>
                  <a:txBody>
                    <a:bodyPr/>
                    <a:lstStyle/>
                    <a:p>
                      <a:pPr marL="0" indent="0" lvl="0">
                        <a:buNone/>
                      </a:pP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100,19 %</a:t>
                      </a:r>
                    </a:p>
                  </a:txBody>
                  <a:tcPr marL="43200" marR="43200" marT="14400" marB="14400" anchor="ctr">
                    <a:solidFill>
                      <a:srgbClr val="FFFFFF"/>
                    </a:solidFill>
                  </a:tcPr>
                </a:tc>
                <a:tc>
                  <a:txBody>
                    <a:bodyPr/>
                    <a:lstStyle/>
                    <a:p>
                      <a:pPr marL="0" indent="0" lvl="0">
                        <a:buNone/>
                      </a:pPr>
                    </a:p>
                  </a:txBody>
                  <a:tcPr marL="43200" marR="43200" marT="14400" marB="14400" anchor="ctr">
                    <a:solidFill>
                      <a:srgbClr val="FFFFFF"/>
                    </a:solidFill>
                  </a:tcPr>
                </a:tc>
                <a:tc>
                  <a:txBody>
                    <a:bodyPr/>
                    <a:lstStyle/>
                    <a:p>
                      <a:pPr marL="0" indent="0" lvl="0">
                        <a:buNone/>
                      </a:pPr>
                      <a:r>
                        <a:rPr sz="900" b="1">
                          <a:solidFill>
                            <a:srgbClr val="060606"/>
                          </a:solidFill>
                          <a:latin typeface="Helvetica"/>
                        </a:rPr>
                        <a:t>Conforme (retraités)</a:t>
                      </a:r>
                    </a:p>
                  </a:txBody>
                  <a:tcPr marL="43200" marR="43200" marT="14400" marB="14400" anchor="ctr">
                    <a:solidFill>
                      <a:srgbClr val="70AD47"/>
                    </a:solidFill>
                  </a:tcPr>
                </a:tc>
              </a:tr>
            </a:tbl>
          </a:graphicData>
        </a:graphic>
      </p:graphicFrame>
      <p:graphicFrame>
        <p:nvGraphicFramePr>
          <p:cNvPr id="33" name="Table 32"/>
          <p:cNvGraphicFramePr>
            <a:graphicFrameLocks noGrp="1"/>
          </p:cNvGraphicFramePr>
          <p:nvPr/>
        </p:nvGraphicFramePr>
        <p:xfrm>
          <a:off x="503999" y="4223535"/>
          <a:ext cx="11232000" cy="151200"/>
        </p:xfrm>
        <a:graphic>
          <a:graphicData uri="http://schemas.openxmlformats.org/drawingml/2006/table">
            <a:tbl>
              <a:tblPr firstRow="0" bandRow="0">
                <a:tableStyleId>{5C22544A-7EE6-4342-B048-85BDC9FD1C3A}</a:tableStyleId>
              </a:tblPr>
              <a:tblGrid>
                <a:gridCol w="792000"/>
                <a:gridCol w="936000"/>
                <a:gridCol w="2544000"/>
                <a:gridCol w="936000"/>
                <a:gridCol w="2544000"/>
                <a:gridCol w="936000"/>
                <a:gridCol w="2544000"/>
              </a:tblGrid>
              <a:tr h="151200">
                <a:tc>
                  <a:txBody>
                    <a:bodyPr/>
                    <a:lstStyle/>
                    <a:p>
                      <a:r>
                        <a:rPr sz="700" b="1">
                          <a:solidFill>
                            <a:srgbClr val="060606"/>
                          </a:solidFill>
                          <a:latin typeface="Helvetica"/>
                        </a:rPr>
                        <a:t>Code couleur</a:t>
                      </a:r>
                    </a:p>
                  </a:txBody>
                  <a:tcPr marL="28800" marR="28800" marT="3600" marB="3600" anchor="ctr">
                    <a:solidFill>
                      <a:srgbClr val="FFFFFF"/>
                    </a:solidFill>
                  </a:tcPr>
                </a:tc>
                <a:tc>
                  <a:txBody>
                    <a:bodyPr/>
                    <a:lstStyle/>
                    <a:p>
                      <a:r>
                        <a:rPr sz="700" b="1">
                          <a:solidFill>
                            <a:srgbClr val="FFFFFF"/>
                          </a:solidFill>
                          <a:latin typeface="Helvetica"/>
                        </a:rPr>
                        <a:t>Non conforme</a:t>
                      </a:r>
                    </a:p>
                  </a:txBody>
                  <a:tcPr marL="28800" marR="28800" marT="3600" marB="3600" anchor="ctr">
                    <a:solidFill>
                      <a:srgbClr val="C00000"/>
                    </a:solidFill>
                  </a:tcPr>
                </a:tc>
                <a:tc>
                  <a:txBody>
                    <a:bodyPr/>
                    <a:lstStyle/>
                    <a:p>
                      <a:r>
                        <a:rPr sz="700" b="0">
                          <a:solidFill>
                            <a:srgbClr val="060606"/>
                          </a:solidFill>
                          <a:latin typeface="Helvetica"/>
                        </a:rPr>
                        <a:t>norme non respectée</a:t>
                      </a:r>
                    </a:p>
                  </a:txBody>
                  <a:tcPr marL="28800" marR="28800" marT="3600" marB="3600" anchor="ctr">
                    <a:solidFill>
                      <a:srgbClr val="FFFFFF"/>
                    </a:solidFill>
                  </a:tcPr>
                </a:tc>
                <a:tc>
                  <a:txBody>
                    <a:bodyPr/>
                    <a:lstStyle/>
                    <a:p>
                      <a:r>
                        <a:rPr sz="700" b="1">
                          <a:solidFill>
                            <a:srgbClr val="060606"/>
                          </a:solidFill>
                          <a:latin typeface="Helvetica"/>
                        </a:rPr>
                        <a:t>Conforme</a:t>
                      </a:r>
                    </a:p>
                  </a:txBody>
                  <a:tcPr marL="28800" marR="28800" marT="3600" marB="3600" anchor="ctr">
                    <a:solidFill>
                      <a:srgbClr val="70AD47"/>
                    </a:solidFill>
                  </a:tcPr>
                </a:tc>
                <a:tc>
                  <a:txBody>
                    <a:bodyPr/>
                    <a:lstStyle/>
                    <a:p>
                      <a:r>
                        <a:rPr sz="700" b="0">
                          <a:solidFill>
                            <a:srgbClr val="060606"/>
                          </a:solidFill>
                          <a:latin typeface="Helvetica"/>
                        </a:rPr>
                        <a:t>norme respectée</a:t>
                      </a:r>
                    </a:p>
                  </a:txBody>
                  <a:tcPr marL="28800" marR="28800" marT="3600" marB="3600" anchor="ctr">
                    <a:solidFill>
                      <a:srgbClr val="FFFFFF"/>
                    </a:solidFill>
                  </a:tcPr>
                </a:tc>
                <a:tc>
                  <a:txBody>
                    <a:bodyPr/>
                    <a:lstStyle/>
                    <a:p>
                      <a:r>
                        <a:rPr sz="700" b="1">
                          <a:solidFill>
                            <a:srgbClr val="060606"/>
                          </a:solidFill>
                          <a:latin typeface="Helvetica"/>
                        </a:rPr>
                        <a:t>À apprécier</a:t>
                      </a:r>
                    </a:p>
                  </a:txBody>
                  <a:tcPr marL="28800" marR="28800" marT="3600" marB="3600" anchor="ctr">
                    <a:solidFill>
                      <a:srgbClr val="FFD966"/>
                    </a:solidFill>
                  </a:tcPr>
                </a:tc>
                <a:tc>
                  <a:txBody>
                    <a:bodyPr/>
                    <a:lstStyle/>
                    <a:p>
                      <a:r>
                        <a:rPr sz="700" b="0">
                          <a:solidFill>
                            <a:srgbClr val="060606"/>
                          </a:solidFill>
                          <a:latin typeface="Helvetica"/>
                        </a:rPr>
                        <a:t>norme non chiffrée</a:t>
                      </a:r>
                    </a:p>
                  </a:txBody>
                  <a:tcPr marL="28800" marR="28800" marT="3600" marB="3600" anchor="ctr">
                    <a:solidFill>
                      <a:srgbClr val="FFFFFF"/>
                    </a:solidFill>
                  </a:tcPr>
                </a:tc>
              </a:tr>
            </a:tbl>
          </a:graphicData>
        </a:graphic>
      </p:graphicFrame>
      <p:sp>
        <p:nvSpPr>
          <p:cNvPr id="34" name="TextBox 33"/>
          <p:cNvSpPr txBox="1"/>
          <p:nvPr/>
        </p:nvSpPr>
        <p:spPr>
          <a:xfrm>
            <a:off x="503999" y="4482735"/>
            <a:ext cx="11232000" cy="306000"/>
          </a:xfrm>
          <a:prstGeom prst="rect">
            <a:avLst/>
          </a:prstGeom>
          <a:noFill/>
        </p:spPr>
        <p:txBody>
          <a:bodyPr wrap="square" anchor="t" lIns="54000" rIns="54000"/>
          <a:lstStyle/>
          <a:p>
            <a:pPr algn="l"/>
            <a:r>
              <a:rPr sz="850" b="0">
                <a:solidFill>
                  <a:srgbClr val="53565A"/>
                </a:solidFill>
                <a:latin typeface="Helvetica"/>
              </a:rPr>
              <a:t>Valable pour : ratios de la Décision n° 05/2022 recalculés sur les balances « BALANCE FORMAT EXCEL DE 09-2020 AU 31-12-2020.xlsx » à « BALANCE FPPN DU 01-01-2026 AU 31-08-2026.xlsx » et des fichiers de précomptes (mois reçus). Statut opposable de 2022 à 2025.</a:t>
            </a:r>
          </a:p>
        </p:txBody>
      </p:sp>
      <p:sp>
        <p:nvSpPr>
          <p:cNvPr id="35" name="TextBox 34"/>
          <p:cNvSpPr txBox="1"/>
          <p:nvPr/>
        </p:nvSpPr>
        <p:spPr>
          <a:xfrm>
            <a:off x="503999" y="4932735"/>
            <a:ext cx="11232000" cy="935264"/>
          </a:xfrm>
          <a:prstGeom prst="rect">
            <a:avLst/>
          </a:prstGeom>
          <a:noFill/>
        </p:spPr>
        <p:txBody>
          <a:bodyPr wrap="square" lIns="54000" rIns="54000"/>
          <a:lstStyle/>
          <a:p>
            <a:pPr algn="just">
              <a:spcAft>
                <a:spcPts val="600"/>
              </a:spcAft>
            </a:pPr>
            <a:r>
              <a:rPr sz="1200" b="1">
                <a:solidFill>
                  <a:srgbClr val="060606"/>
                </a:solidFill>
                <a:latin typeface="Helvetica"/>
              </a:rPr>
              <a:t>Les trois ratios de frais sont non conformes chaque année.</a:t>
            </a:r>
            <a:r>
              <a:rPr sz="1200" b="0">
                <a:solidFill>
                  <a:srgbClr val="060606"/>
                </a:solidFill>
                <a:latin typeface="Helvetica"/>
              </a:rPr>
              <a:t> Les frais de fonctionnement absorbent plus d'un tiers des cotisations, contre 20 % au plus selon la norme.</a:t>
            </a:r>
          </a:p>
          <a:p>
            <a:pPr algn="just">
              <a:spcAft>
                <a:spcPts val="600"/>
              </a:spcAft>
            </a:pPr>
            <a:r>
              <a:rPr sz="1200" b="0">
                <a:solidFill>
                  <a:srgbClr val="060606"/>
                </a:solidFill>
                <a:latin typeface="Helvetica"/>
              </a:rPr>
              <a:t>La baisse du coût par unité prestée vient surtout de la hausse des prestations, pas d'une baisse des frais : le FPPN doit présenter un plan de réduction des charges de fonctionnement.</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a:t>
            </a:r>
          </a:p>
        </p:txBody>
      </p:sp>
    </p:spTree>
    <p:extLst>
      <p:ext uri="{BB962C8B-B14F-4D97-AF65-F5344CB8AC3E}">
        <p14:creationId xmlns:p14="http://schemas.microsoft.com/office/powerpoint/2010/main" val="352242840"/>
      </p:ext>
    </p:extLst>
  </p:cSld>
  <p:clrMapOvr>
    <a:masterClrMapping/>
  </p:clrMapOvr>
  <p:transition>
    <p:fade/>
  </p:transition>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Tableau de bord (4/4) : données en attente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Onze indicateurs attendent des documents de gestion ou de gouvernance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Ces indicateurs ne sont pas exclus : ils seront calculés dès réception des pièces demandées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Décision n° 05/2022/COM/UEMOA du 1er juin 2022, annexe. Règlement d'exécution n° 004/2022/COM/UEMOA du 1er juin 2022. Règlement n° 07/2009/CM/UEMOA du 26 juin 2009. Balances du FPPN. Calculs Adenka. Liste des documents demandés (PBC)</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87 : Indicateurs en attente de documents, priorités 26 à 36</a:t>
            </a:r>
          </a:p>
        </p:txBody>
      </p:sp>
      <p:graphicFrame>
        <p:nvGraphicFramePr>
          <p:cNvPr id="32" name="Table 31"/>
          <p:cNvGraphicFramePr>
            <a:graphicFrameLocks noGrp="1"/>
          </p:cNvGraphicFramePr>
          <p:nvPr/>
        </p:nvGraphicFramePr>
        <p:xfrm>
          <a:off x="503999" y="1655999"/>
          <a:ext cx="11232000" cy="3023061"/>
        </p:xfrm>
        <a:graphic>
          <a:graphicData uri="http://schemas.openxmlformats.org/drawingml/2006/table">
            <a:tbl>
              <a:tblPr firstRow="0" bandRow="0">
                <a:tableStyleId>{5940675A-B579-460E-94D1-54222C63F5DA}</a:tableStyleId>
              </a:tblPr>
              <a:tblGrid>
                <a:gridCol w="324000"/>
                <a:gridCol w="3960000"/>
                <a:gridCol w="2160000"/>
                <a:gridCol w="4788000"/>
              </a:tblGrid>
              <a:tr h="194768">
                <a:tc>
                  <a:txBody>
                    <a:bodyPr/>
                    <a:lstStyle/>
                    <a:p>
                      <a:pPr marL="0" indent="0" lvl="0">
                        <a:buNone/>
                      </a:pPr>
                      <a:r>
                        <a:rPr sz="900" b="1">
                          <a:solidFill>
                            <a:srgbClr val="FFFFFF"/>
                          </a:solidFill>
                          <a:latin typeface="Helvetica"/>
                        </a:rPr>
                        <a:t>N°</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Indicateur</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Norme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Pièce à obtenir</a:t>
                      </a:r>
                    </a:p>
                  </a:txBody>
                  <a:tcPr marL="43200" marR="43200" marT="14400" marB="14400" anchor="ctr">
                    <a:solidFill>
                      <a:srgbClr val="060606"/>
                    </a:solidFill>
                  </a:tcPr>
                </a:tc>
              </a:tr>
              <a:tr h="331937">
                <a:tc>
                  <a:txBody>
                    <a:bodyPr/>
                    <a:lstStyle/>
                    <a:p>
                      <a:pPr marL="0" indent="0" lvl="0">
                        <a:buNone/>
                      </a:pPr>
                      <a:r>
                        <a:rPr sz="900" b="1">
                          <a:solidFill>
                            <a:srgbClr val="060606"/>
                          </a:solidFill>
                          <a:latin typeface="Helvetica"/>
                        </a:rPr>
                        <a:t>26</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Ratio bénéficiaire-adhérent</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Objectif du plan de développement stratégique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Fichier des ayants droit non transmis.</a:t>
                      </a:r>
                    </a:p>
                  </a:txBody>
                  <a:tcPr marL="43200" marR="43200" marT="14400" marB="14400" anchor="ctr">
                    <a:solidFill>
                      <a:srgbClr val="FFFFFF"/>
                    </a:solidFill>
                  </a:tcPr>
                </a:tc>
              </a:tr>
              <a:tr h="331937">
                <a:tc>
                  <a:txBody>
                    <a:bodyPr/>
                    <a:lstStyle/>
                    <a:p>
                      <a:pPr marL="0" indent="0" lvl="0">
                        <a:buNone/>
                      </a:pPr>
                      <a:r>
                        <a:rPr sz="900" b="1">
                          <a:solidFill>
                            <a:srgbClr val="060606"/>
                          </a:solidFill>
                          <a:latin typeface="Helvetica"/>
                        </a:rPr>
                        <a:t>27</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Taux de pénétration</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Objectif du plan de développement stratégique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Effectif total de la Police nationale non transmis.</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28</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Taux de prestations indues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Au plus 2 %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Rapports de contrôle a posteriori non transmis.</a:t>
                      </a:r>
                    </a:p>
                  </a:txBody>
                  <a:tcPr marL="43200" marR="43200" marT="14400" marB="14400" anchor="ctr">
                    <a:solidFill>
                      <a:srgbClr val="FFFFFF"/>
                    </a:solidFill>
                  </a:tcPr>
                </a:tc>
              </a:tr>
              <a:tr h="331937">
                <a:tc>
                  <a:txBody>
                    <a:bodyPr/>
                    <a:lstStyle/>
                    <a:p>
                      <a:pPr marL="0" indent="0" lvl="0">
                        <a:buNone/>
                      </a:pPr>
                      <a:r>
                        <a:rPr sz="900" b="1">
                          <a:solidFill>
                            <a:srgbClr val="060606"/>
                          </a:solidFill>
                          <a:latin typeface="Helvetica"/>
                        </a:rPr>
                        <a:t>29</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Ratio de contrôle a posteriori</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Au moins 5 % (10 % pour les risques longs)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Registre des contrôles non transmis.</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30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Délai de liquidation des premières demandes (risques longs)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Au plus 30 jours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Dossiers de prestations avec dates non transmis.</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31</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Restes à traiter en fin de période (risques longs)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Au plus 5 %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Dossiers de prestations avec statut non transmis.</a:t>
                      </a:r>
                    </a:p>
                  </a:txBody>
                  <a:tcPr marL="43200" marR="43200" marT="14400" marB="14400" anchor="ctr">
                    <a:solidFill>
                      <a:srgbClr val="F2F2F2"/>
                    </a:solidFill>
                  </a:tcPr>
                </a:tc>
              </a:tr>
              <a:tr h="331937">
                <a:tc>
                  <a:txBody>
                    <a:bodyPr/>
                    <a:lstStyle/>
                    <a:p>
                      <a:pPr marL="0" indent="0" lvl="0">
                        <a:buNone/>
                      </a:pPr>
                      <a:r>
                        <a:rPr sz="900" b="1">
                          <a:solidFill>
                            <a:srgbClr val="060606"/>
                          </a:solidFill>
                          <a:latin typeface="Helvetica"/>
                        </a:rPr>
                        <a:t>32</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Délai de remise en banque des titres de paiement (risques longs)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Au plus 1 jour</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Registre des encaissements non transmis.</a:t>
                      </a:r>
                    </a:p>
                  </a:txBody>
                  <a:tcPr marL="43200" marR="43200" marT="14400" marB="14400" anchor="ctr">
                    <a:solidFill>
                      <a:srgbClr val="FFFFFF"/>
                    </a:solidFill>
                  </a:tcPr>
                </a:tc>
              </a:tr>
              <a:tr h="331937">
                <a:tc>
                  <a:txBody>
                    <a:bodyPr/>
                    <a:lstStyle/>
                    <a:p>
                      <a:pPr marL="0" indent="0" lvl="0">
                        <a:buNone/>
                      </a:pPr>
                      <a:r>
                        <a:rPr sz="900" b="1">
                          <a:solidFill>
                            <a:srgbClr val="060606"/>
                          </a:solidFill>
                          <a:latin typeface="Helvetica"/>
                        </a:rPr>
                        <a:t>33</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Taux de règlement de la cotisation au Fonds national de garantie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100 %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Aucun compte FNG (FOMUS-CI) dans les balances : adhésion et cotisation à confirmer.</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34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Taux de tenue des réunions des organes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100 %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Procès-verbaux non transmis.</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35</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Existence et tenue des outils de suivi administratif</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Existence et tenue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Contrôle sur place, hors du champ des données reçues.</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36</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Existence et tenue des outils de suivi comptable et financier</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Existence et tenue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Contrôle sur place, hors du champ des données reçues.</a:t>
                      </a:r>
                    </a:p>
                  </a:txBody>
                  <a:tcPr marL="43200" marR="43200" marT="14400" marB="14400" anchor="ctr">
                    <a:solidFill>
                      <a:srgbClr val="FFFFFF"/>
                    </a:solidFill>
                  </a:tcPr>
                </a:tc>
              </a:tr>
            </a:tbl>
          </a:graphicData>
        </a:graphic>
      </p:graphicFrame>
      <p:sp>
        <p:nvSpPr>
          <p:cNvPr id="33" name="TextBox 32"/>
          <p:cNvSpPr txBox="1"/>
          <p:nvPr/>
        </p:nvSpPr>
        <p:spPr>
          <a:xfrm>
            <a:off x="503999" y="4787066"/>
            <a:ext cx="11232000" cy="162000"/>
          </a:xfrm>
          <a:prstGeom prst="rect">
            <a:avLst/>
          </a:prstGeom>
          <a:noFill/>
        </p:spPr>
        <p:txBody>
          <a:bodyPr wrap="square" anchor="t" lIns="54000" rIns="54000"/>
          <a:lstStyle/>
          <a:p>
            <a:pPr algn="l"/>
            <a:r>
              <a:rPr sz="850" b="0">
                <a:solidFill>
                  <a:srgbClr val="53565A"/>
                </a:solidFill>
                <a:latin typeface="Helvetica"/>
              </a:rPr>
              <a:t>Valable pour : indicateurs de la Décision n° 05/2022 non calculables avec les documents reçus au 22/10/2026. Numéros de la PBC.</a:t>
            </a:r>
          </a:p>
        </p:txBody>
      </p:sp>
      <p:sp>
        <p:nvSpPr>
          <p:cNvPr id="34" name="TextBox 33"/>
          <p:cNvSpPr txBox="1"/>
          <p:nvPr/>
        </p:nvSpPr>
        <p:spPr>
          <a:xfrm>
            <a:off x="503999" y="5093066"/>
            <a:ext cx="11232000" cy="774933"/>
          </a:xfrm>
          <a:prstGeom prst="rect">
            <a:avLst/>
          </a:prstGeom>
          <a:noFill/>
        </p:spPr>
        <p:txBody>
          <a:bodyPr wrap="square" lIns="54000" rIns="54000"/>
          <a:lstStyle/>
          <a:p>
            <a:pPr algn="just">
              <a:spcAft>
                <a:spcPts val="600"/>
              </a:spcAft>
            </a:pPr>
            <a:r>
              <a:rPr sz="1300" b="1">
                <a:solidFill>
                  <a:srgbClr val="060606"/>
                </a:solidFill>
                <a:latin typeface="Helvetica"/>
              </a:rPr>
              <a:t>L'absence de compte du fonds national de garantie dans les balances est le point le plus sensible.</a:t>
            </a:r>
            <a:r>
              <a:rPr sz="1300" b="0">
                <a:solidFill>
                  <a:srgbClr val="060606"/>
                </a:solidFill>
                <a:latin typeface="Helvetica"/>
              </a:rPr>
              <a:t> L'adhésion au fonds est obligatoire (règlement n° 07/2009, art. 63), et son défaut est sanctionné (arrêté n° 00115/MEPS/CAB, ligne 8).</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Sigles : FPPN : Fonds de prévoyance de la Police nationale | UEMOA : Union économique et monétaire ouest-africaine | S/C : prestations / cotisations | PBC : liste des documents demandés au client | FNG : fonds national de garantie | FOMUS-CI : fonds de garantie des mutuelles sociales de Côte d'Ivoire | MEPS : ministère de l'Emploi et de la Protection sociale</a:t>
            </a:r>
          </a:p>
        </p:txBody>
      </p:sp>
    </p:spTree>
    <p:extLst>
      <p:ext uri="{BB962C8B-B14F-4D97-AF65-F5344CB8AC3E}">
        <p14:creationId xmlns:p14="http://schemas.microsoft.com/office/powerpoint/2010/main" val="2156324755"/>
      </p:ext>
    </p:extLst>
  </p:cSld>
  <p:clrMapOvr>
    <a:masterClrMapping/>
  </p:clrMapOvr>
  <p:transition>
    <p:fade/>
  </p:transition>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Liquidité et équilibre : deux lectures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classement de l'épargne décide de la conformité de la liquidité et de l'équilibre stable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Liquidité 2025 : 0,13 comme le FPPN, 1,15 retraitée. Équilibre stable 2025 : 1,54 et 0,94</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34 : Liquidité et équilibre stable, comme le FPPN et retraités</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Ratio (sans unité)</a:t>
            </a:r>
          </a:p>
        </p:txBody>
      </p:sp>
      <p:graphicFrame>
        <p:nvGraphicFramePr>
          <p:cNvPr id="32" name="Chart 31"/>
          <p:cNvGraphicFramePr>
            <a:graphicFrameLocks noGrp="1"/>
          </p:cNvGraphicFramePr>
          <p:nvPr/>
        </p:nvGraphicFramePr>
        <p:xfrm>
          <a:off x="503999" y="1782000"/>
          <a:ext cx="6552000" cy="3600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Décision n° 05/2022/COM/UEMOA du 1er juin 2022, annexe. Règlement d'exécution n° 004/2022/COM/UEMOA du 1er juin 2022. Règlement n° 07/2009/CM/UEMOA du 26 juin 2009. Balances du FPPN. Calculs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Comme le FPPN tient ses comptes, la liquidité n'atteint jamais 1.</a:t>
            </a:r>
            <a:r>
              <a:rPr sz="1400" b="0">
                <a:solidFill>
                  <a:srgbClr val="060606"/>
                </a:solidFill>
                <a:latin typeface="Helvetica"/>
              </a:rPr>
              <a:t> Elle vaut au mieux 0,19 en 2021, car l'épargne figure parmi les dettes à court terme.</a:t>
            </a:r>
          </a:p>
          <a:p>
            <a:pPr algn="just">
              <a:spcAft>
                <a:spcPts val="600"/>
              </a:spcAft>
            </a:pPr>
            <a:r>
              <a:rPr sz="1400" b="1">
                <a:solidFill>
                  <a:srgbClr val="060606"/>
                </a:solidFill>
                <a:latin typeface="Helvetica"/>
              </a:rPr>
              <a:t>Retraitée, la liquidité devient conforme en 2025 et sur les huit mois de 2026.</a:t>
            </a:r>
            <a:r>
              <a:rPr sz="1400" b="0">
                <a:solidFill>
                  <a:srgbClr val="060606"/>
                </a:solidFill>
                <a:latin typeface="Helvetica"/>
              </a:rPr>
              <a:t> La trésorerie a fortement augmenté pendant que les dettes à court terme hors épargne restaient stables.</a:t>
            </a:r>
          </a:p>
          <a:p>
            <a:pPr algn="just">
              <a:spcAft>
                <a:spcPts val="600"/>
              </a:spcAft>
            </a:pPr>
            <a:r>
              <a:rPr sz="1400" b="1">
                <a:solidFill>
                  <a:srgbClr val="060606"/>
                </a:solidFill>
                <a:latin typeface="Helvetica"/>
              </a:rPr>
              <a:t>Retraité, l'équilibre stable devient conforme en 2025</a:t>
            </a:r>
            <a:r>
              <a:rPr sz="1400" b="0">
                <a:solidFill>
                  <a:srgbClr val="060606"/>
                </a:solidFill>
                <a:latin typeface="Helvetica"/>
              </a:rPr>
              <a:t> (0,94), car l'épargne finance alors durablement les emplois longs.</a:t>
            </a:r>
          </a:p>
          <a:p>
            <a:pPr algn="just">
              <a:spcAft>
                <a:spcPts val="600"/>
              </a:spcAft>
            </a:pPr>
            <a:r>
              <a:rPr sz="1400" b="0">
                <a:solidFill>
                  <a:srgbClr val="060606"/>
                </a:solidFill>
                <a:latin typeface="Helvetica"/>
              </a:rPr>
              <a:t>La conformité dépend de la part réellement exigible de l'épargne dans l'année : le FPPN doit établir l'échéancier de l'EFC (départs à la retraite) et du PEP (échéances des plans).</a:t>
            </a:r>
          </a:p>
        </p:txBody>
      </p:sp>
      <p:sp>
        <p:nvSpPr>
          <p:cNvPr id="35" name="TextBox 34"/>
          <p:cNvSpPr txBox="1"/>
          <p:nvPr/>
        </p:nvSpPr>
        <p:spPr>
          <a:xfrm>
            <a:off x="503999" y="5382000"/>
            <a:ext cx="6552000" cy="450000"/>
          </a:xfrm>
          <a:prstGeom prst="rect">
            <a:avLst/>
          </a:prstGeom>
          <a:noFill/>
        </p:spPr>
        <p:txBody>
          <a:bodyPr wrap="square" anchor="t" lIns="54000" rIns="54000"/>
          <a:lstStyle/>
          <a:p>
            <a:pPr algn="l"/>
            <a:r>
              <a:rPr sz="850" b="0">
                <a:solidFill>
                  <a:srgbClr val="53565A"/>
                </a:solidFill>
                <a:latin typeface="Helvetica"/>
              </a:rPr>
              <a:t>Valable pour : ratios de la Décision n° 05/2022 recalculés sur les balances « BALANCE FORMAT EXCEL DE 09-2020 AU 31-12-2020.xlsx » à « BALANCE FPPN DU 01-01-2026 AU 31-08-2026.xlsx », lecture comme le FPPN et lecture retraitée, 2020 au 31/08/2026.</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PEP : Plan Épargne Plus | EFC : entraide fin de carrière</a:t>
            </a:r>
          </a:p>
        </p:txBody>
      </p:sp>
    </p:spTree>
    <p:extLst>
      <p:ext uri="{BB962C8B-B14F-4D97-AF65-F5344CB8AC3E}">
        <p14:creationId xmlns:p14="http://schemas.microsoft.com/office/powerpoint/2010/main" val="2806993088"/>
      </p:ext>
    </p:extLst>
  </p:cSld>
  <p:clrMapOvr>
    <a:masterClrMapping/>
  </p:clrMapOvr>
  <p:transition>
    <p:fade/>
  </p:transition>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Calcul pas à pas : sinistralité réglementaire 2025</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sinistralité globale est sous la fourchette parce que le décès consomme peu</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Charges de prestations 1 964 772 027 FCFA / cotisations acquises 3 418 141 722 FCFA = 57,48 %</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 Décision n° 05/2022/COM/UEMOA du 1er juin 2022, annexe, § 1.2.1.2.5</a:t>
            </a:r>
          </a:p>
        </p:txBody>
      </p:sp>
      <p:sp>
        <p:nvSpPr>
          <p:cNvPr id="31" name="TextBox 30"/>
          <p:cNvSpPr txBox="1"/>
          <p:nvPr/>
        </p:nvSpPr>
        <p:spPr>
          <a:xfrm>
            <a:off x="503999" y="1350000"/>
            <a:ext cx="6552000" cy="180000"/>
          </a:xfrm>
          <a:prstGeom prst="rect">
            <a:avLst/>
          </a:prstGeom>
          <a:noFill/>
        </p:spPr>
        <p:txBody>
          <a:bodyPr wrap="square" anchor="t" lIns="54000" rIns="54000"/>
          <a:lstStyle/>
          <a:p>
            <a:pPr algn="l"/>
            <a:r>
              <a:rPr sz="900" b="0">
                <a:solidFill>
                  <a:srgbClr val="53565A"/>
                </a:solidFill>
                <a:latin typeface="Helvetica"/>
              </a:rPr>
              <a:t>Extrait : AUDIT ADENKA\DAFC\2025\BALANCE FPPN 2025.xlsx</a:t>
            </a:r>
          </a:p>
        </p:txBody>
      </p:sp>
      <p:graphicFrame>
        <p:nvGraphicFramePr>
          <p:cNvPr id="32" name="Table 31"/>
          <p:cNvGraphicFramePr>
            <a:graphicFrameLocks noGrp="1"/>
          </p:cNvGraphicFramePr>
          <p:nvPr/>
        </p:nvGraphicFramePr>
        <p:xfrm>
          <a:off x="503999" y="1548000"/>
          <a:ext cx="6551999" cy="2100090"/>
        </p:xfrm>
        <a:graphic>
          <a:graphicData uri="http://schemas.openxmlformats.org/drawingml/2006/table">
            <a:tbl>
              <a:tblPr firstRow="0" bandRow="0">
                <a:tableStyleId>{5940675A-B579-460E-94D1-54222C63F5DA}</a:tableStyleId>
              </a:tblPr>
              <a:tblGrid>
                <a:gridCol w="2232000"/>
                <a:gridCol w="2304000"/>
                <a:gridCol w="2015999"/>
              </a:tblGrid>
              <a:tr h="210009">
                <a:tc>
                  <a:txBody>
                    <a:bodyPr/>
                    <a:lstStyle/>
                    <a:p>
                      <a:pPr marL="0" indent="0" lvl="0">
                        <a:buNone/>
                      </a:pPr>
                      <a:r>
                        <a:rPr sz="1000" b="1">
                          <a:solidFill>
                            <a:srgbClr val="FFFFFF"/>
                          </a:solidFill>
                          <a:latin typeface="Helvetica"/>
                        </a:rPr>
                        <a:t>Élément</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Comptes</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Montant 2025</a:t>
                      </a:r>
                    </a:p>
                  </a:txBody>
                  <a:tcPr marL="43200" marR="43200" marT="14400" marB="14400" anchor="ctr">
                    <a:solidFill>
                      <a:srgbClr val="060606"/>
                    </a:solidFill>
                  </a:tcPr>
                </a:tc>
              </a:tr>
              <a:tr h="210009">
                <a:tc>
                  <a:txBody>
                    <a:bodyPr/>
                    <a:lstStyle/>
                    <a:p>
                      <a:pPr marL="0" indent="0" lvl="0">
                        <a:buNone/>
                      </a:pPr>
                      <a:r>
                        <a:rPr sz="1000" b="1">
                          <a:solidFill>
                            <a:srgbClr val="060606"/>
                          </a:solidFill>
                          <a:latin typeface="Helvetica"/>
                        </a:rPr>
                        <a:t>Cotisations maladie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701</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2 409 281 030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Cotisations décès et MEDOC</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702</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1 008 860 692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Autres produits techniques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704</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0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Cotisations acquises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70</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3 418 141 722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Prestations maladie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601, 6013, 6018, 60800007</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1 771 635 361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Prestations décès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6021, 6024</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193 136 666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Autres prestations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60800008, 60850000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0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Charges de prestations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60</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1 964 772 027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Taux de sinistralité</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60 / 70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57,48 %</a:t>
                      </a:r>
                    </a:p>
                  </a:txBody>
                  <a:tcPr marL="43200" marR="43200" marT="14400" marB="14400" anchor="ctr">
                    <a:solidFill>
                      <a:srgbClr val="FFFFFF"/>
                    </a:solidFill>
                  </a:tcPr>
                </a:tc>
              </a:tr>
            </a:tbl>
          </a:graphicData>
        </a:graphic>
      </p:graphicFrame>
      <p:sp>
        <p:nvSpPr>
          <p:cNvPr id="33" name="Rounded Rectangle 32"/>
          <p:cNvSpPr/>
          <p:nvPr/>
        </p:nvSpPr>
        <p:spPr>
          <a:xfrm>
            <a:off x="5022000" y="2377238"/>
            <a:ext cx="2051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876000" y="222603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5" name="Rounded Rectangle 34"/>
          <p:cNvSpPr/>
          <p:nvPr/>
        </p:nvSpPr>
        <p:spPr>
          <a:xfrm>
            <a:off x="5022000" y="3217276"/>
            <a:ext cx="2051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876000" y="3066076"/>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37" name="Rounded Rectangle 36"/>
          <p:cNvSpPr/>
          <p:nvPr/>
        </p:nvSpPr>
        <p:spPr>
          <a:xfrm>
            <a:off x="5022000" y="3427286"/>
            <a:ext cx="2051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876000" y="3276086"/>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39" name="Oval 38"/>
          <p:cNvSpPr/>
          <p:nvPr/>
        </p:nvSpPr>
        <p:spPr>
          <a:xfrm>
            <a:off x="7272000" y="1548000"/>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40" name="TextBox 39"/>
          <p:cNvSpPr txBox="1"/>
          <p:nvPr/>
        </p:nvSpPr>
        <p:spPr>
          <a:xfrm>
            <a:off x="7632000" y="1530000"/>
            <a:ext cx="4104000" cy="484084"/>
          </a:xfrm>
          <a:prstGeom prst="rect">
            <a:avLst/>
          </a:prstGeom>
          <a:noFill/>
        </p:spPr>
        <p:txBody>
          <a:bodyPr wrap="square" anchor="t" lIns="54000" rIns="54000"/>
          <a:lstStyle/>
          <a:p>
            <a:pPr algn="l"/>
            <a:r>
              <a:rPr sz="1200" b="0">
                <a:solidFill>
                  <a:srgbClr val="060606"/>
                </a:solidFill>
                <a:latin typeface="Helvetica"/>
              </a:rPr>
              <a:t>Les cotisations acquises additionnent toute la classe 70, y compris les autres produits techniques.</a:t>
            </a:r>
          </a:p>
        </p:txBody>
      </p:sp>
      <p:sp>
        <p:nvSpPr>
          <p:cNvPr id="41" name="Oval 40"/>
          <p:cNvSpPr/>
          <p:nvPr/>
        </p:nvSpPr>
        <p:spPr>
          <a:xfrm>
            <a:off x="7272000" y="2122084"/>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42" name="TextBox 41"/>
          <p:cNvSpPr txBox="1"/>
          <p:nvPr/>
        </p:nvSpPr>
        <p:spPr>
          <a:xfrm>
            <a:off x="7632000" y="2104084"/>
            <a:ext cx="4104000" cy="484084"/>
          </a:xfrm>
          <a:prstGeom prst="rect">
            <a:avLst/>
          </a:prstGeom>
          <a:noFill/>
        </p:spPr>
        <p:txBody>
          <a:bodyPr wrap="square" anchor="t" lIns="54000" rIns="54000"/>
          <a:lstStyle/>
          <a:p>
            <a:pPr algn="l"/>
            <a:r>
              <a:rPr sz="1200" b="0">
                <a:solidFill>
                  <a:srgbClr val="060606"/>
                </a:solidFill>
                <a:latin typeface="Helvetica"/>
              </a:rPr>
              <a:t>Les charges de prestations additionnent toute la classe 60, maladie et décès confondus.</a:t>
            </a:r>
          </a:p>
        </p:txBody>
      </p:sp>
      <p:sp>
        <p:nvSpPr>
          <p:cNvPr id="43" name="Oval 42"/>
          <p:cNvSpPr/>
          <p:nvPr/>
        </p:nvSpPr>
        <p:spPr>
          <a:xfrm>
            <a:off x="7272000" y="269616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44" name="TextBox 43"/>
          <p:cNvSpPr txBox="1"/>
          <p:nvPr/>
        </p:nvSpPr>
        <p:spPr>
          <a:xfrm>
            <a:off x="7632000" y="2678168"/>
            <a:ext cx="4104000" cy="484084"/>
          </a:xfrm>
          <a:prstGeom prst="rect">
            <a:avLst/>
          </a:prstGeom>
          <a:noFill/>
        </p:spPr>
        <p:txBody>
          <a:bodyPr wrap="square" anchor="t" lIns="54000" rIns="54000"/>
          <a:lstStyle/>
          <a:p>
            <a:pPr algn="l"/>
            <a:r>
              <a:rPr sz="1200" b="0">
                <a:solidFill>
                  <a:srgbClr val="060606"/>
                </a:solidFill>
                <a:latin typeface="Helvetica"/>
              </a:rPr>
              <a:t>Le taux global se situe sous la borne basse de 70 % de la norme.</a:t>
            </a:r>
          </a:p>
        </p:txBody>
      </p:sp>
      <p:sp>
        <p:nvSpPr>
          <p:cNvPr id="45" name="TextBox 44"/>
          <p:cNvSpPr txBox="1"/>
          <p:nvPr/>
        </p:nvSpPr>
        <p:spPr>
          <a:xfrm>
            <a:off x="7272000" y="3342252"/>
            <a:ext cx="4464000" cy="2525747"/>
          </a:xfrm>
          <a:prstGeom prst="rect">
            <a:avLst/>
          </a:prstGeom>
          <a:noFill/>
        </p:spPr>
        <p:txBody>
          <a:bodyPr wrap="square" lIns="54000" rIns="54000"/>
          <a:lstStyle/>
          <a:p>
            <a:pPr algn="just">
              <a:spcAft>
                <a:spcPts val="600"/>
              </a:spcAft>
            </a:pPr>
            <a:r>
              <a:rPr sz="1200" b="1">
                <a:solidFill>
                  <a:srgbClr val="060606"/>
                </a:solidFill>
                <a:latin typeface="Helvetica"/>
              </a:rPr>
              <a:t>Une sinistralité trop basse est aussi un écart à la norme.</a:t>
            </a:r>
            <a:r>
              <a:rPr sz="1200" b="0">
                <a:solidFill>
                  <a:srgbClr val="060606"/>
                </a:solidFill>
                <a:latin typeface="Helvetica"/>
              </a:rPr>
              <a:t> La fourchette de 70 % à 80 % vise à ce que les cotisations reviennent aux adhérents sous forme de prestations.</a:t>
            </a:r>
          </a:p>
          <a:p>
            <a:pPr algn="just">
              <a:spcAft>
                <a:spcPts val="600"/>
              </a:spcAft>
            </a:pPr>
            <a:r>
              <a:rPr sz="1200" b="0">
                <a:solidFill>
                  <a:srgbClr val="060606"/>
                </a:solidFill>
                <a:latin typeface="Helvetica"/>
              </a:rPr>
              <a:t>Appliqué à la seule maladie, le taux 2025 (73,53 %) se situe dans la fourchette. L'écart global vient de la garantie décès : son niveau de cotisation mérite d'être revu au vu de la mortalité observée, dès réception des données.</a:t>
            </a:r>
          </a:p>
        </p:txBody>
      </p:sp>
      <p:sp>
        <p:nvSpPr>
          <p:cNvPr id="46" name="TextBox 4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MEDOC : produit santé complémentaire du poste 8Z7</a:t>
            </a:r>
          </a:p>
        </p:txBody>
      </p:sp>
    </p:spTree>
    <p:extLst>
      <p:ext uri="{BB962C8B-B14F-4D97-AF65-F5344CB8AC3E}">
        <p14:creationId xmlns:p14="http://schemas.microsoft.com/office/powerpoint/2010/main" val="3714566307"/>
      </p:ext>
    </p:extLst>
  </p:cSld>
  <p:clrMapOvr>
    <a:masterClrMapping/>
  </p:clrMapOvr>
  <p:transition>
    <p:fade/>
  </p:transition>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Calcul pas à pas : marge de solvabilité 2025</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marge est conforme si l'on ignore les pertes reportées, non conforme sinon</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Marge exigée 566 209 845 FCFA. Marge disponible 4 396 841 817 FCFA comme le FPPN, -438 242 200 FCFA nette des pertes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 Décision n° 05/2022/COM/UEMOA du 1er juin 2022, annexe, § 1.1.1. PCMS, fiche n° 2</a:t>
            </a:r>
          </a:p>
        </p:txBody>
      </p:sp>
      <p:sp>
        <p:nvSpPr>
          <p:cNvPr id="31" name="TextBox 30"/>
          <p:cNvSpPr txBox="1"/>
          <p:nvPr/>
        </p:nvSpPr>
        <p:spPr>
          <a:xfrm>
            <a:off x="503999" y="1350000"/>
            <a:ext cx="6696000" cy="180000"/>
          </a:xfrm>
          <a:prstGeom prst="rect">
            <a:avLst/>
          </a:prstGeom>
          <a:noFill/>
        </p:spPr>
        <p:txBody>
          <a:bodyPr wrap="square" anchor="t" lIns="54000" rIns="54000"/>
          <a:lstStyle/>
          <a:p>
            <a:pPr algn="l"/>
            <a:r>
              <a:rPr sz="900" b="0">
                <a:solidFill>
                  <a:srgbClr val="53565A"/>
                </a:solidFill>
                <a:latin typeface="Helvetica"/>
              </a:rPr>
              <a:t>Extrait : AUDIT ADENKA\DAFC\2024 et 2025 (balances des comptes)</a:t>
            </a:r>
          </a:p>
        </p:txBody>
      </p:sp>
      <p:graphicFrame>
        <p:nvGraphicFramePr>
          <p:cNvPr id="32" name="Table 31"/>
          <p:cNvGraphicFramePr>
            <a:graphicFrameLocks noGrp="1"/>
          </p:cNvGraphicFramePr>
          <p:nvPr/>
        </p:nvGraphicFramePr>
        <p:xfrm>
          <a:off x="503999" y="1548000"/>
          <a:ext cx="6696000" cy="2404910"/>
        </p:xfrm>
        <a:graphic>
          <a:graphicData uri="http://schemas.openxmlformats.org/drawingml/2006/table">
            <a:tbl>
              <a:tblPr firstRow="0" bandRow="0">
                <a:tableStyleId>{5940675A-B579-460E-94D1-54222C63F5DA}</a:tableStyleId>
              </a:tblPr>
              <a:tblGrid>
                <a:gridCol w="2376000"/>
                <a:gridCol w="2520000"/>
                <a:gridCol w="1800000"/>
              </a:tblGrid>
              <a:tr h="210009">
                <a:tc>
                  <a:txBody>
                    <a:bodyPr/>
                    <a:lstStyle/>
                    <a:p>
                      <a:pPr marL="0" indent="0" lvl="0">
                        <a:buNone/>
                      </a:pPr>
                      <a:r>
                        <a:rPr sz="1000" b="1">
                          <a:solidFill>
                            <a:srgbClr val="FFFFFF"/>
                          </a:solidFill>
                          <a:latin typeface="Helvetica"/>
                        </a:rPr>
                        <a:t>Élément</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Calcul</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Montant</a:t>
                      </a:r>
                    </a:p>
                  </a:txBody>
                  <a:tcPr marL="43200" marR="43200" marT="14400" marB="14400" anchor="ctr">
                    <a:solidFill>
                      <a:srgbClr val="060606"/>
                    </a:solidFill>
                  </a:tcPr>
                </a:tc>
              </a:tr>
              <a:tr h="362419">
                <a:tc>
                  <a:txBody>
                    <a:bodyPr/>
                    <a:lstStyle/>
                    <a:p>
                      <a:pPr marL="0" indent="0" lvl="0">
                        <a:buNone/>
                      </a:pPr>
                      <a:r>
                        <a:rPr sz="1000" b="1">
                          <a:solidFill>
                            <a:srgbClr val="060606"/>
                          </a:solidFill>
                          <a:latin typeface="Helvetica"/>
                        </a:rPr>
                        <a:t>18 % des cotisations acquises 2024</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18 % x 3 145 610 249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566 209 845 FCFA</a:t>
                      </a:r>
                    </a:p>
                  </a:txBody>
                  <a:tcPr marL="43200" marR="43200" marT="14400" marB="14400" anchor="ctr">
                    <a:solidFill>
                      <a:srgbClr val="FFFFFF"/>
                    </a:solidFill>
                  </a:tcPr>
                </a:tc>
              </a:tr>
              <a:tr h="362419">
                <a:tc>
                  <a:txBody>
                    <a:bodyPr/>
                    <a:lstStyle/>
                    <a:p>
                      <a:pPr marL="0" indent="0" lvl="0">
                        <a:buNone/>
                      </a:pPr>
                      <a:r>
                        <a:rPr sz="1000" b="1">
                          <a:solidFill>
                            <a:srgbClr val="060606"/>
                          </a:solidFill>
                          <a:latin typeface="Helvetica"/>
                        </a:rPr>
                        <a:t>26 % des prestations maladie 2023 à 2025</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26 % x moyenne sur 3 ans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290 598 477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Marge exigée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le maximum des deux</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566 209 845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Réserve obligatoire</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compte 111</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820 232 819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Réserves libres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compte 1188</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677 208 998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Réserve disponible</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compte 106</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2 899 400 000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Marge disponible comme le FPPN</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111 + 1188 + 106</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4 396 841 817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Pertes reportées et résultat</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129, 121, résultat 2025</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-4 835 084 017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Marge disponible nette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fonds propres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-438 242 200 FCFA</a:t>
                      </a:r>
                    </a:p>
                  </a:txBody>
                  <a:tcPr marL="43200" marR="43200" marT="14400" marB="14400" anchor="ctr">
                    <a:solidFill>
                      <a:srgbClr val="FFFFFF"/>
                    </a:solidFill>
                  </a:tcPr>
                </a:tc>
              </a:tr>
            </a:tbl>
          </a:graphicData>
        </a:graphic>
      </p:graphicFrame>
      <p:sp>
        <p:nvSpPr>
          <p:cNvPr id="33" name="Rounded Rectangle 32"/>
          <p:cNvSpPr/>
          <p:nvPr/>
        </p:nvSpPr>
        <p:spPr>
          <a:xfrm>
            <a:off x="5382000" y="2472047"/>
            <a:ext cx="1835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020000" y="2320847"/>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5" name="Rounded Rectangle 34"/>
          <p:cNvSpPr/>
          <p:nvPr/>
        </p:nvSpPr>
        <p:spPr>
          <a:xfrm>
            <a:off x="5382000" y="3312086"/>
            <a:ext cx="1835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020000" y="3160886"/>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37" name="Rounded Rectangle 36"/>
          <p:cNvSpPr/>
          <p:nvPr/>
        </p:nvSpPr>
        <p:spPr>
          <a:xfrm>
            <a:off x="5382000" y="3732105"/>
            <a:ext cx="1835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020000" y="3580905"/>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39" name="Oval 38"/>
          <p:cNvSpPr/>
          <p:nvPr/>
        </p:nvSpPr>
        <p:spPr>
          <a:xfrm>
            <a:off x="7416000" y="1548000"/>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40" name="TextBox 39"/>
          <p:cNvSpPr txBox="1"/>
          <p:nvPr/>
        </p:nvSpPr>
        <p:spPr>
          <a:xfrm>
            <a:off x="7776000" y="1530000"/>
            <a:ext cx="3959999" cy="484084"/>
          </a:xfrm>
          <a:prstGeom prst="rect">
            <a:avLst/>
          </a:prstGeom>
          <a:noFill/>
        </p:spPr>
        <p:txBody>
          <a:bodyPr wrap="square" anchor="t" lIns="54000" rIns="54000"/>
          <a:lstStyle/>
          <a:p>
            <a:pPr algn="l"/>
            <a:r>
              <a:rPr sz="1200" b="0">
                <a:solidFill>
                  <a:srgbClr val="060606"/>
                </a:solidFill>
                <a:latin typeface="Helvetica"/>
              </a:rPr>
              <a:t>La marge exigée vient de la règle des 18 % des cotisations, supérieure à celle des prestations.</a:t>
            </a:r>
          </a:p>
        </p:txBody>
      </p:sp>
      <p:sp>
        <p:nvSpPr>
          <p:cNvPr id="41" name="Oval 40"/>
          <p:cNvSpPr/>
          <p:nvPr/>
        </p:nvSpPr>
        <p:spPr>
          <a:xfrm>
            <a:off x="7416000" y="2122084"/>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42" name="TextBox 41"/>
          <p:cNvSpPr txBox="1"/>
          <p:nvPr/>
        </p:nvSpPr>
        <p:spPr>
          <a:xfrm>
            <a:off x="7776000" y="2104084"/>
            <a:ext cx="3959999" cy="484084"/>
          </a:xfrm>
          <a:prstGeom prst="rect">
            <a:avLst/>
          </a:prstGeom>
          <a:noFill/>
        </p:spPr>
        <p:txBody>
          <a:bodyPr wrap="square" anchor="t" lIns="54000" rIns="54000"/>
          <a:lstStyle/>
          <a:p>
            <a:pPr algn="l"/>
            <a:r>
              <a:rPr sz="1200" b="0">
                <a:solidFill>
                  <a:srgbClr val="060606"/>
                </a:solidFill>
                <a:latin typeface="Helvetica"/>
              </a:rPr>
              <a:t>Sans déduire les pertes, la marge disponible dépasse largement la marge exigée.</a:t>
            </a:r>
          </a:p>
        </p:txBody>
      </p:sp>
      <p:sp>
        <p:nvSpPr>
          <p:cNvPr id="43" name="Oval 42"/>
          <p:cNvSpPr/>
          <p:nvPr/>
        </p:nvSpPr>
        <p:spPr>
          <a:xfrm>
            <a:off x="7416000" y="269616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44" name="TextBox 43"/>
          <p:cNvSpPr txBox="1"/>
          <p:nvPr/>
        </p:nvSpPr>
        <p:spPr>
          <a:xfrm>
            <a:off x="7776000" y="2678168"/>
            <a:ext cx="3959999" cy="484084"/>
          </a:xfrm>
          <a:prstGeom prst="rect">
            <a:avLst/>
          </a:prstGeom>
          <a:noFill/>
        </p:spPr>
        <p:txBody>
          <a:bodyPr wrap="square" anchor="t" lIns="54000" rIns="54000"/>
          <a:lstStyle/>
          <a:p>
            <a:pPr algn="l"/>
            <a:r>
              <a:rPr sz="1200" b="0">
                <a:solidFill>
                  <a:srgbClr val="060606"/>
                </a:solidFill>
                <a:latin typeface="Helvetica"/>
              </a:rPr>
              <a:t>Une fois les pertes reportées déduites, la marge disponible devient négative.</a:t>
            </a:r>
          </a:p>
        </p:txBody>
      </p:sp>
      <p:sp>
        <p:nvSpPr>
          <p:cNvPr id="45" name="TextBox 44"/>
          <p:cNvSpPr txBox="1"/>
          <p:nvPr/>
        </p:nvSpPr>
        <p:spPr>
          <a:xfrm>
            <a:off x="7416000" y="3342252"/>
            <a:ext cx="4319999" cy="2525747"/>
          </a:xfrm>
          <a:prstGeom prst="rect">
            <a:avLst/>
          </a:prstGeom>
          <a:noFill/>
        </p:spPr>
        <p:txBody>
          <a:bodyPr wrap="square" lIns="54000" rIns="54000"/>
          <a:lstStyle/>
          <a:p>
            <a:pPr algn="just">
              <a:spcAft>
                <a:spcPts val="600"/>
              </a:spcAft>
            </a:pPr>
            <a:r>
              <a:rPr sz="1200" b="1">
                <a:solidFill>
                  <a:srgbClr val="060606"/>
                </a:solidFill>
                <a:latin typeface="Helvetica"/>
              </a:rPr>
              <a:t>La conformité dépend de la lecture des pertes reportées.</a:t>
            </a:r>
            <a:r>
              <a:rPr sz="1200" b="0">
                <a:solidFill>
                  <a:srgbClr val="060606"/>
                </a:solidFill>
                <a:latin typeface="Helvetica"/>
              </a:rPr>
              <a:t> Le ratio vaut 7,77 comme le FPPN et -0,77 net des pertes.</a:t>
            </a:r>
          </a:p>
          <a:p>
            <a:pPr algn="just">
              <a:spcAft>
                <a:spcPts val="600"/>
              </a:spcAft>
            </a:pPr>
            <a:r>
              <a:rPr sz="1200" b="0">
                <a:solidFill>
                  <a:srgbClr val="060606"/>
                </a:solidFill>
                <a:latin typeface="Helvetica"/>
              </a:rPr>
              <a:t>Le FPPN n'a pas de fonds d'établissement, alors que la Décision exige un niveau minimal égal au tiers de la marge exigée, soit 188 736 615 FCFA en 2025.</a:t>
            </a:r>
          </a:p>
        </p:txBody>
      </p:sp>
      <p:sp>
        <p:nvSpPr>
          <p:cNvPr id="46" name="TextBox 4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PCMS : plan comptable des mutuelles sociales</a:t>
            </a:r>
          </a:p>
        </p:txBody>
      </p:sp>
    </p:spTree>
    <p:extLst>
      <p:ext uri="{BB962C8B-B14F-4D97-AF65-F5344CB8AC3E}">
        <p14:creationId xmlns:p14="http://schemas.microsoft.com/office/powerpoint/2010/main" val="3577622078"/>
      </p:ext>
    </p:extLst>
  </p:cSld>
  <p:clrMapOvr>
    <a:masterClrMapping/>
  </p:clrMapOvr>
  <p:transition>
    <p:fade/>
  </p:transition>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Calcul pas à pas : réserve obligatoire 2025</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réserve obligatoire couvre cinq mois de prestations, contre six au minimum</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820 232 819 FCFA x 12 / 1 964 772 027 FCFA = 5,01 mois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 Décision n° 05/2022/COM/UEMOA du 1er juin 2022, annexe, tableau 1 et § 1.2.2.5.4</a:t>
            </a:r>
          </a:p>
        </p:txBody>
      </p:sp>
      <p:sp>
        <p:nvSpPr>
          <p:cNvPr id="31" name="TextBox 30"/>
          <p:cNvSpPr txBox="1"/>
          <p:nvPr/>
        </p:nvSpPr>
        <p:spPr>
          <a:xfrm>
            <a:off x="503999" y="1350000"/>
            <a:ext cx="6552000" cy="180000"/>
          </a:xfrm>
          <a:prstGeom prst="rect">
            <a:avLst/>
          </a:prstGeom>
          <a:noFill/>
        </p:spPr>
        <p:txBody>
          <a:bodyPr wrap="square" anchor="t" lIns="54000" rIns="54000"/>
          <a:lstStyle/>
          <a:p>
            <a:pPr algn="l"/>
            <a:r>
              <a:rPr sz="900" b="0">
                <a:solidFill>
                  <a:srgbClr val="53565A"/>
                </a:solidFill>
                <a:latin typeface="Helvetica"/>
              </a:rPr>
              <a:t>Extrait : AUDIT ADENKA\DAFC\2025\BALANCE FPPN 2025.xlsx</a:t>
            </a:r>
          </a:p>
        </p:txBody>
      </p:sp>
      <p:graphicFrame>
        <p:nvGraphicFramePr>
          <p:cNvPr id="32" name="Table 31"/>
          <p:cNvGraphicFramePr>
            <a:graphicFrameLocks noGrp="1"/>
          </p:cNvGraphicFramePr>
          <p:nvPr/>
        </p:nvGraphicFramePr>
        <p:xfrm>
          <a:off x="503999" y="1548000"/>
          <a:ext cx="6552000" cy="1260054"/>
        </p:xfrm>
        <a:graphic>
          <a:graphicData uri="http://schemas.openxmlformats.org/drawingml/2006/table">
            <a:tbl>
              <a:tblPr firstRow="0" bandRow="0">
                <a:tableStyleId>{5940675A-B579-460E-94D1-54222C63F5DA}</a:tableStyleId>
              </a:tblPr>
              <a:tblGrid>
                <a:gridCol w="2448000"/>
                <a:gridCol w="1872000"/>
                <a:gridCol w="2232000"/>
              </a:tblGrid>
              <a:tr h="210009">
                <a:tc>
                  <a:txBody>
                    <a:bodyPr/>
                    <a:lstStyle/>
                    <a:p>
                      <a:pPr marL="0" indent="0" lvl="0">
                        <a:buNone/>
                      </a:pPr>
                      <a:r>
                        <a:rPr sz="1000" b="1">
                          <a:solidFill>
                            <a:srgbClr val="FFFFFF"/>
                          </a:solidFill>
                          <a:latin typeface="Helvetica"/>
                        </a:rPr>
                        <a:t>Élément</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Calcul</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Montant</a:t>
                      </a:r>
                    </a:p>
                  </a:txBody>
                  <a:tcPr marL="43200" marR="43200" marT="14400" marB="14400" anchor="ctr">
                    <a:solidFill>
                      <a:srgbClr val="060606"/>
                    </a:solidFill>
                  </a:tcPr>
                </a:tc>
              </a:tr>
              <a:tr h="210009">
                <a:tc>
                  <a:txBody>
                    <a:bodyPr/>
                    <a:lstStyle/>
                    <a:p>
                      <a:pPr marL="0" indent="0" lvl="0">
                        <a:buNone/>
                      </a:pPr>
                      <a:r>
                        <a:rPr sz="1000" b="1">
                          <a:solidFill>
                            <a:srgbClr val="060606"/>
                          </a:solidFill>
                          <a:latin typeface="Helvetica"/>
                        </a:rPr>
                        <a:t>Réserve obligatoire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compte 111</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820 232 819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Charges de prestations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classe 60</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1 964 772 027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Ratio de réserve obligatoire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111 x 12 / 60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5,01 mois</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Réserve nécessaire pour 6 mois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60 x 6 / 12</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982 386 014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Écart à combler</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besoin - réserve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162 153 194 FCFA</a:t>
                      </a:r>
                    </a:p>
                  </a:txBody>
                  <a:tcPr marL="43200" marR="43200" marT="14400" marB="14400" anchor="ctr">
                    <a:solidFill>
                      <a:srgbClr val="FFFFFF"/>
                    </a:solidFill>
                  </a:tcPr>
                </a:tc>
              </a:tr>
            </a:tbl>
          </a:graphicData>
        </a:graphic>
      </p:graphicFrame>
      <p:sp>
        <p:nvSpPr>
          <p:cNvPr id="33" name="Rounded Rectangle 32"/>
          <p:cNvSpPr/>
          <p:nvPr/>
        </p:nvSpPr>
        <p:spPr>
          <a:xfrm>
            <a:off x="4806000" y="2167228"/>
            <a:ext cx="2268000"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876000" y="201602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5" name="Rounded Rectangle 34"/>
          <p:cNvSpPr/>
          <p:nvPr/>
        </p:nvSpPr>
        <p:spPr>
          <a:xfrm>
            <a:off x="4806000" y="2587247"/>
            <a:ext cx="2268000"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876000" y="2436047"/>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37" name="Oval 36"/>
          <p:cNvSpPr/>
          <p:nvPr/>
        </p:nvSpPr>
        <p:spPr>
          <a:xfrm>
            <a:off x="7272000" y="1548000"/>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8" name="TextBox 37"/>
          <p:cNvSpPr txBox="1"/>
          <p:nvPr/>
        </p:nvSpPr>
        <p:spPr>
          <a:xfrm>
            <a:off x="7632000" y="1530000"/>
            <a:ext cx="4104000" cy="484084"/>
          </a:xfrm>
          <a:prstGeom prst="rect">
            <a:avLst/>
          </a:prstGeom>
          <a:noFill/>
        </p:spPr>
        <p:txBody>
          <a:bodyPr wrap="square" anchor="t" lIns="54000" rIns="54000"/>
          <a:lstStyle/>
          <a:p>
            <a:pPr algn="l"/>
            <a:r>
              <a:rPr sz="1200" b="0">
                <a:solidFill>
                  <a:srgbClr val="060606"/>
                </a:solidFill>
                <a:latin typeface="Helvetica"/>
              </a:rPr>
              <a:t>La réserve obligatoire couvre un peu plus de cinq mois de prestations.</a:t>
            </a:r>
          </a:p>
        </p:txBody>
      </p:sp>
      <p:sp>
        <p:nvSpPr>
          <p:cNvPr id="39" name="Oval 38"/>
          <p:cNvSpPr/>
          <p:nvPr/>
        </p:nvSpPr>
        <p:spPr>
          <a:xfrm>
            <a:off x="7272000" y="2122084"/>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40" name="TextBox 39"/>
          <p:cNvSpPr txBox="1"/>
          <p:nvPr/>
        </p:nvSpPr>
        <p:spPr>
          <a:xfrm>
            <a:off x="7632000" y="2104084"/>
            <a:ext cx="4104000" cy="484084"/>
          </a:xfrm>
          <a:prstGeom prst="rect">
            <a:avLst/>
          </a:prstGeom>
          <a:noFill/>
        </p:spPr>
        <p:txBody>
          <a:bodyPr wrap="square" anchor="t" lIns="54000" rIns="54000"/>
          <a:lstStyle/>
          <a:p>
            <a:pPr algn="l"/>
            <a:r>
              <a:rPr sz="1200" b="0">
                <a:solidFill>
                  <a:srgbClr val="060606"/>
                </a:solidFill>
                <a:latin typeface="Helvetica"/>
              </a:rPr>
              <a:t>Il manque ce montant pour atteindre la borne basse de six mois.</a:t>
            </a:r>
          </a:p>
        </p:txBody>
      </p:sp>
      <p:sp>
        <p:nvSpPr>
          <p:cNvPr id="41" name="TextBox 40"/>
          <p:cNvSpPr txBox="1"/>
          <p:nvPr/>
        </p:nvSpPr>
        <p:spPr>
          <a:xfrm>
            <a:off x="7272000" y="2768168"/>
            <a:ext cx="4464000" cy="3099831"/>
          </a:xfrm>
          <a:prstGeom prst="rect">
            <a:avLst/>
          </a:prstGeom>
          <a:noFill/>
        </p:spPr>
        <p:txBody>
          <a:bodyPr wrap="square" lIns="54000" rIns="54000"/>
          <a:lstStyle/>
          <a:p>
            <a:pPr algn="just">
              <a:spcAft>
                <a:spcPts val="600"/>
              </a:spcAft>
            </a:pPr>
            <a:r>
              <a:rPr sz="1200" b="1">
                <a:solidFill>
                  <a:srgbClr val="060606"/>
                </a:solidFill>
                <a:latin typeface="Helvetica"/>
              </a:rPr>
              <a:t>La réserve progresse, mais moins vite que les prestations.</a:t>
            </a:r>
            <a:r>
              <a:rPr sz="1200" b="0">
                <a:solidFill>
                  <a:srgbClr val="060606"/>
                </a:solidFill>
                <a:latin typeface="Helvetica"/>
              </a:rPr>
              <a:t> Elle vaut zéro jusqu'en 2022 et couvre 3,25 mois en 2023, puis 5,01 mois en 2025.</a:t>
            </a:r>
          </a:p>
          <a:p>
            <a:pPr algn="just">
              <a:spcAft>
                <a:spcPts val="600"/>
              </a:spcAft>
            </a:pPr>
            <a:r>
              <a:rPr sz="1200" b="0">
                <a:solidFill>
                  <a:srgbClr val="060606"/>
                </a:solidFill>
                <a:latin typeface="Helvetica"/>
              </a:rPr>
              <a:t>Comme les prestations augmentent chaque année, le besoin de réserve augmente aussi : la dotation annuelle doit suivre la sinistralité et non seulement le résultat.</a:t>
            </a:r>
          </a:p>
        </p:txBody>
      </p:sp>
      <p:sp>
        <p:nvSpPr>
          <p:cNvPr id="42" name="TextBox 41"/>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a:t>
            </a:r>
          </a:p>
        </p:txBody>
      </p:sp>
    </p:spTree>
    <p:extLst>
      <p:ext uri="{BB962C8B-B14F-4D97-AF65-F5344CB8AC3E}">
        <p14:creationId xmlns:p14="http://schemas.microsoft.com/office/powerpoint/2010/main" val="536048068"/>
      </p:ext>
    </p:extLst>
  </p:cSld>
  <p:clrMapOvr>
    <a:masterClrMapping/>
  </p:clrMapOvr>
  <p:transition>
    <p:fade/>
  </p:transition>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Calcul pas à pas : fonds propres et assimilés 2025</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ressources propres et les provisions couvrent un cinquième des dettes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Fonds propres et assimilés 4 391 056 090 FCFA / dettes 20 393 111 235 FCFA = 0,22</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 Décision n° 05/2022/COM/UEMOA du 1er juin 2022, annexe, § 1.2.2.5.3</a:t>
            </a:r>
          </a:p>
        </p:txBody>
      </p:sp>
      <p:sp>
        <p:nvSpPr>
          <p:cNvPr id="31" name="TextBox 30"/>
          <p:cNvSpPr txBox="1"/>
          <p:nvPr/>
        </p:nvSpPr>
        <p:spPr>
          <a:xfrm>
            <a:off x="503999" y="1350000"/>
            <a:ext cx="6552000" cy="180000"/>
          </a:xfrm>
          <a:prstGeom prst="rect">
            <a:avLst/>
          </a:prstGeom>
          <a:noFill/>
        </p:spPr>
        <p:txBody>
          <a:bodyPr wrap="square" anchor="t" lIns="54000" rIns="54000"/>
          <a:lstStyle/>
          <a:p>
            <a:pPr algn="l"/>
            <a:r>
              <a:rPr sz="900" b="0">
                <a:solidFill>
                  <a:srgbClr val="53565A"/>
                </a:solidFill>
                <a:latin typeface="Helvetica"/>
              </a:rPr>
              <a:t>Extrait : AUDIT ADENKA\DAFC\2025\BALANCE FPPN 2025.xlsx</a:t>
            </a:r>
          </a:p>
        </p:txBody>
      </p:sp>
      <p:graphicFrame>
        <p:nvGraphicFramePr>
          <p:cNvPr id="32" name="Table 31"/>
          <p:cNvGraphicFramePr>
            <a:graphicFrameLocks noGrp="1"/>
          </p:cNvGraphicFramePr>
          <p:nvPr/>
        </p:nvGraphicFramePr>
        <p:xfrm>
          <a:off x="503999" y="1548000"/>
          <a:ext cx="6552000" cy="2347311"/>
        </p:xfrm>
        <a:graphic>
          <a:graphicData uri="http://schemas.openxmlformats.org/drawingml/2006/table">
            <a:tbl>
              <a:tblPr firstRow="0" bandRow="0">
                <a:tableStyleId>{5940675A-B579-460E-94D1-54222C63F5DA}</a:tableStyleId>
              </a:tblPr>
              <a:tblGrid>
                <a:gridCol w="2448000"/>
                <a:gridCol w="2160000"/>
                <a:gridCol w="1944000"/>
              </a:tblGrid>
              <a:tr h="210009">
                <a:tc>
                  <a:txBody>
                    <a:bodyPr/>
                    <a:lstStyle/>
                    <a:p>
                      <a:pPr marL="0" indent="0" lvl="0">
                        <a:buNone/>
                      </a:pPr>
                      <a:r>
                        <a:rPr sz="1000" b="1">
                          <a:solidFill>
                            <a:srgbClr val="FFFFFF"/>
                          </a:solidFill>
                          <a:latin typeface="Helvetica"/>
                        </a:rPr>
                        <a:t>Élément</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Comptes</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Montant 2025</a:t>
                      </a:r>
                    </a:p>
                  </a:txBody>
                  <a:tcPr marL="43200" marR="43200" marT="14400" marB="14400" anchor="ctr">
                    <a:solidFill>
                      <a:srgbClr val="060606"/>
                    </a:solidFill>
                  </a:tcPr>
                </a:tc>
              </a:tr>
              <a:tr h="210009">
                <a:tc>
                  <a:txBody>
                    <a:bodyPr/>
                    <a:lstStyle/>
                    <a:p>
                      <a:pPr marL="0" indent="0" lvl="0">
                        <a:buNone/>
                      </a:pPr>
                      <a:r>
                        <a:rPr sz="1000" b="1">
                          <a:solidFill>
                            <a:srgbClr val="060606"/>
                          </a:solidFill>
                          <a:latin typeface="Helvetica"/>
                        </a:rPr>
                        <a:t>Fonds propres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10, 11, 12, résultat</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-438 242 200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Provisions techniques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15801000, 15802000</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4 829 298 290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Fonds propres et assimilés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numérateur</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4 391 056 090 FCFA</a:t>
                      </a:r>
                    </a:p>
                  </a:txBody>
                  <a:tcPr marL="43200" marR="43200" marT="14400" marB="14400" anchor="ctr">
                    <a:solidFill>
                      <a:srgbClr val="FFFFFF"/>
                    </a:solidFill>
                  </a:tcPr>
                </a:tc>
              </a:tr>
              <a:tr h="362419">
                <a:tc>
                  <a:txBody>
                    <a:bodyPr/>
                    <a:lstStyle/>
                    <a:p>
                      <a:pPr marL="0" indent="0" lvl="0">
                        <a:buNone/>
                      </a:pPr>
                      <a:r>
                        <a:rPr sz="1000" b="1">
                          <a:solidFill>
                            <a:srgbClr val="060606"/>
                          </a:solidFill>
                          <a:latin typeface="Helvetica"/>
                        </a:rPr>
                        <a:t>Dettes à court terme</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classe 4 créditrice, 5 créditeur</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15 520 146 267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dont épargne PEP et EFC</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41195100, 41195200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13 814 066 964 FCFA</a:t>
                      </a:r>
                    </a:p>
                  </a:txBody>
                  <a:tcPr marL="43200" marR="43200" marT="14400" marB="14400" anchor="ctr">
                    <a:solidFill>
                      <a:srgbClr val="FFFFFF"/>
                    </a:solidFill>
                  </a:tcPr>
                </a:tc>
              </a:tr>
              <a:tr h="362419">
                <a:tc>
                  <a:txBody>
                    <a:bodyPr/>
                    <a:lstStyle/>
                    <a:p>
                      <a:pPr marL="0" indent="0" lvl="0">
                        <a:buNone/>
                      </a:pPr>
                      <a:r>
                        <a:rPr sz="1000" b="1">
                          <a:solidFill>
                            <a:srgbClr val="060606"/>
                          </a:solidFill>
                          <a:latin typeface="Helvetica"/>
                        </a:rPr>
                        <a:t>Provisions et autres dettes longues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15, 16, 196</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4 872 964 968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Dettes, provisions comprises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dénominateur</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20 393 111 235 FCFA</a:t>
                      </a:r>
                    </a:p>
                  </a:txBody>
                  <a:tcPr marL="43200" marR="43200" marT="14400" marB="14400" anchor="ctr">
                    <a:solidFill>
                      <a:srgbClr val="FFFFFF"/>
                    </a:solidFill>
                  </a:tcPr>
                </a:tc>
              </a:tr>
              <a:tr h="362419">
                <a:tc>
                  <a:txBody>
                    <a:bodyPr/>
                    <a:lstStyle/>
                    <a:p>
                      <a:pPr marL="0" indent="0" lvl="0">
                        <a:buNone/>
                      </a:pPr>
                      <a:r>
                        <a:rPr sz="1000" b="1">
                          <a:solidFill>
                            <a:srgbClr val="060606"/>
                          </a:solidFill>
                          <a:latin typeface="Helvetica"/>
                        </a:rPr>
                        <a:t>Ratio des fonds propres et assimilés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numérateur / dénominateur</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0,22</a:t>
                      </a:r>
                    </a:p>
                  </a:txBody>
                  <a:tcPr marL="43200" marR="43200" marT="14400" marB="14400" anchor="ctr">
                    <a:solidFill>
                      <a:srgbClr val="F2F2F2"/>
                    </a:solidFill>
                  </a:tcPr>
                </a:tc>
              </a:tr>
            </a:tbl>
          </a:graphicData>
        </a:graphic>
      </p:graphicFrame>
      <p:sp>
        <p:nvSpPr>
          <p:cNvPr id="33" name="Rounded Rectangle 32"/>
          <p:cNvSpPr/>
          <p:nvPr/>
        </p:nvSpPr>
        <p:spPr>
          <a:xfrm>
            <a:off x="5094000" y="1747209"/>
            <a:ext cx="1980000"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876000" y="1596009"/>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5" name="Rounded Rectangle 34"/>
          <p:cNvSpPr/>
          <p:nvPr/>
        </p:nvSpPr>
        <p:spPr>
          <a:xfrm>
            <a:off x="5094000" y="2739657"/>
            <a:ext cx="1980000"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876000" y="2588457"/>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37" name="Rounded Rectangle 36"/>
          <p:cNvSpPr/>
          <p:nvPr/>
        </p:nvSpPr>
        <p:spPr>
          <a:xfrm>
            <a:off x="5094000" y="3522096"/>
            <a:ext cx="1980000" cy="38401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876000" y="3370896"/>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39" name="Oval 38"/>
          <p:cNvSpPr/>
          <p:nvPr/>
        </p:nvSpPr>
        <p:spPr>
          <a:xfrm>
            <a:off x="7272000" y="1548000"/>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40" name="TextBox 39"/>
          <p:cNvSpPr txBox="1"/>
          <p:nvPr/>
        </p:nvSpPr>
        <p:spPr>
          <a:xfrm>
            <a:off x="7632000" y="1530000"/>
            <a:ext cx="4104000" cy="484084"/>
          </a:xfrm>
          <a:prstGeom prst="rect">
            <a:avLst/>
          </a:prstGeom>
          <a:noFill/>
        </p:spPr>
        <p:txBody>
          <a:bodyPr wrap="square" anchor="t" lIns="54000" rIns="54000"/>
          <a:lstStyle/>
          <a:p>
            <a:pPr algn="l"/>
            <a:r>
              <a:rPr sz="1200" b="0">
                <a:solidFill>
                  <a:srgbClr val="060606"/>
                </a:solidFill>
                <a:latin typeface="Helvetica"/>
              </a:rPr>
              <a:t>Les fonds propres sont négatifs : seules les provisions rendent le numérateur positif.</a:t>
            </a:r>
          </a:p>
        </p:txBody>
      </p:sp>
      <p:sp>
        <p:nvSpPr>
          <p:cNvPr id="41" name="Oval 40"/>
          <p:cNvSpPr/>
          <p:nvPr/>
        </p:nvSpPr>
        <p:spPr>
          <a:xfrm>
            <a:off x="7272000" y="2122084"/>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42" name="TextBox 41"/>
          <p:cNvSpPr txBox="1"/>
          <p:nvPr/>
        </p:nvSpPr>
        <p:spPr>
          <a:xfrm>
            <a:off x="7632000" y="2104084"/>
            <a:ext cx="4104000" cy="298144"/>
          </a:xfrm>
          <a:prstGeom prst="rect">
            <a:avLst/>
          </a:prstGeom>
          <a:noFill/>
        </p:spPr>
        <p:txBody>
          <a:bodyPr wrap="square" anchor="t" lIns="54000" rIns="54000"/>
          <a:lstStyle/>
          <a:p>
            <a:pPr algn="l"/>
            <a:r>
              <a:rPr sz="1200" b="0">
                <a:solidFill>
                  <a:srgbClr val="060606"/>
                </a:solidFill>
                <a:latin typeface="Helvetica"/>
              </a:rPr>
              <a:t>L'épargne représente l'essentiel des dettes.</a:t>
            </a:r>
          </a:p>
        </p:txBody>
      </p:sp>
      <p:sp>
        <p:nvSpPr>
          <p:cNvPr id="43" name="Oval 42"/>
          <p:cNvSpPr/>
          <p:nvPr/>
        </p:nvSpPr>
        <p:spPr>
          <a:xfrm>
            <a:off x="7272000" y="251022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44" name="TextBox 43"/>
          <p:cNvSpPr txBox="1"/>
          <p:nvPr/>
        </p:nvSpPr>
        <p:spPr>
          <a:xfrm>
            <a:off x="7632000" y="2492228"/>
            <a:ext cx="4104000" cy="298144"/>
          </a:xfrm>
          <a:prstGeom prst="rect">
            <a:avLst/>
          </a:prstGeom>
          <a:noFill/>
        </p:spPr>
        <p:txBody>
          <a:bodyPr wrap="square" anchor="t" lIns="54000" rIns="54000"/>
          <a:lstStyle/>
          <a:p>
            <a:pPr algn="l"/>
            <a:r>
              <a:rPr sz="1200" b="0">
                <a:solidFill>
                  <a:srgbClr val="060606"/>
                </a:solidFill>
                <a:latin typeface="Helvetica"/>
              </a:rPr>
              <a:t>Le ratio reste très loin de la norme d'au moins 1.</a:t>
            </a:r>
          </a:p>
        </p:txBody>
      </p:sp>
      <p:sp>
        <p:nvSpPr>
          <p:cNvPr id="45" name="TextBox 44"/>
          <p:cNvSpPr txBox="1"/>
          <p:nvPr/>
        </p:nvSpPr>
        <p:spPr>
          <a:xfrm>
            <a:off x="7272000" y="2970373"/>
            <a:ext cx="4464000" cy="2897626"/>
          </a:xfrm>
          <a:prstGeom prst="rect">
            <a:avLst/>
          </a:prstGeom>
          <a:noFill/>
        </p:spPr>
        <p:txBody>
          <a:bodyPr wrap="square" lIns="54000" rIns="54000"/>
          <a:lstStyle/>
          <a:p>
            <a:pPr algn="just">
              <a:spcAft>
                <a:spcPts val="600"/>
              </a:spcAft>
            </a:pPr>
            <a:r>
              <a:rPr sz="1200" b="1">
                <a:solidFill>
                  <a:srgbClr val="060606"/>
                </a:solidFill>
                <a:latin typeface="Helvetica"/>
              </a:rPr>
              <a:t>Même en comptant les provisions comme des fonds propres, le FPPN reste loin de la norme.</a:t>
            </a:r>
            <a:r>
              <a:rPr sz="1200" b="0">
                <a:solidFill>
                  <a:srgbClr val="060606"/>
                </a:solidFill>
                <a:latin typeface="Helvetica"/>
              </a:rPr>
              <a:t> Le ratio passe de 0,13 en 2022 à 0,22 en 2025.</a:t>
            </a:r>
          </a:p>
          <a:p>
            <a:pPr algn="just">
              <a:spcAft>
                <a:spcPts val="600"/>
              </a:spcAft>
            </a:pPr>
            <a:r>
              <a:rPr sz="1200" b="0">
                <a:solidFill>
                  <a:srgbClr val="060606"/>
                </a:solidFill>
                <a:latin typeface="Helvetica"/>
              </a:rPr>
              <a:t>Ce ratio ne peut s'améliorer que par des excédents mis en réserve pendant plusieurs années : il mesure la profondeur du retard de fonds propres, plus qu'un problème de l'année.</a:t>
            </a:r>
          </a:p>
        </p:txBody>
      </p:sp>
      <p:sp>
        <p:nvSpPr>
          <p:cNvPr id="46" name="TextBox 4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PEP : Plan Épargne Plus | EFC : entraide fin de carrière</a:t>
            </a:r>
          </a:p>
        </p:txBody>
      </p:sp>
    </p:spTree>
    <p:extLst>
      <p:ext uri="{BB962C8B-B14F-4D97-AF65-F5344CB8AC3E}">
        <p14:creationId xmlns:p14="http://schemas.microsoft.com/office/powerpoint/2010/main" val="1628825023"/>
      </p:ext>
    </p:extLst>
  </p:cSld>
  <p:clrMapOvr>
    <a:masterClrMapping/>
  </p:clrMapOvr>
  <p:transition>
    <p:fade/>
  </p:transition>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Calcul pas à pas : liquidité 2025</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trésorerie couvre un huitième des dettes à court terme, épargne comprise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Liquidité 0,13 comme le FPPN, 1,15 sans l'épargne. Trésorerie à échéance 0,17 et 1,59</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 Décision n° 05/2022/COM/UEMOA du 1er juin 2022, annexe, § 1.2.2.5.2 et section II</a:t>
            </a:r>
          </a:p>
        </p:txBody>
      </p:sp>
      <p:sp>
        <p:nvSpPr>
          <p:cNvPr id="31" name="TextBox 30"/>
          <p:cNvSpPr txBox="1"/>
          <p:nvPr/>
        </p:nvSpPr>
        <p:spPr>
          <a:xfrm>
            <a:off x="503999" y="1350000"/>
            <a:ext cx="6768000" cy="180000"/>
          </a:xfrm>
          <a:prstGeom prst="rect">
            <a:avLst/>
          </a:prstGeom>
          <a:noFill/>
        </p:spPr>
        <p:txBody>
          <a:bodyPr wrap="square" anchor="t" lIns="54000" rIns="54000"/>
          <a:lstStyle/>
          <a:p>
            <a:pPr algn="l"/>
            <a:r>
              <a:rPr sz="900" b="0">
                <a:solidFill>
                  <a:srgbClr val="53565A"/>
                </a:solidFill>
                <a:latin typeface="Helvetica"/>
              </a:rPr>
              <a:t>Extrait : AUDIT ADENKA\DAFC\2025\BALANCE FPPN 2025.xlsx</a:t>
            </a:r>
          </a:p>
        </p:txBody>
      </p:sp>
      <p:graphicFrame>
        <p:nvGraphicFramePr>
          <p:cNvPr id="32" name="Table 31"/>
          <p:cNvGraphicFramePr>
            <a:graphicFrameLocks noGrp="1"/>
          </p:cNvGraphicFramePr>
          <p:nvPr/>
        </p:nvGraphicFramePr>
        <p:xfrm>
          <a:off x="503999" y="1548000"/>
          <a:ext cx="6768000" cy="1832482"/>
        </p:xfrm>
        <a:graphic>
          <a:graphicData uri="http://schemas.openxmlformats.org/drawingml/2006/table">
            <a:tbl>
              <a:tblPr firstRow="0" bandRow="0">
                <a:tableStyleId>{5940675A-B579-460E-94D1-54222C63F5DA}</a:tableStyleId>
              </a:tblPr>
              <a:tblGrid>
                <a:gridCol w="2376000"/>
                <a:gridCol w="2664000"/>
                <a:gridCol w="1728000"/>
              </a:tblGrid>
              <a:tr h="210009">
                <a:tc>
                  <a:txBody>
                    <a:bodyPr/>
                    <a:lstStyle/>
                    <a:p>
                      <a:pPr marL="0" indent="0" lvl="0">
                        <a:buNone/>
                      </a:pPr>
                      <a:r>
                        <a:rPr sz="1000" b="1">
                          <a:solidFill>
                            <a:srgbClr val="FFFFFF"/>
                          </a:solidFill>
                          <a:latin typeface="Helvetica"/>
                        </a:rPr>
                        <a:t>Élément</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Comptes</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Montant 2025</a:t>
                      </a:r>
                    </a:p>
                  </a:txBody>
                  <a:tcPr marL="43200" marR="43200" marT="14400" marB="14400" anchor="ctr">
                    <a:solidFill>
                      <a:srgbClr val="060606"/>
                    </a:solidFill>
                  </a:tcPr>
                </a:tc>
              </a:tr>
              <a:tr h="210009">
                <a:tc>
                  <a:txBody>
                    <a:bodyPr/>
                    <a:lstStyle/>
                    <a:p>
                      <a:pPr marL="0" indent="0" lvl="0">
                        <a:buNone/>
                      </a:pPr>
                      <a:r>
                        <a:rPr sz="1000" b="1">
                          <a:solidFill>
                            <a:srgbClr val="060606"/>
                          </a:solidFill>
                          <a:latin typeface="Helvetica"/>
                        </a:rPr>
                        <a:t>Trésorerie actif</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classe 5 débitrice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1 964 171 543 FCFA</a:t>
                      </a:r>
                    </a:p>
                  </a:txBody>
                  <a:tcPr marL="43200" marR="43200" marT="14400" marB="14400" anchor="ctr">
                    <a:solidFill>
                      <a:srgbClr val="FFFFFF"/>
                    </a:solidFill>
                  </a:tcPr>
                </a:tc>
              </a:tr>
              <a:tr h="362419">
                <a:tc>
                  <a:txBody>
                    <a:bodyPr/>
                    <a:lstStyle/>
                    <a:p>
                      <a:pPr marL="0" indent="0" lvl="0">
                        <a:buNone/>
                      </a:pPr>
                      <a:r>
                        <a:rPr sz="1000" b="1">
                          <a:solidFill>
                            <a:srgbClr val="060606"/>
                          </a:solidFill>
                          <a:latin typeface="Helvetica"/>
                        </a:rPr>
                        <a:t>Créances à court terme</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classes 3 et 4 débitrices, hors avances durables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750 837 284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Dettes à court terme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classe 4 créditrice, 5 créditeur</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15 520 146 267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dont épargne PEP et EFC</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41195100, 41195200</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13 814 066 964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Dettes à court terme hors épargne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lecture retraitée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1 706 079 303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Liquidité comme le FPPN</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trésorerie / dettes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0,13</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Liquidité retraitée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trésorerie / dettes hors épargne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1,15</a:t>
                      </a:r>
                    </a:p>
                  </a:txBody>
                  <a:tcPr marL="43200" marR="43200" marT="14400" marB="14400" anchor="ctr">
                    <a:solidFill>
                      <a:srgbClr val="FFFFFF"/>
                    </a:solidFill>
                  </a:tcPr>
                </a:tc>
              </a:tr>
            </a:tbl>
          </a:graphicData>
        </a:graphic>
      </p:graphicFrame>
      <p:sp>
        <p:nvSpPr>
          <p:cNvPr id="33" name="Rounded Rectangle 32"/>
          <p:cNvSpPr/>
          <p:nvPr/>
        </p:nvSpPr>
        <p:spPr>
          <a:xfrm>
            <a:off x="5526000" y="2529647"/>
            <a:ext cx="1763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092000" y="2378447"/>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5" name="Rounded Rectangle 34"/>
          <p:cNvSpPr/>
          <p:nvPr/>
        </p:nvSpPr>
        <p:spPr>
          <a:xfrm>
            <a:off x="5526000" y="2949667"/>
            <a:ext cx="1763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092000" y="2798467"/>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37" name="Rounded Rectangle 36"/>
          <p:cNvSpPr/>
          <p:nvPr/>
        </p:nvSpPr>
        <p:spPr>
          <a:xfrm>
            <a:off x="5526000" y="3159676"/>
            <a:ext cx="1763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092000" y="3008476"/>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39" name="Oval 38"/>
          <p:cNvSpPr/>
          <p:nvPr/>
        </p:nvSpPr>
        <p:spPr>
          <a:xfrm>
            <a:off x="7488000" y="1548000"/>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40" name="TextBox 39"/>
          <p:cNvSpPr txBox="1"/>
          <p:nvPr/>
        </p:nvSpPr>
        <p:spPr>
          <a:xfrm>
            <a:off x="7848000" y="1530000"/>
            <a:ext cx="3887999" cy="484084"/>
          </a:xfrm>
          <a:prstGeom prst="rect">
            <a:avLst/>
          </a:prstGeom>
          <a:noFill/>
        </p:spPr>
        <p:txBody>
          <a:bodyPr wrap="square" anchor="t" lIns="54000" rIns="54000"/>
          <a:lstStyle/>
          <a:p>
            <a:pPr algn="l"/>
            <a:r>
              <a:rPr sz="1200" b="0">
                <a:solidFill>
                  <a:srgbClr val="060606"/>
                </a:solidFill>
                <a:latin typeface="Helvetica"/>
              </a:rPr>
              <a:t>L'épargne représente presque toutes les dettes à court terme du plan comptable.</a:t>
            </a:r>
          </a:p>
        </p:txBody>
      </p:sp>
      <p:sp>
        <p:nvSpPr>
          <p:cNvPr id="41" name="Oval 40"/>
          <p:cNvSpPr/>
          <p:nvPr/>
        </p:nvSpPr>
        <p:spPr>
          <a:xfrm>
            <a:off x="7488000" y="2122084"/>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42" name="TextBox 41"/>
          <p:cNvSpPr txBox="1"/>
          <p:nvPr/>
        </p:nvSpPr>
        <p:spPr>
          <a:xfrm>
            <a:off x="7848000" y="2104084"/>
            <a:ext cx="3887999" cy="484084"/>
          </a:xfrm>
          <a:prstGeom prst="rect">
            <a:avLst/>
          </a:prstGeom>
          <a:noFill/>
        </p:spPr>
        <p:txBody>
          <a:bodyPr wrap="square" anchor="t" lIns="54000" rIns="54000"/>
          <a:lstStyle/>
          <a:p>
            <a:pPr algn="l"/>
            <a:r>
              <a:rPr sz="1200" b="0">
                <a:solidFill>
                  <a:srgbClr val="060606"/>
                </a:solidFill>
                <a:latin typeface="Helvetica"/>
              </a:rPr>
              <a:t>Dans cette lecture, la trésorerie couvre environ un huitième des dettes.</a:t>
            </a:r>
          </a:p>
        </p:txBody>
      </p:sp>
      <p:sp>
        <p:nvSpPr>
          <p:cNvPr id="43" name="Oval 42"/>
          <p:cNvSpPr/>
          <p:nvPr/>
        </p:nvSpPr>
        <p:spPr>
          <a:xfrm>
            <a:off x="7488000" y="269616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44" name="TextBox 43"/>
          <p:cNvSpPr txBox="1"/>
          <p:nvPr/>
        </p:nvSpPr>
        <p:spPr>
          <a:xfrm>
            <a:off x="7848000" y="2678168"/>
            <a:ext cx="3887999" cy="484084"/>
          </a:xfrm>
          <a:prstGeom prst="rect">
            <a:avLst/>
          </a:prstGeom>
          <a:noFill/>
        </p:spPr>
        <p:txBody>
          <a:bodyPr wrap="square" anchor="t" lIns="54000" rIns="54000"/>
          <a:lstStyle/>
          <a:p>
            <a:pPr algn="l"/>
            <a:r>
              <a:rPr sz="1200" b="0">
                <a:solidFill>
                  <a:srgbClr val="060606"/>
                </a:solidFill>
                <a:latin typeface="Helvetica"/>
              </a:rPr>
              <a:t>Sans l'épargne, la trésorerie couvre toutes les dettes à court terme.</a:t>
            </a:r>
          </a:p>
        </p:txBody>
      </p:sp>
      <p:sp>
        <p:nvSpPr>
          <p:cNvPr id="45" name="TextBox 44"/>
          <p:cNvSpPr txBox="1"/>
          <p:nvPr/>
        </p:nvSpPr>
        <p:spPr>
          <a:xfrm>
            <a:off x="7488000" y="3342252"/>
            <a:ext cx="4248000" cy="2525747"/>
          </a:xfrm>
          <a:prstGeom prst="rect">
            <a:avLst/>
          </a:prstGeom>
          <a:noFill/>
        </p:spPr>
        <p:txBody>
          <a:bodyPr wrap="square" lIns="54000" rIns="54000"/>
          <a:lstStyle/>
          <a:p>
            <a:pPr algn="just">
              <a:spcAft>
                <a:spcPts val="600"/>
              </a:spcAft>
            </a:pPr>
            <a:r>
              <a:rPr sz="1200" b="1">
                <a:solidFill>
                  <a:srgbClr val="060606"/>
                </a:solidFill>
                <a:latin typeface="Helvetica"/>
              </a:rPr>
              <a:t>Toute la question de la liquidité se ramène à l'épargne.</a:t>
            </a:r>
            <a:r>
              <a:rPr sz="1200" b="0">
                <a:solidFill>
                  <a:srgbClr val="060606"/>
                </a:solidFill>
                <a:latin typeface="Helvetica"/>
              </a:rPr>
              <a:t> Les autres dettes à court terme sont couvertes par la trésorerie en 2025.</a:t>
            </a:r>
          </a:p>
          <a:p>
            <a:pPr algn="just">
              <a:spcAft>
                <a:spcPts val="600"/>
              </a:spcAft>
            </a:pPr>
            <a:r>
              <a:rPr sz="1200" b="0">
                <a:solidFill>
                  <a:srgbClr val="060606"/>
                </a:solidFill>
                <a:latin typeface="Helvetica"/>
              </a:rPr>
              <a:t>Le FPPN doit connaître la part de l'épargne exigible dans l'année : sans cet échéancier, la lecture prudente du plan comptable s'impose et la liquidité est non conforme.</a:t>
            </a:r>
          </a:p>
        </p:txBody>
      </p:sp>
      <p:sp>
        <p:nvSpPr>
          <p:cNvPr id="46" name="TextBox 4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PEP : Plan Épargne Plus | EFC : entraide fin de carrière</a:t>
            </a:r>
          </a:p>
        </p:txBody>
      </p:sp>
    </p:spTree>
    <p:extLst>
      <p:ext uri="{BB962C8B-B14F-4D97-AF65-F5344CB8AC3E}">
        <p14:creationId xmlns:p14="http://schemas.microsoft.com/office/powerpoint/2010/main" val="3098060954"/>
      </p:ext>
    </p:extLst>
  </p:cSld>
  <p:clrMapOvr>
    <a:masterClrMapping/>
  </p:clrMapOvr>
  <p:transition>
    <p:fade/>
  </p:transition>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Calcul pas à pas : équilibre stable 2025</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emplois longs dépassent les ressources longues, sauf si l'épargne est une ressource longue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Équilibre stable 1,54 comme le FPPN, 0,94 retraité. Norme d'au plus 1</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 Décision n° 05/2022/COM/UEMOA du 1er juin 2022, annexe, § 1.2.3.1</a:t>
            </a:r>
          </a:p>
        </p:txBody>
      </p:sp>
      <p:sp>
        <p:nvSpPr>
          <p:cNvPr id="31" name="TextBox 30"/>
          <p:cNvSpPr txBox="1"/>
          <p:nvPr/>
        </p:nvSpPr>
        <p:spPr>
          <a:xfrm>
            <a:off x="503999" y="1350000"/>
            <a:ext cx="6768000" cy="180000"/>
          </a:xfrm>
          <a:prstGeom prst="rect">
            <a:avLst/>
          </a:prstGeom>
          <a:noFill/>
        </p:spPr>
        <p:txBody>
          <a:bodyPr wrap="square" anchor="t" lIns="54000" rIns="54000"/>
          <a:lstStyle/>
          <a:p>
            <a:pPr algn="l"/>
            <a:r>
              <a:rPr sz="900" b="0">
                <a:solidFill>
                  <a:srgbClr val="53565A"/>
                </a:solidFill>
                <a:latin typeface="Helvetica"/>
              </a:rPr>
              <a:t>Extrait : AUDIT ADENKA\DAFC\2025\BALANCE FPPN 2025.xlsx</a:t>
            </a:r>
          </a:p>
        </p:txBody>
      </p:sp>
      <p:graphicFrame>
        <p:nvGraphicFramePr>
          <p:cNvPr id="32" name="Table 31"/>
          <p:cNvGraphicFramePr>
            <a:graphicFrameLocks noGrp="1"/>
          </p:cNvGraphicFramePr>
          <p:nvPr/>
        </p:nvGraphicFramePr>
        <p:xfrm>
          <a:off x="503999" y="1548000"/>
          <a:ext cx="6768000" cy="1470063"/>
        </p:xfrm>
        <a:graphic>
          <a:graphicData uri="http://schemas.openxmlformats.org/drawingml/2006/table">
            <a:tbl>
              <a:tblPr firstRow="0" bandRow="0">
                <a:tableStyleId>{5940675A-B579-460E-94D1-54222C63F5DA}</a:tableStyleId>
              </a:tblPr>
              <a:tblGrid>
                <a:gridCol w="2376000"/>
                <a:gridCol w="2664000"/>
                <a:gridCol w="1728000"/>
              </a:tblGrid>
              <a:tr h="210009">
                <a:tc>
                  <a:txBody>
                    <a:bodyPr/>
                    <a:lstStyle/>
                    <a:p>
                      <a:pPr marL="0" indent="0" lvl="0">
                        <a:buNone/>
                      </a:pPr>
                      <a:r>
                        <a:rPr sz="1000" b="1">
                          <a:solidFill>
                            <a:srgbClr val="FFFFFF"/>
                          </a:solidFill>
                          <a:latin typeface="Helvetica"/>
                        </a:rPr>
                        <a:t>Élément</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Comptes</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Montant 2025</a:t>
                      </a:r>
                    </a:p>
                  </a:txBody>
                  <a:tcPr marL="43200" marR="43200" marT="14400" marB="14400" anchor="ctr">
                    <a:solidFill>
                      <a:srgbClr val="060606"/>
                    </a:solidFill>
                  </a:tcPr>
                </a:tc>
              </a:tr>
              <a:tr h="210009">
                <a:tc>
                  <a:txBody>
                    <a:bodyPr/>
                    <a:lstStyle/>
                    <a:p>
                      <a:pPr marL="0" indent="0" lvl="0">
                        <a:buNone/>
                      </a:pPr>
                      <a:r>
                        <a:rPr sz="1000" b="1">
                          <a:solidFill>
                            <a:srgbClr val="060606"/>
                          </a:solidFill>
                          <a:latin typeface="Helvetica"/>
                        </a:rPr>
                        <a:t>Actif immobilisé net</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classe 2</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6 814 784 076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Avances et créances durables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47111100 à 47111105, 47111201, 485</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10 425 076 132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Ressources longues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10 à 19</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4 434 722 768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Épargne PEP et EFC</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41195100, 41195200</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13 814 066 964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Équilibre stable comme le FPPN</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classe 2 / classe 1</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1,54</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Équilibre stable retraité</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(2 + avances) / (1 + épargne)</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0,94</a:t>
                      </a:r>
                    </a:p>
                  </a:txBody>
                  <a:tcPr marL="43200" marR="43200" marT="14400" marB="14400" anchor="ctr">
                    <a:solidFill>
                      <a:srgbClr val="F2F2F2"/>
                    </a:solidFill>
                  </a:tcPr>
                </a:tc>
              </a:tr>
            </a:tbl>
          </a:graphicData>
        </a:graphic>
      </p:graphicFrame>
      <p:sp>
        <p:nvSpPr>
          <p:cNvPr id="33" name="Rounded Rectangle 32"/>
          <p:cNvSpPr/>
          <p:nvPr/>
        </p:nvSpPr>
        <p:spPr>
          <a:xfrm>
            <a:off x="5526000" y="1957219"/>
            <a:ext cx="1763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092000" y="1806019"/>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5" name="Rounded Rectangle 34"/>
          <p:cNvSpPr/>
          <p:nvPr/>
        </p:nvSpPr>
        <p:spPr>
          <a:xfrm>
            <a:off x="5526000" y="2587247"/>
            <a:ext cx="1763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092000" y="2436047"/>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37" name="Rounded Rectangle 36"/>
          <p:cNvSpPr/>
          <p:nvPr/>
        </p:nvSpPr>
        <p:spPr>
          <a:xfrm>
            <a:off x="5526000" y="2797257"/>
            <a:ext cx="1763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092000" y="2646057"/>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39" name="Oval 38"/>
          <p:cNvSpPr/>
          <p:nvPr/>
        </p:nvSpPr>
        <p:spPr>
          <a:xfrm>
            <a:off x="7488000" y="1548000"/>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40" name="TextBox 39"/>
          <p:cNvSpPr txBox="1"/>
          <p:nvPr/>
        </p:nvSpPr>
        <p:spPr>
          <a:xfrm>
            <a:off x="7848000" y="1530000"/>
            <a:ext cx="3887999" cy="484084"/>
          </a:xfrm>
          <a:prstGeom prst="rect">
            <a:avLst/>
          </a:prstGeom>
          <a:noFill/>
        </p:spPr>
        <p:txBody>
          <a:bodyPr wrap="square" anchor="t" lIns="54000" rIns="54000"/>
          <a:lstStyle/>
          <a:p>
            <a:pPr algn="l"/>
            <a:r>
              <a:rPr sz="1200" b="0">
                <a:solidFill>
                  <a:srgbClr val="060606"/>
                </a:solidFill>
                <a:latin typeface="Helvetica"/>
              </a:rPr>
              <a:t>Des avances durables supérieures à l'actif immobilisé sont suivies hors de la classe 2.</a:t>
            </a:r>
          </a:p>
        </p:txBody>
      </p:sp>
      <p:sp>
        <p:nvSpPr>
          <p:cNvPr id="41" name="Oval 40"/>
          <p:cNvSpPr/>
          <p:nvPr/>
        </p:nvSpPr>
        <p:spPr>
          <a:xfrm>
            <a:off x="7488000" y="2122084"/>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42" name="TextBox 41"/>
          <p:cNvSpPr txBox="1"/>
          <p:nvPr/>
        </p:nvSpPr>
        <p:spPr>
          <a:xfrm>
            <a:off x="7848000" y="2104084"/>
            <a:ext cx="3887999" cy="484084"/>
          </a:xfrm>
          <a:prstGeom prst="rect">
            <a:avLst/>
          </a:prstGeom>
          <a:noFill/>
        </p:spPr>
        <p:txBody>
          <a:bodyPr wrap="square" anchor="t" lIns="54000" rIns="54000"/>
          <a:lstStyle/>
          <a:p>
            <a:pPr algn="l"/>
            <a:r>
              <a:rPr sz="1200" b="0">
                <a:solidFill>
                  <a:srgbClr val="060606"/>
                </a:solidFill>
                <a:latin typeface="Helvetica"/>
              </a:rPr>
              <a:t>Comme le FPPN, les emplois longs valent plus d'une fois et demie les ressources longues.</a:t>
            </a:r>
          </a:p>
        </p:txBody>
      </p:sp>
      <p:sp>
        <p:nvSpPr>
          <p:cNvPr id="43" name="Oval 42"/>
          <p:cNvSpPr/>
          <p:nvPr/>
        </p:nvSpPr>
        <p:spPr>
          <a:xfrm>
            <a:off x="7488000" y="269616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44" name="TextBox 43"/>
          <p:cNvSpPr txBox="1"/>
          <p:nvPr/>
        </p:nvSpPr>
        <p:spPr>
          <a:xfrm>
            <a:off x="7848000" y="2678168"/>
            <a:ext cx="3887999" cy="484084"/>
          </a:xfrm>
          <a:prstGeom prst="rect">
            <a:avLst/>
          </a:prstGeom>
          <a:noFill/>
        </p:spPr>
        <p:txBody>
          <a:bodyPr wrap="square" anchor="t" lIns="54000" rIns="54000"/>
          <a:lstStyle/>
          <a:p>
            <a:pPr algn="l"/>
            <a:r>
              <a:rPr sz="1200" b="0">
                <a:solidFill>
                  <a:srgbClr val="060606"/>
                </a:solidFill>
                <a:latin typeface="Helvetica"/>
              </a:rPr>
              <a:t>Avec l'épargne en ressource longue, l'équilibre est respecté de peu.</a:t>
            </a:r>
          </a:p>
        </p:txBody>
      </p:sp>
      <p:sp>
        <p:nvSpPr>
          <p:cNvPr id="45" name="TextBox 44"/>
          <p:cNvSpPr txBox="1"/>
          <p:nvPr/>
        </p:nvSpPr>
        <p:spPr>
          <a:xfrm>
            <a:off x="7488000" y="3342252"/>
            <a:ext cx="4248000" cy="2525747"/>
          </a:xfrm>
          <a:prstGeom prst="rect">
            <a:avLst/>
          </a:prstGeom>
          <a:noFill/>
        </p:spPr>
        <p:txBody>
          <a:bodyPr wrap="square" lIns="54000" rIns="54000"/>
          <a:lstStyle/>
          <a:p>
            <a:pPr algn="just">
              <a:spcAft>
                <a:spcPts val="600"/>
              </a:spcAft>
            </a:pPr>
            <a:r>
              <a:rPr sz="1200" b="1">
                <a:solidFill>
                  <a:srgbClr val="060606"/>
                </a:solidFill>
                <a:latin typeface="Helvetica"/>
              </a:rPr>
              <a:t>L'épargne des adhérents finance les emplois longs du FPPN.</a:t>
            </a:r>
            <a:r>
              <a:rPr sz="1200" b="0">
                <a:solidFill>
                  <a:srgbClr val="060606"/>
                </a:solidFill>
                <a:latin typeface="Helvetica"/>
              </a:rPr>
              <a:t> Sans elle, les ressources longues ne couvrent pas les terrains, les bâtiments et les avances durables.</a:t>
            </a:r>
          </a:p>
          <a:p>
            <a:pPr algn="just">
              <a:spcAft>
                <a:spcPts val="600"/>
              </a:spcAft>
            </a:pPr>
            <a:r>
              <a:rPr sz="1200" b="0">
                <a:solidFill>
                  <a:srgbClr val="060606"/>
                </a:solidFill>
                <a:latin typeface="Helvetica"/>
              </a:rPr>
              <a:t>Financer des emplois longs avec de l'épargne n'est soutenable que si cette épargne reste longtemps : c'est précisément ce que l'échéancier de l'EFC et du PEP doit démontrer.</a:t>
            </a:r>
          </a:p>
        </p:txBody>
      </p:sp>
      <p:sp>
        <p:nvSpPr>
          <p:cNvPr id="46" name="TextBox 4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PEP : Plan Épargne Plus | EFC : entraide fin de carrière</a:t>
            </a:r>
          </a:p>
        </p:txBody>
      </p:sp>
    </p:spTree>
    <p:extLst>
      <p:ext uri="{BB962C8B-B14F-4D97-AF65-F5344CB8AC3E}">
        <p14:creationId xmlns:p14="http://schemas.microsoft.com/office/powerpoint/2010/main" val="3544969422"/>
      </p:ext>
    </p:extLst>
  </p:cSld>
  <p:clrMapOvr>
    <a:masterClrMapping/>
  </p:clrMapOvr>
  <p:transition>
    <p:fade/>
  </p:transition>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Calcul pas à pas : taux d'excédent net 2025</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L'excédent dépasse le plafond de 5 % des cotisations, ce qui sert à reconstituer les fonds propres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Excédent net 437 899 911 FCFA / cotisations acquises 3 418 141 722 FCFA = 12,81 %</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 Décision n° 05/2022/COM/UEMOA du 1er juin 2022, annexe, § 1.2.2.5.5</a:t>
            </a:r>
          </a:p>
        </p:txBody>
      </p:sp>
      <p:sp>
        <p:nvSpPr>
          <p:cNvPr id="31" name="TextBox 30"/>
          <p:cNvSpPr txBox="1"/>
          <p:nvPr/>
        </p:nvSpPr>
        <p:spPr>
          <a:xfrm>
            <a:off x="503999" y="1350000"/>
            <a:ext cx="6480000" cy="180000"/>
          </a:xfrm>
          <a:prstGeom prst="rect">
            <a:avLst/>
          </a:prstGeom>
          <a:noFill/>
        </p:spPr>
        <p:txBody>
          <a:bodyPr wrap="square" anchor="t" lIns="54000" rIns="54000"/>
          <a:lstStyle/>
          <a:p>
            <a:pPr algn="l"/>
            <a:r>
              <a:rPr sz="900" b="0">
                <a:solidFill>
                  <a:srgbClr val="53565A"/>
                </a:solidFill>
                <a:latin typeface="Helvetica"/>
              </a:rPr>
              <a:t>Extrait : AUDIT ADENKA\DAFC\2025\BALANCE FPPN 2025.xlsx</a:t>
            </a:r>
          </a:p>
        </p:txBody>
      </p:sp>
      <p:graphicFrame>
        <p:nvGraphicFramePr>
          <p:cNvPr id="32" name="Table 31"/>
          <p:cNvGraphicFramePr>
            <a:graphicFrameLocks noGrp="1"/>
          </p:cNvGraphicFramePr>
          <p:nvPr/>
        </p:nvGraphicFramePr>
        <p:xfrm>
          <a:off x="503999" y="1548000"/>
          <a:ext cx="6479998" cy="1470063"/>
        </p:xfrm>
        <a:graphic>
          <a:graphicData uri="http://schemas.openxmlformats.org/drawingml/2006/table">
            <a:tbl>
              <a:tblPr firstRow="0" bandRow="0">
                <a:tableStyleId>{5940675A-B579-460E-94D1-54222C63F5DA}</a:tableStyleId>
              </a:tblPr>
              <a:tblGrid>
                <a:gridCol w="2448000"/>
                <a:gridCol w="2015999"/>
                <a:gridCol w="2015999"/>
              </a:tblGrid>
              <a:tr h="210009">
                <a:tc>
                  <a:txBody>
                    <a:bodyPr/>
                    <a:lstStyle/>
                    <a:p>
                      <a:pPr marL="0" indent="0" lvl="0">
                        <a:buNone/>
                      </a:pPr>
                      <a:r>
                        <a:rPr sz="1000" b="1">
                          <a:solidFill>
                            <a:srgbClr val="FFFFFF"/>
                          </a:solidFill>
                          <a:latin typeface="Helvetica"/>
                        </a:rPr>
                        <a:t>Élément</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Comptes</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Montant 2025</a:t>
                      </a:r>
                    </a:p>
                  </a:txBody>
                  <a:tcPr marL="43200" marR="43200" marT="14400" marB="14400" anchor="ctr">
                    <a:solidFill>
                      <a:srgbClr val="060606"/>
                    </a:solidFill>
                  </a:tcPr>
                </a:tc>
              </a:tr>
              <a:tr h="210009">
                <a:tc>
                  <a:txBody>
                    <a:bodyPr/>
                    <a:lstStyle/>
                    <a:p>
                      <a:pPr marL="0" indent="0" lvl="0">
                        <a:buNone/>
                      </a:pPr>
                      <a:r>
                        <a:rPr sz="1000" b="1">
                          <a:solidFill>
                            <a:srgbClr val="060606"/>
                          </a:solidFill>
                          <a:latin typeface="Helvetica"/>
                        </a:rPr>
                        <a:t>Produits des activités ordinaires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classe 7</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3 671 499 865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Charges des activités ordinaires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classe 6</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3 250 431 812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Résultat hors activités ordinaires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classe 8</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16 831 858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Excédent net</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7 - 6 + 8</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437 899 911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Cotisations acquises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classe 70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3 418 141 722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Taux d'excédent net</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excédent / cotisations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12,81 %</a:t>
                      </a:r>
                    </a:p>
                  </a:txBody>
                  <a:tcPr marL="43200" marR="43200" marT="14400" marB="14400" anchor="ctr">
                    <a:solidFill>
                      <a:srgbClr val="F2F2F2"/>
                    </a:solidFill>
                  </a:tcPr>
                </a:tc>
              </a:tr>
            </a:tbl>
          </a:graphicData>
        </a:graphic>
      </p:graphicFrame>
      <p:sp>
        <p:nvSpPr>
          <p:cNvPr id="33" name="Rounded Rectangle 32"/>
          <p:cNvSpPr/>
          <p:nvPr/>
        </p:nvSpPr>
        <p:spPr>
          <a:xfrm>
            <a:off x="4949999" y="2377238"/>
            <a:ext cx="2051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803999" y="222603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5" name="Rounded Rectangle 34"/>
          <p:cNvSpPr/>
          <p:nvPr/>
        </p:nvSpPr>
        <p:spPr>
          <a:xfrm>
            <a:off x="4949999" y="2797257"/>
            <a:ext cx="2051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803999" y="2646057"/>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37" name="Oval 36"/>
          <p:cNvSpPr/>
          <p:nvPr/>
        </p:nvSpPr>
        <p:spPr>
          <a:xfrm>
            <a:off x="7200000" y="1548000"/>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8" name="TextBox 37"/>
          <p:cNvSpPr txBox="1"/>
          <p:nvPr/>
        </p:nvSpPr>
        <p:spPr>
          <a:xfrm>
            <a:off x="7560000" y="1530000"/>
            <a:ext cx="4176000" cy="484084"/>
          </a:xfrm>
          <a:prstGeom prst="rect">
            <a:avLst/>
          </a:prstGeom>
          <a:noFill/>
        </p:spPr>
        <p:txBody>
          <a:bodyPr wrap="square" anchor="t" lIns="54000" rIns="54000"/>
          <a:lstStyle/>
          <a:p>
            <a:pPr algn="l"/>
            <a:r>
              <a:rPr sz="1200" b="0">
                <a:solidFill>
                  <a:srgbClr val="060606"/>
                </a:solidFill>
                <a:latin typeface="Helvetica"/>
              </a:rPr>
              <a:t>L'excédent net 2025 est positif, mais il baisse depuis 2021.</a:t>
            </a:r>
          </a:p>
        </p:txBody>
      </p:sp>
      <p:sp>
        <p:nvSpPr>
          <p:cNvPr id="39" name="Oval 38"/>
          <p:cNvSpPr/>
          <p:nvPr/>
        </p:nvSpPr>
        <p:spPr>
          <a:xfrm>
            <a:off x="7200000" y="2122084"/>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40" name="TextBox 39"/>
          <p:cNvSpPr txBox="1"/>
          <p:nvPr/>
        </p:nvSpPr>
        <p:spPr>
          <a:xfrm>
            <a:off x="7560000" y="2104084"/>
            <a:ext cx="4176000" cy="298144"/>
          </a:xfrm>
          <a:prstGeom prst="rect">
            <a:avLst/>
          </a:prstGeom>
          <a:noFill/>
        </p:spPr>
        <p:txBody>
          <a:bodyPr wrap="square" anchor="t" lIns="54000" rIns="54000"/>
          <a:lstStyle/>
          <a:p>
            <a:pPr algn="l"/>
            <a:r>
              <a:rPr sz="1200" b="0">
                <a:solidFill>
                  <a:srgbClr val="060606"/>
                </a:solidFill>
                <a:latin typeface="Helvetica"/>
              </a:rPr>
              <a:t>Le taux dépasse le plafond de 5 % fixé par la norme.</a:t>
            </a:r>
          </a:p>
        </p:txBody>
      </p:sp>
      <p:sp>
        <p:nvSpPr>
          <p:cNvPr id="41" name="TextBox 40"/>
          <p:cNvSpPr txBox="1"/>
          <p:nvPr/>
        </p:nvSpPr>
        <p:spPr>
          <a:xfrm>
            <a:off x="7200000" y="2582228"/>
            <a:ext cx="4536000" cy="3285771"/>
          </a:xfrm>
          <a:prstGeom prst="rect">
            <a:avLst/>
          </a:prstGeom>
          <a:noFill/>
        </p:spPr>
        <p:txBody>
          <a:bodyPr wrap="square" lIns="54000" rIns="54000"/>
          <a:lstStyle/>
          <a:p>
            <a:pPr algn="just">
              <a:spcAft>
                <a:spcPts val="600"/>
              </a:spcAft>
            </a:pPr>
            <a:r>
              <a:rPr sz="1200" b="1">
                <a:solidFill>
                  <a:srgbClr val="060606"/>
                </a:solidFill>
                <a:latin typeface="Helvetica"/>
              </a:rPr>
              <a:t>Ce dépassement n'est pas un défaut en soi pour le FPPN.</a:t>
            </a:r>
            <a:r>
              <a:rPr sz="1200" b="0">
                <a:solidFill>
                  <a:srgbClr val="060606"/>
                </a:solidFill>
                <a:latin typeface="Helvetica"/>
              </a:rPr>
              <a:t> Ses fonds propres sont négatifs, et les excédents sont le seul moyen de les reconstituer et de doter la réserve obligatoire.</a:t>
            </a:r>
          </a:p>
          <a:p>
            <a:pPr algn="just">
              <a:spcAft>
                <a:spcPts val="600"/>
              </a:spcAft>
            </a:pPr>
            <a:r>
              <a:rPr sz="1200" b="0">
                <a:solidFill>
                  <a:srgbClr val="060606"/>
                </a:solidFill>
                <a:latin typeface="Helvetica"/>
              </a:rPr>
              <a:t>Un plan de mise en conformité présenté à l'AIRMS doit justifier ce dépassement temporaire par l'objectif de fonds propres, avec un calendrier de retour sous le plafond.</a:t>
            </a:r>
          </a:p>
        </p:txBody>
      </p:sp>
      <p:sp>
        <p:nvSpPr>
          <p:cNvPr id="42" name="TextBox 41"/>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AIRMS : Agence ivoirienne de régulation de la mutualité sociale | UEMOA : Union économique et monétaire ouest-africaine</a:t>
            </a:r>
          </a:p>
        </p:txBody>
      </p:sp>
    </p:spTree>
    <p:extLst>
      <p:ext uri="{BB962C8B-B14F-4D97-AF65-F5344CB8AC3E}">
        <p14:creationId xmlns:p14="http://schemas.microsoft.com/office/powerpoint/2010/main" val="3800598088"/>
      </p:ext>
    </p:extLst>
  </p:cSld>
  <p:clrMapOvr>
    <a:masterClrMapping/>
  </p:clrMapOvr>
  <p:transition>
    <p:fade/>
  </p:transition>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Calcul pas à pas : frais de fonctionnement 2025</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charges de fonctionnement absorbent plus d'un tiers des cotisations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Taux des charges de fonctionnement 36,34 % (norme 20 %), brut 34,86 % (norme 15 %), par unité prestée 63,21 % (norme 15 %)</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 Décision n° 05/2022/COM/UEMOA du 1er juin 2022, annexe, § 1.2.1.2.1 à 1.2.1.2.4</a:t>
            </a:r>
          </a:p>
        </p:txBody>
      </p:sp>
      <p:sp>
        <p:nvSpPr>
          <p:cNvPr id="31" name="TextBox 30"/>
          <p:cNvSpPr txBox="1"/>
          <p:nvPr/>
        </p:nvSpPr>
        <p:spPr>
          <a:xfrm>
            <a:off x="503999" y="1350000"/>
            <a:ext cx="6552000" cy="180000"/>
          </a:xfrm>
          <a:prstGeom prst="rect">
            <a:avLst/>
          </a:prstGeom>
          <a:noFill/>
        </p:spPr>
        <p:txBody>
          <a:bodyPr wrap="square" anchor="t" lIns="54000" rIns="54000"/>
          <a:lstStyle/>
          <a:p>
            <a:pPr algn="l"/>
            <a:r>
              <a:rPr sz="900" b="0">
                <a:solidFill>
                  <a:srgbClr val="53565A"/>
                </a:solidFill>
                <a:latin typeface="Helvetica"/>
              </a:rPr>
              <a:t>Extrait : AUDIT ADENKA\DAFC\2025\BALANCE FPPN 2025.xlsx</a:t>
            </a:r>
          </a:p>
        </p:txBody>
      </p:sp>
      <p:graphicFrame>
        <p:nvGraphicFramePr>
          <p:cNvPr id="32" name="Table 31"/>
          <p:cNvGraphicFramePr>
            <a:graphicFrameLocks noGrp="1"/>
          </p:cNvGraphicFramePr>
          <p:nvPr/>
        </p:nvGraphicFramePr>
        <p:xfrm>
          <a:off x="503999" y="1548000"/>
          <a:ext cx="6552000" cy="2252500"/>
        </p:xfrm>
        <a:graphic>
          <a:graphicData uri="http://schemas.openxmlformats.org/drawingml/2006/table">
            <a:tbl>
              <a:tblPr firstRow="0" bandRow="0">
                <a:tableStyleId>{5940675A-B579-460E-94D1-54222C63F5DA}</a:tableStyleId>
              </a:tblPr>
              <a:tblGrid>
                <a:gridCol w="2592000"/>
                <a:gridCol w="2232000"/>
                <a:gridCol w="1728000"/>
              </a:tblGrid>
              <a:tr h="210009">
                <a:tc>
                  <a:txBody>
                    <a:bodyPr/>
                    <a:lstStyle/>
                    <a:p>
                      <a:pPr marL="0" indent="0" lvl="0">
                        <a:buNone/>
                      </a:pPr>
                      <a:r>
                        <a:rPr sz="1000" b="1">
                          <a:solidFill>
                            <a:srgbClr val="FFFFFF"/>
                          </a:solidFill>
                          <a:latin typeface="Helvetica"/>
                        </a:rPr>
                        <a:t>Élément</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Comptes</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Montant 2025</a:t>
                      </a:r>
                    </a:p>
                  </a:txBody>
                  <a:tcPr marL="43200" marR="43200" marT="14400" marB="14400" anchor="ctr">
                    <a:solidFill>
                      <a:srgbClr val="060606"/>
                    </a:solidFill>
                  </a:tcPr>
                </a:tc>
              </a:tr>
              <a:tr h="210009">
                <a:tc>
                  <a:txBody>
                    <a:bodyPr/>
                    <a:lstStyle/>
                    <a:p>
                      <a:pPr marL="0" indent="0" lvl="0">
                        <a:buNone/>
                      </a:pPr>
                      <a:r>
                        <a:rPr sz="1000" b="1">
                          <a:solidFill>
                            <a:srgbClr val="060606"/>
                          </a:solidFill>
                          <a:latin typeface="Helvetica"/>
                        </a:rPr>
                        <a:t>Charges de fonctionnement</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612, 613, 618, 62 à 68</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1 241 993 107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Cotisations acquises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70</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3 418 141 722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Taux des charges de fonctionnement</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norme : au plus 20 %</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36,34 %</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Charges de fonctionnement brut</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61 à 68, 691, 697</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1 285 659 785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Total des produits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liste de l'annexe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3 688 331 723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Taux brut</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norme : au plus 15 %</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34,86 %</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Charges de prestations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60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1 964 772 027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Coût par unité prestée</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norme : au plus 15 %</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63,21 %</a:t>
                      </a:r>
                    </a:p>
                  </a:txBody>
                  <a:tcPr marL="43200" marR="43200" marT="14400" marB="14400" anchor="ctr">
                    <a:solidFill>
                      <a:srgbClr val="F2F2F2"/>
                    </a:solidFill>
                  </a:tcPr>
                </a:tc>
              </a:tr>
              <a:tr h="362419">
                <a:tc>
                  <a:txBody>
                    <a:bodyPr/>
                    <a:lstStyle/>
                    <a:p>
                      <a:pPr marL="0" indent="0" lvl="0">
                        <a:buNone/>
                      </a:pPr>
                      <a:r>
                        <a:rPr sz="1000" b="1">
                          <a:solidFill>
                            <a:srgbClr val="060606"/>
                          </a:solidFill>
                          <a:latin typeface="Helvetica"/>
                        </a:rPr>
                        <a:t>Charges de personnel / fonctionnement brut</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66, norme : moins de 85 %</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26,57 %</a:t>
                      </a:r>
                    </a:p>
                  </a:txBody>
                  <a:tcPr marL="43200" marR="43200" marT="14400" marB="14400" anchor="ctr">
                    <a:solidFill>
                      <a:srgbClr val="FFFFFF"/>
                    </a:solidFill>
                  </a:tcPr>
                </a:tc>
              </a:tr>
            </a:tbl>
          </a:graphicData>
        </a:graphic>
      </p:graphicFrame>
      <p:sp>
        <p:nvSpPr>
          <p:cNvPr id="33" name="Rounded Rectangle 32"/>
          <p:cNvSpPr/>
          <p:nvPr/>
        </p:nvSpPr>
        <p:spPr>
          <a:xfrm>
            <a:off x="5310000" y="2167228"/>
            <a:ext cx="1763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876000" y="201602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5" name="Rounded Rectangle 34"/>
          <p:cNvSpPr/>
          <p:nvPr/>
        </p:nvSpPr>
        <p:spPr>
          <a:xfrm>
            <a:off x="5310000" y="2797257"/>
            <a:ext cx="1763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876000" y="2646057"/>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37" name="Rounded Rectangle 36"/>
          <p:cNvSpPr/>
          <p:nvPr/>
        </p:nvSpPr>
        <p:spPr>
          <a:xfrm>
            <a:off x="5310000" y="3217276"/>
            <a:ext cx="1763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876000" y="3066076"/>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39" name="Oval 38"/>
          <p:cNvSpPr/>
          <p:nvPr/>
        </p:nvSpPr>
        <p:spPr>
          <a:xfrm>
            <a:off x="7272000" y="1548000"/>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40" name="TextBox 39"/>
          <p:cNvSpPr txBox="1"/>
          <p:nvPr/>
        </p:nvSpPr>
        <p:spPr>
          <a:xfrm>
            <a:off x="7632000" y="1530000"/>
            <a:ext cx="4104000" cy="484084"/>
          </a:xfrm>
          <a:prstGeom prst="rect">
            <a:avLst/>
          </a:prstGeom>
          <a:noFill/>
        </p:spPr>
        <p:txBody>
          <a:bodyPr wrap="square" anchor="t" lIns="54000" rIns="54000"/>
          <a:lstStyle/>
          <a:p>
            <a:pPr algn="l"/>
            <a:r>
              <a:rPr sz="1200" b="0">
                <a:solidFill>
                  <a:srgbClr val="060606"/>
                </a:solidFill>
                <a:latin typeface="Helvetica"/>
              </a:rPr>
              <a:t>Les charges de fonctionnement représentent plus d'un tiers des cotisations.</a:t>
            </a:r>
          </a:p>
        </p:txBody>
      </p:sp>
      <p:sp>
        <p:nvSpPr>
          <p:cNvPr id="41" name="Oval 40"/>
          <p:cNvSpPr/>
          <p:nvPr/>
        </p:nvSpPr>
        <p:spPr>
          <a:xfrm>
            <a:off x="7272000" y="2122084"/>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42" name="TextBox 41"/>
          <p:cNvSpPr txBox="1"/>
          <p:nvPr/>
        </p:nvSpPr>
        <p:spPr>
          <a:xfrm>
            <a:off x="7632000" y="2104084"/>
            <a:ext cx="4104000" cy="298144"/>
          </a:xfrm>
          <a:prstGeom prst="rect">
            <a:avLst/>
          </a:prstGeom>
          <a:noFill/>
        </p:spPr>
        <p:txBody>
          <a:bodyPr wrap="square" anchor="t" lIns="54000" rIns="54000"/>
          <a:lstStyle/>
          <a:p>
            <a:pPr algn="l"/>
            <a:r>
              <a:rPr sz="1200" b="0">
                <a:solidFill>
                  <a:srgbClr val="060606"/>
                </a:solidFill>
                <a:latin typeface="Helvetica"/>
              </a:rPr>
              <a:t>Le taux brut dépasse aussi sa norme de 15 %.</a:t>
            </a:r>
          </a:p>
        </p:txBody>
      </p:sp>
      <p:sp>
        <p:nvSpPr>
          <p:cNvPr id="43" name="Oval 42"/>
          <p:cNvSpPr/>
          <p:nvPr/>
        </p:nvSpPr>
        <p:spPr>
          <a:xfrm>
            <a:off x="7272000" y="251022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44" name="TextBox 43"/>
          <p:cNvSpPr txBox="1"/>
          <p:nvPr/>
        </p:nvSpPr>
        <p:spPr>
          <a:xfrm>
            <a:off x="7632000" y="2492228"/>
            <a:ext cx="4104000" cy="484084"/>
          </a:xfrm>
          <a:prstGeom prst="rect">
            <a:avLst/>
          </a:prstGeom>
          <a:noFill/>
        </p:spPr>
        <p:txBody>
          <a:bodyPr wrap="square" anchor="t" lIns="54000" rIns="54000"/>
          <a:lstStyle/>
          <a:p>
            <a:pPr algn="l"/>
            <a:r>
              <a:rPr sz="1200" b="0">
                <a:solidFill>
                  <a:srgbClr val="060606"/>
                </a:solidFill>
                <a:latin typeface="Helvetica"/>
              </a:rPr>
              <a:t>Le FPPN dépense 63 FCFA de fonctionnement pour 100 FCFA de prestations.</a:t>
            </a:r>
          </a:p>
        </p:txBody>
      </p:sp>
      <p:sp>
        <p:nvSpPr>
          <p:cNvPr id="45" name="TextBox 44"/>
          <p:cNvSpPr txBox="1"/>
          <p:nvPr/>
        </p:nvSpPr>
        <p:spPr>
          <a:xfrm>
            <a:off x="7272000" y="3156312"/>
            <a:ext cx="4464000" cy="2711687"/>
          </a:xfrm>
          <a:prstGeom prst="rect">
            <a:avLst/>
          </a:prstGeom>
          <a:noFill/>
        </p:spPr>
        <p:txBody>
          <a:bodyPr wrap="square" lIns="54000" rIns="54000"/>
          <a:lstStyle/>
          <a:p>
            <a:pPr algn="just">
              <a:spcAft>
                <a:spcPts val="600"/>
              </a:spcAft>
            </a:pPr>
            <a:r>
              <a:rPr sz="1200" b="1">
                <a:solidFill>
                  <a:srgbClr val="060606"/>
                </a:solidFill>
                <a:latin typeface="Helvetica"/>
              </a:rPr>
              <a:t>Le personnel n'explique pas l'écart.</a:t>
            </a:r>
            <a:r>
              <a:rPr sz="1200" b="0">
                <a:solidFill>
                  <a:srgbClr val="060606"/>
                </a:solidFill>
                <a:latin typeface="Helvetica"/>
              </a:rPr>
              <a:t> Les charges de personnel ne représentent qu'un quart des charges de fonctionnement brut. Les indemnités des organes, les services extérieurs et les amortissements pèsent ensemble davantage.</a:t>
            </a:r>
          </a:p>
          <a:p>
            <a:pPr algn="just">
              <a:spcAft>
                <a:spcPts val="600"/>
              </a:spcAft>
            </a:pPr>
            <a:r>
              <a:rPr sz="1200" b="0">
                <a:solidFill>
                  <a:srgbClr val="060606"/>
                </a:solidFill>
                <a:latin typeface="Helvetica"/>
              </a:rPr>
              <a:t>Pour atteindre 20 % des cotisations de 2025, les charges de fonctionnement doivent baisser de 558 364 763 FCFA : l'effort doit porter sur les postes autres que le personnel.</a:t>
            </a:r>
          </a:p>
        </p:txBody>
      </p:sp>
      <p:sp>
        <p:nvSpPr>
          <p:cNvPr id="46" name="TextBox 4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a:t>
            </a:r>
          </a:p>
        </p:txBody>
      </p:sp>
    </p:spTree>
    <p:extLst>
      <p:ext uri="{BB962C8B-B14F-4D97-AF65-F5344CB8AC3E}">
        <p14:creationId xmlns:p14="http://schemas.microsoft.com/office/powerpoint/2010/main" val="2264899342"/>
      </p:ext>
    </p:extLst>
  </p:cSld>
  <p:clrMapOvr>
    <a:masterClrMapping/>
  </p:clrMapOvr>
  <p:transition>
    <p:fade/>
  </p:transition>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Calcul pas à pas : réserves des risques longs 2025</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Aucune réserve de trésorerie n'est constituée pour l'épargne, et les fonds propres sont négatifs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Besoin d'un trimestre d'engagements et de frais : 588 613 821 FCFA. Réserve de trésorerie constituée : 0 FCFA</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 Règlement d'exécution n° 004/2022/COM/UEMOA du 1er juin 2022, art. 19 et 21</a:t>
            </a:r>
          </a:p>
        </p:txBody>
      </p:sp>
      <p:sp>
        <p:nvSpPr>
          <p:cNvPr id="31" name="TextBox 30"/>
          <p:cNvSpPr txBox="1"/>
          <p:nvPr/>
        </p:nvSpPr>
        <p:spPr>
          <a:xfrm>
            <a:off x="503999" y="1350000"/>
            <a:ext cx="6696000" cy="180000"/>
          </a:xfrm>
          <a:prstGeom prst="rect">
            <a:avLst/>
          </a:prstGeom>
          <a:noFill/>
        </p:spPr>
        <p:txBody>
          <a:bodyPr wrap="square" anchor="t" lIns="54000" rIns="54000"/>
          <a:lstStyle/>
          <a:p>
            <a:pPr algn="l"/>
            <a:r>
              <a:rPr sz="900" b="0">
                <a:solidFill>
                  <a:srgbClr val="53565A"/>
                </a:solidFill>
                <a:latin typeface="Helvetica"/>
              </a:rPr>
              <a:t>Extrait : AUDIT ADENKA\DAFC\2024 et 2025 (balances des comptes)</a:t>
            </a:r>
          </a:p>
        </p:txBody>
      </p:sp>
      <p:graphicFrame>
        <p:nvGraphicFramePr>
          <p:cNvPr id="32" name="Table 31"/>
          <p:cNvGraphicFramePr>
            <a:graphicFrameLocks noGrp="1"/>
          </p:cNvGraphicFramePr>
          <p:nvPr/>
        </p:nvGraphicFramePr>
        <p:xfrm>
          <a:off x="503999" y="1548000"/>
          <a:ext cx="6695999" cy="2194901"/>
        </p:xfrm>
        <a:graphic>
          <a:graphicData uri="http://schemas.openxmlformats.org/drawingml/2006/table">
            <a:tbl>
              <a:tblPr firstRow="0" bandRow="0">
                <a:tableStyleId>{5940675A-B579-460E-94D1-54222C63F5DA}</a:tableStyleId>
              </a:tblPr>
              <a:tblGrid>
                <a:gridCol w="2520000"/>
                <a:gridCol w="2520000"/>
                <a:gridCol w="1655999"/>
              </a:tblGrid>
              <a:tr h="210009">
                <a:tc>
                  <a:txBody>
                    <a:bodyPr/>
                    <a:lstStyle/>
                    <a:p>
                      <a:pPr marL="0" indent="0" lvl="0">
                        <a:buNone/>
                      </a:pPr>
                      <a:r>
                        <a:rPr sz="1000" b="1">
                          <a:solidFill>
                            <a:srgbClr val="FFFFFF"/>
                          </a:solidFill>
                          <a:latin typeface="Helvetica"/>
                        </a:rPr>
                        <a:t>Élément</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Calcul</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Montant 2025</a:t>
                      </a:r>
                    </a:p>
                  </a:txBody>
                  <a:tcPr marL="43200" marR="43200" marT="14400" marB="14400" anchor="ctr">
                    <a:solidFill>
                      <a:srgbClr val="060606"/>
                    </a:solidFill>
                  </a:tcPr>
                </a:tc>
              </a:tr>
              <a:tr h="210009">
                <a:tc>
                  <a:txBody>
                    <a:bodyPr/>
                    <a:lstStyle/>
                    <a:p>
                      <a:pPr marL="0" indent="0" lvl="0">
                        <a:buNone/>
                      </a:pPr>
                      <a:r>
                        <a:rPr sz="1000" b="1">
                          <a:solidFill>
                            <a:srgbClr val="060606"/>
                          </a:solidFill>
                          <a:latin typeface="Helvetica"/>
                        </a:rPr>
                        <a:t>Sorties d'épargne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débits 41195100 et 41195200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1 358 821 103 FCFA</a:t>
                      </a:r>
                    </a:p>
                  </a:txBody>
                  <a:tcPr marL="43200" marR="43200" marT="14400" marB="14400" anchor="ctr">
                    <a:solidFill>
                      <a:srgbClr val="FFFFFF"/>
                    </a:solidFill>
                  </a:tcPr>
                </a:tc>
              </a:tr>
              <a:tr h="362419">
                <a:tc>
                  <a:txBody>
                    <a:bodyPr/>
                    <a:lstStyle/>
                    <a:p>
                      <a:pPr marL="0" indent="0" lvl="0">
                        <a:buNone/>
                      </a:pPr>
                      <a:r>
                        <a:rPr sz="1000" b="1">
                          <a:solidFill>
                            <a:srgbClr val="060606"/>
                          </a:solidFill>
                          <a:latin typeface="Helvetica"/>
                        </a:rPr>
                        <a:t>Frais attribués à l'épargne</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prorata épargne / (épargne + cotisations)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995 634 179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Besoin d'un trimestre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(sorties + frais) / 4</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588 613 821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Réserve de trésorerie constituée</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aucun compte identifié</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0 FCFA</a:t>
                      </a:r>
                    </a:p>
                  </a:txBody>
                  <a:tcPr marL="43200" marR="43200" marT="14400" marB="14400" anchor="ctr">
                    <a:solidFill>
                      <a:srgbClr val="F2F2F2"/>
                    </a:solidFill>
                  </a:tcPr>
                </a:tc>
              </a:tr>
              <a:tr h="362419">
                <a:tc>
                  <a:txBody>
                    <a:bodyPr/>
                    <a:lstStyle/>
                    <a:p>
                      <a:pPr marL="0" indent="0" lvl="0">
                        <a:buNone/>
                      </a:pPr>
                      <a:r>
                        <a:rPr sz="1000" b="1">
                          <a:solidFill>
                            <a:srgbClr val="060606"/>
                          </a:solidFill>
                          <a:latin typeface="Helvetica"/>
                        </a:rPr>
                        <a:t>Actifs réservés à l'épargne (pour comparaison)</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banques, DAT et FCP réservés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1 608 155 525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Fonds propres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10 à 14 + résultat</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-438 242 200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Sorties d'épargne 2024 et 2025</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art. 21</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2 993 682 337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Fonds propres / sorties de deux ans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norme : au moins 1</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-0,15</a:t>
                      </a:r>
                    </a:p>
                  </a:txBody>
                  <a:tcPr marL="43200" marR="43200" marT="14400" marB="14400" anchor="ctr">
                    <a:solidFill>
                      <a:srgbClr val="F2F2F2"/>
                    </a:solidFill>
                  </a:tcPr>
                </a:tc>
              </a:tr>
            </a:tbl>
          </a:graphicData>
        </a:graphic>
      </p:graphicFrame>
      <p:sp>
        <p:nvSpPr>
          <p:cNvPr id="33" name="Rounded Rectangle 32"/>
          <p:cNvSpPr/>
          <p:nvPr/>
        </p:nvSpPr>
        <p:spPr>
          <a:xfrm>
            <a:off x="5526000" y="2319638"/>
            <a:ext cx="1691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020000" y="216843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5" name="Rounded Rectangle 34"/>
          <p:cNvSpPr/>
          <p:nvPr/>
        </p:nvSpPr>
        <p:spPr>
          <a:xfrm>
            <a:off x="5526000" y="2529647"/>
            <a:ext cx="1691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020000" y="2378447"/>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37" name="Rounded Rectangle 36"/>
          <p:cNvSpPr/>
          <p:nvPr/>
        </p:nvSpPr>
        <p:spPr>
          <a:xfrm>
            <a:off x="5526000" y="3522096"/>
            <a:ext cx="1691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020000" y="3370896"/>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39" name="Oval 38"/>
          <p:cNvSpPr/>
          <p:nvPr/>
        </p:nvSpPr>
        <p:spPr>
          <a:xfrm>
            <a:off x="7416000" y="1548000"/>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40" name="TextBox 39"/>
          <p:cNvSpPr txBox="1"/>
          <p:nvPr/>
        </p:nvSpPr>
        <p:spPr>
          <a:xfrm>
            <a:off x="7776000" y="1530000"/>
            <a:ext cx="3959999" cy="484084"/>
          </a:xfrm>
          <a:prstGeom prst="rect">
            <a:avLst/>
          </a:prstGeom>
          <a:noFill/>
        </p:spPr>
        <p:txBody>
          <a:bodyPr wrap="square" anchor="t" lIns="54000" rIns="54000"/>
          <a:lstStyle/>
          <a:p>
            <a:pPr algn="l"/>
            <a:r>
              <a:rPr sz="1200" b="0">
                <a:solidFill>
                  <a:srgbClr val="060606"/>
                </a:solidFill>
                <a:latin typeface="Helvetica"/>
              </a:rPr>
              <a:t>Le besoin d'un trimestre se calcule à partir des sorties réelles d'épargne.</a:t>
            </a:r>
          </a:p>
        </p:txBody>
      </p:sp>
      <p:sp>
        <p:nvSpPr>
          <p:cNvPr id="41" name="Oval 40"/>
          <p:cNvSpPr/>
          <p:nvPr/>
        </p:nvSpPr>
        <p:spPr>
          <a:xfrm>
            <a:off x="7416000" y="2122084"/>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42" name="TextBox 41"/>
          <p:cNvSpPr txBox="1"/>
          <p:nvPr/>
        </p:nvSpPr>
        <p:spPr>
          <a:xfrm>
            <a:off x="7776000" y="2104084"/>
            <a:ext cx="3959999" cy="484084"/>
          </a:xfrm>
          <a:prstGeom prst="rect">
            <a:avLst/>
          </a:prstGeom>
          <a:noFill/>
        </p:spPr>
        <p:txBody>
          <a:bodyPr wrap="square" anchor="t" lIns="54000" rIns="54000"/>
          <a:lstStyle/>
          <a:p>
            <a:pPr algn="l"/>
            <a:r>
              <a:rPr sz="1200" b="0">
                <a:solidFill>
                  <a:srgbClr val="060606"/>
                </a:solidFill>
                <a:latin typeface="Helvetica"/>
              </a:rPr>
              <a:t>Aucun compte de réserve de trésorerie n'existe dans les balances.</a:t>
            </a:r>
          </a:p>
        </p:txBody>
      </p:sp>
      <p:sp>
        <p:nvSpPr>
          <p:cNvPr id="43" name="Oval 42"/>
          <p:cNvSpPr/>
          <p:nvPr/>
        </p:nvSpPr>
        <p:spPr>
          <a:xfrm>
            <a:off x="7416000" y="269616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44" name="TextBox 43"/>
          <p:cNvSpPr txBox="1"/>
          <p:nvPr/>
        </p:nvSpPr>
        <p:spPr>
          <a:xfrm>
            <a:off x="7776000" y="2678168"/>
            <a:ext cx="3959999" cy="484084"/>
          </a:xfrm>
          <a:prstGeom prst="rect">
            <a:avLst/>
          </a:prstGeom>
          <a:noFill/>
        </p:spPr>
        <p:txBody>
          <a:bodyPr wrap="square" anchor="t" lIns="54000" rIns="54000"/>
          <a:lstStyle/>
          <a:p>
            <a:pPr algn="l"/>
            <a:r>
              <a:rPr sz="1200" b="0">
                <a:solidFill>
                  <a:srgbClr val="060606"/>
                </a:solidFill>
                <a:latin typeface="Helvetica"/>
              </a:rPr>
              <a:t>Les fonds propres négatifs rendent le ratio de l'article 21 négatif.</a:t>
            </a:r>
          </a:p>
        </p:txBody>
      </p:sp>
      <p:sp>
        <p:nvSpPr>
          <p:cNvPr id="45" name="TextBox 44"/>
          <p:cNvSpPr txBox="1"/>
          <p:nvPr/>
        </p:nvSpPr>
        <p:spPr>
          <a:xfrm>
            <a:off x="7416000" y="3342252"/>
            <a:ext cx="4319999" cy="2525747"/>
          </a:xfrm>
          <a:prstGeom prst="rect">
            <a:avLst/>
          </a:prstGeom>
          <a:noFill/>
        </p:spPr>
        <p:txBody>
          <a:bodyPr wrap="square" lIns="54000" rIns="54000"/>
          <a:lstStyle/>
          <a:p>
            <a:pPr algn="just">
              <a:spcAft>
                <a:spcPts val="600"/>
              </a:spcAft>
            </a:pPr>
            <a:r>
              <a:rPr sz="1200" b="1">
                <a:solidFill>
                  <a:srgbClr val="060606"/>
                </a:solidFill>
                <a:latin typeface="Helvetica"/>
              </a:rPr>
              <a:t>Les actifs réservés à l'épargne dépassent le besoin d'un trimestre, mais ils ne forment pas une réserve.</a:t>
            </a:r>
            <a:r>
              <a:rPr sz="1200" b="0">
                <a:solidFill>
                  <a:srgbClr val="060606"/>
                </a:solidFill>
                <a:latin typeface="Helvetica"/>
              </a:rPr>
              <a:t> Une réserve est une part des fonds propres affectée, et les fonds propres du FPPN sont négatifs.</a:t>
            </a:r>
          </a:p>
          <a:p>
            <a:pPr algn="just">
              <a:spcAft>
                <a:spcPts val="600"/>
              </a:spcAft>
            </a:pPr>
            <a:r>
              <a:rPr sz="1200" b="0">
                <a:solidFill>
                  <a:srgbClr val="060606"/>
                </a:solidFill>
                <a:latin typeface="Helvetica"/>
              </a:rPr>
              <a:t>La constitution de cette réserve passe par l'affectation d'excédents futurs, après reconstitution des fonds propres : elle doit figurer dans le plan de mise en conformité.</a:t>
            </a:r>
          </a:p>
        </p:txBody>
      </p:sp>
      <p:sp>
        <p:nvSpPr>
          <p:cNvPr id="46" name="TextBox 4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FCP : fonds commun de placement | DAT : dépôt à terme</a:t>
            </a:r>
          </a:p>
        </p:txBody>
      </p:sp>
    </p:spTree>
    <p:extLst>
      <p:ext uri="{BB962C8B-B14F-4D97-AF65-F5344CB8AC3E}">
        <p14:creationId xmlns:p14="http://schemas.microsoft.com/office/powerpoint/2010/main" val="1703564081"/>
      </p:ext>
    </p:extLst>
  </p:cSld>
  <p:clrMapOvr>
    <a:masterClrMapping/>
  </p:clrMapOvr>
  <p:transition>
    <p:fade/>
  </p:transition>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7" name="Image 36"/>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3" name="Rectangle 22">
            <a:extLst>
              <a:ext uri="{FF2B5EF4-FFF2-40B4-BE49-F238E27FC236}">
                <a16:creationId xmlns:a16="http://schemas.microsoft.com/office/drawing/2014/main" id="{4CD23CFE-3F31-4BA9-B26F-B9B5B351518E}"/>
              </a:ext>
            </a:extLst>
          </p:cNvPr>
          <p:cNvSpPr/>
          <p:nvPr/>
        </p:nvSpPr>
        <p:spPr>
          <a:xfrm>
            <a:off x="2106184" y="1811264"/>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Ce que dit la norme</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La Décision n° 05/2022 impose d'affecter à la réserve obligatoire au moins 30 % de l'excédent net du risque maladie et au moins 50 % de celui des autres risques (§ 1.1.1). Le règlement d'exécution fixe une dotation de 20 à 50 % du résultat excédentaire de l'exercice précédent (art. 18).</a:t>
            </a:r>
          </a:p>
        </p:txBody>
      </p:sp>
      <p:sp>
        <p:nvSpPr>
          <p:cNvPr id="28" name="Rectangle 27">
            <a:extLst>
              <a:ext uri="{FF2B5EF4-FFF2-40B4-BE49-F238E27FC236}">
                <a16:creationId xmlns:a16="http://schemas.microsoft.com/office/drawing/2014/main" id="{9B9B23AA-050D-4543-80A0-873FE31AFFF7}"/>
              </a:ext>
            </a:extLst>
          </p:cNvPr>
          <p:cNvSpPr/>
          <p:nvPr/>
        </p:nvSpPr>
        <p:spPr>
          <a:xfrm>
            <a:off x="1538714" y="1463475"/>
            <a:ext cx="5748535" cy="166944"/>
          </a:xfrm>
          <a:prstGeom prst="rect">
            <a:avLst/>
          </a:prstGeom>
        </p:spPr>
        <p:txBody>
          <a:bodyPr wrap="square" lIns="0" tIns="0" rIns="0" bIns="0">
            <a:sp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
            </a:r>
          </a:p>
        </p:txBody>
      </p:sp>
      <p:cxnSp>
        <p:nvCxnSpPr>
          <p:cNvPr id="29" name="Straight Connector 28">
            <a:extLst>
              <a:ext uri="{FF2B5EF4-FFF2-40B4-BE49-F238E27FC236}">
                <a16:creationId xmlns:a16="http://schemas.microsoft.com/office/drawing/2014/main" id="{09E553D9-3562-45A7-BE4B-0F12FAA0490F}"/>
              </a:ext>
            </a:extLst>
          </p:cNvPr>
          <p:cNvCxnSpPr>
            <a:cxnSpLocks/>
          </p:cNvCxnSpPr>
          <p:nvPr/>
        </p:nvCxnSpPr>
        <p:spPr>
          <a:xfrm>
            <a:off x="916803" y="1707866"/>
            <a:ext cx="0" cy="3668091"/>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DA735D38-741F-4EFB-826C-6F87FD459AB4}"/>
              </a:ext>
            </a:extLst>
          </p:cNvPr>
          <p:cNvCxnSpPr/>
          <p:nvPr/>
        </p:nvCxnSpPr>
        <p:spPr>
          <a:xfrm>
            <a:off x="916803" y="2291826"/>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EBCFE36B-AE16-49E8-90A6-6621A0EB0473}"/>
              </a:ext>
            </a:extLst>
          </p:cNvPr>
          <p:cNvCxnSpPr/>
          <p:nvPr/>
        </p:nvCxnSpPr>
        <p:spPr>
          <a:xfrm>
            <a:off x="916803" y="3273370"/>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2697F6E2-C26B-4E5F-B7F9-95C6E9325040}"/>
              </a:ext>
            </a:extLst>
          </p:cNvPr>
          <p:cNvCxnSpPr/>
          <p:nvPr/>
        </p:nvCxnSpPr>
        <p:spPr>
          <a:xfrm>
            <a:off x="916803" y="5368324"/>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4CD23CFE-3F31-4BA9-B26F-B9B5B351518E}"/>
              </a:ext>
            </a:extLst>
          </p:cNvPr>
          <p:cNvSpPr/>
          <p:nvPr/>
        </p:nvSpPr>
        <p:spPr>
          <a:xfrm>
            <a:off x="2103510" y="2847523"/>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Ce qui nous y a conduits</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Le résultat global du FPPN est positif, mais la sinistralité maladie monte vite pendant que le décès reste très excédentaire (partie 5). Un excédent global peut donc cacher un déficit de la maladie, ce que la norme veut précisément rendre visible.</a:t>
            </a:r>
          </a:p>
        </p:txBody>
      </p:sp>
      <p:sp>
        <p:nvSpPr>
          <p:cNvPr id="33" name="Rectangle 32">
            <a:extLst>
              <a:ext uri="{FF2B5EF4-FFF2-40B4-BE49-F238E27FC236}">
                <a16:creationId xmlns:a16="http://schemas.microsoft.com/office/drawing/2014/main" id="{4CD23CFE-3F31-4BA9-B26F-B9B5B351518E}"/>
              </a:ext>
            </a:extLst>
          </p:cNvPr>
          <p:cNvSpPr/>
          <p:nvPr/>
        </p:nvSpPr>
        <p:spPr>
          <a:xfrm>
            <a:off x="2125344" y="3881185"/>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Ce que fait le FPPN</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La comptabilité sépare les cotisations et les prestations de chaque risque, mais pas les frais de fonctionnement. Adenka reprend d'abord la dotation réellement passée en réserve, telle que le FPPN l'a décidée.</a:t>
            </a:r>
          </a:p>
        </p:txBody>
      </p:sp>
      <p:sp>
        <p:nvSpPr>
          <p:cNvPr id="34" name="Rectangle 33">
            <a:extLst>
              <a:ext uri="{FF2B5EF4-FFF2-40B4-BE49-F238E27FC236}">
                <a16:creationId xmlns:a16="http://schemas.microsoft.com/office/drawing/2014/main" id="{4CD23CFE-3F31-4BA9-B26F-B9B5B351518E}"/>
              </a:ext>
            </a:extLst>
          </p:cNvPr>
          <p:cNvSpPr/>
          <p:nvPr/>
        </p:nvSpPr>
        <p:spPr>
          <a:xfrm>
            <a:off x="2122670" y="4917444"/>
            <a:ext cx="9685766" cy="901761"/>
          </a:xfrm>
          <a:prstGeom prst="rect">
            <a:avLst/>
          </a:prstGeom>
          <a:ln w="12700">
            <a:solidFill>
              <a:srgbClr val="112A40"/>
            </a:solidFill>
          </a:ln>
        </p:spPr>
        <p:txBody>
          <a:bodyPr wrap="square" lIns="162000" tIns="54000" rIns="72000" bIns="54000" anchor="ctr">
            <a:noAutofit/>
          </a:bodyPr>
          <a:lstStyle/>
          <a:p>
            <a:pPr lvl="1">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Pourquoi répartir les frais</a:t>
            </a:r>
          </a:p>
          <a:p>
            <a:pPr lvl="1">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L'excédent par risque est la différence entre les produits et toutes les charges affectées au risque (Décision, § 1.1.1). Sans clé fournie par le FPPN, Adenka répartit les frais au prorata des cotisations de chaque risque, la clé la plus neutre.</a:t>
            </a:r>
            <a:endParaRPr lang="fr-CI" sz="1200">
              <a:latin typeface="Helvetica" panose="020B0604020202020204" pitchFamily="34" charset="0"/>
              <a:ea typeface="Open Sans Light" panose="020B0306030504020204" pitchFamily="34" charset="0"/>
              <a:cs typeface="Helvetica" panose="020B0604020202020204" pitchFamily="34" charset="0"/>
            </a:endParaRPr>
          </a:p>
        </p:txBody>
      </p:sp>
      <p:cxnSp>
        <p:nvCxnSpPr>
          <p:cNvPr id="39" name="Straight Connector 30">
            <a:extLst>
              <a:ext uri="{FF2B5EF4-FFF2-40B4-BE49-F238E27FC236}">
                <a16:creationId xmlns:a16="http://schemas.microsoft.com/office/drawing/2014/main" id="{EBCFE36B-AE16-49E8-90A6-6621A0EB0473}"/>
              </a:ext>
            </a:extLst>
          </p:cNvPr>
          <p:cNvCxnSpPr/>
          <p:nvPr/>
        </p:nvCxnSpPr>
        <p:spPr>
          <a:xfrm>
            <a:off x="919504" y="4326976"/>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grpSp>
        <p:nvGrpSpPr>
          <p:cNvPr id="11" name="Groupe 10"/>
          <p:cNvGrpSpPr/>
          <p:nvPr/>
        </p:nvGrpSpPr>
        <p:grpSpPr>
          <a:xfrm>
            <a:off x="1554870" y="2047565"/>
            <a:ext cx="548640" cy="548640"/>
            <a:chOff x="-1153645" y="1535690"/>
            <a:chExt cx="548640" cy="548640"/>
          </a:xfrm>
        </p:grpSpPr>
        <p:sp>
          <p:nvSpPr>
            <p:cNvPr id="36" name="Oval 21">
              <a:extLst>
                <a:ext uri="{FF2B5EF4-FFF2-40B4-BE49-F238E27FC236}">
                  <a16:creationId xmlns:a16="http://schemas.microsoft.com/office/drawing/2014/main" id="{7BB796F0-2DE6-45B1-851B-D8991F423CF4}"/>
                </a:ext>
              </a:extLst>
            </p:cNvPr>
            <p:cNvSpPr/>
            <p:nvPr/>
          </p:nvSpPr>
          <p:spPr bwMode="gray">
            <a:xfrm>
              <a:off x="-1153645" y="1535690"/>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40" name="Image 3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3163" y="1564148"/>
              <a:ext cx="486259" cy="491723"/>
            </a:xfrm>
            <a:prstGeom prst="rect">
              <a:avLst/>
            </a:prstGeom>
          </p:spPr>
        </p:pic>
      </p:grpSp>
      <p:grpSp>
        <p:nvGrpSpPr>
          <p:cNvPr id="12" name="Groupe 11"/>
          <p:cNvGrpSpPr/>
          <p:nvPr/>
        </p:nvGrpSpPr>
        <p:grpSpPr>
          <a:xfrm>
            <a:off x="1557425" y="3008849"/>
            <a:ext cx="548640" cy="548640"/>
            <a:chOff x="-1154302" y="2719457"/>
            <a:chExt cx="548640" cy="548640"/>
          </a:xfrm>
        </p:grpSpPr>
        <p:sp>
          <p:nvSpPr>
            <p:cNvPr id="42" name="Oval 21">
              <a:extLst>
                <a:ext uri="{FF2B5EF4-FFF2-40B4-BE49-F238E27FC236}">
                  <a16:creationId xmlns:a16="http://schemas.microsoft.com/office/drawing/2014/main" id="{7BB796F0-2DE6-45B1-851B-D8991F423CF4}"/>
                </a:ext>
              </a:extLst>
            </p:cNvPr>
            <p:cNvSpPr/>
            <p:nvPr/>
          </p:nvSpPr>
          <p:spPr bwMode="gray">
            <a:xfrm>
              <a:off x="-1154302" y="2719457"/>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7" name="Imag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4901" y="2781886"/>
              <a:ext cx="396274" cy="396274"/>
            </a:xfrm>
            <a:prstGeom prst="rect">
              <a:avLst/>
            </a:prstGeom>
          </p:spPr>
        </p:pic>
      </p:grpSp>
      <p:grpSp>
        <p:nvGrpSpPr>
          <p:cNvPr id="13" name="Groupe 12"/>
          <p:cNvGrpSpPr/>
          <p:nvPr/>
        </p:nvGrpSpPr>
        <p:grpSpPr>
          <a:xfrm>
            <a:off x="1567381" y="4044725"/>
            <a:ext cx="548640" cy="552951"/>
            <a:chOff x="-1185544" y="4122202"/>
            <a:chExt cx="548640" cy="552951"/>
          </a:xfrm>
        </p:grpSpPr>
        <p:sp>
          <p:nvSpPr>
            <p:cNvPr id="44" name="Oval 21">
              <a:extLst>
                <a:ext uri="{FF2B5EF4-FFF2-40B4-BE49-F238E27FC236}">
                  <a16:creationId xmlns:a16="http://schemas.microsoft.com/office/drawing/2014/main" id="{7BB796F0-2DE6-45B1-851B-D8991F423CF4}"/>
                </a:ext>
              </a:extLst>
            </p:cNvPr>
            <p:cNvSpPr/>
            <p:nvPr/>
          </p:nvSpPr>
          <p:spPr bwMode="gray">
            <a:xfrm>
              <a:off x="-1185544" y="4122202"/>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8" name="Image 7"/>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71838" y="4144755"/>
              <a:ext cx="524301" cy="530398"/>
            </a:xfrm>
            <a:prstGeom prst="rect">
              <a:avLst/>
            </a:prstGeom>
          </p:spPr>
        </p:pic>
      </p:grpSp>
      <p:grpSp>
        <p:nvGrpSpPr>
          <p:cNvPr id="14" name="Groupe 13"/>
          <p:cNvGrpSpPr/>
          <p:nvPr/>
        </p:nvGrpSpPr>
        <p:grpSpPr>
          <a:xfrm>
            <a:off x="1567381" y="5111071"/>
            <a:ext cx="548640" cy="548640"/>
            <a:chOff x="-1227267" y="5286500"/>
            <a:chExt cx="548640" cy="548640"/>
          </a:xfrm>
        </p:grpSpPr>
        <p:sp>
          <p:nvSpPr>
            <p:cNvPr id="45" name="Oval 21">
              <a:extLst>
                <a:ext uri="{FF2B5EF4-FFF2-40B4-BE49-F238E27FC236}">
                  <a16:creationId xmlns:a16="http://schemas.microsoft.com/office/drawing/2014/main" id="{7BB796F0-2DE6-45B1-851B-D8991F423CF4}"/>
                </a:ext>
              </a:extLst>
            </p:cNvPr>
            <p:cNvSpPr/>
            <p:nvPr/>
          </p:nvSpPr>
          <p:spPr bwMode="gray">
            <a:xfrm>
              <a:off x="-1227267" y="5286500"/>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9" name="Image 8"/>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71838" y="5346402"/>
              <a:ext cx="422834" cy="432026"/>
            </a:xfrm>
            <a:prstGeom prst="rect">
              <a:avLst/>
            </a:prstGeom>
          </p:spPr>
        </p:pic>
      </p:grpSp>
      <p:sp>
        <p:nvSpPr>
          <p:cNvPr id="50" name="ZoneTexte 49">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pic>
        <p:nvPicPr>
          <p:cNvPr id="51" name="Image 50"/>
          <p:cNvPicPr>
            <a:picLocks noChangeAspect="1"/>
          </p:cNvPicPr>
          <p:nvPr/>
        </p:nvPicPr>
        <p:blipFill rotWithShape="1">
          <a:blip r:embed="rId7" cstate="print">
            <a:extLst>
              <a:ext uri="{28A0092B-C50C-407E-A947-70E740481C1C}">
                <a14:useLocalDpi xmlns:a14="http://schemas.microsoft.com/office/drawing/2010/main" val="0"/>
              </a:ext>
            </a:extLst>
          </a:blip>
          <a:srcRect l="4260" t="13024" r="74155" b="14121"/>
          <a:stretch/>
        </p:blipFill>
        <p:spPr>
          <a:xfrm>
            <a:off x="702475" y="1350400"/>
            <a:ext cx="392679" cy="406703"/>
          </a:xfrm>
          <a:prstGeom prst="rect">
            <a:avLst/>
          </a:prstGeom>
        </p:spPr>
      </p:pic>
      <p:sp>
        <p:nvSpPr>
          <p:cNvPr id="52"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Excédent par risque : pourquoi le calculer</a:t>
            </a:r>
          </a:p>
        </p:txBody>
      </p:sp>
      <p:sp>
        <p:nvSpPr>
          <p:cNvPr id="53"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norme d'affectation des excédents oblige à connaître le résultat de chaque risque</a:t>
            </a:r>
          </a:p>
        </p:txBody>
      </p:sp>
      <p:sp>
        <p:nvSpPr>
          <p:cNvPr id="54"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 FPPN ne présente qu'un résultat global. Adenka reconstitue le résultat de la maladie et du décès</a:t>
            </a:r>
          </a:p>
        </p:txBody>
      </p:sp>
      <p:sp>
        <p:nvSpPr>
          <p:cNvPr id="55"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Décision n° 05/2022/COM/UEMOA du 1er juin 2022, annexe, § 1.1.1. Règlement d'exécution n° 004/2022/COM/UEMOA du 1er juin 2022, art. 18. Adenka</a:t>
            </a:r>
          </a:p>
        </p:txBody>
      </p:sp>
      <p:sp>
        <p:nvSpPr>
          <p:cNvPr id="56" name="TextBox 5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a:t>
            </a:r>
          </a:p>
        </p:txBody>
      </p:sp>
    </p:spTree>
    <p:extLst>
      <p:ext uri="{BB962C8B-B14F-4D97-AF65-F5344CB8AC3E}">
        <p14:creationId xmlns:p14="http://schemas.microsoft.com/office/powerpoint/2010/main" val="738262860"/>
      </p:ext>
    </p:extLst>
  </p:cSld>
  <p:clrMapOvr>
    <a:masterClrMapping/>
  </p:clrMapOvr>
  <p:transition>
    <p:fade/>
  </p:transition>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Excédent par risque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Depuis 2025, la maladie est déficitaire et le décès finance l'ensemble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Excédent maladie 2025 : -237 774 567 FCFA. Excédent décès 2025 : 449 151 155 FCFA</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35 : Excédent technique par risque, frais répartis au prorata des cotisations</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millions de FCFA</a:t>
            </a:r>
          </a:p>
        </p:txBody>
      </p:sp>
      <p:graphicFrame>
        <p:nvGraphicFramePr>
          <p:cNvPr id="32" name="Chart 31"/>
          <p:cNvGraphicFramePr>
            <a:graphicFrameLocks noGrp="1"/>
          </p:cNvGraphicFramePr>
          <p:nvPr/>
        </p:nvGraphicFramePr>
        <p:xfrm>
          <a:off x="503999" y="1782000"/>
          <a:ext cx="6552000" cy="3600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 Répartition des frais par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La maladie devient déficitaire en 2025, une fois ses frais pris en compte.</a:t>
            </a:r>
            <a:r>
              <a:rPr sz="1400" b="0">
                <a:solidFill>
                  <a:srgbClr val="060606"/>
                </a:solidFill>
                <a:latin typeface="Helvetica"/>
              </a:rPr>
              <a:t> Son excédent passe de 818 990 532 FCFA en 2022 à -237 774 567 FCFA en 2025.</a:t>
            </a:r>
          </a:p>
          <a:p>
            <a:pPr algn="just">
              <a:spcAft>
                <a:spcPts val="600"/>
              </a:spcAft>
            </a:pPr>
            <a:r>
              <a:rPr sz="1400" b="1">
                <a:solidFill>
                  <a:srgbClr val="060606"/>
                </a:solidFill>
                <a:latin typeface="Helvetica"/>
              </a:rPr>
              <a:t>Le décès est excédentaire chaque année depuis 2022.</a:t>
            </a:r>
            <a:r>
              <a:rPr sz="1400" b="0">
                <a:solidFill>
                  <a:srgbClr val="060606"/>
                </a:solidFill>
                <a:latin typeface="Helvetica"/>
              </a:rPr>
              <a:t> Il dégage 449 151 155 FCFA en 2025.</a:t>
            </a:r>
          </a:p>
          <a:p>
            <a:pPr algn="just">
              <a:spcAft>
                <a:spcPts val="600"/>
              </a:spcAft>
            </a:pPr>
            <a:r>
              <a:rPr sz="1400" b="1">
                <a:solidFill>
                  <a:srgbClr val="060606"/>
                </a:solidFill>
                <a:latin typeface="Helvetica"/>
              </a:rPr>
              <a:t>Sur les huit mois de 2026, le déficit maladie atteint -701 679 552 FCFA.</a:t>
            </a:r>
          </a:p>
          <a:p>
            <a:pPr algn="just">
              <a:spcAft>
                <a:spcPts val="600"/>
              </a:spcAft>
            </a:pPr>
            <a:r>
              <a:rPr sz="1400" b="0">
                <a:solidFill>
                  <a:srgbClr val="060606"/>
                </a:solidFill>
                <a:latin typeface="Helvetica"/>
              </a:rPr>
              <a:t>Le décès subventionne la maladie : avec la clé des statuts (art. 17 : 3,5 % sur 5 %, soit 70 % pour la maladie), la cotisation maladie ne couvre plus son coût complet depuis 2025 et doit être revue.</a:t>
            </a:r>
          </a:p>
        </p:txBody>
      </p:sp>
      <p:sp>
        <p:nvSpPr>
          <p:cNvPr id="35" name="TextBox 34"/>
          <p:cNvSpPr txBox="1"/>
          <p:nvPr/>
        </p:nvSpPr>
        <p:spPr>
          <a:xfrm>
            <a:off x="503999" y="5382000"/>
            <a:ext cx="6552000" cy="450000"/>
          </a:xfrm>
          <a:prstGeom prst="rect">
            <a:avLst/>
          </a:prstGeom>
          <a:noFill/>
        </p:spPr>
        <p:txBody>
          <a:bodyPr wrap="square" anchor="t" lIns="54000" rIns="54000"/>
          <a:lstStyle/>
          <a:p>
            <a:pPr algn="l"/>
            <a:r>
              <a:rPr sz="850" b="0">
                <a:solidFill>
                  <a:srgbClr val="53565A"/>
                </a:solidFill>
                <a:latin typeface="Helvetica"/>
              </a:rPr>
              <a:t>Valable pour : comptes de prestations, de frais (61 à 66 hors 6518) et de cotisations (7010, 7021) des balances « BALANCE FORMAT EXCEL DE 09-2020 AU 31-12-2020.xlsx » à « BALANCE FPPN DU 01-01-2026 AU 31-08-2026.xlsx », 2020 à 2025. Frais répartis au prorata des cotisations (choix Adenka).</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253073614"/>
      </p:ext>
    </p:extLst>
  </p:cSld>
  <p:clrMapOvr>
    <a:masterClrMapping/>
  </p:clrMapOvr>
  <p:transition>
    <p:fade/>
  </p:transition>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Ratios par garantie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maladie consomme plus que ses cotisations depuis 2025, le décès en laisse plus de la moitié</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Résultat technique = cotisations acquises - prestations (variation des provisions comprise) - charges de fonctionnement affectées, hors produits financiers et éléments exceptionnels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 Décision n° 05/2022/COM/UEMOA du 1er juin 2022, annexe, § 1.1.1. Statuts du FPPN édités le 15/06/2023, art. 17</a:t>
            </a:r>
          </a:p>
        </p:txBody>
      </p:sp>
      <p:sp>
        <p:nvSpPr>
          <p:cNvPr id="31" name="TextBox 30"/>
          <p:cNvSpPr txBox="1"/>
          <p:nvPr/>
        </p:nvSpPr>
        <p:spPr>
          <a:xfrm>
            <a:off x="503999" y="1386000"/>
            <a:ext cx="10872000" cy="216000"/>
          </a:xfrm>
          <a:prstGeom prst="rect">
            <a:avLst/>
          </a:prstGeom>
          <a:noFill/>
        </p:spPr>
        <p:txBody>
          <a:bodyPr wrap="square" anchor="t" lIns="54000" rIns="54000"/>
          <a:lstStyle/>
          <a:p>
            <a:pPr algn="ctr"/>
            <a:r>
              <a:rPr sz="1200" b="0">
                <a:solidFill>
                  <a:srgbClr val="EFAC62"/>
                </a:solidFill>
                <a:latin typeface="Helvetica"/>
              </a:rPr>
              <a:t>Tableau 88 : Sinistralité, frais, ratio combiné et résultat technique par garantie</a:t>
            </a:r>
          </a:p>
        </p:txBody>
      </p:sp>
      <p:graphicFrame>
        <p:nvGraphicFramePr>
          <p:cNvPr id="32" name="Table 31"/>
          <p:cNvGraphicFramePr>
            <a:graphicFrameLocks noGrp="1"/>
          </p:cNvGraphicFramePr>
          <p:nvPr/>
        </p:nvGraphicFramePr>
        <p:xfrm>
          <a:off x="503999" y="1655999"/>
          <a:ext cx="10871996" cy="1980000"/>
        </p:xfrm>
        <a:graphic>
          <a:graphicData uri="http://schemas.openxmlformats.org/drawingml/2006/table">
            <a:tbl>
              <a:tblPr firstRow="0" bandRow="0">
                <a:tableStyleId>{5940675A-B579-460E-94D1-54222C63F5DA}</a:tableStyleId>
              </a:tblPr>
              <a:tblGrid>
                <a:gridCol w="936000"/>
                <a:gridCol w="1007999"/>
                <a:gridCol w="1655999"/>
                <a:gridCol w="1655999"/>
                <a:gridCol w="1080000"/>
                <a:gridCol w="1655999"/>
                <a:gridCol w="1080000"/>
                <a:gridCol w="1800000"/>
              </a:tblGrid>
              <a:tr h="180000">
                <a:tc>
                  <a:txBody>
                    <a:bodyPr/>
                    <a:lstStyle/>
                    <a:p>
                      <a:pPr marL="0" indent="0" lvl="0">
                        <a:buNone/>
                      </a:pPr>
                      <a:r>
                        <a:rPr sz="800" b="1">
                          <a:solidFill>
                            <a:srgbClr val="FFFFFF"/>
                          </a:solidFill>
                          <a:latin typeface="Helvetica"/>
                        </a:rPr>
                        <a:t>Exercice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Garantie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Cotisations</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Prestations</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Sinistralité</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Frais affectés</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Ratio combiné</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Résultat technique</a:t>
                      </a:r>
                    </a:p>
                  </a:txBody>
                  <a:tcPr marL="43200" marR="43200" marT="14400" marB="14400" anchor="ctr">
                    <a:solidFill>
                      <a:srgbClr val="060606"/>
                    </a:solidFill>
                  </a:tcPr>
                </a:tc>
              </a:tr>
              <a:tr h="180000">
                <a:tc>
                  <a:txBody>
                    <a:bodyPr/>
                    <a:lstStyle/>
                    <a:p>
                      <a:pPr marL="0" indent="0" lvl="0">
                        <a:buNone/>
                      </a:pPr>
                      <a:r>
                        <a:rPr sz="800" b="1">
                          <a:solidFill>
                            <a:srgbClr val="060606"/>
                          </a:solidFill>
                          <a:latin typeface="Helvetica"/>
                        </a:rPr>
                        <a:t>2022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Maladie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1 781 124 043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115 237 773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6,47 %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846 895 738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54,02 %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818 990 532 FCFA</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2022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Décès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763 338 861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116 090 000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15,21 %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362 955 309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62,76 %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284 293 552 FCFA</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2023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Maladie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1 935 844 374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521 004 362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26,91 %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870 231 165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71,87 %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544 608 847 FCFA</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2023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Décès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829 647 591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141 490 000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17,05 %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372 956 214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62,01 %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315 201 377 FCFA</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2024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Maladie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2 203 312 180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1 060 419 627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48,13 %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796 642 108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84,29 %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346 250 445 FCFA</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2024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Décès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934 555 069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203 801 664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21,81 %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337 903 056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57,96 %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392 850 349 FCFA</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2025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Maladie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2 409 281 030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1 771 635 361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73,53 %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875 420 236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109,87 %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-237 774 567 FCFA</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2025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Décès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1 008 860 692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193 136 666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19,14 %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366 572 871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55,48 %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449 151 155 FCFA</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2026 (8 mois)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Maladie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1 690 007 290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1 646 039 117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97,40 %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745 647 725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141,52 %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-701 679 552 FCFA</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2026 (8 mois)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Décès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702 190 056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152 816 666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21,76 %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309 813 112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65,88 %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239 560 278 FCFA</a:t>
                      </a:r>
                    </a:p>
                  </a:txBody>
                  <a:tcPr marL="43200" marR="43200" marT="14400" marB="14400" anchor="ctr">
                    <a:solidFill>
                      <a:srgbClr val="F2F2F2"/>
                    </a:solidFill>
                  </a:tcPr>
                </a:tc>
              </a:tr>
            </a:tbl>
          </a:graphicData>
        </a:graphic>
      </p:graphicFrame>
      <p:sp>
        <p:nvSpPr>
          <p:cNvPr id="33" name="TextBox 32"/>
          <p:cNvSpPr txBox="1"/>
          <p:nvPr/>
        </p:nvSpPr>
        <p:spPr>
          <a:xfrm>
            <a:off x="503999" y="3744000"/>
            <a:ext cx="11232000" cy="162000"/>
          </a:xfrm>
          <a:prstGeom prst="rect">
            <a:avLst/>
          </a:prstGeom>
          <a:noFill/>
        </p:spPr>
        <p:txBody>
          <a:bodyPr wrap="square" anchor="t" lIns="54000" rIns="54000"/>
          <a:lstStyle/>
          <a:p>
            <a:pPr algn="l"/>
            <a:r>
              <a:rPr sz="850" b="0">
                <a:solidFill>
                  <a:srgbClr val="53565A"/>
                </a:solidFill>
                <a:latin typeface="Helvetica"/>
              </a:rPr>
              <a:t>Valable pour : comptes 2022 à 2025 et du 01/01 au 31/08/2026 (provisoire). Frais répartis au prorata des cotisations.</a:t>
            </a:r>
          </a:p>
        </p:txBody>
      </p:sp>
      <p:sp>
        <p:nvSpPr>
          <p:cNvPr id="34" name="TextBox 33"/>
          <p:cNvSpPr txBox="1"/>
          <p:nvPr/>
        </p:nvSpPr>
        <p:spPr>
          <a:xfrm>
            <a:off x="503999" y="4050000"/>
            <a:ext cx="11232000" cy="1818000"/>
          </a:xfrm>
          <a:prstGeom prst="rect">
            <a:avLst/>
          </a:prstGeom>
          <a:noFill/>
        </p:spPr>
        <p:txBody>
          <a:bodyPr wrap="square" lIns="54000" rIns="54000"/>
          <a:lstStyle/>
          <a:p>
            <a:pPr algn="just">
              <a:spcAft>
                <a:spcPts val="600"/>
              </a:spcAft>
            </a:pPr>
            <a:r>
              <a:rPr sz="1300" b="1">
                <a:solidFill>
                  <a:srgbClr val="060606"/>
                </a:solidFill>
                <a:latin typeface="Helvetica"/>
              </a:rPr>
              <a:t>Le ratio combiné de la maladie dépasse 100 % en 2025 (109,87 %) et sur les huit mois de 2026.</a:t>
            </a:r>
            <a:r>
              <a:rPr sz="1300" b="0">
                <a:solidFill>
                  <a:srgbClr val="060606"/>
                </a:solidFill>
                <a:latin typeface="Helvetica"/>
              </a:rPr>
              <a:t> Celui du décès reste sous 70 % chaque année depuis 2022.</a:t>
            </a:r>
          </a:p>
          <a:p>
            <a:pPr algn="just">
              <a:spcAft>
                <a:spcPts val="600"/>
              </a:spcAft>
            </a:pPr>
            <a:r>
              <a:rPr sz="1300" b="1">
                <a:solidFill>
                  <a:srgbClr val="060606"/>
                </a:solidFill>
                <a:latin typeface="Helvetica"/>
              </a:rPr>
              <a:t>Le résultat technique isole ce que chaque garantie dégage par elle-même.</a:t>
            </a:r>
            <a:r>
              <a:rPr sz="1300" b="0">
                <a:solidFill>
                  <a:srgbClr val="060606"/>
                </a:solidFill>
                <a:latin typeface="Helvetica"/>
              </a:rPr>
              <a:t> Il ne compte ni les produits financiers, ni les produits annexes, ni les éléments exceptionnels, qui expliquent l'écart avec le résultat net.</a:t>
            </a:r>
          </a:p>
          <a:p>
            <a:pPr algn="just">
              <a:spcAft>
                <a:spcPts val="600"/>
              </a:spcAft>
            </a:pPr>
            <a:r>
              <a:rPr sz="1300" b="0">
                <a:solidFill>
                  <a:srgbClr val="060606"/>
                </a:solidFill>
                <a:latin typeface="Helvetica"/>
              </a:rPr>
              <a:t>La cotisation maladie de 3,5 % du salaire de base (statuts, art. 17) ne couvre plus le coût complet de la garantie maladie depuis 2025. Sa révision relève du conseil d'administration et de l'Assemblée générale.</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870 : poste EFC</a:t>
            </a:r>
          </a:p>
        </p:txBody>
      </p:sp>
    </p:spTree>
    <p:extLst>
      <p:ext uri="{BB962C8B-B14F-4D97-AF65-F5344CB8AC3E}">
        <p14:creationId xmlns:p14="http://schemas.microsoft.com/office/powerpoint/2010/main" val="2130131101"/>
      </p:ext>
    </p:extLst>
  </p:cSld>
  <p:clrMapOvr>
    <a:masterClrMapping/>
  </p:clrMapOvr>
  <p:transition>
    <p:fade/>
  </p:transition>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Affectation des excédents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Depuis 2024, la dotation à la réserve obligatoire atteint le minimum exigé par risque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Dotation de la réserve légale (compte 111) rapportée au résultat de l'exercice précédent, puis comparée aux deux normes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 Décision n° 05/2022/COM/UEMOA du 1er juin 2022, annexe, § 1.1.1. Règlement d'exécution n° 004/2022/COM/UEMOA du 1er juin 2022, art. 18</a:t>
            </a:r>
          </a:p>
        </p:txBody>
      </p:sp>
      <p:sp>
        <p:nvSpPr>
          <p:cNvPr id="31" name="TextBox 30"/>
          <p:cNvSpPr txBox="1"/>
          <p:nvPr/>
        </p:nvSpPr>
        <p:spPr>
          <a:xfrm>
            <a:off x="503999" y="1386000"/>
            <a:ext cx="10368000" cy="216000"/>
          </a:xfrm>
          <a:prstGeom prst="rect">
            <a:avLst/>
          </a:prstGeom>
          <a:noFill/>
        </p:spPr>
        <p:txBody>
          <a:bodyPr wrap="square" anchor="t" lIns="54000" rIns="54000"/>
          <a:lstStyle/>
          <a:p>
            <a:pPr algn="ctr"/>
            <a:r>
              <a:rPr sz="1200" b="0">
                <a:solidFill>
                  <a:srgbClr val="EFAC62"/>
                </a:solidFill>
                <a:latin typeface="Helvetica"/>
              </a:rPr>
              <a:t>Tableau 89 : Dotation de la réserve obligatoire et normes</a:t>
            </a:r>
          </a:p>
        </p:txBody>
      </p:sp>
      <p:graphicFrame>
        <p:nvGraphicFramePr>
          <p:cNvPr id="32" name="Table 31"/>
          <p:cNvGraphicFramePr>
            <a:graphicFrameLocks noGrp="1"/>
          </p:cNvGraphicFramePr>
          <p:nvPr/>
        </p:nvGraphicFramePr>
        <p:xfrm>
          <a:off x="503999" y="1655999"/>
          <a:ext cx="10368000" cy="992446"/>
        </p:xfrm>
        <a:graphic>
          <a:graphicData uri="http://schemas.openxmlformats.org/drawingml/2006/table">
            <a:tbl>
              <a:tblPr firstRow="0" bandRow="0">
                <a:tableStyleId>{5940675A-B579-460E-94D1-54222C63F5DA}</a:tableStyleId>
              </a:tblPr>
              <a:tblGrid>
                <a:gridCol w="1152000"/>
                <a:gridCol w="1800000"/>
                <a:gridCol w="1584000"/>
                <a:gridCol w="936000"/>
                <a:gridCol w="1584000"/>
                <a:gridCol w="1584000"/>
                <a:gridCol w="1728000"/>
              </a:tblGrid>
              <a:tr h="362419">
                <a:tc>
                  <a:txBody>
                    <a:bodyPr/>
                    <a:lstStyle/>
                    <a:p>
                      <a:pPr marL="0" indent="0" lvl="0">
                        <a:buNone/>
                      </a:pPr>
                      <a:r>
                        <a:rPr sz="1000" b="1">
                          <a:solidFill>
                            <a:srgbClr val="FFFFFF"/>
                          </a:solidFill>
                          <a:latin typeface="Helvetica"/>
                        </a:rPr>
                        <a:t>Affectation en</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Résultat de l'exercice précédent</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Dotation réelle</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Taux</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Minimum de 20 %</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Minimum par risque</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Écart au minimum par risque</a:t>
                      </a:r>
                    </a:p>
                  </a:txBody>
                  <a:tcPr marL="43200" marR="43200" marT="14400" marB="14400" anchor="ctr">
                    <a:solidFill>
                      <a:srgbClr val="060606"/>
                    </a:solidFill>
                  </a:tcPr>
                </a:tc>
              </a:tr>
              <a:tr h="210009">
                <a:tc>
                  <a:txBody>
                    <a:bodyPr/>
                    <a:lstStyle/>
                    <a:p>
                      <a:pPr marL="0" indent="0" lvl="0">
                        <a:buNone/>
                      </a:pPr>
                      <a:r>
                        <a:rPr sz="1000" b="1">
                          <a:solidFill>
                            <a:srgbClr val="060606"/>
                          </a:solidFill>
                          <a:latin typeface="Helvetica"/>
                        </a:rPr>
                        <a:t>2023</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2 060 332 677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184 219 879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8,94 %</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412 066 535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387 843 936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-203 624 057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2024</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930 629 102 FCFA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335 026 477 FCFA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36,00 %</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186 125 820 FCFA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320 983 343 FCFA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14 043 134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2025</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792 069 641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300 986 463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38,00 %</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158 413 928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300 300 308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686 155 FCFA</a:t>
                      </a:r>
                    </a:p>
                  </a:txBody>
                  <a:tcPr marL="43200" marR="43200" marT="14400" marB="14400" anchor="ctr">
                    <a:solidFill>
                      <a:srgbClr val="FFFFFF"/>
                    </a:solidFill>
                  </a:tcPr>
                </a:tc>
              </a:tr>
            </a:tbl>
          </a:graphicData>
        </a:graphic>
      </p:graphicFrame>
      <p:sp>
        <p:nvSpPr>
          <p:cNvPr id="33" name="TextBox 32"/>
          <p:cNvSpPr txBox="1"/>
          <p:nvPr/>
        </p:nvSpPr>
        <p:spPr>
          <a:xfrm>
            <a:off x="503999" y="2756448"/>
            <a:ext cx="11232000" cy="306000"/>
          </a:xfrm>
          <a:prstGeom prst="rect">
            <a:avLst/>
          </a:prstGeom>
          <a:noFill/>
        </p:spPr>
        <p:txBody>
          <a:bodyPr wrap="square" anchor="t" lIns="54000" rIns="54000"/>
          <a:lstStyle/>
          <a:p>
            <a:pPr algn="l"/>
            <a:r>
              <a:rPr sz="850" b="0">
                <a:solidFill>
                  <a:srgbClr val="53565A"/>
                </a:solidFill>
                <a:latin typeface="Helvetica"/>
              </a:rPr>
              <a:t>Valable pour : résultats et réserves (comptes 10 à 13) des balances « BALANCE FORMAT EXCEL DE 09-2020 AU 31-12-2020.xlsx » à « BALANCE FPPN DU 01-01-2026 AU 31-08-2026.xlsx », affectations de 2021 à 2025.</a:t>
            </a:r>
          </a:p>
        </p:txBody>
      </p:sp>
      <p:sp>
        <p:nvSpPr>
          <p:cNvPr id="34" name="TextBox 33"/>
          <p:cNvSpPr txBox="1"/>
          <p:nvPr/>
        </p:nvSpPr>
        <p:spPr>
          <a:xfrm>
            <a:off x="503999" y="3206448"/>
            <a:ext cx="11232000" cy="2661552"/>
          </a:xfrm>
          <a:prstGeom prst="rect">
            <a:avLst/>
          </a:prstGeom>
          <a:noFill/>
        </p:spPr>
        <p:txBody>
          <a:bodyPr wrap="square" lIns="54000" rIns="54000"/>
          <a:lstStyle/>
          <a:p>
            <a:pPr algn="just">
              <a:spcAft>
                <a:spcPts val="600"/>
              </a:spcAft>
            </a:pPr>
            <a:r>
              <a:rPr sz="1300" b="1">
                <a:solidFill>
                  <a:srgbClr val="060606"/>
                </a:solidFill>
                <a:latin typeface="Helvetica"/>
              </a:rPr>
              <a:t>La dotation passe de 8,94 % du résultat en 2023 à 38,00 % en 2025.</a:t>
            </a:r>
            <a:r>
              <a:rPr sz="1300" b="0">
                <a:solidFill>
                  <a:srgbClr val="060606"/>
                </a:solidFill>
                <a:latin typeface="Helvetica"/>
              </a:rPr>
              <a:t> En 2023, elle restait sous les deux minimums, pendant le délai de mise en conformité de trois ans.</a:t>
            </a:r>
          </a:p>
          <a:p>
            <a:pPr algn="just">
              <a:spcAft>
                <a:spcPts val="600"/>
              </a:spcAft>
            </a:pPr>
            <a:r>
              <a:rPr sz="1300" b="1">
                <a:solidFill>
                  <a:srgbClr val="060606"/>
                </a:solidFill>
                <a:latin typeface="Helvetica"/>
              </a:rPr>
              <a:t>En 2024, une partie des excédents a aussi servi à apurer les pertes reportées et à doter les réserves facultatives.</a:t>
            </a:r>
          </a:p>
          <a:p>
            <a:pPr algn="just">
              <a:spcAft>
                <a:spcPts val="600"/>
              </a:spcAft>
            </a:pPr>
            <a:r>
              <a:rPr sz="1300" b="0">
                <a:solidFill>
                  <a:srgbClr val="060606"/>
                </a:solidFill>
                <a:latin typeface="Helvetica"/>
              </a:rPr>
              <a:t>Le FPPN respecte désormais la règle d'affectation, mais la réserve reste sous six mois de prestations : la règle d'affectation seule ne suffit pas à rattraper le retard.</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a:t>
            </a:r>
          </a:p>
        </p:txBody>
      </p:sp>
    </p:spTree>
    <p:extLst>
      <p:ext uri="{BB962C8B-B14F-4D97-AF65-F5344CB8AC3E}">
        <p14:creationId xmlns:p14="http://schemas.microsoft.com/office/powerpoint/2010/main" val="1539372193"/>
      </p:ext>
    </p:extLst>
  </p:cSld>
  <p:clrMapOvr>
    <a:masterClrMapping/>
  </p:clrMapOvr>
  <p:transition>
    <p:fade/>
  </p:transition>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Marge de solvabilité</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marge disponible ne couvre la marge exigée que si l'on ignore les pertes reportées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2025 : marge exigée 566 209 845 FCFA, disponible 4 396 841 817 FCFA comme le FPPN, -438 242 200 FCFA nette des pertes</a:t>
            </a:r>
          </a:p>
        </p:txBody>
      </p:sp>
      <p:sp>
        <p:nvSpPr>
          <p:cNvPr id="30" name="TextBox 29"/>
          <p:cNvSpPr txBox="1"/>
          <p:nvPr/>
        </p:nvSpPr>
        <p:spPr>
          <a:xfrm>
            <a:off x="503999" y="1386000"/>
            <a:ext cx="5976000" cy="251999"/>
          </a:xfrm>
          <a:prstGeom prst="rect">
            <a:avLst/>
          </a:prstGeom>
          <a:noFill/>
        </p:spPr>
        <p:txBody>
          <a:bodyPr wrap="square">
            <a:spAutoFit/>
          </a:bodyPr>
          <a:lstStyle/>
          <a:p>
            <a:pPr algn="ctr">
              <a:spcAft>
                <a:spcPts val="0"/>
              </a:spcAft>
            </a:pPr>
            <a:r>
              <a:rPr sz="1200" b="0">
                <a:solidFill>
                  <a:srgbClr val="EFAC62"/>
                </a:solidFill>
                <a:latin typeface="Helvetica"/>
              </a:rPr>
              <a:t>Figure 36 : Marge de solvabilité exigée et disponible</a:t>
            </a:r>
          </a:p>
        </p:txBody>
      </p:sp>
      <p:sp>
        <p:nvSpPr>
          <p:cNvPr id="31" name="TextBox 30"/>
          <p:cNvSpPr txBox="1"/>
          <p:nvPr/>
        </p:nvSpPr>
        <p:spPr>
          <a:xfrm>
            <a:off x="503999" y="1602000"/>
            <a:ext cx="5976000" cy="162000"/>
          </a:xfrm>
          <a:prstGeom prst="rect">
            <a:avLst/>
          </a:prstGeom>
          <a:noFill/>
        </p:spPr>
        <p:txBody>
          <a:bodyPr wrap="square">
            <a:spAutoFit/>
          </a:bodyPr>
          <a:lstStyle/>
          <a:p>
            <a:pPr algn="l">
              <a:spcAft>
                <a:spcPts val="0"/>
              </a:spcAft>
            </a:pPr>
            <a:r>
              <a:rPr sz="900" b="0">
                <a:solidFill>
                  <a:srgbClr val="060606"/>
                </a:solidFill>
                <a:latin typeface="Helvetica"/>
              </a:rPr>
              <a:t>En millions de FCFA</a:t>
            </a:r>
          </a:p>
        </p:txBody>
      </p:sp>
      <p:graphicFrame>
        <p:nvGraphicFramePr>
          <p:cNvPr id="32" name="Chart 31"/>
          <p:cNvGraphicFramePr>
            <a:graphicFrameLocks noGrp="1"/>
          </p:cNvGraphicFramePr>
          <p:nvPr/>
        </p:nvGraphicFramePr>
        <p:xfrm>
          <a:off x="503999" y="1782000"/>
          <a:ext cx="5976000" cy="3600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 Décision n° 05/2022/COM/UEMOA du 1er juin 2022, annexe, § 1.1.1. PCMS, fiche n° 1</a:t>
            </a:r>
          </a:p>
        </p:txBody>
      </p:sp>
      <p:sp>
        <p:nvSpPr>
          <p:cNvPr id="34" name="TextBox 33"/>
          <p:cNvSpPr txBox="1"/>
          <p:nvPr/>
        </p:nvSpPr>
        <p:spPr>
          <a:xfrm>
            <a:off x="6696000" y="1440000"/>
            <a:ext cx="5040000" cy="4428000"/>
          </a:xfrm>
          <a:prstGeom prst="rect">
            <a:avLst/>
          </a:prstGeom>
          <a:noFill/>
        </p:spPr>
        <p:txBody>
          <a:bodyPr wrap="square" lIns="54000" rIns="54000"/>
          <a:lstStyle/>
          <a:p>
            <a:pPr algn="just">
              <a:spcAft>
                <a:spcPts val="600"/>
              </a:spcAft>
            </a:pPr>
            <a:r>
              <a:rPr sz="1400" b="1">
                <a:solidFill>
                  <a:srgbClr val="060606"/>
                </a:solidFill>
                <a:latin typeface="Helvetica"/>
              </a:rPr>
              <a:t>La marge disponible comme le FPPN repose surtout sur le compte 10620000</a:t>
            </a:r>
            <a:r>
              <a:rPr sz="1400" b="0">
                <a:solidFill>
                  <a:srgbClr val="060606"/>
                </a:solidFill>
                <a:latin typeface="Helvetica"/>
              </a:rPr>
              <a:t> (2 899 400 000 FCFA). Le chef comptable l'explique par la réévaluation du terrain du siège, ce que son intitulé de 2020 à 2025 (« Réévaluation matériels ») ne contredit pas.</a:t>
            </a:r>
          </a:p>
          <a:p>
            <a:pPr algn="just">
              <a:spcAft>
                <a:spcPts val="600"/>
              </a:spcAft>
            </a:pPr>
            <a:r>
              <a:rPr sz="1400" b="1">
                <a:solidFill>
                  <a:srgbClr val="060606"/>
                </a:solidFill>
                <a:latin typeface="Helvetica"/>
              </a:rPr>
              <a:t>Nette des pertes reportées, la marge disponible est négative chaque année</a:t>
            </a:r>
            <a:r>
              <a:rPr sz="1400" b="0">
                <a:solidFill>
                  <a:srgbClr val="060606"/>
                </a:solidFill>
                <a:latin typeface="Helvetica"/>
              </a:rPr>
              <a:t>, même si elle se rapproche de zéro jusqu'en 2025.</a:t>
            </a:r>
          </a:p>
          <a:p>
            <a:pPr algn="just">
              <a:spcAft>
                <a:spcPts val="600"/>
              </a:spcAft>
            </a:pPr>
            <a:r>
              <a:rPr sz="1400" b="1">
                <a:solidFill>
                  <a:srgbClr val="060606"/>
                </a:solidFill>
                <a:latin typeface="Helvetica"/>
              </a:rPr>
              <a:t>La marge exigée augmente avec les cotisations</a:t>
            </a:r>
            <a:r>
              <a:rPr sz="1400" b="0">
                <a:solidFill>
                  <a:srgbClr val="060606"/>
                </a:solidFill>
                <a:latin typeface="Helvetica"/>
              </a:rPr>
              <a:t> : elle passe de 423 039 138 FCFA en 2021 à 615 265 510 FCFA en 2026.</a:t>
            </a:r>
          </a:p>
          <a:p>
            <a:pPr algn="just">
              <a:spcAft>
                <a:spcPts val="600"/>
              </a:spcAft>
            </a:pPr>
            <a:r>
              <a:rPr sz="1400" b="0">
                <a:solidFill>
                  <a:srgbClr val="060606"/>
                </a:solidFill>
                <a:latin typeface="Helvetica"/>
              </a:rPr>
              <a:t>Un écart de réévaluation ne compte pas dans la marge de solvabilité : la lecture retraitée, qui l'exclut, devient la lecture de référence, et le FPPN est non conforme. Le rapport de réévaluation est demandé au FPPN (PBC, item 59).</a:t>
            </a:r>
          </a:p>
        </p:txBody>
      </p:sp>
      <p:sp>
        <p:nvSpPr>
          <p:cNvPr id="35" name="TextBox 34"/>
          <p:cNvSpPr txBox="1"/>
          <p:nvPr/>
        </p:nvSpPr>
        <p:spPr>
          <a:xfrm>
            <a:off x="503999" y="5382000"/>
            <a:ext cx="5976000" cy="450000"/>
          </a:xfrm>
          <a:prstGeom prst="rect">
            <a:avLst/>
          </a:prstGeom>
          <a:noFill/>
        </p:spPr>
        <p:txBody>
          <a:bodyPr wrap="square" anchor="t" lIns="54000" rIns="54000"/>
          <a:lstStyle/>
          <a:p>
            <a:pPr algn="l"/>
            <a:r>
              <a:rPr sz="850" b="0">
                <a:solidFill>
                  <a:srgbClr val="53565A"/>
                </a:solidFill>
                <a:latin typeface="Helvetica"/>
              </a:rPr>
              <a:t>Valable pour : marge de la Décision n° 05/2022 (annexe, § 1.1.1) sur les balances « BALANCE FORMAT EXCEL DE 09-2020 AU 31-12-2020.xlsx » à « BALANCE FPPN DU 01-01-2026 AU 31-08-2026.xlsx », 2020 au 31/08/2026. Pertes reportées déduites ou non selon la lecture.</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PCMS : plan comptable des mutuelles sociales | PBC : liste des documents demandés au client</a:t>
            </a:r>
          </a:p>
        </p:txBody>
      </p:sp>
    </p:spTree>
    <p:extLst>
      <p:ext uri="{BB962C8B-B14F-4D97-AF65-F5344CB8AC3E}">
        <p14:creationId xmlns:p14="http://schemas.microsoft.com/office/powerpoint/2010/main" val="3383856313"/>
      </p:ext>
    </p:extLst>
  </p:cSld>
  <p:clrMapOvr>
    <a:masterClrMapping/>
  </p:clrMapOvr>
  <p:transition>
    <p:fade/>
  </p:transition>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Dispositif actuariel : qui calcule quoi</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Aucun calcul actuariel n'a de responsable désigné ni de procédure écrite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 service comptable passe les écritures, mais aucun calcul de provision, d'intérêts ou de ratio n'est documenté</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analyses Adenka. Statuts du FPPN, art. 89. Règlement d'exécution n° 004/2022/COM/UEMOA du 1er juin 2022. Décision n° 05/2022/COM/UEMOA du 1er juin 2022, annexe. ETUDE DES RATIO MALADIE DECES 2.xlsx</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90 : Calculs actuariels : situation actuelle et organisation cible</a:t>
            </a:r>
          </a:p>
        </p:txBody>
      </p:sp>
      <p:graphicFrame>
        <p:nvGraphicFramePr>
          <p:cNvPr id="32" name="Table 31"/>
          <p:cNvGraphicFramePr>
            <a:graphicFrameLocks noGrp="1"/>
          </p:cNvGraphicFramePr>
          <p:nvPr/>
        </p:nvGraphicFramePr>
        <p:xfrm>
          <a:off x="503999" y="1655999"/>
          <a:ext cx="11231999" cy="2216872"/>
        </p:xfrm>
        <a:graphic>
          <a:graphicData uri="http://schemas.openxmlformats.org/drawingml/2006/table">
            <a:tbl>
              <a:tblPr firstRow="0" bandRow="0">
                <a:tableStyleId>{5940675A-B579-460E-94D1-54222C63F5DA}</a:tableStyleId>
              </a:tblPr>
              <a:tblGrid>
                <a:gridCol w="2015999"/>
                <a:gridCol w="2160000"/>
                <a:gridCol w="3456000"/>
                <a:gridCol w="3600000"/>
              </a:tblGrid>
              <a:tr h="187148">
                <a:tc>
                  <a:txBody>
                    <a:bodyPr/>
                    <a:lstStyle/>
                    <a:p>
                      <a:pPr marL="0" indent="0" lvl="0">
                        <a:buNone/>
                      </a:pPr>
                      <a:r>
                        <a:rPr sz="850" b="1">
                          <a:solidFill>
                            <a:srgbClr val="FFFFFF"/>
                          </a:solidFill>
                          <a:latin typeface="Helvetica"/>
                        </a:rPr>
                        <a:t>Calcul</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Texte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Situation actuelle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Organisation cible</a:t>
                      </a:r>
                    </a:p>
                  </a:txBody>
                  <a:tcPr marL="43200" marR="43200" marT="14400" marB="14400" anchor="ctr">
                    <a:solidFill>
                      <a:srgbClr val="060606"/>
                    </a:solidFill>
                  </a:tcPr>
                </a:tc>
              </a:tr>
              <a:tr h="446244">
                <a:tc>
                  <a:txBody>
                    <a:bodyPr/>
                    <a:lstStyle/>
                    <a:p>
                      <a:pPr marL="0" indent="0" lvl="0">
                        <a:buNone/>
                      </a:pPr>
                      <a:r>
                        <a:rPr sz="850" b="1">
                          <a:solidFill>
                            <a:srgbClr val="060606"/>
                          </a:solidFill>
                          <a:latin typeface="Helvetica"/>
                        </a:rPr>
                        <a:t>Provisions maladie et décès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Statuts, art. 89. règlement d'exécution n° 004/2022/COM/UEMOA du 1er juin 2022, art. 10</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Montants hérités, jamais recalculés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Note de calcul annuelle du service comptable, signée par le directeur général, présentée à l'Assemblée générale</a:t>
                      </a:r>
                    </a:p>
                  </a:txBody>
                  <a:tcPr marL="43200" marR="43200" marT="14400" marB="14400" anchor="ctr">
                    <a:solidFill>
                      <a:srgbClr val="FFFFFF"/>
                    </a:solidFill>
                  </a:tcPr>
                </a:tc>
              </a:tr>
              <a:tr h="316696">
                <a:tc>
                  <a:txBody>
                    <a:bodyPr/>
                    <a:lstStyle/>
                    <a:p>
                      <a:pPr marL="0" indent="0" lvl="0">
                        <a:buNone/>
                      </a:pPr>
                      <a:r>
                        <a:rPr sz="850" b="1">
                          <a:solidFill>
                            <a:srgbClr val="060606"/>
                          </a:solidFill>
                          <a:latin typeface="Helvetica"/>
                        </a:rPr>
                        <a:t>Allocations décès restant à payer</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Statuts, art. 89</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État de fin d'année au barème, comptabilisé au 41591000 (2024 et 2025)</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Même état, avec date de dépôt de chaque demande pour écarter les dossiers forclos</a:t>
                      </a:r>
                    </a:p>
                  </a:txBody>
                  <a:tcPr marL="43200" marR="43200" marT="14400" marB="14400" anchor="ctr">
                    <a:solidFill>
                      <a:srgbClr val="F2F2F2"/>
                    </a:solidFill>
                  </a:tcPr>
                </a:tc>
              </a:tr>
              <a:tr h="316696">
                <a:tc>
                  <a:txBody>
                    <a:bodyPr/>
                    <a:lstStyle/>
                    <a:p>
                      <a:pPr marL="0" indent="0" lvl="0">
                        <a:buNone/>
                      </a:pPr>
                      <a:r>
                        <a:rPr sz="850" b="1">
                          <a:solidFill>
                            <a:srgbClr val="060606"/>
                          </a:solidFill>
                          <a:latin typeface="Helvetica"/>
                        </a:rPr>
                        <a:t>Intérêts servis sur l'épargne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Manuel des produits d'épargne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Aucun calcul, aucune écriture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Taux arrêté par le conseil d'administration, relevé annuel par épargnant</a:t>
                      </a:r>
                    </a:p>
                  </a:txBody>
                  <a:tcPr marL="43200" marR="43200" marT="14400" marB="14400" anchor="ctr">
                    <a:solidFill>
                      <a:srgbClr val="FFFFFF"/>
                    </a:solidFill>
                  </a:tcPr>
                </a:tc>
              </a:tr>
              <a:tr h="316696">
                <a:tc>
                  <a:txBody>
                    <a:bodyPr/>
                    <a:lstStyle/>
                    <a:p>
                      <a:pPr marL="0" indent="0" lvl="0">
                        <a:buNone/>
                      </a:pPr>
                      <a:r>
                        <a:rPr sz="850" b="1">
                          <a:solidFill>
                            <a:srgbClr val="060606"/>
                          </a:solidFill>
                          <a:latin typeface="Helvetica"/>
                        </a:rPr>
                        <a:t>Provision du personnel (196)</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Décret n° 2017-210, art. 4 et 5</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Reprise et dotation annuelles, méthode non transmise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Calcul agent par agent avec âge de départ, ancienneté et plafond conventionnel documentés</a:t>
                      </a:r>
                    </a:p>
                  </a:txBody>
                  <a:tcPr marL="43200" marR="43200" marT="14400" marB="14400" anchor="ctr">
                    <a:solidFill>
                      <a:srgbClr val="F2F2F2"/>
                    </a:solidFill>
                  </a:tcPr>
                </a:tc>
              </a:tr>
              <a:tr h="316696">
                <a:tc>
                  <a:txBody>
                    <a:bodyPr/>
                    <a:lstStyle/>
                    <a:p>
                      <a:pPr marL="0" indent="0" lvl="0">
                        <a:buNone/>
                      </a:pPr>
                      <a:r>
                        <a:rPr sz="850" b="1">
                          <a:solidFill>
                            <a:srgbClr val="060606"/>
                          </a:solidFill>
                          <a:latin typeface="Helvetica"/>
                        </a:rPr>
                        <a:t>Ratios de la Décision n° 05/2022</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Décision n° 05/2022/COM/UEMOA du 1er juin 2022, annexe</a:t>
                      </a:r>
                    </a:p>
                  </a:txBody>
                  <a:tcPr marL="43200" marR="43200" marT="14400" marB="14400" anchor="ctr">
                    <a:solidFill>
                      <a:srgbClr val="FFFFFF"/>
                    </a:solidFill>
                  </a:tcPr>
                </a:tc>
                <a:tc>
                  <a:txBody>
                    <a:bodyPr/>
                    <a:lstStyle/>
                    <a:p>
                      <a:pPr marL="0" indent="0" lvl="0">
                        <a:buNone/>
                      </a:pPr>
                      <a:r>
                        <a:rPr sz="850" b="0">
                          <a:solidFill>
                            <a:srgbClr val="060606"/>
                          </a:solidFill>
                          <a:highlight>
                            <a:srgbClr val="FFFF00"/>
                          </a:highlight>
                          <a:latin typeface="Helvetica"/>
                        </a:rPr>
                        <a:t>Étude des ratios du FPPN, sans provisions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Tableau de bord semestriel selon les formules du texte</a:t>
                      </a:r>
                    </a:p>
                  </a:txBody>
                  <a:tcPr marL="43200" marR="43200" marT="14400" marB="14400" anchor="ctr">
                    <a:solidFill>
                      <a:srgbClr val="FFFFFF"/>
                    </a:solidFill>
                  </a:tcPr>
                </a:tc>
              </a:tr>
              <a:tr h="316696">
                <a:tc>
                  <a:txBody>
                    <a:bodyPr/>
                    <a:lstStyle/>
                    <a:p>
                      <a:pPr marL="0" indent="0" lvl="0">
                        <a:buNone/>
                      </a:pPr>
                      <a:r>
                        <a:rPr sz="850" b="1">
                          <a:solidFill>
                            <a:srgbClr val="060606"/>
                          </a:solidFill>
                          <a:latin typeface="Helvetica"/>
                        </a:rPr>
                        <a:t>Étude des risques longs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règlement d'exécution n° 004/2022/COM/UEMOA du 1er juin 2022, art. 14</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Aucune étude transmise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Étude actuarielle tous les cinq ans</a:t>
                      </a:r>
                    </a:p>
                  </a:txBody>
                  <a:tcPr marL="43200" marR="43200" marT="14400" marB="14400" anchor="ctr">
                    <a:solidFill>
                      <a:srgbClr val="F2F2F2"/>
                    </a:solidFill>
                  </a:tcPr>
                </a:tc>
              </a:tr>
            </a:tbl>
          </a:graphicData>
        </a:graphic>
      </p:graphicFrame>
      <p:sp>
        <p:nvSpPr>
          <p:cNvPr id="33" name="TextBox 32"/>
          <p:cNvSpPr txBox="1"/>
          <p:nvPr/>
        </p:nvSpPr>
        <p:spPr>
          <a:xfrm>
            <a:off x="503999" y="3980874"/>
            <a:ext cx="11232000" cy="162000"/>
          </a:xfrm>
          <a:prstGeom prst="rect">
            <a:avLst/>
          </a:prstGeom>
          <a:noFill/>
        </p:spPr>
        <p:txBody>
          <a:bodyPr wrap="square" anchor="t" lIns="54000" rIns="54000"/>
          <a:lstStyle/>
          <a:p>
            <a:pPr algn="l"/>
            <a:r>
              <a:rPr sz="850" b="0">
                <a:solidFill>
                  <a:srgbClr val="53565A"/>
                </a:solidFill>
                <a:latin typeface="Helvetica"/>
              </a:rPr>
              <a:t>Valable pour : situation constatée sur les documents reçus jusqu'au 22/10/2026 et les entretiens des 16 et 19/10/2026.</a:t>
            </a:r>
          </a:p>
        </p:txBody>
      </p:sp>
      <p:sp>
        <p:nvSpPr>
          <p:cNvPr id="34" name="TextBox 33"/>
          <p:cNvSpPr txBox="1"/>
          <p:nvPr/>
        </p:nvSpPr>
        <p:spPr>
          <a:xfrm>
            <a:off x="503999" y="4286874"/>
            <a:ext cx="11232000" cy="1581125"/>
          </a:xfrm>
          <a:prstGeom prst="rect">
            <a:avLst/>
          </a:prstGeom>
          <a:noFill/>
        </p:spPr>
        <p:txBody>
          <a:bodyPr wrap="square" lIns="54000" rIns="54000"/>
          <a:lstStyle/>
          <a:p>
            <a:pPr algn="just">
              <a:spcAft>
                <a:spcPts val="600"/>
              </a:spcAft>
            </a:pPr>
            <a:r>
              <a:rPr sz="1300" b="1">
                <a:solidFill>
                  <a:srgbClr val="060606"/>
                </a:solidFill>
                <a:latin typeface="Helvetica"/>
              </a:rPr>
              <a:t>Les calculs existent en partie, mais ils dépendent de personnes, pas de procédures.</a:t>
            </a:r>
            <a:r>
              <a:rPr sz="1300" b="0">
                <a:solidFill>
                  <a:srgbClr val="060606"/>
                </a:solidFill>
                <a:latin typeface="Helvetica"/>
              </a:rPr>
              <a:t> Aucun ne fait l'objet d'un contrôle par une seconde personne ni d'une validation par les organes.</a:t>
            </a:r>
          </a:p>
          <a:p>
            <a:pPr algn="just">
              <a:spcAft>
                <a:spcPts val="600"/>
              </a:spcAft>
            </a:pPr>
            <a:r>
              <a:rPr sz="1300" b="0">
                <a:solidFill>
                  <a:srgbClr val="060606"/>
                </a:solidFill>
                <a:latin typeface="Helvetica"/>
              </a:rPr>
              <a:t>La recommandation 9 organise ces calculs : un responsable, une procédure écrite et un contrôle pour chacun.</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Surligné en jaune : affirmation à confirmer par une pièce ou une réponse écrite du FPPN. Sigles : FPPN : Fonds de prévoyance de la Police nationale | UEMOA : Union économique et monétaire ouest-africaine</a:t>
            </a:r>
          </a:p>
        </p:txBody>
      </p:sp>
    </p:spTree>
    <p:extLst>
      <p:ext uri="{BB962C8B-B14F-4D97-AF65-F5344CB8AC3E}">
        <p14:creationId xmlns:p14="http://schemas.microsoft.com/office/powerpoint/2010/main" val="839142196"/>
      </p:ext>
    </p:extLst>
  </p:cSld>
  <p:clrMapOvr>
    <a:masterClrMapping/>
  </p:clrMapOvr>
  <p:transition>
    <p:fade/>
  </p:transition>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Dispositif actuariel : grille de conformité</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Une seule exigence actuarielle des textes est respectée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Grille établie sur les pièces reçues. Une exigence sans pièce est classée « Non démontrée »</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règlement d'exécution n° 004/2022/COM/UEMOA du 1er juin 2022. Décision n° 05/2022/COM/UEMOA du 1er juin 2022, annexe. Règlement n° 07/2009/CM/UEMOA. Analyses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91 : Grille de conformité des exigences actuarielles</a:t>
            </a:r>
          </a:p>
        </p:txBody>
      </p:sp>
      <p:graphicFrame>
        <p:nvGraphicFramePr>
          <p:cNvPr id="32" name="Table 31"/>
          <p:cNvGraphicFramePr>
            <a:graphicFrameLocks noGrp="1"/>
          </p:cNvGraphicFramePr>
          <p:nvPr/>
        </p:nvGraphicFramePr>
        <p:xfrm>
          <a:off x="503999" y="1655999"/>
          <a:ext cx="11232000" cy="2935926"/>
        </p:xfrm>
        <a:graphic>
          <a:graphicData uri="http://schemas.openxmlformats.org/drawingml/2006/table">
            <a:tbl>
              <a:tblPr firstRow="0" bandRow="0">
                <a:tableStyleId>{5940675A-B579-460E-94D1-54222C63F5DA}</a:tableStyleId>
              </a:tblPr>
              <a:tblGrid>
                <a:gridCol w="3744000"/>
                <a:gridCol w="3096000"/>
                <a:gridCol w="1512000"/>
                <a:gridCol w="2880000"/>
              </a:tblGrid>
              <a:tr h="180000">
                <a:tc>
                  <a:txBody>
                    <a:bodyPr/>
                    <a:lstStyle/>
                    <a:p>
                      <a:pPr marL="0" indent="0" lvl="0">
                        <a:buNone/>
                      </a:pPr>
                      <a:r>
                        <a:rPr sz="750" b="1">
                          <a:solidFill>
                            <a:srgbClr val="FFFFFF"/>
                          </a:solidFill>
                          <a:latin typeface="Helvetica"/>
                        </a:rPr>
                        <a:t>Exigence</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Texte</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Statut</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Détail</a:t>
                      </a:r>
                    </a:p>
                  </a:txBody>
                  <a:tcPr marL="43200" marR="43200" marT="14400" marB="14400" anchor="ctr">
                    <a:solidFill>
                      <a:srgbClr val="060606"/>
                    </a:solidFill>
                  </a:tcPr>
                </a:tc>
              </a:tr>
              <a:tr h="286214">
                <a:tc>
                  <a:txBody>
                    <a:bodyPr/>
                    <a:lstStyle/>
                    <a:p>
                      <a:pPr marL="0" indent="0" lvl="0">
                        <a:buNone/>
                      </a:pPr>
                      <a:r>
                        <a:rPr sz="750" b="1">
                          <a:solidFill>
                            <a:srgbClr val="060606"/>
                          </a:solidFill>
                          <a:latin typeface="Helvetica"/>
                        </a:rPr>
                        <a:t>Provisions techniques calculées dossier par dossier</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règlement d'exécution n° 004/2022/COM/UEMOA du 1er juin 2022, art. 7 à 10</a:t>
                      </a:r>
                    </a:p>
                  </a:txBody>
                  <a:tcPr marL="43200" marR="43200" marT="14400" marB="14400" anchor="ctr">
                    <a:solidFill>
                      <a:srgbClr val="FFFFFF"/>
                    </a:solidFill>
                  </a:tcPr>
                </a:tc>
                <a:tc>
                  <a:txBody>
                    <a:bodyPr/>
                    <a:lstStyle/>
                    <a:p>
                      <a:pPr marL="0" indent="0" lvl="0">
                        <a:buNone/>
                      </a:pPr>
                      <a:r>
                        <a:rPr sz="750" b="1">
                          <a:solidFill>
                            <a:srgbClr val="FFFFFF"/>
                          </a:solidFill>
                          <a:latin typeface="Helvetica"/>
                        </a:rPr>
                        <a:t>Non conforme</a:t>
                      </a:r>
                    </a:p>
                  </a:txBody>
                  <a:tcPr marL="43200" marR="43200" marT="14400" marB="14400" anchor="ctr">
                    <a:solidFill>
                      <a:srgbClr val="C00000"/>
                    </a:solidFill>
                  </a:tcPr>
                </a:tc>
                <a:tc>
                  <a:txBody>
                    <a:bodyPr/>
                    <a:lstStyle/>
                    <a:p>
                      <a:pPr marL="0" indent="0" lvl="0">
                        <a:buNone/>
                      </a:pPr>
                      <a:r>
                        <a:rPr sz="750" b="0">
                          <a:solidFill>
                            <a:srgbClr val="060606"/>
                          </a:solidFill>
                          <a:latin typeface="Helvetica"/>
                        </a:rPr>
                        <a:t>diapositive 135</a:t>
                      </a:r>
                    </a:p>
                  </a:txBody>
                  <a:tcPr marL="43200" marR="43200" marT="14400" marB="14400" anchor="ctr">
                    <a:solidFill>
                      <a:srgbClr val="FFFFFF"/>
                    </a:solidFill>
                  </a:tcPr>
                </a:tc>
              </a:tr>
              <a:tr h="286214">
                <a:tc>
                  <a:txBody>
                    <a:bodyPr/>
                    <a:lstStyle/>
                    <a:p>
                      <a:pPr marL="0" indent="0" lvl="0">
                        <a:buNone/>
                      </a:pPr>
                      <a:r>
                        <a:rPr sz="750" b="1">
                          <a:solidFill>
                            <a:srgbClr val="060606"/>
                          </a:solidFill>
                          <a:latin typeface="Helvetica"/>
                        </a:rPr>
                        <a:t>Provision mathématique des risques longs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règlement d'exécution n° 004/2022/COM/UEMOA du 1er juin 2022, art. 11</a:t>
                      </a:r>
                    </a:p>
                  </a:txBody>
                  <a:tcPr marL="43200" marR="43200" marT="14400" marB="14400" anchor="ctr">
                    <a:solidFill>
                      <a:srgbClr val="F2F2F2"/>
                    </a:solidFill>
                  </a:tcPr>
                </a:tc>
                <a:tc>
                  <a:txBody>
                    <a:bodyPr/>
                    <a:lstStyle/>
                    <a:p>
                      <a:pPr marL="0" indent="0" lvl="0">
                        <a:buNone/>
                      </a:pPr>
                      <a:r>
                        <a:rPr sz="750" b="1">
                          <a:solidFill>
                            <a:srgbClr val="FFFFFF"/>
                          </a:solidFill>
                          <a:latin typeface="Helvetica"/>
                        </a:rPr>
                        <a:t>Non conforme</a:t>
                      </a:r>
                    </a:p>
                  </a:txBody>
                  <a:tcPr marL="43200" marR="43200" marT="14400" marB="14400" anchor="ctr">
                    <a:solidFill>
                      <a:srgbClr val="C00000"/>
                    </a:solidFill>
                  </a:tcPr>
                </a:tc>
                <a:tc>
                  <a:txBody>
                    <a:bodyPr/>
                    <a:lstStyle/>
                    <a:p>
                      <a:pPr marL="0" indent="0" lvl="0">
                        <a:buNone/>
                      </a:pPr>
                      <a:r>
                        <a:rPr sz="750" b="0">
                          <a:solidFill>
                            <a:srgbClr val="060606"/>
                          </a:solidFill>
                          <a:latin typeface="Helvetica"/>
                        </a:rPr>
                        <a:t>diapositive 109</a:t>
                      </a:r>
                    </a:p>
                  </a:txBody>
                  <a:tcPr marL="43200" marR="43200" marT="14400" marB="14400" anchor="ctr">
                    <a:solidFill>
                      <a:srgbClr val="F2F2F2"/>
                    </a:solidFill>
                  </a:tcPr>
                </a:tc>
              </a:tr>
              <a:tr h="286214">
                <a:tc>
                  <a:txBody>
                    <a:bodyPr/>
                    <a:lstStyle/>
                    <a:p>
                      <a:pPr marL="0" indent="0" lvl="0">
                        <a:buNone/>
                      </a:pPr>
                      <a:r>
                        <a:rPr sz="750" b="1">
                          <a:solidFill>
                            <a:srgbClr val="060606"/>
                          </a:solidFill>
                          <a:latin typeface="Helvetica"/>
                        </a:rPr>
                        <a:t>Comptes certifiés (risques longs)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règlement d'exécution n° 004/2022/COM/UEMOA du 1er juin 2022, art. 12</a:t>
                      </a:r>
                    </a:p>
                  </a:txBody>
                  <a:tcPr marL="43200" marR="43200" marT="14400" marB="14400" anchor="ctr">
                    <a:solidFill>
                      <a:srgbClr val="FFFFFF"/>
                    </a:solidFill>
                  </a:tcPr>
                </a:tc>
                <a:tc>
                  <a:txBody>
                    <a:bodyPr/>
                    <a:lstStyle/>
                    <a:p>
                      <a:pPr marL="0" indent="0" lvl="0">
                        <a:buNone/>
                      </a:pPr>
                      <a:r>
                        <a:rPr sz="750" b="1">
                          <a:solidFill>
                            <a:srgbClr val="FFFFFF"/>
                          </a:solidFill>
                          <a:latin typeface="Helvetica"/>
                        </a:rPr>
                        <a:t>Non conforme</a:t>
                      </a:r>
                    </a:p>
                  </a:txBody>
                  <a:tcPr marL="43200" marR="43200" marT="14400" marB="14400" anchor="ctr">
                    <a:solidFill>
                      <a:srgbClr val="C00000"/>
                    </a:solidFill>
                  </a:tcPr>
                </a:tc>
                <a:tc>
                  <a:txBody>
                    <a:bodyPr/>
                    <a:lstStyle/>
                    <a:p>
                      <a:pPr marL="0" indent="0" lvl="0">
                        <a:buNone/>
                      </a:pPr>
                      <a:r>
                        <a:rPr sz="750" b="0">
                          <a:solidFill>
                            <a:srgbClr val="060606"/>
                          </a:solidFill>
                          <a:latin typeface="Helvetica"/>
                        </a:rPr>
                        <a:t>diapositive 188</a:t>
                      </a:r>
                    </a:p>
                  </a:txBody>
                  <a:tcPr marL="43200" marR="43200" marT="14400" marB="14400" anchor="ctr">
                    <a:solidFill>
                      <a:srgbClr val="FFFFFF"/>
                    </a:solidFill>
                  </a:tcPr>
                </a:tc>
              </a:tr>
              <a:tr h="286214">
                <a:tc>
                  <a:txBody>
                    <a:bodyPr/>
                    <a:lstStyle/>
                    <a:p>
                      <a:pPr marL="0" indent="0" lvl="0">
                        <a:buNone/>
                      </a:pPr>
                      <a:r>
                        <a:rPr sz="750" b="1">
                          <a:solidFill>
                            <a:srgbClr val="060606"/>
                          </a:solidFill>
                          <a:latin typeface="Helvetica"/>
                        </a:rPr>
                        <a:t>États financiers par risque long</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règlement d'exécution n° 004/2022/COM/UEMOA du 1er juin 2022, art. 13</a:t>
                      </a:r>
                    </a:p>
                  </a:txBody>
                  <a:tcPr marL="43200" marR="43200" marT="14400" marB="14400" anchor="ctr">
                    <a:solidFill>
                      <a:srgbClr val="F2F2F2"/>
                    </a:solidFill>
                  </a:tcPr>
                </a:tc>
                <a:tc>
                  <a:txBody>
                    <a:bodyPr/>
                    <a:lstStyle/>
                    <a:p>
                      <a:pPr marL="0" indent="0" lvl="0">
                        <a:buNone/>
                      </a:pPr>
                      <a:r>
                        <a:rPr sz="750" b="1">
                          <a:solidFill>
                            <a:srgbClr val="FFFFFF"/>
                          </a:solidFill>
                          <a:latin typeface="Helvetica"/>
                        </a:rPr>
                        <a:t>Non conforme</a:t>
                      </a:r>
                    </a:p>
                  </a:txBody>
                  <a:tcPr marL="43200" marR="43200" marT="14400" marB="14400" anchor="ctr">
                    <a:solidFill>
                      <a:srgbClr val="C00000"/>
                    </a:solidFill>
                  </a:tcPr>
                </a:tc>
                <a:tc>
                  <a:txBody>
                    <a:bodyPr/>
                    <a:lstStyle/>
                    <a:p>
                      <a:pPr marL="0" indent="0" lvl="0">
                        <a:buNone/>
                      </a:pPr>
                      <a:r>
                        <a:rPr sz="750" b="0">
                          <a:solidFill>
                            <a:srgbClr val="060606"/>
                          </a:solidFill>
                          <a:latin typeface="Helvetica"/>
                        </a:rPr>
                        <a:t>diapositive 188</a:t>
                      </a:r>
                    </a:p>
                  </a:txBody>
                  <a:tcPr marL="43200" marR="43200" marT="14400" marB="14400" anchor="ctr">
                    <a:solidFill>
                      <a:srgbClr val="F2F2F2"/>
                    </a:solidFill>
                  </a:tcPr>
                </a:tc>
              </a:tr>
              <a:tr h="286214">
                <a:tc>
                  <a:txBody>
                    <a:bodyPr/>
                    <a:lstStyle/>
                    <a:p>
                      <a:pPr marL="0" indent="0" lvl="0">
                        <a:buNone/>
                      </a:pPr>
                      <a:r>
                        <a:rPr sz="750" b="1">
                          <a:solidFill>
                            <a:srgbClr val="060606"/>
                          </a:solidFill>
                          <a:latin typeface="Helvetica"/>
                        </a:rPr>
                        <a:t>Étude actuarielle quinquennale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règlement d'exécution n° 004/2022/COM/UEMOA du 1er juin 2022, art. 14</a:t>
                      </a:r>
                    </a:p>
                  </a:txBody>
                  <a:tcPr marL="43200" marR="43200" marT="14400" marB="14400" anchor="ctr">
                    <a:solidFill>
                      <a:srgbClr val="FFFFFF"/>
                    </a:solidFill>
                  </a:tcPr>
                </a:tc>
                <a:tc>
                  <a:txBody>
                    <a:bodyPr/>
                    <a:lstStyle/>
                    <a:p>
                      <a:pPr marL="0" indent="0" lvl="0">
                        <a:buNone/>
                      </a:pPr>
                      <a:r>
                        <a:rPr sz="750" b="1">
                          <a:solidFill>
                            <a:srgbClr val="FFFFFF"/>
                          </a:solidFill>
                          <a:latin typeface="Helvetica"/>
                        </a:rPr>
                        <a:t>Non conforme</a:t>
                      </a:r>
                    </a:p>
                  </a:txBody>
                  <a:tcPr marL="43200" marR="43200" marT="14400" marB="14400" anchor="ctr">
                    <a:solidFill>
                      <a:srgbClr val="C00000"/>
                    </a:solidFill>
                  </a:tcPr>
                </a:tc>
                <a:tc>
                  <a:txBody>
                    <a:bodyPr/>
                    <a:lstStyle/>
                    <a:p>
                      <a:pPr marL="0" indent="0" lvl="0">
                        <a:buNone/>
                      </a:pPr>
                      <a:r>
                        <a:rPr sz="750" b="0">
                          <a:solidFill>
                            <a:srgbClr val="060606"/>
                          </a:solidFill>
                          <a:latin typeface="Helvetica"/>
                        </a:rPr>
                        <a:t>diapositive 188</a:t>
                      </a:r>
                    </a:p>
                  </a:txBody>
                  <a:tcPr marL="43200" marR="43200" marT="14400" marB="14400" anchor="ctr">
                    <a:solidFill>
                      <a:srgbClr val="FFFFFF"/>
                    </a:solidFill>
                  </a:tcPr>
                </a:tc>
              </a:tr>
              <a:tr h="286214">
                <a:tc>
                  <a:txBody>
                    <a:bodyPr/>
                    <a:lstStyle/>
                    <a:p>
                      <a:pPr marL="0" indent="0" lvl="0">
                        <a:buNone/>
                      </a:pPr>
                      <a:r>
                        <a:rPr sz="750" b="1">
                          <a:solidFill>
                            <a:srgbClr val="060606"/>
                          </a:solidFill>
                          <a:latin typeface="Helvetica"/>
                        </a:rPr>
                        <a:t>Placements sûrs, rentables, liquides, diversifiés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règlement d'exécution n° 004/2022/COM/UEMOA du 1er juin 2022, art. 17</a:t>
                      </a:r>
                    </a:p>
                  </a:txBody>
                  <a:tcPr marL="43200" marR="43200" marT="14400" marB="14400" anchor="ctr">
                    <a:solidFill>
                      <a:srgbClr val="F2F2F2"/>
                    </a:solidFill>
                  </a:tcPr>
                </a:tc>
                <a:tc>
                  <a:txBody>
                    <a:bodyPr/>
                    <a:lstStyle/>
                    <a:p>
                      <a:pPr marL="0" indent="0" lvl="0">
                        <a:buNone/>
                      </a:pPr>
                      <a:r>
                        <a:rPr sz="750" b="1">
                          <a:solidFill>
                            <a:srgbClr val="FFFFFF"/>
                          </a:solidFill>
                          <a:latin typeface="Helvetica"/>
                        </a:rPr>
                        <a:t>Non conforme</a:t>
                      </a:r>
                    </a:p>
                  </a:txBody>
                  <a:tcPr marL="43200" marR="43200" marT="14400" marB="14400" anchor="ctr">
                    <a:solidFill>
                      <a:srgbClr val="C00000"/>
                    </a:solidFill>
                  </a:tcPr>
                </a:tc>
                <a:tc>
                  <a:txBody>
                    <a:bodyPr/>
                    <a:lstStyle/>
                    <a:p>
                      <a:pPr marL="0" indent="0" lvl="0">
                        <a:buNone/>
                      </a:pPr>
                      <a:r>
                        <a:rPr sz="750" b="0">
                          <a:solidFill>
                            <a:srgbClr val="060606"/>
                          </a:solidFill>
                          <a:latin typeface="Helvetica"/>
                        </a:rPr>
                        <a:t>diapositive 157</a:t>
                      </a:r>
                    </a:p>
                  </a:txBody>
                  <a:tcPr marL="43200" marR="43200" marT="14400" marB="14400" anchor="ctr">
                    <a:solidFill>
                      <a:srgbClr val="F2F2F2"/>
                    </a:solidFill>
                  </a:tcPr>
                </a:tc>
              </a:tr>
              <a:tr h="286214">
                <a:tc>
                  <a:txBody>
                    <a:bodyPr/>
                    <a:lstStyle/>
                    <a:p>
                      <a:pPr marL="0" indent="0" lvl="0">
                        <a:buNone/>
                      </a:pPr>
                      <a:r>
                        <a:rPr sz="750" b="1">
                          <a:solidFill>
                            <a:srgbClr val="060606"/>
                          </a:solidFill>
                          <a:latin typeface="Helvetica"/>
                        </a:rPr>
                        <a:t>Réserve de trésorerie des risques longs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règlement d'exécution n° 004/2022/COM/UEMOA du 1er juin 2022, art. 19</a:t>
                      </a:r>
                    </a:p>
                  </a:txBody>
                  <a:tcPr marL="43200" marR="43200" marT="14400" marB="14400" anchor="ctr">
                    <a:solidFill>
                      <a:srgbClr val="FFFFFF"/>
                    </a:solidFill>
                  </a:tcPr>
                </a:tc>
                <a:tc>
                  <a:txBody>
                    <a:bodyPr/>
                    <a:lstStyle/>
                    <a:p>
                      <a:pPr marL="0" indent="0" lvl="0">
                        <a:buNone/>
                      </a:pPr>
                      <a:r>
                        <a:rPr sz="750" b="1">
                          <a:solidFill>
                            <a:srgbClr val="FFFFFF"/>
                          </a:solidFill>
                          <a:latin typeface="Helvetica"/>
                        </a:rPr>
                        <a:t>Non conforme</a:t>
                      </a:r>
                    </a:p>
                  </a:txBody>
                  <a:tcPr marL="43200" marR="43200" marT="14400" marB="14400" anchor="ctr">
                    <a:solidFill>
                      <a:srgbClr val="C00000"/>
                    </a:solidFill>
                  </a:tcPr>
                </a:tc>
                <a:tc>
                  <a:txBody>
                    <a:bodyPr/>
                    <a:lstStyle/>
                    <a:p>
                      <a:pPr marL="0" indent="0" lvl="0">
                        <a:buNone/>
                      </a:pPr>
                      <a:r>
                        <a:rPr sz="750" b="0">
                          <a:solidFill>
                            <a:srgbClr val="060606"/>
                          </a:solidFill>
                          <a:latin typeface="Helvetica"/>
                        </a:rPr>
                        <a:t>diapositive 179</a:t>
                      </a:r>
                    </a:p>
                  </a:txBody>
                  <a:tcPr marL="43200" marR="43200" marT="14400" marB="14400" anchor="ctr">
                    <a:solidFill>
                      <a:srgbClr val="FFFFFF"/>
                    </a:solidFill>
                  </a:tcPr>
                </a:tc>
              </a:tr>
              <a:tr h="286214">
                <a:tc>
                  <a:txBody>
                    <a:bodyPr/>
                    <a:lstStyle/>
                    <a:p>
                      <a:pPr marL="0" indent="0" lvl="0">
                        <a:buNone/>
                      </a:pPr>
                      <a:r>
                        <a:rPr sz="750" b="1">
                          <a:solidFill>
                            <a:srgbClr val="060606"/>
                          </a:solidFill>
                          <a:latin typeface="Helvetica"/>
                        </a:rPr>
                        <a:t>Comptabilité séparée de l'activité sanitaire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règlement d'exécution n° 004/2022/COM/UEMOA du 1er juin 2022, art. 27</a:t>
                      </a:r>
                    </a:p>
                  </a:txBody>
                  <a:tcPr marL="43200" marR="43200" marT="14400" marB="14400" anchor="ctr">
                    <a:solidFill>
                      <a:srgbClr val="F2F2F2"/>
                    </a:solidFill>
                  </a:tcPr>
                </a:tc>
                <a:tc>
                  <a:txBody>
                    <a:bodyPr/>
                    <a:lstStyle/>
                    <a:p>
                      <a:pPr marL="0" indent="0" lvl="0">
                        <a:buNone/>
                      </a:pPr>
                      <a:r>
                        <a:rPr sz="750" b="1">
                          <a:solidFill>
                            <a:srgbClr val="FFFFFF"/>
                          </a:solidFill>
                          <a:latin typeface="Helvetica"/>
                        </a:rPr>
                        <a:t>Non conforme</a:t>
                      </a:r>
                    </a:p>
                  </a:txBody>
                  <a:tcPr marL="43200" marR="43200" marT="14400" marB="14400" anchor="ctr">
                    <a:solidFill>
                      <a:srgbClr val="C00000"/>
                    </a:solidFill>
                  </a:tcPr>
                </a:tc>
                <a:tc>
                  <a:txBody>
                    <a:bodyPr/>
                    <a:lstStyle/>
                    <a:p>
                      <a:pPr marL="0" indent="0" lvl="0">
                        <a:buNone/>
                      </a:pPr>
                      <a:r>
                        <a:rPr sz="750" b="0">
                          <a:solidFill>
                            <a:srgbClr val="060606"/>
                          </a:solidFill>
                          <a:latin typeface="Helvetica"/>
                        </a:rPr>
                        <a:t>diapositive 155</a:t>
                      </a:r>
                    </a:p>
                  </a:txBody>
                  <a:tcPr marL="43200" marR="43200" marT="14400" marB="14400" anchor="ctr">
                    <a:solidFill>
                      <a:srgbClr val="F2F2F2"/>
                    </a:solidFill>
                  </a:tcPr>
                </a:tc>
              </a:tr>
              <a:tr h="286214">
                <a:tc>
                  <a:txBody>
                    <a:bodyPr/>
                    <a:lstStyle/>
                    <a:p>
                      <a:pPr marL="0" indent="0" lvl="0">
                        <a:buNone/>
                      </a:pPr>
                      <a:r>
                        <a:rPr sz="750" b="1">
                          <a:solidFill>
                            <a:srgbClr val="060606"/>
                          </a:solidFill>
                          <a:latin typeface="Helvetica"/>
                        </a:rPr>
                        <a:t>Affectation des excédents à la réserve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Décision n° 05/2022/COM/UEMOA du 1er juin 2022, annexe, § 1.1.1</a:t>
                      </a:r>
                    </a:p>
                  </a:txBody>
                  <a:tcPr marL="43200" marR="43200" marT="14400" marB="14400" anchor="ctr">
                    <a:solidFill>
                      <a:srgbClr val="FFFFFF"/>
                    </a:solidFill>
                  </a:tcPr>
                </a:tc>
                <a:tc>
                  <a:txBody>
                    <a:bodyPr/>
                    <a:lstStyle/>
                    <a:p>
                      <a:pPr marL="0" indent="0" lvl="0">
                        <a:buNone/>
                      </a:pPr>
                      <a:r>
                        <a:rPr sz="750" b="1">
                          <a:solidFill>
                            <a:srgbClr val="060606"/>
                          </a:solidFill>
                          <a:latin typeface="Helvetica"/>
                        </a:rPr>
                        <a:t>Conforme</a:t>
                      </a:r>
                    </a:p>
                  </a:txBody>
                  <a:tcPr marL="43200" marR="43200" marT="14400" marB="14400" anchor="ctr">
                    <a:solidFill>
                      <a:srgbClr val="70AD47"/>
                    </a:solidFill>
                  </a:tcPr>
                </a:tc>
                <a:tc>
                  <a:txBody>
                    <a:bodyPr/>
                    <a:lstStyle/>
                    <a:p>
                      <a:pPr marL="0" indent="0" lvl="0">
                        <a:buNone/>
                      </a:pPr>
                      <a:r>
                        <a:rPr sz="750" b="0">
                          <a:solidFill>
                            <a:srgbClr val="060606"/>
                          </a:solidFill>
                          <a:latin typeface="Helvetica"/>
                        </a:rPr>
                        <a:t>diapositive 183</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Adhésion au fonds national de garantie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Règlement n° 07/2009, art. 63</a:t>
                      </a:r>
                    </a:p>
                  </a:txBody>
                  <a:tcPr marL="43200" marR="43200" marT="14400" marB="14400" anchor="ctr">
                    <a:solidFill>
                      <a:srgbClr val="F2F2F2"/>
                    </a:solidFill>
                  </a:tcPr>
                </a:tc>
                <a:tc>
                  <a:txBody>
                    <a:bodyPr/>
                    <a:lstStyle/>
                    <a:p>
                      <a:pPr marL="0" indent="0" lvl="0">
                        <a:buNone/>
                      </a:pPr>
                      <a:r>
                        <a:rPr sz="750" b="1">
                          <a:solidFill>
                            <a:srgbClr val="060606"/>
                          </a:solidFill>
                          <a:latin typeface="Helvetica"/>
                        </a:rPr>
                        <a:t>Non démontrée</a:t>
                      </a:r>
                    </a:p>
                  </a:txBody>
                  <a:tcPr marL="43200" marR="43200" marT="14400" marB="14400" anchor="ctr">
                    <a:solidFill>
                      <a:srgbClr val="EFAC62"/>
                    </a:solidFill>
                  </a:tcPr>
                </a:tc>
                <a:tc>
                  <a:txBody>
                    <a:bodyPr/>
                    <a:lstStyle/>
                    <a:p>
                      <a:pPr marL="0" indent="0" lvl="0">
                        <a:buNone/>
                      </a:pPr>
                      <a:r>
                        <a:rPr sz="750" b="0">
                          <a:solidFill>
                            <a:srgbClr val="060606"/>
                          </a:solidFill>
                          <a:latin typeface="Helvetica"/>
                        </a:rPr>
                        <a:t>diapositive 169</a:t>
                      </a:r>
                    </a:p>
                  </a:txBody>
                  <a:tcPr marL="43200" marR="43200" marT="14400" marB="14400" anchor="ctr">
                    <a:solidFill>
                      <a:srgbClr val="F2F2F2"/>
                    </a:solidFill>
                  </a:tcPr>
                </a:tc>
              </a:tr>
            </a:tbl>
          </a:graphicData>
        </a:graphic>
      </p:graphicFrame>
      <p:graphicFrame>
        <p:nvGraphicFramePr>
          <p:cNvPr id="33" name="Table 32"/>
          <p:cNvGraphicFramePr>
            <a:graphicFrameLocks noGrp="1"/>
          </p:cNvGraphicFramePr>
          <p:nvPr/>
        </p:nvGraphicFramePr>
        <p:xfrm>
          <a:off x="503999" y="4840644"/>
          <a:ext cx="11232000" cy="151200"/>
        </p:xfrm>
        <a:graphic>
          <a:graphicData uri="http://schemas.openxmlformats.org/drawingml/2006/table">
            <a:tbl>
              <a:tblPr firstRow="0" bandRow="0">
                <a:tableStyleId>{5C22544A-7EE6-4342-B048-85BDC9FD1C3A}</a:tableStyleId>
              </a:tblPr>
              <a:tblGrid>
                <a:gridCol w="792000"/>
                <a:gridCol w="936000"/>
                <a:gridCol w="2544000"/>
                <a:gridCol w="936000"/>
                <a:gridCol w="2544000"/>
                <a:gridCol w="936000"/>
                <a:gridCol w="2544000"/>
              </a:tblGrid>
              <a:tr h="151200">
                <a:tc>
                  <a:txBody>
                    <a:bodyPr/>
                    <a:lstStyle/>
                    <a:p>
                      <a:r>
                        <a:rPr sz="700" b="1">
                          <a:solidFill>
                            <a:srgbClr val="060606"/>
                          </a:solidFill>
                          <a:latin typeface="Helvetica"/>
                        </a:rPr>
                        <a:t>Code couleur</a:t>
                      </a:r>
                    </a:p>
                  </a:txBody>
                  <a:tcPr marL="28800" marR="28800" marT="3600" marB="3600" anchor="ctr">
                    <a:solidFill>
                      <a:srgbClr val="FFFFFF"/>
                    </a:solidFill>
                  </a:tcPr>
                </a:tc>
                <a:tc>
                  <a:txBody>
                    <a:bodyPr/>
                    <a:lstStyle/>
                    <a:p>
                      <a:r>
                        <a:rPr sz="700" b="1">
                          <a:solidFill>
                            <a:srgbClr val="FFFFFF"/>
                          </a:solidFill>
                          <a:latin typeface="Helvetica"/>
                        </a:rPr>
                        <a:t>Non conforme</a:t>
                      </a:r>
                    </a:p>
                  </a:txBody>
                  <a:tcPr marL="28800" marR="28800" marT="3600" marB="3600" anchor="ctr">
                    <a:solidFill>
                      <a:srgbClr val="C00000"/>
                    </a:solidFill>
                  </a:tcPr>
                </a:tc>
                <a:tc>
                  <a:txBody>
                    <a:bodyPr/>
                    <a:lstStyle/>
                    <a:p>
                      <a:r>
                        <a:rPr sz="700" b="0">
                          <a:solidFill>
                            <a:srgbClr val="060606"/>
                          </a:solidFill>
                          <a:latin typeface="Helvetica"/>
                        </a:rPr>
                        <a:t>norme non respectée</a:t>
                      </a:r>
                    </a:p>
                  </a:txBody>
                  <a:tcPr marL="28800" marR="28800" marT="3600" marB="3600" anchor="ctr">
                    <a:solidFill>
                      <a:srgbClr val="FFFFFF"/>
                    </a:solidFill>
                  </a:tcPr>
                </a:tc>
                <a:tc>
                  <a:txBody>
                    <a:bodyPr/>
                    <a:lstStyle/>
                    <a:p>
                      <a:r>
                        <a:rPr sz="700" b="1">
                          <a:solidFill>
                            <a:srgbClr val="060606"/>
                          </a:solidFill>
                          <a:latin typeface="Helvetica"/>
                        </a:rPr>
                        <a:t>Conforme</a:t>
                      </a:r>
                    </a:p>
                  </a:txBody>
                  <a:tcPr marL="28800" marR="28800" marT="3600" marB="3600" anchor="ctr">
                    <a:solidFill>
                      <a:srgbClr val="70AD47"/>
                    </a:solidFill>
                  </a:tcPr>
                </a:tc>
                <a:tc>
                  <a:txBody>
                    <a:bodyPr/>
                    <a:lstStyle/>
                    <a:p>
                      <a:r>
                        <a:rPr sz="700" b="0">
                          <a:solidFill>
                            <a:srgbClr val="060606"/>
                          </a:solidFill>
                          <a:latin typeface="Helvetica"/>
                        </a:rPr>
                        <a:t>norme respectée</a:t>
                      </a:r>
                    </a:p>
                  </a:txBody>
                  <a:tcPr marL="28800" marR="28800" marT="3600" marB="3600" anchor="ctr">
                    <a:solidFill>
                      <a:srgbClr val="FFFFFF"/>
                    </a:solidFill>
                  </a:tcPr>
                </a:tc>
                <a:tc>
                  <a:txBody>
                    <a:bodyPr/>
                    <a:lstStyle/>
                    <a:p>
                      <a:r>
                        <a:rPr sz="700" b="1">
                          <a:solidFill>
                            <a:srgbClr val="060606"/>
                          </a:solidFill>
                          <a:latin typeface="Helvetica"/>
                        </a:rPr>
                        <a:t>Non démontré</a:t>
                      </a:r>
                    </a:p>
                  </a:txBody>
                  <a:tcPr marL="28800" marR="28800" marT="3600" marB="3600" anchor="ctr">
                    <a:solidFill>
                      <a:srgbClr val="EFAC62"/>
                    </a:solidFill>
                  </a:tcPr>
                </a:tc>
                <a:tc>
                  <a:txBody>
                    <a:bodyPr/>
                    <a:lstStyle/>
                    <a:p>
                      <a:r>
                        <a:rPr sz="700" b="0">
                          <a:solidFill>
                            <a:srgbClr val="060606"/>
                          </a:solidFill>
                          <a:latin typeface="Helvetica"/>
                        </a:rPr>
                        <a:t>non démontré par les documents reçus</a:t>
                      </a:r>
                    </a:p>
                  </a:txBody>
                  <a:tcPr marL="28800" marR="28800" marT="3600" marB="3600" anchor="ctr">
                    <a:solidFill>
                      <a:srgbClr val="FFFFFF"/>
                    </a:solidFill>
                  </a:tcPr>
                </a:tc>
              </a:tr>
            </a:tbl>
          </a:graphicData>
        </a:graphic>
      </p:graphicFrame>
      <p:sp>
        <p:nvSpPr>
          <p:cNvPr id="34" name="TextBox 33"/>
          <p:cNvSpPr txBox="1"/>
          <p:nvPr/>
        </p:nvSpPr>
        <p:spPr>
          <a:xfrm>
            <a:off x="503999" y="5099844"/>
            <a:ext cx="11232000" cy="162000"/>
          </a:xfrm>
          <a:prstGeom prst="rect">
            <a:avLst/>
          </a:prstGeom>
          <a:noFill/>
        </p:spPr>
        <p:txBody>
          <a:bodyPr wrap="square" anchor="t" lIns="54000" rIns="54000"/>
          <a:lstStyle/>
          <a:p>
            <a:pPr algn="l"/>
            <a:r>
              <a:rPr sz="850" b="0">
                <a:solidFill>
                  <a:srgbClr val="53565A"/>
                </a:solidFill>
                <a:latin typeface="Helvetica"/>
              </a:rPr>
              <a:t>Valable pour : exigences des textes applicables au 31/08/2026. Pièces reçues jusqu'au 22/10/2026.</a:t>
            </a:r>
          </a:p>
        </p:txBody>
      </p:sp>
      <p:sp>
        <p:nvSpPr>
          <p:cNvPr id="35" name="TextBox 34"/>
          <p:cNvSpPr txBox="1"/>
          <p:nvPr/>
        </p:nvSpPr>
        <p:spPr>
          <a:xfrm>
            <a:off x="503999" y="5405844"/>
            <a:ext cx="11232000" cy="462155"/>
          </a:xfrm>
          <a:prstGeom prst="rect">
            <a:avLst/>
          </a:prstGeom>
          <a:noFill/>
        </p:spPr>
        <p:txBody>
          <a:bodyPr wrap="square" lIns="54000" rIns="54000"/>
          <a:lstStyle/>
          <a:p>
            <a:pPr algn="just">
              <a:spcAft>
                <a:spcPts val="600"/>
              </a:spcAft>
            </a:pPr>
            <a:r>
              <a:rPr sz="950" b="1">
                <a:solidFill>
                  <a:srgbClr val="060606"/>
                </a:solidFill>
                <a:latin typeface="Helvetica"/>
              </a:rPr>
              <a:t>Les exigences propres aux risques longs (EFC et PEP) ne sont pas appliquées.</a:t>
            </a:r>
            <a:r>
              <a:rPr sz="950" b="0">
                <a:solidFill>
                  <a:srgbClr val="060606"/>
                </a:solidFill>
                <a:latin typeface="Helvetica"/>
              </a:rPr>
              <a:t> Le FPPN gère pourtant 15 743 516 391 FCFA d'épargne au 31/08/2026.</a:t>
            </a:r>
          </a:p>
          <a:p>
            <a:pPr algn="just">
              <a:spcAft>
                <a:spcPts val="600"/>
              </a:spcAft>
            </a:pPr>
            <a:r>
              <a:rPr sz="950" b="0">
                <a:solidFill>
                  <a:srgbClr val="060606"/>
                </a:solidFill>
                <a:latin typeface="Helvetica"/>
              </a:rPr>
              <a:t>Le plan de mise en conformité (recommandation 4) doit couvrir ces exigences, en plus des ratios chiffrés.</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PEP : Plan Épargne Plus | EFC : entraide fin de carrière</a:t>
            </a:r>
          </a:p>
        </p:txBody>
      </p:sp>
    </p:spTree>
    <p:extLst>
      <p:ext uri="{BB962C8B-B14F-4D97-AF65-F5344CB8AC3E}">
        <p14:creationId xmlns:p14="http://schemas.microsoft.com/office/powerpoint/2010/main" val="3472427191"/>
      </p:ext>
    </p:extLst>
  </p:cSld>
  <p:clrMapOvr>
    <a:masterClrMapping/>
  </p:clrMapOvr>
  <p:transition>
    <p:fade/>
  </p:transition>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Contrôle du plan comptable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Deux écarts au plan comptable touchent directement les calculs actuariels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Contrôle limité aux comptes qui alimentent les provisions, les réserves, l'épargne, les cotisations, les prestations et les placements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PCMS (mai 2012), liste des comptes et fiches n° 1, 2, 6 et 25. Balances du FPPN</a:t>
            </a:r>
          </a:p>
        </p:txBody>
      </p:sp>
      <p:sp>
        <p:nvSpPr>
          <p:cNvPr id="31" name="TextBox 30"/>
          <p:cNvSpPr txBox="1"/>
          <p:nvPr/>
        </p:nvSpPr>
        <p:spPr>
          <a:xfrm>
            <a:off x="503999" y="1386000"/>
            <a:ext cx="11231999" cy="216000"/>
          </a:xfrm>
          <a:prstGeom prst="rect">
            <a:avLst/>
          </a:prstGeom>
          <a:noFill/>
        </p:spPr>
        <p:txBody>
          <a:bodyPr wrap="square" anchor="t" lIns="54000" rIns="54000"/>
          <a:lstStyle/>
          <a:p>
            <a:pPr algn="ctr"/>
            <a:r>
              <a:rPr sz="1200" b="0">
                <a:solidFill>
                  <a:srgbClr val="EFAC62"/>
                </a:solidFill>
                <a:latin typeface="Helvetica"/>
              </a:rPr>
              <a:t>Tableau 92 : Contrôle du classement des comptes selon le PCMS</a:t>
            </a:r>
          </a:p>
        </p:txBody>
      </p:sp>
      <p:graphicFrame>
        <p:nvGraphicFramePr>
          <p:cNvPr id="32" name="Table 31"/>
          <p:cNvGraphicFramePr>
            <a:graphicFrameLocks noGrp="1"/>
          </p:cNvGraphicFramePr>
          <p:nvPr/>
        </p:nvGraphicFramePr>
        <p:xfrm>
          <a:off x="503999" y="1655999"/>
          <a:ext cx="11231996" cy="3051760"/>
        </p:xfrm>
        <a:graphic>
          <a:graphicData uri="http://schemas.openxmlformats.org/drawingml/2006/table">
            <a:tbl>
              <a:tblPr firstRow="0" bandRow="0">
                <a:tableStyleId>{5940675A-B579-460E-94D1-54222C63F5DA}</a:tableStyleId>
              </a:tblPr>
              <a:tblGrid>
                <a:gridCol w="1655999"/>
                <a:gridCol w="2951999"/>
                <a:gridCol w="3311999"/>
                <a:gridCol w="3311999"/>
              </a:tblGrid>
              <a:tr h="187148">
                <a:tc>
                  <a:txBody>
                    <a:bodyPr/>
                    <a:lstStyle/>
                    <a:p>
                      <a:pPr marL="0" indent="0" lvl="0">
                        <a:buNone/>
                      </a:pPr>
                      <a:r>
                        <a:rPr sz="850" b="1">
                          <a:solidFill>
                            <a:srgbClr val="FFFFFF"/>
                          </a:solidFill>
                          <a:latin typeface="Helvetica"/>
                        </a:rPr>
                        <a:t>Point</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Attendu selon le PCMS</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Constat</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Incidence</a:t>
                      </a:r>
                    </a:p>
                  </a:txBody>
                  <a:tcPr marL="43200" marR="43200" marT="14400" marB="14400" anchor="ctr">
                    <a:solidFill>
                      <a:srgbClr val="060606"/>
                    </a:solidFill>
                  </a:tcPr>
                </a:tc>
              </a:tr>
              <a:tr h="575792">
                <a:tc>
                  <a:txBody>
                    <a:bodyPr/>
                    <a:lstStyle/>
                    <a:p>
                      <a:pPr marL="0" indent="0" lvl="0">
                        <a:buNone/>
                      </a:pPr>
                      <a:r>
                        <a:rPr sz="850" b="1">
                          <a:solidFill>
                            <a:srgbClr val="060606"/>
                          </a:solidFill>
                          <a:latin typeface="Helvetica"/>
                        </a:rPr>
                        <a:t>Provisions pour prestations à payer</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19011 et 19012 (classe 19, provisions techniques). La rubrique 15 est réservée aux provisions réglementées à caractère fiscal.</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Conforme de 2020 à 2023. Depuis 2024, les provisions techniques sont classées en provisions réglementées (158), sans changement de montant.</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Aucune sur les montants. Les provisions techniques n'apparaissent plus comme telles dans le bilan, ce qui gêne leur lecture et le contrôle de l'article 7 du règlement d'exécution.</a:t>
                      </a:r>
                    </a:p>
                  </a:txBody>
                  <a:tcPr marL="43200" marR="43200" marT="14400" marB="14400" anchor="ctr">
                    <a:solidFill>
                      <a:srgbClr val="FFFFFF"/>
                    </a:solidFill>
                  </a:tcPr>
                </a:tc>
              </a:tr>
              <a:tr h="446244">
                <a:tc>
                  <a:txBody>
                    <a:bodyPr/>
                    <a:lstStyle/>
                    <a:p>
                      <a:pPr marL="0" indent="0" lvl="0">
                        <a:buNone/>
                      </a:pPr>
                      <a:r>
                        <a:rPr sz="850" b="1">
                          <a:solidFill>
                            <a:srgbClr val="060606"/>
                          </a:solidFill>
                          <a:latin typeface="Helvetica"/>
                        </a:rPr>
                        <a:t>Réserve disponible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106 = écarts de réévaluation des immeubles (fonds mutualistes). Les réserves vont en 11.</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Libellé et rubrique ne concordent pas. L'origine du montant (réévaluation ou excédents mis en réserve) n'est pas documentée.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Le montant compte ou non dans la marge de solvabilité selon sa nature : à confirmer par le FPPN.</a:t>
                      </a:r>
                    </a:p>
                  </a:txBody>
                  <a:tcPr marL="43200" marR="43200" marT="14400" marB="14400" anchor="ctr">
                    <a:solidFill>
                      <a:srgbClr val="F2F2F2"/>
                    </a:solidFill>
                  </a:tcPr>
                </a:tc>
              </a:tr>
              <a:tr h="316696">
                <a:tc>
                  <a:txBody>
                    <a:bodyPr/>
                    <a:lstStyle/>
                    <a:p>
                      <a:pPr marL="0" indent="0" lvl="0">
                        <a:buNone/>
                      </a:pPr>
                      <a:r>
                        <a:rPr sz="850" b="1">
                          <a:solidFill>
                            <a:srgbClr val="060606"/>
                          </a:solidFill>
                          <a:latin typeface="Helvetica"/>
                        </a:rPr>
                        <a:t>Réserves légales et facultatives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111 réserves légales, 118 autres réserves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Conforme.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Base du ratio de réserve obligatoire et de la marge de solvabilité.</a:t>
                      </a:r>
                    </a:p>
                  </a:txBody>
                  <a:tcPr marL="43200" marR="43200" marT="14400" marB="14400" anchor="ctr">
                    <a:solidFill>
                      <a:srgbClr val="FFFFFF"/>
                    </a:solidFill>
                  </a:tcPr>
                </a:tc>
              </a:tr>
              <a:tr h="446244">
                <a:tc>
                  <a:txBody>
                    <a:bodyPr/>
                    <a:lstStyle/>
                    <a:p>
                      <a:pPr marL="0" indent="0" lvl="0">
                        <a:buNone/>
                      </a:pPr>
                      <a:r>
                        <a:rPr sz="850" b="1">
                          <a:solidFill>
                            <a:srgbClr val="060606"/>
                          </a:solidFill>
                          <a:latin typeface="Helvetica"/>
                        </a:rPr>
                        <a:t>Épargne des adhérents (PEP, EFC)</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41195 « Autres comptes créditeurs des adhérents » (classe 4, tiers).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Compte conforme au PCMS. Le PCMS ne prévoit pas de compte propre aux risques longs. Le règlement d'exécution exige des états financiers par risque long (art. 13).</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Classée en dette à court terme, l'épargne pèse sur les ratios de liquidité. Son échéance réelle reste à établir avec les âges.</a:t>
                      </a:r>
                    </a:p>
                  </a:txBody>
                  <a:tcPr marL="43200" marR="43200" marT="14400" marB="14400" anchor="ctr">
                    <a:solidFill>
                      <a:srgbClr val="F2F2F2"/>
                    </a:solidFill>
                  </a:tcPr>
                </a:tc>
              </a:tr>
              <a:tr h="446244">
                <a:tc>
                  <a:txBody>
                    <a:bodyPr/>
                    <a:lstStyle/>
                    <a:p>
                      <a:pPr marL="0" indent="0" lvl="0">
                        <a:buNone/>
                      </a:pPr>
                      <a:r>
                        <a:rPr sz="850" b="1">
                          <a:solidFill>
                            <a:srgbClr val="060606"/>
                          </a:solidFill>
                          <a:latin typeface="Helvetica"/>
                        </a:rPr>
                        <a:t>Avances au CMP, au Grenier et créance sur l'Hôpital de la Police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471 = comptes d'attente débiteurs (opérations à régulariser). Les prêts et placements durables relèvent des classes 26 et 27.</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Des emplois durables de 11 603 989 675 FCFA au 31/08/2026 sont suivis en comptes d'attente ou de tiers.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Ils sont comptés en court terme dans les ratios de liquidité et absents des emplois longs du ratio d'équilibre stable.</a:t>
                      </a:r>
                    </a:p>
                  </a:txBody>
                  <a:tcPr marL="43200" marR="43200" marT="14400" marB="14400" anchor="ctr">
                    <a:solidFill>
                      <a:srgbClr val="FFFFFF"/>
                    </a:solidFill>
                  </a:tcPr>
                </a:tc>
              </a:tr>
              <a:tr h="316696">
                <a:tc>
                  <a:txBody>
                    <a:bodyPr/>
                    <a:lstStyle/>
                    <a:p>
                      <a:pPr marL="0" indent="0" lvl="0">
                        <a:buNone/>
                      </a:pPr>
                      <a:r>
                        <a:rPr sz="850" b="1">
                          <a:solidFill>
                            <a:srgbClr val="060606"/>
                          </a:solidFill>
                          <a:latin typeface="Helvetica"/>
                        </a:rPr>
                        <a:t>Cotisations et prestations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701 maladie, 702 décès. 601 maladie, 602 obsèques, 608 autres prestations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Conforme.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Base de la sinistralité réglementaire.</a:t>
                      </a:r>
                    </a:p>
                  </a:txBody>
                  <a:tcPr marL="43200" marR="43200" marT="14400" marB="14400" anchor="ctr">
                    <a:solidFill>
                      <a:srgbClr val="F2F2F2"/>
                    </a:solidFill>
                  </a:tcPr>
                </a:tc>
              </a:tr>
              <a:tr h="316696">
                <a:tc>
                  <a:txBody>
                    <a:bodyPr/>
                    <a:lstStyle/>
                    <a:p>
                      <a:pPr marL="0" indent="0" lvl="0">
                        <a:buNone/>
                      </a:pPr>
                      <a:r>
                        <a:rPr sz="850" b="1">
                          <a:solidFill>
                            <a:srgbClr val="060606"/>
                          </a:solidFill>
                          <a:latin typeface="Helvetica"/>
                        </a:rPr>
                        <a:t>Primes, indemnités et supplément familial du personnel</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641 = impôts et taxes sur salaires. Les rémunérations relèvent de 66.</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Ces montants sont classés en impôts et taxes.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Faible (moins de 8 000 000 FCFA par an) : le taux de charges de personnel est légèrement sous-estimé.</a:t>
                      </a:r>
                    </a:p>
                  </a:txBody>
                  <a:tcPr marL="43200" marR="43200" marT="14400" marB="14400" anchor="ctr">
                    <a:solidFill>
                      <a:srgbClr val="FFFFFF"/>
                    </a:solidFill>
                  </a:tcPr>
                </a:tc>
              </a:tr>
            </a:tbl>
          </a:graphicData>
        </a:graphic>
      </p:graphicFrame>
      <p:sp>
        <p:nvSpPr>
          <p:cNvPr id="33" name="TextBox 32"/>
          <p:cNvSpPr txBox="1"/>
          <p:nvPr/>
        </p:nvSpPr>
        <p:spPr>
          <a:xfrm>
            <a:off x="503999" y="4815763"/>
            <a:ext cx="11232000" cy="306000"/>
          </a:xfrm>
          <a:prstGeom prst="rect">
            <a:avLst/>
          </a:prstGeom>
          <a:noFill/>
        </p:spPr>
        <p:txBody>
          <a:bodyPr wrap="square" anchor="t" lIns="54000" rIns="54000"/>
          <a:lstStyle/>
          <a:p>
            <a:pPr algn="l"/>
            <a:r>
              <a:rPr sz="850" b="0">
                <a:solidFill>
                  <a:srgbClr val="53565A"/>
                </a:solidFill>
                <a:latin typeface="Helvetica"/>
              </a:rPr>
              <a:t>Valable pour : comptes des balances « BALANCE FORMAT EXCEL DE 09-2020 AU 31-12-2020.xlsx » à « BALANCE FPPN DU 01-01-2026 AU 31-08-2026.xlsx » comparés à la liste des comptes du PCMS (mai 2012, fiches 1, 2, 6 et 25).</a:t>
            </a:r>
          </a:p>
        </p:txBody>
      </p:sp>
      <p:sp>
        <p:nvSpPr>
          <p:cNvPr id="34" name="TextBox 33"/>
          <p:cNvSpPr txBox="1"/>
          <p:nvPr/>
        </p:nvSpPr>
        <p:spPr>
          <a:xfrm>
            <a:off x="503999" y="5265763"/>
            <a:ext cx="11232000" cy="602236"/>
          </a:xfrm>
          <a:prstGeom prst="rect">
            <a:avLst/>
          </a:prstGeom>
          <a:noFill/>
        </p:spPr>
        <p:txBody>
          <a:bodyPr wrap="square" lIns="54000" rIns="54000"/>
          <a:lstStyle/>
          <a:p>
            <a:pPr algn="just">
              <a:spcAft>
                <a:spcPts val="600"/>
              </a:spcAft>
            </a:pPr>
            <a:r>
              <a:rPr sz="1300" b="1">
                <a:solidFill>
                  <a:srgbClr val="060606"/>
                </a:solidFill>
                <a:latin typeface="Helvetica"/>
              </a:rPr>
              <a:t>Le reclassement des provisions techniques en provisions réglementées depuis 2024 et l'usage du compte 106 sont les deux écarts qui changent la lecture du bilan.</a:t>
            </a:r>
            <a:r>
              <a:rPr sz="1300" b="0">
                <a:solidFill>
                  <a:srgbClr val="060606"/>
                </a:solidFill>
                <a:latin typeface="Helvetica"/>
              </a:rPr>
              <a:t> Les autres comptes suivent le plan comptable.</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PCMS : plan comptable des mutuelles sociales | PEP : Plan Épargne Plus | EFC : entraide fin de carrière | CMP : Clinique médicale du policier</a:t>
            </a:r>
          </a:p>
        </p:txBody>
      </p:sp>
    </p:spTree>
    <p:extLst>
      <p:ext uri="{BB962C8B-B14F-4D97-AF65-F5344CB8AC3E}">
        <p14:creationId xmlns:p14="http://schemas.microsoft.com/office/powerpoint/2010/main" val="2947387477"/>
      </p:ext>
    </p:extLst>
  </p:cSld>
  <p:clrMapOvr>
    <a:masterClrMapping/>
  </p:clrMapOvr>
  <p:transition>
    <p:fade/>
  </p:transition>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Exigences non chiffrées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Plusieurs obligations du règlement d'exécution ne se mesurent pas par un ratio</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Chaque obligation est comparée aux pièces reçues. Une obligation sans pièce est non démontrée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règlement d'exécution n° 004/2022/COM/UEMOA du 1er juin 2022. Règlement n° 07/2009/CM/UEMOA du 26 juin 2009. Documents reçus le 15/10/2026</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93 : Exigences non chiffrées et situation du FPPN</a:t>
            </a:r>
          </a:p>
        </p:txBody>
      </p:sp>
      <p:graphicFrame>
        <p:nvGraphicFramePr>
          <p:cNvPr id="32" name="Table 31"/>
          <p:cNvGraphicFramePr>
            <a:graphicFrameLocks noGrp="1"/>
          </p:cNvGraphicFramePr>
          <p:nvPr/>
        </p:nvGraphicFramePr>
        <p:xfrm>
          <a:off x="503999" y="1655999"/>
          <a:ext cx="11232000" cy="2301588"/>
        </p:xfrm>
        <a:graphic>
          <a:graphicData uri="http://schemas.openxmlformats.org/drawingml/2006/table">
            <a:tbl>
              <a:tblPr firstRow="0" bandRow="0">
                <a:tableStyleId>{5940675A-B579-460E-94D1-54222C63F5DA}</a:tableStyleId>
              </a:tblPr>
              <a:tblGrid>
                <a:gridCol w="3456000"/>
                <a:gridCol w="2232000"/>
                <a:gridCol w="5544000"/>
              </a:tblGrid>
              <a:tr h="194768">
                <a:tc>
                  <a:txBody>
                    <a:bodyPr/>
                    <a:lstStyle/>
                    <a:p>
                      <a:pPr marL="0" indent="0" lvl="0">
                        <a:buNone/>
                      </a:pPr>
                      <a:r>
                        <a:rPr sz="900" b="1">
                          <a:solidFill>
                            <a:srgbClr val="FFFFFF"/>
                          </a:solidFill>
                          <a:latin typeface="Helvetica"/>
                        </a:rPr>
                        <a:t>Exigence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Texte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Situation constatée</a:t>
                      </a:r>
                    </a:p>
                  </a:txBody>
                  <a:tcPr marL="43200" marR="43200" marT="14400" marB="14400" anchor="ctr">
                    <a:solidFill>
                      <a:srgbClr val="060606"/>
                    </a:solidFill>
                  </a:tcPr>
                </a:tc>
              </a:tr>
              <a:tr h="331937">
                <a:tc>
                  <a:txBody>
                    <a:bodyPr/>
                    <a:lstStyle/>
                    <a:p>
                      <a:pPr marL="0" indent="0" lvl="0">
                        <a:buNone/>
                      </a:pPr>
                      <a:r>
                        <a:rPr sz="900" b="1">
                          <a:solidFill>
                            <a:srgbClr val="060606"/>
                          </a:solidFill>
                          <a:latin typeface="Helvetica"/>
                        </a:rPr>
                        <a:t>Provisions techniques suffisantes à tout moment, calculées dossier par dossier</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Règl. d'exécution, art. 7 à 11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Montant identique de 2020 à 2026 : la provision n'est pas recalculée (partie 9).</a:t>
                      </a:r>
                    </a:p>
                  </a:txBody>
                  <a:tcPr marL="43200" marR="43200" marT="14400" marB="14400" anchor="ctr">
                    <a:solidFill>
                      <a:srgbClr val="FFFFFF"/>
                    </a:solidFill>
                  </a:tcPr>
                </a:tc>
              </a:tr>
              <a:tr h="331937">
                <a:tc>
                  <a:txBody>
                    <a:bodyPr/>
                    <a:lstStyle/>
                    <a:p>
                      <a:pPr marL="0" indent="0" lvl="0">
                        <a:buNone/>
                      </a:pPr>
                      <a:r>
                        <a:rPr sz="900" b="1">
                          <a:solidFill>
                            <a:srgbClr val="060606"/>
                          </a:solidFill>
                          <a:latin typeface="Helvetica"/>
                        </a:rPr>
                        <a:t>Comptes certifiés par un commissaire aux comptes (risques longs)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Règl. d'exécution, art. 12</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Aucun rapport de commissaire aux comptes n'a été transmis.</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États financiers propres à chaque risque long</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Règl. d'exécution, art. 13</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Les balances ne séparent pas l'EFC et le PEP en états distincts.</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Étude actuarielle tous les cinq ans (risques longs)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Règl. d'exécution, art. 14</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Aucune étude antérieure n'a été transmise. La présente mission peut y contribuer.</a:t>
                      </a:r>
                    </a:p>
                  </a:txBody>
                  <a:tcPr marL="43200" marR="43200" marT="14400" marB="14400" anchor="ctr">
                    <a:solidFill>
                      <a:srgbClr val="F2F2F2"/>
                    </a:solidFill>
                  </a:tcPr>
                </a:tc>
              </a:tr>
              <a:tr h="331937">
                <a:tc>
                  <a:txBody>
                    <a:bodyPr/>
                    <a:lstStyle/>
                    <a:p>
                      <a:pPr marL="0" indent="0" lvl="0">
                        <a:buNone/>
                      </a:pPr>
                      <a:r>
                        <a:rPr sz="900" b="1">
                          <a:solidFill>
                            <a:srgbClr val="060606"/>
                          </a:solidFill>
                          <a:latin typeface="Helvetica"/>
                        </a:rPr>
                        <a:t>Cantonnement des patrimoines entre risques courts et longs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Règl. d'exécution, art. 15</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Des comptes bancaires réservés existent, mais ils couvrent seulement 16,28 % de l'épargne.</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Placements sûrs, rentables, liquides et diversifiés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Règl. d'exécution, art. 17</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Aucune politique de placement. Aucune des quatre conditions n'est démontrée (partie 9.3).</a:t>
                      </a:r>
                    </a:p>
                  </a:txBody>
                  <a:tcPr marL="43200" marR="43200" marT="14400" marB="14400" anchor="ctr">
                    <a:solidFill>
                      <a:srgbClr val="F2F2F2"/>
                    </a:solidFill>
                  </a:tcPr>
                </a:tc>
              </a:tr>
              <a:tr h="331937">
                <a:tc>
                  <a:txBody>
                    <a:bodyPr/>
                    <a:lstStyle/>
                    <a:p>
                      <a:pPr marL="0" indent="0" lvl="0">
                        <a:buNone/>
                      </a:pPr>
                      <a:r>
                        <a:rPr sz="900" b="1">
                          <a:solidFill>
                            <a:srgbClr val="060606"/>
                          </a:solidFill>
                          <a:latin typeface="Helvetica"/>
                        </a:rPr>
                        <a:t>Pertes des activités sanitaires non couvertes par les cotisations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Règl. d'exécution, art. 27</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Le FPPN finance des charges de fonctionnement « au CMP » sans comptabilité séparée transmise.</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Adhésion et cotisation au fonds national de garantie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Règl. n° 07/2009, art. 63</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Aucun compte du fonds de garantie n'apparaît dans les balances.</a:t>
                      </a:r>
                    </a:p>
                  </a:txBody>
                  <a:tcPr marL="43200" marR="43200" marT="14400" marB="14400" anchor="ctr">
                    <a:solidFill>
                      <a:srgbClr val="F2F2F2"/>
                    </a:solidFill>
                  </a:tcPr>
                </a:tc>
              </a:tr>
            </a:tbl>
          </a:graphicData>
        </a:graphic>
      </p:graphicFrame>
      <p:sp>
        <p:nvSpPr>
          <p:cNvPr id="33" name="TextBox 32"/>
          <p:cNvSpPr txBox="1"/>
          <p:nvPr/>
        </p:nvSpPr>
        <p:spPr>
          <a:xfrm>
            <a:off x="503999" y="4065592"/>
            <a:ext cx="11232000" cy="162000"/>
          </a:xfrm>
          <a:prstGeom prst="rect">
            <a:avLst/>
          </a:prstGeom>
          <a:noFill/>
        </p:spPr>
        <p:txBody>
          <a:bodyPr wrap="square" anchor="t" lIns="54000" rIns="54000"/>
          <a:lstStyle/>
          <a:p>
            <a:pPr algn="l"/>
            <a:r>
              <a:rPr sz="850" b="0">
                <a:solidFill>
                  <a:srgbClr val="53565A"/>
                </a:solidFill>
                <a:latin typeface="Helvetica"/>
              </a:rPr>
              <a:t>Valable pour : exigences des textes cités confrontées aux documents reçus jusqu'au 22/10/2026.</a:t>
            </a:r>
          </a:p>
        </p:txBody>
      </p:sp>
      <p:sp>
        <p:nvSpPr>
          <p:cNvPr id="34" name="TextBox 33"/>
          <p:cNvSpPr txBox="1"/>
          <p:nvPr/>
        </p:nvSpPr>
        <p:spPr>
          <a:xfrm>
            <a:off x="503999" y="4371592"/>
            <a:ext cx="11232000" cy="1496407"/>
          </a:xfrm>
          <a:prstGeom prst="rect">
            <a:avLst/>
          </a:prstGeom>
          <a:noFill/>
        </p:spPr>
        <p:txBody>
          <a:bodyPr wrap="square" lIns="54000" rIns="54000"/>
          <a:lstStyle/>
          <a:p>
            <a:pPr algn="just">
              <a:spcAft>
                <a:spcPts val="600"/>
              </a:spcAft>
            </a:pPr>
            <a:r>
              <a:rPr sz="1300" b="1">
                <a:solidFill>
                  <a:srgbClr val="060606"/>
                </a:solidFill>
                <a:latin typeface="Helvetica"/>
              </a:rPr>
              <a:t>Les exigences propres aux risques longs ne sont pas documentées.</a:t>
            </a:r>
            <a:r>
              <a:rPr sz="1300" b="0">
                <a:solidFill>
                  <a:srgbClr val="060606"/>
                </a:solidFill>
                <a:latin typeface="Helvetica"/>
              </a:rPr>
              <a:t> Elles découlent pourtant directement de la gestion de l'EFC et du PEP.</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PEP : Plan Épargne Plus | EFC : entraide fin de carrière | CMP : Clinique médicale du policier</a:t>
            </a:r>
          </a:p>
        </p:txBody>
      </p:sp>
    </p:spTree>
    <p:extLst>
      <p:ext uri="{BB962C8B-B14F-4D97-AF65-F5344CB8AC3E}">
        <p14:creationId xmlns:p14="http://schemas.microsoft.com/office/powerpoint/2010/main" val="956514757"/>
      </p:ext>
    </p:extLst>
  </p:cSld>
  <p:clrMapOvr>
    <a:masterClrMapping/>
  </p:clrMapOvr>
  <p:transition>
    <p:fade/>
  </p:transition>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Exposition aux sanctions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non-respect des règles prudentielles expose le FPPN à des sanctions graduées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Barème de l'arrêté n° 00115/MEPS/CAB du 12/12/2023 pour une mutuelle de plus de 10 000 000 FCFA de cotisations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arrêté n° 00115/MEPS/CAB du 12/12/2023, annexe. Règlement n° 07/2009/CM/UEMOA du 26 juin 2009, art. 83 et 84. Règlement d'exécution n° 004/2022/COM/UEMOA du 1er juin 2022, art. 38 à 41</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94 : Manquements liés aux constats du rapport et sanctions prévues</a:t>
            </a:r>
          </a:p>
        </p:txBody>
      </p:sp>
      <p:graphicFrame>
        <p:nvGraphicFramePr>
          <p:cNvPr id="32" name="Table 31"/>
          <p:cNvGraphicFramePr>
            <a:graphicFrameLocks noGrp="1"/>
          </p:cNvGraphicFramePr>
          <p:nvPr/>
        </p:nvGraphicFramePr>
        <p:xfrm>
          <a:off x="503999" y="1655999"/>
          <a:ext cx="11231999" cy="1602085"/>
        </p:xfrm>
        <a:graphic>
          <a:graphicData uri="http://schemas.openxmlformats.org/drawingml/2006/table">
            <a:tbl>
              <a:tblPr firstRow="0" bandRow="0">
                <a:tableStyleId>{5940675A-B579-460E-94D1-54222C63F5DA}</a:tableStyleId>
              </a:tblPr>
              <a:tblGrid>
                <a:gridCol w="3600000"/>
                <a:gridCol w="1224000"/>
                <a:gridCol w="3671999"/>
                <a:gridCol w="2736000"/>
              </a:tblGrid>
              <a:tr h="362419">
                <a:tc>
                  <a:txBody>
                    <a:bodyPr/>
                    <a:lstStyle/>
                    <a:p>
                      <a:pPr marL="0" indent="0" lvl="0">
                        <a:buNone/>
                      </a:pPr>
                      <a:r>
                        <a:rPr sz="1000" b="1">
                          <a:solidFill>
                            <a:srgbClr val="FFFFFF"/>
                          </a:solidFill>
                          <a:latin typeface="Helvetica"/>
                        </a:rPr>
                        <a:t>Manquement</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Ligne de l'arrêté</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Sanction</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Peine pécuniaire</a:t>
                      </a:r>
                    </a:p>
                  </a:txBody>
                  <a:tcPr marL="43200" marR="43200" marT="14400" marB="14400" anchor="ctr">
                    <a:solidFill>
                      <a:srgbClr val="060606"/>
                    </a:solidFill>
                  </a:tcPr>
                </a:tc>
              </a:tr>
              <a:tr h="514828">
                <a:tc>
                  <a:txBody>
                    <a:bodyPr/>
                    <a:lstStyle/>
                    <a:p>
                      <a:pPr marL="0" indent="0" lvl="0">
                        <a:buNone/>
                      </a:pPr>
                      <a:r>
                        <a:rPr sz="1000" b="1">
                          <a:solidFill>
                            <a:srgbClr val="060606"/>
                          </a:solidFill>
                          <a:latin typeface="Helvetica"/>
                        </a:rPr>
                        <a:t>Non-respect des règles comptables et prudentielles durant un exercice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6</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Avertissement, injonction de régularisation, suspension des dirigeants ou suspension provisoire de l'agrément</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1 000 000 FCFA</a:t>
                      </a:r>
                    </a:p>
                  </a:txBody>
                  <a:tcPr marL="43200" marR="43200" marT="14400" marB="14400" anchor="ctr">
                    <a:solidFill>
                      <a:srgbClr val="FFFFFF"/>
                    </a:solidFill>
                  </a:tcPr>
                </a:tc>
              </a:tr>
              <a:tr h="362419">
                <a:tc>
                  <a:txBody>
                    <a:bodyPr/>
                    <a:lstStyle/>
                    <a:p>
                      <a:pPr marL="0" indent="0" lvl="0">
                        <a:buNone/>
                      </a:pPr>
                      <a:r>
                        <a:rPr sz="1000" b="1">
                          <a:solidFill>
                            <a:srgbClr val="060606"/>
                          </a:solidFill>
                          <a:latin typeface="Helvetica"/>
                        </a:rPr>
                        <a:t>Défaut d'adhésion ou de versement au fonds national de garantie</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8</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Mêmes sanctions que la ligne 6</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1 000 000 FCFA</a:t>
                      </a:r>
                    </a:p>
                  </a:txBody>
                  <a:tcPr marL="43200" marR="43200" marT="14400" marB="14400" anchor="ctr">
                    <a:solidFill>
                      <a:srgbClr val="F2F2F2"/>
                    </a:solidFill>
                  </a:tcPr>
                </a:tc>
              </a:tr>
              <a:tr h="362419">
                <a:tc>
                  <a:txBody>
                    <a:bodyPr/>
                    <a:lstStyle/>
                    <a:p>
                      <a:pPr marL="0" indent="0" lvl="0">
                        <a:buNone/>
                      </a:pPr>
                      <a:r>
                        <a:rPr sz="1000" b="1">
                          <a:solidFill>
                            <a:srgbClr val="060606"/>
                          </a:solidFill>
                          <a:latin typeface="Helvetica"/>
                        </a:rPr>
                        <a:t>Non-respect des règles prudentielles sur deux exercices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13</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Retrait de l'agrément (règlement n° 07/2009, art. 84)</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3 000 000 FCFA</a:t>
                      </a:r>
                    </a:p>
                  </a:txBody>
                  <a:tcPr marL="43200" marR="43200" marT="14400" marB="14400" anchor="ctr">
                    <a:solidFill>
                      <a:srgbClr val="FFFFFF"/>
                    </a:solidFill>
                  </a:tcPr>
                </a:tc>
              </a:tr>
            </a:tbl>
          </a:graphicData>
        </a:graphic>
      </p:graphicFrame>
      <p:sp>
        <p:nvSpPr>
          <p:cNvPr id="33" name="TextBox 32"/>
          <p:cNvSpPr txBox="1"/>
          <p:nvPr/>
        </p:nvSpPr>
        <p:spPr>
          <a:xfrm>
            <a:off x="503999" y="3366086"/>
            <a:ext cx="11232000" cy="162000"/>
          </a:xfrm>
          <a:prstGeom prst="rect">
            <a:avLst/>
          </a:prstGeom>
          <a:noFill/>
        </p:spPr>
        <p:txBody>
          <a:bodyPr wrap="square" anchor="t" lIns="54000" rIns="54000"/>
          <a:lstStyle/>
          <a:p>
            <a:pPr algn="l"/>
            <a:r>
              <a:rPr sz="850" b="0">
                <a:solidFill>
                  <a:srgbClr val="53565A"/>
                </a:solidFill>
                <a:latin typeface="Helvetica"/>
              </a:rPr>
              <a:t>Valable pour : sanctions de l'arrêté n° 00115/MEPS/CAB du 12/12/2023 et du règlement n° 07/2009 rapprochées des constats du rapport. Ne vaut pas avis juridique.</a:t>
            </a:r>
          </a:p>
        </p:txBody>
      </p:sp>
      <p:sp>
        <p:nvSpPr>
          <p:cNvPr id="34" name="TextBox 33"/>
          <p:cNvSpPr txBox="1"/>
          <p:nvPr/>
        </p:nvSpPr>
        <p:spPr>
          <a:xfrm>
            <a:off x="503999" y="3672086"/>
            <a:ext cx="11232000" cy="2195913"/>
          </a:xfrm>
          <a:prstGeom prst="rect">
            <a:avLst/>
          </a:prstGeom>
          <a:noFill/>
        </p:spPr>
        <p:txBody>
          <a:bodyPr wrap="square" lIns="54000" rIns="54000"/>
          <a:lstStyle/>
          <a:p>
            <a:pPr algn="just">
              <a:spcAft>
                <a:spcPts val="600"/>
              </a:spcAft>
            </a:pPr>
            <a:r>
              <a:rPr sz="1300" b="1">
                <a:solidFill>
                  <a:srgbClr val="060606"/>
                </a:solidFill>
                <a:latin typeface="Helvetica"/>
              </a:rPr>
              <a:t>Les peines pécuniaires sont faibles. La sanction lourde est le retrait d'agrément.</a:t>
            </a:r>
            <a:r>
              <a:rPr sz="1300" b="0">
                <a:solidFill>
                  <a:srgbClr val="060606"/>
                </a:solidFill>
                <a:latin typeface="Helvetica"/>
              </a:rPr>
              <a:t> Celui-ci emporte la dissolution de la mutuelle dès sa publication au Journal officiel (règlement n° 07/2009, art. 84).</a:t>
            </a:r>
          </a:p>
          <a:p>
            <a:pPr algn="just">
              <a:spcAft>
                <a:spcPts val="600"/>
              </a:spcAft>
            </a:pPr>
            <a:r>
              <a:rPr sz="1300" b="0">
                <a:solidFill>
                  <a:srgbClr val="060606"/>
                </a:solidFill>
                <a:latin typeface="Helvetica"/>
              </a:rPr>
              <a:t>Un plan de mise en conformité daté et chiffré, présenté à l'AIRMS, est le meilleur moyen de démontrer la volonté de régularisation et d'éviter les sanctions les plus lourdes.</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AIRMS : Agence ivoirienne de régulation de la mutualité sociale | UEMOA : Union économique et monétaire ouest-africaine | S/C : prestations / cotisations | MEPS : ministère de l'Emploi et de la Protection sociale</a:t>
            </a:r>
          </a:p>
        </p:txBody>
      </p:sp>
    </p:spTree>
    <p:extLst>
      <p:ext uri="{BB962C8B-B14F-4D97-AF65-F5344CB8AC3E}">
        <p14:creationId xmlns:p14="http://schemas.microsoft.com/office/powerpoint/2010/main" val="3010012041"/>
      </p:ext>
    </p:extLst>
  </p:cSld>
  <p:clrMapOvr>
    <a:masterClrMapping/>
  </p:clrMapOvr>
  <p:transition>
    <p:fade/>
  </p:transition>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6" name="Image 25"/>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30" name="ZoneTexte 29">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9" name="Google Shape;7386;p39"/>
          <p:cNvSpPr/>
          <p:nvPr/>
        </p:nvSpPr>
        <p:spPr>
          <a:xfrm rot="10800000">
            <a:off x="1748072" y="1436295"/>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10" name="Google Shape;7367;p39"/>
          <p:cNvSpPr/>
          <p:nvPr/>
        </p:nvSpPr>
        <p:spPr>
          <a:xfrm rot="16200000">
            <a:off x="2201124" y="215006"/>
            <a:ext cx="2027916" cy="4306666"/>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chemeClr val="tx1"/>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 name="Rectangle 3"/>
          <p:cNvSpPr/>
          <p:nvPr/>
        </p:nvSpPr>
        <p:spPr>
          <a:xfrm>
            <a:off x="2946575" y="1442741"/>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Constat</a:t>
            </a:r>
          </a:p>
        </p:txBody>
      </p:sp>
      <p:sp>
        <p:nvSpPr>
          <p:cNvPr id="20" name="Google Shape;7386;p39"/>
          <p:cNvSpPr/>
          <p:nvPr/>
        </p:nvSpPr>
        <p:spPr>
          <a:xfrm rot="10800000">
            <a:off x="6372314" y="1459724"/>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21" name="Google Shape;7367;p39"/>
          <p:cNvSpPr/>
          <p:nvPr/>
        </p:nvSpPr>
        <p:spPr>
          <a:xfrm rot="16200000">
            <a:off x="7569073" y="228570"/>
            <a:ext cx="2000788" cy="4306666"/>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rgbClr val="060606"/>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24" name="Rectangle 23"/>
          <p:cNvSpPr/>
          <p:nvPr/>
        </p:nvSpPr>
        <p:spPr>
          <a:xfrm>
            <a:off x="7570816" y="1466170"/>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Preuves</a:t>
            </a:r>
          </a:p>
        </p:txBody>
      </p:sp>
      <p:sp>
        <p:nvSpPr>
          <p:cNvPr id="37" name="Google Shape;7386;p39"/>
          <p:cNvSpPr/>
          <p:nvPr/>
        </p:nvSpPr>
        <p:spPr>
          <a:xfrm rot="10800000">
            <a:off x="1854215" y="3845744"/>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38" name="Google Shape;7367;p39"/>
          <p:cNvSpPr/>
          <p:nvPr/>
        </p:nvSpPr>
        <p:spPr>
          <a:xfrm rot="16200000">
            <a:off x="2838223" y="3190772"/>
            <a:ext cx="1751381" cy="3719393"/>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rgbClr val="060606"/>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0" name="Rectangle 39"/>
          <p:cNvSpPr/>
          <p:nvPr/>
        </p:nvSpPr>
        <p:spPr>
          <a:xfrm>
            <a:off x="3052718" y="3852190"/>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Implication</a:t>
            </a:r>
          </a:p>
        </p:txBody>
      </p:sp>
      <p:sp>
        <p:nvSpPr>
          <p:cNvPr id="42" name="Google Shape;7386;p39"/>
          <p:cNvSpPr/>
          <p:nvPr/>
        </p:nvSpPr>
        <p:spPr>
          <a:xfrm rot="10800000">
            <a:off x="6478457" y="3869173"/>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3" name="Google Shape;7367;p39"/>
          <p:cNvSpPr/>
          <p:nvPr/>
        </p:nvSpPr>
        <p:spPr>
          <a:xfrm rot="16200000">
            <a:off x="7474179" y="3202486"/>
            <a:ext cx="1727953" cy="3719393"/>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chemeClr val="tx1"/>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5" name="Rectangle 44"/>
          <p:cNvSpPr/>
          <p:nvPr/>
        </p:nvSpPr>
        <p:spPr>
          <a:xfrm>
            <a:off x="7676960" y="3875619"/>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Action</a:t>
            </a:r>
          </a:p>
        </p:txBody>
      </p:sp>
      <p:pic>
        <p:nvPicPr>
          <p:cNvPr id="47" name="Image 4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47871" y="3850143"/>
            <a:ext cx="334029" cy="337914"/>
          </a:xfrm>
          <a:prstGeom prst="rect">
            <a:avLst/>
          </a:prstGeom>
        </p:spPr>
      </p:pic>
      <p:pic>
        <p:nvPicPr>
          <p:cNvPr id="50" name="Image 49">
            <a:extLst>
              <a:ext uri="{FF2B5EF4-FFF2-40B4-BE49-F238E27FC236}">
                <a16:creationId xmlns:a16="http://schemas.microsoft.com/office/drawing/2014/main" id="{593DA389-08F4-31D9-6AB9-E96812D83B7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768142" y="1475503"/>
            <a:ext cx="294700" cy="294700"/>
          </a:xfrm>
          <a:prstGeom prst="rect">
            <a:avLst/>
          </a:prstGeom>
        </p:spPr>
      </p:pic>
      <p:pic>
        <p:nvPicPr>
          <p:cNvPr id="25" name="Image 2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156977" y="1457088"/>
            <a:ext cx="281624" cy="284788"/>
          </a:xfrm>
          <a:prstGeom prst="rect">
            <a:avLst/>
          </a:prstGeom>
        </p:spPr>
      </p:pic>
      <p:pic>
        <p:nvPicPr>
          <p:cNvPr id="28" name="Image 27"/>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791905" y="3883760"/>
            <a:ext cx="270937" cy="276827"/>
          </a:xfrm>
          <a:prstGeom prst="rect">
            <a:avLst/>
          </a:prstGeom>
        </p:spPr>
      </p:pic>
      <p:sp>
        <p:nvSpPr>
          <p:cNvPr id="31" name="Rectangle 30"/>
          <p:cNvSpPr/>
          <p:nvPr/>
        </p:nvSpPr>
        <p:spPr>
          <a:xfrm>
            <a:off x="1999671" y="1962253"/>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 FPPN respecte les ratios d'activité courante, mais pas ceux de réserves, de fonds propres, de liquidité et de frais.</a:t>
            </a:r>
          </a:p>
        </p:txBody>
      </p:sp>
      <p:sp>
        <p:nvSpPr>
          <p:cNvPr id="32" name="Rectangle 31"/>
          <p:cNvSpPr/>
          <p:nvPr/>
        </p:nvSpPr>
        <p:spPr>
          <a:xfrm>
            <a:off x="6623912" y="1926662"/>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La réserve obligatoire couvre 5,01 mois de prestations, les fonds propres et assimilés 0,22 fois les dettes, et les frais 36,34 % des cotisations.</a:t>
            </a:r>
          </a:p>
        </p:txBody>
      </p:sp>
      <p:sp>
        <p:nvSpPr>
          <p:cNvPr id="33" name="Rectangle 32"/>
          <p:cNvSpPr/>
          <p:nvPr/>
        </p:nvSpPr>
        <p:spPr>
          <a:xfrm>
            <a:off x="2093705" y="4388689"/>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Des non-conformités répétées exposent le FPPN au retrait d'agrément prévu par l'article 84 du règlement n° 07/2009.</a:t>
            </a:r>
          </a:p>
        </p:txBody>
      </p:sp>
      <p:sp>
        <p:nvSpPr>
          <p:cNvPr id="34" name="Rectangle 33"/>
          <p:cNvSpPr/>
          <p:nvPr/>
        </p:nvSpPr>
        <p:spPr>
          <a:xfrm>
            <a:off x="6768142" y="4336111"/>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 FPPN doit présenter à l'AIRMS un plan de mise en conformité daté, et documenter le compte 106, le fonds de garantie et l'échéancier de l'épargne.</a:t>
            </a:r>
          </a:p>
        </p:txBody>
      </p:sp>
      <p:sp>
        <p:nvSpPr>
          <p:cNvPr id="51"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À retenir : conformité prudentielle</a:t>
            </a:r>
          </a:p>
        </p:txBody>
      </p:sp>
      <p:sp>
        <p:nvSpPr>
          <p:cNvPr id="52"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normes de solidité financière de l'UEMOA ne sont pas respectées</a:t>
            </a:r>
          </a:p>
        </p:txBody>
      </p:sp>
      <p:sp>
        <p:nvSpPr>
          <p:cNvPr id="53"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14 ratios non conformes sur 36, souvent plusieurs années de suite</a:t>
            </a:r>
          </a:p>
        </p:txBody>
      </p:sp>
      <p:sp>
        <p:nvSpPr>
          <p:cNvPr id="54"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analyses Adenka</a:t>
            </a:r>
          </a:p>
        </p:txBody>
      </p:sp>
      <p:sp>
        <p:nvSpPr>
          <p:cNvPr id="55" name="TextBox 5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AIRMS : Agence ivoirienne de régulation de la mutualité sociale | UEMOA : Union économique et monétaire ouest-africaine</a:t>
            </a:r>
          </a:p>
        </p:txBody>
      </p:sp>
    </p:spTree>
    <p:extLst>
      <p:ext uri="{BB962C8B-B14F-4D97-AF65-F5344CB8AC3E}">
        <p14:creationId xmlns:p14="http://schemas.microsoft.com/office/powerpoint/2010/main" val="3759087433"/>
      </p:ext>
    </p:extLst>
  </p:cSld>
  <p:clrMapOvr>
    <a:masterClrMapping/>
  </p:clrMapOvr>
  <p:transition>
    <p:fade/>
  </p:transition>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Analyses de sensibilité : méthode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Huit étapes, chacune appuyée sur un texte ou une norme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Les montants à combler viennent de la formule du texte inversée. Les leviers viennent des statuts et des textes UEMOA. Tout est recalculé par formules dans le classeur</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Association Actuarielle Internationale, ISAP 1 (adoptée le 01/12/2018), § 2.7.7. IAS 19 révisée, § 145. IFRS 17, § 128 et 129. IFRS 7, § 40. Textes cités. Classeur des calculs, onglet 13a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95 : Étapes des analyses de sensibilité et références</a:t>
            </a:r>
          </a:p>
        </p:txBody>
      </p:sp>
      <p:graphicFrame>
        <p:nvGraphicFramePr>
          <p:cNvPr id="32" name="Table 31"/>
          <p:cNvGraphicFramePr>
            <a:graphicFrameLocks noGrp="1"/>
          </p:cNvGraphicFramePr>
          <p:nvPr/>
        </p:nvGraphicFramePr>
        <p:xfrm>
          <a:off x="503999" y="1655999"/>
          <a:ext cx="11231999" cy="2371591"/>
        </p:xfrm>
        <a:graphic>
          <a:graphicData uri="http://schemas.openxmlformats.org/drawingml/2006/table">
            <a:tbl>
              <a:tblPr firstRow="0" bandRow="0">
                <a:tableStyleId>{5940675A-B579-460E-94D1-54222C63F5DA}</a:tableStyleId>
              </a:tblPr>
              <a:tblGrid>
                <a:gridCol w="1512000"/>
                <a:gridCol w="6768000"/>
                <a:gridCol w="2951999"/>
              </a:tblGrid>
              <a:tr h="180000">
                <a:tc>
                  <a:txBody>
                    <a:bodyPr/>
                    <a:lstStyle/>
                    <a:p>
                      <a:pPr marL="0" indent="0" lvl="0">
                        <a:buNone/>
                      </a:pPr>
                      <a:r>
                        <a:rPr sz="750" b="1">
                          <a:solidFill>
                            <a:srgbClr val="FFFFFF"/>
                          </a:solidFill>
                          <a:latin typeface="Helvetica"/>
                        </a:rPr>
                        <a:t>Étape</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Ce qui est fait</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Référence</a:t>
                      </a:r>
                    </a:p>
                  </a:txBody>
                  <a:tcPr marL="43200" marR="43200" marT="14400" marB="14400" anchor="ctr">
                    <a:solidFill>
                      <a:srgbClr val="060606"/>
                    </a:solidFill>
                  </a:tcPr>
                </a:tc>
              </a:tr>
              <a:tr h="286214">
                <a:tc>
                  <a:txBody>
                    <a:bodyPr/>
                    <a:lstStyle/>
                    <a:p>
                      <a:pPr marL="0" indent="0" lvl="0">
                        <a:buNone/>
                      </a:pPr>
                      <a:r>
                        <a:rPr sz="750" b="1">
                          <a:solidFill>
                            <a:srgbClr val="060606"/>
                          </a:solidFill>
                          <a:latin typeface="Helvetica"/>
                        </a:rPr>
                        <a:t>1. Données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Numérateurs et dénominateurs des ratios, recalculés depuis les balances de 2020 au 31/08/2026</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Décision n° 05/2022/COM/UEMOA du 1er juin 2022, annexe, tableaux 1 et 2</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2. Statut</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Conforme si la valeur respecte la borne du texte. Un excédent ou des ressources longues négatifs sont non conformes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Décision n° 05/2022/COM/UEMOA du 1er juin 2022, annexe</a:t>
                      </a:r>
                    </a:p>
                  </a:txBody>
                  <a:tcPr marL="43200" marR="43200" marT="14400" marB="14400" anchor="ctr">
                    <a:solidFill>
                      <a:srgbClr val="F2F2F2"/>
                    </a:solidFill>
                  </a:tcPr>
                </a:tc>
              </a:tr>
              <a:tr h="286214">
                <a:tc>
                  <a:txBody>
                    <a:bodyPr/>
                    <a:lstStyle/>
                    <a:p>
                      <a:pPr marL="0" indent="0" lvl="0">
                        <a:buNone/>
                      </a:pPr>
                      <a:r>
                        <a:rPr sz="750" b="1">
                          <a:solidFill>
                            <a:srgbClr val="060606"/>
                          </a:solidFill>
                          <a:latin typeface="Helvetica"/>
                        </a:rPr>
                        <a:t>3. Qualification</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Structurel : non conforme toutes les années mesurées. Récurrent : au moins deux exercices de 2022 à 2025</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Règlement n° 07/2009/CM/UEMOA du 26 juin 2009, art. 83 et 84. Arrêté n° 00115/MEPS/CAB, ligne 13</a:t>
                      </a:r>
                    </a:p>
                  </a:txBody>
                  <a:tcPr marL="43200" marR="43200" marT="14400" marB="14400" anchor="ctr">
                    <a:solidFill>
                      <a:srgbClr val="FFFFFF"/>
                    </a:solidFill>
                  </a:tcPr>
                </a:tc>
              </a:tr>
              <a:tr h="286214">
                <a:tc>
                  <a:txBody>
                    <a:bodyPr/>
                    <a:lstStyle/>
                    <a:p>
                      <a:pPr marL="0" indent="0" lvl="0">
                        <a:buNone/>
                      </a:pPr>
                      <a:r>
                        <a:rPr sz="750" b="1">
                          <a:solidFill>
                            <a:srgbClr val="060606"/>
                          </a:solidFill>
                          <a:latin typeface="Helvetica"/>
                        </a:rPr>
                        <a:t>4. Montant à combler</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Montant qui ramène le ratio sur la borne la plus proche, les autres termes restant inchangés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Décision n° 05/2022/COM/UEMOA du 1er juin 2022, annexe (formule inversée)</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5. Facteurs récurrents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Regroupement des ratios par comptes qui expliquent l'écart chaque année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Balances du FPPN. PCMS</a:t>
                      </a:r>
                    </a:p>
                  </a:txBody>
                  <a:tcPr marL="43200" marR="43200" marT="14400" marB="14400" anchor="ctr">
                    <a:solidFill>
                      <a:srgbClr val="FFFFFF"/>
                    </a:solidFill>
                  </a:tcPr>
                </a:tc>
              </a:tr>
              <a:tr h="400521">
                <a:tc>
                  <a:txBody>
                    <a:bodyPr/>
                    <a:lstStyle/>
                    <a:p>
                      <a:pPr marL="0" indent="0" lvl="0">
                        <a:buNone/>
                      </a:pPr>
                      <a:r>
                        <a:rPr sz="750" b="1">
                          <a:solidFill>
                            <a:srgbClr val="060606"/>
                          </a:solidFill>
                          <a:latin typeface="Helvetica"/>
                        </a:rPr>
                        <a:t>6. Leviers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Montant d'équilibre de chaque levier, et effet d'un choc de 100 000 000 FCFA enregistré en partie double, une hypothèse à la fois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Statuts, art. 17, 79, 81, 85, 90 et 93. Règlement d'exécution n° 004/2022/COM/UEMOA du 1er juin 2022, art. 16, 17, 19 et 21. IAS 19, § 145</a:t>
                      </a:r>
                    </a:p>
                  </a:txBody>
                  <a:tcPr marL="43200" marR="43200" marT="14400" marB="14400" anchor="ctr">
                    <a:solidFill>
                      <a:srgbClr val="F2F2F2"/>
                    </a:solidFill>
                  </a:tcPr>
                </a:tc>
              </a:tr>
              <a:tr h="286214">
                <a:tc>
                  <a:txBody>
                    <a:bodyPr/>
                    <a:lstStyle/>
                    <a:p>
                      <a:pPr marL="0" indent="0" lvl="0">
                        <a:buNone/>
                      </a:pPr>
                      <a:r>
                        <a:rPr sz="750" b="1">
                          <a:solidFill>
                            <a:srgbClr val="060606"/>
                          </a:solidFill>
                          <a:latin typeface="Helvetica"/>
                        </a:rPr>
                        <a:t>7. Faisabilité conjointe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Démonstration algébrique : les normes de flux peuvent-elles être respectées ensemble ?</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Décision n° 05/2022/COM/UEMOA du 1er juin 2022, annexe, tableau 1, lignes 2 et 5. Tableau 2, lignes 5 et 10</a:t>
                      </a:r>
                    </a:p>
                  </a:txBody>
                  <a:tcPr marL="43200" marR="43200" marT="14400" marB="14400" anchor="ctr">
                    <a:solidFill>
                      <a:srgbClr val="FFFFFF"/>
                    </a:solidFill>
                  </a:tcPr>
                </a:tc>
              </a:tr>
              <a:tr h="286214">
                <a:tc>
                  <a:txBody>
                    <a:bodyPr/>
                    <a:lstStyle/>
                    <a:p>
                      <a:pPr marL="0" indent="0" lvl="0">
                        <a:buNone/>
                      </a:pPr>
                      <a:r>
                        <a:rPr sz="750" b="1">
                          <a:solidFill>
                            <a:srgbClr val="060606"/>
                          </a:solidFill>
                          <a:latin typeface="Helvetica"/>
                        </a:rPr>
                        <a:t>8. Inflation et rendement</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Sous-indices de prix de la santé pondérés par les prestations du FPPN. Rendement comparé aux taux du marché</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ANStat (IHPC). BCEAO, Rapport sur la Politique Monétaire, mars 2026, tableaux 12, 17 et 22. Investing.com</a:t>
                      </a:r>
                    </a:p>
                  </a:txBody>
                  <a:tcPr marL="43200" marR="43200" marT="14400" marB="14400" anchor="ctr">
                    <a:solidFill>
                      <a:srgbClr val="F2F2F2"/>
                    </a:solidFill>
                  </a:tcPr>
                </a:tc>
              </a:tr>
            </a:tbl>
          </a:graphicData>
        </a:graphic>
      </p:graphicFrame>
      <p:sp>
        <p:nvSpPr>
          <p:cNvPr id="33" name="TextBox 32"/>
          <p:cNvSpPr txBox="1"/>
          <p:nvPr/>
        </p:nvSpPr>
        <p:spPr>
          <a:xfrm>
            <a:off x="503999" y="4135593"/>
            <a:ext cx="11232000" cy="162000"/>
          </a:xfrm>
          <a:prstGeom prst="rect">
            <a:avLst/>
          </a:prstGeom>
          <a:noFill/>
        </p:spPr>
        <p:txBody>
          <a:bodyPr wrap="square" anchor="t" lIns="54000" rIns="54000"/>
          <a:lstStyle/>
          <a:p>
            <a:pPr algn="l"/>
            <a:r>
              <a:rPr sz="850" b="0">
                <a:solidFill>
                  <a:srgbClr val="53565A"/>
                </a:solidFill>
                <a:latin typeface="Helvetica"/>
              </a:rPr>
              <a:t>Valable pour : méthode appliquée dans les classeur des calculs, onglets 13a à 13i. Références ISAP 1, IAS 19, IFRS 17 et IFRS 7.</a:t>
            </a:r>
          </a:p>
        </p:txBody>
      </p:sp>
      <p:sp>
        <p:nvSpPr>
          <p:cNvPr id="34" name="TextBox 33"/>
          <p:cNvSpPr txBox="1"/>
          <p:nvPr/>
        </p:nvSpPr>
        <p:spPr>
          <a:xfrm>
            <a:off x="503999" y="4441593"/>
            <a:ext cx="11232000" cy="1426406"/>
          </a:xfrm>
          <a:prstGeom prst="rect">
            <a:avLst/>
          </a:prstGeom>
          <a:noFill/>
        </p:spPr>
        <p:txBody>
          <a:bodyPr wrap="square" lIns="54000" rIns="54000"/>
          <a:lstStyle/>
          <a:p>
            <a:pPr algn="just">
              <a:spcAft>
                <a:spcPts val="600"/>
              </a:spcAft>
            </a:pPr>
            <a:r>
              <a:rPr sz="1300" b="1">
                <a:solidFill>
                  <a:srgbClr val="060606"/>
                </a:solidFill>
                <a:latin typeface="Helvetica"/>
              </a:rPr>
              <a:t>La démarche suit la norme internationale de pratique actuarielle ISAP 1 (§ 2.7.7) : l'actuaire examine la sensibilité des résultats aux variations des hypothèses clés.</a:t>
            </a:r>
            <a:r>
              <a:rPr sz="1300" b="0">
                <a:solidFill>
                  <a:srgbClr val="060606"/>
                </a:solidFill>
                <a:latin typeface="Helvetica"/>
              </a:rPr>
              <a:t> Les normes IAS 19 (§ 145) et IFRS 17 (§ 128) fixent la présentation : une hypothèse à la fois, changements raisonnablement possibles, méthode et limites décrites.</a:t>
            </a:r>
          </a:p>
          <a:p>
            <a:pPr algn="just">
              <a:spcAft>
                <a:spcPts val="600"/>
              </a:spcAft>
            </a:pPr>
            <a:r>
              <a:rPr sz="1300" b="0">
                <a:solidFill>
                  <a:srgbClr val="060606"/>
                </a:solidFill>
                <a:latin typeface="Helvetica"/>
              </a:rPr>
              <a:t>Les normes ISAP 1, IAS 19 et IFRS 17 sont des références de bonne pratique, retenues pour la méthode. Elles ne sont pas opposables au FPPN. Les textes UEMOA et les statuts, eux, le sont.</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Sigles : FPPN : Fonds de prévoyance de la Police nationale | UEMOA : Union économique et monétaire ouest-africaine | PCMS : plan comptable des mutuelles sociales | BCEAO : Banque centrale des États de l'Afrique de l'Ouest | S/C : prestations / cotisations | MEPS : ministère de l'Emploi et de la Protection sociale | ANStat : Agence nationale de la statistique de Côte d'Ivoire | IHPC : indice harmonisé des prix à la consommation | ISAP : norme internationale de pratique actuarielle de l'Association Actuarielle Internationale | IAS, IFRS : normes comptables internationales</a:t>
            </a:r>
          </a:p>
        </p:txBody>
      </p:sp>
    </p:spTree>
    <p:extLst>
      <p:ext uri="{BB962C8B-B14F-4D97-AF65-F5344CB8AC3E}">
        <p14:creationId xmlns:p14="http://schemas.microsoft.com/office/powerpoint/2010/main" val="3090983533"/>
      </p:ext>
    </p:extLst>
  </p:cSld>
  <p:clrMapOvr>
    <a:masterClrMapping/>
  </p:clrMapOvr>
  <p:transition>
    <p:fade/>
  </p:transition>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Ratios non conformes de 2020 au 31/08/2026</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13 ratios sur 14 sont non conformes toutes les années mesurées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Les écarts ne sont pas accidentels : ils se répètent chaque année, ce qui les rend structurels au sens des textes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classeur des calculs, onglets 13a à 13i (formules). Décision n° 05/2022/COM/UEMOA du 1er juin 2022, annexe. Balances du FPPN. Calculs Adenka. Règlement n° 07/2009/CM/UEMOA du 26 juin 2009, art. 84</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96 : Conformité de chaque ratio, année par année</a:t>
            </a:r>
          </a:p>
        </p:txBody>
      </p:sp>
      <p:graphicFrame>
        <p:nvGraphicFramePr>
          <p:cNvPr id="32" name="Table 31"/>
          <p:cNvGraphicFramePr>
            <a:graphicFrameLocks noGrp="1"/>
          </p:cNvGraphicFramePr>
          <p:nvPr/>
        </p:nvGraphicFramePr>
        <p:xfrm>
          <a:off x="503999" y="1655999"/>
          <a:ext cx="11231993" cy="2700000"/>
        </p:xfrm>
        <a:graphic>
          <a:graphicData uri="http://schemas.openxmlformats.org/drawingml/2006/table">
            <a:tbl>
              <a:tblPr firstRow="0" bandRow="0">
                <a:tableStyleId>{5940675A-B579-460E-94D1-54222C63F5DA}</a:tableStyleId>
              </a:tblPr>
              <a:tblGrid>
                <a:gridCol w="2520000"/>
                <a:gridCol w="1584000"/>
                <a:gridCol w="827999"/>
                <a:gridCol w="827999"/>
                <a:gridCol w="827999"/>
                <a:gridCol w="827999"/>
                <a:gridCol w="827999"/>
                <a:gridCol w="827999"/>
                <a:gridCol w="827999"/>
                <a:gridCol w="1332000"/>
              </a:tblGrid>
              <a:tr h="180000">
                <a:tc>
                  <a:txBody>
                    <a:bodyPr/>
                    <a:lstStyle/>
                    <a:p>
                      <a:pPr marL="0" indent="0" lvl="0">
                        <a:buNone/>
                      </a:pPr>
                      <a:r>
                        <a:rPr sz="750" b="1">
                          <a:solidFill>
                            <a:srgbClr val="FFFFFF"/>
                          </a:solidFill>
                          <a:latin typeface="Helvetica"/>
                        </a:rPr>
                        <a:t>Ratio</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Norme</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2020</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2021</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2022</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2023</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2024</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2025</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31/08/2026</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Qualification</a:t>
                      </a:r>
                    </a:p>
                  </a:txBody>
                  <a:tcPr marL="43200" marR="43200" marT="14400" marB="14400" anchor="ctr">
                    <a:solidFill>
                      <a:srgbClr val="060606"/>
                    </a:solidFill>
                  </a:tcPr>
                </a:tc>
              </a:tr>
              <a:tr h="180000">
                <a:tc>
                  <a:txBody>
                    <a:bodyPr/>
                    <a:lstStyle/>
                    <a:p>
                      <a:pPr marL="0" indent="0" lvl="0">
                        <a:buNone/>
                      </a:pPr>
                      <a:r>
                        <a:rPr sz="750" b="1">
                          <a:solidFill>
                            <a:srgbClr val="060606"/>
                          </a:solidFill>
                          <a:latin typeface="Helvetica"/>
                        </a:rPr>
                        <a:t>Sinistralité</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70,00 % à 80,00 %</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Oui</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Récurrent</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Réserve obligatoire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6 à 9 mois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Structurel</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Fonds propres et assimilés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Au moins 1</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Structurel</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Liquidité</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Au moins 1</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Structurel</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Équilibre stable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Au plus 1</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Structurel</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Excédent net</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0,00 % à 5,00 %</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Structurel</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Solvabilité de l'épargne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Au moins 1</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Structurel</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Trésorerie à échéance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Plus de 1</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Structurel</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Trésorerie immédiate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Au moins 1</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Structurel</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Réserve de trésorerie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Au moins 1 trimestre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Structurel</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Fonds propres / prestations longues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Au moins 1</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Structurel</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Charges de fonctionnement</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Au plus 20,00 %</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Structurel</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Charges de fonctionnement brut</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Au plus 15,00 %</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Structurel</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Coût par unité prestée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Au plus 15,00 %</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Structurel</a:t>
                      </a:r>
                    </a:p>
                  </a:txBody>
                  <a:tcPr marL="43200" marR="43200" marT="14400" marB="14400" anchor="ctr">
                    <a:solidFill>
                      <a:srgbClr val="F2F2F2"/>
                    </a:solidFill>
                  </a:tcPr>
                </a:tc>
              </a:tr>
            </a:tbl>
          </a:graphicData>
        </a:graphic>
      </p:graphicFrame>
      <p:sp>
        <p:nvSpPr>
          <p:cNvPr id="33" name="TextBox 32"/>
          <p:cNvSpPr txBox="1"/>
          <p:nvPr/>
        </p:nvSpPr>
        <p:spPr>
          <a:xfrm>
            <a:off x="503999" y="4464000"/>
            <a:ext cx="11232000" cy="306000"/>
          </a:xfrm>
          <a:prstGeom prst="rect">
            <a:avLst/>
          </a:prstGeom>
          <a:noFill/>
        </p:spPr>
        <p:txBody>
          <a:bodyPr wrap="square" anchor="t" lIns="54000" rIns="54000"/>
          <a:lstStyle/>
          <a:p>
            <a:pPr algn="l"/>
            <a:r>
              <a:rPr sz="850" b="0">
                <a:solidFill>
                  <a:srgbClr val="53565A"/>
                </a:solidFill>
                <a:latin typeface="Helvetica"/>
              </a:rPr>
              <a:t>Valable pour : ratios de la Décision n° 05/2022 recalculés sur les balances « BALANCE FORMAT EXCEL DE 09-2020 AU 31-12-2020.xlsx » à « BALANCE FPPN DU 01-01-2026 AU 31-08-2026.xlsx », 2020 au 31/08/2026, recalculés par formules dans les classeur des calculs, onglets 13a à 13i.</a:t>
            </a:r>
          </a:p>
        </p:txBody>
      </p:sp>
      <p:sp>
        <p:nvSpPr>
          <p:cNvPr id="34" name="TextBox 33"/>
          <p:cNvSpPr txBox="1"/>
          <p:nvPr/>
        </p:nvSpPr>
        <p:spPr>
          <a:xfrm>
            <a:off x="503999" y="4914000"/>
            <a:ext cx="11232000" cy="954000"/>
          </a:xfrm>
          <a:prstGeom prst="rect">
            <a:avLst/>
          </a:prstGeom>
          <a:noFill/>
        </p:spPr>
        <p:txBody>
          <a:bodyPr wrap="square" lIns="54000" rIns="54000"/>
          <a:lstStyle/>
          <a:p>
            <a:pPr algn="just">
              <a:spcAft>
                <a:spcPts val="600"/>
              </a:spcAft>
            </a:pPr>
            <a:r>
              <a:rPr sz="900" b="1">
                <a:solidFill>
                  <a:srgbClr val="060606"/>
                </a:solidFill>
                <a:latin typeface="Helvetica"/>
              </a:rPr>
              <a:t>13 ratios sont non conformes toutes les années mesurées, et la sinistralité l'est de 2020 à 2025.</a:t>
            </a:r>
            <a:r>
              <a:rPr sz="900" b="0">
                <a:solidFill>
                  <a:srgbClr val="060606"/>
                </a:solidFill>
                <a:latin typeface="Helvetica"/>
              </a:rPr>
              <a:t> Seule la sinistralité de 2026 respecte sa norme, sur huit mois.</a:t>
            </a:r>
          </a:p>
          <a:p>
            <a:pPr algn="just">
              <a:spcAft>
                <a:spcPts val="600"/>
              </a:spcAft>
            </a:pPr>
            <a:r>
              <a:rPr sz="900" b="1">
                <a:solidFill>
                  <a:srgbClr val="060606"/>
                </a:solidFill>
                <a:latin typeface="Helvetica"/>
              </a:rPr>
              <a:t>Le règlement n° 07/2009 (art. 84) prévoit le retrait d'agrément pour un non-respect des règles prudentielles sur deux exercices.</a:t>
            </a:r>
            <a:r>
              <a:rPr sz="900" b="0">
                <a:solidFill>
                  <a:srgbClr val="060606"/>
                </a:solidFill>
                <a:latin typeface="Helvetica"/>
              </a:rPr>
              <a:t> Tous ces ratios dépassent ce seuil sur la période 2022 à 2025.</a:t>
            </a:r>
          </a:p>
          <a:p>
            <a:pPr algn="just">
              <a:spcAft>
                <a:spcPts val="600"/>
              </a:spcAft>
            </a:pPr>
            <a:r>
              <a:rPr sz="900" b="0">
                <a:solidFill>
                  <a:srgbClr val="060606"/>
                </a:solidFill>
                <a:latin typeface="Helvetica"/>
              </a:rPr>
              <a:t>Un écart structurel ne se corrige pas par un ajustement d'une année : il faut traiter les causes qui se répètent. Les diapositives suivantes les identifient et chiffrent ce qu'il faudrait changer.</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a:t>
            </a:r>
          </a:p>
        </p:txBody>
      </p:sp>
    </p:spTree>
    <p:extLst>
      <p:ext uri="{BB962C8B-B14F-4D97-AF65-F5344CB8AC3E}">
        <p14:creationId xmlns:p14="http://schemas.microsoft.com/office/powerpoint/2010/main" val="3809352776"/>
      </p:ext>
    </p:extLst>
  </p:cSld>
  <p:clrMapOvr>
    <a:masterClrMapping/>
  </p:clrMapOvr>
  <p:transition>
    <p:fade/>
  </p:transition>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Cinq facteurs récurrents expliquent les écarts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Chaque facteur se retrouve dans les comptes de chacune des sept années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L'épargne non adossée, les pertes reportées, la réserve tardive, des frais au-delà des plafonds et des prestations faibles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classeur des calculs, onglets 13a à 13i (formules). Décision n° 05/2022/COM/UEMOA du 1er juin 2022, annexe. Balances du FPPN. Calculs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97 : Facteurs récurrents, comptes en cause et preuves</a:t>
            </a:r>
          </a:p>
        </p:txBody>
      </p:sp>
      <p:graphicFrame>
        <p:nvGraphicFramePr>
          <p:cNvPr id="32" name="Table 31"/>
          <p:cNvGraphicFramePr>
            <a:graphicFrameLocks noGrp="1"/>
          </p:cNvGraphicFramePr>
          <p:nvPr/>
        </p:nvGraphicFramePr>
        <p:xfrm>
          <a:off x="503999" y="1655999"/>
          <a:ext cx="11231999" cy="2288820"/>
        </p:xfrm>
        <a:graphic>
          <a:graphicData uri="http://schemas.openxmlformats.org/drawingml/2006/table">
            <a:tbl>
              <a:tblPr firstRow="0" bandRow="0">
                <a:tableStyleId>{5940675A-B579-460E-94D1-54222C63F5DA}</a:tableStyleId>
              </a:tblPr>
              <a:tblGrid>
                <a:gridCol w="2304000"/>
                <a:gridCol w="2160000"/>
                <a:gridCol w="2015999"/>
                <a:gridCol w="1800000"/>
                <a:gridCol w="1800000"/>
                <a:gridCol w="1152000"/>
              </a:tblGrid>
              <a:tr h="187148">
                <a:tc>
                  <a:txBody>
                    <a:bodyPr/>
                    <a:lstStyle/>
                    <a:p>
                      <a:pPr marL="0" indent="0" lvl="0">
                        <a:buNone/>
                      </a:pPr>
                      <a:r>
                        <a:rPr sz="850" b="1">
                          <a:solidFill>
                            <a:srgbClr val="FFFFFF"/>
                          </a:solidFill>
                          <a:latin typeface="Helvetica"/>
                        </a:rPr>
                        <a:t>Facteur</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Comptes en cause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Ratios touchés</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Preuve 2020</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Preuve 2025</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Structurels</a:t>
                      </a:r>
                    </a:p>
                  </a:txBody>
                  <a:tcPr marL="43200" marR="43200" marT="14400" marB="14400" anchor="ctr">
                    <a:solidFill>
                      <a:srgbClr val="060606"/>
                    </a:solidFill>
                  </a:tcPr>
                </a:tc>
              </a:tr>
              <a:tr h="575792">
                <a:tc>
                  <a:txBody>
                    <a:bodyPr/>
                    <a:lstStyle/>
                    <a:p>
                      <a:pPr marL="0" indent="0" lvl="0">
                        <a:buNone/>
                      </a:pPr>
                      <a:r>
                        <a:rPr sz="850" b="1">
                          <a:solidFill>
                            <a:srgbClr val="060606"/>
                          </a:solidFill>
                          <a:latin typeface="Helvetica"/>
                        </a:rPr>
                        <a:t>F1. Épargne des adhérents non adossée à des actifs liquides dédiés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41195100 et 41195200 (épargne) en dettes à court terme. Classe 5 et DAT dédiés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Liquidité, Solvabilité de l'épargne, Trésorerie à échéance, Trésorerie immédiate, Réserve de trésorerie, Équilibre stable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Épargne couverte à 6,59 %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Épargne couverte à 11,64 %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6 / 6</a:t>
                      </a:r>
                    </a:p>
                  </a:txBody>
                  <a:tcPr marL="43200" marR="43200" marT="14400" marB="14400" anchor="ctr">
                    <a:solidFill>
                      <a:srgbClr val="FFFFFF"/>
                    </a:solidFill>
                  </a:tcPr>
                </a:tc>
              </a:tr>
              <a:tr h="316696">
                <a:tc>
                  <a:txBody>
                    <a:bodyPr/>
                    <a:lstStyle/>
                    <a:p>
                      <a:pPr marL="0" indent="0" lvl="0">
                        <a:buNone/>
                      </a:pPr>
                      <a:r>
                        <a:rPr sz="850" b="1">
                          <a:solidFill>
                            <a:srgbClr val="060606"/>
                          </a:solidFill>
                          <a:latin typeface="Helvetica"/>
                        </a:rPr>
                        <a:t>F2. Pertes reportées non apurées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129 (report à nouveau débiteur) dans les fonds propres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Fonds propres et assimilés, Fonds propres / prestations longues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11 391 759 309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5 272 983 928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2 / 2</a:t>
                      </a:r>
                    </a:p>
                  </a:txBody>
                  <a:tcPr marL="43200" marR="43200" marT="14400" marB="14400" anchor="ctr">
                    <a:solidFill>
                      <a:srgbClr val="F2F2F2"/>
                    </a:solidFill>
                  </a:tcPr>
                </a:tc>
              </a:tr>
              <a:tr h="316696">
                <a:tc>
                  <a:txBody>
                    <a:bodyPr/>
                    <a:lstStyle/>
                    <a:p>
                      <a:pPr marL="0" indent="0" lvl="0">
                        <a:buNone/>
                      </a:pPr>
                      <a:r>
                        <a:rPr sz="850" b="1">
                          <a:solidFill>
                            <a:srgbClr val="060606"/>
                          </a:solidFill>
                          <a:latin typeface="Helvetica"/>
                        </a:rPr>
                        <a:t>F3. Réserve obligatoire absente puis insuffisante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111 (réserve légale). Affectations des excédents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Réserve obligatoire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Réserve nulle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820 232 819 FCFA pour 982 386 014 FCFA requis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 / 1</a:t>
                      </a:r>
                    </a:p>
                  </a:txBody>
                  <a:tcPr marL="43200" marR="43200" marT="14400" marB="14400" anchor="ctr">
                    <a:solidFill>
                      <a:srgbClr val="FFFFFF"/>
                    </a:solidFill>
                  </a:tcPr>
                </a:tc>
              </a:tr>
              <a:tr h="446244">
                <a:tc>
                  <a:txBody>
                    <a:bodyPr/>
                    <a:lstStyle/>
                    <a:p>
                      <a:pPr marL="0" indent="0" lvl="0">
                        <a:buNone/>
                      </a:pPr>
                      <a:r>
                        <a:rPr sz="850" b="1">
                          <a:solidFill>
                            <a:srgbClr val="060606"/>
                          </a:solidFill>
                          <a:latin typeface="Helvetica"/>
                        </a:rPr>
                        <a:t>F4. Charges de fonctionnement au-delà des plafonds de la Décision (cotisations et prestations)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612, 613, 618, 62 à 68 (dont 6518, prime de la garantie décès, en 2020)</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Charges de fonctionnement, Charges de fonctionnement brut, Coût par unité prestée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84,31 % des cotisations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36,34 % des cotisations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3 / 3</a:t>
                      </a:r>
                    </a:p>
                  </a:txBody>
                  <a:tcPr marL="43200" marR="43200" marT="14400" marB="14400" anchor="ctr">
                    <a:solidFill>
                      <a:srgbClr val="F2F2F2"/>
                    </a:solidFill>
                  </a:tcPr>
                </a:tc>
              </a:tr>
              <a:tr h="446244">
                <a:tc>
                  <a:txBody>
                    <a:bodyPr/>
                    <a:lstStyle/>
                    <a:p>
                      <a:pPr marL="0" indent="0" lvl="0">
                        <a:buNone/>
                      </a:pPr>
                      <a:r>
                        <a:rPr sz="850" b="1">
                          <a:solidFill>
                            <a:srgbClr val="060606"/>
                          </a:solidFill>
                          <a:latin typeface="Helvetica"/>
                        </a:rPr>
                        <a:t>F5. Prestations faibles par rapport aux cotisations (couverture limitée à l'hospitalisation, provisions figées)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60 (prestations), 70 (cotisations), 6901 et 7901 absents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Sinistralité, Excédent net</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Prestations : 8,92 % des cotisations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Prestations : 57,48 % des cotisations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 / 2</a:t>
                      </a:r>
                    </a:p>
                  </a:txBody>
                  <a:tcPr marL="43200" marR="43200" marT="14400" marB="14400" anchor="ctr">
                    <a:solidFill>
                      <a:srgbClr val="FFFFFF"/>
                    </a:solidFill>
                  </a:tcPr>
                </a:tc>
              </a:tr>
            </a:tbl>
          </a:graphicData>
        </a:graphic>
      </p:graphicFrame>
      <p:sp>
        <p:nvSpPr>
          <p:cNvPr id="33" name="TextBox 32"/>
          <p:cNvSpPr txBox="1"/>
          <p:nvPr/>
        </p:nvSpPr>
        <p:spPr>
          <a:xfrm>
            <a:off x="503999" y="4052822"/>
            <a:ext cx="11232000" cy="306000"/>
          </a:xfrm>
          <a:prstGeom prst="rect">
            <a:avLst/>
          </a:prstGeom>
          <a:noFill/>
        </p:spPr>
        <p:txBody>
          <a:bodyPr wrap="square" anchor="t" lIns="54000" rIns="54000"/>
          <a:lstStyle/>
          <a:p>
            <a:pPr algn="l"/>
            <a:r>
              <a:rPr sz="850" b="0">
                <a:solidFill>
                  <a:srgbClr val="53565A"/>
                </a:solidFill>
                <a:latin typeface="Helvetica"/>
              </a:rPr>
              <a:t>Valable pour : comptes en cause des balances « BALANCE FORMAT EXCEL DE 09-2020 AU 31-12-2020.xlsx » à « BALANCE FPPN DU 01-01-2026 AU 31-08-2026.xlsx », 2020 au 31/08/2026. Classeur des calculs, onglets 13a à 13i.</a:t>
            </a:r>
          </a:p>
        </p:txBody>
      </p:sp>
      <p:sp>
        <p:nvSpPr>
          <p:cNvPr id="34" name="TextBox 33"/>
          <p:cNvSpPr txBox="1"/>
          <p:nvPr/>
        </p:nvSpPr>
        <p:spPr>
          <a:xfrm>
            <a:off x="503999" y="4502822"/>
            <a:ext cx="11232000" cy="1365177"/>
          </a:xfrm>
          <a:prstGeom prst="rect">
            <a:avLst/>
          </a:prstGeom>
          <a:noFill/>
        </p:spPr>
        <p:txBody>
          <a:bodyPr wrap="square" lIns="54000" rIns="54000"/>
          <a:lstStyle/>
          <a:p>
            <a:pPr algn="just">
              <a:spcAft>
                <a:spcPts val="600"/>
              </a:spcAft>
            </a:pPr>
            <a:r>
              <a:rPr sz="1200" b="1">
                <a:solidFill>
                  <a:srgbClr val="060606"/>
                </a:solidFill>
                <a:latin typeface="Helvetica"/>
              </a:rPr>
              <a:t>Les facteurs F1 et F2 expliquent à eux seuls huit ratios : ce sont des problèmes de bilan, hérités et cumulés, que l'excédent d'une année ne peut pas corriger.</a:t>
            </a:r>
          </a:p>
          <a:p>
            <a:pPr algn="just">
              <a:spcAft>
                <a:spcPts val="600"/>
              </a:spcAft>
            </a:pPr>
            <a:r>
              <a:rPr sz="1200" b="1">
                <a:solidFill>
                  <a:srgbClr val="060606"/>
                </a:solidFill>
                <a:latin typeface="Helvetica"/>
              </a:rPr>
              <a:t>Les facteurs F4 et F5 sont des problèmes de compte de résultat</a:t>
            </a:r>
            <a:r>
              <a:rPr sz="1200" b="0">
                <a:solidFill>
                  <a:srgbClr val="060606"/>
                </a:solidFill>
                <a:latin typeface="Helvetica"/>
              </a:rPr>
              <a:t> : les frais dépassent les plafonds fixés en proportion des cotisations et des prestations, et les prestations restent sous 70 % des cotisations jusqu'en 2025.</a:t>
            </a:r>
          </a:p>
          <a:p>
            <a:pPr algn="just">
              <a:spcAft>
                <a:spcPts val="600"/>
              </a:spcAft>
            </a:pPr>
            <a:r>
              <a:rPr sz="1200" b="0">
                <a:solidFill>
                  <a:srgbClr val="060606"/>
                </a:solidFill>
                <a:latin typeface="Helvetica"/>
              </a:rPr>
              <a:t>Les leviers doivent viser les facteurs, pas les ratios un par un : un même levier agit sur plusieurs ratios, parfois en sens contraire.</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DAT : dépôt à terme</a:t>
            </a:r>
          </a:p>
        </p:txBody>
      </p:sp>
    </p:spTree>
    <p:extLst>
      <p:ext uri="{BB962C8B-B14F-4D97-AF65-F5344CB8AC3E}">
        <p14:creationId xmlns:p14="http://schemas.microsoft.com/office/powerpoint/2010/main" val="1201000501"/>
      </p:ext>
    </p:extLst>
  </p:cSld>
  <p:clrMapOvr>
    <a:masterClrMapping/>
  </p:clrMapOvr>
  <p:transition>
    <p:fade/>
  </p:transition>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Montant à combler par ratio</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L'épargne et les fonds propres concentrent l'essentiel des écarts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En 2025 : 13 555 974 724 FCFA de trésorerie et 16 002 055 145 FCFA de fonds propres manquent pour atteindre la norme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classeur des calculs, onglets 13a à 13i (formules). Décision n° 05/2022/COM/UEMOA du 1er juin 2022, annexe. Balances du FPPN. Calculs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98 : Montant à combler par ratio (FCFA)</a:t>
            </a:r>
          </a:p>
        </p:txBody>
      </p:sp>
      <p:graphicFrame>
        <p:nvGraphicFramePr>
          <p:cNvPr id="32" name="Table 31"/>
          <p:cNvGraphicFramePr>
            <a:graphicFrameLocks noGrp="1"/>
          </p:cNvGraphicFramePr>
          <p:nvPr/>
        </p:nvGraphicFramePr>
        <p:xfrm>
          <a:off x="503999" y="1655999"/>
          <a:ext cx="11231999" cy="2700000"/>
        </p:xfrm>
        <a:graphic>
          <a:graphicData uri="http://schemas.openxmlformats.org/drawingml/2006/table">
            <a:tbl>
              <a:tblPr firstRow="0" bandRow="0">
                <a:tableStyleId>{5940675A-B579-460E-94D1-54222C63F5DA}</a:tableStyleId>
              </a:tblPr>
              <a:tblGrid>
                <a:gridCol w="2015999"/>
                <a:gridCol w="3096000"/>
                <a:gridCol w="1512000"/>
                <a:gridCol w="1512000"/>
                <a:gridCol w="1512000"/>
                <a:gridCol w="1584000"/>
              </a:tblGrid>
              <a:tr h="180000">
                <a:tc>
                  <a:txBody>
                    <a:bodyPr/>
                    <a:lstStyle/>
                    <a:p>
                      <a:pPr marL="0" indent="0" lvl="0">
                        <a:buNone/>
                      </a:pPr>
                      <a:r>
                        <a:rPr sz="750" b="1">
                          <a:solidFill>
                            <a:srgbClr val="FFFFFF"/>
                          </a:solidFill>
                          <a:latin typeface="Helvetica"/>
                        </a:rPr>
                        <a:t>Ratio</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Variable d'ajustement</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2020</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2025</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31/08/2026</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Moyenne 2020-2026</a:t>
                      </a:r>
                    </a:p>
                  </a:txBody>
                  <a:tcPr marL="43200" marR="43200" marT="14400" marB="14400" anchor="ctr">
                    <a:solidFill>
                      <a:srgbClr val="060606"/>
                    </a:solidFill>
                  </a:tcPr>
                </a:tc>
              </a:tr>
              <a:tr h="180000">
                <a:tc>
                  <a:txBody>
                    <a:bodyPr/>
                    <a:lstStyle/>
                    <a:p>
                      <a:pPr marL="0" indent="0" lvl="0">
                        <a:buNone/>
                      </a:pPr>
                      <a:r>
                        <a:rPr sz="750" b="1">
                          <a:solidFill>
                            <a:srgbClr val="060606"/>
                          </a:solidFill>
                          <a:latin typeface="Helvetica"/>
                        </a:rPr>
                        <a:t>Sinistralité</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Prestations à ajouter (+) ou à retirer (-)</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1 435 406 814 FCFA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427 927 178 FCFA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0 FCFA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972 352 423 FCFA</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Réserve obligatoire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Réserve obligatoire à constituer</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104 872 696 FCFA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162 153 194 FCFA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79 195 072 FCFA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140 750 908 FCFA</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Fonds propres et assimilés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Fonds propres à constituer</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21 892 570 704 FCFA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16 002 055 145 FCFA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18 855 119 976 FCFA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16 922 874 366 FCFA</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Liquidité</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Trésorerie à constituer</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14 230 404 472 FCFA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13 555 974 724 FCFA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14 572 853 980 FCFA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12 524 806 990 FCFA</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Équilibre stable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Ressources longues à ajouter (ou emplois longs à céder)</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7 296 144 385 FCFA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2 380 061 308 FCFA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2 870 097 972 FCFA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3 492 842 881 FCFA</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Excédent net</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Excédent à réduire (déficit à combler si négatif)</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901 068 827 FCFA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266 992 825 FCFA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441 256 500 FCFA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990 198 700 FCFA</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Solvabilité de l'épargne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Actifs admis à affecter à l'épargne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10 114 162 856 FCFA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12 205 911 439 FCFA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13 180 630 730 FCFA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10 076 345 639 FCFA</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Trésorerie à échéance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Valeurs réalisables ou disponibles à constituer</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14 118 394 524 FCFA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12 805 137 440 FCFA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14 474 087 647 FCFA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12 234 546 477 FCFA</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Trésorerie immédiate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Disponibilités à constituer</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14 230 404 472 FCFA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13 555 974 724 FCFA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14 572 853 980 FCFA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12 524 806 990 FCFA</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Réserve de trésorerie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Réserve de trésorerie à constituer</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576 084 804 FCFA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588 613 821 FCFA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597 868 370 FCFA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677 039 532 FCFA</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Fonds propres / prestations longues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Fonds propres à constituer</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3 431 924 537 FCFA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3 713 553 360 FCFA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5 393 423 695 FCFA</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Charges de fonctionnement</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Charges de fonctionnement à réduire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1 511 349 815 FCFA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558 364 763 FCFA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577 021 368 FCFA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745 442 862 FCFA</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Charges de fonctionnement brut</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Charges brutes à réduire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1 422 334 629 FCFA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732 410 027 FCFA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693 501 819 FCFA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804 346 104 FCFA</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Coût par unité prestée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Charges de fonctionnement à réduire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1 949 931 493 FCFA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947 277 303 FCFA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785 632 470 FCFA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1 147 274 623 FCFA</a:t>
                      </a:r>
                    </a:p>
                  </a:txBody>
                  <a:tcPr marL="43200" marR="43200" marT="14400" marB="14400" anchor="ctr">
                    <a:solidFill>
                      <a:srgbClr val="F2F2F2"/>
                    </a:solidFill>
                  </a:tcPr>
                </a:tc>
              </a:tr>
            </a:tbl>
          </a:graphicData>
        </a:graphic>
      </p:graphicFrame>
      <p:sp>
        <p:nvSpPr>
          <p:cNvPr id="33" name="TextBox 32"/>
          <p:cNvSpPr txBox="1"/>
          <p:nvPr/>
        </p:nvSpPr>
        <p:spPr>
          <a:xfrm>
            <a:off x="503999" y="4464000"/>
            <a:ext cx="11232000" cy="162000"/>
          </a:xfrm>
          <a:prstGeom prst="rect">
            <a:avLst/>
          </a:prstGeom>
          <a:noFill/>
        </p:spPr>
        <p:txBody>
          <a:bodyPr wrap="square" anchor="t" lIns="54000" rIns="54000"/>
          <a:lstStyle/>
          <a:p>
            <a:pPr algn="l"/>
            <a:r>
              <a:rPr sz="850" b="0">
                <a:solidFill>
                  <a:srgbClr val="53565A"/>
                </a:solidFill>
                <a:latin typeface="Helvetica"/>
              </a:rPr>
              <a:t>Valable pour : écarts aux normes de la Décision n° 05/2022 calculés dans les classeur des calculs, onglets 13a à 13i, 2020 au 31/08/2026.</a:t>
            </a:r>
          </a:p>
        </p:txBody>
      </p:sp>
      <p:sp>
        <p:nvSpPr>
          <p:cNvPr id="34" name="TextBox 33"/>
          <p:cNvSpPr txBox="1"/>
          <p:nvPr/>
        </p:nvSpPr>
        <p:spPr>
          <a:xfrm>
            <a:off x="503999" y="4770000"/>
            <a:ext cx="11232000" cy="1098000"/>
          </a:xfrm>
          <a:prstGeom prst="rect">
            <a:avLst/>
          </a:prstGeom>
          <a:noFill/>
        </p:spPr>
        <p:txBody>
          <a:bodyPr wrap="square" lIns="54000" rIns="54000"/>
          <a:lstStyle/>
          <a:p>
            <a:pPr algn="just">
              <a:spcAft>
                <a:spcPts val="600"/>
              </a:spcAft>
            </a:pPr>
            <a:r>
              <a:rPr sz="1100" b="1">
                <a:solidFill>
                  <a:srgbClr val="060606"/>
                </a:solidFill>
                <a:latin typeface="Helvetica"/>
              </a:rPr>
              <a:t>Les écarts de bilan se comptent en milliards : 12 205 911 439 FCFA d'actifs à affecter à l'épargne en 2025, et 16 002 055 145 FCFA de fonds propres.</a:t>
            </a:r>
          </a:p>
          <a:p>
            <a:pPr algn="just">
              <a:spcAft>
                <a:spcPts val="600"/>
              </a:spcAft>
            </a:pPr>
            <a:r>
              <a:rPr sz="1100" b="1">
                <a:solidFill>
                  <a:srgbClr val="060606"/>
                </a:solidFill>
                <a:latin typeface="Helvetica"/>
              </a:rPr>
              <a:t>Les écarts de compte de résultat se comptent en centaines de millions : 558 364 763 FCFA de charges de fonctionnement à réduire pour le taux des charges en 2025.</a:t>
            </a:r>
          </a:p>
          <a:p>
            <a:pPr algn="just">
              <a:spcAft>
                <a:spcPts val="600"/>
              </a:spcAft>
            </a:pPr>
            <a:r>
              <a:rPr sz="1100" b="0">
                <a:solidFill>
                  <a:srgbClr val="060606"/>
                </a:solidFill>
                <a:latin typeface="Helvetica"/>
              </a:rPr>
              <a:t>Les écarts de bilan ne peuvent pas être comblés par les seuls excédents annuels : ils demandent des décisions de structure (adossement de l'épargne, apurement des pertes, politique de réserves).</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a:t>
            </a:r>
          </a:p>
        </p:txBody>
      </p:sp>
    </p:spTree>
    <p:extLst>
      <p:ext uri="{BB962C8B-B14F-4D97-AF65-F5344CB8AC3E}">
        <p14:creationId xmlns:p14="http://schemas.microsoft.com/office/powerpoint/2010/main" val="1168730170"/>
      </p:ext>
    </p:extLst>
  </p:cSld>
  <p:clrMapOvr>
    <a:masterClrMapping/>
  </p:clrMapOvr>
  <p:transition>
    <p:fade/>
  </p:transition>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Effet de chaque levier sur chaque ratio</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Aucun levier n'améliore tous les ratios. Plusieurs en dégradent certains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Choc de 100 000 000 FCFA sur l'exercice 2025, enregistré en partie double, une hypothèse à la fois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classeur des calculs, onglets 13a à 13i (formules). Décision n° 05/2022/COM/UEMOA du 1er juin 2022, annexe. Balances du FPPN. Calculs Adenka. Statuts, art. 79, 81, 85, 90 et 93</a:t>
            </a:r>
          </a:p>
        </p:txBody>
      </p:sp>
      <p:sp>
        <p:nvSpPr>
          <p:cNvPr id="31" name="TextBox 30"/>
          <p:cNvSpPr txBox="1"/>
          <p:nvPr/>
        </p:nvSpPr>
        <p:spPr>
          <a:xfrm>
            <a:off x="503999" y="1386000"/>
            <a:ext cx="11217600" cy="216000"/>
          </a:xfrm>
          <a:prstGeom prst="rect">
            <a:avLst/>
          </a:prstGeom>
          <a:noFill/>
        </p:spPr>
        <p:txBody>
          <a:bodyPr wrap="square" anchor="t" lIns="54000" rIns="54000"/>
          <a:lstStyle/>
          <a:p>
            <a:pPr algn="ctr"/>
            <a:r>
              <a:rPr sz="1200" b="0">
                <a:solidFill>
                  <a:srgbClr val="EFAC62"/>
                </a:solidFill>
                <a:latin typeface="Helvetica"/>
              </a:rPr>
              <a:t>Tableau 99 : Sens de l'effet d'un choc de 100 000 000 FCFA (exercice 2025)</a:t>
            </a:r>
          </a:p>
        </p:txBody>
      </p:sp>
      <p:graphicFrame>
        <p:nvGraphicFramePr>
          <p:cNvPr id="32" name="Table 31"/>
          <p:cNvGraphicFramePr>
            <a:graphicFrameLocks noGrp="1"/>
          </p:cNvGraphicFramePr>
          <p:nvPr/>
        </p:nvGraphicFramePr>
        <p:xfrm>
          <a:off x="503999" y="1655999"/>
          <a:ext cx="11217600" cy="1457660"/>
        </p:xfrm>
        <a:graphic>
          <a:graphicData uri="http://schemas.openxmlformats.org/drawingml/2006/table">
            <a:tbl>
              <a:tblPr firstRow="0" bandRow="0">
                <a:tableStyleId>{5940675A-B579-460E-94D1-54222C63F5DA}</a:tableStyleId>
              </a:tblPr>
              <a:tblGrid>
                <a:gridCol w="1944000"/>
                <a:gridCol w="662400"/>
                <a:gridCol w="662400"/>
                <a:gridCol w="662400"/>
                <a:gridCol w="662400"/>
                <a:gridCol w="662400"/>
                <a:gridCol w="662400"/>
                <a:gridCol w="662400"/>
                <a:gridCol w="662400"/>
                <a:gridCol w="662400"/>
                <a:gridCol w="662400"/>
                <a:gridCol w="662400"/>
                <a:gridCol w="662400"/>
                <a:gridCol w="662400"/>
                <a:gridCol w="662400"/>
              </a:tblGrid>
              <a:tr h="377660">
                <a:tc>
                  <a:txBody>
                    <a:bodyPr/>
                    <a:lstStyle/>
                    <a:p>
                      <a:pPr marL="0" indent="0" lvl="0">
                        <a:buNone/>
                      </a:pPr>
                      <a:r>
                        <a:rPr sz="700" b="1">
                          <a:solidFill>
                            <a:srgbClr val="FFFFFF"/>
                          </a:solidFill>
                          <a:latin typeface="Helvetica"/>
                        </a:rPr>
                        <a:t>Levier</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Sinistralité</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Réserve obligatoire</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Fonds propres et assimilés</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Liquidité</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Équilibre stable</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Excédent net</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Solvabilité de l'épargne</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Trésorerie à échéance</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Trésorerie immédiate</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Réserve de trésorerie</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Fonds propres / prestations longues</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Charges de fonctionnement</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Charges de fonctionnement brut</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Coût par unité prestée</a:t>
                      </a:r>
                    </a:p>
                  </a:txBody>
                  <a:tcPr marL="43200" marR="43200" marT="14400" marB="14400" anchor="ctr">
                    <a:solidFill>
                      <a:srgbClr val="060606"/>
                    </a:solidFill>
                  </a:tcPr>
                </a:tc>
              </a:tr>
              <a:tr h="180000">
                <a:tc>
                  <a:txBody>
                    <a:bodyPr/>
                    <a:lstStyle/>
                    <a:p>
                      <a:pPr marL="0" indent="0" lvl="0">
                        <a:buNone/>
                      </a:pPr>
                      <a:r>
                        <a:rPr sz="700" b="1">
                          <a:solidFill>
                            <a:srgbClr val="060606"/>
                          </a:solidFill>
                          <a:latin typeface="Helvetica"/>
                        </a:rPr>
                        <a:t>Hausse des cotisations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FFFFF"/>
                    </a:solidFill>
                  </a:tcPr>
                </a:tc>
              </a:tr>
              <a:tr h="180000">
                <a:tc>
                  <a:txBody>
                    <a:bodyPr/>
                    <a:lstStyle/>
                    <a:p>
                      <a:pPr marL="0" indent="0" lvl="0">
                        <a:buNone/>
                      </a:pPr>
                      <a:r>
                        <a:rPr sz="700" b="1">
                          <a:solidFill>
                            <a:srgbClr val="060606"/>
                          </a:solidFill>
                          <a:latin typeface="Helvetica"/>
                        </a:rPr>
                        <a:t>Hausse des prestations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t>
                      </a:r>
                    </a:p>
                  </a:txBody>
                  <a:tcPr marL="43200" marR="43200" marT="14400" marB="14400" anchor="ctr">
                    <a:solidFill>
                      <a:srgbClr val="F2F2F2"/>
                    </a:solidFill>
                  </a:tcPr>
                </a:tc>
              </a:tr>
              <a:tr h="180000">
                <a:tc>
                  <a:txBody>
                    <a:bodyPr/>
                    <a:lstStyle/>
                    <a:p>
                      <a:pPr marL="0" indent="0" lvl="0">
                        <a:buNone/>
                      </a:pPr>
                      <a:r>
                        <a:rPr sz="700" b="1">
                          <a:solidFill>
                            <a:srgbClr val="060606"/>
                          </a:solidFill>
                          <a:latin typeface="Helvetica"/>
                        </a:rPr>
                        <a:t>Baisse des charges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r>
              <a:tr h="180000">
                <a:tc>
                  <a:txBody>
                    <a:bodyPr/>
                    <a:lstStyle/>
                    <a:p>
                      <a:pPr marL="0" indent="0" lvl="0">
                        <a:buNone/>
                      </a:pPr>
                      <a:r>
                        <a:rPr sz="700" b="1">
                          <a:solidFill>
                            <a:srgbClr val="060606"/>
                          </a:solidFill>
                          <a:latin typeface="Helvetica"/>
                        </a:rPr>
                        <a:t>Dotation à la réserve</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r>
              <a:tr h="180000">
                <a:tc>
                  <a:txBody>
                    <a:bodyPr/>
                    <a:lstStyle/>
                    <a:p>
                      <a:pPr marL="0" indent="0" lvl="0">
                        <a:buNone/>
                      </a:pPr>
                      <a:r>
                        <a:rPr sz="700" b="1">
                          <a:solidFill>
                            <a:srgbClr val="060606"/>
                          </a:solidFill>
                          <a:latin typeface="Helvetica"/>
                        </a:rPr>
                        <a:t>Réallocation des placements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FFFFF"/>
                    </a:solidFill>
                  </a:tcPr>
                </a:tc>
              </a:tr>
              <a:tr h="180000">
                <a:tc>
                  <a:txBody>
                    <a:bodyPr/>
                    <a:lstStyle/>
                    <a:p>
                      <a:pPr marL="0" indent="0" lvl="0">
                        <a:buNone/>
                      </a:pPr>
                      <a:r>
                        <a:rPr sz="700" b="1">
                          <a:solidFill>
                            <a:srgbClr val="060606"/>
                          </a:solidFill>
                          <a:latin typeface="Helvetica"/>
                        </a:rPr>
                        <a:t>Apport en fonds propres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r>
            </a:tbl>
          </a:graphicData>
        </a:graphic>
      </p:graphicFrame>
      <p:sp>
        <p:nvSpPr>
          <p:cNvPr id="33" name="TextBox 32"/>
          <p:cNvSpPr txBox="1"/>
          <p:nvPr/>
        </p:nvSpPr>
        <p:spPr>
          <a:xfrm>
            <a:off x="503999" y="3221660"/>
            <a:ext cx="11232000" cy="162000"/>
          </a:xfrm>
          <a:prstGeom prst="rect">
            <a:avLst/>
          </a:prstGeom>
          <a:noFill/>
        </p:spPr>
        <p:txBody>
          <a:bodyPr wrap="square" anchor="t" lIns="54000" rIns="54000"/>
          <a:lstStyle/>
          <a:p>
            <a:pPr algn="l"/>
            <a:r>
              <a:rPr sz="850" b="0">
                <a:solidFill>
                  <a:srgbClr val="53565A"/>
                </a:solidFill>
                <a:latin typeface="Helvetica"/>
              </a:rPr>
              <a:t>Valable pour : choc de 100 000 000 FCFA appliqué à l'exercice 2025 dans les classeur des calculs, onglets 13a à 13i. Effets de premier ordre seulement.</a:t>
            </a:r>
          </a:p>
        </p:txBody>
      </p:sp>
      <p:sp>
        <p:nvSpPr>
          <p:cNvPr id="34" name="TextBox 33"/>
          <p:cNvSpPr txBox="1"/>
          <p:nvPr/>
        </p:nvSpPr>
        <p:spPr>
          <a:xfrm>
            <a:off x="503999" y="3527660"/>
            <a:ext cx="11232000" cy="2340339"/>
          </a:xfrm>
          <a:prstGeom prst="rect">
            <a:avLst/>
          </a:prstGeom>
          <a:noFill/>
        </p:spPr>
        <p:txBody>
          <a:bodyPr wrap="square" lIns="54000" rIns="54000"/>
          <a:lstStyle/>
          <a:p>
            <a:pPr algn="just">
              <a:spcAft>
                <a:spcPts val="600"/>
              </a:spcAft>
            </a:pPr>
            <a:r>
              <a:rPr sz="1300" b="1">
                <a:solidFill>
                  <a:srgbClr val="060606"/>
                </a:solidFill>
                <a:latin typeface="Helvetica"/>
              </a:rPr>
              <a:t>La hausse des cotisations améliore les frais et la liquidité, mais éloigne la sinistralité et l'excédent net de leur norme.</a:t>
            </a:r>
            <a:r>
              <a:rPr sz="1300" b="0">
                <a:solidFill>
                  <a:srgbClr val="060606"/>
                </a:solidFill>
                <a:latin typeface="Helvetica"/>
              </a:rPr>
              <a:t> La hausse des prestations fait l'inverse.</a:t>
            </a:r>
          </a:p>
          <a:p>
            <a:pPr algn="just">
              <a:spcAft>
                <a:spcPts val="600"/>
              </a:spcAft>
            </a:pPr>
            <a:r>
              <a:rPr sz="1300" b="1">
                <a:solidFill>
                  <a:srgbClr val="060606"/>
                </a:solidFill>
                <a:latin typeface="Helvetica"/>
              </a:rPr>
              <a:t>La dotation à la réserve, la réallocation des placements et l'apport en fonds propres n'ont aucun effet défavorable. La baisse des charges n'éloigne que l'excédent net de sa norme.</a:t>
            </a:r>
          </a:p>
          <a:p>
            <a:pPr algn="just">
              <a:spcAft>
                <a:spcPts val="600"/>
              </a:spcAft>
            </a:pPr>
            <a:r>
              <a:rPr sz="1300" b="0">
                <a:solidFill>
                  <a:srgbClr val="060606"/>
                </a:solidFill>
                <a:latin typeface="Helvetica"/>
              </a:rPr>
              <a:t>Le plan de redressement prévu par les statuts (art. 93) doit combiner les leviers : agir sur les cotisations seules ne peut pas rendre le FPPN conforme.</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a:t>
            </a:r>
          </a:p>
        </p:txBody>
      </p:sp>
    </p:spTree>
    <p:extLst>
      <p:ext uri="{BB962C8B-B14F-4D97-AF65-F5344CB8AC3E}">
        <p14:creationId xmlns:p14="http://schemas.microsoft.com/office/powerpoint/2010/main" val="2043655948"/>
      </p:ext>
    </p:extLst>
  </p:cSld>
  <p:clrMapOvr>
    <a:masterClrMapping/>
  </p:clrMapOvr>
  <p:transition>
    <p:fade/>
  </p:transition>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Montants d'équilibre de chaque levier en 2025</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Sur quoi agir, et de combien, pour rendre chaque ratio conforme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Taux de cotisation : 4,11 % pour la sinistralité, mais 9,08 % pour les frais. Réduction des frais de 44,96 % pour le taux des charges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classeur des calculs, onglets 13a à 13i (formules). Décision n° 05/2022/COM/UEMOA du 1er juin 2022, annexe. Balances du FPPN. Calculs Adenka. Statuts, art. 17, 79, 81, 85, 90 et 93</a:t>
            </a:r>
          </a:p>
        </p:txBody>
      </p:sp>
      <p:sp>
        <p:nvSpPr>
          <p:cNvPr id="31" name="TextBox 30"/>
          <p:cNvSpPr txBox="1"/>
          <p:nvPr/>
        </p:nvSpPr>
        <p:spPr>
          <a:xfrm>
            <a:off x="503999" y="1386000"/>
            <a:ext cx="10872000" cy="216000"/>
          </a:xfrm>
          <a:prstGeom prst="rect">
            <a:avLst/>
          </a:prstGeom>
          <a:noFill/>
        </p:spPr>
        <p:txBody>
          <a:bodyPr wrap="square" anchor="t" lIns="54000" rIns="54000"/>
          <a:lstStyle/>
          <a:p>
            <a:pPr algn="ctr"/>
            <a:r>
              <a:rPr sz="1200" b="0">
                <a:solidFill>
                  <a:srgbClr val="EFAC62"/>
                </a:solidFill>
                <a:latin typeface="Helvetica"/>
              </a:rPr>
              <a:t>Tableau 100 : Montants d'équilibre 2025 par levier et par ratio</a:t>
            </a:r>
          </a:p>
        </p:txBody>
      </p:sp>
      <p:graphicFrame>
        <p:nvGraphicFramePr>
          <p:cNvPr id="32" name="Table 31"/>
          <p:cNvGraphicFramePr>
            <a:graphicFrameLocks noGrp="1"/>
          </p:cNvGraphicFramePr>
          <p:nvPr/>
        </p:nvGraphicFramePr>
        <p:xfrm>
          <a:off x="503999" y="1655999"/>
          <a:ext cx="10872000" cy="2058628"/>
        </p:xfrm>
        <a:graphic>
          <a:graphicData uri="http://schemas.openxmlformats.org/drawingml/2006/table">
            <a:tbl>
              <a:tblPr firstRow="0" bandRow="0">
                <a:tableStyleId>{5940675A-B579-460E-94D1-54222C63F5DA}</a:tableStyleId>
              </a:tblPr>
              <a:tblGrid>
                <a:gridCol w="2592000"/>
                <a:gridCol w="1944000"/>
                <a:gridCol w="1800000"/>
                <a:gridCol w="3456000"/>
                <a:gridCol w="1080000"/>
              </a:tblGrid>
              <a:tr h="187148">
                <a:tc>
                  <a:txBody>
                    <a:bodyPr/>
                    <a:lstStyle/>
                    <a:p>
                      <a:pPr marL="0" indent="0" lvl="0">
                        <a:buNone/>
                      </a:pPr>
                      <a:r>
                        <a:rPr sz="850" b="1">
                          <a:solidFill>
                            <a:srgbClr val="FFFFFF"/>
                          </a:solidFill>
                          <a:latin typeface="Helvetica"/>
                        </a:rPr>
                        <a:t>Levier (texte)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Ratio visé</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Montant 2025</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Lecture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Années d'effort</a:t>
                      </a:r>
                    </a:p>
                  </a:txBody>
                  <a:tcPr marL="43200" marR="43200" marT="14400" marB="14400" anchor="ctr">
                    <a:solidFill>
                      <a:srgbClr val="060606"/>
                    </a:solidFill>
                  </a:tcPr>
                </a:tc>
              </a:tr>
              <a:tr h="187148">
                <a:tc>
                  <a:txBody>
                    <a:bodyPr/>
                    <a:lstStyle/>
                    <a:p>
                      <a:pPr marL="0" indent="0" lvl="0">
                        <a:buNone/>
                      </a:pPr>
                      <a:r>
                        <a:rPr sz="850" b="1">
                          <a:solidFill>
                            <a:srgbClr val="060606"/>
                          </a:solidFill>
                          <a:latin typeface="Helvetica"/>
                        </a:rPr>
                        <a:t>Cotisations (statuts, art. 17 et 93)</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Sinistralité</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-611 324 541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Taux de cotisation ramené à 4,11 %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6</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Cotisations (statuts, art. 17 et 93)</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Charges de fonctionnement</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2 791 823 813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Taux de cotisation porté à 9,08 %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7</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Prestations (statuts, art. 93)</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Sinistralité</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427 927 178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21,78 % de prestations en plus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6</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Prestations (statuts, art. 93)</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Excédent net</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266 992 825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13,59 % de prestations en plus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7</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Charges (Décision n° 05/2022)</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Charges de fonctionnement</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558 364 763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44,96 % des charges en moins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7</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Charges (Décision n° 05/2022)</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Coût par unité prestée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947 277 303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76,27 % des charges en moins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7</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Réserve légale (statuts, art. 90)</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Réserve obligatoire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162 153 194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Dotation supplémentaire, interne aux fonds propres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7</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Placements (statuts, art. 85)</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Liquidité</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13 555 974 724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Supérieur à toute la classe 2 (6 814 784 076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7</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Placements (statuts, art. 85)</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Solvabilité de l'épargne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12 205 911 439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Actifs à affecter à l'épargne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7</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Fonds propres (statuts, art. 79 et 81)</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Fonds propres et assimilés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16 002 055 145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22,22 années d'excédent moyen 2023 à 2025</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7</a:t>
                      </a:r>
                    </a:p>
                  </a:txBody>
                  <a:tcPr marL="43200" marR="43200" marT="14400" marB="14400" anchor="ctr">
                    <a:solidFill>
                      <a:srgbClr val="F2F2F2"/>
                    </a:solidFill>
                  </a:tcPr>
                </a:tc>
              </a:tr>
            </a:tbl>
          </a:graphicData>
        </a:graphic>
      </p:graphicFrame>
      <p:sp>
        <p:nvSpPr>
          <p:cNvPr id="33" name="TextBox 32"/>
          <p:cNvSpPr txBox="1"/>
          <p:nvPr/>
        </p:nvSpPr>
        <p:spPr>
          <a:xfrm>
            <a:off x="503999" y="3822629"/>
            <a:ext cx="11232000" cy="162000"/>
          </a:xfrm>
          <a:prstGeom prst="rect">
            <a:avLst/>
          </a:prstGeom>
          <a:noFill/>
        </p:spPr>
        <p:txBody>
          <a:bodyPr wrap="square" anchor="t" lIns="54000" rIns="54000"/>
          <a:lstStyle/>
          <a:p>
            <a:pPr algn="l"/>
            <a:r>
              <a:rPr sz="850" b="0">
                <a:solidFill>
                  <a:srgbClr val="53565A"/>
                </a:solidFill>
                <a:latin typeface="Helvetica"/>
              </a:rPr>
              <a:t>Valable pour : exercice 2025, classeur des calculs, onglets 13a à 13i. Un levier à la fois, sans interaction.</a:t>
            </a:r>
          </a:p>
        </p:txBody>
      </p:sp>
      <p:sp>
        <p:nvSpPr>
          <p:cNvPr id="34" name="TextBox 33"/>
          <p:cNvSpPr txBox="1"/>
          <p:nvPr/>
        </p:nvSpPr>
        <p:spPr>
          <a:xfrm>
            <a:off x="503999" y="4128629"/>
            <a:ext cx="11232000" cy="1739370"/>
          </a:xfrm>
          <a:prstGeom prst="rect">
            <a:avLst/>
          </a:prstGeom>
          <a:noFill/>
        </p:spPr>
        <p:txBody>
          <a:bodyPr wrap="square" lIns="54000" rIns="54000"/>
          <a:lstStyle/>
          <a:p>
            <a:pPr algn="just">
              <a:spcAft>
                <a:spcPts val="600"/>
              </a:spcAft>
            </a:pPr>
            <a:r>
              <a:rPr sz="1150" b="1">
                <a:solidFill>
                  <a:srgbClr val="060606"/>
                </a:solidFill>
                <a:latin typeface="Helvetica"/>
              </a:rPr>
              <a:t>Pour la sinistralité, il faudrait baisser le taux de cotisation ou servir 427 927 178 FCFA de prestations en plus. Pour les frais, il faudrait au contraire presque doubler le taux.</a:t>
            </a:r>
            <a:r>
              <a:rPr sz="1150" b="0">
                <a:solidFill>
                  <a:srgbClr val="060606"/>
                </a:solidFill>
                <a:latin typeface="Helvetica"/>
              </a:rPr>
              <a:t> Le levier des cotisations est donc contradictoire.</a:t>
            </a:r>
          </a:p>
          <a:p>
            <a:pPr algn="just">
              <a:spcAft>
                <a:spcPts val="600"/>
              </a:spcAft>
            </a:pPr>
            <a:r>
              <a:rPr sz="1150" b="1">
                <a:solidFill>
                  <a:srgbClr val="060606"/>
                </a:solidFill>
                <a:latin typeface="Helvetica"/>
              </a:rPr>
              <a:t>Le levier le plus direct est la baisse des charges de fonctionnement</a:t>
            </a:r>
            <a:r>
              <a:rPr sz="1150" b="0">
                <a:solidFill>
                  <a:srgbClr val="060606"/>
                </a:solidFill>
                <a:latin typeface="Helvetica"/>
              </a:rPr>
              <a:t> : 558 364 763 FCFA en 2025 pour le taux des charges, davantage pour le coût par unité prestée.</a:t>
            </a:r>
          </a:p>
          <a:p>
            <a:pPr algn="just">
              <a:spcAft>
                <a:spcPts val="600"/>
              </a:spcAft>
            </a:pPr>
            <a:r>
              <a:rPr sz="1150" b="1">
                <a:solidFill>
                  <a:srgbClr val="060606"/>
                </a:solidFill>
                <a:latin typeface="Helvetica"/>
              </a:rPr>
              <a:t>Les écarts de bilan dépassent les moyens du FPPN</a:t>
            </a:r>
            <a:r>
              <a:rPr sz="1150" b="0">
                <a:solidFill>
                  <a:srgbClr val="060606"/>
                </a:solidFill>
                <a:latin typeface="Helvetica"/>
              </a:rPr>
              <a:t> : la trésorerie manquante excède toute la classe 2, et les fonds propres demanderaient 22,22 années d'excédent moyen.</a:t>
            </a:r>
          </a:p>
          <a:p>
            <a:pPr algn="just">
              <a:spcAft>
                <a:spcPts val="600"/>
              </a:spcAft>
            </a:pPr>
            <a:r>
              <a:rPr sz="1150" b="0">
                <a:solidFill>
                  <a:srgbClr val="060606"/>
                </a:solidFill>
                <a:latin typeface="Helvetica"/>
              </a:rPr>
              <a:t>Les ratios de compte de résultat peuvent être corrigés en quelques exercices par une maîtrise des frais et une revue du régime des prestations. Les ratios de bilan demandent un plan pluriannuel, présenté à l'AIRMS.</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AIRMS : Agence ivoirienne de régulation de la mutualité sociale | UEMOA : Union économique et monétaire ouest-africaine</a:t>
            </a:r>
          </a:p>
        </p:txBody>
      </p:sp>
    </p:spTree>
    <p:extLst>
      <p:ext uri="{BB962C8B-B14F-4D97-AF65-F5344CB8AC3E}">
        <p14:creationId xmlns:p14="http://schemas.microsoft.com/office/powerpoint/2010/main" val="2536226023"/>
      </p:ext>
    </p:extLst>
  </p:cSld>
  <p:clrMapOvr>
    <a:masterClrMapping/>
  </p:clrMapOvr>
  <p:transition>
    <p:fade/>
  </p:transition>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Cotisations : deux ratios demandent des mouvements opposés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sinistralité appelle une baisse du taux, les frais une hausse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En 2025, taux de cotisation équivalent : 4,11 % pour la sinistralité, 9,08 % pour le taux des charges, contre 5,00 % dans les statuts</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37 : Taux de cotisation équivalent selon le ratio visé</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 de la solde de base</a:t>
            </a:r>
          </a:p>
        </p:txBody>
      </p:sp>
      <p:graphicFrame>
        <p:nvGraphicFramePr>
          <p:cNvPr id="32" name="Chart 31"/>
          <p:cNvGraphicFramePr>
            <a:graphicFrameLocks noGrp="1"/>
          </p:cNvGraphicFramePr>
          <p:nvPr/>
        </p:nvGraphicFramePr>
        <p:xfrm>
          <a:off x="503999" y="1782000"/>
          <a:ext cx="6552000" cy="3744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classeur des calculs, onglets 13a à 13i (formules). Décision n° 05/2022/COM/UEMOA du 1er juin 2022, annexe. Balances du FPPN. Calculs Adenka. Statuts, art. 17</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L'écart entre les deux exigences se réduit, mais reste large : de 0,64 % contre 21,08 % en 2020, à 4,11 % contre 9,08 % en 2025.</a:t>
            </a:r>
          </a:p>
          <a:p>
            <a:pPr algn="just">
              <a:spcAft>
                <a:spcPts val="600"/>
              </a:spcAft>
            </a:pPr>
            <a:r>
              <a:rPr sz="1400" b="1">
                <a:solidFill>
                  <a:srgbClr val="060606"/>
                </a:solidFill>
                <a:latin typeface="Helvetica"/>
              </a:rPr>
              <a:t>La hausse des prestations maladie rapproche la sinistralité de sa norme</a:t>
            </a:r>
            <a:r>
              <a:rPr sz="1400" b="0">
                <a:solidFill>
                  <a:srgbClr val="060606"/>
                </a:solidFill>
                <a:latin typeface="Helvetica"/>
              </a:rPr>
              <a:t> : en 2026, sur huit mois, le taux de 5 % suffit à la respecter.</a:t>
            </a:r>
          </a:p>
          <a:p>
            <a:pPr algn="just">
              <a:spcAft>
                <a:spcPts val="600"/>
              </a:spcAft>
            </a:pPr>
            <a:r>
              <a:rPr sz="1400" b="0">
                <a:solidFill>
                  <a:srgbClr val="060606"/>
                </a:solidFill>
                <a:latin typeface="Helvetica"/>
              </a:rPr>
              <a:t>Le taux de cotisation n'est pas le bon levier pour les frais : c'est le niveau des charges qui dépasse les plafonds du texte. Le taux devra être revu une fois les provisions recalculées, car elles entrent dans la sinistralité.</a:t>
            </a:r>
          </a:p>
        </p:txBody>
      </p:sp>
      <p:sp>
        <p:nvSpPr>
          <p:cNvPr id="35" name="TextBox 34"/>
          <p:cNvSpPr txBox="1"/>
          <p:nvPr/>
        </p:nvSpPr>
        <p:spPr>
          <a:xfrm>
            <a:off x="503999" y="5526000"/>
            <a:ext cx="6552000" cy="306000"/>
          </a:xfrm>
          <a:prstGeom prst="rect">
            <a:avLst/>
          </a:prstGeom>
          <a:noFill/>
        </p:spPr>
        <p:txBody>
          <a:bodyPr wrap="square" anchor="t" lIns="54000" rIns="54000"/>
          <a:lstStyle/>
          <a:p>
            <a:pPr algn="l"/>
            <a:r>
              <a:rPr sz="850" b="0">
                <a:solidFill>
                  <a:srgbClr val="53565A"/>
                </a:solidFill>
                <a:latin typeface="Helvetica"/>
              </a:rPr>
              <a:t>Valable pour : exercice 2025, cotisations des comptes 7010 et 7021 de « BALANCE FPPN 2025.xlsx ». Classeur des calculs, onglets 13a à 13i.</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a:t>
            </a:r>
          </a:p>
        </p:txBody>
      </p:sp>
    </p:spTree>
    <p:extLst>
      <p:ext uri="{BB962C8B-B14F-4D97-AF65-F5344CB8AC3E}">
        <p14:creationId xmlns:p14="http://schemas.microsoft.com/office/powerpoint/2010/main" val="3497504447"/>
      </p:ext>
    </p:extLst>
  </p:cSld>
  <p:clrMapOvr>
    <a:masterClrMapping/>
  </p:clrMapOvr>
  <p:transition>
    <p:fade/>
  </p:transition>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Liquidité : la vente des placements longs ne suffirait pas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Même en vendant toute la classe 2, la liquidité resterait sous la norme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Liquidité maximale théorique : 0,57 en 2025. Liquidité hors épargne : 1,15, conforme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classeur des calculs, onglets 13a à 13i (formules). Décision n° 05/2022/COM/UEMOA du 1er juin 2022, annexe. Balances du FPPN. Calculs Adenka. Règlement d'exécution n° 004/2022/COM/UEMOA du 1er juin 2022, art. 3, 17 et 19</a:t>
            </a:r>
          </a:p>
        </p:txBody>
      </p:sp>
      <p:sp>
        <p:nvSpPr>
          <p:cNvPr id="31" name="TextBox 30"/>
          <p:cNvSpPr txBox="1"/>
          <p:nvPr/>
        </p:nvSpPr>
        <p:spPr>
          <a:xfrm>
            <a:off x="503999" y="1386000"/>
            <a:ext cx="11217599" cy="216000"/>
          </a:xfrm>
          <a:prstGeom prst="rect">
            <a:avLst/>
          </a:prstGeom>
          <a:noFill/>
        </p:spPr>
        <p:txBody>
          <a:bodyPr wrap="square" anchor="t" lIns="54000" rIns="54000"/>
          <a:lstStyle/>
          <a:p>
            <a:pPr algn="ctr"/>
            <a:r>
              <a:rPr sz="1200" b="0">
                <a:solidFill>
                  <a:srgbClr val="EFAC62"/>
                </a:solidFill>
                <a:latin typeface="Helvetica"/>
              </a:rPr>
              <a:t>Tableau 101 : Liquidité : écart, plafond de réallocation et lecture hors épargne</a:t>
            </a:r>
          </a:p>
        </p:txBody>
      </p:sp>
      <p:graphicFrame>
        <p:nvGraphicFramePr>
          <p:cNvPr id="32" name="Table 31"/>
          <p:cNvGraphicFramePr>
            <a:graphicFrameLocks noGrp="1"/>
          </p:cNvGraphicFramePr>
          <p:nvPr/>
        </p:nvGraphicFramePr>
        <p:xfrm>
          <a:off x="503999" y="1655999"/>
          <a:ext cx="11217599" cy="1252436"/>
        </p:xfrm>
        <a:graphic>
          <a:graphicData uri="http://schemas.openxmlformats.org/drawingml/2006/table">
            <a:tbl>
              <a:tblPr firstRow="0" bandRow="0">
                <a:tableStyleId>{5940675A-B579-460E-94D1-54222C63F5DA}</a:tableStyleId>
              </a:tblPr>
              <a:tblGrid>
                <a:gridCol w="2951999"/>
                <a:gridCol w="1180800"/>
                <a:gridCol w="1180800"/>
                <a:gridCol w="1180800"/>
                <a:gridCol w="1180800"/>
                <a:gridCol w="1180800"/>
                <a:gridCol w="1180800"/>
                <a:gridCol w="1180800"/>
              </a:tblGrid>
              <a:tr h="187148">
                <a:tc>
                  <a:txBody>
                    <a:bodyPr/>
                    <a:lstStyle/>
                    <a:p>
                      <a:pPr marL="0" indent="0" lvl="0">
                        <a:buNone/>
                      </a:pPr>
                      <a:r>
                        <a:rPr sz="850" b="1">
                          <a:solidFill>
                            <a:srgbClr val="FFFFFF"/>
                          </a:solidFill>
                          <a:latin typeface="Helvetica"/>
                        </a:rPr>
                        <a:t>Indicateur</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2020</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2021</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2022</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2023</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2024</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2025</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31/08/2026</a:t>
                      </a:r>
                    </a:p>
                  </a:txBody>
                  <a:tcPr marL="43200" marR="43200" marT="14400" marB="14400" anchor="ctr">
                    <a:solidFill>
                      <a:srgbClr val="060606"/>
                    </a:solidFill>
                  </a:tcPr>
                </a:tc>
              </a:tr>
              <a:tr h="316696">
                <a:tc>
                  <a:txBody>
                    <a:bodyPr/>
                    <a:lstStyle/>
                    <a:p>
                      <a:pPr marL="0" indent="0" lvl="0">
                        <a:buNone/>
                      </a:pPr>
                      <a:r>
                        <a:rPr sz="850" b="1">
                          <a:solidFill>
                            <a:srgbClr val="060606"/>
                          </a:solidFill>
                          <a:latin typeface="Helvetica"/>
                        </a:rPr>
                        <a:t>Trésorerie manquante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14 230 404 472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11 761 869 725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10 573 204 487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10 196 077 155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12 783 264 390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13 555 974 724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14 572 853 980 FCFA</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Classe 2 nette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5 420 135 286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4 916 701 524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4 888 463 485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5 151 329 261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6 790 107 498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6 814 784 076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6 863 564 240 FCFA</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Liquidité maximale théorique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0,42</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0,53</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0,52</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0,56</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0,56</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0,57</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0,57</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Liquidité hors épargne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0,21</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0,64</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0,51</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0,54</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0,33</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1,15</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1,53</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Conforme hors épargne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Oui</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Oui</a:t>
                      </a:r>
                    </a:p>
                  </a:txBody>
                  <a:tcPr marL="43200" marR="43200" marT="14400" marB="14400" anchor="ctr">
                    <a:solidFill>
                      <a:srgbClr val="FFFFFF"/>
                    </a:solidFill>
                  </a:tcPr>
                </a:tc>
              </a:tr>
            </a:tbl>
          </a:graphicData>
        </a:graphic>
      </p:graphicFrame>
      <p:sp>
        <p:nvSpPr>
          <p:cNvPr id="33" name="TextBox 32"/>
          <p:cNvSpPr txBox="1"/>
          <p:nvPr/>
        </p:nvSpPr>
        <p:spPr>
          <a:xfrm>
            <a:off x="503999" y="3016437"/>
            <a:ext cx="11232000" cy="162000"/>
          </a:xfrm>
          <a:prstGeom prst="rect">
            <a:avLst/>
          </a:prstGeom>
          <a:noFill/>
        </p:spPr>
        <p:txBody>
          <a:bodyPr wrap="square" anchor="t" lIns="54000" rIns="54000"/>
          <a:lstStyle/>
          <a:p>
            <a:pPr algn="l"/>
            <a:r>
              <a:rPr sz="850" b="0">
                <a:solidFill>
                  <a:srgbClr val="53565A"/>
                </a:solidFill>
                <a:latin typeface="Helvetica"/>
              </a:rPr>
              <a:t>Valable pour : bilan au 31/12/2025 de « BALANCE FPPN 2025.xlsx ». Plafonds de réallocation des classeur des calculs, onglets 13a à 13i.</a:t>
            </a:r>
          </a:p>
        </p:txBody>
      </p:sp>
      <p:sp>
        <p:nvSpPr>
          <p:cNvPr id="34" name="TextBox 33"/>
          <p:cNvSpPr txBox="1"/>
          <p:nvPr/>
        </p:nvSpPr>
        <p:spPr>
          <a:xfrm>
            <a:off x="503999" y="3322437"/>
            <a:ext cx="11232000" cy="2545562"/>
          </a:xfrm>
          <a:prstGeom prst="rect">
            <a:avLst/>
          </a:prstGeom>
          <a:noFill/>
        </p:spPr>
        <p:txBody>
          <a:bodyPr wrap="square" lIns="54000" rIns="54000"/>
          <a:lstStyle/>
          <a:p>
            <a:pPr algn="just">
              <a:spcAft>
                <a:spcPts val="600"/>
              </a:spcAft>
            </a:pPr>
            <a:r>
              <a:rPr sz="1300" b="1">
                <a:solidFill>
                  <a:srgbClr val="060606"/>
                </a:solidFill>
                <a:latin typeface="Helvetica"/>
              </a:rPr>
              <a:t>La trésorerie manquante dépasse, chaque année, toute la classe 2 : la réallocation des placements, seule, ne peut pas rendre la liquidité conforme.</a:t>
            </a:r>
          </a:p>
          <a:p>
            <a:pPr algn="just">
              <a:spcAft>
                <a:spcPts val="600"/>
              </a:spcAft>
            </a:pPr>
            <a:r>
              <a:rPr sz="1300" b="1">
                <a:solidFill>
                  <a:srgbClr val="060606"/>
                </a:solidFill>
                <a:latin typeface="Helvetica"/>
              </a:rPr>
              <a:t>Hors épargne, la liquidité devient conforme en 2025 et au 31/08/2026.</a:t>
            </a:r>
            <a:r>
              <a:rPr sz="1300" b="0">
                <a:solidFill>
                  <a:srgbClr val="060606"/>
                </a:solidFill>
                <a:latin typeface="Helvetica"/>
              </a:rPr>
              <a:t> Le problème de liquidité est donc celui de l'épargne PEP et EFC, classée en dettes à court terme.</a:t>
            </a:r>
          </a:p>
          <a:p>
            <a:pPr algn="just">
              <a:spcAft>
                <a:spcPts val="600"/>
              </a:spcAft>
            </a:pPr>
            <a:r>
              <a:rPr sz="1300" b="0">
                <a:solidFill>
                  <a:srgbClr val="060606"/>
                </a:solidFill>
                <a:latin typeface="Helvetica"/>
              </a:rPr>
              <a:t>Le levier de liquidité est l'adossement de l'épargne : des actifs dédiés, constitués au fil des versements, et un échéancier qui justifie le classement de l'épargne en ressource longue. Sans échéancier, ce classement n'est pas démontré.</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PEP : Plan Épargne Plus | EFC : entraide fin de carrière</a:t>
            </a:r>
          </a:p>
        </p:txBody>
      </p:sp>
    </p:spTree>
    <p:extLst>
      <p:ext uri="{BB962C8B-B14F-4D97-AF65-F5344CB8AC3E}">
        <p14:creationId xmlns:p14="http://schemas.microsoft.com/office/powerpoint/2010/main" val="2346954558"/>
      </p:ext>
    </p:extLst>
  </p:cSld>
  <p:clrMapOvr>
    <a:masterClrMapping/>
  </p:clrMapOvr>
  <p:transition>
    <p:fade/>
  </p:transition>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Réserve et fonds propres : la règle des statuts aurait suffi pour la réserve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Avec 20 % des excédents depuis 2020, la réserve aurait été conforme en 2025</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Réserve obligatoire 2025 : 5,01 mois réels. 8,41 mois avec 20 % des excédents passés. Norme de 6 à 9 mois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classeur des calculs, onglets 13a à 13i (formules). Décision n° 05/2022/COM/UEMOA du 1er juin 2022, annexe. Balances du FPPN. Calculs Adenka. Statuts, art. 81 et 90</a:t>
            </a:r>
          </a:p>
        </p:txBody>
      </p:sp>
      <p:sp>
        <p:nvSpPr>
          <p:cNvPr id="31" name="TextBox 30"/>
          <p:cNvSpPr txBox="1"/>
          <p:nvPr/>
        </p:nvSpPr>
        <p:spPr>
          <a:xfrm>
            <a:off x="503999" y="1386000"/>
            <a:ext cx="11217599" cy="216000"/>
          </a:xfrm>
          <a:prstGeom prst="rect">
            <a:avLst/>
          </a:prstGeom>
          <a:noFill/>
        </p:spPr>
        <p:txBody>
          <a:bodyPr wrap="square" anchor="t" lIns="54000" rIns="54000"/>
          <a:lstStyle/>
          <a:p>
            <a:pPr algn="ctr"/>
            <a:r>
              <a:rPr sz="1200" b="0">
                <a:solidFill>
                  <a:srgbClr val="EFAC62"/>
                </a:solidFill>
                <a:latin typeface="Helvetica"/>
              </a:rPr>
              <a:t>Tableau 102 : Réserve obligatoire selon la dotation statutaire, et horizon des fonds propres</a:t>
            </a:r>
          </a:p>
        </p:txBody>
      </p:sp>
      <p:graphicFrame>
        <p:nvGraphicFramePr>
          <p:cNvPr id="32" name="Table 31"/>
          <p:cNvGraphicFramePr>
            <a:graphicFrameLocks noGrp="1"/>
          </p:cNvGraphicFramePr>
          <p:nvPr/>
        </p:nvGraphicFramePr>
        <p:xfrm>
          <a:off x="503999" y="1655999"/>
          <a:ext cx="11217599" cy="1122888"/>
        </p:xfrm>
        <a:graphic>
          <a:graphicData uri="http://schemas.openxmlformats.org/drawingml/2006/table">
            <a:tbl>
              <a:tblPr firstRow="0" bandRow="0">
                <a:tableStyleId>{5940675A-B579-460E-94D1-54222C63F5DA}</a:tableStyleId>
              </a:tblPr>
              <a:tblGrid>
                <a:gridCol w="2951999"/>
                <a:gridCol w="1180800"/>
                <a:gridCol w="1180800"/>
                <a:gridCol w="1180800"/>
                <a:gridCol w="1180800"/>
                <a:gridCol w="1180800"/>
                <a:gridCol w="1180800"/>
                <a:gridCol w="1180800"/>
              </a:tblGrid>
              <a:tr h="187148">
                <a:tc>
                  <a:txBody>
                    <a:bodyPr/>
                    <a:lstStyle/>
                    <a:p>
                      <a:pPr marL="0" indent="0" lvl="0">
                        <a:buNone/>
                      </a:pPr>
                      <a:r>
                        <a:rPr sz="850" b="1">
                          <a:solidFill>
                            <a:srgbClr val="FFFFFF"/>
                          </a:solidFill>
                          <a:latin typeface="Helvetica"/>
                        </a:rPr>
                        <a:t>Indicateur</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2020</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2021</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2022</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2023</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2024</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2025</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31/08/2026</a:t>
                      </a:r>
                    </a:p>
                  </a:txBody>
                  <a:tcPr marL="43200" marR="43200" marT="14400" marB="14400" anchor="ctr">
                    <a:solidFill>
                      <a:srgbClr val="060606"/>
                    </a:solidFill>
                  </a:tcPr>
                </a:tc>
              </a:tr>
              <a:tr h="187148">
                <a:tc>
                  <a:txBody>
                    <a:bodyPr/>
                    <a:lstStyle/>
                    <a:p>
                      <a:pPr marL="0" indent="0" lvl="0">
                        <a:buNone/>
                      </a:pPr>
                      <a:r>
                        <a:rPr sz="850" b="1">
                          <a:solidFill>
                            <a:srgbClr val="060606"/>
                          </a:solidFill>
                          <a:latin typeface="Helvetica"/>
                        </a:rPr>
                        <a:t>Réserve réelle (mois)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0,00</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0,00</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0,00</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3,25</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4,91</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5,01</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5,47</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Avec 20 % des excédents (mois)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0,00</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4,86</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32,17</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18,19</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11,52</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8,41</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9,77</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Conforme avec 20 %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Oui</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Non</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Avec 50 % des excédents (mois)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0,00</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12,14</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80,44</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45,47</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28,81</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21,03</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24,43</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Années d'excédent pour les fonds propres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30,40</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26,97</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20,09</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18,25</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20,38</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22,22</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26,18</a:t>
                      </a:r>
                    </a:p>
                  </a:txBody>
                  <a:tcPr marL="43200" marR="43200" marT="14400" marB="14400" anchor="ctr">
                    <a:solidFill>
                      <a:srgbClr val="FFFFFF"/>
                    </a:solidFill>
                  </a:tcPr>
                </a:tc>
              </a:tr>
            </a:tbl>
          </a:graphicData>
        </a:graphic>
      </p:graphicFrame>
      <p:sp>
        <p:nvSpPr>
          <p:cNvPr id="33" name="TextBox 32"/>
          <p:cNvSpPr txBox="1"/>
          <p:nvPr/>
        </p:nvSpPr>
        <p:spPr>
          <a:xfrm>
            <a:off x="503999" y="2886888"/>
            <a:ext cx="11232000" cy="306000"/>
          </a:xfrm>
          <a:prstGeom prst="rect">
            <a:avLst/>
          </a:prstGeom>
          <a:noFill/>
        </p:spPr>
        <p:txBody>
          <a:bodyPr wrap="square" anchor="t" lIns="54000" rIns="54000"/>
          <a:lstStyle/>
          <a:p>
            <a:pPr algn="l"/>
            <a:r>
              <a:rPr sz="850" b="0">
                <a:solidFill>
                  <a:srgbClr val="53565A"/>
                </a:solidFill>
                <a:latin typeface="Helvetica"/>
              </a:rPr>
              <a:t>Valable pour : dotation statutaire (statuts, art. 81 et 90) appliquée aux excédents de 2020 à 2025 des balances « BALANCE FORMAT EXCEL DE 09-2020 AU 31-12-2020.xlsx » à « BALANCE FPPN DU 01-01-2026 AU 31-08-2026.xlsx ».</a:t>
            </a:r>
          </a:p>
        </p:txBody>
      </p:sp>
      <p:sp>
        <p:nvSpPr>
          <p:cNvPr id="34" name="TextBox 33"/>
          <p:cNvSpPr txBox="1"/>
          <p:nvPr/>
        </p:nvSpPr>
        <p:spPr>
          <a:xfrm>
            <a:off x="503999" y="3336888"/>
            <a:ext cx="11232000" cy="2531111"/>
          </a:xfrm>
          <a:prstGeom prst="rect">
            <a:avLst/>
          </a:prstGeom>
          <a:noFill/>
        </p:spPr>
        <p:txBody>
          <a:bodyPr wrap="square" lIns="54000" rIns="54000"/>
          <a:lstStyle/>
          <a:p>
            <a:pPr algn="just">
              <a:spcAft>
                <a:spcPts val="600"/>
              </a:spcAft>
            </a:pPr>
            <a:r>
              <a:rPr sz="1300" b="1">
                <a:solidFill>
                  <a:srgbClr val="060606"/>
                </a:solidFill>
                <a:latin typeface="Helvetica"/>
              </a:rPr>
              <a:t>Une dotation de 20 % des excédents dès 2020 aurait donné une réserve conforme en 2025. Au-delà de 9 mois, la réserve dépasse la borne haute.</a:t>
            </a:r>
            <a:r>
              <a:rPr sz="1300" b="0">
                <a:solidFill>
                  <a:srgbClr val="060606"/>
                </a:solidFill>
                <a:latin typeface="Helvetica"/>
              </a:rPr>
              <a:t> Le problème de la réserve tient à l'affectation des excédents, pas à leur montant.</a:t>
            </a:r>
          </a:p>
          <a:p>
            <a:pPr algn="just">
              <a:spcAft>
                <a:spcPts val="600"/>
              </a:spcAft>
            </a:pPr>
            <a:r>
              <a:rPr sz="1300" b="1">
                <a:solidFill>
                  <a:srgbClr val="060606"/>
                </a:solidFill>
                <a:latin typeface="Helvetica"/>
              </a:rPr>
              <a:t>Les fonds propres demanderaient 22,22 années d'excédent moyen pour atteindre la norme</a:t>
            </a:r>
            <a:r>
              <a:rPr sz="1300" b="0">
                <a:solidFill>
                  <a:srgbClr val="060606"/>
                </a:solidFill>
                <a:latin typeface="Helvetica"/>
              </a:rPr>
              <a:t> : l'excédent seul ne peut pas les reconstituer dans un délai raisonnable.</a:t>
            </a:r>
          </a:p>
          <a:p>
            <a:pPr algn="just">
              <a:spcAft>
                <a:spcPts val="600"/>
              </a:spcAft>
            </a:pPr>
            <a:r>
              <a:rPr sz="1300" b="0">
                <a:solidFill>
                  <a:srgbClr val="060606"/>
                </a:solidFill>
                <a:latin typeface="Helvetica"/>
              </a:rPr>
              <a:t>La réserve obligatoire peut être mise en conformité par la seule application de l'article 90 des statuts. Les fonds propres demandent d'autres ressources (dons et legs, art. 81) ou une réduction des dettes, à inscrire dans le plan de redressement.</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a:t>
            </a:r>
          </a:p>
        </p:txBody>
      </p:sp>
    </p:spTree>
    <p:extLst>
      <p:ext uri="{BB962C8B-B14F-4D97-AF65-F5344CB8AC3E}">
        <p14:creationId xmlns:p14="http://schemas.microsoft.com/office/powerpoint/2010/main" val="1795221739"/>
      </p:ext>
    </p:extLst>
  </p:cSld>
  <p:clrMapOvr>
    <a:masterClrMapping/>
  </p:clrMapOvr>
  <p:transition>
    <p:fade/>
  </p:transition>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Les normes de flux ne peuvent pas être respectées ensemble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Avec les formules de la Décision, sinistralité, coût par unité prestée et excédent net se contredisent</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Il faudrait que les autres éléments du résultat soient une charge d'au moins 3,00 % des cotisations. Ils sont un produit de 6,63 % en 2025</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classeur des calculs, onglets 13a à 13i (formules). Décision n° 05/2022/COM/UEMOA du 1er juin 2022, annexe. Balances du FPPN. Calculs Adenka. Décision n° 05/2022/COM/UEMOA du 1er juin 2022, annexe, tableau 1, lignes 2 et 5. Tableau 2, lignes 5 et 10</a:t>
            </a:r>
          </a:p>
        </p:txBody>
      </p:sp>
      <p:sp>
        <p:nvSpPr>
          <p:cNvPr id="31" name="TextBox 30"/>
          <p:cNvSpPr txBox="1"/>
          <p:nvPr/>
        </p:nvSpPr>
        <p:spPr>
          <a:xfrm>
            <a:off x="503999" y="1386000"/>
            <a:ext cx="11217599" cy="216000"/>
          </a:xfrm>
          <a:prstGeom prst="rect">
            <a:avLst/>
          </a:prstGeom>
          <a:noFill/>
        </p:spPr>
        <p:txBody>
          <a:bodyPr wrap="square" anchor="t" lIns="54000" rIns="54000"/>
          <a:lstStyle/>
          <a:p>
            <a:pPr algn="ctr"/>
            <a:r>
              <a:rPr sz="1200" b="0">
                <a:solidFill>
                  <a:srgbClr val="EFAC62"/>
                </a:solidFill>
                <a:latin typeface="Helvetica"/>
              </a:rPr>
              <a:t>Tableau 103 : Condition de faisabilité conjointe des normes de flux</a:t>
            </a:r>
          </a:p>
        </p:txBody>
      </p:sp>
      <p:graphicFrame>
        <p:nvGraphicFramePr>
          <p:cNvPr id="32" name="Table 31"/>
          <p:cNvGraphicFramePr>
            <a:graphicFrameLocks noGrp="1"/>
          </p:cNvGraphicFramePr>
          <p:nvPr/>
        </p:nvGraphicFramePr>
        <p:xfrm>
          <a:off x="503999" y="1655999"/>
          <a:ext cx="11217599" cy="1122888"/>
        </p:xfrm>
        <a:graphic>
          <a:graphicData uri="http://schemas.openxmlformats.org/drawingml/2006/table">
            <a:tbl>
              <a:tblPr firstRow="0" bandRow="0">
                <a:tableStyleId>{5940675A-B579-460E-94D1-54222C63F5DA}</a:tableStyleId>
              </a:tblPr>
              <a:tblGrid>
                <a:gridCol w="2951999"/>
                <a:gridCol w="1180800"/>
                <a:gridCol w="1180800"/>
                <a:gridCol w="1180800"/>
                <a:gridCol w="1180800"/>
                <a:gridCol w="1180800"/>
                <a:gridCol w="1180800"/>
                <a:gridCol w="1180800"/>
              </a:tblGrid>
              <a:tr h="187148">
                <a:tc>
                  <a:txBody>
                    <a:bodyPr/>
                    <a:lstStyle/>
                    <a:p>
                      <a:pPr marL="0" indent="0" lvl="0">
                        <a:buNone/>
                      </a:pPr>
                      <a:r>
                        <a:rPr sz="850" b="1">
                          <a:solidFill>
                            <a:srgbClr val="FFFFFF"/>
                          </a:solidFill>
                          <a:latin typeface="Helvetica"/>
                        </a:rPr>
                        <a:t>Indicateur</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2020</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2021</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2022</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2023</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2024</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2025</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31/08/2026</a:t>
                      </a:r>
                    </a:p>
                  </a:txBody>
                  <a:tcPr marL="43200" marR="43200" marT="14400" marB="14400" anchor="ctr">
                    <a:solidFill>
                      <a:srgbClr val="060606"/>
                    </a:solidFill>
                  </a:tcPr>
                </a:tc>
              </a:tr>
              <a:tr h="187148">
                <a:tc>
                  <a:txBody>
                    <a:bodyPr/>
                    <a:lstStyle/>
                    <a:p>
                      <a:pPr marL="0" indent="0" lvl="0">
                        <a:buNone/>
                      </a:pPr>
                      <a:r>
                        <a:rPr sz="850" b="1">
                          <a:solidFill>
                            <a:srgbClr val="060606"/>
                          </a:solidFill>
                          <a:latin typeface="Helvetica"/>
                        </a:rPr>
                        <a:t>Autres éléments du résultat (A)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859 500 956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1 327 261 802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946 571 355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81 577 995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50 025 847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226 523 323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20 862 774 FCFA</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A en % des cotisations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36,57 %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54,77 %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37,05 %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2,94 %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1,59 %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6,63 %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0,87 %</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Seuil maximal de 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-3,00 %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-3,00 %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-3,00 %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-3,00 %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-3,00 %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-3,00 %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-3,00 %</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Normes conciliables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Non</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Exercices pour 6 mois de réserve à 5 % d'excédent</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0,89</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2,08</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0,91</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2,46</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4,03</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5,75</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7,52</a:t>
                      </a:r>
                    </a:p>
                  </a:txBody>
                  <a:tcPr marL="43200" marR="43200" marT="14400" marB="14400" anchor="ctr">
                    <a:solidFill>
                      <a:srgbClr val="FFFFFF"/>
                    </a:solidFill>
                  </a:tcPr>
                </a:tc>
              </a:tr>
            </a:tbl>
          </a:graphicData>
        </a:graphic>
      </p:graphicFrame>
      <p:sp>
        <p:nvSpPr>
          <p:cNvPr id="33" name="TextBox 32"/>
          <p:cNvSpPr txBox="1"/>
          <p:nvPr/>
        </p:nvSpPr>
        <p:spPr>
          <a:xfrm>
            <a:off x="503999" y="2886888"/>
            <a:ext cx="11232000" cy="162000"/>
          </a:xfrm>
          <a:prstGeom prst="rect">
            <a:avLst/>
          </a:prstGeom>
          <a:noFill/>
        </p:spPr>
        <p:txBody>
          <a:bodyPr wrap="square" anchor="t" lIns="54000" rIns="54000"/>
          <a:lstStyle/>
          <a:p>
            <a:pPr algn="l"/>
            <a:r>
              <a:rPr sz="850" b="0">
                <a:solidFill>
                  <a:srgbClr val="53565A"/>
                </a:solidFill>
                <a:latin typeface="Helvetica"/>
              </a:rPr>
              <a:t>Valable pour : normes du tableau 1 (lignes 2 et 5) et du tableau 2 de la Décision n° 05/2022, exercice 2025.</a:t>
            </a:r>
          </a:p>
        </p:txBody>
      </p:sp>
      <p:sp>
        <p:nvSpPr>
          <p:cNvPr id="34" name="TextBox 33"/>
          <p:cNvSpPr txBox="1"/>
          <p:nvPr/>
        </p:nvSpPr>
        <p:spPr>
          <a:xfrm>
            <a:off x="503999" y="3192888"/>
            <a:ext cx="11232000" cy="2675111"/>
          </a:xfrm>
          <a:prstGeom prst="rect">
            <a:avLst/>
          </a:prstGeom>
          <a:noFill/>
        </p:spPr>
        <p:txBody>
          <a:bodyPr wrap="square" lIns="54000" rIns="54000"/>
          <a:lstStyle/>
          <a:p>
            <a:pPr algn="just">
              <a:spcAft>
                <a:spcPts val="600"/>
              </a:spcAft>
            </a:pPr>
            <a:r>
              <a:rPr sz="1300" b="1">
                <a:solidFill>
                  <a:srgbClr val="060606"/>
                </a:solidFill>
                <a:latin typeface="Helvetica"/>
              </a:rPr>
              <a:t>Tant que les produits financiers et autres produits dépassent les autres charges, aucune combinaison des cotisations, des prestations et des frais ne respecte en même temps la sinistralité, le coût par unité prestée et l'excédent net.</a:t>
            </a:r>
          </a:p>
          <a:p>
            <a:pPr algn="just">
              <a:spcAft>
                <a:spcPts val="600"/>
              </a:spcAft>
            </a:pPr>
            <a:r>
              <a:rPr sz="1300" b="1">
                <a:solidFill>
                  <a:srgbClr val="060606"/>
                </a:solidFill>
                <a:latin typeface="Helvetica"/>
              </a:rPr>
              <a:t>Les normes se contraignent aussi dans le temps</a:t>
            </a:r>
            <a:r>
              <a:rPr sz="1300" b="0">
                <a:solidFill>
                  <a:srgbClr val="060606"/>
                </a:solidFill>
                <a:latin typeface="Helvetica"/>
              </a:rPr>
              <a:t> : avec un excédent plafonné à 5 % et la sinistralité de 2025, constituer six mois de réserve prend 5,75 exercices.</a:t>
            </a:r>
          </a:p>
          <a:p>
            <a:pPr algn="just">
              <a:spcAft>
                <a:spcPts val="600"/>
              </a:spcAft>
            </a:pPr>
            <a:r>
              <a:rPr sz="1300" b="0">
                <a:solidFill>
                  <a:srgbClr val="060606"/>
                </a:solidFill>
                <a:latin typeface="Helvetica"/>
              </a:rPr>
              <a:t>Cette tension tient aux formules du texte, pas à la gestion du FPPN. Elle doit être exposée à l'AIRMS : le plan de mise en conformité doit dire quels ratios de flux sont visés en priorité et sur quel horizon.</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AIRMS : Agence ivoirienne de régulation de la mutualité sociale | UEMOA : Union économique et monétaire ouest-africaine</a:t>
            </a:r>
          </a:p>
        </p:txBody>
      </p:sp>
    </p:spTree>
    <p:extLst>
      <p:ext uri="{BB962C8B-B14F-4D97-AF65-F5344CB8AC3E}">
        <p14:creationId xmlns:p14="http://schemas.microsoft.com/office/powerpoint/2010/main" val="1601508335"/>
      </p:ext>
    </p:extLst>
  </p:cSld>
  <p:clrMapOvr>
    <a:masterClrMapping/>
  </p:clrMapOvr>
  <p:transition>
    <p:fade/>
  </p:transition>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Inflation médicale : sous-indices de prix de la santé</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prix des analyses et de l'imagerie ont le plus augmenté depuis 2020</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Inflation médicale pondérée par les prestations du FPPN : 3,21 % par an en moyenne de 2021 à 2024, 8,04 % au plus (2022)</a:t>
            </a:r>
          </a:p>
        </p:txBody>
      </p:sp>
      <p:sp>
        <p:nvSpPr>
          <p:cNvPr id="30" name="TextBox 29"/>
          <p:cNvSpPr txBox="1"/>
          <p:nvPr/>
        </p:nvSpPr>
        <p:spPr>
          <a:xfrm>
            <a:off x="503999" y="1386000"/>
            <a:ext cx="5976000" cy="251999"/>
          </a:xfrm>
          <a:prstGeom prst="rect">
            <a:avLst/>
          </a:prstGeom>
          <a:noFill/>
        </p:spPr>
        <p:txBody>
          <a:bodyPr wrap="square">
            <a:spAutoFit/>
          </a:bodyPr>
          <a:lstStyle/>
          <a:p>
            <a:pPr algn="ctr">
              <a:spcAft>
                <a:spcPts val="0"/>
              </a:spcAft>
            </a:pPr>
            <a:r>
              <a:rPr sz="1200" b="0">
                <a:solidFill>
                  <a:srgbClr val="EFAC62"/>
                </a:solidFill>
                <a:latin typeface="Helvetica"/>
              </a:rPr>
              <a:t>Figure 38 : Variation annuelle des prix de la santé retenus et inflation pondérée du FPPN</a:t>
            </a:r>
          </a:p>
        </p:txBody>
      </p:sp>
      <p:sp>
        <p:nvSpPr>
          <p:cNvPr id="31" name="TextBox 30"/>
          <p:cNvSpPr txBox="1"/>
          <p:nvPr/>
        </p:nvSpPr>
        <p:spPr>
          <a:xfrm>
            <a:off x="503999" y="1602000"/>
            <a:ext cx="5976000" cy="162000"/>
          </a:xfrm>
          <a:prstGeom prst="rect">
            <a:avLst/>
          </a:prstGeom>
          <a:noFill/>
        </p:spPr>
        <p:txBody>
          <a:bodyPr wrap="square">
            <a:spAutoFit/>
          </a:bodyPr>
          <a:lstStyle/>
          <a:p>
            <a:pPr algn="l">
              <a:spcAft>
                <a:spcPts val="0"/>
              </a:spcAft>
            </a:pPr>
            <a:r>
              <a:rPr sz="900" b="0">
                <a:solidFill>
                  <a:srgbClr val="060606"/>
                </a:solidFill>
                <a:latin typeface="Helvetica"/>
              </a:rPr>
              <a:t>En %. 2024 : glissement d'octobre pour l'inflation pondérée, moyenne de janvier à octobre pour les postes</a:t>
            </a:r>
          </a:p>
        </p:txBody>
      </p:sp>
      <p:graphicFrame>
        <p:nvGraphicFramePr>
          <p:cNvPr id="32" name="Chart 31"/>
          <p:cNvGraphicFramePr>
            <a:graphicFrameLocks noGrp="1"/>
          </p:cNvGraphicFramePr>
          <p:nvPr/>
        </p:nvGraphicFramePr>
        <p:xfrm>
          <a:off x="503999" y="1782000"/>
          <a:ext cx="5976000" cy="3744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ANStat, IHPC par poste de consommation (national), extraction du 19/10/2026. BCEAO, Rapport sur la Politique Monétaire dans l'UMOA, mars 2026, tableau 12. Prestations du FPPN (balances 2025). Classeur des calculs, onglet 13g</a:t>
            </a:r>
          </a:p>
        </p:txBody>
      </p:sp>
      <p:sp>
        <p:nvSpPr>
          <p:cNvPr id="34" name="TextBox 33"/>
          <p:cNvSpPr txBox="1"/>
          <p:nvPr/>
        </p:nvSpPr>
        <p:spPr>
          <a:xfrm>
            <a:off x="6696000" y="1440000"/>
            <a:ext cx="5040000" cy="4428000"/>
          </a:xfrm>
          <a:prstGeom prst="rect">
            <a:avLst/>
          </a:prstGeom>
          <a:noFill/>
        </p:spPr>
        <p:txBody>
          <a:bodyPr wrap="square" lIns="54000" rIns="54000"/>
          <a:lstStyle/>
          <a:p>
            <a:pPr algn="just">
              <a:spcAft>
                <a:spcPts val="600"/>
              </a:spcAft>
            </a:pPr>
            <a:r>
              <a:rPr sz="1400" b="1">
                <a:solidFill>
                  <a:srgbClr val="060606"/>
                </a:solidFill>
                <a:latin typeface="Helvetica"/>
              </a:rPr>
              <a:t>Les analyses et l'imagerie, qui pèsent 67,31 % des prestations détaillées du FPPN, ont connu un saut de prix en 2022.</a:t>
            </a:r>
            <a:r>
              <a:rPr sz="1400" b="0">
                <a:solidFill>
                  <a:srgbClr val="060606"/>
                </a:solidFill>
                <a:latin typeface="Helvetica"/>
              </a:rPr>
              <a:t> L'indice passe de 102,79 en avril à 124,25 en juillet 2022.</a:t>
            </a:r>
          </a:p>
          <a:p>
            <a:pPr algn="just">
              <a:spcAft>
                <a:spcPts val="600"/>
              </a:spcAft>
            </a:pPr>
            <a:r>
              <a:rPr sz="1400" b="1">
                <a:solidFill>
                  <a:srgbClr val="060606"/>
                </a:solidFill>
                <a:latin typeface="Helvetica"/>
              </a:rPr>
              <a:t>En 2025, faute de série ANStat, l'inflation de la santé de l'UEMOA est négative (-1,87 % en moyenne de trois trimestres)</a:t>
            </a:r>
            <a:r>
              <a:rPr sz="1400" b="0">
                <a:solidFill>
                  <a:srgbClr val="060606"/>
                </a:solidFill>
                <a:latin typeface="Helvetica"/>
              </a:rPr>
              <a:t> selon la BCEAO.</a:t>
            </a:r>
          </a:p>
          <a:p>
            <a:pPr algn="just">
              <a:spcAft>
                <a:spcPts val="600"/>
              </a:spcAft>
            </a:pPr>
            <a:r>
              <a:rPr sz="1400" b="0">
                <a:solidFill>
                  <a:srgbClr val="060606"/>
                </a:solidFill>
                <a:latin typeface="Helvetica"/>
              </a:rPr>
              <a:t>Les prix de la santé ont augmenté d'au plus 8,04 % par an, alors que les prestations maladie ont été multipliées par 8,61 de 2020 à 2025 : l'essentiel de la hausse vient du volume des soins, pas des prix. Après octobre 2024, seule la série de l'UEMOA publiée par la BCEAO est disponible : elle ne montre pas de hausse des prix de la santé en 2025.</a:t>
            </a:r>
          </a:p>
        </p:txBody>
      </p:sp>
      <p:sp>
        <p:nvSpPr>
          <p:cNvPr id="35" name="TextBox 34"/>
          <p:cNvSpPr txBox="1"/>
          <p:nvPr/>
        </p:nvSpPr>
        <p:spPr>
          <a:xfrm>
            <a:off x="503999" y="5526000"/>
            <a:ext cx="5976000" cy="306000"/>
          </a:xfrm>
          <a:prstGeom prst="rect">
            <a:avLst/>
          </a:prstGeom>
          <a:noFill/>
        </p:spPr>
        <p:txBody>
          <a:bodyPr wrap="square" anchor="t" lIns="54000" rIns="54000"/>
          <a:lstStyle/>
          <a:p>
            <a:pPr algn="l"/>
            <a:r>
              <a:rPr sz="850" b="0">
                <a:solidFill>
                  <a:srgbClr val="53565A"/>
                </a:solidFill>
                <a:latin typeface="Helvetica"/>
              </a:rPr>
              <a:t>Valable pour : IHPC santé de l'ANStat (national, extraction du 19/10/2026), 2020 à 2025, pondéré par les prestations maladie 2025 du FPPN.</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Sigles : FPPN : Fonds de prévoyance de la Police nationale | UEMOA : Union économique et monétaire ouest-africaine | BCEAO : Banque centrale des États de l'Afrique de l'Ouest | ANStat : Agence nationale de la statistique de Côte d'Ivoire | IHPC : indice harmonisé des prix à la consommation | UMOA : Union monétaire ouest-africaine</a:t>
            </a:r>
          </a:p>
        </p:txBody>
      </p:sp>
    </p:spTree>
    <p:extLst>
      <p:ext uri="{BB962C8B-B14F-4D97-AF65-F5344CB8AC3E}">
        <p14:creationId xmlns:p14="http://schemas.microsoft.com/office/powerpoint/2010/main" val="1213102656"/>
      </p:ext>
    </p:extLst>
  </p:cSld>
  <p:clrMapOvr>
    <a:masterClrMapping/>
  </p:clrMapOvr>
  <p:transition>
    <p:fade/>
  </p:transition>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Sinistralité face à une hausse des prestations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Une hausse de 6,39 % des prestations de 2026 ferait dépasser 80 %</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Seuil de dépassement : 6,39 % de hausse sur 2026. L'inflation pondérée maximale observée (8,04 %) le franchirait</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classeur des calculs, onglet 13g. ANStat. Décision n° 05/2022/COM/UEMOA du 1er juin 2022, annexe, tableau 1, ligne 5</a:t>
            </a:r>
          </a:p>
        </p:txBody>
      </p:sp>
      <p:sp>
        <p:nvSpPr>
          <p:cNvPr id="31" name="TextBox 30"/>
          <p:cNvSpPr txBox="1"/>
          <p:nvPr/>
        </p:nvSpPr>
        <p:spPr>
          <a:xfrm>
            <a:off x="503999" y="1386000"/>
            <a:ext cx="7056000" cy="216000"/>
          </a:xfrm>
          <a:prstGeom prst="rect">
            <a:avLst/>
          </a:prstGeom>
          <a:noFill/>
        </p:spPr>
        <p:txBody>
          <a:bodyPr wrap="square" anchor="t" lIns="54000" rIns="54000"/>
          <a:lstStyle/>
          <a:p>
            <a:pPr algn="ctr"/>
            <a:r>
              <a:rPr sz="1200" b="0">
                <a:solidFill>
                  <a:srgbClr val="EFAC62"/>
                </a:solidFill>
                <a:latin typeface="Helvetica"/>
              </a:rPr>
              <a:t>Tableau 104 : Sinistralité selon la hausse des prestations</a:t>
            </a:r>
          </a:p>
        </p:txBody>
      </p:sp>
      <p:graphicFrame>
        <p:nvGraphicFramePr>
          <p:cNvPr id="32" name="Table 31"/>
          <p:cNvGraphicFramePr>
            <a:graphicFrameLocks noGrp="1"/>
          </p:cNvGraphicFramePr>
          <p:nvPr/>
        </p:nvGraphicFramePr>
        <p:xfrm>
          <a:off x="503999" y="1655999"/>
          <a:ext cx="7056000" cy="2222018"/>
        </p:xfrm>
        <a:graphic>
          <a:graphicData uri="http://schemas.openxmlformats.org/drawingml/2006/table">
            <a:tbl>
              <a:tblPr firstRow="0" bandRow="0">
                <a:tableStyleId>{5940675A-B579-460E-94D1-54222C63F5DA}</a:tableStyleId>
              </a:tblPr>
              <a:tblGrid>
                <a:gridCol w="2116800"/>
                <a:gridCol w="1360800"/>
                <a:gridCol w="1108800"/>
                <a:gridCol w="1360800"/>
                <a:gridCol w="1108800"/>
              </a:tblGrid>
              <a:tr h="194768">
                <a:tc>
                  <a:txBody>
                    <a:bodyPr/>
                    <a:lstStyle/>
                    <a:p>
                      <a:pPr marL="0" indent="0" lvl="0">
                        <a:buNone/>
                      </a:pPr>
                      <a:r>
                        <a:rPr sz="900" b="1">
                          <a:solidFill>
                            <a:srgbClr val="FFFFFF"/>
                          </a:solidFill>
                          <a:latin typeface="Helvetica"/>
                        </a:rPr>
                        <a:t>Hausse des prestations</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Sinistralité 2025</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Conforme 2025 ?</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Sinistralité 2026</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Conforme 2026 ?</a:t>
                      </a:r>
                    </a:p>
                  </a:txBody>
                  <a:tcPr marL="43200" marR="43200" marT="14400" marB="14400" anchor="ctr">
                    <a:solidFill>
                      <a:srgbClr val="060606"/>
                    </a:solidFill>
                  </a:tcPr>
                </a:tc>
              </a:tr>
              <a:tr h="194768">
                <a:tc>
                  <a:txBody>
                    <a:bodyPr/>
                    <a:lstStyle/>
                    <a:p>
                      <a:pPr marL="0" indent="0" lvl="0">
                        <a:buNone/>
                      </a:pPr>
                      <a:r>
                        <a:rPr sz="900" b="1">
                          <a:solidFill>
                            <a:srgbClr val="060606"/>
                          </a:solidFill>
                          <a:latin typeface="Helvetica"/>
                        </a:rPr>
                        <a:t>-2,00 %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56,33 %</a:t>
                      </a:r>
                    </a:p>
                  </a:txBody>
                  <a:tcPr marL="43200" marR="43200" marT="14400" marB="14400" anchor="ctr">
                    <a:solidFill>
                      <a:srgbClr val="FFFFFF"/>
                    </a:solidFill>
                  </a:tcPr>
                </a:tc>
                <a:tc>
                  <a:txBody>
                    <a:bodyPr/>
                    <a:lstStyle/>
                    <a:p>
                      <a:pPr marL="0" indent="0" lvl="0">
                        <a:buNone/>
                      </a:pPr>
                      <a:r>
                        <a:rPr sz="900" b="1">
                          <a:solidFill>
                            <a:srgbClr val="FFFFFF"/>
                          </a:solidFill>
                          <a:latin typeface="Helvetica"/>
                        </a:rPr>
                        <a:t>Non</a:t>
                      </a:r>
                    </a:p>
                  </a:txBody>
                  <a:tcPr marL="43200" marR="43200" marT="14400" marB="14400" anchor="ctr">
                    <a:solidFill>
                      <a:srgbClr val="C00000"/>
                    </a:solidFill>
                  </a:tcPr>
                </a:tc>
                <a:tc>
                  <a:txBody>
                    <a:bodyPr/>
                    <a:lstStyle/>
                    <a:p>
                      <a:pPr marL="0" indent="0" lvl="0">
                        <a:buNone/>
                      </a:pPr>
                      <a:r>
                        <a:rPr sz="900" b="0">
                          <a:solidFill>
                            <a:srgbClr val="060606"/>
                          </a:solidFill>
                          <a:latin typeface="Helvetica"/>
                        </a:rPr>
                        <a:t>73,69 %</a:t>
                      </a:r>
                    </a:p>
                  </a:txBody>
                  <a:tcPr marL="43200" marR="43200" marT="14400" marB="14400" anchor="ctr">
                    <a:solidFill>
                      <a:srgbClr val="FFFFFF"/>
                    </a:solidFill>
                  </a:tcPr>
                </a:tc>
                <a:tc>
                  <a:txBody>
                    <a:bodyPr/>
                    <a:lstStyle/>
                    <a:p>
                      <a:pPr marL="0" indent="0" lvl="0">
                        <a:buNone/>
                      </a:pPr>
                      <a:r>
                        <a:rPr sz="900" b="1">
                          <a:solidFill>
                            <a:srgbClr val="060606"/>
                          </a:solidFill>
                          <a:latin typeface="Helvetica"/>
                        </a:rPr>
                        <a:t>Oui</a:t>
                      </a:r>
                    </a:p>
                  </a:txBody>
                  <a:tcPr marL="43200" marR="43200" marT="14400" marB="14400" anchor="ctr">
                    <a:solidFill>
                      <a:srgbClr val="70AD47"/>
                    </a:solidFill>
                  </a:tcPr>
                </a:tc>
              </a:tr>
              <a:tr h="194768">
                <a:tc>
                  <a:txBody>
                    <a:bodyPr/>
                    <a:lstStyle/>
                    <a:p>
                      <a:pPr marL="0" indent="0" lvl="0">
                        <a:buNone/>
                      </a:pPr>
                      <a:r>
                        <a:rPr sz="900" b="1">
                          <a:solidFill>
                            <a:srgbClr val="060606"/>
                          </a:solidFill>
                          <a:latin typeface="Helvetica"/>
                        </a:rPr>
                        <a:t>0,00 %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57,48 %</a:t>
                      </a:r>
                    </a:p>
                  </a:txBody>
                  <a:tcPr marL="43200" marR="43200" marT="14400" marB="14400" anchor="ctr">
                    <a:solidFill>
                      <a:srgbClr val="F2F2F2"/>
                    </a:solidFill>
                  </a:tcPr>
                </a:tc>
                <a:tc>
                  <a:txBody>
                    <a:bodyPr/>
                    <a:lstStyle/>
                    <a:p>
                      <a:pPr marL="0" indent="0" lvl="0">
                        <a:buNone/>
                      </a:pPr>
                      <a:r>
                        <a:rPr sz="900" b="1">
                          <a:solidFill>
                            <a:srgbClr val="FFFFFF"/>
                          </a:solidFill>
                          <a:latin typeface="Helvetica"/>
                        </a:rPr>
                        <a:t>Non</a:t>
                      </a:r>
                    </a:p>
                  </a:txBody>
                  <a:tcPr marL="43200" marR="43200" marT="14400" marB="14400" anchor="ctr">
                    <a:solidFill>
                      <a:srgbClr val="C00000"/>
                    </a:solidFill>
                  </a:tcPr>
                </a:tc>
                <a:tc>
                  <a:txBody>
                    <a:bodyPr/>
                    <a:lstStyle/>
                    <a:p>
                      <a:pPr marL="0" indent="0" lvl="0">
                        <a:buNone/>
                      </a:pPr>
                      <a:r>
                        <a:rPr sz="900" b="0">
                          <a:solidFill>
                            <a:srgbClr val="060606"/>
                          </a:solidFill>
                          <a:latin typeface="Helvetica"/>
                        </a:rPr>
                        <a:t>75,20 %</a:t>
                      </a:r>
                    </a:p>
                  </a:txBody>
                  <a:tcPr marL="43200" marR="43200" marT="14400" marB="14400" anchor="ctr">
                    <a:solidFill>
                      <a:srgbClr val="F2F2F2"/>
                    </a:solidFill>
                  </a:tcPr>
                </a:tc>
                <a:tc>
                  <a:txBody>
                    <a:bodyPr/>
                    <a:lstStyle/>
                    <a:p>
                      <a:pPr marL="0" indent="0" lvl="0">
                        <a:buNone/>
                      </a:pPr>
                      <a:r>
                        <a:rPr sz="900" b="1">
                          <a:solidFill>
                            <a:srgbClr val="060606"/>
                          </a:solidFill>
                          <a:latin typeface="Helvetica"/>
                        </a:rPr>
                        <a:t>Oui</a:t>
                      </a:r>
                    </a:p>
                  </a:txBody>
                  <a:tcPr marL="43200" marR="43200" marT="14400" marB="14400" anchor="ctr">
                    <a:solidFill>
                      <a:srgbClr val="70AD47"/>
                    </a:solidFill>
                  </a:tcPr>
                </a:tc>
              </a:tr>
              <a:tr h="194768">
                <a:tc>
                  <a:txBody>
                    <a:bodyPr/>
                    <a:lstStyle/>
                    <a:p>
                      <a:pPr marL="0" indent="0" lvl="0">
                        <a:buNone/>
                      </a:pPr>
                      <a:r>
                        <a:rPr sz="900" b="1">
                          <a:solidFill>
                            <a:srgbClr val="060606"/>
                          </a:solidFill>
                          <a:latin typeface="Helvetica"/>
                        </a:rPr>
                        <a:t>2,00 %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58,63 %</a:t>
                      </a:r>
                    </a:p>
                  </a:txBody>
                  <a:tcPr marL="43200" marR="43200" marT="14400" marB="14400" anchor="ctr">
                    <a:solidFill>
                      <a:srgbClr val="FFFFFF"/>
                    </a:solidFill>
                  </a:tcPr>
                </a:tc>
                <a:tc>
                  <a:txBody>
                    <a:bodyPr/>
                    <a:lstStyle/>
                    <a:p>
                      <a:pPr marL="0" indent="0" lvl="0">
                        <a:buNone/>
                      </a:pPr>
                      <a:r>
                        <a:rPr sz="900" b="1">
                          <a:solidFill>
                            <a:srgbClr val="FFFFFF"/>
                          </a:solidFill>
                          <a:latin typeface="Helvetica"/>
                        </a:rPr>
                        <a:t>Non</a:t>
                      </a:r>
                    </a:p>
                  </a:txBody>
                  <a:tcPr marL="43200" marR="43200" marT="14400" marB="14400" anchor="ctr">
                    <a:solidFill>
                      <a:srgbClr val="C00000"/>
                    </a:solidFill>
                  </a:tcPr>
                </a:tc>
                <a:tc>
                  <a:txBody>
                    <a:bodyPr/>
                    <a:lstStyle/>
                    <a:p>
                      <a:pPr marL="0" indent="0" lvl="0">
                        <a:buNone/>
                      </a:pPr>
                      <a:r>
                        <a:rPr sz="900" b="0">
                          <a:solidFill>
                            <a:srgbClr val="060606"/>
                          </a:solidFill>
                          <a:latin typeface="Helvetica"/>
                        </a:rPr>
                        <a:t>76,70 %</a:t>
                      </a:r>
                    </a:p>
                  </a:txBody>
                  <a:tcPr marL="43200" marR="43200" marT="14400" marB="14400" anchor="ctr">
                    <a:solidFill>
                      <a:srgbClr val="FFFFFF"/>
                    </a:solidFill>
                  </a:tcPr>
                </a:tc>
                <a:tc>
                  <a:txBody>
                    <a:bodyPr/>
                    <a:lstStyle/>
                    <a:p>
                      <a:pPr marL="0" indent="0" lvl="0">
                        <a:buNone/>
                      </a:pPr>
                      <a:r>
                        <a:rPr sz="900" b="1">
                          <a:solidFill>
                            <a:srgbClr val="060606"/>
                          </a:solidFill>
                          <a:latin typeface="Helvetica"/>
                        </a:rPr>
                        <a:t>Oui</a:t>
                      </a:r>
                    </a:p>
                  </a:txBody>
                  <a:tcPr marL="43200" marR="43200" marT="14400" marB="14400" anchor="ctr">
                    <a:solidFill>
                      <a:srgbClr val="70AD47"/>
                    </a:solidFill>
                  </a:tcPr>
                </a:tc>
              </a:tr>
              <a:tr h="194768">
                <a:tc>
                  <a:txBody>
                    <a:bodyPr/>
                    <a:lstStyle/>
                    <a:p>
                      <a:pPr marL="0" indent="0" lvl="0">
                        <a:buNone/>
                      </a:pPr>
                      <a:r>
                        <a:rPr sz="900" b="1">
                          <a:solidFill>
                            <a:srgbClr val="060606"/>
                          </a:solidFill>
                          <a:latin typeface="Helvetica"/>
                        </a:rPr>
                        <a:t>4,00 %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59,78 %</a:t>
                      </a:r>
                    </a:p>
                  </a:txBody>
                  <a:tcPr marL="43200" marR="43200" marT="14400" marB="14400" anchor="ctr">
                    <a:solidFill>
                      <a:srgbClr val="F2F2F2"/>
                    </a:solidFill>
                  </a:tcPr>
                </a:tc>
                <a:tc>
                  <a:txBody>
                    <a:bodyPr/>
                    <a:lstStyle/>
                    <a:p>
                      <a:pPr marL="0" indent="0" lvl="0">
                        <a:buNone/>
                      </a:pPr>
                      <a:r>
                        <a:rPr sz="900" b="1">
                          <a:solidFill>
                            <a:srgbClr val="FFFFFF"/>
                          </a:solidFill>
                          <a:latin typeface="Helvetica"/>
                        </a:rPr>
                        <a:t>Non</a:t>
                      </a:r>
                    </a:p>
                  </a:txBody>
                  <a:tcPr marL="43200" marR="43200" marT="14400" marB="14400" anchor="ctr">
                    <a:solidFill>
                      <a:srgbClr val="C00000"/>
                    </a:solidFill>
                  </a:tcPr>
                </a:tc>
                <a:tc>
                  <a:txBody>
                    <a:bodyPr/>
                    <a:lstStyle/>
                    <a:p>
                      <a:pPr marL="0" indent="0" lvl="0">
                        <a:buNone/>
                      </a:pPr>
                      <a:r>
                        <a:rPr sz="900" b="0">
                          <a:solidFill>
                            <a:srgbClr val="060606"/>
                          </a:solidFill>
                          <a:latin typeface="Helvetica"/>
                        </a:rPr>
                        <a:t>78,20 %</a:t>
                      </a:r>
                    </a:p>
                  </a:txBody>
                  <a:tcPr marL="43200" marR="43200" marT="14400" marB="14400" anchor="ctr">
                    <a:solidFill>
                      <a:srgbClr val="F2F2F2"/>
                    </a:solidFill>
                  </a:tcPr>
                </a:tc>
                <a:tc>
                  <a:txBody>
                    <a:bodyPr/>
                    <a:lstStyle/>
                    <a:p>
                      <a:pPr marL="0" indent="0" lvl="0">
                        <a:buNone/>
                      </a:pPr>
                      <a:r>
                        <a:rPr sz="900" b="1">
                          <a:solidFill>
                            <a:srgbClr val="060606"/>
                          </a:solidFill>
                          <a:latin typeface="Helvetica"/>
                        </a:rPr>
                        <a:t>Oui</a:t>
                      </a:r>
                    </a:p>
                  </a:txBody>
                  <a:tcPr marL="43200" marR="43200" marT="14400" marB="14400" anchor="ctr">
                    <a:solidFill>
                      <a:srgbClr val="70AD47"/>
                    </a:solidFill>
                  </a:tcPr>
                </a:tc>
              </a:tr>
              <a:tr h="194768">
                <a:tc>
                  <a:txBody>
                    <a:bodyPr/>
                    <a:lstStyle/>
                    <a:p>
                      <a:pPr marL="0" indent="0" lvl="0">
                        <a:buNone/>
                      </a:pPr>
                      <a:r>
                        <a:rPr sz="900" b="1">
                          <a:solidFill>
                            <a:srgbClr val="060606"/>
                          </a:solidFill>
                          <a:latin typeface="Helvetica"/>
                        </a:rPr>
                        <a:t>6,00 %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60,93 %</a:t>
                      </a:r>
                    </a:p>
                  </a:txBody>
                  <a:tcPr marL="43200" marR="43200" marT="14400" marB="14400" anchor="ctr">
                    <a:solidFill>
                      <a:srgbClr val="FFFFFF"/>
                    </a:solidFill>
                  </a:tcPr>
                </a:tc>
                <a:tc>
                  <a:txBody>
                    <a:bodyPr/>
                    <a:lstStyle/>
                    <a:p>
                      <a:pPr marL="0" indent="0" lvl="0">
                        <a:buNone/>
                      </a:pPr>
                      <a:r>
                        <a:rPr sz="900" b="1">
                          <a:solidFill>
                            <a:srgbClr val="FFFFFF"/>
                          </a:solidFill>
                          <a:latin typeface="Helvetica"/>
                        </a:rPr>
                        <a:t>Non</a:t>
                      </a:r>
                    </a:p>
                  </a:txBody>
                  <a:tcPr marL="43200" marR="43200" marT="14400" marB="14400" anchor="ctr">
                    <a:solidFill>
                      <a:srgbClr val="C00000"/>
                    </a:solidFill>
                  </a:tcPr>
                </a:tc>
                <a:tc>
                  <a:txBody>
                    <a:bodyPr/>
                    <a:lstStyle/>
                    <a:p>
                      <a:pPr marL="0" indent="0" lvl="0">
                        <a:buNone/>
                      </a:pPr>
                      <a:r>
                        <a:rPr sz="900" b="0">
                          <a:solidFill>
                            <a:srgbClr val="060606"/>
                          </a:solidFill>
                          <a:latin typeface="Helvetica"/>
                        </a:rPr>
                        <a:t>79,71 %</a:t>
                      </a:r>
                    </a:p>
                  </a:txBody>
                  <a:tcPr marL="43200" marR="43200" marT="14400" marB="14400" anchor="ctr">
                    <a:solidFill>
                      <a:srgbClr val="FFFFFF"/>
                    </a:solidFill>
                  </a:tcPr>
                </a:tc>
                <a:tc>
                  <a:txBody>
                    <a:bodyPr/>
                    <a:lstStyle/>
                    <a:p>
                      <a:pPr marL="0" indent="0" lvl="0">
                        <a:buNone/>
                      </a:pPr>
                      <a:r>
                        <a:rPr sz="900" b="1">
                          <a:solidFill>
                            <a:srgbClr val="060606"/>
                          </a:solidFill>
                          <a:latin typeface="Helvetica"/>
                        </a:rPr>
                        <a:t>Oui</a:t>
                      </a:r>
                    </a:p>
                  </a:txBody>
                  <a:tcPr marL="43200" marR="43200" marT="14400" marB="14400" anchor="ctr">
                    <a:solidFill>
                      <a:srgbClr val="70AD47"/>
                    </a:solidFill>
                  </a:tcPr>
                </a:tc>
              </a:tr>
              <a:tr h="194768">
                <a:tc>
                  <a:txBody>
                    <a:bodyPr/>
                    <a:lstStyle/>
                    <a:p>
                      <a:pPr marL="0" indent="0" lvl="0">
                        <a:buNone/>
                      </a:pPr>
                      <a:r>
                        <a:rPr sz="900" b="1">
                          <a:solidFill>
                            <a:srgbClr val="060606"/>
                          </a:solidFill>
                          <a:latin typeface="Helvetica"/>
                        </a:rPr>
                        <a:t>8,00 %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62,08 %</a:t>
                      </a:r>
                    </a:p>
                  </a:txBody>
                  <a:tcPr marL="43200" marR="43200" marT="14400" marB="14400" anchor="ctr">
                    <a:solidFill>
                      <a:srgbClr val="F2F2F2"/>
                    </a:solidFill>
                  </a:tcPr>
                </a:tc>
                <a:tc>
                  <a:txBody>
                    <a:bodyPr/>
                    <a:lstStyle/>
                    <a:p>
                      <a:pPr marL="0" indent="0" lvl="0">
                        <a:buNone/>
                      </a:pPr>
                      <a:r>
                        <a:rPr sz="900" b="1">
                          <a:solidFill>
                            <a:srgbClr val="FFFFFF"/>
                          </a:solidFill>
                          <a:latin typeface="Helvetica"/>
                        </a:rPr>
                        <a:t>Non</a:t>
                      </a:r>
                    </a:p>
                  </a:txBody>
                  <a:tcPr marL="43200" marR="43200" marT="14400" marB="14400" anchor="ctr">
                    <a:solidFill>
                      <a:srgbClr val="C00000"/>
                    </a:solidFill>
                  </a:tcPr>
                </a:tc>
                <a:tc>
                  <a:txBody>
                    <a:bodyPr/>
                    <a:lstStyle/>
                    <a:p>
                      <a:pPr marL="0" indent="0" lvl="0">
                        <a:buNone/>
                      </a:pPr>
                      <a:r>
                        <a:rPr sz="900" b="0">
                          <a:solidFill>
                            <a:srgbClr val="060606"/>
                          </a:solidFill>
                          <a:latin typeface="Helvetica"/>
                        </a:rPr>
                        <a:t>81,21 %</a:t>
                      </a:r>
                    </a:p>
                  </a:txBody>
                  <a:tcPr marL="43200" marR="43200" marT="14400" marB="14400" anchor="ctr">
                    <a:solidFill>
                      <a:srgbClr val="F2F2F2"/>
                    </a:solidFill>
                  </a:tcPr>
                </a:tc>
                <a:tc>
                  <a:txBody>
                    <a:bodyPr/>
                    <a:lstStyle/>
                    <a:p>
                      <a:pPr marL="0" indent="0" lvl="0">
                        <a:buNone/>
                      </a:pPr>
                      <a:r>
                        <a:rPr sz="900" b="1">
                          <a:solidFill>
                            <a:srgbClr val="FFFFFF"/>
                          </a:solidFill>
                          <a:latin typeface="Helvetica"/>
                        </a:rPr>
                        <a:t>Non</a:t>
                      </a:r>
                    </a:p>
                  </a:txBody>
                  <a:tcPr marL="43200" marR="43200" marT="14400" marB="14400" anchor="ctr">
                    <a:solidFill>
                      <a:srgbClr val="C00000"/>
                    </a:solidFill>
                  </a:tcPr>
                </a:tc>
              </a:tr>
              <a:tr h="194768">
                <a:tc>
                  <a:txBody>
                    <a:bodyPr/>
                    <a:lstStyle/>
                    <a:p>
                      <a:pPr marL="0" indent="0" lvl="0">
                        <a:buNone/>
                      </a:pPr>
                      <a:r>
                        <a:rPr sz="900" b="1">
                          <a:solidFill>
                            <a:srgbClr val="060606"/>
                          </a:solidFill>
                          <a:latin typeface="Helvetica"/>
                        </a:rPr>
                        <a:t>10,00 %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63,23 %</a:t>
                      </a:r>
                    </a:p>
                  </a:txBody>
                  <a:tcPr marL="43200" marR="43200" marT="14400" marB="14400" anchor="ctr">
                    <a:solidFill>
                      <a:srgbClr val="FFFFFF"/>
                    </a:solidFill>
                  </a:tcPr>
                </a:tc>
                <a:tc>
                  <a:txBody>
                    <a:bodyPr/>
                    <a:lstStyle/>
                    <a:p>
                      <a:pPr marL="0" indent="0" lvl="0">
                        <a:buNone/>
                      </a:pPr>
                      <a:r>
                        <a:rPr sz="900" b="1">
                          <a:solidFill>
                            <a:srgbClr val="FFFFFF"/>
                          </a:solidFill>
                          <a:latin typeface="Helvetica"/>
                        </a:rPr>
                        <a:t>Non</a:t>
                      </a:r>
                    </a:p>
                  </a:txBody>
                  <a:tcPr marL="43200" marR="43200" marT="14400" marB="14400" anchor="ctr">
                    <a:solidFill>
                      <a:srgbClr val="C00000"/>
                    </a:solidFill>
                  </a:tcPr>
                </a:tc>
                <a:tc>
                  <a:txBody>
                    <a:bodyPr/>
                    <a:lstStyle/>
                    <a:p>
                      <a:pPr marL="0" indent="0" lvl="0">
                        <a:buNone/>
                      </a:pPr>
                      <a:r>
                        <a:rPr sz="900" b="0">
                          <a:solidFill>
                            <a:srgbClr val="060606"/>
                          </a:solidFill>
                          <a:latin typeface="Helvetica"/>
                        </a:rPr>
                        <a:t>82,72 %</a:t>
                      </a:r>
                    </a:p>
                  </a:txBody>
                  <a:tcPr marL="43200" marR="43200" marT="14400" marB="14400" anchor="ctr">
                    <a:solidFill>
                      <a:srgbClr val="FFFFFF"/>
                    </a:solidFill>
                  </a:tcPr>
                </a:tc>
                <a:tc>
                  <a:txBody>
                    <a:bodyPr/>
                    <a:lstStyle/>
                    <a:p>
                      <a:pPr marL="0" indent="0" lvl="0">
                        <a:buNone/>
                      </a:pPr>
                      <a:r>
                        <a:rPr sz="900" b="1">
                          <a:solidFill>
                            <a:srgbClr val="FFFFFF"/>
                          </a:solidFill>
                          <a:latin typeface="Helvetica"/>
                        </a:rPr>
                        <a:t>Non</a:t>
                      </a:r>
                    </a:p>
                  </a:txBody>
                  <a:tcPr marL="43200" marR="43200" marT="14400" marB="14400" anchor="ctr">
                    <a:solidFill>
                      <a:srgbClr val="C00000"/>
                    </a:solidFill>
                  </a:tcPr>
                </a:tc>
              </a:tr>
              <a:tr h="331937">
                <a:tc>
                  <a:txBody>
                    <a:bodyPr/>
                    <a:lstStyle/>
                    <a:p>
                      <a:pPr marL="0" indent="0" lvl="0">
                        <a:buNone/>
                      </a:pPr>
                      <a:r>
                        <a:rPr sz="900" b="1">
                          <a:solidFill>
                            <a:srgbClr val="060606"/>
                          </a:solidFill>
                          <a:latin typeface="Helvetica"/>
                        </a:rPr>
                        <a:t>Inflation moyenne 2021-2024 : 3,21 %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59,32 %</a:t>
                      </a:r>
                    </a:p>
                  </a:txBody>
                  <a:tcPr marL="43200" marR="43200" marT="14400" marB="14400" anchor="ctr">
                    <a:solidFill>
                      <a:srgbClr val="F2F2F2"/>
                    </a:solidFill>
                  </a:tcPr>
                </a:tc>
                <a:tc>
                  <a:txBody>
                    <a:bodyPr/>
                    <a:lstStyle/>
                    <a:p>
                      <a:pPr marL="0" indent="0" lvl="0">
                        <a:buNone/>
                      </a:pPr>
                      <a:r>
                        <a:rPr sz="900" b="1">
                          <a:solidFill>
                            <a:srgbClr val="FFFFFF"/>
                          </a:solidFill>
                          <a:latin typeface="Helvetica"/>
                        </a:rPr>
                        <a:t>Non</a:t>
                      </a:r>
                    </a:p>
                  </a:txBody>
                  <a:tcPr marL="43200" marR="43200" marT="14400" marB="14400" anchor="ctr">
                    <a:solidFill>
                      <a:srgbClr val="C00000"/>
                    </a:solidFill>
                  </a:tcPr>
                </a:tc>
                <a:tc>
                  <a:txBody>
                    <a:bodyPr/>
                    <a:lstStyle/>
                    <a:p>
                      <a:pPr marL="0" indent="0" lvl="0">
                        <a:buNone/>
                      </a:pPr>
                      <a:r>
                        <a:rPr sz="900" b="0">
                          <a:solidFill>
                            <a:srgbClr val="060606"/>
                          </a:solidFill>
                          <a:latin typeface="Helvetica"/>
                        </a:rPr>
                        <a:t>77,61 %</a:t>
                      </a:r>
                    </a:p>
                  </a:txBody>
                  <a:tcPr marL="43200" marR="43200" marT="14400" marB="14400" anchor="ctr">
                    <a:solidFill>
                      <a:srgbClr val="F2F2F2"/>
                    </a:solidFill>
                  </a:tcPr>
                </a:tc>
                <a:tc>
                  <a:txBody>
                    <a:bodyPr/>
                    <a:lstStyle/>
                    <a:p>
                      <a:pPr marL="0" indent="0" lvl="0">
                        <a:buNone/>
                      </a:pPr>
                      <a:r>
                        <a:rPr sz="900" b="1">
                          <a:solidFill>
                            <a:srgbClr val="060606"/>
                          </a:solidFill>
                          <a:latin typeface="Helvetica"/>
                        </a:rPr>
                        <a:t>Oui</a:t>
                      </a:r>
                    </a:p>
                  </a:txBody>
                  <a:tcPr marL="43200" marR="43200" marT="14400" marB="14400" anchor="ctr">
                    <a:solidFill>
                      <a:srgbClr val="70AD47"/>
                    </a:solidFill>
                  </a:tcPr>
                </a:tc>
              </a:tr>
              <a:tr h="331937">
                <a:tc>
                  <a:txBody>
                    <a:bodyPr/>
                    <a:lstStyle/>
                    <a:p>
                      <a:pPr marL="0" indent="0" lvl="0">
                        <a:buNone/>
                      </a:pPr>
                      <a:r>
                        <a:rPr sz="900" b="1">
                          <a:solidFill>
                            <a:srgbClr val="060606"/>
                          </a:solidFill>
                          <a:latin typeface="Helvetica"/>
                        </a:rPr>
                        <a:t>Inflation maximale 2018-2024 : 8,04 %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62,10 %</a:t>
                      </a:r>
                    </a:p>
                  </a:txBody>
                  <a:tcPr marL="43200" marR="43200" marT="14400" marB="14400" anchor="ctr">
                    <a:solidFill>
                      <a:srgbClr val="FFFFFF"/>
                    </a:solidFill>
                  </a:tcPr>
                </a:tc>
                <a:tc>
                  <a:txBody>
                    <a:bodyPr/>
                    <a:lstStyle/>
                    <a:p>
                      <a:pPr marL="0" indent="0" lvl="0">
                        <a:buNone/>
                      </a:pPr>
                      <a:r>
                        <a:rPr sz="900" b="1">
                          <a:solidFill>
                            <a:srgbClr val="FFFFFF"/>
                          </a:solidFill>
                          <a:latin typeface="Helvetica"/>
                        </a:rPr>
                        <a:t>Non</a:t>
                      </a:r>
                    </a:p>
                  </a:txBody>
                  <a:tcPr marL="43200" marR="43200" marT="14400" marB="14400" anchor="ctr">
                    <a:solidFill>
                      <a:srgbClr val="C00000"/>
                    </a:solidFill>
                  </a:tcPr>
                </a:tc>
                <a:tc>
                  <a:txBody>
                    <a:bodyPr/>
                    <a:lstStyle/>
                    <a:p>
                      <a:pPr marL="0" indent="0" lvl="0">
                        <a:buNone/>
                      </a:pPr>
                      <a:r>
                        <a:rPr sz="900" b="0">
                          <a:solidFill>
                            <a:srgbClr val="060606"/>
                          </a:solidFill>
                          <a:latin typeface="Helvetica"/>
                        </a:rPr>
                        <a:t>81,24 %</a:t>
                      </a:r>
                    </a:p>
                  </a:txBody>
                  <a:tcPr marL="43200" marR="43200" marT="14400" marB="14400" anchor="ctr">
                    <a:solidFill>
                      <a:srgbClr val="FFFFFF"/>
                    </a:solidFill>
                  </a:tcPr>
                </a:tc>
                <a:tc>
                  <a:txBody>
                    <a:bodyPr/>
                    <a:lstStyle/>
                    <a:p>
                      <a:pPr marL="0" indent="0" lvl="0">
                        <a:buNone/>
                      </a:pPr>
                      <a:r>
                        <a:rPr sz="900" b="1">
                          <a:solidFill>
                            <a:srgbClr val="FFFFFF"/>
                          </a:solidFill>
                          <a:latin typeface="Helvetica"/>
                        </a:rPr>
                        <a:t>Non</a:t>
                      </a:r>
                    </a:p>
                  </a:txBody>
                  <a:tcPr marL="43200" marR="43200" marT="14400" marB="14400" anchor="ctr">
                    <a:solidFill>
                      <a:srgbClr val="C00000"/>
                    </a:solidFill>
                  </a:tcPr>
                </a:tc>
              </a:tr>
            </a:tbl>
          </a:graphicData>
        </a:graphic>
      </p:graphicFrame>
      <p:graphicFrame>
        <p:nvGraphicFramePr>
          <p:cNvPr id="33" name="Table 32"/>
          <p:cNvGraphicFramePr>
            <a:graphicFrameLocks noGrp="1"/>
          </p:cNvGraphicFramePr>
          <p:nvPr/>
        </p:nvGraphicFramePr>
        <p:xfrm>
          <a:off x="503999" y="4076765"/>
          <a:ext cx="7056000" cy="151200"/>
        </p:xfrm>
        <a:graphic>
          <a:graphicData uri="http://schemas.openxmlformats.org/drawingml/2006/table">
            <a:tbl>
              <a:tblPr firstRow="0" bandRow="0">
                <a:tableStyleId>{5C22544A-7EE6-4342-B048-85BDC9FD1C3A}</a:tableStyleId>
              </a:tblPr>
              <a:tblGrid>
                <a:gridCol w="792000"/>
                <a:gridCol w="936000"/>
                <a:gridCol w="2196000"/>
                <a:gridCol w="936000"/>
                <a:gridCol w="2196000"/>
              </a:tblGrid>
              <a:tr h="151200">
                <a:tc>
                  <a:txBody>
                    <a:bodyPr/>
                    <a:lstStyle/>
                    <a:p>
                      <a:r>
                        <a:rPr sz="700" b="1">
                          <a:solidFill>
                            <a:srgbClr val="060606"/>
                          </a:solidFill>
                          <a:latin typeface="Helvetica"/>
                        </a:rPr>
                        <a:t>Code couleur</a:t>
                      </a:r>
                    </a:p>
                  </a:txBody>
                  <a:tcPr marL="28800" marR="28800" marT="3600" marB="3600" anchor="ctr">
                    <a:solidFill>
                      <a:srgbClr val="FFFFFF"/>
                    </a:solidFill>
                  </a:tcPr>
                </a:tc>
                <a:tc>
                  <a:txBody>
                    <a:bodyPr/>
                    <a:lstStyle/>
                    <a:p>
                      <a:r>
                        <a:rPr sz="700" b="1">
                          <a:solidFill>
                            <a:srgbClr val="FFFFFF"/>
                          </a:solidFill>
                          <a:latin typeface="Helvetica"/>
                        </a:rPr>
                        <a:t>Non</a:t>
                      </a:r>
                    </a:p>
                  </a:txBody>
                  <a:tcPr marL="28800" marR="28800" marT="3600" marB="3600" anchor="ctr">
                    <a:solidFill>
                      <a:srgbClr val="C00000"/>
                    </a:solidFill>
                  </a:tcPr>
                </a:tc>
                <a:tc>
                  <a:txBody>
                    <a:bodyPr/>
                    <a:lstStyle/>
                    <a:p>
                      <a:r>
                        <a:rPr sz="700" b="0">
                          <a:solidFill>
                            <a:srgbClr val="060606"/>
                          </a:solidFill>
                          <a:latin typeface="Helvetica"/>
                        </a:rPr>
                        <a:t>réponse négative à la question de la colonne</a:t>
                      </a:r>
                    </a:p>
                  </a:txBody>
                  <a:tcPr marL="28800" marR="28800" marT="3600" marB="3600" anchor="ctr">
                    <a:solidFill>
                      <a:srgbClr val="FFFFFF"/>
                    </a:solidFill>
                  </a:tcPr>
                </a:tc>
                <a:tc>
                  <a:txBody>
                    <a:bodyPr/>
                    <a:lstStyle/>
                    <a:p>
                      <a:r>
                        <a:rPr sz="700" b="1">
                          <a:solidFill>
                            <a:srgbClr val="060606"/>
                          </a:solidFill>
                          <a:latin typeface="Helvetica"/>
                        </a:rPr>
                        <a:t>Oui</a:t>
                      </a:r>
                    </a:p>
                  </a:txBody>
                  <a:tcPr marL="28800" marR="28800" marT="3600" marB="3600" anchor="ctr">
                    <a:solidFill>
                      <a:srgbClr val="70AD47"/>
                    </a:solidFill>
                  </a:tcPr>
                </a:tc>
                <a:tc>
                  <a:txBody>
                    <a:bodyPr/>
                    <a:lstStyle/>
                    <a:p>
                      <a:r>
                        <a:rPr sz="700" b="0">
                          <a:solidFill>
                            <a:srgbClr val="060606"/>
                          </a:solidFill>
                          <a:latin typeface="Helvetica"/>
                        </a:rPr>
                        <a:t>réponse positive à la question de la colonne</a:t>
                      </a:r>
                    </a:p>
                  </a:txBody>
                  <a:tcPr marL="28800" marR="28800" marT="3600" marB="3600" anchor="ctr">
                    <a:solidFill>
                      <a:srgbClr val="FFFFFF"/>
                    </a:solidFill>
                  </a:tcPr>
                </a:tc>
              </a:tr>
            </a:tbl>
          </a:graphicData>
        </a:graphic>
      </p:graphicFrame>
      <p:sp>
        <p:nvSpPr>
          <p:cNvPr id="34" name="TextBox 33"/>
          <p:cNvSpPr txBox="1"/>
          <p:nvPr/>
        </p:nvSpPr>
        <p:spPr>
          <a:xfrm>
            <a:off x="503999" y="4335965"/>
            <a:ext cx="7056000" cy="306000"/>
          </a:xfrm>
          <a:prstGeom prst="rect">
            <a:avLst/>
          </a:prstGeom>
          <a:noFill/>
        </p:spPr>
        <p:txBody>
          <a:bodyPr wrap="square" anchor="t" lIns="54000" rIns="54000"/>
          <a:lstStyle/>
          <a:p>
            <a:pPr algn="l"/>
            <a:r>
              <a:rPr sz="850" b="0">
                <a:solidFill>
                  <a:srgbClr val="53565A"/>
                </a:solidFill>
                <a:latin typeface="Helvetica"/>
              </a:rPr>
              <a:t>Valable pour : exercice 2025. Hausses de prestations hypothétiques appliquées aux prestations de « BALANCE FPPN 2025.xlsx ».</a:t>
            </a:r>
          </a:p>
        </p:txBody>
      </p:sp>
      <p:sp>
        <p:nvSpPr>
          <p:cNvPr id="35" name="TextBox 34"/>
          <p:cNvSpPr txBox="1"/>
          <p:nvPr/>
        </p:nvSpPr>
        <p:spPr>
          <a:xfrm>
            <a:off x="7776000" y="1386000"/>
            <a:ext cx="3960000" cy="4482000"/>
          </a:xfrm>
          <a:prstGeom prst="rect">
            <a:avLst/>
          </a:prstGeom>
          <a:noFill/>
        </p:spPr>
        <p:txBody>
          <a:bodyPr wrap="square" lIns="54000" rIns="54000"/>
          <a:lstStyle/>
          <a:p>
            <a:pPr algn="just">
              <a:spcAft>
                <a:spcPts val="600"/>
              </a:spcAft>
            </a:pPr>
            <a:r>
              <a:rPr sz="1400" b="1">
                <a:solidFill>
                  <a:srgbClr val="060606"/>
                </a:solidFill>
                <a:latin typeface="Helvetica"/>
              </a:rPr>
              <a:t>En 2026, la sinistralité est déjà proche de sa borne haute</a:t>
            </a:r>
            <a:r>
              <a:rPr sz="1400" b="0">
                <a:solidFill>
                  <a:srgbClr val="060606"/>
                </a:solidFill>
                <a:latin typeface="Helvetica"/>
              </a:rPr>
              <a:t> : une hausse de 6,39 % des prestations la porterait au-delà de 80 %.</a:t>
            </a:r>
          </a:p>
          <a:p>
            <a:pPr algn="just">
              <a:spcAft>
                <a:spcPts val="600"/>
              </a:spcAft>
            </a:pPr>
            <a:r>
              <a:rPr sz="1400" b="1">
                <a:solidFill>
                  <a:srgbClr val="060606"/>
                </a:solidFill>
                <a:latin typeface="Helvetica"/>
              </a:rPr>
              <a:t>En 2025, il faudrait au contraire 21,78 % de prestations en plus pour atteindre 70 %.</a:t>
            </a:r>
          </a:p>
          <a:p>
            <a:pPr algn="just">
              <a:spcAft>
                <a:spcPts val="600"/>
              </a:spcAft>
            </a:pPr>
            <a:r>
              <a:rPr sz="1400" b="0">
                <a:solidFill>
                  <a:srgbClr val="060606"/>
                </a:solidFill>
                <a:latin typeface="Helvetica"/>
              </a:rPr>
              <a:t>La sinistralité est passée en deux ans d'un excès de marge à une marge faible : la revue du régime des prestations doit intégrer une hypothèse d'inflation médicale, et le recalcul des provisions, qui entre dans le ratio.</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ANStat : Agence nationale de la statistique de Côte d'Ivoire</a:t>
            </a:r>
          </a:p>
        </p:txBody>
      </p:sp>
    </p:spTree>
    <p:extLst>
      <p:ext uri="{BB962C8B-B14F-4D97-AF65-F5344CB8AC3E}">
        <p14:creationId xmlns:p14="http://schemas.microsoft.com/office/powerpoint/2010/main" val="2544905737"/>
      </p:ext>
    </p:extLst>
  </p:cSld>
  <p:clrMapOvr>
    <a:masterClrMapping/>
  </p:clrMapOvr>
  <p:transition>
    <p:fade/>
  </p:transition>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Rendement des placements et taux du marché</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rendement du FPPN est inférieur aux taux du marché de 2022 à 2024</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Obligations de l'État de Côte d'Ivoire : 7,11 % à 5 ans (15/10/2026), 7,40 % à 10 ans (19/10/2026). Taux servi sur l'épargne : [[3,50 % selon le chef comptable]], 5,50 % selon le manuel d'épargne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BCEAO, Rapport sur la Politique Monétaire dans l'UMOA, mars 2026, tableaux 17 et 22. Investing.com, « Rendement de l'Obligation Cote d'Ivoire 5-Year / 10-Year - Données Historiques », export du 19/10/2026. Classeur des calculs, onglet 13i. Entretien du 19/10/2026 (taux servi)</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105 : Rendement du FPPN et taux du marché, 2021 à 2025</a:t>
            </a:r>
          </a:p>
        </p:txBody>
      </p:sp>
      <p:graphicFrame>
        <p:nvGraphicFramePr>
          <p:cNvPr id="32" name="Table 31"/>
          <p:cNvGraphicFramePr>
            <a:graphicFrameLocks noGrp="1"/>
          </p:cNvGraphicFramePr>
          <p:nvPr/>
        </p:nvGraphicFramePr>
        <p:xfrm>
          <a:off x="503999" y="1655999"/>
          <a:ext cx="11232000" cy="1921455"/>
        </p:xfrm>
        <a:graphic>
          <a:graphicData uri="http://schemas.openxmlformats.org/drawingml/2006/table">
            <a:tbl>
              <a:tblPr firstRow="0" bandRow="0">
                <a:tableStyleId>{5940675A-B579-460E-94D1-54222C63F5DA}</a:tableStyleId>
              </a:tblPr>
              <a:tblGrid>
                <a:gridCol w="3168000"/>
                <a:gridCol w="1044000"/>
                <a:gridCol w="1044000"/>
                <a:gridCol w="1044000"/>
                <a:gridCol w="1044000"/>
                <a:gridCol w="1044000"/>
                <a:gridCol w="2844000"/>
              </a:tblGrid>
              <a:tr h="180000">
                <a:tc>
                  <a:txBody>
                    <a:bodyPr/>
                    <a:lstStyle/>
                    <a:p>
                      <a:pPr marL="0" indent="0" lvl="0">
                        <a:buNone/>
                      </a:pPr>
                      <a:r>
                        <a:rPr sz="800" b="1">
                          <a:solidFill>
                            <a:srgbClr val="FFFFFF"/>
                          </a:solidFill>
                          <a:latin typeface="Helvetica"/>
                        </a:rPr>
                        <a:t>Indicateur</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2021</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2022</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2023</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2024</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2025</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Source</a:t>
                      </a:r>
                    </a:p>
                  </a:txBody>
                  <a:tcPr marL="43200" marR="43200" marT="14400" marB="14400" anchor="ctr">
                    <a:solidFill>
                      <a:srgbClr val="060606"/>
                    </a:solidFill>
                  </a:tcPr>
                </a:tc>
              </a:tr>
              <a:tr h="180000">
                <a:tc>
                  <a:txBody>
                    <a:bodyPr/>
                    <a:lstStyle/>
                    <a:p>
                      <a:pPr marL="0" indent="0" lvl="0">
                        <a:buNone/>
                      </a:pPr>
                      <a:r>
                        <a:rPr sz="800" b="1">
                          <a:solidFill>
                            <a:srgbClr val="060606"/>
                          </a:solidFill>
                          <a:latin typeface="Helvetica"/>
                        </a:rPr>
                        <a:t>Rendement brut des placements du FPPN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4,62 %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1,03 %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1,08 %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1,28 %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15,44 %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Grands livres</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Dépôts à terme, Côte d'Ivoire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4,25 %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4,72 %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BCEAO, tableau 22</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État de Côte d'Ivoire, 5 ans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5,66 %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5,19 %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6,86 %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7,73 %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7,68 %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Investing.com</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État de Côte d'Ivoire, 10 ans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6,19 %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5,93 %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7,79 %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7,70 %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7,19 %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Investing.com</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Obligations de l'UMOA, 5 ans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6,94 %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6,83 %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BCEAO, tableau 17</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Conforme face aux dépôts à terme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Oui</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Grands livres, BCEAO</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Conforme face à l'État à 5 ans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Oui</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Grands livres, Investing.com</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Solde moyen non rémunéré</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2 274 615 536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638 155 842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695 388 139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438 360 275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1 449 586 812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Partie 10</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Produit possible au taux des dépôts à terme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18 608 394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68 492 977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Onglet 13i</a:t>
                      </a:r>
                    </a:p>
                  </a:txBody>
                  <a:tcPr marL="43200" marR="43200" marT="14400" marB="14400" anchor="ctr">
                    <a:solidFill>
                      <a:srgbClr val="FFFFFF"/>
                    </a:solidFill>
                  </a:tcPr>
                </a:tc>
              </a:tr>
            </a:tbl>
          </a:graphicData>
        </a:graphic>
      </p:graphicFrame>
      <p:sp>
        <p:nvSpPr>
          <p:cNvPr id="33" name="TextBox 32"/>
          <p:cNvSpPr txBox="1"/>
          <p:nvPr/>
        </p:nvSpPr>
        <p:spPr>
          <a:xfrm>
            <a:off x="503999" y="3685455"/>
            <a:ext cx="11232000" cy="162000"/>
          </a:xfrm>
          <a:prstGeom prst="rect">
            <a:avLst/>
          </a:prstGeom>
          <a:noFill/>
        </p:spPr>
        <p:txBody>
          <a:bodyPr wrap="square" anchor="t" lIns="54000" rIns="54000"/>
          <a:lstStyle/>
          <a:p>
            <a:pPr algn="l"/>
            <a:r>
              <a:rPr sz="850" b="0">
                <a:solidFill>
                  <a:srgbClr val="53565A"/>
                </a:solidFill>
                <a:latin typeface="Helvetica"/>
              </a:rPr>
              <a:t>Valable pour : rendement du FPPN de 2021 à 2025 (classe 77 et comptes 52 et 53). Taux de la BCEAO et obligations ivoiriennes à 5 et 10 ans.</a:t>
            </a:r>
          </a:p>
        </p:txBody>
      </p:sp>
      <p:sp>
        <p:nvSpPr>
          <p:cNvPr id="34" name="TextBox 33"/>
          <p:cNvSpPr txBox="1"/>
          <p:nvPr/>
        </p:nvSpPr>
        <p:spPr>
          <a:xfrm>
            <a:off x="503999" y="3991455"/>
            <a:ext cx="11232000" cy="1876544"/>
          </a:xfrm>
          <a:prstGeom prst="rect">
            <a:avLst/>
          </a:prstGeom>
          <a:noFill/>
        </p:spPr>
        <p:txBody>
          <a:bodyPr wrap="square" lIns="54000" rIns="54000"/>
          <a:lstStyle/>
          <a:p>
            <a:pPr algn="just">
              <a:spcAft>
                <a:spcPts val="600"/>
              </a:spcAft>
            </a:pPr>
            <a:r>
              <a:rPr sz="1300" b="1">
                <a:solidFill>
                  <a:srgbClr val="060606"/>
                </a:solidFill>
                <a:latin typeface="Helvetica"/>
              </a:rPr>
              <a:t>De 2022 à 2024, le rendement des placements est inférieur à toutes les références de marché disponibles.</a:t>
            </a:r>
            <a:r>
              <a:rPr sz="1300" b="0">
                <a:solidFill>
                  <a:srgbClr val="060606"/>
                </a:solidFill>
                <a:latin typeface="Helvetica"/>
              </a:rPr>
              <a:t> Celui de 2025 les dépasse seulement parce que les intérêts du DAT PEP accumulés depuis 2020 sont enregistrés à sa clôture, le 30/10/2025.</a:t>
            </a:r>
          </a:p>
          <a:p>
            <a:pPr algn="just">
              <a:spcAft>
                <a:spcPts val="600"/>
              </a:spcAft>
            </a:pPr>
            <a:r>
              <a:rPr sz="1300" b="1">
                <a:solidFill>
                  <a:srgbClr val="060606"/>
                </a:solidFill>
                <a:latin typeface="Helvetica"/>
              </a:rPr>
              <a:t>Le taux servi de 3,5 % sur l'épargne est inférieur de 3,61 % au rendement actuel des obligations de l'État à 5 ans</a:t>
            </a:r>
            <a:r>
              <a:rPr sz="1300" b="0">
                <a:solidFill>
                  <a:srgbClr val="060606"/>
                </a:solidFill>
                <a:latin typeface="Helvetica"/>
              </a:rPr>
              <a:t> : un adossement de l'épargne en titres publics couvrirait le taux servi avec une marge.</a:t>
            </a:r>
          </a:p>
          <a:p>
            <a:pPr algn="just">
              <a:spcAft>
                <a:spcPts val="600"/>
              </a:spcAft>
            </a:pPr>
            <a:r>
              <a:rPr sz="1300" b="0">
                <a:solidFill>
                  <a:srgbClr val="060606"/>
                </a:solidFill>
                <a:latin typeface="Helvetica"/>
              </a:rPr>
              <a:t>Placer le solde non rémunéré rapporterait 68 492 977 FCFA par an au taux des dépôts à terme de 2025, sans réduire la liquidité au sens du texte, car un dépôt à terme reste en classe 5. Les échéances doivent suivre l'échéancier de l'épargne, que le FPPN ne tient pas encore (recommandation 2).</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BCEAO : Banque centrale des États de l'Afrique de l'Ouest | PEP : Plan Épargne Plus | DAT : dépôt à terme | UMOA : Union monétaire ouest-africaine</a:t>
            </a:r>
          </a:p>
        </p:txBody>
      </p:sp>
    </p:spTree>
    <p:extLst>
      <p:ext uri="{BB962C8B-B14F-4D97-AF65-F5344CB8AC3E}">
        <p14:creationId xmlns:p14="http://schemas.microsoft.com/office/powerpoint/2010/main" val="1044083356"/>
      </p:ext>
    </p:extLst>
  </p:cSld>
  <p:clrMapOvr>
    <a:masterClrMapping/>
  </p:clrMapOvr>
  <p:transition>
    <p:fade/>
  </p:transition>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6" name="Image 25"/>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30" name="ZoneTexte 29">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9" name="Google Shape;7386;p39"/>
          <p:cNvSpPr/>
          <p:nvPr/>
        </p:nvSpPr>
        <p:spPr>
          <a:xfrm rot="10800000">
            <a:off x="1748072" y="1436295"/>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10" name="Google Shape;7367;p39"/>
          <p:cNvSpPr/>
          <p:nvPr/>
        </p:nvSpPr>
        <p:spPr>
          <a:xfrm rot="16200000">
            <a:off x="2201124" y="215006"/>
            <a:ext cx="2027916" cy="4306666"/>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chemeClr val="tx1"/>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 name="Rectangle 3"/>
          <p:cNvSpPr/>
          <p:nvPr/>
        </p:nvSpPr>
        <p:spPr>
          <a:xfrm>
            <a:off x="2946575" y="1442741"/>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Constat</a:t>
            </a:r>
          </a:p>
        </p:txBody>
      </p:sp>
      <p:sp>
        <p:nvSpPr>
          <p:cNvPr id="20" name="Google Shape;7386;p39"/>
          <p:cNvSpPr/>
          <p:nvPr/>
        </p:nvSpPr>
        <p:spPr>
          <a:xfrm rot="10800000">
            <a:off x="6372314" y="1459724"/>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21" name="Google Shape;7367;p39"/>
          <p:cNvSpPr/>
          <p:nvPr/>
        </p:nvSpPr>
        <p:spPr>
          <a:xfrm rot="16200000">
            <a:off x="7569073" y="228570"/>
            <a:ext cx="2000788" cy="4306666"/>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rgbClr val="060606"/>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24" name="Rectangle 23"/>
          <p:cNvSpPr/>
          <p:nvPr/>
        </p:nvSpPr>
        <p:spPr>
          <a:xfrm>
            <a:off x="7570816" y="1466170"/>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Preuves</a:t>
            </a:r>
          </a:p>
        </p:txBody>
      </p:sp>
      <p:sp>
        <p:nvSpPr>
          <p:cNvPr id="37" name="Google Shape;7386;p39"/>
          <p:cNvSpPr/>
          <p:nvPr/>
        </p:nvSpPr>
        <p:spPr>
          <a:xfrm rot="10800000">
            <a:off x="1854215" y="3845744"/>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38" name="Google Shape;7367;p39"/>
          <p:cNvSpPr/>
          <p:nvPr/>
        </p:nvSpPr>
        <p:spPr>
          <a:xfrm rot="16200000">
            <a:off x="2838223" y="3190772"/>
            <a:ext cx="1751381" cy="3719393"/>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rgbClr val="060606"/>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0" name="Rectangle 39"/>
          <p:cNvSpPr/>
          <p:nvPr/>
        </p:nvSpPr>
        <p:spPr>
          <a:xfrm>
            <a:off x="3052718" y="3852190"/>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Implication</a:t>
            </a:r>
          </a:p>
        </p:txBody>
      </p:sp>
      <p:sp>
        <p:nvSpPr>
          <p:cNvPr id="42" name="Google Shape;7386;p39"/>
          <p:cNvSpPr/>
          <p:nvPr/>
        </p:nvSpPr>
        <p:spPr>
          <a:xfrm rot="10800000">
            <a:off x="6478457" y="3869173"/>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3" name="Google Shape;7367;p39"/>
          <p:cNvSpPr/>
          <p:nvPr/>
        </p:nvSpPr>
        <p:spPr>
          <a:xfrm rot="16200000">
            <a:off x="7474179" y="3202486"/>
            <a:ext cx="1727953" cy="3719393"/>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chemeClr val="tx1"/>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5" name="Rectangle 44"/>
          <p:cNvSpPr/>
          <p:nvPr/>
        </p:nvSpPr>
        <p:spPr>
          <a:xfrm>
            <a:off x="7676960" y="3875619"/>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Action</a:t>
            </a:r>
          </a:p>
        </p:txBody>
      </p:sp>
      <p:pic>
        <p:nvPicPr>
          <p:cNvPr id="47" name="Image 4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47871" y="3850143"/>
            <a:ext cx="334029" cy="337914"/>
          </a:xfrm>
          <a:prstGeom prst="rect">
            <a:avLst/>
          </a:prstGeom>
        </p:spPr>
      </p:pic>
      <p:pic>
        <p:nvPicPr>
          <p:cNvPr id="50" name="Image 49">
            <a:extLst>
              <a:ext uri="{FF2B5EF4-FFF2-40B4-BE49-F238E27FC236}">
                <a16:creationId xmlns:a16="http://schemas.microsoft.com/office/drawing/2014/main" id="{593DA389-08F4-31D9-6AB9-E96812D83B7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768142" y="1475503"/>
            <a:ext cx="294700" cy="294700"/>
          </a:xfrm>
          <a:prstGeom prst="rect">
            <a:avLst/>
          </a:prstGeom>
        </p:spPr>
      </p:pic>
      <p:pic>
        <p:nvPicPr>
          <p:cNvPr id="25" name="Image 2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156977" y="1457088"/>
            <a:ext cx="281624" cy="284788"/>
          </a:xfrm>
          <a:prstGeom prst="rect">
            <a:avLst/>
          </a:prstGeom>
        </p:spPr>
      </p:pic>
      <p:pic>
        <p:nvPicPr>
          <p:cNvPr id="28" name="Image 27"/>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791905" y="3883760"/>
            <a:ext cx="270937" cy="276827"/>
          </a:xfrm>
          <a:prstGeom prst="rect">
            <a:avLst/>
          </a:prstGeom>
        </p:spPr>
      </p:pic>
      <p:sp>
        <p:nvSpPr>
          <p:cNvPr id="31" name="Rectangle 30"/>
          <p:cNvSpPr/>
          <p:nvPr/>
        </p:nvSpPr>
        <p:spPr>
          <a:xfrm>
            <a:off x="1999671" y="1962253"/>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Les écarts de bilan (épargne, fonds propres) dépassent les moyens annuels du FPPN. Les écarts de compte de résultat (frais, réserve) peuvent être corrigés en quelques exercices.</a:t>
            </a:r>
          </a:p>
        </p:txBody>
      </p:sp>
      <p:sp>
        <p:nvSpPr>
          <p:cNvPr id="32" name="Rectangle 31"/>
          <p:cNvSpPr/>
          <p:nvPr/>
        </p:nvSpPr>
        <p:spPr>
          <a:xfrm>
            <a:off x="6623912" y="1926662"/>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Trésorerie manquante de 13 555 974 724 FCFA en 2025, supérieure à toute la classe 2. Fonds propres manquants de 16 002 055 145 FCFA. Frais à réduire de 558 364 763 FCFA. Une dotation de 20 % des excédents aurait suffi pour la réserve en 2025.</a:t>
            </a:r>
          </a:p>
        </p:txBody>
      </p:sp>
      <p:sp>
        <p:nvSpPr>
          <p:cNvPr id="33" name="Rectangle 32"/>
          <p:cNvSpPr/>
          <p:nvPr/>
        </p:nvSpPr>
        <p:spPr>
          <a:xfrm>
            <a:off x="2093705" y="4388689"/>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 taux de cotisation ne peut pas, seul, rendre le FPPN conforme : il améliore les frais mais éloigne la sinistralité et l'excédent net de leur norme. Les normes de flux ne sont pas conciliables tant que les autres produits dépassent les autres charges.</a:t>
            </a:r>
          </a:p>
        </p:txBody>
      </p:sp>
      <p:sp>
        <p:nvSpPr>
          <p:cNvPr id="34" name="Rectangle 33"/>
          <p:cNvSpPr/>
          <p:nvPr/>
        </p:nvSpPr>
        <p:spPr>
          <a:xfrm>
            <a:off x="6768142" y="4336111"/>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 FPPN doit proposer à l'AIRMS un plan pluriannuel : maîtrise des frais, dotation statutaire de la réserve, adossement de l'épargne sur un échéancier, ressources propres, revue du régime des prestations.</a:t>
            </a:r>
          </a:p>
        </p:txBody>
      </p:sp>
      <p:sp>
        <p:nvSpPr>
          <p:cNvPr id="51"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À retenir : leviers de conformité</a:t>
            </a:r>
          </a:p>
        </p:txBody>
      </p:sp>
      <p:sp>
        <p:nvSpPr>
          <p:cNvPr id="52"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écarts sont structurels. Seuls des leviers combinés peuvent rendre le FPPN conforme</a:t>
            </a:r>
          </a:p>
        </p:txBody>
      </p:sp>
      <p:sp>
        <p:nvSpPr>
          <p:cNvPr id="53"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13 ratios non conformes toutes les années, cinq facteurs récurrents, des leviers parfois contradictoires</a:t>
            </a:r>
          </a:p>
        </p:txBody>
      </p:sp>
      <p:sp>
        <p:nvSpPr>
          <p:cNvPr id="54"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analyses Adenka</a:t>
            </a:r>
          </a:p>
        </p:txBody>
      </p:sp>
      <p:sp>
        <p:nvSpPr>
          <p:cNvPr id="55" name="TextBox 5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AIRMS : Agence ivoirienne de régulation de la mutualité sociale</a:t>
            </a:r>
          </a:p>
        </p:txBody>
      </p:sp>
    </p:spTree>
    <p:extLst>
      <p:ext uri="{BB962C8B-B14F-4D97-AF65-F5344CB8AC3E}">
        <p14:creationId xmlns:p14="http://schemas.microsoft.com/office/powerpoint/2010/main" val="3267897770"/>
      </p:ext>
    </p:extLst>
  </p:cSld>
  <p:clrMapOvr>
    <a:masterClrMapping/>
  </p:clrMapOvr>
  <p:transition>
    <p:fade/>
  </p:transition>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Google Shape;8651;p70"/>
          <p:cNvSpPr/>
          <p:nvPr/>
        </p:nvSpPr>
        <p:spPr>
          <a:xfrm>
            <a:off x="2013108" y="2588204"/>
            <a:ext cx="1380332" cy="1428252"/>
          </a:xfrm>
          <a:custGeom>
            <a:avLst/>
            <a:gdLst/>
            <a:ahLst/>
            <a:cxnLst/>
            <a:rect l="l" t="t" r="r" b="b"/>
            <a:pathLst>
              <a:path w="8670" h="8971" extrusionOk="0">
                <a:moveTo>
                  <a:pt x="7105" y="1302"/>
                </a:moveTo>
                <a:cubicBezTo>
                  <a:pt x="7105" y="1315"/>
                  <a:pt x="7105" y="1328"/>
                  <a:pt x="7105" y="1341"/>
                </a:cubicBezTo>
                <a:cubicBezTo>
                  <a:pt x="7118" y="1980"/>
                  <a:pt x="7183" y="2619"/>
                  <a:pt x="7183" y="3283"/>
                </a:cubicBezTo>
                <a:cubicBezTo>
                  <a:pt x="7170" y="4404"/>
                  <a:pt x="7183" y="5525"/>
                  <a:pt x="7222" y="6646"/>
                </a:cubicBezTo>
                <a:cubicBezTo>
                  <a:pt x="7235" y="6959"/>
                  <a:pt x="7222" y="7259"/>
                  <a:pt x="7222" y="7559"/>
                </a:cubicBezTo>
                <a:lnTo>
                  <a:pt x="7222" y="7585"/>
                </a:lnTo>
                <a:cubicBezTo>
                  <a:pt x="6935" y="7598"/>
                  <a:pt x="6649" y="7611"/>
                  <a:pt x="6362" y="7611"/>
                </a:cubicBezTo>
                <a:cubicBezTo>
                  <a:pt x="6101" y="7598"/>
                  <a:pt x="5853" y="7585"/>
                  <a:pt x="5593" y="7585"/>
                </a:cubicBezTo>
                <a:cubicBezTo>
                  <a:pt x="4159" y="7559"/>
                  <a:pt x="2712" y="7559"/>
                  <a:pt x="1291" y="7442"/>
                </a:cubicBezTo>
                <a:cubicBezTo>
                  <a:pt x="1278" y="7207"/>
                  <a:pt x="1239" y="6959"/>
                  <a:pt x="1226" y="6725"/>
                </a:cubicBezTo>
                <a:cubicBezTo>
                  <a:pt x="1200" y="6255"/>
                  <a:pt x="1187" y="5799"/>
                  <a:pt x="1200" y="5330"/>
                </a:cubicBezTo>
                <a:cubicBezTo>
                  <a:pt x="1213" y="4222"/>
                  <a:pt x="1226" y="3101"/>
                  <a:pt x="1343" y="1993"/>
                </a:cubicBezTo>
                <a:lnTo>
                  <a:pt x="1552" y="1993"/>
                </a:lnTo>
                <a:cubicBezTo>
                  <a:pt x="2138" y="1980"/>
                  <a:pt x="2725" y="1889"/>
                  <a:pt x="3312" y="1810"/>
                </a:cubicBezTo>
                <a:cubicBezTo>
                  <a:pt x="4576" y="1641"/>
                  <a:pt x="5840" y="1524"/>
                  <a:pt x="7105" y="1302"/>
                </a:cubicBezTo>
                <a:close/>
                <a:moveTo>
                  <a:pt x="7529" y="1"/>
                </a:moveTo>
                <a:cubicBezTo>
                  <a:pt x="7291" y="1"/>
                  <a:pt x="7059" y="53"/>
                  <a:pt x="6818" y="64"/>
                </a:cubicBezTo>
                <a:cubicBezTo>
                  <a:pt x="6375" y="103"/>
                  <a:pt x="5932" y="142"/>
                  <a:pt x="5488" y="194"/>
                </a:cubicBezTo>
                <a:cubicBezTo>
                  <a:pt x="4824" y="259"/>
                  <a:pt x="4107" y="350"/>
                  <a:pt x="3429" y="389"/>
                </a:cubicBezTo>
                <a:cubicBezTo>
                  <a:pt x="2686" y="429"/>
                  <a:pt x="1943" y="481"/>
                  <a:pt x="1213" y="598"/>
                </a:cubicBezTo>
                <a:cubicBezTo>
                  <a:pt x="913" y="624"/>
                  <a:pt x="652" y="728"/>
                  <a:pt x="509" y="976"/>
                </a:cubicBezTo>
                <a:cubicBezTo>
                  <a:pt x="470" y="1028"/>
                  <a:pt x="444" y="1080"/>
                  <a:pt x="431" y="1146"/>
                </a:cubicBezTo>
                <a:cubicBezTo>
                  <a:pt x="300" y="1524"/>
                  <a:pt x="287" y="1928"/>
                  <a:pt x="300" y="2332"/>
                </a:cubicBezTo>
                <a:cubicBezTo>
                  <a:pt x="209" y="3010"/>
                  <a:pt x="209" y="3700"/>
                  <a:pt x="209" y="4378"/>
                </a:cubicBezTo>
                <a:cubicBezTo>
                  <a:pt x="170" y="4769"/>
                  <a:pt x="144" y="5173"/>
                  <a:pt x="131" y="5565"/>
                </a:cubicBezTo>
                <a:cubicBezTo>
                  <a:pt x="105" y="6203"/>
                  <a:pt x="14" y="6842"/>
                  <a:pt x="14" y="7481"/>
                </a:cubicBezTo>
                <a:cubicBezTo>
                  <a:pt x="1" y="7911"/>
                  <a:pt x="157" y="8315"/>
                  <a:pt x="613" y="8419"/>
                </a:cubicBezTo>
                <a:cubicBezTo>
                  <a:pt x="1056" y="8550"/>
                  <a:pt x="1526" y="8524"/>
                  <a:pt x="1982" y="8550"/>
                </a:cubicBezTo>
                <a:cubicBezTo>
                  <a:pt x="2243" y="8563"/>
                  <a:pt x="2503" y="8589"/>
                  <a:pt x="2764" y="8615"/>
                </a:cubicBezTo>
                <a:cubicBezTo>
                  <a:pt x="3885" y="8745"/>
                  <a:pt x="5006" y="8902"/>
                  <a:pt x="6140" y="8941"/>
                </a:cubicBezTo>
                <a:cubicBezTo>
                  <a:pt x="6220" y="8945"/>
                  <a:pt x="6302" y="8946"/>
                  <a:pt x="6383" y="8946"/>
                </a:cubicBezTo>
                <a:cubicBezTo>
                  <a:pt x="6581" y="8946"/>
                  <a:pt x="6781" y="8937"/>
                  <a:pt x="6974" y="8928"/>
                </a:cubicBezTo>
                <a:cubicBezTo>
                  <a:pt x="7118" y="8941"/>
                  <a:pt x="7274" y="8941"/>
                  <a:pt x="7418" y="8941"/>
                </a:cubicBezTo>
                <a:cubicBezTo>
                  <a:pt x="7568" y="8956"/>
                  <a:pt x="7723" y="8971"/>
                  <a:pt x="7877" y="8971"/>
                </a:cubicBezTo>
                <a:cubicBezTo>
                  <a:pt x="7990" y="8971"/>
                  <a:pt x="8103" y="8963"/>
                  <a:pt x="8213" y="8941"/>
                </a:cubicBezTo>
                <a:cubicBezTo>
                  <a:pt x="8643" y="8810"/>
                  <a:pt x="8565" y="8093"/>
                  <a:pt x="8604" y="7741"/>
                </a:cubicBezTo>
                <a:cubicBezTo>
                  <a:pt x="8669" y="6620"/>
                  <a:pt x="8539" y="5499"/>
                  <a:pt x="8487" y="4378"/>
                </a:cubicBezTo>
                <a:cubicBezTo>
                  <a:pt x="8434" y="3453"/>
                  <a:pt x="8330" y="2527"/>
                  <a:pt x="8252" y="1589"/>
                </a:cubicBezTo>
                <a:cubicBezTo>
                  <a:pt x="8200" y="1341"/>
                  <a:pt x="8239" y="637"/>
                  <a:pt x="8096" y="350"/>
                </a:cubicBezTo>
                <a:lnTo>
                  <a:pt x="8082" y="350"/>
                </a:lnTo>
                <a:cubicBezTo>
                  <a:pt x="8056" y="181"/>
                  <a:pt x="7952" y="51"/>
                  <a:pt x="7704" y="11"/>
                </a:cubicBezTo>
                <a:cubicBezTo>
                  <a:pt x="7645" y="4"/>
                  <a:pt x="7587" y="1"/>
                  <a:pt x="7529" y="1"/>
                </a:cubicBezTo>
                <a:close/>
              </a:path>
            </a:pathLst>
          </a:custGeom>
          <a:solidFill>
            <a:schemeClr val="bg1"/>
          </a:solidFill>
          <a:ln w="76200">
            <a:solidFill>
              <a:schemeClr val="tx1"/>
            </a:solid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5" name="Rectangle 24">
            <a:extLst>
              <a:ext uri="{FF2B5EF4-FFF2-40B4-BE49-F238E27FC236}">
                <a16:creationId xmlns:a16="http://schemas.microsoft.com/office/drawing/2014/main" id="{9B9B23AA-050D-4543-80A0-873FE31AFFF7}"/>
              </a:ext>
            </a:extLst>
          </p:cNvPr>
          <p:cNvSpPr/>
          <p:nvPr/>
        </p:nvSpPr>
        <p:spPr>
          <a:xfrm>
            <a:off x="2446471" y="2869098"/>
            <a:ext cx="513606" cy="936923"/>
          </a:xfrm>
          <a:prstGeom prst="rect">
            <a:avLst/>
          </a:prstGeom>
        </p:spPr>
        <p:txBody>
          <a:bodyPr wrap="none" lIns="0" tIns="0" rIns="0" bIns="0">
            <a:spAutoFit/>
          </a:bodyPr>
          <a:lstStyle/>
          <a:p>
            <a:pPr lvl="0">
              <a:lnSpc>
                <a:spcPct val="110000"/>
              </a:lnSpc>
            </a:pPr>
            <a:r>
              <a:rPr lang="fr-CI" sz="42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11</a:t>
            </a:r>
          </a:p>
        </p:txBody>
      </p:sp>
      <p:sp>
        <p:nvSpPr>
          <p:cNvPr id="10" name="Rectangle 9"/>
          <p:cNvSpPr/>
          <p:nvPr/>
        </p:nvSpPr>
        <p:spPr>
          <a:xfrm>
            <a:off x="3938554" y="2462184"/>
            <a:ext cx="3816000" cy="1200329"/>
          </a:xfrm>
          <a:prstGeom prst="rect">
            <a:avLst/>
          </a:prstGeom>
        </p:spPr>
        <p:txBody>
          <a:bodyPr wrap="square">
            <a:spAutoFit/>
          </a:bodyPr>
          <a:lstStyle/>
          <a:p>
            <a:r>
              <a:rPr lang="fr-CI" sz="3600" b="1" noProof="0">
                <a:solidFill>
                  <a:schemeClr val="bg1"/>
                </a:solidFill>
                <a:latin typeface="Helvetica" panose="020B0604020202020204" pitchFamily="34" charset="0"/>
                <a:cs typeface="Helvetica" panose="020B0604020202020204" pitchFamily="34" charset="0"/>
              </a:rPr>
              <a:t>Tables de mortalité</a:t>
            </a:r>
          </a:p>
        </p:txBody>
      </p:sp>
      <p:pic>
        <p:nvPicPr>
          <p:cNvPr id="9" name="Image 8">
            <a:extLst>
              <a:ext uri="{FF2B5EF4-FFF2-40B4-BE49-F238E27FC236}">
                <a16:creationId xmlns:a16="http://schemas.microsoft.com/office/drawing/2014/main" id="{2C356854-0685-DCEF-E2F6-65D5E9653A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1274" y="-185107"/>
            <a:ext cx="3179518" cy="1268781"/>
          </a:xfrm>
          <a:prstGeom prst="rect">
            <a:avLst/>
          </a:prstGeom>
        </p:spPr>
      </p:pic>
      <p:sp>
        <p:nvSpPr>
          <p:cNvPr id="6" name="Rectangle 5"/>
          <p:cNvSpPr/>
          <p:nvPr/>
        </p:nvSpPr>
        <p:spPr>
          <a:xfrm>
            <a:off x="3938554" y="3337559"/>
            <a:ext cx="3816000" cy="923330"/>
          </a:xfrm>
          <a:prstGeom prst="rect">
            <a:avLst/>
          </a:prstGeom>
        </p:spPr>
        <p:txBody>
          <a:bodyPr wrap="square">
            <a:spAutoFit/>
          </a:bodyPr>
          <a:lstStyle/>
          <a:p>
            <a:br>
              <a:rPr lang="fr-CI" noProof="0">
                <a:solidFill>
                  <a:schemeClr val="bg1"/>
                </a:solidFill>
              </a:rPr>
            </a:br>
            <a:r>
              <a:rPr lang="fr-CI" noProof="0">
                <a:solidFill>
                  <a:srgbClr val="EFAC62"/>
                </a:solidFill>
                <a:latin typeface="Helvetica" panose="020B0604020202020204" pitchFamily="34" charset="0"/>
                <a:ea typeface="Open Sans Light" panose="020B0306030504020204" pitchFamily="34" charset="0"/>
                <a:cs typeface="Helvetica" panose="020B0604020202020204" pitchFamily="34" charset="0"/>
              </a:rPr>
              <a:t>Rôle, choix des tables, indicateurs de référence</a:t>
            </a:r>
          </a:p>
        </p:txBody>
      </p:sp>
      <p:pic>
        <p:nvPicPr>
          <p:cNvPr id="11" name="Imag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5561" y="2415481"/>
            <a:ext cx="1566911" cy="1600975"/>
          </a:xfrm>
          <a:prstGeom prst="rect">
            <a:avLst/>
          </a:prstGeom>
        </p:spPr>
      </p:pic>
    </p:spTree>
    <p:extLst>
      <p:ext uri="{BB962C8B-B14F-4D97-AF65-F5344CB8AC3E}">
        <p14:creationId xmlns:p14="http://schemas.microsoft.com/office/powerpoint/2010/main" val="2390093048"/>
      </p:ext>
    </p:extLst>
  </p:cSld>
  <p:clrMapOvr>
    <a:masterClrMapping/>
  </p:clrMapOvr>
  <p:transition>
    <p:fade/>
  </p:transition>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7" name="Image 36"/>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3" name="Rectangle 22">
            <a:extLst>
              <a:ext uri="{FF2B5EF4-FFF2-40B4-BE49-F238E27FC236}">
                <a16:creationId xmlns:a16="http://schemas.microsoft.com/office/drawing/2014/main" id="{4CD23CFE-3F31-4BA9-B26F-B9B5B351518E}"/>
              </a:ext>
            </a:extLst>
          </p:cNvPr>
          <p:cNvSpPr/>
          <p:nvPr/>
        </p:nvSpPr>
        <p:spPr>
          <a:xfrm>
            <a:off x="2106184" y="1811264"/>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qx</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La table donne, pour chaque âge x, la probabilité de décéder avant l'âge x + 1. C'est la brique de base de tous les calculs.</a:t>
            </a:r>
          </a:p>
        </p:txBody>
      </p:sp>
      <p:sp>
        <p:nvSpPr>
          <p:cNvPr id="28" name="Rectangle 27">
            <a:extLst>
              <a:ext uri="{FF2B5EF4-FFF2-40B4-BE49-F238E27FC236}">
                <a16:creationId xmlns:a16="http://schemas.microsoft.com/office/drawing/2014/main" id="{9B9B23AA-050D-4543-80A0-873FE31AFFF7}"/>
              </a:ext>
            </a:extLst>
          </p:cNvPr>
          <p:cNvSpPr/>
          <p:nvPr/>
        </p:nvSpPr>
        <p:spPr>
          <a:xfrm>
            <a:off x="1538714" y="1463475"/>
            <a:ext cx="5748535" cy="166944"/>
          </a:xfrm>
          <a:prstGeom prst="rect">
            <a:avLst/>
          </a:prstGeom>
        </p:spPr>
        <p:txBody>
          <a:bodyPr wrap="square" lIns="0" tIns="0" rIns="0" bIns="0">
            <a:sp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
            </a:r>
          </a:p>
        </p:txBody>
      </p:sp>
      <p:cxnSp>
        <p:nvCxnSpPr>
          <p:cNvPr id="29" name="Straight Connector 28">
            <a:extLst>
              <a:ext uri="{FF2B5EF4-FFF2-40B4-BE49-F238E27FC236}">
                <a16:creationId xmlns:a16="http://schemas.microsoft.com/office/drawing/2014/main" id="{09E553D9-3562-45A7-BE4B-0F12FAA0490F}"/>
              </a:ext>
            </a:extLst>
          </p:cNvPr>
          <p:cNvCxnSpPr>
            <a:cxnSpLocks/>
          </p:cNvCxnSpPr>
          <p:nvPr/>
        </p:nvCxnSpPr>
        <p:spPr>
          <a:xfrm>
            <a:off x="916803" y="1707866"/>
            <a:ext cx="0" cy="3668091"/>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DA735D38-741F-4EFB-826C-6F87FD459AB4}"/>
              </a:ext>
            </a:extLst>
          </p:cNvPr>
          <p:cNvCxnSpPr/>
          <p:nvPr/>
        </p:nvCxnSpPr>
        <p:spPr>
          <a:xfrm>
            <a:off x="916803" y="2291826"/>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EBCFE36B-AE16-49E8-90A6-6621A0EB0473}"/>
              </a:ext>
            </a:extLst>
          </p:cNvPr>
          <p:cNvCxnSpPr/>
          <p:nvPr/>
        </p:nvCxnSpPr>
        <p:spPr>
          <a:xfrm>
            <a:off x="916803" y="3273370"/>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2697F6E2-C26B-4E5F-B7F9-95C6E9325040}"/>
              </a:ext>
            </a:extLst>
          </p:cNvPr>
          <p:cNvCxnSpPr/>
          <p:nvPr/>
        </p:nvCxnSpPr>
        <p:spPr>
          <a:xfrm>
            <a:off x="916803" y="5368324"/>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4CD23CFE-3F31-4BA9-B26F-B9B5B351518E}"/>
              </a:ext>
            </a:extLst>
          </p:cNvPr>
          <p:cNvSpPr/>
          <p:nvPr/>
        </p:nvSpPr>
        <p:spPr>
          <a:xfrm>
            <a:off x="2103510" y="2847523"/>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Lx</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La table donne aussi le nombre de survivants à chaque âge, sur 1 000 000 de naissances. Le rapport de deux Lx donne une probabilité de survie.</a:t>
            </a:r>
          </a:p>
        </p:txBody>
      </p:sp>
      <p:sp>
        <p:nvSpPr>
          <p:cNvPr id="33" name="Rectangle 32">
            <a:extLst>
              <a:ext uri="{FF2B5EF4-FFF2-40B4-BE49-F238E27FC236}">
                <a16:creationId xmlns:a16="http://schemas.microsoft.com/office/drawing/2014/main" id="{4CD23CFE-3F31-4BA9-B26F-B9B5B351518E}"/>
              </a:ext>
            </a:extLst>
          </p:cNvPr>
          <p:cNvSpPr/>
          <p:nvPr/>
        </p:nvSpPr>
        <p:spPr>
          <a:xfrm>
            <a:off x="2125344" y="3881185"/>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Premier usage</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Comparer la mortalité réelle des policiers à la table de référence dit si la cotisation décès est bien calibrée.</a:t>
            </a:r>
          </a:p>
        </p:txBody>
      </p:sp>
      <p:sp>
        <p:nvSpPr>
          <p:cNvPr id="34" name="Rectangle 33">
            <a:extLst>
              <a:ext uri="{FF2B5EF4-FFF2-40B4-BE49-F238E27FC236}">
                <a16:creationId xmlns:a16="http://schemas.microsoft.com/office/drawing/2014/main" id="{4CD23CFE-3F31-4BA9-B26F-B9B5B351518E}"/>
              </a:ext>
            </a:extLst>
          </p:cNvPr>
          <p:cNvSpPr/>
          <p:nvPr/>
        </p:nvSpPr>
        <p:spPr>
          <a:xfrm>
            <a:off x="2122670" y="4917444"/>
            <a:ext cx="9685766" cy="901761"/>
          </a:xfrm>
          <a:prstGeom prst="rect">
            <a:avLst/>
          </a:prstGeom>
          <a:ln w="12700">
            <a:solidFill>
              <a:srgbClr val="112A40"/>
            </a:solidFill>
          </a:ln>
        </p:spPr>
        <p:txBody>
          <a:bodyPr wrap="square" lIns="162000" tIns="54000" rIns="72000" bIns="54000" anchor="ctr">
            <a:noAutofit/>
          </a:bodyPr>
          <a:lstStyle/>
          <a:p>
            <a:pPr lvl="1">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Second usage</a:t>
            </a:r>
          </a:p>
          <a:p>
            <a:pPr lvl="1">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Les tables permettent de calculer la valeur des engagements qui durent toute la vie, comme une prise en charge santé maintenue aux retraités.</a:t>
            </a:r>
            <a:endParaRPr lang="fr-CI" sz="1200">
              <a:latin typeface="Helvetica" panose="020B0604020202020204" pitchFamily="34" charset="0"/>
              <a:ea typeface="Open Sans Light" panose="020B0306030504020204" pitchFamily="34" charset="0"/>
              <a:cs typeface="Helvetica" panose="020B0604020202020204" pitchFamily="34" charset="0"/>
            </a:endParaRPr>
          </a:p>
        </p:txBody>
      </p:sp>
      <p:cxnSp>
        <p:nvCxnSpPr>
          <p:cNvPr id="39" name="Straight Connector 30">
            <a:extLst>
              <a:ext uri="{FF2B5EF4-FFF2-40B4-BE49-F238E27FC236}">
                <a16:creationId xmlns:a16="http://schemas.microsoft.com/office/drawing/2014/main" id="{EBCFE36B-AE16-49E8-90A6-6621A0EB0473}"/>
              </a:ext>
            </a:extLst>
          </p:cNvPr>
          <p:cNvCxnSpPr/>
          <p:nvPr/>
        </p:nvCxnSpPr>
        <p:spPr>
          <a:xfrm>
            <a:off x="919504" y="4326976"/>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grpSp>
        <p:nvGrpSpPr>
          <p:cNvPr id="11" name="Groupe 10"/>
          <p:cNvGrpSpPr/>
          <p:nvPr/>
        </p:nvGrpSpPr>
        <p:grpSpPr>
          <a:xfrm>
            <a:off x="1554870" y="2047565"/>
            <a:ext cx="548640" cy="548640"/>
            <a:chOff x="-1153645" y="1535690"/>
            <a:chExt cx="548640" cy="548640"/>
          </a:xfrm>
        </p:grpSpPr>
        <p:sp>
          <p:nvSpPr>
            <p:cNvPr id="36" name="Oval 21">
              <a:extLst>
                <a:ext uri="{FF2B5EF4-FFF2-40B4-BE49-F238E27FC236}">
                  <a16:creationId xmlns:a16="http://schemas.microsoft.com/office/drawing/2014/main" id="{7BB796F0-2DE6-45B1-851B-D8991F423CF4}"/>
                </a:ext>
              </a:extLst>
            </p:cNvPr>
            <p:cNvSpPr/>
            <p:nvPr/>
          </p:nvSpPr>
          <p:spPr bwMode="gray">
            <a:xfrm>
              <a:off x="-1153645" y="1535690"/>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40" name="Image 3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3163" y="1564148"/>
              <a:ext cx="486259" cy="491723"/>
            </a:xfrm>
            <a:prstGeom prst="rect">
              <a:avLst/>
            </a:prstGeom>
          </p:spPr>
        </p:pic>
      </p:grpSp>
      <p:grpSp>
        <p:nvGrpSpPr>
          <p:cNvPr id="12" name="Groupe 11"/>
          <p:cNvGrpSpPr/>
          <p:nvPr/>
        </p:nvGrpSpPr>
        <p:grpSpPr>
          <a:xfrm>
            <a:off x="1557425" y="3008849"/>
            <a:ext cx="548640" cy="548640"/>
            <a:chOff x="-1154302" y="2719457"/>
            <a:chExt cx="548640" cy="548640"/>
          </a:xfrm>
        </p:grpSpPr>
        <p:sp>
          <p:nvSpPr>
            <p:cNvPr id="42" name="Oval 21">
              <a:extLst>
                <a:ext uri="{FF2B5EF4-FFF2-40B4-BE49-F238E27FC236}">
                  <a16:creationId xmlns:a16="http://schemas.microsoft.com/office/drawing/2014/main" id="{7BB796F0-2DE6-45B1-851B-D8991F423CF4}"/>
                </a:ext>
              </a:extLst>
            </p:cNvPr>
            <p:cNvSpPr/>
            <p:nvPr/>
          </p:nvSpPr>
          <p:spPr bwMode="gray">
            <a:xfrm>
              <a:off x="-1154302" y="2719457"/>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7" name="Imag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4901" y="2781886"/>
              <a:ext cx="396274" cy="396274"/>
            </a:xfrm>
            <a:prstGeom prst="rect">
              <a:avLst/>
            </a:prstGeom>
          </p:spPr>
        </p:pic>
      </p:grpSp>
      <p:grpSp>
        <p:nvGrpSpPr>
          <p:cNvPr id="13" name="Groupe 12"/>
          <p:cNvGrpSpPr/>
          <p:nvPr/>
        </p:nvGrpSpPr>
        <p:grpSpPr>
          <a:xfrm>
            <a:off x="1567381" y="4044725"/>
            <a:ext cx="548640" cy="552951"/>
            <a:chOff x="-1185544" y="4122202"/>
            <a:chExt cx="548640" cy="552951"/>
          </a:xfrm>
        </p:grpSpPr>
        <p:sp>
          <p:nvSpPr>
            <p:cNvPr id="44" name="Oval 21">
              <a:extLst>
                <a:ext uri="{FF2B5EF4-FFF2-40B4-BE49-F238E27FC236}">
                  <a16:creationId xmlns:a16="http://schemas.microsoft.com/office/drawing/2014/main" id="{7BB796F0-2DE6-45B1-851B-D8991F423CF4}"/>
                </a:ext>
              </a:extLst>
            </p:cNvPr>
            <p:cNvSpPr/>
            <p:nvPr/>
          </p:nvSpPr>
          <p:spPr bwMode="gray">
            <a:xfrm>
              <a:off x="-1185544" y="4122202"/>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8" name="Image 7"/>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71838" y="4144755"/>
              <a:ext cx="524301" cy="530398"/>
            </a:xfrm>
            <a:prstGeom prst="rect">
              <a:avLst/>
            </a:prstGeom>
          </p:spPr>
        </p:pic>
      </p:grpSp>
      <p:grpSp>
        <p:nvGrpSpPr>
          <p:cNvPr id="14" name="Groupe 13"/>
          <p:cNvGrpSpPr/>
          <p:nvPr/>
        </p:nvGrpSpPr>
        <p:grpSpPr>
          <a:xfrm>
            <a:off x="1567381" y="5111071"/>
            <a:ext cx="548640" cy="548640"/>
            <a:chOff x="-1227267" y="5286500"/>
            <a:chExt cx="548640" cy="548640"/>
          </a:xfrm>
        </p:grpSpPr>
        <p:sp>
          <p:nvSpPr>
            <p:cNvPr id="45" name="Oval 21">
              <a:extLst>
                <a:ext uri="{FF2B5EF4-FFF2-40B4-BE49-F238E27FC236}">
                  <a16:creationId xmlns:a16="http://schemas.microsoft.com/office/drawing/2014/main" id="{7BB796F0-2DE6-45B1-851B-D8991F423CF4}"/>
                </a:ext>
              </a:extLst>
            </p:cNvPr>
            <p:cNvSpPr/>
            <p:nvPr/>
          </p:nvSpPr>
          <p:spPr bwMode="gray">
            <a:xfrm>
              <a:off x="-1227267" y="5286500"/>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9" name="Image 8"/>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71838" y="5346402"/>
              <a:ext cx="422834" cy="432026"/>
            </a:xfrm>
            <a:prstGeom prst="rect">
              <a:avLst/>
            </a:prstGeom>
          </p:spPr>
        </p:pic>
      </p:grpSp>
      <p:sp>
        <p:nvSpPr>
          <p:cNvPr id="50" name="ZoneTexte 49">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pic>
        <p:nvPicPr>
          <p:cNvPr id="51" name="Image 50"/>
          <p:cNvPicPr>
            <a:picLocks noChangeAspect="1"/>
          </p:cNvPicPr>
          <p:nvPr/>
        </p:nvPicPr>
        <p:blipFill rotWithShape="1">
          <a:blip r:embed="rId7" cstate="print">
            <a:extLst>
              <a:ext uri="{28A0092B-C50C-407E-A947-70E740481C1C}">
                <a14:useLocalDpi xmlns:a14="http://schemas.microsoft.com/office/drawing/2010/main" val="0"/>
              </a:ext>
            </a:extLst>
          </a:blip>
          <a:srcRect l="4260" t="13024" r="74155" b="14121"/>
          <a:stretch/>
        </p:blipFill>
        <p:spPr>
          <a:xfrm>
            <a:off x="702475" y="1350400"/>
            <a:ext cx="392679" cy="406703"/>
          </a:xfrm>
          <a:prstGeom prst="rect">
            <a:avLst/>
          </a:prstGeom>
        </p:spPr>
      </p:pic>
      <p:sp>
        <p:nvSpPr>
          <p:cNvPr id="52"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Pourquoi des tables de mortalité</a:t>
            </a:r>
          </a:p>
        </p:txBody>
      </p:sp>
      <p:sp>
        <p:nvSpPr>
          <p:cNvPr id="53"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tables servent à mesurer et à évaluer tout engagement lié à la vie humaine</a:t>
            </a:r>
          </a:p>
        </p:txBody>
      </p:sp>
      <p:sp>
        <p:nvSpPr>
          <p:cNvPr id="54"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Elles préparent deux analyses de la mission : la mortalité des policiers et les engagements viagers</a:t>
            </a:r>
          </a:p>
        </p:txBody>
      </p:sp>
      <p:sp>
        <p:nvSpPr>
          <p:cNvPr id="55"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tables de mortalité CIMA H, CIMA F, TD CIMA et TV CIMA (fichiers fournis le 18/10/2026). Table ronde CIMA FANAF 2011. Calculs Adenka</a:t>
            </a:r>
          </a:p>
        </p:txBody>
      </p:sp>
      <p:sp>
        <p:nvSpPr>
          <p:cNvPr id="56" name="TextBox 5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CIMA : Conférence interafricaine des marchés d'assurances | FANAF : Fédération des sociétés d'assurances de droit national africaines | qx : probabilité de décès entre x et x + 1 ans | Lx : survivants à l'âge x | TD, TV : anciennes tables CIMA de décès et de survie</a:t>
            </a:r>
          </a:p>
        </p:txBody>
      </p:sp>
    </p:spTree>
    <p:extLst>
      <p:ext uri="{BB962C8B-B14F-4D97-AF65-F5344CB8AC3E}">
        <p14:creationId xmlns:p14="http://schemas.microsoft.com/office/powerpoint/2010/main" val="1711005387"/>
      </p:ext>
    </p:extLst>
  </p:cSld>
  <p:clrMapOvr>
    <a:masterClrMapping/>
  </p:clrMapOvr>
  <p:transition>
    <p:fade/>
  </p:transition>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Choix des tables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principe de prudence fixe la table selon le risque porté</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CIMA H pour le risque décès, CIMA F pour le risque de survie, TD et TV en comparaison historique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tables de mortalité CIMA H, CIMA F, TD CIMA et TV CIMA (fichiers fournis le 18/10/2026). Table ronde CIMA FANAF 2011. Calculs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106 : Tables de mortalité CIMA et usage retenu</a:t>
            </a:r>
          </a:p>
        </p:txBody>
      </p:sp>
      <p:graphicFrame>
        <p:nvGraphicFramePr>
          <p:cNvPr id="32" name="Table 31"/>
          <p:cNvGraphicFramePr>
            <a:graphicFrameLocks noGrp="1"/>
          </p:cNvGraphicFramePr>
          <p:nvPr/>
        </p:nvGraphicFramePr>
        <p:xfrm>
          <a:off x="503999" y="1655999"/>
          <a:ext cx="11231999" cy="1461552"/>
        </p:xfrm>
        <a:graphic>
          <a:graphicData uri="http://schemas.openxmlformats.org/drawingml/2006/table">
            <a:tbl>
              <a:tblPr firstRow="0" bandRow="0">
                <a:tableStyleId>{5940675A-B579-460E-94D1-54222C63F5DA}</a:tableStyleId>
              </a:tblPr>
              <a:tblGrid>
                <a:gridCol w="1368000"/>
                <a:gridCol w="2015999"/>
                <a:gridCol w="2520000"/>
                <a:gridCol w="5328000"/>
              </a:tblGrid>
              <a:tr h="225250">
                <a:tc>
                  <a:txBody>
                    <a:bodyPr/>
                    <a:lstStyle/>
                    <a:p>
                      <a:pPr marL="0" indent="0" lvl="0">
                        <a:buNone/>
                      </a:pPr>
                      <a:r>
                        <a:rPr sz="1100" b="1">
                          <a:solidFill>
                            <a:srgbClr val="FFFFFF"/>
                          </a:solidFill>
                          <a:latin typeface="Helvetica"/>
                        </a:rPr>
                        <a:t>Table</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Feuille du fichier</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Risque</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Usage dans la mission</a:t>
                      </a:r>
                    </a:p>
                  </a:txBody>
                  <a:tcPr marL="43200" marR="43200" marT="14400" marB="14400" anchor="ctr">
                    <a:solidFill>
                      <a:srgbClr val="060606"/>
                    </a:solidFill>
                  </a:tcPr>
                </a:tc>
              </a:tr>
              <a:tr h="392901">
                <a:tc>
                  <a:txBody>
                    <a:bodyPr/>
                    <a:lstStyle/>
                    <a:p>
                      <a:pPr marL="0" indent="0" lvl="0">
                        <a:buNone/>
                      </a:pPr>
                      <a:r>
                        <a:rPr sz="1100" b="1">
                          <a:solidFill>
                            <a:srgbClr val="060606"/>
                          </a:solidFill>
                          <a:latin typeface="Helvetica"/>
                        </a:rPr>
                        <a:t>CIMA H</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CIMA_H (décès)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Décès (paiement au décès)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Calibrage de la cotisation décès et comparaison à la mortalité observée</a:t>
                      </a:r>
                    </a:p>
                  </a:txBody>
                  <a:tcPr marL="43200" marR="43200" marT="14400" marB="14400" anchor="ctr">
                    <a:solidFill>
                      <a:srgbClr val="FFFFFF"/>
                    </a:solidFill>
                  </a:tcPr>
                </a:tc>
              </a:tr>
              <a:tr h="392901">
                <a:tc>
                  <a:txBody>
                    <a:bodyPr/>
                    <a:lstStyle/>
                    <a:p>
                      <a:pPr marL="0" indent="0" lvl="0">
                        <a:buNone/>
                      </a:pPr>
                      <a:r>
                        <a:rPr sz="1100" b="1">
                          <a:solidFill>
                            <a:srgbClr val="060606"/>
                          </a:solidFill>
                          <a:latin typeface="Helvetica"/>
                        </a:rPr>
                        <a:t>CIMA F</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CIMA_F (vie)</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Survie (paiement tant que la personne vit)</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Engagements viagers : prise en charge des retraités, rentes</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TD CIMA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TD_CIMA (décès)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Décès (ancienne table)</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Comparaison historique</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TV CIMA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TV_CIMA (vie)</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Survie (ancienne table)</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Comparaison historique</a:t>
                      </a:r>
                    </a:p>
                  </a:txBody>
                  <a:tcPr marL="43200" marR="43200" marT="14400" marB="14400" anchor="ctr">
                    <a:solidFill>
                      <a:srgbClr val="F2F2F2"/>
                    </a:solidFill>
                  </a:tcPr>
                </a:tc>
              </a:tr>
            </a:tbl>
          </a:graphicData>
        </a:graphic>
      </p:graphicFrame>
      <p:sp>
        <p:nvSpPr>
          <p:cNvPr id="33" name="TextBox 32"/>
          <p:cNvSpPr txBox="1"/>
          <p:nvPr/>
        </p:nvSpPr>
        <p:spPr>
          <a:xfrm>
            <a:off x="503999" y="3225553"/>
            <a:ext cx="11232000" cy="162000"/>
          </a:xfrm>
          <a:prstGeom prst="rect">
            <a:avLst/>
          </a:prstGeom>
          <a:noFill/>
        </p:spPr>
        <p:txBody>
          <a:bodyPr wrap="square" anchor="t" lIns="54000" rIns="54000"/>
          <a:lstStyle/>
          <a:p>
            <a:pPr algn="l"/>
            <a:r>
              <a:rPr sz="850" b="0">
                <a:solidFill>
                  <a:srgbClr val="53565A"/>
                </a:solidFill>
                <a:latin typeface="Helvetica"/>
              </a:rPr>
              <a:t>Valable pour : tables « CIMA_H.xlsx », « CIMA_F.xlsx », « TD_CIMA.xlsx », « TV_CIMA.xlsx » fournies le 18/10/2026. Non comparées à la mortalité des policiers.</a:t>
            </a:r>
          </a:p>
        </p:txBody>
      </p:sp>
      <p:sp>
        <p:nvSpPr>
          <p:cNvPr id="34" name="TextBox 33"/>
          <p:cNvSpPr txBox="1"/>
          <p:nvPr/>
        </p:nvSpPr>
        <p:spPr>
          <a:xfrm>
            <a:off x="503999" y="3531553"/>
            <a:ext cx="11232000" cy="2336446"/>
          </a:xfrm>
          <a:prstGeom prst="rect">
            <a:avLst/>
          </a:prstGeom>
          <a:noFill/>
        </p:spPr>
        <p:txBody>
          <a:bodyPr wrap="square" lIns="54000" rIns="54000"/>
          <a:lstStyle/>
          <a:p>
            <a:pPr algn="just">
              <a:spcAft>
                <a:spcPts val="600"/>
              </a:spcAft>
            </a:pPr>
            <a:r>
              <a:rPr sz="1300" b="1">
                <a:solidFill>
                  <a:srgbClr val="060606"/>
                </a:solidFill>
                <a:latin typeface="Helvetica"/>
              </a:rPr>
              <a:t>La prudence change de sens selon le risque.</a:t>
            </a:r>
            <a:r>
              <a:rPr sz="1300" b="0">
                <a:solidFill>
                  <a:srgbClr val="060606"/>
                </a:solidFill>
                <a:latin typeface="Helvetica"/>
              </a:rPr>
              <a:t> Une même table peut être prudente pour un capital décès et imprudente pour une rente : c'est pourquoi deux tables sont retenues.</a:t>
            </a:r>
          </a:p>
          <a:p>
            <a:pPr algn="just">
              <a:spcAft>
                <a:spcPts val="600"/>
              </a:spcAft>
            </a:pPr>
            <a:r>
              <a:rPr sz="1300" b="0">
                <a:solidFill>
                  <a:srgbClr val="060606"/>
                </a:solidFill>
                <a:latin typeface="Helvetica"/>
              </a:rPr>
              <a:t>Le FPPN porte les deux risques (capital décès et, potentiellement, prise en charge viagère des retraités) : chaque engagement sera évalué avec la table qui le défavorise.</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CIMA : Conférence interafricaine des marchés d'assurances | FANAF : Fédération des sociétés d'assurances de droit national africaines | TD, TV : anciennes tables CIMA de décès et de survie</a:t>
            </a:r>
          </a:p>
        </p:txBody>
      </p:sp>
    </p:spTree>
    <p:extLst>
      <p:ext uri="{BB962C8B-B14F-4D97-AF65-F5344CB8AC3E}">
        <p14:creationId xmlns:p14="http://schemas.microsoft.com/office/powerpoint/2010/main" val="3435547748"/>
      </p:ext>
    </p:extLst>
  </p:cSld>
  <p:clrMapOvr>
    <a:masterClrMapping/>
  </p:clrMapOvr>
  <p:transition>
    <p:fade/>
  </p:transition>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Courbes de survie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tables de survie prévoient des vies plus longues que les tables de décès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Survivants à 60 ans sur 100 naissances : 81,51 (CIMA H), 89,58 (CIMA F)</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39 : Survivants pour 100 naissances, par âge</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 des naissances</a:t>
            </a:r>
          </a:p>
        </p:txBody>
      </p:sp>
      <p:graphicFrame>
        <p:nvGraphicFramePr>
          <p:cNvPr id="32" name="Chart 31"/>
          <p:cNvGraphicFramePr>
            <a:graphicFrameLocks noGrp="1"/>
          </p:cNvGraphicFramePr>
          <p:nvPr/>
        </p:nvGraphicFramePr>
        <p:xfrm>
          <a:off x="503999" y="1782000"/>
          <a:ext cx="6552000" cy="3744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tables de mortalité CIMA H, CIMA F, TD CIMA et TV CIMA (fichiers fournis le 18/10/2026). Table ronde CIMA FANAF 2011. Calculs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L'espérance de vie à la naissance vaut 73,50 ans avec CIMA H et 81,64 ans avec CIMA F.</a:t>
            </a:r>
          </a:p>
          <a:p>
            <a:pPr algn="just">
              <a:spcAft>
                <a:spcPts val="600"/>
              </a:spcAft>
            </a:pPr>
            <a:r>
              <a:rPr sz="1400" b="1">
                <a:solidFill>
                  <a:srgbClr val="060606"/>
                </a:solidFill>
                <a:latin typeface="Helvetica"/>
              </a:rPr>
              <a:t>Les anciennes tables prévoient davantage de décès</a:t>
            </a:r>
            <a:r>
              <a:rPr sz="1400" b="0">
                <a:solidFill>
                  <a:srgbClr val="060606"/>
                </a:solidFill>
                <a:latin typeface="Helvetica"/>
              </a:rPr>
              <a:t> : 67,51 ans avec TD et 74,56 ans avec TV.</a:t>
            </a:r>
          </a:p>
          <a:p>
            <a:pPr algn="just">
              <a:spcAft>
                <a:spcPts val="600"/>
              </a:spcAft>
            </a:pPr>
            <a:r>
              <a:rPr sz="1400" b="1">
                <a:solidFill>
                  <a:srgbClr val="060606"/>
                </a:solidFill>
                <a:latin typeface="Helvetica"/>
              </a:rPr>
              <a:t>Le choix de la table change donc fortement les montants calculés.</a:t>
            </a:r>
          </a:p>
          <a:p>
            <a:pPr algn="just">
              <a:spcAft>
                <a:spcPts val="600"/>
              </a:spcAft>
            </a:pPr>
            <a:r>
              <a:rPr sz="1400" b="0">
                <a:solidFill>
                  <a:srgbClr val="060606"/>
                </a:solidFill>
                <a:latin typeface="Helvetica"/>
              </a:rPr>
              <a:t>Un engagement viager évalué avec une ancienne table est sous-estimé : les calculs de la mission utiliseront les tables en vigueur depuis 2012.</a:t>
            </a:r>
          </a:p>
        </p:txBody>
      </p:sp>
      <p:sp>
        <p:nvSpPr>
          <p:cNvPr id="35" name="TextBox 34"/>
          <p:cNvSpPr txBox="1"/>
          <p:nvPr/>
        </p:nvSpPr>
        <p:spPr>
          <a:xfrm>
            <a:off x="503999" y="5526000"/>
            <a:ext cx="6552000" cy="306000"/>
          </a:xfrm>
          <a:prstGeom prst="rect">
            <a:avLst/>
          </a:prstGeom>
          <a:noFill/>
        </p:spPr>
        <p:txBody>
          <a:bodyPr wrap="square" anchor="t" lIns="54000" rIns="54000"/>
          <a:lstStyle/>
          <a:p>
            <a:pPr algn="l"/>
            <a:r>
              <a:rPr sz="850" b="0">
                <a:solidFill>
                  <a:srgbClr val="53565A"/>
                </a:solidFill>
                <a:latin typeface="Helvetica"/>
              </a:rPr>
              <a:t>Valable pour : colonne Lx des tables CIMA H, CIMA F, TD et TV, âges 0 à 110 ans. Population générale de la zone CIMA, non le FPPN.</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CIMA : Conférence interafricaine des marchés d'assurances | FANAF : Fédération des sociétés d'assurances de droit national africaines | Lx : survivants à l'âge x | TD, TV : anciennes tables CIMA de décès et de survie</a:t>
            </a:r>
          </a:p>
        </p:txBody>
      </p:sp>
    </p:spTree>
    <p:extLst>
      <p:ext uri="{BB962C8B-B14F-4D97-AF65-F5344CB8AC3E}">
        <p14:creationId xmlns:p14="http://schemas.microsoft.com/office/powerpoint/2010/main" val="3586314836"/>
      </p:ext>
    </p:extLst>
  </p:cSld>
  <p:clrMapOvr>
    <a:masterClrMapping/>
  </p:clrMapOvr>
  <p:transition>
    <p:fade/>
  </p:transition>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Probabilités de décès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probabilité de décès double environ tous les dix ans aux âges actifs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Probabilité de décès à 40 ans : 3,50 pour mille (CIMA H), 1,89 pour mille (CIMA F)</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40 : Probabilité de décès dans l'année (qx), par âge</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pour mille</a:t>
            </a:r>
          </a:p>
        </p:txBody>
      </p:sp>
      <p:graphicFrame>
        <p:nvGraphicFramePr>
          <p:cNvPr id="32" name="Chart 31"/>
          <p:cNvGraphicFramePr>
            <a:graphicFrameLocks noGrp="1"/>
          </p:cNvGraphicFramePr>
          <p:nvPr/>
        </p:nvGraphicFramePr>
        <p:xfrm>
          <a:off x="503999" y="1782000"/>
          <a:ext cx="6552000" cy="3744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tables de mortalité CIMA H, CIMA F, TD CIMA et TV CIMA (fichiers fournis le 18/10/2026). Table ronde CIMA FANAF 2011. Calculs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À 55 ans, la probabilité de décès vaut 9,38 pour mille avec CIMA H et 5,09 pour mille avec CIMA F.</a:t>
            </a:r>
          </a:p>
          <a:p>
            <a:pPr algn="just">
              <a:spcAft>
                <a:spcPts val="600"/>
              </a:spcAft>
            </a:pPr>
            <a:r>
              <a:rPr sz="1400" b="1">
                <a:solidFill>
                  <a:srgbClr val="060606"/>
                </a:solidFill>
                <a:latin typeface="Helvetica"/>
              </a:rPr>
              <a:t>Entre 20 et 60 ans, CIMA H prévoit 18,77 % de décès de moins que TD</a:t>
            </a:r>
            <a:r>
              <a:rPr sz="1400" b="0">
                <a:solidFill>
                  <a:srgbClr val="060606"/>
                </a:solidFill>
                <a:latin typeface="Helvetica"/>
              </a:rPr>
              <a:t>, et CIMA F 9,06 % de moins que TV.</a:t>
            </a:r>
          </a:p>
          <a:p>
            <a:pPr algn="just">
              <a:spcAft>
                <a:spcPts val="600"/>
              </a:spcAft>
            </a:pPr>
            <a:r>
              <a:rPr sz="1400" b="1">
                <a:solidFill>
                  <a:srgbClr val="060606"/>
                </a:solidFill>
                <a:latin typeface="Helvetica"/>
              </a:rPr>
              <a:t>La table ronde CIMA FANAF de 2011 indique des écarts de 17 % pour CIMA H et d'environ 4 % pour CIMA F, sur l'ensemble des âges.</a:t>
            </a:r>
          </a:p>
          <a:p>
            <a:pPr algn="just">
              <a:spcAft>
                <a:spcPts val="600"/>
              </a:spcAft>
            </a:pPr>
            <a:r>
              <a:rPr sz="1400" b="0">
                <a:solidFill>
                  <a:srgbClr val="060606"/>
                </a:solidFill>
                <a:latin typeface="Helvetica"/>
              </a:rPr>
              <a:t>Pour une population de policiers, exposée à des risques professionnels, la mortalité réelle peut s'écarter de la table : seul le rapport décès observés / décès attendus le dira.</a:t>
            </a:r>
          </a:p>
        </p:txBody>
      </p:sp>
      <p:sp>
        <p:nvSpPr>
          <p:cNvPr id="35" name="TextBox 34"/>
          <p:cNvSpPr txBox="1"/>
          <p:nvPr/>
        </p:nvSpPr>
        <p:spPr>
          <a:xfrm>
            <a:off x="503999" y="5526000"/>
            <a:ext cx="6552000" cy="306000"/>
          </a:xfrm>
          <a:prstGeom prst="rect">
            <a:avLst/>
          </a:prstGeom>
          <a:noFill/>
        </p:spPr>
        <p:txBody>
          <a:bodyPr wrap="square" anchor="t" lIns="54000" rIns="54000"/>
          <a:lstStyle/>
          <a:p>
            <a:pPr algn="l"/>
            <a:r>
              <a:rPr sz="850" b="0">
                <a:solidFill>
                  <a:srgbClr val="53565A"/>
                </a:solidFill>
                <a:latin typeface="Helvetica"/>
              </a:rPr>
              <a:t>Valable pour : colonne qx des tables CIMA H, CIMA F, TD et TV, âges 20 à 80 ans. Population générale de la zone CIMA, non le FPPN.</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CIMA : Conférence interafricaine des marchés d'assurances | FANAF : Fédération des sociétés d'assurances de droit national africaines | qx : probabilité de décès entre x et x + 1 ans | TD, TV : anciennes tables CIMA de décès et de survie</a:t>
            </a:r>
          </a:p>
        </p:txBody>
      </p:sp>
    </p:spTree>
    <p:extLst>
      <p:ext uri="{BB962C8B-B14F-4D97-AF65-F5344CB8AC3E}">
        <p14:creationId xmlns:p14="http://schemas.microsoft.com/office/powerpoint/2010/main" val="175786059"/>
      </p:ext>
    </p:extLst>
  </p:cSld>
  <p:clrMapOvr>
    <a:masterClrMapping/>
  </p:clrMapOvr>
  <p:transition>
    <p:fade/>
  </p:transition>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Indicateurs de référence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Une rente viagère vaut entre 12 et 18 années de paiement selon l'âge et la table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Valeur d'une rente de 1 FCFA par an à 60 ans, au taux de 3,5 % : 16,84 (CIMA F), 14,26 (CIMA H)</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tables de mortalité CIMA H, CIMA F, TD CIMA et TV CIMA (fichiers fournis le 18/10/2026). Table ronde CIMA FANAF 2011. Calculs Adenka</a:t>
            </a:r>
          </a:p>
        </p:txBody>
      </p:sp>
      <p:sp>
        <p:nvSpPr>
          <p:cNvPr id="31" name="TextBox 30"/>
          <p:cNvSpPr txBox="1"/>
          <p:nvPr/>
        </p:nvSpPr>
        <p:spPr>
          <a:xfrm>
            <a:off x="503999" y="1386000"/>
            <a:ext cx="6768000" cy="216000"/>
          </a:xfrm>
          <a:prstGeom prst="rect">
            <a:avLst/>
          </a:prstGeom>
          <a:noFill/>
        </p:spPr>
        <p:txBody>
          <a:bodyPr wrap="square" anchor="t" lIns="54000" rIns="54000"/>
          <a:lstStyle/>
          <a:p>
            <a:pPr algn="ctr"/>
            <a:r>
              <a:rPr sz="1200" b="0">
                <a:solidFill>
                  <a:srgbClr val="EFAC62"/>
                </a:solidFill>
                <a:latin typeface="Helvetica"/>
              </a:rPr>
              <a:t>Tableau 107 : Espérance de vie et valeur de la rente viagère (taux de 3,5 %)</a:t>
            </a:r>
          </a:p>
        </p:txBody>
      </p:sp>
      <p:graphicFrame>
        <p:nvGraphicFramePr>
          <p:cNvPr id="32" name="Table 31"/>
          <p:cNvGraphicFramePr>
            <a:graphicFrameLocks noGrp="1"/>
          </p:cNvGraphicFramePr>
          <p:nvPr/>
        </p:nvGraphicFramePr>
        <p:xfrm>
          <a:off x="503999" y="1655999"/>
          <a:ext cx="6768000" cy="1126250"/>
        </p:xfrm>
        <a:graphic>
          <a:graphicData uri="http://schemas.openxmlformats.org/drawingml/2006/table">
            <a:tbl>
              <a:tblPr firstRow="0" bandRow="0">
                <a:tableStyleId>{5940675A-B579-460E-94D1-54222C63F5DA}</a:tableStyleId>
              </a:tblPr>
              <a:tblGrid>
                <a:gridCol w="1368000"/>
                <a:gridCol w="1080000"/>
                <a:gridCol w="1080000"/>
                <a:gridCol w="1080000"/>
                <a:gridCol w="1080000"/>
                <a:gridCol w="1080000"/>
              </a:tblGrid>
              <a:tr h="225250">
                <a:tc>
                  <a:txBody>
                    <a:bodyPr/>
                    <a:lstStyle/>
                    <a:p>
                      <a:pPr marL="0" indent="0" lvl="0">
                        <a:buNone/>
                      </a:pPr>
                      <a:r>
                        <a:rPr sz="1100" b="1">
                          <a:solidFill>
                            <a:srgbClr val="FFFFFF"/>
                          </a:solidFill>
                          <a:latin typeface="Helvetica"/>
                        </a:rPr>
                        <a:t>Table</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e55 (ans)</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e60 (ans)</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ä55</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ä60</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ä65</a:t>
                      </a:r>
                    </a:p>
                  </a:txBody>
                  <a:tcPr marL="43200" marR="43200" marT="14400" marB="14400" anchor="ctr">
                    <a:solidFill>
                      <a:srgbClr val="060606"/>
                    </a:solidFill>
                  </a:tcPr>
                </a:tc>
              </a:tr>
              <a:tr h="225250">
                <a:tc>
                  <a:txBody>
                    <a:bodyPr/>
                    <a:lstStyle/>
                    <a:p>
                      <a:pPr marL="0" indent="0" lvl="0">
                        <a:buNone/>
                      </a:pPr>
                      <a:r>
                        <a:rPr sz="1100" b="1">
                          <a:solidFill>
                            <a:srgbClr val="060606"/>
                          </a:solidFill>
                          <a:latin typeface="Helvetica"/>
                        </a:rPr>
                        <a:t>CIMA H</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24,15</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20,34</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15,96</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14,26</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12,52</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CIMA F</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30,23</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26,04</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18,39</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16,84</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15,17</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TD CIMA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19,36</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15,80</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13,82</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11,98</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10,13</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TV CIMA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24,04</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19,90</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16,10</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14,20</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12,21</a:t>
                      </a:r>
                    </a:p>
                  </a:txBody>
                  <a:tcPr marL="43200" marR="43200" marT="14400" marB="14400" anchor="ctr">
                    <a:solidFill>
                      <a:srgbClr val="F2F2F2"/>
                    </a:solidFill>
                  </a:tcPr>
                </a:tc>
              </a:tr>
            </a:tbl>
          </a:graphicData>
        </a:graphic>
      </p:graphicFrame>
      <p:sp>
        <p:nvSpPr>
          <p:cNvPr id="33" name="TextBox 32"/>
          <p:cNvSpPr txBox="1"/>
          <p:nvPr/>
        </p:nvSpPr>
        <p:spPr>
          <a:xfrm>
            <a:off x="503999" y="2890252"/>
            <a:ext cx="6768000" cy="306000"/>
          </a:xfrm>
          <a:prstGeom prst="rect">
            <a:avLst/>
          </a:prstGeom>
          <a:noFill/>
        </p:spPr>
        <p:txBody>
          <a:bodyPr wrap="square" anchor="t" lIns="54000" rIns="54000"/>
          <a:lstStyle/>
          <a:p>
            <a:pPr algn="l"/>
            <a:r>
              <a:rPr sz="850" b="0">
                <a:solidFill>
                  <a:srgbClr val="53565A"/>
                </a:solidFill>
                <a:latin typeface="Helvetica"/>
              </a:rPr>
              <a:t>Valable pour : tables CIMA H, CIMA F, TD et TV, taux technique de 3,5 %. Valeurs de référence, non engagements du FPPN.</a:t>
            </a:r>
          </a:p>
        </p:txBody>
      </p:sp>
      <p:sp>
        <p:nvSpPr>
          <p:cNvPr id="34" name="TextBox 33"/>
          <p:cNvSpPr txBox="1"/>
          <p:nvPr/>
        </p:nvSpPr>
        <p:spPr>
          <a:xfrm>
            <a:off x="7488000" y="1386000"/>
            <a:ext cx="4248000" cy="4482000"/>
          </a:xfrm>
          <a:prstGeom prst="rect">
            <a:avLst/>
          </a:prstGeom>
          <a:noFill/>
        </p:spPr>
        <p:txBody>
          <a:bodyPr wrap="square" lIns="54000" rIns="54000"/>
          <a:lstStyle/>
          <a:p>
            <a:pPr algn="just">
              <a:spcAft>
                <a:spcPts val="600"/>
              </a:spcAft>
            </a:pPr>
            <a:r>
              <a:rPr sz="1400" b="1">
                <a:solidFill>
                  <a:srgbClr val="060606"/>
                </a:solidFill>
                <a:latin typeface="Helvetica"/>
              </a:rPr>
              <a:t>Une rente servie à partir de 60 ans vaut 16,84 années de paiement avec CIMA F.</a:t>
            </a:r>
            <a:r>
              <a:rPr sz="1400" b="0">
                <a:solidFill>
                  <a:srgbClr val="060606"/>
                </a:solidFill>
                <a:latin typeface="Helvetica"/>
              </a:rPr>
              <a:t> Avec CIMA H, elle n'en vaut que 14,26.</a:t>
            </a:r>
          </a:p>
          <a:p>
            <a:pPr algn="just">
              <a:spcAft>
                <a:spcPts val="600"/>
              </a:spcAft>
            </a:pPr>
            <a:r>
              <a:rPr sz="1400" b="1">
                <a:solidFill>
                  <a:srgbClr val="060606"/>
                </a:solidFill>
                <a:latin typeface="Helvetica"/>
              </a:rPr>
              <a:t>L'écart entre les deux tables dépasse deux années de paiement à 60 ans.</a:t>
            </a:r>
            <a:r>
              <a:rPr sz="1400" b="0">
                <a:solidFill>
                  <a:srgbClr val="060606"/>
                </a:solidFill>
                <a:latin typeface="Helvetica"/>
              </a:rPr>
              <a:t> C'est l'ordre de grandeur de l'enjeu du choix de la table.</a:t>
            </a:r>
          </a:p>
          <a:p>
            <a:pPr algn="just">
              <a:spcAft>
                <a:spcPts val="600"/>
              </a:spcAft>
            </a:pPr>
            <a:r>
              <a:rPr sz="1400" b="0">
                <a:solidFill>
                  <a:srgbClr val="060606"/>
                </a:solidFill>
                <a:latin typeface="Helvetica"/>
              </a:rPr>
              <a:t>Ces facteurs serviront à évaluer tout engagement viager du FPPN dès que les âges et les coûts annuels seront connus.</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Sigles : FPPN : Fonds de prévoyance de la Police nationale | CIMA : Conférence interafricaine des marchés d'assurances | FANAF : Fédération des sociétés d'assurances de droit national africaines | e_x : espérance de vie à l'âge x | ä_x : valeur d'une rente viagère de 1 par an à l'âge x | TD, TV : anciennes tables CIMA de décès et de survie</a:t>
            </a:r>
          </a:p>
        </p:txBody>
      </p:sp>
    </p:spTree>
    <p:extLst>
      <p:ext uri="{BB962C8B-B14F-4D97-AF65-F5344CB8AC3E}">
        <p14:creationId xmlns:p14="http://schemas.microsoft.com/office/powerpoint/2010/main" val="3357732297"/>
      </p:ext>
    </p:extLst>
  </p:cSld>
  <p:clrMapOvr>
    <a:masterClrMapping/>
  </p:clrMapOvr>
  <p:transition>
    <p:fade/>
  </p:transition>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6" name="Image 25"/>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30" name="ZoneTexte 29">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9" name="Google Shape;7386;p39"/>
          <p:cNvSpPr/>
          <p:nvPr/>
        </p:nvSpPr>
        <p:spPr>
          <a:xfrm rot="10800000">
            <a:off x="1748072" y="1436295"/>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10" name="Google Shape;7367;p39"/>
          <p:cNvSpPr/>
          <p:nvPr/>
        </p:nvSpPr>
        <p:spPr>
          <a:xfrm rot="16200000">
            <a:off x="2201124" y="215006"/>
            <a:ext cx="2027916" cy="4306666"/>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chemeClr val="tx1"/>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 name="Rectangle 3"/>
          <p:cNvSpPr/>
          <p:nvPr/>
        </p:nvSpPr>
        <p:spPr>
          <a:xfrm>
            <a:off x="2946575" y="1442741"/>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Constat</a:t>
            </a:r>
          </a:p>
        </p:txBody>
      </p:sp>
      <p:sp>
        <p:nvSpPr>
          <p:cNvPr id="20" name="Google Shape;7386;p39"/>
          <p:cNvSpPr/>
          <p:nvPr/>
        </p:nvSpPr>
        <p:spPr>
          <a:xfrm rot="10800000">
            <a:off x="6372314" y="1459724"/>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21" name="Google Shape;7367;p39"/>
          <p:cNvSpPr/>
          <p:nvPr/>
        </p:nvSpPr>
        <p:spPr>
          <a:xfrm rot="16200000">
            <a:off x="7569073" y="228570"/>
            <a:ext cx="2000788" cy="4306666"/>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rgbClr val="060606"/>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24" name="Rectangle 23"/>
          <p:cNvSpPr/>
          <p:nvPr/>
        </p:nvSpPr>
        <p:spPr>
          <a:xfrm>
            <a:off x="7570816" y="1466170"/>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Preuves</a:t>
            </a:r>
          </a:p>
        </p:txBody>
      </p:sp>
      <p:sp>
        <p:nvSpPr>
          <p:cNvPr id="37" name="Google Shape;7386;p39"/>
          <p:cNvSpPr/>
          <p:nvPr/>
        </p:nvSpPr>
        <p:spPr>
          <a:xfrm rot="10800000">
            <a:off x="1854215" y="3845744"/>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38" name="Google Shape;7367;p39"/>
          <p:cNvSpPr/>
          <p:nvPr/>
        </p:nvSpPr>
        <p:spPr>
          <a:xfrm rot="16200000">
            <a:off x="2838223" y="3190772"/>
            <a:ext cx="1751381" cy="3719393"/>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rgbClr val="060606"/>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0" name="Rectangle 39"/>
          <p:cNvSpPr/>
          <p:nvPr/>
        </p:nvSpPr>
        <p:spPr>
          <a:xfrm>
            <a:off x="3052718" y="3852190"/>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Implication</a:t>
            </a:r>
          </a:p>
        </p:txBody>
      </p:sp>
      <p:sp>
        <p:nvSpPr>
          <p:cNvPr id="42" name="Google Shape;7386;p39"/>
          <p:cNvSpPr/>
          <p:nvPr/>
        </p:nvSpPr>
        <p:spPr>
          <a:xfrm rot="10800000">
            <a:off x="6478457" y="3869173"/>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3" name="Google Shape;7367;p39"/>
          <p:cNvSpPr/>
          <p:nvPr/>
        </p:nvSpPr>
        <p:spPr>
          <a:xfrm rot="16200000">
            <a:off x="7474179" y="3202486"/>
            <a:ext cx="1727953" cy="3719393"/>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chemeClr val="tx1"/>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5" name="Rectangle 44"/>
          <p:cNvSpPr/>
          <p:nvPr/>
        </p:nvSpPr>
        <p:spPr>
          <a:xfrm>
            <a:off x="7676960" y="3875619"/>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Action</a:t>
            </a:r>
          </a:p>
        </p:txBody>
      </p:sp>
      <p:pic>
        <p:nvPicPr>
          <p:cNvPr id="47" name="Image 4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47871" y="3850143"/>
            <a:ext cx="334029" cy="337914"/>
          </a:xfrm>
          <a:prstGeom prst="rect">
            <a:avLst/>
          </a:prstGeom>
        </p:spPr>
      </p:pic>
      <p:pic>
        <p:nvPicPr>
          <p:cNvPr id="50" name="Image 49">
            <a:extLst>
              <a:ext uri="{FF2B5EF4-FFF2-40B4-BE49-F238E27FC236}">
                <a16:creationId xmlns:a16="http://schemas.microsoft.com/office/drawing/2014/main" id="{593DA389-08F4-31D9-6AB9-E96812D83B7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768142" y="1475503"/>
            <a:ext cx="294700" cy="294700"/>
          </a:xfrm>
          <a:prstGeom prst="rect">
            <a:avLst/>
          </a:prstGeom>
        </p:spPr>
      </p:pic>
      <p:pic>
        <p:nvPicPr>
          <p:cNvPr id="25" name="Image 2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156977" y="1457088"/>
            <a:ext cx="281624" cy="284788"/>
          </a:xfrm>
          <a:prstGeom prst="rect">
            <a:avLst/>
          </a:prstGeom>
        </p:spPr>
      </p:pic>
      <p:pic>
        <p:nvPicPr>
          <p:cNvPr id="28" name="Image 27"/>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791905" y="3883760"/>
            <a:ext cx="270937" cy="276827"/>
          </a:xfrm>
          <a:prstGeom prst="rect">
            <a:avLst/>
          </a:prstGeom>
        </p:spPr>
      </p:pic>
      <p:sp>
        <p:nvSpPr>
          <p:cNvPr id="31" name="Rectangle 30"/>
          <p:cNvSpPr/>
          <p:nvPr/>
        </p:nvSpPr>
        <p:spPr>
          <a:xfrm>
            <a:off x="1999671" y="1962253"/>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Les outils de calcul sont en place, mais ils ne peuvent pas être appliqués aux mutualistes du FPPN sans leurs âges.</a:t>
            </a:r>
          </a:p>
        </p:txBody>
      </p:sp>
      <p:sp>
        <p:nvSpPr>
          <p:cNvPr id="32" name="Rectangle 31"/>
          <p:cNvSpPr/>
          <p:nvPr/>
        </p:nvSpPr>
        <p:spPr>
          <a:xfrm>
            <a:off x="6623912" y="1926662"/>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Une rente à 60 ans vaut 16,84 années de paiement avec CIMA F, contre 14,26 avec CIMA H. Les anciennes tables sous-estiment la durée de vie.</a:t>
            </a:r>
          </a:p>
        </p:txBody>
      </p:sp>
      <p:sp>
        <p:nvSpPr>
          <p:cNvPr id="33" name="Rectangle 32"/>
          <p:cNvSpPr/>
          <p:nvPr/>
        </p:nvSpPr>
        <p:spPr>
          <a:xfrm>
            <a:off x="2093705" y="4388689"/>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La mortalité des policiers et la valeur des engagements viagers restent inconnues tant que les dates de naissance manquent.</a:t>
            </a:r>
          </a:p>
        </p:txBody>
      </p:sp>
      <p:sp>
        <p:nvSpPr>
          <p:cNvPr id="34" name="Rectangle 33"/>
          <p:cNvSpPr/>
          <p:nvPr/>
        </p:nvSpPr>
        <p:spPr>
          <a:xfrm>
            <a:off x="6768142" y="4336111"/>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 FPPN doit transmettre le fichier des mutualistes avec date de naissance et sexe (PBC, item 4) et la base des décès (item 28).</a:t>
            </a:r>
          </a:p>
        </p:txBody>
      </p:sp>
      <p:sp>
        <p:nvSpPr>
          <p:cNvPr id="51"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À retenir : tables de mortalité</a:t>
            </a:r>
          </a:p>
        </p:txBody>
      </p:sp>
      <p:sp>
        <p:nvSpPr>
          <p:cNvPr id="52"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tables CIMA sont prêtes. Il manque les dates de naissance pour les appliquer</a:t>
            </a:r>
          </a:p>
        </p:txBody>
      </p:sp>
      <p:sp>
        <p:nvSpPr>
          <p:cNvPr id="53"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Choix prudent : CIMA H pour le décès, CIMA F pour la survie</a:t>
            </a:r>
          </a:p>
        </p:txBody>
      </p:sp>
      <p:sp>
        <p:nvSpPr>
          <p:cNvPr id="54"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analyses Adenka</a:t>
            </a:r>
          </a:p>
        </p:txBody>
      </p:sp>
      <p:sp>
        <p:nvSpPr>
          <p:cNvPr id="55" name="TextBox 5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CIMA : Conférence interafricaine des marchés d'assurances | PBC : liste des documents demandés au client</a:t>
            </a:r>
          </a:p>
        </p:txBody>
      </p:sp>
    </p:spTree>
    <p:extLst>
      <p:ext uri="{BB962C8B-B14F-4D97-AF65-F5344CB8AC3E}">
        <p14:creationId xmlns:p14="http://schemas.microsoft.com/office/powerpoint/2010/main" val="735931686"/>
      </p:ext>
    </p:extLst>
  </p:cSld>
  <p:clrMapOvr>
    <a:masterClrMapping/>
  </p:clrMapOvr>
  <p:transition>
    <p:fade/>
  </p:transition>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Google Shape;8651;p70"/>
          <p:cNvSpPr/>
          <p:nvPr/>
        </p:nvSpPr>
        <p:spPr>
          <a:xfrm>
            <a:off x="2013108" y="2588204"/>
            <a:ext cx="1380332" cy="1428252"/>
          </a:xfrm>
          <a:custGeom>
            <a:avLst/>
            <a:gdLst/>
            <a:ahLst/>
            <a:cxnLst/>
            <a:rect l="l" t="t" r="r" b="b"/>
            <a:pathLst>
              <a:path w="8670" h="8971" extrusionOk="0">
                <a:moveTo>
                  <a:pt x="7105" y="1302"/>
                </a:moveTo>
                <a:cubicBezTo>
                  <a:pt x="7105" y="1315"/>
                  <a:pt x="7105" y="1328"/>
                  <a:pt x="7105" y="1341"/>
                </a:cubicBezTo>
                <a:cubicBezTo>
                  <a:pt x="7118" y="1980"/>
                  <a:pt x="7183" y="2619"/>
                  <a:pt x="7183" y="3283"/>
                </a:cubicBezTo>
                <a:cubicBezTo>
                  <a:pt x="7170" y="4404"/>
                  <a:pt x="7183" y="5525"/>
                  <a:pt x="7222" y="6646"/>
                </a:cubicBezTo>
                <a:cubicBezTo>
                  <a:pt x="7235" y="6959"/>
                  <a:pt x="7222" y="7259"/>
                  <a:pt x="7222" y="7559"/>
                </a:cubicBezTo>
                <a:lnTo>
                  <a:pt x="7222" y="7585"/>
                </a:lnTo>
                <a:cubicBezTo>
                  <a:pt x="6935" y="7598"/>
                  <a:pt x="6649" y="7611"/>
                  <a:pt x="6362" y="7611"/>
                </a:cubicBezTo>
                <a:cubicBezTo>
                  <a:pt x="6101" y="7598"/>
                  <a:pt x="5853" y="7585"/>
                  <a:pt x="5593" y="7585"/>
                </a:cubicBezTo>
                <a:cubicBezTo>
                  <a:pt x="4159" y="7559"/>
                  <a:pt x="2712" y="7559"/>
                  <a:pt x="1291" y="7442"/>
                </a:cubicBezTo>
                <a:cubicBezTo>
                  <a:pt x="1278" y="7207"/>
                  <a:pt x="1239" y="6959"/>
                  <a:pt x="1226" y="6725"/>
                </a:cubicBezTo>
                <a:cubicBezTo>
                  <a:pt x="1200" y="6255"/>
                  <a:pt x="1187" y="5799"/>
                  <a:pt x="1200" y="5330"/>
                </a:cubicBezTo>
                <a:cubicBezTo>
                  <a:pt x="1213" y="4222"/>
                  <a:pt x="1226" y="3101"/>
                  <a:pt x="1343" y="1993"/>
                </a:cubicBezTo>
                <a:lnTo>
                  <a:pt x="1552" y="1993"/>
                </a:lnTo>
                <a:cubicBezTo>
                  <a:pt x="2138" y="1980"/>
                  <a:pt x="2725" y="1889"/>
                  <a:pt x="3312" y="1810"/>
                </a:cubicBezTo>
                <a:cubicBezTo>
                  <a:pt x="4576" y="1641"/>
                  <a:pt x="5840" y="1524"/>
                  <a:pt x="7105" y="1302"/>
                </a:cubicBezTo>
                <a:close/>
                <a:moveTo>
                  <a:pt x="7529" y="1"/>
                </a:moveTo>
                <a:cubicBezTo>
                  <a:pt x="7291" y="1"/>
                  <a:pt x="7059" y="53"/>
                  <a:pt x="6818" y="64"/>
                </a:cubicBezTo>
                <a:cubicBezTo>
                  <a:pt x="6375" y="103"/>
                  <a:pt x="5932" y="142"/>
                  <a:pt x="5488" y="194"/>
                </a:cubicBezTo>
                <a:cubicBezTo>
                  <a:pt x="4824" y="259"/>
                  <a:pt x="4107" y="350"/>
                  <a:pt x="3429" y="389"/>
                </a:cubicBezTo>
                <a:cubicBezTo>
                  <a:pt x="2686" y="429"/>
                  <a:pt x="1943" y="481"/>
                  <a:pt x="1213" y="598"/>
                </a:cubicBezTo>
                <a:cubicBezTo>
                  <a:pt x="913" y="624"/>
                  <a:pt x="652" y="728"/>
                  <a:pt x="509" y="976"/>
                </a:cubicBezTo>
                <a:cubicBezTo>
                  <a:pt x="470" y="1028"/>
                  <a:pt x="444" y="1080"/>
                  <a:pt x="431" y="1146"/>
                </a:cubicBezTo>
                <a:cubicBezTo>
                  <a:pt x="300" y="1524"/>
                  <a:pt x="287" y="1928"/>
                  <a:pt x="300" y="2332"/>
                </a:cubicBezTo>
                <a:cubicBezTo>
                  <a:pt x="209" y="3010"/>
                  <a:pt x="209" y="3700"/>
                  <a:pt x="209" y="4378"/>
                </a:cubicBezTo>
                <a:cubicBezTo>
                  <a:pt x="170" y="4769"/>
                  <a:pt x="144" y="5173"/>
                  <a:pt x="131" y="5565"/>
                </a:cubicBezTo>
                <a:cubicBezTo>
                  <a:pt x="105" y="6203"/>
                  <a:pt x="14" y="6842"/>
                  <a:pt x="14" y="7481"/>
                </a:cubicBezTo>
                <a:cubicBezTo>
                  <a:pt x="1" y="7911"/>
                  <a:pt x="157" y="8315"/>
                  <a:pt x="613" y="8419"/>
                </a:cubicBezTo>
                <a:cubicBezTo>
                  <a:pt x="1056" y="8550"/>
                  <a:pt x="1526" y="8524"/>
                  <a:pt x="1982" y="8550"/>
                </a:cubicBezTo>
                <a:cubicBezTo>
                  <a:pt x="2243" y="8563"/>
                  <a:pt x="2503" y="8589"/>
                  <a:pt x="2764" y="8615"/>
                </a:cubicBezTo>
                <a:cubicBezTo>
                  <a:pt x="3885" y="8745"/>
                  <a:pt x="5006" y="8902"/>
                  <a:pt x="6140" y="8941"/>
                </a:cubicBezTo>
                <a:cubicBezTo>
                  <a:pt x="6220" y="8945"/>
                  <a:pt x="6302" y="8946"/>
                  <a:pt x="6383" y="8946"/>
                </a:cubicBezTo>
                <a:cubicBezTo>
                  <a:pt x="6581" y="8946"/>
                  <a:pt x="6781" y="8937"/>
                  <a:pt x="6974" y="8928"/>
                </a:cubicBezTo>
                <a:cubicBezTo>
                  <a:pt x="7118" y="8941"/>
                  <a:pt x="7274" y="8941"/>
                  <a:pt x="7418" y="8941"/>
                </a:cubicBezTo>
                <a:cubicBezTo>
                  <a:pt x="7568" y="8956"/>
                  <a:pt x="7723" y="8971"/>
                  <a:pt x="7877" y="8971"/>
                </a:cubicBezTo>
                <a:cubicBezTo>
                  <a:pt x="7990" y="8971"/>
                  <a:pt x="8103" y="8963"/>
                  <a:pt x="8213" y="8941"/>
                </a:cubicBezTo>
                <a:cubicBezTo>
                  <a:pt x="8643" y="8810"/>
                  <a:pt x="8565" y="8093"/>
                  <a:pt x="8604" y="7741"/>
                </a:cubicBezTo>
                <a:cubicBezTo>
                  <a:pt x="8669" y="6620"/>
                  <a:pt x="8539" y="5499"/>
                  <a:pt x="8487" y="4378"/>
                </a:cubicBezTo>
                <a:cubicBezTo>
                  <a:pt x="8434" y="3453"/>
                  <a:pt x="8330" y="2527"/>
                  <a:pt x="8252" y="1589"/>
                </a:cubicBezTo>
                <a:cubicBezTo>
                  <a:pt x="8200" y="1341"/>
                  <a:pt x="8239" y="637"/>
                  <a:pt x="8096" y="350"/>
                </a:cubicBezTo>
                <a:lnTo>
                  <a:pt x="8082" y="350"/>
                </a:lnTo>
                <a:cubicBezTo>
                  <a:pt x="8056" y="181"/>
                  <a:pt x="7952" y="51"/>
                  <a:pt x="7704" y="11"/>
                </a:cubicBezTo>
                <a:cubicBezTo>
                  <a:pt x="7645" y="4"/>
                  <a:pt x="7587" y="1"/>
                  <a:pt x="7529" y="1"/>
                </a:cubicBezTo>
                <a:close/>
              </a:path>
            </a:pathLst>
          </a:custGeom>
          <a:solidFill>
            <a:schemeClr val="bg1"/>
          </a:solidFill>
          <a:ln w="76200">
            <a:solidFill>
              <a:schemeClr val="tx1"/>
            </a:solid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5" name="Rectangle 24">
            <a:extLst>
              <a:ext uri="{FF2B5EF4-FFF2-40B4-BE49-F238E27FC236}">
                <a16:creationId xmlns:a16="http://schemas.microsoft.com/office/drawing/2014/main" id="{9B9B23AA-050D-4543-80A0-873FE31AFFF7}"/>
              </a:ext>
            </a:extLst>
          </p:cNvPr>
          <p:cNvSpPr/>
          <p:nvPr/>
        </p:nvSpPr>
        <p:spPr>
          <a:xfrm>
            <a:off x="2446471" y="2869098"/>
            <a:ext cx="513606" cy="936923"/>
          </a:xfrm>
          <a:prstGeom prst="rect">
            <a:avLst/>
          </a:prstGeom>
        </p:spPr>
        <p:txBody>
          <a:bodyPr wrap="none" lIns="0" tIns="0" rIns="0" bIns="0">
            <a:spAutoFit/>
          </a:bodyPr>
          <a:lstStyle/>
          <a:p>
            <a:pPr lvl="0">
              <a:lnSpc>
                <a:spcPct val="110000"/>
              </a:lnSpc>
            </a:pPr>
            <a:r>
              <a:rPr lang="fr-CI" sz="42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12</a:t>
            </a:r>
          </a:p>
        </p:txBody>
      </p:sp>
      <p:sp>
        <p:nvSpPr>
          <p:cNvPr id="10" name="Rectangle 9"/>
          <p:cNvSpPr/>
          <p:nvPr/>
        </p:nvSpPr>
        <p:spPr>
          <a:xfrm>
            <a:off x="3938554" y="2462184"/>
            <a:ext cx="3816000" cy="1200329"/>
          </a:xfrm>
          <a:prstGeom prst="rect">
            <a:avLst/>
          </a:prstGeom>
        </p:spPr>
        <p:txBody>
          <a:bodyPr wrap="square">
            <a:spAutoFit/>
          </a:bodyPr>
          <a:lstStyle/>
          <a:p>
            <a:r>
              <a:rPr lang="fr-CI" sz="3600" b="1" noProof="0">
                <a:solidFill>
                  <a:schemeClr val="bg1"/>
                </a:solidFill>
                <a:latin typeface="Helvetica" panose="020B0604020202020204" pitchFamily="34" charset="0"/>
                <a:cs typeface="Helvetica" panose="020B0604020202020204" pitchFamily="34" charset="0"/>
              </a:rPr>
              <a:t>Projection de l'équilibre technique</a:t>
            </a:r>
          </a:p>
        </p:txBody>
      </p:sp>
      <p:pic>
        <p:nvPicPr>
          <p:cNvPr id="9" name="Image 8">
            <a:extLst>
              <a:ext uri="{FF2B5EF4-FFF2-40B4-BE49-F238E27FC236}">
                <a16:creationId xmlns:a16="http://schemas.microsoft.com/office/drawing/2014/main" id="{2C356854-0685-DCEF-E2F6-65D5E9653A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1274" y="-185107"/>
            <a:ext cx="3179518" cy="1268781"/>
          </a:xfrm>
          <a:prstGeom prst="rect">
            <a:avLst/>
          </a:prstGeom>
        </p:spPr>
      </p:pic>
      <p:sp>
        <p:nvSpPr>
          <p:cNvPr id="6" name="Rectangle 5"/>
          <p:cNvSpPr/>
          <p:nvPr/>
        </p:nvSpPr>
        <p:spPr>
          <a:xfrm>
            <a:off x="3938554" y="3337559"/>
            <a:ext cx="3816000" cy="923330"/>
          </a:xfrm>
          <a:prstGeom prst="rect">
            <a:avLst/>
          </a:prstGeom>
        </p:spPr>
        <p:txBody>
          <a:bodyPr wrap="square">
            <a:spAutoFit/>
          </a:bodyPr>
          <a:lstStyle/>
          <a:p>
            <a:br>
              <a:rPr lang="fr-CI" noProof="0">
                <a:solidFill>
                  <a:schemeClr val="bg1"/>
                </a:solidFill>
              </a:rPr>
            </a:br>
            <a:r>
              <a:rPr lang="fr-CI" noProof="0">
                <a:solidFill>
                  <a:srgbClr val="EFAC62"/>
                </a:solidFill>
                <a:latin typeface="Helvetica" panose="020B0604020202020204" pitchFamily="34" charset="0"/>
                <a:ea typeface="Open Sans Light" panose="020B0306030504020204" pitchFamily="34" charset="0"/>
                <a:cs typeface="Helvetica" panose="020B0604020202020204" pitchFamily="34" charset="0"/>
              </a:rPr>
              <a:t>Avertissement, point de blocage, deux scénarios de 2026 à 2030</a:t>
            </a:r>
          </a:p>
        </p:txBody>
      </p:sp>
      <p:pic>
        <p:nvPicPr>
          <p:cNvPr id="11" name="Imag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5561" y="2415481"/>
            <a:ext cx="1566911" cy="1600975"/>
          </a:xfrm>
          <a:prstGeom prst="rect">
            <a:avLst/>
          </a:prstGeom>
        </p:spPr>
      </p:pic>
    </p:spTree>
    <p:extLst>
      <p:ext uri="{BB962C8B-B14F-4D97-AF65-F5344CB8AC3E}">
        <p14:creationId xmlns:p14="http://schemas.microsoft.com/office/powerpoint/2010/main" val="3051486810"/>
      </p:ext>
    </p:extLst>
  </p:cSld>
  <p:clrMapOvr>
    <a:masterClrMapping/>
  </p:clrMapOvr>
  <p:transition>
    <p:fade/>
  </p:transition>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Projection : avertissement</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Sans les âges des mutualistes, la projection ne peut être qu'agrégée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La projection actuarielle bloque dès sa première étape : aucun fichier reçu ne donne la date de naissance des mutualistes en activité</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liste des documents demandés (PBC) pointée au 22/10/2026. Fichiers de précomptes de la Solde, de la CGRAE et du FPPN reçus le 15/10/2026 (dossiers « FPPN-SOLDE », « FPPN-CGRAE », « FPPN-GNA », noms exacts en annexe « Fichiers sources »). Traitements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108 : Étapes d'une projection actuarielle et point de blocage</a:t>
            </a:r>
          </a:p>
        </p:txBody>
      </p:sp>
      <p:graphicFrame>
        <p:nvGraphicFramePr>
          <p:cNvPr id="32" name="Table 31"/>
          <p:cNvGraphicFramePr>
            <a:graphicFrameLocks noGrp="1"/>
          </p:cNvGraphicFramePr>
          <p:nvPr/>
        </p:nvGraphicFramePr>
        <p:xfrm>
          <a:off x="503999" y="1655999"/>
          <a:ext cx="11231999" cy="1698680"/>
        </p:xfrm>
        <a:graphic>
          <a:graphicData uri="http://schemas.openxmlformats.org/drawingml/2006/table">
            <a:tbl>
              <a:tblPr firstRow="0" bandRow="0">
                <a:tableStyleId>{5940675A-B579-460E-94D1-54222C63F5DA}</a:tableStyleId>
              </a:tblPr>
              <a:tblGrid>
                <a:gridCol w="1800000"/>
                <a:gridCol w="3311999"/>
                <a:gridCol w="1152000"/>
                <a:gridCol w="4968000"/>
              </a:tblGrid>
              <a:tr h="187148">
                <a:tc>
                  <a:txBody>
                    <a:bodyPr/>
                    <a:lstStyle/>
                    <a:p>
                      <a:pPr marL="0" indent="0" lvl="0">
                        <a:buNone/>
                      </a:pPr>
                      <a:r>
                        <a:rPr sz="850" b="1">
                          <a:solidFill>
                            <a:srgbClr val="FFFFFF"/>
                          </a:solidFill>
                          <a:latin typeface="Helvetica"/>
                        </a:rPr>
                        <a:t>Étape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Donnée nécessaire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Reçue ?</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Conséquence</a:t>
                      </a:r>
                    </a:p>
                  </a:txBody>
                  <a:tcPr marL="43200" marR="43200" marT="14400" marB="14400" anchor="ctr">
                    <a:solidFill>
                      <a:srgbClr val="060606"/>
                    </a:solidFill>
                  </a:tcPr>
                </a:tc>
              </a:tr>
              <a:tr h="316696">
                <a:tc>
                  <a:txBody>
                    <a:bodyPr/>
                    <a:lstStyle/>
                    <a:p>
                      <a:pPr marL="0" indent="0" lvl="0">
                        <a:buNone/>
                      </a:pPr>
                      <a:r>
                        <a:rPr sz="850" b="1">
                          <a:solidFill>
                            <a:srgbClr val="060606"/>
                          </a:solidFill>
                          <a:latin typeface="Helvetica"/>
                        </a:rPr>
                        <a:t>1. Population par âge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Date de naissance et sexe de chaque mutualiste</a:t>
                      </a:r>
                    </a:p>
                  </a:txBody>
                  <a:tcPr marL="43200" marR="43200" marT="14400" marB="14400" anchor="ctr">
                    <a:solidFill>
                      <a:srgbClr val="FFFFFF"/>
                    </a:solidFill>
                  </a:tcPr>
                </a:tc>
                <a:tc>
                  <a:txBody>
                    <a:bodyPr/>
                    <a:lstStyle/>
                    <a:p>
                      <a:pPr marL="0" indent="0" lvl="0">
                        <a:buNone/>
                      </a:pPr>
                      <a:r>
                        <a:rPr sz="850" b="1">
                          <a:solidFill>
                            <a:srgbClr val="FFFFFF"/>
                          </a:solidFill>
                          <a:latin typeface="Helvetica"/>
                        </a:rPr>
                        <a:t>Non</a:t>
                      </a:r>
                    </a:p>
                  </a:txBody>
                  <a:tcPr marL="43200" marR="43200" marT="14400" marB="14400" anchor="ctr">
                    <a:solidFill>
                      <a:srgbClr val="C00000"/>
                    </a:solidFill>
                  </a:tcPr>
                </a:tc>
                <a:tc>
                  <a:txBody>
                    <a:bodyPr/>
                    <a:lstStyle/>
                    <a:p>
                      <a:pPr marL="0" indent="0" lvl="0">
                        <a:buNone/>
                      </a:pPr>
                      <a:r>
                        <a:rPr sz="850" b="0">
                          <a:solidFill>
                            <a:srgbClr val="060606"/>
                          </a:solidFill>
                          <a:latin typeface="Helvetica"/>
                        </a:rPr>
                        <a:t>Blocage : les fichiers de la Solde et le fichier des effectifs ne portent que la date de recrutement. La CGRAE ne donne la date de naissance que de 105 retraités</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2. Vieillissement et décès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Âge de chaque mutualiste et table CIMA H</a:t>
                      </a:r>
                    </a:p>
                  </a:txBody>
                  <a:tcPr marL="43200" marR="43200" marT="14400" marB="14400" anchor="ctr">
                    <a:solidFill>
                      <a:srgbClr val="F2F2F2"/>
                    </a:solidFill>
                  </a:tcPr>
                </a:tc>
                <a:tc>
                  <a:txBody>
                    <a:bodyPr/>
                    <a:lstStyle/>
                    <a:p>
                      <a:pPr marL="0" indent="0" lvl="0">
                        <a:buNone/>
                      </a:pPr>
                      <a:r>
                        <a:rPr sz="850" b="1">
                          <a:solidFill>
                            <a:srgbClr val="060606"/>
                          </a:solidFill>
                          <a:latin typeface="Helvetica"/>
                        </a:rPr>
                        <a:t>Table seulement</a:t>
                      </a:r>
                    </a:p>
                  </a:txBody>
                  <a:tcPr marL="43200" marR="43200" marT="14400" marB="14400" anchor="ctr">
                    <a:solidFill>
                      <a:srgbClr val="EFAC62"/>
                    </a:solidFill>
                  </a:tcPr>
                </a:tc>
                <a:tc>
                  <a:txBody>
                    <a:bodyPr/>
                    <a:lstStyle/>
                    <a:p>
                      <a:pPr marL="0" indent="0" lvl="0">
                        <a:buNone/>
                      </a:pPr>
                      <a:r>
                        <a:rPr sz="850" b="0">
                          <a:solidFill>
                            <a:srgbClr val="060606"/>
                          </a:solidFill>
                          <a:latin typeface="Helvetica"/>
                        </a:rPr>
                        <a:t>Impossible sans l'étape 1 : la table ne s'applique qu'à un âge</a:t>
                      </a:r>
                    </a:p>
                  </a:txBody>
                  <a:tcPr marL="43200" marR="43200" marT="14400" marB="14400" anchor="ctr">
                    <a:solidFill>
                      <a:srgbClr val="F2F2F2"/>
                    </a:solidFill>
                  </a:tcPr>
                </a:tc>
              </a:tr>
              <a:tr h="316696">
                <a:tc>
                  <a:txBody>
                    <a:bodyPr/>
                    <a:lstStyle/>
                    <a:p>
                      <a:pPr marL="0" indent="0" lvl="0">
                        <a:buNone/>
                      </a:pPr>
                      <a:r>
                        <a:rPr sz="850" b="1">
                          <a:solidFill>
                            <a:srgbClr val="060606"/>
                          </a:solidFill>
                          <a:latin typeface="Helvetica"/>
                        </a:rPr>
                        <a:t>3. Départs à la retraite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Âge et grade (âge légal de départ)</a:t>
                      </a:r>
                    </a:p>
                  </a:txBody>
                  <a:tcPr marL="43200" marR="43200" marT="14400" marB="14400" anchor="ctr">
                    <a:solidFill>
                      <a:srgbClr val="FFFFFF"/>
                    </a:solidFill>
                  </a:tcPr>
                </a:tc>
                <a:tc>
                  <a:txBody>
                    <a:bodyPr/>
                    <a:lstStyle/>
                    <a:p>
                      <a:pPr marL="0" indent="0" lvl="0">
                        <a:buNone/>
                      </a:pPr>
                      <a:r>
                        <a:rPr sz="850" b="1">
                          <a:solidFill>
                            <a:srgbClr val="060606"/>
                          </a:solidFill>
                          <a:latin typeface="Helvetica"/>
                        </a:rPr>
                        <a:t>Grade seulement</a:t>
                      </a:r>
                    </a:p>
                  </a:txBody>
                  <a:tcPr marL="43200" marR="43200" marT="14400" marB="14400" anchor="ctr">
                    <a:solidFill>
                      <a:srgbClr val="EFAC62"/>
                    </a:solidFill>
                  </a:tcPr>
                </a:tc>
                <a:tc>
                  <a:txBody>
                    <a:bodyPr/>
                    <a:lstStyle/>
                    <a:p>
                      <a:pPr marL="0" indent="0" lvl="0">
                        <a:buNone/>
                      </a:pPr>
                      <a:r>
                        <a:rPr sz="850" b="0">
                          <a:solidFill>
                            <a:srgbClr val="060606"/>
                          </a:solidFill>
                          <a:latin typeface="Helvetica"/>
                        </a:rPr>
                        <a:t>Impossible : on ne peut dater ni les départs, ni les versements de l'EFC qu'ils déclenchent</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4. Entrées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Promotions de recrues prévues</a:t>
                      </a:r>
                    </a:p>
                  </a:txBody>
                  <a:tcPr marL="43200" marR="43200" marT="14400" marB="14400" anchor="ctr">
                    <a:solidFill>
                      <a:srgbClr val="F2F2F2"/>
                    </a:solidFill>
                  </a:tcPr>
                </a:tc>
                <a:tc>
                  <a:txBody>
                    <a:bodyPr/>
                    <a:lstStyle/>
                    <a:p>
                      <a:pPr marL="0" indent="0" lvl="0">
                        <a:buNone/>
                      </a:pPr>
                      <a:r>
                        <a:rPr sz="850" b="1">
                          <a:solidFill>
                            <a:srgbClr val="060606"/>
                          </a:solidFill>
                          <a:latin typeface="Helvetica"/>
                        </a:rPr>
                        <a:t>Passées seulement</a:t>
                      </a:r>
                    </a:p>
                  </a:txBody>
                  <a:tcPr marL="43200" marR="43200" marT="14400" marB="14400" anchor="ctr">
                    <a:solidFill>
                      <a:srgbClr val="EFAC62"/>
                    </a:solidFill>
                  </a:tcPr>
                </a:tc>
                <a:tc>
                  <a:txBody>
                    <a:bodyPr/>
                    <a:lstStyle/>
                    <a:p>
                      <a:pPr marL="0" indent="0" lvl="0">
                        <a:buNone/>
                      </a:pPr>
                      <a:r>
                        <a:rPr sz="850" b="0">
                          <a:solidFill>
                            <a:srgbClr val="060606"/>
                          </a:solidFill>
                          <a:latin typeface="Helvetica"/>
                        </a:rPr>
                        <a:t>Possible en tendance (partie 4)</a:t>
                      </a:r>
                    </a:p>
                  </a:txBody>
                  <a:tcPr marL="43200" marR="43200" marT="14400" marB="14400" anchor="ctr">
                    <a:solidFill>
                      <a:srgbClr val="F2F2F2"/>
                    </a:solidFill>
                  </a:tcPr>
                </a:tc>
              </a:tr>
              <a:tr h="316696">
                <a:tc>
                  <a:txBody>
                    <a:bodyPr/>
                    <a:lstStyle/>
                    <a:p>
                      <a:pPr marL="0" indent="0" lvl="0">
                        <a:buNone/>
                      </a:pPr>
                      <a:r>
                        <a:rPr sz="850" b="1">
                          <a:solidFill>
                            <a:srgbClr val="060606"/>
                          </a:solidFill>
                          <a:latin typeface="Helvetica"/>
                        </a:rPr>
                        <a:t>5. Cotisations et prestations par âge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Salaires et coût des soins par âge</a:t>
                      </a:r>
                    </a:p>
                  </a:txBody>
                  <a:tcPr marL="43200" marR="43200" marT="14400" marB="14400" anchor="ctr">
                    <a:solidFill>
                      <a:srgbClr val="FFFFFF"/>
                    </a:solidFill>
                  </a:tcPr>
                </a:tc>
                <a:tc>
                  <a:txBody>
                    <a:bodyPr/>
                    <a:lstStyle/>
                    <a:p>
                      <a:pPr marL="0" indent="0" lvl="0">
                        <a:buNone/>
                      </a:pPr>
                      <a:r>
                        <a:rPr sz="850" b="1">
                          <a:solidFill>
                            <a:srgbClr val="FFFFFF"/>
                          </a:solidFill>
                          <a:latin typeface="Helvetica"/>
                        </a:rPr>
                        <a:t>Non</a:t>
                      </a:r>
                    </a:p>
                  </a:txBody>
                  <a:tcPr marL="43200" marR="43200" marT="14400" marB="14400" anchor="ctr">
                    <a:solidFill>
                      <a:srgbClr val="C00000"/>
                    </a:solidFill>
                  </a:tcPr>
                </a:tc>
                <a:tc>
                  <a:txBody>
                    <a:bodyPr/>
                    <a:lstStyle/>
                    <a:p>
                      <a:pPr marL="0" indent="0" lvl="0">
                        <a:buNone/>
                      </a:pPr>
                      <a:r>
                        <a:rPr sz="850" b="0">
                          <a:solidFill>
                            <a:srgbClr val="060606"/>
                          </a:solidFill>
                          <a:latin typeface="Helvetica"/>
                        </a:rPr>
                        <a:t>Impossible : seuls les totaux annuels sont connus</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6. Équilibre de chaque année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Résultats des étapes 1 à 5</a:t>
                      </a:r>
                    </a:p>
                  </a:txBody>
                  <a:tcPr marL="43200" marR="43200" marT="14400" marB="14400" anchor="ctr">
                    <a:solidFill>
                      <a:srgbClr val="F2F2F2"/>
                    </a:solidFill>
                  </a:tcPr>
                </a:tc>
                <a:tc>
                  <a:txBody>
                    <a:bodyPr/>
                    <a:lstStyle/>
                    <a:p>
                      <a:pPr marL="0" indent="0" lvl="0">
                        <a:buNone/>
                      </a:pPr>
                      <a:r>
                        <a:rPr sz="850" b="1">
                          <a:solidFill>
                            <a:srgbClr val="060606"/>
                          </a:solidFill>
                          <a:latin typeface="Helvetica"/>
                        </a:rPr>
                        <a:t>Partiel</a:t>
                      </a:r>
                    </a:p>
                  </a:txBody>
                  <a:tcPr marL="43200" marR="43200" marT="14400" marB="14400" anchor="ctr">
                    <a:solidFill>
                      <a:srgbClr val="EFAC62"/>
                    </a:solidFill>
                  </a:tcPr>
                </a:tc>
                <a:tc>
                  <a:txBody>
                    <a:bodyPr/>
                    <a:lstStyle/>
                    <a:p>
                      <a:pPr marL="0" indent="0" lvl="0">
                        <a:buNone/>
                      </a:pPr>
                      <a:r>
                        <a:rPr sz="850" b="0">
                          <a:solidFill>
                            <a:srgbClr val="060606"/>
                          </a:solidFill>
                          <a:latin typeface="Helvetica"/>
                        </a:rPr>
                        <a:t>Remplacé par le prolongement des tendances agrégées de 2023 à 2025</a:t>
                      </a:r>
                    </a:p>
                  </a:txBody>
                  <a:tcPr marL="43200" marR="43200" marT="14400" marB="14400" anchor="ctr">
                    <a:solidFill>
                      <a:srgbClr val="F2F2F2"/>
                    </a:solidFill>
                  </a:tcPr>
                </a:tc>
              </a:tr>
            </a:tbl>
          </a:graphicData>
        </a:graphic>
      </p:graphicFrame>
      <p:graphicFrame>
        <p:nvGraphicFramePr>
          <p:cNvPr id="33" name="Table 32"/>
          <p:cNvGraphicFramePr>
            <a:graphicFrameLocks noGrp="1"/>
          </p:cNvGraphicFramePr>
          <p:nvPr/>
        </p:nvGraphicFramePr>
        <p:xfrm>
          <a:off x="503999" y="3516789"/>
          <a:ext cx="11232000" cy="151200"/>
        </p:xfrm>
        <a:graphic>
          <a:graphicData uri="http://schemas.openxmlformats.org/drawingml/2006/table">
            <a:tbl>
              <a:tblPr firstRow="0" bandRow="0">
                <a:tableStyleId>{5C22544A-7EE6-4342-B048-85BDC9FD1C3A}</a:tableStyleId>
              </a:tblPr>
              <a:tblGrid>
                <a:gridCol w="792000"/>
                <a:gridCol w="936000"/>
                <a:gridCol w="4284000"/>
                <a:gridCol w="936000"/>
                <a:gridCol w="4284000"/>
              </a:tblGrid>
              <a:tr h="151200">
                <a:tc>
                  <a:txBody>
                    <a:bodyPr/>
                    <a:lstStyle/>
                    <a:p>
                      <a:r>
                        <a:rPr sz="700" b="1">
                          <a:solidFill>
                            <a:srgbClr val="060606"/>
                          </a:solidFill>
                          <a:latin typeface="Helvetica"/>
                        </a:rPr>
                        <a:t>Code couleur</a:t>
                      </a:r>
                    </a:p>
                  </a:txBody>
                  <a:tcPr marL="28800" marR="28800" marT="3600" marB="3600" anchor="ctr">
                    <a:solidFill>
                      <a:srgbClr val="FFFFFF"/>
                    </a:solidFill>
                  </a:tcPr>
                </a:tc>
                <a:tc>
                  <a:txBody>
                    <a:bodyPr/>
                    <a:lstStyle/>
                    <a:p>
                      <a:r>
                        <a:rPr sz="700" b="1">
                          <a:solidFill>
                            <a:srgbClr val="FFFFFF"/>
                          </a:solidFill>
                          <a:latin typeface="Helvetica"/>
                        </a:rPr>
                        <a:t>Non</a:t>
                      </a:r>
                    </a:p>
                  </a:txBody>
                  <a:tcPr marL="28800" marR="28800" marT="3600" marB="3600" anchor="ctr">
                    <a:solidFill>
                      <a:srgbClr val="C00000"/>
                    </a:solidFill>
                  </a:tcPr>
                </a:tc>
                <a:tc>
                  <a:txBody>
                    <a:bodyPr/>
                    <a:lstStyle/>
                    <a:p>
                      <a:r>
                        <a:rPr sz="700" b="0">
                          <a:solidFill>
                            <a:srgbClr val="060606"/>
                          </a:solidFill>
                          <a:latin typeface="Helvetica"/>
                        </a:rPr>
                        <a:t>réponse négative à la question de la colonne</a:t>
                      </a:r>
                    </a:p>
                  </a:txBody>
                  <a:tcPr marL="28800" marR="28800" marT="3600" marB="3600" anchor="ctr">
                    <a:solidFill>
                      <a:srgbClr val="FFFFFF"/>
                    </a:solidFill>
                  </a:tcPr>
                </a:tc>
                <a:tc>
                  <a:txBody>
                    <a:bodyPr/>
                    <a:lstStyle/>
                    <a:p>
                      <a:r>
                        <a:rPr sz="700" b="1">
                          <a:solidFill>
                            <a:srgbClr val="060606"/>
                          </a:solidFill>
                          <a:latin typeface="Helvetica"/>
                        </a:rPr>
                        <a:t>Partiel</a:t>
                      </a:r>
                    </a:p>
                  </a:txBody>
                  <a:tcPr marL="28800" marR="28800" marT="3600" marB="3600" anchor="ctr">
                    <a:solidFill>
                      <a:srgbClr val="EFAC62"/>
                    </a:solidFill>
                  </a:tcPr>
                </a:tc>
                <a:tc>
                  <a:txBody>
                    <a:bodyPr/>
                    <a:lstStyle/>
                    <a:p>
                      <a:r>
                        <a:rPr sz="700" b="0">
                          <a:solidFill>
                            <a:srgbClr val="060606"/>
                          </a:solidFill>
                          <a:latin typeface="Helvetica"/>
                        </a:rPr>
                        <a:t>en partie seulement</a:t>
                      </a:r>
                    </a:p>
                  </a:txBody>
                  <a:tcPr marL="28800" marR="28800" marT="3600" marB="3600" anchor="ctr">
                    <a:solidFill>
                      <a:srgbClr val="FFFFFF"/>
                    </a:solidFill>
                  </a:tcPr>
                </a:tc>
              </a:tr>
            </a:tbl>
          </a:graphicData>
        </a:graphic>
      </p:graphicFrame>
      <p:sp>
        <p:nvSpPr>
          <p:cNvPr id="34" name="TextBox 33"/>
          <p:cNvSpPr txBox="1"/>
          <p:nvPr/>
        </p:nvSpPr>
        <p:spPr>
          <a:xfrm>
            <a:off x="503999" y="3775989"/>
            <a:ext cx="11232000" cy="306000"/>
          </a:xfrm>
          <a:prstGeom prst="rect">
            <a:avLst/>
          </a:prstGeom>
          <a:noFill/>
        </p:spPr>
        <p:txBody>
          <a:bodyPr wrap="square" anchor="t" lIns="54000" rIns="54000"/>
          <a:lstStyle/>
          <a:p>
            <a:pPr algn="l"/>
            <a:r>
              <a:rPr sz="850" b="0">
                <a:solidFill>
                  <a:srgbClr val="53565A"/>
                </a:solidFill>
                <a:latin typeface="Helvetica"/>
              </a:rPr>
              <a:t>Valable pour : fichiers reçus jusqu'au 22/10/2026 : précomptes de la Solde (postes 936, 8Z6, 998, 870), fichier des effectifs du FPPN, fichiers retour de la CGRAE (dates de naissance de février à avril 2024 seulement).</a:t>
            </a:r>
          </a:p>
        </p:txBody>
      </p:sp>
      <p:sp>
        <p:nvSpPr>
          <p:cNvPr id="35" name="TextBox 34"/>
          <p:cNvSpPr txBox="1"/>
          <p:nvPr/>
        </p:nvSpPr>
        <p:spPr>
          <a:xfrm>
            <a:off x="503999" y="4225989"/>
            <a:ext cx="11232000" cy="1642010"/>
          </a:xfrm>
          <a:prstGeom prst="rect">
            <a:avLst/>
          </a:prstGeom>
          <a:noFill/>
        </p:spPr>
        <p:txBody>
          <a:bodyPr wrap="square" lIns="54000" rIns="54000"/>
          <a:lstStyle/>
          <a:p>
            <a:pPr algn="just">
              <a:spcAft>
                <a:spcPts val="600"/>
              </a:spcAft>
            </a:pPr>
            <a:r>
              <a:rPr sz="1300" b="1">
                <a:solidFill>
                  <a:srgbClr val="060606"/>
                </a:solidFill>
                <a:latin typeface="Helvetica"/>
              </a:rPr>
              <a:t>La projection présentée ensuite prolonge les tendances passées, sans les expliquer.</a:t>
            </a:r>
            <a:r>
              <a:rPr sz="1300" b="0">
                <a:solidFill>
                  <a:srgbClr val="060606"/>
                </a:solidFill>
                <a:latin typeface="Helvetica"/>
              </a:rPr>
              <a:t> Elle ne dit pas pourquoi les prestations augmentent (vieillissement, prix des soins, nombre de bénéficiaires) et ne peut donc pas tester l'effet d'une mesure ciblée.</a:t>
            </a:r>
          </a:p>
          <a:p>
            <a:pPr algn="just">
              <a:spcAft>
                <a:spcPts val="600"/>
              </a:spcAft>
            </a:pPr>
            <a:r>
              <a:rPr sz="1300" b="0">
                <a:solidFill>
                  <a:srgbClr val="060606"/>
                </a:solidFill>
                <a:latin typeface="Helvetica"/>
              </a:rPr>
              <a:t>Le fichier des mutualistes avec date de naissance et sexe (PBC, item 4) est la donnée qui débloque à la fois la projection, la mortalité observée et l'engagement santé des retraités.</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Sigles : FPPN : Fonds de prévoyance de la Police nationale | CIMA : Conférence interafricaine des marchés d'assurances | CGRAE : Caisse générale de retraite des agents de l'État | EFC : entraide fin de carrière | PBC : liste des documents demandés au client | GNA : assureur de la flotte automobile (compte 47111106) | 936 : poste maladie | 8Z6 : poste décès</a:t>
            </a:r>
          </a:p>
        </p:txBody>
      </p:sp>
    </p:spTree>
    <p:extLst>
      <p:ext uri="{BB962C8B-B14F-4D97-AF65-F5344CB8AC3E}">
        <p14:creationId xmlns:p14="http://schemas.microsoft.com/office/powerpoint/2010/main" val="396247274"/>
      </p:ext>
    </p:extLst>
  </p:cSld>
  <p:clrMapOvr>
    <a:masterClrMapping/>
  </p:clrMapOvr>
  <p:transition>
    <p:fade/>
  </p:transition>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Projection agrégée : deux scénarios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Si les tendances de 2023 à 2025 se prolongent, le résultat technique devient négatif dès 2026 (-717 817 033 FCFA)</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Scénario A (tendance) : -25 229 464 300 FCFA en 2030. Scénario B (prestations au rythme des cotisations) : 1 195 261 600 FCFA</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 Onglet 25 du classeur des calculs</a:t>
            </a:r>
          </a:p>
        </p:txBody>
      </p:sp>
      <p:sp>
        <p:nvSpPr>
          <p:cNvPr id="31" name="TextBox 30"/>
          <p:cNvSpPr txBox="1"/>
          <p:nvPr/>
        </p:nvSpPr>
        <p:spPr>
          <a:xfrm>
            <a:off x="503999" y="1386000"/>
            <a:ext cx="10800000" cy="216000"/>
          </a:xfrm>
          <a:prstGeom prst="rect">
            <a:avLst/>
          </a:prstGeom>
          <a:noFill/>
        </p:spPr>
        <p:txBody>
          <a:bodyPr wrap="square" anchor="t" lIns="54000" rIns="54000"/>
          <a:lstStyle/>
          <a:p>
            <a:pPr algn="ctr"/>
            <a:r>
              <a:rPr sz="1200" b="0">
                <a:solidFill>
                  <a:srgbClr val="EFAC62"/>
                </a:solidFill>
                <a:latin typeface="Helvetica"/>
              </a:rPr>
              <a:t>Tableau 109 : Projection agrégée du résultat technique, maladie et décès</a:t>
            </a:r>
          </a:p>
        </p:txBody>
      </p:sp>
      <p:graphicFrame>
        <p:nvGraphicFramePr>
          <p:cNvPr id="32" name="Table 31"/>
          <p:cNvGraphicFramePr>
            <a:graphicFrameLocks noGrp="1"/>
          </p:cNvGraphicFramePr>
          <p:nvPr/>
        </p:nvGraphicFramePr>
        <p:xfrm>
          <a:off x="503999" y="1655999"/>
          <a:ext cx="10800000" cy="1168608"/>
        </p:xfrm>
        <a:graphic>
          <a:graphicData uri="http://schemas.openxmlformats.org/drawingml/2006/table">
            <a:tbl>
              <a:tblPr firstRow="0" bandRow="0">
                <a:tableStyleId>{5940675A-B579-460E-94D1-54222C63F5DA}</a:tableStyleId>
              </a:tblPr>
              <a:tblGrid>
                <a:gridCol w="1080000"/>
                <a:gridCol w="1944000"/>
                <a:gridCol w="1944000"/>
                <a:gridCol w="1944000"/>
                <a:gridCol w="1944000"/>
                <a:gridCol w="1944000"/>
              </a:tblGrid>
              <a:tr h="194768">
                <a:tc>
                  <a:txBody>
                    <a:bodyPr/>
                    <a:lstStyle/>
                    <a:p>
                      <a:pPr marL="0" indent="0" lvl="0">
                        <a:buNone/>
                      </a:pPr>
                      <a:r>
                        <a:rPr sz="900" b="1">
                          <a:solidFill>
                            <a:srgbClr val="FFFFFF"/>
                          </a:solidFill>
                          <a:latin typeface="Helvetica"/>
                        </a:rPr>
                        <a:t>Exercice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Cotisations</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Prestations A</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Résultat A</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Prestations B</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Résultat B</a:t>
                      </a:r>
                    </a:p>
                  </a:txBody>
                  <a:tcPr marL="43200" marR="43200" marT="14400" marB="14400" anchor="ctr">
                    <a:solidFill>
                      <a:srgbClr val="060606"/>
                    </a:solidFill>
                  </a:tcPr>
                </a:tc>
              </a:tr>
              <a:tr h="194768">
                <a:tc>
                  <a:txBody>
                    <a:bodyPr/>
                    <a:lstStyle/>
                    <a:p>
                      <a:pPr marL="0" indent="0" lvl="0">
                        <a:buNone/>
                      </a:pPr>
                      <a:r>
                        <a:rPr sz="900" b="1">
                          <a:solidFill>
                            <a:srgbClr val="060606"/>
                          </a:solidFill>
                          <a:latin typeface="Helvetica"/>
                        </a:rPr>
                        <a:t>2026</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3 799 150 023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3 383 585 508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-717 817 033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2 184 155 295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481 613 179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2027</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4 223 356 972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5 826 961 465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-2 769 949 168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2 428 034 545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628 977 752 FCFA</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2028</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4 694 930 185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10 034 763 370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-6 540 099 684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2 699 144 957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795 518 729 FCFA</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2029</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5 219 158 499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17 281 129 539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-13 297 145 940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3 000 527 119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983 456 480 FCFA</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2030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5 801 921 300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29 760 287 027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-25 229 464 300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3 335 561 127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1 195 261 600 FCFA</a:t>
                      </a:r>
                    </a:p>
                  </a:txBody>
                  <a:tcPr marL="43200" marR="43200" marT="14400" marB="14400" anchor="ctr">
                    <a:solidFill>
                      <a:srgbClr val="FFFFFF"/>
                    </a:solidFill>
                  </a:tcPr>
                </a:tc>
              </a:tr>
            </a:tbl>
          </a:graphicData>
        </a:graphic>
      </p:graphicFrame>
      <p:sp>
        <p:nvSpPr>
          <p:cNvPr id="33" name="TextBox 32"/>
          <p:cNvSpPr txBox="1"/>
          <p:nvPr/>
        </p:nvSpPr>
        <p:spPr>
          <a:xfrm>
            <a:off x="503999" y="2932611"/>
            <a:ext cx="11232000" cy="162000"/>
          </a:xfrm>
          <a:prstGeom prst="rect">
            <a:avLst/>
          </a:prstGeom>
          <a:noFill/>
        </p:spPr>
        <p:txBody>
          <a:bodyPr wrap="square" anchor="t" lIns="54000" rIns="54000"/>
          <a:lstStyle/>
          <a:p>
            <a:pPr algn="l"/>
            <a:r>
              <a:rPr sz="850" b="0">
                <a:solidFill>
                  <a:srgbClr val="53565A"/>
                </a:solidFill>
                <a:latin typeface="Helvetica"/>
              </a:rPr>
              <a:t>Valable pour : cotisations, prestations et frais de gestion des comptes 2023 à 2025, garanties maladie et décès prises ensemble. Hors épargne, Grenier et produits financiers.</a:t>
            </a:r>
          </a:p>
        </p:txBody>
      </p:sp>
      <p:sp>
        <p:nvSpPr>
          <p:cNvPr id="34" name="TextBox 33"/>
          <p:cNvSpPr txBox="1"/>
          <p:nvPr/>
        </p:nvSpPr>
        <p:spPr>
          <a:xfrm>
            <a:off x="503999" y="3238611"/>
            <a:ext cx="11232000" cy="2629388"/>
          </a:xfrm>
          <a:prstGeom prst="rect">
            <a:avLst/>
          </a:prstGeom>
          <a:noFill/>
        </p:spPr>
        <p:txBody>
          <a:bodyPr wrap="square" lIns="54000" rIns="54000"/>
          <a:lstStyle/>
          <a:p>
            <a:pPr algn="just">
              <a:spcAft>
                <a:spcPts val="600"/>
              </a:spcAft>
            </a:pPr>
            <a:r>
              <a:rPr sz="1300" b="1">
                <a:solidFill>
                  <a:srgbClr val="060606"/>
                </a:solidFill>
                <a:latin typeface="Helvetica"/>
              </a:rPr>
              <a:t>Au rythme de 2023 à 2025, les prestations croissent de 72,21 % par an et les cotisations de 11,17 % : l'équilibre technique ne tient pas.</a:t>
            </a:r>
          </a:p>
          <a:p>
            <a:pPr algn="just">
              <a:spcAft>
                <a:spcPts val="600"/>
              </a:spcAft>
            </a:pPr>
            <a:r>
              <a:rPr sz="1300" b="1">
                <a:solidFill>
                  <a:srgbClr val="060606"/>
                </a:solidFill>
                <a:latin typeface="Helvetica"/>
              </a:rPr>
              <a:t>La hausse des prestations maladie ralentit déjà : 103,53 % en 2024, 67,07 % en 2025.</a:t>
            </a:r>
            <a:r>
              <a:rPr sz="1300" b="0">
                <a:solidFill>
                  <a:srgbClr val="060606"/>
                </a:solidFill>
                <a:latin typeface="Helvetica"/>
              </a:rPr>
              <a:t> Prolonger le rythme moyen est donc une hypothèse pessimiste.</a:t>
            </a:r>
          </a:p>
          <a:p>
            <a:pPr algn="just">
              <a:spcAft>
                <a:spcPts val="600"/>
              </a:spcAft>
            </a:pPr>
            <a:r>
              <a:rPr sz="1300" b="1">
                <a:solidFill>
                  <a:srgbClr val="060606"/>
                </a:solidFill>
                <a:latin typeface="Helvetica"/>
              </a:rPr>
              <a:t>Le scénario B montre l'équilibre atteint si les prestations suivent les cotisations.</a:t>
            </a:r>
            <a:r>
              <a:rPr sz="1300" b="0">
                <a:solidFill>
                  <a:srgbClr val="060606"/>
                </a:solidFill>
                <a:latin typeface="Helvetica"/>
              </a:rPr>
              <a:t> La réalité se situe entre les deux scénarios. Seule une projection par âge permettrait de la situer.</a:t>
            </a:r>
          </a:p>
          <a:p>
            <a:pPr algn="just">
              <a:spcAft>
                <a:spcPts val="600"/>
              </a:spcAft>
            </a:pPr>
            <a:r>
              <a:rPr sz="1300" b="0">
                <a:solidFill>
                  <a:srgbClr val="060606"/>
                </a:solidFill>
                <a:latin typeface="Helvetica"/>
              </a:rPr>
              <a:t>Le FPPN doit suivre chaque trimestre le rapport prestations / cotisations de la maladie : c'est l'indicateur avancé du déséquilibre que montre le scénario A.</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2493479154"/>
      </p:ext>
    </p:extLst>
  </p:cSld>
  <p:clrMapOvr>
    <a:masterClrMapping/>
  </p:clrMapOvr>
  <p:transition>
    <p:fade/>
  </p:transition>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Projection agrégée : évolution du résultat</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L'écart entre les deux scénarios mesure l'incertitude laissée par l'absence des âges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 scénario A sert d'alerte, le scénario B de cible : le pilotage des prestations maladie fait passer de l'un à l'autre</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41 : Résultat technique projeté selon deux scénarios</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millions de FCFA</a:t>
            </a:r>
          </a:p>
        </p:txBody>
      </p:sp>
      <p:graphicFrame>
        <p:nvGraphicFramePr>
          <p:cNvPr id="32" name="Chart 31"/>
          <p:cNvGraphicFramePr>
            <a:graphicFrameLocks noGrp="1"/>
          </p:cNvGraphicFramePr>
          <p:nvPr/>
        </p:nvGraphicFramePr>
        <p:xfrm>
          <a:off x="503999" y="1782000"/>
          <a:ext cx="6552000" cy="3888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de 2020 au 31/08/2026 (provisoire), fichiers « BALANCE … » listés en annexe « Fichiers sources ». Traitements Adenka. Onglet 25 du classeur des calculs</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En 2030, l'écart entre les deux scénarios atteint 26 424 725 900 FCFA.</a:t>
            </a:r>
          </a:p>
          <a:p>
            <a:pPr algn="just">
              <a:spcAft>
                <a:spcPts val="600"/>
              </a:spcAft>
            </a:pPr>
            <a:r>
              <a:rPr sz="1400" b="1">
                <a:solidFill>
                  <a:srgbClr val="060606"/>
                </a:solidFill>
                <a:latin typeface="Helvetica"/>
              </a:rPr>
              <a:t>Aucun des deux scénarios n'est une prévision</a:t>
            </a:r>
            <a:r>
              <a:rPr sz="1400" b="0">
                <a:solidFill>
                  <a:srgbClr val="060606"/>
                </a:solidFill>
                <a:latin typeface="Helvetica"/>
              </a:rPr>
              <a:t> : ce sont deux bornes construites sur les seules données agrégées disponibles.</a:t>
            </a:r>
          </a:p>
          <a:p>
            <a:pPr algn="just">
              <a:spcAft>
                <a:spcPts val="600"/>
              </a:spcAft>
            </a:pPr>
            <a:r>
              <a:rPr sz="1400" b="0">
                <a:solidFill>
                  <a:srgbClr val="060606"/>
                </a:solidFill>
                <a:latin typeface="Helvetica"/>
              </a:rPr>
              <a:t>La projection par âge doit être refaite dès réception du fichier des mutualistes. Elle remplacera ces deux bornes par un scénario central expliqué.</a:t>
            </a:r>
          </a:p>
        </p:txBody>
      </p:sp>
      <p:sp>
        <p:nvSpPr>
          <p:cNvPr id="35" name="TextBox 34"/>
          <p:cNvSpPr txBox="1"/>
          <p:nvPr/>
        </p:nvSpPr>
        <p:spPr>
          <a:xfrm>
            <a:off x="503999" y="5670000"/>
            <a:ext cx="6552000" cy="162000"/>
          </a:xfrm>
          <a:prstGeom prst="rect">
            <a:avLst/>
          </a:prstGeom>
          <a:noFill/>
        </p:spPr>
        <p:txBody>
          <a:bodyPr wrap="square" anchor="t" lIns="54000" rIns="54000"/>
          <a:lstStyle/>
          <a:p>
            <a:pPr algn="l"/>
            <a:r>
              <a:rPr sz="850" b="0">
                <a:solidFill>
                  <a:srgbClr val="53565A"/>
                </a:solidFill>
                <a:latin typeface="Helvetica"/>
              </a:rPr>
              <a:t>Valable pour : mêmes données et hypothèses que la diapositive précédente.</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2084942229"/>
      </p:ext>
    </p:extLst>
  </p:cSld>
  <p:clrMapOvr>
    <a:masterClrMapping/>
  </p:clrMapOvr>
  <p:transition>
    <p:fade/>
  </p:transition>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Google Shape;8651;p70"/>
          <p:cNvSpPr/>
          <p:nvPr/>
        </p:nvSpPr>
        <p:spPr>
          <a:xfrm>
            <a:off x="2013108" y="2588204"/>
            <a:ext cx="1380332" cy="1428252"/>
          </a:xfrm>
          <a:custGeom>
            <a:avLst/>
            <a:gdLst/>
            <a:ahLst/>
            <a:cxnLst/>
            <a:rect l="l" t="t" r="r" b="b"/>
            <a:pathLst>
              <a:path w="8670" h="8971" extrusionOk="0">
                <a:moveTo>
                  <a:pt x="7105" y="1302"/>
                </a:moveTo>
                <a:cubicBezTo>
                  <a:pt x="7105" y="1315"/>
                  <a:pt x="7105" y="1328"/>
                  <a:pt x="7105" y="1341"/>
                </a:cubicBezTo>
                <a:cubicBezTo>
                  <a:pt x="7118" y="1980"/>
                  <a:pt x="7183" y="2619"/>
                  <a:pt x="7183" y="3283"/>
                </a:cubicBezTo>
                <a:cubicBezTo>
                  <a:pt x="7170" y="4404"/>
                  <a:pt x="7183" y="5525"/>
                  <a:pt x="7222" y="6646"/>
                </a:cubicBezTo>
                <a:cubicBezTo>
                  <a:pt x="7235" y="6959"/>
                  <a:pt x="7222" y="7259"/>
                  <a:pt x="7222" y="7559"/>
                </a:cubicBezTo>
                <a:lnTo>
                  <a:pt x="7222" y="7585"/>
                </a:lnTo>
                <a:cubicBezTo>
                  <a:pt x="6935" y="7598"/>
                  <a:pt x="6649" y="7611"/>
                  <a:pt x="6362" y="7611"/>
                </a:cubicBezTo>
                <a:cubicBezTo>
                  <a:pt x="6101" y="7598"/>
                  <a:pt x="5853" y="7585"/>
                  <a:pt x="5593" y="7585"/>
                </a:cubicBezTo>
                <a:cubicBezTo>
                  <a:pt x="4159" y="7559"/>
                  <a:pt x="2712" y="7559"/>
                  <a:pt x="1291" y="7442"/>
                </a:cubicBezTo>
                <a:cubicBezTo>
                  <a:pt x="1278" y="7207"/>
                  <a:pt x="1239" y="6959"/>
                  <a:pt x="1226" y="6725"/>
                </a:cubicBezTo>
                <a:cubicBezTo>
                  <a:pt x="1200" y="6255"/>
                  <a:pt x="1187" y="5799"/>
                  <a:pt x="1200" y="5330"/>
                </a:cubicBezTo>
                <a:cubicBezTo>
                  <a:pt x="1213" y="4222"/>
                  <a:pt x="1226" y="3101"/>
                  <a:pt x="1343" y="1993"/>
                </a:cubicBezTo>
                <a:lnTo>
                  <a:pt x="1552" y="1993"/>
                </a:lnTo>
                <a:cubicBezTo>
                  <a:pt x="2138" y="1980"/>
                  <a:pt x="2725" y="1889"/>
                  <a:pt x="3312" y="1810"/>
                </a:cubicBezTo>
                <a:cubicBezTo>
                  <a:pt x="4576" y="1641"/>
                  <a:pt x="5840" y="1524"/>
                  <a:pt x="7105" y="1302"/>
                </a:cubicBezTo>
                <a:close/>
                <a:moveTo>
                  <a:pt x="7529" y="1"/>
                </a:moveTo>
                <a:cubicBezTo>
                  <a:pt x="7291" y="1"/>
                  <a:pt x="7059" y="53"/>
                  <a:pt x="6818" y="64"/>
                </a:cubicBezTo>
                <a:cubicBezTo>
                  <a:pt x="6375" y="103"/>
                  <a:pt x="5932" y="142"/>
                  <a:pt x="5488" y="194"/>
                </a:cubicBezTo>
                <a:cubicBezTo>
                  <a:pt x="4824" y="259"/>
                  <a:pt x="4107" y="350"/>
                  <a:pt x="3429" y="389"/>
                </a:cubicBezTo>
                <a:cubicBezTo>
                  <a:pt x="2686" y="429"/>
                  <a:pt x="1943" y="481"/>
                  <a:pt x="1213" y="598"/>
                </a:cubicBezTo>
                <a:cubicBezTo>
                  <a:pt x="913" y="624"/>
                  <a:pt x="652" y="728"/>
                  <a:pt x="509" y="976"/>
                </a:cubicBezTo>
                <a:cubicBezTo>
                  <a:pt x="470" y="1028"/>
                  <a:pt x="444" y="1080"/>
                  <a:pt x="431" y="1146"/>
                </a:cubicBezTo>
                <a:cubicBezTo>
                  <a:pt x="300" y="1524"/>
                  <a:pt x="287" y="1928"/>
                  <a:pt x="300" y="2332"/>
                </a:cubicBezTo>
                <a:cubicBezTo>
                  <a:pt x="209" y="3010"/>
                  <a:pt x="209" y="3700"/>
                  <a:pt x="209" y="4378"/>
                </a:cubicBezTo>
                <a:cubicBezTo>
                  <a:pt x="170" y="4769"/>
                  <a:pt x="144" y="5173"/>
                  <a:pt x="131" y="5565"/>
                </a:cubicBezTo>
                <a:cubicBezTo>
                  <a:pt x="105" y="6203"/>
                  <a:pt x="14" y="6842"/>
                  <a:pt x="14" y="7481"/>
                </a:cubicBezTo>
                <a:cubicBezTo>
                  <a:pt x="1" y="7911"/>
                  <a:pt x="157" y="8315"/>
                  <a:pt x="613" y="8419"/>
                </a:cubicBezTo>
                <a:cubicBezTo>
                  <a:pt x="1056" y="8550"/>
                  <a:pt x="1526" y="8524"/>
                  <a:pt x="1982" y="8550"/>
                </a:cubicBezTo>
                <a:cubicBezTo>
                  <a:pt x="2243" y="8563"/>
                  <a:pt x="2503" y="8589"/>
                  <a:pt x="2764" y="8615"/>
                </a:cubicBezTo>
                <a:cubicBezTo>
                  <a:pt x="3885" y="8745"/>
                  <a:pt x="5006" y="8902"/>
                  <a:pt x="6140" y="8941"/>
                </a:cubicBezTo>
                <a:cubicBezTo>
                  <a:pt x="6220" y="8945"/>
                  <a:pt x="6302" y="8946"/>
                  <a:pt x="6383" y="8946"/>
                </a:cubicBezTo>
                <a:cubicBezTo>
                  <a:pt x="6581" y="8946"/>
                  <a:pt x="6781" y="8937"/>
                  <a:pt x="6974" y="8928"/>
                </a:cubicBezTo>
                <a:cubicBezTo>
                  <a:pt x="7118" y="8941"/>
                  <a:pt x="7274" y="8941"/>
                  <a:pt x="7418" y="8941"/>
                </a:cubicBezTo>
                <a:cubicBezTo>
                  <a:pt x="7568" y="8956"/>
                  <a:pt x="7723" y="8971"/>
                  <a:pt x="7877" y="8971"/>
                </a:cubicBezTo>
                <a:cubicBezTo>
                  <a:pt x="7990" y="8971"/>
                  <a:pt x="8103" y="8963"/>
                  <a:pt x="8213" y="8941"/>
                </a:cubicBezTo>
                <a:cubicBezTo>
                  <a:pt x="8643" y="8810"/>
                  <a:pt x="8565" y="8093"/>
                  <a:pt x="8604" y="7741"/>
                </a:cubicBezTo>
                <a:cubicBezTo>
                  <a:pt x="8669" y="6620"/>
                  <a:pt x="8539" y="5499"/>
                  <a:pt x="8487" y="4378"/>
                </a:cubicBezTo>
                <a:cubicBezTo>
                  <a:pt x="8434" y="3453"/>
                  <a:pt x="8330" y="2527"/>
                  <a:pt x="8252" y="1589"/>
                </a:cubicBezTo>
                <a:cubicBezTo>
                  <a:pt x="8200" y="1341"/>
                  <a:pt x="8239" y="637"/>
                  <a:pt x="8096" y="350"/>
                </a:cubicBezTo>
                <a:lnTo>
                  <a:pt x="8082" y="350"/>
                </a:lnTo>
                <a:cubicBezTo>
                  <a:pt x="8056" y="181"/>
                  <a:pt x="7952" y="51"/>
                  <a:pt x="7704" y="11"/>
                </a:cubicBezTo>
                <a:cubicBezTo>
                  <a:pt x="7645" y="4"/>
                  <a:pt x="7587" y="1"/>
                  <a:pt x="7529" y="1"/>
                </a:cubicBezTo>
                <a:close/>
              </a:path>
            </a:pathLst>
          </a:custGeom>
          <a:solidFill>
            <a:schemeClr val="bg1"/>
          </a:solidFill>
          <a:ln w="76200">
            <a:solidFill>
              <a:schemeClr val="tx1"/>
            </a:solid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5" name="Rectangle 24">
            <a:extLst>
              <a:ext uri="{FF2B5EF4-FFF2-40B4-BE49-F238E27FC236}">
                <a16:creationId xmlns:a16="http://schemas.microsoft.com/office/drawing/2014/main" id="{9B9B23AA-050D-4543-80A0-873FE31AFFF7}"/>
              </a:ext>
            </a:extLst>
          </p:cNvPr>
          <p:cNvSpPr/>
          <p:nvPr/>
        </p:nvSpPr>
        <p:spPr>
          <a:xfrm>
            <a:off x="2446471" y="2869098"/>
            <a:ext cx="513606" cy="936923"/>
          </a:xfrm>
          <a:prstGeom prst="rect">
            <a:avLst/>
          </a:prstGeom>
        </p:spPr>
        <p:txBody>
          <a:bodyPr wrap="none" lIns="0" tIns="0" rIns="0" bIns="0">
            <a:spAutoFit/>
          </a:bodyPr>
          <a:lstStyle/>
          <a:p>
            <a:pPr lvl="0">
              <a:lnSpc>
                <a:spcPct val="110000"/>
              </a:lnSpc>
            </a:pPr>
            <a:r>
              <a:rPr lang="fr-CI" sz="42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13</a:t>
            </a:r>
          </a:p>
        </p:txBody>
      </p:sp>
      <p:sp>
        <p:nvSpPr>
          <p:cNvPr id="10" name="Rectangle 9"/>
          <p:cNvSpPr/>
          <p:nvPr/>
        </p:nvSpPr>
        <p:spPr>
          <a:xfrm>
            <a:off x="3938554" y="2462184"/>
            <a:ext cx="3816000" cy="1200329"/>
          </a:xfrm>
          <a:prstGeom prst="rect">
            <a:avLst/>
          </a:prstGeom>
        </p:spPr>
        <p:txBody>
          <a:bodyPr wrap="square">
            <a:spAutoFit/>
          </a:bodyPr>
          <a:lstStyle/>
          <a:p>
            <a:r>
              <a:rPr lang="fr-CI" sz="3600" b="1" noProof="0">
                <a:solidFill>
                  <a:schemeClr val="bg1"/>
                </a:solidFill>
                <a:latin typeface="Helvetica" panose="020B0604020202020204" pitchFamily="34" charset="0"/>
                <a:cs typeface="Helvetica" panose="020B0604020202020204" pitchFamily="34" charset="0"/>
              </a:rPr>
              <a:t>Outils et traçabilité</a:t>
            </a:r>
          </a:p>
        </p:txBody>
      </p:sp>
      <p:pic>
        <p:nvPicPr>
          <p:cNvPr id="9" name="Image 8">
            <a:extLst>
              <a:ext uri="{FF2B5EF4-FFF2-40B4-BE49-F238E27FC236}">
                <a16:creationId xmlns:a16="http://schemas.microsoft.com/office/drawing/2014/main" id="{2C356854-0685-DCEF-E2F6-65D5E9653A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1274" y="-185107"/>
            <a:ext cx="3179518" cy="1268781"/>
          </a:xfrm>
          <a:prstGeom prst="rect">
            <a:avLst/>
          </a:prstGeom>
        </p:spPr>
      </p:pic>
      <p:sp>
        <p:nvSpPr>
          <p:cNvPr id="6" name="Rectangle 5"/>
          <p:cNvSpPr/>
          <p:nvPr/>
        </p:nvSpPr>
        <p:spPr>
          <a:xfrm>
            <a:off x="3938554" y="3337559"/>
            <a:ext cx="3816000" cy="923330"/>
          </a:xfrm>
          <a:prstGeom prst="rect">
            <a:avLst/>
          </a:prstGeom>
        </p:spPr>
        <p:txBody>
          <a:bodyPr wrap="square">
            <a:spAutoFit/>
          </a:bodyPr>
          <a:lstStyle/>
          <a:p>
            <a:br>
              <a:rPr lang="fr-CI" noProof="0">
                <a:solidFill>
                  <a:schemeClr val="bg1"/>
                </a:solidFill>
              </a:rPr>
            </a:br>
            <a:r>
              <a:rPr lang="fr-CI" noProof="0">
                <a:solidFill>
                  <a:srgbClr val="EFAC62"/>
                </a:solidFill>
                <a:latin typeface="Helvetica" panose="020B0604020202020204" pitchFamily="34" charset="0"/>
                <a:ea typeface="Open Sans Light" panose="020B0306030504020204" pitchFamily="34" charset="0"/>
                <a:cs typeface="Helvetica" panose="020B0604020202020204" pitchFamily="34" charset="0"/>
              </a:rPr>
              <a:t>Traitement des données, extraits de code, contrôle des chiffres</a:t>
            </a:r>
          </a:p>
        </p:txBody>
      </p:sp>
      <p:pic>
        <p:nvPicPr>
          <p:cNvPr id="11" name="Imag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5561" y="2415481"/>
            <a:ext cx="1566911" cy="1600975"/>
          </a:xfrm>
          <a:prstGeom prst="rect">
            <a:avLst/>
          </a:prstGeom>
        </p:spPr>
      </p:pic>
    </p:spTree>
    <p:extLst>
      <p:ext uri="{BB962C8B-B14F-4D97-AF65-F5344CB8AC3E}">
        <p14:creationId xmlns:p14="http://schemas.microsoft.com/office/powerpoint/2010/main" val="2997856477"/>
      </p:ext>
    </p:extLst>
  </p:cSld>
  <p:clrMapOvr>
    <a:masterClrMapping/>
  </p:clrMapOvr>
  <p:transition>
    <p:fade/>
  </p:transition>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Environnement de travail</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traitements sont écrits en Python et exécutés dans VS Code sous Windows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Dix scripts conservés, rejouables à chaque nouvel envoi du FPPN</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dépôt de la mission (dossier scripts)</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110 : Scripts de la mission</a:t>
            </a:r>
          </a:p>
        </p:txBody>
      </p:sp>
      <p:graphicFrame>
        <p:nvGraphicFramePr>
          <p:cNvPr id="32" name="Table 31"/>
          <p:cNvGraphicFramePr>
            <a:graphicFrameLocks noGrp="1"/>
          </p:cNvGraphicFramePr>
          <p:nvPr/>
        </p:nvGraphicFramePr>
        <p:xfrm>
          <a:off x="503999" y="1655999"/>
          <a:ext cx="11232000" cy="3033155"/>
        </p:xfrm>
        <a:graphic>
          <a:graphicData uri="http://schemas.openxmlformats.org/drawingml/2006/table">
            <a:tbl>
              <a:tblPr firstRow="0" bandRow="0">
                <a:tableStyleId>{5940675A-B579-460E-94D1-54222C63F5DA}</a:tableStyleId>
              </a:tblPr>
              <a:tblGrid>
                <a:gridCol w="2664000"/>
                <a:gridCol w="4464000"/>
                <a:gridCol w="4104000"/>
              </a:tblGrid>
              <a:tr h="225250">
                <a:tc>
                  <a:txBody>
                    <a:bodyPr/>
                    <a:lstStyle/>
                    <a:p>
                      <a:pPr marL="0" indent="0" lvl="0">
                        <a:buNone/>
                      </a:pPr>
                      <a:r>
                        <a:rPr sz="1100" b="1">
                          <a:solidFill>
                            <a:srgbClr val="FFFFFF"/>
                          </a:solidFill>
                          <a:latin typeface="Helvetica"/>
                        </a:rPr>
                        <a:t>Script</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Rôle</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Contrôle intégré</a:t>
                      </a:r>
                    </a:p>
                  </a:txBody>
                  <a:tcPr marL="43200" marR="43200" marT="14400" marB="14400" anchor="ctr">
                    <a:solidFill>
                      <a:srgbClr val="060606"/>
                    </a:solidFill>
                  </a:tcPr>
                </a:tc>
              </a:tr>
              <a:tr h="225250">
                <a:tc>
                  <a:txBody>
                    <a:bodyPr/>
                    <a:lstStyle/>
                    <a:p>
                      <a:pPr marL="0" indent="0" lvl="0">
                        <a:buNone/>
                      </a:pPr>
                      <a:r>
                        <a:rPr sz="1100" b="1">
                          <a:solidFill>
                            <a:srgbClr val="060606"/>
                          </a:solidFill>
                          <a:latin typeface="Helvetica"/>
                        </a:rPr>
                        <a:t>extraction_fppn.py</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Extraction sans perte, archive découpée pour l'envoi</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empreintes numériques, lignes et cellules</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envoi_fichiers_fppn.py</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Envoi de fichiers précis en parties</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Empreinte de chaque partie</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base_fppn.py</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Base d'analyse : lecture par en-tête ou par contenu</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Lignes de total, montants doublés</a:t>
                      </a:r>
                    </a:p>
                  </a:txBody>
                  <a:tcPr marL="43200" marR="43200" marT="14400" marB="14400" anchor="ctr">
                    <a:solidFill>
                      <a:srgbClr val="FFFFFF"/>
                    </a:solidFill>
                  </a:tcPr>
                </a:tc>
              </a:tr>
              <a:tr h="392901">
                <a:tc>
                  <a:txBody>
                    <a:bodyPr/>
                    <a:lstStyle/>
                    <a:p>
                      <a:pPr marL="0" indent="0" lvl="0">
                        <a:buNone/>
                      </a:pPr>
                      <a:r>
                        <a:rPr sz="1100" b="1">
                          <a:solidFill>
                            <a:srgbClr val="060606"/>
                          </a:solidFill>
                          <a:latin typeface="Helvetica"/>
                        </a:rPr>
                        <a:t>grenier_fppn.py, compta_fppn.py</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Lecture des exports du logiciel de prêts et des balances Sage</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Totaux imprimés retrouvés, débit = crédit</a:t>
                      </a:r>
                    </a:p>
                  </a:txBody>
                  <a:tcPr marL="43200" marR="43200" marT="14400" marB="14400" anchor="ctr">
                    <a:solidFill>
                      <a:srgbClr val="F2F2F2"/>
                    </a:solidFill>
                  </a:tcPr>
                </a:tc>
              </a:tr>
              <a:tr h="392901">
                <a:tc>
                  <a:txBody>
                    <a:bodyPr/>
                    <a:lstStyle/>
                    <a:p>
                      <a:pPr marL="0" indent="0" lvl="0">
                        <a:buNone/>
                      </a:pPr>
                      <a:r>
                        <a:rPr sz="1100" b="1">
                          <a:solidFill>
                            <a:srgbClr val="060606"/>
                          </a:solidFill>
                          <a:latin typeface="Helvetica"/>
                        </a:rPr>
                        <a:t>analyses_fppn.py, analyses_complements_fppn.py</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Indicateurs, tests, sensibilités, tables CIMA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Classeur des calculs</a:t>
                      </a:r>
                    </a:p>
                  </a:txBody>
                  <a:tcPr marL="43200" marR="43200" marT="14400" marB="14400" anchor="ctr">
                    <a:solidFill>
                      <a:srgbClr val="FFFFFF"/>
                    </a:solidFill>
                  </a:tcPr>
                </a:tc>
              </a:tr>
              <a:tr h="392901">
                <a:tc>
                  <a:txBody>
                    <a:bodyPr/>
                    <a:lstStyle/>
                    <a:p>
                      <a:pPr marL="0" indent="0" lvl="0">
                        <a:buNone/>
                      </a:pPr>
                      <a:r>
                        <a:rPr sz="1100" b="1">
                          <a:solidFill>
                            <a:srgbClr val="060606"/>
                          </a:solidFill>
                          <a:latin typeface="Helvetica"/>
                        </a:rPr>
                        <a:t>ratios_airms_fppn.py</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Ratios prudentiels, classement des comptes, excédent par risque</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Rapprochement avec les agrégats du premier traitement</a:t>
                      </a:r>
                    </a:p>
                  </a:txBody>
                  <a:tcPr marL="43200" marR="43200" marT="14400" marB="14400" anchor="ctr">
                    <a:solidFill>
                      <a:srgbClr val="F2F2F2"/>
                    </a:solidFill>
                  </a:tcPr>
                </a:tc>
              </a:tr>
              <a:tr h="392901">
                <a:tc>
                  <a:txBody>
                    <a:bodyPr/>
                    <a:lstStyle/>
                    <a:p>
                      <a:pPr marL="0" indent="0" lvl="0">
                        <a:buNone/>
                      </a:pPr>
                      <a:r>
                        <a:rPr sz="1100" b="1">
                          <a:solidFill>
                            <a:srgbClr val="060606"/>
                          </a:solidFill>
                          <a:latin typeface="Helvetica"/>
                        </a:rPr>
                        <a:t>provisions_fppn.py, formules_fppn.py</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Provisions, variantes de sinistralité, registre des formules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Rapprochement avec les balances</a:t>
                      </a:r>
                    </a:p>
                  </a:txBody>
                  <a:tcPr marL="43200" marR="43200" marT="14400" marB="14400" anchor="ctr">
                    <a:solidFill>
                      <a:srgbClr val="FFFFFF"/>
                    </a:solidFill>
                  </a:tcPr>
                </a:tc>
              </a:tr>
              <a:tr h="560551">
                <a:tc>
                  <a:txBody>
                    <a:bodyPr/>
                    <a:lstStyle/>
                    <a:p>
                      <a:pPr marL="0" indent="0" lvl="0">
                        <a:buNone/>
                      </a:pPr>
                      <a:r>
                        <a:rPr sz="1100" b="1">
                          <a:solidFill>
                            <a:srgbClr val="060606"/>
                          </a:solidFill>
                          <a:latin typeface="Helvetica"/>
                        </a:rPr>
                        <a:t>rapport_v9_fppn.py, donnees_v9_fppn.py, sensibilites_fppn.py, logigramme_fppn.py, classeur_v2_fppn.py</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Rapport, logigrammes et graphiques natifs, classeur</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Contrôle automatique des chiffres</a:t>
                      </a:r>
                    </a:p>
                  </a:txBody>
                  <a:tcPr marL="43200" marR="43200" marT="14400" marB="14400" anchor="ctr">
                    <a:solidFill>
                      <a:srgbClr val="F2F2F2"/>
                    </a:solidFill>
                  </a:tcPr>
                </a:tc>
              </a:tr>
            </a:tbl>
          </a:graphicData>
        </a:graphic>
      </p:graphicFrame>
      <p:sp>
        <p:nvSpPr>
          <p:cNvPr id="33" name="TextBox 32"/>
          <p:cNvSpPr txBox="1"/>
          <p:nvPr/>
        </p:nvSpPr>
        <p:spPr>
          <a:xfrm>
            <a:off x="503999" y="4797158"/>
            <a:ext cx="11232000" cy="162000"/>
          </a:xfrm>
          <a:prstGeom prst="rect">
            <a:avLst/>
          </a:prstGeom>
          <a:noFill/>
        </p:spPr>
        <p:txBody>
          <a:bodyPr wrap="square" anchor="t" lIns="54000" rIns="54000"/>
          <a:lstStyle/>
          <a:p>
            <a:pPr algn="l"/>
            <a:r>
              <a:rPr sz="850" b="0">
                <a:solidFill>
                  <a:srgbClr val="53565A"/>
                </a:solidFill>
                <a:latin typeface="Helvetica"/>
              </a:rPr>
              <a:t>Valable pour : scripts du dossier de la mission tels qu'utilisés pour ce rapport.</a:t>
            </a:r>
          </a:p>
        </p:txBody>
      </p:sp>
      <p:sp>
        <p:nvSpPr>
          <p:cNvPr id="34" name="TextBox 33"/>
          <p:cNvSpPr txBox="1"/>
          <p:nvPr/>
        </p:nvSpPr>
        <p:spPr>
          <a:xfrm>
            <a:off x="503999" y="5103158"/>
            <a:ext cx="11232000" cy="764841"/>
          </a:xfrm>
          <a:prstGeom prst="rect">
            <a:avLst/>
          </a:prstGeom>
          <a:noFill/>
        </p:spPr>
        <p:txBody>
          <a:bodyPr wrap="square" lIns="54000" rIns="54000"/>
          <a:lstStyle/>
          <a:p>
            <a:pPr algn="just">
              <a:spcAft>
                <a:spcPts val="600"/>
              </a:spcAft>
            </a:pPr>
            <a:r>
              <a:rPr sz="1300" b="1">
                <a:solidFill>
                  <a:srgbClr val="060606"/>
                </a:solidFill>
                <a:latin typeface="Helvetica"/>
              </a:rPr>
              <a:t>Chaque chiffre du rapport peut être recalculé par un tiers.</a:t>
            </a:r>
            <a:r>
              <a:rPr sz="1300" b="0">
                <a:solidFill>
                  <a:srgbClr val="060606"/>
                </a:solidFill>
                <a:latin typeface="Helvetica"/>
              </a:rPr>
              <a:t> Les scripts sont conservés dans le dossier de la mission et rejoués à chaque nouvel envoi.</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CIMA : Conférence interafricaine des marchés d'assurances</a:t>
            </a:r>
          </a:p>
        </p:txBody>
      </p:sp>
    </p:spTree>
    <p:extLst>
      <p:ext uri="{BB962C8B-B14F-4D97-AF65-F5344CB8AC3E}">
        <p14:creationId xmlns:p14="http://schemas.microsoft.com/office/powerpoint/2010/main" val="910179771"/>
      </p:ext>
    </p:extLst>
  </p:cSld>
  <p:clrMapOvr>
    <a:masterClrMapping/>
  </p:clrMapOvr>
  <p:transition>
    <p:fade/>
  </p:transition>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Étapes du traitement des données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Chaque étape transforme une entrée en sortie, avec un contrôle automatique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Six étapes du logigramme de la partie 2, chacune avec son entrée, son traitement, son contrôle et sa sortie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scripts Python Adenka (dossier scripts de la mission)</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111 : Entrée, traitement, contrôle et sortie de chaque étape</a:t>
            </a:r>
          </a:p>
        </p:txBody>
      </p:sp>
      <p:graphicFrame>
        <p:nvGraphicFramePr>
          <p:cNvPr id="32" name="Table 31"/>
          <p:cNvGraphicFramePr>
            <a:graphicFrameLocks noGrp="1"/>
          </p:cNvGraphicFramePr>
          <p:nvPr/>
        </p:nvGraphicFramePr>
        <p:xfrm>
          <a:off x="503999" y="1655999"/>
          <a:ext cx="11231999" cy="2872230"/>
        </p:xfrm>
        <a:graphic>
          <a:graphicData uri="http://schemas.openxmlformats.org/drawingml/2006/table">
            <a:tbl>
              <a:tblPr firstRow="0" bandRow="0">
                <a:tableStyleId>{5940675A-B579-460E-94D1-54222C63F5DA}</a:tableStyleId>
              </a:tblPr>
              <a:tblGrid>
                <a:gridCol w="936000"/>
                <a:gridCol w="2376000"/>
                <a:gridCol w="2951999"/>
                <a:gridCol w="2808000"/>
                <a:gridCol w="2160000"/>
              </a:tblGrid>
              <a:tr h="194768">
                <a:tc>
                  <a:txBody>
                    <a:bodyPr/>
                    <a:lstStyle/>
                    <a:p>
                      <a:pPr marL="0" indent="0" lvl="0">
                        <a:buNone/>
                      </a:pPr>
                      <a:r>
                        <a:rPr sz="900" b="1">
                          <a:solidFill>
                            <a:srgbClr val="FFFFFF"/>
                          </a:solidFill>
                          <a:latin typeface="Helvetica"/>
                        </a:rPr>
                        <a:t>Étape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Entrée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Traitement</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Contrôle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Sortie</a:t>
                      </a:r>
                    </a:p>
                  </a:txBody>
                  <a:tcPr marL="43200" marR="43200" marT="14400" marB="14400" anchor="ctr">
                    <a:solidFill>
                      <a:srgbClr val="060606"/>
                    </a:solidFill>
                  </a:tcPr>
                </a:tc>
              </a:tr>
              <a:tr h="469105">
                <a:tc>
                  <a:txBody>
                    <a:bodyPr/>
                    <a:lstStyle/>
                    <a:p>
                      <a:pPr marL="0" indent="0" lvl="0">
                        <a:buNone/>
                      </a:pPr>
                      <a:r>
                        <a:rPr sz="900" b="1">
                          <a:solidFill>
                            <a:srgbClr val="060606"/>
                          </a:solidFill>
                          <a:latin typeface="Helvetica"/>
                        </a:rPr>
                        <a:t>Réception</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4 287 fichiers envoyés par le FPPN, dont des exports de logiciels et des PDF.</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Le script dresse l'inventaire, repère doublons, fichiers vides et formats mal nommés.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Chaque fichier reçoit une empreinte numérique qui prouve qu'il n'a pas changé.</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Inventaire des fichiers et liste des fichiers à renvoyer.</a:t>
                      </a:r>
                    </a:p>
                  </a:txBody>
                  <a:tcPr marL="43200" marR="43200" marT="14400" marB="14400" anchor="ctr">
                    <a:solidFill>
                      <a:srgbClr val="FFFFFF"/>
                    </a:solidFill>
                  </a:tcPr>
                </a:tc>
              </a:tr>
              <a:tr h="469105">
                <a:tc>
                  <a:txBody>
                    <a:bodyPr/>
                    <a:lstStyle/>
                    <a:p>
                      <a:pPr marL="0" indent="0" lvl="0">
                        <a:buNone/>
                      </a:pPr>
                      <a:r>
                        <a:rPr sz="900" b="1">
                          <a:solidFill>
                            <a:srgbClr val="060606"/>
                          </a:solidFill>
                          <a:latin typeface="Helvetica"/>
                        </a:rPr>
                        <a:t>Extraction</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Tableurs Excel, pages web nommées « .xls » et fichiers texte de la Solde.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Le script lit les premiers octets pour reconnaître le vrai format, puis convertit chaque feuille en CSV sans perte.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Les lignes et les cellules sont comptées avant et après conversion : 491 feuilles identiques.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Fichiers CSV et journal des feuilles converties.</a:t>
                      </a:r>
                    </a:p>
                  </a:txBody>
                  <a:tcPr marL="43200" marR="43200" marT="14400" marB="14400" anchor="ctr">
                    <a:solidFill>
                      <a:srgbClr val="F2F2F2"/>
                    </a:solidFill>
                  </a:tcPr>
                </a:tc>
              </a:tr>
              <a:tr h="469105">
                <a:tc>
                  <a:txBody>
                    <a:bodyPr/>
                    <a:lstStyle/>
                    <a:p>
                      <a:pPr marL="0" indent="0" lvl="0">
                        <a:buNone/>
                      </a:pPr>
                      <a:r>
                        <a:rPr sz="900" b="1">
                          <a:solidFill>
                            <a:srgbClr val="060606"/>
                          </a:solidFill>
                          <a:latin typeface="Helvetica"/>
                        </a:rPr>
                        <a:t>Base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Fichiers CSV des précomptes, des balances et du Grenier.</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Le script reconnaît les colonnes par leur en-tête ou par leur contenu, puis réunit 4,45 millions de lignes.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Les lignes de total et les montants doublés sont écartés et enregistrés à part.</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Base d'analyse au format Parquet et journal des rejets.</a:t>
                      </a:r>
                    </a:p>
                  </a:txBody>
                  <a:tcPr marL="43200" marR="43200" marT="14400" marB="14400" anchor="ctr">
                    <a:solidFill>
                      <a:srgbClr val="FFFFFF"/>
                    </a:solidFill>
                  </a:tcPr>
                </a:tc>
              </a:tr>
              <a:tr h="469105">
                <a:tc>
                  <a:txBody>
                    <a:bodyPr/>
                    <a:lstStyle/>
                    <a:p>
                      <a:pPr marL="0" indent="0" lvl="0">
                        <a:buNone/>
                      </a:pPr>
                      <a:r>
                        <a:rPr sz="900" b="1">
                          <a:solidFill>
                            <a:srgbClr val="060606"/>
                          </a:solidFill>
                          <a:latin typeface="Helvetica"/>
                        </a:rPr>
                        <a:t>Contrôles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Base d'analyse et totaux imprimés par les logiciels.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Le script recalcule les totaux et rapproche les fichiers aller et retour, poste par poste et mois par mois.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Les 37 balances âgées retrouvent leurs totaux et les 7 exercices sont équilibrés.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Tableaux de contrôle et anomalies signalées au FPPN.</a:t>
                      </a:r>
                    </a:p>
                  </a:txBody>
                  <a:tcPr marL="43200" marR="43200" marT="14400" marB="14400" anchor="ctr">
                    <a:solidFill>
                      <a:srgbClr val="F2F2F2"/>
                    </a:solidFill>
                  </a:tcPr>
                </a:tc>
              </a:tr>
              <a:tr h="469105">
                <a:tc>
                  <a:txBody>
                    <a:bodyPr/>
                    <a:lstStyle/>
                    <a:p>
                      <a:pPr marL="0" indent="0" lvl="0">
                        <a:buNone/>
                      </a:pPr>
                      <a:r>
                        <a:rPr sz="900" b="1">
                          <a:solidFill>
                            <a:srgbClr val="060606"/>
                          </a:solidFill>
                          <a:latin typeface="Helvetica"/>
                        </a:rPr>
                        <a:t>Analyses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Base contrôlée, données externes validées et textes de l'UEMOA.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Les scripts calculent les indicateurs, les tests statistiques, les tables CIMA et les 36 ratios prudentiels.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Les agrégats recalculés sont comparés à ceux de la version précédente au franc près.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Fichiers de résultats et classeur des calculs.</a:t>
                      </a:r>
                    </a:p>
                  </a:txBody>
                  <a:tcPr marL="43200" marR="43200" marT="14400" marB="14400" anchor="ctr">
                    <a:solidFill>
                      <a:srgbClr val="FFFFFF"/>
                    </a:solidFill>
                  </a:tcPr>
                </a:tc>
              </a:tr>
              <a:tr h="331937">
                <a:tc>
                  <a:txBody>
                    <a:bodyPr/>
                    <a:lstStyle/>
                    <a:p>
                      <a:pPr marL="0" indent="0" lvl="0">
                        <a:buNone/>
                      </a:pPr>
                      <a:r>
                        <a:rPr sz="900" b="1">
                          <a:solidFill>
                            <a:srgbClr val="060606"/>
                          </a:solidFill>
                          <a:latin typeface="Helvetica"/>
                        </a:rPr>
                        <a:t>Rapport</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Fichiers de résultats et gabarits Timesaver Adenka.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Le script construit les graphiques et tableaux natifs, les schémas modifiables et les notes.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Chaque chiffre affiché est relu dans le PowerPoint produit et comparé à sa valeur exacte.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Rapport PowerPoint et onglet de traçabilité.</a:t>
                      </a:r>
                    </a:p>
                  </a:txBody>
                  <a:tcPr marL="43200" marR="43200" marT="14400" marB="14400" anchor="ctr">
                    <a:solidFill>
                      <a:srgbClr val="F2F2F2"/>
                    </a:solidFill>
                  </a:tcPr>
                </a:tc>
              </a:tr>
            </a:tbl>
          </a:graphicData>
        </a:graphic>
      </p:graphicFrame>
      <p:sp>
        <p:nvSpPr>
          <p:cNvPr id="33" name="TextBox 32"/>
          <p:cNvSpPr txBox="1"/>
          <p:nvPr/>
        </p:nvSpPr>
        <p:spPr>
          <a:xfrm>
            <a:off x="503999" y="4636235"/>
            <a:ext cx="11232000" cy="162000"/>
          </a:xfrm>
          <a:prstGeom prst="rect">
            <a:avLst/>
          </a:prstGeom>
          <a:noFill/>
        </p:spPr>
        <p:txBody>
          <a:bodyPr wrap="square" anchor="t" lIns="54000" rIns="54000"/>
          <a:lstStyle/>
          <a:p>
            <a:pPr algn="l"/>
            <a:r>
              <a:rPr sz="850" b="0">
                <a:solidFill>
                  <a:srgbClr val="53565A"/>
                </a:solidFill>
                <a:latin typeface="Helvetica"/>
              </a:rPr>
              <a:t>Valable pour : traitements des fichiers reçus jusqu'au 22/10/2026.</a:t>
            </a:r>
          </a:p>
        </p:txBody>
      </p:sp>
      <p:sp>
        <p:nvSpPr>
          <p:cNvPr id="34" name="TextBox 33"/>
          <p:cNvSpPr txBox="1"/>
          <p:nvPr/>
        </p:nvSpPr>
        <p:spPr>
          <a:xfrm>
            <a:off x="503999" y="4942235"/>
            <a:ext cx="11232000" cy="925764"/>
          </a:xfrm>
          <a:prstGeom prst="rect">
            <a:avLst/>
          </a:prstGeom>
          <a:noFill/>
        </p:spPr>
        <p:txBody>
          <a:bodyPr wrap="square" lIns="54000" rIns="54000"/>
          <a:lstStyle/>
          <a:p>
            <a:pPr algn="just">
              <a:spcAft>
                <a:spcPts val="600"/>
              </a:spcAft>
            </a:pPr>
            <a:r>
              <a:rPr sz="1300" b="1">
                <a:solidFill>
                  <a:srgbClr val="060606"/>
                </a:solidFill>
                <a:latin typeface="Helvetica"/>
              </a:rPr>
              <a:t>Chaque étape produit une trace vérifiable.</a:t>
            </a:r>
            <a:r>
              <a:rPr sz="1300" b="0">
                <a:solidFill>
                  <a:srgbClr val="060606"/>
                </a:solidFill>
                <a:latin typeface="Helvetica"/>
              </a:rPr>
              <a:t> L'inventaire, le journal des conversions, le journal des rejets, les tableaux de contrôle et l'onglet de traçabilité permettent à un tiers de refaire le chemin.</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CIMA : Conférence interafricaine des marchés d'assurances | CSV : fichier texte de tableau</a:t>
            </a:r>
          </a:p>
        </p:txBody>
      </p:sp>
    </p:spTree>
    <p:extLst>
      <p:ext uri="{BB962C8B-B14F-4D97-AF65-F5344CB8AC3E}">
        <p14:creationId xmlns:p14="http://schemas.microsoft.com/office/powerpoint/2010/main" val="1248363960"/>
      </p:ext>
    </p:extLst>
  </p:cSld>
  <p:clrMapOvr>
    <a:masterClrMapping/>
  </p:clrMapOvr>
  <p:transition>
    <p:fade/>
  </p:transition>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Code : reconnaître le vrai format</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script lit les premiers octets pour reconnaître le vrai format d'un fichier</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C'est ainsi que les 70 fichiers « .xls » du Grenier ont été reconnus comme des pages web lisibles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scripts de la mission (fenêtre VS Code reconstituée, pas une capture d'écran)</a:t>
            </a:r>
          </a:p>
        </p:txBody>
      </p:sp>
      <p:pic>
        <p:nvPicPr>
          <p:cNvPr id="31" name="Picture 30" descr="code_extraction.png"/>
          <p:cNvPicPr>
            <a:picLocks noChangeAspect="1"/>
          </p:cNvPicPr>
          <p:nvPr/>
        </p:nvPicPr>
        <p:blipFill>
          <a:blip r:embed="rId6"/>
          <a:stretch>
            <a:fillRect/>
          </a:stretch>
        </p:blipFill>
        <p:spPr>
          <a:xfrm>
            <a:off x="503999" y="1674000"/>
            <a:ext cx="7848000" cy="3205288"/>
          </a:xfrm>
          <a:prstGeom prst="rect">
            <a:avLst/>
          </a:prstGeom>
        </p:spPr>
      </p:pic>
      <p:sp>
        <p:nvSpPr>
          <p:cNvPr id="32" name="TextBox 31"/>
          <p:cNvSpPr txBox="1"/>
          <p:nvPr/>
        </p:nvSpPr>
        <p:spPr>
          <a:xfrm>
            <a:off x="503999" y="1386000"/>
            <a:ext cx="7848000" cy="251999"/>
          </a:xfrm>
          <a:prstGeom prst="rect">
            <a:avLst/>
          </a:prstGeom>
          <a:noFill/>
        </p:spPr>
        <p:txBody>
          <a:bodyPr wrap="square" anchor="t" lIns="54000" rIns="54000"/>
          <a:lstStyle/>
          <a:p>
            <a:pPr algn="ctr"/>
            <a:r>
              <a:rPr sz="1200" b="0">
                <a:solidFill>
                  <a:srgbClr val="EFAC62"/>
                </a:solidFill>
                <a:latin typeface="Helvetica"/>
              </a:rPr>
              <a:t>Figure 42 : Extrait du script dans VS Code sous Windows (reconnaître le vrai format)</a:t>
            </a:r>
          </a:p>
        </p:txBody>
      </p:sp>
      <p:sp>
        <p:nvSpPr>
          <p:cNvPr id="33" name="TextBox 32"/>
          <p:cNvSpPr txBox="1"/>
          <p:nvPr/>
        </p:nvSpPr>
        <p:spPr>
          <a:xfrm>
            <a:off x="8568000" y="1440000"/>
            <a:ext cx="3168000" cy="4428000"/>
          </a:xfrm>
          <a:prstGeom prst="rect">
            <a:avLst/>
          </a:prstGeom>
          <a:noFill/>
        </p:spPr>
        <p:txBody>
          <a:bodyPr wrap="square" lIns="54000" rIns="54000"/>
          <a:lstStyle/>
          <a:p>
            <a:pPr algn="just">
              <a:spcAft>
                <a:spcPts val="600"/>
              </a:spcAft>
            </a:pPr>
            <a:r>
              <a:rPr sz="1300" b="1">
                <a:solidFill>
                  <a:srgbClr val="060606"/>
                </a:solidFill>
                <a:latin typeface="Helvetica"/>
              </a:rPr>
              <a:t>Un fichier Excel moderne commence par les octets « PK », un ancien par d'autres octets.</a:t>
            </a:r>
          </a:p>
          <a:p>
            <a:pPr algn="just">
              <a:spcAft>
                <a:spcPts val="600"/>
              </a:spcAft>
            </a:pPr>
            <a:r>
              <a:rPr sz="1300" b="1">
                <a:solidFill>
                  <a:srgbClr val="060606"/>
                </a:solidFill>
                <a:latin typeface="Helvetica"/>
              </a:rPr>
              <a:t>Une page web contient « &lt;html » ou « &lt;table ».</a:t>
            </a:r>
            <a:r>
              <a:rPr sz="1300" b="0">
                <a:solidFill>
                  <a:srgbClr val="060606"/>
                </a:solidFill>
                <a:latin typeface="Helvetica"/>
              </a:rPr>
              <a:t> Le script la lit alors comme un tableau.</a:t>
            </a:r>
          </a:p>
          <a:p>
            <a:pPr algn="just">
              <a:spcAft>
                <a:spcPts val="600"/>
              </a:spcAft>
            </a:pPr>
            <a:r>
              <a:rPr sz="1300" b="1">
                <a:solidFill>
                  <a:srgbClr val="060606"/>
                </a:solidFill>
                <a:latin typeface="Helvetica"/>
              </a:rPr>
              <a:t>Le terminal montre la sortie réelle de l'extraction sur le poste de la mission</a:t>
            </a:r>
            <a:r>
              <a:rPr sz="1300" b="0">
                <a:solidFill>
                  <a:srgbClr val="060606"/>
                </a:solidFill>
                <a:latin typeface="Helvetica"/>
              </a:rPr>
              <a:t> : 91,5 Mo en 5 parties.</a:t>
            </a:r>
          </a:p>
          <a:p>
            <a:pPr algn="just">
              <a:spcAft>
                <a:spcPts val="600"/>
              </a:spcAft>
            </a:pPr>
            <a:r>
              <a:rPr sz="1300" b="0">
                <a:solidFill>
                  <a:srgbClr val="060606"/>
                </a:solidFill>
                <a:latin typeface="Helvetica"/>
              </a:rPr>
              <a:t>Ce test évite de déclarer illisible un fichier simplement mal nommé : aucun fichier du Grenier n'a été perdu.</a:t>
            </a:r>
          </a:p>
        </p:txBody>
      </p:sp>
    </p:spTree>
    <p:extLst>
      <p:ext uri="{BB962C8B-B14F-4D97-AF65-F5344CB8AC3E}">
        <p14:creationId xmlns:p14="http://schemas.microsoft.com/office/powerpoint/2010/main" val="3672046733"/>
      </p:ext>
    </p:extLst>
  </p:cSld>
  <p:clrMapOvr>
    <a:masterClrMapping/>
  </p:clrMapOvr>
  <p:transition>
    <p:fade/>
  </p:transition>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Code : écarter les lignes de total</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Une ligne égale à la somme des autres est écartée automatiquement</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Règle appliquée feuille par feuille, avec une tolérance de 1 %</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scripts de la mission (fenêtre VS Code reconstituée, pas une capture d'écran)</a:t>
            </a:r>
          </a:p>
        </p:txBody>
      </p:sp>
      <p:pic>
        <p:nvPicPr>
          <p:cNvPr id="31" name="Picture 30" descr="code_total.png"/>
          <p:cNvPicPr>
            <a:picLocks noChangeAspect="1"/>
          </p:cNvPicPr>
          <p:nvPr/>
        </p:nvPicPr>
        <p:blipFill>
          <a:blip r:embed="rId6"/>
          <a:stretch>
            <a:fillRect/>
          </a:stretch>
        </p:blipFill>
        <p:spPr>
          <a:xfrm>
            <a:off x="503999" y="1674000"/>
            <a:ext cx="7848000" cy="2598101"/>
          </a:xfrm>
          <a:prstGeom prst="rect">
            <a:avLst/>
          </a:prstGeom>
        </p:spPr>
      </p:pic>
      <p:sp>
        <p:nvSpPr>
          <p:cNvPr id="32" name="TextBox 31"/>
          <p:cNvSpPr txBox="1"/>
          <p:nvPr/>
        </p:nvSpPr>
        <p:spPr>
          <a:xfrm>
            <a:off x="503999" y="1386000"/>
            <a:ext cx="7848000" cy="251999"/>
          </a:xfrm>
          <a:prstGeom prst="rect">
            <a:avLst/>
          </a:prstGeom>
          <a:noFill/>
        </p:spPr>
        <p:txBody>
          <a:bodyPr wrap="square" anchor="t" lIns="54000" rIns="54000"/>
          <a:lstStyle/>
          <a:p>
            <a:pPr algn="ctr"/>
            <a:r>
              <a:rPr sz="1200" b="0">
                <a:solidFill>
                  <a:srgbClr val="EFAC62"/>
                </a:solidFill>
                <a:latin typeface="Helvetica"/>
              </a:rPr>
              <a:t>Figure 43 : Extrait du script dans VS Code sous Windows (écarter les lignes de total)</a:t>
            </a:r>
          </a:p>
        </p:txBody>
      </p:sp>
      <p:sp>
        <p:nvSpPr>
          <p:cNvPr id="33" name="TextBox 32"/>
          <p:cNvSpPr txBox="1"/>
          <p:nvPr/>
        </p:nvSpPr>
        <p:spPr>
          <a:xfrm>
            <a:off x="8568000" y="1440000"/>
            <a:ext cx="3168000" cy="4428000"/>
          </a:xfrm>
          <a:prstGeom prst="rect">
            <a:avLst/>
          </a:prstGeom>
          <a:noFill/>
        </p:spPr>
        <p:txBody>
          <a:bodyPr wrap="square" lIns="54000" rIns="54000"/>
          <a:lstStyle/>
          <a:p>
            <a:pPr algn="just">
              <a:spcAft>
                <a:spcPts val="600"/>
              </a:spcAft>
            </a:pPr>
            <a:r>
              <a:rPr sz="1300" b="1">
                <a:solidFill>
                  <a:srgbClr val="060606"/>
                </a:solidFill>
                <a:latin typeface="Helvetica"/>
              </a:rPr>
              <a:t>Le script calcule la somme de la feuille.</a:t>
            </a:r>
          </a:p>
          <a:p>
            <a:pPr algn="just">
              <a:spcAft>
                <a:spcPts val="600"/>
              </a:spcAft>
            </a:pPr>
            <a:r>
              <a:rPr sz="1300" b="1">
                <a:solidFill>
                  <a:srgbClr val="060606"/>
                </a:solidFill>
                <a:latin typeface="Helvetica"/>
              </a:rPr>
              <a:t>Une ligne dont le montant égale la somme des autres est un total</a:t>
            </a:r>
            <a:r>
              <a:rPr sz="1300" b="0">
                <a:solidFill>
                  <a:srgbClr val="060606"/>
                </a:solidFill>
                <a:latin typeface="Helvetica"/>
              </a:rPr>
              <a:t>, pas un mutualiste.</a:t>
            </a:r>
          </a:p>
          <a:p>
            <a:pPr algn="just">
              <a:spcAft>
                <a:spcPts val="600"/>
              </a:spcAft>
            </a:pPr>
            <a:r>
              <a:rPr sz="1300" b="1">
                <a:solidFill>
                  <a:srgbClr val="060606"/>
                </a:solidFill>
                <a:latin typeface="Helvetica"/>
              </a:rPr>
              <a:t>Chaque ligne écartée est enregistrée</a:t>
            </a:r>
            <a:r>
              <a:rPr sz="1300" b="0">
                <a:solidFill>
                  <a:srgbClr val="060606"/>
                </a:solidFill>
                <a:latin typeface="Helvetica"/>
              </a:rPr>
              <a:t> avec son fichier et son montant.</a:t>
            </a:r>
          </a:p>
          <a:p>
            <a:pPr algn="just">
              <a:spcAft>
                <a:spcPts val="600"/>
              </a:spcAft>
            </a:pPr>
            <a:r>
              <a:rPr sz="1300" b="0">
                <a:solidFill>
                  <a:srgbClr val="060606"/>
                </a:solidFill>
                <a:latin typeface="Helvetica"/>
              </a:rPr>
              <a:t>La règle est automatique et tracée : le FPPN peut vérifier chaque ligne écartée dans le journal des rejets.</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2024977556"/>
      </p:ext>
    </p:extLst>
  </p:cSld>
  <p:clrMapOvr>
    <a:masterClrMapping/>
  </p:clrMapOvr>
  <p:transition>
    <p:fade/>
  </p:transition>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Code : corriger les montants doublés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montants écrits deux fois à la suite sont corrigés et signalés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Correction limitée au poste décès, au-delà d'un million de FCFA</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scripts de la mission (fenêtre VS Code reconstituée, pas une capture d'écran)</a:t>
            </a:r>
          </a:p>
        </p:txBody>
      </p:sp>
      <p:pic>
        <p:nvPicPr>
          <p:cNvPr id="31" name="Picture 30" descr="code_double.png"/>
          <p:cNvPicPr>
            <a:picLocks noChangeAspect="1"/>
          </p:cNvPicPr>
          <p:nvPr/>
        </p:nvPicPr>
        <p:blipFill>
          <a:blip r:embed="rId6"/>
          <a:stretch>
            <a:fillRect/>
          </a:stretch>
        </p:blipFill>
        <p:spPr>
          <a:xfrm>
            <a:off x="503999" y="1674000"/>
            <a:ext cx="7848000" cy="3007023"/>
          </a:xfrm>
          <a:prstGeom prst="rect">
            <a:avLst/>
          </a:prstGeom>
        </p:spPr>
      </p:pic>
      <p:sp>
        <p:nvSpPr>
          <p:cNvPr id="32" name="TextBox 31"/>
          <p:cNvSpPr txBox="1"/>
          <p:nvPr/>
        </p:nvSpPr>
        <p:spPr>
          <a:xfrm>
            <a:off x="503999" y="1386000"/>
            <a:ext cx="7848000" cy="251999"/>
          </a:xfrm>
          <a:prstGeom prst="rect">
            <a:avLst/>
          </a:prstGeom>
          <a:noFill/>
        </p:spPr>
        <p:txBody>
          <a:bodyPr wrap="square" anchor="t" lIns="54000" rIns="54000"/>
          <a:lstStyle/>
          <a:p>
            <a:pPr algn="ctr"/>
            <a:r>
              <a:rPr sz="1200" b="0">
                <a:solidFill>
                  <a:srgbClr val="EFAC62"/>
                </a:solidFill>
                <a:latin typeface="Helvetica"/>
              </a:rPr>
              <a:t>Figure 44 : Extrait du script dans VS Code sous Windows (corriger les montants doublés)</a:t>
            </a:r>
          </a:p>
        </p:txBody>
      </p:sp>
      <p:sp>
        <p:nvSpPr>
          <p:cNvPr id="33" name="TextBox 32"/>
          <p:cNvSpPr txBox="1"/>
          <p:nvPr/>
        </p:nvSpPr>
        <p:spPr>
          <a:xfrm>
            <a:off x="8568000" y="1440000"/>
            <a:ext cx="3168000" cy="4428000"/>
          </a:xfrm>
          <a:prstGeom prst="rect">
            <a:avLst/>
          </a:prstGeom>
          <a:noFill/>
        </p:spPr>
        <p:txBody>
          <a:bodyPr wrap="square" lIns="54000" rIns="54000"/>
          <a:lstStyle/>
          <a:p>
            <a:pPr algn="just">
              <a:spcAft>
                <a:spcPts val="600"/>
              </a:spcAft>
            </a:pPr>
            <a:r>
              <a:rPr sz="1300" b="1">
                <a:solidFill>
                  <a:srgbClr val="060606"/>
                </a:solidFill>
                <a:latin typeface="Helvetica"/>
              </a:rPr>
              <a:t>Le script découpe le montant en deux moitiés.</a:t>
            </a:r>
          </a:p>
          <a:p>
            <a:pPr algn="just">
              <a:spcAft>
                <a:spcPts val="600"/>
              </a:spcAft>
            </a:pPr>
            <a:r>
              <a:rPr sz="1300" b="1">
                <a:solidFill>
                  <a:srgbClr val="060606"/>
                </a:solidFill>
                <a:latin typeface="Helvetica"/>
              </a:rPr>
              <a:t>Si les deux moitiés sont identiques, il retient la première.</a:t>
            </a:r>
          </a:p>
          <a:p>
            <a:pPr algn="just">
              <a:spcAft>
                <a:spcPts val="600"/>
              </a:spcAft>
            </a:pPr>
            <a:r>
              <a:rPr sz="1300" b="1">
                <a:solidFill>
                  <a:srgbClr val="060606"/>
                </a:solidFill>
                <a:latin typeface="Helvetica"/>
              </a:rPr>
              <a:t>Le montant d'origine est conservé</a:t>
            </a:r>
            <a:r>
              <a:rPr sz="1300" b="0">
                <a:solidFill>
                  <a:srgbClr val="060606"/>
                </a:solidFill>
                <a:latin typeface="Helvetica"/>
              </a:rPr>
              <a:t> dans une colonne à part.</a:t>
            </a:r>
          </a:p>
          <a:p>
            <a:pPr algn="just">
              <a:spcAft>
                <a:spcPts val="600"/>
              </a:spcAft>
            </a:pPr>
            <a:r>
              <a:rPr sz="1300" b="0">
                <a:solidFill>
                  <a:srgbClr val="060606"/>
                </a:solidFill>
                <a:latin typeface="Helvetica"/>
              </a:rPr>
              <a:t>La correction est réversible : le montant d'origine reste disponible pour le FPPN.</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171326825"/>
      </p:ext>
    </p:extLst>
  </p:cSld>
  <p:clrMapOvr>
    <a:masterClrMapping/>
  </p:clrMapOvr>
  <p:transition>
    <p:fade/>
  </p:transition>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Code : lire les montants du Grenier</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montants imprimés avec espaces et « XOF » sont convertis sans perte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Les totaux recalculés sont égaux aux totaux imprimés dans les 37 balances âgées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scripts de la mission (fenêtre VS Code reconstituée, pas une capture d'écran)</a:t>
            </a:r>
          </a:p>
        </p:txBody>
      </p:sp>
      <p:pic>
        <p:nvPicPr>
          <p:cNvPr id="31" name="Picture 30" descr="code_grenier.png"/>
          <p:cNvPicPr>
            <a:picLocks noChangeAspect="1"/>
          </p:cNvPicPr>
          <p:nvPr/>
        </p:nvPicPr>
        <p:blipFill>
          <a:blip r:embed="rId6"/>
          <a:stretch>
            <a:fillRect/>
          </a:stretch>
        </p:blipFill>
        <p:spPr>
          <a:xfrm>
            <a:off x="503999" y="1674000"/>
            <a:ext cx="7848000" cy="2052871"/>
          </a:xfrm>
          <a:prstGeom prst="rect">
            <a:avLst/>
          </a:prstGeom>
        </p:spPr>
      </p:pic>
      <p:sp>
        <p:nvSpPr>
          <p:cNvPr id="32" name="TextBox 31"/>
          <p:cNvSpPr txBox="1"/>
          <p:nvPr/>
        </p:nvSpPr>
        <p:spPr>
          <a:xfrm>
            <a:off x="503999" y="1386000"/>
            <a:ext cx="7848000" cy="251999"/>
          </a:xfrm>
          <a:prstGeom prst="rect">
            <a:avLst/>
          </a:prstGeom>
          <a:noFill/>
        </p:spPr>
        <p:txBody>
          <a:bodyPr wrap="square" anchor="t" lIns="54000" rIns="54000"/>
          <a:lstStyle/>
          <a:p>
            <a:pPr algn="ctr"/>
            <a:r>
              <a:rPr sz="1200" b="0">
                <a:solidFill>
                  <a:srgbClr val="EFAC62"/>
                </a:solidFill>
                <a:latin typeface="Helvetica"/>
              </a:rPr>
              <a:t>Figure 45 : Extrait du script dans VS Code sous Windows (lire les montants du Grenier)</a:t>
            </a:r>
          </a:p>
        </p:txBody>
      </p:sp>
      <p:sp>
        <p:nvSpPr>
          <p:cNvPr id="33" name="TextBox 32"/>
          <p:cNvSpPr txBox="1"/>
          <p:nvPr/>
        </p:nvSpPr>
        <p:spPr>
          <a:xfrm>
            <a:off x="8568000" y="1440000"/>
            <a:ext cx="3168000" cy="4428000"/>
          </a:xfrm>
          <a:prstGeom prst="rect">
            <a:avLst/>
          </a:prstGeom>
          <a:noFill/>
        </p:spPr>
        <p:txBody>
          <a:bodyPr wrap="square" lIns="54000" rIns="54000"/>
          <a:lstStyle/>
          <a:p>
            <a:pPr algn="just">
              <a:spcAft>
                <a:spcPts val="600"/>
              </a:spcAft>
            </a:pPr>
            <a:r>
              <a:rPr sz="1300" b="1">
                <a:solidFill>
                  <a:srgbClr val="060606"/>
                </a:solidFill>
                <a:latin typeface="Helvetica"/>
              </a:rPr>
              <a:t>Le script retire les espaces, y compris insécables.</a:t>
            </a:r>
          </a:p>
          <a:p>
            <a:pPr algn="just">
              <a:spcAft>
                <a:spcPts val="600"/>
              </a:spcAft>
            </a:pPr>
            <a:r>
              <a:rPr sz="1300" b="1">
                <a:solidFill>
                  <a:srgbClr val="060606"/>
                </a:solidFill>
                <a:latin typeface="Helvetica"/>
              </a:rPr>
              <a:t>Il retire aussi la mention « XOF ».</a:t>
            </a:r>
          </a:p>
          <a:p>
            <a:pPr algn="just">
              <a:spcAft>
                <a:spcPts val="600"/>
              </a:spcAft>
            </a:pPr>
            <a:r>
              <a:rPr sz="1300" b="1">
                <a:solidFill>
                  <a:srgbClr val="060606"/>
                </a:solidFill>
                <a:latin typeface="Helvetica"/>
              </a:rPr>
              <a:t>Le nombre obtenu est comparé au total imprimé</a:t>
            </a:r>
            <a:r>
              <a:rPr sz="1300" b="0">
                <a:solidFill>
                  <a:srgbClr val="060606"/>
                </a:solidFill>
                <a:latin typeface="Helvetica"/>
              </a:rPr>
              <a:t> par le logiciel.</a:t>
            </a:r>
          </a:p>
          <a:p>
            <a:pPr algn="just">
              <a:spcAft>
                <a:spcPts val="600"/>
              </a:spcAft>
            </a:pPr>
            <a:r>
              <a:rPr sz="1300" b="0">
                <a:solidFill>
                  <a:srgbClr val="060606"/>
                </a:solidFill>
                <a:latin typeface="Helvetica"/>
              </a:rPr>
              <a:t>L'égalité des totaux sur les 37 balances prouve que la lecture n'a rien perdu.</a:t>
            </a:r>
          </a:p>
        </p:txBody>
      </p:sp>
    </p:spTree>
    <p:extLst>
      <p:ext uri="{BB962C8B-B14F-4D97-AF65-F5344CB8AC3E}">
        <p14:creationId xmlns:p14="http://schemas.microsoft.com/office/powerpoint/2010/main" val="1430966885"/>
      </p:ext>
    </p:extLst>
  </p:cSld>
  <p:clrMapOvr>
    <a:masterClrMapping/>
  </p:clrMapOvr>
  <p:transition>
    <p:fade/>
  </p:transition>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Code : calculer la sinistralité</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ratio S/C est calculé compte par compte, pour chaque exercice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Chaque compte utilisé est cité dans l'annexe des méthodes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scripts de la mission (fenêtre VS Code reconstituée, pas une capture d'écran)</a:t>
            </a:r>
          </a:p>
        </p:txBody>
      </p:sp>
      <p:pic>
        <p:nvPicPr>
          <p:cNvPr id="31" name="Picture 30" descr="code_sc.png"/>
          <p:cNvPicPr>
            <a:picLocks noChangeAspect="1"/>
          </p:cNvPicPr>
          <p:nvPr/>
        </p:nvPicPr>
        <p:blipFill>
          <a:blip r:embed="rId6"/>
          <a:stretch>
            <a:fillRect/>
          </a:stretch>
        </p:blipFill>
        <p:spPr>
          <a:xfrm>
            <a:off x="503999" y="1674000"/>
            <a:ext cx="7848000" cy="3824867"/>
          </a:xfrm>
          <a:prstGeom prst="rect">
            <a:avLst/>
          </a:prstGeom>
        </p:spPr>
      </p:pic>
      <p:sp>
        <p:nvSpPr>
          <p:cNvPr id="32" name="TextBox 31"/>
          <p:cNvSpPr txBox="1"/>
          <p:nvPr/>
        </p:nvSpPr>
        <p:spPr>
          <a:xfrm>
            <a:off x="503999" y="1386000"/>
            <a:ext cx="7848000" cy="251999"/>
          </a:xfrm>
          <a:prstGeom prst="rect">
            <a:avLst/>
          </a:prstGeom>
          <a:noFill/>
        </p:spPr>
        <p:txBody>
          <a:bodyPr wrap="square" anchor="t" lIns="54000" rIns="54000"/>
          <a:lstStyle/>
          <a:p>
            <a:pPr algn="ctr"/>
            <a:r>
              <a:rPr sz="1200" b="0">
                <a:solidFill>
                  <a:srgbClr val="EFAC62"/>
                </a:solidFill>
                <a:latin typeface="Helvetica"/>
              </a:rPr>
              <a:t>Figure 46 : Extrait du script dans VS Code sous Windows (calculer la sinistralité)</a:t>
            </a:r>
          </a:p>
        </p:txBody>
      </p:sp>
      <p:sp>
        <p:nvSpPr>
          <p:cNvPr id="33" name="TextBox 32"/>
          <p:cNvSpPr txBox="1"/>
          <p:nvPr/>
        </p:nvSpPr>
        <p:spPr>
          <a:xfrm>
            <a:off x="8568000" y="1440000"/>
            <a:ext cx="3168000" cy="4428000"/>
          </a:xfrm>
          <a:prstGeom prst="rect">
            <a:avLst/>
          </a:prstGeom>
          <a:noFill/>
        </p:spPr>
        <p:txBody>
          <a:bodyPr wrap="square" lIns="54000" rIns="54000"/>
          <a:lstStyle/>
          <a:p>
            <a:pPr algn="just">
              <a:spcAft>
                <a:spcPts val="600"/>
              </a:spcAft>
            </a:pPr>
            <a:r>
              <a:rPr sz="1300" b="1">
                <a:solidFill>
                  <a:srgbClr val="060606"/>
                </a:solidFill>
                <a:latin typeface="Helvetica"/>
              </a:rPr>
              <a:t>Les cotisations viennent des comptes 7010 et 7021.</a:t>
            </a:r>
          </a:p>
          <a:p>
            <a:pPr algn="just">
              <a:spcAft>
                <a:spcPts val="600"/>
              </a:spcAft>
            </a:pPr>
            <a:r>
              <a:rPr sz="1300" b="1">
                <a:solidFill>
                  <a:srgbClr val="060606"/>
                </a:solidFill>
                <a:latin typeface="Helvetica"/>
              </a:rPr>
              <a:t>Les prestations viennent des comptes 601, 6013, 6018, 60800007, 6021 et 6024.</a:t>
            </a:r>
          </a:p>
          <a:p>
            <a:pPr algn="just">
              <a:spcAft>
                <a:spcPts val="600"/>
              </a:spcAft>
            </a:pPr>
            <a:r>
              <a:rPr sz="1300" b="1">
                <a:solidFill>
                  <a:srgbClr val="060606"/>
                </a:solidFill>
                <a:latin typeface="Helvetica"/>
              </a:rPr>
              <a:t>Le résultat est écrit dans le classeur des calculs.</a:t>
            </a:r>
          </a:p>
          <a:p>
            <a:pPr algn="just">
              <a:spcAft>
                <a:spcPts val="600"/>
              </a:spcAft>
            </a:pPr>
            <a:r>
              <a:rPr sz="1300" b="0">
                <a:solidFill>
                  <a:srgbClr val="060606"/>
                </a:solidFill>
                <a:latin typeface="Helvetica"/>
              </a:rPr>
              <a:t>Le choix des comptes est explicite dans le code : un lecteur peut le contester et le modifier.</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S/C : prestations / cotisations</a:t>
            </a:r>
          </a:p>
        </p:txBody>
      </p:sp>
    </p:spTree>
    <p:extLst>
      <p:ext uri="{BB962C8B-B14F-4D97-AF65-F5344CB8AC3E}">
        <p14:creationId xmlns:p14="http://schemas.microsoft.com/office/powerpoint/2010/main" val="3270031805"/>
      </p:ext>
    </p:extLst>
  </p:cSld>
  <p:clrMapOvr>
    <a:masterClrMapping/>
  </p:clrMapOvr>
  <p:transition>
    <p:fade/>
  </p:transition>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Code : intervalle de confiance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L'intervalle de Wilson encadre la proportion de prêts en retard</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Méthode adaptée aux proportions, même faibles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scripts de la mission (fenêtre VS Code reconstituée, pas une capture d'écran)</a:t>
            </a:r>
          </a:p>
        </p:txBody>
      </p:sp>
      <p:pic>
        <p:nvPicPr>
          <p:cNvPr id="31" name="Picture 30" descr="code_stats.png"/>
          <p:cNvPicPr>
            <a:picLocks noChangeAspect="1"/>
          </p:cNvPicPr>
          <p:nvPr/>
        </p:nvPicPr>
        <p:blipFill>
          <a:blip r:embed="rId6"/>
          <a:stretch>
            <a:fillRect/>
          </a:stretch>
        </p:blipFill>
        <p:spPr>
          <a:xfrm>
            <a:off x="503999" y="1674000"/>
            <a:ext cx="7848000" cy="1780256"/>
          </a:xfrm>
          <a:prstGeom prst="rect">
            <a:avLst/>
          </a:prstGeom>
        </p:spPr>
      </p:pic>
      <p:sp>
        <p:nvSpPr>
          <p:cNvPr id="32" name="TextBox 31"/>
          <p:cNvSpPr txBox="1"/>
          <p:nvPr/>
        </p:nvSpPr>
        <p:spPr>
          <a:xfrm>
            <a:off x="503999" y="1386000"/>
            <a:ext cx="7848000" cy="251999"/>
          </a:xfrm>
          <a:prstGeom prst="rect">
            <a:avLst/>
          </a:prstGeom>
          <a:noFill/>
        </p:spPr>
        <p:txBody>
          <a:bodyPr wrap="square" anchor="t" lIns="54000" rIns="54000"/>
          <a:lstStyle/>
          <a:p>
            <a:pPr algn="ctr"/>
            <a:r>
              <a:rPr sz="1200" b="0">
                <a:solidFill>
                  <a:srgbClr val="EFAC62"/>
                </a:solidFill>
                <a:latin typeface="Helvetica"/>
              </a:rPr>
              <a:t>Figure 47 : Extrait du script dans VS Code sous Windows (intervalle de confiance)</a:t>
            </a:r>
          </a:p>
        </p:txBody>
      </p:sp>
      <p:sp>
        <p:nvSpPr>
          <p:cNvPr id="33" name="TextBox 32"/>
          <p:cNvSpPr txBox="1"/>
          <p:nvPr/>
        </p:nvSpPr>
        <p:spPr>
          <a:xfrm>
            <a:off x="8568000" y="1440000"/>
            <a:ext cx="3168000" cy="4428000"/>
          </a:xfrm>
          <a:prstGeom prst="rect">
            <a:avLst/>
          </a:prstGeom>
          <a:noFill/>
        </p:spPr>
        <p:txBody>
          <a:bodyPr wrap="square" lIns="54000" rIns="54000"/>
          <a:lstStyle/>
          <a:p>
            <a:pPr algn="just">
              <a:spcAft>
                <a:spcPts val="600"/>
              </a:spcAft>
            </a:pPr>
            <a:r>
              <a:rPr sz="1300" b="1">
                <a:solidFill>
                  <a:srgbClr val="060606"/>
                </a:solidFill>
                <a:latin typeface="Helvetica"/>
              </a:rPr>
              <a:t>La proportion vaut le nombre de prêts en retard divisé par le nombre de prêts.</a:t>
            </a:r>
          </a:p>
          <a:p>
            <a:pPr algn="just">
              <a:spcAft>
                <a:spcPts val="600"/>
              </a:spcAft>
            </a:pPr>
            <a:r>
              <a:rPr sz="1300" b="1">
                <a:solidFill>
                  <a:srgbClr val="060606"/>
                </a:solidFill>
                <a:latin typeface="Helvetica"/>
              </a:rPr>
              <a:t>L'intervalle est centré et élargi</a:t>
            </a:r>
            <a:r>
              <a:rPr sz="1300" b="0">
                <a:solidFill>
                  <a:srgbClr val="060606"/>
                </a:solidFill>
                <a:latin typeface="Helvetica"/>
              </a:rPr>
              <a:t> pour rester entre 0 et 1.</a:t>
            </a:r>
          </a:p>
          <a:p>
            <a:pPr algn="just">
              <a:spcAft>
                <a:spcPts val="600"/>
              </a:spcAft>
            </a:pPr>
            <a:r>
              <a:rPr sz="1300" b="1">
                <a:solidFill>
                  <a:srgbClr val="060606"/>
                </a:solidFill>
                <a:latin typeface="Helvetica"/>
              </a:rPr>
              <a:t>z vaut 1,96 pour un niveau de confiance de 95 %.</a:t>
            </a:r>
          </a:p>
          <a:p>
            <a:pPr algn="just">
              <a:spcAft>
                <a:spcPts val="600"/>
              </a:spcAft>
            </a:pPr>
            <a:r>
              <a:rPr sz="1300" b="0">
                <a:solidFill>
                  <a:srgbClr val="060606"/>
                </a:solidFill>
                <a:latin typeface="Helvetica"/>
              </a:rPr>
              <a:t>L'intervalle dit dans quelle plage se situe la vraie proportion de prêts en retard, compte tenu du hasard.</a:t>
            </a:r>
          </a:p>
        </p:txBody>
      </p:sp>
    </p:spTree>
    <p:extLst>
      <p:ext uri="{BB962C8B-B14F-4D97-AF65-F5344CB8AC3E}">
        <p14:creationId xmlns:p14="http://schemas.microsoft.com/office/powerpoint/2010/main" val="1306809434"/>
      </p:ext>
    </p:extLst>
  </p:cSld>
  <p:clrMapOvr>
    <a:masterClrMapping/>
  </p:clrMapOvr>
  <p:transition>
    <p:fade/>
  </p:transition>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Code : statut d'un ratio prudentiel</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statut de chaque ratio suit une règle écrite dans le code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Conforme, non conforme, en attente ou à apprécier, selon la norme du texte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scripts de la mission (fenêtre VS Code reconstituée, pas une capture d'écran)</a:t>
            </a:r>
          </a:p>
        </p:txBody>
      </p:sp>
      <p:pic>
        <p:nvPicPr>
          <p:cNvPr id="31" name="Picture 30" descr="code_statut.png"/>
          <p:cNvPicPr>
            <a:picLocks noChangeAspect="1"/>
          </p:cNvPicPr>
          <p:nvPr/>
        </p:nvPicPr>
        <p:blipFill>
          <a:blip r:embed="rId6"/>
          <a:stretch>
            <a:fillRect/>
          </a:stretch>
        </p:blipFill>
        <p:spPr>
          <a:xfrm>
            <a:off x="503999" y="1674000"/>
            <a:ext cx="7798815" cy="4158000"/>
          </a:xfrm>
          <a:prstGeom prst="rect">
            <a:avLst/>
          </a:prstGeom>
        </p:spPr>
      </p:pic>
      <p:sp>
        <p:nvSpPr>
          <p:cNvPr id="32" name="TextBox 31"/>
          <p:cNvSpPr txBox="1"/>
          <p:nvPr/>
        </p:nvSpPr>
        <p:spPr>
          <a:xfrm>
            <a:off x="503999" y="1386000"/>
            <a:ext cx="7798815" cy="251999"/>
          </a:xfrm>
          <a:prstGeom prst="rect">
            <a:avLst/>
          </a:prstGeom>
          <a:noFill/>
        </p:spPr>
        <p:txBody>
          <a:bodyPr wrap="square" anchor="t" lIns="54000" rIns="54000"/>
          <a:lstStyle/>
          <a:p>
            <a:pPr algn="ctr"/>
            <a:r>
              <a:rPr sz="1200" b="0">
                <a:solidFill>
                  <a:srgbClr val="EFAC62"/>
                </a:solidFill>
                <a:latin typeface="Helvetica"/>
              </a:rPr>
              <a:t>Figure 48 : Extrait du script dans VS Code sous Windows (statut d'un ratio prudentiel)</a:t>
            </a:r>
          </a:p>
        </p:txBody>
      </p:sp>
      <p:sp>
        <p:nvSpPr>
          <p:cNvPr id="33" name="TextBox 32"/>
          <p:cNvSpPr txBox="1"/>
          <p:nvPr/>
        </p:nvSpPr>
        <p:spPr>
          <a:xfrm>
            <a:off x="8518815" y="1440000"/>
            <a:ext cx="3217184" cy="4428000"/>
          </a:xfrm>
          <a:prstGeom prst="rect">
            <a:avLst/>
          </a:prstGeom>
          <a:noFill/>
        </p:spPr>
        <p:txBody>
          <a:bodyPr wrap="square" lIns="54000" rIns="54000"/>
          <a:lstStyle/>
          <a:p>
            <a:pPr algn="just">
              <a:spcAft>
                <a:spcPts val="600"/>
              </a:spcAft>
            </a:pPr>
            <a:r>
              <a:rPr sz="1300" b="1">
                <a:solidFill>
                  <a:srgbClr val="060606"/>
                </a:solidFill>
                <a:latin typeface="Helvetica"/>
              </a:rPr>
              <a:t>Une valeur absente donne « En attente ». Une norme non chiffrée donne « À apprécier ».</a:t>
            </a:r>
          </a:p>
          <a:p>
            <a:pPr algn="just">
              <a:spcAft>
                <a:spcPts val="600"/>
              </a:spcAft>
            </a:pPr>
            <a:r>
              <a:rPr sz="1300" b="1">
                <a:solidFill>
                  <a:srgbClr val="060606"/>
                </a:solidFill>
                <a:latin typeface="Helvetica"/>
              </a:rPr>
              <a:t>Le test compare la valeur à la norme</a:t>
            </a:r>
            <a:r>
              <a:rPr sz="1300" b="0">
                <a:solidFill>
                  <a:srgbClr val="060606"/>
                </a:solidFill>
                <a:latin typeface="Helvetica"/>
              </a:rPr>
              <a:t> : fourchette, minimum ou maximum.</a:t>
            </a:r>
          </a:p>
          <a:p>
            <a:pPr algn="just">
              <a:spcAft>
                <a:spcPts val="600"/>
              </a:spcAft>
            </a:pPr>
            <a:r>
              <a:rPr sz="1300" b="1">
                <a:solidFill>
                  <a:srgbClr val="060606"/>
                </a:solidFill>
                <a:latin typeface="Helvetica"/>
              </a:rPr>
              <a:t>Les années 2020, 2021 et 2026 portent la mention « indicatif ».</a:t>
            </a:r>
            <a:r>
              <a:rPr sz="1300" b="0">
                <a:solidFill>
                  <a:srgbClr val="060606"/>
                </a:solidFill>
                <a:latin typeface="Helvetica"/>
              </a:rPr>
              <a:t> Le terminal montre la sortie réelle du script.</a:t>
            </a:r>
          </a:p>
          <a:p>
            <a:pPr algn="just">
              <a:spcAft>
                <a:spcPts val="600"/>
              </a:spcAft>
            </a:pPr>
            <a:r>
              <a:rPr sz="1300" b="0">
                <a:solidFill>
                  <a:srgbClr val="060606"/>
                </a:solidFill>
                <a:latin typeface="Helvetica"/>
              </a:rPr>
              <a:t>La règle de statut est la même pour les 36 indicateurs : elle ne laisse aucune place à l'appréciation au cas par cas.</a:t>
            </a:r>
          </a:p>
        </p:txBody>
      </p:sp>
    </p:spTree>
    <p:extLst>
      <p:ext uri="{BB962C8B-B14F-4D97-AF65-F5344CB8AC3E}">
        <p14:creationId xmlns:p14="http://schemas.microsoft.com/office/powerpoint/2010/main" val="1436247099"/>
      </p:ext>
    </p:extLst>
  </p:cSld>
  <p:clrMapOvr>
    <a:masterClrMapping/>
  </p:clrMapOvr>
  <p:transition>
    <p:fade/>
  </p:transition>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7" name="Image 36"/>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3" name="Rectangle 22">
            <a:extLst>
              <a:ext uri="{FF2B5EF4-FFF2-40B4-BE49-F238E27FC236}">
                <a16:creationId xmlns:a16="http://schemas.microsoft.com/office/drawing/2014/main" id="{4CD23CFE-3F31-4BA9-B26F-B9B5B351518E}"/>
              </a:ext>
            </a:extLst>
          </p:cNvPr>
          <p:cNvSpPr/>
          <p:nvPr/>
        </p:nvSpPr>
        <p:spPr>
          <a:xfrm>
            <a:off x="2106184" y="1811264"/>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Enregistrement</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À la construction, chaque chiffre est produit par une fonction qui garde sa valeur exacte, sa diapositive et le texte affiché.</a:t>
            </a:r>
          </a:p>
        </p:txBody>
      </p:sp>
      <p:sp>
        <p:nvSpPr>
          <p:cNvPr id="28" name="Rectangle 27">
            <a:extLst>
              <a:ext uri="{FF2B5EF4-FFF2-40B4-BE49-F238E27FC236}">
                <a16:creationId xmlns:a16="http://schemas.microsoft.com/office/drawing/2014/main" id="{9B9B23AA-050D-4543-80A0-873FE31AFFF7}"/>
              </a:ext>
            </a:extLst>
          </p:cNvPr>
          <p:cNvSpPr/>
          <p:nvPr/>
        </p:nvSpPr>
        <p:spPr>
          <a:xfrm>
            <a:off x="1538714" y="1463475"/>
            <a:ext cx="5748535" cy="166944"/>
          </a:xfrm>
          <a:prstGeom prst="rect">
            <a:avLst/>
          </a:prstGeom>
        </p:spPr>
        <p:txBody>
          <a:bodyPr wrap="square" lIns="0" tIns="0" rIns="0" bIns="0">
            <a:sp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
            </a:r>
          </a:p>
        </p:txBody>
      </p:sp>
      <p:cxnSp>
        <p:nvCxnSpPr>
          <p:cNvPr id="29" name="Straight Connector 28">
            <a:extLst>
              <a:ext uri="{FF2B5EF4-FFF2-40B4-BE49-F238E27FC236}">
                <a16:creationId xmlns:a16="http://schemas.microsoft.com/office/drawing/2014/main" id="{09E553D9-3562-45A7-BE4B-0F12FAA0490F}"/>
              </a:ext>
            </a:extLst>
          </p:cNvPr>
          <p:cNvCxnSpPr>
            <a:cxnSpLocks/>
          </p:cNvCxnSpPr>
          <p:nvPr/>
        </p:nvCxnSpPr>
        <p:spPr>
          <a:xfrm>
            <a:off x="916803" y="1707866"/>
            <a:ext cx="0" cy="3668091"/>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DA735D38-741F-4EFB-826C-6F87FD459AB4}"/>
              </a:ext>
            </a:extLst>
          </p:cNvPr>
          <p:cNvCxnSpPr/>
          <p:nvPr/>
        </p:nvCxnSpPr>
        <p:spPr>
          <a:xfrm>
            <a:off x="916803" y="2291826"/>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EBCFE36B-AE16-49E8-90A6-6621A0EB0473}"/>
              </a:ext>
            </a:extLst>
          </p:cNvPr>
          <p:cNvCxnSpPr/>
          <p:nvPr/>
        </p:nvCxnSpPr>
        <p:spPr>
          <a:xfrm>
            <a:off x="916803" y="3273370"/>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2697F6E2-C26B-4E5F-B7F9-95C6E9325040}"/>
              </a:ext>
            </a:extLst>
          </p:cNvPr>
          <p:cNvCxnSpPr/>
          <p:nvPr/>
        </p:nvCxnSpPr>
        <p:spPr>
          <a:xfrm>
            <a:off x="916803" y="5368324"/>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4CD23CFE-3F31-4BA9-B26F-B9B5B351518E}"/>
              </a:ext>
            </a:extLst>
          </p:cNvPr>
          <p:cNvSpPr/>
          <p:nvPr/>
        </p:nvSpPr>
        <p:spPr>
          <a:xfrm>
            <a:off x="2103510" y="2847523"/>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Relecture</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Après la construction, un script relit le fichier PowerPoint, textes, tableaux et notes compris.</a:t>
            </a:r>
          </a:p>
        </p:txBody>
      </p:sp>
      <p:sp>
        <p:nvSpPr>
          <p:cNvPr id="33" name="Rectangle 32">
            <a:extLst>
              <a:ext uri="{FF2B5EF4-FFF2-40B4-BE49-F238E27FC236}">
                <a16:creationId xmlns:a16="http://schemas.microsoft.com/office/drawing/2014/main" id="{4CD23CFE-3F31-4BA9-B26F-B9B5B351518E}"/>
              </a:ext>
            </a:extLst>
          </p:cNvPr>
          <p:cNvSpPr/>
          <p:nvPr/>
        </p:nvSpPr>
        <p:spPr>
          <a:xfrm>
            <a:off x="2125344" y="3881185"/>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Comparaison</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Le script vérifie la présence de chaque texte enregistré sur sa diapositive et compte les chiffres retrouvés.</a:t>
            </a:r>
          </a:p>
        </p:txBody>
      </p:sp>
      <p:sp>
        <p:nvSpPr>
          <p:cNvPr id="34" name="Rectangle 33">
            <a:extLst>
              <a:ext uri="{FF2B5EF4-FFF2-40B4-BE49-F238E27FC236}">
                <a16:creationId xmlns:a16="http://schemas.microsoft.com/office/drawing/2014/main" id="{4CD23CFE-3F31-4BA9-B26F-B9B5B351518E}"/>
              </a:ext>
            </a:extLst>
          </p:cNvPr>
          <p:cNvSpPr/>
          <p:nvPr/>
        </p:nvSpPr>
        <p:spPr>
          <a:xfrm>
            <a:off x="2122670" y="4917444"/>
            <a:ext cx="9685766" cy="901761"/>
          </a:xfrm>
          <a:prstGeom prst="rect">
            <a:avLst/>
          </a:prstGeom>
          <a:ln w="12700">
            <a:solidFill>
              <a:srgbClr val="112A40"/>
            </a:solidFill>
          </a:ln>
        </p:spPr>
        <p:txBody>
          <a:bodyPr wrap="square" lIns="162000" tIns="54000" rIns="72000" bIns="54000" anchor="ctr">
            <a:noAutofit/>
          </a:bodyPr>
          <a:lstStyle/>
          <a:p>
            <a:pPr lvl="1">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Résultat</a:t>
            </a:r>
          </a:p>
          <a:p>
            <a:pPr lvl="1">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Le résultat figure dans l'onglet « Traçabilité » du classeur des calculs, ligne par ligne, avec la valeur exacte de chaque chiffre.</a:t>
            </a:r>
            <a:endParaRPr lang="fr-CI" sz="1200">
              <a:latin typeface="Helvetica" panose="020B0604020202020204" pitchFamily="34" charset="0"/>
              <a:ea typeface="Open Sans Light" panose="020B0306030504020204" pitchFamily="34" charset="0"/>
              <a:cs typeface="Helvetica" panose="020B0604020202020204" pitchFamily="34" charset="0"/>
            </a:endParaRPr>
          </a:p>
        </p:txBody>
      </p:sp>
      <p:cxnSp>
        <p:nvCxnSpPr>
          <p:cNvPr id="39" name="Straight Connector 30">
            <a:extLst>
              <a:ext uri="{FF2B5EF4-FFF2-40B4-BE49-F238E27FC236}">
                <a16:creationId xmlns:a16="http://schemas.microsoft.com/office/drawing/2014/main" id="{EBCFE36B-AE16-49E8-90A6-6621A0EB0473}"/>
              </a:ext>
            </a:extLst>
          </p:cNvPr>
          <p:cNvCxnSpPr/>
          <p:nvPr/>
        </p:nvCxnSpPr>
        <p:spPr>
          <a:xfrm>
            <a:off x="919504" y="4326976"/>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grpSp>
        <p:nvGrpSpPr>
          <p:cNvPr id="11" name="Groupe 10"/>
          <p:cNvGrpSpPr/>
          <p:nvPr/>
        </p:nvGrpSpPr>
        <p:grpSpPr>
          <a:xfrm>
            <a:off x="1554870" y="2047565"/>
            <a:ext cx="548640" cy="548640"/>
            <a:chOff x="-1153645" y="1535690"/>
            <a:chExt cx="548640" cy="548640"/>
          </a:xfrm>
        </p:grpSpPr>
        <p:sp>
          <p:nvSpPr>
            <p:cNvPr id="36" name="Oval 21">
              <a:extLst>
                <a:ext uri="{FF2B5EF4-FFF2-40B4-BE49-F238E27FC236}">
                  <a16:creationId xmlns:a16="http://schemas.microsoft.com/office/drawing/2014/main" id="{7BB796F0-2DE6-45B1-851B-D8991F423CF4}"/>
                </a:ext>
              </a:extLst>
            </p:cNvPr>
            <p:cNvSpPr/>
            <p:nvPr/>
          </p:nvSpPr>
          <p:spPr bwMode="gray">
            <a:xfrm>
              <a:off x="-1153645" y="1535690"/>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40" name="Image 3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3163" y="1564148"/>
              <a:ext cx="486259" cy="491723"/>
            </a:xfrm>
            <a:prstGeom prst="rect">
              <a:avLst/>
            </a:prstGeom>
          </p:spPr>
        </p:pic>
      </p:grpSp>
      <p:grpSp>
        <p:nvGrpSpPr>
          <p:cNvPr id="12" name="Groupe 11"/>
          <p:cNvGrpSpPr/>
          <p:nvPr/>
        </p:nvGrpSpPr>
        <p:grpSpPr>
          <a:xfrm>
            <a:off x="1557425" y="3008849"/>
            <a:ext cx="548640" cy="548640"/>
            <a:chOff x="-1154302" y="2719457"/>
            <a:chExt cx="548640" cy="548640"/>
          </a:xfrm>
        </p:grpSpPr>
        <p:sp>
          <p:nvSpPr>
            <p:cNvPr id="42" name="Oval 21">
              <a:extLst>
                <a:ext uri="{FF2B5EF4-FFF2-40B4-BE49-F238E27FC236}">
                  <a16:creationId xmlns:a16="http://schemas.microsoft.com/office/drawing/2014/main" id="{7BB796F0-2DE6-45B1-851B-D8991F423CF4}"/>
                </a:ext>
              </a:extLst>
            </p:cNvPr>
            <p:cNvSpPr/>
            <p:nvPr/>
          </p:nvSpPr>
          <p:spPr bwMode="gray">
            <a:xfrm>
              <a:off x="-1154302" y="2719457"/>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7" name="Imag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4901" y="2781886"/>
              <a:ext cx="396274" cy="396274"/>
            </a:xfrm>
            <a:prstGeom prst="rect">
              <a:avLst/>
            </a:prstGeom>
          </p:spPr>
        </p:pic>
      </p:grpSp>
      <p:grpSp>
        <p:nvGrpSpPr>
          <p:cNvPr id="13" name="Groupe 12"/>
          <p:cNvGrpSpPr/>
          <p:nvPr/>
        </p:nvGrpSpPr>
        <p:grpSpPr>
          <a:xfrm>
            <a:off x="1567381" y="4044725"/>
            <a:ext cx="548640" cy="552951"/>
            <a:chOff x="-1185544" y="4122202"/>
            <a:chExt cx="548640" cy="552951"/>
          </a:xfrm>
        </p:grpSpPr>
        <p:sp>
          <p:nvSpPr>
            <p:cNvPr id="44" name="Oval 21">
              <a:extLst>
                <a:ext uri="{FF2B5EF4-FFF2-40B4-BE49-F238E27FC236}">
                  <a16:creationId xmlns:a16="http://schemas.microsoft.com/office/drawing/2014/main" id="{7BB796F0-2DE6-45B1-851B-D8991F423CF4}"/>
                </a:ext>
              </a:extLst>
            </p:cNvPr>
            <p:cNvSpPr/>
            <p:nvPr/>
          </p:nvSpPr>
          <p:spPr bwMode="gray">
            <a:xfrm>
              <a:off x="-1185544" y="4122202"/>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8" name="Image 7"/>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71838" y="4144755"/>
              <a:ext cx="524301" cy="530398"/>
            </a:xfrm>
            <a:prstGeom prst="rect">
              <a:avLst/>
            </a:prstGeom>
          </p:spPr>
        </p:pic>
      </p:grpSp>
      <p:grpSp>
        <p:nvGrpSpPr>
          <p:cNvPr id="14" name="Groupe 13"/>
          <p:cNvGrpSpPr/>
          <p:nvPr/>
        </p:nvGrpSpPr>
        <p:grpSpPr>
          <a:xfrm>
            <a:off x="1567381" y="5111071"/>
            <a:ext cx="548640" cy="548640"/>
            <a:chOff x="-1227267" y="5286500"/>
            <a:chExt cx="548640" cy="548640"/>
          </a:xfrm>
        </p:grpSpPr>
        <p:sp>
          <p:nvSpPr>
            <p:cNvPr id="45" name="Oval 21">
              <a:extLst>
                <a:ext uri="{FF2B5EF4-FFF2-40B4-BE49-F238E27FC236}">
                  <a16:creationId xmlns:a16="http://schemas.microsoft.com/office/drawing/2014/main" id="{7BB796F0-2DE6-45B1-851B-D8991F423CF4}"/>
                </a:ext>
              </a:extLst>
            </p:cNvPr>
            <p:cNvSpPr/>
            <p:nvPr/>
          </p:nvSpPr>
          <p:spPr bwMode="gray">
            <a:xfrm>
              <a:off x="-1227267" y="5286500"/>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9" name="Image 8"/>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71838" y="5346402"/>
              <a:ext cx="422834" cy="432026"/>
            </a:xfrm>
            <a:prstGeom prst="rect">
              <a:avLst/>
            </a:prstGeom>
          </p:spPr>
        </p:pic>
      </p:grpSp>
      <p:sp>
        <p:nvSpPr>
          <p:cNvPr id="50" name="ZoneTexte 49">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pic>
        <p:nvPicPr>
          <p:cNvPr id="51" name="Image 50"/>
          <p:cNvPicPr>
            <a:picLocks noChangeAspect="1"/>
          </p:cNvPicPr>
          <p:nvPr/>
        </p:nvPicPr>
        <p:blipFill rotWithShape="1">
          <a:blip r:embed="rId7" cstate="print">
            <a:extLst>
              <a:ext uri="{28A0092B-C50C-407E-A947-70E740481C1C}">
                <a14:useLocalDpi xmlns:a14="http://schemas.microsoft.com/office/drawing/2010/main" val="0"/>
              </a:ext>
            </a:extLst>
          </a:blip>
          <a:srcRect l="4260" t="13024" r="74155" b="14121"/>
          <a:stretch/>
        </p:blipFill>
        <p:spPr>
          <a:xfrm>
            <a:off x="702475" y="1350400"/>
            <a:ext cx="392679" cy="406703"/>
          </a:xfrm>
          <a:prstGeom prst="rect">
            <a:avLst/>
          </a:prstGeom>
        </p:spPr>
      </p:pic>
      <p:sp>
        <p:nvSpPr>
          <p:cNvPr id="52"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Contrôle automatique des chiffres</a:t>
            </a:r>
          </a:p>
        </p:txBody>
      </p:sp>
      <p:sp>
        <p:nvSpPr>
          <p:cNvPr id="53"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Chaque chiffre du rapport est recalculé et comparé au texte affiché</a:t>
            </a:r>
          </a:p>
        </p:txBody>
      </p:sp>
      <p:sp>
        <p:nvSpPr>
          <p:cNvPr id="54"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 contrôle relit le PowerPoint produit et vérifie que chaque chiffre enregistré figure sur sa diapositive</a:t>
            </a:r>
          </a:p>
        </p:txBody>
      </p:sp>
      <p:sp>
        <p:nvSpPr>
          <p:cNvPr id="55"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Adenka</a:t>
            </a:r>
          </a:p>
        </p:txBody>
      </p:sp>
    </p:spTree>
    <p:extLst>
      <p:ext uri="{BB962C8B-B14F-4D97-AF65-F5344CB8AC3E}">
        <p14:creationId xmlns:p14="http://schemas.microsoft.com/office/powerpoint/2010/main" val="1467817434"/>
      </p:ext>
    </p:extLst>
  </p:cSld>
  <p:clrMapOvr>
    <a:masterClrMapping/>
  </p:clrMapOvr>
  <p:transition>
    <p:fade/>
  </p:transition>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Google Shape;8651;p70"/>
          <p:cNvSpPr/>
          <p:nvPr/>
        </p:nvSpPr>
        <p:spPr>
          <a:xfrm>
            <a:off x="2013108" y="2588204"/>
            <a:ext cx="1380332" cy="1428252"/>
          </a:xfrm>
          <a:custGeom>
            <a:avLst/>
            <a:gdLst/>
            <a:ahLst/>
            <a:cxnLst/>
            <a:rect l="l" t="t" r="r" b="b"/>
            <a:pathLst>
              <a:path w="8670" h="8971" extrusionOk="0">
                <a:moveTo>
                  <a:pt x="7105" y="1302"/>
                </a:moveTo>
                <a:cubicBezTo>
                  <a:pt x="7105" y="1315"/>
                  <a:pt x="7105" y="1328"/>
                  <a:pt x="7105" y="1341"/>
                </a:cubicBezTo>
                <a:cubicBezTo>
                  <a:pt x="7118" y="1980"/>
                  <a:pt x="7183" y="2619"/>
                  <a:pt x="7183" y="3283"/>
                </a:cubicBezTo>
                <a:cubicBezTo>
                  <a:pt x="7170" y="4404"/>
                  <a:pt x="7183" y="5525"/>
                  <a:pt x="7222" y="6646"/>
                </a:cubicBezTo>
                <a:cubicBezTo>
                  <a:pt x="7235" y="6959"/>
                  <a:pt x="7222" y="7259"/>
                  <a:pt x="7222" y="7559"/>
                </a:cubicBezTo>
                <a:lnTo>
                  <a:pt x="7222" y="7585"/>
                </a:lnTo>
                <a:cubicBezTo>
                  <a:pt x="6935" y="7598"/>
                  <a:pt x="6649" y="7611"/>
                  <a:pt x="6362" y="7611"/>
                </a:cubicBezTo>
                <a:cubicBezTo>
                  <a:pt x="6101" y="7598"/>
                  <a:pt x="5853" y="7585"/>
                  <a:pt x="5593" y="7585"/>
                </a:cubicBezTo>
                <a:cubicBezTo>
                  <a:pt x="4159" y="7559"/>
                  <a:pt x="2712" y="7559"/>
                  <a:pt x="1291" y="7442"/>
                </a:cubicBezTo>
                <a:cubicBezTo>
                  <a:pt x="1278" y="7207"/>
                  <a:pt x="1239" y="6959"/>
                  <a:pt x="1226" y="6725"/>
                </a:cubicBezTo>
                <a:cubicBezTo>
                  <a:pt x="1200" y="6255"/>
                  <a:pt x="1187" y="5799"/>
                  <a:pt x="1200" y="5330"/>
                </a:cubicBezTo>
                <a:cubicBezTo>
                  <a:pt x="1213" y="4222"/>
                  <a:pt x="1226" y="3101"/>
                  <a:pt x="1343" y="1993"/>
                </a:cubicBezTo>
                <a:lnTo>
                  <a:pt x="1552" y="1993"/>
                </a:lnTo>
                <a:cubicBezTo>
                  <a:pt x="2138" y="1980"/>
                  <a:pt x="2725" y="1889"/>
                  <a:pt x="3312" y="1810"/>
                </a:cubicBezTo>
                <a:cubicBezTo>
                  <a:pt x="4576" y="1641"/>
                  <a:pt x="5840" y="1524"/>
                  <a:pt x="7105" y="1302"/>
                </a:cubicBezTo>
                <a:close/>
                <a:moveTo>
                  <a:pt x="7529" y="1"/>
                </a:moveTo>
                <a:cubicBezTo>
                  <a:pt x="7291" y="1"/>
                  <a:pt x="7059" y="53"/>
                  <a:pt x="6818" y="64"/>
                </a:cubicBezTo>
                <a:cubicBezTo>
                  <a:pt x="6375" y="103"/>
                  <a:pt x="5932" y="142"/>
                  <a:pt x="5488" y="194"/>
                </a:cubicBezTo>
                <a:cubicBezTo>
                  <a:pt x="4824" y="259"/>
                  <a:pt x="4107" y="350"/>
                  <a:pt x="3429" y="389"/>
                </a:cubicBezTo>
                <a:cubicBezTo>
                  <a:pt x="2686" y="429"/>
                  <a:pt x="1943" y="481"/>
                  <a:pt x="1213" y="598"/>
                </a:cubicBezTo>
                <a:cubicBezTo>
                  <a:pt x="913" y="624"/>
                  <a:pt x="652" y="728"/>
                  <a:pt x="509" y="976"/>
                </a:cubicBezTo>
                <a:cubicBezTo>
                  <a:pt x="470" y="1028"/>
                  <a:pt x="444" y="1080"/>
                  <a:pt x="431" y="1146"/>
                </a:cubicBezTo>
                <a:cubicBezTo>
                  <a:pt x="300" y="1524"/>
                  <a:pt x="287" y="1928"/>
                  <a:pt x="300" y="2332"/>
                </a:cubicBezTo>
                <a:cubicBezTo>
                  <a:pt x="209" y="3010"/>
                  <a:pt x="209" y="3700"/>
                  <a:pt x="209" y="4378"/>
                </a:cubicBezTo>
                <a:cubicBezTo>
                  <a:pt x="170" y="4769"/>
                  <a:pt x="144" y="5173"/>
                  <a:pt x="131" y="5565"/>
                </a:cubicBezTo>
                <a:cubicBezTo>
                  <a:pt x="105" y="6203"/>
                  <a:pt x="14" y="6842"/>
                  <a:pt x="14" y="7481"/>
                </a:cubicBezTo>
                <a:cubicBezTo>
                  <a:pt x="1" y="7911"/>
                  <a:pt x="157" y="8315"/>
                  <a:pt x="613" y="8419"/>
                </a:cubicBezTo>
                <a:cubicBezTo>
                  <a:pt x="1056" y="8550"/>
                  <a:pt x="1526" y="8524"/>
                  <a:pt x="1982" y="8550"/>
                </a:cubicBezTo>
                <a:cubicBezTo>
                  <a:pt x="2243" y="8563"/>
                  <a:pt x="2503" y="8589"/>
                  <a:pt x="2764" y="8615"/>
                </a:cubicBezTo>
                <a:cubicBezTo>
                  <a:pt x="3885" y="8745"/>
                  <a:pt x="5006" y="8902"/>
                  <a:pt x="6140" y="8941"/>
                </a:cubicBezTo>
                <a:cubicBezTo>
                  <a:pt x="6220" y="8945"/>
                  <a:pt x="6302" y="8946"/>
                  <a:pt x="6383" y="8946"/>
                </a:cubicBezTo>
                <a:cubicBezTo>
                  <a:pt x="6581" y="8946"/>
                  <a:pt x="6781" y="8937"/>
                  <a:pt x="6974" y="8928"/>
                </a:cubicBezTo>
                <a:cubicBezTo>
                  <a:pt x="7118" y="8941"/>
                  <a:pt x="7274" y="8941"/>
                  <a:pt x="7418" y="8941"/>
                </a:cubicBezTo>
                <a:cubicBezTo>
                  <a:pt x="7568" y="8956"/>
                  <a:pt x="7723" y="8971"/>
                  <a:pt x="7877" y="8971"/>
                </a:cubicBezTo>
                <a:cubicBezTo>
                  <a:pt x="7990" y="8971"/>
                  <a:pt x="8103" y="8963"/>
                  <a:pt x="8213" y="8941"/>
                </a:cubicBezTo>
                <a:cubicBezTo>
                  <a:pt x="8643" y="8810"/>
                  <a:pt x="8565" y="8093"/>
                  <a:pt x="8604" y="7741"/>
                </a:cubicBezTo>
                <a:cubicBezTo>
                  <a:pt x="8669" y="6620"/>
                  <a:pt x="8539" y="5499"/>
                  <a:pt x="8487" y="4378"/>
                </a:cubicBezTo>
                <a:cubicBezTo>
                  <a:pt x="8434" y="3453"/>
                  <a:pt x="8330" y="2527"/>
                  <a:pt x="8252" y="1589"/>
                </a:cubicBezTo>
                <a:cubicBezTo>
                  <a:pt x="8200" y="1341"/>
                  <a:pt x="8239" y="637"/>
                  <a:pt x="8096" y="350"/>
                </a:cubicBezTo>
                <a:lnTo>
                  <a:pt x="8082" y="350"/>
                </a:lnTo>
                <a:cubicBezTo>
                  <a:pt x="8056" y="181"/>
                  <a:pt x="7952" y="51"/>
                  <a:pt x="7704" y="11"/>
                </a:cubicBezTo>
                <a:cubicBezTo>
                  <a:pt x="7645" y="4"/>
                  <a:pt x="7587" y="1"/>
                  <a:pt x="7529" y="1"/>
                </a:cubicBezTo>
                <a:close/>
              </a:path>
            </a:pathLst>
          </a:custGeom>
          <a:solidFill>
            <a:schemeClr val="bg1"/>
          </a:solidFill>
          <a:ln w="76200">
            <a:solidFill>
              <a:schemeClr val="tx1"/>
            </a:solid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5" name="Rectangle 24">
            <a:extLst>
              <a:ext uri="{FF2B5EF4-FFF2-40B4-BE49-F238E27FC236}">
                <a16:creationId xmlns:a16="http://schemas.microsoft.com/office/drawing/2014/main" id="{9B9B23AA-050D-4543-80A0-873FE31AFFF7}"/>
              </a:ext>
            </a:extLst>
          </p:cNvPr>
          <p:cNvSpPr/>
          <p:nvPr/>
        </p:nvSpPr>
        <p:spPr>
          <a:xfrm>
            <a:off x="2446471" y="2869098"/>
            <a:ext cx="513606" cy="936923"/>
          </a:xfrm>
          <a:prstGeom prst="rect">
            <a:avLst/>
          </a:prstGeom>
        </p:spPr>
        <p:txBody>
          <a:bodyPr wrap="none" lIns="0" tIns="0" rIns="0" bIns="0">
            <a:spAutoFit/>
          </a:bodyPr>
          <a:lstStyle/>
          <a:p>
            <a:pPr lvl="0">
              <a:lnSpc>
                <a:spcPct val="110000"/>
              </a:lnSpc>
            </a:pPr>
            <a:r>
              <a:rPr lang="fr-CI" sz="42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14</a:t>
            </a:r>
          </a:p>
        </p:txBody>
      </p:sp>
      <p:sp>
        <p:nvSpPr>
          <p:cNvPr id="10" name="Rectangle 9"/>
          <p:cNvSpPr/>
          <p:nvPr/>
        </p:nvSpPr>
        <p:spPr>
          <a:xfrm>
            <a:off x="3938554" y="2462184"/>
            <a:ext cx="3816000" cy="1200329"/>
          </a:xfrm>
          <a:prstGeom prst="rect">
            <a:avLst/>
          </a:prstGeom>
        </p:spPr>
        <p:txBody>
          <a:bodyPr wrap="square">
            <a:spAutoFit/>
          </a:bodyPr>
          <a:lstStyle/>
          <a:p>
            <a:r>
              <a:rPr lang="fr-CI" sz="3600" b="1" noProof="0">
                <a:solidFill>
                  <a:schemeClr val="bg1"/>
                </a:solidFill>
                <a:latin typeface="Helvetica" panose="020B0604020202020204" pitchFamily="34" charset="0"/>
                <a:cs typeface="Helvetica" panose="020B0604020202020204" pitchFamily="34" charset="0"/>
              </a:rPr>
              <a:t>Analyses en attente</a:t>
            </a:r>
          </a:p>
        </p:txBody>
      </p:sp>
      <p:pic>
        <p:nvPicPr>
          <p:cNvPr id="9" name="Image 8">
            <a:extLst>
              <a:ext uri="{FF2B5EF4-FFF2-40B4-BE49-F238E27FC236}">
                <a16:creationId xmlns:a16="http://schemas.microsoft.com/office/drawing/2014/main" id="{2C356854-0685-DCEF-E2F6-65D5E9653A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1274" y="-185107"/>
            <a:ext cx="3179518" cy="1268781"/>
          </a:xfrm>
          <a:prstGeom prst="rect">
            <a:avLst/>
          </a:prstGeom>
        </p:spPr>
      </p:pic>
      <p:sp>
        <p:nvSpPr>
          <p:cNvPr id="6" name="Rectangle 5"/>
          <p:cNvSpPr/>
          <p:nvPr/>
        </p:nvSpPr>
        <p:spPr>
          <a:xfrm>
            <a:off x="3938554" y="3337559"/>
            <a:ext cx="3816000" cy="923330"/>
          </a:xfrm>
          <a:prstGeom prst="rect">
            <a:avLst/>
          </a:prstGeom>
        </p:spPr>
        <p:txBody>
          <a:bodyPr wrap="square">
            <a:spAutoFit/>
          </a:bodyPr>
          <a:lstStyle/>
          <a:p>
            <a:br>
              <a:rPr lang="fr-CI" noProof="0">
                <a:solidFill>
                  <a:schemeClr val="bg1"/>
                </a:solidFill>
              </a:rPr>
            </a:br>
            <a:r>
              <a:rPr lang="fr-CI" noProof="0">
                <a:solidFill>
                  <a:srgbClr val="EFAC62"/>
                </a:solidFill>
                <a:latin typeface="Helvetica" panose="020B0604020202020204" pitchFamily="34" charset="0"/>
                <a:ea typeface="Open Sans Light" panose="020B0306030504020204" pitchFamily="34" charset="0"/>
                <a:cs typeface="Helvetica" panose="020B0604020202020204" pitchFamily="34" charset="0"/>
              </a:rPr>
              <a:t>Documents à obtenir, risques, points à clarifier</a:t>
            </a:r>
          </a:p>
        </p:txBody>
      </p:sp>
      <p:pic>
        <p:nvPicPr>
          <p:cNvPr id="11" name="Imag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5561" y="2415481"/>
            <a:ext cx="1566911" cy="1600975"/>
          </a:xfrm>
          <a:prstGeom prst="rect">
            <a:avLst/>
          </a:prstGeom>
        </p:spPr>
      </p:pic>
    </p:spTree>
    <p:extLst>
      <p:ext uri="{BB962C8B-B14F-4D97-AF65-F5344CB8AC3E}">
        <p14:creationId xmlns:p14="http://schemas.microsoft.com/office/powerpoint/2010/main" val="631599182"/>
      </p:ext>
    </p:extLst>
  </p:cSld>
  <p:clrMapOvr>
    <a:masterClrMapping/>
  </p:clrMapOvr>
  <p:transition>
    <p:fade/>
  </p:transition>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Analyses en attente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Quatre analyses attendent des données du FPPN, toutes avec une méthode déjà choisie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Les conclusions du rapport sont établies sur les documents reçus. Ces analyses les préciseront sans en changer le sens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PBC actuarielle du 23/10/2026. Méthodes de la partie 9 et de l'annexe des méthodes non retenues</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112 : Analyses en attente, méthode retenue et données nécessaires</a:t>
            </a:r>
          </a:p>
        </p:txBody>
      </p:sp>
      <p:graphicFrame>
        <p:nvGraphicFramePr>
          <p:cNvPr id="32" name="Table 31"/>
          <p:cNvGraphicFramePr>
            <a:graphicFrameLocks noGrp="1"/>
          </p:cNvGraphicFramePr>
          <p:nvPr/>
        </p:nvGraphicFramePr>
        <p:xfrm>
          <a:off x="503999" y="1655999"/>
          <a:ext cx="11231999" cy="1659684"/>
        </p:xfrm>
        <a:graphic>
          <a:graphicData uri="http://schemas.openxmlformats.org/drawingml/2006/table">
            <a:tbl>
              <a:tblPr firstRow="0" bandRow="0">
                <a:tableStyleId>{5940675A-B579-460E-94D1-54222C63F5DA}</a:tableStyleId>
              </a:tblPr>
              <a:tblGrid>
                <a:gridCol w="2015999"/>
                <a:gridCol w="3384000"/>
                <a:gridCol w="3024000"/>
                <a:gridCol w="2808000"/>
              </a:tblGrid>
              <a:tr h="194768">
                <a:tc>
                  <a:txBody>
                    <a:bodyPr/>
                    <a:lstStyle/>
                    <a:p>
                      <a:pPr marL="0" indent="0" lvl="0">
                        <a:buNone/>
                      </a:pPr>
                      <a:r>
                        <a:rPr sz="900" b="1">
                          <a:solidFill>
                            <a:srgbClr val="FFFFFF"/>
                          </a:solidFill>
                          <a:latin typeface="Helvetica"/>
                        </a:rPr>
                        <a:t>Analyse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Méthode retenue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Ce que l'analyse précisera</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Données nécessaires (PBC n°)</a:t>
                      </a:r>
                    </a:p>
                  </a:txBody>
                  <a:tcPr marL="43200" marR="43200" marT="14400" marB="14400" anchor="ctr">
                    <a:solidFill>
                      <a:srgbClr val="060606"/>
                    </a:solidFill>
                  </a:tcPr>
                </a:tc>
              </a:tr>
              <a:tr h="469105">
                <a:tc>
                  <a:txBody>
                    <a:bodyPr/>
                    <a:lstStyle/>
                    <a:p>
                      <a:pPr marL="0" indent="0" lvl="0">
                        <a:buNone/>
                      </a:pPr>
                      <a:r>
                        <a:rPr sz="900" b="1">
                          <a:solidFill>
                            <a:srgbClr val="060606"/>
                          </a:solidFill>
                          <a:latin typeface="Helvetica"/>
                        </a:rPr>
                        <a:t>Provision maladie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Soins de l'année facturés après la clôture, sur la base des factures datées (date des soins, du dépôt et du paiement)</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Montant exact, aujourd'hui borné à 12 481 392 FCFA au 31/12/2024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Base des prestations datée (47)</a:t>
                      </a:r>
                    </a:p>
                  </a:txBody>
                  <a:tcPr marL="43200" marR="43200" marT="14400" marB="14400" anchor="ctr">
                    <a:solidFill>
                      <a:srgbClr val="FFFFFF"/>
                    </a:solidFill>
                  </a:tcPr>
                </a:tc>
              </a:tr>
              <a:tr h="331937">
                <a:tc>
                  <a:txBody>
                    <a:bodyPr/>
                    <a:lstStyle/>
                    <a:p>
                      <a:pPr marL="0" indent="0" lvl="0">
                        <a:buNone/>
                      </a:pPr>
                      <a:r>
                        <a:rPr sz="900" b="1">
                          <a:solidFill>
                            <a:srgbClr val="060606"/>
                          </a:solidFill>
                          <a:latin typeface="Helvetica"/>
                        </a:rPr>
                        <a:t>Provision décès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Dossiers connus au compte 41591000 et décès survenus déclarés après la clôture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Part des dossiers forclos dans la dette de 489 419 669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Liste des dossiers du 41591000, fichiers des décès (64, 79)</a:t>
                      </a:r>
                    </a:p>
                  </a:txBody>
                  <a:tcPr marL="43200" marR="43200" marT="14400" marB="14400" anchor="ctr">
                    <a:solidFill>
                      <a:srgbClr val="F2F2F2"/>
                    </a:solidFill>
                  </a:tcPr>
                </a:tc>
              </a:tr>
              <a:tr h="331937">
                <a:tc>
                  <a:txBody>
                    <a:bodyPr/>
                    <a:lstStyle/>
                    <a:p>
                      <a:pPr marL="0" indent="0" lvl="0">
                        <a:buNone/>
                      </a:pPr>
                      <a:r>
                        <a:rPr sz="900" b="1">
                          <a:solidFill>
                            <a:srgbClr val="060606"/>
                          </a:solidFill>
                          <a:latin typeface="Helvetica"/>
                        </a:rPr>
                        <a:t>Mortalité observée et santé des retraités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Décès observés comparés aux décès attendus des tables CIMA H et F, par âge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Écart de mortalité des policiers, engagement de santé à vie des retraités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Dates de naissance des mutualistes et des retraités (4, 84)</a:t>
                      </a:r>
                    </a:p>
                  </a:txBody>
                  <a:tcPr marL="43200" marR="43200" marT="14400" marB="14400" anchor="ctr">
                    <a:solidFill>
                      <a:srgbClr val="FFFFFF"/>
                    </a:solidFill>
                  </a:tcPr>
                </a:tc>
              </a:tr>
              <a:tr h="331937">
                <a:tc>
                  <a:txBody>
                    <a:bodyPr/>
                    <a:lstStyle/>
                    <a:p>
                      <a:pPr marL="0" indent="0" lvl="0">
                        <a:buNone/>
                      </a:pPr>
                      <a:r>
                        <a:rPr sz="900" b="1">
                          <a:solidFill>
                            <a:srgbClr val="060606"/>
                          </a:solidFill>
                          <a:latin typeface="Helvetica"/>
                        </a:rPr>
                        <a:t>Engagement d'épargne par épargnant</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Solde de chaque compte individuel augmenté des intérêts au taux arrêté</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Échéancier des sorties, à la place du taux de sortie observé</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Comptes individuels, taux servi (9, 69)</a:t>
                      </a:r>
                    </a:p>
                  </a:txBody>
                  <a:tcPr marL="43200" marR="43200" marT="14400" marB="14400" anchor="ctr">
                    <a:solidFill>
                      <a:srgbClr val="F2F2F2"/>
                    </a:solidFill>
                  </a:tcPr>
                </a:tc>
              </a:tr>
            </a:tbl>
          </a:graphicData>
        </a:graphic>
      </p:graphicFrame>
      <p:sp>
        <p:nvSpPr>
          <p:cNvPr id="33" name="TextBox 32"/>
          <p:cNvSpPr txBox="1"/>
          <p:nvPr/>
        </p:nvSpPr>
        <p:spPr>
          <a:xfrm>
            <a:off x="503999" y="3423686"/>
            <a:ext cx="11232000" cy="162000"/>
          </a:xfrm>
          <a:prstGeom prst="rect">
            <a:avLst/>
          </a:prstGeom>
          <a:noFill/>
        </p:spPr>
        <p:txBody>
          <a:bodyPr wrap="square" anchor="t" lIns="54000" rIns="54000"/>
          <a:lstStyle/>
          <a:p>
            <a:pPr algn="l"/>
            <a:r>
              <a:rPr sz="850" b="0">
                <a:solidFill>
                  <a:srgbClr val="53565A"/>
                </a:solidFill>
                <a:latin typeface="Helvetica"/>
              </a:rPr>
              <a:t>Valable pour : documents demandés non reçus au 22/10/2026 (PBC pointée).</a:t>
            </a:r>
          </a:p>
        </p:txBody>
      </p:sp>
      <p:sp>
        <p:nvSpPr>
          <p:cNvPr id="34" name="TextBox 33"/>
          <p:cNvSpPr txBox="1"/>
          <p:nvPr/>
        </p:nvSpPr>
        <p:spPr>
          <a:xfrm>
            <a:off x="503999" y="3729686"/>
            <a:ext cx="11232000" cy="2138313"/>
          </a:xfrm>
          <a:prstGeom prst="rect">
            <a:avLst/>
          </a:prstGeom>
          <a:noFill/>
        </p:spPr>
        <p:txBody>
          <a:bodyPr wrap="square" lIns="54000" rIns="54000"/>
          <a:lstStyle/>
          <a:p>
            <a:pPr algn="just">
              <a:spcAft>
                <a:spcPts val="600"/>
              </a:spcAft>
            </a:pPr>
            <a:r>
              <a:rPr sz="1300" b="1">
                <a:solidFill>
                  <a:srgbClr val="060606"/>
                </a:solidFill>
                <a:latin typeface="Helvetica"/>
              </a:rPr>
              <a:t>Aucune conclusion du rapport ne dépend de ces analyses pour son sens.</a:t>
            </a:r>
            <a:r>
              <a:rPr sz="1300" b="0">
                <a:solidFill>
                  <a:srgbClr val="060606"/>
                </a:solidFill>
                <a:latin typeface="Helvetica"/>
              </a:rPr>
              <a:t> Les provisions du bilan dépassent les besoins mesurés, le non-adossement est démontré et les placements sont insuffisants, quelles que soient les valeurs exactes.</a:t>
            </a:r>
          </a:p>
          <a:p>
            <a:pPr algn="just">
              <a:spcAft>
                <a:spcPts val="600"/>
              </a:spcAft>
            </a:pPr>
            <a:r>
              <a:rPr sz="1300" b="0">
                <a:solidFill>
                  <a:srgbClr val="060606"/>
                </a:solidFill>
                <a:latin typeface="Helvetica"/>
              </a:rPr>
              <a:t>Les données listées sont demandées au FPPN avec la priorité « Urgent ». Leur réception permettra une mise à jour chiffrée des diapositives concernées.</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CIMA : Conférence interafricaine des marchés d'assurances | PBC : liste des documents demandés au client</a:t>
            </a:r>
          </a:p>
        </p:txBody>
      </p:sp>
    </p:spTree>
    <p:extLst>
      <p:ext uri="{BB962C8B-B14F-4D97-AF65-F5344CB8AC3E}">
        <p14:creationId xmlns:p14="http://schemas.microsoft.com/office/powerpoint/2010/main" val="531214335"/>
      </p:ext>
    </p:extLst>
  </p:cSld>
  <p:clrMapOvr>
    <a:masterClrMapping/>
  </p:clrMapOvr>
  <p:transition>
    <p:fade/>
  </p:transition>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Questions au FPPN (1/2)</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26 questions simples, chacune reliée à un constat du rapport et à la PBC</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Réponse écrite attendue avec la pièce qui l'établit. Liste complète des documents dans la PBC du 23/10/2026</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analyses Adenka. PBC actuarielle du 23/10/2026. FPPN_Demandes_au_FPPN_20261023.xlsx</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113 : Questions au FPPN (1/2)</a:t>
            </a:r>
          </a:p>
        </p:txBody>
      </p:sp>
      <p:graphicFrame>
        <p:nvGraphicFramePr>
          <p:cNvPr id="32" name="Table 31"/>
          <p:cNvGraphicFramePr>
            <a:graphicFrameLocks noGrp="1"/>
          </p:cNvGraphicFramePr>
          <p:nvPr/>
        </p:nvGraphicFramePr>
        <p:xfrm>
          <a:off x="503999" y="1655999"/>
          <a:ext cx="11232000" cy="3008716"/>
        </p:xfrm>
        <a:graphic>
          <a:graphicData uri="http://schemas.openxmlformats.org/drawingml/2006/table">
            <a:tbl>
              <a:tblPr firstRow="0" bandRow="0">
                <a:tableStyleId>{5940675A-B579-460E-94D1-54222C63F5DA}</a:tableStyleId>
              </a:tblPr>
              <a:tblGrid>
                <a:gridCol w="360000"/>
                <a:gridCol w="1296000"/>
                <a:gridCol w="7200000"/>
                <a:gridCol w="1296000"/>
                <a:gridCol w="1080000"/>
              </a:tblGrid>
              <a:tr h="187148">
                <a:tc>
                  <a:txBody>
                    <a:bodyPr/>
                    <a:lstStyle/>
                    <a:p>
                      <a:pPr marL="0" indent="0" lvl="0">
                        <a:buNone/>
                      </a:pPr>
                      <a:r>
                        <a:rPr sz="850" b="1">
                          <a:solidFill>
                            <a:srgbClr val="FFFFFF"/>
                          </a:solidFill>
                          <a:latin typeface="Helvetica"/>
                        </a:rPr>
                        <a:t>N°</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Thème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Question</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PBC n°</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Priorité</a:t>
                      </a:r>
                    </a:p>
                  </a:txBody>
                  <a:tcPr marL="43200" marR="43200" marT="14400" marB="14400" anchor="ctr">
                    <a:solidFill>
                      <a:srgbClr val="060606"/>
                    </a:solidFill>
                  </a:tcPr>
                </a:tc>
              </a:tr>
              <a:tr h="316696">
                <a:tc>
                  <a:txBody>
                    <a:bodyPr/>
                    <a:lstStyle/>
                    <a:p>
                      <a:pPr marL="0" indent="0" lvl="0">
                        <a:buNone/>
                      </a:pPr>
                      <a:r>
                        <a:rPr sz="850" b="1">
                          <a:solidFill>
                            <a:srgbClr val="060606"/>
                          </a:solidFill>
                          <a:latin typeface="Helvetica"/>
                        </a:rPr>
                        <a:t>1</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Cotisations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Pourquoi la Solde précompte-t-elle 3,77 % et 1,23 % du salaire de base, alors que les statuts (art. 17) fixent 3,5 % et 1,5 %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34</a:t>
                      </a:r>
                    </a:p>
                  </a:txBody>
                  <a:tcPr marL="43200" marR="43200" marT="14400" marB="14400" anchor="ctr">
                    <a:solidFill>
                      <a:srgbClr val="FFFFFF"/>
                    </a:solidFill>
                  </a:tcPr>
                </a:tc>
                <a:tc>
                  <a:txBody>
                    <a:bodyPr/>
                    <a:lstStyle/>
                    <a:p>
                      <a:pPr marL="0" indent="0" lvl="0">
                        <a:buNone/>
                      </a:pPr>
                      <a:r>
                        <a:rPr sz="850" b="1">
                          <a:solidFill>
                            <a:srgbClr val="FFFFFF"/>
                          </a:solidFill>
                          <a:latin typeface="Helvetica"/>
                        </a:rPr>
                        <a:t>Urgent</a:t>
                      </a:r>
                    </a:p>
                  </a:txBody>
                  <a:tcPr marL="43200" marR="43200" marT="14400" marB="14400" anchor="ctr">
                    <a:solidFill>
                      <a:srgbClr val="C00000"/>
                    </a:solidFill>
                  </a:tcPr>
                </a:tc>
              </a:tr>
              <a:tr h="316696">
                <a:tc>
                  <a:txBody>
                    <a:bodyPr/>
                    <a:lstStyle/>
                    <a:p>
                      <a:pPr marL="0" indent="0" lvl="0">
                        <a:buNone/>
                      </a:pPr>
                      <a:r>
                        <a:rPr sz="850" b="1">
                          <a:solidFill>
                            <a:srgbClr val="060606"/>
                          </a:solidFill>
                          <a:latin typeface="Helvetica"/>
                        </a:rPr>
                        <a:t>2</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Cotisations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Le délai de trois mois de cotisation avant les prestations s'applique-t-il à la maladie et au décès ? L'entretien du 16/10/2026 indiquait l'absence de délai de carence.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37</a:t>
                      </a:r>
                    </a:p>
                  </a:txBody>
                  <a:tcPr marL="43200" marR="43200" marT="14400" marB="14400" anchor="ctr">
                    <a:solidFill>
                      <a:srgbClr val="F2F2F2"/>
                    </a:solidFill>
                  </a:tcPr>
                </a:tc>
                <a:tc>
                  <a:txBody>
                    <a:bodyPr/>
                    <a:lstStyle/>
                    <a:p>
                      <a:pPr marL="0" indent="0" lvl="0">
                        <a:buNone/>
                      </a:pPr>
                      <a:r>
                        <a:rPr sz="850" b="1">
                          <a:solidFill>
                            <a:srgbClr val="FFFFFF"/>
                          </a:solidFill>
                          <a:latin typeface="Helvetica"/>
                        </a:rPr>
                        <a:t>Urgent</a:t>
                      </a:r>
                    </a:p>
                  </a:txBody>
                  <a:tcPr marL="43200" marR="43200" marT="14400" marB="14400" anchor="ctr">
                    <a:solidFill>
                      <a:srgbClr val="C00000"/>
                    </a:solidFill>
                  </a:tcPr>
                </a:tc>
              </a:tr>
              <a:tr h="187148">
                <a:tc>
                  <a:txBody>
                    <a:bodyPr/>
                    <a:lstStyle/>
                    <a:p>
                      <a:pPr marL="0" indent="0" lvl="0">
                        <a:buNone/>
                      </a:pPr>
                      <a:r>
                        <a:rPr sz="850" b="1">
                          <a:solidFill>
                            <a:srgbClr val="060606"/>
                          </a:solidFill>
                          <a:latin typeface="Helvetica"/>
                        </a:rPr>
                        <a:t>3</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Cotisations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Quelle décision a porté l'EFC de 6 000 FCFA à 10 000 FCFA en 2021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36</a:t>
                      </a:r>
                    </a:p>
                  </a:txBody>
                  <a:tcPr marL="43200" marR="43200" marT="14400" marB="14400" anchor="ctr">
                    <a:solidFill>
                      <a:srgbClr val="FFFFFF"/>
                    </a:solidFill>
                  </a:tcPr>
                </a:tc>
                <a:tc>
                  <a:txBody>
                    <a:bodyPr/>
                    <a:lstStyle/>
                    <a:p>
                      <a:pPr marL="0" indent="0" lvl="0">
                        <a:buNone/>
                      </a:pPr>
                      <a:r>
                        <a:rPr sz="850" b="1">
                          <a:solidFill>
                            <a:srgbClr val="060606"/>
                          </a:solidFill>
                          <a:latin typeface="Helvetica"/>
                        </a:rPr>
                        <a:t>Moyen</a:t>
                      </a:r>
                    </a:p>
                  </a:txBody>
                  <a:tcPr marL="43200" marR="43200" marT="14400" marB="14400" anchor="ctr">
                    <a:solidFill>
                      <a:srgbClr val="EFAC62"/>
                    </a:solidFill>
                  </a:tcPr>
                </a:tc>
              </a:tr>
              <a:tr h="187148">
                <a:tc>
                  <a:txBody>
                    <a:bodyPr/>
                    <a:lstStyle/>
                    <a:p>
                      <a:pPr marL="0" indent="0" lvl="0">
                        <a:buNone/>
                      </a:pPr>
                      <a:r>
                        <a:rPr sz="850" b="1">
                          <a:solidFill>
                            <a:srgbClr val="060606"/>
                          </a:solidFill>
                          <a:latin typeface="Helvetica"/>
                        </a:rPr>
                        <a:t>4</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Cotisations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Que représentent les références PTI, RPEP, EP, TI, R-PEP et PTQ précomptées au poste 998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85</a:t>
                      </a:r>
                    </a:p>
                  </a:txBody>
                  <a:tcPr marL="43200" marR="43200" marT="14400" marB="14400" anchor="ctr">
                    <a:solidFill>
                      <a:srgbClr val="F2F2F2"/>
                    </a:solidFill>
                  </a:tcPr>
                </a:tc>
                <a:tc>
                  <a:txBody>
                    <a:bodyPr/>
                    <a:lstStyle/>
                    <a:p>
                      <a:pPr marL="0" indent="0" lvl="0">
                        <a:buNone/>
                      </a:pPr>
                      <a:r>
                        <a:rPr sz="850" b="1">
                          <a:solidFill>
                            <a:srgbClr val="060606"/>
                          </a:solidFill>
                          <a:latin typeface="Helvetica"/>
                        </a:rPr>
                        <a:t>Moyen</a:t>
                      </a:r>
                    </a:p>
                  </a:txBody>
                  <a:tcPr marL="43200" marR="43200" marT="14400" marB="14400" anchor="ctr">
                    <a:solidFill>
                      <a:srgbClr val="EFAC62"/>
                    </a:solidFill>
                  </a:tcPr>
                </a:tc>
              </a:tr>
              <a:tr h="187148">
                <a:tc>
                  <a:txBody>
                    <a:bodyPr/>
                    <a:lstStyle/>
                    <a:p>
                      <a:pPr marL="0" indent="0" lvl="0">
                        <a:buNone/>
                      </a:pPr>
                      <a:r>
                        <a:rPr sz="850" b="1">
                          <a:solidFill>
                            <a:srgbClr val="060606"/>
                          </a:solidFill>
                          <a:latin typeface="Helvetica"/>
                        </a:rPr>
                        <a:t>5</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Cotisations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Le FPPN rapproche-t-il les fichiers aller et retour de chaque produit ? Si oui, qui le fait et selon quelle procédure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88</a:t>
                      </a:r>
                    </a:p>
                  </a:txBody>
                  <a:tcPr marL="43200" marR="43200" marT="14400" marB="14400" anchor="ctr">
                    <a:solidFill>
                      <a:srgbClr val="FFFFFF"/>
                    </a:solidFill>
                  </a:tcPr>
                </a:tc>
                <a:tc>
                  <a:txBody>
                    <a:bodyPr/>
                    <a:lstStyle/>
                    <a:p>
                      <a:pPr marL="0" indent="0" lvl="0">
                        <a:buNone/>
                      </a:pPr>
                      <a:r>
                        <a:rPr sz="850" b="1">
                          <a:solidFill>
                            <a:srgbClr val="060606"/>
                          </a:solidFill>
                          <a:latin typeface="Helvetica"/>
                        </a:rPr>
                        <a:t>Faible</a:t>
                      </a:r>
                    </a:p>
                  </a:txBody>
                  <a:tcPr marL="43200" marR="43200" marT="14400" marB="14400" anchor="ctr">
                    <a:solidFill>
                      <a:srgbClr val="70AD47"/>
                    </a:solidFill>
                  </a:tcPr>
                </a:tc>
              </a:tr>
              <a:tr h="187148">
                <a:tc>
                  <a:txBody>
                    <a:bodyPr/>
                    <a:lstStyle/>
                    <a:p>
                      <a:pPr marL="0" indent="0" lvl="0">
                        <a:buNone/>
                      </a:pPr>
                      <a:r>
                        <a:rPr sz="850" b="1">
                          <a:solidFill>
                            <a:srgbClr val="060606"/>
                          </a:solidFill>
                          <a:latin typeface="Helvetica"/>
                        </a:rPr>
                        <a:t>6</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Épargne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Quel taux est servi sur l'EFC (3,5 %, 5,5 % ou 14 %), et quelle décision signée le fixe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69</a:t>
                      </a:r>
                    </a:p>
                  </a:txBody>
                  <a:tcPr marL="43200" marR="43200" marT="14400" marB="14400" anchor="ctr">
                    <a:solidFill>
                      <a:srgbClr val="F2F2F2"/>
                    </a:solidFill>
                  </a:tcPr>
                </a:tc>
                <a:tc>
                  <a:txBody>
                    <a:bodyPr/>
                    <a:lstStyle/>
                    <a:p>
                      <a:pPr marL="0" indent="0" lvl="0">
                        <a:buNone/>
                      </a:pPr>
                      <a:r>
                        <a:rPr sz="850" b="1">
                          <a:solidFill>
                            <a:srgbClr val="FFFFFF"/>
                          </a:solidFill>
                          <a:latin typeface="Helvetica"/>
                        </a:rPr>
                        <a:t>Urgent</a:t>
                      </a:r>
                    </a:p>
                  </a:txBody>
                  <a:tcPr marL="43200" marR="43200" marT="14400" marB="14400" anchor="ctr">
                    <a:solidFill>
                      <a:srgbClr val="C00000"/>
                    </a:solidFill>
                  </a:tcPr>
                </a:tc>
              </a:tr>
              <a:tr h="187148">
                <a:tc>
                  <a:txBody>
                    <a:bodyPr/>
                    <a:lstStyle/>
                    <a:p>
                      <a:pPr marL="0" indent="0" lvl="0">
                        <a:buNone/>
                      </a:pPr>
                      <a:r>
                        <a:rPr sz="850" b="1">
                          <a:solidFill>
                            <a:srgbClr val="060606"/>
                          </a:solidFill>
                          <a:latin typeface="Helvetica"/>
                        </a:rPr>
                        <a:t>7</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Épargne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Le DAT du compte 52210200 est-il un placement du FPPN ou un placement affecté à l'EFC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53</a:t>
                      </a:r>
                    </a:p>
                  </a:txBody>
                  <a:tcPr marL="43200" marR="43200" marT="14400" marB="14400" anchor="ctr">
                    <a:solidFill>
                      <a:srgbClr val="FFFFFF"/>
                    </a:solidFill>
                  </a:tcPr>
                </a:tc>
                <a:tc>
                  <a:txBody>
                    <a:bodyPr/>
                    <a:lstStyle/>
                    <a:p>
                      <a:pPr marL="0" indent="0" lvl="0">
                        <a:buNone/>
                      </a:pPr>
                      <a:r>
                        <a:rPr sz="850" b="1">
                          <a:solidFill>
                            <a:srgbClr val="FFFFFF"/>
                          </a:solidFill>
                          <a:latin typeface="Helvetica"/>
                        </a:rPr>
                        <a:t>Urgent</a:t>
                      </a:r>
                    </a:p>
                  </a:txBody>
                  <a:tcPr marL="43200" marR="43200" marT="14400" marB="14400" anchor="ctr">
                    <a:solidFill>
                      <a:srgbClr val="C00000"/>
                    </a:solidFill>
                  </a:tcPr>
                </a:tc>
              </a:tr>
              <a:tr h="187148">
                <a:tc>
                  <a:txBody>
                    <a:bodyPr/>
                    <a:lstStyle/>
                    <a:p>
                      <a:pPr marL="0" indent="0" lvl="0">
                        <a:buNone/>
                      </a:pPr>
                      <a:r>
                        <a:rPr sz="850" b="1">
                          <a:solidFill>
                            <a:srgbClr val="060606"/>
                          </a:solidFill>
                          <a:latin typeface="Helvetica"/>
                        </a:rPr>
                        <a:t>8</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Provisions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Quelle décision permettra de reprendre ou de justifier les provisions passées vers 2004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48</a:t>
                      </a:r>
                    </a:p>
                  </a:txBody>
                  <a:tcPr marL="43200" marR="43200" marT="14400" marB="14400" anchor="ctr">
                    <a:solidFill>
                      <a:srgbClr val="F2F2F2"/>
                    </a:solidFill>
                  </a:tcPr>
                </a:tc>
                <a:tc>
                  <a:txBody>
                    <a:bodyPr/>
                    <a:lstStyle/>
                    <a:p>
                      <a:pPr marL="0" indent="0" lvl="0">
                        <a:buNone/>
                      </a:pPr>
                      <a:r>
                        <a:rPr sz="850" b="1">
                          <a:solidFill>
                            <a:srgbClr val="FFFFFF"/>
                          </a:solidFill>
                          <a:latin typeface="Helvetica"/>
                        </a:rPr>
                        <a:t>Urgent</a:t>
                      </a:r>
                    </a:p>
                  </a:txBody>
                  <a:tcPr marL="43200" marR="43200" marT="14400" marB="14400" anchor="ctr">
                    <a:solidFill>
                      <a:srgbClr val="C00000"/>
                    </a:solidFill>
                  </a:tcPr>
                </a:tc>
              </a:tr>
              <a:tr h="316696">
                <a:tc>
                  <a:txBody>
                    <a:bodyPr/>
                    <a:lstStyle/>
                    <a:p>
                      <a:pPr marL="0" indent="0" lvl="0">
                        <a:buNone/>
                      </a:pPr>
                      <a:r>
                        <a:rPr sz="850" b="1">
                          <a:solidFill>
                            <a:srgbClr val="060606"/>
                          </a:solidFill>
                          <a:latin typeface="Helvetica"/>
                        </a:rPr>
                        <a:t>9</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Provisions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Pourquoi les sinistres décès 2021 valent-ils 156 020 000 FCFA dans l'étude des ratios et 401 856 666 FCFA dans la balance 2021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86</a:t>
                      </a:r>
                    </a:p>
                  </a:txBody>
                  <a:tcPr marL="43200" marR="43200" marT="14400" marB="14400" anchor="ctr">
                    <a:solidFill>
                      <a:srgbClr val="FFFFFF"/>
                    </a:solidFill>
                  </a:tcPr>
                </a:tc>
                <a:tc>
                  <a:txBody>
                    <a:bodyPr/>
                    <a:lstStyle/>
                    <a:p>
                      <a:pPr marL="0" indent="0" lvl="0">
                        <a:buNone/>
                      </a:pPr>
                      <a:r>
                        <a:rPr sz="850" b="1">
                          <a:solidFill>
                            <a:srgbClr val="060606"/>
                          </a:solidFill>
                          <a:latin typeface="Helvetica"/>
                        </a:rPr>
                        <a:t>Moyen</a:t>
                      </a:r>
                    </a:p>
                  </a:txBody>
                  <a:tcPr marL="43200" marR="43200" marT="14400" marB="14400" anchor="ctr">
                    <a:solidFill>
                      <a:srgbClr val="EFAC62"/>
                    </a:solidFill>
                  </a:tcPr>
                </a:tc>
              </a:tr>
              <a:tr h="187148">
                <a:tc>
                  <a:txBody>
                    <a:bodyPr/>
                    <a:lstStyle/>
                    <a:p>
                      <a:pPr marL="0" indent="0" lvl="0">
                        <a:buNone/>
                      </a:pPr>
                      <a:r>
                        <a:rPr sz="850" b="1">
                          <a:solidFill>
                            <a:srgbClr val="060606"/>
                          </a:solidFill>
                          <a:latin typeface="Helvetica"/>
                        </a:rPr>
                        <a:t>10</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Provisions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À quel grade correspond l'allocation de 2 200 000 FCFA des états décès, et quel texte fonde l'exclusion du suicide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80</a:t>
                      </a:r>
                    </a:p>
                  </a:txBody>
                  <a:tcPr marL="43200" marR="43200" marT="14400" marB="14400" anchor="ctr">
                    <a:solidFill>
                      <a:srgbClr val="F2F2F2"/>
                    </a:solidFill>
                  </a:tcPr>
                </a:tc>
                <a:tc>
                  <a:txBody>
                    <a:bodyPr/>
                    <a:lstStyle/>
                    <a:p>
                      <a:pPr marL="0" indent="0" lvl="0">
                        <a:buNone/>
                      </a:pPr>
                      <a:r>
                        <a:rPr sz="850" b="1">
                          <a:solidFill>
                            <a:srgbClr val="060606"/>
                          </a:solidFill>
                          <a:latin typeface="Helvetica"/>
                        </a:rPr>
                        <a:t>Moyen</a:t>
                      </a:r>
                    </a:p>
                  </a:txBody>
                  <a:tcPr marL="43200" marR="43200" marT="14400" marB="14400" anchor="ctr">
                    <a:solidFill>
                      <a:srgbClr val="EFAC62"/>
                    </a:solidFill>
                  </a:tcPr>
                </a:tc>
              </a:tr>
              <a:tr h="187148">
                <a:tc>
                  <a:txBody>
                    <a:bodyPr/>
                    <a:lstStyle/>
                    <a:p>
                      <a:pPr marL="0" indent="0" lvl="0">
                        <a:buNone/>
                      </a:pPr>
                      <a:r>
                        <a:rPr sz="850" b="1">
                          <a:solidFill>
                            <a:srgbClr val="060606"/>
                          </a:solidFill>
                          <a:latin typeface="Helvetica"/>
                        </a:rPr>
                        <a:t>11</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Retraités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La garantie santé des retraités est-elle à vie ou limitée, et quelle est leur cotisation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52</a:t>
                      </a:r>
                    </a:p>
                  </a:txBody>
                  <a:tcPr marL="43200" marR="43200" marT="14400" marB="14400" anchor="ctr">
                    <a:solidFill>
                      <a:srgbClr val="FFFFFF"/>
                    </a:solidFill>
                  </a:tcPr>
                </a:tc>
                <a:tc>
                  <a:txBody>
                    <a:bodyPr/>
                    <a:lstStyle/>
                    <a:p>
                      <a:pPr marL="0" indent="0" lvl="0">
                        <a:buNone/>
                      </a:pPr>
                      <a:r>
                        <a:rPr sz="850" b="1">
                          <a:solidFill>
                            <a:srgbClr val="FFFFFF"/>
                          </a:solidFill>
                          <a:latin typeface="Helvetica"/>
                        </a:rPr>
                        <a:t>Urgent</a:t>
                      </a:r>
                    </a:p>
                  </a:txBody>
                  <a:tcPr marL="43200" marR="43200" marT="14400" marB="14400" anchor="ctr">
                    <a:solidFill>
                      <a:srgbClr val="C00000"/>
                    </a:solidFill>
                  </a:tcPr>
                </a:tc>
              </a:tr>
              <a:tr h="187148">
                <a:tc>
                  <a:txBody>
                    <a:bodyPr/>
                    <a:lstStyle/>
                    <a:p>
                      <a:pPr marL="0" indent="0" lvl="0">
                        <a:buNone/>
                      </a:pPr>
                      <a:r>
                        <a:rPr sz="850" b="1">
                          <a:solidFill>
                            <a:srgbClr val="060606"/>
                          </a:solidFill>
                          <a:latin typeface="Helvetica"/>
                        </a:rPr>
                        <a:t>12</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Personnel</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Quel âge de départ le FPPN applique-t-il à son personnel civil (cinq agents de 55 ans ou plus en poste)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78</a:t>
                      </a:r>
                    </a:p>
                  </a:txBody>
                  <a:tcPr marL="43200" marR="43200" marT="14400" marB="14400" anchor="ctr">
                    <a:solidFill>
                      <a:srgbClr val="F2F2F2"/>
                    </a:solidFill>
                  </a:tcPr>
                </a:tc>
                <a:tc>
                  <a:txBody>
                    <a:bodyPr/>
                    <a:lstStyle/>
                    <a:p>
                      <a:pPr marL="0" indent="0" lvl="0">
                        <a:buNone/>
                      </a:pPr>
                      <a:r>
                        <a:rPr sz="850" b="1">
                          <a:solidFill>
                            <a:srgbClr val="FFFFFF"/>
                          </a:solidFill>
                          <a:latin typeface="Helvetica"/>
                        </a:rPr>
                        <a:t>Urgent</a:t>
                      </a:r>
                    </a:p>
                  </a:txBody>
                  <a:tcPr marL="43200" marR="43200" marT="14400" marB="14400" anchor="ctr">
                    <a:solidFill>
                      <a:srgbClr val="C00000"/>
                    </a:solidFill>
                  </a:tcPr>
                </a:tc>
              </a:tr>
              <a:tr h="187148">
                <a:tc>
                  <a:txBody>
                    <a:bodyPr/>
                    <a:lstStyle/>
                    <a:p>
                      <a:pPr marL="0" indent="0" lvl="0">
                        <a:buNone/>
                      </a:pPr>
                      <a:r>
                        <a:rPr sz="850" b="1">
                          <a:solidFill>
                            <a:srgbClr val="060606"/>
                          </a:solidFill>
                          <a:latin typeface="Helvetica"/>
                        </a:rPr>
                        <a:t>13</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Personnel</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Pourquoi douze dates d'embauche diffèrent-elles entre les DISA 2021 à 2023 et la DISA 2025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78</a:t>
                      </a:r>
                    </a:p>
                  </a:txBody>
                  <a:tcPr marL="43200" marR="43200" marT="14400" marB="14400" anchor="ctr">
                    <a:solidFill>
                      <a:srgbClr val="FFFFFF"/>
                    </a:solidFill>
                  </a:tcPr>
                </a:tc>
                <a:tc>
                  <a:txBody>
                    <a:bodyPr/>
                    <a:lstStyle/>
                    <a:p>
                      <a:pPr marL="0" indent="0" lvl="0">
                        <a:buNone/>
                      </a:pPr>
                      <a:r>
                        <a:rPr sz="850" b="1">
                          <a:solidFill>
                            <a:srgbClr val="FFFFFF"/>
                          </a:solidFill>
                          <a:latin typeface="Helvetica"/>
                        </a:rPr>
                        <a:t>Urgent</a:t>
                      </a:r>
                    </a:p>
                  </a:txBody>
                  <a:tcPr marL="43200" marR="43200" marT="14400" marB="14400" anchor="ctr">
                    <a:solidFill>
                      <a:srgbClr val="C00000"/>
                    </a:solidFill>
                  </a:tcPr>
                </a:tc>
              </a:tr>
            </a:tbl>
          </a:graphicData>
        </a:graphic>
      </p:graphicFrame>
      <p:graphicFrame>
        <p:nvGraphicFramePr>
          <p:cNvPr id="33" name="Table 32"/>
          <p:cNvGraphicFramePr>
            <a:graphicFrameLocks noGrp="1"/>
          </p:cNvGraphicFramePr>
          <p:nvPr/>
        </p:nvGraphicFramePr>
        <p:xfrm>
          <a:off x="503999" y="4918529"/>
          <a:ext cx="11232000" cy="151200"/>
        </p:xfrm>
        <a:graphic>
          <a:graphicData uri="http://schemas.openxmlformats.org/drawingml/2006/table">
            <a:tbl>
              <a:tblPr firstRow="0" bandRow="0">
                <a:tableStyleId>{5C22544A-7EE6-4342-B048-85BDC9FD1C3A}</a:tableStyleId>
              </a:tblPr>
              <a:tblGrid>
                <a:gridCol w="792000"/>
                <a:gridCol w="936000"/>
                <a:gridCol w="2544000"/>
                <a:gridCol w="936000"/>
                <a:gridCol w="2544000"/>
                <a:gridCol w="936000"/>
                <a:gridCol w="2544000"/>
              </a:tblGrid>
              <a:tr h="151200">
                <a:tc>
                  <a:txBody>
                    <a:bodyPr/>
                    <a:lstStyle/>
                    <a:p>
                      <a:r>
                        <a:rPr sz="700" b="1">
                          <a:solidFill>
                            <a:srgbClr val="060606"/>
                          </a:solidFill>
                          <a:latin typeface="Helvetica"/>
                        </a:rPr>
                        <a:t>Code couleur</a:t>
                      </a:r>
                    </a:p>
                  </a:txBody>
                  <a:tcPr marL="28800" marR="28800" marT="3600" marB="3600" anchor="ctr">
                    <a:solidFill>
                      <a:srgbClr val="FFFFFF"/>
                    </a:solidFill>
                  </a:tcPr>
                </a:tc>
                <a:tc>
                  <a:txBody>
                    <a:bodyPr/>
                    <a:lstStyle/>
                    <a:p>
                      <a:r>
                        <a:rPr sz="700" b="1">
                          <a:solidFill>
                            <a:srgbClr val="FFFFFF"/>
                          </a:solidFill>
                          <a:latin typeface="Helvetica"/>
                        </a:rPr>
                        <a:t>Urgent</a:t>
                      </a:r>
                    </a:p>
                  </a:txBody>
                  <a:tcPr marL="28800" marR="28800" marT="3600" marB="3600" anchor="ctr">
                    <a:solidFill>
                      <a:srgbClr val="C00000"/>
                    </a:solidFill>
                  </a:tcPr>
                </a:tc>
                <a:tc>
                  <a:txBody>
                    <a:bodyPr/>
                    <a:lstStyle/>
                    <a:p>
                      <a:r>
                        <a:rPr sz="700" b="0">
                          <a:solidFill>
                            <a:srgbClr val="060606"/>
                          </a:solidFill>
                          <a:latin typeface="Helvetica"/>
                        </a:rPr>
                        <a:t>à traiter en premier</a:t>
                      </a:r>
                    </a:p>
                  </a:txBody>
                  <a:tcPr marL="28800" marR="28800" marT="3600" marB="3600" anchor="ctr">
                    <a:solidFill>
                      <a:srgbClr val="FFFFFF"/>
                    </a:solidFill>
                  </a:tcPr>
                </a:tc>
                <a:tc>
                  <a:txBody>
                    <a:bodyPr/>
                    <a:lstStyle/>
                    <a:p>
                      <a:r>
                        <a:rPr sz="700" b="1">
                          <a:solidFill>
                            <a:srgbClr val="060606"/>
                          </a:solidFill>
                          <a:latin typeface="Helvetica"/>
                        </a:rPr>
                        <a:t>Moyenne</a:t>
                      </a:r>
                    </a:p>
                  </a:txBody>
                  <a:tcPr marL="28800" marR="28800" marT="3600" marB="3600" anchor="ctr">
                    <a:solidFill>
                      <a:srgbClr val="EFAC62"/>
                    </a:solidFill>
                  </a:tcPr>
                </a:tc>
                <a:tc>
                  <a:txBody>
                    <a:bodyPr/>
                    <a:lstStyle/>
                    <a:p>
                      <a:r>
                        <a:rPr sz="700" b="0">
                          <a:solidFill>
                            <a:srgbClr val="060606"/>
                          </a:solidFill>
                          <a:latin typeface="Helvetica"/>
                        </a:rPr>
                        <a:t>à traiter ensuite</a:t>
                      </a:r>
                    </a:p>
                  </a:txBody>
                  <a:tcPr marL="28800" marR="28800" marT="3600" marB="3600" anchor="ctr">
                    <a:solidFill>
                      <a:srgbClr val="FFFFFF"/>
                    </a:solidFill>
                  </a:tcPr>
                </a:tc>
                <a:tc>
                  <a:txBody>
                    <a:bodyPr/>
                    <a:lstStyle/>
                    <a:p>
                      <a:r>
                        <a:rPr sz="700" b="1">
                          <a:solidFill>
                            <a:srgbClr val="060606"/>
                          </a:solidFill>
                          <a:latin typeface="Helvetica"/>
                        </a:rPr>
                        <a:t>Faible</a:t>
                      </a:r>
                    </a:p>
                  </a:txBody>
                  <a:tcPr marL="28800" marR="28800" marT="3600" marB="3600" anchor="ctr">
                    <a:solidFill>
                      <a:srgbClr val="70AD47"/>
                    </a:solidFill>
                  </a:tcPr>
                </a:tc>
                <a:tc>
                  <a:txBody>
                    <a:bodyPr/>
                    <a:lstStyle/>
                    <a:p>
                      <a:r>
                        <a:rPr sz="700" b="0">
                          <a:solidFill>
                            <a:srgbClr val="060606"/>
                          </a:solidFill>
                          <a:latin typeface="Helvetica"/>
                        </a:rPr>
                        <a:t>à traiter en dernier</a:t>
                      </a:r>
                    </a:p>
                  </a:txBody>
                  <a:tcPr marL="28800" marR="28800" marT="3600" marB="3600" anchor="ctr">
                    <a:solidFill>
                      <a:srgbClr val="FFFFFF"/>
                    </a:solidFill>
                  </a:tcPr>
                </a:tc>
              </a:tr>
            </a:tbl>
          </a:graphicData>
        </a:graphic>
      </p:graphicFrame>
      <p:sp>
        <p:nvSpPr>
          <p:cNvPr id="34" name="TextBox 33"/>
          <p:cNvSpPr txBox="1"/>
          <p:nvPr/>
        </p:nvSpPr>
        <p:spPr>
          <a:xfrm>
            <a:off x="503999" y="5177729"/>
            <a:ext cx="11232000" cy="162000"/>
          </a:xfrm>
          <a:prstGeom prst="rect">
            <a:avLst/>
          </a:prstGeom>
          <a:noFill/>
        </p:spPr>
        <p:txBody>
          <a:bodyPr wrap="square" anchor="t" lIns="54000" rIns="54000"/>
          <a:lstStyle/>
          <a:p>
            <a:pPr algn="l"/>
            <a:r>
              <a:rPr sz="850" b="0">
                <a:solidFill>
                  <a:srgbClr val="53565A"/>
                </a:solidFill>
                <a:latin typeface="Helvetica"/>
              </a:rPr>
              <a:t>Valable pour : questions ouvertes au 23/10/2026.</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PEP : Plan Épargne Plus | EFC : entraide fin de carrière | DAT : dépôt à terme | PBC : liste des documents demandés au client | 998 : poste PEP | DISA : déclaration individuelle des salaires annuels à la CNPS</a:t>
            </a:r>
          </a:p>
        </p:txBody>
      </p:sp>
    </p:spTree>
    <p:extLst>
      <p:ext uri="{BB962C8B-B14F-4D97-AF65-F5344CB8AC3E}">
        <p14:creationId xmlns:p14="http://schemas.microsoft.com/office/powerpoint/2010/main" val="2990500817"/>
      </p:ext>
    </p:extLst>
  </p:cSld>
  <p:clrMapOvr>
    <a:masterClrMapping/>
  </p:clrMapOvr>
  <p:transition>
    <p:fade/>
  </p:transition>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Questions au FPPN (2/2)</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26 questions simples, chacune reliée à un constat du rapport et à la PBC</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Réponse écrite attendue avec la pièce qui l'établit. Liste complète des documents dans la PBC du 23/10/2026</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analyses Adenka. PBC actuarielle du 23/10/2026. FPPN_Demandes_au_FPPN_20261023.xlsx</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114 : Questions au FPPN (2/2)</a:t>
            </a:r>
          </a:p>
        </p:txBody>
      </p:sp>
      <p:graphicFrame>
        <p:nvGraphicFramePr>
          <p:cNvPr id="32" name="Table 31"/>
          <p:cNvGraphicFramePr>
            <a:graphicFrameLocks noGrp="1"/>
          </p:cNvGraphicFramePr>
          <p:nvPr/>
        </p:nvGraphicFramePr>
        <p:xfrm>
          <a:off x="503999" y="1655999"/>
          <a:ext cx="11232000" cy="2879168"/>
        </p:xfrm>
        <a:graphic>
          <a:graphicData uri="http://schemas.openxmlformats.org/drawingml/2006/table">
            <a:tbl>
              <a:tblPr firstRow="0" bandRow="0">
                <a:tableStyleId>{5940675A-B579-460E-94D1-54222C63F5DA}</a:tableStyleId>
              </a:tblPr>
              <a:tblGrid>
                <a:gridCol w="360000"/>
                <a:gridCol w="1296000"/>
                <a:gridCol w="7200000"/>
                <a:gridCol w="1296000"/>
                <a:gridCol w="1080000"/>
              </a:tblGrid>
              <a:tr h="187148">
                <a:tc>
                  <a:txBody>
                    <a:bodyPr/>
                    <a:lstStyle/>
                    <a:p>
                      <a:pPr marL="0" indent="0" lvl="0">
                        <a:buNone/>
                      </a:pPr>
                      <a:r>
                        <a:rPr sz="850" b="1">
                          <a:solidFill>
                            <a:srgbClr val="FFFFFF"/>
                          </a:solidFill>
                          <a:latin typeface="Helvetica"/>
                        </a:rPr>
                        <a:t>N°</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Thème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Question</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PBC n°</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Priorité</a:t>
                      </a:r>
                    </a:p>
                  </a:txBody>
                  <a:tcPr marL="43200" marR="43200" marT="14400" marB="14400" anchor="ctr">
                    <a:solidFill>
                      <a:srgbClr val="060606"/>
                    </a:solidFill>
                  </a:tcPr>
                </a:tc>
              </a:tr>
              <a:tr h="187148">
                <a:tc>
                  <a:txBody>
                    <a:bodyPr/>
                    <a:lstStyle/>
                    <a:p>
                      <a:pPr marL="0" indent="0" lvl="0">
                        <a:buNone/>
                      </a:pPr>
                      <a:r>
                        <a:rPr sz="850" b="1">
                          <a:solidFill>
                            <a:srgbClr val="060606"/>
                          </a:solidFill>
                          <a:latin typeface="Helvetica"/>
                        </a:rPr>
                        <a:t>14</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Personnel</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À quelle entité (Direction Générale, clinique, Grenier) sont rattachés les dix-neuf agents recrutés en 2025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78</a:t>
                      </a:r>
                    </a:p>
                  </a:txBody>
                  <a:tcPr marL="43200" marR="43200" marT="14400" marB="14400" anchor="ctr">
                    <a:solidFill>
                      <a:srgbClr val="FFFFFF"/>
                    </a:solidFill>
                  </a:tcPr>
                </a:tc>
                <a:tc>
                  <a:txBody>
                    <a:bodyPr/>
                    <a:lstStyle/>
                    <a:p>
                      <a:pPr marL="0" indent="0" lvl="0">
                        <a:buNone/>
                      </a:pPr>
                      <a:r>
                        <a:rPr sz="850" b="1">
                          <a:solidFill>
                            <a:srgbClr val="FFFFFF"/>
                          </a:solidFill>
                          <a:latin typeface="Helvetica"/>
                        </a:rPr>
                        <a:t>Urgent</a:t>
                      </a:r>
                    </a:p>
                  </a:txBody>
                  <a:tcPr marL="43200" marR="43200" marT="14400" marB="14400" anchor="ctr">
                    <a:solidFill>
                      <a:srgbClr val="C00000"/>
                    </a:solidFill>
                  </a:tcPr>
                </a:tc>
              </a:tr>
              <a:tr h="187148">
                <a:tc>
                  <a:txBody>
                    <a:bodyPr/>
                    <a:lstStyle/>
                    <a:p>
                      <a:pPr marL="0" indent="0" lvl="0">
                        <a:buNone/>
                      </a:pPr>
                      <a:r>
                        <a:rPr sz="850" b="1">
                          <a:solidFill>
                            <a:srgbClr val="060606"/>
                          </a:solidFill>
                          <a:latin typeface="Helvetica"/>
                        </a:rPr>
                        <a:t>15</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Placements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Quelle est la nature de la créance de 3 407 519 850 FCFA sur l'hôpital de la Police, et un remboursement est-il prévu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60</a:t>
                      </a:r>
                    </a:p>
                  </a:txBody>
                  <a:tcPr marL="43200" marR="43200" marT="14400" marB="14400" anchor="ctr">
                    <a:solidFill>
                      <a:srgbClr val="F2F2F2"/>
                    </a:solidFill>
                  </a:tcPr>
                </a:tc>
                <a:tc>
                  <a:txBody>
                    <a:bodyPr/>
                    <a:lstStyle/>
                    <a:p>
                      <a:pPr marL="0" indent="0" lvl="0">
                        <a:buNone/>
                      </a:pPr>
                      <a:r>
                        <a:rPr sz="850" b="1">
                          <a:solidFill>
                            <a:srgbClr val="060606"/>
                          </a:solidFill>
                          <a:latin typeface="Helvetica"/>
                        </a:rPr>
                        <a:t>Moyen</a:t>
                      </a:r>
                    </a:p>
                  </a:txBody>
                  <a:tcPr marL="43200" marR="43200" marT="14400" marB="14400" anchor="ctr">
                    <a:solidFill>
                      <a:srgbClr val="EFAC62"/>
                    </a:solidFill>
                  </a:tcPr>
                </a:tc>
              </a:tr>
              <a:tr h="187148">
                <a:tc>
                  <a:txBody>
                    <a:bodyPr/>
                    <a:lstStyle/>
                    <a:p>
                      <a:pPr marL="0" indent="0" lvl="0">
                        <a:buNone/>
                      </a:pPr>
                      <a:r>
                        <a:rPr sz="850" b="1">
                          <a:solidFill>
                            <a:srgbClr val="060606"/>
                          </a:solidFill>
                          <a:latin typeface="Helvetica"/>
                        </a:rPr>
                        <a:t>16</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Placements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Le compte 10620000 enregistre-t-il la réévaluation du terrain du siège ou de matériels, comme l'indique son intitulé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59</a:t>
                      </a:r>
                    </a:p>
                  </a:txBody>
                  <a:tcPr marL="43200" marR="43200" marT="14400" marB="14400" anchor="ctr">
                    <a:solidFill>
                      <a:srgbClr val="FFFFFF"/>
                    </a:solidFill>
                  </a:tcPr>
                </a:tc>
                <a:tc>
                  <a:txBody>
                    <a:bodyPr/>
                    <a:lstStyle/>
                    <a:p>
                      <a:pPr marL="0" indent="0" lvl="0">
                        <a:buNone/>
                      </a:pPr>
                      <a:r>
                        <a:rPr sz="850" b="1">
                          <a:solidFill>
                            <a:srgbClr val="FFFFFF"/>
                          </a:solidFill>
                          <a:latin typeface="Helvetica"/>
                        </a:rPr>
                        <a:t>Urgent</a:t>
                      </a:r>
                    </a:p>
                  </a:txBody>
                  <a:tcPr marL="43200" marR="43200" marT="14400" marB="14400" anchor="ctr">
                    <a:solidFill>
                      <a:srgbClr val="C00000"/>
                    </a:solidFill>
                  </a:tcPr>
                </a:tc>
              </a:tr>
              <a:tr h="187148">
                <a:tc>
                  <a:txBody>
                    <a:bodyPr/>
                    <a:lstStyle/>
                    <a:p>
                      <a:pPr marL="0" indent="0" lvl="0">
                        <a:buNone/>
                      </a:pPr>
                      <a:r>
                        <a:rPr sz="850" b="1">
                          <a:solidFill>
                            <a:srgbClr val="060606"/>
                          </a:solidFill>
                          <a:latin typeface="Helvetica"/>
                        </a:rPr>
                        <a:t>17</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Placements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Quel est le budget du projet de Cocody, son financement et la part financée par l'épargne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82</a:t>
                      </a:r>
                    </a:p>
                  </a:txBody>
                  <a:tcPr marL="43200" marR="43200" marT="14400" marB="14400" anchor="ctr">
                    <a:solidFill>
                      <a:srgbClr val="F2F2F2"/>
                    </a:solidFill>
                  </a:tcPr>
                </a:tc>
                <a:tc>
                  <a:txBody>
                    <a:bodyPr/>
                    <a:lstStyle/>
                    <a:p>
                      <a:pPr marL="0" indent="0" lvl="0">
                        <a:buNone/>
                      </a:pPr>
                      <a:r>
                        <a:rPr sz="850" b="1">
                          <a:solidFill>
                            <a:srgbClr val="FFFFFF"/>
                          </a:solidFill>
                          <a:latin typeface="Helvetica"/>
                        </a:rPr>
                        <a:t>Urgent</a:t>
                      </a:r>
                    </a:p>
                  </a:txBody>
                  <a:tcPr marL="43200" marR="43200" marT="14400" marB="14400" anchor="ctr">
                    <a:solidFill>
                      <a:srgbClr val="C00000"/>
                    </a:solidFill>
                  </a:tcPr>
                </a:tc>
              </a:tr>
              <a:tr h="316696">
                <a:tc>
                  <a:txBody>
                    <a:bodyPr/>
                    <a:lstStyle/>
                    <a:p>
                      <a:pPr marL="0" indent="0" lvl="0">
                        <a:buNone/>
                      </a:pPr>
                      <a:r>
                        <a:rPr sz="850" b="1">
                          <a:solidFill>
                            <a:srgbClr val="060606"/>
                          </a:solidFill>
                          <a:latin typeface="Helvetica"/>
                        </a:rPr>
                        <a:t>18</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Grenier</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Pourquoi l'essentiel de l'encours était-il en retard fin janvier 2026, et comment sont réglées les échéances non précomptées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90</a:t>
                      </a:r>
                    </a:p>
                  </a:txBody>
                  <a:tcPr marL="43200" marR="43200" marT="14400" marB="14400" anchor="ctr">
                    <a:solidFill>
                      <a:srgbClr val="FFFFFF"/>
                    </a:solidFill>
                  </a:tcPr>
                </a:tc>
                <a:tc>
                  <a:txBody>
                    <a:bodyPr/>
                    <a:lstStyle/>
                    <a:p>
                      <a:pPr marL="0" indent="0" lvl="0">
                        <a:buNone/>
                      </a:pPr>
                      <a:r>
                        <a:rPr sz="850" b="1">
                          <a:solidFill>
                            <a:srgbClr val="060606"/>
                          </a:solidFill>
                          <a:latin typeface="Helvetica"/>
                        </a:rPr>
                        <a:t>Moyen</a:t>
                      </a:r>
                    </a:p>
                  </a:txBody>
                  <a:tcPr marL="43200" marR="43200" marT="14400" marB="14400" anchor="ctr">
                    <a:solidFill>
                      <a:srgbClr val="EFAC62"/>
                    </a:solidFill>
                  </a:tcPr>
                </a:tc>
              </a:tr>
              <a:tr h="187148">
                <a:tc>
                  <a:txBody>
                    <a:bodyPr/>
                    <a:lstStyle/>
                    <a:p>
                      <a:pPr marL="0" indent="0" lvl="0">
                        <a:buNone/>
                      </a:pPr>
                      <a:r>
                        <a:rPr sz="850" b="1">
                          <a:solidFill>
                            <a:srgbClr val="060606"/>
                          </a:solidFill>
                          <a:latin typeface="Helvetica"/>
                        </a:rPr>
                        <a:t>19</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Flotte automobile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Sur quelle assiette la commission de 20 % versée par GNA est-elle calculée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61</a:t>
                      </a:r>
                    </a:p>
                  </a:txBody>
                  <a:tcPr marL="43200" marR="43200" marT="14400" marB="14400" anchor="ctr">
                    <a:solidFill>
                      <a:srgbClr val="F2F2F2"/>
                    </a:solidFill>
                  </a:tcPr>
                </a:tc>
                <a:tc>
                  <a:txBody>
                    <a:bodyPr/>
                    <a:lstStyle/>
                    <a:p>
                      <a:pPr marL="0" indent="0" lvl="0">
                        <a:buNone/>
                      </a:pPr>
                      <a:r>
                        <a:rPr sz="850" b="1">
                          <a:solidFill>
                            <a:srgbClr val="060606"/>
                          </a:solidFill>
                          <a:latin typeface="Helvetica"/>
                        </a:rPr>
                        <a:t>Moyen</a:t>
                      </a:r>
                    </a:p>
                  </a:txBody>
                  <a:tcPr marL="43200" marR="43200" marT="14400" marB="14400" anchor="ctr">
                    <a:solidFill>
                      <a:srgbClr val="EFAC62"/>
                    </a:solidFill>
                  </a:tcPr>
                </a:tc>
              </a:tr>
              <a:tr h="187148">
                <a:tc>
                  <a:txBody>
                    <a:bodyPr/>
                    <a:lstStyle/>
                    <a:p>
                      <a:pPr marL="0" indent="0" lvl="0">
                        <a:buNone/>
                      </a:pPr>
                      <a:r>
                        <a:rPr sz="850" b="1">
                          <a:solidFill>
                            <a:srgbClr val="060606"/>
                          </a:solidFill>
                          <a:latin typeface="Helvetica"/>
                        </a:rPr>
                        <a:t>20</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MEDOC</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Sur quelle période le produit MEDOC a-t-il fonctionné, et quand a-t-il été suspendu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45</a:t>
                      </a:r>
                    </a:p>
                  </a:txBody>
                  <a:tcPr marL="43200" marR="43200" marT="14400" marB="14400" anchor="ctr">
                    <a:solidFill>
                      <a:srgbClr val="FFFFFF"/>
                    </a:solidFill>
                  </a:tcPr>
                </a:tc>
                <a:tc>
                  <a:txBody>
                    <a:bodyPr/>
                    <a:lstStyle/>
                    <a:p>
                      <a:pPr marL="0" indent="0" lvl="0">
                        <a:buNone/>
                      </a:pPr>
                      <a:r>
                        <a:rPr sz="850" b="1">
                          <a:solidFill>
                            <a:srgbClr val="060606"/>
                          </a:solidFill>
                          <a:latin typeface="Helvetica"/>
                        </a:rPr>
                        <a:t>Faible</a:t>
                      </a:r>
                    </a:p>
                  </a:txBody>
                  <a:tcPr marL="43200" marR="43200" marT="14400" marB="14400" anchor="ctr">
                    <a:solidFill>
                      <a:srgbClr val="70AD47"/>
                    </a:solidFill>
                  </a:tcPr>
                </a:tc>
              </a:tr>
              <a:tr h="316696">
                <a:tc>
                  <a:txBody>
                    <a:bodyPr/>
                    <a:lstStyle/>
                    <a:p>
                      <a:pPr marL="0" indent="0" lvl="0">
                        <a:buNone/>
                      </a:pPr>
                      <a:r>
                        <a:rPr sz="850" b="1">
                          <a:solidFill>
                            <a:srgbClr val="060606"/>
                          </a:solidFill>
                          <a:latin typeface="Helvetica"/>
                        </a:rPr>
                        <a:t>21</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Gouvernance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Quelle version des comptes 2023 a été approuvée, et pourquoi le résultat au 31/08/2026 diffère-t-il entre états financiers et balance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76</a:t>
                      </a:r>
                    </a:p>
                  </a:txBody>
                  <a:tcPr marL="43200" marR="43200" marT="14400" marB="14400" anchor="ctr">
                    <a:solidFill>
                      <a:srgbClr val="F2F2F2"/>
                    </a:solidFill>
                  </a:tcPr>
                </a:tc>
                <a:tc>
                  <a:txBody>
                    <a:bodyPr/>
                    <a:lstStyle/>
                    <a:p>
                      <a:pPr marL="0" indent="0" lvl="0">
                        <a:buNone/>
                      </a:pPr>
                      <a:r>
                        <a:rPr sz="850" b="1">
                          <a:solidFill>
                            <a:srgbClr val="FFFFFF"/>
                          </a:solidFill>
                          <a:latin typeface="Helvetica"/>
                        </a:rPr>
                        <a:t>Urgent</a:t>
                      </a:r>
                    </a:p>
                  </a:txBody>
                  <a:tcPr marL="43200" marR="43200" marT="14400" marB="14400" anchor="ctr">
                    <a:solidFill>
                      <a:srgbClr val="C00000"/>
                    </a:solidFill>
                  </a:tcPr>
                </a:tc>
              </a:tr>
              <a:tr h="187148">
                <a:tc>
                  <a:txBody>
                    <a:bodyPr/>
                    <a:lstStyle/>
                    <a:p>
                      <a:pPr marL="0" indent="0" lvl="0">
                        <a:buNone/>
                      </a:pPr>
                      <a:r>
                        <a:rPr sz="850" b="1">
                          <a:solidFill>
                            <a:srgbClr val="060606"/>
                          </a:solidFill>
                          <a:latin typeface="Helvetica"/>
                        </a:rPr>
                        <a:t>22</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Gouvernance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Le directeur général a-t-il été désigné ou prolongé après 2023, et qui autorise les placements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81</a:t>
                      </a:r>
                    </a:p>
                  </a:txBody>
                  <a:tcPr marL="43200" marR="43200" marT="14400" marB="14400" anchor="ctr">
                    <a:solidFill>
                      <a:srgbClr val="FFFFFF"/>
                    </a:solidFill>
                  </a:tcPr>
                </a:tc>
                <a:tc>
                  <a:txBody>
                    <a:bodyPr/>
                    <a:lstStyle/>
                    <a:p>
                      <a:pPr marL="0" indent="0" lvl="0">
                        <a:buNone/>
                      </a:pPr>
                      <a:r>
                        <a:rPr sz="850" b="1">
                          <a:solidFill>
                            <a:srgbClr val="FFFFFF"/>
                          </a:solidFill>
                          <a:latin typeface="Helvetica"/>
                        </a:rPr>
                        <a:t>Urgent</a:t>
                      </a:r>
                    </a:p>
                  </a:txBody>
                  <a:tcPr marL="43200" marR="43200" marT="14400" marB="14400" anchor="ctr">
                    <a:solidFill>
                      <a:srgbClr val="C00000"/>
                    </a:solidFill>
                  </a:tcPr>
                </a:tc>
              </a:tr>
              <a:tr h="187148">
                <a:tc>
                  <a:txBody>
                    <a:bodyPr/>
                    <a:lstStyle/>
                    <a:p>
                      <a:pPr marL="0" indent="0" lvl="0">
                        <a:buNone/>
                      </a:pPr>
                      <a:r>
                        <a:rPr sz="850" b="1">
                          <a:solidFill>
                            <a:srgbClr val="060606"/>
                          </a:solidFill>
                          <a:latin typeface="Helvetica"/>
                        </a:rPr>
                        <a:t>23</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Conformité</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Quels sont le numéro, la date et les risques autorisés de l'agrément AIRMS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27</a:t>
                      </a:r>
                    </a:p>
                  </a:txBody>
                  <a:tcPr marL="43200" marR="43200" marT="14400" marB="14400" anchor="ctr">
                    <a:solidFill>
                      <a:srgbClr val="F2F2F2"/>
                    </a:solidFill>
                  </a:tcPr>
                </a:tc>
                <a:tc>
                  <a:txBody>
                    <a:bodyPr/>
                    <a:lstStyle/>
                    <a:p>
                      <a:pPr marL="0" indent="0" lvl="0">
                        <a:buNone/>
                      </a:pPr>
                      <a:r>
                        <a:rPr sz="850" b="1">
                          <a:solidFill>
                            <a:srgbClr val="FFFFFF"/>
                          </a:solidFill>
                          <a:latin typeface="Helvetica"/>
                        </a:rPr>
                        <a:t>Urgent</a:t>
                      </a:r>
                    </a:p>
                  </a:txBody>
                  <a:tcPr marL="43200" marR="43200" marT="14400" marB="14400" anchor="ctr">
                    <a:solidFill>
                      <a:srgbClr val="C00000"/>
                    </a:solidFill>
                  </a:tcPr>
                </a:tc>
              </a:tr>
              <a:tr h="187148">
                <a:tc>
                  <a:txBody>
                    <a:bodyPr/>
                    <a:lstStyle/>
                    <a:p>
                      <a:pPr marL="0" indent="0" lvl="0">
                        <a:buNone/>
                      </a:pPr>
                      <a:r>
                        <a:rPr sz="850" b="1">
                          <a:solidFill>
                            <a:srgbClr val="060606"/>
                          </a:solidFill>
                          <a:latin typeface="Helvetica"/>
                        </a:rPr>
                        <a:t>24</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Conformité</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Le FPPN adhère-t-il au FOMUS-CI, et quel montant a-t-il payé depuis 2022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29</a:t>
                      </a:r>
                    </a:p>
                  </a:txBody>
                  <a:tcPr marL="43200" marR="43200" marT="14400" marB="14400" anchor="ctr">
                    <a:solidFill>
                      <a:srgbClr val="FFFFFF"/>
                    </a:solidFill>
                  </a:tcPr>
                </a:tc>
                <a:tc>
                  <a:txBody>
                    <a:bodyPr/>
                    <a:lstStyle/>
                    <a:p>
                      <a:pPr marL="0" indent="0" lvl="0">
                        <a:buNone/>
                      </a:pPr>
                      <a:r>
                        <a:rPr sz="850" b="1">
                          <a:solidFill>
                            <a:srgbClr val="060606"/>
                          </a:solidFill>
                          <a:latin typeface="Helvetica"/>
                        </a:rPr>
                        <a:t>Moyen</a:t>
                      </a:r>
                    </a:p>
                  </a:txBody>
                  <a:tcPr marL="43200" marR="43200" marT="14400" marB="14400" anchor="ctr">
                    <a:solidFill>
                      <a:srgbClr val="EFAC62"/>
                    </a:solidFill>
                  </a:tcPr>
                </a:tc>
              </a:tr>
              <a:tr h="187148">
                <a:tc>
                  <a:txBody>
                    <a:bodyPr/>
                    <a:lstStyle/>
                    <a:p>
                      <a:pPr marL="0" indent="0" lvl="0">
                        <a:buNone/>
                      </a:pPr>
                      <a:r>
                        <a:rPr sz="850" b="1">
                          <a:solidFill>
                            <a:srgbClr val="060606"/>
                          </a:solidFill>
                          <a:latin typeface="Helvetica"/>
                        </a:rPr>
                        <a:t>25</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Conformité</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Une étude actuarielle des risques longs ou une certification des comptes a-t-elle été réalisée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3, 28</a:t>
                      </a:r>
                    </a:p>
                  </a:txBody>
                  <a:tcPr marL="43200" marR="43200" marT="14400" marB="14400" anchor="ctr">
                    <a:solidFill>
                      <a:srgbClr val="F2F2F2"/>
                    </a:solidFill>
                  </a:tcPr>
                </a:tc>
                <a:tc>
                  <a:txBody>
                    <a:bodyPr/>
                    <a:lstStyle/>
                    <a:p>
                      <a:pPr marL="0" indent="0" lvl="0">
                        <a:buNone/>
                      </a:pPr>
                      <a:r>
                        <a:rPr sz="850" b="1">
                          <a:solidFill>
                            <a:srgbClr val="060606"/>
                          </a:solidFill>
                          <a:latin typeface="Helvetica"/>
                        </a:rPr>
                        <a:t>Moyen</a:t>
                      </a:r>
                    </a:p>
                  </a:txBody>
                  <a:tcPr marL="43200" marR="43200" marT="14400" marB="14400" anchor="ctr">
                    <a:solidFill>
                      <a:srgbClr val="EFAC62"/>
                    </a:solidFill>
                  </a:tcPr>
                </a:tc>
              </a:tr>
              <a:tr h="187148">
                <a:tc>
                  <a:txBody>
                    <a:bodyPr/>
                    <a:lstStyle/>
                    <a:p>
                      <a:pPr marL="0" indent="0" lvl="0">
                        <a:buNone/>
                      </a:pPr>
                      <a:r>
                        <a:rPr sz="850" b="1">
                          <a:solidFill>
                            <a:srgbClr val="060606"/>
                          </a:solidFill>
                          <a:latin typeface="Helvetica"/>
                        </a:rPr>
                        <a:t>26</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Conformité</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Quel est l'effectif total de la Police nationale au 31/12 de 2020 à 2025 et au 31/08/2026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89</a:t>
                      </a:r>
                    </a:p>
                  </a:txBody>
                  <a:tcPr marL="43200" marR="43200" marT="14400" marB="14400" anchor="ctr">
                    <a:solidFill>
                      <a:srgbClr val="FFFFFF"/>
                    </a:solidFill>
                  </a:tcPr>
                </a:tc>
                <a:tc>
                  <a:txBody>
                    <a:bodyPr/>
                    <a:lstStyle/>
                    <a:p>
                      <a:pPr marL="0" indent="0" lvl="0">
                        <a:buNone/>
                      </a:pPr>
                      <a:r>
                        <a:rPr sz="850" b="1">
                          <a:solidFill>
                            <a:srgbClr val="060606"/>
                          </a:solidFill>
                          <a:latin typeface="Helvetica"/>
                        </a:rPr>
                        <a:t>Moyen</a:t>
                      </a:r>
                    </a:p>
                  </a:txBody>
                  <a:tcPr marL="43200" marR="43200" marT="14400" marB="14400" anchor="ctr">
                    <a:solidFill>
                      <a:srgbClr val="EFAC62"/>
                    </a:solidFill>
                  </a:tcPr>
                </a:tc>
              </a:tr>
            </a:tbl>
          </a:graphicData>
        </a:graphic>
      </p:graphicFrame>
      <p:graphicFrame>
        <p:nvGraphicFramePr>
          <p:cNvPr id="33" name="Table 32"/>
          <p:cNvGraphicFramePr>
            <a:graphicFrameLocks noGrp="1"/>
          </p:cNvGraphicFramePr>
          <p:nvPr/>
        </p:nvGraphicFramePr>
        <p:xfrm>
          <a:off x="503999" y="4779912"/>
          <a:ext cx="11232000" cy="151200"/>
        </p:xfrm>
        <a:graphic>
          <a:graphicData uri="http://schemas.openxmlformats.org/drawingml/2006/table">
            <a:tbl>
              <a:tblPr firstRow="0" bandRow="0">
                <a:tableStyleId>{5C22544A-7EE6-4342-B048-85BDC9FD1C3A}</a:tableStyleId>
              </a:tblPr>
              <a:tblGrid>
                <a:gridCol w="792000"/>
                <a:gridCol w="936000"/>
                <a:gridCol w="2544000"/>
                <a:gridCol w="936000"/>
                <a:gridCol w="2544000"/>
                <a:gridCol w="936000"/>
                <a:gridCol w="2544000"/>
              </a:tblGrid>
              <a:tr h="151200">
                <a:tc>
                  <a:txBody>
                    <a:bodyPr/>
                    <a:lstStyle/>
                    <a:p>
                      <a:r>
                        <a:rPr sz="700" b="1">
                          <a:solidFill>
                            <a:srgbClr val="060606"/>
                          </a:solidFill>
                          <a:latin typeface="Helvetica"/>
                        </a:rPr>
                        <a:t>Code couleur</a:t>
                      </a:r>
                    </a:p>
                  </a:txBody>
                  <a:tcPr marL="28800" marR="28800" marT="3600" marB="3600" anchor="ctr">
                    <a:solidFill>
                      <a:srgbClr val="FFFFFF"/>
                    </a:solidFill>
                  </a:tcPr>
                </a:tc>
                <a:tc>
                  <a:txBody>
                    <a:bodyPr/>
                    <a:lstStyle/>
                    <a:p>
                      <a:r>
                        <a:rPr sz="700" b="1">
                          <a:solidFill>
                            <a:srgbClr val="FFFFFF"/>
                          </a:solidFill>
                          <a:latin typeface="Helvetica"/>
                        </a:rPr>
                        <a:t>Urgent</a:t>
                      </a:r>
                    </a:p>
                  </a:txBody>
                  <a:tcPr marL="28800" marR="28800" marT="3600" marB="3600" anchor="ctr">
                    <a:solidFill>
                      <a:srgbClr val="C00000"/>
                    </a:solidFill>
                  </a:tcPr>
                </a:tc>
                <a:tc>
                  <a:txBody>
                    <a:bodyPr/>
                    <a:lstStyle/>
                    <a:p>
                      <a:r>
                        <a:rPr sz="700" b="0">
                          <a:solidFill>
                            <a:srgbClr val="060606"/>
                          </a:solidFill>
                          <a:latin typeface="Helvetica"/>
                        </a:rPr>
                        <a:t>à traiter en premier</a:t>
                      </a:r>
                    </a:p>
                  </a:txBody>
                  <a:tcPr marL="28800" marR="28800" marT="3600" marB="3600" anchor="ctr">
                    <a:solidFill>
                      <a:srgbClr val="FFFFFF"/>
                    </a:solidFill>
                  </a:tcPr>
                </a:tc>
                <a:tc>
                  <a:txBody>
                    <a:bodyPr/>
                    <a:lstStyle/>
                    <a:p>
                      <a:r>
                        <a:rPr sz="700" b="1">
                          <a:solidFill>
                            <a:srgbClr val="060606"/>
                          </a:solidFill>
                          <a:latin typeface="Helvetica"/>
                        </a:rPr>
                        <a:t>Moyenne</a:t>
                      </a:r>
                    </a:p>
                  </a:txBody>
                  <a:tcPr marL="28800" marR="28800" marT="3600" marB="3600" anchor="ctr">
                    <a:solidFill>
                      <a:srgbClr val="EFAC62"/>
                    </a:solidFill>
                  </a:tcPr>
                </a:tc>
                <a:tc>
                  <a:txBody>
                    <a:bodyPr/>
                    <a:lstStyle/>
                    <a:p>
                      <a:r>
                        <a:rPr sz="700" b="0">
                          <a:solidFill>
                            <a:srgbClr val="060606"/>
                          </a:solidFill>
                          <a:latin typeface="Helvetica"/>
                        </a:rPr>
                        <a:t>à traiter ensuite</a:t>
                      </a:r>
                    </a:p>
                  </a:txBody>
                  <a:tcPr marL="28800" marR="28800" marT="3600" marB="3600" anchor="ctr">
                    <a:solidFill>
                      <a:srgbClr val="FFFFFF"/>
                    </a:solidFill>
                  </a:tcPr>
                </a:tc>
                <a:tc>
                  <a:txBody>
                    <a:bodyPr/>
                    <a:lstStyle/>
                    <a:p>
                      <a:r>
                        <a:rPr sz="700" b="1">
                          <a:solidFill>
                            <a:srgbClr val="060606"/>
                          </a:solidFill>
                          <a:latin typeface="Helvetica"/>
                        </a:rPr>
                        <a:t>Faible</a:t>
                      </a:r>
                    </a:p>
                  </a:txBody>
                  <a:tcPr marL="28800" marR="28800" marT="3600" marB="3600" anchor="ctr">
                    <a:solidFill>
                      <a:srgbClr val="70AD47"/>
                    </a:solidFill>
                  </a:tcPr>
                </a:tc>
                <a:tc>
                  <a:txBody>
                    <a:bodyPr/>
                    <a:lstStyle/>
                    <a:p>
                      <a:r>
                        <a:rPr sz="700" b="0">
                          <a:solidFill>
                            <a:srgbClr val="060606"/>
                          </a:solidFill>
                          <a:latin typeface="Helvetica"/>
                        </a:rPr>
                        <a:t>à traiter en dernier</a:t>
                      </a:r>
                    </a:p>
                  </a:txBody>
                  <a:tcPr marL="28800" marR="28800" marT="3600" marB="3600" anchor="ctr">
                    <a:solidFill>
                      <a:srgbClr val="FFFFFF"/>
                    </a:solidFill>
                  </a:tcPr>
                </a:tc>
              </a:tr>
            </a:tbl>
          </a:graphicData>
        </a:graphic>
      </p:graphicFrame>
      <p:sp>
        <p:nvSpPr>
          <p:cNvPr id="34" name="TextBox 33"/>
          <p:cNvSpPr txBox="1"/>
          <p:nvPr/>
        </p:nvSpPr>
        <p:spPr>
          <a:xfrm>
            <a:off x="503999" y="5039112"/>
            <a:ext cx="11232000" cy="162000"/>
          </a:xfrm>
          <a:prstGeom prst="rect">
            <a:avLst/>
          </a:prstGeom>
          <a:noFill/>
        </p:spPr>
        <p:txBody>
          <a:bodyPr wrap="square" anchor="t" lIns="54000" rIns="54000"/>
          <a:lstStyle/>
          <a:p>
            <a:pPr algn="l"/>
            <a:r>
              <a:rPr sz="850" b="0">
                <a:solidFill>
                  <a:srgbClr val="53565A"/>
                </a:solidFill>
                <a:latin typeface="Helvetica"/>
              </a:rPr>
              <a:t>Valable pour : questions ouvertes au 23/10/2026.</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Sigles : FPPN : Fonds de prévoyance de la Police nationale | AIRMS : Agence ivoirienne de régulation de la mutualité sociale | PBC : liste des documents demandés au client | FOMUS-CI : fonds de garantie des mutuelles sociales de Côte d'Ivoire | GNA : assureur de la flotte automobile (compte 47111106) | MEDOC : produit santé complémentaire du poste 8Z7</a:t>
            </a:r>
          </a:p>
        </p:txBody>
      </p:sp>
    </p:spTree>
    <p:extLst>
      <p:ext uri="{BB962C8B-B14F-4D97-AF65-F5344CB8AC3E}">
        <p14:creationId xmlns:p14="http://schemas.microsoft.com/office/powerpoint/2010/main" val="3132470252"/>
      </p:ext>
    </p:extLst>
  </p:cSld>
  <p:clrMapOvr>
    <a:masterClrMapping/>
  </p:clrMapOvr>
  <p:transition>
    <p:fade/>
  </p:transition>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Google Shape;8651;p70"/>
          <p:cNvSpPr/>
          <p:nvPr/>
        </p:nvSpPr>
        <p:spPr>
          <a:xfrm>
            <a:off x="2013108" y="2588204"/>
            <a:ext cx="1380332" cy="1428252"/>
          </a:xfrm>
          <a:custGeom>
            <a:avLst/>
            <a:gdLst/>
            <a:ahLst/>
            <a:cxnLst/>
            <a:rect l="l" t="t" r="r" b="b"/>
            <a:pathLst>
              <a:path w="8670" h="8971" extrusionOk="0">
                <a:moveTo>
                  <a:pt x="7105" y="1302"/>
                </a:moveTo>
                <a:cubicBezTo>
                  <a:pt x="7105" y="1315"/>
                  <a:pt x="7105" y="1328"/>
                  <a:pt x="7105" y="1341"/>
                </a:cubicBezTo>
                <a:cubicBezTo>
                  <a:pt x="7118" y="1980"/>
                  <a:pt x="7183" y="2619"/>
                  <a:pt x="7183" y="3283"/>
                </a:cubicBezTo>
                <a:cubicBezTo>
                  <a:pt x="7170" y="4404"/>
                  <a:pt x="7183" y="5525"/>
                  <a:pt x="7222" y="6646"/>
                </a:cubicBezTo>
                <a:cubicBezTo>
                  <a:pt x="7235" y="6959"/>
                  <a:pt x="7222" y="7259"/>
                  <a:pt x="7222" y="7559"/>
                </a:cubicBezTo>
                <a:lnTo>
                  <a:pt x="7222" y="7585"/>
                </a:lnTo>
                <a:cubicBezTo>
                  <a:pt x="6935" y="7598"/>
                  <a:pt x="6649" y="7611"/>
                  <a:pt x="6362" y="7611"/>
                </a:cubicBezTo>
                <a:cubicBezTo>
                  <a:pt x="6101" y="7598"/>
                  <a:pt x="5853" y="7585"/>
                  <a:pt x="5593" y="7585"/>
                </a:cubicBezTo>
                <a:cubicBezTo>
                  <a:pt x="4159" y="7559"/>
                  <a:pt x="2712" y="7559"/>
                  <a:pt x="1291" y="7442"/>
                </a:cubicBezTo>
                <a:cubicBezTo>
                  <a:pt x="1278" y="7207"/>
                  <a:pt x="1239" y="6959"/>
                  <a:pt x="1226" y="6725"/>
                </a:cubicBezTo>
                <a:cubicBezTo>
                  <a:pt x="1200" y="6255"/>
                  <a:pt x="1187" y="5799"/>
                  <a:pt x="1200" y="5330"/>
                </a:cubicBezTo>
                <a:cubicBezTo>
                  <a:pt x="1213" y="4222"/>
                  <a:pt x="1226" y="3101"/>
                  <a:pt x="1343" y="1993"/>
                </a:cubicBezTo>
                <a:lnTo>
                  <a:pt x="1552" y="1993"/>
                </a:lnTo>
                <a:cubicBezTo>
                  <a:pt x="2138" y="1980"/>
                  <a:pt x="2725" y="1889"/>
                  <a:pt x="3312" y="1810"/>
                </a:cubicBezTo>
                <a:cubicBezTo>
                  <a:pt x="4576" y="1641"/>
                  <a:pt x="5840" y="1524"/>
                  <a:pt x="7105" y="1302"/>
                </a:cubicBezTo>
                <a:close/>
                <a:moveTo>
                  <a:pt x="7529" y="1"/>
                </a:moveTo>
                <a:cubicBezTo>
                  <a:pt x="7291" y="1"/>
                  <a:pt x="7059" y="53"/>
                  <a:pt x="6818" y="64"/>
                </a:cubicBezTo>
                <a:cubicBezTo>
                  <a:pt x="6375" y="103"/>
                  <a:pt x="5932" y="142"/>
                  <a:pt x="5488" y="194"/>
                </a:cubicBezTo>
                <a:cubicBezTo>
                  <a:pt x="4824" y="259"/>
                  <a:pt x="4107" y="350"/>
                  <a:pt x="3429" y="389"/>
                </a:cubicBezTo>
                <a:cubicBezTo>
                  <a:pt x="2686" y="429"/>
                  <a:pt x="1943" y="481"/>
                  <a:pt x="1213" y="598"/>
                </a:cubicBezTo>
                <a:cubicBezTo>
                  <a:pt x="913" y="624"/>
                  <a:pt x="652" y="728"/>
                  <a:pt x="509" y="976"/>
                </a:cubicBezTo>
                <a:cubicBezTo>
                  <a:pt x="470" y="1028"/>
                  <a:pt x="444" y="1080"/>
                  <a:pt x="431" y="1146"/>
                </a:cubicBezTo>
                <a:cubicBezTo>
                  <a:pt x="300" y="1524"/>
                  <a:pt x="287" y="1928"/>
                  <a:pt x="300" y="2332"/>
                </a:cubicBezTo>
                <a:cubicBezTo>
                  <a:pt x="209" y="3010"/>
                  <a:pt x="209" y="3700"/>
                  <a:pt x="209" y="4378"/>
                </a:cubicBezTo>
                <a:cubicBezTo>
                  <a:pt x="170" y="4769"/>
                  <a:pt x="144" y="5173"/>
                  <a:pt x="131" y="5565"/>
                </a:cubicBezTo>
                <a:cubicBezTo>
                  <a:pt x="105" y="6203"/>
                  <a:pt x="14" y="6842"/>
                  <a:pt x="14" y="7481"/>
                </a:cubicBezTo>
                <a:cubicBezTo>
                  <a:pt x="1" y="7911"/>
                  <a:pt x="157" y="8315"/>
                  <a:pt x="613" y="8419"/>
                </a:cubicBezTo>
                <a:cubicBezTo>
                  <a:pt x="1056" y="8550"/>
                  <a:pt x="1526" y="8524"/>
                  <a:pt x="1982" y="8550"/>
                </a:cubicBezTo>
                <a:cubicBezTo>
                  <a:pt x="2243" y="8563"/>
                  <a:pt x="2503" y="8589"/>
                  <a:pt x="2764" y="8615"/>
                </a:cubicBezTo>
                <a:cubicBezTo>
                  <a:pt x="3885" y="8745"/>
                  <a:pt x="5006" y="8902"/>
                  <a:pt x="6140" y="8941"/>
                </a:cubicBezTo>
                <a:cubicBezTo>
                  <a:pt x="6220" y="8945"/>
                  <a:pt x="6302" y="8946"/>
                  <a:pt x="6383" y="8946"/>
                </a:cubicBezTo>
                <a:cubicBezTo>
                  <a:pt x="6581" y="8946"/>
                  <a:pt x="6781" y="8937"/>
                  <a:pt x="6974" y="8928"/>
                </a:cubicBezTo>
                <a:cubicBezTo>
                  <a:pt x="7118" y="8941"/>
                  <a:pt x="7274" y="8941"/>
                  <a:pt x="7418" y="8941"/>
                </a:cubicBezTo>
                <a:cubicBezTo>
                  <a:pt x="7568" y="8956"/>
                  <a:pt x="7723" y="8971"/>
                  <a:pt x="7877" y="8971"/>
                </a:cubicBezTo>
                <a:cubicBezTo>
                  <a:pt x="7990" y="8971"/>
                  <a:pt x="8103" y="8963"/>
                  <a:pt x="8213" y="8941"/>
                </a:cubicBezTo>
                <a:cubicBezTo>
                  <a:pt x="8643" y="8810"/>
                  <a:pt x="8565" y="8093"/>
                  <a:pt x="8604" y="7741"/>
                </a:cubicBezTo>
                <a:cubicBezTo>
                  <a:pt x="8669" y="6620"/>
                  <a:pt x="8539" y="5499"/>
                  <a:pt x="8487" y="4378"/>
                </a:cubicBezTo>
                <a:cubicBezTo>
                  <a:pt x="8434" y="3453"/>
                  <a:pt x="8330" y="2527"/>
                  <a:pt x="8252" y="1589"/>
                </a:cubicBezTo>
                <a:cubicBezTo>
                  <a:pt x="8200" y="1341"/>
                  <a:pt x="8239" y="637"/>
                  <a:pt x="8096" y="350"/>
                </a:cubicBezTo>
                <a:lnTo>
                  <a:pt x="8082" y="350"/>
                </a:lnTo>
                <a:cubicBezTo>
                  <a:pt x="8056" y="181"/>
                  <a:pt x="7952" y="51"/>
                  <a:pt x="7704" y="11"/>
                </a:cubicBezTo>
                <a:cubicBezTo>
                  <a:pt x="7645" y="4"/>
                  <a:pt x="7587" y="1"/>
                  <a:pt x="7529" y="1"/>
                </a:cubicBezTo>
                <a:close/>
              </a:path>
            </a:pathLst>
          </a:custGeom>
          <a:solidFill>
            <a:schemeClr val="bg1"/>
          </a:solidFill>
          <a:ln w="76200">
            <a:solidFill>
              <a:schemeClr val="tx1"/>
            </a:solid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5" name="Rectangle 24">
            <a:extLst>
              <a:ext uri="{FF2B5EF4-FFF2-40B4-BE49-F238E27FC236}">
                <a16:creationId xmlns:a16="http://schemas.microsoft.com/office/drawing/2014/main" id="{9B9B23AA-050D-4543-80A0-873FE31AFFF7}"/>
              </a:ext>
            </a:extLst>
          </p:cNvPr>
          <p:cNvSpPr/>
          <p:nvPr/>
        </p:nvSpPr>
        <p:spPr>
          <a:xfrm>
            <a:off x="2446471" y="2869098"/>
            <a:ext cx="513606" cy="936923"/>
          </a:xfrm>
          <a:prstGeom prst="rect">
            <a:avLst/>
          </a:prstGeom>
        </p:spPr>
        <p:txBody>
          <a:bodyPr wrap="square" lIns="0" tIns="0" rIns="0" bIns="0">
            <a:spAutoFit/>
          </a:bodyPr>
          <a:lstStyle/>
          <a:p>
            <a:pPr lvl="0">
              <a:lnSpc>
                <a:spcPct val="110000"/>
              </a:lnSpc>
            </a:pPr>
            <a:r>
              <a:rPr lang="fr-CI" sz="60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A</a:t>
            </a:r>
          </a:p>
        </p:txBody>
      </p:sp>
      <p:sp>
        <p:nvSpPr>
          <p:cNvPr id="10" name="Rectangle 9"/>
          <p:cNvSpPr/>
          <p:nvPr/>
        </p:nvSpPr>
        <p:spPr>
          <a:xfrm>
            <a:off x="3938554" y="2462184"/>
            <a:ext cx="3816000" cy="1200329"/>
          </a:xfrm>
          <a:prstGeom prst="rect">
            <a:avLst/>
          </a:prstGeom>
        </p:spPr>
        <p:txBody>
          <a:bodyPr wrap="square">
            <a:spAutoFit/>
          </a:bodyPr>
          <a:lstStyle/>
          <a:p>
            <a:r>
              <a:rPr lang="fr-CI" sz="3600" b="1" noProof="0">
                <a:solidFill>
                  <a:schemeClr val="bg1"/>
                </a:solidFill>
                <a:latin typeface="Helvetica" panose="020B0604020202020204" pitchFamily="34" charset="0"/>
                <a:cs typeface="Helvetica" panose="020B0604020202020204" pitchFamily="34" charset="0"/>
              </a:rPr>
              <a:t>Annexes</a:t>
            </a:r>
          </a:p>
        </p:txBody>
      </p:sp>
      <p:pic>
        <p:nvPicPr>
          <p:cNvPr id="9" name="Image 8">
            <a:extLst>
              <a:ext uri="{FF2B5EF4-FFF2-40B4-BE49-F238E27FC236}">
                <a16:creationId xmlns:a16="http://schemas.microsoft.com/office/drawing/2014/main" id="{2C356854-0685-DCEF-E2F6-65D5E9653A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1274" y="-185107"/>
            <a:ext cx="3179518" cy="1268781"/>
          </a:xfrm>
          <a:prstGeom prst="rect">
            <a:avLst/>
          </a:prstGeom>
        </p:spPr>
      </p:pic>
      <p:sp>
        <p:nvSpPr>
          <p:cNvPr id="6" name="Rectangle 5"/>
          <p:cNvSpPr/>
          <p:nvPr/>
        </p:nvSpPr>
        <p:spPr>
          <a:xfrm>
            <a:off x="3938554" y="3337559"/>
            <a:ext cx="3816000" cy="923330"/>
          </a:xfrm>
          <a:prstGeom prst="rect">
            <a:avLst/>
          </a:prstGeom>
        </p:spPr>
        <p:txBody>
          <a:bodyPr wrap="square">
            <a:spAutoFit/>
          </a:bodyPr>
          <a:lstStyle/>
          <a:p>
            <a:br>
              <a:rPr lang="fr-CI" noProof="0">
                <a:solidFill>
                  <a:schemeClr val="bg1"/>
                </a:solidFill>
              </a:rPr>
            </a:br>
            <a:r>
              <a:rPr lang="fr-CI" noProof="0">
                <a:solidFill>
                  <a:srgbClr val="EFAC62"/>
                </a:solidFill>
                <a:latin typeface="Helvetica" panose="020B0604020202020204" pitchFamily="34" charset="0"/>
                <a:ea typeface="Open Sans Light" panose="020B0306030504020204" pitchFamily="34" charset="0"/>
                <a:cs typeface="Helvetica" panose="020B0604020202020204" pitchFamily="34" charset="0"/>
              </a:rPr>
              <a:t>Méthodes non retenues, validité, listes, abréviations, références</a:t>
            </a:r>
          </a:p>
        </p:txBody>
      </p:sp>
      <p:pic>
        <p:nvPicPr>
          <p:cNvPr id="11" name="Imag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5561" y="2415481"/>
            <a:ext cx="1566911" cy="1600975"/>
          </a:xfrm>
          <a:prstGeom prst="rect">
            <a:avLst/>
          </a:prstGeom>
        </p:spPr>
      </p:pic>
    </p:spTree>
    <p:extLst>
      <p:ext uri="{BB962C8B-B14F-4D97-AF65-F5344CB8AC3E}">
        <p14:creationId xmlns:p14="http://schemas.microsoft.com/office/powerpoint/2010/main" val="182583100"/>
      </p:ext>
    </p:extLst>
  </p:cSld>
  <p:clrMapOvr>
    <a:masterClrMapping/>
  </p:clrMapOvr>
  <p:transition>
    <p:fade/>
  </p:transition>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Méthodes non retenues : vue d'ensemble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Sept méthodes courantes ne sont pas appliquées : leurs conditions d'emploi ne sont pas remplies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Appliquer une méthode hors de ses conditions d'emploi produirait des chiffres précis en apparence et faux en réalité</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Adenka, d'après les références citées dans chaque diapositive</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115 : Méthodes non retenues et méthodes appliquées à la place</a:t>
            </a:r>
          </a:p>
        </p:txBody>
      </p:sp>
      <p:graphicFrame>
        <p:nvGraphicFramePr>
          <p:cNvPr id="32" name="Table 31"/>
          <p:cNvGraphicFramePr>
            <a:graphicFrameLocks noGrp="1"/>
          </p:cNvGraphicFramePr>
          <p:nvPr/>
        </p:nvGraphicFramePr>
        <p:xfrm>
          <a:off x="503999" y="1655999"/>
          <a:ext cx="11232000" cy="1885828"/>
        </p:xfrm>
        <a:graphic>
          <a:graphicData uri="http://schemas.openxmlformats.org/drawingml/2006/table">
            <a:tbl>
              <a:tblPr firstRow="0" bandRow="0">
                <a:tableStyleId>{5940675A-B579-460E-94D1-54222C63F5DA}</a:tableStyleId>
              </a:tblPr>
              <a:tblGrid>
                <a:gridCol w="2304000"/>
                <a:gridCol w="3960000"/>
                <a:gridCol w="3240000"/>
                <a:gridCol w="1728000"/>
              </a:tblGrid>
              <a:tr h="187148">
                <a:tc>
                  <a:txBody>
                    <a:bodyPr/>
                    <a:lstStyle/>
                    <a:p>
                      <a:pPr marL="0" indent="0" lvl="0">
                        <a:buNone/>
                      </a:pPr>
                      <a:r>
                        <a:rPr sz="850" b="1">
                          <a:solidFill>
                            <a:srgbClr val="FFFFFF"/>
                          </a:solidFill>
                          <a:latin typeface="Helvetica"/>
                        </a:rPr>
                        <a:t>Méthode non retenue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Condition principale non remplie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Méthode appliquée à la place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Détail</a:t>
                      </a:r>
                    </a:p>
                  </a:txBody>
                  <a:tcPr marL="43200" marR="43200" marT="14400" marB="14400" anchor="ctr">
                    <a:solidFill>
                      <a:srgbClr val="060606"/>
                    </a:solidFill>
                  </a:tcPr>
                </a:tc>
              </a:tr>
              <a:tr h="316696">
                <a:tc>
                  <a:txBody>
                    <a:bodyPr/>
                    <a:lstStyle/>
                    <a:p>
                      <a:pPr marL="0" indent="0" lvl="0">
                        <a:buNone/>
                      </a:pPr>
                      <a:r>
                        <a:rPr sz="850" b="1">
                          <a:solidFill>
                            <a:srgbClr val="060606"/>
                          </a:solidFill>
                          <a:latin typeface="Helvetica"/>
                        </a:rPr>
                        <a:t>Chain Ladder et méthode CIMA des tardifs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Des paiements étalés sur plusieurs années de développement</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Méthode courte sur les factures en retard</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diapositive 233</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Mortalité observée par âge (A/E)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La date de naissance de chaque mutualiste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Taux brut de mortalité</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diapositive 234</a:t>
                      </a:r>
                    </a:p>
                  </a:txBody>
                  <a:tcPr marL="43200" marR="43200" marT="14400" marB="14400" anchor="ctr">
                    <a:solidFill>
                      <a:srgbClr val="F2F2F2"/>
                    </a:solidFill>
                  </a:tcPr>
                </a:tc>
              </a:tr>
              <a:tr h="316696">
                <a:tc>
                  <a:txBody>
                    <a:bodyPr/>
                    <a:lstStyle/>
                    <a:p>
                      <a:pPr marL="0" indent="0" lvl="0">
                        <a:buNone/>
                      </a:pPr>
                      <a:r>
                        <a:rPr sz="850" b="1">
                          <a:solidFill>
                            <a:srgbClr val="060606"/>
                          </a:solidFill>
                          <a:latin typeface="Helvetica"/>
                        </a:rPr>
                        <a:t>Provision mathématique santé des retraités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L'âge et le coût des soins de chaque retraité</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Description des cotisations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diapositive 235</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Duration et immunisation</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Des flux de passif connus et des actifs à revenu fixe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Écarts de liquidité</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diapositive 236</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Modèle actif-passif stochastique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Des contrats décrits par âge et des scénarios économiques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Tests de résistance calibrés sur le FPPN</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diapositive 237</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Valeur en risque (VaR)</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Des actifs évalués au prix du marché</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Classes de liquidité</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diapositive 238</a:t>
                      </a:r>
                    </a:p>
                  </a:txBody>
                  <a:tcPr marL="43200" marR="43200" marT="14400" marB="14400" anchor="ctr">
                    <a:solidFill>
                      <a:srgbClr val="F2F2F2"/>
                    </a:solidFill>
                  </a:tcPr>
                </a:tc>
              </a:tr>
              <a:tr h="316696">
                <a:tc>
                  <a:txBody>
                    <a:bodyPr/>
                    <a:lstStyle/>
                    <a:p>
                      <a:pPr marL="0" indent="0" lvl="0">
                        <a:buNone/>
                      </a:pPr>
                      <a:r>
                        <a:rPr sz="850" b="1">
                          <a:solidFill>
                            <a:srgbClr val="060606"/>
                          </a:solidFill>
                          <a:latin typeface="Helvetica"/>
                        </a:rPr>
                        <a:t>Capital de solvabilité de type Solvabilité II</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Un cadre réglementaire qui l'impose et des engagements en meilleure estimation</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Marge de solvabilité de la Décision n° 05/2022</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diapositive 239</a:t>
                      </a:r>
                    </a:p>
                  </a:txBody>
                  <a:tcPr marL="43200" marR="43200" marT="14400" marB="14400" anchor="ctr">
                    <a:solidFill>
                      <a:srgbClr val="FFFFFF"/>
                    </a:solidFill>
                  </a:tcPr>
                </a:tc>
              </a:tr>
            </a:tbl>
          </a:graphicData>
        </a:graphic>
      </p:graphicFrame>
      <p:sp>
        <p:nvSpPr>
          <p:cNvPr id="33" name="TextBox 32"/>
          <p:cNvSpPr txBox="1"/>
          <p:nvPr/>
        </p:nvSpPr>
        <p:spPr>
          <a:xfrm>
            <a:off x="503999" y="3649829"/>
            <a:ext cx="11232000" cy="162000"/>
          </a:xfrm>
          <a:prstGeom prst="rect">
            <a:avLst/>
          </a:prstGeom>
          <a:noFill/>
        </p:spPr>
        <p:txBody>
          <a:bodyPr wrap="square" anchor="t" lIns="54000" rIns="54000"/>
          <a:lstStyle/>
          <a:p>
            <a:pPr algn="l"/>
            <a:r>
              <a:rPr sz="850" b="0">
                <a:solidFill>
                  <a:srgbClr val="53565A"/>
                </a:solidFill>
                <a:latin typeface="Helvetica"/>
              </a:rPr>
              <a:t>Valable pour : données reçues jusqu'au 22/10/2026.</a:t>
            </a:r>
          </a:p>
        </p:txBody>
      </p:sp>
      <p:sp>
        <p:nvSpPr>
          <p:cNvPr id="34" name="TextBox 33"/>
          <p:cNvSpPr txBox="1"/>
          <p:nvPr/>
        </p:nvSpPr>
        <p:spPr>
          <a:xfrm>
            <a:off x="503999" y="3955829"/>
            <a:ext cx="11232000" cy="1912170"/>
          </a:xfrm>
          <a:prstGeom prst="rect">
            <a:avLst/>
          </a:prstGeom>
          <a:noFill/>
        </p:spPr>
        <p:txBody>
          <a:bodyPr wrap="square" lIns="54000" rIns="54000"/>
          <a:lstStyle/>
          <a:p>
            <a:pPr algn="just">
              <a:spcAft>
                <a:spcPts val="600"/>
              </a:spcAft>
            </a:pPr>
            <a:r>
              <a:rPr sz="1300" b="1">
                <a:solidFill>
                  <a:srgbClr val="060606"/>
                </a:solidFill>
                <a:latin typeface="Helvetica"/>
              </a:rPr>
              <a:t>Une même cause revient : l'absence de données individuelles (âges, dates de soins, comptes d'épargne).</a:t>
            </a:r>
            <a:r>
              <a:rPr sz="1300" b="0">
                <a:solidFill>
                  <a:srgbClr val="060606"/>
                </a:solidFill>
                <a:latin typeface="Helvetica"/>
              </a:rPr>
              <a:t> Les méthodes retenues exploitent au mieux les données agrégées reçues.</a:t>
            </a:r>
          </a:p>
          <a:p>
            <a:pPr algn="just">
              <a:spcAft>
                <a:spcPts val="600"/>
              </a:spcAft>
            </a:pPr>
            <a:r>
              <a:rPr sz="1300" b="0">
                <a:solidFill>
                  <a:srgbClr val="060606"/>
                </a:solidFill>
                <a:latin typeface="Helvetica"/>
              </a:rPr>
              <a:t>Chaque méthode non retenue pourra être appliquée dès réception des données citées dans sa diapositive.</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CIMA : Conférence interafricaine des marchés d'assurances | A/E : décès observés / décès attendus</a:t>
            </a:r>
          </a:p>
        </p:txBody>
      </p:sp>
    </p:spTree>
    <p:extLst>
      <p:ext uri="{BB962C8B-B14F-4D97-AF65-F5344CB8AC3E}">
        <p14:creationId xmlns:p14="http://schemas.microsoft.com/office/powerpoint/2010/main" val="1739413908"/>
      </p:ext>
    </p:extLst>
  </p:cSld>
  <p:clrMapOvr>
    <a:masterClrMapping/>
  </p:clrMapOvr>
  <p:transition>
    <p:fade/>
  </p:transition>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Méthode non retenue : Chain Ladder et méthode CIMA</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factures se règlent en quelques mois : un triangle annuel n'aurait qu'une seule colonne utile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Moins de 0,89 % des factures d'une année sont enregistrées l'année suivante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circulaire n° 00230/CIMA/CRCA/PDT/2005. Règlement d'exécution n° 004/2022/COM/UEMOA du 1er juin 2022, art. 10. Règlement intérieur du FPPN édité le 15/06/2023. Grands livres des tiers 2023 à 2025 (« GRAND LIVRE DES TIERS FPPN 2023.xlsx » et suivants)</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116 : Conditions d'emploi de la méthode et données du FPPN</a:t>
            </a:r>
          </a:p>
        </p:txBody>
      </p:sp>
      <p:graphicFrame>
        <p:nvGraphicFramePr>
          <p:cNvPr id="32" name="Table 31"/>
          <p:cNvGraphicFramePr>
            <a:graphicFrameLocks noGrp="1"/>
          </p:cNvGraphicFramePr>
          <p:nvPr/>
        </p:nvGraphicFramePr>
        <p:xfrm>
          <a:off x="503999" y="1655999"/>
          <a:ext cx="11232000" cy="1385820"/>
        </p:xfrm>
        <a:graphic>
          <a:graphicData uri="http://schemas.openxmlformats.org/drawingml/2006/table">
            <a:tbl>
              <a:tblPr firstRow="0" bandRow="0">
                <a:tableStyleId>{5940675A-B579-460E-94D1-54222C63F5DA}</a:tableStyleId>
              </a:tblPr>
              <a:tblGrid>
                <a:gridCol w="2160000"/>
                <a:gridCol w="2664000"/>
                <a:gridCol w="5112000"/>
                <a:gridCol w="1296000"/>
              </a:tblGrid>
              <a:tr h="180000">
                <a:tc>
                  <a:txBody>
                    <a:bodyPr/>
                    <a:lstStyle/>
                    <a:p>
                      <a:pPr marL="0" indent="0" lvl="0">
                        <a:buNone/>
                      </a:pPr>
                      <a:r>
                        <a:rPr sz="800" b="1">
                          <a:solidFill>
                            <a:srgbClr val="FFFFFF"/>
                          </a:solidFill>
                          <a:latin typeface="Helvetica"/>
                        </a:rPr>
                        <a:t>Condition d'emploi</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Source de la condition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Ce que montrent les données du FPPN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Remplie ?</a:t>
                      </a:r>
                    </a:p>
                  </a:txBody>
                  <a:tcPr marL="43200" marR="43200" marT="14400" marB="14400" anchor="ctr">
                    <a:solidFill>
                      <a:srgbClr val="060606"/>
                    </a:solidFill>
                  </a:tcPr>
                </a:tc>
              </a:tr>
              <a:tr h="301455">
                <a:tc>
                  <a:txBody>
                    <a:bodyPr/>
                    <a:lstStyle/>
                    <a:p>
                      <a:pPr marL="0" indent="0" lvl="0">
                        <a:buNone/>
                      </a:pPr>
                      <a:r>
                        <a:rPr sz="800" b="1">
                          <a:solidFill>
                            <a:srgbClr val="060606"/>
                          </a:solidFill>
                          <a:latin typeface="Helvetica"/>
                        </a:rPr>
                        <a:t>Paiements étalés sur plusieurs années de développement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circulaire n° 00230/CIMA/CRCA/PDT/2005 (cadences sur quatre années de survenance)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Part des factures enregistrées l'année suivante : 0,89 %, 0,21 %, 0,14 % (clôtures 2022, 2023, 2024)</a:t>
                      </a:r>
                    </a:p>
                  </a:txBody>
                  <a:tcPr marL="43200" marR="43200" marT="14400" marB="14400" anchor="ctr">
                    <a:solidFill>
                      <a:srgbClr val="FFFFFF"/>
                    </a:solidFill>
                  </a:tcPr>
                </a:tc>
                <a:tc>
                  <a:txBody>
                    <a:bodyPr/>
                    <a:lstStyle/>
                    <a:p>
                      <a:pPr marL="0" indent="0" lvl="0">
                        <a:buNone/>
                      </a:pPr>
                      <a:r>
                        <a:rPr sz="800" b="1">
                          <a:solidFill>
                            <a:srgbClr val="FFFFFF"/>
                          </a:solidFill>
                          <a:latin typeface="Helvetica"/>
                        </a:rPr>
                        <a:t>Non</a:t>
                      </a:r>
                    </a:p>
                  </a:txBody>
                  <a:tcPr marL="43200" marR="43200" marT="14400" marB="14400" anchor="ctr">
                    <a:solidFill>
                      <a:srgbClr val="C00000"/>
                    </a:solidFill>
                  </a:tcPr>
                </a:tc>
              </a:tr>
              <a:tr h="301455">
                <a:tc>
                  <a:txBody>
                    <a:bodyPr/>
                    <a:lstStyle/>
                    <a:p>
                      <a:pPr marL="0" indent="0" lvl="0">
                        <a:buNone/>
                      </a:pPr>
                      <a:r>
                        <a:rPr sz="800" b="1">
                          <a:solidFill>
                            <a:srgbClr val="060606"/>
                          </a:solidFill>
                          <a:latin typeface="Helvetica"/>
                        </a:rPr>
                        <a:t>Rythme de règlement stable d'une année à l'autre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Hypothèse de base de Chain Ladder</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Délai moyen de paiement des cliniques : 53 mois en 2020, 102 en 2021, 2,62 en 2025 : le rythme a changé de nature</a:t>
                      </a:r>
                    </a:p>
                  </a:txBody>
                  <a:tcPr marL="43200" marR="43200" marT="14400" marB="14400" anchor="ctr">
                    <a:solidFill>
                      <a:srgbClr val="F2F2F2"/>
                    </a:solidFill>
                  </a:tcPr>
                </a:tc>
                <a:tc>
                  <a:txBody>
                    <a:bodyPr/>
                    <a:lstStyle/>
                    <a:p>
                      <a:pPr marL="0" indent="0" lvl="0">
                        <a:buNone/>
                      </a:pPr>
                      <a:r>
                        <a:rPr sz="800" b="1">
                          <a:solidFill>
                            <a:srgbClr val="FFFFFF"/>
                          </a:solidFill>
                          <a:latin typeface="Helvetica"/>
                        </a:rPr>
                        <a:t>Non</a:t>
                      </a:r>
                    </a:p>
                  </a:txBody>
                  <a:tcPr marL="43200" marR="43200" marT="14400" marB="14400" anchor="ctr">
                    <a:solidFill>
                      <a:srgbClr val="C00000"/>
                    </a:solidFill>
                  </a:tcPr>
                </a:tc>
              </a:tr>
              <a:tr h="301455">
                <a:tc>
                  <a:txBody>
                    <a:bodyPr/>
                    <a:lstStyle/>
                    <a:p>
                      <a:pPr marL="0" indent="0" lvl="0">
                        <a:buNone/>
                      </a:pPr>
                      <a:r>
                        <a:rPr sz="800" b="1">
                          <a:solidFill>
                            <a:srgbClr val="060606"/>
                          </a:solidFill>
                          <a:latin typeface="Helvetica"/>
                        </a:rPr>
                        <a:t>Base des prestations datée (soins, dépôt, paiement)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règlement d'exécution n° 004/2022/COM/UEMOA du 1er juin 2022, art. 10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reçue (PBC, item 47). Seule l'année de la facture est lisible dans son numéro</a:t>
                      </a:r>
                    </a:p>
                  </a:txBody>
                  <a:tcPr marL="43200" marR="43200" marT="14400" marB="14400" anchor="ctr">
                    <a:solidFill>
                      <a:srgbClr val="FFFFFF"/>
                    </a:solidFill>
                  </a:tcPr>
                </a:tc>
                <a:tc>
                  <a:txBody>
                    <a:bodyPr/>
                    <a:lstStyle/>
                    <a:p>
                      <a:pPr marL="0" indent="0" lvl="0">
                        <a:buNone/>
                      </a:pPr>
                      <a:r>
                        <a:rPr sz="800" b="1">
                          <a:solidFill>
                            <a:srgbClr val="FFFFFF"/>
                          </a:solidFill>
                          <a:latin typeface="Helvetica"/>
                        </a:rPr>
                        <a:t>Non</a:t>
                      </a:r>
                    </a:p>
                  </a:txBody>
                  <a:tcPr marL="43200" marR="43200" marT="14400" marB="14400" anchor="ctr">
                    <a:solidFill>
                      <a:srgbClr val="C00000"/>
                    </a:solidFill>
                  </a:tcPr>
                </a:tc>
              </a:tr>
              <a:tr h="301455">
                <a:tc>
                  <a:txBody>
                    <a:bodyPr/>
                    <a:lstStyle/>
                    <a:p>
                      <a:pPr marL="0" indent="0" lvl="0">
                        <a:buNone/>
                      </a:pPr>
                      <a:r>
                        <a:rPr sz="800" b="1">
                          <a:solidFill>
                            <a:srgbClr val="060606"/>
                          </a:solidFill>
                          <a:latin typeface="Helvetica"/>
                        </a:rPr>
                        <a:t>Délai de règlement borné par les textes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règlement intérieur du FPPN édité le 15/06/2023, art. 52, 57 et 60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Paiement à trois mois du dépôt, demande de remboursement limitée à trois mois</a:t>
                      </a:r>
                    </a:p>
                  </a:txBody>
                  <a:tcPr marL="43200" marR="43200" marT="14400" marB="14400" anchor="ctr">
                    <a:solidFill>
                      <a:srgbClr val="F2F2F2"/>
                    </a:solidFill>
                  </a:tcPr>
                </a:tc>
                <a:tc>
                  <a:txBody>
                    <a:bodyPr/>
                    <a:lstStyle/>
                    <a:p>
                      <a:pPr marL="0" indent="0" lvl="0">
                        <a:buNone/>
                      </a:pPr>
                      <a:r>
                        <a:rPr sz="800" b="1">
                          <a:solidFill>
                            <a:srgbClr val="060606"/>
                          </a:solidFill>
                          <a:latin typeface="Helvetica"/>
                        </a:rPr>
                        <a:t>Oui</a:t>
                      </a:r>
                    </a:p>
                  </a:txBody>
                  <a:tcPr marL="43200" marR="43200" marT="14400" marB="14400" anchor="ctr">
                    <a:solidFill>
                      <a:srgbClr val="70AD47"/>
                    </a:solidFill>
                  </a:tcPr>
                </a:tc>
              </a:tr>
            </a:tbl>
          </a:graphicData>
        </a:graphic>
      </p:graphicFrame>
      <p:graphicFrame>
        <p:nvGraphicFramePr>
          <p:cNvPr id="33" name="Table 32"/>
          <p:cNvGraphicFramePr>
            <a:graphicFrameLocks noGrp="1"/>
          </p:cNvGraphicFramePr>
          <p:nvPr/>
        </p:nvGraphicFramePr>
        <p:xfrm>
          <a:off x="503999" y="3182028"/>
          <a:ext cx="11232000" cy="151200"/>
        </p:xfrm>
        <a:graphic>
          <a:graphicData uri="http://schemas.openxmlformats.org/drawingml/2006/table">
            <a:tbl>
              <a:tblPr firstRow="0" bandRow="0">
                <a:tableStyleId>{5C22544A-7EE6-4342-B048-85BDC9FD1C3A}</a:tableStyleId>
              </a:tblPr>
              <a:tblGrid>
                <a:gridCol w="792000"/>
                <a:gridCol w="936000"/>
                <a:gridCol w="4284000"/>
                <a:gridCol w="936000"/>
                <a:gridCol w="4284000"/>
              </a:tblGrid>
              <a:tr h="151200">
                <a:tc>
                  <a:txBody>
                    <a:bodyPr/>
                    <a:lstStyle/>
                    <a:p>
                      <a:r>
                        <a:rPr sz="700" b="1">
                          <a:solidFill>
                            <a:srgbClr val="060606"/>
                          </a:solidFill>
                          <a:latin typeface="Helvetica"/>
                        </a:rPr>
                        <a:t>Code couleur</a:t>
                      </a:r>
                    </a:p>
                  </a:txBody>
                  <a:tcPr marL="28800" marR="28800" marT="3600" marB="3600" anchor="ctr">
                    <a:solidFill>
                      <a:srgbClr val="FFFFFF"/>
                    </a:solidFill>
                  </a:tcPr>
                </a:tc>
                <a:tc>
                  <a:txBody>
                    <a:bodyPr/>
                    <a:lstStyle/>
                    <a:p>
                      <a:r>
                        <a:rPr sz="700" b="1">
                          <a:solidFill>
                            <a:srgbClr val="FFFFFF"/>
                          </a:solidFill>
                          <a:latin typeface="Helvetica"/>
                        </a:rPr>
                        <a:t>Non</a:t>
                      </a:r>
                    </a:p>
                  </a:txBody>
                  <a:tcPr marL="28800" marR="28800" marT="3600" marB="3600" anchor="ctr">
                    <a:solidFill>
                      <a:srgbClr val="C00000"/>
                    </a:solidFill>
                  </a:tcPr>
                </a:tc>
                <a:tc>
                  <a:txBody>
                    <a:bodyPr/>
                    <a:lstStyle/>
                    <a:p>
                      <a:r>
                        <a:rPr sz="700" b="0">
                          <a:solidFill>
                            <a:srgbClr val="060606"/>
                          </a:solidFill>
                          <a:latin typeface="Helvetica"/>
                        </a:rPr>
                        <a:t>réponse négative à la question de la colonne</a:t>
                      </a:r>
                    </a:p>
                  </a:txBody>
                  <a:tcPr marL="28800" marR="28800" marT="3600" marB="3600" anchor="ctr">
                    <a:solidFill>
                      <a:srgbClr val="FFFFFF"/>
                    </a:solidFill>
                  </a:tcPr>
                </a:tc>
                <a:tc>
                  <a:txBody>
                    <a:bodyPr/>
                    <a:lstStyle/>
                    <a:p>
                      <a:r>
                        <a:rPr sz="700" b="1">
                          <a:solidFill>
                            <a:srgbClr val="060606"/>
                          </a:solidFill>
                          <a:latin typeface="Helvetica"/>
                        </a:rPr>
                        <a:t>Oui</a:t>
                      </a:r>
                    </a:p>
                  </a:txBody>
                  <a:tcPr marL="28800" marR="28800" marT="3600" marB="3600" anchor="ctr">
                    <a:solidFill>
                      <a:srgbClr val="70AD47"/>
                    </a:solidFill>
                  </a:tcPr>
                </a:tc>
                <a:tc>
                  <a:txBody>
                    <a:bodyPr/>
                    <a:lstStyle/>
                    <a:p>
                      <a:r>
                        <a:rPr sz="700" b="0">
                          <a:solidFill>
                            <a:srgbClr val="060606"/>
                          </a:solidFill>
                          <a:latin typeface="Helvetica"/>
                        </a:rPr>
                        <a:t>réponse positive à la question de la colonne</a:t>
                      </a:r>
                    </a:p>
                  </a:txBody>
                  <a:tcPr marL="28800" marR="28800" marT="3600" marB="3600" anchor="ctr">
                    <a:solidFill>
                      <a:srgbClr val="FFFFFF"/>
                    </a:solidFill>
                  </a:tcPr>
                </a:tc>
              </a:tr>
            </a:tbl>
          </a:graphicData>
        </a:graphic>
      </p:graphicFrame>
      <p:sp>
        <p:nvSpPr>
          <p:cNvPr id="34" name="TextBox 33"/>
          <p:cNvSpPr txBox="1"/>
          <p:nvPr/>
        </p:nvSpPr>
        <p:spPr>
          <a:xfrm>
            <a:off x="503999" y="3441228"/>
            <a:ext cx="11232000" cy="162000"/>
          </a:xfrm>
          <a:prstGeom prst="rect">
            <a:avLst/>
          </a:prstGeom>
          <a:noFill/>
        </p:spPr>
        <p:txBody>
          <a:bodyPr wrap="square" anchor="t" lIns="54000" rIns="54000"/>
          <a:lstStyle/>
          <a:p>
            <a:pPr algn="l"/>
            <a:r>
              <a:rPr sz="850" b="0">
                <a:solidFill>
                  <a:srgbClr val="53565A"/>
                </a:solidFill>
                <a:latin typeface="Helvetica"/>
              </a:rPr>
              <a:t>Valable pour : factures de cliniques du journal SIN 2023 à 2025. Délais calculés sur le compte 40110000 de 2020 au 31/08/2026.</a:t>
            </a:r>
          </a:p>
        </p:txBody>
      </p:sp>
      <p:sp>
        <p:nvSpPr>
          <p:cNvPr id="35" name="TextBox 34"/>
          <p:cNvSpPr txBox="1"/>
          <p:nvPr/>
        </p:nvSpPr>
        <p:spPr>
          <a:xfrm>
            <a:off x="503999" y="3747228"/>
            <a:ext cx="11232000" cy="2120771"/>
          </a:xfrm>
          <a:prstGeom prst="rect">
            <a:avLst/>
          </a:prstGeom>
          <a:noFill/>
        </p:spPr>
        <p:txBody>
          <a:bodyPr wrap="square" lIns="54000" rIns="54000"/>
          <a:lstStyle/>
          <a:p>
            <a:pPr algn="just">
              <a:spcAft>
                <a:spcPts val="600"/>
              </a:spcAft>
            </a:pPr>
            <a:r>
              <a:rPr sz="1300" b="1">
                <a:solidFill>
                  <a:srgbClr val="060606"/>
                </a:solidFill>
                <a:latin typeface="Helvetica"/>
              </a:rPr>
              <a:t>Appliquée aux données du FPPN, la méthode projetterait le rattrapage des arriérés de 2020 à 2022 comme un rythme normal et surestimerait fortement la provision.</a:t>
            </a:r>
          </a:p>
          <a:p>
            <a:pPr algn="just">
              <a:spcAft>
                <a:spcPts val="600"/>
              </a:spcAft>
            </a:pPr>
            <a:r>
              <a:rPr sz="1300" b="0">
                <a:solidFill>
                  <a:srgbClr val="060606"/>
                </a:solidFill>
                <a:latin typeface="Helvetica"/>
              </a:rPr>
              <a:t>Méthode appliquée : soins de l'année facturés l'année suivante, mesurés facture par facture (diapositive « Provision maladie : factures arrivées en retard »).</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CIMA : Conférence interafricaine des marchés d'assurances | PBC : liste des documents demandés au client</a:t>
            </a:r>
          </a:p>
        </p:txBody>
      </p:sp>
    </p:spTree>
    <p:extLst>
      <p:ext uri="{BB962C8B-B14F-4D97-AF65-F5344CB8AC3E}">
        <p14:creationId xmlns:p14="http://schemas.microsoft.com/office/powerpoint/2010/main" val="1976863999"/>
      </p:ext>
    </p:extLst>
  </p:cSld>
  <p:clrMapOvr>
    <a:masterClrMapping/>
  </p:clrMapOvr>
  <p:transition>
    <p:fade/>
  </p:transition>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Méthode non retenue : mortalité observée par âge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Sans date de naissance, les décès attendus par la table ne peuvent pas être calculés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495 décès de membres de 2021 à 2025 : même avec les âges, l'écart à la table ne serait mesuré qu'à ±8,81 % près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ETUDE DES RATIO MALADIE DECES 2.xlsx (feuilles Tableau, Notes et Historique 2015-2021) et INTERPRETATION DES RATIOS MALADIE MATERNITE ET DECES INVALIDITE.pdf, reçus le 22/10/2026. Tables de mortalité CIMA H, CIMA F, TD CIMA et TV CIMA (fichiers fournis le 18/10/2026). Table ronde CIMA FANAF 2011. Calculs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117 : Conditions d'emploi de la méthode et données du FPPN</a:t>
            </a:r>
          </a:p>
        </p:txBody>
      </p:sp>
      <p:graphicFrame>
        <p:nvGraphicFramePr>
          <p:cNvPr id="32" name="Table 31"/>
          <p:cNvGraphicFramePr>
            <a:graphicFrameLocks noGrp="1"/>
          </p:cNvGraphicFramePr>
          <p:nvPr/>
        </p:nvGraphicFramePr>
        <p:xfrm>
          <a:off x="503999" y="1655999"/>
          <a:ext cx="11232000" cy="1084838"/>
        </p:xfrm>
        <a:graphic>
          <a:graphicData uri="http://schemas.openxmlformats.org/drawingml/2006/table">
            <a:tbl>
              <a:tblPr firstRow="0" bandRow="0">
                <a:tableStyleId>{5940675A-B579-460E-94D1-54222C63F5DA}</a:tableStyleId>
              </a:tblPr>
              <a:tblGrid>
                <a:gridCol w="2160000"/>
                <a:gridCol w="2664000"/>
                <a:gridCol w="5112000"/>
                <a:gridCol w="1296000"/>
              </a:tblGrid>
              <a:tr h="180000">
                <a:tc>
                  <a:txBody>
                    <a:bodyPr/>
                    <a:lstStyle/>
                    <a:p>
                      <a:pPr marL="0" indent="0" lvl="0">
                        <a:buNone/>
                      </a:pPr>
                      <a:r>
                        <a:rPr sz="800" b="1">
                          <a:solidFill>
                            <a:srgbClr val="FFFFFF"/>
                          </a:solidFill>
                          <a:latin typeface="Helvetica"/>
                        </a:rPr>
                        <a:t>Condition d'emploi</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Source de la condition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Ce que montrent les données du FPPN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Remplie ?</a:t>
                      </a:r>
                    </a:p>
                  </a:txBody>
                  <a:tcPr marL="43200" marR="43200" marT="14400" marB="14400" anchor="ctr">
                    <a:solidFill>
                      <a:srgbClr val="060606"/>
                    </a:solidFill>
                  </a:tcPr>
                </a:tc>
              </a:tr>
              <a:tr h="423383">
                <a:tc>
                  <a:txBody>
                    <a:bodyPr/>
                    <a:lstStyle/>
                    <a:p>
                      <a:pPr marL="0" indent="0" lvl="0">
                        <a:buNone/>
                      </a:pPr>
                      <a:r>
                        <a:rPr sz="800" b="1">
                          <a:solidFill>
                            <a:srgbClr val="060606"/>
                          </a:solidFill>
                          <a:latin typeface="Helvetica"/>
                        </a:rPr>
                        <a:t>Exposition au risque par âge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Définition de la table de mortalité, règlement d'exécution n° 004/2022/COM/UEMOA du 1er juin 2022, art. 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Aucun fichier reçu ne porte la date de naissance des mutualistes</a:t>
                      </a:r>
                    </a:p>
                  </a:txBody>
                  <a:tcPr marL="43200" marR="43200" marT="14400" marB="14400" anchor="ctr">
                    <a:solidFill>
                      <a:srgbClr val="FFFFFF"/>
                    </a:solidFill>
                  </a:tcPr>
                </a:tc>
                <a:tc>
                  <a:txBody>
                    <a:bodyPr/>
                    <a:lstStyle/>
                    <a:p>
                      <a:pPr marL="0" indent="0" lvl="0">
                        <a:buNone/>
                      </a:pPr>
                      <a:r>
                        <a:rPr sz="800" b="1">
                          <a:solidFill>
                            <a:srgbClr val="FFFFFF"/>
                          </a:solidFill>
                          <a:latin typeface="Helvetica"/>
                        </a:rPr>
                        <a:t>Non</a:t>
                      </a:r>
                    </a:p>
                  </a:txBody>
                  <a:tcPr marL="43200" marR="43200" marT="14400" marB="14400" anchor="ctr">
                    <a:solidFill>
                      <a:srgbClr val="C00000"/>
                    </a:solidFill>
                  </a:tcPr>
                </a:tc>
              </a:tr>
              <a:tr h="180000">
                <a:tc>
                  <a:txBody>
                    <a:bodyPr/>
                    <a:lstStyle/>
                    <a:p>
                      <a:pPr marL="0" indent="0" lvl="0">
                        <a:buNone/>
                      </a:pPr>
                      <a:r>
                        <a:rPr sz="800" b="1">
                          <a:solidFill>
                            <a:srgbClr val="060606"/>
                          </a:solidFill>
                          <a:latin typeface="Helvetica"/>
                        </a:rPr>
                        <a:t>Décès datés et rattachés à un âge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Même source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Décès de membres comptés par année (495 de 2021 à 2025), sans âge</a:t>
                      </a:r>
                    </a:p>
                  </a:txBody>
                  <a:tcPr marL="43200" marR="43200" marT="14400" marB="14400" anchor="ctr">
                    <a:solidFill>
                      <a:srgbClr val="F2F2F2"/>
                    </a:solidFill>
                  </a:tcPr>
                </a:tc>
                <a:tc>
                  <a:txBody>
                    <a:bodyPr/>
                    <a:lstStyle/>
                    <a:p>
                      <a:pPr marL="0" indent="0" lvl="0">
                        <a:buNone/>
                      </a:pPr>
                      <a:r>
                        <a:rPr sz="800" b="1">
                          <a:solidFill>
                            <a:srgbClr val="FFFFFF"/>
                          </a:solidFill>
                          <a:latin typeface="Helvetica"/>
                        </a:rPr>
                        <a:t>Non</a:t>
                      </a:r>
                    </a:p>
                  </a:txBody>
                  <a:tcPr marL="43200" marR="43200" marT="14400" marB="14400" anchor="ctr">
                    <a:solidFill>
                      <a:srgbClr val="C00000"/>
                    </a:solidFill>
                  </a:tcPr>
                </a:tc>
              </a:tr>
              <a:tr h="301455">
                <a:tc>
                  <a:txBody>
                    <a:bodyPr/>
                    <a:lstStyle/>
                    <a:p>
                      <a:pPr marL="0" indent="0" lvl="0">
                        <a:buNone/>
                      </a:pPr>
                      <a:r>
                        <a:rPr sz="800" b="1">
                          <a:solidFill>
                            <a:srgbClr val="060606"/>
                          </a:solidFill>
                          <a:latin typeface="Helvetica"/>
                        </a:rPr>
                        <a:t>Nombre de décès suffisant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Loi de Poisson : intervalle à 95 % d'environ ±1,96 / racine du nombre de décès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Intervalle de ±8,81 % sur cinq ans</a:t>
                      </a:r>
                    </a:p>
                  </a:txBody>
                  <a:tcPr marL="43200" marR="43200" marT="14400" marB="14400" anchor="ctr">
                    <a:solidFill>
                      <a:srgbClr val="FFFFFF"/>
                    </a:solidFill>
                  </a:tcPr>
                </a:tc>
                <a:tc>
                  <a:txBody>
                    <a:bodyPr/>
                    <a:lstStyle/>
                    <a:p>
                      <a:pPr marL="0" indent="0" lvl="0">
                        <a:buNone/>
                      </a:pPr>
                      <a:r>
                        <a:rPr sz="800" b="1">
                          <a:solidFill>
                            <a:srgbClr val="060606"/>
                          </a:solidFill>
                          <a:latin typeface="Helvetica"/>
                        </a:rPr>
                        <a:t>Partiellement</a:t>
                      </a:r>
                    </a:p>
                  </a:txBody>
                  <a:tcPr marL="43200" marR="43200" marT="14400" marB="14400" anchor="ctr">
                    <a:solidFill>
                      <a:srgbClr val="EFAC62"/>
                    </a:solidFill>
                  </a:tcPr>
                </a:tc>
              </a:tr>
            </a:tbl>
          </a:graphicData>
        </a:graphic>
      </p:graphicFrame>
      <p:graphicFrame>
        <p:nvGraphicFramePr>
          <p:cNvPr id="33" name="Table 32"/>
          <p:cNvGraphicFramePr>
            <a:graphicFrameLocks noGrp="1"/>
          </p:cNvGraphicFramePr>
          <p:nvPr/>
        </p:nvGraphicFramePr>
        <p:xfrm>
          <a:off x="503999" y="2859977"/>
          <a:ext cx="11232000" cy="151200"/>
        </p:xfrm>
        <a:graphic>
          <a:graphicData uri="http://schemas.openxmlformats.org/drawingml/2006/table">
            <a:tbl>
              <a:tblPr firstRow="0" bandRow="0">
                <a:tableStyleId>{5C22544A-7EE6-4342-B048-85BDC9FD1C3A}</a:tableStyleId>
              </a:tblPr>
              <a:tblGrid>
                <a:gridCol w="792000"/>
                <a:gridCol w="936000"/>
                <a:gridCol w="4284000"/>
                <a:gridCol w="936000"/>
                <a:gridCol w="4284000"/>
              </a:tblGrid>
              <a:tr h="151200">
                <a:tc>
                  <a:txBody>
                    <a:bodyPr/>
                    <a:lstStyle/>
                    <a:p>
                      <a:r>
                        <a:rPr sz="700" b="1">
                          <a:solidFill>
                            <a:srgbClr val="060606"/>
                          </a:solidFill>
                          <a:latin typeface="Helvetica"/>
                        </a:rPr>
                        <a:t>Code couleur</a:t>
                      </a:r>
                    </a:p>
                  </a:txBody>
                  <a:tcPr marL="28800" marR="28800" marT="3600" marB="3600" anchor="ctr">
                    <a:solidFill>
                      <a:srgbClr val="FFFFFF"/>
                    </a:solidFill>
                  </a:tcPr>
                </a:tc>
                <a:tc>
                  <a:txBody>
                    <a:bodyPr/>
                    <a:lstStyle/>
                    <a:p>
                      <a:r>
                        <a:rPr sz="700" b="1">
                          <a:solidFill>
                            <a:srgbClr val="FFFFFF"/>
                          </a:solidFill>
                          <a:latin typeface="Helvetica"/>
                        </a:rPr>
                        <a:t>Non</a:t>
                      </a:r>
                    </a:p>
                  </a:txBody>
                  <a:tcPr marL="28800" marR="28800" marT="3600" marB="3600" anchor="ctr">
                    <a:solidFill>
                      <a:srgbClr val="C00000"/>
                    </a:solidFill>
                  </a:tcPr>
                </a:tc>
                <a:tc>
                  <a:txBody>
                    <a:bodyPr/>
                    <a:lstStyle/>
                    <a:p>
                      <a:r>
                        <a:rPr sz="700" b="0">
                          <a:solidFill>
                            <a:srgbClr val="060606"/>
                          </a:solidFill>
                          <a:latin typeface="Helvetica"/>
                        </a:rPr>
                        <a:t>réponse négative à la question de la colonne</a:t>
                      </a:r>
                    </a:p>
                  </a:txBody>
                  <a:tcPr marL="28800" marR="28800" marT="3600" marB="3600" anchor="ctr">
                    <a:solidFill>
                      <a:srgbClr val="FFFFFF"/>
                    </a:solidFill>
                  </a:tcPr>
                </a:tc>
                <a:tc>
                  <a:txBody>
                    <a:bodyPr/>
                    <a:lstStyle/>
                    <a:p>
                      <a:r>
                        <a:rPr sz="700" b="1">
                          <a:solidFill>
                            <a:srgbClr val="060606"/>
                          </a:solidFill>
                          <a:latin typeface="Helvetica"/>
                        </a:rPr>
                        <a:t>Partiel</a:t>
                      </a:r>
                    </a:p>
                  </a:txBody>
                  <a:tcPr marL="28800" marR="28800" marT="3600" marB="3600" anchor="ctr">
                    <a:solidFill>
                      <a:srgbClr val="EFAC62"/>
                    </a:solidFill>
                  </a:tcPr>
                </a:tc>
                <a:tc>
                  <a:txBody>
                    <a:bodyPr/>
                    <a:lstStyle/>
                    <a:p>
                      <a:r>
                        <a:rPr sz="700" b="0">
                          <a:solidFill>
                            <a:srgbClr val="060606"/>
                          </a:solidFill>
                          <a:latin typeface="Helvetica"/>
                        </a:rPr>
                        <a:t>en partie seulement</a:t>
                      </a:r>
                    </a:p>
                  </a:txBody>
                  <a:tcPr marL="28800" marR="28800" marT="3600" marB="3600" anchor="ctr">
                    <a:solidFill>
                      <a:srgbClr val="FFFFFF"/>
                    </a:solidFill>
                  </a:tcPr>
                </a:tc>
              </a:tr>
            </a:tbl>
          </a:graphicData>
        </a:graphic>
      </p:graphicFrame>
      <p:sp>
        <p:nvSpPr>
          <p:cNvPr id="34" name="TextBox 33"/>
          <p:cNvSpPr txBox="1"/>
          <p:nvPr/>
        </p:nvSpPr>
        <p:spPr>
          <a:xfrm>
            <a:off x="503999" y="3119177"/>
            <a:ext cx="11232000" cy="162000"/>
          </a:xfrm>
          <a:prstGeom prst="rect">
            <a:avLst/>
          </a:prstGeom>
          <a:noFill/>
        </p:spPr>
        <p:txBody>
          <a:bodyPr wrap="square" anchor="t" lIns="54000" rIns="54000"/>
          <a:lstStyle/>
          <a:p>
            <a:pPr algn="l"/>
            <a:r>
              <a:rPr sz="850" b="0">
                <a:solidFill>
                  <a:srgbClr val="53565A"/>
                </a:solidFill>
                <a:latin typeface="Helvetica"/>
              </a:rPr>
              <a:t>Valable pour : décès de membres recensés par le FPPN de 2021 à 2025.</a:t>
            </a:r>
          </a:p>
        </p:txBody>
      </p:sp>
      <p:sp>
        <p:nvSpPr>
          <p:cNvPr id="35" name="TextBox 34"/>
          <p:cNvSpPr txBox="1"/>
          <p:nvPr/>
        </p:nvSpPr>
        <p:spPr>
          <a:xfrm>
            <a:off x="503999" y="3425177"/>
            <a:ext cx="11232000" cy="2442822"/>
          </a:xfrm>
          <a:prstGeom prst="rect">
            <a:avLst/>
          </a:prstGeom>
          <a:noFill/>
        </p:spPr>
        <p:txBody>
          <a:bodyPr wrap="square" lIns="54000" rIns="54000"/>
          <a:lstStyle/>
          <a:p>
            <a:pPr algn="just">
              <a:spcAft>
                <a:spcPts val="600"/>
              </a:spcAft>
            </a:pPr>
            <a:r>
              <a:rPr sz="1300" b="1">
                <a:solidFill>
                  <a:srgbClr val="060606"/>
                </a:solidFill>
                <a:latin typeface="Helvetica"/>
              </a:rPr>
              <a:t>La mortalité des policiers ne peut pas être comparée à la table CIMA H.</a:t>
            </a:r>
            <a:r>
              <a:rPr sz="1300" b="0">
                <a:solidFill>
                  <a:srgbClr val="060606"/>
                </a:solidFill>
                <a:latin typeface="Helvetica"/>
              </a:rPr>
              <a:t> Seul le taux brut, toutes tranches d'âge confondues, est calculable.</a:t>
            </a:r>
          </a:p>
          <a:p>
            <a:pPr algn="just">
              <a:spcAft>
                <a:spcPts val="600"/>
              </a:spcAft>
            </a:pPr>
            <a:r>
              <a:rPr sz="1300" b="0">
                <a:solidFill>
                  <a:srgbClr val="060606"/>
                </a:solidFill>
                <a:latin typeface="Helvetica"/>
              </a:rPr>
              <a:t>Méthode appliquée : taux brut de mortalité des membres participants (diapositive « Mortalité brute des membres participants »).</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CIMA : Conférence interafricaine des marchés d'assurances | FANAF : Fédération des sociétés d'assurances de droit national africaines | TD, TV : anciennes tables CIMA de décès et de survie</a:t>
            </a:r>
          </a:p>
        </p:txBody>
      </p:sp>
    </p:spTree>
    <p:extLst>
      <p:ext uri="{BB962C8B-B14F-4D97-AF65-F5344CB8AC3E}">
        <p14:creationId xmlns:p14="http://schemas.microsoft.com/office/powerpoint/2010/main" val="2262640614"/>
      </p:ext>
    </p:extLst>
  </p:cSld>
  <p:clrMapOvr>
    <a:masterClrMapping/>
  </p:clrMapOvr>
  <p:transition>
    <p:fade/>
  </p:transition>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Méthode non retenue : provision santé des retraités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L'engagement à vie ne se calcule qu'avec l'âge et le coût des soins de chaque retraité</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610 retraités précomptés en août 26, dont 105 avec une date de naissance, sans prestations isolées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CONVENTION DE PARTENARIAT ENTRE IPS-CGRAE ET LE FPPN.pdf. Code CIMA, art. 334-8. Fichiers de précomptes de la Solde, de la CGRAE et du FPPN reçus le 15/10/2026 (dossiers « FPPN-SOLDE », « FPPN-CGRAE », « FPPN-GNA », noms exacts en annexe « Fichiers sources »). Traitements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118 : Conditions d'emploi de la méthode et données du FPPN</a:t>
            </a:r>
          </a:p>
        </p:txBody>
      </p:sp>
      <p:graphicFrame>
        <p:nvGraphicFramePr>
          <p:cNvPr id="32" name="Table 31"/>
          <p:cNvGraphicFramePr>
            <a:graphicFrameLocks noGrp="1"/>
          </p:cNvGraphicFramePr>
          <p:nvPr/>
        </p:nvGraphicFramePr>
        <p:xfrm>
          <a:off x="503999" y="1655999"/>
          <a:ext cx="11232000" cy="962910"/>
        </p:xfrm>
        <a:graphic>
          <a:graphicData uri="http://schemas.openxmlformats.org/drawingml/2006/table">
            <a:tbl>
              <a:tblPr firstRow="0" bandRow="0">
                <a:tableStyleId>{5940675A-B579-460E-94D1-54222C63F5DA}</a:tableStyleId>
              </a:tblPr>
              <a:tblGrid>
                <a:gridCol w="2160000"/>
                <a:gridCol w="2664000"/>
                <a:gridCol w="5112000"/>
                <a:gridCol w="1296000"/>
              </a:tblGrid>
              <a:tr h="180000">
                <a:tc>
                  <a:txBody>
                    <a:bodyPr/>
                    <a:lstStyle/>
                    <a:p>
                      <a:pPr marL="0" indent="0" lvl="0">
                        <a:buNone/>
                      </a:pPr>
                      <a:r>
                        <a:rPr sz="800" b="1">
                          <a:solidFill>
                            <a:srgbClr val="FFFFFF"/>
                          </a:solidFill>
                          <a:latin typeface="Helvetica"/>
                        </a:rPr>
                        <a:t>Condition d'emploi</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Source de la condition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Ce que montrent les données du FPPN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Remplie ?</a:t>
                      </a:r>
                    </a:p>
                  </a:txBody>
                  <a:tcPr marL="43200" marR="43200" marT="14400" marB="14400" anchor="ctr">
                    <a:solidFill>
                      <a:srgbClr val="060606"/>
                    </a:solidFill>
                  </a:tcPr>
                </a:tc>
              </a:tr>
              <a:tr h="301455">
                <a:tc>
                  <a:txBody>
                    <a:bodyPr/>
                    <a:lstStyle/>
                    <a:p>
                      <a:pPr marL="0" indent="0" lvl="0">
                        <a:buNone/>
                      </a:pPr>
                      <a:r>
                        <a:rPr sz="800" b="1">
                          <a:solidFill>
                            <a:srgbClr val="060606"/>
                          </a:solidFill>
                          <a:latin typeface="Helvetica"/>
                        </a:rPr>
                        <a:t>Âge de chaque retraité</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Code CIMA, art. 334-8 (référence technique)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Date de naissance pour 105 retraités seulement (fichiers retour de la CGRAE de février à avril 2024)</a:t>
                      </a:r>
                    </a:p>
                  </a:txBody>
                  <a:tcPr marL="43200" marR="43200" marT="14400" marB="14400" anchor="ctr">
                    <a:solidFill>
                      <a:srgbClr val="FFFFFF"/>
                    </a:solidFill>
                  </a:tcPr>
                </a:tc>
                <a:tc>
                  <a:txBody>
                    <a:bodyPr/>
                    <a:lstStyle/>
                    <a:p>
                      <a:pPr marL="0" indent="0" lvl="0">
                        <a:buNone/>
                      </a:pPr>
                      <a:r>
                        <a:rPr sz="800" b="1">
                          <a:solidFill>
                            <a:srgbClr val="060606"/>
                          </a:solidFill>
                          <a:latin typeface="Helvetica"/>
                        </a:rPr>
                        <a:t>Partiellement</a:t>
                      </a:r>
                    </a:p>
                  </a:txBody>
                  <a:tcPr marL="43200" marR="43200" marT="14400" marB="14400" anchor="ctr">
                    <a:solidFill>
                      <a:srgbClr val="EFAC62"/>
                    </a:solidFill>
                  </a:tcPr>
                </a:tc>
              </a:tr>
              <a:tr h="180000">
                <a:tc>
                  <a:txBody>
                    <a:bodyPr/>
                    <a:lstStyle/>
                    <a:p>
                      <a:pPr marL="0" indent="0" lvl="0">
                        <a:buNone/>
                      </a:pPr>
                      <a:r>
                        <a:rPr sz="800" b="1">
                          <a:solidFill>
                            <a:srgbClr val="060606"/>
                          </a:solidFill>
                          <a:latin typeface="Helvetica"/>
                        </a:rPr>
                        <a:t>Coût annuel des soins par âge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Même source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Prestations des retraités non isolées dans les comptes ni dans les fichiers</a:t>
                      </a:r>
                    </a:p>
                  </a:txBody>
                  <a:tcPr marL="43200" marR="43200" marT="14400" marB="14400" anchor="ctr">
                    <a:solidFill>
                      <a:srgbClr val="F2F2F2"/>
                    </a:solidFill>
                  </a:tcPr>
                </a:tc>
                <a:tc>
                  <a:txBody>
                    <a:bodyPr/>
                    <a:lstStyle/>
                    <a:p>
                      <a:pPr marL="0" indent="0" lvl="0">
                        <a:buNone/>
                      </a:pPr>
                      <a:r>
                        <a:rPr sz="800" b="1">
                          <a:solidFill>
                            <a:srgbClr val="FFFFFF"/>
                          </a:solidFill>
                          <a:latin typeface="Helvetica"/>
                        </a:rPr>
                        <a:t>Non</a:t>
                      </a:r>
                    </a:p>
                  </a:txBody>
                  <a:tcPr marL="43200" marR="43200" marT="14400" marB="14400" anchor="ctr">
                    <a:solidFill>
                      <a:srgbClr val="C00000"/>
                    </a:solidFill>
                  </a:tcPr>
                </a:tc>
              </a:tr>
              <a:tr h="301455">
                <a:tc>
                  <a:txBody>
                    <a:bodyPr/>
                    <a:lstStyle/>
                    <a:p>
                      <a:pPr marL="0" indent="0" lvl="0">
                        <a:buNone/>
                      </a:pPr>
                      <a:r>
                        <a:rPr sz="800" b="1">
                          <a:solidFill>
                            <a:srgbClr val="060606"/>
                          </a:solidFill>
                          <a:latin typeface="Helvetica"/>
                        </a:rPr>
                        <a:t>Règle de la garantie (durée, cotisation)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Bulletin de souscription, annexe 2 de la convention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transmis</a:t>
                      </a:r>
                    </a:p>
                  </a:txBody>
                  <a:tcPr marL="43200" marR="43200" marT="14400" marB="14400" anchor="ctr">
                    <a:solidFill>
                      <a:srgbClr val="FFFFFF"/>
                    </a:solidFill>
                  </a:tcPr>
                </a:tc>
                <a:tc>
                  <a:txBody>
                    <a:bodyPr/>
                    <a:lstStyle/>
                    <a:p>
                      <a:pPr marL="0" indent="0" lvl="0">
                        <a:buNone/>
                      </a:pPr>
                      <a:r>
                        <a:rPr sz="800" b="1">
                          <a:solidFill>
                            <a:srgbClr val="FFFFFF"/>
                          </a:solidFill>
                          <a:latin typeface="Helvetica"/>
                        </a:rPr>
                        <a:t>Non</a:t>
                      </a:r>
                    </a:p>
                  </a:txBody>
                  <a:tcPr marL="43200" marR="43200" marT="14400" marB="14400" anchor="ctr">
                    <a:solidFill>
                      <a:srgbClr val="C00000"/>
                    </a:solidFill>
                  </a:tcPr>
                </a:tc>
              </a:tr>
            </a:tbl>
          </a:graphicData>
        </a:graphic>
      </p:graphicFrame>
      <p:graphicFrame>
        <p:nvGraphicFramePr>
          <p:cNvPr id="33" name="Table 32"/>
          <p:cNvGraphicFramePr>
            <a:graphicFrameLocks noGrp="1"/>
          </p:cNvGraphicFramePr>
          <p:nvPr/>
        </p:nvGraphicFramePr>
        <p:xfrm>
          <a:off x="503999" y="2729514"/>
          <a:ext cx="11232000" cy="151200"/>
        </p:xfrm>
        <a:graphic>
          <a:graphicData uri="http://schemas.openxmlformats.org/drawingml/2006/table">
            <a:tbl>
              <a:tblPr firstRow="0" bandRow="0">
                <a:tableStyleId>{5C22544A-7EE6-4342-B048-85BDC9FD1C3A}</a:tableStyleId>
              </a:tblPr>
              <a:tblGrid>
                <a:gridCol w="792000"/>
                <a:gridCol w="936000"/>
                <a:gridCol w="4284000"/>
                <a:gridCol w="936000"/>
                <a:gridCol w="4284000"/>
              </a:tblGrid>
              <a:tr h="151200">
                <a:tc>
                  <a:txBody>
                    <a:bodyPr/>
                    <a:lstStyle/>
                    <a:p>
                      <a:r>
                        <a:rPr sz="700" b="1">
                          <a:solidFill>
                            <a:srgbClr val="060606"/>
                          </a:solidFill>
                          <a:latin typeface="Helvetica"/>
                        </a:rPr>
                        <a:t>Code couleur</a:t>
                      </a:r>
                    </a:p>
                  </a:txBody>
                  <a:tcPr marL="28800" marR="28800" marT="3600" marB="3600" anchor="ctr">
                    <a:solidFill>
                      <a:srgbClr val="FFFFFF"/>
                    </a:solidFill>
                  </a:tcPr>
                </a:tc>
                <a:tc>
                  <a:txBody>
                    <a:bodyPr/>
                    <a:lstStyle/>
                    <a:p>
                      <a:r>
                        <a:rPr sz="700" b="1">
                          <a:solidFill>
                            <a:srgbClr val="060606"/>
                          </a:solidFill>
                          <a:latin typeface="Helvetica"/>
                        </a:rPr>
                        <a:t>Partiel</a:t>
                      </a:r>
                    </a:p>
                  </a:txBody>
                  <a:tcPr marL="28800" marR="28800" marT="3600" marB="3600" anchor="ctr">
                    <a:solidFill>
                      <a:srgbClr val="EFAC62"/>
                    </a:solidFill>
                  </a:tcPr>
                </a:tc>
                <a:tc>
                  <a:txBody>
                    <a:bodyPr/>
                    <a:lstStyle/>
                    <a:p>
                      <a:r>
                        <a:rPr sz="700" b="0">
                          <a:solidFill>
                            <a:srgbClr val="060606"/>
                          </a:solidFill>
                          <a:latin typeface="Helvetica"/>
                        </a:rPr>
                        <a:t>en partie seulement</a:t>
                      </a:r>
                    </a:p>
                  </a:txBody>
                  <a:tcPr marL="28800" marR="28800" marT="3600" marB="3600" anchor="ctr">
                    <a:solidFill>
                      <a:srgbClr val="FFFFFF"/>
                    </a:solidFill>
                  </a:tcPr>
                </a:tc>
                <a:tc>
                  <a:txBody>
                    <a:bodyPr/>
                    <a:lstStyle/>
                    <a:p>
                      <a:r>
                        <a:rPr sz="700" b="1">
                          <a:solidFill>
                            <a:srgbClr val="FFFFFF"/>
                          </a:solidFill>
                          <a:latin typeface="Helvetica"/>
                        </a:rPr>
                        <a:t>Non</a:t>
                      </a:r>
                    </a:p>
                  </a:txBody>
                  <a:tcPr marL="28800" marR="28800" marT="3600" marB="3600" anchor="ctr">
                    <a:solidFill>
                      <a:srgbClr val="C00000"/>
                    </a:solidFill>
                  </a:tcPr>
                </a:tc>
                <a:tc>
                  <a:txBody>
                    <a:bodyPr/>
                    <a:lstStyle/>
                    <a:p>
                      <a:r>
                        <a:rPr sz="700" b="0">
                          <a:solidFill>
                            <a:srgbClr val="060606"/>
                          </a:solidFill>
                          <a:latin typeface="Helvetica"/>
                        </a:rPr>
                        <a:t>réponse négative à la question de la colonne</a:t>
                      </a:r>
                    </a:p>
                  </a:txBody>
                  <a:tcPr marL="28800" marR="28800" marT="3600" marB="3600" anchor="ctr">
                    <a:solidFill>
                      <a:srgbClr val="FFFFFF"/>
                    </a:solidFill>
                  </a:tcPr>
                </a:tc>
              </a:tr>
            </a:tbl>
          </a:graphicData>
        </a:graphic>
      </p:graphicFrame>
      <p:sp>
        <p:nvSpPr>
          <p:cNvPr id="34" name="TextBox 33"/>
          <p:cNvSpPr txBox="1"/>
          <p:nvPr/>
        </p:nvSpPr>
        <p:spPr>
          <a:xfrm>
            <a:off x="503999" y="2988714"/>
            <a:ext cx="11232000" cy="162000"/>
          </a:xfrm>
          <a:prstGeom prst="rect">
            <a:avLst/>
          </a:prstGeom>
          <a:noFill/>
        </p:spPr>
        <p:txBody>
          <a:bodyPr wrap="square" anchor="t" lIns="54000" rIns="54000"/>
          <a:lstStyle/>
          <a:p>
            <a:pPr algn="l"/>
            <a:r>
              <a:rPr sz="850" b="0">
                <a:solidFill>
                  <a:srgbClr val="53565A"/>
                </a:solidFill>
                <a:latin typeface="Helvetica"/>
              </a:rPr>
              <a:t>Valable pour : retraités précomptés par la CGRAE de févr. 24 à août 26. Dates de naissance des fichiers retour de février à avril 2024.</a:t>
            </a:r>
          </a:p>
        </p:txBody>
      </p:sp>
      <p:sp>
        <p:nvSpPr>
          <p:cNvPr id="35" name="TextBox 34"/>
          <p:cNvSpPr txBox="1"/>
          <p:nvPr/>
        </p:nvSpPr>
        <p:spPr>
          <a:xfrm>
            <a:off x="503999" y="3294714"/>
            <a:ext cx="11232000" cy="2573285"/>
          </a:xfrm>
          <a:prstGeom prst="rect">
            <a:avLst/>
          </a:prstGeom>
          <a:noFill/>
        </p:spPr>
        <p:txBody>
          <a:bodyPr wrap="square" lIns="54000" rIns="54000"/>
          <a:lstStyle/>
          <a:p>
            <a:pPr algn="just">
              <a:spcAft>
                <a:spcPts val="600"/>
              </a:spcAft>
            </a:pPr>
            <a:r>
              <a:rPr sz="1300" b="1">
                <a:solidFill>
                  <a:srgbClr val="060606"/>
                </a:solidFill>
                <a:latin typeface="Helvetica"/>
              </a:rPr>
              <a:t>Calculer une provision avec un âge moyen supposé donnerait un chiffre sans fondement</a:t>
            </a:r>
            <a:r>
              <a:rPr sz="1300" b="0">
                <a:solidFill>
                  <a:srgbClr val="060606"/>
                </a:solidFill>
                <a:latin typeface="Helvetica"/>
              </a:rPr>
              <a:t> : la valeur d'une rente à 60 ans varie de plus de deux années de paiement selon la seule table retenue (partie 11).</a:t>
            </a:r>
          </a:p>
          <a:p>
            <a:pPr algn="just">
              <a:spcAft>
                <a:spcPts val="600"/>
              </a:spcAft>
            </a:pPr>
            <a:r>
              <a:rPr sz="1300" b="0">
                <a:solidFill>
                  <a:srgbClr val="060606"/>
                </a:solidFill>
                <a:latin typeface="Helvetica"/>
              </a:rPr>
              <a:t>Méthode appliquée : description des cotisations des retraités (diapositive « Santé des retraités : ce que l'on peut mesurer »).</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Sigles : FPPN : Fonds de prévoyance de la Police nationale | CIMA : Conférence interafricaine des marchés d'assurances | CGRAE : Caisse générale de retraite des agents de l'État | GNA : assureur de la flotte automobile (compte 47111106) | IPS-CGRAE : Institution de prévoyance sociale - Caisse générale de retraite des agents de l'État</a:t>
            </a:r>
          </a:p>
        </p:txBody>
      </p:sp>
    </p:spTree>
    <p:extLst>
      <p:ext uri="{BB962C8B-B14F-4D97-AF65-F5344CB8AC3E}">
        <p14:creationId xmlns:p14="http://schemas.microsoft.com/office/powerpoint/2010/main" val="2386175601"/>
      </p:ext>
    </p:extLst>
  </p:cSld>
  <p:clrMapOvr>
    <a:masterClrMapping/>
  </p:clrMapOvr>
  <p:transition>
    <p:fade/>
  </p:transition>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Méthode non retenue : duration et immunisation</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L'immunisation suppose des flux de passif connus et des actifs à revenu fixe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Placements financiers moyens 2025 : 5,53 % de l'épargne due. Taux servi non arrêté</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 Ch13_Gestion_Actif-Passif_French.pdf » (Association actuarielle internationale, 2016). « ALM_ONT.pdf ». Balances des comptes du FPPN de 2020 au 31/08/2026 (provisoire), fichiers « BALANCE … » listés en annexe « Fichiers sources ». Traitements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119 : Conditions d'emploi de la méthode et données du FPPN</a:t>
            </a:r>
          </a:p>
        </p:txBody>
      </p:sp>
      <p:graphicFrame>
        <p:nvGraphicFramePr>
          <p:cNvPr id="32" name="Table 31"/>
          <p:cNvGraphicFramePr>
            <a:graphicFrameLocks noGrp="1"/>
          </p:cNvGraphicFramePr>
          <p:nvPr/>
        </p:nvGraphicFramePr>
        <p:xfrm>
          <a:off x="503999" y="1655999"/>
          <a:ext cx="11232000" cy="1084838"/>
        </p:xfrm>
        <a:graphic>
          <a:graphicData uri="http://schemas.openxmlformats.org/drawingml/2006/table">
            <a:tbl>
              <a:tblPr firstRow="0" bandRow="0">
                <a:tableStyleId>{5940675A-B579-460E-94D1-54222C63F5DA}</a:tableStyleId>
              </a:tblPr>
              <a:tblGrid>
                <a:gridCol w="2160000"/>
                <a:gridCol w="2664000"/>
                <a:gridCol w="5112000"/>
                <a:gridCol w="1296000"/>
              </a:tblGrid>
              <a:tr h="180000">
                <a:tc>
                  <a:txBody>
                    <a:bodyPr/>
                    <a:lstStyle/>
                    <a:p>
                      <a:pPr marL="0" indent="0" lvl="0">
                        <a:buNone/>
                      </a:pPr>
                      <a:r>
                        <a:rPr sz="800" b="1">
                          <a:solidFill>
                            <a:srgbClr val="FFFFFF"/>
                          </a:solidFill>
                          <a:latin typeface="Helvetica"/>
                        </a:rPr>
                        <a:t>Condition d'emploi</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Source de la condition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Ce que montrent les données du FPPN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Remplie ?</a:t>
                      </a:r>
                    </a:p>
                  </a:txBody>
                  <a:tcPr marL="43200" marR="43200" marT="14400" marB="14400" anchor="ctr">
                    <a:solidFill>
                      <a:srgbClr val="060606"/>
                    </a:solidFill>
                  </a:tcPr>
                </a:tc>
              </a:tr>
              <a:tr h="423383">
                <a:tc>
                  <a:txBody>
                    <a:bodyPr/>
                    <a:lstStyle/>
                    <a:p>
                      <a:pPr marL="0" indent="0" lvl="0">
                        <a:buNone/>
                      </a:pPr>
                      <a:r>
                        <a:rPr sz="800" b="1">
                          <a:solidFill>
                            <a:srgbClr val="060606"/>
                          </a:solidFill>
                          <a:latin typeface="Helvetica"/>
                        </a:rPr>
                        <a:t>Flux de passif prévisibles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 Ch13_Gestion_Actif-Passif_French.pdf » (Association actuarielle internationale, 2016), p. 3 et 23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Épargne sans échéancier. Taux servi de 3,5 %, 5,5 % ou 14 % selon le document</a:t>
                      </a:r>
                    </a:p>
                  </a:txBody>
                  <a:tcPr marL="43200" marR="43200" marT="14400" marB="14400" anchor="ctr">
                    <a:solidFill>
                      <a:srgbClr val="FFFFFF"/>
                    </a:solidFill>
                  </a:tcPr>
                </a:tc>
                <a:tc>
                  <a:txBody>
                    <a:bodyPr/>
                    <a:lstStyle/>
                    <a:p>
                      <a:pPr marL="0" indent="0" lvl="0">
                        <a:buNone/>
                      </a:pPr>
                      <a:r>
                        <a:rPr sz="800" b="1">
                          <a:solidFill>
                            <a:srgbClr val="FFFFFF"/>
                          </a:solidFill>
                          <a:latin typeface="Helvetica"/>
                        </a:rPr>
                        <a:t>Non</a:t>
                      </a:r>
                    </a:p>
                  </a:txBody>
                  <a:tcPr marL="43200" marR="43200" marT="14400" marB="14400" anchor="ctr">
                    <a:solidFill>
                      <a:srgbClr val="C00000"/>
                    </a:solidFill>
                  </a:tcPr>
                </a:tc>
              </a:tr>
              <a:tr h="301455">
                <a:tc>
                  <a:txBody>
                    <a:bodyPr/>
                    <a:lstStyle/>
                    <a:p>
                      <a:pPr marL="0" indent="0" lvl="0">
                        <a:buNone/>
                      </a:pPr>
                      <a:r>
                        <a:rPr sz="800" b="1">
                          <a:solidFill>
                            <a:srgbClr val="060606"/>
                          </a:solidFill>
                          <a:latin typeface="Helvetica"/>
                        </a:rPr>
                        <a:t>Actifs à revenu fixe en volume suffisant</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Même source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DAT soldé chaque année et FCP. Placements moyens 2025 de 763 752 135 FCFA</a:t>
                      </a:r>
                    </a:p>
                  </a:txBody>
                  <a:tcPr marL="43200" marR="43200" marT="14400" marB="14400" anchor="ctr">
                    <a:solidFill>
                      <a:srgbClr val="F2F2F2"/>
                    </a:solidFill>
                  </a:tcPr>
                </a:tc>
                <a:tc>
                  <a:txBody>
                    <a:bodyPr/>
                    <a:lstStyle/>
                    <a:p>
                      <a:pPr marL="0" indent="0" lvl="0">
                        <a:buNone/>
                      </a:pPr>
                      <a:r>
                        <a:rPr sz="800" b="1">
                          <a:solidFill>
                            <a:srgbClr val="FFFFFF"/>
                          </a:solidFill>
                          <a:latin typeface="Helvetica"/>
                        </a:rPr>
                        <a:t>Non</a:t>
                      </a:r>
                    </a:p>
                  </a:txBody>
                  <a:tcPr marL="43200" marR="43200" marT="14400" marB="14400" anchor="ctr">
                    <a:solidFill>
                      <a:srgbClr val="C00000"/>
                    </a:solidFill>
                  </a:tcPr>
                </a:tc>
              </a:tr>
              <a:tr h="180000">
                <a:tc>
                  <a:txBody>
                    <a:bodyPr/>
                    <a:lstStyle/>
                    <a:p>
                      <a:pPr marL="0" indent="0" lvl="0">
                        <a:buNone/>
                      </a:pPr>
                      <a:r>
                        <a:rPr sz="800" b="1">
                          <a:solidFill>
                            <a:srgbClr val="060606"/>
                          </a:solidFill>
                          <a:latin typeface="Helvetica"/>
                        </a:rPr>
                        <a:t>Risque principal : le taux d'intérêt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 ALM_ONT.pdf », p. 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Risque principal : la liquidité (couverture de l'année inférieure à 40 %)</a:t>
                      </a:r>
                    </a:p>
                  </a:txBody>
                  <a:tcPr marL="43200" marR="43200" marT="14400" marB="14400" anchor="ctr">
                    <a:solidFill>
                      <a:srgbClr val="FFFFFF"/>
                    </a:solidFill>
                  </a:tcPr>
                </a:tc>
                <a:tc>
                  <a:txBody>
                    <a:bodyPr/>
                    <a:lstStyle/>
                    <a:p>
                      <a:pPr marL="0" indent="0" lvl="0">
                        <a:buNone/>
                      </a:pPr>
                      <a:r>
                        <a:rPr sz="800" b="1">
                          <a:solidFill>
                            <a:srgbClr val="FFFFFF"/>
                          </a:solidFill>
                          <a:latin typeface="Helvetica"/>
                        </a:rPr>
                        <a:t>Non</a:t>
                      </a:r>
                    </a:p>
                  </a:txBody>
                  <a:tcPr marL="43200" marR="43200" marT="14400" marB="14400" anchor="ctr">
                    <a:solidFill>
                      <a:srgbClr val="C00000"/>
                    </a:solidFill>
                  </a:tcPr>
                </a:tc>
              </a:tr>
            </a:tbl>
          </a:graphicData>
        </a:graphic>
      </p:graphicFrame>
      <p:graphicFrame>
        <p:nvGraphicFramePr>
          <p:cNvPr id="33" name="Table 32"/>
          <p:cNvGraphicFramePr>
            <a:graphicFrameLocks noGrp="1"/>
          </p:cNvGraphicFramePr>
          <p:nvPr/>
        </p:nvGraphicFramePr>
        <p:xfrm>
          <a:off x="503999" y="2859977"/>
          <a:ext cx="11232000" cy="151200"/>
        </p:xfrm>
        <a:graphic>
          <a:graphicData uri="http://schemas.openxmlformats.org/drawingml/2006/table">
            <a:tbl>
              <a:tblPr firstRow="0" bandRow="0">
                <a:tableStyleId>{5C22544A-7EE6-4342-B048-85BDC9FD1C3A}</a:tableStyleId>
              </a:tblPr>
              <a:tblGrid>
                <a:gridCol w="792000"/>
                <a:gridCol w="936000"/>
                <a:gridCol w="9504000"/>
              </a:tblGrid>
              <a:tr h="151200">
                <a:tc>
                  <a:txBody>
                    <a:bodyPr/>
                    <a:lstStyle/>
                    <a:p>
                      <a:r>
                        <a:rPr sz="700" b="1">
                          <a:solidFill>
                            <a:srgbClr val="060606"/>
                          </a:solidFill>
                          <a:latin typeface="Helvetica"/>
                        </a:rPr>
                        <a:t>Code couleur</a:t>
                      </a:r>
                    </a:p>
                  </a:txBody>
                  <a:tcPr marL="28800" marR="28800" marT="3600" marB="3600" anchor="ctr">
                    <a:solidFill>
                      <a:srgbClr val="FFFFFF"/>
                    </a:solidFill>
                  </a:tcPr>
                </a:tc>
                <a:tc>
                  <a:txBody>
                    <a:bodyPr/>
                    <a:lstStyle/>
                    <a:p>
                      <a:r>
                        <a:rPr sz="700" b="1">
                          <a:solidFill>
                            <a:srgbClr val="FFFFFF"/>
                          </a:solidFill>
                          <a:latin typeface="Helvetica"/>
                        </a:rPr>
                        <a:t>Non</a:t>
                      </a:r>
                    </a:p>
                  </a:txBody>
                  <a:tcPr marL="28800" marR="28800" marT="3600" marB="3600" anchor="ctr">
                    <a:solidFill>
                      <a:srgbClr val="C00000"/>
                    </a:solidFill>
                  </a:tcPr>
                </a:tc>
                <a:tc>
                  <a:txBody>
                    <a:bodyPr/>
                    <a:lstStyle/>
                    <a:p>
                      <a:r>
                        <a:rPr sz="700" b="0">
                          <a:solidFill>
                            <a:srgbClr val="060606"/>
                          </a:solidFill>
                          <a:latin typeface="Helvetica"/>
                        </a:rPr>
                        <a:t>réponse négative à la question de la colonne</a:t>
                      </a:r>
                    </a:p>
                  </a:txBody>
                  <a:tcPr marL="28800" marR="28800" marT="3600" marB="3600" anchor="ctr">
                    <a:solidFill>
                      <a:srgbClr val="FFFFFF"/>
                    </a:solidFill>
                  </a:tcPr>
                </a:tc>
              </a:tr>
            </a:tbl>
          </a:graphicData>
        </a:graphic>
      </p:graphicFrame>
      <p:sp>
        <p:nvSpPr>
          <p:cNvPr id="34" name="TextBox 33"/>
          <p:cNvSpPr txBox="1"/>
          <p:nvPr/>
        </p:nvSpPr>
        <p:spPr>
          <a:xfrm>
            <a:off x="503999" y="3119177"/>
            <a:ext cx="11232000" cy="162000"/>
          </a:xfrm>
          <a:prstGeom prst="rect">
            <a:avLst/>
          </a:prstGeom>
          <a:noFill/>
        </p:spPr>
        <p:txBody>
          <a:bodyPr wrap="square" anchor="t" lIns="54000" rIns="54000"/>
          <a:lstStyle/>
          <a:p>
            <a:pPr algn="l"/>
            <a:r>
              <a:rPr sz="850" b="0">
                <a:solidFill>
                  <a:srgbClr val="53565A"/>
                </a:solidFill>
                <a:latin typeface="Helvetica"/>
              </a:rPr>
              <a:t>Valable pour : bilans au 31/12/2025 et au 31/08/2026.</a:t>
            </a:r>
          </a:p>
        </p:txBody>
      </p:sp>
      <p:sp>
        <p:nvSpPr>
          <p:cNvPr id="35" name="TextBox 34"/>
          <p:cNvSpPr txBox="1"/>
          <p:nvPr/>
        </p:nvSpPr>
        <p:spPr>
          <a:xfrm>
            <a:off x="503999" y="3425177"/>
            <a:ext cx="11232000" cy="2442822"/>
          </a:xfrm>
          <a:prstGeom prst="rect">
            <a:avLst/>
          </a:prstGeom>
          <a:noFill/>
        </p:spPr>
        <p:txBody>
          <a:bodyPr wrap="square" lIns="54000" rIns="54000"/>
          <a:lstStyle/>
          <a:p>
            <a:pPr algn="just">
              <a:spcAft>
                <a:spcPts val="600"/>
              </a:spcAft>
            </a:pPr>
            <a:r>
              <a:rPr sz="1300" b="1">
                <a:solidFill>
                  <a:srgbClr val="060606"/>
                </a:solidFill>
                <a:latin typeface="Helvetica"/>
              </a:rPr>
              <a:t>Le risque du FPPN n'est pas une variation de taux, mais un manque de liquidité</a:t>
            </a:r>
            <a:r>
              <a:rPr sz="1300" b="0">
                <a:solidFill>
                  <a:srgbClr val="060606"/>
                </a:solidFill>
                <a:latin typeface="Helvetica"/>
              </a:rPr>
              <a:t> : mesurer une duration ne dirait rien de la capacité à payer les sorties de l'année.</a:t>
            </a:r>
          </a:p>
          <a:p>
            <a:pPr algn="just">
              <a:spcAft>
                <a:spcPts val="600"/>
              </a:spcAft>
            </a:pPr>
            <a:r>
              <a:rPr sz="1300" b="0">
                <a:solidFill>
                  <a:srgbClr val="060606"/>
                </a:solidFill>
                <a:latin typeface="Helvetica"/>
              </a:rPr>
              <a:t>Méthode appliquée : écarts de liquidité par échéance (diapositive « Adossement : écarts de liquidité année par année »).</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FCP : fonds commun de placement | DAT : dépôt à terme</a:t>
            </a:r>
          </a:p>
        </p:txBody>
      </p:sp>
    </p:spTree>
    <p:extLst>
      <p:ext uri="{BB962C8B-B14F-4D97-AF65-F5344CB8AC3E}">
        <p14:creationId xmlns:p14="http://schemas.microsoft.com/office/powerpoint/2010/main" val="1618610411"/>
      </p:ext>
    </p:extLst>
  </p:cSld>
  <p:clrMapOvr>
    <a:masterClrMapping/>
  </p:clrMapOvr>
  <p:transition>
    <p:fade/>
  </p:transition>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Méthode non retenue : modèle stochastique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Un modèle stochastique demande des contrats décrits par âge et des scénarios économiques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Aucune des deux entrées du modèle n'existe pour le FPPN</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 Construction d'un modèle ALM.pdf »</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120 : Conditions d'emploi de la méthode et données du FPPN</a:t>
            </a:r>
          </a:p>
        </p:txBody>
      </p:sp>
      <p:graphicFrame>
        <p:nvGraphicFramePr>
          <p:cNvPr id="32" name="Table 31"/>
          <p:cNvGraphicFramePr>
            <a:graphicFrameLocks noGrp="1"/>
          </p:cNvGraphicFramePr>
          <p:nvPr/>
        </p:nvGraphicFramePr>
        <p:xfrm>
          <a:off x="503999" y="1655999"/>
          <a:ext cx="11232000" cy="841455"/>
        </p:xfrm>
        <a:graphic>
          <a:graphicData uri="http://schemas.openxmlformats.org/drawingml/2006/table">
            <a:tbl>
              <a:tblPr firstRow="0" bandRow="0">
                <a:tableStyleId>{5940675A-B579-460E-94D1-54222C63F5DA}</a:tableStyleId>
              </a:tblPr>
              <a:tblGrid>
                <a:gridCol w="2160000"/>
                <a:gridCol w="2664000"/>
                <a:gridCol w="5112000"/>
                <a:gridCol w="1296000"/>
              </a:tblGrid>
              <a:tr h="180000">
                <a:tc>
                  <a:txBody>
                    <a:bodyPr/>
                    <a:lstStyle/>
                    <a:p>
                      <a:pPr marL="0" indent="0" lvl="0">
                        <a:buNone/>
                      </a:pPr>
                      <a:r>
                        <a:rPr sz="800" b="1">
                          <a:solidFill>
                            <a:srgbClr val="FFFFFF"/>
                          </a:solidFill>
                          <a:latin typeface="Helvetica"/>
                        </a:rPr>
                        <a:t>Condition d'emploi</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Source de la condition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Ce que montrent les données du FPPN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Remplie ?</a:t>
                      </a:r>
                    </a:p>
                  </a:txBody>
                  <a:tcPr marL="43200" marR="43200" marT="14400" marB="14400" anchor="ctr">
                    <a:solidFill>
                      <a:srgbClr val="060606"/>
                    </a:solidFill>
                  </a:tcPr>
                </a:tc>
              </a:tr>
              <a:tr h="301455">
                <a:tc>
                  <a:txBody>
                    <a:bodyPr/>
                    <a:lstStyle/>
                    <a:p>
                      <a:pPr marL="0" indent="0" lvl="0">
                        <a:buNone/>
                      </a:pPr>
                      <a:r>
                        <a:rPr sz="800" b="1">
                          <a:solidFill>
                            <a:srgbClr val="060606"/>
                          </a:solidFill>
                          <a:latin typeface="Helvetica"/>
                        </a:rPr>
                        <a:t>Groupes de contrats par âge, sexe, ancienneté et taux garanti</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 Construction d'un modèle ALM.pdf », p. 54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Âges non reçus. Taux garanti non arrêté</a:t>
                      </a:r>
                    </a:p>
                  </a:txBody>
                  <a:tcPr marL="43200" marR="43200" marT="14400" marB="14400" anchor="ctr">
                    <a:solidFill>
                      <a:srgbClr val="FFFFFF"/>
                    </a:solidFill>
                  </a:tcPr>
                </a:tc>
                <a:tc>
                  <a:txBody>
                    <a:bodyPr/>
                    <a:lstStyle/>
                    <a:p>
                      <a:pPr marL="0" indent="0" lvl="0">
                        <a:buNone/>
                      </a:pPr>
                      <a:r>
                        <a:rPr sz="800" b="1">
                          <a:solidFill>
                            <a:srgbClr val="FFFFFF"/>
                          </a:solidFill>
                          <a:latin typeface="Helvetica"/>
                        </a:rPr>
                        <a:t>Non</a:t>
                      </a:r>
                    </a:p>
                  </a:txBody>
                  <a:tcPr marL="43200" marR="43200" marT="14400" marB="14400" anchor="ctr">
                    <a:solidFill>
                      <a:srgbClr val="C00000"/>
                    </a:solidFill>
                  </a:tcPr>
                </a:tc>
              </a:tr>
              <a:tr h="180000">
                <a:tc>
                  <a:txBody>
                    <a:bodyPr/>
                    <a:lstStyle/>
                    <a:p>
                      <a:pPr marL="0" indent="0" lvl="0">
                        <a:buNone/>
                      </a:pPr>
                      <a:r>
                        <a:rPr sz="800" b="1">
                          <a:solidFill>
                            <a:srgbClr val="060606"/>
                          </a:solidFill>
                          <a:latin typeface="Helvetica"/>
                        </a:rPr>
                        <a:t>Actifs en valeur de marché</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Même source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Terrains, clinique et créances en valeur comptable non réévaluée</a:t>
                      </a:r>
                    </a:p>
                  </a:txBody>
                  <a:tcPr marL="43200" marR="43200" marT="14400" marB="14400" anchor="ctr">
                    <a:solidFill>
                      <a:srgbClr val="F2F2F2"/>
                    </a:solidFill>
                  </a:tcPr>
                </a:tc>
                <a:tc>
                  <a:txBody>
                    <a:bodyPr/>
                    <a:lstStyle/>
                    <a:p>
                      <a:pPr marL="0" indent="0" lvl="0">
                        <a:buNone/>
                      </a:pPr>
                      <a:r>
                        <a:rPr sz="800" b="1">
                          <a:solidFill>
                            <a:srgbClr val="FFFFFF"/>
                          </a:solidFill>
                          <a:latin typeface="Helvetica"/>
                        </a:rPr>
                        <a:t>Non</a:t>
                      </a:r>
                    </a:p>
                  </a:txBody>
                  <a:tcPr marL="43200" marR="43200" marT="14400" marB="14400" anchor="ctr">
                    <a:solidFill>
                      <a:srgbClr val="C00000"/>
                    </a:solidFill>
                  </a:tcPr>
                </a:tc>
              </a:tr>
              <a:tr h="180000">
                <a:tc>
                  <a:txBody>
                    <a:bodyPr/>
                    <a:lstStyle/>
                    <a:p>
                      <a:pPr marL="0" indent="0" lvl="0">
                        <a:buNone/>
                      </a:pPr>
                      <a:r>
                        <a:rPr sz="800" b="1">
                          <a:solidFill>
                            <a:srgbClr val="060606"/>
                          </a:solidFill>
                          <a:latin typeface="Helvetica"/>
                        </a:rPr>
                        <a:t>Générateur de scénarios économiques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Même source, section 3.2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Aucune série de prix des actifs du FPPN</a:t>
                      </a:r>
                    </a:p>
                  </a:txBody>
                  <a:tcPr marL="43200" marR="43200" marT="14400" marB="14400" anchor="ctr">
                    <a:solidFill>
                      <a:srgbClr val="FFFFFF"/>
                    </a:solidFill>
                  </a:tcPr>
                </a:tc>
                <a:tc>
                  <a:txBody>
                    <a:bodyPr/>
                    <a:lstStyle/>
                    <a:p>
                      <a:pPr marL="0" indent="0" lvl="0">
                        <a:buNone/>
                      </a:pPr>
                      <a:r>
                        <a:rPr sz="800" b="1">
                          <a:solidFill>
                            <a:srgbClr val="FFFFFF"/>
                          </a:solidFill>
                          <a:latin typeface="Helvetica"/>
                        </a:rPr>
                        <a:t>Non</a:t>
                      </a:r>
                    </a:p>
                  </a:txBody>
                  <a:tcPr marL="43200" marR="43200" marT="14400" marB="14400" anchor="ctr">
                    <a:solidFill>
                      <a:srgbClr val="C00000"/>
                    </a:solidFill>
                  </a:tcPr>
                </a:tc>
              </a:tr>
            </a:tbl>
          </a:graphicData>
        </a:graphic>
      </p:graphicFrame>
      <p:graphicFrame>
        <p:nvGraphicFramePr>
          <p:cNvPr id="33" name="Table 32"/>
          <p:cNvGraphicFramePr>
            <a:graphicFrameLocks noGrp="1"/>
          </p:cNvGraphicFramePr>
          <p:nvPr/>
        </p:nvGraphicFramePr>
        <p:xfrm>
          <a:off x="503999" y="2599557"/>
          <a:ext cx="11232000" cy="151200"/>
        </p:xfrm>
        <a:graphic>
          <a:graphicData uri="http://schemas.openxmlformats.org/drawingml/2006/table">
            <a:tbl>
              <a:tblPr firstRow="0" bandRow="0">
                <a:tableStyleId>{5C22544A-7EE6-4342-B048-85BDC9FD1C3A}</a:tableStyleId>
              </a:tblPr>
              <a:tblGrid>
                <a:gridCol w="792000"/>
                <a:gridCol w="936000"/>
                <a:gridCol w="9504000"/>
              </a:tblGrid>
              <a:tr h="151200">
                <a:tc>
                  <a:txBody>
                    <a:bodyPr/>
                    <a:lstStyle/>
                    <a:p>
                      <a:r>
                        <a:rPr sz="700" b="1">
                          <a:solidFill>
                            <a:srgbClr val="060606"/>
                          </a:solidFill>
                          <a:latin typeface="Helvetica"/>
                        </a:rPr>
                        <a:t>Code couleur</a:t>
                      </a:r>
                    </a:p>
                  </a:txBody>
                  <a:tcPr marL="28800" marR="28800" marT="3600" marB="3600" anchor="ctr">
                    <a:solidFill>
                      <a:srgbClr val="FFFFFF"/>
                    </a:solidFill>
                  </a:tcPr>
                </a:tc>
                <a:tc>
                  <a:txBody>
                    <a:bodyPr/>
                    <a:lstStyle/>
                    <a:p>
                      <a:r>
                        <a:rPr sz="700" b="1">
                          <a:solidFill>
                            <a:srgbClr val="FFFFFF"/>
                          </a:solidFill>
                          <a:latin typeface="Helvetica"/>
                        </a:rPr>
                        <a:t>Non</a:t>
                      </a:r>
                    </a:p>
                  </a:txBody>
                  <a:tcPr marL="28800" marR="28800" marT="3600" marB="3600" anchor="ctr">
                    <a:solidFill>
                      <a:srgbClr val="C00000"/>
                    </a:solidFill>
                  </a:tcPr>
                </a:tc>
                <a:tc>
                  <a:txBody>
                    <a:bodyPr/>
                    <a:lstStyle/>
                    <a:p>
                      <a:r>
                        <a:rPr sz="700" b="0">
                          <a:solidFill>
                            <a:srgbClr val="060606"/>
                          </a:solidFill>
                          <a:latin typeface="Helvetica"/>
                        </a:rPr>
                        <a:t>réponse négative à la question de la colonne</a:t>
                      </a:r>
                    </a:p>
                  </a:txBody>
                  <a:tcPr marL="28800" marR="28800" marT="3600" marB="3600" anchor="ctr">
                    <a:solidFill>
                      <a:srgbClr val="FFFFFF"/>
                    </a:solidFill>
                  </a:tcPr>
                </a:tc>
              </a:tr>
            </a:tbl>
          </a:graphicData>
        </a:graphic>
      </p:graphicFrame>
      <p:sp>
        <p:nvSpPr>
          <p:cNvPr id="34" name="TextBox 33"/>
          <p:cNvSpPr txBox="1"/>
          <p:nvPr/>
        </p:nvSpPr>
        <p:spPr>
          <a:xfrm>
            <a:off x="503999" y="2858757"/>
            <a:ext cx="11232000" cy="162000"/>
          </a:xfrm>
          <a:prstGeom prst="rect">
            <a:avLst/>
          </a:prstGeom>
          <a:noFill/>
        </p:spPr>
        <p:txBody>
          <a:bodyPr wrap="square" anchor="t" lIns="54000" rIns="54000"/>
          <a:lstStyle/>
          <a:p>
            <a:pPr algn="l"/>
            <a:r>
              <a:rPr sz="850" b="0">
                <a:solidFill>
                  <a:srgbClr val="53565A"/>
                </a:solidFill>
                <a:latin typeface="Helvetica"/>
              </a:rPr>
              <a:t>Valable pour : données reçues jusqu'au 22/10/2026.</a:t>
            </a:r>
          </a:p>
        </p:txBody>
      </p:sp>
      <p:sp>
        <p:nvSpPr>
          <p:cNvPr id="35" name="TextBox 34"/>
          <p:cNvSpPr txBox="1"/>
          <p:nvPr/>
        </p:nvSpPr>
        <p:spPr>
          <a:xfrm>
            <a:off x="503999" y="3164757"/>
            <a:ext cx="11232000" cy="2703242"/>
          </a:xfrm>
          <a:prstGeom prst="rect">
            <a:avLst/>
          </a:prstGeom>
          <a:noFill/>
        </p:spPr>
        <p:txBody>
          <a:bodyPr wrap="square" lIns="54000" rIns="54000"/>
          <a:lstStyle/>
          <a:p>
            <a:pPr algn="just">
              <a:spcAft>
                <a:spcPts val="600"/>
              </a:spcAft>
            </a:pPr>
            <a:r>
              <a:rPr sz="1300" b="1">
                <a:solidFill>
                  <a:srgbClr val="060606"/>
                </a:solidFill>
                <a:latin typeface="Helvetica"/>
              </a:rPr>
              <a:t>Le modèle produirait une distribution de résultats à partir d'entrées inventées.</a:t>
            </a:r>
          </a:p>
          <a:p>
            <a:pPr algn="just">
              <a:spcAft>
                <a:spcPts val="600"/>
              </a:spcAft>
            </a:pPr>
            <a:r>
              <a:rPr sz="1300" b="0">
                <a:solidFill>
                  <a:srgbClr val="060606"/>
                </a:solidFill>
                <a:latin typeface="Helvetica"/>
              </a:rPr>
              <a:t>Méthode appliquée : trois scénarios déterministes calibrés sur les extrêmes observés au FPPN (diapositive « Adossement : tests de résistance »).</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3612227612"/>
      </p:ext>
    </p:extLst>
  </p:cSld>
  <p:clrMapOvr>
    <a:masterClrMapping/>
  </p:clrMapOvr>
  <p:transition>
    <p:fade/>
  </p:transition>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Méthode non retenue : valeur en risque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VaR mesure une perte de valeur de marché, alors que les actifs du FPPN ne sont pas évalués au marché</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Les actifs du FPPN sont tenus en valeur comptable. Aucun n'est coté à l'exception du FCP</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 Gestion des Risques Bancaires(Actif PAssif).pdf » (Sciences-Po, 2009-2010)</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121 : Conditions d'emploi de la méthode et données du FPPN</a:t>
            </a:r>
          </a:p>
        </p:txBody>
      </p:sp>
      <p:graphicFrame>
        <p:nvGraphicFramePr>
          <p:cNvPr id="32" name="Table 31"/>
          <p:cNvGraphicFramePr>
            <a:graphicFrameLocks noGrp="1"/>
          </p:cNvGraphicFramePr>
          <p:nvPr/>
        </p:nvGraphicFramePr>
        <p:xfrm>
          <a:off x="503999" y="1655999"/>
          <a:ext cx="11232000" cy="661455"/>
        </p:xfrm>
        <a:graphic>
          <a:graphicData uri="http://schemas.openxmlformats.org/drawingml/2006/table">
            <a:tbl>
              <a:tblPr firstRow="0" bandRow="0">
                <a:tableStyleId>{5940675A-B579-460E-94D1-54222C63F5DA}</a:tableStyleId>
              </a:tblPr>
              <a:tblGrid>
                <a:gridCol w="2160000"/>
                <a:gridCol w="2664000"/>
                <a:gridCol w="5112000"/>
                <a:gridCol w="1296000"/>
              </a:tblGrid>
              <a:tr h="180000">
                <a:tc>
                  <a:txBody>
                    <a:bodyPr/>
                    <a:lstStyle/>
                    <a:p>
                      <a:pPr marL="0" indent="0" lvl="0">
                        <a:buNone/>
                      </a:pPr>
                      <a:r>
                        <a:rPr sz="800" b="1">
                          <a:solidFill>
                            <a:srgbClr val="FFFFFF"/>
                          </a:solidFill>
                          <a:latin typeface="Helvetica"/>
                        </a:rPr>
                        <a:t>Condition d'emploi</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Source de la condition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Ce que montrent les données du FPPN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Remplie ?</a:t>
                      </a:r>
                    </a:p>
                  </a:txBody>
                  <a:tcPr marL="43200" marR="43200" marT="14400" marB="14400" anchor="ctr">
                    <a:solidFill>
                      <a:srgbClr val="060606"/>
                    </a:solidFill>
                  </a:tcPr>
                </a:tc>
              </a:tr>
              <a:tr h="301455">
                <a:tc>
                  <a:txBody>
                    <a:bodyPr/>
                    <a:lstStyle/>
                    <a:p>
                      <a:pPr marL="0" indent="0" lvl="0">
                        <a:buNone/>
                      </a:pPr>
                      <a:r>
                        <a:rPr sz="800" b="1">
                          <a:solidFill>
                            <a:srgbClr val="060606"/>
                          </a:solidFill>
                          <a:latin typeface="Helvetica"/>
                        </a:rPr>
                        <a:t>Indicateur adapté à la gestion actif-passif</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 Gestion des Risques Bancaires(Actif PAssif).pdf » (Sciences-Po, 2009-2010), p. 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La source indique que la VaR n'est pas adaptée à l'ALM, « monde des intérêts courus »</a:t>
                      </a:r>
                    </a:p>
                  </a:txBody>
                  <a:tcPr marL="43200" marR="43200" marT="14400" marB="14400" anchor="ctr">
                    <a:solidFill>
                      <a:srgbClr val="FFFFFF"/>
                    </a:solidFill>
                  </a:tcPr>
                </a:tc>
                <a:tc>
                  <a:txBody>
                    <a:bodyPr/>
                    <a:lstStyle/>
                    <a:p>
                      <a:pPr marL="0" indent="0" lvl="0">
                        <a:buNone/>
                      </a:pPr>
                      <a:r>
                        <a:rPr sz="800" b="1">
                          <a:solidFill>
                            <a:srgbClr val="FFFFFF"/>
                          </a:solidFill>
                          <a:latin typeface="Helvetica"/>
                        </a:rPr>
                        <a:t>Non</a:t>
                      </a:r>
                    </a:p>
                  </a:txBody>
                  <a:tcPr marL="43200" marR="43200" marT="14400" marB="14400" anchor="ctr">
                    <a:solidFill>
                      <a:srgbClr val="C00000"/>
                    </a:solidFill>
                  </a:tcPr>
                </a:tc>
              </a:tr>
              <a:tr h="180000">
                <a:tc>
                  <a:txBody>
                    <a:bodyPr/>
                    <a:lstStyle/>
                    <a:p>
                      <a:pPr marL="0" indent="0" lvl="0">
                        <a:buNone/>
                      </a:pPr>
                      <a:r>
                        <a:rPr sz="800" b="1">
                          <a:solidFill>
                            <a:srgbClr val="060606"/>
                          </a:solidFill>
                          <a:latin typeface="Helvetica"/>
                        </a:rPr>
                        <a:t>Séries de prix des actifs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Définition de la VaR</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Aucune série de prix pour les terrains, la clinique, les prêts et les créances</a:t>
                      </a:r>
                    </a:p>
                  </a:txBody>
                  <a:tcPr marL="43200" marR="43200" marT="14400" marB="14400" anchor="ctr">
                    <a:solidFill>
                      <a:srgbClr val="F2F2F2"/>
                    </a:solidFill>
                  </a:tcPr>
                </a:tc>
                <a:tc>
                  <a:txBody>
                    <a:bodyPr/>
                    <a:lstStyle/>
                    <a:p>
                      <a:pPr marL="0" indent="0" lvl="0">
                        <a:buNone/>
                      </a:pPr>
                      <a:r>
                        <a:rPr sz="800" b="1">
                          <a:solidFill>
                            <a:srgbClr val="FFFFFF"/>
                          </a:solidFill>
                          <a:latin typeface="Helvetica"/>
                        </a:rPr>
                        <a:t>Non</a:t>
                      </a:r>
                    </a:p>
                  </a:txBody>
                  <a:tcPr marL="43200" marR="43200" marT="14400" marB="14400" anchor="ctr">
                    <a:solidFill>
                      <a:srgbClr val="C00000"/>
                    </a:solidFill>
                  </a:tcPr>
                </a:tc>
              </a:tr>
            </a:tbl>
          </a:graphicData>
        </a:graphic>
      </p:graphicFrame>
      <p:graphicFrame>
        <p:nvGraphicFramePr>
          <p:cNvPr id="33" name="Table 32"/>
          <p:cNvGraphicFramePr>
            <a:graphicFrameLocks noGrp="1"/>
          </p:cNvGraphicFramePr>
          <p:nvPr/>
        </p:nvGraphicFramePr>
        <p:xfrm>
          <a:off x="503999" y="2406957"/>
          <a:ext cx="11232000" cy="151200"/>
        </p:xfrm>
        <a:graphic>
          <a:graphicData uri="http://schemas.openxmlformats.org/drawingml/2006/table">
            <a:tbl>
              <a:tblPr firstRow="0" bandRow="0">
                <a:tableStyleId>{5C22544A-7EE6-4342-B048-85BDC9FD1C3A}</a:tableStyleId>
              </a:tblPr>
              <a:tblGrid>
                <a:gridCol w="792000"/>
                <a:gridCol w="936000"/>
                <a:gridCol w="9504000"/>
              </a:tblGrid>
              <a:tr h="151200">
                <a:tc>
                  <a:txBody>
                    <a:bodyPr/>
                    <a:lstStyle/>
                    <a:p>
                      <a:r>
                        <a:rPr sz="700" b="1">
                          <a:solidFill>
                            <a:srgbClr val="060606"/>
                          </a:solidFill>
                          <a:latin typeface="Helvetica"/>
                        </a:rPr>
                        <a:t>Code couleur</a:t>
                      </a:r>
                    </a:p>
                  </a:txBody>
                  <a:tcPr marL="28800" marR="28800" marT="3600" marB="3600" anchor="ctr">
                    <a:solidFill>
                      <a:srgbClr val="FFFFFF"/>
                    </a:solidFill>
                  </a:tcPr>
                </a:tc>
                <a:tc>
                  <a:txBody>
                    <a:bodyPr/>
                    <a:lstStyle/>
                    <a:p>
                      <a:r>
                        <a:rPr sz="700" b="1">
                          <a:solidFill>
                            <a:srgbClr val="FFFFFF"/>
                          </a:solidFill>
                          <a:latin typeface="Helvetica"/>
                        </a:rPr>
                        <a:t>Non</a:t>
                      </a:r>
                    </a:p>
                  </a:txBody>
                  <a:tcPr marL="28800" marR="28800" marT="3600" marB="3600" anchor="ctr">
                    <a:solidFill>
                      <a:srgbClr val="C00000"/>
                    </a:solidFill>
                  </a:tcPr>
                </a:tc>
                <a:tc>
                  <a:txBody>
                    <a:bodyPr/>
                    <a:lstStyle/>
                    <a:p>
                      <a:r>
                        <a:rPr sz="700" b="0">
                          <a:solidFill>
                            <a:srgbClr val="060606"/>
                          </a:solidFill>
                          <a:latin typeface="Helvetica"/>
                        </a:rPr>
                        <a:t>réponse négative à la question de la colonne</a:t>
                      </a:r>
                    </a:p>
                  </a:txBody>
                  <a:tcPr marL="28800" marR="28800" marT="3600" marB="3600" anchor="ctr">
                    <a:solidFill>
                      <a:srgbClr val="FFFFFF"/>
                    </a:solidFill>
                  </a:tcPr>
                </a:tc>
              </a:tr>
            </a:tbl>
          </a:graphicData>
        </a:graphic>
      </p:graphicFrame>
      <p:sp>
        <p:nvSpPr>
          <p:cNvPr id="34" name="TextBox 33"/>
          <p:cNvSpPr txBox="1"/>
          <p:nvPr/>
        </p:nvSpPr>
        <p:spPr>
          <a:xfrm>
            <a:off x="503999" y="2666157"/>
            <a:ext cx="11232000" cy="162000"/>
          </a:xfrm>
          <a:prstGeom prst="rect">
            <a:avLst/>
          </a:prstGeom>
          <a:noFill/>
        </p:spPr>
        <p:txBody>
          <a:bodyPr wrap="square" anchor="t" lIns="54000" rIns="54000"/>
          <a:lstStyle/>
          <a:p>
            <a:pPr algn="l"/>
            <a:r>
              <a:rPr sz="850" b="0">
                <a:solidFill>
                  <a:srgbClr val="53565A"/>
                </a:solidFill>
                <a:latin typeface="Helvetica"/>
              </a:rPr>
              <a:t>Valable pour : bilan au 31/08/2026.</a:t>
            </a:r>
          </a:p>
        </p:txBody>
      </p:sp>
      <p:sp>
        <p:nvSpPr>
          <p:cNvPr id="35" name="TextBox 34"/>
          <p:cNvSpPr txBox="1"/>
          <p:nvPr/>
        </p:nvSpPr>
        <p:spPr>
          <a:xfrm>
            <a:off x="503999" y="2972157"/>
            <a:ext cx="11232000" cy="2895842"/>
          </a:xfrm>
          <a:prstGeom prst="rect">
            <a:avLst/>
          </a:prstGeom>
          <a:noFill/>
        </p:spPr>
        <p:txBody>
          <a:bodyPr wrap="square" lIns="54000" rIns="54000"/>
          <a:lstStyle/>
          <a:p>
            <a:pPr algn="just">
              <a:spcAft>
                <a:spcPts val="600"/>
              </a:spcAft>
            </a:pPr>
            <a:r>
              <a:rPr sz="1300" b="1">
                <a:solidFill>
                  <a:srgbClr val="060606"/>
                </a:solidFill>
                <a:latin typeface="Helvetica"/>
              </a:rPr>
              <a:t>Une VaR ne mesurerait que le FCP, une petite part de l'actif.</a:t>
            </a:r>
          </a:p>
          <a:p>
            <a:pPr algn="just">
              <a:spcAft>
                <a:spcPts val="600"/>
              </a:spcAft>
            </a:pPr>
            <a:r>
              <a:rPr sz="1300" b="0">
                <a:solidFill>
                  <a:srgbClr val="060606"/>
                </a:solidFill>
                <a:latin typeface="Helvetica"/>
              </a:rPr>
              <a:t>Méthode appliquée : classes de liquidité des actifs (diapositive « Choix des méthodes d'adossement »).</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FCP : fonds commun de placement</a:t>
            </a:r>
          </a:p>
        </p:txBody>
      </p:sp>
    </p:spTree>
    <p:extLst>
      <p:ext uri="{BB962C8B-B14F-4D97-AF65-F5344CB8AC3E}">
        <p14:creationId xmlns:p14="http://schemas.microsoft.com/office/powerpoint/2010/main" val="3265824912"/>
      </p:ext>
    </p:extLst>
  </p:cSld>
  <p:clrMapOvr>
    <a:masterClrMapping/>
  </p:clrMapOvr>
  <p:transition>
    <p:fade/>
  </p:transition>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Méthode non retenue : capital de solvabilité</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capital de type Solvabilité II n'est pas exigé du FPPN et demande des engagements en meilleure estimation</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 cadre applicable est la marge de solvabilité de la Décision n° 05/2022, calculée en partie 10</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 Construction d'un modèle ALM.pdf ». Décision n° 05/2022. Règlement d'exécution n° 004/2022/COM/UEMOA du 1er juin 2022</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122 : Conditions d'emploi de la méthode et données du FPPN</a:t>
            </a:r>
          </a:p>
        </p:txBody>
      </p:sp>
      <p:graphicFrame>
        <p:nvGraphicFramePr>
          <p:cNvPr id="32" name="Table 31"/>
          <p:cNvGraphicFramePr>
            <a:graphicFrameLocks noGrp="1"/>
          </p:cNvGraphicFramePr>
          <p:nvPr/>
        </p:nvGraphicFramePr>
        <p:xfrm>
          <a:off x="503999" y="1655999"/>
          <a:ext cx="11232000" cy="841455"/>
        </p:xfrm>
        <a:graphic>
          <a:graphicData uri="http://schemas.openxmlformats.org/drawingml/2006/table">
            <a:tbl>
              <a:tblPr firstRow="0" bandRow="0">
                <a:tableStyleId>{5940675A-B579-460E-94D1-54222C63F5DA}</a:tableStyleId>
              </a:tblPr>
              <a:tblGrid>
                <a:gridCol w="2160000"/>
                <a:gridCol w="2664000"/>
                <a:gridCol w="5112000"/>
                <a:gridCol w="1296000"/>
              </a:tblGrid>
              <a:tr h="180000">
                <a:tc>
                  <a:txBody>
                    <a:bodyPr/>
                    <a:lstStyle/>
                    <a:p>
                      <a:pPr marL="0" indent="0" lvl="0">
                        <a:buNone/>
                      </a:pPr>
                      <a:r>
                        <a:rPr sz="800" b="1">
                          <a:solidFill>
                            <a:srgbClr val="FFFFFF"/>
                          </a:solidFill>
                          <a:latin typeface="Helvetica"/>
                        </a:rPr>
                        <a:t>Condition d'emploi</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Source de la condition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Ce que montrent les données du FPPN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Remplie ?</a:t>
                      </a:r>
                    </a:p>
                  </a:txBody>
                  <a:tcPr marL="43200" marR="43200" marT="14400" marB="14400" anchor="ctr">
                    <a:solidFill>
                      <a:srgbClr val="060606"/>
                    </a:solidFill>
                  </a:tcPr>
                </a:tc>
              </a:tr>
              <a:tr h="301455">
                <a:tc>
                  <a:txBody>
                    <a:bodyPr/>
                    <a:lstStyle/>
                    <a:p>
                      <a:pPr marL="0" indent="0" lvl="0">
                        <a:buNone/>
                      </a:pPr>
                      <a:r>
                        <a:rPr sz="800" b="1">
                          <a:solidFill>
                            <a:srgbClr val="060606"/>
                          </a:solidFill>
                          <a:latin typeface="Helvetica"/>
                        </a:rPr>
                        <a:t>Cadre réglementaire qui l'impose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 Règlement d'exécution n° 004/2022/COM/UEMOA du 1er juin 2022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Le texte applicable fixe une marge de solvabilité, non un SCR</a:t>
                      </a:r>
                    </a:p>
                  </a:txBody>
                  <a:tcPr marL="43200" marR="43200" marT="14400" marB="14400" anchor="ctr">
                    <a:solidFill>
                      <a:srgbClr val="FFFFFF"/>
                    </a:solidFill>
                  </a:tcPr>
                </a:tc>
                <a:tc>
                  <a:txBody>
                    <a:bodyPr/>
                    <a:lstStyle/>
                    <a:p>
                      <a:pPr marL="0" indent="0" lvl="0">
                        <a:buNone/>
                      </a:pPr>
                      <a:r>
                        <a:rPr sz="800" b="1">
                          <a:solidFill>
                            <a:srgbClr val="FFFFFF"/>
                          </a:solidFill>
                          <a:latin typeface="Helvetica"/>
                        </a:rPr>
                        <a:t>Non</a:t>
                      </a:r>
                    </a:p>
                  </a:txBody>
                  <a:tcPr marL="43200" marR="43200" marT="14400" marB="14400" anchor="ctr">
                    <a:solidFill>
                      <a:srgbClr val="C00000"/>
                    </a:solidFill>
                  </a:tcPr>
                </a:tc>
              </a:tr>
              <a:tr h="180000">
                <a:tc>
                  <a:txBody>
                    <a:bodyPr/>
                    <a:lstStyle/>
                    <a:p>
                      <a:pPr marL="0" indent="0" lvl="0">
                        <a:buNone/>
                      </a:pPr>
                      <a:r>
                        <a:rPr sz="800" b="1">
                          <a:solidFill>
                            <a:srgbClr val="060606"/>
                          </a:solidFill>
                          <a:latin typeface="Helvetica"/>
                        </a:rPr>
                        <a:t>Engagements en meilleure estimation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 Construction d'un modèle ALM.pdf », p. 110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Épargne sans échéancier ni taux arrêté. Provisions non calculées</a:t>
                      </a:r>
                    </a:p>
                  </a:txBody>
                  <a:tcPr marL="43200" marR="43200" marT="14400" marB="14400" anchor="ctr">
                    <a:solidFill>
                      <a:srgbClr val="F2F2F2"/>
                    </a:solidFill>
                  </a:tcPr>
                </a:tc>
                <a:tc>
                  <a:txBody>
                    <a:bodyPr/>
                    <a:lstStyle/>
                    <a:p>
                      <a:pPr marL="0" indent="0" lvl="0">
                        <a:buNone/>
                      </a:pPr>
                      <a:r>
                        <a:rPr sz="800" b="1">
                          <a:solidFill>
                            <a:srgbClr val="FFFFFF"/>
                          </a:solidFill>
                          <a:latin typeface="Helvetica"/>
                        </a:rPr>
                        <a:t>Non</a:t>
                      </a:r>
                    </a:p>
                  </a:txBody>
                  <a:tcPr marL="43200" marR="43200" marT="14400" marB="14400" anchor="ctr">
                    <a:solidFill>
                      <a:srgbClr val="C00000"/>
                    </a:solidFill>
                  </a:tcPr>
                </a:tc>
              </a:tr>
              <a:tr h="180000">
                <a:tc>
                  <a:txBody>
                    <a:bodyPr/>
                    <a:lstStyle/>
                    <a:p>
                      <a:pPr marL="0" indent="0" lvl="0">
                        <a:buNone/>
                      </a:pPr>
                      <a:r>
                        <a:rPr sz="800" b="1">
                          <a:solidFill>
                            <a:srgbClr val="060606"/>
                          </a:solidFill>
                          <a:latin typeface="Helvetica"/>
                        </a:rPr>
                        <a:t>Chocs calibrés sur le portefeuille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Même source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Choc de 40 % calibré sur des contrats européens. Sortie maximale observée au FPPN : 27,55 %</a:t>
                      </a:r>
                    </a:p>
                  </a:txBody>
                  <a:tcPr marL="43200" marR="43200" marT="14400" marB="14400" anchor="ctr">
                    <a:solidFill>
                      <a:srgbClr val="FFFFFF"/>
                    </a:solidFill>
                  </a:tcPr>
                </a:tc>
                <a:tc>
                  <a:txBody>
                    <a:bodyPr/>
                    <a:lstStyle/>
                    <a:p>
                      <a:pPr marL="0" indent="0" lvl="0">
                        <a:buNone/>
                      </a:pPr>
                      <a:r>
                        <a:rPr sz="800" b="1">
                          <a:solidFill>
                            <a:srgbClr val="FFFFFF"/>
                          </a:solidFill>
                          <a:latin typeface="Helvetica"/>
                        </a:rPr>
                        <a:t>Non</a:t>
                      </a:r>
                    </a:p>
                  </a:txBody>
                  <a:tcPr marL="43200" marR="43200" marT="14400" marB="14400" anchor="ctr">
                    <a:solidFill>
                      <a:srgbClr val="C00000"/>
                    </a:solidFill>
                  </a:tcPr>
                </a:tc>
              </a:tr>
            </a:tbl>
          </a:graphicData>
        </a:graphic>
      </p:graphicFrame>
      <p:graphicFrame>
        <p:nvGraphicFramePr>
          <p:cNvPr id="33" name="Table 32"/>
          <p:cNvGraphicFramePr>
            <a:graphicFrameLocks noGrp="1"/>
          </p:cNvGraphicFramePr>
          <p:nvPr/>
        </p:nvGraphicFramePr>
        <p:xfrm>
          <a:off x="503999" y="2599557"/>
          <a:ext cx="11232000" cy="151200"/>
        </p:xfrm>
        <a:graphic>
          <a:graphicData uri="http://schemas.openxmlformats.org/drawingml/2006/table">
            <a:tbl>
              <a:tblPr firstRow="0" bandRow="0">
                <a:tableStyleId>{5C22544A-7EE6-4342-B048-85BDC9FD1C3A}</a:tableStyleId>
              </a:tblPr>
              <a:tblGrid>
                <a:gridCol w="792000"/>
                <a:gridCol w="936000"/>
                <a:gridCol w="9504000"/>
              </a:tblGrid>
              <a:tr h="151200">
                <a:tc>
                  <a:txBody>
                    <a:bodyPr/>
                    <a:lstStyle/>
                    <a:p>
                      <a:r>
                        <a:rPr sz="700" b="1">
                          <a:solidFill>
                            <a:srgbClr val="060606"/>
                          </a:solidFill>
                          <a:latin typeface="Helvetica"/>
                        </a:rPr>
                        <a:t>Code couleur</a:t>
                      </a:r>
                    </a:p>
                  </a:txBody>
                  <a:tcPr marL="28800" marR="28800" marT="3600" marB="3600" anchor="ctr">
                    <a:solidFill>
                      <a:srgbClr val="FFFFFF"/>
                    </a:solidFill>
                  </a:tcPr>
                </a:tc>
                <a:tc>
                  <a:txBody>
                    <a:bodyPr/>
                    <a:lstStyle/>
                    <a:p>
                      <a:r>
                        <a:rPr sz="700" b="1">
                          <a:solidFill>
                            <a:srgbClr val="FFFFFF"/>
                          </a:solidFill>
                          <a:latin typeface="Helvetica"/>
                        </a:rPr>
                        <a:t>Non</a:t>
                      </a:r>
                    </a:p>
                  </a:txBody>
                  <a:tcPr marL="28800" marR="28800" marT="3600" marB="3600" anchor="ctr">
                    <a:solidFill>
                      <a:srgbClr val="C00000"/>
                    </a:solidFill>
                  </a:tcPr>
                </a:tc>
                <a:tc>
                  <a:txBody>
                    <a:bodyPr/>
                    <a:lstStyle/>
                    <a:p>
                      <a:r>
                        <a:rPr sz="700" b="0">
                          <a:solidFill>
                            <a:srgbClr val="060606"/>
                          </a:solidFill>
                          <a:latin typeface="Helvetica"/>
                        </a:rPr>
                        <a:t>réponse négative à la question de la colonne</a:t>
                      </a:r>
                    </a:p>
                  </a:txBody>
                  <a:tcPr marL="28800" marR="28800" marT="3600" marB="3600" anchor="ctr">
                    <a:solidFill>
                      <a:srgbClr val="FFFFFF"/>
                    </a:solidFill>
                  </a:tcPr>
                </a:tc>
              </a:tr>
            </a:tbl>
          </a:graphicData>
        </a:graphic>
      </p:graphicFrame>
      <p:sp>
        <p:nvSpPr>
          <p:cNvPr id="34" name="TextBox 33"/>
          <p:cNvSpPr txBox="1"/>
          <p:nvPr/>
        </p:nvSpPr>
        <p:spPr>
          <a:xfrm>
            <a:off x="503999" y="2858757"/>
            <a:ext cx="11232000" cy="162000"/>
          </a:xfrm>
          <a:prstGeom prst="rect">
            <a:avLst/>
          </a:prstGeom>
          <a:noFill/>
        </p:spPr>
        <p:txBody>
          <a:bodyPr wrap="square" anchor="t" lIns="54000" rIns="54000"/>
          <a:lstStyle/>
          <a:p>
            <a:pPr algn="l"/>
            <a:r>
              <a:rPr sz="850" b="0">
                <a:solidFill>
                  <a:srgbClr val="53565A"/>
                </a:solidFill>
                <a:latin typeface="Helvetica"/>
              </a:rPr>
              <a:t>Valable pour : ratios de 2020 au 31/08/2026.</a:t>
            </a:r>
          </a:p>
        </p:txBody>
      </p:sp>
      <p:sp>
        <p:nvSpPr>
          <p:cNvPr id="35" name="TextBox 34"/>
          <p:cNvSpPr txBox="1"/>
          <p:nvPr/>
        </p:nvSpPr>
        <p:spPr>
          <a:xfrm>
            <a:off x="503999" y="3164757"/>
            <a:ext cx="11232000" cy="2703242"/>
          </a:xfrm>
          <a:prstGeom prst="rect">
            <a:avLst/>
          </a:prstGeom>
          <a:noFill/>
        </p:spPr>
        <p:txBody>
          <a:bodyPr wrap="square" lIns="54000" rIns="54000"/>
          <a:lstStyle/>
          <a:p>
            <a:pPr algn="just">
              <a:spcAft>
                <a:spcPts val="600"/>
              </a:spcAft>
            </a:pPr>
            <a:r>
              <a:rPr sz="1300" b="1">
                <a:solidFill>
                  <a:srgbClr val="060606"/>
                </a:solidFill>
                <a:latin typeface="Helvetica"/>
              </a:rPr>
              <a:t>Le SCR mélangerait un cadre étranger et des engagements non estimés.</a:t>
            </a:r>
          </a:p>
          <a:p>
            <a:pPr algn="just">
              <a:spcAft>
                <a:spcPts val="600"/>
              </a:spcAft>
            </a:pPr>
            <a:r>
              <a:rPr sz="1300" b="0">
                <a:solidFill>
                  <a:srgbClr val="060606"/>
                </a:solidFill>
                <a:latin typeface="Helvetica"/>
              </a:rPr>
              <a:t>Méthode appliquée : marge de solvabilité de la Décision n° 05/2022 et tests de résistance calibrés sur le FPPN (partie 10 et partie 9).</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a:t>
            </a:r>
          </a:p>
        </p:txBody>
      </p:sp>
    </p:spTree>
    <p:extLst>
      <p:ext uri="{BB962C8B-B14F-4D97-AF65-F5344CB8AC3E}">
        <p14:creationId xmlns:p14="http://schemas.microsoft.com/office/powerpoint/2010/main" val="3868819695"/>
      </p:ext>
    </p:extLst>
  </p:cSld>
  <p:clrMapOvr>
    <a:masterClrMapping/>
  </p:clrMapOvr>
  <p:transition>
    <p:fade/>
  </p:transition>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Fichiers sources (1/3)</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Noms exacts des fichiers du FPPN cités dans les lignes « Valable pour » et dans les sources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Les lignes « Valable pour » citent les familles de fichiers. Ce tableau donne les noms exacts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inventaire des fichiers reçus du FPPN. Traitements Adenka</a:t>
            </a:r>
          </a:p>
        </p:txBody>
      </p:sp>
      <p:sp>
        <p:nvSpPr>
          <p:cNvPr id="31" name="TextBox 30"/>
          <p:cNvSpPr txBox="1"/>
          <p:nvPr/>
        </p:nvSpPr>
        <p:spPr>
          <a:xfrm>
            <a:off x="503999" y="1386000"/>
            <a:ext cx="11231999" cy="216000"/>
          </a:xfrm>
          <a:prstGeom prst="rect">
            <a:avLst/>
          </a:prstGeom>
          <a:noFill/>
        </p:spPr>
        <p:txBody>
          <a:bodyPr wrap="square" anchor="t" lIns="54000" rIns="54000"/>
          <a:lstStyle/>
          <a:p>
            <a:pPr algn="ctr"/>
            <a:r>
              <a:rPr sz="1200" b="0">
                <a:solidFill>
                  <a:srgbClr val="EFAC62"/>
                </a:solidFill>
                <a:latin typeface="Helvetica"/>
              </a:rPr>
              <a:t>Tableau 123 : Fichiers sources et période couverte</a:t>
            </a:r>
          </a:p>
        </p:txBody>
      </p:sp>
      <p:graphicFrame>
        <p:nvGraphicFramePr>
          <p:cNvPr id="32" name="Table 31"/>
          <p:cNvGraphicFramePr>
            <a:graphicFrameLocks noGrp="1"/>
          </p:cNvGraphicFramePr>
          <p:nvPr/>
        </p:nvGraphicFramePr>
        <p:xfrm>
          <a:off x="503999" y="1655999"/>
          <a:ext cx="11231996" cy="1979163"/>
        </p:xfrm>
        <a:graphic>
          <a:graphicData uri="http://schemas.openxmlformats.org/drawingml/2006/table">
            <a:tbl>
              <a:tblPr firstRow="0" bandRow="0">
                <a:tableStyleId>{5940675A-B579-460E-94D1-54222C63F5DA}</a:tableStyleId>
              </a:tblPr>
              <a:tblGrid>
                <a:gridCol w="1655999"/>
                <a:gridCol w="1655999"/>
                <a:gridCol w="6263999"/>
                <a:gridCol w="1655999"/>
              </a:tblGrid>
              <a:tr h="180000">
                <a:tc>
                  <a:txBody>
                    <a:bodyPr/>
                    <a:lstStyle/>
                    <a:p>
                      <a:pPr marL="0" indent="0" lvl="0">
                        <a:buNone/>
                      </a:pPr>
                      <a:r>
                        <a:rPr sz="750" b="1">
                          <a:solidFill>
                            <a:srgbClr val="FFFFFF"/>
                          </a:solidFill>
                          <a:latin typeface="Helvetica"/>
                        </a:rPr>
                        <a:t>Famille</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Contenu</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Fichiers exacts</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Période</a:t>
                      </a:r>
                    </a:p>
                  </a:txBody>
                  <a:tcPr marL="43200" marR="43200" marT="14400" marB="14400" anchor="ctr">
                    <a:solidFill>
                      <a:srgbClr val="060606"/>
                    </a:solidFill>
                  </a:tcPr>
                </a:tc>
              </a:tr>
              <a:tr h="400521">
                <a:tc>
                  <a:txBody>
                    <a:bodyPr/>
                    <a:lstStyle/>
                    <a:p>
                      <a:pPr marL="0" indent="0" lvl="0">
                        <a:buNone/>
                      </a:pPr>
                      <a:r>
                        <a:rPr sz="750" b="1">
                          <a:solidFill>
                            <a:srgbClr val="060606"/>
                          </a:solidFill>
                          <a:latin typeface="Helvetica"/>
                        </a:rPr>
                        <a:t>Balances des comptes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Soldes et mouvements par compte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 BALANCE FORMAT EXCEL DE 09-2020 AU 31-12-2020.xlsx ». « BALANCE FPPN FORMAT EXCEL DU 01-01-2021 AU 31-12-2026.xlsx ». « BALANCE FPPN 2022.xlsx ». « BALANCE FPPN 2023.xlsx ». « BALANCE FPPN 2024.xlsx ». « BALANCE FPPN 2025.xlsx ». « BALANCE FPPN DU 01-01-2026 AU 31-08-2026.xlsx »</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01/09/2020 (à-nouveaux) au 31/08/2026</a:t>
                      </a:r>
                    </a:p>
                  </a:txBody>
                  <a:tcPr marL="43200" marR="43200" marT="14400" marB="14400" anchor="ctr">
                    <a:solidFill>
                      <a:srgbClr val="FFFFFF"/>
                    </a:solidFill>
                  </a:tcPr>
                </a:tc>
              </a:tr>
              <a:tr h="286214">
                <a:tc>
                  <a:txBody>
                    <a:bodyPr/>
                    <a:lstStyle/>
                    <a:p>
                      <a:pPr marL="0" indent="0" lvl="0">
                        <a:buNone/>
                      </a:pPr>
                      <a:r>
                        <a:rPr sz="750" b="1">
                          <a:solidFill>
                            <a:srgbClr val="060606"/>
                          </a:solidFill>
                          <a:latin typeface="Helvetica"/>
                        </a:rPr>
                        <a:t>Balances des tiers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Soldes par tiers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 BALANCE DES TIERS DE 09-2020 AU 31-12-2020.xlsx ». « BALANCE DES TIERS FPPN 2022.xlsx ». « BALANCE DES TIERS FPPN 2023.xlsx ». « BALANCE DES TIERS FPPN 2024.xlsx ». « BALANCE DES TIERS FPPN DU 01-01-2026 AU 31-08-2026.xlsx »</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2020, 2022 à 2024, 2026</a:t>
                      </a:r>
                    </a:p>
                  </a:txBody>
                  <a:tcPr marL="43200" marR="43200" marT="14400" marB="14400" anchor="ctr">
                    <a:solidFill>
                      <a:srgbClr val="F2F2F2"/>
                    </a:solidFill>
                  </a:tcPr>
                </a:tc>
              </a:tr>
              <a:tr h="286214">
                <a:tc>
                  <a:txBody>
                    <a:bodyPr/>
                    <a:lstStyle/>
                    <a:p>
                      <a:pPr marL="0" indent="0" lvl="0">
                        <a:buNone/>
                      </a:pPr>
                      <a:r>
                        <a:rPr sz="750" b="1">
                          <a:solidFill>
                            <a:srgbClr val="060606"/>
                          </a:solidFill>
                          <a:latin typeface="Helvetica"/>
                        </a:rPr>
                        <a:t>Grands livres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Écritures détaillées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 GRAND LIVRE FPPN 2024.xlsx ». « GRAND LIVRE DES TIERS FPPN 2023.xlsx ». « GRAND LIVRE DES TIERS 2024.xlsx ». « GRAND LIVRES DES TIERS 2025.xlsx »</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2023 à 2025</a:t>
                      </a:r>
                    </a:p>
                  </a:txBody>
                  <a:tcPr marL="43200" marR="43200" marT="14400" marB="14400" anchor="ctr">
                    <a:solidFill>
                      <a:srgbClr val="FFFFFF"/>
                    </a:solidFill>
                  </a:tcPr>
                </a:tc>
              </a:tr>
              <a:tr h="286214">
                <a:tc>
                  <a:txBody>
                    <a:bodyPr/>
                    <a:lstStyle/>
                    <a:p>
                      <a:pPr marL="0" indent="0" lvl="0">
                        <a:buNone/>
                      </a:pPr>
                      <a:r>
                        <a:rPr sz="750" b="1">
                          <a:solidFill>
                            <a:srgbClr val="060606"/>
                          </a:solidFill>
                          <a:latin typeface="Helvetica"/>
                        </a:rPr>
                        <a:t>Allocations décès (fin d'année)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Décès non payés valorisés au barème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 PROV ALLOCATION DECES 2021.xlsx », « PROV ALLOCATION DECES 2022.xlsx », « ALLOC DECES 2023 PAYER ET A PROVISIONNER .xlsx », « PROV ALLOCATION DECES 2024.xlsx », « PROV ALLOCATIONS DECES ET FRAIS FUNERAIRES 2025.xlsx »</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2021 à 2025</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Grenier, balances âgées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Encours et retards par prêt</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37 fichiers « BalanceAgeeDetaille … .xls » (annuels 2021 à 2025, mensuels 2026 par portefeuille CRF, CRO, CRS)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31/12/2021 au 30/09/2026</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Grenier, production</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Prêts débloqués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fichiers « production_de_la_periode … .xls » (annuels 2021 à 2025, mensuels 2026)</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2021 à 09/2026</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Précomptes, poste 936</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Cotisation maladie des actifs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 FPPN-SOLDE\EFFECTIF POLICE (MALADIE) » : 32 fichiers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01/2024 à 09/2026</a:t>
                      </a:r>
                    </a:p>
                  </a:txBody>
                  <a:tcPr marL="43200" marR="43200" marT="14400" marB="14400" anchor="ctr">
                    <a:solidFill>
                      <a:srgbClr val="FFFFFF"/>
                    </a:solidFill>
                  </a:tcPr>
                </a:tc>
              </a:tr>
            </a:tbl>
          </a:graphicData>
        </a:graphic>
      </p:graphicFrame>
      <p:sp>
        <p:nvSpPr>
          <p:cNvPr id="33" name="TextBox 32"/>
          <p:cNvSpPr txBox="1"/>
          <p:nvPr/>
        </p:nvSpPr>
        <p:spPr>
          <a:xfrm>
            <a:off x="503999" y="3743164"/>
            <a:ext cx="11231999" cy="162000"/>
          </a:xfrm>
          <a:prstGeom prst="rect">
            <a:avLst/>
          </a:prstGeom>
          <a:noFill/>
        </p:spPr>
        <p:txBody>
          <a:bodyPr wrap="square" anchor="t" lIns="54000" rIns="54000"/>
          <a:lstStyle/>
          <a:p>
            <a:pPr algn="l"/>
            <a:r>
              <a:rPr sz="850" b="0">
                <a:solidFill>
                  <a:srgbClr val="53565A"/>
                </a:solidFill>
                <a:latin typeface="Helvetica"/>
              </a:rPr>
              <a:t>Valable pour : fichiers reçus jusqu'au 22/10/2026 et retenus après les contrôles de la partie 3.</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936 : poste maladie</a:t>
            </a:r>
          </a:p>
        </p:txBody>
      </p:sp>
    </p:spTree>
    <p:extLst>
      <p:ext uri="{BB962C8B-B14F-4D97-AF65-F5344CB8AC3E}">
        <p14:creationId xmlns:p14="http://schemas.microsoft.com/office/powerpoint/2010/main" val="1854046955"/>
      </p:ext>
    </p:extLst>
  </p:cSld>
  <p:clrMapOvr>
    <a:masterClrMapping/>
  </p:clrMapOvr>
  <p:transition>
    <p:fade/>
  </p:transition>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Fichiers sources (2/3)</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Noms exacts des fichiers du FPPN cités dans les lignes « Valable pour » et dans les sources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Les lignes « Valable pour » citent les familles de fichiers. Ce tableau donne les noms exacts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inventaire des fichiers reçus du FPPN. Traitements Adenka</a:t>
            </a:r>
          </a:p>
        </p:txBody>
      </p:sp>
      <p:sp>
        <p:nvSpPr>
          <p:cNvPr id="31" name="TextBox 30"/>
          <p:cNvSpPr txBox="1"/>
          <p:nvPr/>
        </p:nvSpPr>
        <p:spPr>
          <a:xfrm>
            <a:off x="503999" y="1386000"/>
            <a:ext cx="11231999" cy="216000"/>
          </a:xfrm>
          <a:prstGeom prst="rect">
            <a:avLst/>
          </a:prstGeom>
          <a:noFill/>
        </p:spPr>
        <p:txBody>
          <a:bodyPr wrap="square" anchor="t" lIns="54000" rIns="54000"/>
          <a:lstStyle/>
          <a:p>
            <a:pPr algn="ctr"/>
            <a:r>
              <a:rPr sz="1200" b="0">
                <a:solidFill>
                  <a:srgbClr val="EFAC62"/>
                </a:solidFill>
                <a:latin typeface="Helvetica"/>
              </a:rPr>
              <a:t>Tableau 124 : Fichiers sources et période couverte</a:t>
            </a:r>
          </a:p>
        </p:txBody>
      </p:sp>
      <p:graphicFrame>
        <p:nvGraphicFramePr>
          <p:cNvPr id="32" name="Table 31"/>
          <p:cNvGraphicFramePr>
            <a:graphicFrameLocks noGrp="1"/>
          </p:cNvGraphicFramePr>
          <p:nvPr/>
        </p:nvGraphicFramePr>
        <p:xfrm>
          <a:off x="503999" y="1655999"/>
          <a:ext cx="11231996" cy="1440000"/>
        </p:xfrm>
        <a:graphic>
          <a:graphicData uri="http://schemas.openxmlformats.org/drawingml/2006/table">
            <a:tbl>
              <a:tblPr firstRow="0" bandRow="0">
                <a:tableStyleId>{5940675A-B579-460E-94D1-54222C63F5DA}</a:tableStyleId>
              </a:tblPr>
              <a:tblGrid>
                <a:gridCol w="1655999"/>
                <a:gridCol w="1655999"/>
                <a:gridCol w="6263999"/>
                <a:gridCol w="1655999"/>
              </a:tblGrid>
              <a:tr h="180000">
                <a:tc>
                  <a:txBody>
                    <a:bodyPr/>
                    <a:lstStyle/>
                    <a:p>
                      <a:pPr marL="0" indent="0" lvl="0">
                        <a:buNone/>
                      </a:pPr>
                      <a:r>
                        <a:rPr sz="750" b="1">
                          <a:solidFill>
                            <a:srgbClr val="FFFFFF"/>
                          </a:solidFill>
                          <a:latin typeface="Helvetica"/>
                        </a:rPr>
                        <a:t>Famille</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Contenu</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Fichiers exacts</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Période</a:t>
                      </a:r>
                    </a:p>
                  </a:txBody>
                  <a:tcPr marL="43200" marR="43200" marT="14400" marB="14400" anchor="ctr">
                    <a:solidFill>
                      <a:srgbClr val="060606"/>
                    </a:solidFill>
                  </a:tcPr>
                </a:tc>
              </a:tr>
              <a:tr h="180000">
                <a:tc>
                  <a:txBody>
                    <a:bodyPr/>
                    <a:lstStyle/>
                    <a:p>
                      <a:pPr marL="0" indent="0" lvl="0">
                        <a:buNone/>
                      </a:pPr>
                      <a:r>
                        <a:rPr sz="750" b="1">
                          <a:solidFill>
                            <a:srgbClr val="060606"/>
                          </a:solidFill>
                          <a:latin typeface="Helvetica"/>
                        </a:rPr>
                        <a:t>Précomptes, poste 8Z6</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Cotisation décès des actifs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 FPPN-SOLDE\ALLOCATION DECES » : 25 fichiers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01/2024 à 09/2026</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Précomptes, poste 998</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Épargne PEP</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 FPPN-SOLDE\EFC\FICHIER ALLER ». « FPPN-SOLDE\PEP\FICHIER ALLER ». « FPPN-SOLDE\PEP\FICHIER RETOUR » : 106 fichiers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03/2001 à 09/2026</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Précomptes, poste 870</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Épargne EFC</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 FPPN-SOLDE\EFC\FICHIER ALLER ». « FPPN-SOLDE\EFC\FICHIER RETOUR ». « FPPN-SOLDE\PEP\FICHIER ALLER » : 82 fichiers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01/2023 à 08/2026</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Précomptes, poste 9X4</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Remboursements du Grenier</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 FPPN-SOLDE\GRENIER\FICHIER ALLER RETOUR » : 94 fichiers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01/2022 à 08/2026</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Précomptes, poste 9W3</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Primes GNA (flotte automobile)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 FPPN-GNA\FICHIER RETOUR ». « FPPN-GNA\FICHIERS ALLER » : 73 fichiers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03/2023 à 09/2026</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Précomptes, poste 8Z7</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MEDOC</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 FPPN-SOLDE\MEDOC ». « FPPN-SOLDE\PEP\FICHIER ALLER » : 16 fichiers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11/2025 à 08/2026</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Précomptes, poste CGRAE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Cotisations des retraités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 FPPN-CGRAE\PRECOMTES\FICHIER RETOUR (CGRAE) ». « FPPN-CGRAE\PRECOMTES\FICHIERS ALLER (FPPN) » : 64 fichiers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02/2024 à 10/2026</a:t>
                      </a:r>
                    </a:p>
                  </a:txBody>
                  <a:tcPr marL="43200" marR="43200" marT="14400" marB="14400" anchor="ctr">
                    <a:solidFill>
                      <a:srgbClr val="FFFFFF"/>
                    </a:solidFill>
                  </a:tcPr>
                </a:tc>
              </a:tr>
            </a:tbl>
          </a:graphicData>
        </a:graphic>
      </p:graphicFrame>
      <p:sp>
        <p:nvSpPr>
          <p:cNvPr id="33" name="TextBox 32"/>
          <p:cNvSpPr txBox="1"/>
          <p:nvPr/>
        </p:nvSpPr>
        <p:spPr>
          <a:xfrm>
            <a:off x="503999" y="3204000"/>
            <a:ext cx="11231999" cy="162000"/>
          </a:xfrm>
          <a:prstGeom prst="rect">
            <a:avLst/>
          </a:prstGeom>
          <a:noFill/>
        </p:spPr>
        <p:txBody>
          <a:bodyPr wrap="square" anchor="t" lIns="54000" rIns="54000"/>
          <a:lstStyle/>
          <a:p>
            <a:pPr algn="l"/>
            <a:r>
              <a:rPr sz="850" b="0">
                <a:solidFill>
                  <a:srgbClr val="53565A"/>
                </a:solidFill>
                <a:latin typeface="Helvetica"/>
              </a:rPr>
              <a:t>Valable pour : fichiers reçus jusqu'au 22/10/2026 et retenus après les contrôles de la partie 3.</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Sigles : FPPN : Fonds de prévoyance de la Police nationale | CGRAE : Caisse générale de retraite des agents de l'État | PEP : Plan Épargne Plus | EFC : entraide fin de carrière | GNA : assureur de la flotte automobile (compte 47111106) | MEDOC : produit santé complémentaire du poste 8Z7 | 8Z6 : poste décès | 870 : poste EFC | 998 : poste PEP | 9X4 : poste Grenier | 9W3 : poste flotte automobile | 8Z7 : poste MEDOC</a:t>
            </a:r>
          </a:p>
        </p:txBody>
      </p:sp>
    </p:spTree>
    <p:extLst>
      <p:ext uri="{BB962C8B-B14F-4D97-AF65-F5344CB8AC3E}">
        <p14:creationId xmlns:p14="http://schemas.microsoft.com/office/powerpoint/2010/main" val="3740143886"/>
      </p:ext>
    </p:extLst>
  </p:cSld>
  <p:clrMapOvr>
    <a:masterClrMapping/>
  </p:clrMapOvr>
  <p:transition>
    <p:fade/>
  </p:transition>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Fichiers sources (3/3)</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Noms exacts des fichiers du FPPN cités dans les lignes « Valable pour » et dans les sources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Les lignes « Valable pour » citent les familles de fichiers. Ce tableau donne les noms exacts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inventaire des fichiers reçus du FPPN. Traitements Adenka</a:t>
            </a:r>
          </a:p>
        </p:txBody>
      </p:sp>
      <p:sp>
        <p:nvSpPr>
          <p:cNvPr id="31" name="TextBox 30"/>
          <p:cNvSpPr txBox="1"/>
          <p:nvPr/>
        </p:nvSpPr>
        <p:spPr>
          <a:xfrm>
            <a:off x="503999" y="1386000"/>
            <a:ext cx="11231999" cy="216000"/>
          </a:xfrm>
          <a:prstGeom prst="rect">
            <a:avLst/>
          </a:prstGeom>
          <a:noFill/>
        </p:spPr>
        <p:txBody>
          <a:bodyPr wrap="square" anchor="t" lIns="54000" rIns="54000"/>
          <a:lstStyle/>
          <a:p>
            <a:pPr algn="ctr"/>
            <a:r>
              <a:rPr sz="1200" b="0">
                <a:solidFill>
                  <a:srgbClr val="EFAC62"/>
                </a:solidFill>
                <a:latin typeface="Helvetica"/>
              </a:rPr>
              <a:t>Tableau 125 : Fichiers sources et période couverte</a:t>
            </a:r>
          </a:p>
        </p:txBody>
      </p:sp>
      <p:graphicFrame>
        <p:nvGraphicFramePr>
          <p:cNvPr id="32" name="Table 31"/>
          <p:cNvGraphicFramePr>
            <a:graphicFrameLocks noGrp="1"/>
          </p:cNvGraphicFramePr>
          <p:nvPr/>
        </p:nvGraphicFramePr>
        <p:xfrm>
          <a:off x="503999" y="1655999"/>
          <a:ext cx="11231996" cy="1046735"/>
        </p:xfrm>
        <a:graphic>
          <a:graphicData uri="http://schemas.openxmlformats.org/drawingml/2006/table">
            <a:tbl>
              <a:tblPr firstRow="0" bandRow="0">
                <a:tableStyleId>{5940675A-B579-460E-94D1-54222C63F5DA}</a:tableStyleId>
              </a:tblPr>
              <a:tblGrid>
                <a:gridCol w="1655999"/>
                <a:gridCol w="1655999"/>
                <a:gridCol w="6263999"/>
                <a:gridCol w="1655999"/>
              </a:tblGrid>
              <a:tr h="180000">
                <a:tc>
                  <a:txBody>
                    <a:bodyPr/>
                    <a:lstStyle/>
                    <a:p>
                      <a:pPr marL="0" indent="0" lvl="0">
                        <a:buNone/>
                      </a:pPr>
                      <a:r>
                        <a:rPr sz="750" b="1">
                          <a:solidFill>
                            <a:srgbClr val="FFFFFF"/>
                          </a:solidFill>
                          <a:latin typeface="Helvetica"/>
                        </a:rPr>
                        <a:t>Famille</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Contenu</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Fichiers exacts</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Période</a:t>
                      </a:r>
                    </a:p>
                  </a:txBody>
                  <a:tcPr marL="43200" marR="43200" marT="14400" marB="14400" anchor="ctr">
                    <a:solidFill>
                      <a:srgbClr val="060606"/>
                    </a:solidFill>
                  </a:tcPr>
                </a:tc>
              </a:tr>
              <a:tr h="286214">
                <a:tc>
                  <a:txBody>
                    <a:bodyPr/>
                    <a:lstStyle/>
                    <a:p>
                      <a:pPr marL="0" indent="0" lvl="0">
                        <a:buNone/>
                      </a:pPr>
                      <a:r>
                        <a:rPr sz="750" b="1">
                          <a:solidFill>
                            <a:srgbClr val="060606"/>
                          </a:solidFill>
                          <a:latin typeface="Helvetica"/>
                        </a:rPr>
                        <a:t>Personnel</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Déclarations des salaires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DISA_256927_2021.xls, DISA_256927_2022.xls, DISA_256927_2023.xls, DISA_256927_2025.xls (déclarations CNPS). ETAT 301 &amp; DISA 2024 FPPN.xls (RECAPSALAIRES 2024 CMP). ETAT 301 &amp; DISA 2025 FPPN.xls (RECAPSALAIRES 2025 GRENIER)</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2021 à 2025</a:t>
                      </a:r>
                    </a:p>
                  </a:txBody>
                  <a:tcPr marL="43200" marR="43200" marT="14400" marB="14400" anchor="ctr">
                    <a:solidFill>
                      <a:srgbClr val="FFFFFF"/>
                    </a:solidFill>
                  </a:tcPr>
                </a:tc>
              </a:tr>
              <a:tr h="400521">
                <a:tc>
                  <a:txBody>
                    <a:bodyPr/>
                    <a:lstStyle/>
                    <a:p>
                      <a:pPr marL="0" indent="0" lvl="0">
                        <a:buNone/>
                      </a:pPr>
                      <a:r>
                        <a:rPr sz="750" b="1">
                          <a:solidFill>
                            <a:srgbClr val="060606"/>
                          </a:solidFill>
                          <a:latin typeface="Helvetica"/>
                        </a:rPr>
                        <a:t>Actifs et gouvernance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Clinique, projet de Cocody, directeur général</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 ARRETE N° 0027-MSHP-DGS-DEPS DU 10-02-2020 PORTANT AUTORISATION D'OUVERTURE D'EXPLOITATION ET IMMATRICULATION DU CMP.pdf ». « DEROGATION AUX REGLES D'URBANISME CONSTRUCTION 4 IMMEUBLES R+5 AVEC 01 CES DE 70% A USAGE D'HABITATION COCODY 2 PLTX.pdf ». « ATTESTATION DE DESIGNATION DU DGFPPN AU TITRE DE LA MANDATURE 2020-2023.pdf »</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2020 à 2025</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Tables de mortalité</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Lx, qx, dx par âge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 CIMA_H.xlsx ». « CIMA_F.xlsx ». « TD_CIMA.xlsx ». « TV_CIMA.xlsx »</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Âges 0 à 110 ans</a:t>
                      </a:r>
                    </a:p>
                  </a:txBody>
                  <a:tcPr marL="43200" marR="43200" marT="14400" marB="14400" anchor="ctr">
                    <a:solidFill>
                      <a:srgbClr val="FFFFFF"/>
                    </a:solidFill>
                  </a:tcPr>
                </a:tc>
              </a:tr>
            </a:tbl>
          </a:graphicData>
        </a:graphic>
      </p:graphicFrame>
      <p:sp>
        <p:nvSpPr>
          <p:cNvPr id="33" name="TextBox 32"/>
          <p:cNvSpPr txBox="1"/>
          <p:nvPr/>
        </p:nvSpPr>
        <p:spPr>
          <a:xfrm>
            <a:off x="503999" y="2810736"/>
            <a:ext cx="11231999" cy="162000"/>
          </a:xfrm>
          <a:prstGeom prst="rect">
            <a:avLst/>
          </a:prstGeom>
          <a:noFill/>
        </p:spPr>
        <p:txBody>
          <a:bodyPr wrap="square" anchor="t" lIns="54000" rIns="54000"/>
          <a:lstStyle/>
          <a:p>
            <a:pPr algn="l"/>
            <a:r>
              <a:rPr sz="850" b="0">
                <a:solidFill>
                  <a:srgbClr val="53565A"/>
                </a:solidFill>
                <a:latin typeface="Helvetica"/>
              </a:rPr>
              <a:t>Valable pour : fichiers reçus jusqu'au 22/10/2026 et retenus après les contrôles de la partie 3.</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CMP : Clinique médicale du policier | CNPS : Caisse nationale de prévoyance sociale | qx : probabilité de décès entre x et x + 1 ans | Lx : survivants à l'âge x | DISA : déclaration individuelle des salaires annuels à la CNPS</a:t>
            </a:r>
          </a:p>
        </p:txBody>
      </p:sp>
    </p:spTree>
    <p:extLst>
      <p:ext uri="{BB962C8B-B14F-4D97-AF65-F5344CB8AC3E}">
        <p14:creationId xmlns:p14="http://schemas.microsoft.com/office/powerpoint/2010/main" val="466788052"/>
      </p:ext>
    </p:extLst>
  </p:cSld>
  <p:clrMapOvr>
    <a:masterClrMapping/>
  </p:clrMapOvr>
  <p:transition>
    <p:fade/>
  </p:transition>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Tableau des formules : lecture</a:t>
            </a:r>
          </a:p>
        </p:txBody>
      </p:sp>
      <p:sp>
        <p:nvSpPr>
          <p:cNvPr id="28" name="TextBox 27"/>
          <p:cNvSpPr txBox="1"/>
          <p:nvPr/>
        </p:nvSpPr>
        <p:spPr>
          <a:xfrm>
            <a:off x="503999" y="720000"/>
            <a:ext cx="11232000" cy="216000"/>
          </a:xfrm>
          <a:prstGeom prst="rect">
            <a:avLst/>
          </a:prstGeom>
          <a:noFill/>
        </p:spPr>
        <p:txBody>
          <a:bodyPr wrap="square" anchor="t" lIns="54000" rIns="54000"/>
          <a:lstStyle/>
          <a:p>
            <a:pPr algn="ctr"/>
            <a:r>
              <a:rPr sz="1200" b="0">
                <a:solidFill>
                  <a:srgbClr val="EFAC62"/>
                </a:solidFill>
                <a:latin typeface="Helvetica"/>
              </a:rPr>
              <a:t>Tableau 126 : Colonnes et statuts du tableau des formules</a:t>
            </a:r>
          </a:p>
        </p:txBody>
      </p:sp>
      <p:graphicFrame>
        <p:nvGraphicFramePr>
          <p:cNvPr id="29" name="Table 28"/>
          <p:cNvGraphicFramePr>
            <a:graphicFrameLocks noGrp="1"/>
          </p:cNvGraphicFramePr>
          <p:nvPr/>
        </p:nvGraphicFramePr>
        <p:xfrm>
          <a:off x="503999" y="990000"/>
          <a:ext cx="11232000" cy="1947680"/>
        </p:xfrm>
        <a:graphic>
          <a:graphicData uri="http://schemas.openxmlformats.org/drawingml/2006/table">
            <a:tbl>
              <a:tblPr firstRow="0" bandRow="0">
                <a:tableStyleId>{5940675A-B579-460E-94D1-54222C63F5DA}</a:tableStyleId>
              </a:tblPr>
              <a:tblGrid>
                <a:gridCol w="2520000"/>
                <a:gridCol w="8712000"/>
              </a:tblGrid>
              <a:tr h="194768">
                <a:tc>
                  <a:txBody>
                    <a:bodyPr/>
                    <a:lstStyle/>
                    <a:p>
                      <a:pPr marL="0" indent="0" lvl="0">
                        <a:buNone/>
                      </a:pPr>
                      <a:r>
                        <a:rPr sz="900" b="1">
                          <a:solidFill>
                            <a:srgbClr val="FFFFFF"/>
                          </a:solidFill>
                          <a:latin typeface="Helvetica"/>
                        </a:rPr>
                        <a:t>Élément</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Signification</a:t>
                      </a:r>
                    </a:p>
                  </a:txBody>
                  <a:tcPr marL="43200" marR="43200" marT="14400" marB="14400" anchor="ctr">
                    <a:solidFill>
                      <a:srgbClr val="060606"/>
                    </a:solidFill>
                  </a:tcPr>
                </a:tc>
              </a:tr>
              <a:tr h="194768">
                <a:tc>
                  <a:txBody>
                    <a:bodyPr/>
                    <a:lstStyle/>
                    <a:p>
                      <a:pPr marL="0" indent="0" lvl="0">
                        <a:buNone/>
                      </a:pPr>
                      <a:r>
                        <a:rPr sz="900" b="1">
                          <a:solidFill>
                            <a:srgbClr val="060606"/>
                          </a:solidFill>
                          <a:latin typeface="Helvetica"/>
                        </a:rPr>
                        <a:t>Identifiant</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F-partie-numéro : renvoie à la ligne du classeur, où figurent la formule détaillée, les données, l'écart chiffré, les risques et le calcul.</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Formule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Ce que calcule l'indicateur, en mots. La formule en comptes ou en colonnes est dans le classeur.</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Source de la méthode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Texte réglementaire (article ou paragraphe) ou, à défaut, référence technique.</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Méthode du FPPN</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Méthode du FPPN quand elle est connue. « Non communiquée » en rouge quand aucun calcul n'a été transmis.</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Conforme au texte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La formule du texte est appliquée telle quelle.</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Divergent, justifié</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La formule diffère du texte. La raison et l'écart sont expliqués dans le rapport et dans le classeur.</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Sans texte applicable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Aucun texte ne fixe la méthode. Une référence technique est citée.</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En attente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Le calcul attend un document du FPPN (PBC).</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À apprécier</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Le texte ne fixe pas de norme chiffrée.</a:t>
                      </a:r>
                    </a:p>
                  </a:txBody>
                  <a:tcPr marL="43200" marR="43200" marT="14400" marB="14400" anchor="ctr">
                    <a:solidFill>
                      <a:srgbClr val="FFFFFF"/>
                    </a:solidFill>
                  </a:tcPr>
                </a:tc>
              </a:tr>
            </a:tbl>
          </a:graphicData>
        </a:graphic>
      </p:graphicFrame>
      <p:sp>
        <p:nvSpPr>
          <p:cNvPr id="30" name="TextBox 29"/>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a:t>
            </a:r>
          </a:p>
        </p:txBody>
      </p:sp>
      <p:sp>
        <p:nvSpPr>
          <p:cNvPr id="31" name="TextBox 30"/>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PBC : liste des documents demandés au client</a:t>
            </a:r>
          </a:p>
        </p:txBody>
      </p:sp>
    </p:spTree>
    <p:extLst>
      <p:ext uri="{BB962C8B-B14F-4D97-AF65-F5344CB8AC3E}">
        <p14:creationId xmlns:p14="http://schemas.microsoft.com/office/powerpoint/2010/main" val="902598254"/>
      </p:ext>
    </p:extLst>
  </p:cSld>
  <p:clrMapOvr>
    <a:masterClrMapping/>
  </p:clrMapOvr>
  <p:transition>
    <p:fade/>
  </p:transition>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Tableau des formules (F-03-01 à F-04-03)</a:t>
            </a:r>
          </a:p>
        </p:txBody>
      </p:sp>
      <p:graphicFrame>
        <p:nvGraphicFramePr>
          <p:cNvPr id="28" name="Table 27"/>
          <p:cNvGraphicFramePr>
            <a:graphicFrameLocks noGrp="1"/>
          </p:cNvGraphicFramePr>
          <p:nvPr/>
        </p:nvGraphicFramePr>
        <p:xfrm>
          <a:off x="503999" y="720000"/>
          <a:ext cx="11231998" cy="2963679"/>
        </p:xfrm>
        <a:graphic>
          <a:graphicData uri="http://schemas.openxmlformats.org/drawingml/2006/table">
            <a:tbl>
              <a:tblPr firstRow="0" bandRow="0">
                <a:tableStyleId>{5940675A-B579-460E-94D1-54222C63F5DA}</a:tableStyleId>
              </a:tblPr>
              <a:tblGrid>
                <a:gridCol w="684000"/>
                <a:gridCol w="1655999"/>
                <a:gridCol w="3384000"/>
                <a:gridCol w="1944000"/>
                <a:gridCol w="2015999"/>
                <a:gridCol w="1548000"/>
              </a:tblGrid>
              <a:tr h="301455">
                <a:tc>
                  <a:txBody>
                    <a:bodyPr/>
                    <a:lstStyle/>
                    <a:p>
                      <a:pPr marL="0" indent="0" lvl="0">
                        <a:buNone/>
                      </a:pPr>
                      <a:r>
                        <a:rPr sz="800" b="1">
                          <a:solidFill>
                            <a:srgbClr val="FFFFFF"/>
                          </a:solidFill>
                          <a:latin typeface="Helvetica"/>
                        </a:rPr>
                        <a:t>Identifiant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Indicateur</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Formule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Source de la méthode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Méthode du FPPN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Statut</a:t>
                      </a:r>
                    </a:p>
                  </a:txBody>
                  <a:tcPr marL="43200" marR="43200" marT="14400" marB="14400" anchor="ctr">
                    <a:solidFill>
                      <a:srgbClr val="060606"/>
                    </a:solidFill>
                  </a:tcPr>
                </a:tc>
              </a:tr>
              <a:tr h="423383">
                <a:tc>
                  <a:txBody>
                    <a:bodyPr/>
                    <a:lstStyle/>
                    <a:p>
                      <a:pPr marL="0" indent="0" lvl="0">
                        <a:buNone/>
                      </a:pPr>
                      <a:r>
                        <a:rPr sz="800" b="1">
                          <a:solidFill>
                            <a:srgbClr val="060606"/>
                          </a:solidFill>
                          <a:latin typeface="Helvetica"/>
                        </a:rPr>
                        <a:t>F-03-01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Taux de précompte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Montant précompté (fichier retour) divisé par le montant demandé (fichier aller), sur les mois où les deux fichiers existent.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communiquée : le FPPN ne rapproche pas les fichiers aller et retour (entretien du 19/10/2026)</a:t>
                      </a:r>
                    </a:p>
                  </a:txBody>
                  <a:tcPr marL="43200" marR="43200" marT="14400" marB="14400" anchor="ctr">
                    <a:solidFill>
                      <a:srgbClr val="FFFFFF"/>
                    </a:solidFill>
                  </a:tcPr>
                </a:tc>
                <a:tc>
                  <a:txBody>
                    <a:bodyPr/>
                    <a:lstStyle/>
                    <a:p>
                      <a:pPr marL="0" indent="0" lvl="0">
                        <a:buNone/>
                      </a:pPr>
                      <a:r>
                        <a:rPr sz="800" b="1">
                          <a:solidFill>
                            <a:srgbClr val="060606"/>
                          </a:solidFill>
                          <a:latin typeface="Helvetica"/>
                        </a:rPr>
                        <a:t>Conforme au texte</a:t>
                      </a:r>
                    </a:p>
                  </a:txBody>
                  <a:tcPr marL="43200" marR="43200" marT="14400" marB="14400" anchor="ctr">
                    <a:solidFill>
                      <a:srgbClr val="70AD47"/>
                    </a:solidFill>
                  </a:tcPr>
                </a:tc>
              </a:tr>
              <a:tr h="423383">
                <a:tc>
                  <a:txBody>
                    <a:bodyPr/>
                    <a:lstStyle/>
                    <a:p>
                      <a:pPr marL="0" indent="0" lvl="0">
                        <a:buNone/>
                      </a:pPr>
                      <a:r>
                        <a:rPr sz="800" b="1">
                          <a:solidFill>
                            <a:srgbClr val="060606"/>
                          </a:solidFill>
                          <a:latin typeface="Helvetica"/>
                        </a:rPr>
                        <a:t>F-03-02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Lignes de total écartées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Une ligne dont le montant égale la somme des autres lignes de la feuille, à 1 % près, est un total et non un mutualiste.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Pratique de contrôle des données (ISA 500, caractère probant des données)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Sans objet (contrôle des données)</a:t>
                      </a:r>
                    </a:p>
                  </a:txBody>
                  <a:tcPr marL="43200" marR="43200" marT="14400" marB="14400" anchor="ctr">
                    <a:solidFill>
                      <a:srgbClr val="F2F2F2"/>
                    </a:solidFill>
                  </a:tcPr>
                </a:tc>
                <a:tc>
                  <a:txBody>
                    <a:bodyPr/>
                    <a:lstStyle/>
                    <a:p>
                      <a:pPr marL="0" indent="0" lvl="0">
                        <a:buNone/>
                      </a:pPr>
                      <a:r>
                        <a:rPr sz="800" b="1">
                          <a:solidFill>
                            <a:srgbClr val="060606"/>
                          </a:solidFill>
                          <a:latin typeface="Helvetica"/>
                        </a:rPr>
                        <a:t>Sans texte applicable</a:t>
                      </a:r>
                    </a:p>
                  </a:txBody>
                  <a:tcPr marL="43200" marR="43200" marT="14400" marB="14400" anchor="ctr">
                    <a:solidFill>
                      <a:srgbClr val="BBBCBC"/>
                    </a:solidFill>
                  </a:tcPr>
                </a:tc>
              </a:tr>
              <a:tr h="301455">
                <a:tc>
                  <a:txBody>
                    <a:bodyPr/>
                    <a:lstStyle/>
                    <a:p>
                      <a:pPr marL="0" indent="0" lvl="0">
                        <a:buNone/>
                      </a:pPr>
                      <a:r>
                        <a:rPr sz="800" b="1">
                          <a:solidFill>
                            <a:srgbClr val="060606"/>
                          </a:solidFill>
                          <a:latin typeface="Helvetica"/>
                        </a:rPr>
                        <a:t>F-03-03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Montants doublés corrigés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Un montant décès formé de deux moitiés identiques écrites à la suite est ramené à sa première moitié.</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Pratique de contrôle des données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Sans objet (contrôle des données)</a:t>
                      </a:r>
                    </a:p>
                  </a:txBody>
                  <a:tcPr marL="43200" marR="43200" marT="14400" marB="14400" anchor="ctr">
                    <a:solidFill>
                      <a:srgbClr val="FFFFFF"/>
                    </a:solidFill>
                  </a:tcPr>
                </a:tc>
                <a:tc>
                  <a:txBody>
                    <a:bodyPr/>
                    <a:lstStyle/>
                    <a:p>
                      <a:pPr marL="0" indent="0" lvl="0">
                        <a:buNone/>
                      </a:pPr>
                      <a:r>
                        <a:rPr sz="800" b="1">
                          <a:solidFill>
                            <a:srgbClr val="060606"/>
                          </a:solidFill>
                          <a:latin typeface="Helvetica"/>
                        </a:rPr>
                        <a:t>Sans texte applicable</a:t>
                      </a:r>
                    </a:p>
                  </a:txBody>
                  <a:tcPr marL="43200" marR="43200" marT="14400" marB="14400" anchor="ctr">
                    <a:solidFill>
                      <a:srgbClr val="BBBCBC"/>
                    </a:solidFill>
                  </a:tcPr>
                </a:tc>
              </a:tr>
              <a:tr h="301455">
                <a:tc>
                  <a:txBody>
                    <a:bodyPr/>
                    <a:lstStyle/>
                    <a:p>
                      <a:pPr marL="0" indent="0" lvl="0">
                        <a:buNone/>
                      </a:pPr>
                      <a:r>
                        <a:rPr sz="800" b="1">
                          <a:solidFill>
                            <a:srgbClr val="060606"/>
                          </a:solidFill>
                          <a:latin typeface="Helvetica"/>
                        </a:rPr>
                        <a:t>F-04-01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Effectif cotisant du mois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Nombre de matricules distincts du fichier maladie 936 du mois.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Pratique statistique (comptage d'unités distinctes)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2F2F2"/>
                    </a:solidFill>
                  </a:tcPr>
                </a:tc>
                <a:tc>
                  <a:txBody>
                    <a:bodyPr/>
                    <a:lstStyle/>
                    <a:p>
                      <a:pPr marL="0" indent="0" lvl="0">
                        <a:buNone/>
                      </a:pPr>
                      <a:r>
                        <a:rPr sz="800" b="1">
                          <a:solidFill>
                            <a:srgbClr val="060606"/>
                          </a:solidFill>
                          <a:latin typeface="Helvetica"/>
                        </a:rPr>
                        <a:t>Sans texte applicable</a:t>
                      </a:r>
                    </a:p>
                  </a:txBody>
                  <a:tcPr marL="43200" marR="43200" marT="14400" marB="14400" anchor="ctr">
                    <a:solidFill>
                      <a:srgbClr val="BBBCBC"/>
                    </a:solidFill>
                  </a:tcPr>
                </a:tc>
              </a:tr>
              <a:tr h="545310">
                <a:tc>
                  <a:txBody>
                    <a:bodyPr/>
                    <a:lstStyle/>
                    <a:p>
                      <a:pPr marL="0" indent="0" lvl="0">
                        <a:buNone/>
                      </a:pPr>
                      <a:r>
                        <a:rPr sz="800" b="1">
                          <a:solidFill>
                            <a:srgbClr val="060606"/>
                          </a:solidFill>
                          <a:latin typeface="Helvetica"/>
                        </a:rPr>
                        <a:t>F-04-02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Entrées, sorties et fidélisation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Une entrée est un matricule présent un mois et absent le mois précédent, une sortie l'inverse. La fidélisation rapporte les matricules présents deux années de suite à ceux de l'année précédente.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FFFFF"/>
                    </a:solidFill>
                  </a:tcPr>
                </a:tc>
                <a:tc>
                  <a:txBody>
                    <a:bodyPr/>
                    <a:lstStyle/>
                    <a:p>
                      <a:pPr marL="0" indent="0" lvl="0">
                        <a:buNone/>
                      </a:pPr>
                      <a:r>
                        <a:rPr sz="800" b="1">
                          <a:solidFill>
                            <a:srgbClr val="060606"/>
                          </a:solidFill>
                          <a:latin typeface="Helvetica"/>
                        </a:rPr>
                        <a:t>Conforme au texte</a:t>
                      </a:r>
                    </a:p>
                  </a:txBody>
                  <a:tcPr marL="43200" marR="43200" marT="14400" marB="14400" anchor="ctr">
                    <a:solidFill>
                      <a:srgbClr val="70AD47"/>
                    </a:solidFill>
                  </a:tcPr>
                </a:tc>
              </a:tr>
              <a:tr h="667238">
                <a:tc>
                  <a:txBody>
                    <a:bodyPr/>
                    <a:lstStyle/>
                    <a:p>
                      <a:pPr marL="0" indent="0" lvl="0">
                        <a:buNone/>
                      </a:pPr>
                      <a:r>
                        <a:rPr sz="800" b="1">
                          <a:solidFill>
                            <a:srgbClr val="060606"/>
                          </a:solidFill>
                          <a:latin typeface="Helvetica"/>
                        </a:rPr>
                        <a:t>F-04-03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Taux de cotisation individuel</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Précompte maladie (ou décès) du mois divisé par le salaire de base du même mois, pour chaque agent.</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Statuts du FPPN, art. 17 (70 % pour la maladie)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Solde : 3,77 % et 1,23 % (fichiers). Barème déclaré : 3,5 % et 1,5 % (statuts, art. 17). Répartition renvoyée à la comptabilité (entretien du 19/10/2026)</a:t>
                      </a:r>
                    </a:p>
                  </a:txBody>
                  <a:tcPr marL="43200" marR="43200" marT="14400" marB="14400" anchor="ctr">
                    <a:solidFill>
                      <a:srgbClr val="F2F2F2"/>
                    </a:solidFill>
                  </a:tcPr>
                </a:tc>
                <a:tc>
                  <a:txBody>
                    <a:bodyPr/>
                    <a:lstStyle/>
                    <a:p>
                      <a:pPr marL="0" indent="0" lvl="0">
                        <a:buNone/>
                      </a:pPr>
                      <a:r>
                        <a:rPr sz="800" b="1">
                          <a:solidFill>
                            <a:srgbClr val="060606"/>
                          </a:solidFill>
                          <a:latin typeface="Helvetica"/>
                        </a:rPr>
                        <a:t>En attente</a:t>
                      </a:r>
                    </a:p>
                  </a:txBody>
                  <a:tcPr marL="43200" marR="43200" marT="14400" marB="14400" anchor="ctr">
                    <a:solidFill>
                      <a:srgbClr val="FFD966"/>
                    </a:solidFill>
                  </a:tcPr>
                </a:tc>
              </a:tr>
            </a:tbl>
          </a:graphicData>
        </a:graphic>
      </p:graphicFrame>
      <p:graphicFrame>
        <p:nvGraphicFramePr>
          <p:cNvPr id="29" name="Table 28"/>
          <p:cNvGraphicFramePr>
            <a:graphicFrameLocks noGrp="1"/>
          </p:cNvGraphicFramePr>
          <p:nvPr/>
        </p:nvGraphicFramePr>
        <p:xfrm>
          <a:off x="503999" y="3934338"/>
          <a:ext cx="11232000" cy="151200"/>
        </p:xfrm>
        <a:graphic>
          <a:graphicData uri="http://schemas.openxmlformats.org/drawingml/2006/table">
            <a:tbl>
              <a:tblPr firstRow="0" bandRow="0">
                <a:tableStyleId>{5C22544A-7EE6-4342-B048-85BDC9FD1C3A}</a:tableStyleId>
              </a:tblPr>
              <a:tblGrid>
                <a:gridCol w="792000"/>
                <a:gridCol w="936000"/>
                <a:gridCol w="2544000"/>
                <a:gridCol w="936000"/>
                <a:gridCol w="2544000"/>
                <a:gridCol w="936000"/>
                <a:gridCol w="2544000"/>
              </a:tblGrid>
              <a:tr h="151200">
                <a:tc>
                  <a:txBody>
                    <a:bodyPr/>
                    <a:lstStyle/>
                    <a:p>
                      <a:r>
                        <a:rPr sz="700" b="1">
                          <a:solidFill>
                            <a:srgbClr val="060606"/>
                          </a:solidFill>
                          <a:latin typeface="Helvetica"/>
                        </a:rPr>
                        <a:t>Code couleur</a:t>
                      </a:r>
                    </a:p>
                  </a:txBody>
                  <a:tcPr marL="28800" marR="28800" marT="3600" marB="3600" anchor="ctr">
                    <a:solidFill>
                      <a:srgbClr val="FFFFFF"/>
                    </a:solidFill>
                  </a:tcPr>
                </a:tc>
                <a:tc>
                  <a:txBody>
                    <a:bodyPr/>
                    <a:lstStyle/>
                    <a:p>
                      <a:r>
                        <a:rPr sz="700" b="1">
                          <a:solidFill>
                            <a:srgbClr val="060606"/>
                          </a:solidFill>
                          <a:latin typeface="Helvetica"/>
                        </a:rPr>
                        <a:t>Conforme</a:t>
                      </a:r>
                    </a:p>
                  </a:txBody>
                  <a:tcPr marL="28800" marR="28800" marT="3600" marB="3600" anchor="ctr">
                    <a:solidFill>
                      <a:srgbClr val="70AD47"/>
                    </a:solidFill>
                  </a:tcPr>
                </a:tc>
                <a:tc>
                  <a:txBody>
                    <a:bodyPr/>
                    <a:lstStyle/>
                    <a:p>
                      <a:r>
                        <a:rPr sz="700" b="0">
                          <a:solidFill>
                            <a:srgbClr val="060606"/>
                          </a:solidFill>
                          <a:latin typeface="Helvetica"/>
                        </a:rPr>
                        <a:t>norme respectée</a:t>
                      </a:r>
                    </a:p>
                  </a:txBody>
                  <a:tcPr marL="28800" marR="28800" marT="3600" marB="3600" anchor="ctr">
                    <a:solidFill>
                      <a:srgbClr val="FFFFFF"/>
                    </a:solidFill>
                  </a:tcPr>
                </a:tc>
                <a:tc>
                  <a:txBody>
                    <a:bodyPr/>
                    <a:lstStyle/>
                    <a:p>
                      <a:r>
                        <a:rPr sz="700" b="1">
                          <a:solidFill>
                            <a:srgbClr val="060606"/>
                          </a:solidFill>
                          <a:latin typeface="Helvetica"/>
                        </a:rPr>
                        <a:t>Sans texte applicable</a:t>
                      </a:r>
                    </a:p>
                  </a:txBody>
                  <a:tcPr marL="28800" marR="28800" marT="3600" marB="3600" anchor="ctr">
                    <a:solidFill>
                      <a:srgbClr val="BBBCBC"/>
                    </a:solidFill>
                  </a:tcPr>
                </a:tc>
                <a:tc>
                  <a:txBody>
                    <a:bodyPr/>
                    <a:lstStyle/>
                    <a:p>
                      <a:r>
                        <a:rPr sz="700" b="0">
                          <a:solidFill>
                            <a:srgbClr val="060606"/>
                          </a:solidFill>
                          <a:latin typeface="Helvetica"/>
                        </a:rPr>
                        <a:t>aucun texte ne fixe la règle</a:t>
                      </a:r>
                    </a:p>
                  </a:txBody>
                  <a:tcPr marL="28800" marR="28800" marT="3600" marB="3600" anchor="ctr">
                    <a:solidFill>
                      <a:srgbClr val="FFFFFF"/>
                    </a:solidFill>
                  </a:tcPr>
                </a:tc>
                <a:tc>
                  <a:txBody>
                    <a:bodyPr/>
                    <a:lstStyle/>
                    <a:p>
                      <a:r>
                        <a:rPr sz="700" b="1">
                          <a:solidFill>
                            <a:srgbClr val="060606"/>
                          </a:solidFill>
                          <a:latin typeface="Helvetica"/>
                        </a:rPr>
                        <a:t>En attente</a:t>
                      </a:r>
                    </a:p>
                  </a:txBody>
                  <a:tcPr marL="28800" marR="28800" marT="3600" marB="3600" anchor="ctr">
                    <a:solidFill>
                      <a:srgbClr val="FFD966"/>
                    </a:solidFill>
                  </a:tcPr>
                </a:tc>
                <a:tc>
                  <a:txBody>
                    <a:bodyPr/>
                    <a:lstStyle/>
                    <a:p>
                      <a:r>
                        <a:rPr sz="700" b="0">
                          <a:solidFill>
                            <a:srgbClr val="060606"/>
                          </a:solidFill>
                          <a:latin typeface="Helvetica"/>
                        </a:rPr>
                        <a:t>document du FPPN attendu</a:t>
                      </a:r>
                    </a:p>
                  </a:txBody>
                  <a:tcPr marL="28800" marR="28800" marT="3600" marB="3600" anchor="ctr">
                    <a:solidFill>
                      <a:srgbClr val="FFFFFF"/>
                    </a:solidFill>
                  </a:tcPr>
                </a:tc>
              </a:tr>
            </a:tbl>
          </a:graphicData>
        </a:graphic>
      </p:graphicFrame>
      <p:sp>
        <p:nvSpPr>
          <p:cNvPr id="30" name="TextBox 29"/>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Textes cités</a:t>
            </a:r>
          </a:p>
        </p:txBody>
      </p:sp>
      <p:sp>
        <p:nvSpPr>
          <p:cNvPr id="31" name="TextBox 30"/>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936 : poste maladie</a:t>
            </a:r>
          </a:p>
        </p:txBody>
      </p:sp>
    </p:spTree>
    <p:extLst>
      <p:ext uri="{BB962C8B-B14F-4D97-AF65-F5344CB8AC3E}">
        <p14:creationId xmlns:p14="http://schemas.microsoft.com/office/powerpoint/2010/main" val="1986933913"/>
      </p:ext>
    </p:extLst>
  </p:cSld>
  <p:clrMapOvr>
    <a:masterClrMapping/>
  </p:clrMapOvr>
  <p:transition>
    <p:fade/>
  </p:transition>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Tableau des formules (F-04-04 à F-05-01)</a:t>
            </a:r>
          </a:p>
        </p:txBody>
      </p:sp>
      <p:graphicFrame>
        <p:nvGraphicFramePr>
          <p:cNvPr id="28" name="Table 27"/>
          <p:cNvGraphicFramePr>
            <a:graphicFrameLocks noGrp="1"/>
          </p:cNvGraphicFramePr>
          <p:nvPr/>
        </p:nvGraphicFramePr>
        <p:xfrm>
          <a:off x="503999" y="720000"/>
          <a:ext cx="11231998" cy="2841752"/>
        </p:xfrm>
        <a:graphic>
          <a:graphicData uri="http://schemas.openxmlformats.org/drawingml/2006/table">
            <a:tbl>
              <a:tblPr firstRow="0" bandRow="0">
                <a:tableStyleId>{5940675A-B579-460E-94D1-54222C63F5DA}</a:tableStyleId>
              </a:tblPr>
              <a:tblGrid>
                <a:gridCol w="684000"/>
                <a:gridCol w="1655999"/>
                <a:gridCol w="3384000"/>
                <a:gridCol w="1944000"/>
                <a:gridCol w="2015999"/>
                <a:gridCol w="1548000"/>
              </a:tblGrid>
              <a:tr h="301455">
                <a:tc>
                  <a:txBody>
                    <a:bodyPr/>
                    <a:lstStyle/>
                    <a:p>
                      <a:pPr marL="0" indent="0" lvl="0">
                        <a:buNone/>
                      </a:pPr>
                      <a:r>
                        <a:rPr sz="800" b="1">
                          <a:solidFill>
                            <a:srgbClr val="FFFFFF"/>
                          </a:solidFill>
                          <a:latin typeface="Helvetica"/>
                        </a:rPr>
                        <a:t>Identifiant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Indicateur</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Formule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Source de la méthode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Méthode du FPPN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Statut</a:t>
                      </a:r>
                    </a:p>
                  </a:txBody>
                  <a:tcPr marL="43200" marR="43200" marT="14400" marB="14400" anchor="ctr">
                    <a:solidFill>
                      <a:srgbClr val="060606"/>
                    </a:solidFill>
                  </a:tcPr>
                </a:tc>
              </a:tr>
              <a:tr h="301455">
                <a:tc>
                  <a:txBody>
                    <a:bodyPr/>
                    <a:lstStyle/>
                    <a:p>
                      <a:pPr marL="0" indent="0" lvl="0">
                        <a:buNone/>
                      </a:pPr>
                      <a:r>
                        <a:rPr sz="800" b="1">
                          <a:solidFill>
                            <a:srgbClr val="060606"/>
                          </a:solidFill>
                          <a:latin typeface="Helvetica"/>
                        </a:rPr>
                        <a:t>F-04-04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Clé comptable maladie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Part des cotisations maladie dans les cotisations maladie et décès, multipliée par 5 %.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Statuts du FPPN, art. 17 (70 % pour la maladie)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Clé propre à la comptabilité, non documentée</a:t>
                      </a:r>
                    </a:p>
                  </a:txBody>
                  <a:tcPr marL="43200" marR="43200" marT="14400" marB="14400" anchor="ctr">
                    <a:solidFill>
                      <a:srgbClr val="FFFFFF"/>
                    </a:solidFill>
                  </a:tcPr>
                </a:tc>
                <a:tc>
                  <a:txBody>
                    <a:bodyPr/>
                    <a:lstStyle/>
                    <a:p>
                      <a:pPr marL="0" indent="0" lvl="0">
                        <a:buNone/>
                      </a:pPr>
                      <a:r>
                        <a:rPr sz="800" b="1">
                          <a:solidFill>
                            <a:srgbClr val="060606"/>
                          </a:solidFill>
                          <a:latin typeface="Helvetica"/>
                        </a:rPr>
                        <a:t>En attente</a:t>
                      </a:r>
                    </a:p>
                  </a:txBody>
                  <a:tcPr marL="43200" marR="43200" marT="14400" marB="14400" anchor="ctr">
                    <a:solidFill>
                      <a:srgbClr val="FFD966"/>
                    </a:solidFill>
                  </a:tcPr>
                </a:tc>
              </a:tr>
              <a:tr h="301455">
                <a:tc>
                  <a:txBody>
                    <a:bodyPr/>
                    <a:lstStyle/>
                    <a:p>
                      <a:pPr marL="0" indent="0" lvl="0">
                        <a:buNone/>
                      </a:pPr>
                      <a:r>
                        <a:rPr sz="800" b="1">
                          <a:solidFill>
                            <a:srgbClr val="060606"/>
                          </a:solidFill>
                          <a:latin typeface="Helvetica"/>
                        </a:rPr>
                        <a:t>F-04-05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Sinistralité selon la clé de répartition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Prestations maladie divisées par les cotisations totales multipliées par la part maladie de la clé retenue.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2F2F2"/>
                    </a:solidFill>
                  </a:tcPr>
                </a:tc>
                <a:tc>
                  <a:txBody>
                    <a:bodyPr/>
                    <a:lstStyle/>
                    <a:p>
                      <a:pPr marL="0" indent="0" lvl="0">
                        <a:buNone/>
                      </a:pPr>
                      <a:r>
                        <a:rPr sz="800" b="1">
                          <a:solidFill>
                            <a:srgbClr val="060606"/>
                          </a:solidFill>
                          <a:latin typeface="Helvetica"/>
                        </a:rPr>
                        <a:t>Divergent, justifié</a:t>
                      </a:r>
                    </a:p>
                  </a:txBody>
                  <a:tcPr marL="43200" marR="43200" marT="14400" marB="14400" anchor="ctr">
                    <a:solidFill>
                      <a:srgbClr val="EFAC62"/>
                    </a:solidFill>
                  </a:tcPr>
                </a:tc>
              </a:tr>
              <a:tr h="423383">
                <a:tc>
                  <a:txBody>
                    <a:bodyPr/>
                    <a:lstStyle/>
                    <a:p>
                      <a:pPr marL="0" indent="0" lvl="0">
                        <a:buNone/>
                      </a:pPr>
                      <a:r>
                        <a:rPr sz="800" b="1">
                          <a:solidFill>
                            <a:srgbClr val="060606"/>
                          </a:solidFill>
                          <a:latin typeface="Helvetica"/>
                        </a:rPr>
                        <a:t>F-04-06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Valeur réelle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Valeur nominale multipliée par 100 et divisée par l'indice des prix de l'année (base 100 en 2020).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Pratique de comptabilité nationale (déflation par un indice des prix)</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Sans objet</a:t>
                      </a:r>
                    </a:p>
                  </a:txBody>
                  <a:tcPr marL="43200" marR="43200" marT="14400" marB="14400" anchor="ctr">
                    <a:solidFill>
                      <a:srgbClr val="FFFFFF"/>
                    </a:solidFill>
                  </a:tcPr>
                </a:tc>
                <a:tc>
                  <a:txBody>
                    <a:bodyPr/>
                    <a:lstStyle/>
                    <a:p>
                      <a:pPr marL="0" indent="0" lvl="0">
                        <a:buNone/>
                      </a:pPr>
                      <a:r>
                        <a:rPr sz="800" b="1">
                          <a:solidFill>
                            <a:srgbClr val="060606"/>
                          </a:solidFill>
                          <a:latin typeface="Helvetica"/>
                        </a:rPr>
                        <a:t>Sans texte applicable</a:t>
                      </a:r>
                    </a:p>
                  </a:txBody>
                  <a:tcPr marL="43200" marR="43200" marT="14400" marB="14400" anchor="ctr">
                    <a:solidFill>
                      <a:srgbClr val="BBBCBC"/>
                    </a:solidFill>
                  </a:tcPr>
                </a:tc>
              </a:tr>
              <a:tr h="301455">
                <a:tc>
                  <a:txBody>
                    <a:bodyPr/>
                    <a:lstStyle/>
                    <a:p>
                      <a:pPr marL="0" indent="0" lvl="0">
                        <a:buNone/>
                      </a:pPr>
                      <a:r>
                        <a:rPr sz="800" b="1">
                          <a:solidFill>
                            <a:srgbClr val="060606"/>
                          </a:solidFill>
                          <a:latin typeface="Helvetica"/>
                        </a:rPr>
                        <a:t>F-04-07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Taux de croissance annuel moyen (TCAM)</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Taux constant qui mène de la valeur de départ à la valeur d'arrivée en n années.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Pratique statistique (moyenne géométrique)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Sans objet</a:t>
                      </a:r>
                    </a:p>
                  </a:txBody>
                  <a:tcPr marL="43200" marR="43200" marT="14400" marB="14400" anchor="ctr">
                    <a:solidFill>
                      <a:srgbClr val="F2F2F2"/>
                    </a:solidFill>
                  </a:tcPr>
                </a:tc>
                <a:tc>
                  <a:txBody>
                    <a:bodyPr/>
                    <a:lstStyle/>
                    <a:p>
                      <a:pPr marL="0" indent="0" lvl="0">
                        <a:buNone/>
                      </a:pPr>
                      <a:r>
                        <a:rPr sz="800" b="1">
                          <a:solidFill>
                            <a:srgbClr val="060606"/>
                          </a:solidFill>
                          <a:latin typeface="Helvetica"/>
                        </a:rPr>
                        <a:t>Sans texte applicable</a:t>
                      </a:r>
                    </a:p>
                  </a:txBody>
                  <a:tcPr marL="43200" marR="43200" marT="14400" marB="14400" anchor="ctr">
                    <a:solidFill>
                      <a:srgbClr val="BBBCBC"/>
                    </a:solidFill>
                  </a:tcPr>
                </a:tc>
              </a:tr>
              <a:tr h="423383">
                <a:tc>
                  <a:txBody>
                    <a:bodyPr/>
                    <a:lstStyle/>
                    <a:p>
                      <a:pPr marL="0" indent="0" lvl="0">
                        <a:buNone/>
                      </a:pPr>
                      <a:r>
                        <a:rPr sz="800" b="1">
                          <a:solidFill>
                            <a:srgbClr val="060606"/>
                          </a:solidFill>
                          <a:latin typeface="Helvetica"/>
                        </a:rPr>
                        <a:t>F-04-08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Tendance et intervalle de confiance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Droite des moindres carrés ajustée sur la série, avec un intervalle de confiance à 95 % sur la pente et un test de Student.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Statistique classique (régression linéaire, loi de Student)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Sans objet</a:t>
                      </a:r>
                    </a:p>
                  </a:txBody>
                  <a:tcPr marL="43200" marR="43200" marT="14400" marB="14400" anchor="ctr">
                    <a:solidFill>
                      <a:srgbClr val="FFFFFF"/>
                    </a:solidFill>
                  </a:tcPr>
                </a:tc>
                <a:tc>
                  <a:txBody>
                    <a:bodyPr/>
                    <a:lstStyle/>
                    <a:p>
                      <a:pPr marL="0" indent="0" lvl="0">
                        <a:buNone/>
                      </a:pPr>
                      <a:r>
                        <a:rPr sz="800" b="1">
                          <a:solidFill>
                            <a:srgbClr val="060606"/>
                          </a:solidFill>
                          <a:latin typeface="Helvetica"/>
                        </a:rPr>
                        <a:t>Sans texte applicable</a:t>
                      </a:r>
                    </a:p>
                  </a:txBody>
                  <a:tcPr marL="43200" marR="43200" marT="14400" marB="14400" anchor="ctr">
                    <a:solidFill>
                      <a:srgbClr val="BBBCBC"/>
                    </a:solidFill>
                  </a:tcPr>
                </a:tc>
              </a:tr>
              <a:tr h="789166">
                <a:tc>
                  <a:txBody>
                    <a:bodyPr/>
                    <a:lstStyle/>
                    <a:p>
                      <a:pPr marL="0" indent="0" lvl="0">
                        <a:buNone/>
                      </a:pPr>
                      <a:r>
                        <a:rPr sz="800" b="1">
                          <a:solidFill>
                            <a:srgbClr val="060606"/>
                          </a:solidFill>
                          <a:latin typeface="Helvetica"/>
                        </a:rPr>
                        <a:t>F-05-01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Taux de sinistralité réglementaire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Charges de prestations, provisions comprises, divisées par les cotisations acquises, provisions sur cotisations comprises.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Communiquée le 22/10/2026 (ETUDE DES RATIO MALADIE DECES 2.xlsx, feuille Notes) : prestations payées / cotisations payées, sans provisions. Taux global : 1 401 506 033 / 1 785 560 424 = 78,49 % au 30/06/2026</a:t>
                      </a:r>
                    </a:p>
                  </a:txBody>
                  <a:tcPr marL="43200" marR="43200" marT="14400" marB="14400" anchor="ctr">
                    <a:solidFill>
                      <a:srgbClr val="F2F2F2"/>
                    </a:solidFill>
                  </a:tcPr>
                </a:tc>
                <a:tc>
                  <a:txBody>
                    <a:bodyPr/>
                    <a:lstStyle/>
                    <a:p>
                      <a:pPr marL="0" indent="0" lvl="0">
                        <a:buNone/>
                      </a:pPr>
                      <a:r>
                        <a:rPr sz="800" b="1">
                          <a:solidFill>
                            <a:srgbClr val="060606"/>
                          </a:solidFill>
                          <a:latin typeface="Helvetica"/>
                        </a:rPr>
                        <a:t>Conforme au texte</a:t>
                      </a:r>
                    </a:p>
                  </a:txBody>
                  <a:tcPr marL="43200" marR="43200" marT="14400" marB="14400" anchor="ctr">
                    <a:solidFill>
                      <a:srgbClr val="70AD47"/>
                    </a:solidFill>
                  </a:tcPr>
                </a:tc>
              </a:tr>
            </a:tbl>
          </a:graphicData>
        </a:graphic>
      </p:graphicFrame>
      <p:graphicFrame>
        <p:nvGraphicFramePr>
          <p:cNvPr id="29" name="Table 28"/>
          <p:cNvGraphicFramePr>
            <a:graphicFrameLocks noGrp="1"/>
          </p:cNvGraphicFramePr>
          <p:nvPr/>
        </p:nvGraphicFramePr>
        <p:xfrm>
          <a:off x="503999" y="3803876"/>
          <a:ext cx="11232000" cy="151200"/>
        </p:xfrm>
        <a:graphic>
          <a:graphicData uri="http://schemas.openxmlformats.org/drawingml/2006/table">
            <a:tbl>
              <a:tblPr firstRow="0" bandRow="0">
                <a:tableStyleId>{5C22544A-7EE6-4342-B048-85BDC9FD1C3A}</a:tableStyleId>
              </a:tblPr>
              <a:tblGrid>
                <a:gridCol w="792000"/>
                <a:gridCol w="936000"/>
                <a:gridCol w="1674000"/>
                <a:gridCol w="936000"/>
                <a:gridCol w="1674000"/>
                <a:gridCol w="936000"/>
                <a:gridCol w="1674000"/>
                <a:gridCol w="936000"/>
                <a:gridCol w="1674000"/>
              </a:tblGrid>
              <a:tr h="151200">
                <a:tc>
                  <a:txBody>
                    <a:bodyPr/>
                    <a:lstStyle/>
                    <a:p>
                      <a:r>
                        <a:rPr sz="700" b="1">
                          <a:solidFill>
                            <a:srgbClr val="060606"/>
                          </a:solidFill>
                          <a:latin typeface="Helvetica"/>
                        </a:rPr>
                        <a:t>Code couleur</a:t>
                      </a:r>
                    </a:p>
                  </a:txBody>
                  <a:tcPr marL="28800" marR="28800" marT="3600" marB="3600" anchor="ctr">
                    <a:solidFill>
                      <a:srgbClr val="FFFFFF"/>
                    </a:solidFill>
                  </a:tcPr>
                </a:tc>
                <a:tc>
                  <a:txBody>
                    <a:bodyPr/>
                    <a:lstStyle/>
                    <a:p>
                      <a:r>
                        <a:rPr sz="700" b="1">
                          <a:solidFill>
                            <a:srgbClr val="060606"/>
                          </a:solidFill>
                          <a:latin typeface="Helvetica"/>
                        </a:rPr>
                        <a:t>En attente</a:t>
                      </a:r>
                    </a:p>
                  </a:txBody>
                  <a:tcPr marL="28800" marR="28800" marT="3600" marB="3600" anchor="ctr">
                    <a:solidFill>
                      <a:srgbClr val="FFD966"/>
                    </a:solidFill>
                  </a:tcPr>
                </a:tc>
                <a:tc>
                  <a:txBody>
                    <a:bodyPr/>
                    <a:lstStyle/>
                    <a:p>
                      <a:r>
                        <a:rPr sz="700" b="0">
                          <a:solidFill>
                            <a:srgbClr val="060606"/>
                          </a:solidFill>
                          <a:latin typeface="Helvetica"/>
                        </a:rPr>
                        <a:t>document du FPPN attendu</a:t>
                      </a:r>
                    </a:p>
                  </a:txBody>
                  <a:tcPr marL="28800" marR="28800" marT="3600" marB="3600" anchor="ctr">
                    <a:solidFill>
                      <a:srgbClr val="FFFFFF"/>
                    </a:solidFill>
                  </a:tcPr>
                </a:tc>
                <a:tc>
                  <a:txBody>
                    <a:bodyPr/>
                    <a:lstStyle/>
                    <a:p>
                      <a:r>
                        <a:rPr sz="700" b="1">
                          <a:solidFill>
                            <a:srgbClr val="060606"/>
                          </a:solidFill>
                          <a:latin typeface="Helvetica"/>
                        </a:rPr>
                        <a:t>Divergent</a:t>
                      </a:r>
                    </a:p>
                  </a:txBody>
                  <a:tcPr marL="28800" marR="28800" marT="3600" marB="3600" anchor="ctr">
                    <a:solidFill>
                      <a:srgbClr val="EFAC62"/>
                    </a:solidFill>
                  </a:tcPr>
                </a:tc>
                <a:tc>
                  <a:txBody>
                    <a:bodyPr/>
                    <a:lstStyle/>
                    <a:p>
                      <a:r>
                        <a:rPr sz="700" b="0">
                          <a:solidFill>
                            <a:srgbClr val="060606"/>
                          </a:solidFill>
                          <a:latin typeface="Helvetica"/>
                        </a:rPr>
                        <a:t>formule différente du texte</a:t>
                      </a:r>
                    </a:p>
                  </a:txBody>
                  <a:tcPr marL="28800" marR="28800" marT="3600" marB="3600" anchor="ctr">
                    <a:solidFill>
                      <a:srgbClr val="FFFFFF"/>
                    </a:solidFill>
                  </a:tcPr>
                </a:tc>
                <a:tc>
                  <a:txBody>
                    <a:bodyPr/>
                    <a:lstStyle/>
                    <a:p>
                      <a:r>
                        <a:rPr sz="700" b="1">
                          <a:solidFill>
                            <a:srgbClr val="060606"/>
                          </a:solidFill>
                          <a:latin typeface="Helvetica"/>
                        </a:rPr>
                        <a:t>Sans texte applicable</a:t>
                      </a:r>
                    </a:p>
                  </a:txBody>
                  <a:tcPr marL="28800" marR="28800" marT="3600" marB="3600" anchor="ctr">
                    <a:solidFill>
                      <a:srgbClr val="BBBCBC"/>
                    </a:solidFill>
                  </a:tcPr>
                </a:tc>
                <a:tc>
                  <a:txBody>
                    <a:bodyPr/>
                    <a:lstStyle/>
                    <a:p>
                      <a:r>
                        <a:rPr sz="700" b="0">
                          <a:solidFill>
                            <a:srgbClr val="060606"/>
                          </a:solidFill>
                          <a:latin typeface="Helvetica"/>
                        </a:rPr>
                        <a:t>aucun texte ne fixe la règle</a:t>
                      </a:r>
                    </a:p>
                  </a:txBody>
                  <a:tcPr marL="28800" marR="28800" marT="3600" marB="3600" anchor="ctr">
                    <a:solidFill>
                      <a:srgbClr val="FFFFFF"/>
                    </a:solidFill>
                  </a:tcPr>
                </a:tc>
                <a:tc>
                  <a:txBody>
                    <a:bodyPr/>
                    <a:lstStyle/>
                    <a:p>
                      <a:r>
                        <a:rPr sz="700" b="1">
                          <a:solidFill>
                            <a:srgbClr val="060606"/>
                          </a:solidFill>
                          <a:latin typeface="Helvetica"/>
                        </a:rPr>
                        <a:t>Conforme</a:t>
                      </a:r>
                    </a:p>
                  </a:txBody>
                  <a:tcPr marL="28800" marR="28800" marT="3600" marB="3600" anchor="ctr">
                    <a:solidFill>
                      <a:srgbClr val="70AD47"/>
                    </a:solidFill>
                  </a:tcPr>
                </a:tc>
                <a:tc>
                  <a:txBody>
                    <a:bodyPr/>
                    <a:lstStyle/>
                    <a:p>
                      <a:r>
                        <a:rPr sz="700" b="0">
                          <a:solidFill>
                            <a:srgbClr val="060606"/>
                          </a:solidFill>
                          <a:latin typeface="Helvetica"/>
                        </a:rPr>
                        <a:t>norme respectée</a:t>
                      </a:r>
                    </a:p>
                  </a:txBody>
                  <a:tcPr marL="28800" marR="28800" marT="3600" marB="3600" anchor="ctr">
                    <a:solidFill>
                      <a:srgbClr val="FFFFFF"/>
                    </a:solidFill>
                  </a:tcPr>
                </a:tc>
              </a:tr>
            </a:tbl>
          </a:graphicData>
        </a:graphic>
      </p:graphicFrame>
      <p:sp>
        <p:nvSpPr>
          <p:cNvPr id="30" name="TextBox 29"/>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Textes cités</a:t>
            </a:r>
          </a:p>
        </p:txBody>
      </p:sp>
      <p:sp>
        <p:nvSpPr>
          <p:cNvPr id="31" name="TextBox 30"/>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TCAM : taux de croissance annuel moyen</a:t>
            </a:r>
          </a:p>
        </p:txBody>
      </p:sp>
    </p:spTree>
    <p:extLst>
      <p:ext uri="{BB962C8B-B14F-4D97-AF65-F5344CB8AC3E}">
        <p14:creationId xmlns:p14="http://schemas.microsoft.com/office/powerpoint/2010/main" val="2743762347"/>
      </p:ext>
    </p:extLst>
  </p:cSld>
  <p:clrMapOvr>
    <a:masterClrMapping/>
  </p:clrMapOvr>
  <p:transition>
    <p:fade/>
  </p:transition>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Tableau des formules (F-05-02 à F-06-01)</a:t>
            </a:r>
          </a:p>
        </p:txBody>
      </p:sp>
      <p:graphicFrame>
        <p:nvGraphicFramePr>
          <p:cNvPr id="28" name="Table 27"/>
          <p:cNvGraphicFramePr>
            <a:graphicFrameLocks noGrp="1"/>
          </p:cNvGraphicFramePr>
          <p:nvPr/>
        </p:nvGraphicFramePr>
        <p:xfrm>
          <a:off x="503999" y="720000"/>
          <a:ext cx="11231998" cy="3573317"/>
        </p:xfrm>
        <a:graphic>
          <a:graphicData uri="http://schemas.openxmlformats.org/drawingml/2006/table">
            <a:tbl>
              <a:tblPr firstRow="0" bandRow="0">
                <a:tableStyleId>{5940675A-B579-460E-94D1-54222C63F5DA}</a:tableStyleId>
              </a:tblPr>
              <a:tblGrid>
                <a:gridCol w="684000"/>
                <a:gridCol w="1655999"/>
                <a:gridCol w="3384000"/>
                <a:gridCol w="1944000"/>
                <a:gridCol w="2015999"/>
                <a:gridCol w="1548000"/>
              </a:tblGrid>
              <a:tr h="301455">
                <a:tc>
                  <a:txBody>
                    <a:bodyPr/>
                    <a:lstStyle/>
                    <a:p>
                      <a:pPr marL="0" indent="0" lvl="0">
                        <a:buNone/>
                      </a:pPr>
                      <a:r>
                        <a:rPr sz="800" b="1">
                          <a:solidFill>
                            <a:srgbClr val="FFFFFF"/>
                          </a:solidFill>
                          <a:latin typeface="Helvetica"/>
                        </a:rPr>
                        <a:t>Identifiant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Indicateur</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Formule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Source de la méthode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Méthode du FPPN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Statut</a:t>
                      </a:r>
                    </a:p>
                  </a:txBody>
                  <a:tcPr marL="43200" marR="43200" marT="14400" marB="14400" anchor="ctr">
                    <a:solidFill>
                      <a:srgbClr val="060606"/>
                    </a:solidFill>
                  </a:tcPr>
                </a:tc>
              </a:tr>
              <a:tr h="911093">
                <a:tc>
                  <a:txBody>
                    <a:bodyPr/>
                    <a:lstStyle/>
                    <a:p>
                      <a:pPr marL="0" indent="0" lvl="0">
                        <a:buNone/>
                      </a:pPr>
                      <a:r>
                        <a:rPr sz="800" b="1">
                          <a:solidFill>
                            <a:srgbClr val="060606"/>
                          </a:solidFill>
                          <a:latin typeface="Helvetica"/>
                        </a:rPr>
                        <a:t>F-05-02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Sinistralité maladie par garantie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Prestations maladie comptabilisées divisées par les cotisations maladie comptabilisées de la même année.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 § 1.1.1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Communiquée le 22/10/2026 (ETUDE DES RATIO MALADIE DECES 2.xlsx, feuille Notes) : prestations payées / cotisations payées, sans provisions. Maladie : 1 345 906 033 / 1 356 344 706 = 99,23 % au 30/06/2026 (la note écrit aussi 107 %)</a:t>
                      </a:r>
                    </a:p>
                  </a:txBody>
                  <a:tcPr marL="43200" marR="43200" marT="14400" marB="14400" anchor="ctr">
                    <a:solidFill>
                      <a:srgbClr val="FFFFFF"/>
                    </a:solidFill>
                  </a:tcPr>
                </a:tc>
                <a:tc>
                  <a:txBody>
                    <a:bodyPr/>
                    <a:lstStyle/>
                    <a:p>
                      <a:pPr marL="0" indent="0" lvl="0">
                        <a:buNone/>
                      </a:pPr>
                      <a:r>
                        <a:rPr sz="800" b="1">
                          <a:solidFill>
                            <a:srgbClr val="060606"/>
                          </a:solidFill>
                          <a:latin typeface="Helvetica"/>
                        </a:rPr>
                        <a:t>Divergent, justifié</a:t>
                      </a:r>
                    </a:p>
                  </a:txBody>
                  <a:tcPr marL="43200" marR="43200" marT="14400" marB="14400" anchor="ctr">
                    <a:solidFill>
                      <a:srgbClr val="EFAC62"/>
                    </a:solidFill>
                  </a:tcPr>
                </a:tc>
              </a:tr>
              <a:tr h="1033021">
                <a:tc>
                  <a:txBody>
                    <a:bodyPr/>
                    <a:lstStyle/>
                    <a:p>
                      <a:pPr marL="0" indent="0" lvl="0">
                        <a:buNone/>
                      </a:pPr>
                      <a:r>
                        <a:rPr sz="800" b="1">
                          <a:solidFill>
                            <a:srgbClr val="060606"/>
                          </a:solidFill>
                          <a:latin typeface="Helvetica"/>
                        </a:rPr>
                        <a:t>F-05-03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Sinistralité décès par garantie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Prestations décès (capitaux, allocations, frais funéraires) divisées par les cotisations décès.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 § 1.1.1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Communiquée le 22/10/2026 (ETUDE DES RATIO MALADIE DECES 2.xlsx, feuille Notes) : prestations payées / cotisations payées, sans provisions. Décès : 55 600 000 / 429 215 718 = 12,95 % au 30/06/2026 (la note écrit aussi 19,66 %). Montants identiques aux comptes de 2022 à 2025</a:t>
                      </a:r>
                    </a:p>
                  </a:txBody>
                  <a:tcPr marL="43200" marR="43200" marT="14400" marB="14400" anchor="ctr">
                    <a:solidFill>
                      <a:srgbClr val="F2F2F2"/>
                    </a:solidFill>
                  </a:tcPr>
                </a:tc>
                <a:tc>
                  <a:txBody>
                    <a:bodyPr/>
                    <a:lstStyle/>
                    <a:p>
                      <a:pPr marL="0" indent="0" lvl="0">
                        <a:buNone/>
                      </a:pPr>
                      <a:r>
                        <a:rPr sz="800" b="1">
                          <a:solidFill>
                            <a:srgbClr val="060606"/>
                          </a:solidFill>
                          <a:latin typeface="Helvetica"/>
                        </a:rPr>
                        <a:t>Divergent, justifié</a:t>
                      </a:r>
                    </a:p>
                  </a:txBody>
                  <a:tcPr marL="43200" marR="43200" marT="14400" marB="14400" anchor="ctr">
                    <a:solidFill>
                      <a:srgbClr val="EFAC62"/>
                    </a:solidFill>
                  </a:tcPr>
                </a:tc>
              </a:tr>
              <a:tr h="423383">
                <a:tc>
                  <a:txBody>
                    <a:bodyPr/>
                    <a:lstStyle/>
                    <a:p>
                      <a:pPr marL="0" indent="0" lvl="0">
                        <a:buNone/>
                      </a:pPr>
                      <a:r>
                        <a:rPr sz="800" b="1">
                          <a:solidFill>
                            <a:srgbClr val="060606"/>
                          </a:solidFill>
                          <a:latin typeface="Helvetica"/>
                        </a:rPr>
                        <a:t>F-05-04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Sinistralité sans MEDOC et sans bons de prise en charge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Variantes du taux réglementaire : cotisations MEDOC retirées du dénominateur, ou bons de prise en charge et bons de caisse retirés du numérateur.</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FFFFF"/>
                    </a:solidFill>
                  </a:tcPr>
                </a:tc>
                <a:tc>
                  <a:txBody>
                    <a:bodyPr/>
                    <a:lstStyle/>
                    <a:p>
                      <a:pPr marL="0" indent="0" lvl="0">
                        <a:buNone/>
                      </a:pPr>
                      <a:r>
                        <a:rPr sz="800" b="1">
                          <a:solidFill>
                            <a:srgbClr val="060606"/>
                          </a:solidFill>
                          <a:latin typeface="Helvetica"/>
                        </a:rPr>
                        <a:t>Divergent, justifié</a:t>
                      </a:r>
                    </a:p>
                  </a:txBody>
                  <a:tcPr marL="43200" marR="43200" marT="14400" marB="14400" anchor="ctr">
                    <a:solidFill>
                      <a:srgbClr val="EFAC62"/>
                    </a:solidFill>
                  </a:tcPr>
                </a:tc>
              </a:tr>
              <a:tr h="301455">
                <a:tc>
                  <a:txBody>
                    <a:bodyPr/>
                    <a:lstStyle/>
                    <a:p>
                      <a:pPr marL="0" indent="0" lvl="0">
                        <a:buNone/>
                      </a:pPr>
                      <a:r>
                        <a:rPr sz="800" b="1">
                          <a:solidFill>
                            <a:srgbClr val="060606"/>
                          </a:solidFill>
                          <a:latin typeface="Helvetica"/>
                        </a:rPr>
                        <a:t>F-05-05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Taux de frais de gestion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Frais de gestion (comptes 61 à 66, hors prime d'assurance décès) divisés par les cotisations maladie et décès.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2F2F2"/>
                    </a:solidFill>
                  </a:tcPr>
                </a:tc>
                <a:tc>
                  <a:txBody>
                    <a:bodyPr/>
                    <a:lstStyle/>
                    <a:p>
                      <a:pPr marL="0" indent="0" lvl="0">
                        <a:buNone/>
                      </a:pPr>
                      <a:r>
                        <a:rPr sz="800" b="1">
                          <a:solidFill>
                            <a:srgbClr val="060606"/>
                          </a:solidFill>
                          <a:latin typeface="Helvetica"/>
                        </a:rPr>
                        <a:t>Divergent, justifié</a:t>
                      </a:r>
                    </a:p>
                  </a:txBody>
                  <a:tcPr marL="43200" marR="43200" marT="14400" marB="14400" anchor="ctr">
                    <a:solidFill>
                      <a:srgbClr val="EFAC62"/>
                    </a:solidFill>
                  </a:tcPr>
                </a:tc>
              </a:tr>
              <a:tr h="301455">
                <a:tc>
                  <a:txBody>
                    <a:bodyPr/>
                    <a:lstStyle/>
                    <a:p>
                      <a:pPr marL="0" indent="0" lvl="0">
                        <a:buNone/>
                      </a:pPr>
                      <a:r>
                        <a:rPr sz="800" b="1">
                          <a:solidFill>
                            <a:srgbClr val="060606"/>
                          </a:solidFill>
                          <a:latin typeface="Helvetica"/>
                        </a:rPr>
                        <a:t>F-05-06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Résultat net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Produits moins charges, plus le résultat hors activités ordinaires.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PCMS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Résultat des balances du FPPN</a:t>
                      </a:r>
                    </a:p>
                  </a:txBody>
                  <a:tcPr marL="43200" marR="43200" marT="14400" marB="14400" anchor="ctr">
                    <a:solidFill>
                      <a:srgbClr val="FFFFFF"/>
                    </a:solidFill>
                  </a:tcPr>
                </a:tc>
                <a:tc>
                  <a:txBody>
                    <a:bodyPr/>
                    <a:lstStyle/>
                    <a:p>
                      <a:pPr marL="0" indent="0" lvl="0">
                        <a:buNone/>
                      </a:pPr>
                      <a:r>
                        <a:rPr sz="800" b="1">
                          <a:solidFill>
                            <a:srgbClr val="060606"/>
                          </a:solidFill>
                          <a:latin typeface="Helvetica"/>
                        </a:rPr>
                        <a:t>Conforme au texte</a:t>
                      </a:r>
                    </a:p>
                  </a:txBody>
                  <a:tcPr marL="43200" marR="43200" marT="14400" marB="14400" anchor="ctr">
                    <a:solidFill>
                      <a:srgbClr val="70AD47"/>
                    </a:solidFill>
                  </a:tcPr>
                </a:tc>
              </a:tr>
              <a:tr h="301455">
                <a:tc>
                  <a:txBody>
                    <a:bodyPr/>
                    <a:lstStyle/>
                    <a:p>
                      <a:pPr marL="0" indent="0" lvl="0">
                        <a:buNone/>
                      </a:pPr>
                      <a:r>
                        <a:rPr sz="800" b="1">
                          <a:solidFill>
                            <a:srgbClr val="060606"/>
                          </a:solidFill>
                          <a:latin typeface="Helvetica"/>
                        </a:rPr>
                        <a:t>F-06-01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Dette d'épargne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Somme des comptes PEP et EFC dus aux mutualistes.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Règlement d'exécution n° 004/2022/COM/UEMOA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Comptes de dettes du FPPN</a:t>
                      </a:r>
                    </a:p>
                  </a:txBody>
                  <a:tcPr marL="43200" marR="43200" marT="14400" marB="14400" anchor="ctr">
                    <a:solidFill>
                      <a:srgbClr val="F2F2F2"/>
                    </a:solidFill>
                  </a:tcPr>
                </a:tc>
                <a:tc>
                  <a:txBody>
                    <a:bodyPr/>
                    <a:lstStyle/>
                    <a:p>
                      <a:pPr marL="0" indent="0" lvl="0">
                        <a:buNone/>
                      </a:pPr>
                      <a:r>
                        <a:rPr sz="800" b="1">
                          <a:solidFill>
                            <a:srgbClr val="060606"/>
                          </a:solidFill>
                          <a:latin typeface="Helvetica"/>
                        </a:rPr>
                        <a:t>En attente</a:t>
                      </a:r>
                    </a:p>
                  </a:txBody>
                  <a:tcPr marL="43200" marR="43200" marT="14400" marB="14400" anchor="ctr">
                    <a:solidFill>
                      <a:srgbClr val="FFD966"/>
                    </a:solidFill>
                  </a:tcPr>
                </a:tc>
              </a:tr>
            </a:tbl>
          </a:graphicData>
        </a:graphic>
      </p:graphicFrame>
      <p:graphicFrame>
        <p:nvGraphicFramePr>
          <p:cNvPr id="29" name="Table 28"/>
          <p:cNvGraphicFramePr>
            <a:graphicFrameLocks noGrp="1"/>
          </p:cNvGraphicFramePr>
          <p:nvPr/>
        </p:nvGraphicFramePr>
        <p:xfrm>
          <a:off x="503999" y="4586652"/>
          <a:ext cx="11232000" cy="151200"/>
        </p:xfrm>
        <a:graphic>
          <a:graphicData uri="http://schemas.openxmlformats.org/drawingml/2006/table">
            <a:tbl>
              <a:tblPr firstRow="0" bandRow="0">
                <a:tableStyleId>{5C22544A-7EE6-4342-B048-85BDC9FD1C3A}</a:tableStyleId>
              </a:tblPr>
              <a:tblGrid>
                <a:gridCol w="792000"/>
                <a:gridCol w="936000"/>
                <a:gridCol w="2544000"/>
                <a:gridCol w="936000"/>
                <a:gridCol w="2544000"/>
                <a:gridCol w="936000"/>
                <a:gridCol w="2544000"/>
              </a:tblGrid>
              <a:tr h="151200">
                <a:tc>
                  <a:txBody>
                    <a:bodyPr/>
                    <a:lstStyle/>
                    <a:p>
                      <a:r>
                        <a:rPr sz="700" b="1">
                          <a:solidFill>
                            <a:srgbClr val="060606"/>
                          </a:solidFill>
                          <a:latin typeface="Helvetica"/>
                        </a:rPr>
                        <a:t>Code couleur</a:t>
                      </a:r>
                    </a:p>
                  </a:txBody>
                  <a:tcPr marL="28800" marR="28800" marT="3600" marB="3600" anchor="ctr">
                    <a:solidFill>
                      <a:srgbClr val="FFFFFF"/>
                    </a:solidFill>
                  </a:tcPr>
                </a:tc>
                <a:tc>
                  <a:txBody>
                    <a:bodyPr/>
                    <a:lstStyle/>
                    <a:p>
                      <a:r>
                        <a:rPr sz="700" b="1">
                          <a:solidFill>
                            <a:srgbClr val="060606"/>
                          </a:solidFill>
                          <a:latin typeface="Helvetica"/>
                        </a:rPr>
                        <a:t>Divergent</a:t>
                      </a:r>
                    </a:p>
                  </a:txBody>
                  <a:tcPr marL="28800" marR="28800" marT="3600" marB="3600" anchor="ctr">
                    <a:solidFill>
                      <a:srgbClr val="EFAC62"/>
                    </a:solidFill>
                  </a:tcPr>
                </a:tc>
                <a:tc>
                  <a:txBody>
                    <a:bodyPr/>
                    <a:lstStyle/>
                    <a:p>
                      <a:r>
                        <a:rPr sz="700" b="0">
                          <a:solidFill>
                            <a:srgbClr val="060606"/>
                          </a:solidFill>
                          <a:latin typeface="Helvetica"/>
                        </a:rPr>
                        <a:t>formule différente du texte</a:t>
                      </a:r>
                    </a:p>
                  </a:txBody>
                  <a:tcPr marL="28800" marR="28800" marT="3600" marB="3600" anchor="ctr">
                    <a:solidFill>
                      <a:srgbClr val="FFFFFF"/>
                    </a:solidFill>
                  </a:tcPr>
                </a:tc>
                <a:tc>
                  <a:txBody>
                    <a:bodyPr/>
                    <a:lstStyle/>
                    <a:p>
                      <a:r>
                        <a:rPr sz="700" b="1">
                          <a:solidFill>
                            <a:srgbClr val="060606"/>
                          </a:solidFill>
                          <a:latin typeface="Helvetica"/>
                        </a:rPr>
                        <a:t>Conforme</a:t>
                      </a:r>
                    </a:p>
                  </a:txBody>
                  <a:tcPr marL="28800" marR="28800" marT="3600" marB="3600" anchor="ctr">
                    <a:solidFill>
                      <a:srgbClr val="70AD47"/>
                    </a:solidFill>
                  </a:tcPr>
                </a:tc>
                <a:tc>
                  <a:txBody>
                    <a:bodyPr/>
                    <a:lstStyle/>
                    <a:p>
                      <a:r>
                        <a:rPr sz="700" b="0">
                          <a:solidFill>
                            <a:srgbClr val="060606"/>
                          </a:solidFill>
                          <a:latin typeface="Helvetica"/>
                        </a:rPr>
                        <a:t>norme respectée</a:t>
                      </a:r>
                    </a:p>
                  </a:txBody>
                  <a:tcPr marL="28800" marR="28800" marT="3600" marB="3600" anchor="ctr">
                    <a:solidFill>
                      <a:srgbClr val="FFFFFF"/>
                    </a:solidFill>
                  </a:tcPr>
                </a:tc>
                <a:tc>
                  <a:txBody>
                    <a:bodyPr/>
                    <a:lstStyle/>
                    <a:p>
                      <a:r>
                        <a:rPr sz="700" b="1">
                          <a:solidFill>
                            <a:srgbClr val="060606"/>
                          </a:solidFill>
                          <a:latin typeface="Helvetica"/>
                        </a:rPr>
                        <a:t>En attente</a:t>
                      </a:r>
                    </a:p>
                  </a:txBody>
                  <a:tcPr marL="28800" marR="28800" marT="3600" marB="3600" anchor="ctr">
                    <a:solidFill>
                      <a:srgbClr val="FFD966"/>
                    </a:solidFill>
                  </a:tcPr>
                </a:tc>
                <a:tc>
                  <a:txBody>
                    <a:bodyPr/>
                    <a:lstStyle/>
                    <a:p>
                      <a:r>
                        <a:rPr sz="700" b="0">
                          <a:solidFill>
                            <a:srgbClr val="060606"/>
                          </a:solidFill>
                          <a:latin typeface="Helvetica"/>
                        </a:rPr>
                        <a:t>document du FPPN attendu</a:t>
                      </a:r>
                    </a:p>
                  </a:txBody>
                  <a:tcPr marL="28800" marR="28800" marT="3600" marB="3600" anchor="ctr">
                    <a:solidFill>
                      <a:srgbClr val="FFFFFF"/>
                    </a:solidFill>
                  </a:tcPr>
                </a:tc>
              </a:tr>
            </a:tbl>
          </a:graphicData>
        </a:graphic>
      </p:graphicFrame>
      <p:sp>
        <p:nvSpPr>
          <p:cNvPr id="30" name="TextBox 29"/>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Textes cités</a:t>
            </a:r>
          </a:p>
        </p:txBody>
      </p:sp>
      <p:sp>
        <p:nvSpPr>
          <p:cNvPr id="31" name="TextBox 30"/>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PCMS : plan comptable des mutuelles sociales | PEP : Plan Épargne Plus | EFC : entraide fin de carrière | MEDOC : produit santé complémentaire du poste 8Z7</a:t>
            </a:r>
          </a:p>
        </p:txBody>
      </p:sp>
    </p:spTree>
    <p:extLst>
      <p:ext uri="{BB962C8B-B14F-4D97-AF65-F5344CB8AC3E}">
        <p14:creationId xmlns:p14="http://schemas.microsoft.com/office/powerpoint/2010/main" val="2627277915"/>
      </p:ext>
    </p:extLst>
  </p:cSld>
  <p:clrMapOvr>
    <a:masterClrMapping/>
  </p:clrMapOvr>
  <p:transition>
    <p:fade/>
  </p:transition>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Tableau des formules (F-06-02 à F-07-04)</a:t>
            </a:r>
          </a:p>
        </p:txBody>
      </p:sp>
      <p:graphicFrame>
        <p:nvGraphicFramePr>
          <p:cNvPr id="28" name="Table 27"/>
          <p:cNvGraphicFramePr>
            <a:graphicFrameLocks noGrp="1"/>
          </p:cNvGraphicFramePr>
          <p:nvPr/>
        </p:nvGraphicFramePr>
        <p:xfrm>
          <a:off x="503999" y="720000"/>
          <a:ext cx="11231998" cy="2110185"/>
        </p:xfrm>
        <a:graphic>
          <a:graphicData uri="http://schemas.openxmlformats.org/drawingml/2006/table">
            <a:tbl>
              <a:tblPr firstRow="0" bandRow="0">
                <a:tableStyleId>{5940675A-B579-460E-94D1-54222C63F5DA}</a:tableStyleId>
              </a:tblPr>
              <a:tblGrid>
                <a:gridCol w="684000"/>
                <a:gridCol w="1655999"/>
                <a:gridCol w="3384000"/>
                <a:gridCol w="1944000"/>
                <a:gridCol w="2015999"/>
                <a:gridCol w="1548000"/>
              </a:tblGrid>
              <a:tr h="301455">
                <a:tc>
                  <a:txBody>
                    <a:bodyPr/>
                    <a:lstStyle/>
                    <a:p>
                      <a:pPr marL="0" indent="0" lvl="0">
                        <a:buNone/>
                      </a:pPr>
                      <a:r>
                        <a:rPr sz="800" b="1">
                          <a:solidFill>
                            <a:srgbClr val="FFFFFF"/>
                          </a:solidFill>
                          <a:latin typeface="Helvetica"/>
                        </a:rPr>
                        <a:t>Identifiant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Indicateur</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Formule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Source de la méthode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Méthode du FPPN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Statut</a:t>
                      </a:r>
                    </a:p>
                  </a:txBody>
                  <a:tcPr marL="43200" marR="43200" marT="14400" marB="14400" anchor="ctr">
                    <a:solidFill>
                      <a:srgbClr val="060606"/>
                    </a:solidFill>
                  </a:tcPr>
                </a:tc>
              </a:tr>
              <a:tr h="301455">
                <a:tc>
                  <a:txBody>
                    <a:bodyPr/>
                    <a:lstStyle/>
                    <a:p>
                      <a:pPr marL="0" indent="0" lvl="0">
                        <a:buNone/>
                      </a:pPr>
                      <a:r>
                        <a:rPr sz="800" b="1">
                          <a:solidFill>
                            <a:srgbClr val="060606"/>
                          </a:solidFill>
                          <a:latin typeface="Helvetica"/>
                        </a:rPr>
                        <a:t>F-06-02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Couverture de l'épargne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Actifs réservés à l'épargne divisés par la dette d'épargne.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FFFFF"/>
                    </a:solidFill>
                  </a:tcPr>
                </a:tc>
                <a:tc>
                  <a:txBody>
                    <a:bodyPr/>
                    <a:lstStyle/>
                    <a:p>
                      <a:pPr marL="0" indent="0" lvl="0">
                        <a:buNone/>
                      </a:pPr>
                      <a:r>
                        <a:rPr sz="800" b="1">
                          <a:solidFill>
                            <a:srgbClr val="060606"/>
                          </a:solidFill>
                          <a:latin typeface="Helvetica"/>
                        </a:rPr>
                        <a:t>Conforme au texte</a:t>
                      </a:r>
                    </a:p>
                  </a:txBody>
                  <a:tcPr marL="43200" marR="43200" marT="14400" marB="14400" anchor="ctr">
                    <a:solidFill>
                      <a:srgbClr val="70AD47"/>
                    </a:solidFill>
                  </a:tcPr>
                </a:tc>
              </a:tr>
              <a:tr h="301455">
                <a:tc>
                  <a:txBody>
                    <a:bodyPr/>
                    <a:lstStyle/>
                    <a:p>
                      <a:pPr marL="0" indent="0" lvl="0">
                        <a:buNone/>
                      </a:pPr>
                      <a:r>
                        <a:rPr sz="800" b="1">
                          <a:solidFill>
                            <a:srgbClr val="060606"/>
                          </a:solidFill>
                          <a:latin typeface="Helvetica"/>
                        </a:rPr>
                        <a:t>F-06-03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Sensibilité aux retraits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Part de l'épargne qui peut être retirée avant d'épuiser la trésorerie ou les actifs réservés.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Pratique de gestion actif-passif (test de résistance)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Sans objet</a:t>
                      </a:r>
                    </a:p>
                  </a:txBody>
                  <a:tcPr marL="43200" marR="43200" marT="14400" marB="14400" anchor="ctr">
                    <a:solidFill>
                      <a:srgbClr val="F2F2F2"/>
                    </a:solidFill>
                  </a:tcPr>
                </a:tc>
                <a:tc>
                  <a:txBody>
                    <a:bodyPr/>
                    <a:lstStyle/>
                    <a:p>
                      <a:pPr marL="0" indent="0" lvl="0">
                        <a:buNone/>
                      </a:pPr>
                      <a:r>
                        <a:rPr sz="800" b="1">
                          <a:solidFill>
                            <a:srgbClr val="060606"/>
                          </a:solidFill>
                          <a:latin typeface="Helvetica"/>
                        </a:rPr>
                        <a:t>Sans texte applicable</a:t>
                      </a:r>
                    </a:p>
                  </a:txBody>
                  <a:tcPr marL="43200" marR="43200" marT="14400" marB="14400" anchor="ctr">
                    <a:solidFill>
                      <a:srgbClr val="BBBCBC"/>
                    </a:solidFill>
                  </a:tcPr>
                </a:tc>
              </a:tr>
              <a:tr h="301455">
                <a:tc>
                  <a:txBody>
                    <a:bodyPr/>
                    <a:lstStyle/>
                    <a:p>
                      <a:pPr marL="0" indent="0" lvl="0">
                        <a:buNone/>
                      </a:pPr>
                      <a:r>
                        <a:rPr sz="800" b="1">
                          <a:solidFill>
                            <a:srgbClr val="060606"/>
                          </a:solidFill>
                          <a:latin typeface="Helvetica"/>
                        </a:rPr>
                        <a:t>F-07-01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Portefeuille en retard (PAR30, PAR90)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Encours des prêts en retard de plus de 30 (ou 90) jours divisé par l'encours total.</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Politique de crédit du Grenier. Pratique des SFD</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FFFFF"/>
                    </a:solidFill>
                  </a:tcPr>
                </a:tc>
                <a:tc>
                  <a:txBody>
                    <a:bodyPr/>
                    <a:lstStyle/>
                    <a:p>
                      <a:pPr marL="0" indent="0" lvl="0">
                        <a:buNone/>
                      </a:pPr>
                      <a:r>
                        <a:rPr sz="800" b="1">
                          <a:solidFill>
                            <a:srgbClr val="060606"/>
                          </a:solidFill>
                          <a:latin typeface="Helvetica"/>
                        </a:rPr>
                        <a:t>Sans texte applicable</a:t>
                      </a:r>
                    </a:p>
                  </a:txBody>
                  <a:tcPr marL="43200" marR="43200" marT="14400" marB="14400" anchor="ctr">
                    <a:solidFill>
                      <a:srgbClr val="BBBCBC"/>
                    </a:solidFill>
                  </a:tcPr>
                </a:tc>
              </a:tr>
              <a:tr h="301455">
                <a:tc>
                  <a:txBody>
                    <a:bodyPr/>
                    <a:lstStyle/>
                    <a:p>
                      <a:pPr marL="0" indent="0" lvl="0">
                        <a:buNone/>
                      </a:pPr>
                      <a:r>
                        <a:rPr sz="800" b="1">
                          <a:solidFill>
                            <a:srgbClr val="060606"/>
                          </a:solidFill>
                          <a:latin typeface="Helvetica"/>
                        </a:rPr>
                        <a:t>F-07-02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Intervalle de Wilson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Encadrement à 95 % de la proportion de prêts en retard.</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Statistique classique (Wilson, 1927)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Sans objet</a:t>
                      </a:r>
                    </a:p>
                  </a:txBody>
                  <a:tcPr marL="43200" marR="43200" marT="14400" marB="14400" anchor="ctr">
                    <a:solidFill>
                      <a:srgbClr val="F2F2F2"/>
                    </a:solidFill>
                  </a:tcPr>
                </a:tc>
                <a:tc>
                  <a:txBody>
                    <a:bodyPr/>
                    <a:lstStyle/>
                    <a:p>
                      <a:pPr marL="0" indent="0" lvl="0">
                        <a:buNone/>
                      </a:pPr>
                      <a:r>
                        <a:rPr sz="800" b="1">
                          <a:solidFill>
                            <a:srgbClr val="060606"/>
                          </a:solidFill>
                          <a:latin typeface="Helvetica"/>
                        </a:rPr>
                        <a:t>Sans texte applicable</a:t>
                      </a:r>
                    </a:p>
                  </a:txBody>
                  <a:tcPr marL="43200" marR="43200" marT="14400" marB="14400" anchor="ctr">
                    <a:solidFill>
                      <a:srgbClr val="BBBCBC"/>
                    </a:solidFill>
                  </a:tcPr>
                </a:tc>
              </a:tr>
              <a:tr h="301455">
                <a:tc>
                  <a:txBody>
                    <a:bodyPr/>
                    <a:lstStyle/>
                    <a:p>
                      <a:pPr marL="0" indent="0" lvl="0">
                        <a:buNone/>
                      </a:pPr>
                      <a:r>
                        <a:rPr sz="800" b="1">
                          <a:solidFill>
                            <a:srgbClr val="060606"/>
                          </a:solidFill>
                          <a:latin typeface="Helvetica"/>
                        </a:rPr>
                        <a:t>F-07-03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Dépréciation des prêts en retard</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Encours de chaque tranche de retard multiplié par le taux de dépréciation de la tranche, puis additionné.</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PCMS. Politique de crédit du Grenier</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Aucune dépréciation passée depuis 2022 (compte 49 non mouvementé)</a:t>
                      </a:r>
                    </a:p>
                  </a:txBody>
                  <a:tcPr marL="43200" marR="43200" marT="14400" marB="14400" anchor="ctr">
                    <a:solidFill>
                      <a:srgbClr val="FFFFFF"/>
                    </a:solidFill>
                  </a:tcPr>
                </a:tc>
                <a:tc>
                  <a:txBody>
                    <a:bodyPr/>
                    <a:lstStyle/>
                    <a:p>
                      <a:pPr marL="0" indent="0" lvl="0">
                        <a:buNone/>
                      </a:pPr>
                      <a:r>
                        <a:rPr sz="800" b="1">
                          <a:solidFill>
                            <a:srgbClr val="060606"/>
                          </a:solidFill>
                          <a:latin typeface="Helvetica"/>
                        </a:rPr>
                        <a:t>En attente</a:t>
                      </a:r>
                    </a:p>
                  </a:txBody>
                  <a:tcPr marL="43200" marR="43200" marT="14400" marB="14400" anchor="ctr">
                    <a:solidFill>
                      <a:srgbClr val="FFD966"/>
                    </a:solidFill>
                  </a:tcPr>
                </a:tc>
              </a:tr>
              <a:tr h="301455">
                <a:tc>
                  <a:txBody>
                    <a:bodyPr/>
                    <a:lstStyle/>
                    <a:p>
                      <a:pPr marL="0" indent="0" lvl="0">
                        <a:buNone/>
                      </a:pPr>
                      <a:r>
                        <a:rPr sz="800" b="1">
                          <a:solidFill>
                            <a:srgbClr val="060606"/>
                          </a:solidFill>
                          <a:latin typeface="Helvetica"/>
                        </a:rPr>
                        <a:t>F-07-04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Précomptes rapportés aux échéances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Montant précompté au poste 9X4 divisé par les échéances dues des prêts en cours.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Rapprochement de sources (pratique d'audit)</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2F2F2"/>
                    </a:solidFill>
                  </a:tcPr>
                </a:tc>
                <a:tc>
                  <a:txBody>
                    <a:bodyPr/>
                    <a:lstStyle/>
                    <a:p>
                      <a:pPr marL="0" indent="0" lvl="0">
                        <a:buNone/>
                      </a:pPr>
                      <a:r>
                        <a:rPr sz="800" b="1">
                          <a:solidFill>
                            <a:srgbClr val="060606"/>
                          </a:solidFill>
                          <a:latin typeface="Helvetica"/>
                        </a:rPr>
                        <a:t>Sans texte applicable</a:t>
                      </a:r>
                    </a:p>
                  </a:txBody>
                  <a:tcPr marL="43200" marR="43200" marT="14400" marB="14400" anchor="ctr">
                    <a:solidFill>
                      <a:srgbClr val="BBBCBC"/>
                    </a:solidFill>
                  </a:tcPr>
                </a:tc>
              </a:tr>
            </a:tbl>
          </a:graphicData>
        </a:graphic>
      </p:graphicFrame>
      <p:graphicFrame>
        <p:nvGraphicFramePr>
          <p:cNvPr id="29" name="Table 28"/>
          <p:cNvGraphicFramePr>
            <a:graphicFrameLocks noGrp="1"/>
          </p:cNvGraphicFramePr>
          <p:nvPr/>
        </p:nvGraphicFramePr>
        <p:xfrm>
          <a:off x="503999" y="3021100"/>
          <a:ext cx="11232000" cy="151200"/>
        </p:xfrm>
        <a:graphic>
          <a:graphicData uri="http://schemas.openxmlformats.org/drawingml/2006/table">
            <a:tbl>
              <a:tblPr firstRow="0" bandRow="0">
                <a:tableStyleId>{5C22544A-7EE6-4342-B048-85BDC9FD1C3A}</a:tableStyleId>
              </a:tblPr>
              <a:tblGrid>
                <a:gridCol w="792000"/>
                <a:gridCol w="936000"/>
                <a:gridCol w="2544000"/>
                <a:gridCol w="936000"/>
                <a:gridCol w="2544000"/>
                <a:gridCol w="936000"/>
                <a:gridCol w="2544000"/>
              </a:tblGrid>
              <a:tr h="151200">
                <a:tc>
                  <a:txBody>
                    <a:bodyPr/>
                    <a:lstStyle/>
                    <a:p>
                      <a:r>
                        <a:rPr sz="700" b="1">
                          <a:solidFill>
                            <a:srgbClr val="060606"/>
                          </a:solidFill>
                          <a:latin typeface="Helvetica"/>
                        </a:rPr>
                        <a:t>Code couleur</a:t>
                      </a:r>
                    </a:p>
                  </a:txBody>
                  <a:tcPr marL="28800" marR="28800" marT="3600" marB="3600" anchor="ctr">
                    <a:solidFill>
                      <a:srgbClr val="FFFFFF"/>
                    </a:solidFill>
                  </a:tcPr>
                </a:tc>
                <a:tc>
                  <a:txBody>
                    <a:bodyPr/>
                    <a:lstStyle/>
                    <a:p>
                      <a:r>
                        <a:rPr sz="700" b="1">
                          <a:solidFill>
                            <a:srgbClr val="060606"/>
                          </a:solidFill>
                          <a:latin typeface="Helvetica"/>
                        </a:rPr>
                        <a:t>Conforme</a:t>
                      </a:r>
                    </a:p>
                  </a:txBody>
                  <a:tcPr marL="28800" marR="28800" marT="3600" marB="3600" anchor="ctr">
                    <a:solidFill>
                      <a:srgbClr val="70AD47"/>
                    </a:solidFill>
                  </a:tcPr>
                </a:tc>
                <a:tc>
                  <a:txBody>
                    <a:bodyPr/>
                    <a:lstStyle/>
                    <a:p>
                      <a:r>
                        <a:rPr sz="700" b="0">
                          <a:solidFill>
                            <a:srgbClr val="060606"/>
                          </a:solidFill>
                          <a:latin typeface="Helvetica"/>
                        </a:rPr>
                        <a:t>norme respectée</a:t>
                      </a:r>
                    </a:p>
                  </a:txBody>
                  <a:tcPr marL="28800" marR="28800" marT="3600" marB="3600" anchor="ctr">
                    <a:solidFill>
                      <a:srgbClr val="FFFFFF"/>
                    </a:solidFill>
                  </a:tcPr>
                </a:tc>
                <a:tc>
                  <a:txBody>
                    <a:bodyPr/>
                    <a:lstStyle/>
                    <a:p>
                      <a:r>
                        <a:rPr sz="700" b="1">
                          <a:solidFill>
                            <a:srgbClr val="060606"/>
                          </a:solidFill>
                          <a:latin typeface="Helvetica"/>
                        </a:rPr>
                        <a:t>Sans texte applicable</a:t>
                      </a:r>
                    </a:p>
                  </a:txBody>
                  <a:tcPr marL="28800" marR="28800" marT="3600" marB="3600" anchor="ctr">
                    <a:solidFill>
                      <a:srgbClr val="BBBCBC"/>
                    </a:solidFill>
                  </a:tcPr>
                </a:tc>
                <a:tc>
                  <a:txBody>
                    <a:bodyPr/>
                    <a:lstStyle/>
                    <a:p>
                      <a:r>
                        <a:rPr sz="700" b="0">
                          <a:solidFill>
                            <a:srgbClr val="060606"/>
                          </a:solidFill>
                          <a:latin typeface="Helvetica"/>
                        </a:rPr>
                        <a:t>aucun texte ne fixe la règle</a:t>
                      </a:r>
                    </a:p>
                  </a:txBody>
                  <a:tcPr marL="28800" marR="28800" marT="3600" marB="3600" anchor="ctr">
                    <a:solidFill>
                      <a:srgbClr val="FFFFFF"/>
                    </a:solidFill>
                  </a:tcPr>
                </a:tc>
                <a:tc>
                  <a:txBody>
                    <a:bodyPr/>
                    <a:lstStyle/>
                    <a:p>
                      <a:r>
                        <a:rPr sz="700" b="1">
                          <a:solidFill>
                            <a:srgbClr val="060606"/>
                          </a:solidFill>
                          <a:latin typeface="Helvetica"/>
                        </a:rPr>
                        <a:t>En attente</a:t>
                      </a:r>
                    </a:p>
                  </a:txBody>
                  <a:tcPr marL="28800" marR="28800" marT="3600" marB="3600" anchor="ctr">
                    <a:solidFill>
                      <a:srgbClr val="FFD966"/>
                    </a:solidFill>
                  </a:tcPr>
                </a:tc>
                <a:tc>
                  <a:txBody>
                    <a:bodyPr/>
                    <a:lstStyle/>
                    <a:p>
                      <a:r>
                        <a:rPr sz="700" b="0">
                          <a:solidFill>
                            <a:srgbClr val="060606"/>
                          </a:solidFill>
                          <a:latin typeface="Helvetica"/>
                        </a:rPr>
                        <a:t>document du FPPN attendu</a:t>
                      </a:r>
                    </a:p>
                  </a:txBody>
                  <a:tcPr marL="28800" marR="28800" marT="3600" marB="3600" anchor="ctr">
                    <a:solidFill>
                      <a:srgbClr val="FFFFFF"/>
                    </a:solidFill>
                  </a:tcPr>
                </a:tc>
              </a:tr>
            </a:tbl>
          </a:graphicData>
        </a:graphic>
      </p:graphicFrame>
      <p:sp>
        <p:nvSpPr>
          <p:cNvPr id="30" name="TextBox 29"/>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Textes cités</a:t>
            </a:r>
          </a:p>
        </p:txBody>
      </p:sp>
      <p:sp>
        <p:nvSpPr>
          <p:cNvPr id="31" name="TextBox 30"/>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PCMS : plan comptable des mutuelles sociales | PAR30 : part de l'encours en retard de plus de 30 jours | SFD : systèmes financiers décentralisés | 9X4 : poste Grenier</a:t>
            </a:r>
          </a:p>
        </p:txBody>
      </p:sp>
    </p:spTree>
    <p:extLst>
      <p:ext uri="{BB962C8B-B14F-4D97-AF65-F5344CB8AC3E}">
        <p14:creationId xmlns:p14="http://schemas.microsoft.com/office/powerpoint/2010/main" val="1137851010"/>
      </p:ext>
    </p:extLst>
  </p:cSld>
  <p:clrMapOvr>
    <a:masterClrMapping/>
  </p:clrMapOvr>
  <p:transition>
    <p:fade/>
  </p:transition>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Tableau des formules (F-09-01 à F-09-06)</a:t>
            </a:r>
          </a:p>
        </p:txBody>
      </p:sp>
      <p:graphicFrame>
        <p:nvGraphicFramePr>
          <p:cNvPr id="28" name="Table 27"/>
          <p:cNvGraphicFramePr>
            <a:graphicFrameLocks noGrp="1"/>
          </p:cNvGraphicFramePr>
          <p:nvPr/>
        </p:nvGraphicFramePr>
        <p:xfrm>
          <a:off x="503999" y="720000"/>
          <a:ext cx="11231998" cy="3207534"/>
        </p:xfrm>
        <a:graphic>
          <a:graphicData uri="http://schemas.openxmlformats.org/drawingml/2006/table">
            <a:tbl>
              <a:tblPr firstRow="0" bandRow="0">
                <a:tableStyleId>{5940675A-B579-460E-94D1-54222C63F5DA}</a:tableStyleId>
              </a:tblPr>
              <a:tblGrid>
                <a:gridCol w="684000"/>
                <a:gridCol w="1655999"/>
                <a:gridCol w="3384000"/>
                <a:gridCol w="1944000"/>
                <a:gridCol w="2015999"/>
                <a:gridCol w="1548000"/>
              </a:tblGrid>
              <a:tr h="301455">
                <a:tc>
                  <a:txBody>
                    <a:bodyPr/>
                    <a:lstStyle/>
                    <a:p>
                      <a:pPr marL="0" indent="0" lvl="0">
                        <a:buNone/>
                      </a:pPr>
                      <a:r>
                        <a:rPr sz="800" b="1">
                          <a:solidFill>
                            <a:srgbClr val="FFFFFF"/>
                          </a:solidFill>
                          <a:latin typeface="Helvetica"/>
                        </a:rPr>
                        <a:t>Identifiant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Indicateur</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Formule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Source de la méthode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Méthode du FPPN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Statut</a:t>
                      </a:r>
                    </a:p>
                  </a:txBody>
                  <a:tcPr marL="43200" marR="43200" marT="14400" marB="14400" anchor="ctr">
                    <a:solidFill>
                      <a:srgbClr val="060606"/>
                    </a:solidFill>
                  </a:tcPr>
                </a:tc>
              </a:tr>
              <a:tr h="545310">
                <a:tc>
                  <a:txBody>
                    <a:bodyPr/>
                    <a:lstStyle/>
                    <a:p>
                      <a:pPr marL="0" indent="0" lvl="0">
                        <a:buNone/>
                      </a:pPr>
                      <a:r>
                        <a:rPr sz="800" b="1">
                          <a:solidFill>
                            <a:srgbClr val="060606"/>
                          </a:solidFill>
                          <a:latin typeface="Helvetica"/>
                        </a:rPr>
                        <a:t>F-09-01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PSAP en mois de prestations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Provision pour sinistres à payer divisée par les prestations mensuelles moyennes de l'année.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Règlement d'exécution n° 004/2022/COM/UEMOA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Aucune provision maladie calculée. Montants hérités d'environ 2004, jamais recalculés (chef comptable, 19/10/2026)</a:t>
                      </a:r>
                    </a:p>
                  </a:txBody>
                  <a:tcPr marL="43200" marR="43200" marT="14400" marB="14400" anchor="ctr">
                    <a:solidFill>
                      <a:srgbClr val="FFFFFF"/>
                    </a:solidFill>
                  </a:tcPr>
                </a:tc>
                <a:tc>
                  <a:txBody>
                    <a:bodyPr/>
                    <a:lstStyle/>
                    <a:p>
                      <a:pPr marL="0" indent="0" lvl="0">
                        <a:buNone/>
                      </a:pPr>
                      <a:r>
                        <a:rPr sz="800" b="1">
                          <a:solidFill>
                            <a:srgbClr val="060606"/>
                          </a:solidFill>
                          <a:latin typeface="Helvetica"/>
                        </a:rPr>
                        <a:t>En attente</a:t>
                      </a:r>
                    </a:p>
                  </a:txBody>
                  <a:tcPr marL="43200" marR="43200" marT="14400" marB="14400" anchor="ctr">
                    <a:solidFill>
                      <a:srgbClr val="FFD966"/>
                    </a:solidFill>
                  </a:tcPr>
                </a:tc>
              </a:tr>
              <a:tr h="545310">
                <a:tc>
                  <a:txBody>
                    <a:bodyPr/>
                    <a:lstStyle/>
                    <a:p>
                      <a:pPr marL="0" indent="0" lvl="0">
                        <a:buNone/>
                      </a:pPr>
                      <a:r>
                        <a:rPr sz="800" b="1">
                          <a:solidFill>
                            <a:srgbClr val="060606"/>
                          </a:solidFill>
                          <a:latin typeface="Helvetica"/>
                        </a:rPr>
                        <a:t>F-09-02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PSAP et dettes envers les cliniques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Provision maladie comparée aux factures des cliniques déjà enregistrées et non payées.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Règlement d'exécution n° 004/2022/COM/UEMOA. PCMS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Aucune provision maladie calculée. Montants hérités d'environ 2004, jamais recalculés (chef comptable, 19/10/2026)</a:t>
                      </a:r>
                    </a:p>
                  </a:txBody>
                  <a:tcPr marL="43200" marR="43200" marT="14400" marB="14400" anchor="ctr">
                    <a:solidFill>
                      <a:srgbClr val="F2F2F2"/>
                    </a:solidFill>
                  </a:tcPr>
                </a:tc>
                <a:tc>
                  <a:txBody>
                    <a:bodyPr/>
                    <a:lstStyle/>
                    <a:p>
                      <a:pPr marL="0" indent="0" lvl="0">
                        <a:buNone/>
                      </a:pPr>
                      <a:r>
                        <a:rPr sz="800" b="1">
                          <a:solidFill>
                            <a:srgbClr val="060606"/>
                          </a:solidFill>
                          <a:latin typeface="Helvetica"/>
                        </a:rPr>
                        <a:t>En attente</a:t>
                      </a:r>
                    </a:p>
                  </a:txBody>
                  <a:tcPr marL="43200" marR="43200" marT="14400" marB="14400" anchor="ctr">
                    <a:solidFill>
                      <a:srgbClr val="FFD966"/>
                    </a:solidFill>
                  </a:tcPr>
                </a:tc>
              </a:tr>
              <a:tr h="423383">
                <a:tc>
                  <a:txBody>
                    <a:bodyPr/>
                    <a:lstStyle/>
                    <a:p>
                      <a:pPr marL="0" indent="0" lvl="0">
                        <a:buNone/>
                      </a:pPr>
                      <a:r>
                        <a:rPr sz="800" b="1">
                          <a:solidFill>
                            <a:srgbClr val="060606"/>
                          </a:solidFill>
                          <a:latin typeface="Helvetica"/>
                        </a:rPr>
                        <a:t>F-09-03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Sinistres tardifs (méthode CIMA)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Coefficients de déclaration tardive observés, multipliés par les sinistres déclarés l'année de survenance et par le coût moyen.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Circulaire n° 00230/CIMA/CRCA/PDT/2005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FFFFF"/>
                    </a:solidFill>
                  </a:tcPr>
                </a:tc>
                <a:tc>
                  <a:txBody>
                    <a:bodyPr/>
                    <a:lstStyle/>
                    <a:p>
                      <a:pPr marL="0" indent="0" lvl="0">
                        <a:buNone/>
                      </a:pPr>
                      <a:r>
                        <a:rPr sz="800" b="1">
                          <a:solidFill>
                            <a:srgbClr val="060606"/>
                          </a:solidFill>
                          <a:latin typeface="Helvetica"/>
                        </a:rPr>
                        <a:t>En attente</a:t>
                      </a:r>
                    </a:p>
                  </a:txBody>
                  <a:tcPr marL="43200" marR="43200" marT="14400" marB="14400" anchor="ctr">
                    <a:solidFill>
                      <a:srgbClr val="FFD966"/>
                    </a:solidFill>
                  </a:tcPr>
                </a:tc>
              </a:tr>
              <a:tr h="423383">
                <a:tc>
                  <a:txBody>
                    <a:bodyPr/>
                    <a:lstStyle/>
                    <a:p>
                      <a:pPr marL="0" indent="0" lvl="0">
                        <a:buNone/>
                      </a:pPr>
                      <a:r>
                        <a:rPr sz="800" b="1">
                          <a:solidFill>
                            <a:srgbClr val="060606"/>
                          </a:solidFill>
                          <a:latin typeface="Helvetica"/>
                        </a:rPr>
                        <a:t>F-09-04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Provision mathématique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Valeur actuelle des prestations promises moins valeur actuelle des cotisations futures.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Règlement d'exécution n° 004/2022/COM/UEMOA, art. 11. Code CIMA, art. 338 (tables, taux de 3,5 %)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Aucune provision mathématique au bilan</a:t>
                      </a:r>
                    </a:p>
                  </a:txBody>
                  <a:tcPr marL="43200" marR="43200" marT="14400" marB="14400" anchor="ctr">
                    <a:solidFill>
                      <a:srgbClr val="F2F2F2"/>
                    </a:solidFill>
                  </a:tcPr>
                </a:tc>
                <a:tc>
                  <a:txBody>
                    <a:bodyPr/>
                    <a:lstStyle/>
                    <a:p>
                      <a:pPr marL="0" indent="0" lvl="0">
                        <a:buNone/>
                      </a:pPr>
                      <a:r>
                        <a:rPr sz="800" b="1">
                          <a:solidFill>
                            <a:srgbClr val="060606"/>
                          </a:solidFill>
                          <a:latin typeface="Helvetica"/>
                        </a:rPr>
                        <a:t>En attente</a:t>
                      </a:r>
                    </a:p>
                  </a:txBody>
                  <a:tcPr marL="43200" marR="43200" marT="14400" marB="14400" anchor="ctr">
                    <a:solidFill>
                      <a:srgbClr val="FFD966"/>
                    </a:solidFill>
                  </a:tcPr>
                </a:tc>
              </a:tr>
              <a:tr h="301455">
                <a:tc>
                  <a:txBody>
                    <a:bodyPr/>
                    <a:lstStyle/>
                    <a:p>
                      <a:pPr marL="0" indent="0" lvl="0">
                        <a:buNone/>
                      </a:pPr>
                      <a:r>
                        <a:rPr sz="800" b="1">
                          <a:solidFill>
                            <a:srgbClr val="060606"/>
                          </a:solidFill>
                          <a:latin typeface="Helvetica"/>
                        </a:rPr>
                        <a:t>F-09-05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Provision pour risques en cours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Coût des risques entre la date d'inventaire et la prochaine échéance de cotisation.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Règlement d'exécution n° 004/2022/COM/UEMOA, art. 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Aucune provision pour risques en cours</a:t>
                      </a:r>
                    </a:p>
                  </a:txBody>
                  <a:tcPr marL="43200" marR="43200" marT="14400" marB="14400" anchor="ctr">
                    <a:solidFill>
                      <a:srgbClr val="FFFFFF"/>
                    </a:solidFill>
                  </a:tcPr>
                </a:tc>
                <a:tc>
                  <a:txBody>
                    <a:bodyPr/>
                    <a:lstStyle/>
                    <a:p>
                      <a:pPr marL="0" indent="0" lvl="0">
                        <a:buNone/>
                      </a:pPr>
                      <a:r>
                        <a:rPr sz="800" b="1">
                          <a:solidFill>
                            <a:srgbClr val="060606"/>
                          </a:solidFill>
                          <a:latin typeface="Helvetica"/>
                        </a:rPr>
                        <a:t>En attente</a:t>
                      </a:r>
                    </a:p>
                  </a:txBody>
                  <a:tcPr marL="43200" marR="43200" marT="14400" marB="14400" anchor="ctr">
                    <a:solidFill>
                      <a:srgbClr val="FFD966"/>
                    </a:solidFill>
                  </a:tcPr>
                </a:tc>
              </a:tr>
              <a:tr h="667238">
                <a:tc>
                  <a:txBody>
                    <a:bodyPr/>
                    <a:lstStyle/>
                    <a:p>
                      <a:pPr marL="0" indent="0" lvl="0">
                        <a:buNone/>
                      </a:pPr>
                      <a:r>
                        <a:rPr sz="800" b="1">
                          <a:solidFill>
                            <a:srgbClr val="060606"/>
                          </a:solidFill>
                          <a:latin typeface="Helvetica"/>
                        </a:rPr>
                        <a:t>F-09-06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Indemnités de départ à la retraite du personnel</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Somme, pour chaque salarié, de l'indemnité prévue par la convention collective à son départ, pondérée par la probabilité d'être présent et actualisée, au prorata de l'ancienneté acquise.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Décret n° 2017-210, art. 4 et 5. Convention collective du 19/07/1977, art. 40. IAS 19, § 67, 83 et 145 (bonne pratique)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Convention collective appliquée à l'ancienneté acquise. Provision reprise et dotée en totalité chaque année (chef comptable, 19/10/2026). Proche des droits acquis recalculés</a:t>
                      </a:r>
                    </a:p>
                  </a:txBody>
                  <a:tcPr marL="43200" marR="43200" marT="14400" marB="14400" anchor="ctr">
                    <a:solidFill>
                      <a:srgbClr val="F2F2F2"/>
                    </a:solidFill>
                  </a:tcPr>
                </a:tc>
                <a:tc>
                  <a:txBody>
                    <a:bodyPr/>
                    <a:lstStyle/>
                    <a:p>
                      <a:pPr marL="0" indent="0" lvl="0">
                        <a:buNone/>
                      </a:pPr>
                      <a:r>
                        <a:rPr sz="800" b="1">
                          <a:solidFill>
                            <a:srgbClr val="060606"/>
                          </a:solidFill>
                          <a:latin typeface="Helvetica"/>
                        </a:rPr>
                        <a:t>Divergent, justifié</a:t>
                      </a:r>
                    </a:p>
                  </a:txBody>
                  <a:tcPr marL="43200" marR="43200" marT="14400" marB="14400" anchor="ctr">
                    <a:solidFill>
                      <a:srgbClr val="EFAC62"/>
                    </a:solidFill>
                  </a:tcPr>
                </a:tc>
              </a:tr>
            </a:tbl>
          </a:graphicData>
        </a:graphic>
      </p:graphicFrame>
      <p:graphicFrame>
        <p:nvGraphicFramePr>
          <p:cNvPr id="29" name="Table 28"/>
          <p:cNvGraphicFramePr>
            <a:graphicFrameLocks noGrp="1"/>
          </p:cNvGraphicFramePr>
          <p:nvPr/>
        </p:nvGraphicFramePr>
        <p:xfrm>
          <a:off x="503999" y="4195264"/>
          <a:ext cx="11232000" cy="151200"/>
        </p:xfrm>
        <a:graphic>
          <a:graphicData uri="http://schemas.openxmlformats.org/drawingml/2006/table">
            <a:tbl>
              <a:tblPr firstRow="0" bandRow="0">
                <a:tableStyleId>{5C22544A-7EE6-4342-B048-85BDC9FD1C3A}</a:tableStyleId>
              </a:tblPr>
              <a:tblGrid>
                <a:gridCol w="792000"/>
                <a:gridCol w="936000"/>
                <a:gridCol w="4284000"/>
                <a:gridCol w="936000"/>
                <a:gridCol w="4284000"/>
              </a:tblGrid>
              <a:tr h="151200">
                <a:tc>
                  <a:txBody>
                    <a:bodyPr/>
                    <a:lstStyle/>
                    <a:p>
                      <a:r>
                        <a:rPr sz="700" b="1">
                          <a:solidFill>
                            <a:srgbClr val="060606"/>
                          </a:solidFill>
                          <a:latin typeface="Helvetica"/>
                        </a:rPr>
                        <a:t>Code couleur</a:t>
                      </a:r>
                    </a:p>
                  </a:txBody>
                  <a:tcPr marL="28800" marR="28800" marT="3600" marB="3600" anchor="ctr">
                    <a:solidFill>
                      <a:srgbClr val="FFFFFF"/>
                    </a:solidFill>
                  </a:tcPr>
                </a:tc>
                <a:tc>
                  <a:txBody>
                    <a:bodyPr/>
                    <a:lstStyle/>
                    <a:p>
                      <a:r>
                        <a:rPr sz="700" b="1">
                          <a:solidFill>
                            <a:srgbClr val="060606"/>
                          </a:solidFill>
                          <a:latin typeface="Helvetica"/>
                        </a:rPr>
                        <a:t>En attente</a:t>
                      </a:r>
                    </a:p>
                  </a:txBody>
                  <a:tcPr marL="28800" marR="28800" marT="3600" marB="3600" anchor="ctr">
                    <a:solidFill>
                      <a:srgbClr val="FFD966"/>
                    </a:solidFill>
                  </a:tcPr>
                </a:tc>
                <a:tc>
                  <a:txBody>
                    <a:bodyPr/>
                    <a:lstStyle/>
                    <a:p>
                      <a:r>
                        <a:rPr sz="700" b="0">
                          <a:solidFill>
                            <a:srgbClr val="060606"/>
                          </a:solidFill>
                          <a:latin typeface="Helvetica"/>
                        </a:rPr>
                        <a:t>document du FPPN attendu</a:t>
                      </a:r>
                    </a:p>
                  </a:txBody>
                  <a:tcPr marL="28800" marR="28800" marT="3600" marB="3600" anchor="ctr">
                    <a:solidFill>
                      <a:srgbClr val="FFFFFF"/>
                    </a:solidFill>
                  </a:tcPr>
                </a:tc>
                <a:tc>
                  <a:txBody>
                    <a:bodyPr/>
                    <a:lstStyle/>
                    <a:p>
                      <a:r>
                        <a:rPr sz="700" b="1">
                          <a:solidFill>
                            <a:srgbClr val="060606"/>
                          </a:solidFill>
                          <a:latin typeface="Helvetica"/>
                        </a:rPr>
                        <a:t>Divergent</a:t>
                      </a:r>
                    </a:p>
                  </a:txBody>
                  <a:tcPr marL="28800" marR="28800" marT="3600" marB="3600" anchor="ctr">
                    <a:solidFill>
                      <a:srgbClr val="EFAC62"/>
                    </a:solidFill>
                  </a:tcPr>
                </a:tc>
                <a:tc>
                  <a:txBody>
                    <a:bodyPr/>
                    <a:lstStyle/>
                    <a:p>
                      <a:r>
                        <a:rPr sz="700" b="0">
                          <a:solidFill>
                            <a:srgbClr val="060606"/>
                          </a:solidFill>
                          <a:latin typeface="Helvetica"/>
                        </a:rPr>
                        <a:t>formule différente du texte</a:t>
                      </a:r>
                    </a:p>
                  </a:txBody>
                  <a:tcPr marL="28800" marR="28800" marT="3600" marB="3600" anchor="ctr">
                    <a:solidFill>
                      <a:srgbClr val="FFFFFF"/>
                    </a:solidFill>
                  </a:tcPr>
                </a:tc>
              </a:tr>
            </a:tbl>
          </a:graphicData>
        </a:graphic>
      </p:graphicFrame>
      <p:sp>
        <p:nvSpPr>
          <p:cNvPr id="30" name="TextBox 29"/>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Textes cités</a:t>
            </a:r>
          </a:p>
        </p:txBody>
      </p:sp>
      <p:sp>
        <p:nvSpPr>
          <p:cNvPr id="31" name="TextBox 30"/>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PCMS : plan comptable des mutuelles sociales | CIMA : Conférence interafricaine des marchés d'assurances | PSAP : provision pour sinistres à payer | IAS, IFRS : normes comptables internationales</a:t>
            </a:r>
          </a:p>
        </p:txBody>
      </p:sp>
    </p:spTree>
    <p:extLst>
      <p:ext uri="{BB962C8B-B14F-4D97-AF65-F5344CB8AC3E}">
        <p14:creationId xmlns:p14="http://schemas.microsoft.com/office/powerpoint/2010/main" val="3760732702"/>
      </p:ext>
    </p:extLst>
  </p:cSld>
  <p:clrMapOvr>
    <a:masterClrMapping/>
  </p:clrMapOvr>
  <p:transition>
    <p:fade/>
  </p:transition>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Tableau des formules (F-09-10 à F-09-09)</a:t>
            </a:r>
          </a:p>
        </p:txBody>
      </p:sp>
      <p:graphicFrame>
        <p:nvGraphicFramePr>
          <p:cNvPr id="28" name="Table 27"/>
          <p:cNvGraphicFramePr>
            <a:graphicFrameLocks noGrp="1"/>
          </p:cNvGraphicFramePr>
          <p:nvPr/>
        </p:nvGraphicFramePr>
        <p:xfrm>
          <a:off x="503999" y="720000"/>
          <a:ext cx="11231998" cy="2354040"/>
        </p:xfrm>
        <a:graphic>
          <a:graphicData uri="http://schemas.openxmlformats.org/drawingml/2006/table">
            <a:tbl>
              <a:tblPr firstRow="0" bandRow="0">
                <a:tableStyleId>{5940675A-B579-460E-94D1-54222C63F5DA}</a:tableStyleId>
              </a:tblPr>
              <a:tblGrid>
                <a:gridCol w="684000"/>
                <a:gridCol w="1655999"/>
                <a:gridCol w="3384000"/>
                <a:gridCol w="1944000"/>
                <a:gridCol w="2015999"/>
                <a:gridCol w="1548000"/>
              </a:tblGrid>
              <a:tr h="301455">
                <a:tc>
                  <a:txBody>
                    <a:bodyPr/>
                    <a:lstStyle/>
                    <a:p>
                      <a:pPr marL="0" indent="0" lvl="0">
                        <a:buNone/>
                      </a:pPr>
                      <a:r>
                        <a:rPr sz="800" b="1">
                          <a:solidFill>
                            <a:srgbClr val="FFFFFF"/>
                          </a:solidFill>
                          <a:latin typeface="Helvetica"/>
                        </a:rPr>
                        <a:t>Identifiant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Indicateur</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Formule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Source de la méthode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Méthode du FPPN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Statut</a:t>
                      </a:r>
                    </a:p>
                  </a:txBody>
                  <a:tcPr marL="43200" marR="43200" marT="14400" marB="14400" anchor="ctr">
                    <a:solidFill>
                      <a:srgbClr val="060606"/>
                    </a:solidFill>
                  </a:tcPr>
                </a:tc>
              </a:tr>
              <a:tr h="545310">
                <a:tc>
                  <a:txBody>
                    <a:bodyPr/>
                    <a:lstStyle/>
                    <a:p>
                      <a:pPr marL="0" indent="0" lvl="0">
                        <a:buNone/>
                      </a:pPr>
                      <a:r>
                        <a:rPr sz="800" b="1">
                          <a:solidFill>
                            <a:srgbClr val="060606"/>
                          </a:solidFill>
                          <a:latin typeface="Helvetica"/>
                        </a:rPr>
                        <a:t>F-09-10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Allocations décès restant à payer (méthode du FPPN)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Décès de l'année dont l'allocation n'est pas payée, valorisés au barème par grade.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Règlement d'exécution n° 004/2022/COM/UEMOA, art. 10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Liste des décès moins allocations payées, valorisée au barème (chef comptable, 19/10/2026), comptabilisée au compte 41591000</a:t>
                      </a:r>
                    </a:p>
                  </a:txBody>
                  <a:tcPr marL="43200" marR="43200" marT="14400" marB="14400" anchor="ctr">
                    <a:solidFill>
                      <a:srgbClr val="FFFFFF"/>
                    </a:solidFill>
                  </a:tcPr>
                </a:tc>
                <a:tc>
                  <a:txBody>
                    <a:bodyPr/>
                    <a:lstStyle/>
                    <a:p>
                      <a:pPr marL="0" indent="0" lvl="0">
                        <a:buNone/>
                      </a:pPr>
                      <a:r>
                        <a:rPr sz="800" b="1">
                          <a:solidFill>
                            <a:srgbClr val="060606"/>
                          </a:solidFill>
                          <a:latin typeface="Helvetica"/>
                        </a:rPr>
                        <a:t>En attente</a:t>
                      </a:r>
                    </a:p>
                  </a:txBody>
                  <a:tcPr marL="43200" marR="43200" marT="14400" marB="14400" anchor="ctr">
                    <a:solidFill>
                      <a:srgbClr val="FFD966"/>
                    </a:solidFill>
                  </a:tcPr>
                </a:tc>
              </a:tr>
              <a:tr h="301455">
                <a:tc>
                  <a:txBody>
                    <a:bodyPr/>
                    <a:lstStyle/>
                    <a:p>
                      <a:pPr marL="0" indent="0" lvl="0">
                        <a:buNone/>
                      </a:pPr>
                      <a:r>
                        <a:rPr sz="800" b="1">
                          <a:solidFill>
                            <a:srgbClr val="060606"/>
                          </a:solidFill>
                          <a:latin typeface="Helvetica"/>
                        </a:rPr>
                        <a:t>F-09-07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Adossement par échéance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Actif mobilisable dans chaque tranche de délai comparé au passif exigible dans la même tranche.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Pratique de gestion actif-passif</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2F2F2"/>
                    </a:solidFill>
                  </a:tcPr>
                </a:tc>
                <a:tc>
                  <a:txBody>
                    <a:bodyPr/>
                    <a:lstStyle/>
                    <a:p>
                      <a:pPr marL="0" indent="0" lvl="0">
                        <a:buNone/>
                      </a:pPr>
                      <a:r>
                        <a:rPr sz="800" b="1">
                          <a:solidFill>
                            <a:srgbClr val="060606"/>
                          </a:solidFill>
                          <a:latin typeface="Helvetica"/>
                        </a:rPr>
                        <a:t>Sans texte applicable</a:t>
                      </a:r>
                    </a:p>
                  </a:txBody>
                  <a:tcPr marL="43200" marR="43200" marT="14400" marB="14400" anchor="ctr">
                    <a:solidFill>
                      <a:srgbClr val="BBBCBC"/>
                    </a:solidFill>
                  </a:tcPr>
                </a:tc>
              </a:tr>
              <a:tr h="301455">
                <a:tc>
                  <a:txBody>
                    <a:bodyPr/>
                    <a:lstStyle/>
                    <a:p>
                      <a:pPr marL="0" indent="0" lvl="0">
                        <a:buNone/>
                      </a:pPr>
                      <a:r>
                        <a:rPr sz="800" b="1">
                          <a:solidFill>
                            <a:srgbClr val="060606"/>
                          </a:solidFill>
                          <a:latin typeface="Helvetica"/>
                        </a:rPr>
                        <a:t>F-09-11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Couverture des engagements connus selon le scénario</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Actif retenu dans le scénario divisé par les engagements connus (passif à moins d'un an et épargne).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Règlement d'exécution n° 004/2022/COM/UEMOA, art. 20. PCMS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FFFFF"/>
                    </a:solidFill>
                  </a:tcPr>
                </a:tc>
                <a:tc>
                  <a:txBody>
                    <a:bodyPr/>
                    <a:lstStyle/>
                    <a:p>
                      <a:pPr marL="0" indent="0" lvl="0">
                        <a:buNone/>
                      </a:pPr>
                      <a:r>
                        <a:rPr sz="800" b="1">
                          <a:solidFill>
                            <a:srgbClr val="060606"/>
                          </a:solidFill>
                          <a:latin typeface="Helvetica"/>
                        </a:rPr>
                        <a:t>Conforme au texte</a:t>
                      </a:r>
                    </a:p>
                  </a:txBody>
                  <a:tcPr marL="43200" marR="43200" marT="14400" marB="14400" anchor="ctr">
                    <a:solidFill>
                      <a:srgbClr val="70AD47"/>
                    </a:solidFill>
                  </a:tcPr>
                </a:tc>
              </a:tr>
              <a:tr h="301455">
                <a:tc>
                  <a:txBody>
                    <a:bodyPr/>
                    <a:lstStyle/>
                    <a:p>
                      <a:pPr marL="0" indent="0" lvl="0">
                        <a:buNone/>
                      </a:pPr>
                      <a:r>
                        <a:rPr sz="800" b="1">
                          <a:solidFill>
                            <a:srgbClr val="060606"/>
                          </a:solidFill>
                          <a:latin typeface="Helvetica"/>
                        </a:rPr>
                        <a:t>F-09-12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Sorties d'épargne observées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Débits annuels des comptes d'épargne PEP et EFC, utilisés comme ordre de grandeur des sorties futures.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Règlement d'exécution n° 004/2022/COM/UEMOA, art. 19 et 21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2F2F2"/>
                    </a:solidFill>
                  </a:tcPr>
                </a:tc>
                <a:tc>
                  <a:txBody>
                    <a:bodyPr/>
                    <a:lstStyle/>
                    <a:p>
                      <a:pPr marL="0" indent="0" lvl="0">
                        <a:buNone/>
                      </a:pPr>
                      <a:r>
                        <a:rPr sz="800" b="1">
                          <a:solidFill>
                            <a:srgbClr val="060606"/>
                          </a:solidFill>
                          <a:latin typeface="Helvetica"/>
                        </a:rPr>
                        <a:t>Sans texte applicable</a:t>
                      </a:r>
                    </a:p>
                  </a:txBody>
                  <a:tcPr marL="43200" marR="43200" marT="14400" marB="14400" anchor="ctr">
                    <a:solidFill>
                      <a:srgbClr val="BBBCBC"/>
                    </a:solidFill>
                  </a:tcPr>
                </a:tc>
              </a:tr>
              <a:tr h="301455">
                <a:tc>
                  <a:txBody>
                    <a:bodyPr/>
                    <a:lstStyle/>
                    <a:p>
                      <a:pPr marL="0" indent="0" lvl="0">
                        <a:buNone/>
                      </a:pPr>
                      <a:r>
                        <a:rPr sz="800" b="1">
                          <a:solidFill>
                            <a:srgbClr val="060606"/>
                          </a:solidFill>
                          <a:latin typeface="Helvetica"/>
                        </a:rPr>
                        <a:t>F-09-08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Fonds propres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Réserves, report à nouveau, pertes reportées et résultat de l'exercice.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PCMS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Fonds propres des balances</a:t>
                      </a:r>
                    </a:p>
                  </a:txBody>
                  <a:tcPr marL="43200" marR="43200" marT="14400" marB="14400" anchor="ctr">
                    <a:solidFill>
                      <a:srgbClr val="FFFFFF"/>
                    </a:solidFill>
                  </a:tcPr>
                </a:tc>
                <a:tc>
                  <a:txBody>
                    <a:bodyPr/>
                    <a:lstStyle/>
                    <a:p>
                      <a:pPr marL="0" indent="0" lvl="0">
                        <a:buNone/>
                      </a:pPr>
                      <a:r>
                        <a:rPr sz="800" b="1">
                          <a:solidFill>
                            <a:srgbClr val="060606"/>
                          </a:solidFill>
                          <a:latin typeface="Helvetica"/>
                        </a:rPr>
                        <a:t>Conforme au texte</a:t>
                      </a:r>
                    </a:p>
                  </a:txBody>
                  <a:tcPr marL="43200" marR="43200" marT="14400" marB="14400" anchor="ctr">
                    <a:solidFill>
                      <a:srgbClr val="70AD47"/>
                    </a:solidFill>
                  </a:tcPr>
                </a:tc>
              </a:tr>
              <a:tr h="301455">
                <a:tc>
                  <a:txBody>
                    <a:bodyPr/>
                    <a:lstStyle/>
                    <a:p>
                      <a:pPr marL="0" indent="0" lvl="0">
                        <a:buNone/>
                      </a:pPr>
                      <a:r>
                        <a:rPr sz="800" b="1">
                          <a:solidFill>
                            <a:srgbClr val="060606"/>
                          </a:solidFill>
                          <a:latin typeface="Helvetica"/>
                        </a:rPr>
                        <a:t>F-09-09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Rendement des placements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Produits financiers divisés par les placements moyens de l'année.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2F2F2"/>
                    </a:solidFill>
                  </a:tcPr>
                </a:tc>
                <a:tc>
                  <a:txBody>
                    <a:bodyPr/>
                    <a:lstStyle/>
                    <a:p>
                      <a:pPr marL="0" indent="0" lvl="0">
                        <a:buNone/>
                      </a:pPr>
                      <a:r>
                        <a:rPr sz="800" b="1">
                          <a:solidFill>
                            <a:srgbClr val="060606"/>
                          </a:solidFill>
                          <a:latin typeface="Helvetica"/>
                        </a:rPr>
                        <a:t>Conforme au texte</a:t>
                      </a:r>
                    </a:p>
                  </a:txBody>
                  <a:tcPr marL="43200" marR="43200" marT="14400" marB="14400" anchor="ctr">
                    <a:solidFill>
                      <a:srgbClr val="70AD47"/>
                    </a:solidFill>
                  </a:tcPr>
                </a:tc>
              </a:tr>
            </a:tbl>
          </a:graphicData>
        </a:graphic>
      </p:graphicFrame>
      <p:graphicFrame>
        <p:nvGraphicFramePr>
          <p:cNvPr id="29" name="Table 28"/>
          <p:cNvGraphicFramePr>
            <a:graphicFrameLocks noGrp="1"/>
          </p:cNvGraphicFramePr>
          <p:nvPr/>
        </p:nvGraphicFramePr>
        <p:xfrm>
          <a:off x="503999" y="3282025"/>
          <a:ext cx="11232000" cy="151200"/>
        </p:xfrm>
        <a:graphic>
          <a:graphicData uri="http://schemas.openxmlformats.org/drawingml/2006/table">
            <a:tbl>
              <a:tblPr firstRow="0" bandRow="0">
                <a:tableStyleId>{5C22544A-7EE6-4342-B048-85BDC9FD1C3A}</a:tableStyleId>
              </a:tblPr>
              <a:tblGrid>
                <a:gridCol w="792000"/>
                <a:gridCol w="936000"/>
                <a:gridCol w="2544000"/>
                <a:gridCol w="936000"/>
                <a:gridCol w="2544000"/>
                <a:gridCol w="936000"/>
                <a:gridCol w="2544000"/>
              </a:tblGrid>
              <a:tr h="151200">
                <a:tc>
                  <a:txBody>
                    <a:bodyPr/>
                    <a:lstStyle/>
                    <a:p>
                      <a:r>
                        <a:rPr sz="700" b="1">
                          <a:solidFill>
                            <a:srgbClr val="060606"/>
                          </a:solidFill>
                          <a:latin typeface="Helvetica"/>
                        </a:rPr>
                        <a:t>Code couleur</a:t>
                      </a:r>
                    </a:p>
                  </a:txBody>
                  <a:tcPr marL="28800" marR="28800" marT="3600" marB="3600" anchor="ctr">
                    <a:solidFill>
                      <a:srgbClr val="FFFFFF"/>
                    </a:solidFill>
                  </a:tcPr>
                </a:tc>
                <a:tc>
                  <a:txBody>
                    <a:bodyPr/>
                    <a:lstStyle/>
                    <a:p>
                      <a:r>
                        <a:rPr sz="700" b="1">
                          <a:solidFill>
                            <a:srgbClr val="060606"/>
                          </a:solidFill>
                          <a:latin typeface="Helvetica"/>
                        </a:rPr>
                        <a:t>En attente</a:t>
                      </a:r>
                    </a:p>
                  </a:txBody>
                  <a:tcPr marL="28800" marR="28800" marT="3600" marB="3600" anchor="ctr">
                    <a:solidFill>
                      <a:srgbClr val="FFD966"/>
                    </a:solidFill>
                  </a:tcPr>
                </a:tc>
                <a:tc>
                  <a:txBody>
                    <a:bodyPr/>
                    <a:lstStyle/>
                    <a:p>
                      <a:r>
                        <a:rPr sz="700" b="0">
                          <a:solidFill>
                            <a:srgbClr val="060606"/>
                          </a:solidFill>
                          <a:latin typeface="Helvetica"/>
                        </a:rPr>
                        <a:t>document du FPPN attendu</a:t>
                      </a:r>
                    </a:p>
                  </a:txBody>
                  <a:tcPr marL="28800" marR="28800" marT="3600" marB="3600" anchor="ctr">
                    <a:solidFill>
                      <a:srgbClr val="FFFFFF"/>
                    </a:solidFill>
                  </a:tcPr>
                </a:tc>
                <a:tc>
                  <a:txBody>
                    <a:bodyPr/>
                    <a:lstStyle/>
                    <a:p>
                      <a:r>
                        <a:rPr sz="700" b="1">
                          <a:solidFill>
                            <a:srgbClr val="060606"/>
                          </a:solidFill>
                          <a:latin typeface="Helvetica"/>
                        </a:rPr>
                        <a:t>Sans texte applicable</a:t>
                      </a:r>
                    </a:p>
                  </a:txBody>
                  <a:tcPr marL="28800" marR="28800" marT="3600" marB="3600" anchor="ctr">
                    <a:solidFill>
                      <a:srgbClr val="BBBCBC"/>
                    </a:solidFill>
                  </a:tcPr>
                </a:tc>
                <a:tc>
                  <a:txBody>
                    <a:bodyPr/>
                    <a:lstStyle/>
                    <a:p>
                      <a:r>
                        <a:rPr sz="700" b="0">
                          <a:solidFill>
                            <a:srgbClr val="060606"/>
                          </a:solidFill>
                          <a:latin typeface="Helvetica"/>
                        </a:rPr>
                        <a:t>aucun texte ne fixe la règle</a:t>
                      </a:r>
                    </a:p>
                  </a:txBody>
                  <a:tcPr marL="28800" marR="28800" marT="3600" marB="3600" anchor="ctr">
                    <a:solidFill>
                      <a:srgbClr val="FFFFFF"/>
                    </a:solidFill>
                  </a:tcPr>
                </a:tc>
                <a:tc>
                  <a:txBody>
                    <a:bodyPr/>
                    <a:lstStyle/>
                    <a:p>
                      <a:r>
                        <a:rPr sz="700" b="1">
                          <a:solidFill>
                            <a:srgbClr val="060606"/>
                          </a:solidFill>
                          <a:latin typeface="Helvetica"/>
                        </a:rPr>
                        <a:t>Conforme</a:t>
                      </a:r>
                    </a:p>
                  </a:txBody>
                  <a:tcPr marL="28800" marR="28800" marT="3600" marB="3600" anchor="ctr">
                    <a:solidFill>
                      <a:srgbClr val="70AD47"/>
                    </a:solidFill>
                  </a:tcPr>
                </a:tc>
                <a:tc>
                  <a:txBody>
                    <a:bodyPr/>
                    <a:lstStyle/>
                    <a:p>
                      <a:r>
                        <a:rPr sz="700" b="0">
                          <a:solidFill>
                            <a:srgbClr val="060606"/>
                          </a:solidFill>
                          <a:latin typeface="Helvetica"/>
                        </a:rPr>
                        <a:t>norme respectée</a:t>
                      </a:r>
                    </a:p>
                  </a:txBody>
                  <a:tcPr marL="28800" marR="28800" marT="3600" marB="3600" anchor="ctr">
                    <a:solidFill>
                      <a:srgbClr val="FFFFFF"/>
                    </a:solidFill>
                  </a:tcPr>
                </a:tc>
              </a:tr>
            </a:tbl>
          </a:graphicData>
        </a:graphic>
      </p:graphicFrame>
      <p:sp>
        <p:nvSpPr>
          <p:cNvPr id="30" name="TextBox 29"/>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Textes cités</a:t>
            </a:r>
          </a:p>
        </p:txBody>
      </p:sp>
      <p:sp>
        <p:nvSpPr>
          <p:cNvPr id="31" name="TextBox 30"/>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PCMS : plan comptable des mutuelles sociales | PEP : Plan Épargne Plus | EFC : entraide fin de carrière</a:t>
            </a:r>
          </a:p>
        </p:txBody>
      </p:sp>
    </p:spTree>
    <p:extLst>
      <p:ext uri="{BB962C8B-B14F-4D97-AF65-F5344CB8AC3E}">
        <p14:creationId xmlns:p14="http://schemas.microsoft.com/office/powerpoint/2010/main" val="3370858474"/>
      </p:ext>
    </p:extLst>
  </p:cSld>
  <p:clrMapOvr>
    <a:masterClrMapping/>
  </p:clrMapOvr>
  <p:transition>
    <p:fade/>
  </p:transition>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Tableau des formules (F-10-01 à F-10-06)</a:t>
            </a:r>
          </a:p>
        </p:txBody>
      </p:sp>
      <p:graphicFrame>
        <p:nvGraphicFramePr>
          <p:cNvPr id="28" name="Table 27"/>
          <p:cNvGraphicFramePr>
            <a:graphicFrameLocks noGrp="1"/>
          </p:cNvGraphicFramePr>
          <p:nvPr/>
        </p:nvGraphicFramePr>
        <p:xfrm>
          <a:off x="503999" y="720000"/>
          <a:ext cx="11231998" cy="2963680"/>
        </p:xfrm>
        <a:graphic>
          <a:graphicData uri="http://schemas.openxmlformats.org/drawingml/2006/table">
            <a:tbl>
              <a:tblPr firstRow="0" bandRow="0">
                <a:tableStyleId>{5940675A-B579-460E-94D1-54222C63F5DA}</a:tableStyleId>
              </a:tblPr>
              <a:tblGrid>
                <a:gridCol w="684000"/>
                <a:gridCol w="1655999"/>
                <a:gridCol w="3384000"/>
                <a:gridCol w="1944000"/>
                <a:gridCol w="2015999"/>
                <a:gridCol w="1548000"/>
              </a:tblGrid>
              <a:tr h="301455">
                <a:tc>
                  <a:txBody>
                    <a:bodyPr/>
                    <a:lstStyle/>
                    <a:p>
                      <a:pPr marL="0" indent="0" lvl="0">
                        <a:buNone/>
                      </a:pPr>
                      <a:r>
                        <a:rPr sz="800" b="1">
                          <a:solidFill>
                            <a:srgbClr val="FFFFFF"/>
                          </a:solidFill>
                          <a:latin typeface="Helvetica"/>
                        </a:rPr>
                        <a:t>Identifiant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Indicateur</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Formule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Source de la méthode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Méthode du FPPN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Statut</a:t>
                      </a:r>
                    </a:p>
                  </a:txBody>
                  <a:tcPr marL="43200" marR="43200" marT="14400" marB="14400" anchor="ctr">
                    <a:solidFill>
                      <a:srgbClr val="060606"/>
                    </a:solidFill>
                  </a:tcPr>
                </a:tc>
              </a:tr>
              <a:tr h="423383">
                <a:tc>
                  <a:txBody>
                    <a:bodyPr/>
                    <a:lstStyle/>
                    <a:p>
                      <a:pPr marL="0" indent="0" lvl="0">
                        <a:buNone/>
                      </a:pPr>
                      <a:r>
                        <a:rPr sz="800" b="1">
                          <a:solidFill>
                            <a:srgbClr val="060606"/>
                          </a:solidFill>
                          <a:latin typeface="Helvetica"/>
                        </a:rPr>
                        <a:t>F-10-01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Taux de sinistralité (SIN)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Charges de prestations (avec provisions) / Cotisations acquises.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 tableau 1, ligne 5 et § 1.2.1.2.5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FFFFF"/>
                    </a:solidFill>
                  </a:tcPr>
                </a:tc>
                <a:tc>
                  <a:txBody>
                    <a:bodyPr/>
                    <a:lstStyle/>
                    <a:p>
                      <a:pPr marL="0" indent="0" lvl="0">
                        <a:buNone/>
                      </a:pPr>
                      <a:r>
                        <a:rPr sz="800" b="1">
                          <a:solidFill>
                            <a:srgbClr val="060606"/>
                          </a:solidFill>
                          <a:latin typeface="Helvetica"/>
                        </a:rPr>
                        <a:t>Conforme au texte</a:t>
                      </a:r>
                    </a:p>
                  </a:txBody>
                  <a:tcPr marL="43200" marR="43200" marT="14400" marB="14400" anchor="ctr">
                    <a:solidFill>
                      <a:srgbClr val="70AD47"/>
                    </a:solidFill>
                  </a:tcPr>
                </a:tc>
              </a:tr>
              <a:tr h="545310">
                <a:tc>
                  <a:txBody>
                    <a:bodyPr/>
                    <a:lstStyle/>
                    <a:p>
                      <a:pPr marL="0" indent="0" lvl="0">
                        <a:buNone/>
                      </a:pPr>
                      <a:r>
                        <a:rPr sz="800" b="1">
                          <a:solidFill>
                            <a:srgbClr val="060606"/>
                          </a:solidFill>
                          <a:latin typeface="Helvetica"/>
                        </a:rPr>
                        <a:t>F-10-02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Marge de solvabilité disponible / exigée (MSE)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(Réserve obligatoire + fonds d'établissement + réserves libres + droits d'adhésion + dons et legs) / max(18 % des cotisations acquises n-1. 26 % des prestations maladie moyennes des 3 derniers exercices).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 § 1.1.1 (fonds d'établissement). Règlement d'exécution n° 004/2022/COM/UEMOA, art. 23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2F2F2"/>
                    </a:solidFill>
                  </a:tcPr>
                </a:tc>
                <a:tc>
                  <a:txBody>
                    <a:bodyPr/>
                    <a:lstStyle/>
                    <a:p>
                      <a:pPr marL="0" indent="0" lvl="0">
                        <a:buNone/>
                      </a:pPr>
                      <a:r>
                        <a:rPr sz="800" b="1">
                          <a:solidFill>
                            <a:srgbClr val="060606"/>
                          </a:solidFill>
                          <a:latin typeface="Helvetica"/>
                        </a:rPr>
                        <a:t>Conforme au texte</a:t>
                      </a:r>
                    </a:p>
                  </a:txBody>
                  <a:tcPr marL="43200" marR="43200" marT="14400" marB="14400" anchor="ctr">
                    <a:solidFill>
                      <a:srgbClr val="70AD47"/>
                    </a:solidFill>
                  </a:tcPr>
                </a:tc>
              </a:tr>
              <a:tr h="423383">
                <a:tc>
                  <a:txBody>
                    <a:bodyPr/>
                    <a:lstStyle/>
                    <a:p>
                      <a:pPr marL="0" indent="0" lvl="0">
                        <a:buNone/>
                      </a:pPr>
                      <a:r>
                        <a:rPr sz="800" b="1">
                          <a:solidFill>
                            <a:srgbClr val="060606"/>
                          </a:solidFill>
                          <a:latin typeface="Helvetica"/>
                        </a:rPr>
                        <a:t>F-10-03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Ratio de réserve obligatoire (ROB)</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Réserves obligatoires x 12 / Charges de prestations.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 tableau 1, ligne 10 et § 1.2.2.5.4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FFFFF"/>
                    </a:solidFill>
                  </a:tcPr>
                </a:tc>
                <a:tc>
                  <a:txBody>
                    <a:bodyPr/>
                    <a:lstStyle/>
                    <a:p>
                      <a:pPr marL="0" indent="0" lvl="0">
                        <a:buNone/>
                      </a:pPr>
                      <a:r>
                        <a:rPr sz="800" b="1">
                          <a:solidFill>
                            <a:srgbClr val="060606"/>
                          </a:solidFill>
                          <a:latin typeface="Helvetica"/>
                        </a:rPr>
                        <a:t>Conforme au texte</a:t>
                      </a:r>
                    </a:p>
                  </a:txBody>
                  <a:tcPr marL="43200" marR="43200" marT="14400" marB="14400" anchor="ctr">
                    <a:solidFill>
                      <a:srgbClr val="70AD47"/>
                    </a:solidFill>
                  </a:tcPr>
                </a:tc>
              </a:tr>
              <a:tr h="423383">
                <a:tc>
                  <a:txBody>
                    <a:bodyPr/>
                    <a:lstStyle/>
                    <a:p>
                      <a:pPr marL="0" indent="0" lvl="0">
                        <a:buNone/>
                      </a:pPr>
                      <a:r>
                        <a:rPr sz="800" b="1">
                          <a:solidFill>
                            <a:srgbClr val="060606"/>
                          </a:solidFill>
                          <a:latin typeface="Helvetica"/>
                        </a:rPr>
                        <a:t>F-10-04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Ratio des fonds propres et assimilés (FEP)</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Fonds propres et assimilés / Dettes (y compris provisions techniques).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 tableau 2, ligne 9 et § 1.2.2.5.3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2F2F2"/>
                    </a:solidFill>
                  </a:tcPr>
                </a:tc>
                <a:tc>
                  <a:txBody>
                    <a:bodyPr/>
                    <a:lstStyle/>
                    <a:p>
                      <a:pPr marL="0" indent="0" lvl="0">
                        <a:buNone/>
                      </a:pPr>
                      <a:r>
                        <a:rPr sz="800" b="1">
                          <a:solidFill>
                            <a:srgbClr val="060606"/>
                          </a:solidFill>
                          <a:latin typeface="Helvetica"/>
                        </a:rPr>
                        <a:t>Conforme au texte</a:t>
                      </a:r>
                    </a:p>
                  </a:txBody>
                  <a:tcPr marL="43200" marR="43200" marT="14400" marB="14400" anchor="ctr">
                    <a:solidFill>
                      <a:srgbClr val="70AD47"/>
                    </a:solidFill>
                  </a:tcPr>
                </a:tc>
              </a:tr>
              <a:tr h="423383">
                <a:tc>
                  <a:txBody>
                    <a:bodyPr/>
                    <a:lstStyle/>
                    <a:p>
                      <a:pPr marL="0" indent="0" lvl="0">
                        <a:buNone/>
                      </a:pPr>
                      <a:r>
                        <a:rPr sz="800" b="1">
                          <a:solidFill>
                            <a:srgbClr val="060606"/>
                          </a:solidFill>
                          <a:latin typeface="Helvetica"/>
                        </a:rPr>
                        <a:t>F-10-05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Ratio de liquidité (LIQ)</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Trésorerie actif / (Dettes à court terme + variation des provisions techniques).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 tableau 2, ligne 8 et § 1.2.2.5.2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FFFFF"/>
                    </a:solidFill>
                  </a:tcPr>
                </a:tc>
                <a:tc>
                  <a:txBody>
                    <a:bodyPr/>
                    <a:lstStyle/>
                    <a:p>
                      <a:pPr marL="0" indent="0" lvl="0">
                        <a:buNone/>
                      </a:pPr>
                      <a:r>
                        <a:rPr sz="800" b="1">
                          <a:solidFill>
                            <a:srgbClr val="060606"/>
                          </a:solidFill>
                          <a:latin typeface="Helvetica"/>
                        </a:rPr>
                        <a:t>Conforme au texte</a:t>
                      </a:r>
                    </a:p>
                  </a:txBody>
                  <a:tcPr marL="43200" marR="43200" marT="14400" marB="14400" anchor="ctr">
                    <a:solidFill>
                      <a:srgbClr val="70AD47"/>
                    </a:solidFill>
                  </a:tcPr>
                </a:tc>
              </a:tr>
              <a:tr h="423383">
                <a:tc>
                  <a:txBody>
                    <a:bodyPr/>
                    <a:lstStyle/>
                    <a:p>
                      <a:pPr marL="0" indent="0" lvl="0">
                        <a:buNone/>
                      </a:pPr>
                      <a:r>
                        <a:rPr sz="800" b="1">
                          <a:solidFill>
                            <a:srgbClr val="060606"/>
                          </a:solidFill>
                          <a:latin typeface="Helvetica"/>
                        </a:rPr>
                        <a:t>F-10-06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Ratio d'équilibre stable (EQS)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Emplois moyens et longs / Ressources moyennes et longues.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 tableau 1, ligne 11 et § 1.2.3.1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2F2F2"/>
                    </a:solidFill>
                  </a:tcPr>
                </a:tc>
                <a:tc>
                  <a:txBody>
                    <a:bodyPr/>
                    <a:lstStyle/>
                    <a:p>
                      <a:pPr marL="0" indent="0" lvl="0">
                        <a:buNone/>
                      </a:pPr>
                      <a:r>
                        <a:rPr sz="800" b="1">
                          <a:solidFill>
                            <a:srgbClr val="060606"/>
                          </a:solidFill>
                          <a:latin typeface="Helvetica"/>
                        </a:rPr>
                        <a:t>Conforme au texte</a:t>
                      </a:r>
                    </a:p>
                  </a:txBody>
                  <a:tcPr marL="43200" marR="43200" marT="14400" marB="14400" anchor="ctr">
                    <a:solidFill>
                      <a:srgbClr val="70AD47"/>
                    </a:solidFill>
                  </a:tcPr>
                </a:tc>
              </a:tr>
            </a:tbl>
          </a:graphicData>
        </a:graphic>
      </p:graphicFrame>
      <p:graphicFrame>
        <p:nvGraphicFramePr>
          <p:cNvPr id="29" name="Table 28"/>
          <p:cNvGraphicFramePr>
            <a:graphicFrameLocks noGrp="1"/>
          </p:cNvGraphicFramePr>
          <p:nvPr/>
        </p:nvGraphicFramePr>
        <p:xfrm>
          <a:off x="503999" y="3934338"/>
          <a:ext cx="11232000" cy="151200"/>
        </p:xfrm>
        <a:graphic>
          <a:graphicData uri="http://schemas.openxmlformats.org/drawingml/2006/table">
            <a:tbl>
              <a:tblPr firstRow="0" bandRow="0">
                <a:tableStyleId>{5C22544A-7EE6-4342-B048-85BDC9FD1C3A}</a:tableStyleId>
              </a:tblPr>
              <a:tblGrid>
                <a:gridCol w="792000"/>
                <a:gridCol w="936000"/>
                <a:gridCol w="9504000"/>
              </a:tblGrid>
              <a:tr h="151200">
                <a:tc>
                  <a:txBody>
                    <a:bodyPr/>
                    <a:lstStyle/>
                    <a:p>
                      <a:r>
                        <a:rPr sz="700" b="1">
                          <a:solidFill>
                            <a:srgbClr val="060606"/>
                          </a:solidFill>
                          <a:latin typeface="Helvetica"/>
                        </a:rPr>
                        <a:t>Code couleur</a:t>
                      </a:r>
                    </a:p>
                  </a:txBody>
                  <a:tcPr marL="28800" marR="28800" marT="3600" marB="3600" anchor="ctr">
                    <a:solidFill>
                      <a:srgbClr val="FFFFFF"/>
                    </a:solidFill>
                  </a:tcPr>
                </a:tc>
                <a:tc>
                  <a:txBody>
                    <a:bodyPr/>
                    <a:lstStyle/>
                    <a:p>
                      <a:r>
                        <a:rPr sz="700" b="1">
                          <a:solidFill>
                            <a:srgbClr val="060606"/>
                          </a:solidFill>
                          <a:latin typeface="Helvetica"/>
                        </a:rPr>
                        <a:t>Conforme</a:t>
                      </a:r>
                    </a:p>
                  </a:txBody>
                  <a:tcPr marL="28800" marR="28800" marT="3600" marB="3600" anchor="ctr">
                    <a:solidFill>
                      <a:srgbClr val="70AD47"/>
                    </a:solidFill>
                  </a:tcPr>
                </a:tc>
                <a:tc>
                  <a:txBody>
                    <a:bodyPr/>
                    <a:lstStyle/>
                    <a:p>
                      <a:r>
                        <a:rPr sz="700" b="0">
                          <a:solidFill>
                            <a:srgbClr val="060606"/>
                          </a:solidFill>
                          <a:latin typeface="Helvetica"/>
                        </a:rPr>
                        <a:t>norme respectée</a:t>
                      </a:r>
                    </a:p>
                  </a:txBody>
                  <a:tcPr marL="28800" marR="28800" marT="3600" marB="3600" anchor="ctr">
                    <a:solidFill>
                      <a:srgbClr val="FFFFFF"/>
                    </a:solidFill>
                  </a:tcPr>
                </a:tc>
              </a:tr>
            </a:tbl>
          </a:graphicData>
        </a:graphic>
      </p:graphicFrame>
      <p:sp>
        <p:nvSpPr>
          <p:cNvPr id="30" name="TextBox 29"/>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Textes cités</a:t>
            </a:r>
          </a:p>
        </p:txBody>
      </p:sp>
      <p:sp>
        <p:nvSpPr>
          <p:cNvPr id="31" name="TextBox 30"/>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a:t>
            </a:r>
          </a:p>
        </p:txBody>
      </p:sp>
    </p:spTree>
    <p:extLst>
      <p:ext uri="{BB962C8B-B14F-4D97-AF65-F5344CB8AC3E}">
        <p14:creationId xmlns:p14="http://schemas.microsoft.com/office/powerpoint/2010/main" val="2842414044"/>
      </p:ext>
    </p:extLst>
  </p:cSld>
  <p:clrMapOvr>
    <a:masterClrMapping/>
  </p:clrMapOvr>
  <p:transition>
    <p:fade/>
  </p:transition>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Tableau des formules (F-10-07 à F-10-12)</a:t>
            </a:r>
          </a:p>
        </p:txBody>
      </p:sp>
      <p:graphicFrame>
        <p:nvGraphicFramePr>
          <p:cNvPr id="28" name="Table 27"/>
          <p:cNvGraphicFramePr>
            <a:graphicFrameLocks noGrp="1"/>
          </p:cNvGraphicFramePr>
          <p:nvPr/>
        </p:nvGraphicFramePr>
        <p:xfrm>
          <a:off x="503999" y="720000"/>
          <a:ext cx="11231998" cy="2597897"/>
        </p:xfrm>
        <a:graphic>
          <a:graphicData uri="http://schemas.openxmlformats.org/drawingml/2006/table">
            <a:tbl>
              <a:tblPr firstRow="0" bandRow="0">
                <a:tableStyleId>{5940675A-B579-460E-94D1-54222C63F5DA}</a:tableStyleId>
              </a:tblPr>
              <a:tblGrid>
                <a:gridCol w="684000"/>
                <a:gridCol w="1655999"/>
                <a:gridCol w="3384000"/>
                <a:gridCol w="1944000"/>
                <a:gridCol w="2015999"/>
                <a:gridCol w="1548000"/>
              </a:tblGrid>
              <a:tr h="301455">
                <a:tc>
                  <a:txBody>
                    <a:bodyPr/>
                    <a:lstStyle/>
                    <a:p>
                      <a:pPr marL="0" indent="0" lvl="0">
                        <a:buNone/>
                      </a:pPr>
                      <a:r>
                        <a:rPr sz="800" b="1">
                          <a:solidFill>
                            <a:srgbClr val="FFFFFF"/>
                          </a:solidFill>
                          <a:latin typeface="Helvetica"/>
                        </a:rPr>
                        <a:t>Identifiant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Indicateur</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Formule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Source de la méthode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Méthode du FPPN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Statut</a:t>
                      </a:r>
                    </a:p>
                  </a:txBody>
                  <a:tcPr marL="43200" marR="43200" marT="14400" marB="14400" anchor="ctr">
                    <a:solidFill>
                      <a:srgbClr val="060606"/>
                    </a:solidFill>
                  </a:tcPr>
                </a:tc>
              </a:tr>
              <a:tr h="423383">
                <a:tc>
                  <a:txBody>
                    <a:bodyPr/>
                    <a:lstStyle/>
                    <a:p>
                      <a:pPr marL="0" indent="0" lvl="0">
                        <a:buNone/>
                      </a:pPr>
                      <a:r>
                        <a:rPr sz="800" b="1">
                          <a:solidFill>
                            <a:srgbClr val="060606"/>
                          </a:solidFill>
                          <a:latin typeface="Helvetica"/>
                        </a:rPr>
                        <a:t>F-10-07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Ratio d'autonomie financière (AUT)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Cotisations acquises / Total des charges.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 tableau 1, ligne 9 et § 1.2.2.5.1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FFFFF"/>
                    </a:solidFill>
                  </a:tcPr>
                </a:tc>
                <a:tc>
                  <a:txBody>
                    <a:bodyPr/>
                    <a:lstStyle/>
                    <a:p>
                      <a:pPr marL="0" indent="0" lvl="0">
                        <a:buNone/>
                      </a:pPr>
                      <a:r>
                        <a:rPr sz="800" b="1">
                          <a:solidFill>
                            <a:srgbClr val="060606"/>
                          </a:solidFill>
                          <a:latin typeface="Helvetica"/>
                        </a:rPr>
                        <a:t>Conforme au texte</a:t>
                      </a:r>
                    </a:p>
                  </a:txBody>
                  <a:tcPr marL="43200" marR="43200" marT="14400" marB="14400" anchor="ctr">
                    <a:solidFill>
                      <a:srgbClr val="70AD47"/>
                    </a:solidFill>
                  </a:tcPr>
                </a:tc>
              </a:tr>
              <a:tr h="423383">
                <a:tc>
                  <a:txBody>
                    <a:bodyPr/>
                    <a:lstStyle/>
                    <a:p>
                      <a:pPr marL="0" indent="0" lvl="0">
                        <a:buNone/>
                      </a:pPr>
                      <a:r>
                        <a:rPr sz="800" b="1">
                          <a:solidFill>
                            <a:srgbClr val="060606"/>
                          </a:solidFill>
                          <a:latin typeface="Helvetica"/>
                        </a:rPr>
                        <a:t>F-10-08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Taux d'excédent net (EXN)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Excédent net de l'exercice / Cotisations acquises.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 tableau 2, ligne 10 et § 1.2.2.5.5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2F2F2"/>
                    </a:solidFill>
                  </a:tcPr>
                </a:tc>
                <a:tc>
                  <a:txBody>
                    <a:bodyPr/>
                    <a:lstStyle/>
                    <a:p>
                      <a:pPr marL="0" indent="0" lvl="0">
                        <a:buNone/>
                      </a:pPr>
                      <a:r>
                        <a:rPr sz="800" b="1">
                          <a:solidFill>
                            <a:srgbClr val="060606"/>
                          </a:solidFill>
                          <a:latin typeface="Helvetica"/>
                        </a:rPr>
                        <a:t>Conforme au texte</a:t>
                      </a:r>
                    </a:p>
                  </a:txBody>
                  <a:tcPr marL="43200" marR="43200" marT="14400" marB="14400" anchor="ctr">
                    <a:solidFill>
                      <a:srgbClr val="70AD47"/>
                    </a:solidFill>
                  </a:tcPr>
                </a:tc>
              </a:tr>
              <a:tr h="423383">
                <a:tc>
                  <a:txBody>
                    <a:bodyPr/>
                    <a:lstStyle/>
                    <a:p>
                      <a:pPr marL="0" indent="0" lvl="0">
                        <a:buNone/>
                      </a:pPr>
                      <a:r>
                        <a:rPr sz="800" b="1">
                          <a:solidFill>
                            <a:srgbClr val="060606"/>
                          </a:solidFill>
                          <a:latin typeface="Helvetica"/>
                        </a:rPr>
                        <a:t>F-10-09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Taux de financement propre (TFP)</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Total des produits avant subventions / Total des charges.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 tableau 2, ligne 11 et § 1.2.3.2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FFFFF"/>
                    </a:solidFill>
                  </a:tcPr>
                </a:tc>
                <a:tc>
                  <a:txBody>
                    <a:bodyPr/>
                    <a:lstStyle/>
                    <a:p>
                      <a:pPr marL="0" indent="0" lvl="0">
                        <a:buNone/>
                      </a:pPr>
                      <a:r>
                        <a:rPr sz="800" b="1">
                          <a:solidFill>
                            <a:srgbClr val="060606"/>
                          </a:solidFill>
                          <a:latin typeface="Helvetica"/>
                        </a:rPr>
                        <a:t>Conforme au texte</a:t>
                      </a:r>
                    </a:p>
                  </a:txBody>
                  <a:tcPr marL="43200" marR="43200" marT="14400" marB="14400" anchor="ctr">
                    <a:solidFill>
                      <a:srgbClr val="70AD47"/>
                    </a:solidFill>
                  </a:tcPr>
                </a:tc>
              </a:tr>
              <a:tr h="423383">
                <a:tc>
                  <a:txBody>
                    <a:bodyPr/>
                    <a:lstStyle/>
                    <a:p>
                      <a:pPr marL="0" indent="0" lvl="0">
                        <a:buNone/>
                      </a:pPr>
                      <a:r>
                        <a:rPr sz="800" b="1">
                          <a:solidFill>
                            <a:srgbClr val="060606"/>
                          </a:solidFill>
                          <a:latin typeface="Helvetica"/>
                        </a:rPr>
                        <a:t>F-10-10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Ratio de solvabilité de la branche épargne (risques longs) (RL1)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Actifs admis / Engagements réglementés.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 section II, § 2.1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2F2F2"/>
                    </a:solidFill>
                  </a:tcPr>
                </a:tc>
                <a:tc>
                  <a:txBody>
                    <a:bodyPr/>
                    <a:lstStyle/>
                    <a:p>
                      <a:pPr marL="0" indent="0" lvl="0">
                        <a:buNone/>
                      </a:pPr>
                      <a:r>
                        <a:rPr sz="800" b="1">
                          <a:solidFill>
                            <a:srgbClr val="060606"/>
                          </a:solidFill>
                          <a:latin typeface="Helvetica"/>
                        </a:rPr>
                        <a:t>Conforme au texte</a:t>
                      </a:r>
                    </a:p>
                  </a:txBody>
                  <a:tcPr marL="43200" marR="43200" marT="14400" marB="14400" anchor="ctr">
                    <a:solidFill>
                      <a:srgbClr val="70AD47"/>
                    </a:solidFill>
                  </a:tcPr>
                </a:tc>
              </a:tr>
              <a:tr h="301455">
                <a:tc>
                  <a:txBody>
                    <a:bodyPr/>
                    <a:lstStyle/>
                    <a:p>
                      <a:pPr marL="0" indent="0" lvl="0">
                        <a:buNone/>
                      </a:pPr>
                      <a:r>
                        <a:rPr sz="800" b="1">
                          <a:solidFill>
                            <a:srgbClr val="060606"/>
                          </a:solidFill>
                          <a:latin typeface="Helvetica"/>
                        </a:rPr>
                        <a:t>F-10-11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Ratio de trésorerie à échéance (risques longs) (RL2)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(Valeurs réalisables + disponibles) / Dettes à court terme.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 section II, § 2.2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FFFFF"/>
                    </a:solidFill>
                  </a:tcPr>
                </a:tc>
                <a:tc>
                  <a:txBody>
                    <a:bodyPr/>
                    <a:lstStyle/>
                    <a:p>
                      <a:pPr marL="0" indent="0" lvl="0">
                        <a:buNone/>
                      </a:pPr>
                      <a:r>
                        <a:rPr sz="800" b="1">
                          <a:solidFill>
                            <a:srgbClr val="060606"/>
                          </a:solidFill>
                          <a:latin typeface="Helvetica"/>
                        </a:rPr>
                        <a:t>Conforme au texte</a:t>
                      </a:r>
                    </a:p>
                  </a:txBody>
                  <a:tcPr marL="43200" marR="43200" marT="14400" marB="14400" anchor="ctr">
                    <a:solidFill>
                      <a:srgbClr val="70AD47"/>
                    </a:solidFill>
                  </a:tcPr>
                </a:tc>
              </a:tr>
              <a:tr h="301455">
                <a:tc>
                  <a:txBody>
                    <a:bodyPr/>
                    <a:lstStyle/>
                    <a:p>
                      <a:pPr marL="0" indent="0" lvl="0">
                        <a:buNone/>
                      </a:pPr>
                      <a:r>
                        <a:rPr sz="800" b="1">
                          <a:solidFill>
                            <a:srgbClr val="060606"/>
                          </a:solidFill>
                          <a:latin typeface="Helvetica"/>
                        </a:rPr>
                        <a:t>F-10-12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Ratio de trésorerie immédiate (risques longs) (RL3)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Valeurs disponibles / Dettes à court terme.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 section II, § 2.3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2F2F2"/>
                    </a:solidFill>
                  </a:tcPr>
                </a:tc>
                <a:tc>
                  <a:txBody>
                    <a:bodyPr/>
                    <a:lstStyle/>
                    <a:p>
                      <a:pPr marL="0" indent="0" lvl="0">
                        <a:buNone/>
                      </a:pPr>
                      <a:r>
                        <a:rPr sz="800" b="1">
                          <a:solidFill>
                            <a:srgbClr val="060606"/>
                          </a:solidFill>
                          <a:latin typeface="Helvetica"/>
                        </a:rPr>
                        <a:t>Conforme au texte</a:t>
                      </a:r>
                    </a:p>
                  </a:txBody>
                  <a:tcPr marL="43200" marR="43200" marT="14400" marB="14400" anchor="ctr">
                    <a:solidFill>
                      <a:srgbClr val="70AD47"/>
                    </a:solidFill>
                  </a:tcPr>
                </a:tc>
              </a:tr>
            </a:tbl>
          </a:graphicData>
        </a:graphic>
      </p:graphicFrame>
      <p:graphicFrame>
        <p:nvGraphicFramePr>
          <p:cNvPr id="29" name="Table 28"/>
          <p:cNvGraphicFramePr>
            <a:graphicFrameLocks noGrp="1"/>
          </p:cNvGraphicFramePr>
          <p:nvPr/>
        </p:nvGraphicFramePr>
        <p:xfrm>
          <a:off x="503999" y="3542951"/>
          <a:ext cx="11232000" cy="151200"/>
        </p:xfrm>
        <a:graphic>
          <a:graphicData uri="http://schemas.openxmlformats.org/drawingml/2006/table">
            <a:tbl>
              <a:tblPr firstRow="0" bandRow="0">
                <a:tableStyleId>{5C22544A-7EE6-4342-B048-85BDC9FD1C3A}</a:tableStyleId>
              </a:tblPr>
              <a:tblGrid>
                <a:gridCol w="792000"/>
                <a:gridCol w="936000"/>
                <a:gridCol w="9504000"/>
              </a:tblGrid>
              <a:tr h="151200">
                <a:tc>
                  <a:txBody>
                    <a:bodyPr/>
                    <a:lstStyle/>
                    <a:p>
                      <a:r>
                        <a:rPr sz="700" b="1">
                          <a:solidFill>
                            <a:srgbClr val="060606"/>
                          </a:solidFill>
                          <a:latin typeface="Helvetica"/>
                        </a:rPr>
                        <a:t>Code couleur</a:t>
                      </a:r>
                    </a:p>
                  </a:txBody>
                  <a:tcPr marL="28800" marR="28800" marT="3600" marB="3600" anchor="ctr">
                    <a:solidFill>
                      <a:srgbClr val="FFFFFF"/>
                    </a:solidFill>
                  </a:tcPr>
                </a:tc>
                <a:tc>
                  <a:txBody>
                    <a:bodyPr/>
                    <a:lstStyle/>
                    <a:p>
                      <a:r>
                        <a:rPr sz="700" b="1">
                          <a:solidFill>
                            <a:srgbClr val="060606"/>
                          </a:solidFill>
                          <a:latin typeface="Helvetica"/>
                        </a:rPr>
                        <a:t>Conforme</a:t>
                      </a:r>
                    </a:p>
                  </a:txBody>
                  <a:tcPr marL="28800" marR="28800" marT="3600" marB="3600" anchor="ctr">
                    <a:solidFill>
                      <a:srgbClr val="70AD47"/>
                    </a:solidFill>
                  </a:tcPr>
                </a:tc>
                <a:tc>
                  <a:txBody>
                    <a:bodyPr/>
                    <a:lstStyle/>
                    <a:p>
                      <a:r>
                        <a:rPr sz="700" b="0">
                          <a:solidFill>
                            <a:srgbClr val="060606"/>
                          </a:solidFill>
                          <a:latin typeface="Helvetica"/>
                        </a:rPr>
                        <a:t>norme respectée</a:t>
                      </a:r>
                    </a:p>
                  </a:txBody>
                  <a:tcPr marL="28800" marR="28800" marT="3600" marB="3600" anchor="ctr">
                    <a:solidFill>
                      <a:srgbClr val="FFFFFF"/>
                    </a:solidFill>
                  </a:tcPr>
                </a:tc>
              </a:tr>
            </a:tbl>
          </a:graphicData>
        </a:graphic>
      </p:graphicFrame>
      <p:sp>
        <p:nvSpPr>
          <p:cNvPr id="30" name="TextBox 29"/>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Textes cités</a:t>
            </a:r>
          </a:p>
        </p:txBody>
      </p:sp>
      <p:sp>
        <p:nvSpPr>
          <p:cNvPr id="31" name="TextBox 30"/>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a:t>
            </a:r>
          </a:p>
        </p:txBody>
      </p:sp>
    </p:spTree>
    <p:extLst>
      <p:ext uri="{BB962C8B-B14F-4D97-AF65-F5344CB8AC3E}">
        <p14:creationId xmlns:p14="http://schemas.microsoft.com/office/powerpoint/2010/main" val="3943504906"/>
      </p:ext>
    </p:extLst>
  </p:cSld>
  <p:clrMapOvr>
    <a:masterClrMapping/>
  </p:clrMapOvr>
  <p:transition>
    <p:fade/>
  </p:transition>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Tableau des formules (F-10-13 à F-10-18)</a:t>
            </a:r>
          </a:p>
        </p:txBody>
      </p:sp>
      <p:graphicFrame>
        <p:nvGraphicFramePr>
          <p:cNvPr id="28" name="Table 27"/>
          <p:cNvGraphicFramePr>
            <a:graphicFrameLocks noGrp="1"/>
          </p:cNvGraphicFramePr>
          <p:nvPr/>
        </p:nvGraphicFramePr>
        <p:xfrm>
          <a:off x="503999" y="720000"/>
          <a:ext cx="11231998" cy="2597897"/>
        </p:xfrm>
        <a:graphic>
          <a:graphicData uri="http://schemas.openxmlformats.org/drawingml/2006/table">
            <a:tbl>
              <a:tblPr firstRow="0" bandRow="0">
                <a:tableStyleId>{5940675A-B579-460E-94D1-54222C63F5DA}</a:tableStyleId>
              </a:tblPr>
              <a:tblGrid>
                <a:gridCol w="684000"/>
                <a:gridCol w="1655999"/>
                <a:gridCol w="3384000"/>
                <a:gridCol w="1944000"/>
                <a:gridCol w="2015999"/>
                <a:gridCol w="1548000"/>
              </a:tblGrid>
              <a:tr h="301455">
                <a:tc>
                  <a:txBody>
                    <a:bodyPr/>
                    <a:lstStyle/>
                    <a:p>
                      <a:pPr marL="0" indent="0" lvl="0">
                        <a:buNone/>
                      </a:pPr>
                      <a:r>
                        <a:rPr sz="800" b="1">
                          <a:solidFill>
                            <a:srgbClr val="FFFFFF"/>
                          </a:solidFill>
                          <a:latin typeface="Helvetica"/>
                        </a:rPr>
                        <a:t>Identifiant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Indicateur</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Formule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Source de la méthode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Méthode du FPPN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Statut</a:t>
                      </a:r>
                    </a:p>
                  </a:txBody>
                  <a:tcPr marL="43200" marR="43200" marT="14400" marB="14400" anchor="ctr">
                    <a:solidFill>
                      <a:srgbClr val="060606"/>
                    </a:solidFill>
                  </a:tcPr>
                </a:tc>
              </a:tr>
              <a:tr h="423383">
                <a:tc>
                  <a:txBody>
                    <a:bodyPr/>
                    <a:lstStyle/>
                    <a:p>
                      <a:pPr marL="0" indent="0" lvl="0">
                        <a:buNone/>
                      </a:pPr>
                      <a:r>
                        <a:rPr sz="800" b="1">
                          <a:solidFill>
                            <a:srgbClr val="060606"/>
                          </a:solidFill>
                          <a:latin typeface="Helvetica"/>
                        </a:rPr>
                        <a:t>F-10-13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Réserve de trésorerie des risques longs (un trimestre d'engagements et de frais) (RL4)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Réserve de trésorerie constituée / (sorties d'épargne + frais de fonctionnement au prorata) / 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Règlement d'exécution n° 004/2022/COM/UEMOA, art. 19, alinéa 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FFFFF"/>
                    </a:solidFill>
                  </a:tcPr>
                </a:tc>
                <a:tc>
                  <a:txBody>
                    <a:bodyPr/>
                    <a:lstStyle/>
                    <a:p>
                      <a:pPr marL="0" indent="0" lvl="0">
                        <a:buNone/>
                      </a:pPr>
                      <a:r>
                        <a:rPr sz="800" b="1">
                          <a:solidFill>
                            <a:srgbClr val="060606"/>
                          </a:solidFill>
                          <a:latin typeface="Helvetica"/>
                        </a:rPr>
                        <a:t>Conforme au texte</a:t>
                      </a:r>
                    </a:p>
                  </a:txBody>
                  <a:tcPr marL="43200" marR="43200" marT="14400" marB="14400" anchor="ctr">
                    <a:solidFill>
                      <a:srgbClr val="70AD47"/>
                    </a:solidFill>
                  </a:tcPr>
                </a:tc>
              </a:tr>
              <a:tr h="423383">
                <a:tc>
                  <a:txBody>
                    <a:bodyPr/>
                    <a:lstStyle/>
                    <a:p>
                      <a:pPr marL="0" indent="0" lvl="0">
                        <a:buNone/>
                      </a:pPr>
                      <a:r>
                        <a:rPr sz="800" b="1">
                          <a:solidFill>
                            <a:srgbClr val="060606"/>
                          </a:solidFill>
                          <a:latin typeface="Helvetica"/>
                        </a:rPr>
                        <a:t>F-10-14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Fonds propres / prestations des risques longs des deux derniers exercices (RL5)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Fonds propres / sorties d'épargne des exercices n et n-1.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Règlement d'exécution n° 004/2022/COM/UEMOA, art. 21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2F2F2"/>
                    </a:solidFill>
                  </a:tcPr>
                </a:tc>
                <a:tc>
                  <a:txBody>
                    <a:bodyPr/>
                    <a:lstStyle/>
                    <a:p>
                      <a:pPr marL="0" indent="0" lvl="0">
                        <a:buNone/>
                      </a:pPr>
                      <a:r>
                        <a:rPr sz="800" b="1">
                          <a:solidFill>
                            <a:srgbClr val="060606"/>
                          </a:solidFill>
                          <a:latin typeface="Helvetica"/>
                        </a:rPr>
                        <a:t>Conforme au texte</a:t>
                      </a:r>
                    </a:p>
                  </a:txBody>
                  <a:tcPr marL="43200" marR="43200" marT="14400" marB="14400" anchor="ctr">
                    <a:solidFill>
                      <a:srgbClr val="70AD47"/>
                    </a:solidFill>
                  </a:tcPr>
                </a:tc>
              </a:tr>
              <a:tr h="301455">
                <a:tc>
                  <a:txBody>
                    <a:bodyPr/>
                    <a:lstStyle/>
                    <a:p>
                      <a:pPr marL="0" indent="0" lvl="0">
                        <a:buNone/>
                      </a:pPr>
                      <a:r>
                        <a:rPr sz="800" b="1">
                          <a:solidFill>
                            <a:srgbClr val="060606"/>
                          </a:solidFill>
                          <a:latin typeface="Helvetica"/>
                        </a:rPr>
                        <a:t>F-10-15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Taux brut de rentabilité des placements (RL6)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Intérêts perçus / Capital investi.</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 section II, § 2.4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FFFFF"/>
                    </a:solidFill>
                  </a:tcPr>
                </a:tc>
                <a:tc>
                  <a:txBody>
                    <a:bodyPr/>
                    <a:lstStyle/>
                    <a:p>
                      <a:pPr marL="0" indent="0" lvl="0">
                        <a:buNone/>
                      </a:pPr>
                      <a:r>
                        <a:rPr sz="800" b="1">
                          <a:solidFill>
                            <a:srgbClr val="060606"/>
                          </a:solidFill>
                          <a:latin typeface="Helvetica"/>
                        </a:rPr>
                        <a:t>À apprécier</a:t>
                      </a:r>
                    </a:p>
                  </a:txBody>
                  <a:tcPr marL="43200" marR="43200" marT="14400" marB="14400" anchor="ctr">
                    <a:solidFill>
                      <a:srgbClr val="FFD966"/>
                    </a:solidFill>
                  </a:tcPr>
                </a:tc>
              </a:tr>
              <a:tr h="301455">
                <a:tc>
                  <a:txBody>
                    <a:bodyPr/>
                    <a:lstStyle/>
                    <a:p>
                      <a:pPr marL="0" indent="0" lvl="0">
                        <a:buNone/>
                      </a:pPr>
                      <a:r>
                        <a:rPr sz="800" b="1">
                          <a:solidFill>
                            <a:srgbClr val="060606"/>
                          </a:solidFill>
                          <a:latin typeface="Helvetica"/>
                        </a:rPr>
                        <a:t>F-10-16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Solde moyen des comptes courants non rémunérés (RL7)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Somme des soldes des comptes courants / nombre de comptes.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 section II, § 2.5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2F2F2"/>
                    </a:solidFill>
                  </a:tcPr>
                </a:tc>
                <a:tc>
                  <a:txBody>
                    <a:bodyPr/>
                    <a:lstStyle/>
                    <a:p>
                      <a:pPr marL="0" indent="0" lvl="0">
                        <a:buNone/>
                      </a:pPr>
                      <a:r>
                        <a:rPr sz="800" b="1">
                          <a:solidFill>
                            <a:srgbClr val="060606"/>
                          </a:solidFill>
                          <a:latin typeface="Helvetica"/>
                        </a:rPr>
                        <a:t>À apprécier</a:t>
                      </a:r>
                    </a:p>
                  </a:txBody>
                  <a:tcPr marL="43200" marR="43200" marT="14400" marB="14400" anchor="ctr">
                    <a:solidFill>
                      <a:srgbClr val="FFD966"/>
                    </a:solidFill>
                  </a:tcPr>
                </a:tc>
              </a:tr>
              <a:tr h="423383">
                <a:tc>
                  <a:txBody>
                    <a:bodyPr/>
                    <a:lstStyle/>
                    <a:p>
                      <a:pPr marL="0" indent="0" lvl="0">
                        <a:buNone/>
                      </a:pPr>
                      <a:r>
                        <a:rPr sz="800" b="1">
                          <a:solidFill>
                            <a:srgbClr val="060606"/>
                          </a:solidFill>
                          <a:latin typeface="Helvetica"/>
                        </a:rPr>
                        <a:t>F-10-17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Taux des charges de fonctionnement (CHF)</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Charges de fonctionnement / Cotisations acquises.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 tableau 1, ligne 2 et § 1.2.1.2.1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FFFFF"/>
                    </a:solidFill>
                  </a:tcPr>
                </a:tc>
                <a:tc>
                  <a:txBody>
                    <a:bodyPr/>
                    <a:lstStyle/>
                    <a:p>
                      <a:pPr marL="0" indent="0" lvl="0">
                        <a:buNone/>
                      </a:pPr>
                      <a:r>
                        <a:rPr sz="800" b="1">
                          <a:solidFill>
                            <a:srgbClr val="060606"/>
                          </a:solidFill>
                          <a:latin typeface="Helvetica"/>
                        </a:rPr>
                        <a:t>Conforme au texte</a:t>
                      </a:r>
                    </a:p>
                  </a:txBody>
                  <a:tcPr marL="43200" marR="43200" marT="14400" marB="14400" anchor="ctr">
                    <a:solidFill>
                      <a:srgbClr val="70AD47"/>
                    </a:solidFill>
                  </a:tcPr>
                </a:tc>
              </a:tr>
              <a:tr h="423383">
                <a:tc>
                  <a:txBody>
                    <a:bodyPr/>
                    <a:lstStyle/>
                    <a:p>
                      <a:pPr marL="0" indent="0" lvl="0">
                        <a:buNone/>
                      </a:pPr>
                      <a:r>
                        <a:rPr sz="800" b="1">
                          <a:solidFill>
                            <a:srgbClr val="060606"/>
                          </a:solidFill>
                          <a:latin typeface="Helvetica"/>
                        </a:rPr>
                        <a:t>F-10-18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Taux des charges de fonctionnement brut (CHB)</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Charges de fonctionnement brut / Total des produits.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 tableau 1, ligne 3 et § 1.2.1.2.2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2F2F2"/>
                    </a:solidFill>
                  </a:tcPr>
                </a:tc>
                <a:tc>
                  <a:txBody>
                    <a:bodyPr/>
                    <a:lstStyle/>
                    <a:p>
                      <a:pPr marL="0" indent="0" lvl="0">
                        <a:buNone/>
                      </a:pPr>
                      <a:r>
                        <a:rPr sz="800" b="1">
                          <a:solidFill>
                            <a:srgbClr val="060606"/>
                          </a:solidFill>
                          <a:latin typeface="Helvetica"/>
                        </a:rPr>
                        <a:t>Conforme au texte</a:t>
                      </a:r>
                    </a:p>
                  </a:txBody>
                  <a:tcPr marL="43200" marR="43200" marT="14400" marB="14400" anchor="ctr">
                    <a:solidFill>
                      <a:srgbClr val="70AD47"/>
                    </a:solidFill>
                  </a:tcPr>
                </a:tc>
              </a:tr>
            </a:tbl>
          </a:graphicData>
        </a:graphic>
      </p:graphicFrame>
      <p:graphicFrame>
        <p:nvGraphicFramePr>
          <p:cNvPr id="29" name="Table 28"/>
          <p:cNvGraphicFramePr>
            <a:graphicFrameLocks noGrp="1"/>
          </p:cNvGraphicFramePr>
          <p:nvPr/>
        </p:nvGraphicFramePr>
        <p:xfrm>
          <a:off x="503999" y="3542951"/>
          <a:ext cx="11232000" cy="151200"/>
        </p:xfrm>
        <a:graphic>
          <a:graphicData uri="http://schemas.openxmlformats.org/drawingml/2006/table">
            <a:tbl>
              <a:tblPr firstRow="0" bandRow="0">
                <a:tableStyleId>{5C22544A-7EE6-4342-B048-85BDC9FD1C3A}</a:tableStyleId>
              </a:tblPr>
              <a:tblGrid>
                <a:gridCol w="792000"/>
                <a:gridCol w="936000"/>
                <a:gridCol w="4284000"/>
                <a:gridCol w="936000"/>
                <a:gridCol w="4284000"/>
              </a:tblGrid>
              <a:tr h="151200">
                <a:tc>
                  <a:txBody>
                    <a:bodyPr/>
                    <a:lstStyle/>
                    <a:p>
                      <a:r>
                        <a:rPr sz="700" b="1">
                          <a:solidFill>
                            <a:srgbClr val="060606"/>
                          </a:solidFill>
                          <a:latin typeface="Helvetica"/>
                        </a:rPr>
                        <a:t>Code couleur</a:t>
                      </a:r>
                    </a:p>
                  </a:txBody>
                  <a:tcPr marL="28800" marR="28800" marT="3600" marB="3600" anchor="ctr">
                    <a:solidFill>
                      <a:srgbClr val="FFFFFF"/>
                    </a:solidFill>
                  </a:tcPr>
                </a:tc>
                <a:tc>
                  <a:txBody>
                    <a:bodyPr/>
                    <a:lstStyle/>
                    <a:p>
                      <a:r>
                        <a:rPr sz="700" b="1">
                          <a:solidFill>
                            <a:srgbClr val="060606"/>
                          </a:solidFill>
                          <a:latin typeface="Helvetica"/>
                        </a:rPr>
                        <a:t>Conforme</a:t>
                      </a:r>
                    </a:p>
                  </a:txBody>
                  <a:tcPr marL="28800" marR="28800" marT="3600" marB="3600" anchor="ctr">
                    <a:solidFill>
                      <a:srgbClr val="70AD47"/>
                    </a:solidFill>
                  </a:tcPr>
                </a:tc>
                <a:tc>
                  <a:txBody>
                    <a:bodyPr/>
                    <a:lstStyle/>
                    <a:p>
                      <a:r>
                        <a:rPr sz="700" b="0">
                          <a:solidFill>
                            <a:srgbClr val="060606"/>
                          </a:solidFill>
                          <a:latin typeface="Helvetica"/>
                        </a:rPr>
                        <a:t>norme respectée</a:t>
                      </a:r>
                    </a:p>
                  </a:txBody>
                  <a:tcPr marL="28800" marR="28800" marT="3600" marB="3600" anchor="ctr">
                    <a:solidFill>
                      <a:srgbClr val="FFFFFF"/>
                    </a:solidFill>
                  </a:tcPr>
                </a:tc>
                <a:tc>
                  <a:txBody>
                    <a:bodyPr/>
                    <a:lstStyle/>
                    <a:p>
                      <a:r>
                        <a:rPr sz="700" b="1">
                          <a:solidFill>
                            <a:srgbClr val="060606"/>
                          </a:solidFill>
                          <a:latin typeface="Helvetica"/>
                        </a:rPr>
                        <a:t>À apprécier</a:t>
                      </a:r>
                    </a:p>
                  </a:txBody>
                  <a:tcPr marL="28800" marR="28800" marT="3600" marB="3600" anchor="ctr">
                    <a:solidFill>
                      <a:srgbClr val="FFD966"/>
                    </a:solidFill>
                  </a:tcPr>
                </a:tc>
                <a:tc>
                  <a:txBody>
                    <a:bodyPr/>
                    <a:lstStyle/>
                    <a:p>
                      <a:r>
                        <a:rPr sz="700" b="0">
                          <a:solidFill>
                            <a:srgbClr val="060606"/>
                          </a:solidFill>
                          <a:latin typeface="Helvetica"/>
                        </a:rPr>
                        <a:t>norme non chiffrée</a:t>
                      </a:r>
                    </a:p>
                  </a:txBody>
                  <a:tcPr marL="28800" marR="28800" marT="3600" marB="3600" anchor="ctr">
                    <a:solidFill>
                      <a:srgbClr val="FFFFFF"/>
                    </a:solidFill>
                  </a:tcPr>
                </a:tc>
              </a:tr>
            </a:tbl>
          </a:graphicData>
        </a:graphic>
      </p:graphicFrame>
      <p:sp>
        <p:nvSpPr>
          <p:cNvPr id="30" name="TextBox 29"/>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Textes cités</a:t>
            </a:r>
          </a:p>
        </p:txBody>
      </p:sp>
      <p:sp>
        <p:nvSpPr>
          <p:cNvPr id="31" name="TextBox 30"/>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a:t>
            </a:r>
          </a:p>
        </p:txBody>
      </p:sp>
    </p:spTree>
    <p:extLst>
      <p:ext uri="{BB962C8B-B14F-4D97-AF65-F5344CB8AC3E}">
        <p14:creationId xmlns:p14="http://schemas.microsoft.com/office/powerpoint/2010/main" val="2503278554"/>
      </p:ext>
    </p:extLst>
  </p:cSld>
  <p:clrMapOvr>
    <a:masterClrMapping/>
  </p:clrMapOvr>
  <p:transition>
    <p:fade/>
  </p:transition>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Tableau des formules (F-10-19 à F-10-24)</a:t>
            </a:r>
          </a:p>
        </p:txBody>
      </p:sp>
      <p:graphicFrame>
        <p:nvGraphicFramePr>
          <p:cNvPr id="28" name="Table 27"/>
          <p:cNvGraphicFramePr>
            <a:graphicFrameLocks noGrp="1"/>
          </p:cNvGraphicFramePr>
          <p:nvPr/>
        </p:nvGraphicFramePr>
        <p:xfrm>
          <a:off x="503999" y="720000"/>
          <a:ext cx="11231998" cy="2841753"/>
        </p:xfrm>
        <a:graphic>
          <a:graphicData uri="http://schemas.openxmlformats.org/drawingml/2006/table">
            <a:tbl>
              <a:tblPr firstRow="0" bandRow="0">
                <a:tableStyleId>{5940675A-B579-460E-94D1-54222C63F5DA}</a:tableStyleId>
              </a:tblPr>
              <a:tblGrid>
                <a:gridCol w="684000"/>
                <a:gridCol w="1655999"/>
                <a:gridCol w="3384000"/>
                <a:gridCol w="1944000"/>
                <a:gridCol w="2015999"/>
                <a:gridCol w="1548000"/>
              </a:tblGrid>
              <a:tr h="301455">
                <a:tc>
                  <a:txBody>
                    <a:bodyPr/>
                    <a:lstStyle/>
                    <a:p>
                      <a:pPr marL="0" indent="0" lvl="0">
                        <a:buNone/>
                      </a:pPr>
                      <a:r>
                        <a:rPr sz="800" b="1">
                          <a:solidFill>
                            <a:srgbClr val="FFFFFF"/>
                          </a:solidFill>
                          <a:latin typeface="Helvetica"/>
                        </a:rPr>
                        <a:t>Identifiant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Indicateur</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Formule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Source de la méthode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Méthode du FPPN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Statut</a:t>
                      </a:r>
                    </a:p>
                  </a:txBody>
                  <a:tcPr marL="43200" marR="43200" marT="14400" marB="14400" anchor="ctr">
                    <a:solidFill>
                      <a:srgbClr val="060606"/>
                    </a:solidFill>
                  </a:tcPr>
                </a:tc>
              </a:tr>
              <a:tr h="423383">
                <a:tc>
                  <a:txBody>
                    <a:bodyPr/>
                    <a:lstStyle/>
                    <a:p>
                      <a:pPr marL="0" indent="0" lvl="0">
                        <a:buNone/>
                      </a:pPr>
                      <a:r>
                        <a:rPr sz="800" b="1">
                          <a:solidFill>
                            <a:srgbClr val="060606"/>
                          </a:solidFill>
                          <a:latin typeface="Helvetica"/>
                        </a:rPr>
                        <a:t>F-10-19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Coût par unité monétaire prestée (CUP)</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Charges de fonctionnement / Charges de prestations.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 tableau 2, ligne 5 et § 1.2.1.2.3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FFFFF"/>
                    </a:solidFill>
                  </a:tcPr>
                </a:tc>
                <a:tc>
                  <a:txBody>
                    <a:bodyPr/>
                    <a:lstStyle/>
                    <a:p>
                      <a:pPr marL="0" indent="0" lvl="0">
                        <a:buNone/>
                      </a:pPr>
                      <a:r>
                        <a:rPr sz="800" b="1">
                          <a:solidFill>
                            <a:srgbClr val="060606"/>
                          </a:solidFill>
                          <a:latin typeface="Helvetica"/>
                        </a:rPr>
                        <a:t>Conforme au texte</a:t>
                      </a:r>
                    </a:p>
                  </a:txBody>
                  <a:tcPr marL="43200" marR="43200" marT="14400" marB="14400" anchor="ctr">
                    <a:solidFill>
                      <a:srgbClr val="70AD47"/>
                    </a:solidFill>
                  </a:tcPr>
                </a:tc>
              </a:tr>
              <a:tr h="423383">
                <a:tc>
                  <a:txBody>
                    <a:bodyPr/>
                    <a:lstStyle/>
                    <a:p>
                      <a:pPr marL="0" indent="0" lvl="0">
                        <a:buNone/>
                      </a:pPr>
                      <a:r>
                        <a:rPr sz="800" b="1">
                          <a:solidFill>
                            <a:srgbClr val="060606"/>
                          </a:solidFill>
                          <a:latin typeface="Helvetica"/>
                        </a:rPr>
                        <a:t>F-10-20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Taux de charges de personnel (CHP)</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Charges de personnel / Charges de fonctionnement brut.</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 tableau 1, ligne 4 et § 1.2.1.2.4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2F2F2"/>
                    </a:solidFill>
                  </a:tcPr>
                </a:tc>
                <a:tc>
                  <a:txBody>
                    <a:bodyPr/>
                    <a:lstStyle/>
                    <a:p>
                      <a:pPr marL="0" indent="0" lvl="0">
                        <a:buNone/>
                      </a:pPr>
                      <a:r>
                        <a:rPr sz="800" b="1">
                          <a:solidFill>
                            <a:srgbClr val="060606"/>
                          </a:solidFill>
                          <a:latin typeface="Helvetica"/>
                        </a:rPr>
                        <a:t>Conforme au texte</a:t>
                      </a:r>
                    </a:p>
                  </a:txBody>
                  <a:tcPr marL="43200" marR="43200" marT="14400" marB="14400" anchor="ctr">
                    <a:solidFill>
                      <a:srgbClr val="70AD47"/>
                    </a:solidFill>
                  </a:tcPr>
                </a:tc>
              </a:tr>
              <a:tr h="423383">
                <a:tc>
                  <a:txBody>
                    <a:bodyPr/>
                    <a:lstStyle/>
                    <a:p>
                      <a:pPr marL="0" indent="0" lvl="0">
                        <a:buNone/>
                      </a:pPr>
                      <a:r>
                        <a:rPr sz="800" b="1">
                          <a:solidFill>
                            <a:srgbClr val="060606"/>
                          </a:solidFill>
                          <a:latin typeface="Helvetica"/>
                        </a:rPr>
                        <a:t>F-10-21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Taux de recouvrement des cotisations (REC)</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Cotisations recouvrées / Cotisations émises.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 tableau 2, ligne 13 et § 1.2.2.3.1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FFFFF"/>
                    </a:solidFill>
                  </a:tcPr>
                </a:tc>
                <a:tc>
                  <a:txBody>
                    <a:bodyPr/>
                    <a:lstStyle/>
                    <a:p>
                      <a:pPr marL="0" indent="0" lvl="0">
                        <a:buNone/>
                      </a:pPr>
                      <a:r>
                        <a:rPr sz="800" b="1">
                          <a:solidFill>
                            <a:srgbClr val="060606"/>
                          </a:solidFill>
                          <a:latin typeface="Helvetica"/>
                        </a:rPr>
                        <a:t>Conforme au texte</a:t>
                      </a:r>
                    </a:p>
                  </a:txBody>
                  <a:tcPr marL="43200" marR="43200" marT="14400" marB="14400" anchor="ctr">
                    <a:solidFill>
                      <a:srgbClr val="70AD47"/>
                    </a:solidFill>
                  </a:tcPr>
                </a:tc>
              </a:tr>
              <a:tr h="423383">
                <a:tc>
                  <a:txBody>
                    <a:bodyPr/>
                    <a:lstStyle/>
                    <a:p>
                      <a:pPr marL="0" indent="0" lvl="0">
                        <a:buNone/>
                      </a:pPr>
                      <a:r>
                        <a:rPr sz="800" b="1">
                          <a:solidFill>
                            <a:srgbClr val="060606"/>
                          </a:solidFill>
                          <a:latin typeface="Helvetica"/>
                        </a:rPr>
                        <a:t>F-10-22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Taux de fidélisation (FID)</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Renouvellements d'adhésion n / Adhérents n-1.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 tableau 2, ligne 4 et § 1.2.1.1.4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2F2F2"/>
                    </a:solidFill>
                  </a:tcPr>
                </a:tc>
                <a:tc>
                  <a:txBody>
                    <a:bodyPr/>
                    <a:lstStyle/>
                    <a:p>
                      <a:pPr marL="0" indent="0" lvl="0">
                        <a:buNone/>
                      </a:pPr>
                      <a:r>
                        <a:rPr sz="800" b="1">
                          <a:solidFill>
                            <a:srgbClr val="060606"/>
                          </a:solidFill>
                          <a:latin typeface="Helvetica"/>
                        </a:rPr>
                        <a:t>Conforme au texte</a:t>
                      </a:r>
                    </a:p>
                  </a:txBody>
                  <a:tcPr marL="43200" marR="43200" marT="14400" marB="14400" anchor="ctr">
                    <a:solidFill>
                      <a:srgbClr val="70AD47"/>
                    </a:solidFill>
                  </a:tcPr>
                </a:tc>
              </a:tr>
              <a:tr h="423383">
                <a:tc>
                  <a:txBody>
                    <a:bodyPr/>
                    <a:lstStyle/>
                    <a:p>
                      <a:pPr marL="0" indent="0" lvl="0">
                        <a:buNone/>
                      </a:pPr>
                      <a:r>
                        <a:rPr sz="800" b="1">
                          <a:solidFill>
                            <a:srgbClr val="060606"/>
                          </a:solidFill>
                          <a:latin typeface="Helvetica"/>
                        </a:rPr>
                        <a:t>F-10-23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Délai moyen de paiement des prestataires de soins (DPP)</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Dettes envers les prestataires x 365 / Prestations prises en charge.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 tableau 2, ligne 7 et § 1.2.2.3.2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FFFFF"/>
                    </a:solidFill>
                  </a:tcPr>
                </a:tc>
                <a:tc>
                  <a:txBody>
                    <a:bodyPr/>
                    <a:lstStyle/>
                    <a:p>
                      <a:pPr marL="0" indent="0" lvl="0">
                        <a:buNone/>
                      </a:pPr>
                      <a:r>
                        <a:rPr sz="800" b="1">
                          <a:solidFill>
                            <a:srgbClr val="060606"/>
                          </a:solidFill>
                          <a:latin typeface="Helvetica"/>
                        </a:rPr>
                        <a:t>À apprécier</a:t>
                      </a:r>
                    </a:p>
                  </a:txBody>
                  <a:tcPr marL="43200" marR="43200" marT="14400" marB="14400" anchor="ctr">
                    <a:solidFill>
                      <a:srgbClr val="FFD966"/>
                    </a:solidFill>
                  </a:tcPr>
                </a:tc>
              </a:tr>
              <a:tr h="423383">
                <a:tc>
                  <a:txBody>
                    <a:bodyPr/>
                    <a:lstStyle/>
                    <a:p>
                      <a:pPr marL="0" indent="0" lvl="0">
                        <a:buNone/>
                      </a:pPr>
                      <a:r>
                        <a:rPr sz="800" b="1">
                          <a:solidFill>
                            <a:srgbClr val="060606"/>
                          </a:solidFill>
                          <a:latin typeface="Helvetica"/>
                        </a:rPr>
                        <a:t>F-10-24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Taux d'investissement brut en formation (FOR)</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Coût total de formation / Total des produits.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 tableau 2, ligne 6 et § 1.2.2.1.1.2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2F2F2"/>
                    </a:solidFill>
                  </a:tcPr>
                </a:tc>
                <a:tc>
                  <a:txBody>
                    <a:bodyPr/>
                    <a:lstStyle/>
                    <a:p>
                      <a:pPr marL="0" indent="0" lvl="0">
                        <a:buNone/>
                      </a:pPr>
                      <a:r>
                        <a:rPr sz="800" b="1">
                          <a:solidFill>
                            <a:srgbClr val="060606"/>
                          </a:solidFill>
                          <a:latin typeface="Helvetica"/>
                        </a:rPr>
                        <a:t>Conforme au texte</a:t>
                      </a:r>
                    </a:p>
                  </a:txBody>
                  <a:tcPr marL="43200" marR="43200" marT="14400" marB="14400" anchor="ctr">
                    <a:solidFill>
                      <a:srgbClr val="70AD47"/>
                    </a:solidFill>
                  </a:tcPr>
                </a:tc>
              </a:tr>
            </a:tbl>
          </a:graphicData>
        </a:graphic>
      </p:graphicFrame>
      <p:graphicFrame>
        <p:nvGraphicFramePr>
          <p:cNvPr id="29" name="Table 28"/>
          <p:cNvGraphicFramePr>
            <a:graphicFrameLocks noGrp="1"/>
          </p:cNvGraphicFramePr>
          <p:nvPr/>
        </p:nvGraphicFramePr>
        <p:xfrm>
          <a:off x="503999" y="3803876"/>
          <a:ext cx="11232000" cy="151200"/>
        </p:xfrm>
        <a:graphic>
          <a:graphicData uri="http://schemas.openxmlformats.org/drawingml/2006/table">
            <a:tbl>
              <a:tblPr firstRow="0" bandRow="0">
                <a:tableStyleId>{5C22544A-7EE6-4342-B048-85BDC9FD1C3A}</a:tableStyleId>
              </a:tblPr>
              <a:tblGrid>
                <a:gridCol w="792000"/>
                <a:gridCol w="936000"/>
                <a:gridCol w="4284000"/>
                <a:gridCol w="936000"/>
                <a:gridCol w="4284000"/>
              </a:tblGrid>
              <a:tr h="151200">
                <a:tc>
                  <a:txBody>
                    <a:bodyPr/>
                    <a:lstStyle/>
                    <a:p>
                      <a:r>
                        <a:rPr sz="700" b="1">
                          <a:solidFill>
                            <a:srgbClr val="060606"/>
                          </a:solidFill>
                          <a:latin typeface="Helvetica"/>
                        </a:rPr>
                        <a:t>Code couleur</a:t>
                      </a:r>
                    </a:p>
                  </a:txBody>
                  <a:tcPr marL="28800" marR="28800" marT="3600" marB="3600" anchor="ctr">
                    <a:solidFill>
                      <a:srgbClr val="FFFFFF"/>
                    </a:solidFill>
                  </a:tcPr>
                </a:tc>
                <a:tc>
                  <a:txBody>
                    <a:bodyPr/>
                    <a:lstStyle/>
                    <a:p>
                      <a:r>
                        <a:rPr sz="700" b="1">
                          <a:solidFill>
                            <a:srgbClr val="060606"/>
                          </a:solidFill>
                          <a:latin typeface="Helvetica"/>
                        </a:rPr>
                        <a:t>Conforme</a:t>
                      </a:r>
                    </a:p>
                  </a:txBody>
                  <a:tcPr marL="28800" marR="28800" marT="3600" marB="3600" anchor="ctr">
                    <a:solidFill>
                      <a:srgbClr val="70AD47"/>
                    </a:solidFill>
                  </a:tcPr>
                </a:tc>
                <a:tc>
                  <a:txBody>
                    <a:bodyPr/>
                    <a:lstStyle/>
                    <a:p>
                      <a:r>
                        <a:rPr sz="700" b="0">
                          <a:solidFill>
                            <a:srgbClr val="060606"/>
                          </a:solidFill>
                          <a:latin typeface="Helvetica"/>
                        </a:rPr>
                        <a:t>norme respectée</a:t>
                      </a:r>
                    </a:p>
                  </a:txBody>
                  <a:tcPr marL="28800" marR="28800" marT="3600" marB="3600" anchor="ctr">
                    <a:solidFill>
                      <a:srgbClr val="FFFFFF"/>
                    </a:solidFill>
                  </a:tcPr>
                </a:tc>
                <a:tc>
                  <a:txBody>
                    <a:bodyPr/>
                    <a:lstStyle/>
                    <a:p>
                      <a:r>
                        <a:rPr sz="700" b="1">
                          <a:solidFill>
                            <a:srgbClr val="060606"/>
                          </a:solidFill>
                          <a:latin typeface="Helvetica"/>
                        </a:rPr>
                        <a:t>À apprécier</a:t>
                      </a:r>
                    </a:p>
                  </a:txBody>
                  <a:tcPr marL="28800" marR="28800" marT="3600" marB="3600" anchor="ctr">
                    <a:solidFill>
                      <a:srgbClr val="FFD966"/>
                    </a:solidFill>
                  </a:tcPr>
                </a:tc>
                <a:tc>
                  <a:txBody>
                    <a:bodyPr/>
                    <a:lstStyle/>
                    <a:p>
                      <a:r>
                        <a:rPr sz="700" b="0">
                          <a:solidFill>
                            <a:srgbClr val="060606"/>
                          </a:solidFill>
                          <a:latin typeface="Helvetica"/>
                        </a:rPr>
                        <a:t>norme non chiffrée</a:t>
                      </a:r>
                    </a:p>
                  </a:txBody>
                  <a:tcPr marL="28800" marR="28800" marT="3600" marB="3600" anchor="ctr">
                    <a:solidFill>
                      <a:srgbClr val="FFFFFF"/>
                    </a:solidFill>
                  </a:tcPr>
                </a:tc>
              </a:tr>
            </a:tbl>
          </a:graphicData>
        </a:graphic>
      </p:graphicFrame>
      <p:sp>
        <p:nvSpPr>
          <p:cNvPr id="30" name="TextBox 29"/>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Textes cités</a:t>
            </a:r>
          </a:p>
        </p:txBody>
      </p:sp>
      <p:sp>
        <p:nvSpPr>
          <p:cNvPr id="31" name="TextBox 30"/>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a:t>
            </a:r>
          </a:p>
        </p:txBody>
      </p:sp>
    </p:spTree>
    <p:extLst>
      <p:ext uri="{BB962C8B-B14F-4D97-AF65-F5344CB8AC3E}">
        <p14:creationId xmlns:p14="http://schemas.microsoft.com/office/powerpoint/2010/main" val="2771355893"/>
      </p:ext>
    </p:extLst>
  </p:cSld>
  <p:clrMapOvr>
    <a:masterClrMapping/>
  </p:clrMapOvr>
  <p:transition>
    <p:fade/>
  </p:transition>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Tableau des formules (F-10-25 à F-10-30)</a:t>
            </a:r>
          </a:p>
        </p:txBody>
      </p:sp>
      <p:graphicFrame>
        <p:nvGraphicFramePr>
          <p:cNvPr id="28" name="Table 27"/>
          <p:cNvGraphicFramePr>
            <a:graphicFrameLocks noGrp="1"/>
          </p:cNvGraphicFramePr>
          <p:nvPr/>
        </p:nvGraphicFramePr>
        <p:xfrm>
          <a:off x="503999" y="720000"/>
          <a:ext cx="11231998" cy="2475969"/>
        </p:xfrm>
        <a:graphic>
          <a:graphicData uri="http://schemas.openxmlformats.org/drawingml/2006/table">
            <a:tbl>
              <a:tblPr firstRow="0" bandRow="0">
                <a:tableStyleId>{5940675A-B579-460E-94D1-54222C63F5DA}</a:tableStyleId>
              </a:tblPr>
              <a:tblGrid>
                <a:gridCol w="684000"/>
                <a:gridCol w="1655999"/>
                <a:gridCol w="3384000"/>
                <a:gridCol w="1944000"/>
                <a:gridCol w="2015999"/>
                <a:gridCol w="1548000"/>
              </a:tblGrid>
              <a:tr h="301455">
                <a:tc>
                  <a:txBody>
                    <a:bodyPr/>
                    <a:lstStyle/>
                    <a:p>
                      <a:pPr marL="0" indent="0" lvl="0">
                        <a:buNone/>
                      </a:pPr>
                      <a:r>
                        <a:rPr sz="800" b="1">
                          <a:solidFill>
                            <a:srgbClr val="FFFFFF"/>
                          </a:solidFill>
                          <a:latin typeface="Helvetica"/>
                        </a:rPr>
                        <a:t>Identifiant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Indicateur</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Formule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Source de la méthode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Méthode du FPPN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Statut</a:t>
                      </a:r>
                    </a:p>
                  </a:txBody>
                  <a:tcPr marL="43200" marR="43200" marT="14400" marB="14400" anchor="ctr">
                    <a:solidFill>
                      <a:srgbClr val="060606"/>
                    </a:solidFill>
                  </a:tcPr>
                </a:tc>
              </a:tr>
              <a:tr h="301455">
                <a:tc>
                  <a:txBody>
                    <a:bodyPr/>
                    <a:lstStyle/>
                    <a:p>
                      <a:pPr marL="0" indent="0" lvl="0">
                        <a:buNone/>
                      </a:pPr>
                      <a:r>
                        <a:rPr sz="800" b="1">
                          <a:solidFill>
                            <a:srgbClr val="060606"/>
                          </a:solidFill>
                          <a:latin typeface="Helvetica"/>
                        </a:rPr>
                        <a:t>F-10-25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Taux de croissance brute des bénéficiaires (CRB)</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(Bénéficiaires n - n-1) / Bénéficiaires n-1.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 tableau 2, ligne 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FFFFF"/>
                    </a:solidFill>
                  </a:tcPr>
                </a:tc>
                <a:tc>
                  <a:txBody>
                    <a:bodyPr/>
                    <a:lstStyle/>
                    <a:p>
                      <a:pPr marL="0" indent="0" lvl="0">
                        <a:buNone/>
                      </a:pPr>
                      <a:r>
                        <a:rPr sz="800" b="1">
                          <a:solidFill>
                            <a:srgbClr val="060606"/>
                          </a:solidFill>
                          <a:latin typeface="Helvetica"/>
                        </a:rPr>
                        <a:t>À apprécier</a:t>
                      </a:r>
                    </a:p>
                  </a:txBody>
                  <a:tcPr marL="43200" marR="43200" marT="14400" marB="14400" anchor="ctr">
                    <a:solidFill>
                      <a:srgbClr val="FFD966"/>
                    </a:solidFill>
                  </a:tcPr>
                </a:tc>
              </a:tr>
              <a:tr h="301455">
                <a:tc>
                  <a:txBody>
                    <a:bodyPr/>
                    <a:lstStyle/>
                    <a:p>
                      <a:pPr marL="0" indent="0" lvl="0">
                        <a:buNone/>
                      </a:pPr>
                      <a:r>
                        <a:rPr sz="800" b="1">
                          <a:solidFill>
                            <a:srgbClr val="060606"/>
                          </a:solidFill>
                          <a:latin typeface="Helvetica"/>
                        </a:rPr>
                        <a:t>F-10-26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Ratio bénéficiaire-adhérent (RBA)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Bénéficiaires / Adhérents.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 tableau 2, ligne 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2F2F2"/>
                    </a:solidFill>
                  </a:tcPr>
                </a:tc>
                <a:tc>
                  <a:txBody>
                    <a:bodyPr/>
                    <a:lstStyle/>
                    <a:p>
                      <a:pPr marL="0" indent="0" lvl="0">
                        <a:buNone/>
                      </a:pPr>
                      <a:r>
                        <a:rPr sz="800" b="1">
                          <a:solidFill>
                            <a:srgbClr val="060606"/>
                          </a:solidFill>
                          <a:latin typeface="Helvetica"/>
                        </a:rPr>
                        <a:t>En attente</a:t>
                      </a:r>
                    </a:p>
                  </a:txBody>
                  <a:tcPr marL="43200" marR="43200" marT="14400" marB="14400" anchor="ctr">
                    <a:solidFill>
                      <a:srgbClr val="FFD966"/>
                    </a:solidFill>
                  </a:tcPr>
                </a:tc>
              </a:tr>
              <a:tr h="301455">
                <a:tc>
                  <a:txBody>
                    <a:bodyPr/>
                    <a:lstStyle/>
                    <a:p>
                      <a:pPr marL="0" indent="0" lvl="0">
                        <a:buNone/>
                      </a:pPr>
                      <a:r>
                        <a:rPr sz="800" b="1">
                          <a:solidFill>
                            <a:srgbClr val="060606"/>
                          </a:solidFill>
                          <a:latin typeface="Helvetica"/>
                        </a:rPr>
                        <a:t>F-10-27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Taux de pénétration (PEN)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Bénéficiaires / Population cible.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 tableau 2, ligne 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FFFFF"/>
                    </a:solidFill>
                  </a:tcPr>
                </a:tc>
                <a:tc>
                  <a:txBody>
                    <a:bodyPr/>
                    <a:lstStyle/>
                    <a:p>
                      <a:pPr marL="0" indent="0" lvl="0">
                        <a:buNone/>
                      </a:pPr>
                      <a:r>
                        <a:rPr sz="800" b="1">
                          <a:solidFill>
                            <a:srgbClr val="060606"/>
                          </a:solidFill>
                          <a:latin typeface="Helvetica"/>
                        </a:rPr>
                        <a:t>En attente</a:t>
                      </a:r>
                    </a:p>
                  </a:txBody>
                  <a:tcPr marL="43200" marR="43200" marT="14400" marB="14400" anchor="ctr">
                    <a:solidFill>
                      <a:srgbClr val="FFD966"/>
                    </a:solidFill>
                  </a:tcPr>
                </a:tc>
              </a:tr>
              <a:tr h="423383">
                <a:tc>
                  <a:txBody>
                    <a:bodyPr/>
                    <a:lstStyle/>
                    <a:p>
                      <a:pPr marL="0" indent="0" lvl="0">
                        <a:buNone/>
                      </a:pPr>
                      <a:r>
                        <a:rPr sz="800" b="1">
                          <a:solidFill>
                            <a:srgbClr val="060606"/>
                          </a:solidFill>
                          <a:latin typeface="Helvetica"/>
                        </a:rPr>
                        <a:t>F-10-28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Taux de prestations indues (IND)</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Prestations indûment payées / Prestations payées.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 tableau 2, ligne 12 et § 1.2.2.3.3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2F2F2"/>
                    </a:solidFill>
                  </a:tcPr>
                </a:tc>
                <a:tc>
                  <a:txBody>
                    <a:bodyPr/>
                    <a:lstStyle/>
                    <a:p>
                      <a:pPr marL="0" indent="0" lvl="0">
                        <a:buNone/>
                      </a:pPr>
                      <a:r>
                        <a:rPr sz="800" b="1">
                          <a:solidFill>
                            <a:srgbClr val="060606"/>
                          </a:solidFill>
                          <a:latin typeface="Helvetica"/>
                        </a:rPr>
                        <a:t>En attente</a:t>
                      </a:r>
                    </a:p>
                  </a:txBody>
                  <a:tcPr marL="43200" marR="43200" marT="14400" marB="14400" anchor="ctr">
                    <a:solidFill>
                      <a:srgbClr val="FFD966"/>
                    </a:solidFill>
                  </a:tcPr>
                </a:tc>
              </a:tr>
              <a:tr h="423383">
                <a:tc>
                  <a:txBody>
                    <a:bodyPr/>
                    <a:lstStyle/>
                    <a:p>
                      <a:pPr marL="0" indent="0" lvl="0">
                        <a:buNone/>
                      </a:pPr>
                      <a:r>
                        <a:rPr sz="800" b="1">
                          <a:solidFill>
                            <a:srgbClr val="060606"/>
                          </a:solidFill>
                          <a:latin typeface="Helvetica"/>
                        </a:rPr>
                        <a:t>F-10-29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Ratio de contrôle a posteriori (CAP)</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Factures contrôlées / Factures traitées.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 § 1.2.2.4 et section II, § 2.9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FFFFF"/>
                    </a:solidFill>
                  </a:tcPr>
                </a:tc>
                <a:tc>
                  <a:txBody>
                    <a:bodyPr/>
                    <a:lstStyle/>
                    <a:p>
                      <a:pPr marL="0" indent="0" lvl="0">
                        <a:buNone/>
                      </a:pPr>
                      <a:r>
                        <a:rPr sz="800" b="1">
                          <a:solidFill>
                            <a:srgbClr val="060606"/>
                          </a:solidFill>
                          <a:latin typeface="Helvetica"/>
                        </a:rPr>
                        <a:t>En attente</a:t>
                      </a:r>
                    </a:p>
                  </a:txBody>
                  <a:tcPr marL="43200" marR="43200" marT="14400" marB="14400" anchor="ctr">
                    <a:solidFill>
                      <a:srgbClr val="FFD966"/>
                    </a:solidFill>
                  </a:tcPr>
                </a:tc>
              </a:tr>
              <a:tr h="423383">
                <a:tc>
                  <a:txBody>
                    <a:bodyPr/>
                    <a:lstStyle/>
                    <a:p>
                      <a:pPr marL="0" indent="0" lvl="0">
                        <a:buNone/>
                      </a:pPr>
                      <a:r>
                        <a:rPr sz="800" b="1">
                          <a:solidFill>
                            <a:srgbClr val="060606"/>
                          </a:solidFill>
                          <a:latin typeface="Helvetica"/>
                        </a:rPr>
                        <a:t>F-10-30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Délai de liquidation des premières demandes (risques longs) (DLQ)</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Durée maximale de liquidation.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 section II, § 2.7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2F2F2"/>
                    </a:solidFill>
                  </a:tcPr>
                </a:tc>
                <a:tc>
                  <a:txBody>
                    <a:bodyPr/>
                    <a:lstStyle/>
                    <a:p>
                      <a:pPr marL="0" indent="0" lvl="0">
                        <a:buNone/>
                      </a:pPr>
                      <a:r>
                        <a:rPr sz="800" b="1">
                          <a:solidFill>
                            <a:srgbClr val="060606"/>
                          </a:solidFill>
                          <a:latin typeface="Helvetica"/>
                        </a:rPr>
                        <a:t>En attente</a:t>
                      </a:r>
                    </a:p>
                  </a:txBody>
                  <a:tcPr marL="43200" marR="43200" marT="14400" marB="14400" anchor="ctr">
                    <a:solidFill>
                      <a:srgbClr val="FFD966"/>
                    </a:solidFill>
                  </a:tcPr>
                </a:tc>
              </a:tr>
            </a:tbl>
          </a:graphicData>
        </a:graphic>
      </p:graphicFrame>
      <p:graphicFrame>
        <p:nvGraphicFramePr>
          <p:cNvPr id="29" name="Table 28"/>
          <p:cNvGraphicFramePr>
            <a:graphicFrameLocks noGrp="1"/>
          </p:cNvGraphicFramePr>
          <p:nvPr/>
        </p:nvGraphicFramePr>
        <p:xfrm>
          <a:off x="503999" y="3412488"/>
          <a:ext cx="11232000" cy="151200"/>
        </p:xfrm>
        <a:graphic>
          <a:graphicData uri="http://schemas.openxmlformats.org/drawingml/2006/table">
            <a:tbl>
              <a:tblPr firstRow="0" bandRow="0">
                <a:tableStyleId>{5C22544A-7EE6-4342-B048-85BDC9FD1C3A}</a:tableStyleId>
              </a:tblPr>
              <a:tblGrid>
                <a:gridCol w="792000"/>
                <a:gridCol w="936000"/>
                <a:gridCol w="4284000"/>
                <a:gridCol w="936000"/>
                <a:gridCol w="4284000"/>
              </a:tblGrid>
              <a:tr h="151200">
                <a:tc>
                  <a:txBody>
                    <a:bodyPr/>
                    <a:lstStyle/>
                    <a:p>
                      <a:r>
                        <a:rPr sz="700" b="1">
                          <a:solidFill>
                            <a:srgbClr val="060606"/>
                          </a:solidFill>
                          <a:latin typeface="Helvetica"/>
                        </a:rPr>
                        <a:t>Code couleur</a:t>
                      </a:r>
                    </a:p>
                  </a:txBody>
                  <a:tcPr marL="28800" marR="28800" marT="3600" marB="3600" anchor="ctr">
                    <a:solidFill>
                      <a:srgbClr val="FFFFFF"/>
                    </a:solidFill>
                  </a:tcPr>
                </a:tc>
                <a:tc>
                  <a:txBody>
                    <a:bodyPr/>
                    <a:lstStyle/>
                    <a:p>
                      <a:r>
                        <a:rPr sz="700" b="1">
                          <a:solidFill>
                            <a:srgbClr val="060606"/>
                          </a:solidFill>
                          <a:latin typeface="Helvetica"/>
                        </a:rPr>
                        <a:t>À apprécier</a:t>
                      </a:r>
                    </a:p>
                  </a:txBody>
                  <a:tcPr marL="28800" marR="28800" marT="3600" marB="3600" anchor="ctr">
                    <a:solidFill>
                      <a:srgbClr val="FFD966"/>
                    </a:solidFill>
                  </a:tcPr>
                </a:tc>
                <a:tc>
                  <a:txBody>
                    <a:bodyPr/>
                    <a:lstStyle/>
                    <a:p>
                      <a:r>
                        <a:rPr sz="700" b="0">
                          <a:solidFill>
                            <a:srgbClr val="060606"/>
                          </a:solidFill>
                          <a:latin typeface="Helvetica"/>
                        </a:rPr>
                        <a:t>norme non chiffrée</a:t>
                      </a:r>
                    </a:p>
                  </a:txBody>
                  <a:tcPr marL="28800" marR="28800" marT="3600" marB="3600" anchor="ctr">
                    <a:solidFill>
                      <a:srgbClr val="FFFFFF"/>
                    </a:solidFill>
                  </a:tcPr>
                </a:tc>
                <a:tc>
                  <a:txBody>
                    <a:bodyPr/>
                    <a:lstStyle/>
                    <a:p>
                      <a:r>
                        <a:rPr sz="700" b="1">
                          <a:solidFill>
                            <a:srgbClr val="060606"/>
                          </a:solidFill>
                          <a:latin typeface="Helvetica"/>
                        </a:rPr>
                        <a:t>En attente</a:t>
                      </a:r>
                    </a:p>
                  </a:txBody>
                  <a:tcPr marL="28800" marR="28800" marT="3600" marB="3600" anchor="ctr">
                    <a:solidFill>
                      <a:srgbClr val="FFD966"/>
                    </a:solidFill>
                  </a:tcPr>
                </a:tc>
                <a:tc>
                  <a:txBody>
                    <a:bodyPr/>
                    <a:lstStyle/>
                    <a:p>
                      <a:r>
                        <a:rPr sz="700" b="0">
                          <a:solidFill>
                            <a:srgbClr val="060606"/>
                          </a:solidFill>
                          <a:latin typeface="Helvetica"/>
                        </a:rPr>
                        <a:t>document du FPPN attendu</a:t>
                      </a:r>
                    </a:p>
                  </a:txBody>
                  <a:tcPr marL="28800" marR="28800" marT="3600" marB="3600" anchor="ctr">
                    <a:solidFill>
                      <a:srgbClr val="FFFFFF"/>
                    </a:solidFill>
                  </a:tcPr>
                </a:tc>
              </a:tr>
            </a:tbl>
          </a:graphicData>
        </a:graphic>
      </p:graphicFrame>
      <p:sp>
        <p:nvSpPr>
          <p:cNvPr id="30" name="TextBox 29"/>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Textes cités</a:t>
            </a:r>
          </a:p>
        </p:txBody>
      </p:sp>
      <p:sp>
        <p:nvSpPr>
          <p:cNvPr id="31" name="TextBox 30"/>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a:t>
            </a:r>
          </a:p>
        </p:txBody>
      </p:sp>
    </p:spTree>
    <p:extLst>
      <p:ext uri="{BB962C8B-B14F-4D97-AF65-F5344CB8AC3E}">
        <p14:creationId xmlns:p14="http://schemas.microsoft.com/office/powerpoint/2010/main" val="327757814"/>
      </p:ext>
    </p:extLst>
  </p:cSld>
  <p:clrMapOvr>
    <a:masterClrMapping/>
  </p:clrMapOvr>
  <p:transition>
    <p:fade/>
  </p:transition>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Tableau des formules (F-10-31 à F-10-36)</a:t>
            </a:r>
          </a:p>
        </p:txBody>
      </p:sp>
      <p:graphicFrame>
        <p:nvGraphicFramePr>
          <p:cNvPr id="28" name="Table 27"/>
          <p:cNvGraphicFramePr>
            <a:graphicFrameLocks noGrp="1"/>
          </p:cNvGraphicFramePr>
          <p:nvPr/>
        </p:nvGraphicFramePr>
        <p:xfrm>
          <a:off x="503999" y="720000"/>
          <a:ext cx="11231998" cy="2597897"/>
        </p:xfrm>
        <a:graphic>
          <a:graphicData uri="http://schemas.openxmlformats.org/drawingml/2006/table">
            <a:tbl>
              <a:tblPr firstRow="0" bandRow="0">
                <a:tableStyleId>{5940675A-B579-460E-94D1-54222C63F5DA}</a:tableStyleId>
              </a:tblPr>
              <a:tblGrid>
                <a:gridCol w="684000"/>
                <a:gridCol w="1655999"/>
                <a:gridCol w="3384000"/>
                <a:gridCol w="1944000"/>
                <a:gridCol w="2015999"/>
                <a:gridCol w="1548000"/>
              </a:tblGrid>
              <a:tr h="301455">
                <a:tc>
                  <a:txBody>
                    <a:bodyPr/>
                    <a:lstStyle/>
                    <a:p>
                      <a:pPr marL="0" indent="0" lvl="0">
                        <a:buNone/>
                      </a:pPr>
                      <a:r>
                        <a:rPr sz="800" b="1">
                          <a:solidFill>
                            <a:srgbClr val="FFFFFF"/>
                          </a:solidFill>
                          <a:latin typeface="Helvetica"/>
                        </a:rPr>
                        <a:t>Identifiant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Indicateur</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Formule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Source de la méthode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Méthode du FPPN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Statut</a:t>
                      </a:r>
                    </a:p>
                  </a:txBody>
                  <a:tcPr marL="43200" marR="43200" marT="14400" marB="14400" anchor="ctr">
                    <a:solidFill>
                      <a:srgbClr val="060606"/>
                    </a:solidFill>
                  </a:tcPr>
                </a:tc>
              </a:tr>
              <a:tr h="301455">
                <a:tc>
                  <a:txBody>
                    <a:bodyPr/>
                    <a:lstStyle/>
                    <a:p>
                      <a:pPr marL="0" indent="0" lvl="0">
                        <a:buNone/>
                      </a:pPr>
                      <a:r>
                        <a:rPr sz="800" b="1">
                          <a:solidFill>
                            <a:srgbClr val="060606"/>
                          </a:solidFill>
                          <a:latin typeface="Helvetica"/>
                        </a:rPr>
                        <a:t>F-10-31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Restes à traiter en fin de période (risques longs) (RAT)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Dossiers en instance / Dossiers reçus.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 section II, § 2.8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FFFFF"/>
                    </a:solidFill>
                  </a:tcPr>
                </a:tc>
                <a:tc>
                  <a:txBody>
                    <a:bodyPr/>
                    <a:lstStyle/>
                    <a:p>
                      <a:pPr marL="0" indent="0" lvl="0">
                        <a:buNone/>
                      </a:pPr>
                      <a:r>
                        <a:rPr sz="800" b="1">
                          <a:solidFill>
                            <a:srgbClr val="060606"/>
                          </a:solidFill>
                          <a:latin typeface="Helvetica"/>
                        </a:rPr>
                        <a:t>En attente</a:t>
                      </a:r>
                    </a:p>
                  </a:txBody>
                  <a:tcPr marL="43200" marR="43200" marT="14400" marB="14400" anchor="ctr">
                    <a:solidFill>
                      <a:srgbClr val="FFD966"/>
                    </a:solidFill>
                  </a:tcPr>
                </a:tc>
              </a:tr>
              <a:tr h="423383">
                <a:tc>
                  <a:txBody>
                    <a:bodyPr/>
                    <a:lstStyle/>
                    <a:p>
                      <a:pPr marL="0" indent="0" lvl="0">
                        <a:buNone/>
                      </a:pPr>
                      <a:r>
                        <a:rPr sz="800" b="1">
                          <a:solidFill>
                            <a:srgbClr val="060606"/>
                          </a:solidFill>
                          <a:latin typeface="Helvetica"/>
                        </a:rPr>
                        <a:t>F-10-32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Délai de remise en banque des titres de paiement (risques longs) (DRB)</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Délai de dépôt.</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 section II, § 2.6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2F2F2"/>
                    </a:solidFill>
                  </a:tcPr>
                </a:tc>
                <a:tc>
                  <a:txBody>
                    <a:bodyPr/>
                    <a:lstStyle/>
                    <a:p>
                      <a:pPr marL="0" indent="0" lvl="0">
                        <a:buNone/>
                      </a:pPr>
                      <a:r>
                        <a:rPr sz="800" b="1">
                          <a:solidFill>
                            <a:srgbClr val="060606"/>
                          </a:solidFill>
                          <a:latin typeface="Helvetica"/>
                        </a:rPr>
                        <a:t>En attente</a:t>
                      </a:r>
                    </a:p>
                  </a:txBody>
                  <a:tcPr marL="43200" marR="43200" marT="14400" marB="14400" anchor="ctr">
                    <a:solidFill>
                      <a:srgbClr val="FFD966"/>
                    </a:solidFill>
                  </a:tcPr>
                </a:tc>
              </a:tr>
              <a:tr h="423383">
                <a:tc>
                  <a:txBody>
                    <a:bodyPr/>
                    <a:lstStyle/>
                    <a:p>
                      <a:pPr marL="0" indent="0" lvl="0">
                        <a:buNone/>
                      </a:pPr>
                      <a:r>
                        <a:rPr sz="800" b="1">
                          <a:solidFill>
                            <a:srgbClr val="060606"/>
                          </a:solidFill>
                          <a:latin typeface="Helvetica"/>
                        </a:rPr>
                        <a:t>F-10-33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Taux de règlement de la cotisation au Fonds national de garantie (FNG)</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Montant payé à l'échéance / Cotisation due.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 tableau 1, ligne 1. Règlement n° 07/2009, art. 63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FFFFF"/>
                    </a:solidFill>
                  </a:tcPr>
                </a:tc>
                <a:tc>
                  <a:txBody>
                    <a:bodyPr/>
                    <a:lstStyle/>
                    <a:p>
                      <a:pPr marL="0" indent="0" lvl="0">
                        <a:buNone/>
                      </a:pPr>
                      <a:r>
                        <a:rPr sz="800" b="1">
                          <a:solidFill>
                            <a:srgbClr val="060606"/>
                          </a:solidFill>
                          <a:latin typeface="Helvetica"/>
                        </a:rPr>
                        <a:t>En attente</a:t>
                      </a:r>
                    </a:p>
                  </a:txBody>
                  <a:tcPr marL="43200" marR="43200" marT="14400" marB="14400" anchor="ctr">
                    <a:solidFill>
                      <a:srgbClr val="FFD966"/>
                    </a:solidFill>
                  </a:tcPr>
                </a:tc>
              </a:tr>
              <a:tr h="301455">
                <a:tc>
                  <a:txBody>
                    <a:bodyPr/>
                    <a:lstStyle/>
                    <a:p>
                      <a:pPr marL="0" indent="0" lvl="0">
                        <a:buNone/>
                      </a:pPr>
                      <a:r>
                        <a:rPr sz="800" b="1">
                          <a:solidFill>
                            <a:srgbClr val="060606"/>
                          </a:solidFill>
                          <a:latin typeface="Helvetica"/>
                        </a:rPr>
                        <a:t>F-10-34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Taux de tenue des réunions des organes (TTR)</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Réunions tenues / Réunions statutaires.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 tableau 1, ligne 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2F2F2"/>
                    </a:solidFill>
                  </a:tcPr>
                </a:tc>
                <a:tc>
                  <a:txBody>
                    <a:bodyPr/>
                    <a:lstStyle/>
                    <a:p>
                      <a:pPr marL="0" indent="0" lvl="0">
                        <a:buNone/>
                      </a:pPr>
                      <a:r>
                        <a:rPr sz="800" b="1">
                          <a:solidFill>
                            <a:srgbClr val="060606"/>
                          </a:solidFill>
                          <a:latin typeface="Helvetica"/>
                        </a:rPr>
                        <a:t>En attente</a:t>
                      </a:r>
                    </a:p>
                  </a:txBody>
                  <a:tcPr marL="43200" marR="43200" marT="14400" marB="14400" anchor="ctr">
                    <a:solidFill>
                      <a:srgbClr val="FFD966"/>
                    </a:solidFill>
                  </a:tcPr>
                </a:tc>
              </a:tr>
              <a:tr h="423383">
                <a:tc>
                  <a:txBody>
                    <a:bodyPr/>
                    <a:lstStyle/>
                    <a:p>
                      <a:pPr marL="0" indent="0" lvl="0">
                        <a:buNone/>
                      </a:pPr>
                      <a:r>
                        <a:rPr sz="800" b="1">
                          <a:solidFill>
                            <a:srgbClr val="060606"/>
                          </a:solidFill>
                          <a:latin typeface="Helvetica"/>
                        </a:rPr>
                        <a:t>F-10-35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Existence et tenue des outils de suivi administratif (OSA)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Contrôle sur place et sur pièce.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 tableau 1, ligne 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FFFFF"/>
                    </a:solidFill>
                  </a:tcPr>
                </a:tc>
                <a:tc>
                  <a:txBody>
                    <a:bodyPr/>
                    <a:lstStyle/>
                    <a:p>
                      <a:pPr marL="0" indent="0" lvl="0">
                        <a:buNone/>
                      </a:pPr>
                      <a:r>
                        <a:rPr sz="800" b="1">
                          <a:solidFill>
                            <a:srgbClr val="060606"/>
                          </a:solidFill>
                          <a:latin typeface="Helvetica"/>
                        </a:rPr>
                        <a:t>En attente</a:t>
                      </a:r>
                    </a:p>
                  </a:txBody>
                  <a:tcPr marL="43200" marR="43200" marT="14400" marB="14400" anchor="ctr">
                    <a:solidFill>
                      <a:srgbClr val="FFD966"/>
                    </a:solidFill>
                  </a:tcPr>
                </a:tc>
              </a:tr>
              <a:tr h="423383">
                <a:tc>
                  <a:txBody>
                    <a:bodyPr/>
                    <a:lstStyle/>
                    <a:p>
                      <a:pPr marL="0" indent="0" lvl="0">
                        <a:buNone/>
                      </a:pPr>
                      <a:r>
                        <a:rPr sz="800" b="1">
                          <a:solidFill>
                            <a:srgbClr val="060606"/>
                          </a:solidFill>
                          <a:latin typeface="Helvetica"/>
                        </a:rPr>
                        <a:t>F-10-36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Existence et tenue des outils de suivi comptable et financier (OSF)</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Contrôle sur place et sur pièce.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 tableau 1, ligne 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2F2F2"/>
                    </a:solidFill>
                  </a:tcPr>
                </a:tc>
                <a:tc>
                  <a:txBody>
                    <a:bodyPr/>
                    <a:lstStyle/>
                    <a:p>
                      <a:pPr marL="0" indent="0" lvl="0">
                        <a:buNone/>
                      </a:pPr>
                      <a:r>
                        <a:rPr sz="800" b="1">
                          <a:solidFill>
                            <a:srgbClr val="060606"/>
                          </a:solidFill>
                          <a:latin typeface="Helvetica"/>
                        </a:rPr>
                        <a:t>En attente</a:t>
                      </a:r>
                    </a:p>
                  </a:txBody>
                  <a:tcPr marL="43200" marR="43200" marT="14400" marB="14400" anchor="ctr">
                    <a:solidFill>
                      <a:srgbClr val="FFD966"/>
                    </a:solidFill>
                  </a:tcPr>
                </a:tc>
              </a:tr>
            </a:tbl>
          </a:graphicData>
        </a:graphic>
      </p:graphicFrame>
      <p:graphicFrame>
        <p:nvGraphicFramePr>
          <p:cNvPr id="29" name="Table 28"/>
          <p:cNvGraphicFramePr>
            <a:graphicFrameLocks noGrp="1"/>
          </p:cNvGraphicFramePr>
          <p:nvPr/>
        </p:nvGraphicFramePr>
        <p:xfrm>
          <a:off x="503999" y="3542951"/>
          <a:ext cx="11232000" cy="151200"/>
        </p:xfrm>
        <a:graphic>
          <a:graphicData uri="http://schemas.openxmlformats.org/drawingml/2006/table">
            <a:tbl>
              <a:tblPr firstRow="0" bandRow="0">
                <a:tableStyleId>{5C22544A-7EE6-4342-B048-85BDC9FD1C3A}</a:tableStyleId>
              </a:tblPr>
              <a:tblGrid>
                <a:gridCol w="792000"/>
                <a:gridCol w="936000"/>
                <a:gridCol w="9504000"/>
              </a:tblGrid>
              <a:tr h="151200">
                <a:tc>
                  <a:txBody>
                    <a:bodyPr/>
                    <a:lstStyle/>
                    <a:p>
                      <a:r>
                        <a:rPr sz="700" b="1">
                          <a:solidFill>
                            <a:srgbClr val="060606"/>
                          </a:solidFill>
                          <a:latin typeface="Helvetica"/>
                        </a:rPr>
                        <a:t>Code couleur</a:t>
                      </a:r>
                    </a:p>
                  </a:txBody>
                  <a:tcPr marL="28800" marR="28800" marT="3600" marB="3600" anchor="ctr">
                    <a:solidFill>
                      <a:srgbClr val="FFFFFF"/>
                    </a:solidFill>
                  </a:tcPr>
                </a:tc>
                <a:tc>
                  <a:txBody>
                    <a:bodyPr/>
                    <a:lstStyle/>
                    <a:p>
                      <a:r>
                        <a:rPr sz="700" b="1">
                          <a:solidFill>
                            <a:srgbClr val="060606"/>
                          </a:solidFill>
                          <a:latin typeface="Helvetica"/>
                        </a:rPr>
                        <a:t>En attente</a:t>
                      </a:r>
                    </a:p>
                  </a:txBody>
                  <a:tcPr marL="28800" marR="28800" marT="3600" marB="3600" anchor="ctr">
                    <a:solidFill>
                      <a:srgbClr val="FFD966"/>
                    </a:solidFill>
                  </a:tcPr>
                </a:tc>
                <a:tc>
                  <a:txBody>
                    <a:bodyPr/>
                    <a:lstStyle/>
                    <a:p>
                      <a:r>
                        <a:rPr sz="700" b="0">
                          <a:solidFill>
                            <a:srgbClr val="060606"/>
                          </a:solidFill>
                          <a:latin typeface="Helvetica"/>
                        </a:rPr>
                        <a:t>document du FPPN attendu</a:t>
                      </a:r>
                    </a:p>
                  </a:txBody>
                  <a:tcPr marL="28800" marR="28800" marT="3600" marB="3600" anchor="ctr">
                    <a:solidFill>
                      <a:srgbClr val="FFFFFF"/>
                    </a:solidFill>
                  </a:tcPr>
                </a:tc>
              </a:tr>
            </a:tbl>
          </a:graphicData>
        </a:graphic>
      </p:graphicFrame>
      <p:sp>
        <p:nvSpPr>
          <p:cNvPr id="30" name="TextBox 29"/>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Textes cités</a:t>
            </a:r>
          </a:p>
        </p:txBody>
      </p:sp>
      <p:sp>
        <p:nvSpPr>
          <p:cNvPr id="31" name="TextBox 30"/>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FNG : fonds national de garantie</a:t>
            </a:r>
          </a:p>
        </p:txBody>
      </p:sp>
    </p:spTree>
    <p:extLst>
      <p:ext uri="{BB962C8B-B14F-4D97-AF65-F5344CB8AC3E}">
        <p14:creationId xmlns:p14="http://schemas.microsoft.com/office/powerpoint/2010/main" val="3114382158"/>
      </p:ext>
    </p:extLst>
  </p:cSld>
  <p:clrMapOvr>
    <a:masterClrMapping/>
  </p:clrMapOvr>
  <p:transition>
    <p:fade/>
  </p:transition>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Tableau des formules (F-10-90 à F-10-95)</a:t>
            </a:r>
          </a:p>
        </p:txBody>
      </p:sp>
      <p:graphicFrame>
        <p:nvGraphicFramePr>
          <p:cNvPr id="28" name="Table 27"/>
          <p:cNvGraphicFramePr>
            <a:graphicFrameLocks noGrp="1"/>
          </p:cNvGraphicFramePr>
          <p:nvPr/>
        </p:nvGraphicFramePr>
        <p:xfrm>
          <a:off x="503999" y="720000"/>
          <a:ext cx="11231998" cy="2354041"/>
        </p:xfrm>
        <a:graphic>
          <a:graphicData uri="http://schemas.openxmlformats.org/drawingml/2006/table">
            <a:tbl>
              <a:tblPr firstRow="0" bandRow="0">
                <a:tableStyleId>{5940675A-B579-460E-94D1-54222C63F5DA}</a:tableStyleId>
              </a:tblPr>
              <a:tblGrid>
                <a:gridCol w="684000"/>
                <a:gridCol w="1655999"/>
                <a:gridCol w="3384000"/>
                <a:gridCol w="1944000"/>
                <a:gridCol w="2015999"/>
                <a:gridCol w="1548000"/>
              </a:tblGrid>
              <a:tr h="301455">
                <a:tc>
                  <a:txBody>
                    <a:bodyPr/>
                    <a:lstStyle/>
                    <a:p>
                      <a:pPr marL="0" indent="0" lvl="0">
                        <a:buNone/>
                      </a:pPr>
                      <a:r>
                        <a:rPr sz="800" b="1">
                          <a:solidFill>
                            <a:srgbClr val="FFFFFF"/>
                          </a:solidFill>
                          <a:latin typeface="Helvetica"/>
                        </a:rPr>
                        <a:t>Identifiant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Indicateur</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Formule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Source de la méthode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Méthode du FPPN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Statut</a:t>
                      </a:r>
                    </a:p>
                  </a:txBody>
                  <a:tcPr marL="43200" marR="43200" marT="14400" marB="14400" anchor="ctr">
                    <a:solidFill>
                      <a:srgbClr val="060606"/>
                    </a:solidFill>
                  </a:tcPr>
                </a:tc>
              </a:tr>
              <a:tr h="301455">
                <a:tc>
                  <a:txBody>
                    <a:bodyPr/>
                    <a:lstStyle/>
                    <a:p>
                      <a:pPr marL="0" indent="0" lvl="0">
                        <a:buNone/>
                      </a:pPr>
                      <a:r>
                        <a:rPr sz="800" b="1">
                          <a:solidFill>
                            <a:srgbClr val="060606"/>
                          </a:solidFill>
                          <a:latin typeface="Helvetica"/>
                        </a:rPr>
                        <a:t>F-10-90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Excédent par risque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Cotisations du risque moins ses prestations et sa part des frais, répartie au prorata des cotisations.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 § 1.1.1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FFFFF"/>
                    </a:solidFill>
                  </a:tcPr>
                </a:tc>
                <a:tc>
                  <a:txBody>
                    <a:bodyPr/>
                    <a:lstStyle/>
                    <a:p>
                      <a:pPr marL="0" indent="0" lvl="0">
                        <a:buNone/>
                      </a:pPr>
                      <a:r>
                        <a:rPr sz="800" b="1">
                          <a:solidFill>
                            <a:srgbClr val="060606"/>
                          </a:solidFill>
                          <a:latin typeface="Helvetica"/>
                        </a:rPr>
                        <a:t>Divergent, justifié</a:t>
                      </a:r>
                    </a:p>
                  </a:txBody>
                  <a:tcPr marL="43200" marR="43200" marT="14400" marB="14400" anchor="ctr">
                    <a:solidFill>
                      <a:srgbClr val="EFAC62"/>
                    </a:solidFill>
                  </a:tcPr>
                </a:tc>
              </a:tr>
              <a:tr h="301455">
                <a:tc>
                  <a:txBody>
                    <a:bodyPr/>
                    <a:lstStyle/>
                    <a:p>
                      <a:pPr marL="0" indent="0" lvl="0">
                        <a:buNone/>
                      </a:pPr>
                      <a:r>
                        <a:rPr sz="800" b="1">
                          <a:solidFill>
                            <a:srgbClr val="060606"/>
                          </a:solidFill>
                          <a:latin typeface="Helvetica"/>
                        </a:rPr>
                        <a:t>F-10-91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Affectation de l'excédent</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Dotation à la réserve obligatoire comparée au minimum exigé.</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2F2F2"/>
                    </a:solidFill>
                  </a:tcPr>
                </a:tc>
                <a:tc>
                  <a:txBody>
                    <a:bodyPr/>
                    <a:lstStyle/>
                    <a:p>
                      <a:pPr marL="0" indent="0" lvl="0">
                        <a:buNone/>
                      </a:pPr>
                      <a:r>
                        <a:rPr sz="800" b="1">
                          <a:solidFill>
                            <a:srgbClr val="060606"/>
                          </a:solidFill>
                          <a:latin typeface="Helvetica"/>
                        </a:rPr>
                        <a:t>Conforme au texte</a:t>
                      </a:r>
                    </a:p>
                  </a:txBody>
                  <a:tcPr marL="43200" marR="43200" marT="14400" marB="14400" anchor="ctr">
                    <a:solidFill>
                      <a:srgbClr val="70AD47"/>
                    </a:solidFill>
                  </a:tcPr>
                </a:tc>
              </a:tr>
              <a:tr h="301455">
                <a:tc>
                  <a:txBody>
                    <a:bodyPr/>
                    <a:lstStyle/>
                    <a:p>
                      <a:pPr marL="0" indent="0" lvl="0">
                        <a:buNone/>
                      </a:pPr>
                      <a:r>
                        <a:rPr sz="800" b="1">
                          <a:solidFill>
                            <a:srgbClr val="060606"/>
                          </a:solidFill>
                          <a:latin typeface="Helvetica"/>
                        </a:rPr>
                        <a:t>F-10-92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Montant à combler</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Montant qui ramène le ratio sur la borne la plus proche du texte, les autres termes restant inchangés.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 IAS 19, § 145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FFFFF"/>
                    </a:solidFill>
                  </a:tcPr>
                </a:tc>
                <a:tc>
                  <a:txBody>
                    <a:bodyPr/>
                    <a:lstStyle/>
                    <a:p>
                      <a:pPr marL="0" indent="0" lvl="0">
                        <a:buNone/>
                      </a:pPr>
                      <a:r>
                        <a:rPr sz="800" b="1">
                          <a:solidFill>
                            <a:srgbClr val="060606"/>
                          </a:solidFill>
                          <a:latin typeface="Helvetica"/>
                        </a:rPr>
                        <a:t>Conforme au texte</a:t>
                      </a:r>
                    </a:p>
                  </a:txBody>
                  <a:tcPr marL="43200" marR="43200" marT="14400" marB="14400" anchor="ctr">
                    <a:solidFill>
                      <a:srgbClr val="70AD47"/>
                    </a:solidFill>
                  </a:tcPr>
                </a:tc>
              </a:tr>
              <a:tr h="423383">
                <a:tc>
                  <a:txBody>
                    <a:bodyPr/>
                    <a:lstStyle/>
                    <a:p>
                      <a:pPr marL="0" indent="0" lvl="0">
                        <a:buNone/>
                      </a:pPr>
                      <a:r>
                        <a:rPr sz="800" b="1">
                          <a:solidFill>
                            <a:srgbClr val="060606"/>
                          </a:solidFill>
                          <a:latin typeface="Helvetica"/>
                        </a:rPr>
                        <a:t>F-10-93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Qualification des écarts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Structurel si le ratio est non conforme toutes les années mesurées. Récurrent s'il l'est au moins deux exercices de 2022 à 2025.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Règlement n° 07/2009, art. 84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2F2F2"/>
                    </a:solidFill>
                  </a:tcPr>
                </a:tc>
                <a:tc>
                  <a:txBody>
                    <a:bodyPr/>
                    <a:lstStyle/>
                    <a:p>
                      <a:pPr marL="0" indent="0" lvl="0">
                        <a:buNone/>
                      </a:pPr>
                      <a:r>
                        <a:rPr sz="800" b="1">
                          <a:solidFill>
                            <a:srgbClr val="060606"/>
                          </a:solidFill>
                          <a:latin typeface="Helvetica"/>
                        </a:rPr>
                        <a:t>Conforme au texte</a:t>
                      </a:r>
                    </a:p>
                  </a:txBody>
                  <a:tcPr marL="43200" marR="43200" marT="14400" marB="14400" anchor="ctr">
                    <a:solidFill>
                      <a:srgbClr val="70AD47"/>
                    </a:solidFill>
                  </a:tcPr>
                </a:tc>
              </a:tr>
              <a:tr h="423383">
                <a:tc>
                  <a:txBody>
                    <a:bodyPr/>
                    <a:lstStyle/>
                    <a:p>
                      <a:pPr marL="0" indent="0" lvl="0">
                        <a:buNone/>
                      </a:pPr>
                      <a:r>
                        <a:rPr sz="800" b="1">
                          <a:solidFill>
                            <a:srgbClr val="060606"/>
                          </a:solidFill>
                          <a:latin typeface="Helvetica"/>
                        </a:rPr>
                        <a:t>F-10-94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Montant d'équilibre d'un levier</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Montant du levier (cotisations, prestations, charges, réserve, placements, fonds propres) qui ramène un ratio sur sa borne.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Statuts du FPPN. IAS 19, § 145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FFFFF"/>
                    </a:solidFill>
                  </a:tcPr>
                </a:tc>
                <a:tc>
                  <a:txBody>
                    <a:bodyPr/>
                    <a:lstStyle/>
                    <a:p>
                      <a:pPr marL="0" indent="0" lvl="0">
                        <a:buNone/>
                      </a:pPr>
                      <a:r>
                        <a:rPr sz="800" b="1">
                          <a:solidFill>
                            <a:srgbClr val="060606"/>
                          </a:solidFill>
                          <a:latin typeface="Helvetica"/>
                        </a:rPr>
                        <a:t>Conforme au texte</a:t>
                      </a:r>
                    </a:p>
                  </a:txBody>
                  <a:tcPr marL="43200" marR="43200" marT="14400" marB="14400" anchor="ctr">
                    <a:solidFill>
                      <a:srgbClr val="70AD47"/>
                    </a:solidFill>
                  </a:tcPr>
                </a:tc>
              </a:tr>
              <a:tr h="301455">
                <a:tc>
                  <a:txBody>
                    <a:bodyPr/>
                    <a:lstStyle/>
                    <a:p>
                      <a:pPr marL="0" indent="0" lvl="0">
                        <a:buNone/>
                      </a:pPr>
                      <a:r>
                        <a:rPr sz="800" b="1">
                          <a:solidFill>
                            <a:srgbClr val="060606"/>
                          </a:solidFill>
                          <a:latin typeface="Helvetica"/>
                        </a:rPr>
                        <a:t>F-10-95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Effet d'un choc de 100 000 000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Sens de l'effet d'un choc enregistré en partie double sur chaque ratio de l'exercice de référence.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IFRS 17, § 128. IAS 19, § 145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2F2F2"/>
                    </a:solidFill>
                  </a:tcPr>
                </a:tc>
                <a:tc>
                  <a:txBody>
                    <a:bodyPr/>
                    <a:lstStyle/>
                    <a:p>
                      <a:pPr marL="0" indent="0" lvl="0">
                        <a:buNone/>
                      </a:pPr>
                      <a:r>
                        <a:rPr sz="800" b="1">
                          <a:solidFill>
                            <a:srgbClr val="060606"/>
                          </a:solidFill>
                          <a:latin typeface="Helvetica"/>
                        </a:rPr>
                        <a:t>Sans texte applicable</a:t>
                      </a:r>
                    </a:p>
                  </a:txBody>
                  <a:tcPr marL="43200" marR="43200" marT="14400" marB="14400" anchor="ctr">
                    <a:solidFill>
                      <a:srgbClr val="BBBCBC"/>
                    </a:solidFill>
                  </a:tcPr>
                </a:tc>
              </a:tr>
            </a:tbl>
          </a:graphicData>
        </a:graphic>
      </p:graphicFrame>
      <p:graphicFrame>
        <p:nvGraphicFramePr>
          <p:cNvPr id="29" name="Table 28"/>
          <p:cNvGraphicFramePr>
            <a:graphicFrameLocks noGrp="1"/>
          </p:cNvGraphicFramePr>
          <p:nvPr/>
        </p:nvGraphicFramePr>
        <p:xfrm>
          <a:off x="503999" y="3282025"/>
          <a:ext cx="11232000" cy="151200"/>
        </p:xfrm>
        <a:graphic>
          <a:graphicData uri="http://schemas.openxmlformats.org/drawingml/2006/table">
            <a:tbl>
              <a:tblPr firstRow="0" bandRow="0">
                <a:tableStyleId>{5C22544A-7EE6-4342-B048-85BDC9FD1C3A}</a:tableStyleId>
              </a:tblPr>
              <a:tblGrid>
                <a:gridCol w="792000"/>
                <a:gridCol w="936000"/>
                <a:gridCol w="2544000"/>
                <a:gridCol w="936000"/>
                <a:gridCol w="2544000"/>
                <a:gridCol w="936000"/>
                <a:gridCol w="2544000"/>
              </a:tblGrid>
              <a:tr h="151200">
                <a:tc>
                  <a:txBody>
                    <a:bodyPr/>
                    <a:lstStyle/>
                    <a:p>
                      <a:r>
                        <a:rPr sz="700" b="1">
                          <a:solidFill>
                            <a:srgbClr val="060606"/>
                          </a:solidFill>
                          <a:latin typeface="Helvetica"/>
                        </a:rPr>
                        <a:t>Code couleur</a:t>
                      </a:r>
                    </a:p>
                  </a:txBody>
                  <a:tcPr marL="28800" marR="28800" marT="3600" marB="3600" anchor="ctr">
                    <a:solidFill>
                      <a:srgbClr val="FFFFFF"/>
                    </a:solidFill>
                  </a:tcPr>
                </a:tc>
                <a:tc>
                  <a:txBody>
                    <a:bodyPr/>
                    <a:lstStyle/>
                    <a:p>
                      <a:r>
                        <a:rPr sz="700" b="1">
                          <a:solidFill>
                            <a:srgbClr val="060606"/>
                          </a:solidFill>
                          <a:latin typeface="Helvetica"/>
                        </a:rPr>
                        <a:t>Divergent</a:t>
                      </a:r>
                    </a:p>
                  </a:txBody>
                  <a:tcPr marL="28800" marR="28800" marT="3600" marB="3600" anchor="ctr">
                    <a:solidFill>
                      <a:srgbClr val="EFAC62"/>
                    </a:solidFill>
                  </a:tcPr>
                </a:tc>
                <a:tc>
                  <a:txBody>
                    <a:bodyPr/>
                    <a:lstStyle/>
                    <a:p>
                      <a:r>
                        <a:rPr sz="700" b="0">
                          <a:solidFill>
                            <a:srgbClr val="060606"/>
                          </a:solidFill>
                          <a:latin typeface="Helvetica"/>
                        </a:rPr>
                        <a:t>formule différente du texte</a:t>
                      </a:r>
                    </a:p>
                  </a:txBody>
                  <a:tcPr marL="28800" marR="28800" marT="3600" marB="3600" anchor="ctr">
                    <a:solidFill>
                      <a:srgbClr val="FFFFFF"/>
                    </a:solidFill>
                  </a:tcPr>
                </a:tc>
                <a:tc>
                  <a:txBody>
                    <a:bodyPr/>
                    <a:lstStyle/>
                    <a:p>
                      <a:r>
                        <a:rPr sz="700" b="1">
                          <a:solidFill>
                            <a:srgbClr val="060606"/>
                          </a:solidFill>
                          <a:latin typeface="Helvetica"/>
                        </a:rPr>
                        <a:t>Conforme</a:t>
                      </a:r>
                    </a:p>
                  </a:txBody>
                  <a:tcPr marL="28800" marR="28800" marT="3600" marB="3600" anchor="ctr">
                    <a:solidFill>
                      <a:srgbClr val="70AD47"/>
                    </a:solidFill>
                  </a:tcPr>
                </a:tc>
                <a:tc>
                  <a:txBody>
                    <a:bodyPr/>
                    <a:lstStyle/>
                    <a:p>
                      <a:r>
                        <a:rPr sz="700" b="0">
                          <a:solidFill>
                            <a:srgbClr val="060606"/>
                          </a:solidFill>
                          <a:latin typeface="Helvetica"/>
                        </a:rPr>
                        <a:t>norme respectée</a:t>
                      </a:r>
                    </a:p>
                  </a:txBody>
                  <a:tcPr marL="28800" marR="28800" marT="3600" marB="3600" anchor="ctr">
                    <a:solidFill>
                      <a:srgbClr val="FFFFFF"/>
                    </a:solidFill>
                  </a:tcPr>
                </a:tc>
                <a:tc>
                  <a:txBody>
                    <a:bodyPr/>
                    <a:lstStyle/>
                    <a:p>
                      <a:r>
                        <a:rPr sz="700" b="1">
                          <a:solidFill>
                            <a:srgbClr val="060606"/>
                          </a:solidFill>
                          <a:latin typeface="Helvetica"/>
                        </a:rPr>
                        <a:t>Sans texte applicable</a:t>
                      </a:r>
                    </a:p>
                  </a:txBody>
                  <a:tcPr marL="28800" marR="28800" marT="3600" marB="3600" anchor="ctr">
                    <a:solidFill>
                      <a:srgbClr val="BBBCBC"/>
                    </a:solidFill>
                  </a:tcPr>
                </a:tc>
                <a:tc>
                  <a:txBody>
                    <a:bodyPr/>
                    <a:lstStyle/>
                    <a:p>
                      <a:r>
                        <a:rPr sz="700" b="0">
                          <a:solidFill>
                            <a:srgbClr val="060606"/>
                          </a:solidFill>
                          <a:latin typeface="Helvetica"/>
                        </a:rPr>
                        <a:t>aucun texte ne fixe la règle</a:t>
                      </a:r>
                    </a:p>
                  </a:txBody>
                  <a:tcPr marL="28800" marR="28800" marT="3600" marB="3600" anchor="ctr">
                    <a:solidFill>
                      <a:srgbClr val="FFFFFF"/>
                    </a:solidFill>
                  </a:tcPr>
                </a:tc>
              </a:tr>
            </a:tbl>
          </a:graphicData>
        </a:graphic>
      </p:graphicFrame>
      <p:sp>
        <p:nvSpPr>
          <p:cNvPr id="30" name="TextBox 29"/>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Textes cités</a:t>
            </a:r>
          </a:p>
        </p:txBody>
      </p:sp>
      <p:sp>
        <p:nvSpPr>
          <p:cNvPr id="31" name="TextBox 30"/>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IAS, IFRS : normes comptables internationales</a:t>
            </a:r>
          </a:p>
        </p:txBody>
      </p:sp>
    </p:spTree>
    <p:extLst>
      <p:ext uri="{BB962C8B-B14F-4D97-AF65-F5344CB8AC3E}">
        <p14:creationId xmlns:p14="http://schemas.microsoft.com/office/powerpoint/2010/main" val="1867855288"/>
      </p:ext>
    </p:extLst>
  </p:cSld>
  <p:clrMapOvr>
    <a:masterClrMapping/>
  </p:clrMapOvr>
  <p:transition>
    <p:fade/>
  </p:transition>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Tableau des formules (F-10-96 à F-11-03)</a:t>
            </a:r>
          </a:p>
        </p:txBody>
      </p:sp>
      <p:graphicFrame>
        <p:nvGraphicFramePr>
          <p:cNvPr id="28" name="Table 27"/>
          <p:cNvGraphicFramePr>
            <a:graphicFrameLocks noGrp="1"/>
          </p:cNvGraphicFramePr>
          <p:nvPr/>
        </p:nvGraphicFramePr>
        <p:xfrm>
          <a:off x="503999" y="720000"/>
          <a:ext cx="11231998" cy="2354514"/>
        </p:xfrm>
        <a:graphic>
          <a:graphicData uri="http://schemas.openxmlformats.org/drawingml/2006/table">
            <a:tbl>
              <a:tblPr firstRow="0" bandRow="0">
                <a:tableStyleId>{5940675A-B579-460E-94D1-54222C63F5DA}</a:tableStyleId>
              </a:tblPr>
              <a:tblGrid>
                <a:gridCol w="684000"/>
                <a:gridCol w="1655999"/>
                <a:gridCol w="3384000"/>
                <a:gridCol w="1944000"/>
                <a:gridCol w="2015999"/>
                <a:gridCol w="1548000"/>
              </a:tblGrid>
              <a:tr h="301455">
                <a:tc>
                  <a:txBody>
                    <a:bodyPr/>
                    <a:lstStyle/>
                    <a:p>
                      <a:pPr marL="0" indent="0" lvl="0">
                        <a:buNone/>
                      </a:pPr>
                      <a:r>
                        <a:rPr sz="800" b="1">
                          <a:solidFill>
                            <a:srgbClr val="FFFFFF"/>
                          </a:solidFill>
                          <a:latin typeface="Helvetica"/>
                        </a:rPr>
                        <a:t>Identifiant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Indicateur</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Formule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Source de la méthode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Méthode du FPPN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Statut</a:t>
                      </a:r>
                    </a:p>
                  </a:txBody>
                  <a:tcPr marL="43200" marR="43200" marT="14400" marB="14400" anchor="ctr">
                    <a:solidFill>
                      <a:srgbClr val="060606"/>
                    </a:solidFill>
                  </a:tcPr>
                </a:tc>
              </a:tr>
              <a:tr h="423383">
                <a:tc>
                  <a:txBody>
                    <a:bodyPr/>
                    <a:lstStyle/>
                    <a:p>
                      <a:pPr marL="0" indent="0" lvl="0">
                        <a:buNone/>
                      </a:pPr>
                      <a:r>
                        <a:rPr sz="800" b="1">
                          <a:solidFill>
                            <a:srgbClr val="060606"/>
                          </a:solidFill>
                          <a:latin typeface="Helvetica"/>
                        </a:rPr>
                        <a:t>F-10-96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Faisabilité conjointe des normes de flux</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Les autres éléments du résultat doivent être une charge d'au moins 3 % des cotisations pour respecter ensemble sinistralité, coût par unité prestée et excédent net.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FFFFF"/>
                    </a:solidFill>
                  </a:tcPr>
                </a:tc>
                <a:tc>
                  <a:txBody>
                    <a:bodyPr/>
                    <a:lstStyle/>
                    <a:p>
                      <a:pPr marL="0" indent="0" lvl="0">
                        <a:buNone/>
                      </a:pPr>
                      <a:r>
                        <a:rPr sz="800" b="1">
                          <a:solidFill>
                            <a:srgbClr val="060606"/>
                          </a:solidFill>
                          <a:latin typeface="Helvetica"/>
                        </a:rPr>
                        <a:t>Conforme au texte</a:t>
                      </a:r>
                    </a:p>
                  </a:txBody>
                  <a:tcPr marL="43200" marR="43200" marT="14400" marB="14400" anchor="ctr">
                    <a:solidFill>
                      <a:srgbClr val="70AD47"/>
                    </a:solidFill>
                  </a:tcPr>
                </a:tc>
              </a:tr>
              <a:tr h="423383">
                <a:tc>
                  <a:txBody>
                    <a:bodyPr/>
                    <a:lstStyle/>
                    <a:p>
                      <a:pPr marL="0" indent="0" lvl="0">
                        <a:buNone/>
                      </a:pPr>
                      <a:r>
                        <a:rPr sz="800" b="1">
                          <a:solidFill>
                            <a:srgbClr val="060606"/>
                          </a:solidFill>
                          <a:latin typeface="Helvetica"/>
                        </a:rPr>
                        <a:t>F-10-97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Inflation médicale pondérée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Moyenne des variations annuelles des sous-indices de prix de la santé, pondérée par les prestations maladie du FPPN de 2025.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ANStat. BCEAO</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2F2F2"/>
                    </a:solidFill>
                  </a:tcPr>
                </a:tc>
                <a:tc>
                  <a:txBody>
                    <a:bodyPr/>
                    <a:lstStyle/>
                    <a:p>
                      <a:pPr marL="0" indent="0" lvl="0">
                        <a:buNone/>
                      </a:pPr>
                      <a:r>
                        <a:rPr sz="800" b="1">
                          <a:solidFill>
                            <a:srgbClr val="060606"/>
                          </a:solidFill>
                          <a:latin typeface="Helvetica"/>
                        </a:rPr>
                        <a:t>Sans texte applicable</a:t>
                      </a:r>
                    </a:p>
                  </a:txBody>
                  <a:tcPr marL="43200" marR="43200" marT="14400" marB="14400" anchor="ctr">
                    <a:solidFill>
                      <a:srgbClr val="BBBCBC"/>
                    </a:solidFill>
                  </a:tcPr>
                </a:tc>
              </a:tr>
              <a:tr h="423383">
                <a:tc>
                  <a:txBody>
                    <a:bodyPr/>
                    <a:lstStyle/>
                    <a:p>
                      <a:pPr marL="0" indent="0" lvl="0">
                        <a:buNone/>
                      </a:pPr>
                      <a:r>
                        <a:rPr sz="800" b="1">
                          <a:solidFill>
                            <a:srgbClr val="060606"/>
                          </a:solidFill>
                          <a:latin typeface="Helvetica"/>
                        </a:rPr>
                        <a:t>F-10-98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Rendement comparé au marché</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Taux brut de rentabilité des placements comparé au taux moyen des dépôts à terme de Côte d'Ivoire. Produit possible du solde non rémunéré.</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 BCEAO</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FFFFF"/>
                    </a:solidFill>
                  </a:tcPr>
                </a:tc>
                <a:tc>
                  <a:txBody>
                    <a:bodyPr/>
                    <a:lstStyle/>
                    <a:p>
                      <a:pPr marL="0" indent="0" lvl="0">
                        <a:buNone/>
                      </a:pPr>
                      <a:r>
                        <a:rPr sz="800" b="1">
                          <a:solidFill>
                            <a:srgbClr val="060606"/>
                          </a:solidFill>
                          <a:latin typeface="Helvetica"/>
                        </a:rPr>
                        <a:t>Conforme au texte</a:t>
                      </a:r>
                    </a:p>
                  </a:txBody>
                  <a:tcPr marL="43200" marR="43200" marT="14400" marB="14400" anchor="ctr">
                    <a:solidFill>
                      <a:srgbClr val="70AD47"/>
                    </a:solidFill>
                  </a:tcPr>
                </a:tc>
              </a:tr>
              <a:tr h="301455">
                <a:tc>
                  <a:txBody>
                    <a:bodyPr/>
                    <a:lstStyle/>
                    <a:p>
                      <a:pPr marL="0" indent="0" lvl="0">
                        <a:buNone/>
                      </a:pPr>
                      <a:r>
                        <a:rPr sz="800" b="1">
                          <a:solidFill>
                            <a:srgbClr val="060606"/>
                          </a:solidFill>
                          <a:latin typeface="Helvetica"/>
                        </a:rPr>
                        <a:t>F-11-01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Espérance de vie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Nombre moyen d'années restant à vivre à l'âge x selon la table.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Code CIMA, art. 338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Sans objet</a:t>
                      </a:r>
                    </a:p>
                  </a:txBody>
                  <a:tcPr marL="43200" marR="43200" marT="14400" marB="14400" anchor="ctr">
                    <a:solidFill>
                      <a:srgbClr val="F2F2F2"/>
                    </a:solidFill>
                  </a:tcPr>
                </a:tc>
                <a:tc>
                  <a:txBody>
                    <a:bodyPr/>
                    <a:lstStyle/>
                    <a:p>
                      <a:pPr marL="0" indent="0" lvl="0">
                        <a:buNone/>
                      </a:pPr>
                      <a:r>
                        <a:rPr sz="800" b="1">
                          <a:solidFill>
                            <a:srgbClr val="060606"/>
                          </a:solidFill>
                          <a:latin typeface="Helvetica"/>
                        </a:rPr>
                        <a:t>Conforme au texte</a:t>
                      </a:r>
                    </a:p>
                  </a:txBody>
                  <a:tcPr marL="43200" marR="43200" marT="14400" marB="14400" anchor="ctr">
                    <a:solidFill>
                      <a:srgbClr val="70AD47"/>
                    </a:solidFill>
                  </a:tcPr>
                </a:tc>
              </a:tr>
              <a:tr h="301455">
                <a:tc>
                  <a:txBody>
                    <a:bodyPr/>
                    <a:lstStyle/>
                    <a:p>
                      <a:pPr marL="0" indent="0" lvl="0">
                        <a:buNone/>
                      </a:pPr>
                      <a:r>
                        <a:rPr sz="800" b="1">
                          <a:solidFill>
                            <a:srgbClr val="060606"/>
                          </a:solidFill>
                          <a:latin typeface="Helvetica"/>
                        </a:rPr>
                        <a:t>F-11-02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Valeur d'une rente viagère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Somme actualisée des paiements de 1 par an tant que la personne est en vie.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Code CIMA, art. 338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Sans objet</a:t>
                      </a:r>
                    </a:p>
                  </a:txBody>
                  <a:tcPr marL="43200" marR="43200" marT="14400" marB="14400" anchor="ctr">
                    <a:solidFill>
                      <a:srgbClr val="FFFFFF"/>
                    </a:solidFill>
                  </a:tcPr>
                </a:tc>
                <a:tc>
                  <a:txBody>
                    <a:bodyPr/>
                    <a:lstStyle/>
                    <a:p>
                      <a:pPr marL="0" indent="0" lvl="0">
                        <a:buNone/>
                      </a:pPr>
                      <a:r>
                        <a:rPr sz="800" b="1">
                          <a:solidFill>
                            <a:srgbClr val="060606"/>
                          </a:solidFill>
                          <a:latin typeface="Helvetica"/>
                        </a:rPr>
                        <a:t>Conforme au texte</a:t>
                      </a:r>
                    </a:p>
                  </a:txBody>
                  <a:tcPr marL="43200" marR="43200" marT="14400" marB="14400" anchor="ctr">
                    <a:solidFill>
                      <a:srgbClr val="70AD47"/>
                    </a:solidFill>
                  </a:tcPr>
                </a:tc>
              </a:tr>
              <a:tr h="180000">
                <a:tc>
                  <a:txBody>
                    <a:bodyPr/>
                    <a:lstStyle/>
                    <a:p>
                      <a:pPr marL="0" indent="0" lvl="0">
                        <a:buNone/>
                      </a:pPr>
                      <a:r>
                        <a:rPr sz="800" b="1">
                          <a:solidFill>
                            <a:srgbClr val="060606"/>
                          </a:solidFill>
                          <a:latin typeface="Helvetica"/>
                        </a:rPr>
                        <a:t>F-11-03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Probabilité de décès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Probabilité de mourir entre x et x + 1 ans.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Code CIMA, art. 338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Sans objet</a:t>
                      </a:r>
                    </a:p>
                  </a:txBody>
                  <a:tcPr marL="43200" marR="43200" marT="14400" marB="14400" anchor="ctr">
                    <a:solidFill>
                      <a:srgbClr val="F2F2F2"/>
                    </a:solidFill>
                  </a:tcPr>
                </a:tc>
                <a:tc>
                  <a:txBody>
                    <a:bodyPr/>
                    <a:lstStyle/>
                    <a:p>
                      <a:pPr marL="0" indent="0" lvl="0">
                        <a:buNone/>
                      </a:pPr>
                      <a:r>
                        <a:rPr sz="800" b="1">
                          <a:solidFill>
                            <a:srgbClr val="060606"/>
                          </a:solidFill>
                          <a:latin typeface="Helvetica"/>
                        </a:rPr>
                        <a:t>Conforme au texte</a:t>
                      </a:r>
                    </a:p>
                  </a:txBody>
                  <a:tcPr marL="43200" marR="43200" marT="14400" marB="14400" anchor="ctr">
                    <a:solidFill>
                      <a:srgbClr val="70AD47"/>
                    </a:solidFill>
                  </a:tcPr>
                </a:tc>
              </a:tr>
            </a:tbl>
          </a:graphicData>
        </a:graphic>
      </p:graphicFrame>
      <p:graphicFrame>
        <p:nvGraphicFramePr>
          <p:cNvPr id="29" name="Table 28"/>
          <p:cNvGraphicFramePr>
            <a:graphicFrameLocks noGrp="1"/>
          </p:cNvGraphicFramePr>
          <p:nvPr/>
        </p:nvGraphicFramePr>
        <p:xfrm>
          <a:off x="503999" y="3282531"/>
          <a:ext cx="11232000" cy="151200"/>
        </p:xfrm>
        <a:graphic>
          <a:graphicData uri="http://schemas.openxmlformats.org/drawingml/2006/table">
            <a:tbl>
              <a:tblPr firstRow="0" bandRow="0">
                <a:tableStyleId>{5C22544A-7EE6-4342-B048-85BDC9FD1C3A}</a:tableStyleId>
              </a:tblPr>
              <a:tblGrid>
                <a:gridCol w="792000"/>
                <a:gridCol w="936000"/>
                <a:gridCol w="4284000"/>
                <a:gridCol w="936000"/>
                <a:gridCol w="4284000"/>
              </a:tblGrid>
              <a:tr h="151200">
                <a:tc>
                  <a:txBody>
                    <a:bodyPr/>
                    <a:lstStyle/>
                    <a:p>
                      <a:r>
                        <a:rPr sz="700" b="1">
                          <a:solidFill>
                            <a:srgbClr val="060606"/>
                          </a:solidFill>
                          <a:latin typeface="Helvetica"/>
                        </a:rPr>
                        <a:t>Code couleur</a:t>
                      </a:r>
                    </a:p>
                  </a:txBody>
                  <a:tcPr marL="28800" marR="28800" marT="3600" marB="3600" anchor="ctr">
                    <a:solidFill>
                      <a:srgbClr val="FFFFFF"/>
                    </a:solidFill>
                  </a:tcPr>
                </a:tc>
                <a:tc>
                  <a:txBody>
                    <a:bodyPr/>
                    <a:lstStyle/>
                    <a:p>
                      <a:r>
                        <a:rPr sz="700" b="1">
                          <a:solidFill>
                            <a:srgbClr val="060606"/>
                          </a:solidFill>
                          <a:latin typeface="Helvetica"/>
                        </a:rPr>
                        <a:t>Conforme</a:t>
                      </a:r>
                    </a:p>
                  </a:txBody>
                  <a:tcPr marL="28800" marR="28800" marT="3600" marB="3600" anchor="ctr">
                    <a:solidFill>
                      <a:srgbClr val="70AD47"/>
                    </a:solidFill>
                  </a:tcPr>
                </a:tc>
                <a:tc>
                  <a:txBody>
                    <a:bodyPr/>
                    <a:lstStyle/>
                    <a:p>
                      <a:r>
                        <a:rPr sz="700" b="0">
                          <a:solidFill>
                            <a:srgbClr val="060606"/>
                          </a:solidFill>
                          <a:latin typeface="Helvetica"/>
                        </a:rPr>
                        <a:t>norme respectée</a:t>
                      </a:r>
                    </a:p>
                  </a:txBody>
                  <a:tcPr marL="28800" marR="28800" marT="3600" marB="3600" anchor="ctr">
                    <a:solidFill>
                      <a:srgbClr val="FFFFFF"/>
                    </a:solidFill>
                  </a:tcPr>
                </a:tc>
                <a:tc>
                  <a:txBody>
                    <a:bodyPr/>
                    <a:lstStyle/>
                    <a:p>
                      <a:r>
                        <a:rPr sz="700" b="1">
                          <a:solidFill>
                            <a:srgbClr val="060606"/>
                          </a:solidFill>
                          <a:latin typeface="Helvetica"/>
                        </a:rPr>
                        <a:t>Sans texte applicable</a:t>
                      </a:r>
                    </a:p>
                  </a:txBody>
                  <a:tcPr marL="28800" marR="28800" marT="3600" marB="3600" anchor="ctr">
                    <a:solidFill>
                      <a:srgbClr val="BBBCBC"/>
                    </a:solidFill>
                  </a:tcPr>
                </a:tc>
                <a:tc>
                  <a:txBody>
                    <a:bodyPr/>
                    <a:lstStyle/>
                    <a:p>
                      <a:r>
                        <a:rPr sz="700" b="0">
                          <a:solidFill>
                            <a:srgbClr val="060606"/>
                          </a:solidFill>
                          <a:latin typeface="Helvetica"/>
                        </a:rPr>
                        <a:t>aucun texte ne fixe la règle</a:t>
                      </a:r>
                    </a:p>
                  </a:txBody>
                  <a:tcPr marL="28800" marR="28800" marT="3600" marB="3600" anchor="ctr">
                    <a:solidFill>
                      <a:srgbClr val="FFFFFF"/>
                    </a:solidFill>
                  </a:tcPr>
                </a:tc>
              </a:tr>
            </a:tbl>
          </a:graphicData>
        </a:graphic>
      </p:graphicFrame>
      <p:sp>
        <p:nvSpPr>
          <p:cNvPr id="30" name="TextBox 29"/>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Textes cités</a:t>
            </a:r>
          </a:p>
        </p:txBody>
      </p:sp>
      <p:sp>
        <p:nvSpPr>
          <p:cNvPr id="31" name="TextBox 30"/>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CIMA : Conférence interafricaine des marchés d'assurances | BCEAO : Banque centrale des États de l'Afrique de l'Ouest | ANStat : Agence nationale de la statistique de Côte d'Ivoire</a:t>
            </a:r>
          </a:p>
        </p:txBody>
      </p:sp>
    </p:spTree>
    <p:extLst>
      <p:ext uri="{BB962C8B-B14F-4D97-AF65-F5344CB8AC3E}">
        <p14:creationId xmlns:p14="http://schemas.microsoft.com/office/powerpoint/2010/main" val="412103453"/>
      </p:ext>
    </p:extLst>
  </p:cSld>
  <p:clrMapOvr>
    <a:masterClrMapping/>
  </p:clrMapOvr>
  <p:transition>
    <p:fade/>
  </p:transition>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Tableau des formules (F-05-10 à F-03-10)</a:t>
            </a:r>
          </a:p>
        </p:txBody>
      </p:sp>
      <p:graphicFrame>
        <p:nvGraphicFramePr>
          <p:cNvPr id="28" name="Table 27"/>
          <p:cNvGraphicFramePr>
            <a:graphicFrameLocks noGrp="1"/>
          </p:cNvGraphicFramePr>
          <p:nvPr/>
        </p:nvGraphicFramePr>
        <p:xfrm>
          <a:off x="503999" y="720000"/>
          <a:ext cx="11231998" cy="1571603"/>
        </p:xfrm>
        <a:graphic>
          <a:graphicData uri="http://schemas.openxmlformats.org/drawingml/2006/table">
            <a:tbl>
              <a:tblPr firstRow="0" bandRow="0">
                <a:tableStyleId>{5940675A-B579-460E-94D1-54222C63F5DA}</a:tableStyleId>
              </a:tblPr>
              <a:tblGrid>
                <a:gridCol w="684000"/>
                <a:gridCol w="1655999"/>
                <a:gridCol w="3384000"/>
                <a:gridCol w="1944000"/>
                <a:gridCol w="2015999"/>
                <a:gridCol w="1548000"/>
              </a:tblGrid>
              <a:tr h="301455">
                <a:tc>
                  <a:txBody>
                    <a:bodyPr/>
                    <a:lstStyle/>
                    <a:p>
                      <a:pPr marL="0" indent="0" lvl="0">
                        <a:buNone/>
                      </a:pPr>
                      <a:r>
                        <a:rPr sz="800" b="1">
                          <a:solidFill>
                            <a:srgbClr val="FFFFFF"/>
                          </a:solidFill>
                          <a:latin typeface="Helvetica"/>
                        </a:rPr>
                        <a:t>Identifiant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Indicateur</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Formule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Source de la méthode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Méthode du FPPN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Statut</a:t>
                      </a:r>
                    </a:p>
                  </a:txBody>
                  <a:tcPr marL="43200" marR="43200" marT="14400" marB="14400" anchor="ctr">
                    <a:solidFill>
                      <a:srgbClr val="060606"/>
                    </a:solidFill>
                  </a:tcPr>
                </a:tc>
              </a:tr>
              <a:tr h="301455">
                <a:tc>
                  <a:txBody>
                    <a:bodyPr/>
                    <a:lstStyle/>
                    <a:p>
                      <a:pPr marL="0" indent="0" lvl="0">
                        <a:buNone/>
                      </a:pPr>
                      <a:r>
                        <a:rPr sz="800" b="1">
                          <a:solidFill>
                            <a:srgbClr val="060606"/>
                          </a:solidFill>
                          <a:latin typeface="Helvetica"/>
                        </a:rPr>
                        <a:t>F-05-10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Mortalité brute des membres participants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Décès de membres de l'année divisés par le nombre d'adhérents retenu par le FPPN.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Code CIMA, art. 338 (tables)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Nombre de décès et d'adhérents publiés sans taux</a:t>
                      </a:r>
                    </a:p>
                  </a:txBody>
                  <a:tcPr marL="43200" marR="43200" marT="14400" marB="14400" anchor="ctr">
                    <a:solidFill>
                      <a:srgbClr val="FFFFFF"/>
                    </a:solidFill>
                  </a:tcPr>
                </a:tc>
                <a:tc>
                  <a:txBody>
                    <a:bodyPr/>
                    <a:lstStyle/>
                    <a:p>
                      <a:pPr marL="0" indent="0" lvl="0">
                        <a:buNone/>
                      </a:pPr>
                      <a:r>
                        <a:rPr sz="800" b="1">
                          <a:solidFill>
                            <a:srgbClr val="060606"/>
                          </a:solidFill>
                          <a:latin typeface="Helvetica"/>
                        </a:rPr>
                        <a:t>Sans texte applicable</a:t>
                      </a:r>
                    </a:p>
                  </a:txBody>
                  <a:tcPr marL="43200" marR="43200" marT="14400" marB="14400" anchor="ctr">
                    <a:solidFill>
                      <a:srgbClr val="BBBCBC"/>
                    </a:solidFill>
                  </a:tcPr>
                </a:tc>
              </a:tr>
              <a:tr h="667238">
                <a:tc>
                  <a:txBody>
                    <a:bodyPr/>
                    <a:lstStyle/>
                    <a:p>
                      <a:pPr marL="0" indent="0" lvl="0">
                        <a:buNone/>
                      </a:pPr>
                      <a:r>
                        <a:rPr sz="800" b="1">
                          <a:solidFill>
                            <a:srgbClr val="060606"/>
                          </a:solidFill>
                          <a:latin typeface="Helvetica"/>
                        </a:rPr>
                        <a:t>F-06-10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Intérêts d'une année sur l'encours EFC</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Encours EFC de fin d'année multiplié par chaque taux écrit dans les documents du FPPN.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Documents du FPPN reçus le 22/10/2026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Taux non arrêté : 3,5 % (chef comptable), 5,5 % (manuel, cartographie), 14 % d'intérêt simple (cahier des charges). Aucune écriture d'intérêts dans les comptes</a:t>
                      </a:r>
                    </a:p>
                  </a:txBody>
                  <a:tcPr marL="43200" marR="43200" marT="14400" marB="14400" anchor="ctr">
                    <a:solidFill>
                      <a:srgbClr val="F2F2F2"/>
                    </a:solidFill>
                  </a:tcPr>
                </a:tc>
                <a:tc>
                  <a:txBody>
                    <a:bodyPr/>
                    <a:lstStyle/>
                    <a:p>
                      <a:pPr marL="0" indent="0" lvl="0">
                        <a:buNone/>
                      </a:pPr>
                      <a:r>
                        <a:rPr sz="800" b="1">
                          <a:solidFill>
                            <a:srgbClr val="060606"/>
                          </a:solidFill>
                          <a:latin typeface="Helvetica"/>
                        </a:rPr>
                        <a:t>Sans texte applicable</a:t>
                      </a:r>
                    </a:p>
                  </a:txBody>
                  <a:tcPr marL="43200" marR="43200" marT="14400" marB="14400" anchor="ctr">
                    <a:solidFill>
                      <a:srgbClr val="BBBCBC"/>
                    </a:solidFill>
                  </a:tcPr>
                </a:tc>
              </a:tr>
              <a:tr h="301455">
                <a:tc>
                  <a:txBody>
                    <a:bodyPr/>
                    <a:lstStyle/>
                    <a:p>
                      <a:pPr marL="0" indent="0" lvl="0">
                        <a:buNone/>
                      </a:pPr>
                      <a:r>
                        <a:rPr sz="800" b="1">
                          <a:solidFill>
                            <a:srgbClr val="060606"/>
                          </a:solidFill>
                          <a:latin typeface="Helvetica"/>
                        </a:rPr>
                        <a:t>F-03-10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Contrôles croisés entre documents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Comparaison au franc près des montants d'une même grandeur dans deux documents indépendants.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Documents reçus le 22/10/2026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 communiquée : aucun calcul du FPPN transmis</a:t>
                      </a:r>
                    </a:p>
                  </a:txBody>
                  <a:tcPr marL="43200" marR="43200" marT="14400" marB="14400" anchor="ctr">
                    <a:solidFill>
                      <a:srgbClr val="FFFFFF"/>
                    </a:solidFill>
                  </a:tcPr>
                </a:tc>
                <a:tc>
                  <a:txBody>
                    <a:bodyPr/>
                    <a:lstStyle/>
                    <a:p>
                      <a:pPr marL="0" indent="0" lvl="0">
                        <a:buNone/>
                      </a:pPr>
                      <a:r>
                        <a:rPr sz="800" b="1">
                          <a:solidFill>
                            <a:srgbClr val="060606"/>
                          </a:solidFill>
                          <a:latin typeface="Helvetica"/>
                        </a:rPr>
                        <a:t>Sans texte applicable</a:t>
                      </a:r>
                    </a:p>
                  </a:txBody>
                  <a:tcPr marL="43200" marR="43200" marT="14400" marB="14400" anchor="ctr">
                    <a:solidFill>
                      <a:srgbClr val="BBBCBC"/>
                    </a:solidFill>
                  </a:tcPr>
                </a:tc>
              </a:tr>
            </a:tbl>
          </a:graphicData>
        </a:graphic>
      </p:graphicFrame>
      <p:graphicFrame>
        <p:nvGraphicFramePr>
          <p:cNvPr id="29" name="Table 28"/>
          <p:cNvGraphicFramePr>
            <a:graphicFrameLocks noGrp="1"/>
          </p:cNvGraphicFramePr>
          <p:nvPr/>
        </p:nvGraphicFramePr>
        <p:xfrm>
          <a:off x="503999" y="2444816"/>
          <a:ext cx="11232000" cy="151200"/>
        </p:xfrm>
        <a:graphic>
          <a:graphicData uri="http://schemas.openxmlformats.org/drawingml/2006/table">
            <a:tbl>
              <a:tblPr firstRow="0" bandRow="0">
                <a:tableStyleId>{5C22544A-7EE6-4342-B048-85BDC9FD1C3A}</a:tableStyleId>
              </a:tblPr>
              <a:tblGrid>
                <a:gridCol w="792000"/>
                <a:gridCol w="936000"/>
                <a:gridCol w="9504000"/>
              </a:tblGrid>
              <a:tr h="151200">
                <a:tc>
                  <a:txBody>
                    <a:bodyPr/>
                    <a:lstStyle/>
                    <a:p>
                      <a:r>
                        <a:rPr sz="700" b="1">
                          <a:solidFill>
                            <a:srgbClr val="060606"/>
                          </a:solidFill>
                          <a:latin typeface="Helvetica"/>
                        </a:rPr>
                        <a:t>Code couleur</a:t>
                      </a:r>
                    </a:p>
                  </a:txBody>
                  <a:tcPr marL="28800" marR="28800" marT="3600" marB="3600" anchor="ctr">
                    <a:solidFill>
                      <a:srgbClr val="FFFFFF"/>
                    </a:solidFill>
                  </a:tcPr>
                </a:tc>
                <a:tc>
                  <a:txBody>
                    <a:bodyPr/>
                    <a:lstStyle/>
                    <a:p>
                      <a:r>
                        <a:rPr sz="700" b="1">
                          <a:solidFill>
                            <a:srgbClr val="060606"/>
                          </a:solidFill>
                          <a:latin typeface="Helvetica"/>
                        </a:rPr>
                        <a:t>Sans texte applicable</a:t>
                      </a:r>
                    </a:p>
                  </a:txBody>
                  <a:tcPr marL="28800" marR="28800" marT="3600" marB="3600" anchor="ctr">
                    <a:solidFill>
                      <a:srgbClr val="BBBCBC"/>
                    </a:solidFill>
                  </a:tcPr>
                </a:tc>
                <a:tc>
                  <a:txBody>
                    <a:bodyPr/>
                    <a:lstStyle/>
                    <a:p>
                      <a:r>
                        <a:rPr sz="700" b="0">
                          <a:solidFill>
                            <a:srgbClr val="060606"/>
                          </a:solidFill>
                          <a:latin typeface="Helvetica"/>
                        </a:rPr>
                        <a:t>aucun texte ne fixe la règle</a:t>
                      </a:r>
                    </a:p>
                  </a:txBody>
                  <a:tcPr marL="28800" marR="28800" marT="3600" marB="3600" anchor="ctr">
                    <a:solidFill>
                      <a:srgbClr val="FFFFFF"/>
                    </a:solidFill>
                  </a:tcPr>
                </a:tc>
              </a:tr>
            </a:tbl>
          </a:graphicData>
        </a:graphic>
      </p:graphicFrame>
      <p:sp>
        <p:nvSpPr>
          <p:cNvPr id="30" name="TextBox 29"/>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Textes cités</a:t>
            </a:r>
          </a:p>
        </p:txBody>
      </p:sp>
      <p:sp>
        <p:nvSpPr>
          <p:cNvPr id="31" name="TextBox 30"/>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CIMA : Conférence interafricaine des marchés d'assurances | EFC : entraide fin de carrière</a:t>
            </a:r>
          </a:p>
        </p:txBody>
      </p:sp>
    </p:spTree>
    <p:extLst>
      <p:ext uri="{BB962C8B-B14F-4D97-AF65-F5344CB8AC3E}">
        <p14:creationId xmlns:p14="http://schemas.microsoft.com/office/powerpoint/2010/main" val="3223487302"/>
      </p:ext>
    </p:extLst>
  </p:cSld>
  <p:clrMapOvr>
    <a:masterClrMapping/>
  </p:clrMapOvr>
  <p:transition>
    <p:fade/>
  </p:transition>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Outils et bibliothèques</a:t>
            </a:r>
          </a:p>
        </p:txBody>
      </p:sp>
      <p:sp>
        <p:nvSpPr>
          <p:cNvPr id="28" name="TextBox 27"/>
          <p:cNvSpPr txBox="1"/>
          <p:nvPr/>
        </p:nvSpPr>
        <p:spPr>
          <a:xfrm>
            <a:off x="503999" y="720000"/>
            <a:ext cx="11232000" cy="216000"/>
          </a:xfrm>
          <a:prstGeom prst="rect">
            <a:avLst/>
          </a:prstGeom>
          <a:noFill/>
        </p:spPr>
        <p:txBody>
          <a:bodyPr wrap="square" anchor="t" lIns="54000" rIns="54000"/>
          <a:lstStyle/>
          <a:p>
            <a:pPr algn="ctr"/>
            <a:r>
              <a:rPr sz="1200" b="0">
                <a:solidFill>
                  <a:srgbClr val="EFAC62"/>
                </a:solidFill>
                <a:latin typeface="Helvetica"/>
              </a:rPr>
              <a:t>Tableau 127 : Outils et bibliothèques utilisés</a:t>
            </a:r>
          </a:p>
        </p:txBody>
      </p:sp>
      <p:graphicFrame>
        <p:nvGraphicFramePr>
          <p:cNvPr id="29" name="Table 28"/>
          <p:cNvGraphicFramePr>
            <a:graphicFrameLocks noGrp="1"/>
          </p:cNvGraphicFramePr>
          <p:nvPr/>
        </p:nvGraphicFramePr>
        <p:xfrm>
          <a:off x="503999" y="990000"/>
          <a:ext cx="11232000" cy="2100090"/>
        </p:xfrm>
        <a:graphic>
          <a:graphicData uri="http://schemas.openxmlformats.org/drawingml/2006/table">
            <a:tbl>
              <a:tblPr firstRow="0" bandRow="0">
                <a:tableStyleId>{5940675A-B579-460E-94D1-54222C63F5DA}</a:tableStyleId>
              </a:tblPr>
              <a:tblGrid>
                <a:gridCol w="2520000"/>
                <a:gridCol w="6552000"/>
                <a:gridCol w="2160000"/>
              </a:tblGrid>
              <a:tr h="210009">
                <a:tc>
                  <a:txBody>
                    <a:bodyPr/>
                    <a:lstStyle/>
                    <a:p>
                      <a:pPr marL="0" indent="0" lvl="0">
                        <a:buNone/>
                      </a:pPr>
                      <a:r>
                        <a:rPr sz="1000" b="1">
                          <a:solidFill>
                            <a:srgbClr val="FFFFFF"/>
                          </a:solidFill>
                          <a:latin typeface="Helvetica"/>
                        </a:rPr>
                        <a:t>Outil</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Usage</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Version</a:t>
                      </a:r>
                    </a:p>
                  </a:txBody>
                  <a:tcPr marL="43200" marR="43200" marT="14400" marB="14400" anchor="ctr">
                    <a:solidFill>
                      <a:srgbClr val="060606"/>
                    </a:solidFill>
                  </a:tcPr>
                </a:tc>
              </a:tr>
              <a:tr h="210009">
                <a:tc>
                  <a:txBody>
                    <a:bodyPr/>
                    <a:lstStyle/>
                    <a:p>
                      <a:pPr marL="0" indent="0" lvl="0">
                        <a:buNone/>
                      </a:pPr>
                      <a:r>
                        <a:rPr sz="1000" b="1">
                          <a:solidFill>
                            <a:srgbClr val="060606"/>
                          </a:solidFill>
                          <a:latin typeface="Helvetica"/>
                        </a:rPr>
                        <a:t>Python</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Langage des traitements, scripts conservés et rejouables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3.14 (poste de la mission)</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Visual Studio Code</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Éditeur et exécution des scripts sous Windows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dernière</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pandas, numpy</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Tables de données, calculs, agrégations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3.0 et 2.5</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statsmodels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Régressions et tests statistiques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0.15</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python-calamine, openpyxl, lxml</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Lecture sans perte des fichiers Excel et des pages web</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dernière</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pyarrow</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Stockage de la base d'analyse (Parquet)</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26.0</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pymupdf, pdftotext, tesseract</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Lecture des PDF comptables et des textes scannés (OCR)</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dernière</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pygments, Pillow</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Mise en forme des extraits de code</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dernière</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python-pptx</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Rapport, graphiques et tableaux natifs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1.0</a:t>
                      </a:r>
                    </a:p>
                  </a:txBody>
                  <a:tcPr marL="43200" marR="43200" marT="14400" marB="14400" anchor="ctr">
                    <a:solidFill>
                      <a:srgbClr val="FFFFFF"/>
                    </a:solidFill>
                  </a:tcPr>
                </a:tc>
              </a:tr>
            </a:tbl>
          </a:graphicData>
        </a:graphic>
      </p:graphicFrame>
      <p:sp>
        <p:nvSpPr>
          <p:cNvPr id="30" name="TextBox 29"/>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a:t>
            </a:r>
          </a:p>
        </p:txBody>
      </p:sp>
      <p:sp>
        <p:nvSpPr>
          <p:cNvPr id="31" name="TextBox 30"/>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OCR : reconnaissance optique de caractères</a:t>
            </a:r>
          </a:p>
        </p:txBody>
      </p:sp>
    </p:spTree>
    <p:extLst>
      <p:ext uri="{BB962C8B-B14F-4D97-AF65-F5344CB8AC3E}">
        <p14:creationId xmlns:p14="http://schemas.microsoft.com/office/powerpoint/2010/main" val="2825623871"/>
      </p:ext>
    </p:extLst>
  </p:cSld>
  <p:clrMapOvr>
    <a:masterClrMapping/>
  </p:clrMapOvr>
  <p:transition>
    <p:fade/>
  </p:transition>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Liste des figures</a:t>
            </a:r>
          </a:p>
        </p:txBody>
      </p:sp>
      <p:graphicFrame>
        <p:nvGraphicFramePr>
          <p:cNvPr id="28" name="Table 27"/>
          <p:cNvGraphicFramePr>
            <a:graphicFrameLocks noGrp="1"/>
          </p:cNvGraphicFramePr>
          <p:nvPr/>
        </p:nvGraphicFramePr>
        <p:xfrm>
          <a:off x="503999" y="648000"/>
          <a:ext cx="5543999" cy="4107150"/>
        </p:xfrm>
        <a:graphic>
          <a:graphicData uri="http://schemas.openxmlformats.org/drawingml/2006/table">
            <a:tbl>
              <a:tblPr firstRow="0" bandRow="0">
                <a:tableStyleId>{5940675A-B579-460E-94D1-54222C63F5DA}</a:tableStyleId>
              </a:tblPr>
              <a:tblGrid>
                <a:gridCol w="576000"/>
                <a:gridCol w="4464000"/>
                <a:gridCol w="503999"/>
              </a:tblGrid>
              <a:tr h="164286">
                <a:tc>
                  <a:txBody>
                    <a:bodyPr/>
                    <a:lstStyle/>
                    <a:p>
                      <a:pPr marL="0" indent="0" lvl="0">
                        <a:buNone/>
                      </a:pPr>
                      <a:r>
                        <a:rPr sz="700" b="1">
                          <a:solidFill>
                            <a:srgbClr val="FFFFFF"/>
                          </a:solidFill>
                          <a:latin typeface="Helvetica"/>
                        </a:rPr>
                        <a:t>Figure</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Titre</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Diapo.</a:t>
                      </a:r>
                    </a:p>
                  </a:txBody>
                  <a:tcPr marL="43200" marR="43200" marT="14400" marB="14400" anchor="ctr">
                    <a:solidFill>
                      <a:srgbClr val="060606"/>
                    </a:solidFill>
                  </a:tcPr>
                </a:tc>
              </a:tr>
              <a:tr h="164286">
                <a:tc>
                  <a:txBody>
                    <a:bodyPr/>
                    <a:lstStyle/>
                    <a:p>
                      <a:pPr marL="0" indent="0" lvl="0">
                        <a:buNone/>
                      </a:pPr>
                      <a:r>
                        <a:rPr sz="700" b="1">
                          <a:solidFill>
                            <a:srgbClr val="060606"/>
                          </a:solidFill>
                          <a:latin typeface="Helvetica"/>
                        </a:rPr>
                        <a:t>1</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Ratio S/C maladie (prestations / cotisations)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15</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2</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Épargne due et actifs réservés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15</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3</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Fonds propres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16</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4</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Encours des prêts du Grenier</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16</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5</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Produits, charges et résultat 2025</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30</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6</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Mois reçus par flux de données, sur 80 mois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39</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7</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Montant précompté rapporté au montant demandé, mois communs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42</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8</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Cotisants actifs précomptés (poste 936), par mois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52</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9</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Entrées et sorties de cotisants, par mois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53</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10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Agents par ancienneté de service, janv. 25</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54</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11</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Répartition du taux de 5 % selon la source</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56</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12</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Ratio S/C 2025 selon la clé de répartition</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57</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13</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Cotisations nominales et réelles (francs de 2020)</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58</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14</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Cotisations comptabilisées par garantie</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59</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15</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Prestations comptabilisées / cotisations (S/C)</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66</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16</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Taux de sinistralité selon la formule, 2020 au 31/08/2026</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68</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17</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Prestations maladie comptabilisées par nature</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74</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18</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Frais de gestion et résultat net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75</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19</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Taux de frais selon la formule</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76</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20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Épargne au passif et actifs réservés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81</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21</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Versements précomptés par produit d'épargne</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82</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22</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Besoin de liquidités selon le taux de retrait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83</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23</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Encours des prêts et financement du FPPN</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93</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24</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Montants débloqués par type de crédit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94</a:t>
                      </a:r>
                    </a:p>
                  </a:txBody>
                  <a:tcPr marL="43200" marR="43200" marT="14400" marB="14400" anchor="ctr">
                    <a:solidFill>
                      <a:srgbClr val="F2F2F2"/>
                    </a:solidFill>
                  </a:tcPr>
                </a:tc>
              </a:tr>
            </a:tbl>
          </a:graphicData>
        </a:graphic>
      </p:graphicFrame>
      <p:graphicFrame>
        <p:nvGraphicFramePr>
          <p:cNvPr id="29" name="Table 28"/>
          <p:cNvGraphicFramePr>
            <a:graphicFrameLocks noGrp="1"/>
          </p:cNvGraphicFramePr>
          <p:nvPr/>
        </p:nvGraphicFramePr>
        <p:xfrm>
          <a:off x="6263999" y="648000"/>
          <a:ext cx="5543999" cy="4107150"/>
        </p:xfrm>
        <a:graphic>
          <a:graphicData uri="http://schemas.openxmlformats.org/drawingml/2006/table">
            <a:tbl>
              <a:tblPr firstRow="0" bandRow="0">
                <a:tableStyleId>{5940675A-B579-460E-94D1-54222C63F5DA}</a:tableStyleId>
              </a:tblPr>
              <a:tblGrid>
                <a:gridCol w="576000"/>
                <a:gridCol w="4464000"/>
                <a:gridCol w="503999"/>
              </a:tblGrid>
              <a:tr h="164286">
                <a:tc>
                  <a:txBody>
                    <a:bodyPr/>
                    <a:lstStyle/>
                    <a:p>
                      <a:pPr marL="0" indent="0" lvl="0">
                        <a:buNone/>
                      </a:pPr>
                      <a:r>
                        <a:rPr sz="700" b="1">
                          <a:solidFill>
                            <a:srgbClr val="FFFFFF"/>
                          </a:solidFill>
                          <a:latin typeface="Helvetica"/>
                        </a:rPr>
                        <a:t>Figure</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Titre</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Diapo.</a:t>
                      </a:r>
                    </a:p>
                  </a:txBody>
                  <a:tcPr marL="43200" marR="43200" marT="14400" marB="14400" anchor="ctr">
                    <a:solidFill>
                      <a:srgbClr val="060606"/>
                    </a:solidFill>
                  </a:tcPr>
                </a:tc>
              </a:tr>
              <a:tr h="164286">
                <a:tc>
                  <a:txBody>
                    <a:bodyPr/>
                    <a:lstStyle/>
                    <a:p>
                      <a:pPr marL="0" indent="0" lvl="0">
                        <a:buNone/>
                      </a:pPr>
                      <a:r>
                        <a:rPr sz="700" b="1">
                          <a:solidFill>
                            <a:srgbClr val="060606"/>
                          </a:solidFill>
                          <a:latin typeface="Helvetica"/>
                        </a:rPr>
                        <a:t>25</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Part de l'encours en retard de plus de 30 et 90 jours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95</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26</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Échéances des prêts en cours et précomptes 9X4, 2026</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97</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27</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Retraités précomptés par la CGRAE, par mois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101</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28</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Mois de prestations couverts par les provisions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108</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29</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PSAP maladie et dettes envers les cliniques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110</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30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Principaux postes de l'actif</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139</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31</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Actif par délai de mobilisation et passif par échéance</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140</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32</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Fonds propres et résultat de l'exercice</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152</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33</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Taux directeur de la BCEAO</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156</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34</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Liquidité et équilibre stable, comme le FPPN et retraités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170</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35</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Excédent technique par risque, frais répartis au prorata des cotisations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181</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36</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Marge de solvabilité exigée et disponible</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184</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37</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Taux de cotisation équivalent selon le ratio visé</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197</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38</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Variation annuelle des prix de la santé retenus et inflation pondérée du FPPN</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201</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39</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Survivants pour 100 naissances, par âge</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208</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40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Probabilité de décès dans l'année (qx), par âge</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209</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41</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Résultat technique projeté selon deux scénarios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215</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42</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Extrait du script dans VS Code sous Windows (reconnaître le vrai format)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219</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43</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Extrait du script dans VS Code sous Windows (écarter les lignes de total)</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220</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44</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Extrait du script dans VS Code sous Windows (corriger les montants doublés)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221</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45</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Extrait du script dans VS Code sous Windows (lire les montants du Grenier)</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222</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46</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Extrait du script dans VS Code sous Windows (calculer la sinistralité)</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223</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47</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Extrait du script dans VS Code sous Windows (intervalle de confiance)</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224</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48</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Extrait du script dans VS Code sous Windows (statut d'un ratio prudentiel)</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225</a:t>
                      </a:r>
                    </a:p>
                  </a:txBody>
                  <a:tcPr marL="43200" marR="43200" marT="14400" marB="14400" anchor="ctr">
                    <a:solidFill>
                      <a:srgbClr val="F2F2F2"/>
                    </a:solidFill>
                  </a:tcPr>
                </a:tc>
              </a:tr>
            </a:tbl>
          </a:graphicData>
        </a:graphic>
      </p:graphicFrame>
    </p:spTree>
    <p:extLst>
      <p:ext uri="{BB962C8B-B14F-4D97-AF65-F5344CB8AC3E}">
        <p14:creationId xmlns:p14="http://schemas.microsoft.com/office/powerpoint/2010/main" val="2467285533"/>
      </p:ext>
    </p:extLst>
  </p:cSld>
  <p:clrMapOvr>
    <a:masterClrMapping/>
  </p:clrMapOvr>
  <p:transition>
    <p:fade/>
  </p:transition>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Liste des tableaux</a:t>
            </a:r>
          </a:p>
        </p:txBody>
      </p:sp>
      <p:graphicFrame>
        <p:nvGraphicFramePr>
          <p:cNvPr id="28" name="Table 27"/>
          <p:cNvGraphicFramePr>
            <a:graphicFrameLocks noGrp="1"/>
          </p:cNvGraphicFramePr>
          <p:nvPr/>
        </p:nvGraphicFramePr>
        <p:xfrm>
          <a:off x="503999" y="648000"/>
          <a:ext cx="5543999" cy="10785277"/>
        </p:xfrm>
        <a:graphic>
          <a:graphicData uri="http://schemas.openxmlformats.org/drawingml/2006/table">
            <a:tbl>
              <a:tblPr firstRow="0" bandRow="0">
                <a:tableStyleId>{5940675A-B579-460E-94D1-54222C63F5DA}</a:tableStyleId>
              </a:tblPr>
              <a:tblGrid>
                <a:gridCol w="576000"/>
                <a:gridCol w="4464000"/>
                <a:gridCol w="503999"/>
              </a:tblGrid>
              <a:tr h="164286">
                <a:tc>
                  <a:txBody>
                    <a:bodyPr/>
                    <a:lstStyle/>
                    <a:p>
                      <a:pPr marL="0" indent="0" lvl="0">
                        <a:buNone/>
                      </a:pPr>
                      <a:r>
                        <a:rPr sz="700" b="1">
                          <a:solidFill>
                            <a:srgbClr val="FFFFFF"/>
                          </a:solidFill>
                          <a:latin typeface="Helvetica"/>
                        </a:rPr>
                        <a:t>Tableau</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Titre</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Diapo.</a:t>
                      </a:r>
                    </a:p>
                  </a:txBody>
                  <a:tcPr marL="43200" marR="43200" marT="14400" marB="14400" anchor="ctr">
                    <a:solidFill>
                      <a:srgbClr val="060606"/>
                    </a:solidFill>
                  </a:tcPr>
                </a:tc>
              </a:tr>
              <a:tr h="164286">
                <a:tc>
                  <a:txBody>
                    <a:bodyPr/>
                    <a:lstStyle/>
                    <a:p>
                      <a:pPr marL="0" indent="0" lvl="0">
                        <a:buNone/>
                      </a:pPr>
                      <a:r>
                        <a:rPr sz="700" b="1">
                          <a:solidFill>
                            <a:srgbClr val="060606"/>
                          </a:solidFill>
                          <a:latin typeface="Helvetica"/>
                        </a:rPr>
                        <a:t>1</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Verdict sur chacune des quatre demandes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4</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2</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Engagements envers les adhérents : chiffres qui fondent le verdict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5</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3</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Provisions du bilan et besoins mesurés : chiffres qui fondent le verdict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6</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4</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Adossement actif-passif : chiffres qui fondent le verdict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7</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5</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Adéquation des placements : chiffres qui fondent le verdict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8</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6</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Principaux constats au 15/10/2026</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9</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7</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Synthèse des constats (1/2) : provisions, épargne, adossement, conformité, fonds propres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10</a:t>
                      </a:r>
                    </a:p>
                  </a:txBody>
                  <a:tcPr marL="43200" marR="43200" marT="14400" marB="14400" anchor="ctr">
                    <a:solidFill>
                      <a:srgbClr val="FFFFFF"/>
                    </a:solidFill>
                  </a:tcPr>
                </a:tc>
              </a:tr>
              <a:tr h="270973">
                <a:tc>
                  <a:txBody>
                    <a:bodyPr/>
                    <a:lstStyle/>
                    <a:p>
                      <a:pPr marL="0" indent="0" lvl="0">
                        <a:buNone/>
                      </a:pPr>
                      <a:r>
                        <a:rPr sz="700" b="1">
                          <a:solidFill>
                            <a:srgbClr val="060606"/>
                          </a:solidFill>
                          <a:latin typeface="Helvetica"/>
                        </a:rPr>
                        <a:t>8</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Synthèse des constats (2/2) : sinistralité, placements, données, gouvernance, Grenier, personnel</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11</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9</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Huit ratios prudentiels clés, exercice 2025</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17</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10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Recommandations et actions (1/2)</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20</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11</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Recommandations et actions (2/2)</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21</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12</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Textes et organismes de référence</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24</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13</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Dispositions des textes du FPPN utiles à la mission (1/2)</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25</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14</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Dispositions des textes du FPPN utiles à la mission (2/2)</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26</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15</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Produits du FPPN et montants observés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27</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16</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Circuit des fichiers de précomptes par produit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29</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17</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Notions utilisées dans le rapport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31</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18</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Périmètre de la mission actuarielle et statistique</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33</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19</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Périmètre, domaine et période de validité des analyses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34</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20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Documents reçus le 22/10/2026 et usage dans le rapport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35</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21</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Fichiers à renvoyer ou à corriger</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44</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22</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Complétude et cohérence des bases de données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45</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23</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États financiers et balances : actif brut, résultat, trésorerie</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47</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24</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Adhérents du FPPN, lignes 8Z6 et rapport 8Z6 / 936</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48</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25</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Rapprochements bancaires au 31 décembre</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49</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26</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Règles des produits déclarées et confrontées aux fichiers de précomptes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60</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27</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Formules du taux de sinistralité comparées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67</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28</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Méthode du FPPN et méthode réglementaire au 30/06/2026</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69</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29</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Sinistralité décès selon le FPPN et selon les comptes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70</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30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Décès et taux brut de mortalité des membres participants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71</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31</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Nature des risques par garantie et provisions attendues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72</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32</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Taux de croissance annuels moyens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73</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33</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Références du poste 998, 2020 à août 2026</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84</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34</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Taux servis sur l'épargne selon les documents du FPPN</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86</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35</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Écritures 2024 des comptes d'épargne par nature</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87</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36</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Intérêts d'une année sur l'encours EFC selon le taux servi</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88</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37</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Intérêts dus sur l'épargne, par exercice</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89</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38</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Épargne au 31/12/2025 : rapport de gestion et balance</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90</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39</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Provision selon le taux de perte</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98</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40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Clauses de la convention IPS-CGRAE utiles à la mission</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102</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41</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Retraités précomptés par la CGRAE</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103</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42</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Produits annexes et points à clarifier</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104</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43</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Provisions exigées et provisions au bilan, par produit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109</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44</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Factures de cliniques (compte 40110000) et délai moyen de paiement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112</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45</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Factures de cliniques d'une année enregistrées l'année suivante</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113</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46</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Provision maladie nécessaire et provision du bilan</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114</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47</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États de fin d'année des allocations décès et crédits du compte 41591000</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116</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48</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Dette décès du FPPN et provision obsèques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117</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49</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Décès enregistrés l'année suivant le décès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118</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50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Provision pour risques courts au 31 décembre</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119</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51</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Dépréciation des prêts du Grenier selon sa politique de crédit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120</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52</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Compte GNA (47111106) et produits des activités annexes (71800000)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121</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53</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Provision pour départ à la retraite du personnel</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122</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54</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Paramètres de la provision du personnel au 31/12/2025</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123</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55</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Provision du personnel par entité, droits acquis et compte 196</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124</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56</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Provision du personnel au 31/12/2025 : Direction Générale (1/2)</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125</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57</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Provision du personnel au 31/12/2025 : Direction Générale (2/2)</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126</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58</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Provision du personnel au 31/12/2025 : CMP (1/3)</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127</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59</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Provision du personnel au 31/12/2025 : CMP (2/3)</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128</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60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Provision du personnel au 31/12/2025 : CMP (3/3)</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129</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61</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Provision du personnel au 31/12/2025 : Grenier</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130</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62</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Provision du personnel au 31/12/2025 : Non documentée (1/2)</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131</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63</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Provision du personnel au 31/12/2025 : Non documentée (2/2)</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132</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64</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Sensibilité de la provision du personnel au 31/12/2025</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133</a:t>
                      </a:r>
                    </a:p>
                  </a:txBody>
                  <a:tcPr marL="43200" marR="43200" marT="14400" marB="14400" anchor="ctr">
                    <a:solidFill>
                      <a:srgbClr val="F2F2F2"/>
                    </a:solidFill>
                  </a:tcPr>
                </a:tc>
              </a:tr>
            </a:tbl>
          </a:graphicData>
        </a:graphic>
      </p:graphicFrame>
      <p:graphicFrame>
        <p:nvGraphicFramePr>
          <p:cNvPr id="29" name="Table 28"/>
          <p:cNvGraphicFramePr>
            <a:graphicFrameLocks noGrp="1"/>
          </p:cNvGraphicFramePr>
          <p:nvPr/>
        </p:nvGraphicFramePr>
        <p:xfrm>
          <a:off x="6263999" y="648000"/>
          <a:ext cx="5543999" cy="10514304"/>
        </p:xfrm>
        <a:graphic>
          <a:graphicData uri="http://schemas.openxmlformats.org/drawingml/2006/table">
            <a:tbl>
              <a:tblPr firstRow="0" bandRow="0">
                <a:tableStyleId>{5940675A-B579-460E-94D1-54222C63F5DA}</a:tableStyleId>
              </a:tblPr>
              <a:tblGrid>
                <a:gridCol w="576000"/>
                <a:gridCol w="4464000"/>
                <a:gridCol w="503999"/>
              </a:tblGrid>
              <a:tr h="164286">
                <a:tc>
                  <a:txBody>
                    <a:bodyPr/>
                    <a:lstStyle/>
                    <a:p>
                      <a:pPr marL="0" indent="0" lvl="0">
                        <a:buNone/>
                      </a:pPr>
                      <a:r>
                        <a:rPr sz="700" b="1">
                          <a:solidFill>
                            <a:srgbClr val="FFFFFF"/>
                          </a:solidFill>
                          <a:latin typeface="Helvetica"/>
                        </a:rPr>
                        <a:t>Tableau</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Titre</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Diapo.</a:t>
                      </a:r>
                    </a:p>
                  </a:txBody>
                  <a:tcPr marL="43200" marR="43200" marT="14400" marB="14400" anchor="ctr">
                    <a:solidFill>
                      <a:srgbClr val="060606"/>
                    </a:solidFill>
                  </a:tcPr>
                </a:tc>
              </a:tr>
              <a:tr h="164286">
                <a:tc>
                  <a:txBody>
                    <a:bodyPr/>
                    <a:lstStyle/>
                    <a:p>
                      <a:pPr marL="0" indent="0" lvl="0">
                        <a:buNone/>
                      </a:pPr>
                      <a:r>
                        <a:rPr sz="700" b="1">
                          <a:solidFill>
                            <a:srgbClr val="060606"/>
                          </a:solidFill>
                          <a:latin typeface="Helvetica"/>
                        </a:rPr>
                        <a:t>65</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Engagements envers les adhérents et ayants droit : méthode et résultat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134</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66</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Provisions : méthode annuelle proposée et montants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135</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67</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Montants du FPPN, recalcul et écarts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136</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68</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Effets d'une provision mal calibrée et situation du FPPN</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137</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69</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Corrections attendues et sens de leur effet sur l'adossement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141</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70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Règles de valorisation retenues dans chaque scénario</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142</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71</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Couverture des engagements connus selon le scénario</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143</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72</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Méthodes d'adossement retenues et justification</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144</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73</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Sorties annuelles de l'épargne et taux de sortie</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145</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74</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Écarts de liquidité au 31/08/2026, scénario central</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146</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75</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Couverture des paiements de l'année selon trois scénarios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147</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76</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Gouvernance actif-passif : pratiques de référence et situation du FPPN</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148</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77</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Adossement actif-passif : réponse et niveau de preuve</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149</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78</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Encours des placements lus dans les grands livres (DAT et FCP)</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153</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79</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Documents sur les actifs immobilisés et la gouvernance</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155</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80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Placements et emplois du FPPN confrontés aux conditions de l'article 17</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157</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81</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Textes de la mutualité sociale appliqués au FPPN</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160</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82</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Qualification des garanties du FPPN</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161</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83</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Reclassements de la lecture retraitée</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163</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84</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Tableau de bord des ratios prudentiels, priorités 1 à 9</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166</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85</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Tableau de bord des ratios des risques longs, priorités 10 à 16</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167</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86</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Tableau de bord des ratios de gestion, priorités 17 à 25</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168</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87</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Indicateurs en attente de documents, priorités 26 à 36</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169</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88</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Sinistralité, frais, ratio combiné et résultat technique par garantie</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182</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89</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Dotation de la réserve obligatoire et normes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183</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90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Calculs actuariels : situation actuelle et organisation cible</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185</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91</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Grille de conformité des exigences actuarielles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186</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92</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Contrôle du classement des comptes selon le PCMS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187</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93</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Exigences non chiffrées et situation du FPPN</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188</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94</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Manquements liés aux constats du rapport et sanctions prévues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189</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95</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Étapes des analyses de sensibilité et références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191</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96</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Conformité de chaque ratio, année par année</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192</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97</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Facteurs récurrents, comptes en cause et preuves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193</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98</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Montant à combler par ratio (FCFA)</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194</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99</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Sens de l'effet d'un choc de 100 000 000 FCFA (exercice 2025)</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195</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100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Montants d'équilibre 2025 par levier et par ratio</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196</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101</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Liquidité : écart, plafond de réallocation et lecture hors épargne</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198</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102</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Réserve obligatoire selon la dotation statutaire, et horizon des fonds propres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199</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103</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Condition de faisabilité conjointe des normes de flux</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200</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104</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Sinistralité selon la hausse des prestations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202</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105</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Rendement du FPPN et taux du marché, 2021 à 2025</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203</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106</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Tables de mortalité CIMA et usage retenu</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207</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107</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Espérance de vie et valeur de la rente viagère (taux de 3,5 %)</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210</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108</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Étapes d'une projection actuarielle et point de blocage</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213</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109</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Projection agrégée du résultat technique, maladie et décès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214</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110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Scripts de la mission</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217</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111</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Entrée, traitement, contrôle et sortie de chaque étape</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218</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112</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Analyses en attente, méthode retenue et données nécessaires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228</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113</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Questions au FPPN (1/2)</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229</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114</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Questions au FPPN (2/2)</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230</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115</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Méthodes non retenues et méthodes appliquées à la place</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232</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116</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Conditions d'emploi de la méthode et données du FPPN</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233</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117</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Conditions d'emploi de la méthode et données du FPPN</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234</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118</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Conditions d'emploi de la méthode et données du FPPN</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235</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119</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Conditions d'emploi de la méthode et données du FPPN</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236</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120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Conditions d'emploi de la méthode et données du FPPN</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237</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121</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Conditions d'emploi de la méthode et données du FPPN</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238</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122</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Conditions d'emploi de la méthode et données du FPPN</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239</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123</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Fichiers sources et période couverte</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240</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124</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Fichiers sources et période couverte</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241</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125</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Fichiers sources et période couverte</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242</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126</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Colonnes et statuts du tableau des formules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243</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127</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Outils et bibliothèques utilisés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259</a:t>
                      </a:r>
                    </a:p>
                  </a:txBody>
                  <a:tcPr marL="43200" marR="43200" marT="14400" marB="14400" anchor="ctr">
                    <a:solidFill>
                      <a:srgbClr val="FFFFFF"/>
                    </a:solidFill>
                  </a:tcPr>
                </a:tc>
              </a:tr>
            </a:tbl>
          </a:graphicData>
        </a:graphic>
      </p:graphicFrame>
    </p:spTree>
    <p:extLst>
      <p:ext uri="{BB962C8B-B14F-4D97-AF65-F5344CB8AC3E}">
        <p14:creationId xmlns:p14="http://schemas.microsoft.com/office/powerpoint/2010/main" val="3065453250"/>
      </p:ext>
    </p:extLst>
  </p:cSld>
  <p:clrMapOvr>
    <a:masterClrMapping/>
  </p:clrMapOvr>
  <p:transition>
    <p:fade/>
  </p:transition>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Périmètre et validité des analyses (1/12)</a:t>
            </a:r>
          </a:p>
        </p:txBody>
      </p:sp>
      <p:graphicFrame>
        <p:nvGraphicFramePr>
          <p:cNvPr id="28" name="Table 27"/>
          <p:cNvGraphicFramePr>
            <a:graphicFrameLocks noGrp="1"/>
          </p:cNvGraphicFramePr>
          <p:nvPr/>
        </p:nvGraphicFramePr>
        <p:xfrm>
          <a:off x="503999" y="720000"/>
          <a:ext cx="11232000" cy="4402733"/>
        </p:xfrm>
        <a:graphic>
          <a:graphicData uri="http://schemas.openxmlformats.org/drawingml/2006/table">
            <a:tbl>
              <a:tblPr firstRow="0" bandRow="0">
                <a:tableStyleId>{5940675A-B579-460E-94D1-54222C63F5DA}</a:tableStyleId>
              </a:tblPr>
              <a:tblGrid>
                <a:gridCol w="936000"/>
                <a:gridCol w="3456000"/>
                <a:gridCol w="1080000"/>
                <a:gridCol w="5760000"/>
              </a:tblGrid>
              <a:tr h="180000">
                <a:tc>
                  <a:txBody>
                    <a:bodyPr/>
                    <a:lstStyle/>
                    <a:p>
                      <a:pPr marL="0" indent="0" lvl="0">
                        <a:buNone/>
                      </a:pPr>
                      <a:r>
                        <a:rPr sz="800" b="1">
                          <a:solidFill>
                            <a:srgbClr val="FFFFFF"/>
                          </a:solidFill>
                          <a:latin typeface="Helvetica"/>
                        </a:rPr>
                        <a:t>Partie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Analyse ou diapositive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Diapo.</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Valable pour</a:t>
                      </a:r>
                    </a:p>
                  </a:txBody>
                  <a:tcPr marL="43200" marR="43200" marT="14400" marB="14400" anchor="ctr">
                    <a:solidFill>
                      <a:srgbClr val="060606"/>
                    </a:solidFill>
                  </a:tcPr>
                </a:tc>
              </a:tr>
              <a:tr h="301455">
                <a:tc>
                  <a:txBody>
                    <a:bodyPr/>
                    <a:lstStyle/>
                    <a:p>
                      <a:pPr marL="0" indent="0" lvl="0">
                        <a:buNone/>
                      </a:pPr>
                      <a:r>
                        <a:rPr sz="800" b="1">
                          <a:solidFill>
                            <a:srgbClr val="060606"/>
                          </a:solidFill>
                          <a:latin typeface="Helvetica"/>
                        </a:rPr>
                        <a:t>Résumé</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Réponse aux quatre demandes de la mission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période du 01/01/2020 au 31/08/2026 (mission à partir du 01/09/2020), documents du FPPN reçus jusqu'au 22/10/2026</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Résumé</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Demande 1 : engagements envers les adhérents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épargne et dettes au 31/08/2026 (balance provisoire). Intérêts dus calculés du 01/01/2020 au 31/08/2026 seulement. Provision du personnel au 31/12/2025</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Résumé</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Demande 2 : suffisance des provisions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provisions au bilan du 31/08/2026. Besoin maladie mesuré au 31/12/2024 sur les factures de cliniques du journal SIN. Dette décès au 31/08/2026</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Résumé</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Demande 3 : adossement actif-passif</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bilans au 31/12/2025 et au 31/08/2026 (provisoire). Sorties d'épargne observées de 2021 à 2025. Actifs classés par nature comptable, sans échéancier contractuel</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Résumé</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Demande 4 : adéquation des placements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placements et produits financiers de 2021 à 2025, actifs au 31/08/2026. Épargne due au 31/12/2025</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Résumé</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Résumé exécutif</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chiffres repris des parties 4 à 10, chacun dans le domaine indiqué sur sa diapositive de détail. Situation au 31/08/2026 (provisoire) sauf mention d'une autre date</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Résumé</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Synthèse des constats (1/2)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chiffres du corps du rapport, de 2020 au 31/08/2026. Criticité appréciée selon la grille ci-dessous</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Résumé</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Synthèse des constats (2/2)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chiffres du corps du rapport, de 2020 au 31/08/2026. Criticité appréciée selon la grille ci-dessous</a:t>
                      </a:r>
                    </a:p>
                  </a:txBody>
                  <a:tcPr marL="43200" marR="43200" marT="14400" marB="14400" anchor="ctr">
                    <a:solidFill>
                      <a:srgbClr val="F2F2F2"/>
                    </a:solidFill>
                  </a:tcPr>
                </a:tc>
              </a:tr>
              <a:tr h="545310">
                <a:tc>
                  <a:txBody>
                    <a:bodyPr/>
                    <a:lstStyle/>
                    <a:p>
                      <a:pPr marL="0" indent="0" lvl="0">
                        <a:buNone/>
                      </a:pPr>
                      <a:r>
                        <a:rPr sz="800" b="1">
                          <a:solidFill>
                            <a:srgbClr val="060606"/>
                          </a:solidFill>
                          <a:latin typeface="Helvetica"/>
                        </a:rPr>
                        <a:t>Résumé</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Graphiques clés (1/2)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S/C maladie : comptes 601, 6013, 6018 et 60800007 (prestations) et 7010 (cotisations) des balances « BALANCE FORMAT EXCEL DE 09-2020 AU 31-12-2020.xlsx » à « BALANCE FPPN DU 01-01-2026 AU 31-08-2026.xlsx », 2020 à 2025 et du 01/01 au 31/08/2026. Épargne : comptes 41195100 et 41195200. Actifs réservés : banques et DAT de l'épargne et FCP</a:t>
                      </a:r>
                    </a:p>
                  </a:txBody>
                  <a:tcPr marL="43200" marR="43200" marT="14400" marB="14400" anchor="ctr">
                    <a:solidFill>
                      <a:srgbClr val="FFFFFF"/>
                    </a:solidFill>
                  </a:tcPr>
                </a:tc>
              </a:tr>
              <a:tr h="545310">
                <a:tc>
                  <a:txBody>
                    <a:bodyPr/>
                    <a:lstStyle/>
                    <a:p>
                      <a:pPr marL="0" indent="0" lvl="0">
                        <a:buNone/>
                      </a:pPr>
                      <a:r>
                        <a:rPr sz="800" b="1">
                          <a:solidFill>
                            <a:srgbClr val="060606"/>
                          </a:solidFill>
                          <a:latin typeface="Helvetica"/>
                        </a:rPr>
                        <a:t>Résumé</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Graphiques clés (2/2)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fonds propres : comptes 10, 11, 12 et résultat des balances « BALANCE FORMAT EXCEL DE 09-2020 AU 31-12-2020.xlsx » à « BALANCE FPPN DU 01-01-2026 AU 31-08-2026.xlsx ». Encours du Grenier : exports « BalanceAgeeDetaille … .xls » du logiciel de prêts du Grenier, arrêtés annuels du 31/12/2021 au 31/12/2025 et au 31/08/2026</a:t>
                      </a:r>
                    </a:p>
                  </a:txBody>
                  <a:tcPr marL="43200" marR="43200" marT="14400" marB="14400" anchor="ctr">
                    <a:solidFill>
                      <a:srgbClr val="F2F2F2"/>
                    </a:solidFill>
                  </a:tcPr>
                </a:tc>
              </a:tr>
              <a:tr h="423383">
                <a:tc>
                  <a:txBody>
                    <a:bodyPr/>
                    <a:lstStyle/>
                    <a:p>
                      <a:pPr marL="0" indent="0" lvl="0">
                        <a:buNone/>
                      </a:pPr>
                      <a:r>
                        <a:rPr sz="800" b="1">
                          <a:solidFill>
                            <a:srgbClr val="060606"/>
                          </a:solidFill>
                          <a:latin typeface="Helvetica"/>
                        </a:rPr>
                        <a:t>Résumé</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Conformité prudentielle en bref</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exercice 2025 seulement, ratios de la Décision n° 05/2022 recalculés sur les balances « BALANCE FORMAT EXCEL DE 09-2020 AU 31-12-2020.xlsx » à « BALANCE FPPN DU 01-01-2026 AU 31-08-2026.xlsx ». Ratios non calculés faute de données signalés comme tels</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Résumé</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Recommandations (1/2)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constats du rapport au 31/08/2026. Horizons comptés à partir de la remise du rapport</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Résumé</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Recommandations (2/2)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constats du rapport au 31/08/2026. Horizons comptés à partir de la remise du rapport</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Cadre juridique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textes cités dans leur version fournie le 18/10/2026 (documentation publique de l'AIRMS). Répertoire AIRMS du 15/10/2026. Ne vaut pas avis juridique</a:t>
                      </a:r>
                    </a:p>
                  </a:txBody>
                  <a:tcPr marL="43200" marR="43200" marT="14400" marB="14400" anchor="ctr">
                    <a:solidFill>
                      <a:srgbClr val="F2F2F2"/>
                    </a:solidFill>
                  </a:tcPr>
                </a:tc>
              </a:tr>
            </a:tbl>
          </a:graphicData>
        </a:graphic>
      </p:graphicFrame>
      <p:sp>
        <p:nvSpPr>
          <p:cNvPr id="29" name="TextBox 28"/>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d'après les fichiers cités dans chaque diapositive</a:t>
            </a:r>
          </a:p>
        </p:txBody>
      </p:sp>
      <p:sp>
        <p:nvSpPr>
          <p:cNvPr id="30" name="TextBox 29"/>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AIRMS : Agence ivoirienne de régulation de la mutualité sociale | FCP : fonds commun de placement | DAT : dépôt à terme | S/C : prestations / cotisations</a:t>
            </a:r>
          </a:p>
        </p:txBody>
      </p:sp>
    </p:spTree>
    <p:extLst>
      <p:ext uri="{BB962C8B-B14F-4D97-AF65-F5344CB8AC3E}">
        <p14:creationId xmlns:p14="http://schemas.microsoft.com/office/powerpoint/2010/main" val="3536245711"/>
      </p:ext>
    </p:extLst>
  </p:cSld>
  <p:clrMapOvr>
    <a:masterClrMapping/>
  </p:clrMapOvr>
  <p:transition>
    <p:fade/>
  </p:transition>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Périmètre et validité des analyses (2/12)</a:t>
            </a:r>
          </a:p>
        </p:txBody>
      </p:sp>
      <p:graphicFrame>
        <p:nvGraphicFramePr>
          <p:cNvPr id="28" name="Table 27"/>
          <p:cNvGraphicFramePr>
            <a:graphicFrameLocks noGrp="1"/>
          </p:cNvGraphicFramePr>
          <p:nvPr/>
        </p:nvGraphicFramePr>
        <p:xfrm>
          <a:off x="503999" y="720000"/>
          <a:ext cx="11232000" cy="4157460"/>
        </p:xfrm>
        <a:graphic>
          <a:graphicData uri="http://schemas.openxmlformats.org/drawingml/2006/table">
            <a:tbl>
              <a:tblPr firstRow="0" bandRow="0">
                <a:tableStyleId>{5940675A-B579-460E-94D1-54222C63F5DA}</a:tableStyleId>
              </a:tblPr>
              <a:tblGrid>
                <a:gridCol w="936000"/>
                <a:gridCol w="3456000"/>
                <a:gridCol w="1080000"/>
                <a:gridCol w="5760000"/>
              </a:tblGrid>
              <a:tr h="180000">
                <a:tc>
                  <a:txBody>
                    <a:bodyPr/>
                    <a:lstStyle/>
                    <a:p>
                      <a:pPr marL="0" indent="0" lvl="0">
                        <a:buNone/>
                      </a:pPr>
                      <a:r>
                        <a:rPr sz="800" b="1">
                          <a:solidFill>
                            <a:srgbClr val="FFFFFF"/>
                          </a:solidFill>
                          <a:latin typeface="Helvetica"/>
                        </a:rPr>
                        <a:t>Partie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Analyse ou diapositive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Diapo.</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Valable pour</a:t>
                      </a:r>
                    </a:p>
                  </a:txBody>
                  <a:tcPr marL="43200" marR="43200" marT="14400" marB="14400" anchor="ctr">
                    <a:solidFill>
                      <a:srgbClr val="060606"/>
                    </a:solidFill>
                  </a:tcPr>
                </a:tc>
              </a:tr>
              <a:tr h="301455">
                <a:tc>
                  <a:txBody>
                    <a:bodyPr/>
                    <a:lstStyle/>
                    <a:p>
                      <a:pPr marL="0" indent="0" lvl="0">
                        <a:buNone/>
                      </a:pPr>
                      <a:r>
                        <a:rPr sz="800" b="1">
                          <a:solidFill>
                            <a:srgbClr val="060606"/>
                          </a:solidFill>
                          <a:latin typeface="Helvetica"/>
                        </a:rPr>
                        <a:t>Partie 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Statuts et règlement intérieur : cotisations, provisions, prestations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statuts et règlement intérieur du FPPN édités le 15/06/2023 (adoptés le 30/06/2021), articles cités. Leur application n'est testée que là où le rapport le dit</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Statuts et règlement intérieur : épargne, personnel, organes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statuts et règlement intérieur du FPPN édités le 15/06/2023, articles cités. Décrets n° 2017-210 et n° 2012-652. Application non testée sauf mention</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Garanties et produits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montants précomptés par poste dans les fichiers retour de la Solde et de la CGRAE, mois reçus entre 2023 et septembre 2026 selon le poste (diapositive « Couverture de la période »)</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Partie 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Circuit des fichiers par produit</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circuit déclaré par le responsable des cotisations le 19/10/2026. Non confirmé par une procédure écrite</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Flux financiers 2025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exercice 2025, classes 6 et 7 de « BALANCE FPPN 2025.xlsx ». Flux d'épargne et du Grenier exclus du résultat</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Notions de base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définitions de la Décision n° 05/2022 (annexe) et du règlement d'exécution n° 004/2022. Sans chiffre propre au FPPN</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Mission et périmètre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périmètre fixé par le dossier de préparation du 13/10/2026 et la demande de M. Wabi. Période du 01/01/2020 au 31/08/2026</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Partie 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Périmètre et validité des analyses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les familles d'analyses du rapport, sur les documents reçus jusqu'au 22/10/2026</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Documents reçus le 22/10/2026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fichiers reçus le 22/10/2026 dans les dossiers transmis par le FPPN. Les documents reçus le 15/10/2026 et le 18/10/2026 sont décrits en partie 2 et en partie 3</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Couverture de la période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39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fichiers de précomptes reçus le 15/10/2026, par poste et par mois, de janvier 2020 à août 2026 (80 mois). Un mois est « reçu » si au moins un fichier lisible le couvre</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Rapprochement aller et retour</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42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mois pour lesquels le fichier aller et le fichier retour d'un même poste sont tous deux reçus. Montants totaux du mois, sans rapprochement agent par agent</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Fichiers vides ou endommagés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fichiers reçus le 15/10/2026 et le 22/10/2026 dont la lecture a échoué ou qui ne contiennent aucune ligne de données. Liste arrêtée au 22/10/2026</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Qualité des bases, variable par variable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45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lignes retenues des fichiers de précomptes de janvier 2020 à août 2026. Balance âgée du Grenier au 31/08/2026</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Contrôle croisé : états financiers et balances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exercices 2020 à 2025 et situation au 31/08/2026, totaux du bilan et résultat. Les rubriques détaillées n'ont pas été comparées</a:t>
                      </a:r>
                    </a:p>
                  </a:txBody>
                  <a:tcPr marL="43200" marR="43200" marT="14400" marB="14400" anchor="ctr">
                    <a:solidFill>
                      <a:srgbClr val="F2F2F2"/>
                    </a:solidFill>
                  </a:tcPr>
                </a:tc>
              </a:tr>
            </a:tbl>
          </a:graphicData>
        </a:graphic>
      </p:graphicFrame>
      <p:sp>
        <p:nvSpPr>
          <p:cNvPr id="29" name="TextBox 28"/>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d'après les fichiers cités dans chaque diapositive</a:t>
            </a:r>
          </a:p>
        </p:txBody>
      </p:sp>
      <p:sp>
        <p:nvSpPr>
          <p:cNvPr id="30" name="TextBox 29"/>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CGRAE : Caisse générale de retraite des agents de l'État</a:t>
            </a:r>
          </a:p>
        </p:txBody>
      </p:sp>
    </p:spTree>
    <p:extLst>
      <p:ext uri="{BB962C8B-B14F-4D97-AF65-F5344CB8AC3E}">
        <p14:creationId xmlns:p14="http://schemas.microsoft.com/office/powerpoint/2010/main" val="2600335807"/>
      </p:ext>
    </p:extLst>
  </p:cSld>
  <p:clrMapOvr>
    <a:masterClrMapping/>
  </p:clrMapOvr>
  <p:transition>
    <p:fade/>
  </p:transition>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Périmètre et validité des analyses (3/12)</a:t>
            </a:r>
          </a:p>
        </p:txBody>
      </p:sp>
      <p:graphicFrame>
        <p:nvGraphicFramePr>
          <p:cNvPr id="28" name="Table 27"/>
          <p:cNvGraphicFramePr>
            <a:graphicFrameLocks noGrp="1"/>
          </p:cNvGraphicFramePr>
          <p:nvPr/>
        </p:nvGraphicFramePr>
        <p:xfrm>
          <a:off x="503999" y="720000"/>
          <a:ext cx="11232000" cy="4880931"/>
        </p:xfrm>
        <a:graphic>
          <a:graphicData uri="http://schemas.openxmlformats.org/drawingml/2006/table">
            <a:tbl>
              <a:tblPr firstRow="0" bandRow="0">
                <a:tableStyleId>{5940675A-B579-460E-94D1-54222C63F5DA}</a:tableStyleId>
              </a:tblPr>
              <a:tblGrid>
                <a:gridCol w="936000"/>
                <a:gridCol w="3456000"/>
                <a:gridCol w="1080000"/>
                <a:gridCol w="5760000"/>
              </a:tblGrid>
              <a:tr h="180000">
                <a:tc>
                  <a:txBody>
                    <a:bodyPr/>
                    <a:lstStyle/>
                    <a:p>
                      <a:pPr marL="0" indent="0" lvl="0">
                        <a:buNone/>
                      </a:pPr>
                      <a:r>
                        <a:rPr sz="750" b="1">
                          <a:solidFill>
                            <a:srgbClr val="FFFFFF"/>
                          </a:solidFill>
                          <a:latin typeface="Helvetica"/>
                        </a:rPr>
                        <a:t>Partie</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Analyse ou diapositive</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Diapo.</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Valable pour</a:t>
                      </a:r>
                    </a:p>
                  </a:txBody>
                  <a:tcPr marL="43200" marR="43200" marT="14400" marB="14400" anchor="ctr">
                    <a:solidFill>
                      <a:srgbClr val="060606"/>
                    </a:solidFill>
                  </a:tcPr>
                </a:tc>
              </a:tr>
              <a:tr h="286214">
                <a:tc>
                  <a:txBody>
                    <a:bodyPr/>
                    <a:lstStyle/>
                    <a:p>
                      <a:pPr marL="0" indent="0" lvl="0">
                        <a:buNone/>
                      </a:pPr>
                      <a:r>
                        <a:rPr sz="750" b="1">
                          <a:solidFill>
                            <a:srgbClr val="060606"/>
                          </a:solidFill>
                          <a:latin typeface="Helvetica"/>
                        </a:rPr>
                        <a:t>Partie 3</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Contrôle croisé : effectifs du FPPN et fichiers de la Solde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48</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mois cités, policiers précomptés par la Solde (8Z6 et 936). Les mois de 2024 sans fichier 8Z6 ne sont pas couverts</a:t>
                      </a:r>
                    </a:p>
                  </a:txBody>
                  <a:tcPr marL="43200" marR="43200" marT="14400" marB="14400" anchor="ctr">
                    <a:solidFill>
                      <a:srgbClr val="FFFFFF"/>
                    </a:solidFill>
                  </a:tcPr>
                </a:tc>
              </a:tr>
              <a:tr h="286214">
                <a:tc>
                  <a:txBody>
                    <a:bodyPr/>
                    <a:lstStyle/>
                    <a:p>
                      <a:pPr marL="0" indent="0" lvl="0">
                        <a:buNone/>
                      </a:pPr>
                      <a:r>
                        <a:rPr sz="750" b="1">
                          <a:solidFill>
                            <a:srgbClr val="060606"/>
                          </a:solidFill>
                          <a:latin typeface="Helvetica"/>
                        </a:rPr>
                        <a:t>Partie 3</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Contrôle croisé : rapprochements bancaires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49</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comptes bancaires présents dans les états de rapprochement (BOA, Banque Atlantique, Orabank), au 31/12 de 2020 à 2025. Les DAT, le FCP et la caisse ne sont pas couverts</a:t>
                      </a:r>
                    </a:p>
                  </a:txBody>
                  <a:tcPr marL="43200" marR="43200" marT="14400" marB="14400" anchor="ctr">
                    <a:solidFill>
                      <a:srgbClr val="F2F2F2"/>
                    </a:solidFill>
                  </a:tcPr>
                </a:tc>
              </a:tr>
              <a:tr h="286214">
                <a:tc>
                  <a:txBody>
                    <a:bodyPr/>
                    <a:lstStyle/>
                    <a:p>
                      <a:pPr marL="0" indent="0" lvl="0">
                        <a:buNone/>
                      </a:pPr>
                      <a:r>
                        <a:rPr sz="750" b="1">
                          <a:solidFill>
                            <a:srgbClr val="060606"/>
                          </a:solidFill>
                          <a:latin typeface="Helvetica"/>
                        </a:rPr>
                        <a:t>Partie 4</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Effectifs cotisants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52</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agents précomptés chaque mois dans les fichiers retour du poste 936 (dossier « FPPN-SOLDE\EFFECTIF POLICE (MALADIE) »), janvier 2024 à septembre 2026. Décembre 2024 vide. Hors retraités et civils de la Direction Générale</a:t>
                      </a:r>
                    </a:p>
                  </a:txBody>
                  <a:tcPr marL="43200" marR="43200" marT="14400" marB="14400" anchor="ctr">
                    <a:solidFill>
                      <a:srgbClr val="FFFFFF"/>
                    </a:solidFill>
                  </a:tcPr>
                </a:tc>
              </a:tr>
              <a:tr h="400521">
                <a:tc>
                  <a:txBody>
                    <a:bodyPr/>
                    <a:lstStyle/>
                    <a:p>
                      <a:pPr marL="0" indent="0" lvl="0">
                        <a:buNone/>
                      </a:pPr>
                      <a:r>
                        <a:rPr sz="750" b="1">
                          <a:solidFill>
                            <a:srgbClr val="060606"/>
                          </a:solidFill>
                          <a:latin typeface="Helvetica"/>
                        </a:rPr>
                        <a:t>Partie 4</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Entrées et sorties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53</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matricules présents un mois et absents le suivant (ou l'inverse) dans les fichiers retour du poste 936 (dossier « FPPN-SOLDE\EFFECTIF POLICE (MALADIE) »), janvier 2024 à septembre 2026. Ne distingue pas retraite, décès et radiation</a:t>
                      </a:r>
                    </a:p>
                  </a:txBody>
                  <a:tcPr marL="43200" marR="43200" marT="14400" marB="14400" anchor="ctr">
                    <a:solidFill>
                      <a:srgbClr val="F2F2F2"/>
                    </a:solidFill>
                  </a:tcPr>
                </a:tc>
              </a:tr>
              <a:tr h="286214">
                <a:tc>
                  <a:txBody>
                    <a:bodyPr/>
                    <a:lstStyle/>
                    <a:p>
                      <a:pPr marL="0" indent="0" lvl="0">
                        <a:buNone/>
                      </a:pPr>
                      <a:r>
                        <a:rPr sz="750" b="1">
                          <a:solidFill>
                            <a:srgbClr val="060606"/>
                          </a:solidFill>
                          <a:latin typeface="Helvetica"/>
                        </a:rPr>
                        <a:t>Partie 4</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Structure des effectifs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54</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ancienneté de service calculée sur la date d'entrée des fichiers retour du poste 936 (dossier « FPPN-SOLDE\EFFECTIF POLICE (MALADIE) ») de janvier 2025. Âge non disponible</a:t>
                      </a:r>
                    </a:p>
                  </a:txBody>
                  <a:tcPr marL="43200" marR="43200" marT="14400" marB="14400" anchor="ctr">
                    <a:solidFill>
                      <a:srgbClr val="FFFFFF"/>
                    </a:solidFill>
                  </a:tcPr>
                </a:tc>
              </a:tr>
              <a:tr h="400521">
                <a:tc>
                  <a:txBody>
                    <a:bodyPr/>
                    <a:lstStyle/>
                    <a:p>
                      <a:pPr marL="0" indent="0" lvl="0">
                        <a:buNone/>
                      </a:pPr>
                      <a:r>
                        <a:rPr sz="750" b="1">
                          <a:solidFill>
                            <a:srgbClr val="060606"/>
                          </a:solidFill>
                          <a:latin typeface="Helvetica"/>
                        </a:rPr>
                        <a:t>Partie 4</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Taux de cotisation</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56</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taux maladie : colonne du salaire de base des fichiers retour du poste 936 (dossier « FPPN-SOLDE\EFFECTIF POLICE (MALADIE) ») (huit mois détaillés). Taux décès : fichiers retour du poste 8Z6 (dossier « FPPN-SOLDE\ALLOCATION DECES ») rapportés au 936 de mars 2024 à septembre 2026</a:t>
                      </a:r>
                    </a:p>
                  </a:txBody>
                  <a:tcPr marL="43200" marR="43200" marT="14400" marB="14400" anchor="ctr">
                    <a:solidFill>
                      <a:srgbClr val="F2F2F2"/>
                    </a:solidFill>
                  </a:tcPr>
                </a:tc>
              </a:tr>
              <a:tr h="286214">
                <a:tc>
                  <a:txBody>
                    <a:bodyPr/>
                    <a:lstStyle/>
                    <a:p>
                      <a:pPr marL="0" indent="0" lvl="0">
                        <a:buNone/>
                      </a:pPr>
                      <a:r>
                        <a:rPr sz="750" b="1">
                          <a:solidFill>
                            <a:srgbClr val="060606"/>
                          </a:solidFill>
                          <a:latin typeface="Helvetica"/>
                        </a:rPr>
                        <a:t>Partie 4</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Sensibilité : clé de répartition</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57</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exercice 2025. Cotisations des comptes 7010 et 7021 de « BALANCE FPPN 2025.xlsx » réparties entre maladie et décès selon la clé testée</a:t>
                      </a:r>
                    </a:p>
                  </a:txBody>
                  <a:tcPr marL="43200" marR="43200" marT="14400" marB="14400" anchor="ctr">
                    <a:solidFill>
                      <a:srgbClr val="FFFFFF"/>
                    </a:solidFill>
                  </a:tcPr>
                </a:tc>
              </a:tr>
              <a:tr h="400521">
                <a:tc>
                  <a:txBody>
                    <a:bodyPr/>
                    <a:lstStyle/>
                    <a:p>
                      <a:pPr marL="0" indent="0" lvl="0">
                        <a:buNone/>
                      </a:pPr>
                      <a:r>
                        <a:rPr sz="750" b="1">
                          <a:solidFill>
                            <a:srgbClr val="060606"/>
                          </a:solidFill>
                          <a:latin typeface="Helvetica"/>
                        </a:rPr>
                        <a:t>Partie 4</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Cotisations en termes réels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58</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cotisations des comptes 7010 et 7021 des balances « BALANCE FORMAT EXCEL DE 09-2020 AU 31-12-2020.xlsx » à « BALANCE FPPN DU 01-01-2026 AU 31-08-2026.xlsx », 2020 à 2025. Inflation de la Banque mondiale (FP.CPI.TOTL.ZG, Côte d'Ivoire), francs de 2020</a:t>
                      </a:r>
                    </a:p>
                  </a:txBody>
                  <a:tcPr marL="43200" marR="43200" marT="14400" marB="14400" anchor="ctr">
                    <a:solidFill>
                      <a:srgbClr val="F2F2F2"/>
                    </a:solidFill>
                  </a:tcPr>
                </a:tc>
              </a:tr>
              <a:tr h="400521">
                <a:tc>
                  <a:txBody>
                    <a:bodyPr/>
                    <a:lstStyle/>
                    <a:p>
                      <a:pPr marL="0" indent="0" lvl="0">
                        <a:buNone/>
                      </a:pPr>
                      <a:r>
                        <a:rPr sz="750" b="1">
                          <a:solidFill>
                            <a:srgbClr val="060606"/>
                          </a:solidFill>
                          <a:latin typeface="Helvetica"/>
                        </a:rPr>
                        <a:t>Partie 4</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Cotisations comptabilisées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59</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comptes 7010 (maladie) et 7021 (décès) des balances « BALANCE FORMAT EXCEL DE 09-2020 AU 31-12-2020.xlsx » à « BALANCE FPPN DU 01-01-2026 AU 31-08-2026.xlsx », 2020 à 2025 et du 01/01 au 31/08/2026. 2020 = à-nouveaux au 01/09/2020 plus mouvements du 01/09 au 31/12/2020</a:t>
                      </a:r>
                    </a:p>
                  </a:txBody>
                  <a:tcPr marL="43200" marR="43200" marT="14400" marB="14400" anchor="ctr">
                    <a:solidFill>
                      <a:srgbClr val="FFFFFF"/>
                    </a:solidFill>
                  </a:tcPr>
                </a:tc>
              </a:tr>
              <a:tr h="286214">
                <a:tc>
                  <a:txBody>
                    <a:bodyPr/>
                    <a:lstStyle/>
                    <a:p>
                      <a:pPr marL="0" indent="0" lvl="0">
                        <a:buNone/>
                      </a:pPr>
                      <a:r>
                        <a:rPr sz="750" b="1">
                          <a:solidFill>
                            <a:srgbClr val="060606"/>
                          </a:solidFill>
                          <a:latin typeface="Helvetica"/>
                        </a:rPr>
                        <a:t>Partie 4</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Règles des produits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60</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déclarations du 19/10/2026 confrontées aux montants des fichiers de précomptes reçus le 15/10/2026, postes 870, 998, 9X4, 9W3 et 8Z7, mois reçus</a:t>
                      </a:r>
                    </a:p>
                  </a:txBody>
                  <a:tcPr marL="43200" marR="43200" marT="14400" marB="14400" anchor="ctr">
                    <a:solidFill>
                      <a:srgbClr val="F2F2F2"/>
                    </a:solidFill>
                  </a:tcPr>
                </a:tc>
              </a:tr>
              <a:tr h="400521">
                <a:tc>
                  <a:txBody>
                    <a:bodyPr/>
                    <a:lstStyle/>
                    <a:p>
                      <a:pPr marL="0" indent="0" lvl="0">
                        <a:buNone/>
                      </a:pPr>
                      <a:r>
                        <a:rPr sz="750" b="1">
                          <a:solidFill>
                            <a:srgbClr val="060606"/>
                          </a:solidFill>
                          <a:latin typeface="Helvetica"/>
                        </a:rPr>
                        <a:t>Partie 5</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Sinistralité comptable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66</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comptes 601, 6013, 6018, 60800007, 6021 et 6024 (prestations) et 7010, 7021 (cotisations) des balances « BALANCE FORMAT EXCEL DE 09-2020 AU 31-12-2020.xlsx » à « BALANCE FPPN DU 01-01-2026 AU 31-08-2026.xlsx », 2020 à 2025 et du 01/01 au 31/08/2026. Sans provisions ni sinistres tardifs</a:t>
                      </a:r>
                    </a:p>
                  </a:txBody>
                  <a:tcPr marL="43200" marR="43200" marT="14400" marB="14400" anchor="ctr">
                    <a:solidFill>
                      <a:srgbClr val="FFFFFF"/>
                    </a:solidFill>
                  </a:tcPr>
                </a:tc>
              </a:tr>
              <a:tr h="400521">
                <a:tc>
                  <a:txBody>
                    <a:bodyPr/>
                    <a:lstStyle/>
                    <a:p>
                      <a:pPr marL="0" indent="0" lvl="0">
                        <a:buNone/>
                      </a:pPr>
                      <a:r>
                        <a:rPr sz="750" b="1">
                          <a:solidFill>
                            <a:srgbClr val="060606"/>
                          </a:solidFill>
                          <a:latin typeface="Helvetica"/>
                        </a:rPr>
                        <a:t>Partie 5</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Choix de la formule : sinistralité</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67</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formules de la Décision n° 05/2022 (annexe, § 1.1.1 et § 1.2.1.2.5) appliquées aux comptes de prestations (601 à 6024), de cotisations (7010, 7021) et de provisions (158) des balances « BALANCE FORMAT EXCEL DE 09-2020 AU 31-12-2020.xlsx » à « BALANCE FPPN DU 01-01-2026 AU 31-08-2026.xlsx »</a:t>
                      </a:r>
                    </a:p>
                  </a:txBody>
                  <a:tcPr marL="43200" marR="43200" marT="14400" marB="14400" anchor="ctr">
                    <a:solidFill>
                      <a:srgbClr val="F2F2F2"/>
                    </a:solidFill>
                  </a:tcPr>
                </a:tc>
              </a:tr>
              <a:tr h="400521">
                <a:tc>
                  <a:txBody>
                    <a:bodyPr/>
                    <a:lstStyle/>
                    <a:p>
                      <a:pPr marL="0" indent="0" lvl="0">
                        <a:buNone/>
                      </a:pPr>
                      <a:r>
                        <a:rPr sz="750" b="1">
                          <a:solidFill>
                            <a:srgbClr val="060606"/>
                          </a:solidFill>
                          <a:latin typeface="Helvetica"/>
                        </a:rPr>
                        <a:t>Partie 5</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Sinistralité selon la formule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68</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comptes de prestations, de cotisations (7010, 7021) et de provisions (158) des balances « BALANCE FORMAT EXCEL DE 09-2020 AU 31-12-2020.xlsx » à « BALANCE FPPN DU 01-01-2026 AU 31-08-2026.xlsx », 2020 à 2025 et du 01/01 au 31/08/2026. Variation de provision nulle car les provisions ne bougent pas</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Partie 5</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Méthode de sinistralité du FPPN</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69</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période du 01/01 au 30/06/2026 pour les taux du FPPN, du 01/01 au 31/08/2026 pour le taux réglementaire</a:t>
                      </a:r>
                    </a:p>
                  </a:txBody>
                  <a:tcPr marL="43200" marR="43200" marT="14400" marB="14400" anchor="ctr">
                    <a:solidFill>
                      <a:srgbClr val="F2F2F2"/>
                    </a:solidFill>
                  </a:tcPr>
                </a:tc>
              </a:tr>
            </a:tbl>
          </a:graphicData>
        </a:graphic>
      </p:graphicFrame>
      <p:sp>
        <p:nvSpPr>
          <p:cNvPr id="29" name="TextBox 28"/>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d'après les fichiers cités dans chaque diapositive</a:t>
            </a:r>
          </a:p>
        </p:txBody>
      </p:sp>
      <p:sp>
        <p:nvSpPr>
          <p:cNvPr id="30" name="TextBox 29"/>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FCP : fonds commun de placement | DAT : dépôt à terme | 936 : poste maladie | 8Z6 : poste décès | 9X4 : poste Grenier | 9W3 : poste flotte automobile | 8Z7 : poste MEDOC</a:t>
            </a:r>
          </a:p>
        </p:txBody>
      </p:sp>
    </p:spTree>
    <p:extLst>
      <p:ext uri="{BB962C8B-B14F-4D97-AF65-F5344CB8AC3E}">
        <p14:creationId xmlns:p14="http://schemas.microsoft.com/office/powerpoint/2010/main" val="1864194858"/>
      </p:ext>
    </p:extLst>
  </p:cSld>
  <p:clrMapOvr>
    <a:masterClrMapping/>
  </p:clrMapOvr>
  <p:transition>
    <p:fade/>
  </p:transition>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Périmètre et validité des analyses (4/12)</a:t>
            </a:r>
          </a:p>
        </p:txBody>
      </p:sp>
      <p:graphicFrame>
        <p:nvGraphicFramePr>
          <p:cNvPr id="28" name="Table 27"/>
          <p:cNvGraphicFramePr>
            <a:graphicFrameLocks noGrp="1"/>
          </p:cNvGraphicFramePr>
          <p:nvPr/>
        </p:nvGraphicFramePr>
        <p:xfrm>
          <a:off x="503999" y="720000"/>
          <a:ext cx="11232000" cy="4888082"/>
        </p:xfrm>
        <a:graphic>
          <a:graphicData uri="http://schemas.openxmlformats.org/drawingml/2006/table">
            <a:tbl>
              <a:tblPr firstRow="0" bandRow="0">
                <a:tableStyleId>{5940675A-B579-460E-94D1-54222C63F5DA}</a:tableStyleId>
              </a:tblPr>
              <a:tblGrid>
                <a:gridCol w="936000"/>
                <a:gridCol w="3456000"/>
                <a:gridCol w="1080000"/>
                <a:gridCol w="5760000"/>
              </a:tblGrid>
              <a:tr h="180000">
                <a:tc>
                  <a:txBody>
                    <a:bodyPr/>
                    <a:lstStyle/>
                    <a:p>
                      <a:pPr marL="0" indent="0" lvl="0">
                        <a:buNone/>
                      </a:pPr>
                      <a:r>
                        <a:rPr sz="800" b="1">
                          <a:solidFill>
                            <a:srgbClr val="FFFFFF"/>
                          </a:solidFill>
                          <a:latin typeface="Helvetica"/>
                        </a:rPr>
                        <a:t>Partie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Analyse ou diapositive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Diapo.</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Valable pour</a:t>
                      </a:r>
                    </a:p>
                  </a:txBody>
                  <a:tcPr marL="43200" marR="43200" marT="14400" marB="14400" anchor="ctr">
                    <a:solidFill>
                      <a:srgbClr val="060606"/>
                    </a:solidFill>
                  </a:tcPr>
                </a:tc>
              </a:tr>
              <a:tr h="301455">
                <a:tc>
                  <a:txBody>
                    <a:bodyPr/>
                    <a:lstStyle/>
                    <a:p>
                      <a:pPr marL="0" indent="0" lvl="0">
                        <a:buNone/>
                      </a:pPr>
                      <a:r>
                        <a:rPr sz="800" b="1">
                          <a:solidFill>
                            <a:srgbClr val="060606"/>
                          </a:solidFill>
                          <a:latin typeface="Helvetica"/>
                        </a:rPr>
                        <a:t>Partie 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Sinistralité décès : le FPPN et les comptes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70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garantie décès-invalidité, exercices 2020 à 2025. Prestations 2020 des comptes = obsèques 3 933 335 FCFA + prime d'assurance décès 574 393 861 FCFA (compte 65180000)</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Mortalité brute des membres participants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71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membres participants recensés par le FPPN, années 2015 à 2025. Ne vaut ni par âge, ni par grade, ni pour les ayants droit</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Nature des risques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72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garanties décrites par les statuts du 15/06/2023 et le règlement d'exécution n° 004/2022, art. 8 à 15. Qualification sans chiffre</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Partie 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Croissance des prestations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73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taux annuels moyens des comptes de prestations et de cotisations (7010, 7021) des balances « BALANCE FORMAT EXCEL DE 09-2020 AU 31-12-2020.xlsx » à « BALANCE FPPN DU 01-01-2026 AU 31-08-2026.xlsx » et des fichiers de précomptes. Périodes indiquées ligne par ligne</a:t>
                      </a:r>
                    </a:p>
                  </a:txBody>
                  <a:tcPr marL="43200" marR="43200" marT="14400" marB="14400" anchor="ctr">
                    <a:solidFill>
                      <a:srgbClr val="F2F2F2"/>
                    </a:solidFill>
                  </a:tcPr>
                </a:tc>
              </a:tr>
              <a:tr h="423383">
                <a:tc>
                  <a:txBody>
                    <a:bodyPr/>
                    <a:lstStyle/>
                    <a:p>
                      <a:pPr marL="0" indent="0" lvl="0">
                        <a:buNone/>
                      </a:pPr>
                      <a:r>
                        <a:rPr sz="800" b="1">
                          <a:solidFill>
                            <a:srgbClr val="060606"/>
                          </a:solidFill>
                          <a:latin typeface="Helvetica"/>
                        </a:rPr>
                        <a:t>Partie 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Prestations maladie par nature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74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comptes 601, 6013, 6018 et 60800007 des balances « BALANCE FORMAT EXCEL DE 09-2020 AU 31-12-2020.xlsx » à « BALANCE FPPN DU 01-01-2026 AU 31-08-2026.xlsx », 2020 à 2025 et du 01/01 au 31/08/2026. Nature telle que libellée par le FPPN</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Frais de gestion et résultat</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75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comptes 61 à 66 hors 6518 (frais) et résultat net des balances « BALANCE FORMAT EXCEL DE 09-2020 AU 31-12-2020.xlsx » à « BALANCE FPPN DU 01-01-2026 AU 31-08-2026.xlsx », 2020 à 2025 et du 01/01 au 31/08/2026</a:t>
                      </a:r>
                    </a:p>
                  </a:txBody>
                  <a:tcPr marL="43200" marR="43200" marT="14400" marB="14400" anchor="ctr">
                    <a:solidFill>
                      <a:srgbClr val="F2F2F2"/>
                    </a:solidFill>
                  </a:tcPr>
                </a:tc>
              </a:tr>
              <a:tr h="423383">
                <a:tc>
                  <a:txBody>
                    <a:bodyPr/>
                    <a:lstStyle/>
                    <a:p>
                      <a:pPr marL="0" indent="0" lvl="0">
                        <a:buNone/>
                      </a:pPr>
                      <a:r>
                        <a:rPr sz="800" b="1">
                          <a:solidFill>
                            <a:srgbClr val="060606"/>
                          </a:solidFill>
                          <a:latin typeface="Helvetica"/>
                        </a:rPr>
                        <a:t>Partie 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Choix de la formule : frais de gestion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76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formules de la Décision n° 05/2022 (annexe, tableau 1) appliquées aux comptes 61 à 66 hors 6518 et 7010, 7021 des balances « BALANCE FORMAT EXCEL DE 09-2020 AU 31-12-2020.xlsx » à « BALANCE FPPN DU 01-01-2026 AU 31-08-2026.xlsx »</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Partie 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Adossement de l'épargne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81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comptes 41195100 et 41195200 (épargne) et comptes bancaires, DAT et FCP réservés à l'épargne des balances « BALANCE FORMAT EXCEL DE 09-2020 AU 31-12-2020.xlsx » à « BALANCE FPPN DU 01-01-2026 AU 31-08-2026.xlsx », au 31/12 de 2020 à 2025 et au 31/08/2026</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Versements d'épargne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82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versements des postes 998 (PEP) et 870 (EFC) dans les fichiers retour de la Solde, mois reçus de 2023 à 2026, comparés aux crédits des comptes 41195100 et 41195200</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Sensibilité : retraits d'épargne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83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épargne due et actifs à moins d'un an au 31/08/2026 (« BALANCE FPPN DU 01-01-2026 AU 31-08-2026.xlsx »). Taux de retrait hypothétiques</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Poste 998 : autres références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84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références du poste 998 dans les fichiers retour « FPPN-SOLDE\PEP\FICHIER RETOUR », de 2020 à août 2026. 2001 à 2019 non retenus</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EFC et PEP : trois taux dans trois documents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86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documents du FPPN reçus le 22/10/2026 et entretien du 19/10/2026. Le taux réellement appliqué aux mutualistes n'est pas connu</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Intérêts servis : aucune écriture dans les comptes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87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grand livre 2024 pour le détail des écritures. Balances de 2020 au 31/08/2026 pour l'absence de charge d'intérêts</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Sensibilité : intérêts annuels dus sur l'EFC</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88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encours EFC comptable au 31/12 de 2020 à 2025 et au 31/08/2026, une année d'intérêts, sans projection ni capitalisation</a:t>
                      </a:r>
                    </a:p>
                  </a:txBody>
                  <a:tcPr marL="43200" marR="43200" marT="14400" marB="14400" anchor="ctr">
                    <a:solidFill>
                      <a:srgbClr val="F2F2F2"/>
                    </a:solidFill>
                  </a:tcPr>
                </a:tc>
              </a:tr>
            </a:tbl>
          </a:graphicData>
        </a:graphic>
      </p:graphicFrame>
      <p:sp>
        <p:nvSpPr>
          <p:cNvPr id="29" name="TextBox 28"/>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d'après les fichiers cités dans chaque diapositive</a:t>
            </a:r>
          </a:p>
        </p:txBody>
      </p:sp>
      <p:sp>
        <p:nvSpPr>
          <p:cNvPr id="30" name="TextBox 29"/>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PEP : Plan Épargne Plus | EFC : entraide fin de carrière | FCP : fonds commun de placement | DAT : dépôt à terme | 998 : poste PEP</a:t>
            </a:r>
          </a:p>
        </p:txBody>
      </p:sp>
    </p:spTree>
    <p:extLst>
      <p:ext uri="{BB962C8B-B14F-4D97-AF65-F5344CB8AC3E}">
        <p14:creationId xmlns:p14="http://schemas.microsoft.com/office/powerpoint/2010/main" val="1703760642"/>
      </p:ext>
    </p:extLst>
  </p:cSld>
  <p:clrMapOvr>
    <a:masterClrMapping/>
  </p:clrMapOvr>
  <p:transition>
    <p:fade/>
  </p:transition>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Périmètre et validité des analyses (5/12)</a:t>
            </a:r>
          </a:p>
        </p:txBody>
      </p:sp>
      <p:graphicFrame>
        <p:nvGraphicFramePr>
          <p:cNvPr id="28" name="Table 27"/>
          <p:cNvGraphicFramePr>
            <a:graphicFrameLocks noGrp="1"/>
          </p:cNvGraphicFramePr>
          <p:nvPr/>
        </p:nvGraphicFramePr>
        <p:xfrm>
          <a:off x="503999" y="720000"/>
          <a:ext cx="11232000" cy="5010010"/>
        </p:xfrm>
        <a:graphic>
          <a:graphicData uri="http://schemas.openxmlformats.org/drawingml/2006/table">
            <a:tbl>
              <a:tblPr firstRow="0" bandRow="0">
                <a:tableStyleId>{5940675A-B579-460E-94D1-54222C63F5DA}</a:tableStyleId>
              </a:tblPr>
              <a:tblGrid>
                <a:gridCol w="936000"/>
                <a:gridCol w="3456000"/>
                <a:gridCol w="1080000"/>
                <a:gridCol w="5760000"/>
              </a:tblGrid>
              <a:tr h="180000">
                <a:tc>
                  <a:txBody>
                    <a:bodyPr/>
                    <a:lstStyle/>
                    <a:p>
                      <a:pPr marL="0" indent="0" lvl="0">
                        <a:buNone/>
                      </a:pPr>
                      <a:r>
                        <a:rPr sz="800" b="1">
                          <a:solidFill>
                            <a:srgbClr val="FFFFFF"/>
                          </a:solidFill>
                          <a:latin typeface="Helvetica"/>
                        </a:rPr>
                        <a:t>Partie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Analyse ou diapositive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Diapo.</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Valable pour</a:t>
                      </a:r>
                    </a:p>
                  </a:txBody>
                  <a:tcPr marL="43200" marR="43200" marT="14400" marB="14400" anchor="ctr">
                    <a:solidFill>
                      <a:srgbClr val="060606"/>
                    </a:solidFill>
                  </a:tcPr>
                </a:tc>
              </a:tr>
              <a:tr h="423383">
                <a:tc>
                  <a:txBody>
                    <a:bodyPr/>
                    <a:lstStyle/>
                    <a:p>
                      <a:pPr marL="0" indent="0" lvl="0">
                        <a:buNone/>
                      </a:pPr>
                      <a:r>
                        <a:rPr sz="800" b="1">
                          <a:solidFill>
                            <a:srgbClr val="060606"/>
                          </a:solidFill>
                          <a:latin typeface="Helvetica"/>
                        </a:rPr>
                        <a:t>Partie 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Épargne : intérêts dus non comptabilisés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89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soldes des comptes 41195100 (PEP) et 41195200 (EFC) du 01/09/2020 au 31/08/2026 (balances 2020 à 2025 et provisoire 2026), 2020 approché par les soldes du 01/09 et du 31/12. Taux du manuel d'épargne. Intérêts antérieurs au 01/01/2020 et capitalisation non comptés</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Rapport de gestion 2025 : l'épargne présentée est la collecte de l'année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90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exercice 2025. Les rapports de gestion des autres années n'ont pas été contrôlés sur ce point</a:t>
                      </a:r>
                    </a:p>
                  </a:txBody>
                  <a:tcPr marL="43200" marR="43200" marT="14400" marB="14400" anchor="ctr">
                    <a:solidFill>
                      <a:srgbClr val="F2F2F2"/>
                    </a:solidFill>
                  </a:tcPr>
                </a:tc>
              </a:tr>
              <a:tr h="423383">
                <a:tc>
                  <a:txBody>
                    <a:bodyPr/>
                    <a:lstStyle/>
                    <a:p>
                      <a:pPr marL="0" indent="0" lvl="0">
                        <a:buNone/>
                      </a:pPr>
                      <a:r>
                        <a:rPr sz="800" b="1">
                          <a:solidFill>
                            <a:srgbClr val="060606"/>
                          </a:solidFill>
                          <a:latin typeface="Helvetica"/>
                        </a:rPr>
                        <a:t>Partie 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Encours du Grenier</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93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encours des exports « BalanceAgeeDetaille … .xls » du logiciel de prêts du Grenier aux arrêtés du 31/12/2021 au 31/12/2025 et mensuels de 2026. Financement : compte 47111102 des balances « BALANCE FORMAT EXCEL DE 09-2020 AU 31-12-2020.xlsx » à « BALANCE FPPN DU 01-01-2026 AU 31-08-2026.xlsx »</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Production de prêts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94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montants débloqués des exports « production_de_la_periode … .xls » du logiciel de prêts du Grenier, 2021 à septembre 2026, par type de crédit. Prêts non rapprochés des contrats</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Retards de remboursement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95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colonne « retard » des exports « BalanceAgeeDetaille … .xls » du logiciel de prêts du Grenier, arrêtés du 31/12/2021 au 31/08/2026. Retard compté sur l'échéance la plus ancienne impayée</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Échéances et précomptes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97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échéances des prêts en cours des exports « BalanceAgeeDetaille … .xls » du logiciel de prêts du Grenier et précomptes du poste 9X4 (« FPPN-SOLDE\GRENIER\FICHIER ALLER RETOUR »), mois de 2026 reçus</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Sensibilité : pertes sur prêts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98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encours au 31/08/2026 des exports « BalanceAgeeDetaille … .xls » du logiciel de prêts du Grenier. Taux de perte hypothétiques (la politique de crédit est appliquée en partie 9)</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Retraités CGRAE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101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retraités précomptés dans les fichiers retour de la CGRAE (dossier « FPPN-CGRAE\PRECOMTES\FICHIER RETOUR (CGRAE) »), février 2024 à septembre 2026. Ne couvre pas les retraités sans quotité cessible</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Convention IPS-CGRAE : santé des policiers retraités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102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texte de la convention reçu le 22/10/2026. Son application (nombre de retraités, montants précomptés) est mesurée en partie 8 de février 2024 à septembre 2026</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Santé des retraités : ce que l'on peut mesurer</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103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fichiers retour de la CGRAE reçus le 15/10/2026, févr. 24 à août 26 (un mois sur quatre affiché, tous les mois dans le classeur). Ne couvre pas les retraités non précomptés</a:t>
                      </a:r>
                    </a:p>
                  </a:txBody>
                  <a:tcPr marL="43200" marR="43200" marT="14400" marB="14400" anchor="ctr">
                    <a:solidFill>
                      <a:srgbClr val="F2F2F2"/>
                    </a:solidFill>
                  </a:tcPr>
                </a:tc>
              </a:tr>
              <a:tr h="423383">
                <a:tc>
                  <a:txBody>
                    <a:bodyPr/>
                    <a:lstStyle/>
                    <a:p>
                      <a:pPr marL="0" indent="0" lvl="0">
                        <a:buNone/>
                      </a:pPr>
                      <a:r>
                        <a:rPr sz="800" b="1">
                          <a:solidFill>
                            <a:srgbClr val="060606"/>
                          </a:solidFill>
                          <a:latin typeface="Helvetica"/>
                        </a:rPr>
                        <a:t>Partie 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Produits annexes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104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postes 9W3 (GNA) et 8Z7 (MEDOC) des fichiers « FPPN-GNA » et « FPPN-SOLDE\MEDOC », mois reçus de 2023 à 2026. Compte 71800000 des balances « BALANCE FORMAT EXCEL DE 09-2020 AU 31-12-2020.xlsx » à « BALANCE FPPN DU 01-01-2026 AU 31-08-2026.xlsx »</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Partie 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Provisions techniques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108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comptes 15801 et 15802 (19011 et 19012 avant leur reclassement) des balances « BALANCE FORMAT EXCEL DE 09-2020 AU 31-12-2020.xlsx » à « BALANCE FPPN DU 01-01-2026 AU 31-08-2026.xlsx », rapportés aux prestations de l'année. 2026 sur huit mois</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Provisions attendues par produit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109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provisions au 31/12/2025 des comptes 158 et 196 de « BALANCE FPPN 2025.xlsx ». Besoins mesurés dans les diapositives suivantes de la partie 9</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Partie 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PSAP et dettes envers les cliniques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110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compte 15801000 et compte 40110000 (dettes envers les cliniques) des balances « BALANCE FORMAT EXCEL DE 09-2020 AU 31-12-2020.xlsx » à « BALANCE FPPN DU 01-01-2026 AU 31-08-2026.xlsx », au 31/12 de 2020 à 2025 et au 31/08/2026</a:t>
                      </a:r>
                    </a:p>
                  </a:txBody>
                  <a:tcPr marL="43200" marR="43200" marT="14400" marB="14400" anchor="ctr">
                    <a:solidFill>
                      <a:srgbClr val="F2F2F2"/>
                    </a:solidFill>
                  </a:tcPr>
                </a:tc>
              </a:tr>
            </a:tbl>
          </a:graphicData>
        </a:graphic>
      </p:graphicFrame>
      <p:sp>
        <p:nvSpPr>
          <p:cNvPr id="29" name="TextBox 28"/>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d'après les fichiers cités dans chaque diapositive</a:t>
            </a:r>
          </a:p>
        </p:txBody>
      </p:sp>
      <p:sp>
        <p:nvSpPr>
          <p:cNvPr id="30" name="TextBox 29"/>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Sigles : FPPN : Fonds de prévoyance de la Police nationale | CGRAE : Caisse générale de retraite des agents de l'État | PEP : Plan Épargne Plus | EFC : entraide fin de carrière | PSAP : provision pour sinistres à payer | GNA : assureur de la flotte automobile (compte 47111106) | MEDOC : produit santé complémentaire du poste 8Z7 | 9X4 : poste Grenier | 9W3 : poste flotte automobile | 8Z7 : poste MEDOC | IPS-CGRAE : Institution de prévoyance sociale - Caisse générale de retraite des agents de l'État</a:t>
            </a:r>
          </a:p>
        </p:txBody>
      </p:sp>
    </p:spTree>
    <p:extLst>
      <p:ext uri="{BB962C8B-B14F-4D97-AF65-F5344CB8AC3E}">
        <p14:creationId xmlns:p14="http://schemas.microsoft.com/office/powerpoint/2010/main" val="2466682576"/>
      </p:ext>
    </p:extLst>
  </p:cSld>
  <p:clrMapOvr>
    <a:masterClrMapping/>
  </p:clrMapOvr>
  <p:transition>
    <p:fade/>
  </p:transition>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Périmètre et validité des analyses (6/12)</a:t>
            </a:r>
          </a:p>
        </p:txBody>
      </p:sp>
      <p:graphicFrame>
        <p:nvGraphicFramePr>
          <p:cNvPr id="28" name="Table 27"/>
          <p:cNvGraphicFramePr>
            <a:graphicFrameLocks noGrp="1"/>
          </p:cNvGraphicFramePr>
          <p:nvPr/>
        </p:nvGraphicFramePr>
        <p:xfrm>
          <a:off x="503999" y="720000"/>
          <a:ext cx="11232000" cy="4157460"/>
        </p:xfrm>
        <a:graphic>
          <a:graphicData uri="http://schemas.openxmlformats.org/drawingml/2006/table">
            <a:tbl>
              <a:tblPr firstRow="0" bandRow="0">
                <a:tableStyleId>{5940675A-B579-460E-94D1-54222C63F5DA}</a:tableStyleId>
              </a:tblPr>
              <a:tblGrid>
                <a:gridCol w="936000"/>
                <a:gridCol w="3456000"/>
                <a:gridCol w="1080000"/>
                <a:gridCol w="5760000"/>
              </a:tblGrid>
              <a:tr h="180000">
                <a:tc>
                  <a:txBody>
                    <a:bodyPr/>
                    <a:lstStyle/>
                    <a:p>
                      <a:pPr marL="0" indent="0" lvl="0">
                        <a:buNone/>
                      </a:pPr>
                      <a:r>
                        <a:rPr sz="800" b="1">
                          <a:solidFill>
                            <a:srgbClr val="FFFFFF"/>
                          </a:solidFill>
                          <a:latin typeface="Helvetica"/>
                        </a:rPr>
                        <a:t>Partie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Analyse ou diapositive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Diapo.</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Valable pour</a:t>
                      </a:r>
                    </a:p>
                  </a:txBody>
                  <a:tcPr marL="43200" marR="43200" marT="14400" marB="14400" anchor="ctr">
                    <a:solidFill>
                      <a:srgbClr val="060606"/>
                    </a:solidFill>
                  </a:tcPr>
                </a:tc>
              </a:tr>
              <a:tr h="301455">
                <a:tc>
                  <a:txBody>
                    <a:bodyPr/>
                    <a:lstStyle/>
                    <a:p>
                      <a:pPr marL="0" indent="0" lvl="0">
                        <a:buNone/>
                      </a:pPr>
                      <a:r>
                        <a:rPr sz="800" b="1">
                          <a:solidFill>
                            <a:srgbClr val="060606"/>
                          </a:solidFill>
                          <a:latin typeface="Helvetica"/>
                        </a:rPr>
                        <a:t>Partie 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Provision maladie : délais de paiement des cliniques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112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factures de cliniques enregistrées au compte 40110000, exercices 2020 à 2025 et du 01/01 au 31/08/2026. Ne couvre pas les remboursements aux mutualistes ni les bons payés hors de ce compte</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Provision maladie : factures arrivées en retard</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113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factures de cliniques enregistrées au journal SIN en 2023, 2024 et 2025, dont l'année figure dans le numéro. Ne couvre pas les factures sans année lisible</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Partie 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Provision maladie : montant nécessaire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114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clôtures 2022, 2023 et 2024. Prestations maladie des balances. Factures de cliniques du journal SIN</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Allocations décès : états de fin d'année et compte 41591000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116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états de fin d'année 2021 à 2025 tels que reçus le 22/10/2026. Crédits du compte 41591000 des balances 2021 à 2025</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Allocations décès : dette réelle et provision obsèques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117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comptes 41591000, 41592000, 19012000 et 15802000, exercices 2021 à 2025 et du 01/01 au 31/08/2026 (provisoire). Paiements par banque d'après le grand livre 2024 seulement</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Allocations décès : décès connus après la clôture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118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états de fin d'année 2021 et 2023, seuls à porter la date d'enregistrement. Dossiers de membres et d'ayants droit valorisés</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Provision pour risques courts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119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cotisations maladie et décès précomptées par la Solde (postes 936 et 8Z6, janvier 2024 à septembre 2026) et par la CGRAE (février 2024 à septembre 2026)</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Partie 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Prêts du Grenier : dépréciation selon la politique de crédit</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120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prêts du Grenier aux arrêtés du 31/12/2025 et du 31/08/2026, tranches de retard du logiciel de prêts</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Flotte automobile : risque porté par GNA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121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compte 47111106 (GNA) et compte 71800000 des balances 2023 à 2026. Précomptes 9W3 de 2024. Convention avec GNA non reçue</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Départ à la retraite du personnel</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122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comptes 196, 6911 et 7911 des balances « BALANCE FORMAT EXCEL DE 09-2020 AU 31-12-2020.xlsx » à « BALANCE FPPN DU 01-01-2026 AU 31-08-2026.xlsx », exercices 2020 à 2025</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Provision du personnel : méthode et paramètres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123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personnel civil déclaré à la CNPS (DISA), hors travailleurs occasionnels et fonctionnaires de police détachés, évaluation au 31/12</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Provision du personnel par entité de 2021 à 2025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124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agents des DISA 2021, 2022, 2023 et 2025 (« DISA_256927_&lt;année&gt;.xls »), au 31/12 de chaque année. 2024 non calculé (DISA scannée). Hors policiers détachés</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Provision du personnel agent par agent : Direction Générale (1/2)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125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agents déclarés dans la DISA 2025, évaluation au 31/12/2025. Paramètres de l'onglet 14a</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Provision du personnel agent par agent : Direction Générale (2/2)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126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agents déclarés dans la DISA 2025, évaluation au 31/12/2025. Paramètres de l'onglet 14a</a:t>
                      </a:r>
                    </a:p>
                  </a:txBody>
                  <a:tcPr marL="43200" marR="43200" marT="14400" marB="14400" anchor="ctr">
                    <a:solidFill>
                      <a:srgbClr val="F2F2F2"/>
                    </a:solidFill>
                  </a:tcPr>
                </a:tc>
              </a:tr>
            </a:tbl>
          </a:graphicData>
        </a:graphic>
      </p:graphicFrame>
      <p:sp>
        <p:nvSpPr>
          <p:cNvPr id="29" name="TextBox 28"/>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d'après les fichiers cités dans chaque diapositive</a:t>
            </a:r>
          </a:p>
        </p:txBody>
      </p:sp>
      <p:sp>
        <p:nvSpPr>
          <p:cNvPr id="30" name="TextBox 29"/>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Sigles : FPPN : Fonds de prévoyance de la Police nationale | CGRAE : Caisse générale de retraite des agents de l'État | CNPS : Caisse nationale de prévoyance sociale | GNA : assureur de la flotte automobile (compte 47111106) | 936 : poste maladie | 8Z6 : poste décès | 9W3 : poste flotte automobile | DISA : déclaration individuelle des salaires annuels à la CNPS</a:t>
            </a:r>
          </a:p>
        </p:txBody>
      </p:sp>
    </p:spTree>
    <p:extLst>
      <p:ext uri="{BB962C8B-B14F-4D97-AF65-F5344CB8AC3E}">
        <p14:creationId xmlns:p14="http://schemas.microsoft.com/office/powerpoint/2010/main" val="690661345"/>
      </p:ext>
    </p:extLst>
  </p:cSld>
  <p:clrMapOvr>
    <a:masterClrMapping/>
  </p:clrMapOvr>
  <p:transition>
    <p:fade/>
  </p:transition>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Périmètre et validité des analyses (7/12)</a:t>
            </a:r>
          </a:p>
        </p:txBody>
      </p:sp>
      <p:graphicFrame>
        <p:nvGraphicFramePr>
          <p:cNvPr id="28" name="Table 27"/>
          <p:cNvGraphicFramePr>
            <a:graphicFrameLocks noGrp="1"/>
          </p:cNvGraphicFramePr>
          <p:nvPr/>
        </p:nvGraphicFramePr>
        <p:xfrm>
          <a:off x="503999" y="720000"/>
          <a:ext cx="11232000" cy="3794041"/>
        </p:xfrm>
        <a:graphic>
          <a:graphicData uri="http://schemas.openxmlformats.org/drawingml/2006/table">
            <a:tbl>
              <a:tblPr firstRow="0" bandRow="0">
                <a:tableStyleId>{5940675A-B579-460E-94D1-54222C63F5DA}</a:tableStyleId>
              </a:tblPr>
              <a:tblGrid>
                <a:gridCol w="936000"/>
                <a:gridCol w="3456000"/>
                <a:gridCol w="1080000"/>
                <a:gridCol w="5760000"/>
              </a:tblGrid>
              <a:tr h="180000">
                <a:tc>
                  <a:txBody>
                    <a:bodyPr/>
                    <a:lstStyle/>
                    <a:p>
                      <a:pPr marL="0" indent="0" lvl="0">
                        <a:buNone/>
                      </a:pPr>
                      <a:r>
                        <a:rPr sz="800" b="1">
                          <a:solidFill>
                            <a:srgbClr val="FFFFFF"/>
                          </a:solidFill>
                          <a:latin typeface="Helvetica"/>
                        </a:rPr>
                        <a:t>Partie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Analyse ou diapositive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Diapo.</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Valable pour</a:t>
                      </a:r>
                    </a:p>
                  </a:txBody>
                  <a:tcPr marL="43200" marR="43200" marT="14400" marB="14400" anchor="ctr">
                    <a:solidFill>
                      <a:srgbClr val="060606"/>
                    </a:solidFill>
                  </a:tcPr>
                </a:tc>
              </a:tr>
              <a:tr h="180000">
                <a:tc>
                  <a:txBody>
                    <a:bodyPr/>
                    <a:lstStyle/>
                    <a:p>
                      <a:pPr marL="0" indent="0" lvl="0">
                        <a:buNone/>
                      </a:pPr>
                      <a:r>
                        <a:rPr sz="800" b="1">
                          <a:solidFill>
                            <a:srgbClr val="060606"/>
                          </a:solidFill>
                          <a:latin typeface="Helvetica"/>
                        </a:rPr>
                        <a:t>Partie 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Provision du personnel agent par agent : CMP (1/3)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127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agents déclarés dans la DISA 2025, évaluation au 31/12/2025. Paramètres de l'onglet 14a</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Partie 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Provision du personnel agent par agent : CMP (2/3)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128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agents déclarés dans la DISA 2025, évaluation au 31/12/2025. Paramètres de l'onglet 14a</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Partie 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Provision du personnel agent par agent : CMP (3/3)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129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agents déclarés dans la DISA 2025, évaluation au 31/12/2025. Paramètres de l'onglet 14a</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Partie 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Provision du personnel agent par agent : Grenier</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130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agents déclarés dans la DISA 2025, évaluation au 31/12/2025. Paramètres de l'onglet 14a</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Provision du personnel agent par agent : rattachement non documenté (1/2)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131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agents déclarés dans la DISA 2025, évaluation au 31/12/2025. Paramètres de l'onglet 14a</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Provision du personnel agent par agent : rattachement non documenté (2/2)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132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agents déclarés dans la DISA 2025, évaluation au 31/12/2025. Paramètres de l'onglet 14a</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Partie 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Provision du personnel : sensibilités et qualité des données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133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personnel civil de la DISA 2025, évaluation au 31/12/2025. Plafond conventionnel chiffré à part</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Conclusion : engagements envers les adhérents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134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balance provisoire au 31/08/2026. États de fin d'année des allocations décès 2021 à 2025. Factures de cliniques du journal SIN 2023 à 2025. DISA 2021 à 2025</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Partie 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Conclusion : suffisance des provisions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135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provisions au bilan du 31/08/2026. Besoins mesurés aux dates indiquées dans les diapositives de détail</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Méthode du FPPN et recalcul</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136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bilan provisoire au 31/08/2026. Recalculs des diapositives de la partie 9. Provision du personnel au 31/12/2025</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Partie 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Enjeux d'un provisionnement mal calibré</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137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provisions et recalculs au 31/08/2026</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Partie 9.2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Structure de l'actif</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139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comptes d'actif (classes 2 à 5, 41 et 47) des balances « BALANCE FORMAT EXCEL DE 09-2020 AU 31-12-2020.xlsx » à « BALANCE FPPN DU 01-01-2026 AU 31-08-2026.xlsx », au 31/12 de 2020 à 2025 et au 31/08/2026. Valeurs comptables non réévaluées</a:t>
                      </a:r>
                    </a:p>
                  </a:txBody>
                  <a:tcPr marL="43200" marR="43200" marT="14400" marB="14400" anchor="ctr">
                    <a:solidFill>
                      <a:srgbClr val="F2F2F2"/>
                    </a:solidFill>
                  </a:tcPr>
                </a:tc>
              </a:tr>
              <a:tr h="423383">
                <a:tc>
                  <a:txBody>
                    <a:bodyPr/>
                    <a:lstStyle/>
                    <a:p>
                      <a:pPr marL="0" indent="0" lvl="0">
                        <a:buNone/>
                      </a:pPr>
                      <a:r>
                        <a:rPr sz="800" b="1">
                          <a:solidFill>
                            <a:srgbClr val="060606"/>
                          </a:solidFill>
                          <a:latin typeface="Helvetica"/>
                        </a:rPr>
                        <a:t>Partie 9.2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Adossement de liquidité provisoire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140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actifs classés par délai de mobilisation et passif par échéance d'après la nature des comptes des balances « BALANCE FORMAT EXCEL DE 09-2020 AU 31-12-2020.xlsx » à « BALANCE FPPN DU 01-01-2026 AU 31-08-2026.xlsx », au 31/12/2025 et au 31/08/2026</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9.2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Pourquoi l'adossement est une borne favorable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141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corrections attendues tirées des textes cités et des constats du rapport. Sens de l'effet seulement, sans montant</a:t>
                      </a:r>
                    </a:p>
                  </a:txBody>
                  <a:tcPr marL="43200" marR="43200" marT="14400" marB="14400" anchor="ctr">
                    <a:solidFill>
                      <a:srgbClr val="F2F2F2"/>
                    </a:solidFill>
                  </a:tcPr>
                </a:tc>
              </a:tr>
            </a:tbl>
          </a:graphicData>
        </a:graphic>
      </p:graphicFrame>
      <p:sp>
        <p:nvSpPr>
          <p:cNvPr id="29" name="TextBox 28"/>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d'après les fichiers cités dans chaque diapositive</a:t>
            </a:r>
          </a:p>
        </p:txBody>
      </p:sp>
      <p:sp>
        <p:nvSpPr>
          <p:cNvPr id="30" name="TextBox 29"/>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CMP : Clinique médicale du policier | DISA : déclaration individuelle des salaires annuels à la CNPS</a:t>
            </a:r>
          </a:p>
        </p:txBody>
      </p:sp>
    </p:spTree>
    <p:extLst>
      <p:ext uri="{BB962C8B-B14F-4D97-AF65-F5344CB8AC3E}">
        <p14:creationId xmlns:p14="http://schemas.microsoft.com/office/powerpoint/2010/main" val="1270196338"/>
      </p:ext>
    </p:extLst>
  </p:cSld>
  <p:clrMapOvr>
    <a:masterClrMapping/>
  </p:clrMapOvr>
  <p:transition>
    <p:fade/>
  </p:transition>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Périmètre et validité des analyses (8/12)</a:t>
            </a:r>
          </a:p>
        </p:txBody>
      </p:sp>
      <p:graphicFrame>
        <p:nvGraphicFramePr>
          <p:cNvPr id="28" name="Table 27"/>
          <p:cNvGraphicFramePr>
            <a:graphicFrameLocks noGrp="1"/>
          </p:cNvGraphicFramePr>
          <p:nvPr/>
        </p:nvGraphicFramePr>
        <p:xfrm>
          <a:off x="503999" y="720000"/>
          <a:ext cx="11232000" cy="4522771"/>
        </p:xfrm>
        <a:graphic>
          <a:graphicData uri="http://schemas.openxmlformats.org/drawingml/2006/table">
            <a:tbl>
              <a:tblPr firstRow="0" bandRow="0">
                <a:tableStyleId>{5940675A-B579-460E-94D1-54222C63F5DA}</a:tableStyleId>
              </a:tblPr>
              <a:tblGrid>
                <a:gridCol w="936000"/>
                <a:gridCol w="3456000"/>
                <a:gridCol w="1080000"/>
                <a:gridCol w="5760000"/>
              </a:tblGrid>
              <a:tr h="180000">
                <a:tc>
                  <a:txBody>
                    <a:bodyPr/>
                    <a:lstStyle/>
                    <a:p>
                      <a:pPr marL="0" indent="0" lvl="0">
                        <a:buNone/>
                      </a:pPr>
                      <a:r>
                        <a:rPr sz="800" b="1">
                          <a:solidFill>
                            <a:srgbClr val="FFFFFF"/>
                          </a:solidFill>
                          <a:latin typeface="Helvetica"/>
                        </a:rPr>
                        <a:t>Partie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Analyse ou diapositive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Diapo.</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Valable pour</a:t>
                      </a:r>
                    </a:p>
                  </a:txBody>
                  <a:tcPr marL="43200" marR="43200" marT="14400" marB="14400" anchor="ctr">
                    <a:solidFill>
                      <a:srgbClr val="060606"/>
                    </a:solidFill>
                  </a:tcPr>
                </a:tc>
              </a:tr>
              <a:tr h="301455">
                <a:tc>
                  <a:txBody>
                    <a:bodyPr/>
                    <a:lstStyle/>
                    <a:p>
                      <a:pPr marL="0" indent="0" lvl="0">
                        <a:buNone/>
                      </a:pPr>
                      <a:r>
                        <a:rPr sz="800" b="1">
                          <a:solidFill>
                            <a:srgbClr val="060606"/>
                          </a:solidFill>
                          <a:latin typeface="Helvetica"/>
                        </a:rPr>
                        <a:t>Partie 9.2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Règles de valorisation des actifs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142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règles du règlement d'exécution n° 004/2022 (art. 17, 19 à 21, 27), de la Décision n° 05/2022 et du PCMS. Liste ivoirienne des actifs admis non reçue</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Partie 9.2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Scénarios de couverture des engagements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143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actifs et engagements au 31/12/2025 et au 31/08/2026 des balances « BALANCE FORMAT EXCEL DE 09-2020 AU 31-12-2020.xlsx » à « BALANCE FPPN DU 01-01-2026 AU 31-08-2026.xlsx ». Valorisation selon les règles de la diapositive précédente</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9.2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Choix des méthodes d'adossement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144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choix de méthode fondé sur les documents de référence cités et sur les données du FPPN de 2020 au 31/08/2026</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9.2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Adossement : à quel rythme l'épargne sort-elle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145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débits et soldes des comptes 41195100 et 41195200, balances 2020 à 2025. L'année 2020 sert de point de départ. 2026 non retenue (huit mois)</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9.2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Adossement : écarts de liquidité année par année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146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bilan provisoire au 31/08/2026, actifs classés par nature comptable. Taux de sortie moyen 2021 à 2025. Sans nouveaux versements ni intérêts dus</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9.2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Adossement : tests de résistance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147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bilans au 31/12/2025 et au 31/08/2026 (provisoire). Taux de sortie 2021 à 2025. Prestations maladie 2023 à 2025</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9.2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Adossement : gouvernance à mettre en place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148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pratiques des documents de référence cités. Situation du FPPN constatée en entretien le 19/10/2026 et sur les documents reçus jusqu'au 22/10/2026</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Partie 9.2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Conclusion : adossement actif-passif</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149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bilans au 31/12/2025 et au 31/08/2026 (provisoire). Comportements de sortie observés de 2021 à 2025</a:t>
                      </a:r>
                    </a:p>
                  </a:txBody>
                  <a:tcPr marL="43200" marR="43200" marT="14400" marB="14400" anchor="ctr">
                    <a:solidFill>
                      <a:srgbClr val="F2F2F2"/>
                    </a:solidFill>
                  </a:tcPr>
                </a:tc>
              </a:tr>
              <a:tr h="423383">
                <a:tc>
                  <a:txBody>
                    <a:bodyPr/>
                    <a:lstStyle/>
                    <a:p>
                      <a:pPr marL="0" indent="0" lvl="0">
                        <a:buNone/>
                      </a:pPr>
                      <a:r>
                        <a:rPr sz="800" b="1">
                          <a:solidFill>
                            <a:srgbClr val="060606"/>
                          </a:solidFill>
                          <a:latin typeface="Helvetica"/>
                        </a:rPr>
                        <a:t>Partie 9.3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Fonds propres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152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comptes 10, 11, 12 et résultat des balances « BALANCE FORMAT EXCEL DE 09-2020 AU 31-12-2020.xlsx » à « BALANCE FPPN DU 01-01-2026 AU 31-08-2026.xlsx », au 31/12 de 2020 à 2025 et au 31/08/2026. Sans retraitement des provisions</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9.3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Placements du FPPN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153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comptes 52210200 et 52210201 (DAT BOA) et 53300001 (FCP) des balances 2021 à 2026. Décision de placement selon l'entretien du 19/10/2026</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9.3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Clinique, projet de Cocody et désignation du directeur général</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155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documents reçus le 22/10/2026 (scans lus par reconnaissance de caractères). Montants des comptes 222, 47111101, 47111104, 47111105 et 47111100 au 31/08/2026 (provisoire)</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9.3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Rendement des placements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156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produits financiers (classe 77) et placements moyens (comptes 52 et 53) des balances 2021 à 2025. Taux directeurs de la BCEAO de 2020 à 2026</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9.3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Conclusion : adéquation des placements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157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placements et produits financiers de 2021 à 2025. Actifs et épargne au 31/08/2026 (provisoire). Intérêts dus aux taux du manuel d'épargne</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10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Textes applicables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160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textes de la mutualité sociale UEMOA et ivoirienne fournis le 18/10/2026. Versions en vigueur au 22/10/2026</a:t>
                      </a:r>
                    </a:p>
                  </a:txBody>
                  <a:tcPr marL="43200" marR="43200" marT="14400" marB="14400" anchor="ctr">
                    <a:solidFill>
                      <a:srgbClr val="F2F2F2"/>
                    </a:solidFill>
                  </a:tcPr>
                </a:tc>
              </a:tr>
            </a:tbl>
          </a:graphicData>
        </a:graphic>
      </p:graphicFrame>
      <p:sp>
        <p:nvSpPr>
          <p:cNvPr id="29" name="TextBox 28"/>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d'après les fichiers cités dans chaque diapositive</a:t>
            </a:r>
          </a:p>
        </p:txBody>
      </p:sp>
      <p:sp>
        <p:nvSpPr>
          <p:cNvPr id="30" name="TextBox 29"/>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PCMS : plan comptable des mutuelles sociales | BCEAO : Banque centrale des États de l'Afrique de l'Ouest | FCP : fonds commun de placement | DAT : dépôt à terme</a:t>
            </a:r>
          </a:p>
        </p:txBody>
      </p:sp>
    </p:spTree>
    <p:extLst>
      <p:ext uri="{BB962C8B-B14F-4D97-AF65-F5344CB8AC3E}">
        <p14:creationId xmlns:p14="http://schemas.microsoft.com/office/powerpoint/2010/main" val="1216597029"/>
      </p:ext>
    </p:extLst>
  </p:cSld>
  <p:clrMapOvr>
    <a:masterClrMapping/>
  </p:clrMapOvr>
  <p:transition>
    <p:fade/>
  </p:transition>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Périmètre et validité des analyses (9/12)</a:t>
            </a:r>
          </a:p>
        </p:txBody>
      </p:sp>
      <p:graphicFrame>
        <p:nvGraphicFramePr>
          <p:cNvPr id="28" name="Table 27"/>
          <p:cNvGraphicFramePr>
            <a:graphicFrameLocks noGrp="1"/>
          </p:cNvGraphicFramePr>
          <p:nvPr/>
        </p:nvGraphicFramePr>
        <p:xfrm>
          <a:off x="503999" y="720000"/>
          <a:ext cx="11232000" cy="4889501"/>
        </p:xfrm>
        <a:graphic>
          <a:graphicData uri="http://schemas.openxmlformats.org/drawingml/2006/table">
            <a:tbl>
              <a:tblPr firstRow="0" bandRow="0">
                <a:tableStyleId>{5940675A-B579-460E-94D1-54222C63F5DA}</a:tableStyleId>
              </a:tblPr>
              <a:tblGrid>
                <a:gridCol w="936000"/>
                <a:gridCol w="3456000"/>
                <a:gridCol w="1080000"/>
                <a:gridCol w="5760000"/>
              </a:tblGrid>
              <a:tr h="180000">
                <a:tc>
                  <a:txBody>
                    <a:bodyPr/>
                    <a:lstStyle/>
                    <a:p>
                      <a:pPr marL="0" indent="0" lvl="0">
                        <a:buNone/>
                      </a:pPr>
                      <a:r>
                        <a:rPr sz="800" b="1">
                          <a:solidFill>
                            <a:srgbClr val="FFFFFF"/>
                          </a:solidFill>
                          <a:latin typeface="Helvetica"/>
                        </a:rPr>
                        <a:t>Partie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Analyse ou diapositive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Diapo.</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Valable pour</a:t>
                      </a:r>
                    </a:p>
                  </a:txBody>
                  <a:tcPr marL="43200" marR="43200" marT="14400" marB="14400" anchor="ctr">
                    <a:solidFill>
                      <a:srgbClr val="060606"/>
                    </a:solidFill>
                  </a:tcPr>
                </a:tc>
              </a:tr>
              <a:tr h="423383">
                <a:tc>
                  <a:txBody>
                    <a:bodyPr/>
                    <a:lstStyle/>
                    <a:p>
                      <a:pPr marL="0" indent="0" lvl="0">
                        <a:buNone/>
                      </a:pPr>
                      <a:r>
                        <a:rPr sz="800" b="1">
                          <a:solidFill>
                            <a:srgbClr val="060606"/>
                          </a:solidFill>
                          <a:latin typeface="Helvetica"/>
                        </a:rPr>
                        <a:t>Partie 10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Risques courts et risques longs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161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garanties du FPPN qualifiées selon le règlement d'exécution n° 004/2022 (art. 1, 3, 12 à 15), sur les fichiers de précomptes et les balances « BALANCE FORMAT EXCEL DE 09-2020 AU 31-12-2020.xlsx » à « BALANCE FPPN DU 01-01-2026 AU 31-08-2026.xlsx »</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10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Deux lectures : comme le FPPN, puis retraitée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163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reclassements de comptes selon le PCMS (fiches 1 et 25) appliqués aux balances « BALANCE FORMAT EXCEL DE 09-2020 AU 31-12-2020.xlsx » à « BALANCE FPPN DU 01-01-2026 AU 31-08-2026.xlsx »</a:t>
                      </a:r>
                    </a:p>
                  </a:txBody>
                  <a:tcPr marL="43200" marR="43200" marT="14400" marB="14400" anchor="ctr">
                    <a:solidFill>
                      <a:srgbClr val="F2F2F2"/>
                    </a:solidFill>
                  </a:tcPr>
                </a:tc>
              </a:tr>
              <a:tr h="423383">
                <a:tc>
                  <a:txBody>
                    <a:bodyPr/>
                    <a:lstStyle/>
                    <a:p>
                      <a:pPr marL="0" indent="0" lvl="0">
                        <a:buNone/>
                      </a:pPr>
                      <a:r>
                        <a:rPr sz="800" b="1">
                          <a:solidFill>
                            <a:srgbClr val="060606"/>
                          </a:solidFill>
                          <a:latin typeface="Helvetica"/>
                        </a:rPr>
                        <a:t>Partie 10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Tableau de bord (1/4) : solvabilité et réserves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166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ratios de la Décision n° 05/2022 recalculés sur les balances « BALANCE FORMAT EXCEL DE 09-2020 AU 31-12-2020.xlsx » à « BALANCE FPPN DU 01-01-2026 AU 31-08-2026.xlsx », 2020 au 31/08/2026. Statut opposable de 2022 à 2025, indicatif en 2020, 2021 et 2026</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Partie 10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Tableau de bord (2/4) : risques longs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167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ratios de la Décision n° 05/2022 recalculés sur les balances « BALANCE FORMAT EXCEL DE 09-2020 AU 31-12-2020.xlsx » à « BALANCE FPPN DU 01-01-2026 AU 31-08-2026.xlsx », 2020 au 31/08/2026. Épargne traitée comme risque long. Statut opposable de 2022 à 2025</a:t>
                      </a:r>
                    </a:p>
                  </a:txBody>
                  <a:tcPr marL="43200" marR="43200" marT="14400" marB="14400" anchor="ctr">
                    <a:solidFill>
                      <a:srgbClr val="F2F2F2"/>
                    </a:solidFill>
                  </a:tcPr>
                </a:tc>
              </a:tr>
              <a:tr h="423383">
                <a:tc>
                  <a:txBody>
                    <a:bodyPr/>
                    <a:lstStyle/>
                    <a:p>
                      <a:pPr marL="0" indent="0" lvl="0">
                        <a:buNone/>
                      </a:pPr>
                      <a:r>
                        <a:rPr sz="800" b="1">
                          <a:solidFill>
                            <a:srgbClr val="060606"/>
                          </a:solidFill>
                          <a:latin typeface="Helvetica"/>
                        </a:rPr>
                        <a:t>Partie 10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Tableau de bord (3/4) : gestion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168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ratios de la Décision n° 05/2022 recalculés sur les balances « BALANCE FORMAT EXCEL DE 09-2020 AU 31-12-2020.xlsx » à « BALANCE FPPN DU 01-01-2026 AU 31-08-2026.xlsx » et des fichiers de précomptes (mois reçus). Statut opposable de 2022 à 2025</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10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Tableau de bord (4/4) : données en attente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169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indicateurs de la Décision n° 05/2022 non calculables avec les documents reçus au 22/10/2026. Numéros de la PBC</a:t>
                      </a:r>
                    </a:p>
                  </a:txBody>
                  <a:tcPr marL="43200" marR="43200" marT="14400" marB="14400" anchor="ctr">
                    <a:solidFill>
                      <a:srgbClr val="F2F2F2"/>
                    </a:solidFill>
                  </a:tcPr>
                </a:tc>
              </a:tr>
              <a:tr h="423383">
                <a:tc>
                  <a:txBody>
                    <a:bodyPr/>
                    <a:lstStyle/>
                    <a:p>
                      <a:pPr marL="0" indent="0" lvl="0">
                        <a:buNone/>
                      </a:pPr>
                      <a:r>
                        <a:rPr sz="800" b="1">
                          <a:solidFill>
                            <a:srgbClr val="060606"/>
                          </a:solidFill>
                          <a:latin typeface="Helvetica"/>
                        </a:rPr>
                        <a:t>Partie 10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Liquidité et équilibre : deux lectures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170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ratios de la Décision n° 05/2022 recalculés sur les balances « BALANCE FORMAT EXCEL DE 09-2020 AU 31-12-2020.xlsx » à « BALANCE FPPN DU 01-01-2026 AU 31-08-2026.xlsx », lecture comme le FPPN et lecture retraitée, 2020 au 31/08/2026</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Partie 10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Excédent par risque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181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comptes de prestations, de frais (61 à 66 hors 6518) et de cotisations (7010, 7021) des balances « BALANCE FORMAT EXCEL DE 09-2020 AU 31-12-2020.xlsx » à « BALANCE FPPN DU 01-01-2026 AU 31-08-2026.xlsx », 2020 à 2025. Frais répartis au prorata des cotisations (choix Adenka)</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Partie 10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Ratios par garantie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182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comptes 2022 à 2025 et du 01/01 au 31/08/2026 (provisoire). Frais répartis au prorata des cotisations</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10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Affectation des excédents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183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résultats et réserves (comptes 10 à 13) des balances « BALANCE FORMAT EXCEL DE 09-2020 AU 31-12-2020.xlsx » à « BALANCE FPPN DU 01-01-2026 AU 31-08-2026.xlsx », affectations de 2021 à 2025</a:t>
                      </a:r>
                    </a:p>
                  </a:txBody>
                  <a:tcPr marL="43200" marR="43200" marT="14400" marB="14400" anchor="ctr">
                    <a:solidFill>
                      <a:srgbClr val="F2F2F2"/>
                    </a:solidFill>
                  </a:tcPr>
                </a:tc>
              </a:tr>
              <a:tr h="423383">
                <a:tc>
                  <a:txBody>
                    <a:bodyPr/>
                    <a:lstStyle/>
                    <a:p>
                      <a:pPr marL="0" indent="0" lvl="0">
                        <a:buNone/>
                      </a:pPr>
                      <a:r>
                        <a:rPr sz="800" b="1">
                          <a:solidFill>
                            <a:srgbClr val="060606"/>
                          </a:solidFill>
                          <a:latin typeface="Helvetica"/>
                        </a:rPr>
                        <a:t>Partie 10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Marge de solvabilité</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184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marge de la Décision n° 05/2022 (annexe, § 1.1.1) sur les balances « BALANCE FORMAT EXCEL DE 09-2020 AU 31-12-2020.xlsx » à « BALANCE FPPN DU 01-01-2026 AU 31-08-2026.xlsx », 2020 au 31/08/2026. Pertes reportées déduites ou non selon la lecture</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Partie 10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Dispositif actuariel : qui calcule quoi</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185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situation constatée sur les documents reçus jusqu'au 22/10/2026 et les entretiens des 16 et 19/10/2026</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Partie 10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Dispositif actuariel : grille de conformité</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186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exigences des textes applicables au 31/08/2026. Pièces reçues jusqu'au 22/10/2026</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10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Contrôle du plan comptable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187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comptes des balances « BALANCE FORMAT EXCEL DE 09-2020 AU 31-12-2020.xlsx » à « BALANCE FPPN DU 01-01-2026 AU 31-08-2026.xlsx » comparés à la liste des comptes du PCMS (mai 2012, fiches 1, 2, 6 et 25)</a:t>
                      </a:r>
                    </a:p>
                  </a:txBody>
                  <a:tcPr marL="43200" marR="43200" marT="14400" marB="14400" anchor="ctr">
                    <a:solidFill>
                      <a:srgbClr val="F2F2F2"/>
                    </a:solidFill>
                  </a:tcPr>
                </a:tc>
              </a:tr>
            </a:tbl>
          </a:graphicData>
        </a:graphic>
      </p:graphicFrame>
      <p:sp>
        <p:nvSpPr>
          <p:cNvPr id="29" name="TextBox 28"/>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d'après les fichiers cités dans chaque diapositive</a:t>
            </a:r>
          </a:p>
        </p:txBody>
      </p:sp>
      <p:sp>
        <p:nvSpPr>
          <p:cNvPr id="30" name="TextBox 29"/>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PCMS : plan comptable des mutuelles sociales | PBC : liste des documents demandés au client</a:t>
            </a:r>
          </a:p>
        </p:txBody>
      </p:sp>
    </p:spTree>
    <p:extLst>
      <p:ext uri="{BB962C8B-B14F-4D97-AF65-F5344CB8AC3E}">
        <p14:creationId xmlns:p14="http://schemas.microsoft.com/office/powerpoint/2010/main" val="355834263"/>
      </p:ext>
    </p:extLst>
  </p:cSld>
  <p:clrMapOvr>
    <a:masterClrMapping/>
  </p:clrMapOvr>
  <p:transition>
    <p:fade/>
  </p:transition>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Périmètre et validité des analyses (10/12)</a:t>
            </a:r>
          </a:p>
        </p:txBody>
      </p:sp>
      <p:graphicFrame>
        <p:nvGraphicFramePr>
          <p:cNvPr id="28" name="Table 27"/>
          <p:cNvGraphicFramePr>
            <a:graphicFrameLocks noGrp="1"/>
          </p:cNvGraphicFramePr>
          <p:nvPr/>
        </p:nvGraphicFramePr>
        <p:xfrm>
          <a:off x="503999" y="720000"/>
          <a:ext cx="11232000" cy="4157933"/>
        </p:xfrm>
        <a:graphic>
          <a:graphicData uri="http://schemas.openxmlformats.org/drawingml/2006/table">
            <a:tbl>
              <a:tblPr firstRow="0" bandRow="0">
                <a:tableStyleId>{5940675A-B579-460E-94D1-54222C63F5DA}</a:tableStyleId>
              </a:tblPr>
              <a:tblGrid>
                <a:gridCol w="936000"/>
                <a:gridCol w="3456000"/>
                <a:gridCol w="1080000"/>
                <a:gridCol w="5760000"/>
              </a:tblGrid>
              <a:tr h="180000">
                <a:tc>
                  <a:txBody>
                    <a:bodyPr/>
                    <a:lstStyle/>
                    <a:p>
                      <a:pPr marL="0" indent="0" lvl="0">
                        <a:buNone/>
                      </a:pPr>
                      <a:r>
                        <a:rPr sz="800" b="1">
                          <a:solidFill>
                            <a:srgbClr val="FFFFFF"/>
                          </a:solidFill>
                          <a:latin typeface="Helvetica"/>
                        </a:rPr>
                        <a:t>Partie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Analyse ou diapositive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Diapo.</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Valable pour</a:t>
                      </a:r>
                    </a:p>
                  </a:txBody>
                  <a:tcPr marL="43200" marR="43200" marT="14400" marB="14400" anchor="ctr">
                    <a:solidFill>
                      <a:srgbClr val="060606"/>
                    </a:solidFill>
                  </a:tcPr>
                </a:tc>
              </a:tr>
              <a:tr h="180000">
                <a:tc>
                  <a:txBody>
                    <a:bodyPr/>
                    <a:lstStyle/>
                    <a:p>
                      <a:pPr marL="0" indent="0" lvl="0">
                        <a:buNone/>
                      </a:pPr>
                      <a:r>
                        <a:rPr sz="800" b="1">
                          <a:solidFill>
                            <a:srgbClr val="060606"/>
                          </a:solidFill>
                          <a:latin typeface="Helvetica"/>
                        </a:rPr>
                        <a:t>Partie 10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Exigences non chiffrées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188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exigences des textes cités confrontées aux documents reçus jusqu'au 22/10/2026</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10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Exposition aux sanctions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189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sanctions de l'arrêté n° 00115/MEPS/CAB du 12/12/2023 et du règlement n° 07/2009 rapprochées des constats du rapport. Ne vaut pas avis juridique</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10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Analyses de sensibilité : méthode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méthode appliquée dans les classeur des calculs, onglets 13a à 13i. Références ISAP 1, IAS 19, IFRS 17 et IFRS 7</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Partie 10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Ratios non conformes de 2020 au 31/08/2026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ratios de la Décision n° 05/2022 recalculés sur les balances « BALANCE FORMAT EXCEL DE 09-2020 AU 31-12-2020.xlsx » à « BALANCE FPPN DU 01-01-2026 AU 31-08-2026.xlsx », 2020 au 31/08/2026, recalculés par formules dans les classeur des calculs, onglets 13a à 13i</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10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Cinq facteurs récurrents expliquent les écarts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comptes en cause des balances « BALANCE FORMAT EXCEL DE 09-2020 AU 31-12-2020.xlsx » à « BALANCE FPPN DU 01-01-2026 AU 31-08-2026.xlsx », 2020 au 31/08/2026. Classeur des calculs, onglets 13a à 13i</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10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Montant à combler par ratio</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écarts aux normes de la Décision n° 05/2022 calculés dans les classeur des calculs, onglets 13a à 13i, 2020 au 31/08/2026</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10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Effet de chaque levier sur chaque ratio</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choc de 100 000 000 FCFA appliqué à l'exercice 2025 dans les classeur des calculs, onglets 13a à 13i. Effets de premier ordre seulement</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Partie 10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Montants d'équilibre de chaque levier en 2025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exercice 2025, classeur des calculs, onglets 13a à 13i. Un levier à la fois, sans interaction</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10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Cotisations : deux ratios demandent des mouvements opposés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exercice 2025, cotisations des comptes 7010 et 7021 de « BALANCE FPPN 2025.xlsx ». Classeur des calculs, onglets 13a à 13i</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10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Liquidité : la vente des placements longs ne suffirait pas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198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bilan au 31/12/2025 de « BALANCE FPPN 2025.xlsx ». Plafonds de réallocation des classeur des calculs, onglets 13a à 13i</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10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Réserve et fonds propres : la règle des statuts aurait suffi pour la réserve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199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dotation statutaire (statuts, art. 81 et 90) appliquée aux excédents de 2020 à 2025 des balances « BALANCE FORMAT EXCEL DE 09-2020 AU 31-12-2020.xlsx » à « BALANCE FPPN DU 01-01-2026 AU 31-08-2026.xlsx »</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Partie 10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Les normes de flux ne peuvent pas être respectées ensemble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200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normes du tableau 1 (lignes 2 et 5) et du tableau 2 de la Décision n° 05/2022, exercice 2025</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10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Inflation médicale : sous-indices de prix de la santé</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201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IHPC santé de l'ANStat (national, extraction du 19/10/2026), 2020 à 2025, pondéré par les prestations maladie 2025 du FPPN</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10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Sinistralité face à une hausse des prestations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202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exercice 2025. Hausses de prestations hypothétiques appliquées aux prestations de « BALANCE FPPN 2025.xlsx »</a:t>
                      </a:r>
                    </a:p>
                  </a:txBody>
                  <a:tcPr marL="43200" marR="43200" marT="14400" marB="14400" anchor="ctr">
                    <a:solidFill>
                      <a:srgbClr val="F2F2F2"/>
                    </a:solidFill>
                  </a:tcPr>
                </a:tc>
              </a:tr>
            </a:tbl>
          </a:graphicData>
        </a:graphic>
      </p:graphicFrame>
      <p:sp>
        <p:nvSpPr>
          <p:cNvPr id="29" name="TextBox 28"/>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d'après les fichiers cités dans chaque diapositive</a:t>
            </a:r>
          </a:p>
        </p:txBody>
      </p:sp>
      <p:sp>
        <p:nvSpPr>
          <p:cNvPr id="30" name="TextBox 29"/>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Sigles : FPPN : Fonds de prévoyance de la Police nationale | S/C : prestations / cotisations | MEPS : ministère de l'Emploi et de la Protection sociale | ANStat : Agence nationale de la statistique de Côte d'Ivoire | IHPC : indice harmonisé des prix à la consommation | ISAP : norme internationale de pratique actuarielle de l'Association Actuarielle Internationale | IAS, IFRS : normes comptables internationales</a:t>
            </a:r>
          </a:p>
        </p:txBody>
      </p:sp>
    </p:spTree>
    <p:extLst>
      <p:ext uri="{BB962C8B-B14F-4D97-AF65-F5344CB8AC3E}">
        <p14:creationId xmlns:p14="http://schemas.microsoft.com/office/powerpoint/2010/main" val="363959995"/>
      </p:ext>
    </p:extLst>
  </p:cSld>
  <p:clrMapOvr>
    <a:masterClrMapping/>
  </p:clrMapOvr>
  <p:transition>
    <p:fade/>
  </p:transition>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Périmètre et validité des analyses (11/12)</a:t>
            </a:r>
          </a:p>
        </p:txBody>
      </p:sp>
      <p:graphicFrame>
        <p:nvGraphicFramePr>
          <p:cNvPr id="28" name="Table 27"/>
          <p:cNvGraphicFramePr>
            <a:graphicFrameLocks noGrp="1"/>
          </p:cNvGraphicFramePr>
          <p:nvPr/>
        </p:nvGraphicFramePr>
        <p:xfrm>
          <a:off x="503999" y="720000"/>
          <a:ext cx="11232000" cy="3428730"/>
        </p:xfrm>
        <a:graphic>
          <a:graphicData uri="http://schemas.openxmlformats.org/drawingml/2006/table">
            <a:tbl>
              <a:tblPr firstRow="0" bandRow="0">
                <a:tableStyleId>{5940675A-B579-460E-94D1-54222C63F5DA}</a:tableStyleId>
              </a:tblPr>
              <a:tblGrid>
                <a:gridCol w="936000"/>
                <a:gridCol w="3456000"/>
                <a:gridCol w="1080000"/>
                <a:gridCol w="5760000"/>
              </a:tblGrid>
              <a:tr h="180000">
                <a:tc>
                  <a:txBody>
                    <a:bodyPr/>
                    <a:lstStyle/>
                    <a:p>
                      <a:pPr marL="0" indent="0" lvl="0">
                        <a:buNone/>
                      </a:pPr>
                      <a:r>
                        <a:rPr sz="800" b="1">
                          <a:solidFill>
                            <a:srgbClr val="FFFFFF"/>
                          </a:solidFill>
                          <a:latin typeface="Helvetica"/>
                        </a:rPr>
                        <a:t>Partie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Analyse ou diapositive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Diapo.</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Valable pour</a:t>
                      </a:r>
                    </a:p>
                  </a:txBody>
                  <a:tcPr marL="43200" marR="43200" marT="14400" marB="14400" anchor="ctr">
                    <a:solidFill>
                      <a:srgbClr val="060606"/>
                    </a:solidFill>
                  </a:tcPr>
                </a:tc>
              </a:tr>
              <a:tr h="301455">
                <a:tc>
                  <a:txBody>
                    <a:bodyPr/>
                    <a:lstStyle/>
                    <a:p>
                      <a:pPr marL="0" indent="0" lvl="0">
                        <a:buNone/>
                      </a:pPr>
                      <a:r>
                        <a:rPr sz="800" b="1">
                          <a:solidFill>
                            <a:srgbClr val="060606"/>
                          </a:solidFill>
                          <a:latin typeface="Helvetica"/>
                        </a:rPr>
                        <a:t>Partie 10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Rendement des placements et taux du marché</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203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rendement du FPPN de 2021 à 2025 (classe 77 et comptes 52 et 53). Taux de la BCEAO et obligations ivoiriennes à 5 et 10 ans</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11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Choix des tables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207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tables « CIMA_H.xlsx », « CIMA_F.xlsx », « TD_CIMA.xlsx », « TV_CIMA.xlsx » fournies le 18/10/2026. Non comparées à la mortalité des policiers</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11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Courbes de survie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208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colonne Lx des tables CIMA H, CIMA F, TD et TV, âges 0 à 110 ans. Population générale de la zone CIMA, non le FPPN</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11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Probabilités de décès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209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colonne qx des tables CIMA H, CIMA F, TD et TV, âges 20 à 80 ans. Population générale de la zone CIMA, non le FPPN</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Partie 11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Indicateurs de référence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210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tables CIMA H, CIMA F, TD et TV, taux technique de 3,5 %. Valeurs de référence, non engagements du FPPN</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Partie 12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Projection : avertissement</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213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fichiers reçus jusqu'au 22/10/2026 : précomptes de la Solde (postes 936, 8Z6, 998, 870), fichier des effectifs du FPPN, fichiers retour de la CGRAE (dates de naissance de février à avril 2024 seulement)</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Partie 12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Projection agrégée : deux scénarios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214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cotisations, prestations et frais de gestion des comptes 2023 à 2025, garanties maladie et décès prises ensemble. Hors épargne, Grenier et produits financiers</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Partie 12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Projection agrégée : évolution du résultat</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215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mêmes données et hypothèses que la diapositive précédente</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Partie 13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Environnement de travail</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217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scripts du dossier de la mission tels qu'utilisés pour ce rapport</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Partie 13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Étapes du traitement des données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218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traitements des fichiers reçus jusqu'au 22/10/2026</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Partie 14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Analyses en attente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228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documents demandés non reçus au 22/10/2026 (PBC pointée)</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Partie 14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Questions au FPPN (1/2)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229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questions ouvertes au 23/10/2026</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Partie 14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Questions au FPPN (2/2)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230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questions ouvertes au 23/10/2026</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Annexe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Méthodes non retenues : vue d'ensemble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232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données reçues jusqu'au 22/10/2026</a:t>
                      </a:r>
                    </a:p>
                  </a:txBody>
                  <a:tcPr marL="43200" marR="43200" marT="14400" marB="14400" anchor="ctr">
                    <a:solidFill>
                      <a:srgbClr val="F2F2F2"/>
                    </a:solidFill>
                  </a:tcPr>
                </a:tc>
              </a:tr>
            </a:tbl>
          </a:graphicData>
        </a:graphic>
      </p:graphicFrame>
      <p:sp>
        <p:nvSpPr>
          <p:cNvPr id="29" name="TextBox 28"/>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d'après les fichiers cités dans chaque diapositive</a:t>
            </a:r>
          </a:p>
        </p:txBody>
      </p:sp>
      <p:sp>
        <p:nvSpPr>
          <p:cNvPr id="30" name="TextBox 29"/>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Sigles : FPPN : Fonds de prévoyance de la Police nationale | CIMA : Conférence interafricaine des marchés d'assurances | CGRAE : Caisse générale de retraite des agents de l'État | BCEAO : Banque centrale des États de l'Afrique de l'Ouest | PBC : liste des documents demandés au client | qx : probabilité de décès entre x et x + 1 ans | Lx : survivants à l'âge x | 936 : poste maladie | 8Z6 : poste décès</a:t>
            </a:r>
          </a:p>
        </p:txBody>
      </p:sp>
    </p:spTree>
    <p:extLst>
      <p:ext uri="{BB962C8B-B14F-4D97-AF65-F5344CB8AC3E}">
        <p14:creationId xmlns:p14="http://schemas.microsoft.com/office/powerpoint/2010/main" val="1875247350"/>
      </p:ext>
    </p:extLst>
  </p:cSld>
  <p:clrMapOvr>
    <a:masterClrMapping/>
  </p:clrMapOvr>
  <p:transition>
    <p:fade/>
  </p:transition>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Périmètre et validité des analyses (12/12)</a:t>
            </a:r>
          </a:p>
        </p:txBody>
      </p:sp>
      <p:graphicFrame>
        <p:nvGraphicFramePr>
          <p:cNvPr id="28" name="Table 27"/>
          <p:cNvGraphicFramePr>
            <a:graphicFrameLocks noGrp="1"/>
          </p:cNvGraphicFramePr>
          <p:nvPr/>
        </p:nvGraphicFramePr>
        <p:xfrm>
          <a:off x="503999" y="720000"/>
          <a:ext cx="11232000" cy="2222910"/>
        </p:xfrm>
        <a:graphic>
          <a:graphicData uri="http://schemas.openxmlformats.org/drawingml/2006/table">
            <a:tbl>
              <a:tblPr firstRow="0" bandRow="0">
                <a:tableStyleId>{5940675A-B579-460E-94D1-54222C63F5DA}</a:tableStyleId>
              </a:tblPr>
              <a:tblGrid>
                <a:gridCol w="936000"/>
                <a:gridCol w="3456000"/>
                <a:gridCol w="1080000"/>
                <a:gridCol w="5760000"/>
              </a:tblGrid>
              <a:tr h="180000">
                <a:tc>
                  <a:txBody>
                    <a:bodyPr/>
                    <a:lstStyle/>
                    <a:p>
                      <a:pPr marL="0" indent="0" lvl="0">
                        <a:buNone/>
                      </a:pPr>
                      <a:r>
                        <a:rPr sz="800" b="1">
                          <a:solidFill>
                            <a:srgbClr val="FFFFFF"/>
                          </a:solidFill>
                          <a:latin typeface="Helvetica"/>
                        </a:rPr>
                        <a:t>Partie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Analyse ou diapositive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Diapo.</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Valable pour</a:t>
                      </a:r>
                    </a:p>
                  </a:txBody>
                  <a:tcPr marL="43200" marR="43200" marT="14400" marB="14400" anchor="ctr">
                    <a:solidFill>
                      <a:srgbClr val="060606"/>
                    </a:solidFill>
                  </a:tcPr>
                </a:tc>
              </a:tr>
              <a:tr h="301455">
                <a:tc>
                  <a:txBody>
                    <a:bodyPr/>
                    <a:lstStyle/>
                    <a:p>
                      <a:pPr marL="0" indent="0" lvl="0">
                        <a:buNone/>
                      </a:pPr>
                      <a:r>
                        <a:rPr sz="800" b="1">
                          <a:solidFill>
                            <a:srgbClr val="060606"/>
                          </a:solidFill>
                          <a:latin typeface="Helvetica"/>
                        </a:rPr>
                        <a:t>Annexe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Méthode non retenue : Chain Ladder et méthode CIMA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233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factures de cliniques du journal SIN 2023 à 2025. Délais calculés sur le compte 40110000 de 2020 au 31/08/2026</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Annexe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Méthode non retenue : mortalité observée par âge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234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décès de membres recensés par le FPPN de 2021 à 2025</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Annexe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Méthode non retenue : provision santé des retraités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235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retraités précomptés par la CGRAE de févr. 24 à août 26. Dates de naissance des fichiers retour de février à avril 2024</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Annexe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Méthode non retenue : duration et immunisation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236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bilans au 31/12/2025 et au 31/08/2026</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Annexe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Méthode non retenue : modèle stochastique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237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données reçues jusqu'au 22/10/2026</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Annexe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Méthode non retenue : valeur en risque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238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bilan au 31/08/2026</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Annexe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Méthode non retenue : capital de solvabilité</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239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ratios de 2020 au 31/08/2026</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Annexe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Fichiers sources (1/3)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240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fichiers reçus jusqu'au 22/10/2026 et retenus après les contrôles de la partie 3</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Annexe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Fichiers sources (2/3)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241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fichiers reçus jusqu'au 22/10/2026 et retenus après les contrôles de la partie 3</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Annexe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Fichiers sources (3/3)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242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fichiers reçus jusqu'au 22/10/2026 et retenus après les contrôles de la partie 3</a:t>
                      </a:r>
                    </a:p>
                  </a:txBody>
                  <a:tcPr marL="43200" marR="43200" marT="14400" marB="14400" anchor="ctr">
                    <a:solidFill>
                      <a:srgbClr val="F2F2F2"/>
                    </a:solidFill>
                  </a:tcPr>
                </a:tc>
              </a:tr>
            </a:tbl>
          </a:graphicData>
        </a:graphic>
      </p:graphicFrame>
      <p:sp>
        <p:nvSpPr>
          <p:cNvPr id="29" name="TextBox 28"/>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d'après les fichiers cités dans chaque diapositive</a:t>
            </a:r>
          </a:p>
        </p:txBody>
      </p:sp>
      <p:sp>
        <p:nvSpPr>
          <p:cNvPr id="30" name="TextBox 29"/>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CIMA : Conférence interafricaine des marchés d'assurances | CGRAE : Caisse générale de retraite des agents de l'État</a:t>
            </a:r>
          </a:p>
        </p:txBody>
      </p:sp>
    </p:spTree>
    <p:extLst>
      <p:ext uri="{BB962C8B-B14F-4D97-AF65-F5344CB8AC3E}">
        <p14:creationId xmlns:p14="http://schemas.microsoft.com/office/powerpoint/2010/main" val="1315122277"/>
      </p:ext>
    </p:extLst>
  </p:cSld>
  <p:clrMapOvr>
    <a:masterClrMapping/>
  </p:clrMapOvr>
  <p:transition>
    <p:fade/>
  </p:transition>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Signes et abréviations</a:t>
            </a:r>
          </a:p>
        </p:txBody>
      </p:sp>
      <p:graphicFrame>
        <p:nvGraphicFramePr>
          <p:cNvPr id="28" name="Table 27"/>
          <p:cNvGraphicFramePr>
            <a:graphicFrameLocks noGrp="1"/>
          </p:cNvGraphicFramePr>
          <p:nvPr/>
        </p:nvGraphicFramePr>
        <p:xfrm>
          <a:off x="503999" y="720000"/>
          <a:ext cx="11232000" cy="6300000"/>
        </p:xfrm>
        <a:graphic>
          <a:graphicData uri="http://schemas.openxmlformats.org/drawingml/2006/table">
            <a:tbl>
              <a:tblPr firstRow="0" bandRow="0">
                <a:tableStyleId>{5940675A-B579-460E-94D1-54222C63F5DA}</a:tableStyleId>
              </a:tblPr>
              <a:tblGrid>
                <a:gridCol w="936000"/>
                <a:gridCol w="4680000"/>
                <a:gridCol w="936000"/>
                <a:gridCol w="4680000"/>
              </a:tblGrid>
              <a:tr h="180000">
                <a:tc>
                  <a:txBody>
                    <a:bodyPr/>
                    <a:lstStyle/>
                    <a:p>
                      <a:pPr marL="0" indent="0" lvl="0">
                        <a:buNone/>
                      </a:pPr>
                      <a:r>
                        <a:rPr sz="750" b="1">
                          <a:solidFill>
                            <a:srgbClr val="FFFFFF"/>
                          </a:solidFill>
                          <a:latin typeface="Helvetica"/>
                        </a:rPr>
                        <a:t>Sigle</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Signification</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Sigle</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Signification</a:t>
                      </a:r>
                    </a:p>
                  </a:txBody>
                  <a:tcPr marL="43200" marR="43200" marT="14400" marB="14400" anchor="ctr">
                    <a:solidFill>
                      <a:srgbClr val="060606"/>
                    </a:solidFill>
                  </a:tcPr>
                </a:tc>
              </a:tr>
              <a:tr h="180000">
                <a:tc>
                  <a:txBody>
                    <a:bodyPr/>
                    <a:lstStyle/>
                    <a:p>
                      <a:pPr marL="0" indent="0" lvl="0">
                        <a:buNone/>
                      </a:pPr>
                      <a:r>
                        <a:rPr sz="750" b="1">
                          <a:solidFill>
                            <a:srgbClr val="060606"/>
                          </a:solidFill>
                          <a:latin typeface="Helvetica"/>
                        </a:rPr>
                        <a:t>870</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poste EFC</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GNA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assureur de la flotte automobile (compte 47111106)</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8Z6</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poste décès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HAO</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hors activités ordinaires</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8Z7</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poste MEDOC</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IAS, IFRS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normes comptables internationales</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936</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poste maladie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IBNR</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sinistres survenus non encore déclarés</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998</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poste PEP</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IC</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intervalle de confiance</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9W3</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poste flotte automobile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IHPC</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indice harmonisé des prix à la consommation</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9X4</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poste Grenier</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IPS-CGRAE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Institution de prévoyance sociale - Caisse générale de retraite des agents de l'État</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A/E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décès observés / décès attendus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IS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impôt sur les salaires (part patronale)</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AG</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assemblée générale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ISAP</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norme internationale de pratique actuarielle de l'Association Actuarielle Internationale</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AIRMS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Agence ivoirienne de régulation de la mutualité sociale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Lx</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survivants à l'âge x</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AMF-UMOA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Autorité des marchés financiers de l'UMOA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MEDOC</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produit santé complémentaire du poste 8Z7</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ANStat</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Agence nationale de la statistique de Côte d'Ivoire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MEPS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ministère de l'Emploi et de la Protection sociale</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BCEAO</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Banque centrale des États de l'Afrique de l'Ouest</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OCR</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reconnaissance optique de caractères</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CAC</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commissaire aux comptes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PAR30</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part de l'encours en retard de plus de 30 jours</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CGRAE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Caisse générale de retraite des agents de l'État</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PBC</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liste des documents demandés au client</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CIMA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Conférence interafricaine des marchés d'assurances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PCMS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plan comptable des mutuelles sociales</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CMP</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Clinique médicale du policier</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PEP</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Plan Épargne Plus</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CMU</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couverture maladie universelle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PIDR</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provision pour indemnités de départ à la retraite</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CNPS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Caisse nationale de prévoyance sociale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PSAP</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provision pour sinistres à payer</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CPM</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Comité de politique monétaire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qx</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probabilité de décès entre x et x + 1 ans</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CSV</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fichier texte de tableau</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R²</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coefficient de détermination</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DAF</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directeur administratif et financier</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S/C</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prestations / cotisations</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DAT</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dépôt à terme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S/P</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sinistres sur primes (cotisations)</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DEPA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Direction de l'École de Police d'Abidjan</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SCI</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société civile immobilière</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DG</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Direction Générale du FPPN</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SFD</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systèmes financiers décentralisés</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DISA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déclaration individuelle des salaires annuels à la CNPS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SGI</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société de gestion et d'intermédiation</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e_x</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espérance de vie à l'âge x</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SMIG</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salaire minimum interprofessionnel garanti</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EFC</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entraide fin de carrière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SYSCOHADA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système comptable de l'OHADA</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FANAF</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Fédération des sociétés d'assurances de droit national africaines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TAFIRE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tableau financier des ressources et des emplois</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FCP</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fonds commun de placement</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TCAM</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taux de croissance annuel moyen</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FDFP</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Fonds de développement de la formation professionnelle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TD, TV</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anciennes tables CIMA de décès et de survie</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FNG</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fonds national de garantie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UEMOA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Union économique et monétaire ouest-africaine</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FOMUS-CI</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fonds de garantie des mutuelles sociales de Côte d'Ivoire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UMOA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Union monétaire ouest-africaine</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FPPN</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Fonds de prévoyance de la Police nationale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ä_x</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valeur d'une rente viagère de 1 par an à l'âge x</a:t>
                      </a:r>
                    </a:p>
                  </a:txBody>
                  <a:tcPr marL="43200" marR="43200" marT="14400" marB="14400" anchor="ctr">
                    <a:solidFill>
                      <a:srgbClr val="F2F2F2"/>
                    </a:solidFill>
                  </a:tcPr>
                </a:tc>
              </a:tr>
            </a:tbl>
          </a:graphicData>
        </a:graphic>
      </p:graphicFrame>
    </p:spTree>
    <p:extLst>
      <p:ext uri="{BB962C8B-B14F-4D97-AF65-F5344CB8AC3E}">
        <p14:creationId xmlns:p14="http://schemas.microsoft.com/office/powerpoint/2010/main" val="2030065637"/>
      </p:ext>
    </p:extLst>
  </p:cSld>
  <p:clrMapOvr>
    <a:masterClrMapping/>
  </p:clrMapOvr>
  <p:transition>
    <p:fade/>
  </p:transition>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Références et sources</a:t>
            </a:r>
          </a:p>
        </p:txBody>
      </p:sp>
      <p:graphicFrame>
        <p:nvGraphicFramePr>
          <p:cNvPr id="28" name="Table 27"/>
          <p:cNvGraphicFramePr>
            <a:graphicFrameLocks noGrp="1"/>
          </p:cNvGraphicFramePr>
          <p:nvPr/>
        </p:nvGraphicFramePr>
        <p:xfrm>
          <a:off x="503999" y="720000"/>
          <a:ext cx="11231998" cy="5954512"/>
        </p:xfrm>
        <a:graphic>
          <a:graphicData uri="http://schemas.openxmlformats.org/drawingml/2006/table">
            <a:tbl>
              <a:tblPr firstRow="0" bandRow="0">
                <a:tableStyleId>{5940675A-B579-460E-94D1-54222C63F5DA}</a:tableStyleId>
              </a:tblPr>
              <a:tblGrid>
                <a:gridCol w="3671999"/>
                <a:gridCol w="3528000"/>
                <a:gridCol w="4031999"/>
              </a:tblGrid>
              <a:tr h="180000">
                <a:tc>
                  <a:txBody>
                    <a:bodyPr/>
                    <a:lstStyle/>
                    <a:p>
                      <a:pPr marL="0" indent="0" lvl="0">
                        <a:buNone/>
                      </a:pPr>
                      <a:r>
                        <a:rPr sz="750" b="1">
                          <a:solidFill>
                            <a:srgbClr val="FFFFFF"/>
                          </a:solidFill>
                          <a:latin typeface="Helvetica"/>
                        </a:rPr>
                        <a:t>Référence</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Contenu utilisé</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Lien ou emplacement</a:t>
                      </a:r>
                    </a:p>
                  </a:txBody>
                  <a:tcPr marL="43200" marR="43200" marT="14400" marB="14400" anchor="ctr">
                    <a:solidFill>
                      <a:srgbClr val="060606"/>
                    </a:solidFill>
                  </a:tcPr>
                </a:tc>
              </a:tr>
              <a:tr h="180000">
                <a:tc>
                  <a:txBody>
                    <a:bodyPr/>
                    <a:lstStyle/>
                    <a:p>
                      <a:pPr marL="0" indent="0" lvl="0">
                        <a:buNone/>
                      </a:pPr>
                      <a:r>
                        <a:rPr sz="750" b="1">
                          <a:solidFill>
                            <a:srgbClr val="060606"/>
                          </a:solidFill>
                          <a:latin typeface="Helvetica"/>
                        </a:rPr>
                        <a:t>Envoi du FPPN du 15/10/2026</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Précomptes, balances, exports du Grenier</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Dossier 04-Documents reçus du client</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Grands livres 2021, 2022, 2024, 2025 (PDF)</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Détail des écritures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Envoi complémentaire du 18/10/2026</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Entretien du 19/10/2026 avec le responsable des cotisations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Circuit des précomptes, règles des produits, nouvelles recrues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FPPN_CR_entretien_cotisations_20261019.pptx</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Entretien du 19/10/2026 (14h) avec le chef comptable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Placements, autres actifs, ressources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FPPN_CR_entretien_placements_20261019.pptx</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Entretien du 19/10/2026 (16h) avec le chef comptable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Provisions, allocations décès, retraite du personnel</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FPPN_CR_entretien_provisions_20261019.pptx</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Règlement n° 07/2009/CM/UEMOA du 26/06/2009</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Cadre de la mutualité sociale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airms-ci.com, documents publics</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Règlement d'exécution n° 004/2022/COM/UEMOA du 01/06/2022</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Règles prudentielles, garantie, contrôle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airms-ci.com, documents publics</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Décision n° 05/2022/COM/UEMOA du 01/06/2022</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Indicateurs et ratios prudentiels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airms-ci.com, documents publics</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Règlement n° 03/2012/CM/UEMOA et PCMS (mai 2012)</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Plan comptable des mutuelles sociales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airms-ci.com, documents publics</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Arrêté n° 00115/MEPS/CAB du 12/12/2023</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Sanctions administratives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airms-ci.com, documents publics</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Arrêtés n° 092 et 093/MEPS/CAB du 06/09/2023</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Agrément, immatriculation, frais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airms-ci.com, documents publics</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Répertoire AIRMS des mutuelles agréées (15/10/2026)</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Agrément et immatriculation du FPPN</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airms-ci.com, documents publics</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Ordonnance n° 2024-1043</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FOMUS-CI</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civlii.laws.africa</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Code CIMA, article 338</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Tables et taux technique de 3,5 %</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cima-afrique.org</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Tables CIMA H, CIMA F, TD, TV. Table ronde CIMA FANAF (2011)</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Mortalité de référence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Fichiers fournis le 18/10/2026. Fanaf.org</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BCEAO, communiqués du CPM 2020 à 2025</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Taux directeurs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bceao.int</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Banque mondiale, FP.CPI.TOTL.ZG</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Inflation 2020 à 2025</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donnees.banquemondiale.org</a:t>
                      </a:r>
                    </a:p>
                  </a:txBody>
                  <a:tcPr marL="43200" marR="43200" marT="14400" marB="14400" anchor="ctr">
                    <a:solidFill>
                      <a:srgbClr val="FFFFFF"/>
                    </a:solidFill>
                  </a:tcPr>
                </a:tc>
              </a:tr>
              <a:tr h="286214">
                <a:tc>
                  <a:txBody>
                    <a:bodyPr/>
                    <a:lstStyle/>
                    <a:p>
                      <a:pPr marL="0" indent="0" lvl="0">
                        <a:buNone/>
                      </a:pPr>
                      <a:r>
                        <a:rPr sz="750" b="1">
                          <a:solidFill>
                            <a:srgbClr val="060606"/>
                          </a:solidFill>
                          <a:latin typeface="Helvetica"/>
                        </a:rPr>
                        <a:t>Code CIMA, art. 334-8. Circulaire n° 00230/CIMA/CRCA/PDT/2005</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Provisions techniques. Méthode de la cadence des déclarations tardives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Textes fournis le 19/10/2026</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BCEAO, instruction sur les créances en souffrance des SFD</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Barème de dépréciation des prêts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bceao.int, réglementation des SFD (texte à joindre)</a:t>
                      </a:r>
                    </a:p>
                  </a:txBody>
                  <a:tcPr marL="43200" marR="43200" marT="14400" marB="14400" anchor="ctr">
                    <a:solidFill>
                      <a:srgbClr val="FFFFFF"/>
                    </a:solidFill>
                  </a:tcPr>
                </a:tc>
              </a:tr>
              <a:tr h="286214">
                <a:tc>
                  <a:txBody>
                    <a:bodyPr/>
                    <a:lstStyle/>
                    <a:p>
                      <a:pPr marL="0" indent="0" lvl="0">
                        <a:buNone/>
                      </a:pPr>
                      <a:r>
                        <a:rPr sz="750" b="1">
                          <a:solidFill>
                            <a:srgbClr val="060606"/>
                          </a:solidFill>
                          <a:latin typeface="Helvetica"/>
                        </a:rPr>
                        <a:t>Décret n° 2017-210 du 30/03/2017. Convention collective interprofessionnelle du 19/07/1977, art. 40</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Indemnité de départ à la retraite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Textes fournis le 19/10/2026</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Statuts et règlement intérieur du FPPN (15/06/2023)</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Barème, provisions, réserves, produits, personnel</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Textes fournis le 19/10/2026</a:t>
                      </a:r>
                    </a:p>
                  </a:txBody>
                  <a:tcPr marL="43200" marR="43200" marT="14400" marB="14400" anchor="ctr">
                    <a:solidFill>
                      <a:srgbClr val="FFFFFF"/>
                    </a:solidFill>
                  </a:tcPr>
                </a:tc>
              </a:tr>
              <a:tr h="286214">
                <a:tc>
                  <a:txBody>
                    <a:bodyPr/>
                    <a:lstStyle/>
                    <a:p>
                      <a:pPr marL="0" indent="0" lvl="0">
                        <a:buNone/>
                      </a:pPr>
                      <a:r>
                        <a:rPr sz="750" b="1">
                          <a:solidFill>
                            <a:srgbClr val="060606"/>
                          </a:solidFill>
                          <a:latin typeface="Helvetica"/>
                        </a:rPr>
                        <a:t>BCEAO, Rapport sur la Politique Monétaire dans l'UMOA, mars 2026</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Inflation de la santé (tableau 12), taux des titres publics (17) et des dépôts à terme (22)</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bceao.int</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ANStat, IHPC par poste de consommation (national)</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Inflation médicale de la Côte d'Ivoire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Extraction du 19/10/2026</a:t>
                      </a:r>
                    </a:p>
                  </a:txBody>
                  <a:tcPr marL="43200" marR="43200" marT="14400" marB="14400" anchor="ctr">
                    <a:solidFill>
                      <a:srgbClr val="FFFFFF"/>
                    </a:solidFill>
                  </a:tcPr>
                </a:tc>
              </a:tr>
              <a:tr h="286214">
                <a:tc>
                  <a:txBody>
                    <a:bodyPr/>
                    <a:lstStyle/>
                    <a:p>
                      <a:pPr marL="0" indent="0" lvl="0">
                        <a:buNone/>
                      </a:pPr>
                      <a:r>
                        <a:rPr sz="750" b="1">
                          <a:solidFill>
                            <a:srgbClr val="060606"/>
                          </a:solidFill>
                          <a:latin typeface="Helvetica"/>
                        </a:rPr>
                        <a:t>Investing.com, rendements des obligations de l'État de Côte d'Ivoire à 5 et 10 ans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Référence de marché du rendement des placements (source secondaire)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Exports du 19/10/2026, cotations de mars 2021 à octobre 2026</a:t>
                      </a:r>
                    </a:p>
                  </a:txBody>
                  <a:tcPr marL="43200" marR="43200" marT="14400" marB="14400" anchor="ctr">
                    <a:solidFill>
                      <a:srgbClr val="F2F2F2"/>
                    </a:solidFill>
                  </a:tcPr>
                </a:tc>
              </a:tr>
              <a:tr h="514828">
                <a:tc>
                  <a:txBody>
                    <a:bodyPr/>
                    <a:lstStyle/>
                    <a:p>
                      <a:pPr marL="0" indent="0" lvl="0">
                        <a:buNone/>
                      </a:pPr>
                      <a:r>
                        <a:rPr sz="750" b="1">
                          <a:solidFill>
                            <a:srgbClr val="060606"/>
                          </a:solidFill>
                          <a:latin typeface="Helvetica"/>
                        </a:rPr>
                        <a:t>Documents reçus le 22/10/2026 (124 fichiers)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États financiers, rapports de gestion, cahiers des charges, manuel d'épargne, étude des ratios, DISA, grands livres, rapprochements bancaires, conventions, états des allocations décès, arrêté du CMP, dérogation de Cocody, désignation du directeur général</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Noms exacts en annexe « Fichiers sources »</a:t>
                      </a:r>
                    </a:p>
                  </a:txBody>
                  <a:tcPr marL="43200" marR="43200" marT="14400" marB="14400" anchor="ctr">
                    <a:solidFill>
                      <a:srgbClr val="FFFFFF"/>
                    </a:solidFill>
                  </a:tcPr>
                </a:tc>
              </a:tr>
              <a:tr h="514828">
                <a:tc>
                  <a:txBody>
                    <a:bodyPr/>
                    <a:lstStyle/>
                    <a:p>
                      <a:pPr marL="0" indent="0" lvl="0">
                        <a:buNone/>
                      </a:pPr>
                      <a:r>
                        <a:rPr sz="750" b="1">
                          <a:solidFill>
                            <a:srgbClr val="060606"/>
                          </a:solidFill>
                          <a:latin typeface="Helvetica"/>
                        </a:rPr>
                        <a:t>Classeur des calculs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Tous les calculs du rapport, expliqués onglet par onglet : tableaux, ratios, provisions, formules, sensibilités, provision du personnel, mortalité, EFC, contrôles croisés, revue actuarielle (onglets 18 à 25), traçabilité et validité</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FPPN_Calculs_rapport_20261022.xlsx</a:t>
                      </a:r>
                    </a:p>
                  </a:txBody>
                  <a:tcPr marL="43200" marR="43200" marT="14400" marB="14400" anchor="ctr">
                    <a:solidFill>
                      <a:srgbClr val="F2F2F2"/>
                    </a:solidFill>
                  </a:tcPr>
                </a:tc>
              </a:tr>
            </a:tbl>
          </a:graphicData>
        </a:graphic>
      </p:graphicFrame>
      <p:sp>
        <p:nvSpPr>
          <p:cNvPr id="29" name="TextBox 28"/>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Sigles : FPPN : Fonds de prévoyance de la Police nationale | AIRMS : Agence ivoirienne de régulation de la mutualité sociale | UEMOA : Union économique et monétaire ouest-africaine | PCMS : plan comptable des mutuelles sociales | CIMA : Conférence interafricaine des marchés d'assurances | BCEAO : Banque centrale des États de l'Afrique de l'Ouest | EFC : entraide fin de carrière | CMP : Clinique médicale du policier | S/C : prestations / cotisations | SFD : systèmes financiers décentralisés | FOMUS-CI : fonds de garantie des mutuelles sociales de Côte d'Ivoire | MEPS : ministère de l'Emploi et de la Protection sociale | FANAF : Fédération des sociétés d'assurances de droit national africaines | CPM : Comité de politique monétaire | ANStat : Agence nationale de la statistique de Côte d'Ivoire | IHPC : indice harmonisé des prix à la consommation | UMOA : Union monétaire ouest-africaine | DISA : déclaration individuelle des salaires annuels à la CNPS</a:t>
            </a:r>
          </a:p>
        </p:txBody>
      </p:sp>
    </p:spTree>
    <p:extLst>
      <p:ext uri="{BB962C8B-B14F-4D97-AF65-F5344CB8AC3E}">
        <p14:creationId xmlns:p14="http://schemas.microsoft.com/office/powerpoint/2010/main" val="2004353718"/>
      </p:ext>
    </p:extLst>
  </p:cSld>
  <p:clrMapOvr>
    <a:masterClrMapping/>
  </p:clrMapOvr>
  <p:transition>
    <p:fade/>
  </p:transition>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340667" y="-1240"/>
            <a:ext cx="6858000" cy="6858000"/>
          </a:xfrm>
          <a:prstGeom prst="rect">
            <a:avLst/>
          </a:prstGeom>
        </p:spPr>
      </p:pic>
      <p:sp>
        <p:nvSpPr>
          <p:cNvPr id="15" name="Rectangle 14"/>
          <p:cNvSpPr/>
          <p:nvPr/>
        </p:nvSpPr>
        <p:spPr>
          <a:xfrm>
            <a:off x="0" y="0"/>
            <a:ext cx="60452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CI" noProof="0"/>
          </a:p>
        </p:txBody>
      </p:sp>
      <p:pic>
        <p:nvPicPr>
          <p:cNvPr id="6" name="Image 5">
            <a:extLst>
              <a:ext uri="{FF2B5EF4-FFF2-40B4-BE49-F238E27FC236}">
                <a16:creationId xmlns:a16="http://schemas.microsoft.com/office/drawing/2014/main" id="{2C356854-0685-DCEF-E2F6-65D5E9653A4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25248" y="-135577"/>
            <a:ext cx="3261353" cy="1301437"/>
          </a:xfrm>
          <a:prstGeom prst="rect">
            <a:avLst/>
          </a:prstGeom>
        </p:spPr>
      </p:pic>
      <p:sp>
        <p:nvSpPr>
          <p:cNvPr id="14" name="ZoneTexte 13">
            <a:extLst>
              <a:ext uri="{FF2B5EF4-FFF2-40B4-BE49-F238E27FC236}">
                <a16:creationId xmlns:a16="http://schemas.microsoft.com/office/drawing/2014/main" id="{C6E7D94B-8E49-C846-A392-87DFA5EF4A9D}"/>
              </a:ext>
            </a:extLst>
          </p:cNvPr>
          <p:cNvSpPr txBox="1"/>
          <p:nvPr/>
        </p:nvSpPr>
        <p:spPr>
          <a:xfrm>
            <a:off x="456025" y="6300894"/>
            <a:ext cx="4653185" cy="338554"/>
          </a:xfrm>
          <a:prstGeom prst="rect">
            <a:avLst/>
          </a:prstGeom>
          <a:noFill/>
        </p:spPr>
        <p:txBody>
          <a:bodyPr wrap="square">
            <a:spAutoFit/>
          </a:bodyPr>
          <a:lstStyle/>
          <a:p>
            <a:r>
              <a:rPr lang="fr-CI" sz="1600" noProof="0">
                <a:solidFill>
                  <a:schemeClr val="bg1"/>
                </a:solidFill>
                <a:latin typeface="Helvetica" panose="020B0604020202020204" pitchFamily="34" charset="0"/>
                <a:cs typeface="Helvetica" panose="020B0604020202020204" pitchFamily="34" charset="0"/>
              </a:rPr>
              <a:t>Empreinte Africaine, Expertise Internationale</a:t>
            </a:r>
          </a:p>
        </p:txBody>
      </p:sp>
      <p:sp>
        <p:nvSpPr>
          <p:cNvPr id="13" name="Google Shape;138;p25"/>
          <p:cNvSpPr txBox="1"/>
          <p:nvPr/>
        </p:nvSpPr>
        <p:spPr>
          <a:xfrm>
            <a:off x="920037" y="3088600"/>
            <a:ext cx="5800971" cy="615553"/>
          </a:xfrm>
          <a:prstGeom prst="rect">
            <a:avLst/>
          </a:prstGeom>
          <a:noFill/>
          <a:ln>
            <a:noFill/>
          </a:ln>
        </p:spPr>
        <p:txBody>
          <a:bodyPr spcFirstLastPara="1" wrap="square" lIns="0" tIns="0" rIns="0" bIns="0" anchor="t" anchorCtr="0">
            <a:spAutoFit/>
          </a:bodyPr>
          <a:lstStyle/>
          <a:p>
            <a:r>
              <a:rPr lang="fr-CI" sz="4000" noProof="0">
                <a:solidFill>
                  <a:schemeClr val="bg1"/>
                </a:solidFill>
                <a:latin typeface="Helvetica" panose="020B0604020202020204" pitchFamily="34" charset="0"/>
                <a:cs typeface="Helvetica" panose="020B0604020202020204" pitchFamily="34" charset="0"/>
              </a:rPr>
              <a:t>Merci </a:t>
            </a:r>
          </a:p>
        </p:txBody>
      </p:sp>
    </p:spTree>
    <p:extLst>
      <p:ext uri="{BB962C8B-B14F-4D97-AF65-F5344CB8AC3E}">
        <p14:creationId xmlns:p14="http://schemas.microsoft.com/office/powerpoint/2010/main" val="2116590237"/>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2509</TotalTime>
  <Words>16641</Words>
  <Application>Microsoft Office PowerPoint</Application>
  <PresentationFormat>Grand écran</PresentationFormat>
  <Paragraphs>1935</Paragraphs>
  <Slides>276</Slides>
  <Notes>2</Notes>
  <HiddenSlides>0</HiddenSlides>
  <MMClips>0</MMClips>
  <ScaleCrop>false</ScaleCrop>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Adenka Consulting</dc:creator>
  <cp:lastModifiedBy>Adenka Consulting</cp:lastModifiedBy>
  <cp:revision>1</cp:revision>
  <dcterms:created xsi:type="dcterms:W3CDTF">2025-10-22T15:02:15Z</dcterms:created>
  <dcterms:modified xsi:type="dcterms:W3CDTF">2026-09-23T09:25:57Z</dcterms:modified>
  <dc:subject/>
  <cp:keywords/>
  <dc:description/>
</cp:coreProperties>
</file>